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84" r:id="rId2"/>
    <p:sldId id="257" r:id="rId3"/>
    <p:sldId id="285" r:id="rId4"/>
    <p:sldId id="325" r:id="rId5"/>
    <p:sldId id="258" r:id="rId6"/>
    <p:sldId id="287" r:id="rId7"/>
    <p:sldId id="324" r:id="rId8"/>
    <p:sldId id="289" r:id="rId9"/>
    <p:sldId id="290" r:id="rId10"/>
    <p:sldId id="331" r:id="rId11"/>
    <p:sldId id="294" r:id="rId12"/>
    <p:sldId id="345" r:id="rId13"/>
    <p:sldId id="299" r:id="rId14"/>
    <p:sldId id="301" r:id="rId15"/>
    <p:sldId id="330" r:id="rId16"/>
    <p:sldId id="303" r:id="rId17"/>
    <p:sldId id="332" r:id="rId18"/>
    <p:sldId id="329" r:id="rId19"/>
    <p:sldId id="334" r:id="rId20"/>
    <p:sldId id="333" r:id="rId21"/>
    <p:sldId id="305" r:id="rId22"/>
    <p:sldId id="306" r:id="rId23"/>
    <p:sldId id="335" r:id="rId24"/>
    <p:sldId id="351" r:id="rId25"/>
    <p:sldId id="347" r:id="rId26"/>
    <p:sldId id="313" r:id="rId27"/>
    <p:sldId id="350" r:id="rId28"/>
    <p:sldId id="348" r:id="rId29"/>
    <p:sldId id="346" r:id="rId30"/>
    <p:sldId id="349" r:id="rId31"/>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AC9D"/>
    <a:srgbClr val="E06741"/>
    <a:srgbClr val="4A5A6F"/>
    <a:srgbClr val="3DA18E"/>
    <a:srgbClr val="F7C655"/>
    <a:srgbClr val="F9F9F9"/>
    <a:srgbClr val="54667E"/>
    <a:srgbClr val="38BE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4" d="100"/>
          <a:sy n="104" d="100"/>
        </p:scale>
        <p:origin x="198"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4372F7-E535-4AB7-B08F-93749A63D6AF}" type="doc">
      <dgm:prSet loTypeId="urn:microsoft.com/office/officeart/2008/layout/RadialCluster" loCatId="cycle" qsTypeId="urn:microsoft.com/office/officeart/2005/8/quickstyle/simple1" qsCatId="simple" csTypeId="urn:microsoft.com/office/officeart/2005/8/colors/accent0_2" csCatId="mainScheme" phldr="1"/>
      <dgm:spPr/>
      <dgm:t>
        <a:bodyPr/>
        <a:lstStyle/>
        <a:p>
          <a:endParaRPr lang="zh-TW" altLang="en-US"/>
        </a:p>
      </dgm:t>
    </dgm:pt>
    <dgm:pt modelId="{C7890528-22F7-4611-A7BF-C47B611131B6}">
      <dgm:prSet phldrT="[文字]" custT="1"/>
      <dgm:spPr>
        <a:solidFill>
          <a:srgbClr val="4A5A6F"/>
        </a:solidFill>
        <a:ln w="19050">
          <a:solidFill>
            <a:srgbClr val="54667E"/>
          </a:solidFill>
        </a:ln>
      </dgm:spPr>
      <dgm:t>
        <a:bodyPr/>
        <a:lstStyle/>
        <a:p>
          <a:r>
            <a:rPr lang="zh-TW" altLang="en-US" sz="2000" b="1" dirty="0">
              <a:solidFill>
                <a:schemeClr val="bg1"/>
              </a:solidFill>
              <a:latin typeface="微軟正黑體" panose="020B0604030504040204" pitchFamily="34" charset="-120"/>
              <a:ea typeface="微軟正黑體" panose="020B0604030504040204" pitchFamily="34" charset="-120"/>
            </a:rPr>
            <a:t>區塊鏈分類</a:t>
          </a:r>
        </a:p>
      </dgm:t>
    </dgm:pt>
    <dgm:pt modelId="{7BF39275-B157-4342-A816-3255F906BA48}" type="parTrans" cxnId="{501C3262-068B-444D-8360-CAE68A3269E6}">
      <dgm:prSet/>
      <dgm:spPr/>
      <dgm:t>
        <a:bodyPr/>
        <a:lstStyle/>
        <a:p>
          <a:endParaRPr lang="zh-TW" altLang="en-US"/>
        </a:p>
      </dgm:t>
    </dgm:pt>
    <dgm:pt modelId="{B8541CED-036B-437E-8554-D2D9B92B4E0A}" type="sibTrans" cxnId="{501C3262-068B-444D-8360-CAE68A3269E6}">
      <dgm:prSet/>
      <dgm:spPr/>
      <dgm:t>
        <a:bodyPr/>
        <a:lstStyle/>
        <a:p>
          <a:endParaRPr lang="zh-TW" altLang="en-US"/>
        </a:p>
      </dgm:t>
    </dgm:pt>
    <dgm:pt modelId="{727703C9-370C-4FFA-B9FB-0E254F745D2F}">
      <dgm:prSet phldrT="[文字]" custT="1"/>
      <dgm:spPr>
        <a:solidFill>
          <a:srgbClr val="F9F9F9"/>
        </a:solidFill>
        <a:ln w="19050">
          <a:solidFill>
            <a:srgbClr val="E06741"/>
          </a:solidFill>
        </a:ln>
      </dgm:spPr>
      <dgm:t>
        <a:bodyPr/>
        <a:lstStyle/>
        <a:p>
          <a:r>
            <a:rPr lang="zh-TW" altLang="en-US" sz="2000" b="1" dirty="0">
              <a:solidFill>
                <a:schemeClr val="bg2">
                  <a:lumMod val="10000"/>
                </a:schemeClr>
              </a:solidFill>
              <a:latin typeface="微軟正黑體" panose="020B0604030504040204" pitchFamily="34" charset="-120"/>
              <a:ea typeface="微軟正黑體" panose="020B0604030504040204" pitchFamily="34" charset="-120"/>
            </a:rPr>
            <a:t>公開鏈</a:t>
          </a:r>
        </a:p>
      </dgm:t>
    </dgm:pt>
    <dgm:pt modelId="{39731CD7-C8D8-4F4D-9BCC-41B2EEF3BDA5}" type="parTrans" cxnId="{FF0594F2-6184-4675-9050-BAC6E02FEE23}">
      <dgm:prSet/>
      <dgm:spPr/>
      <dgm:t>
        <a:bodyPr/>
        <a:lstStyle/>
        <a:p>
          <a:endParaRPr lang="zh-TW" altLang="en-US"/>
        </a:p>
      </dgm:t>
    </dgm:pt>
    <dgm:pt modelId="{491074ED-D81E-45FB-9099-2133DC7E6BFF}" type="sibTrans" cxnId="{FF0594F2-6184-4675-9050-BAC6E02FEE23}">
      <dgm:prSet/>
      <dgm:spPr/>
      <dgm:t>
        <a:bodyPr/>
        <a:lstStyle/>
        <a:p>
          <a:endParaRPr lang="zh-TW" altLang="en-US"/>
        </a:p>
      </dgm:t>
    </dgm:pt>
    <dgm:pt modelId="{A415A44D-40E4-428C-B23E-6CACC73D7A6C}">
      <dgm:prSet phldrT="[文字]" custT="1"/>
      <dgm:spPr>
        <a:solidFill>
          <a:srgbClr val="F9F9F9"/>
        </a:solidFill>
        <a:ln w="19050">
          <a:solidFill>
            <a:srgbClr val="3DA18E"/>
          </a:solidFill>
        </a:ln>
      </dgm:spPr>
      <dgm:t>
        <a:bodyPr/>
        <a:lstStyle/>
        <a:p>
          <a:r>
            <a:rPr lang="zh-TW" altLang="en-US" sz="2000" b="1">
              <a:solidFill>
                <a:schemeClr val="bg2">
                  <a:lumMod val="10000"/>
                </a:schemeClr>
              </a:solidFill>
              <a:latin typeface="微軟正黑體" panose="020B0604030504040204" pitchFamily="34" charset="-120"/>
              <a:ea typeface="微軟正黑體" panose="020B0604030504040204" pitchFamily="34" charset="-120"/>
            </a:rPr>
            <a:t>私有鏈</a:t>
          </a:r>
          <a:endParaRPr lang="zh-TW" altLang="en-US" sz="2000" b="1" dirty="0">
            <a:solidFill>
              <a:schemeClr val="bg2">
                <a:lumMod val="10000"/>
              </a:schemeClr>
            </a:solidFill>
            <a:latin typeface="微軟正黑體" panose="020B0604030504040204" pitchFamily="34" charset="-120"/>
            <a:ea typeface="微軟正黑體" panose="020B0604030504040204" pitchFamily="34" charset="-120"/>
          </a:endParaRPr>
        </a:p>
      </dgm:t>
    </dgm:pt>
    <dgm:pt modelId="{9B845C19-2F4D-4B70-B04D-51FE5497819F}" type="parTrans" cxnId="{3BFFF74B-FF01-40E7-997B-9BEF435285A0}">
      <dgm:prSet/>
      <dgm:spPr/>
      <dgm:t>
        <a:bodyPr/>
        <a:lstStyle/>
        <a:p>
          <a:endParaRPr lang="zh-TW" altLang="en-US"/>
        </a:p>
      </dgm:t>
    </dgm:pt>
    <dgm:pt modelId="{4DC886B3-E373-4C09-8D6E-46DC42027935}" type="sibTrans" cxnId="{3BFFF74B-FF01-40E7-997B-9BEF435285A0}">
      <dgm:prSet/>
      <dgm:spPr/>
      <dgm:t>
        <a:bodyPr/>
        <a:lstStyle/>
        <a:p>
          <a:endParaRPr lang="zh-TW" altLang="en-US"/>
        </a:p>
      </dgm:t>
    </dgm:pt>
    <dgm:pt modelId="{014FB300-FF30-4A56-94C6-361FF86E6CD5}">
      <dgm:prSet phldrT="[文字]" custT="1"/>
      <dgm:spPr>
        <a:solidFill>
          <a:srgbClr val="F9F9F9"/>
        </a:solidFill>
        <a:ln w="19050">
          <a:solidFill>
            <a:srgbClr val="F7C655"/>
          </a:solidFill>
        </a:ln>
      </dgm:spPr>
      <dgm:t>
        <a:bodyPr/>
        <a:lstStyle/>
        <a:p>
          <a:r>
            <a:rPr lang="zh-TW" altLang="en-US" sz="2000" b="1">
              <a:solidFill>
                <a:schemeClr val="bg2">
                  <a:lumMod val="10000"/>
                </a:schemeClr>
              </a:solidFill>
              <a:latin typeface="微軟正黑體" panose="020B0604030504040204" pitchFamily="34" charset="-120"/>
              <a:ea typeface="微軟正黑體" panose="020B0604030504040204" pitchFamily="34" charset="-120"/>
            </a:rPr>
            <a:t>聯盟鏈</a:t>
          </a:r>
          <a:endParaRPr lang="zh-TW" altLang="en-US" sz="2000" b="1" dirty="0">
            <a:solidFill>
              <a:schemeClr val="bg2">
                <a:lumMod val="10000"/>
              </a:schemeClr>
            </a:solidFill>
            <a:latin typeface="微軟正黑體" panose="020B0604030504040204" pitchFamily="34" charset="-120"/>
            <a:ea typeface="微軟正黑體" panose="020B0604030504040204" pitchFamily="34" charset="-120"/>
          </a:endParaRPr>
        </a:p>
      </dgm:t>
    </dgm:pt>
    <dgm:pt modelId="{C3DBA204-86BA-4885-AAD9-3C68AC679C54}" type="parTrans" cxnId="{AF7FD422-C569-4282-8CA0-B71D746129DB}">
      <dgm:prSet/>
      <dgm:spPr/>
      <dgm:t>
        <a:bodyPr/>
        <a:lstStyle/>
        <a:p>
          <a:endParaRPr lang="zh-TW" altLang="en-US"/>
        </a:p>
      </dgm:t>
    </dgm:pt>
    <dgm:pt modelId="{B22A25CA-972A-4885-A9AB-731B74698A6C}" type="sibTrans" cxnId="{AF7FD422-C569-4282-8CA0-B71D746129DB}">
      <dgm:prSet/>
      <dgm:spPr/>
      <dgm:t>
        <a:bodyPr/>
        <a:lstStyle/>
        <a:p>
          <a:endParaRPr lang="zh-TW" altLang="en-US"/>
        </a:p>
      </dgm:t>
    </dgm:pt>
    <dgm:pt modelId="{4E8222E9-03AF-4059-8192-5E70C6AC0DC8}" type="pres">
      <dgm:prSet presAssocID="{B14372F7-E535-4AB7-B08F-93749A63D6AF}" presName="Name0" presStyleCnt="0">
        <dgm:presLayoutVars>
          <dgm:chMax val="1"/>
          <dgm:chPref val="1"/>
          <dgm:dir/>
          <dgm:animOne val="branch"/>
          <dgm:animLvl val="lvl"/>
        </dgm:presLayoutVars>
      </dgm:prSet>
      <dgm:spPr/>
    </dgm:pt>
    <dgm:pt modelId="{289D905A-36AE-40E0-BA51-281BF838900C}" type="pres">
      <dgm:prSet presAssocID="{C7890528-22F7-4611-A7BF-C47B611131B6}" presName="singleCycle" presStyleCnt="0"/>
      <dgm:spPr/>
    </dgm:pt>
    <dgm:pt modelId="{3D5CCCEA-C0E4-44AF-8464-9FD57967F434}" type="pres">
      <dgm:prSet presAssocID="{C7890528-22F7-4611-A7BF-C47B611131B6}" presName="singleCenter" presStyleLbl="node1" presStyleIdx="0" presStyleCnt="4" custScaleX="123757" custScaleY="115673">
        <dgm:presLayoutVars>
          <dgm:chMax val="7"/>
          <dgm:chPref val="7"/>
        </dgm:presLayoutVars>
      </dgm:prSet>
      <dgm:spPr/>
    </dgm:pt>
    <dgm:pt modelId="{C902199A-2D11-4B03-BCF1-9FD895054C6E}" type="pres">
      <dgm:prSet presAssocID="{39731CD7-C8D8-4F4D-9BCC-41B2EEF3BDA5}" presName="Name56" presStyleLbl="parChTrans1D2" presStyleIdx="0" presStyleCnt="3"/>
      <dgm:spPr/>
    </dgm:pt>
    <dgm:pt modelId="{9588CC2D-9CC1-4463-8DB7-7674CB9E0702}" type="pres">
      <dgm:prSet presAssocID="{727703C9-370C-4FFA-B9FB-0E254F745D2F}" presName="text0" presStyleLbl="node1" presStyleIdx="1" presStyleCnt="4" custRadScaleRad="88418">
        <dgm:presLayoutVars>
          <dgm:bulletEnabled val="1"/>
        </dgm:presLayoutVars>
      </dgm:prSet>
      <dgm:spPr/>
    </dgm:pt>
    <dgm:pt modelId="{7575C7CD-144B-4A99-BAF2-E6F4CC65D539}" type="pres">
      <dgm:prSet presAssocID="{9B845C19-2F4D-4B70-B04D-51FE5497819F}" presName="Name56" presStyleLbl="parChTrans1D2" presStyleIdx="1" presStyleCnt="3"/>
      <dgm:spPr/>
    </dgm:pt>
    <dgm:pt modelId="{F4FEA061-C259-4071-9330-2322F9021A43}" type="pres">
      <dgm:prSet presAssocID="{A415A44D-40E4-428C-B23E-6CACC73D7A6C}" presName="text0" presStyleLbl="node1" presStyleIdx="2" presStyleCnt="4">
        <dgm:presLayoutVars>
          <dgm:bulletEnabled val="1"/>
        </dgm:presLayoutVars>
      </dgm:prSet>
      <dgm:spPr/>
    </dgm:pt>
    <dgm:pt modelId="{4701FBEA-87DF-40BB-9D0D-6E678776636C}" type="pres">
      <dgm:prSet presAssocID="{C3DBA204-86BA-4885-AAD9-3C68AC679C54}" presName="Name56" presStyleLbl="parChTrans1D2" presStyleIdx="2" presStyleCnt="3"/>
      <dgm:spPr/>
    </dgm:pt>
    <dgm:pt modelId="{C0D26CD3-F509-4A16-9210-9B1F69B4479F}" type="pres">
      <dgm:prSet presAssocID="{014FB300-FF30-4A56-94C6-361FF86E6CD5}" presName="text0" presStyleLbl="node1" presStyleIdx="3" presStyleCnt="4">
        <dgm:presLayoutVars>
          <dgm:bulletEnabled val="1"/>
        </dgm:presLayoutVars>
      </dgm:prSet>
      <dgm:spPr/>
    </dgm:pt>
  </dgm:ptLst>
  <dgm:cxnLst>
    <dgm:cxn modelId="{D9A52F0A-74D3-49B5-974F-0C619DA44A57}" type="presOf" srcId="{39731CD7-C8D8-4F4D-9BCC-41B2EEF3BDA5}" destId="{C902199A-2D11-4B03-BCF1-9FD895054C6E}" srcOrd="0" destOrd="0" presId="urn:microsoft.com/office/officeart/2008/layout/RadialCluster"/>
    <dgm:cxn modelId="{9BB13B16-1AC3-4F88-8F9D-1AF08DF72E2C}" type="presOf" srcId="{A415A44D-40E4-428C-B23E-6CACC73D7A6C}" destId="{F4FEA061-C259-4071-9330-2322F9021A43}" srcOrd="0" destOrd="0" presId="urn:microsoft.com/office/officeart/2008/layout/RadialCluster"/>
    <dgm:cxn modelId="{AF7FD422-C569-4282-8CA0-B71D746129DB}" srcId="{C7890528-22F7-4611-A7BF-C47B611131B6}" destId="{014FB300-FF30-4A56-94C6-361FF86E6CD5}" srcOrd="2" destOrd="0" parTransId="{C3DBA204-86BA-4885-AAD9-3C68AC679C54}" sibTransId="{B22A25CA-972A-4885-A9AB-731B74698A6C}"/>
    <dgm:cxn modelId="{501C3262-068B-444D-8360-CAE68A3269E6}" srcId="{B14372F7-E535-4AB7-B08F-93749A63D6AF}" destId="{C7890528-22F7-4611-A7BF-C47B611131B6}" srcOrd="0" destOrd="0" parTransId="{7BF39275-B157-4342-A816-3255F906BA48}" sibTransId="{B8541CED-036B-437E-8554-D2D9B92B4E0A}"/>
    <dgm:cxn modelId="{3BFFF74B-FF01-40E7-997B-9BEF435285A0}" srcId="{C7890528-22F7-4611-A7BF-C47B611131B6}" destId="{A415A44D-40E4-428C-B23E-6CACC73D7A6C}" srcOrd="1" destOrd="0" parTransId="{9B845C19-2F4D-4B70-B04D-51FE5497819F}" sibTransId="{4DC886B3-E373-4C09-8D6E-46DC42027935}"/>
    <dgm:cxn modelId="{92D0E84C-9849-4F5A-9229-30AD2ED48351}" type="presOf" srcId="{C3DBA204-86BA-4885-AAD9-3C68AC679C54}" destId="{4701FBEA-87DF-40BB-9D0D-6E678776636C}" srcOrd="0" destOrd="0" presId="urn:microsoft.com/office/officeart/2008/layout/RadialCluster"/>
    <dgm:cxn modelId="{9BF18452-C2E7-44E7-985D-99B5DD54A505}" type="presOf" srcId="{9B845C19-2F4D-4B70-B04D-51FE5497819F}" destId="{7575C7CD-144B-4A99-BAF2-E6F4CC65D539}" srcOrd="0" destOrd="0" presId="urn:microsoft.com/office/officeart/2008/layout/RadialCluster"/>
    <dgm:cxn modelId="{409812A5-A426-4C89-AE1D-9223282DBE6F}" type="presOf" srcId="{C7890528-22F7-4611-A7BF-C47B611131B6}" destId="{3D5CCCEA-C0E4-44AF-8464-9FD57967F434}" srcOrd="0" destOrd="0" presId="urn:microsoft.com/office/officeart/2008/layout/RadialCluster"/>
    <dgm:cxn modelId="{024918A6-48E0-41D6-BFF8-AE26F42E26EA}" type="presOf" srcId="{727703C9-370C-4FFA-B9FB-0E254F745D2F}" destId="{9588CC2D-9CC1-4463-8DB7-7674CB9E0702}" srcOrd="0" destOrd="0" presId="urn:microsoft.com/office/officeart/2008/layout/RadialCluster"/>
    <dgm:cxn modelId="{1E17E3C1-7E01-4AA3-9D84-0CE395AA1A00}" type="presOf" srcId="{B14372F7-E535-4AB7-B08F-93749A63D6AF}" destId="{4E8222E9-03AF-4059-8192-5E70C6AC0DC8}" srcOrd="0" destOrd="0" presId="urn:microsoft.com/office/officeart/2008/layout/RadialCluster"/>
    <dgm:cxn modelId="{F6B6FCEC-49F7-4CF1-9796-6E3CC4D8CADB}" type="presOf" srcId="{014FB300-FF30-4A56-94C6-361FF86E6CD5}" destId="{C0D26CD3-F509-4A16-9210-9B1F69B4479F}" srcOrd="0" destOrd="0" presId="urn:microsoft.com/office/officeart/2008/layout/RadialCluster"/>
    <dgm:cxn modelId="{FF0594F2-6184-4675-9050-BAC6E02FEE23}" srcId="{C7890528-22F7-4611-A7BF-C47B611131B6}" destId="{727703C9-370C-4FFA-B9FB-0E254F745D2F}" srcOrd="0" destOrd="0" parTransId="{39731CD7-C8D8-4F4D-9BCC-41B2EEF3BDA5}" sibTransId="{491074ED-D81E-45FB-9099-2133DC7E6BFF}"/>
    <dgm:cxn modelId="{C372AE25-684E-4A1A-AE87-1174A61E00FD}" type="presParOf" srcId="{4E8222E9-03AF-4059-8192-5E70C6AC0DC8}" destId="{289D905A-36AE-40E0-BA51-281BF838900C}" srcOrd="0" destOrd="0" presId="urn:microsoft.com/office/officeart/2008/layout/RadialCluster"/>
    <dgm:cxn modelId="{B0097E79-6D17-474C-8426-AD4B5114B70E}" type="presParOf" srcId="{289D905A-36AE-40E0-BA51-281BF838900C}" destId="{3D5CCCEA-C0E4-44AF-8464-9FD57967F434}" srcOrd="0" destOrd="0" presId="urn:microsoft.com/office/officeart/2008/layout/RadialCluster"/>
    <dgm:cxn modelId="{F7E18289-0362-4B39-AD67-4E5F7ABACF29}" type="presParOf" srcId="{289D905A-36AE-40E0-BA51-281BF838900C}" destId="{C902199A-2D11-4B03-BCF1-9FD895054C6E}" srcOrd="1" destOrd="0" presId="urn:microsoft.com/office/officeart/2008/layout/RadialCluster"/>
    <dgm:cxn modelId="{EC76871A-E9FA-40F0-B22F-5CF6D8895D61}" type="presParOf" srcId="{289D905A-36AE-40E0-BA51-281BF838900C}" destId="{9588CC2D-9CC1-4463-8DB7-7674CB9E0702}" srcOrd="2" destOrd="0" presId="urn:microsoft.com/office/officeart/2008/layout/RadialCluster"/>
    <dgm:cxn modelId="{4D447F7F-0EA7-4AFD-91FB-02DE09AA56D7}" type="presParOf" srcId="{289D905A-36AE-40E0-BA51-281BF838900C}" destId="{7575C7CD-144B-4A99-BAF2-E6F4CC65D539}" srcOrd="3" destOrd="0" presId="urn:microsoft.com/office/officeart/2008/layout/RadialCluster"/>
    <dgm:cxn modelId="{A994568C-6C87-426C-B911-83F0483DBCDC}" type="presParOf" srcId="{289D905A-36AE-40E0-BA51-281BF838900C}" destId="{F4FEA061-C259-4071-9330-2322F9021A43}" srcOrd="4" destOrd="0" presId="urn:microsoft.com/office/officeart/2008/layout/RadialCluster"/>
    <dgm:cxn modelId="{F703FB86-D04A-46FB-BA2B-452F82036957}" type="presParOf" srcId="{289D905A-36AE-40E0-BA51-281BF838900C}" destId="{4701FBEA-87DF-40BB-9D0D-6E678776636C}" srcOrd="5" destOrd="0" presId="urn:microsoft.com/office/officeart/2008/layout/RadialCluster"/>
    <dgm:cxn modelId="{652EEB3E-F99F-4695-A9AB-9C6017A2D0B9}" type="presParOf" srcId="{289D905A-36AE-40E0-BA51-281BF838900C}" destId="{C0D26CD3-F509-4A16-9210-9B1F69B4479F}" srcOrd="6"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F5F0DA-3FBC-43AE-A0F9-01B048749C13}" type="doc">
      <dgm:prSet loTypeId="urn:microsoft.com/office/officeart/2005/8/layout/venn2" loCatId="relationship" qsTypeId="urn:microsoft.com/office/officeart/2005/8/quickstyle/simple1" qsCatId="simple" csTypeId="urn:microsoft.com/office/officeart/2005/8/colors/accent0_2" csCatId="mainScheme" phldr="1"/>
      <dgm:spPr/>
      <dgm:t>
        <a:bodyPr/>
        <a:lstStyle/>
        <a:p>
          <a:endParaRPr lang="zh-TW" altLang="en-US"/>
        </a:p>
      </dgm:t>
    </dgm:pt>
    <dgm:pt modelId="{B7FFA5B4-290A-4B2D-8817-3F8A69106ED6}">
      <dgm:prSet phldrT="[文字]" custT="1"/>
      <dgm:spPr>
        <a:noFill/>
        <a:ln w="19050">
          <a:solidFill>
            <a:srgbClr val="4A5A6F"/>
          </a:solidFill>
        </a:ln>
      </dgm:spPr>
      <dgm:t>
        <a:bodyPr/>
        <a:lstStyle/>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區塊鏈</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3.0</a:t>
          </a:r>
        </a:p>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公正應用</a:t>
          </a:r>
        </a:p>
      </dgm:t>
    </dgm:pt>
    <dgm:pt modelId="{3E68B46B-A8D9-49CC-8732-B239A3E820C4}" type="parTrans" cxnId="{3DFB04CE-BE71-4749-B71B-877A0B4153E4}">
      <dgm:prSet/>
      <dgm:spPr/>
      <dgm:t>
        <a:bodyPr/>
        <a:lstStyle/>
        <a:p>
          <a:endParaRPr lang="zh-TW" altLang="en-US"/>
        </a:p>
      </dgm:t>
    </dgm:pt>
    <dgm:pt modelId="{347290FB-C461-4ECA-A044-B6A64AA15D98}" type="sibTrans" cxnId="{3DFB04CE-BE71-4749-B71B-877A0B4153E4}">
      <dgm:prSet/>
      <dgm:spPr/>
      <dgm:t>
        <a:bodyPr/>
        <a:lstStyle/>
        <a:p>
          <a:endParaRPr lang="zh-TW" altLang="en-US"/>
        </a:p>
      </dgm:t>
    </dgm:pt>
    <dgm:pt modelId="{65717929-A354-404E-B821-2B01CD2DC1A2}">
      <dgm:prSet phldrT="[文字]" custT="1"/>
      <dgm:spPr>
        <a:noFill/>
        <a:ln w="19050">
          <a:solidFill>
            <a:srgbClr val="32AC9D"/>
          </a:solidFill>
        </a:ln>
      </dgm:spPr>
      <dgm:t>
        <a:bodyPr/>
        <a:lstStyle/>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區塊鏈</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2.0</a:t>
          </a:r>
        </a:p>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智能合約</a:t>
          </a:r>
        </a:p>
      </dgm:t>
    </dgm:pt>
    <dgm:pt modelId="{C18ED5A6-2E22-4D04-AA50-99C249AE4291}" type="parTrans" cxnId="{E77FF2FA-78EB-4B3D-A33C-D6C816740CFA}">
      <dgm:prSet/>
      <dgm:spPr/>
      <dgm:t>
        <a:bodyPr/>
        <a:lstStyle/>
        <a:p>
          <a:endParaRPr lang="zh-TW" altLang="en-US"/>
        </a:p>
      </dgm:t>
    </dgm:pt>
    <dgm:pt modelId="{5829B79E-D06E-4879-846F-DE94584D88FB}" type="sibTrans" cxnId="{E77FF2FA-78EB-4B3D-A33C-D6C816740CFA}">
      <dgm:prSet/>
      <dgm:spPr/>
      <dgm:t>
        <a:bodyPr/>
        <a:lstStyle/>
        <a:p>
          <a:endParaRPr lang="zh-TW" altLang="en-US"/>
        </a:p>
      </dgm:t>
    </dgm:pt>
    <dgm:pt modelId="{B393433A-2662-4073-82A4-D74B391D7BE4}">
      <dgm:prSet phldrT="[文字]" custT="1"/>
      <dgm:spPr>
        <a:noFill/>
        <a:ln w="19050">
          <a:solidFill>
            <a:srgbClr val="E06741"/>
          </a:solidFill>
        </a:ln>
      </dgm:spPr>
      <dgm:t>
        <a:bodyPr/>
        <a:lstStyle/>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區塊鏈</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1.0</a:t>
          </a:r>
        </a:p>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數位貨幣</a:t>
          </a:r>
        </a:p>
      </dgm:t>
    </dgm:pt>
    <dgm:pt modelId="{D3A2F524-4944-4B33-AC76-2152B7222DE5}" type="parTrans" cxnId="{5CDB61D5-04AD-4AF5-B4C5-D74BAD5635B9}">
      <dgm:prSet/>
      <dgm:spPr/>
      <dgm:t>
        <a:bodyPr/>
        <a:lstStyle/>
        <a:p>
          <a:endParaRPr lang="zh-TW" altLang="en-US"/>
        </a:p>
      </dgm:t>
    </dgm:pt>
    <dgm:pt modelId="{647A7B39-3B69-473E-9895-8A446113E356}" type="sibTrans" cxnId="{5CDB61D5-04AD-4AF5-B4C5-D74BAD5635B9}">
      <dgm:prSet/>
      <dgm:spPr/>
      <dgm:t>
        <a:bodyPr/>
        <a:lstStyle/>
        <a:p>
          <a:endParaRPr lang="zh-TW" altLang="en-US"/>
        </a:p>
      </dgm:t>
    </dgm:pt>
    <dgm:pt modelId="{7D3D863F-8F39-4478-972D-7C60D3F1FDAB}" type="pres">
      <dgm:prSet presAssocID="{F6F5F0DA-3FBC-43AE-A0F9-01B048749C13}" presName="Name0" presStyleCnt="0">
        <dgm:presLayoutVars>
          <dgm:chMax val="7"/>
          <dgm:resizeHandles val="exact"/>
        </dgm:presLayoutVars>
      </dgm:prSet>
      <dgm:spPr/>
    </dgm:pt>
    <dgm:pt modelId="{6F1C01E3-56F6-405D-8982-D5191F7E1EA3}" type="pres">
      <dgm:prSet presAssocID="{F6F5F0DA-3FBC-43AE-A0F9-01B048749C13}" presName="comp1" presStyleCnt="0"/>
      <dgm:spPr/>
    </dgm:pt>
    <dgm:pt modelId="{7776B69D-AD7C-45BC-950B-39F68CB4698F}" type="pres">
      <dgm:prSet presAssocID="{F6F5F0DA-3FBC-43AE-A0F9-01B048749C13}" presName="circle1" presStyleLbl="node1" presStyleIdx="0" presStyleCnt="3"/>
      <dgm:spPr/>
    </dgm:pt>
    <dgm:pt modelId="{9FBFF72A-AC1F-46D1-89BE-8F1B761AA806}" type="pres">
      <dgm:prSet presAssocID="{F6F5F0DA-3FBC-43AE-A0F9-01B048749C13}" presName="c1text" presStyleLbl="node1" presStyleIdx="0" presStyleCnt="3">
        <dgm:presLayoutVars>
          <dgm:bulletEnabled val="1"/>
        </dgm:presLayoutVars>
      </dgm:prSet>
      <dgm:spPr/>
    </dgm:pt>
    <dgm:pt modelId="{BB8A6264-D59E-4586-B2C5-ECF7897E723A}" type="pres">
      <dgm:prSet presAssocID="{F6F5F0DA-3FBC-43AE-A0F9-01B048749C13}" presName="comp2" presStyleCnt="0"/>
      <dgm:spPr/>
    </dgm:pt>
    <dgm:pt modelId="{024ECE1D-5211-445A-82EA-B71F71AA2022}" type="pres">
      <dgm:prSet presAssocID="{F6F5F0DA-3FBC-43AE-A0F9-01B048749C13}" presName="circle2" presStyleLbl="node1" presStyleIdx="1" presStyleCnt="3"/>
      <dgm:spPr/>
    </dgm:pt>
    <dgm:pt modelId="{A2125A74-8C2D-49CF-AE11-903A84DB6802}" type="pres">
      <dgm:prSet presAssocID="{F6F5F0DA-3FBC-43AE-A0F9-01B048749C13}" presName="c2text" presStyleLbl="node1" presStyleIdx="1" presStyleCnt="3">
        <dgm:presLayoutVars>
          <dgm:bulletEnabled val="1"/>
        </dgm:presLayoutVars>
      </dgm:prSet>
      <dgm:spPr/>
    </dgm:pt>
    <dgm:pt modelId="{B70F1A90-6D1D-4950-8AEB-439A6A4D9678}" type="pres">
      <dgm:prSet presAssocID="{F6F5F0DA-3FBC-43AE-A0F9-01B048749C13}" presName="comp3" presStyleCnt="0"/>
      <dgm:spPr/>
    </dgm:pt>
    <dgm:pt modelId="{42BF83C8-BAAF-4CE7-8457-BB7EA4D7526B}" type="pres">
      <dgm:prSet presAssocID="{F6F5F0DA-3FBC-43AE-A0F9-01B048749C13}" presName="circle3" presStyleLbl="node1" presStyleIdx="2" presStyleCnt="3"/>
      <dgm:spPr/>
    </dgm:pt>
    <dgm:pt modelId="{C881431A-BCD9-45F7-804B-3965CD88D949}" type="pres">
      <dgm:prSet presAssocID="{F6F5F0DA-3FBC-43AE-A0F9-01B048749C13}" presName="c3text" presStyleLbl="node1" presStyleIdx="2" presStyleCnt="3">
        <dgm:presLayoutVars>
          <dgm:bulletEnabled val="1"/>
        </dgm:presLayoutVars>
      </dgm:prSet>
      <dgm:spPr/>
    </dgm:pt>
  </dgm:ptLst>
  <dgm:cxnLst>
    <dgm:cxn modelId="{3214F916-B7E8-4E4F-BBAE-12F4D5F5C9F3}" type="presOf" srcId="{B393433A-2662-4073-82A4-D74B391D7BE4}" destId="{42BF83C8-BAAF-4CE7-8457-BB7EA4D7526B}" srcOrd="0" destOrd="0" presId="urn:microsoft.com/office/officeart/2005/8/layout/venn2"/>
    <dgm:cxn modelId="{1565FA17-029A-47B0-81E4-E51B4A5A51B4}" type="presOf" srcId="{B393433A-2662-4073-82A4-D74B391D7BE4}" destId="{C881431A-BCD9-45F7-804B-3965CD88D949}" srcOrd="1" destOrd="0" presId="urn:microsoft.com/office/officeart/2005/8/layout/venn2"/>
    <dgm:cxn modelId="{D4269771-8F0B-41F1-9F9C-41C18C042927}" type="presOf" srcId="{F6F5F0DA-3FBC-43AE-A0F9-01B048749C13}" destId="{7D3D863F-8F39-4478-972D-7C60D3F1FDAB}" srcOrd="0" destOrd="0" presId="urn:microsoft.com/office/officeart/2005/8/layout/venn2"/>
    <dgm:cxn modelId="{73092A57-928C-4DEF-A1D5-9C96C0680ABF}" type="presOf" srcId="{65717929-A354-404E-B821-2B01CD2DC1A2}" destId="{A2125A74-8C2D-49CF-AE11-903A84DB6802}" srcOrd="1" destOrd="0" presId="urn:microsoft.com/office/officeart/2005/8/layout/venn2"/>
    <dgm:cxn modelId="{8F2E477C-7F4D-4EAD-8708-6C52F85576DE}" type="presOf" srcId="{65717929-A354-404E-B821-2B01CD2DC1A2}" destId="{024ECE1D-5211-445A-82EA-B71F71AA2022}" srcOrd="0" destOrd="0" presId="urn:microsoft.com/office/officeart/2005/8/layout/venn2"/>
    <dgm:cxn modelId="{641087A4-6ADB-42AD-82AC-4F10BDC3F0C8}" type="presOf" srcId="{B7FFA5B4-290A-4B2D-8817-3F8A69106ED6}" destId="{7776B69D-AD7C-45BC-950B-39F68CB4698F}" srcOrd="0" destOrd="0" presId="urn:microsoft.com/office/officeart/2005/8/layout/venn2"/>
    <dgm:cxn modelId="{EEA5E4AE-7285-4EEE-A0E6-69D3BD8B37AD}" type="presOf" srcId="{B7FFA5B4-290A-4B2D-8817-3F8A69106ED6}" destId="{9FBFF72A-AC1F-46D1-89BE-8F1B761AA806}" srcOrd="1" destOrd="0" presId="urn:microsoft.com/office/officeart/2005/8/layout/venn2"/>
    <dgm:cxn modelId="{3DFB04CE-BE71-4749-B71B-877A0B4153E4}" srcId="{F6F5F0DA-3FBC-43AE-A0F9-01B048749C13}" destId="{B7FFA5B4-290A-4B2D-8817-3F8A69106ED6}" srcOrd="0" destOrd="0" parTransId="{3E68B46B-A8D9-49CC-8732-B239A3E820C4}" sibTransId="{347290FB-C461-4ECA-A044-B6A64AA15D98}"/>
    <dgm:cxn modelId="{5CDB61D5-04AD-4AF5-B4C5-D74BAD5635B9}" srcId="{F6F5F0DA-3FBC-43AE-A0F9-01B048749C13}" destId="{B393433A-2662-4073-82A4-D74B391D7BE4}" srcOrd="2" destOrd="0" parTransId="{D3A2F524-4944-4B33-AC76-2152B7222DE5}" sibTransId="{647A7B39-3B69-473E-9895-8A446113E356}"/>
    <dgm:cxn modelId="{E77FF2FA-78EB-4B3D-A33C-D6C816740CFA}" srcId="{F6F5F0DA-3FBC-43AE-A0F9-01B048749C13}" destId="{65717929-A354-404E-B821-2B01CD2DC1A2}" srcOrd="1" destOrd="0" parTransId="{C18ED5A6-2E22-4D04-AA50-99C249AE4291}" sibTransId="{5829B79E-D06E-4879-846F-DE94584D88FB}"/>
    <dgm:cxn modelId="{AE611960-99A6-4739-B4EF-7AE1B8626032}" type="presParOf" srcId="{7D3D863F-8F39-4478-972D-7C60D3F1FDAB}" destId="{6F1C01E3-56F6-405D-8982-D5191F7E1EA3}" srcOrd="0" destOrd="0" presId="urn:microsoft.com/office/officeart/2005/8/layout/venn2"/>
    <dgm:cxn modelId="{DDEF6DED-1403-4722-B22C-4BD2A236B179}" type="presParOf" srcId="{6F1C01E3-56F6-405D-8982-D5191F7E1EA3}" destId="{7776B69D-AD7C-45BC-950B-39F68CB4698F}" srcOrd="0" destOrd="0" presId="urn:microsoft.com/office/officeart/2005/8/layout/venn2"/>
    <dgm:cxn modelId="{F6B122B3-7572-449F-9AA1-8DA56969EDBF}" type="presParOf" srcId="{6F1C01E3-56F6-405D-8982-D5191F7E1EA3}" destId="{9FBFF72A-AC1F-46D1-89BE-8F1B761AA806}" srcOrd="1" destOrd="0" presId="urn:microsoft.com/office/officeart/2005/8/layout/venn2"/>
    <dgm:cxn modelId="{1E4BE85D-C664-4277-9835-6E847811D427}" type="presParOf" srcId="{7D3D863F-8F39-4478-972D-7C60D3F1FDAB}" destId="{BB8A6264-D59E-4586-B2C5-ECF7897E723A}" srcOrd="1" destOrd="0" presId="urn:microsoft.com/office/officeart/2005/8/layout/venn2"/>
    <dgm:cxn modelId="{0FC58656-B9D1-447E-8033-3700734ADFD2}" type="presParOf" srcId="{BB8A6264-D59E-4586-B2C5-ECF7897E723A}" destId="{024ECE1D-5211-445A-82EA-B71F71AA2022}" srcOrd="0" destOrd="0" presId="urn:microsoft.com/office/officeart/2005/8/layout/venn2"/>
    <dgm:cxn modelId="{6E159A9B-76A2-49B6-82B0-8B4052F45141}" type="presParOf" srcId="{BB8A6264-D59E-4586-B2C5-ECF7897E723A}" destId="{A2125A74-8C2D-49CF-AE11-903A84DB6802}" srcOrd="1" destOrd="0" presId="urn:microsoft.com/office/officeart/2005/8/layout/venn2"/>
    <dgm:cxn modelId="{B2693587-2E69-4A5D-89DD-88745D1BCCFB}" type="presParOf" srcId="{7D3D863F-8F39-4478-972D-7C60D3F1FDAB}" destId="{B70F1A90-6D1D-4950-8AEB-439A6A4D9678}" srcOrd="2" destOrd="0" presId="urn:microsoft.com/office/officeart/2005/8/layout/venn2"/>
    <dgm:cxn modelId="{C0F7E48C-C71A-4041-8308-3F0C17E77750}" type="presParOf" srcId="{B70F1A90-6D1D-4950-8AEB-439A6A4D9678}" destId="{42BF83C8-BAAF-4CE7-8457-BB7EA4D7526B}" srcOrd="0" destOrd="0" presId="urn:microsoft.com/office/officeart/2005/8/layout/venn2"/>
    <dgm:cxn modelId="{4B1CC09B-170C-4255-A1AD-D61455B4A747}" type="presParOf" srcId="{B70F1A90-6D1D-4950-8AEB-439A6A4D9678}" destId="{C881431A-BCD9-45F7-804B-3965CD88D949}" srcOrd="1" destOrd="0" presId="urn:microsoft.com/office/officeart/2005/8/layout/ven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5CCCEA-C0E4-44AF-8464-9FD57967F434}">
      <dsp:nvSpPr>
        <dsp:cNvPr id="0" name=""/>
        <dsp:cNvSpPr/>
      </dsp:nvSpPr>
      <dsp:spPr>
        <a:xfrm>
          <a:off x="2858608" y="2201661"/>
          <a:ext cx="1850502" cy="1729624"/>
        </a:xfrm>
        <a:prstGeom prst="roundRect">
          <a:avLst/>
        </a:prstGeom>
        <a:solidFill>
          <a:srgbClr val="4A5A6F"/>
        </a:solidFill>
        <a:ln w="19050" cap="flat" cmpd="sng" algn="ctr">
          <a:solidFill>
            <a:srgbClr val="54667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bg1"/>
              </a:solidFill>
              <a:latin typeface="微軟正黑體" panose="020B0604030504040204" pitchFamily="34" charset="-120"/>
              <a:ea typeface="微軟正黑體" panose="020B0604030504040204" pitchFamily="34" charset="-120"/>
            </a:rPr>
            <a:t>區塊鏈分類</a:t>
          </a:r>
        </a:p>
      </dsp:txBody>
      <dsp:txXfrm>
        <a:off x="2943041" y="2286094"/>
        <a:ext cx="1681636" cy="1560758"/>
      </dsp:txXfrm>
    </dsp:sp>
    <dsp:sp modelId="{C902199A-2D11-4B03-BCF1-9FD895054C6E}">
      <dsp:nvSpPr>
        <dsp:cNvPr id="0" name=""/>
        <dsp:cNvSpPr/>
      </dsp:nvSpPr>
      <dsp:spPr>
        <a:xfrm rot="16200000">
          <a:off x="3451057" y="1868858"/>
          <a:ext cx="665605" cy="0"/>
        </a:xfrm>
        <a:custGeom>
          <a:avLst/>
          <a:gdLst/>
          <a:ahLst/>
          <a:cxnLst/>
          <a:rect l="0" t="0" r="0" b="0"/>
          <a:pathLst>
            <a:path>
              <a:moveTo>
                <a:pt x="0" y="0"/>
              </a:moveTo>
              <a:lnTo>
                <a:pt x="665605"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88CC2D-9CC1-4463-8DB7-7674CB9E0702}">
      <dsp:nvSpPr>
        <dsp:cNvPr id="0" name=""/>
        <dsp:cNvSpPr/>
      </dsp:nvSpPr>
      <dsp:spPr>
        <a:xfrm>
          <a:off x="3282944" y="534223"/>
          <a:ext cx="1001831" cy="1001831"/>
        </a:xfrm>
        <a:prstGeom prst="roundRect">
          <a:avLst/>
        </a:prstGeom>
        <a:solidFill>
          <a:srgbClr val="F9F9F9"/>
        </a:solidFill>
        <a:ln w="19050" cap="flat" cmpd="sng" algn="ctr">
          <a:solidFill>
            <a:srgbClr val="E0674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bg2">
                  <a:lumMod val="10000"/>
                </a:schemeClr>
              </a:solidFill>
              <a:latin typeface="微軟正黑體" panose="020B0604030504040204" pitchFamily="34" charset="-120"/>
              <a:ea typeface="微軟正黑體" panose="020B0604030504040204" pitchFamily="34" charset="-120"/>
            </a:rPr>
            <a:t>公開鏈</a:t>
          </a:r>
        </a:p>
      </dsp:txBody>
      <dsp:txXfrm>
        <a:off x="3331849" y="583128"/>
        <a:ext cx="904021" cy="904021"/>
      </dsp:txXfrm>
    </dsp:sp>
    <dsp:sp modelId="{7575C7CD-144B-4A99-BAF2-E6F4CC65D539}">
      <dsp:nvSpPr>
        <dsp:cNvPr id="0" name=""/>
        <dsp:cNvSpPr/>
      </dsp:nvSpPr>
      <dsp:spPr>
        <a:xfrm rot="1800000">
          <a:off x="4665527" y="3763323"/>
          <a:ext cx="650625" cy="0"/>
        </a:xfrm>
        <a:custGeom>
          <a:avLst/>
          <a:gdLst/>
          <a:ahLst/>
          <a:cxnLst/>
          <a:rect l="0" t="0" r="0" b="0"/>
          <a:pathLst>
            <a:path>
              <a:moveTo>
                <a:pt x="0" y="0"/>
              </a:moveTo>
              <a:lnTo>
                <a:pt x="650625"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FEA061-C259-4071-9330-2322F9021A43}">
      <dsp:nvSpPr>
        <dsp:cNvPr id="0" name=""/>
        <dsp:cNvSpPr/>
      </dsp:nvSpPr>
      <dsp:spPr>
        <a:xfrm>
          <a:off x="5272569" y="3714268"/>
          <a:ext cx="1001831" cy="1001831"/>
        </a:xfrm>
        <a:prstGeom prst="roundRect">
          <a:avLst/>
        </a:prstGeom>
        <a:solidFill>
          <a:srgbClr val="F9F9F9"/>
        </a:solidFill>
        <a:ln w="19050" cap="flat" cmpd="sng" algn="ctr">
          <a:solidFill>
            <a:srgbClr val="3DA18E"/>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zh-TW" altLang="en-US" sz="2000" b="1" kern="1200">
              <a:solidFill>
                <a:schemeClr val="bg2">
                  <a:lumMod val="10000"/>
                </a:schemeClr>
              </a:solidFill>
              <a:latin typeface="微軟正黑體" panose="020B0604030504040204" pitchFamily="34" charset="-120"/>
              <a:ea typeface="微軟正黑體" panose="020B0604030504040204" pitchFamily="34" charset="-120"/>
            </a:rPr>
            <a:t>私有鏈</a:t>
          </a:r>
          <a:endParaRPr lang="zh-TW" altLang="en-US" sz="2000" b="1" kern="1200" dirty="0">
            <a:solidFill>
              <a:schemeClr val="bg2">
                <a:lumMod val="10000"/>
              </a:schemeClr>
            </a:solidFill>
            <a:latin typeface="微軟正黑體" panose="020B0604030504040204" pitchFamily="34" charset="-120"/>
            <a:ea typeface="微軟正黑體" panose="020B0604030504040204" pitchFamily="34" charset="-120"/>
          </a:endParaRPr>
        </a:p>
      </dsp:txBody>
      <dsp:txXfrm>
        <a:off x="5321474" y="3763173"/>
        <a:ext cx="904021" cy="904021"/>
      </dsp:txXfrm>
    </dsp:sp>
    <dsp:sp modelId="{4701FBEA-87DF-40BB-9D0D-6E678776636C}">
      <dsp:nvSpPr>
        <dsp:cNvPr id="0" name=""/>
        <dsp:cNvSpPr/>
      </dsp:nvSpPr>
      <dsp:spPr>
        <a:xfrm rot="9000000">
          <a:off x="2251566" y="3763323"/>
          <a:ext cx="650625" cy="0"/>
        </a:xfrm>
        <a:custGeom>
          <a:avLst/>
          <a:gdLst/>
          <a:ahLst/>
          <a:cxnLst/>
          <a:rect l="0" t="0" r="0" b="0"/>
          <a:pathLst>
            <a:path>
              <a:moveTo>
                <a:pt x="0" y="0"/>
              </a:moveTo>
              <a:lnTo>
                <a:pt x="650625" y="0"/>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D26CD3-F509-4A16-9210-9B1F69B4479F}">
      <dsp:nvSpPr>
        <dsp:cNvPr id="0" name=""/>
        <dsp:cNvSpPr/>
      </dsp:nvSpPr>
      <dsp:spPr>
        <a:xfrm>
          <a:off x="1293319" y="3714268"/>
          <a:ext cx="1001831" cy="1001831"/>
        </a:xfrm>
        <a:prstGeom prst="roundRect">
          <a:avLst/>
        </a:prstGeom>
        <a:solidFill>
          <a:srgbClr val="F9F9F9"/>
        </a:solidFill>
        <a:ln w="19050" cap="flat" cmpd="sng" algn="ctr">
          <a:solidFill>
            <a:srgbClr val="F7C655"/>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zh-TW" altLang="en-US" sz="2000" b="1" kern="1200">
              <a:solidFill>
                <a:schemeClr val="bg2">
                  <a:lumMod val="10000"/>
                </a:schemeClr>
              </a:solidFill>
              <a:latin typeface="微軟正黑體" panose="020B0604030504040204" pitchFamily="34" charset="-120"/>
              <a:ea typeface="微軟正黑體" panose="020B0604030504040204" pitchFamily="34" charset="-120"/>
            </a:rPr>
            <a:t>聯盟鏈</a:t>
          </a:r>
          <a:endParaRPr lang="zh-TW" altLang="en-US" sz="2000" b="1" kern="1200" dirty="0">
            <a:solidFill>
              <a:schemeClr val="bg2">
                <a:lumMod val="10000"/>
              </a:schemeClr>
            </a:solidFill>
            <a:latin typeface="微軟正黑體" panose="020B0604030504040204" pitchFamily="34" charset="-120"/>
            <a:ea typeface="微軟正黑體" panose="020B0604030504040204" pitchFamily="34" charset="-120"/>
          </a:endParaRPr>
        </a:p>
      </dsp:txBody>
      <dsp:txXfrm>
        <a:off x="1342224" y="3763173"/>
        <a:ext cx="904021" cy="90402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76B69D-AD7C-45BC-950B-39F68CB4698F}">
      <dsp:nvSpPr>
        <dsp:cNvPr id="0" name=""/>
        <dsp:cNvSpPr/>
      </dsp:nvSpPr>
      <dsp:spPr>
        <a:xfrm>
          <a:off x="1207404" y="0"/>
          <a:ext cx="4851071" cy="4851071"/>
        </a:xfrm>
        <a:prstGeom prst="ellipse">
          <a:avLst/>
        </a:prstGeom>
        <a:noFill/>
        <a:ln w="19050" cap="flat" cmpd="sng" algn="ctr">
          <a:solidFill>
            <a:srgbClr val="4A5A6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區塊鏈</a:t>
          </a:r>
          <a:r>
            <a:rPr lang="en-US" altLang="zh-TW"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3.0</a:t>
          </a:r>
        </a:p>
        <a:p>
          <a:pPr marL="0" lvl="0" indent="0" algn="ctr" defTabSz="889000">
            <a:lnSpc>
              <a:spcPct val="90000"/>
            </a:lnSpc>
            <a:spcBef>
              <a:spcPct val="0"/>
            </a:spcBef>
            <a:spcAft>
              <a:spcPct val="35000"/>
            </a:spcAft>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公正應用</a:t>
          </a:r>
        </a:p>
      </dsp:txBody>
      <dsp:txXfrm>
        <a:off x="2785215" y="242553"/>
        <a:ext cx="1695449" cy="727660"/>
      </dsp:txXfrm>
    </dsp:sp>
    <dsp:sp modelId="{024ECE1D-5211-445A-82EA-B71F71AA2022}">
      <dsp:nvSpPr>
        <dsp:cNvPr id="0" name=""/>
        <dsp:cNvSpPr/>
      </dsp:nvSpPr>
      <dsp:spPr>
        <a:xfrm>
          <a:off x="1813788" y="1212767"/>
          <a:ext cx="3638303" cy="3638303"/>
        </a:xfrm>
        <a:prstGeom prst="ellipse">
          <a:avLst/>
        </a:prstGeom>
        <a:noFill/>
        <a:ln w="19050" cap="flat" cmpd="sng" algn="ctr">
          <a:solidFill>
            <a:srgbClr val="32AC9D"/>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區塊鏈</a:t>
          </a:r>
          <a:r>
            <a:rPr lang="en-US" altLang="zh-TW"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2.0</a:t>
          </a:r>
        </a:p>
        <a:p>
          <a:pPr marL="0" lvl="0" indent="0" algn="ctr" defTabSz="889000">
            <a:lnSpc>
              <a:spcPct val="90000"/>
            </a:lnSpc>
            <a:spcBef>
              <a:spcPct val="0"/>
            </a:spcBef>
            <a:spcAft>
              <a:spcPct val="35000"/>
            </a:spcAft>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智能合約</a:t>
          </a:r>
        </a:p>
      </dsp:txBody>
      <dsp:txXfrm>
        <a:off x="2785215" y="1440161"/>
        <a:ext cx="1695449" cy="682181"/>
      </dsp:txXfrm>
    </dsp:sp>
    <dsp:sp modelId="{42BF83C8-BAAF-4CE7-8457-BB7EA4D7526B}">
      <dsp:nvSpPr>
        <dsp:cNvPr id="0" name=""/>
        <dsp:cNvSpPr/>
      </dsp:nvSpPr>
      <dsp:spPr>
        <a:xfrm>
          <a:off x="2420172" y="2425535"/>
          <a:ext cx="2425535" cy="2425535"/>
        </a:xfrm>
        <a:prstGeom prst="ellipse">
          <a:avLst/>
        </a:prstGeom>
        <a:noFill/>
        <a:ln w="19050" cap="flat" cmpd="sng" algn="ctr">
          <a:solidFill>
            <a:srgbClr val="E0674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區塊鏈</a:t>
          </a:r>
          <a:r>
            <a:rPr lang="en-US" altLang="zh-TW"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1.0</a:t>
          </a:r>
        </a:p>
        <a:p>
          <a:pPr marL="0" lvl="0" indent="0" algn="ctr" defTabSz="889000">
            <a:lnSpc>
              <a:spcPct val="90000"/>
            </a:lnSpc>
            <a:spcBef>
              <a:spcPct val="0"/>
            </a:spcBef>
            <a:spcAft>
              <a:spcPct val="35000"/>
            </a:spcAft>
            <a:buNone/>
          </a:pPr>
          <a:r>
            <a:rPr lang="zh-TW" altLang="en-US" sz="2000" b="1" kern="1200" dirty="0">
              <a:solidFill>
                <a:schemeClr val="tx1">
                  <a:lumMod val="75000"/>
                  <a:lumOff val="25000"/>
                </a:schemeClr>
              </a:solidFill>
              <a:latin typeface="微軟正黑體" panose="020B0604030504040204" pitchFamily="34" charset="-120"/>
              <a:ea typeface="微軟正黑體" panose="020B0604030504040204" pitchFamily="34" charset="-120"/>
            </a:rPr>
            <a:t>數位貨幣</a:t>
          </a:r>
        </a:p>
      </dsp:txBody>
      <dsp:txXfrm>
        <a:off x="2775383" y="3031919"/>
        <a:ext cx="1715112" cy="1212767"/>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E56F87-A81A-4EDE-81AE-3C76F245D5E1}" type="datetimeFigureOut">
              <a:rPr lang="zh-CN" altLang="en-US" smtClean="0"/>
              <a:t>2018/7/27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DC7B0-EBAC-4569-9993-246641655C40}" type="slidenum">
              <a:rPr lang="zh-CN" altLang="en-US" smtClean="0"/>
              <a:t>‹#›</a:t>
            </a:fld>
            <a:endParaRPr lang="zh-CN" altLang="en-US"/>
          </a:p>
        </p:txBody>
      </p:sp>
    </p:spTree>
    <p:extLst>
      <p:ext uri="{BB962C8B-B14F-4D97-AF65-F5344CB8AC3E}">
        <p14:creationId xmlns:p14="http://schemas.microsoft.com/office/powerpoint/2010/main" val="2416002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1</a:t>
            </a:fld>
            <a:endParaRPr lang="zh-CN" altLang="en-US"/>
          </a:p>
        </p:txBody>
      </p:sp>
    </p:spTree>
    <p:extLst>
      <p:ext uri="{BB962C8B-B14F-4D97-AF65-F5344CB8AC3E}">
        <p14:creationId xmlns:p14="http://schemas.microsoft.com/office/powerpoint/2010/main" val="1141127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2</a:t>
            </a:fld>
            <a:endParaRPr lang="zh-CN" altLang="en-US"/>
          </a:p>
        </p:txBody>
      </p:sp>
    </p:spTree>
    <p:extLst>
      <p:ext uri="{BB962C8B-B14F-4D97-AF65-F5344CB8AC3E}">
        <p14:creationId xmlns:p14="http://schemas.microsoft.com/office/powerpoint/2010/main" val="241961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2842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1107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26"/>
            <a:ext cx="10363200" cy="1470025"/>
          </a:xfrm>
        </p:spPr>
        <p:txBody>
          <a:bodyPr/>
          <a:lstStyle/>
          <a:p>
            <a:r>
              <a:rPr lang="zh-TW" altLang="en-US"/>
              <a:t>按一下以編輯母片標題樣式</a:t>
            </a:r>
          </a:p>
        </p:txBody>
      </p:sp>
      <p:sp>
        <p:nvSpPr>
          <p:cNvPr id="3" name="副標題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6EB3881-3AD9-4248-89BF-3585ADFDE6D3}" type="datetime1">
              <a:rPr lang="zh-TW" altLang="en-US" smtClean="0"/>
              <a:t>2018/7/27</a:t>
            </a:fld>
            <a:endParaRPr lang="zh-TW" altLang="en-US"/>
          </a:p>
        </p:txBody>
      </p:sp>
      <p:sp>
        <p:nvSpPr>
          <p:cNvPr id="5" name="頁尾版面配置區 4"/>
          <p:cNvSpPr>
            <a:spLocks noGrp="1"/>
          </p:cNvSpPr>
          <p:nvPr>
            <p:ph type="ftr" sz="quarter" idx="11"/>
          </p:nvPr>
        </p:nvSpPr>
        <p:spPr/>
        <p:txBody>
          <a:bodyPr/>
          <a:lstStyle/>
          <a:p>
            <a:r>
              <a:rPr lang="zh-TW" altLang="en-US"/>
              <a:t>區塊鏈商業應用概論 實例與分析／許孟祥 編著／新陸書局股份有限公司 發行</a:t>
            </a:r>
          </a:p>
        </p:txBody>
      </p:sp>
      <p:sp>
        <p:nvSpPr>
          <p:cNvPr id="6" name="投影片編號版面配置區 5"/>
          <p:cNvSpPr>
            <a:spLocks noGrp="1"/>
          </p:cNvSpPr>
          <p:nvPr>
            <p:ph type="sldNum" sz="quarter" idx="12"/>
          </p:nvPr>
        </p:nvSpPr>
        <p:spPr/>
        <p:txBody>
          <a:bodyPr/>
          <a:lstStyle/>
          <a:p>
            <a:fld id="{9F98A096-46F7-4F4A-8106-40B5A13C16D3}" type="slidenum">
              <a:rPr lang="zh-TW" altLang="en-US" smtClean="0"/>
              <a:t>‹#›</a:t>
            </a:fld>
            <a:endParaRPr lang="zh-TW" altLang="en-US"/>
          </a:p>
        </p:txBody>
      </p:sp>
    </p:spTree>
    <p:extLst>
      <p:ext uri="{BB962C8B-B14F-4D97-AF65-F5344CB8AC3E}">
        <p14:creationId xmlns:p14="http://schemas.microsoft.com/office/powerpoint/2010/main" val="4247428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05873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0"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zh.wikipedia.org/wiki/%E6%AC%A7%E6%B4%B2%E9%93%B6%E8%A1%8C%E4%B8%9A%E7%AE%A1%E7%90%86%E5%B1%80" TargetMode="External"/><Relationship Id="rId7"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hyperlink" Target="https://zh.wikipedia.org/wiki/%E6%B3%95%E4%BA%BA" TargetMode="External"/><Relationship Id="rId5" Type="http://schemas.openxmlformats.org/officeDocument/2006/relationships/hyperlink" Target="https://zh.wikipedia.org/wiki/%E8%87%AA%E7%84%B6%E4%BA%BA" TargetMode="External"/><Relationship Id="rId4" Type="http://schemas.openxmlformats.org/officeDocument/2006/relationships/hyperlink" Target="https://zh.wikipedia.org/wiki/%E6%B3%95%E5%AE%9A%E8%B4%A7%E5%B8%81"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3675" r="8038"/>
          <a:stretch/>
        </p:blipFill>
        <p:spPr>
          <a:xfrm>
            <a:off x="0" y="0"/>
            <a:ext cx="12192000" cy="6858000"/>
          </a:xfrm>
          <a:prstGeom prst="rect">
            <a:avLst/>
          </a:prstGeom>
        </p:spPr>
      </p:pic>
      <p:sp>
        <p:nvSpPr>
          <p:cNvPr id="7" name="文本框 6"/>
          <p:cNvSpPr txBox="1"/>
          <p:nvPr/>
        </p:nvSpPr>
        <p:spPr>
          <a:xfrm>
            <a:off x="2876355" y="2280980"/>
            <a:ext cx="3647152" cy="923330"/>
          </a:xfrm>
          <a:prstGeom prst="rect">
            <a:avLst/>
          </a:prstGeom>
          <a:noFill/>
        </p:spPr>
        <p:txBody>
          <a:bodyPr wrap="none" rtlCol="0">
            <a:spAutoFit/>
            <a:scene3d>
              <a:camera prst="orthographicFront"/>
              <a:lightRig rig="threePt" dir="t"/>
            </a:scene3d>
            <a:sp3d contourW="12700"/>
          </a:bodyPr>
          <a:lstStyle/>
          <a:p>
            <a:r>
              <a:rPr lang="zh-TW" altLang="en-US" sz="5400" b="1" dirty="0">
                <a:solidFill>
                  <a:schemeClr val="accent1"/>
                </a:solidFill>
              </a:rPr>
              <a:t>區塊鏈概論</a:t>
            </a:r>
          </a:p>
        </p:txBody>
      </p:sp>
      <p:sp>
        <p:nvSpPr>
          <p:cNvPr id="9" name="矩形 8"/>
          <p:cNvSpPr/>
          <p:nvPr/>
        </p:nvSpPr>
        <p:spPr>
          <a:xfrm>
            <a:off x="2876355" y="1678466"/>
            <a:ext cx="2220480" cy="523220"/>
          </a:xfrm>
          <a:prstGeom prst="rect">
            <a:avLst/>
          </a:prstGeom>
        </p:spPr>
        <p:txBody>
          <a:bodyPr wrap="none">
            <a:spAutoFit/>
            <a:scene3d>
              <a:camera prst="orthographicFront"/>
              <a:lightRig rig="threePt" dir="t"/>
            </a:scene3d>
            <a:sp3d contourW="12700"/>
          </a:bodyPr>
          <a:lstStyle/>
          <a:p>
            <a:r>
              <a:rPr lang="en-US" altLang="zh-CN" sz="2800" b="1" dirty="0">
                <a:solidFill>
                  <a:srgbClr val="4A5A6F"/>
                </a:solidFill>
              </a:rPr>
              <a:t>CHAPTER 1</a:t>
            </a:r>
            <a:endParaRPr lang="zh-CN" altLang="en-US" sz="2800" b="1" dirty="0">
              <a:solidFill>
                <a:srgbClr val="4A5A6F"/>
              </a:solidFill>
            </a:endParaRPr>
          </a:p>
        </p:txBody>
      </p:sp>
      <p:sp>
        <p:nvSpPr>
          <p:cNvPr id="46" name="矩形 23"/>
          <p:cNvSpPr/>
          <p:nvPr/>
        </p:nvSpPr>
        <p:spPr>
          <a:xfrm>
            <a:off x="3329969" y="5032201"/>
            <a:ext cx="189597" cy="242711"/>
          </a:xfrm>
          <a:custGeom>
            <a:avLst/>
            <a:gdLst>
              <a:gd name="connsiteX0" fmla="*/ 11784 w 473070"/>
              <a:gd name="connsiteY0" fmla="*/ 563888 h 605592"/>
              <a:gd name="connsiteX1" fmla="*/ 461073 w 473070"/>
              <a:gd name="connsiteY1" fmla="*/ 563888 h 605592"/>
              <a:gd name="connsiteX2" fmla="*/ 461073 w 473070"/>
              <a:gd name="connsiteY2" fmla="*/ 605592 h 605592"/>
              <a:gd name="connsiteX3" fmla="*/ 11784 w 473070"/>
              <a:gd name="connsiteY3" fmla="*/ 605592 h 605592"/>
              <a:gd name="connsiteX4" fmla="*/ 11784 w 473070"/>
              <a:gd name="connsiteY4" fmla="*/ 500661 h 605592"/>
              <a:gd name="connsiteX5" fmla="*/ 461073 w 473070"/>
              <a:gd name="connsiteY5" fmla="*/ 500661 h 605592"/>
              <a:gd name="connsiteX6" fmla="*/ 461073 w 473070"/>
              <a:gd name="connsiteY6" fmla="*/ 542506 h 605592"/>
              <a:gd name="connsiteX7" fmla="*/ 11784 w 473070"/>
              <a:gd name="connsiteY7" fmla="*/ 542506 h 605592"/>
              <a:gd name="connsiteX8" fmla="*/ 365246 w 473070"/>
              <a:gd name="connsiteY8" fmla="*/ 196807 h 605592"/>
              <a:gd name="connsiteX9" fmla="*/ 407162 w 473070"/>
              <a:gd name="connsiteY9" fmla="*/ 196807 h 605592"/>
              <a:gd name="connsiteX10" fmla="*/ 407162 w 473070"/>
              <a:gd name="connsiteY10" fmla="*/ 467496 h 605592"/>
              <a:gd name="connsiteX11" fmla="*/ 365246 w 473070"/>
              <a:gd name="connsiteY11" fmla="*/ 467496 h 605592"/>
              <a:gd name="connsiteX12" fmla="*/ 215507 w 473070"/>
              <a:gd name="connsiteY12" fmla="*/ 196807 h 605592"/>
              <a:gd name="connsiteX13" fmla="*/ 257352 w 473070"/>
              <a:gd name="connsiteY13" fmla="*/ 196807 h 605592"/>
              <a:gd name="connsiteX14" fmla="*/ 257352 w 473070"/>
              <a:gd name="connsiteY14" fmla="*/ 467496 h 605592"/>
              <a:gd name="connsiteX15" fmla="*/ 215507 w 473070"/>
              <a:gd name="connsiteY15" fmla="*/ 467496 h 605592"/>
              <a:gd name="connsiteX16" fmla="*/ 65767 w 473070"/>
              <a:gd name="connsiteY16" fmla="*/ 196807 h 605592"/>
              <a:gd name="connsiteX17" fmla="*/ 107612 w 473070"/>
              <a:gd name="connsiteY17" fmla="*/ 196807 h 605592"/>
              <a:gd name="connsiteX18" fmla="*/ 107612 w 473070"/>
              <a:gd name="connsiteY18" fmla="*/ 467496 h 605592"/>
              <a:gd name="connsiteX19" fmla="*/ 65767 w 473070"/>
              <a:gd name="connsiteY19" fmla="*/ 467496 h 605592"/>
              <a:gd name="connsiteX20" fmla="*/ 236581 w 473070"/>
              <a:gd name="connsiteY20" fmla="*/ 0 h 605592"/>
              <a:gd name="connsiteX21" fmla="*/ 473070 w 473070"/>
              <a:gd name="connsiteY21" fmla="*/ 164833 h 605592"/>
              <a:gd name="connsiteX22" fmla="*/ 449115 w 473070"/>
              <a:gd name="connsiteY22" fmla="*/ 199135 h 605592"/>
              <a:gd name="connsiteX23" fmla="*/ 236303 w 473070"/>
              <a:gd name="connsiteY23" fmla="*/ 50711 h 605592"/>
              <a:gd name="connsiteX24" fmla="*/ 23491 w 473070"/>
              <a:gd name="connsiteY24" fmla="*/ 194963 h 605592"/>
              <a:gd name="connsiteX25" fmla="*/ 0 w 473070"/>
              <a:gd name="connsiteY25" fmla="*/ 160383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3070" h="605592">
                <a:moveTo>
                  <a:pt x="11784" y="563888"/>
                </a:moveTo>
                <a:lnTo>
                  <a:pt x="461073" y="563888"/>
                </a:lnTo>
                <a:lnTo>
                  <a:pt x="461073" y="605592"/>
                </a:lnTo>
                <a:lnTo>
                  <a:pt x="11784" y="605592"/>
                </a:lnTo>
                <a:close/>
                <a:moveTo>
                  <a:pt x="11784" y="500661"/>
                </a:moveTo>
                <a:lnTo>
                  <a:pt x="461073" y="500661"/>
                </a:lnTo>
                <a:lnTo>
                  <a:pt x="461073" y="542506"/>
                </a:lnTo>
                <a:lnTo>
                  <a:pt x="11784" y="542506"/>
                </a:lnTo>
                <a:close/>
                <a:moveTo>
                  <a:pt x="365246" y="196807"/>
                </a:moveTo>
                <a:lnTo>
                  <a:pt x="407162" y="196807"/>
                </a:lnTo>
                <a:lnTo>
                  <a:pt x="407162" y="467496"/>
                </a:lnTo>
                <a:lnTo>
                  <a:pt x="365246" y="467496"/>
                </a:lnTo>
                <a:close/>
                <a:moveTo>
                  <a:pt x="215507" y="196807"/>
                </a:moveTo>
                <a:lnTo>
                  <a:pt x="257352" y="196807"/>
                </a:lnTo>
                <a:lnTo>
                  <a:pt x="257352" y="467496"/>
                </a:lnTo>
                <a:lnTo>
                  <a:pt x="215507" y="467496"/>
                </a:lnTo>
                <a:close/>
                <a:moveTo>
                  <a:pt x="65767" y="196807"/>
                </a:moveTo>
                <a:lnTo>
                  <a:pt x="107612" y="196807"/>
                </a:lnTo>
                <a:lnTo>
                  <a:pt x="107612" y="467496"/>
                </a:lnTo>
                <a:lnTo>
                  <a:pt x="65767" y="467496"/>
                </a:lnTo>
                <a:close/>
                <a:moveTo>
                  <a:pt x="236581" y="0"/>
                </a:moveTo>
                <a:lnTo>
                  <a:pt x="473070" y="164833"/>
                </a:lnTo>
                <a:lnTo>
                  <a:pt x="449115" y="199135"/>
                </a:lnTo>
                <a:lnTo>
                  <a:pt x="236303" y="50711"/>
                </a:lnTo>
                <a:lnTo>
                  <a:pt x="23491" y="194963"/>
                </a:lnTo>
                <a:lnTo>
                  <a:pt x="0" y="16038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7" name="矩形 35"/>
          <p:cNvSpPr/>
          <p:nvPr/>
        </p:nvSpPr>
        <p:spPr>
          <a:xfrm>
            <a:off x="4863869" y="5032384"/>
            <a:ext cx="242711" cy="242344"/>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文字方塊 9">
            <a:extLst>
              <a:ext uri="{FF2B5EF4-FFF2-40B4-BE49-F238E27FC236}">
                <a16:creationId xmlns:a16="http://schemas.microsoft.com/office/drawing/2014/main" id="{5EB95789-1338-4013-A515-04F0F93F710E}"/>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26388290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right)">
                                      <p:cBhvr>
                                        <p:cTn id="8" dur="5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p:tgtEl>
                                          <p:spTgt spid="9"/>
                                        </p:tgtEl>
                                        <p:attrNameLst>
                                          <p:attrName>ppt_y</p:attrName>
                                        </p:attrNameLst>
                                      </p:cBhvr>
                                      <p:tavLst>
                                        <p:tav tm="0">
                                          <p:val>
                                            <p:strVal val="#ppt_y+#ppt_h*1.125000"/>
                                          </p:val>
                                        </p:tav>
                                        <p:tav tm="100000">
                                          <p:val>
                                            <p:strVal val="#ppt_y"/>
                                          </p:val>
                                        </p:tav>
                                      </p:tavLst>
                                    </p:anim>
                                    <p:animEffect transition="in" filter="wipe(up)">
                                      <p:cBhvr>
                                        <p:cTn id="12" dur="500"/>
                                        <p:tgtEl>
                                          <p:spTgt spid="9"/>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p:cTn id="15" dur="500" fill="hold"/>
                                        <p:tgtEl>
                                          <p:spTgt spid="46"/>
                                        </p:tgtEl>
                                        <p:attrNameLst>
                                          <p:attrName>ppt_w</p:attrName>
                                        </p:attrNameLst>
                                      </p:cBhvr>
                                      <p:tavLst>
                                        <p:tav tm="0">
                                          <p:val>
                                            <p:fltVal val="0"/>
                                          </p:val>
                                        </p:tav>
                                        <p:tav tm="100000">
                                          <p:val>
                                            <p:strVal val="#ppt_w"/>
                                          </p:val>
                                        </p:tav>
                                      </p:tavLst>
                                    </p:anim>
                                    <p:anim calcmode="lin" valueType="num">
                                      <p:cBhvr>
                                        <p:cTn id="16" dur="500" fill="hold"/>
                                        <p:tgtEl>
                                          <p:spTgt spid="46"/>
                                        </p:tgtEl>
                                        <p:attrNameLst>
                                          <p:attrName>ppt_h</p:attrName>
                                        </p:attrNameLst>
                                      </p:cBhvr>
                                      <p:tavLst>
                                        <p:tav tm="0">
                                          <p:val>
                                            <p:fltVal val="0"/>
                                          </p:val>
                                        </p:tav>
                                        <p:tav tm="100000">
                                          <p:val>
                                            <p:strVal val="#ppt_h"/>
                                          </p:val>
                                        </p:tav>
                                      </p:tavLst>
                                    </p:anim>
                                    <p:animEffect transition="in" filter="fade">
                                      <p:cBhvr>
                                        <p:cTn id="17" dur="500"/>
                                        <p:tgtEl>
                                          <p:spTgt spid="46"/>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47"/>
                                        </p:tgtEl>
                                        <p:attrNameLst>
                                          <p:attrName>style.visibility</p:attrName>
                                        </p:attrNameLst>
                                      </p:cBhvr>
                                      <p:to>
                                        <p:strVal val="visible"/>
                                      </p:to>
                                    </p:set>
                                    <p:anim calcmode="lin" valueType="num">
                                      <p:cBhvr>
                                        <p:cTn id="20" dur="500" fill="hold"/>
                                        <p:tgtEl>
                                          <p:spTgt spid="47"/>
                                        </p:tgtEl>
                                        <p:attrNameLst>
                                          <p:attrName>ppt_w</p:attrName>
                                        </p:attrNameLst>
                                      </p:cBhvr>
                                      <p:tavLst>
                                        <p:tav tm="0">
                                          <p:val>
                                            <p:fltVal val="0"/>
                                          </p:val>
                                        </p:tav>
                                        <p:tav tm="100000">
                                          <p:val>
                                            <p:strVal val="#ppt_w"/>
                                          </p:val>
                                        </p:tav>
                                      </p:tavLst>
                                    </p:anim>
                                    <p:anim calcmode="lin" valueType="num">
                                      <p:cBhvr>
                                        <p:cTn id="21" dur="500" fill="hold"/>
                                        <p:tgtEl>
                                          <p:spTgt spid="47"/>
                                        </p:tgtEl>
                                        <p:attrNameLst>
                                          <p:attrName>ppt_h</p:attrName>
                                        </p:attrNameLst>
                                      </p:cBhvr>
                                      <p:tavLst>
                                        <p:tav tm="0">
                                          <p:val>
                                            <p:fltVal val="0"/>
                                          </p:val>
                                        </p:tav>
                                        <p:tav tm="100000">
                                          <p:val>
                                            <p:strVal val="#ppt_h"/>
                                          </p:val>
                                        </p:tav>
                                      </p:tavLst>
                                    </p:anim>
                                    <p:animEffect transition="in" filter="fade">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46" grpId="0" animBg="1"/>
      <p:bldP spid="4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flipH="1">
            <a:off x="8244230" y="0"/>
            <a:ext cx="3947770" cy="4851400"/>
          </a:xfrm>
          <a:prstGeom prst="rect">
            <a:avLst/>
          </a:prstGeom>
        </p:spPr>
      </p:pic>
      <p:sp>
        <p:nvSpPr>
          <p:cNvPr id="5" name="矩形 4"/>
          <p:cNvSpPr/>
          <p:nvPr/>
        </p:nvSpPr>
        <p:spPr>
          <a:xfrm>
            <a:off x="1810709" y="1351226"/>
            <a:ext cx="2600392"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1-1 </a:t>
            </a:r>
            <a:r>
              <a:rPr lang="zh-TW" altLang="en-US" sz="2800" b="1" dirty="0">
                <a:solidFill>
                  <a:schemeClr val="accent6"/>
                </a:solidFill>
              </a:rPr>
              <a:t>區塊鏈意涵</a:t>
            </a:r>
          </a:p>
        </p:txBody>
      </p:sp>
      <p:sp>
        <p:nvSpPr>
          <p:cNvPr id="47" name="矩形 46"/>
          <p:cNvSpPr/>
          <p:nvPr/>
        </p:nvSpPr>
        <p:spPr>
          <a:xfrm>
            <a:off x="1759413" y="2230883"/>
            <a:ext cx="3677610"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1-2 </a:t>
            </a:r>
            <a:r>
              <a:rPr lang="zh-TW" altLang="en-US" sz="2800" b="1" dirty="0">
                <a:solidFill>
                  <a:schemeClr val="accent6"/>
                </a:solidFill>
              </a:rPr>
              <a:t>區塊鏈的基本原理</a:t>
            </a:r>
          </a:p>
        </p:txBody>
      </p:sp>
      <p:sp>
        <p:nvSpPr>
          <p:cNvPr id="52" name="矩形 51"/>
          <p:cNvSpPr/>
          <p:nvPr/>
        </p:nvSpPr>
        <p:spPr>
          <a:xfrm>
            <a:off x="1810709" y="3110540"/>
            <a:ext cx="2959465"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1-3 </a:t>
            </a:r>
            <a:r>
              <a:rPr lang="zh-TW" altLang="en-US" sz="2800" b="1" dirty="0">
                <a:solidFill>
                  <a:schemeClr val="accent6"/>
                </a:solidFill>
              </a:rPr>
              <a:t>區塊鏈的演進</a:t>
            </a:r>
          </a:p>
        </p:txBody>
      </p:sp>
      <p:sp>
        <p:nvSpPr>
          <p:cNvPr id="65" name="文本框 64"/>
          <p:cNvSpPr txBox="1"/>
          <p:nvPr/>
        </p:nvSpPr>
        <p:spPr>
          <a:xfrm rot="5400000">
            <a:off x="5416355" y="2443872"/>
            <a:ext cx="3531736" cy="923330"/>
          </a:xfrm>
          <a:prstGeom prst="rect">
            <a:avLst/>
          </a:prstGeom>
          <a:noFill/>
        </p:spPr>
        <p:txBody>
          <a:bodyPr wrap="none" rtlCol="0">
            <a:spAutoFit/>
            <a:scene3d>
              <a:camera prst="orthographicFront"/>
              <a:lightRig rig="threePt" dir="t"/>
            </a:scene3d>
            <a:sp3d contourW="12700"/>
          </a:bodyPr>
          <a:lstStyle/>
          <a:p>
            <a:r>
              <a:rPr lang="en-US" altLang="zh-CN" sz="5400" b="1" dirty="0">
                <a:solidFill>
                  <a:schemeClr val="accent1"/>
                </a:solidFill>
              </a:rPr>
              <a:t>CONTENT</a:t>
            </a:r>
            <a:endParaRPr lang="zh-CN" altLang="en-US" sz="5400" b="1" dirty="0">
              <a:solidFill>
                <a:schemeClr val="accent1"/>
              </a:solidFill>
            </a:endParaRPr>
          </a:p>
        </p:txBody>
      </p:sp>
      <p:sp>
        <p:nvSpPr>
          <p:cNvPr id="8" name="文字方塊 7">
            <a:extLst>
              <a:ext uri="{FF2B5EF4-FFF2-40B4-BE49-F238E27FC236}">
                <a16:creationId xmlns:a16="http://schemas.microsoft.com/office/drawing/2014/main" id="{AD9A2B78-0D0D-4B36-A4E1-F03D659AB278}"/>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83953671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1000"/>
                                        <p:tgtEl>
                                          <p:spTgt spid="65"/>
                                        </p:tgtEl>
                                      </p:cBhvr>
                                    </p:animEffect>
                                    <p:anim calcmode="lin" valueType="num">
                                      <p:cBhvr>
                                        <p:cTn id="13" dur="1000" fill="hold"/>
                                        <p:tgtEl>
                                          <p:spTgt spid="65"/>
                                        </p:tgtEl>
                                        <p:attrNameLst>
                                          <p:attrName>ppt_x</p:attrName>
                                        </p:attrNameLst>
                                      </p:cBhvr>
                                      <p:tavLst>
                                        <p:tav tm="0">
                                          <p:val>
                                            <p:strVal val="#ppt_x"/>
                                          </p:val>
                                        </p:tav>
                                        <p:tav tm="100000">
                                          <p:val>
                                            <p:strVal val="#ppt_x"/>
                                          </p:val>
                                        </p:tav>
                                      </p:tavLst>
                                    </p:anim>
                                    <p:anim calcmode="lin" valueType="num">
                                      <p:cBhvr>
                                        <p:cTn id="14" dur="1000" fill="hold"/>
                                        <p:tgtEl>
                                          <p:spTgt spid="65"/>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16" presetClass="entr" presetSubtype="2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childTnLst>
                          </p:cTn>
                        </p:par>
                        <p:par>
                          <p:cTn id="19" fill="hold">
                            <p:stCondLst>
                              <p:cond delay="2000"/>
                            </p:stCondLst>
                            <p:childTnLst>
                              <p:par>
                                <p:cTn id="20" presetID="16" presetClass="entr" presetSubtype="21" fill="hold" grpId="0"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barn(inVertical)">
                                      <p:cBhvr>
                                        <p:cTn id="22" dur="500"/>
                                        <p:tgtEl>
                                          <p:spTgt spid="47"/>
                                        </p:tgtEl>
                                      </p:cBhvr>
                                    </p:animEffect>
                                  </p:childTnLst>
                                </p:cTn>
                              </p:par>
                            </p:childTnLst>
                          </p:cTn>
                        </p:par>
                        <p:par>
                          <p:cTn id="23" fill="hold">
                            <p:stCondLst>
                              <p:cond delay="2500"/>
                            </p:stCondLst>
                            <p:childTnLst>
                              <p:par>
                                <p:cTn id="24" presetID="16" presetClass="entr" presetSubtype="21" fill="hold" grpId="0" nodeType="after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barn(inVertical)">
                                      <p:cBhvr>
                                        <p:cTn id="2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7" grpId="0"/>
      <p:bldP spid="52"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79784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1-1</a:t>
            </a:r>
            <a:r>
              <a:rPr lang="zh-TW" altLang="en-US" sz="2400" b="1" dirty="0">
                <a:solidFill>
                  <a:srgbClr val="E06741"/>
                </a:solidFill>
              </a:rPr>
              <a:t> 區塊鏈意涵</a:t>
            </a:r>
            <a:endParaRPr lang="zh-TW" altLang="en-US" sz="2400" b="1" dirty="0">
              <a:solidFill>
                <a:srgbClr val="E06741"/>
              </a:solidFill>
              <a:latin typeface="+mj-ea"/>
              <a:cs typeface="Times New Roman" panose="02020603050405020304" pitchFamily="18" charset="0"/>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 name="矩形 1"/>
          <p:cNvSpPr/>
          <p:nvPr/>
        </p:nvSpPr>
        <p:spPr>
          <a:xfrm>
            <a:off x="1486396" y="1422090"/>
            <a:ext cx="9219207" cy="4410310"/>
          </a:xfrm>
          <a:prstGeom prst="rect">
            <a:avLst/>
          </a:prstGeom>
        </p:spPr>
        <p:txBody>
          <a:bodyPr wrap="square">
            <a:spAutoFit/>
          </a:bodyPr>
          <a:lstStyle/>
          <a:p>
            <a:pPr>
              <a:lnSpc>
                <a:spcPct val="150000"/>
              </a:lnSpc>
            </a:pPr>
            <a:r>
              <a:rPr lang="zh-TW" altLang="zh-TW" sz="2400" b="1" dirty="0">
                <a:solidFill>
                  <a:srgbClr val="3DA18E"/>
                </a:solidFill>
                <a:latin typeface="微軟正黑體" panose="020B0604030504040204" pitchFamily="34" charset="-120"/>
                <a:ea typeface="微軟正黑體" panose="020B0604030504040204" pitchFamily="34" charset="-120"/>
              </a:rPr>
              <a:t>虛擬貨幣</a:t>
            </a:r>
            <a:r>
              <a:rPr lang="en-US" altLang="zh-TW" sz="2400" b="1" dirty="0">
                <a:solidFill>
                  <a:srgbClr val="3DA18E"/>
                </a:solidFill>
                <a:latin typeface="微軟正黑體" panose="020B0604030504040204" pitchFamily="34" charset="-120"/>
                <a:ea typeface="微軟正黑體" panose="020B0604030504040204" pitchFamily="34" charset="-120"/>
              </a:rPr>
              <a:t>(Virtual Currency)</a:t>
            </a:r>
            <a:r>
              <a:rPr lang="zh-TW" altLang="en-US" sz="2400" b="1" dirty="0">
                <a:solidFill>
                  <a:srgbClr val="3DA18E"/>
                </a:solidFill>
                <a:latin typeface="微軟正黑體" panose="020B0604030504040204" pitchFamily="34" charset="-120"/>
                <a:ea typeface="微軟正黑體" panose="020B0604030504040204" pitchFamily="34" charset="-120"/>
              </a:rPr>
              <a:t>：</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a:lnSpc>
                <a:spcPct val="150000"/>
              </a:lnSpc>
            </a:pP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源起於虛擬社群或環境的開發者，為能提高玩家的興趣與參與，所設計的一種特定於該虛擬社群或環境內可以</a:t>
            </a:r>
            <a:r>
              <a:rPr lang="zh-TW" altLang="zh-TW" sz="2400" b="1" dirty="0">
                <a:solidFill>
                  <a:srgbClr val="54667E"/>
                </a:solidFill>
                <a:latin typeface="微軟正黑體" panose="020B0604030504040204" pitchFamily="34" charset="-120"/>
                <a:ea typeface="微軟正黑體" panose="020B0604030504040204" pitchFamily="34" charset="-120"/>
              </a:rPr>
              <a:t>使用進行交易的貨幣</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50000"/>
              </a:lnSpc>
              <a:buFont typeface="Wingdings" panose="05000000000000000000" pitchFamily="2" charset="2"/>
              <a:buChar char="Ø"/>
            </a:pPr>
            <a:endParaRPr lang="en-US" altLang="zh-TW" sz="1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SzPct val="125000"/>
              <a:buBlip>
                <a:blip r:embed="rId2"/>
              </a:buBlip>
            </a:pP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美國財政部金融犯罪執法網絡</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(Fin CEN)</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對於</a:t>
            </a:r>
            <a:r>
              <a:rPr lang="zh-TW" altLang="zh-TW" sz="2400" b="1" dirty="0">
                <a:solidFill>
                  <a:srgbClr val="3DA18E"/>
                </a:solidFill>
                <a:latin typeface="微軟正黑體" panose="020B0604030504040204" pitchFamily="34" charset="-120"/>
                <a:ea typeface="微軟正黑體" panose="020B0604030504040204" pitchFamily="34" charset="-120"/>
              </a:rPr>
              <a:t>虛擬貨幣</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的定義</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在某些環境下像實體貨幣一樣運轉的</a:t>
            </a:r>
            <a:r>
              <a:rPr lang="zh-TW" altLang="zh-TW" sz="2400" b="1" dirty="0">
                <a:solidFill>
                  <a:srgbClr val="54667E"/>
                </a:solidFill>
                <a:latin typeface="微軟正黑體" panose="020B0604030504040204" pitchFamily="34" charset="-120"/>
                <a:ea typeface="微軟正黑體" panose="020B0604030504040204" pitchFamily="34" charset="-120"/>
              </a:rPr>
              <a:t>交換媒介</a:t>
            </a:r>
            <a:endParaRPr lang="en-US" altLang="zh-TW" sz="2400" b="1" dirty="0">
              <a:solidFill>
                <a:srgbClr val="54667E"/>
              </a:solidFill>
              <a:latin typeface="微軟正黑體" panose="020B0604030504040204" pitchFamily="34" charset="-120"/>
              <a:ea typeface="微軟正黑體" panose="020B0604030504040204" pitchFamily="34" charset="-120"/>
            </a:endParaRPr>
          </a:p>
          <a:p>
            <a:pPr lvl="1">
              <a:lnSpc>
                <a:spcPct val="150000"/>
              </a:lnSpc>
            </a:pP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不具備實體貨幣的所有屬性</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不具有法定貨幣的地位</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pic>
        <p:nvPicPr>
          <p:cNvPr id="4" name="圖片 3">
            <a:extLst>
              <a:ext uri="{FF2B5EF4-FFF2-40B4-BE49-F238E27FC236}">
                <a16:creationId xmlns:a16="http://schemas.microsoft.com/office/drawing/2014/main" id="{153DDE7D-EB93-4B49-9395-BF51CEEC05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60553" y="4348259"/>
            <a:ext cx="2378936" cy="2378936"/>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7E3A6309-1716-4781-857E-D6FC371966D7}"/>
              </a:ext>
            </a:extLst>
          </p:cNvPr>
          <p:cNvSpPr txBox="1"/>
          <p:nvPr/>
        </p:nvSpPr>
        <p:spPr>
          <a:xfrm>
            <a:off x="3766808"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虛擬貨幣</a:t>
            </a:r>
          </a:p>
        </p:txBody>
      </p:sp>
      <p:cxnSp>
        <p:nvCxnSpPr>
          <p:cNvPr id="10" name="直接连接符 33">
            <a:extLst>
              <a:ext uri="{FF2B5EF4-FFF2-40B4-BE49-F238E27FC236}">
                <a16:creationId xmlns:a16="http://schemas.microsoft.com/office/drawing/2014/main" id="{C9090087-0AA0-4314-B11C-A0B1ECED2D83}"/>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970006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arn(inVertical)">
                                      <p:cBhvr>
                                        <p:cTn id="11" dur="500"/>
                                        <p:tgtEl>
                                          <p:spTgt spid="3"/>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0-#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37" fill="hold" nodeType="after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Effect transition="in" filter="barn(outVertical)">
                                      <p:cBhvr>
                                        <p:cTn id="20" dur="500"/>
                                        <p:tgtEl>
                                          <p:spTgt spid="2">
                                            <p:txEl>
                                              <p:pRg st="0" end="0"/>
                                            </p:txEl>
                                          </p:spTgt>
                                        </p:tgtEl>
                                      </p:cBhvr>
                                    </p:animEffect>
                                  </p:childTnLst>
                                </p:cTn>
                              </p:par>
                            </p:childTnLst>
                          </p:cTn>
                        </p:par>
                        <p:par>
                          <p:cTn id="21" fill="hold">
                            <p:stCondLst>
                              <p:cond delay="3500"/>
                            </p:stCondLst>
                            <p:childTnLst>
                              <p:par>
                                <p:cTn id="22" presetID="16" presetClass="entr" presetSubtype="37" fill="hold" nodeType="afterEffect">
                                  <p:stCondLst>
                                    <p:cond delay="0"/>
                                  </p:stCondLst>
                                  <p:childTnLst>
                                    <p:set>
                                      <p:cBhvr>
                                        <p:cTn id="23" dur="1" fill="hold">
                                          <p:stCondLst>
                                            <p:cond delay="0"/>
                                          </p:stCondLst>
                                        </p:cTn>
                                        <p:tgtEl>
                                          <p:spTgt spid="2">
                                            <p:txEl>
                                              <p:pRg st="1" end="1"/>
                                            </p:txEl>
                                          </p:spTgt>
                                        </p:tgtEl>
                                        <p:attrNameLst>
                                          <p:attrName>style.visibility</p:attrName>
                                        </p:attrNameLst>
                                      </p:cBhvr>
                                      <p:to>
                                        <p:strVal val="visible"/>
                                      </p:to>
                                    </p:set>
                                    <p:animEffect transition="in" filter="barn(outVertical)">
                                      <p:cBhvr>
                                        <p:cTn id="24" dur="500"/>
                                        <p:tgtEl>
                                          <p:spTgt spid="2">
                                            <p:txEl>
                                              <p:pRg st="1" end="1"/>
                                            </p:txEl>
                                          </p:spTgt>
                                        </p:tgtEl>
                                      </p:cBhvr>
                                    </p:animEffect>
                                  </p:childTnLst>
                                </p:cTn>
                              </p:par>
                            </p:childTnLst>
                          </p:cTn>
                        </p:par>
                        <p:par>
                          <p:cTn id="25" fill="hold">
                            <p:stCondLst>
                              <p:cond delay="4000"/>
                            </p:stCondLst>
                            <p:childTnLst>
                              <p:par>
                                <p:cTn id="26" presetID="16" presetClass="entr" presetSubtype="37" fill="hold" nodeType="after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barn(outVertical)">
                                      <p:cBhvr>
                                        <p:cTn id="28" dur="500"/>
                                        <p:tgtEl>
                                          <p:spTgt spid="2">
                                            <p:txEl>
                                              <p:pRg st="3" end="3"/>
                                            </p:txEl>
                                          </p:spTgt>
                                        </p:tgtEl>
                                      </p:cBhvr>
                                    </p:animEffect>
                                  </p:childTnLst>
                                </p:cTn>
                              </p:par>
                            </p:childTnLst>
                          </p:cTn>
                        </p:par>
                        <p:par>
                          <p:cTn id="29" fill="hold">
                            <p:stCondLst>
                              <p:cond delay="4500"/>
                            </p:stCondLst>
                            <p:childTnLst>
                              <p:par>
                                <p:cTn id="30" presetID="16" presetClass="entr" presetSubtype="37" fill="hold" nodeType="after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barn(outVertical)">
                                      <p:cBhvr>
                                        <p:cTn id="32" dur="500"/>
                                        <p:tgtEl>
                                          <p:spTgt spid="2">
                                            <p:txEl>
                                              <p:pRg st="5" end="5"/>
                                            </p:txEl>
                                          </p:spTgt>
                                        </p:tgtEl>
                                      </p:cBhvr>
                                    </p:animEffect>
                                  </p:childTnLst>
                                </p:cTn>
                              </p:par>
                            </p:childTnLst>
                          </p:cTn>
                        </p:par>
                        <p:par>
                          <p:cTn id="33" fill="hold">
                            <p:stCondLst>
                              <p:cond delay="5000"/>
                            </p:stCondLst>
                            <p:childTnLst>
                              <p:par>
                                <p:cTn id="34" presetID="16" presetClass="entr" presetSubtype="37" fill="hold" nodeType="afterEffect">
                                  <p:stCondLst>
                                    <p:cond delay="0"/>
                                  </p:stCondLst>
                                  <p:childTnLst>
                                    <p:set>
                                      <p:cBhvr>
                                        <p:cTn id="35" dur="1" fill="hold">
                                          <p:stCondLst>
                                            <p:cond delay="0"/>
                                          </p:stCondLst>
                                        </p:cTn>
                                        <p:tgtEl>
                                          <p:spTgt spid="2">
                                            <p:txEl>
                                              <p:pRg st="6" end="6"/>
                                            </p:txEl>
                                          </p:spTgt>
                                        </p:tgtEl>
                                        <p:attrNameLst>
                                          <p:attrName>style.visibility</p:attrName>
                                        </p:attrNameLst>
                                      </p:cBhvr>
                                      <p:to>
                                        <p:strVal val="visible"/>
                                      </p:to>
                                    </p:set>
                                    <p:animEffect transition="in" filter="barn(outVertical)">
                                      <p:cBhvr>
                                        <p:cTn id="36" dur="500"/>
                                        <p:tgtEl>
                                          <p:spTgt spid="2">
                                            <p:txEl>
                                              <p:pRg st="6" end="6"/>
                                            </p:txEl>
                                          </p:spTgt>
                                        </p:tgtEl>
                                      </p:cBhvr>
                                    </p:animEffect>
                                  </p:childTnLst>
                                </p:cTn>
                              </p:par>
                            </p:childTnLst>
                          </p:cTn>
                        </p:par>
                        <p:par>
                          <p:cTn id="37" fill="hold">
                            <p:stCondLst>
                              <p:cond delay="5500"/>
                            </p:stCondLst>
                            <p:childTnLst>
                              <p:par>
                                <p:cTn id="38" presetID="16" presetClass="entr" presetSubtype="37" fill="hold" nodeType="afterEffect">
                                  <p:stCondLst>
                                    <p:cond delay="0"/>
                                  </p:stCondLst>
                                  <p:childTnLst>
                                    <p:set>
                                      <p:cBhvr>
                                        <p:cTn id="39" dur="1" fill="hold">
                                          <p:stCondLst>
                                            <p:cond delay="0"/>
                                          </p:stCondLst>
                                        </p:cTn>
                                        <p:tgtEl>
                                          <p:spTgt spid="2">
                                            <p:txEl>
                                              <p:pRg st="7" end="7"/>
                                            </p:txEl>
                                          </p:spTgt>
                                        </p:tgtEl>
                                        <p:attrNameLst>
                                          <p:attrName>style.visibility</p:attrName>
                                        </p:attrNameLst>
                                      </p:cBhvr>
                                      <p:to>
                                        <p:strVal val="visible"/>
                                      </p:to>
                                    </p:set>
                                    <p:animEffect transition="in" filter="barn(outVertical)">
                                      <p:cBhvr>
                                        <p:cTn id="40" dur="500"/>
                                        <p:tgtEl>
                                          <p:spTgt spid="2">
                                            <p:txEl>
                                              <p:pRg st="7" end="7"/>
                                            </p:txEl>
                                          </p:spTgt>
                                        </p:tgtEl>
                                      </p:cBhvr>
                                    </p:animEffect>
                                  </p:childTnLst>
                                </p:cTn>
                              </p:par>
                            </p:childTnLst>
                          </p:cTn>
                        </p:par>
                        <p:par>
                          <p:cTn id="41" fill="hold">
                            <p:stCondLst>
                              <p:cond delay="6000"/>
                            </p:stCondLst>
                            <p:childTnLst>
                              <p:par>
                                <p:cTn id="42" presetID="53" presetClass="entr" presetSubtype="16"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p:cTn id="44" dur="500" fill="hold"/>
                                        <p:tgtEl>
                                          <p:spTgt spid="4"/>
                                        </p:tgtEl>
                                        <p:attrNameLst>
                                          <p:attrName>ppt_w</p:attrName>
                                        </p:attrNameLst>
                                      </p:cBhvr>
                                      <p:tavLst>
                                        <p:tav tm="0">
                                          <p:val>
                                            <p:fltVal val="0"/>
                                          </p:val>
                                        </p:tav>
                                        <p:tav tm="100000">
                                          <p:val>
                                            <p:strVal val="#ppt_w"/>
                                          </p:val>
                                        </p:tav>
                                      </p:tavLst>
                                    </p:anim>
                                    <p:anim calcmode="lin" valueType="num">
                                      <p:cBhvr>
                                        <p:cTn id="45" dur="500" fill="hold"/>
                                        <p:tgtEl>
                                          <p:spTgt spid="4"/>
                                        </p:tgtEl>
                                        <p:attrNameLst>
                                          <p:attrName>ppt_h</p:attrName>
                                        </p:attrNameLst>
                                      </p:cBhvr>
                                      <p:tavLst>
                                        <p:tav tm="0">
                                          <p:val>
                                            <p:fltVal val="0"/>
                                          </p:val>
                                        </p:tav>
                                        <p:tav tm="100000">
                                          <p:val>
                                            <p:strVal val="#ppt_h"/>
                                          </p:val>
                                        </p:tav>
                                      </p:tavLst>
                                    </p:anim>
                                    <p:animEffect transition="in" filter="fade">
                                      <p:cBhvr>
                                        <p:cTn id="4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89380" y="1939425"/>
            <a:ext cx="8128001" cy="2979149"/>
          </a:xfrm>
          <a:prstGeom prst="rect">
            <a:avLst/>
          </a:prstGeom>
        </p:spPr>
        <p:txBody>
          <a:bodyPr wrap="square">
            <a:spAutoFit/>
          </a:bodyPr>
          <a:lstStyle/>
          <a:p>
            <a:pPr marL="342900" indent="-342900">
              <a:lnSpc>
                <a:spcPct val="150000"/>
              </a:lnSpc>
              <a:buBlip>
                <a:blip r:embed="rId2"/>
              </a:buBlip>
            </a:pPr>
            <a:r>
              <a:rPr lang="en-US" altLang="zh-TW" sz="2400" b="1" u="sng" dirty="0" err="1">
                <a:solidFill>
                  <a:schemeClr val="tx1">
                    <a:lumMod val="75000"/>
                    <a:lumOff val="25000"/>
                  </a:schemeClr>
                </a:solidFill>
                <a:latin typeface="微軟正黑體" panose="020B0604030504040204" pitchFamily="34" charset="-120"/>
                <a:ea typeface="微軟正黑體" panose="020B0604030504040204" pitchFamily="34" charset="-120"/>
                <a:hlinkClick r:id="rId3" tooltip="歐洲銀行業管理局"/>
              </a:rPr>
              <a:t>歐洲銀行業管理局</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(EBA)</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對</a:t>
            </a:r>
            <a:r>
              <a:rPr lang="zh-TW" altLang="zh-TW" sz="2400" b="1" dirty="0">
                <a:solidFill>
                  <a:srgbClr val="3DA18E"/>
                </a:solidFill>
                <a:latin typeface="微軟正黑體" panose="020B0604030504040204" pitchFamily="34" charset="-120"/>
                <a:ea typeface="微軟正黑體" panose="020B0604030504040204" pitchFamily="34" charset="-120"/>
              </a:rPr>
              <a:t>虛擬貨幣</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的定義：</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並非由央行或政府部門所發行的貨幣</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與</a:t>
            </a:r>
            <a:r>
              <a:rPr lang="en-US" altLang="zh-TW" sz="2400" b="1" u="sng" dirty="0" err="1">
                <a:solidFill>
                  <a:schemeClr val="tx1">
                    <a:lumMod val="75000"/>
                    <a:lumOff val="25000"/>
                  </a:schemeClr>
                </a:solidFill>
                <a:latin typeface="微軟正黑體" panose="020B0604030504040204" pitchFamily="34" charset="-120"/>
                <a:ea typeface="微軟正黑體" panose="020B0604030504040204" pitchFamily="34" charset="-120"/>
                <a:hlinkClick r:id="rId4" tooltip="法定貨幣"/>
              </a:rPr>
              <a:t>法定貨幣</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不具有相關聯的一種數碼形式的</a:t>
            </a:r>
            <a:r>
              <a:rPr lang="zh-TW" altLang="zh-TW" sz="2400" b="1" dirty="0">
                <a:solidFill>
                  <a:srgbClr val="54667E"/>
                </a:solidFill>
                <a:latin typeface="微軟正黑體" panose="020B0604030504040204" pitchFamily="34" charset="-120"/>
                <a:ea typeface="微軟正黑體" panose="020B0604030504040204" pitchFamily="34" charset="-120"/>
              </a:rPr>
              <a:t>價值型代幣</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可以被</a:t>
            </a:r>
            <a:r>
              <a:rPr lang="en-US" altLang="zh-TW" sz="2400" b="1" u="sng" dirty="0" err="1">
                <a:solidFill>
                  <a:schemeClr val="tx1">
                    <a:lumMod val="75000"/>
                    <a:lumOff val="25000"/>
                  </a:schemeClr>
                </a:solidFill>
                <a:latin typeface="微軟正黑體" panose="020B0604030504040204" pitchFamily="34" charset="-120"/>
                <a:ea typeface="微軟正黑體" panose="020B0604030504040204" pitchFamily="34" charset="-120"/>
                <a:hlinkClick r:id="rId5" tooltip="自然人"/>
              </a:rPr>
              <a:t>自然人</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和</a:t>
            </a:r>
            <a:r>
              <a:rPr lang="en-US" altLang="zh-TW" sz="2400" b="1" u="sng" dirty="0" err="1">
                <a:solidFill>
                  <a:schemeClr val="tx1">
                    <a:lumMod val="75000"/>
                    <a:lumOff val="25000"/>
                  </a:schemeClr>
                </a:solidFill>
                <a:latin typeface="微軟正黑體" panose="020B0604030504040204" pitchFamily="34" charset="-120"/>
                <a:ea typeface="微軟正黑體" panose="020B0604030504040204" pitchFamily="34" charset="-120"/>
                <a:hlinkClick r:id="rId6" tooltip="法人"/>
              </a:rPr>
              <a:t>法人</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所接受當作支付或交易的幣別</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可以由電子地轉帳、儲存進行</a:t>
            </a:r>
            <a:r>
              <a:rPr lang="zh-TW" altLang="zh-TW" sz="2400" b="1" dirty="0">
                <a:solidFill>
                  <a:srgbClr val="54667E"/>
                </a:solidFill>
                <a:latin typeface="微軟正黑體" panose="020B0604030504040204" pitchFamily="34" charset="-120"/>
                <a:ea typeface="微軟正黑體" panose="020B0604030504040204" pitchFamily="34" charset="-120"/>
              </a:rPr>
              <a:t>支付行為</a:t>
            </a:r>
            <a:endPar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7"/>
          <a:stretch>
            <a:fillRect/>
          </a:stretch>
        </p:blipFill>
        <p:spPr>
          <a:xfrm rot="16200000">
            <a:off x="145169" y="-145167"/>
            <a:ext cx="1268414" cy="1558750"/>
          </a:xfrm>
          <a:prstGeom prst="rect">
            <a:avLst/>
          </a:prstGeom>
        </p:spPr>
      </p:pic>
      <p:pic>
        <p:nvPicPr>
          <p:cNvPr id="9" name="圖片 8" descr="一張含有 運輸 的圖片&#10;&#10;描述是以高可信度產生">
            <a:extLst>
              <a:ext uri="{FF2B5EF4-FFF2-40B4-BE49-F238E27FC236}">
                <a16:creationId xmlns:a16="http://schemas.microsoft.com/office/drawing/2014/main" id="{CEC0C59E-170E-4381-9325-3DA16C914DF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3429000"/>
            <a:ext cx="2303636" cy="2303636"/>
          </a:xfrm>
          <a:prstGeom prst="rect">
            <a:avLst/>
          </a:prstGeom>
        </p:spPr>
      </p:pic>
      <p:sp>
        <p:nvSpPr>
          <p:cNvPr id="10" name="文字方塊 9">
            <a:extLst>
              <a:ext uri="{FF2B5EF4-FFF2-40B4-BE49-F238E27FC236}">
                <a16:creationId xmlns:a16="http://schemas.microsoft.com/office/drawing/2014/main" id="{E1BAC2C7-1705-48A7-BD80-5F6711F878DB}"/>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1" name="標題 1">
            <a:extLst>
              <a:ext uri="{FF2B5EF4-FFF2-40B4-BE49-F238E27FC236}">
                <a16:creationId xmlns:a16="http://schemas.microsoft.com/office/drawing/2014/main" id="{0077130B-EE74-44BA-97E5-DACA416CBB26}"/>
              </a:ext>
            </a:extLst>
          </p:cNvPr>
          <p:cNvSpPr txBox="1">
            <a:spLocks/>
          </p:cNvSpPr>
          <p:nvPr/>
        </p:nvSpPr>
        <p:spPr>
          <a:xfrm>
            <a:off x="79784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1-1</a:t>
            </a:r>
            <a:r>
              <a:rPr lang="zh-TW" altLang="en-US" sz="2400" b="1" dirty="0">
                <a:solidFill>
                  <a:srgbClr val="E06741"/>
                </a:solidFill>
              </a:rPr>
              <a:t> 區塊鏈意涵</a:t>
            </a:r>
            <a:endParaRPr lang="zh-TW" altLang="en-US" sz="2400" b="1" dirty="0">
              <a:solidFill>
                <a:srgbClr val="E06741"/>
              </a:solidFill>
              <a:latin typeface="+mj-ea"/>
              <a:cs typeface="Times New Roman" panose="02020603050405020304" pitchFamily="18" charset="0"/>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2" name="文字方塊 11">
            <a:extLst>
              <a:ext uri="{FF2B5EF4-FFF2-40B4-BE49-F238E27FC236}">
                <a16:creationId xmlns:a16="http://schemas.microsoft.com/office/drawing/2014/main" id="{033019DF-F2F2-463D-AE87-90B1F48F7000}"/>
              </a:ext>
            </a:extLst>
          </p:cNvPr>
          <p:cNvSpPr txBox="1"/>
          <p:nvPr/>
        </p:nvSpPr>
        <p:spPr>
          <a:xfrm>
            <a:off x="3766808"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虛擬貨幣</a:t>
            </a:r>
          </a:p>
        </p:txBody>
      </p:sp>
      <p:cxnSp>
        <p:nvCxnSpPr>
          <p:cNvPr id="13" name="直接连接符 33">
            <a:extLst>
              <a:ext uri="{FF2B5EF4-FFF2-40B4-BE49-F238E27FC236}">
                <a16:creationId xmlns:a16="http://schemas.microsoft.com/office/drawing/2014/main" id="{347F7240-2B67-4A62-9B80-23F1D06077B5}"/>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547830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barn(inVertical)">
                                      <p:cBhvr>
                                        <p:cTn id="11" dur="500"/>
                                        <p:tgtEl>
                                          <p:spTgt spid="12">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0-#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2">
                                            <p:txEl>
                                              <p:pRg st="0" end="0"/>
                                            </p:txEl>
                                          </p:spTgt>
                                        </p:tgtEl>
                                        <p:attrNameLst>
                                          <p:attrName>style.visibility</p:attrName>
                                        </p:attrNameLst>
                                      </p:cBhvr>
                                      <p:to>
                                        <p:strVal val="visible"/>
                                      </p:to>
                                    </p:set>
                                    <p:anim calcmode="lin" valueType="num">
                                      <p:cBhvr additive="base">
                                        <p:cTn id="20"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16" presetClass="entr" presetSubtype="21" fill="hold" nodeType="after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Effect transition="in" filter="barn(inVertical)">
                                      <p:cBhvr>
                                        <p:cTn id="25" dur="500"/>
                                        <p:tgtEl>
                                          <p:spTgt spid="2">
                                            <p:txEl>
                                              <p:pRg st="2" end="2"/>
                                            </p:txEl>
                                          </p:spTgt>
                                        </p:tgtEl>
                                      </p:cBhvr>
                                    </p:animEffect>
                                  </p:childTnLst>
                                </p:cTn>
                              </p:par>
                            </p:childTnLst>
                          </p:cTn>
                        </p:par>
                        <p:par>
                          <p:cTn id="26" fill="hold">
                            <p:stCondLst>
                              <p:cond delay="4000"/>
                            </p:stCondLst>
                            <p:childTnLst>
                              <p:par>
                                <p:cTn id="27" presetID="16" presetClass="entr" presetSubtype="21" fill="hold" nodeType="after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Effect transition="in" filter="barn(inVertical)">
                                      <p:cBhvr>
                                        <p:cTn id="29" dur="500"/>
                                        <p:tgtEl>
                                          <p:spTgt spid="2">
                                            <p:txEl>
                                              <p:pRg st="3" end="3"/>
                                            </p:txEl>
                                          </p:spTgt>
                                        </p:tgtEl>
                                      </p:cBhvr>
                                    </p:animEffect>
                                  </p:childTnLst>
                                </p:cTn>
                              </p:par>
                            </p:childTnLst>
                          </p:cTn>
                        </p:par>
                        <p:par>
                          <p:cTn id="30" fill="hold">
                            <p:stCondLst>
                              <p:cond delay="4500"/>
                            </p:stCondLst>
                            <p:childTnLst>
                              <p:par>
                                <p:cTn id="31" presetID="16" presetClass="entr" presetSubtype="21" fill="hold" nodeType="after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Effect transition="in" filter="barn(inVertical)">
                                      <p:cBhvr>
                                        <p:cTn id="33" dur="500"/>
                                        <p:tgtEl>
                                          <p:spTgt spid="2">
                                            <p:txEl>
                                              <p:pRg st="4" end="4"/>
                                            </p:txEl>
                                          </p:spTgt>
                                        </p:tgtEl>
                                      </p:cBhvr>
                                    </p:animEffect>
                                  </p:childTnLst>
                                </p:cTn>
                              </p:par>
                            </p:childTnLst>
                          </p:cTn>
                        </p:par>
                        <p:par>
                          <p:cTn id="34" fill="hold">
                            <p:stCondLst>
                              <p:cond delay="5000"/>
                            </p:stCondLst>
                            <p:childTnLst>
                              <p:par>
                                <p:cTn id="35" presetID="2" presetClass="entr" presetSubtype="8" fill="hold" nodeType="after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p:tgtEl>
                                          <p:spTgt spid="9"/>
                                        </p:tgtEl>
                                        <p:attrNameLst>
                                          <p:attrName>ppt_x</p:attrName>
                                        </p:attrNameLst>
                                      </p:cBhvr>
                                      <p:tavLst>
                                        <p:tav tm="0">
                                          <p:val>
                                            <p:strVal val="0-#ppt_w/2"/>
                                          </p:val>
                                        </p:tav>
                                        <p:tav tm="100000">
                                          <p:val>
                                            <p:strVal val="#ppt_x"/>
                                          </p:val>
                                        </p:tav>
                                      </p:tavLst>
                                    </p:anim>
                                    <p:anim calcmode="lin" valueType="num">
                                      <p:cBhvr additive="base">
                                        <p:cTn id="3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58751" y="1350803"/>
            <a:ext cx="9253847" cy="4156394"/>
          </a:xfrm>
          <a:prstGeom prst="rect">
            <a:avLst/>
          </a:prstGeom>
        </p:spPr>
        <p:txBody>
          <a:bodyPr wrap="square">
            <a:spAutoFit/>
          </a:bodyPr>
          <a:lstStyle/>
          <a:p>
            <a:pPr>
              <a:lnSpc>
                <a:spcPct val="150000"/>
              </a:lnSpc>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一般而言，虛擬貨幣的價值會因使用者的數量愈多，價值會</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因而成長，依據梅特卡夫</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(Metcalfe)</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定律於</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1933</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年提出的定價模式</a:t>
            </a:r>
            <a:b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br>
            <a:r>
              <a:rPr lang="zh-TW" altLang="zh-TW" sz="2400" b="1" dirty="0">
                <a:solidFill>
                  <a:srgbClr val="3DA18E"/>
                </a:solidFill>
                <a:latin typeface="微軟正黑體" panose="020B0604030504040204" pitchFamily="34" charset="-120"/>
                <a:ea typeface="微軟正黑體" panose="020B0604030504040204" pitchFamily="34" charset="-120"/>
              </a:rPr>
              <a:t>網路價值</a:t>
            </a:r>
            <a:r>
              <a:rPr lang="en-US" altLang="zh-TW" sz="2400" b="1" dirty="0">
                <a:solidFill>
                  <a:srgbClr val="3DA18E"/>
                </a:solidFill>
                <a:latin typeface="微軟正黑體" panose="020B0604030504040204" pitchFamily="34" charset="-120"/>
                <a:ea typeface="微軟正黑體" panose="020B0604030504040204" pitchFamily="34" charset="-120"/>
              </a:rPr>
              <a:t> = </a:t>
            </a:r>
            <a:r>
              <a:rPr lang="en-US" altLang="zh-TW" sz="2400" b="1" i="1" dirty="0">
                <a:solidFill>
                  <a:srgbClr val="3DA18E"/>
                </a:solidFill>
                <a:latin typeface="微軟正黑體" panose="020B0604030504040204" pitchFamily="34" charset="-120"/>
                <a:ea typeface="微軟正黑體" panose="020B0604030504040204" pitchFamily="34" charset="-120"/>
              </a:rPr>
              <a:t>e</a:t>
            </a:r>
            <a:r>
              <a:rPr lang="en-US" altLang="zh-TW" sz="2400" b="1" baseline="30000" dirty="0">
                <a:solidFill>
                  <a:srgbClr val="3DA18E"/>
                </a:solidFill>
                <a:latin typeface="微軟正黑體" panose="020B0604030504040204" pitchFamily="34" charset="-120"/>
                <a:ea typeface="微軟正黑體" panose="020B0604030504040204" pitchFamily="34" charset="-120"/>
              </a:rPr>
              <a:t>2</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b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b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且與</a:t>
            </a:r>
            <a:r>
              <a:rPr lang="en-US" altLang="zh-TW" sz="2400" b="1" i="1" dirty="0">
                <a:solidFill>
                  <a:schemeClr val="tx1">
                    <a:lumMod val="75000"/>
                    <a:lumOff val="25000"/>
                  </a:schemeClr>
                </a:solidFill>
                <a:latin typeface="微軟正黑體" panose="020B0604030504040204" pitchFamily="34" charset="-120"/>
                <a:ea typeface="微軟正黑體" panose="020B0604030504040204" pitchFamily="34" charset="-120"/>
              </a:rPr>
              <a:t>n</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400" b="1" i="1" dirty="0">
                <a:solidFill>
                  <a:schemeClr val="tx1">
                    <a:lumMod val="75000"/>
                    <a:lumOff val="25000"/>
                  </a:schemeClr>
                </a:solidFill>
                <a:latin typeface="微軟正黑體" panose="020B0604030504040204" pitchFamily="34" charset="-120"/>
                <a:ea typeface="微軟正黑體" panose="020B0604030504040204" pitchFamily="34" charset="-120"/>
              </a:rPr>
              <a:t>n</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a:t>
            </a:r>
            <a:r>
              <a:rPr lang="en-US" altLang="zh-TW" sz="2400" b="1" i="1" dirty="0">
                <a:solidFill>
                  <a:schemeClr val="tx1">
                    <a:lumMod val="75000"/>
                    <a:lumOff val="25000"/>
                  </a:schemeClr>
                </a:solidFill>
                <a:latin typeface="微軟正黑體" panose="020B0604030504040204" pitchFamily="34" charset="-120"/>
                <a:ea typeface="微軟正黑體" panose="020B0604030504040204" pitchFamily="34" charset="-120"/>
              </a:rPr>
              <a:t> n</a:t>
            </a:r>
            <a:r>
              <a:rPr lang="en-US" altLang="zh-TW" sz="2400" b="1" baseline="30000"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400" b="1" i="1" dirty="0">
                <a:solidFill>
                  <a:schemeClr val="tx1">
                    <a:lumMod val="75000"/>
                    <a:lumOff val="25000"/>
                  </a:schemeClr>
                </a:solidFill>
                <a:latin typeface="微軟正黑體" panose="020B0604030504040204" pitchFamily="34" charset="-120"/>
                <a:ea typeface="微軟正黑體" panose="020B0604030504040204" pitchFamily="34" charset="-120"/>
              </a:rPr>
              <a:t>n</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成正比，其中</a:t>
            </a:r>
            <a:r>
              <a:rPr lang="en-US" altLang="zh-TW" sz="2400" b="1" i="1" dirty="0">
                <a:solidFill>
                  <a:schemeClr val="tx1">
                    <a:lumMod val="75000"/>
                    <a:lumOff val="25000"/>
                  </a:schemeClr>
                </a:solidFill>
                <a:latin typeface="微軟正黑體" panose="020B0604030504040204" pitchFamily="34" charset="-120"/>
                <a:ea typeface="微軟正黑體" panose="020B0604030504040204" pitchFamily="34" charset="-120"/>
              </a:rPr>
              <a:t>e</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表示網路內節點數的平方。</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85750" indent="-285750">
              <a:lnSpc>
                <a:spcPct val="150000"/>
              </a:lnSpc>
              <a:buFont typeface="Wingdings" panose="05000000000000000000" pitchFamily="2" charset="2"/>
              <a:buChar char="Ø"/>
            </a:pPr>
            <a:endParaRPr lang="en-US" altLang="zh-TW" sz="11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假設一個網路對網路中的每位使用者的價值為</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元，網路中的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節點</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即使用者</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有</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10</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個</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即</a:t>
            </a:r>
            <a:r>
              <a:rPr lang="en-US" altLang="zh-TW" sz="2400" b="1" i="1" dirty="0">
                <a:solidFill>
                  <a:schemeClr val="tx1">
                    <a:lumMod val="75000"/>
                    <a:lumOff val="25000"/>
                  </a:schemeClr>
                </a:solidFill>
                <a:latin typeface="微軟正黑體" panose="020B0604030504040204" pitchFamily="34" charset="-120"/>
                <a:ea typeface="微軟正黑體" panose="020B0604030504040204" pitchFamily="34" charset="-120"/>
              </a:rPr>
              <a:t>e</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=10)</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，故網路價值為</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100</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，若</a:t>
            </a:r>
            <a:r>
              <a:rPr lang="en-US" altLang="zh-TW" sz="2400" b="1" i="1" dirty="0">
                <a:solidFill>
                  <a:schemeClr val="tx1">
                    <a:lumMod val="75000"/>
                    <a:lumOff val="25000"/>
                  </a:schemeClr>
                </a:solidFill>
                <a:latin typeface="微軟正黑體" panose="020B0604030504040204" pitchFamily="34" charset="-120"/>
                <a:ea typeface="微軟正黑體" panose="020B0604030504040204" pitchFamily="34" charset="-120"/>
              </a:rPr>
              <a:t>e</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=100</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，則網路價值為</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10,000</a:t>
            </a:r>
            <a:r>
              <a:rPr lang="zh-TW"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8" name="文字方塊 7">
            <a:extLst>
              <a:ext uri="{FF2B5EF4-FFF2-40B4-BE49-F238E27FC236}">
                <a16:creationId xmlns:a16="http://schemas.microsoft.com/office/drawing/2014/main" id="{F3179D3B-E1D8-43CE-9FF7-3E4027902F6C}"/>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6" name="標題 1">
            <a:extLst>
              <a:ext uri="{FF2B5EF4-FFF2-40B4-BE49-F238E27FC236}">
                <a16:creationId xmlns:a16="http://schemas.microsoft.com/office/drawing/2014/main" id="{80BE3AD9-055F-4BCC-820A-478AC0D62737}"/>
              </a:ext>
            </a:extLst>
          </p:cNvPr>
          <p:cNvSpPr txBox="1">
            <a:spLocks/>
          </p:cNvSpPr>
          <p:nvPr/>
        </p:nvSpPr>
        <p:spPr>
          <a:xfrm>
            <a:off x="79784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1-1</a:t>
            </a:r>
            <a:r>
              <a:rPr lang="zh-TW" altLang="en-US" sz="2400" b="1" dirty="0">
                <a:solidFill>
                  <a:srgbClr val="E06741"/>
                </a:solidFill>
              </a:rPr>
              <a:t> 區塊鏈意涵</a:t>
            </a:r>
            <a:endParaRPr lang="zh-TW" altLang="en-US" sz="2400" b="1" dirty="0">
              <a:solidFill>
                <a:srgbClr val="E06741"/>
              </a:solidFill>
              <a:latin typeface="+mj-ea"/>
              <a:cs typeface="Times New Roman" panose="02020603050405020304" pitchFamily="18" charset="0"/>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68346BA7-B1C2-4A6E-8D51-215379F37B0D}"/>
              </a:ext>
            </a:extLst>
          </p:cNvPr>
          <p:cNvSpPr txBox="1"/>
          <p:nvPr/>
        </p:nvSpPr>
        <p:spPr>
          <a:xfrm>
            <a:off x="3766808"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虛擬貨幣</a:t>
            </a:r>
          </a:p>
        </p:txBody>
      </p:sp>
      <p:cxnSp>
        <p:nvCxnSpPr>
          <p:cNvPr id="9" name="直接连接符 33">
            <a:extLst>
              <a:ext uri="{FF2B5EF4-FFF2-40B4-BE49-F238E27FC236}">
                <a16:creationId xmlns:a16="http://schemas.microsoft.com/office/drawing/2014/main" id="{F9768624-5A55-433A-9255-4BB0078B994E}"/>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24225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barn(inVertical)">
                                      <p:cBhvr>
                                        <p:cTn id="11" dur="500"/>
                                        <p:tgtEl>
                                          <p:spTgt spid="10">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37"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out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58751" y="1500844"/>
            <a:ext cx="9672667" cy="3856312"/>
          </a:xfrm>
          <a:prstGeom prst="rect">
            <a:avLst/>
          </a:prstGeom>
        </p:spPr>
        <p:txBody>
          <a:bodyPr wrap="square">
            <a:spAutoFit/>
          </a:bodyPr>
          <a:lstStyle/>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a:t>
            </a:r>
            <a:r>
              <a:rPr lang="zh-TW" altLang="en-US" sz="2400" b="1" dirty="0">
                <a:solidFill>
                  <a:srgbClr val="54667E"/>
                </a:solidFill>
                <a:latin typeface="微軟正黑體" panose="020B0604030504040204" pitchFamily="34" charset="-120"/>
                <a:ea typeface="微軟正黑體" panose="020B0604030504040204" pitchFamily="34" charset="-120"/>
              </a:rPr>
              <a:t>電話串接</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為例，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當串接的電話只有</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部時，電話連接的對象也僅限於兩部電話間的通話。</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endParaRPr lang="zh-TW" altLang="en-US"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將電話數增加至</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5</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部時，之間的串接會增加至</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10</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種</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(5×2=10)</a:t>
            </a: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連接通話方式。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endParaRPr lang="zh-TW" altLang="en-US"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將電話數增加至</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10</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部時，之間的串接會增加至</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45</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種</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(5×9=45)</a:t>
            </a: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連接通話方式。</a:t>
            </a: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10" name="文字方塊 9">
            <a:extLst>
              <a:ext uri="{FF2B5EF4-FFF2-40B4-BE49-F238E27FC236}">
                <a16:creationId xmlns:a16="http://schemas.microsoft.com/office/drawing/2014/main" id="{F2107EF9-69B4-46DE-A8E7-296AC974A202}"/>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6" name="標題 1">
            <a:extLst>
              <a:ext uri="{FF2B5EF4-FFF2-40B4-BE49-F238E27FC236}">
                <a16:creationId xmlns:a16="http://schemas.microsoft.com/office/drawing/2014/main" id="{0219FF7C-6439-44BE-9479-518312546A94}"/>
              </a:ext>
            </a:extLst>
          </p:cNvPr>
          <p:cNvSpPr txBox="1">
            <a:spLocks/>
          </p:cNvSpPr>
          <p:nvPr/>
        </p:nvSpPr>
        <p:spPr>
          <a:xfrm>
            <a:off x="79784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1-1</a:t>
            </a:r>
            <a:r>
              <a:rPr lang="zh-TW" altLang="en-US" sz="2400" b="1" dirty="0">
                <a:solidFill>
                  <a:srgbClr val="E06741"/>
                </a:solidFill>
              </a:rPr>
              <a:t> 區塊鏈意涵</a:t>
            </a:r>
            <a:endParaRPr lang="zh-TW" altLang="en-US" sz="2400" b="1" dirty="0">
              <a:solidFill>
                <a:srgbClr val="E06741"/>
              </a:solidFill>
              <a:latin typeface="+mj-ea"/>
              <a:cs typeface="Times New Roman" panose="02020603050405020304" pitchFamily="18" charset="0"/>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8" name="文字方塊 7">
            <a:extLst>
              <a:ext uri="{FF2B5EF4-FFF2-40B4-BE49-F238E27FC236}">
                <a16:creationId xmlns:a16="http://schemas.microsoft.com/office/drawing/2014/main" id="{508C0B94-7CCE-4AD0-8E39-BBA0DC872159}"/>
              </a:ext>
            </a:extLst>
          </p:cNvPr>
          <p:cNvSpPr txBox="1"/>
          <p:nvPr/>
        </p:nvSpPr>
        <p:spPr>
          <a:xfrm>
            <a:off x="3766808"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虛擬貨幣</a:t>
            </a:r>
          </a:p>
        </p:txBody>
      </p:sp>
      <p:cxnSp>
        <p:nvCxnSpPr>
          <p:cNvPr id="9" name="直接连接符 33">
            <a:extLst>
              <a:ext uri="{FF2B5EF4-FFF2-40B4-BE49-F238E27FC236}">
                <a16:creationId xmlns:a16="http://schemas.microsoft.com/office/drawing/2014/main" id="{F2C6D3AE-D220-4EEA-86BD-84281ACCCE3F}"/>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979483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barn(inVertical)">
                                      <p:cBhvr>
                                        <p:cTn id="11" dur="500"/>
                                        <p:tgtEl>
                                          <p:spTgt spid="8">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37"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out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58751" y="3429000"/>
            <a:ext cx="7482771" cy="1963486"/>
          </a:xfrm>
          <a:prstGeom prst="rect">
            <a:avLst/>
          </a:prstGeom>
        </p:spPr>
        <p:txBody>
          <a:bodyPr wrap="square">
            <a:spAutoFit/>
          </a:bodyPr>
          <a:lstStyle/>
          <a:p>
            <a:pPr>
              <a:lnSpc>
                <a:spcPct val="150000"/>
              </a:lnSpc>
            </a:pPr>
            <a:endParaRPr lang="zh-TW" altLang="en-US" sz="12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社交網路的價值會隨著使用者數量的增長，帶給每位使用者的價值也會隨之增多，虛擬貨幣的定價也是</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rgbClr val="54667E"/>
                </a:solidFill>
                <a:latin typeface="微軟正黑體" panose="020B0604030504040204" pitchFamily="34" charset="-120"/>
                <a:ea typeface="微軟正黑體" panose="020B0604030504040204" pitchFamily="34" charset="-120"/>
              </a:rPr>
              <a:t>隨著使用者的數量隨之成長</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endPar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8" name="圖片 7" descr="一張含有 向量圖形 的圖片&#10;&#10;描述是以非常高的可信度產生">
            <a:extLst>
              <a:ext uri="{FF2B5EF4-FFF2-40B4-BE49-F238E27FC236}">
                <a16:creationId xmlns:a16="http://schemas.microsoft.com/office/drawing/2014/main" id="{0CF66628-E388-4986-B0B6-844318AC5E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39386" y="3429000"/>
            <a:ext cx="2521936" cy="2521936"/>
          </a:xfrm>
          <a:prstGeom prst="rect">
            <a:avLst/>
          </a:prstGeom>
        </p:spPr>
      </p:pic>
      <p:sp>
        <p:nvSpPr>
          <p:cNvPr id="10" name="文字方塊 9">
            <a:extLst>
              <a:ext uri="{FF2B5EF4-FFF2-40B4-BE49-F238E27FC236}">
                <a16:creationId xmlns:a16="http://schemas.microsoft.com/office/drawing/2014/main" id="{063F9642-6EAD-43A3-A9CD-702A0C22BBD1}"/>
              </a:ext>
            </a:extLst>
          </p:cNvPr>
          <p:cNvSpPr txBox="1"/>
          <p:nvPr/>
        </p:nvSpPr>
        <p:spPr>
          <a:xfrm>
            <a:off x="1558751" y="1567267"/>
            <a:ext cx="9238558" cy="1686359"/>
          </a:xfrm>
          <a:prstGeom prst="rect">
            <a:avLst/>
          </a:prstGeom>
          <a:noFill/>
        </p:spPr>
        <p:txBody>
          <a:bodyPr wrap="square" rtlCol="0">
            <a:spAutoFit/>
          </a:bodyPr>
          <a:lstStyle/>
          <a:p>
            <a:pPr marL="342900" indent="-342900">
              <a:lnSpc>
                <a:spcPct val="150000"/>
              </a:lnSpc>
              <a:buBlip>
                <a:blip r:embed="rId4"/>
              </a:buBlip>
            </a:pP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當節點數目增加時，串接方式</a:t>
            </a:r>
            <a:r>
              <a:rPr lang="zh-TW" altLang="en-US" sz="2400" b="1" dirty="0">
                <a:solidFill>
                  <a:srgbClr val="54667E"/>
                </a:solidFill>
                <a:latin typeface="微軟正黑體" panose="020B0604030504040204" pitchFamily="34" charset="-120"/>
                <a:ea typeface="微軟正黑體" panose="020B0604030504040204" pitchFamily="34" charset="-120"/>
              </a:rPr>
              <a:t>呈倍數增加</a:t>
            </a:r>
            <a:endParaRPr lang="en-US" altLang="zh-TW" sz="2400" b="1" dirty="0">
              <a:solidFill>
                <a:prstClr val="black">
                  <a:lumMod val="75000"/>
                  <a:lumOff val="25000"/>
                </a:prstClr>
              </a:solidFill>
              <a:latin typeface="微軟正黑體" panose="020B0604030504040204" pitchFamily="34" charset="-120"/>
              <a:ea typeface="微軟正黑體" panose="020B0604030504040204" pitchFamily="34" charset="-120"/>
            </a:endParaRPr>
          </a:p>
          <a:p>
            <a:pPr marL="800100" lvl="1" indent="-342900">
              <a:lnSpc>
                <a:spcPct val="150000"/>
              </a:lnSpc>
              <a:buFont typeface="微軟正黑體" panose="020B0604030504040204" pitchFamily="34" charset="-120"/>
              <a:buChar char="→"/>
            </a:pP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在虛擬社群或環境的世界中，使用者增加時，帶來的網路價值</a:t>
            </a:r>
            <a:r>
              <a:rPr lang="zh-TW" altLang="en-US" sz="2400" b="1" dirty="0">
                <a:solidFill>
                  <a:srgbClr val="54667E"/>
                </a:solidFill>
                <a:latin typeface="微軟正黑體" panose="020B0604030504040204" pitchFamily="34" charset="-120"/>
                <a:ea typeface="微軟正黑體" panose="020B0604030504040204" pitchFamily="34" charset="-120"/>
              </a:rPr>
              <a:t>以「乘」法的價值成長</a:t>
            </a: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a:t>
            </a:r>
            <a:endParaRPr lang="zh-TW" altLang="en-US" dirty="0"/>
          </a:p>
        </p:txBody>
      </p:sp>
      <p:sp>
        <p:nvSpPr>
          <p:cNvPr id="11" name="文字方塊 10">
            <a:extLst>
              <a:ext uri="{FF2B5EF4-FFF2-40B4-BE49-F238E27FC236}">
                <a16:creationId xmlns:a16="http://schemas.microsoft.com/office/drawing/2014/main" id="{33C1E239-2511-4F57-A5F0-CFBB88016933}"/>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2" name="標題 1">
            <a:extLst>
              <a:ext uri="{FF2B5EF4-FFF2-40B4-BE49-F238E27FC236}">
                <a16:creationId xmlns:a16="http://schemas.microsoft.com/office/drawing/2014/main" id="{232647BD-0FA4-4EF9-A87A-2F69F6309A98}"/>
              </a:ext>
            </a:extLst>
          </p:cNvPr>
          <p:cNvSpPr txBox="1">
            <a:spLocks/>
          </p:cNvSpPr>
          <p:nvPr/>
        </p:nvSpPr>
        <p:spPr>
          <a:xfrm>
            <a:off x="79784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1-1</a:t>
            </a:r>
            <a:r>
              <a:rPr lang="zh-TW" altLang="en-US" sz="2400" b="1" dirty="0">
                <a:solidFill>
                  <a:srgbClr val="E06741"/>
                </a:solidFill>
              </a:rPr>
              <a:t> 區塊鏈意涵</a:t>
            </a:r>
            <a:endParaRPr lang="zh-TW" altLang="en-US" sz="2400" b="1" dirty="0">
              <a:solidFill>
                <a:srgbClr val="E06741"/>
              </a:solidFill>
              <a:latin typeface="+mj-ea"/>
              <a:cs typeface="Times New Roman" panose="02020603050405020304" pitchFamily="18" charset="0"/>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3" name="文字方塊 12">
            <a:extLst>
              <a:ext uri="{FF2B5EF4-FFF2-40B4-BE49-F238E27FC236}">
                <a16:creationId xmlns:a16="http://schemas.microsoft.com/office/drawing/2014/main" id="{01DCFAD7-23E5-4EE5-BB01-0B6F883B943C}"/>
              </a:ext>
            </a:extLst>
          </p:cNvPr>
          <p:cNvSpPr txBox="1"/>
          <p:nvPr/>
        </p:nvSpPr>
        <p:spPr>
          <a:xfrm>
            <a:off x="3766808" y="449166"/>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虛擬貨幣</a:t>
            </a:r>
          </a:p>
        </p:txBody>
      </p:sp>
      <p:cxnSp>
        <p:nvCxnSpPr>
          <p:cNvPr id="9" name="直接连接符 33">
            <a:extLst>
              <a:ext uri="{FF2B5EF4-FFF2-40B4-BE49-F238E27FC236}">
                <a16:creationId xmlns:a16="http://schemas.microsoft.com/office/drawing/2014/main" id="{F1D25005-EFD4-4089-91EA-6F7C8F96B6EE}"/>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918314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animEffect transition="in" filter="barn(inVertical)">
                                      <p:cBhvr>
                                        <p:cTn id="11" dur="500"/>
                                        <p:tgtEl>
                                          <p:spTgt spid="13">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nodeType="after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500"/>
                            </p:stCondLst>
                            <p:childTnLst>
                              <p:par>
                                <p:cTn id="22" presetID="16" presetClass="entr" presetSubtype="21" fill="hold" nodeType="afterEffect">
                                  <p:stCondLst>
                                    <p:cond delay="0"/>
                                  </p:stCondLst>
                                  <p:childTnLst>
                                    <p:set>
                                      <p:cBhvr>
                                        <p:cTn id="23" dur="1" fill="hold">
                                          <p:stCondLst>
                                            <p:cond delay="0"/>
                                          </p:stCondLst>
                                        </p:cTn>
                                        <p:tgtEl>
                                          <p:spTgt spid="10">
                                            <p:txEl>
                                              <p:pRg st="1" end="1"/>
                                            </p:txEl>
                                          </p:spTgt>
                                        </p:tgtEl>
                                        <p:attrNameLst>
                                          <p:attrName>style.visibility</p:attrName>
                                        </p:attrNameLst>
                                      </p:cBhvr>
                                      <p:to>
                                        <p:strVal val="visible"/>
                                      </p:to>
                                    </p:set>
                                    <p:animEffect transition="in" filter="barn(inVertical)">
                                      <p:cBhvr>
                                        <p:cTn id="24" dur="500"/>
                                        <p:tgtEl>
                                          <p:spTgt spid="10">
                                            <p:txEl>
                                              <p:pRg st="1" end="1"/>
                                            </p:txEl>
                                          </p:spTgt>
                                        </p:tgtEl>
                                      </p:cBhvr>
                                    </p:animEffect>
                                  </p:childTnLst>
                                </p:cTn>
                              </p:par>
                            </p:childTnLst>
                          </p:cTn>
                        </p:par>
                        <p:par>
                          <p:cTn id="25" fill="hold">
                            <p:stCondLst>
                              <p:cond delay="4000"/>
                            </p:stCondLst>
                            <p:childTnLst>
                              <p:par>
                                <p:cTn id="26" presetID="16" presetClass="entr" presetSubtype="21" fill="hold" nodeType="after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barn(inVertical)">
                                      <p:cBhvr>
                                        <p:cTn id="28" dur="500"/>
                                        <p:tgtEl>
                                          <p:spTgt spid="4">
                                            <p:txEl>
                                              <p:pRg st="1" end="1"/>
                                            </p:txEl>
                                          </p:spTgt>
                                        </p:tgtEl>
                                      </p:cBhvr>
                                    </p:animEffect>
                                  </p:childTnLst>
                                </p:cTn>
                              </p:par>
                            </p:childTnLst>
                          </p:cTn>
                        </p:par>
                        <p:par>
                          <p:cTn id="29" fill="hold">
                            <p:stCondLst>
                              <p:cond delay="4500"/>
                            </p:stCondLst>
                            <p:childTnLst>
                              <p:par>
                                <p:cTn id="30" presetID="16" presetClass="entr" presetSubtype="21" fill="hold" nodeType="after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barn(inVertical)">
                                      <p:cBhvr>
                                        <p:cTn id="32" dur="500"/>
                                        <p:tgtEl>
                                          <p:spTgt spid="4">
                                            <p:txEl>
                                              <p:pRg st="2" end="2"/>
                                            </p:txEl>
                                          </p:spTgt>
                                        </p:tgtEl>
                                      </p:cBhvr>
                                    </p:animEffect>
                                  </p:childTnLst>
                                </p:cTn>
                              </p:par>
                            </p:childTnLst>
                          </p:cTn>
                        </p:par>
                        <p:par>
                          <p:cTn id="33" fill="hold">
                            <p:stCondLst>
                              <p:cond delay="5000"/>
                            </p:stCondLst>
                            <p:childTnLst>
                              <p:par>
                                <p:cTn id="34" presetID="53" presetClass="entr" presetSubtype="16"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58751" y="1252975"/>
            <a:ext cx="9918138" cy="4710392"/>
          </a:xfrm>
          <a:prstGeom prst="rect">
            <a:avLst/>
          </a:prstGeom>
        </p:spPr>
        <p:txBody>
          <a:bodyPr wrap="square">
            <a:spAutoFit/>
          </a:bodyPr>
          <a:lstStyle/>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傳統必須經由中心金融機構從中進行協助處理金融服務，然而民眾對於時效與便利的要求愈來愈高，</a:t>
            </a:r>
            <a:r>
              <a:rPr lang="zh-TW" altLang="en-US" sz="2400" b="1" dirty="0">
                <a:solidFill>
                  <a:srgbClr val="54667E"/>
                </a:solidFill>
                <a:latin typeface="微軟正黑體" panose="020B0604030504040204" pitchFamily="34" charset="-120"/>
                <a:ea typeface="微軟正黑體" panose="020B0604030504040204" pitchFamily="34" charset="-120"/>
              </a:rPr>
              <a:t>互聯金融科技</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便開始在金融市場上活動，也開啟</a:t>
            </a:r>
            <a:r>
              <a:rPr lang="zh-TW" altLang="en-US" sz="2400" b="1" dirty="0">
                <a:solidFill>
                  <a:srgbClr val="54667E"/>
                </a:solidFill>
                <a:latin typeface="微軟正黑體" panose="020B0604030504040204" pitchFamily="34" charset="-120"/>
                <a:ea typeface="微軟正黑體" panose="020B0604030504040204" pitchFamily="34" charset="-120"/>
              </a:rPr>
              <a:t>區塊鏈</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的市場。</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0">
              <a:lnSpc>
                <a:spcPct val="150000"/>
              </a:lnSpc>
            </a:pPr>
            <a:r>
              <a:rPr lang="zh-TW" altLang="en-US" sz="2400" b="1" dirty="0">
                <a:solidFill>
                  <a:srgbClr val="54667E"/>
                </a:solidFill>
                <a:latin typeface="微軟正黑體" panose="020B0604030504040204" pitchFamily="34" charset="-120"/>
                <a:ea typeface="微軟正黑體" panose="020B0604030504040204" pitchFamily="34" charset="-120"/>
              </a:rPr>
              <a:t>區塊鏈</a:t>
            </a: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在於藉由使用者與使用者之間</a:t>
            </a:r>
            <a:r>
              <a:rPr lang="zh-TW" altLang="en-US" sz="2400" b="1" dirty="0">
                <a:solidFill>
                  <a:srgbClr val="44546A"/>
                </a:solidFill>
                <a:latin typeface="微軟正黑體" panose="020B0604030504040204" pitchFamily="34" charset="-120"/>
                <a:ea typeface="微軟正黑體" panose="020B0604030504040204" pitchFamily="34" charset="-120"/>
              </a:rPr>
              <a:t>共識</a:t>
            </a: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的達成，完成兩者之間的交易。</a:t>
            </a:r>
            <a:endParaRPr lang="en-US" altLang="zh-TW" sz="2400" b="1" dirty="0">
              <a:solidFill>
                <a:prstClr val="black">
                  <a:lumMod val="75000"/>
                  <a:lumOff val="25000"/>
                </a:prstClr>
              </a:solidFill>
              <a:latin typeface="微軟正黑體" panose="020B0604030504040204" pitchFamily="34" charset="-120"/>
              <a:ea typeface="微軟正黑體" panose="020B0604030504040204" pitchFamily="34" charset="-120"/>
            </a:endParaRPr>
          </a:p>
          <a:p>
            <a:pPr lvl="0">
              <a:lnSpc>
                <a:spcPct val="150000"/>
              </a:lnSpc>
            </a:pPr>
            <a:endParaRPr lang="zh-TW" altLang="en-US" sz="1100" b="1" dirty="0">
              <a:solidFill>
                <a:prstClr val="black">
                  <a:lumMod val="75000"/>
                  <a:lumOff val="25000"/>
                </a:prstClr>
              </a:solidFill>
              <a:latin typeface="微軟正黑體" panose="020B0604030504040204" pitchFamily="34" charset="-120"/>
              <a:ea typeface="微軟正黑體" panose="020B0604030504040204" pitchFamily="34" charset="-120"/>
            </a:endParaRPr>
          </a:p>
          <a:p>
            <a:pPr marL="342900" lvl="0" indent="-342900">
              <a:lnSpc>
                <a:spcPct val="150000"/>
              </a:lnSpc>
              <a:buBlip>
                <a:blip r:embed="rId2"/>
              </a:buBlip>
            </a:pPr>
            <a:r>
              <a:rPr lang="zh-TW" altLang="en-US" sz="2400" b="1" dirty="0">
                <a:solidFill>
                  <a:srgbClr val="3DA18E"/>
                </a:solidFill>
                <a:latin typeface="微軟正黑體" panose="020B0604030504040204" pitchFamily="34" charset="-120"/>
                <a:ea typeface="微軟正黑體" panose="020B0604030504040204" pitchFamily="34" charset="-120"/>
              </a:rPr>
              <a:t>區塊鏈</a:t>
            </a:r>
            <a:r>
              <a:rPr lang="en-US" altLang="zh-TW" sz="2400" b="1" dirty="0">
                <a:solidFill>
                  <a:srgbClr val="3DA18E"/>
                </a:solidFill>
                <a:latin typeface="微軟正黑體" panose="020B0604030504040204" pitchFamily="34" charset="-120"/>
                <a:ea typeface="微軟正黑體" panose="020B0604030504040204" pitchFamily="34" charset="-120"/>
              </a:rPr>
              <a:t>(Block Chain)</a:t>
            </a:r>
            <a:r>
              <a:rPr lang="zh-TW" altLang="en-US" sz="2400" b="1" dirty="0">
                <a:solidFill>
                  <a:srgbClr val="3DA18E"/>
                </a:solidFill>
                <a:latin typeface="微軟正黑體" panose="020B0604030504040204" pitchFamily="34" charset="-120"/>
                <a:ea typeface="微軟正黑體" panose="020B0604030504040204" pitchFamily="34" charset="-120"/>
              </a:rPr>
              <a:t>定義：</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以</a:t>
            </a:r>
            <a:r>
              <a:rPr lang="zh-TW" altLang="en-US" sz="2400" b="1" dirty="0">
                <a:solidFill>
                  <a:srgbClr val="4A5A6F"/>
                </a:solidFill>
                <a:latin typeface="微軟正黑體" panose="020B0604030504040204" pitchFamily="34" charset="-120"/>
                <a:ea typeface="微軟正黑體" panose="020B0604030504040204" pitchFamily="34" charset="-120"/>
              </a:rPr>
              <a:t>節點</a:t>
            </a:r>
            <a:r>
              <a:rPr lang="en-US" altLang="zh-TW" sz="2400" b="1" dirty="0">
                <a:solidFill>
                  <a:prstClr val="black">
                    <a:lumMod val="75000"/>
                    <a:lumOff val="25000"/>
                  </a:prstClr>
                </a:solidFill>
                <a:latin typeface="微軟正黑體" panose="020B0604030504040204" pitchFamily="34" charset="-120"/>
                <a:ea typeface="微軟正黑體" panose="020B0604030504040204" pitchFamily="34" charset="-120"/>
              </a:rPr>
              <a:t>(</a:t>
            </a: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即使用者</a:t>
            </a:r>
            <a:r>
              <a:rPr lang="en-US" altLang="zh-TW" sz="2400" b="1" dirty="0">
                <a:solidFill>
                  <a:prstClr val="black">
                    <a:lumMod val="75000"/>
                    <a:lumOff val="25000"/>
                  </a:prstClr>
                </a:solidFill>
                <a:latin typeface="微軟正黑體" panose="020B0604030504040204" pitchFamily="34" charset="-120"/>
                <a:ea typeface="微軟正黑體" panose="020B0604030504040204" pitchFamily="34" charset="-120"/>
              </a:rPr>
              <a:t>)</a:t>
            </a:r>
            <a:r>
              <a:rPr lang="zh-TW" altLang="en-US" sz="2400" b="1" dirty="0">
                <a:solidFill>
                  <a:srgbClr val="4A5A6F"/>
                </a:solidFill>
                <a:latin typeface="微軟正黑體" panose="020B0604030504040204" pitchFamily="34" charset="-120"/>
                <a:ea typeface="微軟正黑體" panose="020B0604030504040204" pitchFamily="34" charset="-120"/>
              </a:rPr>
              <a:t>與節點</a:t>
            </a:r>
            <a:r>
              <a:rPr lang="en-US" altLang="zh-TW" sz="2400" b="1" dirty="0">
                <a:solidFill>
                  <a:srgbClr val="4A5A6F"/>
                </a:solidFill>
                <a:latin typeface="微軟正黑體" panose="020B0604030504040204" pitchFamily="34" charset="-120"/>
                <a:ea typeface="微軟正黑體" panose="020B0604030504040204" pitchFamily="34" charset="-120"/>
              </a:rPr>
              <a:t>(P2P)</a:t>
            </a: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的方式進行資訊交流或傳輸，</a:t>
            </a:r>
            <a:endParaRPr lang="en-US" altLang="zh-TW" sz="2400" b="1" dirty="0">
              <a:solidFill>
                <a:prstClr val="black">
                  <a:lumMod val="75000"/>
                  <a:lumOff val="25000"/>
                </a:prst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以</a:t>
            </a:r>
            <a:r>
              <a:rPr lang="zh-TW" altLang="en-US" sz="2400" b="1" dirty="0">
                <a:solidFill>
                  <a:srgbClr val="4A5A6F"/>
                </a:solidFill>
                <a:latin typeface="微軟正黑體" panose="020B0604030504040204" pitchFamily="34" charset="-120"/>
                <a:ea typeface="微軟正黑體" panose="020B0604030504040204" pitchFamily="34" charset="-120"/>
              </a:rPr>
              <a:t>區塊</a:t>
            </a: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為單位進行節點與節點間交流資訊的儲存，</a:t>
            </a:r>
            <a:endParaRPr lang="en-US" altLang="zh-TW" sz="2400" b="1" dirty="0">
              <a:solidFill>
                <a:prstClr val="black">
                  <a:lumMod val="75000"/>
                  <a:lumOff val="25000"/>
                </a:prst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再將區塊與區塊</a:t>
            </a:r>
            <a:r>
              <a:rPr lang="zh-TW" altLang="en-US" sz="2400" b="1" dirty="0">
                <a:solidFill>
                  <a:srgbClr val="54667E"/>
                </a:solidFill>
                <a:latin typeface="微軟正黑體" panose="020B0604030504040204" pitchFamily="34" charset="-120"/>
                <a:ea typeface="微軟正黑體" panose="020B0604030504040204" pitchFamily="34" charset="-120"/>
              </a:rPr>
              <a:t>互相連接</a:t>
            </a: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，達到</a:t>
            </a:r>
            <a:r>
              <a:rPr lang="zh-TW" altLang="en-US" sz="2400" b="1" dirty="0">
                <a:solidFill>
                  <a:srgbClr val="54667E"/>
                </a:solidFill>
                <a:latin typeface="微軟正黑體" panose="020B0604030504040204" pitchFamily="34" charset="-120"/>
                <a:ea typeface="微軟正黑體" panose="020B0604030504040204" pitchFamily="34" charset="-120"/>
              </a:rPr>
              <a:t>資源共享</a:t>
            </a:r>
            <a:r>
              <a:rPr lang="zh-TW" altLang="en-US" sz="2400" b="1" dirty="0">
                <a:solidFill>
                  <a:prstClr val="black">
                    <a:lumMod val="75000"/>
                    <a:lumOff val="25000"/>
                  </a:prstClr>
                </a:solidFill>
                <a:latin typeface="微軟正黑體" panose="020B0604030504040204" pitchFamily="34" charset="-120"/>
                <a:ea typeface="微軟正黑體" panose="020B0604030504040204" pitchFamily="34" charset="-120"/>
              </a:rPr>
              <a:t>的目標。</a:t>
            </a:r>
            <a:endPar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3"/>
          <a:stretch>
            <a:fillRect/>
          </a:stretch>
        </p:blipFill>
        <p:spPr>
          <a:xfrm rot="16200000">
            <a:off x="145169" y="-145167"/>
            <a:ext cx="1268414" cy="1558750"/>
          </a:xfrm>
          <a:prstGeom prst="rect">
            <a:avLst/>
          </a:prstGeom>
        </p:spPr>
      </p:pic>
      <p:pic>
        <p:nvPicPr>
          <p:cNvPr id="8" name="圖片 7">
            <a:extLst>
              <a:ext uri="{FF2B5EF4-FFF2-40B4-BE49-F238E27FC236}">
                <a16:creationId xmlns:a16="http://schemas.microsoft.com/office/drawing/2014/main" id="{346BB79F-1CD6-4A90-93A6-2516E25F7B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71478" y="4517869"/>
            <a:ext cx="2420522" cy="2420522"/>
          </a:xfrm>
          <a:prstGeom prst="rect">
            <a:avLst/>
          </a:prstGeom>
        </p:spPr>
      </p:pic>
      <p:sp>
        <p:nvSpPr>
          <p:cNvPr id="10" name="文字方塊 9">
            <a:extLst>
              <a:ext uri="{FF2B5EF4-FFF2-40B4-BE49-F238E27FC236}">
                <a16:creationId xmlns:a16="http://schemas.microsoft.com/office/drawing/2014/main" id="{5E161A84-0727-4CA2-A370-B475B243F52E}"/>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1" name="標題 1">
            <a:extLst>
              <a:ext uri="{FF2B5EF4-FFF2-40B4-BE49-F238E27FC236}">
                <a16:creationId xmlns:a16="http://schemas.microsoft.com/office/drawing/2014/main" id="{7E514458-4CEC-4771-9D54-23C403699BF3}"/>
              </a:ext>
            </a:extLst>
          </p:cNvPr>
          <p:cNvSpPr txBox="1">
            <a:spLocks/>
          </p:cNvSpPr>
          <p:nvPr/>
        </p:nvSpPr>
        <p:spPr>
          <a:xfrm>
            <a:off x="79784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1-1</a:t>
            </a:r>
            <a:r>
              <a:rPr lang="zh-TW" altLang="en-US" sz="2400" b="1" dirty="0">
                <a:solidFill>
                  <a:srgbClr val="E06741"/>
                </a:solidFill>
              </a:rPr>
              <a:t> 區塊鏈意涵</a:t>
            </a:r>
            <a:endParaRPr lang="zh-TW" altLang="en-US" sz="2400" b="1" dirty="0">
              <a:solidFill>
                <a:srgbClr val="E06741"/>
              </a:solidFill>
              <a:latin typeface="+mj-ea"/>
              <a:cs typeface="Times New Roman" panose="02020603050405020304" pitchFamily="18" charset="0"/>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2" name="文字方塊 11">
            <a:extLst>
              <a:ext uri="{FF2B5EF4-FFF2-40B4-BE49-F238E27FC236}">
                <a16:creationId xmlns:a16="http://schemas.microsoft.com/office/drawing/2014/main" id="{9B968F59-8A4B-4A1C-A598-54B7F588CC34}"/>
              </a:ext>
            </a:extLst>
          </p:cNvPr>
          <p:cNvSpPr txBox="1"/>
          <p:nvPr/>
        </p:nvSpPr>
        <p:spPr>
          <a:xfrm>
            <a:off x="3766808" y="458402"/>
            <a:ext cx="2050561"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區塊鏈的定義</a:t>
            </a:r>
          </a:p>
        </p:txBody>
      </p:sp>
      <p:cxnSp>
        <p:nvCxnSpPr>
          <p:cNvPr id="9" name="直接连接符 33">
            <a:extLst>
              <a:ext uri="{FF2B5EF4-FFF2-40B4-BE49-F238E27FC236}">
                <a16:creationId xmlns:a16="http://schemas.microsoft.com/office/drawing/2014/main" id="{20ED589B-2B1E-4BCE-8959-7A45489E79F5}"/>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370403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barn(inVertical)">
                                      <p:cBhvr>
                                        <p:cTn id="11" dur="500"/>
                                        <p:tgtEl>
                                          <p:spTgt spid="12">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2" presetClass="entr" presetSubtype="4"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6" name="圖片 5">
            <a:extLst>
              <a:ext uri="{FF2B5EF4-FFF2-40B4-BE49-F238E27FC236}">
                <a16:creationId xmlns:a16="http://schemas.microsoft.com/office/drawing/2014/main" id="{7226EA25-1FA8-4702-A8EE-C7292DF3E58E}"/>
              </a:ext>
            </a:extLst>
          </p:cNvPr>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8902" y="1268415"/>
            <a:ext cx="7634196" cy="5071640"/>
          </a:xfrm>
          <a:prstGeom prst="rect">
            <a:avLst/>
          </a:prstGeom>
          <a:noFill/>
        </p:spPr>
      </p:pic>
      <p:sp>
        <p:nvSpPr>
          <p:cNvPr id="10" name="文字方塊 9">
            <a:extLst>
              <a:ext uri="{FF2B5EF4-FFF2-40B4-BE49-F238E27FC236}">
                <a16:creationId xmlns:a16="http://schemas.microsoft.com/office/drawing/2014/main" id="{363924AB-5361-4DF7-BD3C-C4394F1EFAB7}"/>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1" name="標題 1">
            <a:extLst>
              <a:ext uri="{FF2B5EF4-FFF2-40B4-BE49-F238E27FC236}">
                <a16:creationId xmlns:a16="http://schemas.microsoft.com/office/drawing/2014/main" id="{DA889E0B-6F80-4E5B-B252-88A135585CB5}"/>
              </a:ext>
            </a:extLst>
          </p:cNvPr>
          <p:cNvSpPr txBox="1">
            <a:spLocks/>
          </p:cNvSpPr>
          <p:nvPr/>
        </p:nvSpPr>
        <p:spPr>
          <a:xfrm>
            <a:off x="79784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1-1</a:t>
            </a:r>
            <a:r>
              <a:rPr lang="zh-TW" altLang="en-US" sz="2400" b="1" dirty="0">
                <a:solidFill>
                  <a:srgbClr val="E06741"/>
                </a:solidFill>
              </a:rPr>
              <a:t> 區塊鏈意涵</a:t>
            </a:r>
            <a:endParaRPr lang="zh-TW" altLang="en-US" sz="2400" b="1" dirty="0">
              <a:solidFill>
                <a:srgbClr val="E06741"/>
              </a:solidFill>
              <a:latin typeface="+mj-ea"/>
              <a:cs typeface="Times New Roman" panose="02020603050405020304" pitchFamily="18" charset="0"/>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2" name="文字方塊 11">
            <a:extLst>
              <a:ext uri="{FF2B5EF4-FFF2-40B4-BE49-F238E27FC236}">
                <a16:creationId xmlns:a16="http://schemas.microsoft.com/office/drawing/2014/main" id="{555FD38A-F99B-46BC-97FA-4DCA027E92F6}"/>
              </a:ext>
            </a:extLst>
          </p:cNvPr>
          <p:cNvSpPr txBox="1"/>
          <p:nvPr/>
        </p:nvSpPr>
        <p:spPr>
          <a:xfrm>
            <a:off x="3766808" y="449166"/>
            <a:ext cx="2050561"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區塊鏈的定義</a:t>
            </a:r>
          </a:p>
        </p:txBody>
      </p:sp>
      <p:cxnSp>
        <p:nvCxnSpPr>
          <p:cNvPr id="8" name="直接连接符 33">
            <a:extLst>
              <a:ext uri="{FF2B5EF4-FFF2-40B4-BE49-F238E27FC236}">
                <a16:creationId xmlns:a16="http://schemas.microsoft.com/office/drawing/2014/main" id="{83C8DB49-9556-4B3B-9D74-7D0878430B6E}"/>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672909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barn(inVertical)">
                                      <p:cBhvr>
                                        <p:cTn id="11" dur="500"/>
                                        <p:tgtEl>
                                          <p:spTgt spid="12"/>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53" presetClass="entr" presetSubtype="16"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58751" y="1415457"/>
            <a:ext cx="8351544" cy="4271810"/>
          </a:xfrm>
          <a:prstGeom prst="rect">
            <a:avLst/>
          </a:prstGeom>
        </p:spPr>
        <p:txBody>
          <a:bodyPr wrap="square">
            <a:spAutoFit/>
          </a:bodyPr>
          <a:lstStyle/>
          <a:p>
            <a:pPr marL="342900"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在區塊鏈的時代，藉由數位平台的使用者兩者之間的同意，便可完成交易行為，為</a:t>
            </a:r>
            <a:r>
              <a:rPr lang="zh-TW" altLang="en-US" sz="2400" b="1" dirty="0">
                <a:solidFill>
                  <a:srgbClr val="54667E"/>
                </a:solidFill>
                <a:latin typeface="微軟正黑體" panose="020B0604030504040204" pitchFamily="34" charset="-120"/>
                <a:ea typeface="微軟正黑體" panose="020B0604030504040204" pitchFamily="34" charset="-120"/>
              </a:rPr>
              <a:t>「無中間金融機構」</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的交易模式。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endParaRPr lang="zh-TW" altLang="en-US"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比特幣僅運用了區塊鏈的底層技術，打造出可追蹤、無中間金融機構、安全加密的</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P2P</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電子現金系統之虛擬貨幣，並且建立起虛擬貨幣的</a:t>
            </a:r>
            <a:r>
              <a:rPr lang="zh-TW" altLang="en-US" sz="2400" b="1" dirty="0">
                <a:solidFill>
                  <a:schemeClr val="tx2"/>
                </a:solidFill>
                <a:latin typeface="微軟正黑體" panose="020B0604030504040204" pitchFamily="34" charset="-120"/>
                <a:ea typeface="微軟正黑體" panose="020B0604030504040204" pitchFamily="34" charset="-120"/>
              </a:rPr>
              <a:t>共識機制</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endParaRPr lang="en-US" altLang="zh-TW"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未來不需再透過傳統第三方機構的管理，也能透過</a:t>
            </a:r>
            <a:r>
              <a:rPr lang="zh-TW" altLang="en-US" sz="2400" b="1" dirty="0">
                <a:solidFill>
                  <a:srgbClr val="54667E"/>
                </a:solidFill>
                <a:latin typeface="微軟正黑體" panose="020B0604030504040204" pitchFamily="34" charset="-120"/>
                <a:ea typeface="微軟正黑體" panose="020B0604030504040204" pitchFamily="34" charset="-120"/>
              </a:rPr>
              <a:t>區塊鏈</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的交易模式完成交易驗證。</a:t>
            </a: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11" name="文字方塊 10">
            <a:extLst>
              <a:ext uri="{FF2B5EF4-FFF2-40B4-BE49-F238E27FC236}">
                <a16:creationId xmlns:a16="http://schemas.microsoft.com/office/drawing/2014/main" id="{2C46C2E3-B468-41D1-A7EC-7CDDA7A9B7F1}"/>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pic>
        <p:nvPicPr>
          <p:cNvPr id="8" name="圖片 7">
            <a:extLst>
              <a:ext uri="{FF2B5EF4-FFF2-40B4-BE49-F238E27FC236}">
                <a16:creationId xmlns:a16="http://schemas.microsoft.com/office/drawing/2014/main" id="{053A688D-3146-40B8-9635-2730B486A56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75596" y="2450107"/>
            <a:ext cx="1957786" cy="1957786"/>
          </a:xfrm>
          <a:prstGeom prst="rect">
            <a:avLst/>
          </a:prstGeom>
        </p:spPr>
      </p:pic>
      <p:sp>
        <p:nvSpPr>
          <p:cNvPr id="13" name="標題 1">
            <a:extLst>
              <a:ext uri="{FF2B5EF4-FFF2-40B4-BE49-F238E27FC236}">
                <a16:creationId xmlns:a16="http://schemas.microsoft.com/office/drawing/2014/main" id="{AB6AEA94-5196-4B04-A1D3-B70007E6856F}"/>
              </a:ext>
            </a:extLst>
          </p:cNvPr>
          <p:cNvSpPr txBox="1">
            <a:spLocks/>
          </p:cNvSpPr>
          <p:nvPr/>
        </p:nvSpPr>
        <p:spPr>
          <a:xfrm>
            <a:off x="79784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1-1</a:t>
            </a:r>
            <a:r>
              <a:rPr lang="zh-TW" altLang="en-US" sz="2400" b="1" dirty="0">
                <a:solidFill>
                  <a:srgbClr val="E06741"/>
                </a:solidFill>
              </a:rPr>
              <a:t> 區塊鏈意涵</a:t>
            </a:r>
            <a:endParaRPr lang="zh-TW" altLang="en-US" sz="2400" b="1" dirty="0">
              <a:solidFill>
                <a:srgbClr val="E06741"/>
              </a:solidFill>
              <a:latin typeface="+mj-ea"/>
              <a:cs typeface="Times New Roman" panose="02020603050405020304" pitchFamily="18" charset="0"/>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4" name="文字方塊 13">
            <a:extLst>
              <a:ext uri="{FF2B5EF4-FFF2-40B4-BE49-F238E27FC236}">
                <a16:creationId xmlns:a16="http://schemas.microsoft.com/office/drawing/2014/main" id="{755B38E8-4E4B-437D-9A96-EB36DED7EBC4}"/>
              </a:ext>
            </a:extLst>
          </p:cNvPr>
          <p:cNvSpPr txBox="1"/>
          <p:nvPr/>
        </p:nvSpPr>
        <p:spPr>
          <a:xfrm>
            <a:off x="3766808" y="449166"/>
            <a:ext cx="2050561"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區塊鏈的定義</a:t>
            </a:r>
          </a:p>
        </p:txBody>
      </p:sp>
      <p:cxnSp>
        <p:nvCxnSpPr>
          <p:cNvPr id="9" name="直接连接符 33">
            <a:extLst>
              <a:ext uri="{FF2B5EF4-FFF2-40B4-BE49-F238E27FC236}">
                <a16:creationId xmlns:a16="http://schemas.microsoft.com/office/drawing/2014/main" id="{F787FE67-E64A-4E41-BEBD-0B052082D1A9}"/>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23619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circle(in)">
                                      <p:cBhvr>
                                        <p:cTn id="7" dur="2000"/>
                                        <p:tgtEl>
                                          <p:spTgt spid="13"/>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16" presetClass="entr" presetSubtype="37"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arn(outVertical)">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58751" y="1007030"/>
            <a:ext cx="10016317" cy="537968"/>
          </a:xfrm>
          <a:prstGeom prst="rect">
            <a:avLst/>
          </a:prstGeom>
        </p:spPr>
        <p:txBody>
          <a:bodyPr wrap="square">
            <a:spAutoFit/>
          </a:bodyPr>
          <a:lstStyle/>
          <a:p>
            <a:pPr>
              <a:lnSpc>
                <a:spcPct val="150000"/>
              </a:lnSpc>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區塊鏈</a:t>
            </a:r>
            <a:r>
              <a:rPr lang="zh-TW" altLang="en-US" sz="2200" b="1" dirty="0">
                <a:solidFill>
                  <a:srgbClr val="54667E"/>
                </a:solidFill>
                <a:latin typeface="微軟正黑體" panose="020B0604030504040204" pitchFamily="34" charset="-120"/>
                <a:ea typeface="微軟正黑體" panose="020B0604030504040204" pitchFamily="34" charset="-120"/>
              </a:rPr>
              <a:t>依其使用者的限制條件設定的多寡</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區分為</a:t>
            </a:r>
            <a:r>
              <a:rPr lang="zh-TW" altLang="en-US" sz="2200" b="1" dirty="0">
                <a:solidFill>
                  <a:srgbClr val="54667E"/>
                </a:solidFill>
                <a:latin typeface="微軟正黑體" panose="020B0604030504040204" pitchFamily="34" charset="-120"/>
                <a:ea typeface="微軟正黑體" panose="020B0604030504040204" pitchFamily="34" charset="-120"/>
              </a:rPr>
              <a:t>公開鏈、私有鏈、聯盟鏈</a:t>
            </a:r>
            <a:endPar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8" name="文字方塊 7">
            <a:extLst>
              <a:ext uri="{FF2B5EF4-FFF2-40B4-BE49-F238E27FC236}">
                <a16:creationId xmlns:a16="http://schemas.microsoft.com/office/drawing/2014/main" id="{1D3AF3E8-5DC7-404B-B259-DC1A5A8AADBE}"/>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2" name="標題 1">
            <a:extLst>
              <a:ext uri="{FF2B5EF4-FFF2-40B4-BE49-F238E27FC236}">
                <a16:creationId xmlns:a16="http://schemas.microsoft.com/office/drawing/2014/main" id="{C79E45DD-BFAB-4E4F-8675-2D797A1BB9B7}"/>
              </a:ext>
            </a:extLst>
          </p:cNvPr>
          <p:cNvSpPr txBox="1">
            <a:spLocks/>
          </p:cNvSpPr>
          <p:nvPr/>
        </p:nvSpPr>
        <p:spPr>
          <a:xfrm>
            <a:off x="79784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1-1</a:t>
            </a:r>
            <a:r>
              <a:rPr lang="zh-TW" altLang="en-US" sz="2400" b="1" dirty="0">
                <a:solidFill>
                  <a:srgbClr val="E06741"/>
                </a:solidFill>
              </a:rPr>
              <a:t> 區塊鏈意涵</a:t>
            </a:r>
            <a:endParaRPr lang="zh-TW" altLang="en-US" sz="2400" b="1" dirty="0">
              <a:solidFill>
                <a:srgbClr val="E06741"/>
              </a:solidFill>
              <a:latin typeface="+mj-ea"/>
              <a:cs typeface="Times New Roman" panose="02020603050405020304" pitchFamily="18" charset="0"/>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3" name="文字方塊 12">
            <a:extLst>
              <a:ext uri="{FF2B5EF4-FFF2-40B4-BE49-F238E27FC236}">
                <a16:creationId xmlns:a16="http://schemas.microsoft.com/office/drawing/2014/main" id="{7889284D-2139-408D-8F7C-9ADA133242AF}"/>
              </a:ext>
            </a:extLst>
          </p:cNvPr>
          <p:cNvSpPr txBox="1"/>
          <p:nvPr/>
        </p:nvSpPr>
        <p:spPr>
          <a:xfrm>
            <a:off x="3766808" y="449166"/>
            <a:ext cx="2050561"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區塊鏈的分類</a:t>
            </a:r>
          </a:p>
        </p:txBody>
      </p:sp>
      <p:grpSp>
        <p:nvGrpSpPr>
          <p:cNvPr id="9" name="群組 8">
            <a:extLst>
              <a:ext uri="{FF2B5EF4-FFF2-40B4-BE49-F238E27FC236}">
                <a16:creationId xmlns:a16="http://schemas.microsoft.com/office/drawing/2014/main" id="{E115414B-BBB1-44A4-8BFC-125404CA54B8}"/>
              </a:ext>
            </a:extLst>
          </p:cNvPr>
          <p:cNvGrpSpPr/>
          <p:nvPr/>
        </p:nvGrpSpPr>
        <p:grpSpPr>
          <a:xfrm>
            <a:off x="2711974" y="1389787"/>
            <a:ext cx="7567720" cy="4984236"/>
            <a:chOff x="2228295" y="727969"/>
            <a:chExt cx="7567720" cy="4984236"/>
          </a:xfrm>
        </p:grpSpPr>
        <p:graphicFrame>
          <p:nvGraphicFramePr>
            <p:cNvPr id="10" name="資料庫圖表 9">
              <a:extLst>
                <a:ext uri="{FF2B5EF4-FFF2-40B4-BE49-F238E27FC236}">
                  <a16:creationId xmlns:a16="http://schemas.microsoft.com/office/drawing/2014/main" id="{E3C6C8F4-9AD3-456A-A1B6-40CA8703E683}"/>
                </a:ext>
              </a:extLst>
            </p:cNvPr>
            <p:cNvGraphicFramePr/>
            <p:nvPr>
              <p:extLst>
                <p:ext uri="{D42A27DB-BD31-4B8C-83A1-F6EECF244321}">
                  <p14:modId xmlns:p14="http://schemas.microsoft.com/office/powerpoint/2010/main" val="3766056870"/>
                </p:ext>
              </p:extLst>
            </p:nvPr>
          </p:nvGraphicFramePr>
          <p:xfrm>
            <a:off x="2228295" y="727969"/>
            <a:ext cx="7567720" cy="49842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1" name="直線接點 10">
              <a:extLst>
                <a:ext uri="{FF2B5EF4-FFF2-40B4-BE49-F238E27FC236}">
                  <a16:creationId xmlns:a16="http://schemas.microsoft.com/office/drawing/2014/main" id="{F83F2723-7BE7-44A1-98E7-6556AB97B693}"/>
                </a:ext>
              </a:extLst>
            </p:cNvPr>
            <p:cNvCxnSpPr/>
            <p:nvPr/>
          </p:nvCxnSpPr>
          <p:spPr>
            <a:xfrm>
              <a:off x="4509856" y="4927107"/>
              <a:ext cx="2965142" cy="8877"/>
            </a:xfrm>
            <a:prstGeom prst="line">
              <a:avLst/>
            </a:prstGeom>
          </p:spPr>
          <p:style>
            <a:lnRef idx="1">
              <a:schemeClr val="accent5"/>
            </a:lnRef>
            <a:fillRef idx="0">
              <a:schemeClr val="accent5"/>
            </a:fillRef>
            <a:effectRef idx="0">
              <a:schemeClr val="accent5"/>
            </a:effectRef>
            <a:fontRef idx="minor">
              <a:schemeClr val="tx1"/>
            </a:fontRef>
          </p:style>
        </p:cxnSp>
        <p:cxnSp>
          <p:nvCxnSpPr>
            <p:cNvPr id="14" name="直線接點 13">
              <a:extLst>
                <a:ext uri="{FF2B5EF4-FFF2-40B4-BE49-F238E27FC236}">
                  <a16:creationId xmlns:a16="http://schemas.microsoft.com/office/drawing/2014/main" id="{3262A2F5-8DE3-4C97-A227-A8026973C9D2}"/>
                </a:ext>
              </a:extLst>
            </p:cNvPr>
            <p:cNvCxnSpPr/>
            <p:nvPr/>
          </p:nvCxnSpPr>
          <p:spPr>
            <a:xfrm flipV="1">
              <a:off x="4048217" y="1740023"/>
              <a:ext cx="1473694" cy="2681058"/>
            </a:xfrm>
            <a:prstGeom prst="line">
              <a:avLst/>
            </a:prstGeom>
          </p:spPr>
          <p:style>
            <a:lnRef idx="1">
              <a:schemeClr val="accent5"/>
            </a:lnRef>
            <a:fillRef idx="0">
              <a:schemeClr val="accent5"/>
            </a:fillRef>
            <a:effectRef idx="0">
              <a:schemeClr val="accent5"/>
            </a:effectRef>
            <a:fontRef idx="minor">
              <a:schemeClr val="tx1"/>
            </a:fontRef>
          </p:style>
        </p:cxnSp>
        <p:cxnSp>
          <p:nvCxnSpPr>
            <p:cNvPr id="15" name="直線接點 14">
              <a:extLst>
                <a:ext uri="{FF2B5EF4-FFF2-40B4-BE49-F238E27FC236}">
                  <a16:creationId xmlns:a16="http://schemas.microsoft.com/office/drawing/2014/main" id="{B8D848F1-BFA1-4374-A7A1-F37C0145E1BF}"/>
                </a:ext>
              </a:extLst>
            </p:cNvPr>
            <p:cNvCxnSpPr/>
            <p:nvPr/>
          </p:nvCxnSpPr>
          <p:spPr>
            <a:xfrm flipH="1" flipV="1">
              <a:off x="6499933" y="1740023"/>
              <a:ext cx="1473694" cy="2681058"/>
            </a:xfrm>
            <a:prstGeom prst="line">
              <a:avLst/>
            </a:prstGeom>
          </p:spPr>
          <p:style>
            <a:lnRef idx="1">
              <a:schemeClr val="accent5"/>
            </a:lnRef>
            <a:fillRef idx="0">
              <a:schemeClr val="accent5"/>
            </a:fillRef>
            <a:effectRef idx="0">
              <a:schemeClr val="accent5"/>
            </a:effectRef>
            <a:fontRef idx="minor">
              <a:schemeClr val="tx1"/>
            </a:fontRef>
          </p:style>
        </p:cxnSp>
      </p:grpSp>
      <p:cxnSp>
        <p:nvCxnSpPr>
          <p:cNvPr id="16" name="直接连接符 33">
            <a:extLst>
              <a:ext uri="{FF2B5EF4-FFF2-40B4-BE49-F238E27FC236}">
                <a16:creationId xmlns:a16="http://schemas.microsoft.com/office/drawing/2014/main" id="{A1C36441-7D88-4AA3-977E-276E2329AE68}"/>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77382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ircle(in)">
                                      <p:cBhvr>
                                        <p:cTn id="7" dur="2000"/>
                                        <p:tgtEl>
                                          <p:spTgt spid="12"/>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arn(inVertical)">
                                      <p:cBhvr>
                                        <p:cTn id="11" dur="500"/>
                                        <p:tgtEl>
                                          <p:spTgt spid="13"/>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0-#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2" presetClass="entr" presetSubtype="4"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additive="base">
                                        <p:cTn id="20" dur="500" fill="hold"/>
                                        <p:tgtEl>
                                          <p:spTgt spid="4"/>
                                        </p:tgtEl>
                                        <p:attrNameLst>
                                          <p:attrName>ppt_x</p:attrName>
                                        </p:attrNameLst>
                                      </p:cBhvr>
                                      <p:tavLst>
                                        <p:tav tm="0">
                                          <p:val>
                                            <p:strVal val="#ppt_x"/>
                                          </p:val>
                                        </p:tav>
                                        <p:tav tm="100000">
                                          <p:val>
                                            <p:strVal val="#ppt_x"/>
                                          </p:val>
                                        </p:tav>
                                      </p:tavLst>
                                    </p:anim>
                                    <p:anim calcmode="lin" valueType="num">
                                      <p:cBhvr additive="base">
                                        <p:cTn id="21" dur="500" fill="hold"/>
                                        <p:tgtEl>
                                          <p:spTgt spid="4"/>
                                        </p:tgtEl>
                                        <p:attrNameLst>
                                          <p:attrName>ppt_y</p:attrName>
                                        </p:attrNameLst>
                                      </p:cBhvr>
                                      <p:tavLst>
                                        <p:tav tm="0">
                                          <p:val>
                                            <p:strVal val="1+#ppt_h/2"/>
                                          </p:val>
                                        </p:tav>
                                        <p:tav tm="100000">
                                          <p:val>
                                            <p:strVal val="#ppt_y"/>
                                          </p:val>
                                        </p:tav>
                                      </p:tavLst>
                                    </p:anim>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p:cTn id="25" dur="500" fill="hold"/>
                                        <p:tgtEl>
                                          <p:spTgt spid="9"/>
                                        </p:tgtEl>
                                        <p:attrNameLst>
                                          <p:attrName>ppt_w</p:attrName>
                                        </p:attrNameLst>
                                      </p:cBhvr>
                                      <p:tavLst>
                                        <p:tav tm="0">
                                          <p:val>
                                            <p:fltVal val="0"/>
                                          </p:val>
                                        </p:tav>
                                        <p:tav tm="100000">
                                          <p:val>
                                            <p:strVal val="#ppt_w"/>
                                          </p:val>
                                        </p:tav>
                                      </p:tavLst>
                                    </p:anim>
                                    <p:anim calcmode="lin" valueType="num">
                                      <p:cBhvr>
                                        <p:cTn id="26" dur="500" fill="hold"/>
                                        <p:tgtEl>
                                          <p:spTgt spid="9"/>
                                        </p:tgtEl>
                                        <p:attrNameLst>
                                          <p:attrName>ppt_h</p:attrName>
                                        </p:attrNameLst>
                                      </p:cBhvr>
                                      <p:tavLst>
                                        <p:tav tm="0">
                                          <p:val>
                                            <p:fltVal val="0"/>
                                          </p:val>
                                        </p:tav>
                                        <p:tav tm="100000">
                                          <p:val>
                                            <p:strVal val="#ppt_h"/>
                                          </p:val>
                                        </p:tav>
                                      </p:tavLst>
                                    </p:anim>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1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8" name="文字方塊 7">
            <a:extLst>
              <a:ext uri="{FF2B5EF4-FFF2-40B4-BE49-F238E27FC236}">
                <a16:creationId xmlns:a16="http://schemas.microsoft.com/office/drawing/2014/main" id="{1D3AF3E8-5DC7-404B-B259-DC1A5A8AADBE}"/>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0" name="箭头3">
            <a:extLst>
              <a:ext uri="{FF2B5EF4-FFF2-40B4-BE49-F238E27FC236}">
                <a16:creationId xmlns:a16="http://schemas.microsoft.com/office/drawing/2014/main" id="{72E57D54-649C-47BF-8D0A-3CA1E92857DB}"/>
              </a:ext>
            </a:extLst>
          </p:cNvPr>
          <p:cNvSpPr>
            <a:spLocks noChangeArrowheads="1"/>
          </p:cNvSpPr>
          <p:nvPr/>
        </p:nvSpPr>
        <p:spPr bwMode="auto">
          <a:xfrm flipV="1">
            <a:off x="1935407" y="3605792"/>
            <a:ext cx="1416822" cy="2150344"/>
          </a:xfrm>
          <a:custGeom>
            <a:avLst/>
            <a:gdLst/>
            <a:ahLst/>
            <a:cxnLst>
              <a:cxn ang="0">
                <a:pos x="118" y="1044"/>
              </a:cxn>
              <a:cxn ang="0">
                <a:pos x="128" y="340"/>
              </a:cxn>
              <a:cxn ang="0">
                <a:pos x="264" y="210"/>
              </a:cxn>
              <a:cxn ang="0">
                <a:pos x="720" y="202"/>
              </a:cxn>
              <a:cxn ang="0">
                <a:pos x="720" y="320"/>
              </a:cxn>
              <a:cxn ang="0">
                <a:pos x="933" y="153"/>
              </a:cxn>
              <a:cxn ang="0">
                <a:pos x="712" y="0"/>
              </a:cxn>
              <a:cxn ang="0">
                <a:pos x="714" y="92"/>
              </a:cxn>
              <a:cxn ang="0">
                <a:pos x="234" y="94"/>
              </a:cxn>
              <a:cxn ang="0">
                <a:pos x="0" y="298"/>
              </a:cxn>
              <a:cxn ang="0">
                <a:pos x="0" y="1058"/>
              </a:cxn>
              <a:cxn ang="0">
                <a:pos x="118" y="1044"/>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rgbClr val="A6A6A6"/>
          </a:solidFill>
          <a:ln w="9525">
            <a:noFill/>
            <a:round/>
            <a:headEnd/>
            <a:tailEnd/>
          </a:ln>
        </p:spPr>
        <p:txBody>
          <a:bodyPr wrap="none" lIns="62111" tIns="31055" rIns="62111" bIns="31055" anchor="ctr"/>
          <a:lstStyle/>
          <a:p>
            <a:endParaRPr lang="zh-CN" altLang="en-US" sz="900" dirty="0">
              <a:solidFill>
                <a:srgbClr val="000000"/>
              </a:solidFill>
            </a:endParaRPr>
          </a:p>
        </p:txBody>
      </p:sp>
      <p:sp>
        <p:nvSpPr>
          <p:cNvPr id="11" name="箭头2">
            <a:extLst>
              <a:ext uri="{FF2B5EF4-FFF2-40B4-BE49-F238E27FC236}">
                <a16:creationId xmlns:a16="http://schemas.microsoft.com/office/drawing/2014/main" id="{38830C74-6639-4916-BA78-2A9789BD4B43}"/>
              </a:ext>
            </a:extLst>
          </p:cNvPr>
          <p:cNvSpPr>
            <a:spLocks noChangeArrowheads="1"/>
          </p:cNvSpPr>
          <p:nvPr/>
        </p:nvSpPr>
        <p:spPr bwMode="auto">
          <a:xfrm rot="-5400000">
            <a:off x="2085401" y="2757975"/>
            <a:ext cx="548408" cy="1985247"/>
          </a:xfrm>
          <a:custGeom>
            <a:avLst/>
            <a:gdLst/>
            <a:ahLst/>
            <a:cxnLst>
              <a:cxn ang="0">
                <a:pos x="37" y="1"/>
              </a:cxn>
              <a:cxn ang="0">
                <a:pos x="45" y="472"/>
              </a:cxn>
              <a:cxn ang="0">
                <a:pos x="0" y="474"/>
              </a:cxn>
              <a:cxn ang="0">
                <a:pos x="72" y="604"/>
              </a:cxn>
              <a:cxn ang="0">
                <a:pos x="142" y="474"/>
              </a:cxn>
              <a:cxn ang="0">
                <a:pos x="100" y="474"/>
              </a:cxn>
              <a:cxn ang="0">
                <a:pos x="99" y="0"/>
              </a:cxn>
              <a:cxn ang="0">
                <a:pos x="37" y="1"/>
              </a:cxn>
            </a:cxnLst>
            <a:rect l="0" t="0" r="r" b="b"/>
            <a:pathLst>
              <a:path w="142" h="604">
                <a:moveTo>
                  <a:pt x="37" y="1"/>
                </a:moveTo>
                <a:lnTo>
                  <a:pt x="45" y="472"/>
                </a:lnTo>
                <a:lnTo>
                  <a:pt x="0" y="474"/>
                </a:lnTo>
                <a:lnTo>
                  <a:pt x="72" y="604"/>
                </a:lnTo>
                <a:lnTo>
                  <a:pt x="142" y="474"/>
                </a:lnTo>
                <a:lnTo>
                  <a:pt x="100" y="474"/>
                </a:lnTo>
                <a:lnTo>
                  <a:pt x="99" y="0"/>
                </a:lnTo>
                <a:lnTo>
                  <a:pt x="37" y="1"/>
                </a:lnTo>
                <a:close/>
              </a:path>
            </a:pathLst>
          </a:custGeom>
          <a:solidFill>
            <a:srgbClr val="A6A6A6"/>
          </a:solidFill>
          <a:ln w="9525">
            <a:noFill/>
            <a:round/>
            <a:headEnd/>
            <a:tailEnd/>
          </a:ln>
        </p:spPr>
        <p:txBody>
          <a:bodyPr wrap="none" lIns="62111" tIns="31055" rIns="62111" bIns="31055" anchor="ctr"/>
          <a:lstStyle/>
          <a:p>
            <a:endParaRPr lang="zh-CN" altLang="en-US" sz="900" dirty="0">
              <a:solidFill>
                <a:srgbClr val="000000"/>
              </a:solidFill>
            </a:endParaRPr>
          </a:p>
        </p:txBody>
      </p:sp>
      <p:sp>
        <p:nvSpPr>
          <p:cNvPr id="12" name="箭头1">
            <a:extLst>
              <a:ext uri="{FF2B5EF4-FFF2-40B4-BE49-F238E27FC236}">
                <a16:creationId xmlns:a16="http://schemas.microsoft.com/office/drawing/2014/main" id="{4D994698-9982-4ED2-ACD5-308C624E73EF}"/>
              </a:ext>
            </a:extLst>
          </p:cNvPr>
          <p:cNvSpPr>
            <a:spLocks noChangeArrowheads="1"/>
          </p:cNvSpPr>
          <p:nvPr/>
        </p:nvSpPr>
        <p:spPr bwMode="auto">
          <a:xfrm>
            <a:off x="1926155" y="1715782"/>
            <a:ext cx="1432366" cy="2312324"/>
          </a:xfrm>
          <a:custGeom>
            <a:avLst/>
            <a:gdLst/>
            <a:ahLst/>
            <a:cxnLst>
              <a:cxn ang="0">
                <a:pos x="118" y="1044"/>
              </a:cxn>
              <a:cxn ang="0">
                <a:pos x="128" y="340"/>
              </a:cxn>
              <a:cxn ang="0">
                <a:pos x="264" y="210"/>
              </a:cxn>
              <a:cxn ang="0">
                <a:pos x="720" y="202"/>
              </a:cxn>
              <a:cxn ang="0">
                <a:pos x="720" y="320"/>
              </a:cxn>
              <a:cxn ang="0">
                <a:pos x="933" y="153"/>
              </a:cxn>
              <a:cxn ang="0">
                <a:pos x="712" y="0"/>
              </a:cxn>
              <a:cxn ang="0">
                <a:pos x="714" y="92"/>
              </a:cxn>
              <a:cxn ang="0">
                <a:pos x="234" y="94"/>
              </a:cxn>
              <a:cxn ang="0">
                <a:pos x="0" y="298"/>
              </a:cxn>
              <a:cxn ang="0">
                <a:pos x="0" y="1058"/>
              </a:cxn>
              <a:cxn ang="0">
                <a:pos x="118" y="1044"/>
              </a:cxn>
            </a:cxnLst>
            <a:rect l="0" t="0" r="r" b="b"/>
            <a:pathLst>
              <a:path w="933" h="1182">
                <a:moveTo>
                  <a:pt x="118" y="1044"/>
                </a:moveTo>
                <a:lnTo>
                  <a:pt x="128" y="340"/>
                </a:lnTo>
                <a:cubicBezTo>
                  <a:pt x="134" y="214"/>
                  <a:pt x="182" y="212"/>
                  <a:pt x="264" y="210"/>
                </a:cubicBezTo>
                <a:lnTo>
                  <a:pt x="720" y="202"/>
                </a:lnTo>
                <a:lnTo>
                  <a:pt x="720" y="320"/>
                </a:lnTo>
                <a:lnTo>
                  <a:pt x="933" y="153"/>
                </a:lnTo>
                <a:lnTo>
                  <a:pt x="712" y="0"/>
                </a:lnTo>
                <a:lnTo>
                  <a:pt x="714" y="92"/>
                </a:lnTo>
                <a:cubicBezTo>
                  <a:pt x="714" y="92"/>
                  <a:pt x="406" y="94"/>
                  <a:pt x="234" y="94"/>
                </a:cubicBezTo>
                <a:cubicBezTo>
                  <a:pt x="60" y="96"/>
                  <a:pt x="2" y="156"/>
                  <a:pt x="0" y="298"/>
                </a:cubicBezTo>
                <a:lnTo>
                  <a:pt x="0" y="1058"/>
                </a:lnTo>
                <a:cubicBezTo>
                  <a:pt x="20" y="1182"/>
                  <a:pt x="93" y="1170"/>
                  <a:pt x="118" y="1044"/>
                </a:cubicBezTo>
                <a:close/>
              </a:path>
            </a:pathLst>
          </a:custGeom>
          <a:solidFill>
            <a:srgbClr val="A6A6A6"/>
          </a:solidFill>
          <a:ln w="9525">
            <a:noFill/>
            <a:round/>
            <a:headEnd/>
            <a:tailEnd/>
          </a:ln>
        </p:spPr>
        <p:txBody>
          <a:bodyPr wrap="none" lIns="62111" tIns="31055" rIns="62111" bIns="31055" anchor="ctr"/>
          <a:lstStyle/>
          <a:p>
            <a:endParaRPr lang="zh-CN" altLang="en-US" sz="900" dirty="0">
              <a:solidFill>
                <a:srgbClr val="000000"/>
              </a:solidFill>
            </a:endParaRPr>
          </a:p>
        </p:txBody>
      </p:sp>
      <p:sp>
        <p:nvSpPr>
          <p:cNvPr id="13" name="文本1">
            <a:extLst>
              <a:ext uri="{FF2B5EF4-FFF2-40B4-BE49-F238E27FC236}">
                <a16:creationId xmlns:a16="http://schemas.microsoft.com/office/drawing/2014/main" id="{DD416F39-9AF3-47F4-A73E-D19326600E19}"/>
              </a:ext>
            </a:extLst>
          </p:cNvPr>
          <p:cNvSpPr>
            <a:spLocks noChangeArrowheads="1"/>
          </p:cNvSpPr>
          <p:nvPr/>
        </p:nvSpPr>
        <p:spPr bwMode="auto">
          <a:xfrm>
            <a:off x="4486305" y="1251907"/>
            <a:ext cx="6713761" cy="1734838"/>
          </a:xfrm>
          <a:prstGeom prst="roundRect">
            <a:avLst>
              <a:gd name="adj" fmla="val 11505"/>
            </a:avLst>
          </a:prstGeom>
          <a:noFill/>
          <a:ln w="15875">
            <a:solidFill>
              <a:schemeClr val="bg1">
                <a:lumMod val="75000"/>
              </a:schemeClr>
            </a:solidFill>
            <a:round/>
            <a:headEnd/>
            <a:tailEnd/>
          </a:ln>
        </p:spPr>
        <p:txBody>
          <a:bodyPr lIns="62111" tIns="31055" rIns="62111" bIns="31055" anchor="ctr"/>
          <a:lstStyle/>
          <a:p>
            <a:pPr>
              <a:lnSpc>
                <a:spcPct val="12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使用範圍最為</a:t>
            </a:r>
            <a:r>
              <a:rPr lang="zh-TW" altLang="en-US" sz="2000" b="1" dirty="0">
                <a:solidFill>
                  <a:srgbClr val="54667E"/>
                </a:solidFill>
                <a:latin typeface="微軟正黑體" panose="020B0604030504040204" pitchFamily="34" charset="-120"/>
                <a:ea typeface="微軟正黑體" panose="020B0604030504040204" pitchFamily="34" charset="-120"/>
              </a:rPr>
              <a:t>廣泛</a:t>
            </a:r>
            <a:endParaRPr lang="en-US" altLang="zh-TW" sz="2000" b="1" dirty="0">
              <a:solidFill>
                <a:srgbClr val="54667E"/>
              </a:solidFill>
              <a:latin typeface="微軟正黑體" panose="020B0604030504040204" pitchFamily="34" charset="-120"/>
              <a:ea typeface="微軟正黑體" panose="020B0604030504040204" pitchFamily="34" charset="-120"/>
            </a:endParaRPr>
          </a:p>
          <a:p>
            <a:pPr>
              <a:lnSpc>
                <a:spcPct val="12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對於使用者無過多的限制條件</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2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每位使用者都可以參與數位交易平台的使用與維護</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2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交易紀錄資訊</a:t>
            </a:r>
            <a:r>
              <a:rPr lang="zh-TW" altLang="en-US" sz="2000" b="1" dirty="0">
                <a:solidFill>
                  <a:srgbClr val="54667E"/>
                </a:solidFill>
                <a:latin typeface="微軟正黑體" panose="020B0604030504040204" pitchFamily="34" charset="-120"/>
                <a:ea typeface="微軟正黑體" panose="020B0604030504040204" pitchFamily="34" charset="-120"/>
              </a:rPr>
              <a:t>完全公開</a:t>
            </a:r>
            <a:endParaRPr lang="en-US" altLang="zh-TW" sz="2000" b="1" dirty="0">
              <a:solidFill>
                <a:srgbClr val="54667E"/>
              </a:solidFill>
              <a:latin typeface="微軟正黑體" panose="020B0604030504040204" pitchFamily="34" charset="-120"/>
              <a:ea typeface="微軟正黑體" panose="020B0604030504040204" pitchFamily="34" charset="-120"/>
            </a:endParaRPr>
          </a:p>
        </p:txBody>
      </p:sp>
      <p:sp>
        <p:nvSpPr>
          <p:cNvPr id="14" name="标题1">
            <a:extLst>
              <a:ext uri="{FF2B5EF4-FFF2-40B4-BE49-F238E27FC236}">
                <a16:creationId xmlns:a16="http://schemas.microsoft.com/office/drawing/2014/main" id="{FEAD14D7-9FBF-4C71-A71D-9D259617E382}"/>
              </a:ext>
            </a:extLst>
          </p:cNvPr>
          <p:cNvSpPr>
            <a:spLocks noChangeArrowheads="1"/>
          </p:cNvSpPr>
          <p:nvPr/>
        </p:nvSpPr>
        <p:spPr bwMode="auto">
          <a:xfrm>
            <a:off x="3358521" y="1715782"/>
            <a:ext cx="1091130" cy="807088"/>
          </a:xfrm>
          <a:prstGeom prst="roundRect">
            <a:avLst>
              <a:gd name="adj" fmla="val 11921"/>
            </a:avLst>
          </a:prstGeom>
          <a:solidFill>
            <a:schemeClr val="accent2"/>
          </a:solidFill>
          <a:ln w="25400">
            <a:noFill/>
            <a:round/>
            <a:headEnd/>
            <a:tailEnd/>
          </a:ln>
        </p:spPr>
        <p:txBody>
          <a:bodyPr lIns="62111" tIns="31055" rIns="62111" bIns="31055" anchor="ctr"/>
          <a:lstStyle/>
          <a:p>
            <a:pPr algn="ctr">
              <a:lnSpc>
                <a:spcPct val="120000"/>
              </a:lnSpc>
            </a:pPr>
            <a:r>
              <a:rPr lang="zh-TW" altLang="en-US" sz="2000" b="1" dirty="0">
                <a:solidFill>
                  <a:srgbClr val="F2F2F2"/>
                </a:solidFill>
                <a:latin typeface="+mn-ea"/>
              </a:rPr>
              <a:t>公開鏈</a:t>
            </a:r>
            <a:endParaRPr lang="zh-CN" altLang="zh-CN" sz="2000" b="1" dirty="0">
              <a:solidFill>
                <a:srgbClr val="F2F2F2"/>
              </a:solidFill>
              <a:latin typeface="+mn-ea"/>
            </a:endParaRPr>
          </a:p>
        </p:txBody>
      </p:sp>
      <p:sp>
        <p:nvSpPr>
          <p:cNvPr id="15" name="文本2">
            <a:extLst>
              <a:ext uri="{FF2B5EF4-FFF2-40B4-BE49-F238E27FC236}">
                <a16:creationId xmlns:a16="http://schemas.microsoft.com/office/drawing/2014/main" id="{E59FBE2D-B282-40E5-B872-C07491509B13}"/>
              </a:ext>
            </a:extLst>
          </p:cNvPr>
          <p:cNvSpPr>
            <a:spLocks noChangeArrowheads="1"/>
          </p:cNvSpPr>
          <p:nvPr/>
        </p:nvSpPr>
        <p:spPr bwMode="auto">
          <a:xfrm>
            <a:off x="4486305" y="3059680"/>
            <a:ext cx="6713760" cy="1401456"/>
          </a:xfrm>
          <a:prstGeom prst="roundRect">
            <a:avLst>
              <a:gd name="adj" fmla="val 11505"/>
            </a:avLst>
          </a:prstGeom>
          <a:noFill/>
          <a:ln w="15875">
            <a:solidFill>
              <a:schemeClr val="bg1">
                <a:lumMod val="75000"/>
              </a:schemeClr>
            </a:solidFill>
            <a:round/>
            <a:headEnd/>
            <a:tailEnd/>
          </a:ln>
        </p:spPr>
        <p:txBody>
          <a:bodyPr lIns="62111" tIns="31055" rIns="62111" bIns="31055" anchor="ctr"/>
          <a:lstStyle/>
          <a:p>
            <a:pPr>
              <a:lnSpc>
                <a:spcPct val="12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由集中管理者進行使用者的</a:t>
            </a:r>
            <a:r>
              <a:rPr lang="zh-TW" altLang="en-US" sz="2000" b="1" dirty="0">
                <a:solidFill>
                  <a:srgbClr val="54667E"/>
                </a:solidFill>
                <a:latin typeface="微軟正黑體" panose="020B0604030504040204" pitchFamily="34" charset="-120"/>
                <a:ea typeface="微軟正黑體" panose="020B0604030504040204" pitchFamily="34" charset="-120"/>
              </a:rPr>
              <a:t>條件限制</a:t>
            </a:r>
            <a:endParaRPr lang="en-US" altLang="zh-TW" sz="2000" b="1" dirty="0">
              <a:solidFill>
                <a:srgbClr val="54667E"/>
              </a:solidFill>
              <a:latin typeface="微軟正黑體" panose="020B0604030504040204" pitchFamily="34" charset="-120"/>
              <a:ea typeface="微軟正黑體" panose="020B0604030504040204" pitchFamily="34" charset="-120"/>
            </a:endParaRPr>
          </a:p>
          <a:p>
            <a:pPr>
              <a:lnSpc>
                <a:spcPct val="12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准許部分獲得認可的使用者進入平台</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2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交易紀錄資訊</a:t>
            </a:r>
            <a:r>
              <a:rPr lang="zh-TW" altLang="en-US" sz="2000" b="1" dirty="0">
                <a:solidFill>
                  <a:srgbClr val="54667E"/>
                </a:solidFill>
                <a:latin typeface="微軟正黑體" panose="020B0604030504040204" pitchFamily="34" charset="-120"/>
                <a:ea typeface="微軟正黑體" panose="020B0604030504040204" pitchFamily="34" charset="-120"/>
              </a:rPr>
              <a:t>不公開</a:t>
            </a:r>
            <a:endParaRPr lang="zh-CN" altLang="zh-CN" sz="2000" b="1" dirty="0">
              <a:solidFill>
                <a:srgbClr val="54667E"/>
              </a:solidFill>
              <a:latin typeface="微軟正黑體" panose="020B0604030504040204" pitchFamily="34" charset="-120"/>
              <a:ea typeface="微軟正黑體" panose="020B0604030504040204" pitchFamily="34" charset="-120"/>
            </a:endParaRPr>
          </a:p>
        </p:txBody>
      </p:sp>
      <p:sp>
        <p:nvSpPr>
          <p:cNvPr id="16" name="标题2">
            <a:extLst>
              <a:ext uri="{FF2B5EF4-FFF2-40B4-BE49-F238E27FC236}">
                <a16:creationId xmlns:a16="http://schemas.microsoft.com/office/drawing/2014/main" id="{C75AE922-5E4C-4D6D-B3A9-8A05A44B4248}"/>
              </a:ext>
            </a:extLst>
          </p:cNvPr>
          <p:cNvSpPr>
            <a:spLocks noChangeArrowheads="1"/>
          </p:cNvSpPr>
          <p:nvPr/>
        </p:nvSpPr>
        <p:spPr bwMode="auto">
          <a:xfrm>
            <a:off x="3358155" y="3356647"/>
            <a:ext cx="1091129" cy="806061"/>
          </a:xfrm>
          <a:prstGeom prst="roundRect">
            <a:avLst>
              <a:gd name="adj" fmla="val 11921"/>
            </a:avLst>
          </a:prstGeom>
          <a:solidFill>
            <a:schemeClr val="accent3"/>
          </a:solidFill>
          <a:ln w="25400">
            <a:noFill/>
            <a:round/>
            <a:headEnd/>
            <a:tailEnd/>
          </a:ln>
        </p:spPr>
        <p:txBody>
          <a:bodyPr lIns="62111" tIns="31055" rIns="62111" bIns="31055" anchor="ctr"/>
          <a:lstStyle/>
          <a:p>
            <a:pPr algn="ctr">
              <a:lnSpc>
                <a:spcPct val="120000"/>
              </a:lnSpc>
            </a:pPr>
            <a:r>
              <a:rPr lang="zh-TW" altLang="en-US" sz="2000" b="1" dirty="0">
                <a:solidFill>
                  <a:srgbClr val="F2F2F2"/>
                </a:solidFill>
                <a:latin typeface="+mn-ea"/>
              </a:rPr>
              <a:t>私有鏈</a:t>
            </a:r>
            <a:endParaRPr lang="zh-CN" altLang="zh-CN" sz="2000" b="1" dirty="0">
              <a:solidFill>
                <a:srgbClr val="F2F2F2"/>
              </a:solidFill>
              <a:latin typeface="+mn-ea"/>
            </a:endParaRPr>
          </a:p>
        </p:txBody>
      </p:sp>
      <p:sp>
        <p:nvSpPr>
          <p:cNvPr id="17" name="文本3">
            <a:extLst>
              <a:ext uri="{FF2B5EF4-FFF2-40B4-BE49-F238E27FC236}">
                <a16:creationId xmlns:a16="http://schemas.microsoft.com/office/drawing/2014/main" id="{C3F6E6A7-4AFC-43CF-969A-C8852753A1AA}"/>
              </a:ext>
            </a:extLst>
          </p:cNvPr>
          <p:cNvSpPr>
            <a:spLocks noChangeArrowheads="1"/>
          </p:cNvSpPr>
          <p:nvPr/>
        </p:nvSpPr>
        <p:spPr bwMode="auto">
          <a:xfrm>
            <a:off x="4486305" y="4534071"/>
            <a:ext cx="6713760" cy="1931377"/>
          </a:xfrm>
          <a:prstGeom prst="roundRect">
            <a:avLst>
              <a:gd name="adj" fmla="val 11505"/>
            </a:avLst>
          </a:prstGeom>
          <a:noFill/>
          <a:ln w="15875">
            <a:solidFill>
              <a:schemeClr val="bg1">
                <a:lumMod val="75000"/>
              </a:schemeClr>
            </a:solidFill>
            <a:round/>
            <a:headEnd/>
            <a:tailEnd/>
          </a:ln>
        </p:spPr>
        <p:txBody>
          <a:bodyPr lIns="62111" tIns="31055" rIns="62111" bIns="31055" anchor="ctr"/>
          <a:lstStyle/>
          <a:p>
            <a:pPr>
              <a:lnSpc>
                <a:spcPct val="120000"/>
              </a:lnSpc>
            </a:pPr>
            <a:r>
              <a:rPr lang="zh-TW" altLang="en-US" sz="2000" b="1" dirty="0">
                <a:solidFill>
                  <a:srgbClr val="54667E"/>
                </a:solidFill>
                <a:latin typeface="微軟正黑體" panose="020B0604030504040204" pitchFamily="34" charset="-120"/>
                <a:ea typeface="微軟正黑體" panose="020B0604030504040204" pitchFamily="34" charset="-120"/>
              </a:rPr>
              <a:t>小型公開鏈</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的區塊鏈組合</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大小介於公開鏈與私有鏈</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a:lnSpc>
                <a:spcPct val="12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透過</a:t>
            </a:r>
            <a:r>
              <a:rPr lang="zh-TW" altLang="en-US" sz="2000" b="1" dirty="0">
                <a:solidFill>
                  <a:srgbClr val="54667E"/>
                </a:solidFill>
                <a:latin typeface="微軟正黑體" panose="020B0604030504040204" pitchFamily="34" charset="-120"/>
                <a:ea typeface="微軟正黑體" panose="020B0604030504040204" pitchFamily="34" charset="-120"/>
              </a:rPr>
              <a:t>組織加盟</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建立專屬聯盟組織使用者的區塊鏈</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5">
              <a:lnSpc>
                <a:spcPct val="120000"/>
              </a:lnSpc>
            </a:pP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共同使用的交易平台</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a:lnSpc>
                <a:spcPct val="12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交易紀錄由聯盟組織之使用者共同維護</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20000"/>
              </a:lnSpc>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使用必須是</a:t>
            </a:r>
            <a:r>
              <a:rPr lang="zh-TW" altLang="en-US" sz="2000" b="1" dirty="0">
                <a:solidFill>
                  <a:srgbClr val="54667E"/>
                </a:solidFill>
                <a:latin typeface="微軟正黑體" panose="020B0604030504040204" pitchFamily="34" charset="-120"/>
                <a:ea typeface="微軟正黑體" panose="020B0604030504040204" pitchFamily="34" charset="-120"/>
              </a:rPr>
              <a:t>有權限</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管理，相關資訊受到保護</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9" name="Oval 19">
            <a:extLst>
              <a:ext uri="{FF2B5EF4-FFF2-40B4-BE49-F238E27FC236}">
                <a16:creationId xmlns:a16="http://schemas.microsoft.com/office/drawing/2014/main" id="{CC548F19-5067-45E5-A794-476B5097ECCC}"/>
              </a:ext>
            </a:extLst>
          </p:cNvPr>
          <p:cNvSpPr>
            <a:spLocks noChangeArrowheads="1"/>
          </p:cNvSpPr>
          <p:nvPr/>
        </p:nvSpPr>
        <p:spPr bwMode="auto">
          <a:xfrm>
            <a:off x="1263443" y="3057270"/>
            <a:ext cx="1402324" cy="1404816"/>
          </a:xfrm>
          <a:prstGeom prst="ellipse">
            <a:avLst/>
          </a:prstGeom>
          <a:solidFill>
            <a:schemeClr val="accent1"/>
          </a:solidFill>
          <a:ln w="9525">
            <a:noFill/>
            <a:round/>
            <a:headEnd/>
            <a:tailEnd/>
          </a:ln>
        </p:spPr>
        <p:txBody>
          <a:bodyPr lIns="62111" tIns="31055" rIns="62111" bIns="31055" anchor="ctr"/>
          <a:lstStyle/>
          <a:p>
            <a:pPr algn="ctr">
              <a:lnSpc>
                <a:spcPct val="120000"/>
              </a:lnSpc>
            </a:pPr>
            <a:r>
              <a:rPr lang="zh-TW" altLang="en-US" sz="2200" b="1" dirty="0">
                <a:solidFill>
                  <a:schemeClr val="bg1"/>
                </a:solidFill>
                <a:latin typeface="Arial" pitchFamily="34" charset="0"/>
                <a:ea typeface="微软雅黑" pitchFamily="34" charset="-122"/>
              </a:rPr>
              <a:t>區塊鏈</a:t>
            </a:r>
            <a:endParaRPr lang="en-US" altLang="zh-CN" sz="2200" b="1" dirty="0">
              <a:solidFill>
                <a:schemeClr val="bg1"/>
              </a:solidFill>
              <a:latin typeface="Arial" pitchFamily="34" charset="0"/>
              <a:ea typeface="微软雅黑" pitchFamily="34" charset="-122"/>
            </a:endParaRPr>
          </a:p>
        </p:txBody>
      </p:sp>
      <p:sp>
        <p:nvSpPr>
          <p:cNvPr id="20" name="标题1">
            <a:extLst>
              <a:ext uri="{FF2B5EF4-FFF2-40B4-BE49-F238E27FC236}">
                <a16:creationId xmlns:a16="http://schemas.microsoft.com/office/drawing/2014/main" id="{3227CBEA-6F1A-4606-B17B-C90A99BB602F}"/>
              </a:ext>
            </a:extLst>
          </p:cNvPr>
          <p:cNvSpPr>
            <a:spLocks noChangeArrowheads="1"/>
          </p:cNvSpPr>
          <p:nvPr/>
        </p:nvSpPr>
        <p:spPr bwMode="auto">
          <a:xfrm>
            <a:off x="3358154" y="5035730"/>
            <a:ext cx="1091130" cy="807088"/>
          </a:xfrm>
          <a:prstGeom prst="roundRect">
            <a:avLst>
              <a:gd name="adj" fmla="val 11921"/>
            </a:avLst>
          </a:prstGeom>
          <a:solidFill>
            <a:schemeClr val="accent2"/>
          </a:solidFill>
          <a:ln w="25400">
            <a:noFill/>
            <a:round/>
            <a:headEnd/>
            <a:tailEnd/>
          </a:ln>
        </p:spPr>
        <p:txBody>
          <a:bodyPr lIns="62111" tIns="31055" rIns="62111" bIns="31055" anchor="ctr"/>
          <a:lstStyle/>
          <a:p>
            <a:pPr algn="ctr">
              <a:lnSpc>
                <a:spcPct val="120000"/>
              </a:lnSpc>
            </a:pPr>
            <a:r>
              <a:rPr lang="zh-TW" altLang="en-US" sz="2000" b="1" dirty="0">
                <a:solidFill>
                  <a:srgbClr val="F2F2F2"/>
                </a:solidFill>
                <a:latin typeface="微软雅黑" pitchFamily="34" charset="-122"/>
                <a:ea typeface="微软雅黑" pitchFamily="34" charset="-122"/>
              </a:rPr>
              <a:t>聯盟鏈</a:t>
            </a:r>
            <a:endParaRPr lang="zh-CN" altLang="zh-CN" sz="2000" b="1" dirty="0">
              <a:solidFill>
                <a:srgbClr val="F2F2F2"/>
              </a:solidFill>
              <a:latin typeface="微软雅黑" pitchFamily="34" charset="-122"/>
              <a:ea typeface="微软雅黑" pitchFamily="34" charset="-122"/>
            </a:endParaRPr>
          </a:p>
        </p:txBody>
      </p:sp>
      <p:pic>
        <p:nvPicPr>
          <p:cNvPr id="3" name="圖片 2">
            <a:extLst>
              <a:ext uri="{FF2B5EF4-FFF2-40B4-BE49-F238E27FC236}">
                <a16:creationId xmlns:a16="http://schemas.microsoft.com/office/drawing/2014/main" id="{B2ED4848-3E8E-48F2-B8F0-859BD183AA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94497" y="2531640"/>
            <a:ext cx="411992" cy="411992"/>
          </a:xfrm>
          <a:prstGeom prst="rect">
            <a:avLst/>
          </a:prstGeom>
        </p:spPr>
      </p:pic>
      <p:sp>
        <p:nvSpPr>
          <p:cNvPr id="5" name="文字方塊 4">
            <a:extLst>
              <a:ext uri="{FF2B5EF4-FFF2-40B4-BE49-F238E27FC236}">
                <a16:creationId xmlns:a16="http://schemas.microsoft.com/office/drawing/2014/main" id="{C5EA564D-11F3-4037-A69B-9DA463C117BA}"/>
              </a:ext>
            </a:extLst>
          </p:cNvPr>
          <p:cNvSpPr txBox="1"/>
          <p:nvPr/>
        </p:nvSpPr>
        <p:spPr>
          <a:xfrm>
            <a:off x="9055257" y="2531640"/>
            <a:ext cx="1186543" cy="369332"/>
          </a:xfrm>
          <a:prstGeom prst="rect">
            <a:avLst/>
          </a:prstGeom>
          <a:noFill/>
        </p:spPr>
        <p:txBody>
          <a:bodyPr wrap="none" rtlCol="0">
            <a:spAutoFit/>
          </a:bodyPr>
          <a:lstStyle/>
          <a:p>
            <a:r>
              <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rPr>
              <a:t>Ex:</a:t>
            </a: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比特幣</a:t>
            </a:r>
          </a:p>
        </p:txBody>
      </p:sp>
      <p:sp>
        <p:nvSpPr>
          <p:cNvPr id="22" name="標題 1">
            <a:extLst>
              <a:ext uri="{FF2B5EF4-FFF2-40B4-BE49-F238E27FC236}">
                <a16:creationId xmlns:a16="http://schemas.microsoft.com/office/drawing/2014/main" id="{BD1D2DA8-512E-4FE7-B8EC-07E31074EE98}"/>
              </a:ext>
            </a:extLst>
          </p:cNvPr>
          <p:cNvSpPr txBox="1">
            <a:spLocks/>
          </p:cNvSpPr>
          <p:nvPr/>
        </p:nvSpPr>
        <p:spPr>
          <a:xfrm>
            <a:off x="79784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1-1</a:t>
            </a:r>
            <a:r>
              <a:rPr lang="zh-TW" altLang="en-US" sz="2400" b="1" dirty="0">
                <a:solidFill>
                  <a:srgbClr val="E06741"/>
                </a:solidFill>
              </a:rPr>
              <a:t> 區塊鏈意涵</a:t>
            </a:r>
            <a:endParaRPr lang="zh-TW" altLang="en-US" sz="2400" b="1" dirty="0">
              <a:solidFill>
                <a:srgbClr val="E06741"/>
              </a:solidFill>
              <a:latin typeface="+mj-ea"/>
              <a:cs typeface="Times New Roman" panose="02020603050405020304" pitchFamily="18" charset="0"/>
            </a:endParaRP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23" name="文字方塊 22">
            <a:extLst>
              <a:ext uri="{FF2B5EF4-FFF2-40B4-BE49-F238E27FC236}">
                <a16:creationId xmlns:a16="http://schemas.microsoft.com/office/drawing/2014/main" id="{9E372052-5661-419A-8C8A-564B29A0DE22}"/>
              </a:ext>
            </a:extLst>
          </p:cNvPr>
          <p:cNvSpPr txBox="1"/>
          <p:nvPr/>
        </p:nvSpPr>
        <p:spPr>
          <a:xfrm>
            <a:off x="3766808" y="449166"/>
            <a:ext cx="2050561"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區塊鏈的分類</a:t>
            </a:r>
          </a:p>
        </p:txBody>
      </p:sp>
      <p:cxnSp>
        <p:nvCxnSpPr>
          <p:cNvPr id="18" name="直接连接符 33">
            <a:extLst>
              <a:ext uri="{FF2B5EF4-FFF2-40B4-BE49-F238E27FC236}">
                <a16:creationId xmlns:a16="http://schemas.microsoft.com/office/drawing/2014/main" id="{DD5B1762-BF01-4AE4-BFEC-48FEB60BCD14}"/>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975376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circle(in)">
                                      <p:cBhvr>
                                        <p:cTn id="7" dur="2000"/>
                                        <p:tgtEl>
                                          <p:spTgt spid="22"/>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barn(inVertical)">
                                      <p:cBhvr>
                                        <p:cTn id="11" dur="500"/>
                                        <p:tgtEl>
                                          <p:spTgt spid="23"/>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53" presetClass="entr" presetSubtype="16" fill="hold" grpId="0" nodeType="afterEffect">
                                  <p:stCondLst>
                                    <p:cond delay="0"/>
                                  </p:stCondLst>
                                  <p:childTnLst>
                                    <p:set>
                                      <p:cBhvr>
                                        <p:cTn id="19" dur="1" fill="hold">
                                          <p:stCondLst>
                                            <p:cond delay="0"/>
                                          </p:stCondLst>
                                        </p:cTn>
                                        <p:tgtEl>
                                          <p:spTgt spid="19"/>
                                        </p:tgtEl>
                                        <p:attrNameLst>
                                          <p:attrName>style.visibility</p:attrName>
                                        </p:attrNameLst>
                                      </p:cBhvr>
                                      <p:to>
                                        <p:strVal val="visible"/>
                                      </p:to>
                                    </p:set>
                                    <p:anim calcmode="lin" valueType="num">
                                      <p:cBhvr>
                                        <p:cTn id="20" dur="500" fill="hold"/>
                                        <p:tgtEl>
                                          <p:spTgt spid="19"/>
                                        </p:tgtEl>
                                        <p:attrNameLst>
                                          <p:attrName>ppt_w</p:attrName>
                                        </p:attrNameLst>
                                      </p:cBhvr>
                                      <p:tavLst>
                                        <p:tav tm="0">
                                          <p:val>
                                            <p:fltVal val="0"/>
                                          </p:val>
                                        </p:tav>
                                        <p:tav tm="100000">
                                          <p:val>
                                            <p:strVal val="#ppt_w"/>
                                          </p:val>
                                        </p:tav>
                                      </p:tavLst>
                                    </p:anim>
                                    <p:anim calcmode="lin" valueType="num">
                                      <p:cBhvr>
                                        <p:cTn id="21" dur="500" fill="hold"/>
                                        <p:tgtEl>
                                          <p:spTgt spid="19"/>
                                        </p:tgtEl>
                                        <p:attrNameLst>
                                          <p:attrName>ppt_h</p:attrName>
                                        </p:attrNameLst>
                                      </p:cBhvr>
                                      <p:tavLst>
                                        <p:tav tm="0">
                                          <p:val>
                                            <p:fltVal val="0"/>
                                          </p:val>
                                        </p:tav>
                                        <p:tav tm="100000">
                                          <p:val>
                                            <p:strVal val="#ppt_h"/>
                                          </p:val>
                                        </p:tav>
                                      </p:tavLst>
                                    </p:anim>
                                    <p:animEffect transition="in" filter="fade">
                                      <p:cBhvr>
                                        <p:cTn id="22" dur="500"/>
                                        <p:tgtEl>
                                          <p:spTgt spid="19"/>
                                        </p:tgtEl>
                                      </p:cBhvr>
                                    </p:animEffect>
                                  </p:childTnLst>
                                </p:cTn>
                              </p:par>
                            </p:childTnLst>
                          </p:cTn>
                        </p:par>
                        <p:par>
                          <p:cTn id="23" fill="hold">
                            <p:stCondLst>
                              <p:cond delay="3500"/>
                            </p:stCondLst>
                            <p:childTnLst>
                              <p:par>
                                <p:cTn id="24" presetID="53" presetClass="entr" presetSubtype="16"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500" fill="hold"/>
                                        <p:tgtEl>
                                          <p:spTgt spid="12"/>
                                        </p:tgtEl>
                                        <p:attrNameLst>
                                          <p:attrName>ppt_w</p:attrName>
                                        </p:attrNameLst>
                                      </p:cBhvr>
                                      <p:tavLst>
                                        <p:tav tm="0">
                                          <p:val>
                                            <p:fltVal val="0"/>
                                          </p:val>
                                        </p:tav>
                                        <p:tav tm="100000">
                                          <p:val>
                                            <p:strVal val="#ppt_w"/>
                                          </p:val>
                                        </p:tav>
                                      </p:tavLst>
                                    </p:anim>
                                    <p:anim calcmode="lin" valueType="num">
                                      <p:cBhvr>
                                        <p:cTn id="27" dur="500" fill="hold"/>
                                        <p:tgtEl>
                                          <p:spTgt spid="12"/>
                                        </p:tgtEl>
                                        <p:attrNameLst>
                                          <p:attrName>ppt_h</p:attrName>
                                        </p:attrNameLst>
                                      </p:cBhvr>
                                      <p:tavLst>
                                        <p:tav tm="0">
                                          <p:val>
                                            <p:fltVal val="0"/>
                                          </p:val>
                                        </p:tav>
                                        <p:tav tm="100000">
                                          <p:val>
                                            <p:strVal val="#ppt_h"/>
                                          </p:val>
                                        </p:tav>
                                      </p:tavLst>
                                    </p:anim>
                                    <p:animEffect transition="in" filter="fade">
                                      <p:cBhvr>
                                        <p:cTn id="28" dur="500"/>
                                        <p:tgtEl>
                                          <p:spTgt spid="12"/>
                                        </p:tgtEl>
                                      </p:cBhvr>
                                    </p:animEffect>
                                  </p:childTnLst>
                                </p:cTn>
                              </p:par>
                            </p:childTnLst>
                          </p:cTn>
                        </p:par>
                        <p:par>
                          <p:cTn id="29" fill="hold">
                            <p:stCondLst>
                              <p:cond delay="4000"/>
                            </p:stCondLst>
                            <p:childTnLst>
                              <p:par>
                                <p:cTn id="30" presetID="2" presetClass="entr" presetSubtype="8"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0-#ppt_w/2"/>
                                          </p:val>
                                        </p:tav>
                                        <p:tav tm="100000">
                                          <p:val>
                                            <p:strVal val="#ppt_x"/>
                                          </p:val>
                                        </p:tav>
                                      </p:tavLst>
                                    </p:anim>
                                    <p:anim calcmode="lin" valueType="num">
                                      <p:cBhvr additive="base">
                                        <p:cTn id="33" dur="500" fill="hold"/>
                                        <p:tgtEl>
                                          <p:spTgt spid="14"/>
                                        </p:tgtEl>
                                        <p:attrNameLst>
                                          <p:attrName>ppt_y</p:attrName>
                                        </p:attrNameLst>
                                      </p:cBhvr>
                                      <p:tavLst>
                                        <p:tav tm="0">
                                          <p:val>
                                            <p:strVal val="#ppt_y"/>
                                          </p:val>
                                        </p:tav>
                                        <p:tav tm="100000">
                                          <p:val>
                                            <p:strVal val="#ppt_y"/>
                                          </p:val>
                                        </p:tav>
                                      </p:tavLst>
                                    </p:anim>
                                  </p:childTnLst>
                                </p:cTn>
                              </p:par>
                            </p:childTnLst>
                          </p:cTn>
                        </p:par>
                        <p:par>
                          <p:cTn id="34" fill="hold">
                            <p:stCondLst>
                              <p:cond delay="4500"/>
                            </p:stCondLst>
                            <p:childTnLst>
                              <p:par>
                                <p:cTn id="35" presetID="2" presetClass="entr" presetSubtype="8"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0-#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childTnLst>
                          </p:cTn>
                        </p:par>
                        <p:par>
                          <p:cTn id="39" fill="hold">
                            <p:stCondLst>
                              <p:cond delay="5000"/>
                            </p:stCondLst>
                            <p:childTnLst>
                              <p:par>
                                <p:cTn id="40" presetID="2" presetClass="entr" presetSubtype="8"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 calcmode="lin" valueType="num">
                                      <p:cBhvr additive="base">
                                        <p:cTn id="42" dur="500" fill="hold"/>
                                        <p:tgtEl>
                                          <p:spTgt spid="3"/>
                                        </p:tgtEl>
                                        <p:attrNameLst>
                                          <p:attrName>ppt_x</p:attrName>
                                        </p:attrNameLst>
                                      </p:cBhvr>
                                      <p:tavLst>
                                        <p:tav tm="0">
                                          <p:val>
                                            <p:strVal val="0-#ppt_w/2"/>
                                          </p:val>
                                        </p:tav>
                                        <p:tav tm="100000">
                                          <p:val>
                                            <p:strVal val="#ppt_x"/>
                                          </p:val>
                                        </p:tav>
                                      </p:tavLst>
                                    </p:anim>
                                    <p:anim calcmode="lin" valueType="num">
                                      <p:cBhvr additive="base">
                                        <p:cTn id="43" dur="500" fill="hold"/>
                                        <p:tgtEl>
                                          <p:spTgt spid="3"/>
                                        </p:tgtEl>
                                        <p:attrNameLst>
                                          <p:attrName>ppt_y</p:attrName>
                                        </p:attrNameLst>
                                      </p:cBhvr>
                                      <p:tavLst>
                                        <p:tav tm="0">
                                          <p:val>
                                            <p:strVal val="#ppt_y"/>
                                          </p:val>
                                        </p:tav>
                                        <p:tav tm="100000">
                                          <p:val>
                                            <p:strVal val="#ppt_y"/>
                                          </p:val>
                                        </p:tav>
                                      </p:tavLst>
                                    </p:anim>
                                  </p:childTnLst>
                                </p:cTn>
                              </p:par>
                            </p:childTnLst>
                          </p:cTn>
                        </p:par>
                        <p:par>
                          <p:cTn id="44" fill="hold">
                            <p:stCondLst>
                              <p:cond delay="5500"/>
                            </p:stCondLst>
                            <p:childTnLst>
                              <p:par>
                                <p:cTn id="45" presetID="2" presetClass="entr" presetSubtype="8" fill="hold" grpId="0" nodeType="after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500" fill="hold"/>
                                        <p:tgtEl>
                                          <p:spTgt spid="5"/>
                                        </p:tgtEl>
                                        <p:attrNameLst>
                                          <p:attrName>ppt_x</p:attrName>
                                        </p:attrNameLst>
                                      </p:cBhvr>
                                      <p:tavLst>
                                        <p:tav tm="0">
                                          <p:val>
                                            <p:strVal val="0-#ppt_w/2"/>
                                          </p:val>
                                        </p:tav>
                                        <p:tav tm="100000">
                                          <p:val>
                                            <p:strVal val="#ppt_x"/>
                                          </p:val>
                                        </p:tav>
                                      </p:tavLst>
                                    </p:anim>
                                    <p:anim calcmode="lin" valueType="num">
                                      <p:cBhvr additive="base">
                                        <p:cTn id="48" dur="500" fill="hold"/>
                                        <p:tgtEl>
                                          <p:spTgt spid="5"/>
                                        </p:tgtEl>
                                        <p:attrNameLst>
                                          <p:attrName>ppt_y</p:attrName>
                                        </p:attrNameLst>
                                      </p:cBhvr>
                                      <p:tavLst>
                                        <p:tav tm="0">
                                          <p:val>
                                            <p:strVal val="#ppt_y"/>
                                          </p:val>
                                        </p:tav>
                                        <p:tav tm="100000">
                                          <p:val>
                                            <p:strVal val="#ppt_y"/>
                                          </p:val>
                                        </p:tav>
                                      </p:tavLst>
                                    </p:anim>
                                  </p:childTnLst>
                                </p:cTn>
                              </p:par>
                            </p:childTnLst>
                          </p:cTn>
                        </p:par>
                        <p:par>
                          <p:cTn id="49" fill="hold">
                            <p:stCondLst>
                              <p:cond delay="6000"/>
                            </p:stCondLst>
                            <p:childTnLst>
                              <p:par>
                                <p:cTn id="50" presetID="2" presetClass="entr" presetSubtype="4" fill="hold" grpId="0" nodeType="afterEffect">
                                  <p:stCondLst>
                                    <p:cond delay="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500" fill="hold"/>
                                        <p:tgtEl>
                                          <p:spTgt spid="11"/>
                                        </p:tgtEl>
                                        <p:attrNameLst>
                                          <p:attrName>ppt_x</p:attrName>
                                        </p:attrNameLst>
                                      </p:cBhvr>
                                      <p:tavLst>
                                        <p:tav tm="0">
                                          <p:val>
                                            <p:strVal val="#ppt_x"/>
                                          </p:val>
                                        </p:tav>
                                        <p:tav tm="100000">
                                          <p:val>
                                            <p:strVal val="#ppt_x"/>
                                          </p:val>
                                        </p:tav>
                                      </p:tavLst>
                                    </p:anim>
                                    <p:anim calcmode="lin" valueType="num">
                                      <p:cBhvr additive="base">
                                        <p:cTn id="53" dur="500" fill="hold"/>
                                        <p:tgtEl>
                                          <p:spTgt spid="11"/>
                                        </p:tgtEl>
                                        <p:attrNameLst>
                                          <p:attrName>ppt_y</p:attrName>
                                        </p:attrNameLst>
                                      </p:cBhvr>
                                      <p:tavLst>
                                        <p:tav tm="0">
                                          <p:val>
                                            <p:strVal val="1+#ppt_h/2"/>
                                          </p:val>
                                        </p:tav>
                                        <p:tav tm="100000">
                                          <p:val>
                                            <p:strVal val="#ppt_y"/>
                                          </p:val>
                                        </p:tav>
                                      </p:tavLst>
                                    </p:anim>
                                  </p:childTnLst>
                                </p:cTn>
                              </p:par>
                            </p:childTnLst>
                          </p:cTn>
                        </p:par>
                        <p:par>
                          <p:cTn id="54" fill="hold">
                            <p:stCondLst>
                              <p:cond delay="6500"/>
                            </p:stCondLst>
                            <p:childTnLst>
                              <p:par>
                                <p:cTn id="55" presetID="2" presetClass="entr" presetSubtype="4"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childTnLst>
                          </p:cTn>
                        </p:par>
                        <p:par>
                          <p:cTn id="59" fill="hold">
                            <p:stCondLst>
                              <p:cond delay="7000"/>
                            </p:stCondLst>
                            <p:childTnLst>
                              <p:par>
                                <p:cTn id="60" presetID="2" presetClass="entr" presetSubtype="4" fill="hold" grpId="0" nodeType="afterEffect">
                                  <p:stCondLst>
                                    <p:cond delay="0"/>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ppt_x</p:attrName>
                                        </p:attrNameLst>
                                      </p:cBhvr>
                                      <p:tavLst>
                                        <p:tav tm="0">
                                          <p:val>
                                            <p:strVal val="#ppt_x"/>
                                          </p:val>
                                        </p:tav>
                                        <p:tav tm="100000">
                                          <p:val>
                                            <p:strVal val="#ppt_x"/>
                                          </p:val>
                                        </p:tav>
                                      </p:tavLst>
                                    </p:anim>
                                    <p:anim calcmode="lin" valueType="num">
                                      <p:cBhvr additive="base">
                                        <p:cTn id="63" dur="500" fill="hold"/>
                                        <p:tgtEl>
                                          <p:spTgt spid="15"/>
                                        </p:tgtEl>
                                        <p:attrNameLst>
                                          <p:attrName>ppt_y</p:attrName>
                                        </p:attrNameLst>
                                      </p:cBhvr>
                                      <p:tavLst>
                                        <p:tav tm="0">
                                          <p:val>
                                            <p:strVal val="1+#ppt_h/2"/>
                                          </p:val>
                                        </p:tav>
                                        <p:tav tm="100000">
                                          <p:val>
                                            <p:strVal val="#ppt_y"/>
                                          </p:val>
                                        </p:tav>
                                      </p:tavLst>
                                    </p:anim>
                                  </p:childTnLst>
                                </p:cTn>
                              </p:par>
                            </p:childTnLst>
                          </p:cTn>
                        </p:par>
                        <p:par>
                          <p:cTn id="64" fill="hold">
                            <p:stCondLst>
                              <p:cond delay="7500"/>
                            </p:stCondLst>
                            <p:childTnLst>
                              <p:par>
                                <p:cTn id="65" presetID="53" presetClass="entr" presetSubtype="16" fill="hold" grpId="0" nodeType="afterEffect">
                                  <p:stCondLst>
                                    <p:cond delay="0"/>
                                  </p:stCondLst>
                                  <p:childTnLst>
                                    <p:set>
                                      <p:cBhvr>
                                        <p:cTn id="66" dur="1" fill="hold">
                                          <p:stCondLst>
                                            <p:cond delay="0"/>
                                          </p:stCondLst>
                                        </p:cTn>
                                        <p:tgtEl>
                                          <p:spTgt spid="10"/>
                                        </p:tgtEl>
                                        <p:attrNameLst>
                                          <p:attrName>style.visibility</p:attrName>
                                        </p:attrNameLst>
                                      </p:cBhvr>
                                      <p:to>
                                        <p:strVal val="visible"/>
                                      </p:to>
                                    </p:set>
                                    <p:anim calcmode="lin" valueType="num">
                                      <p:cBhvr>
                                        <p:cTn id="67" dur="500" fill="hold"/>
                                        <p:tgtEl>
                                          <p:spTgt spid="10"/>
                                        </p:tgtEl>
                                        <p:attrNameLst>
                                          <p:attrName>ppt_w</p:attrName>
                                        </p:attrNameLst>
                                      </p:cBhvr>
                                      <p:tavLst>
                                        <p:tav tm="0">
                                          <p:val>
                                            <p:fltVal val="0"/>
                                          </p:val>
                                        </p:tav>
                                        <p:tav tm="100000">
                                          <p:val>
                                            <p:strVal val="#ppt_w"/>
                                          </p:val>
                                        </p:tav>
                                      </p:tavLst>
                                    </p:anim>
                                    <p:anim calcmode="lin" valueType="num">
                                      <p:cBhvr>
                                        <p:cTn id="68" dur="500" fill="hold"/>
                                        <p:tgtEl>
                                          <p:spTgt spid="10"/>
                                        </p:tgtEl>
                                        <p:attrNameLst>
                                          <p:attrName>ppt_h</p:attrName>
                                        </p:attrNameLst>
                                      </p:cBhvr>
                                      <p:tavLst>
                                        <p:tav tm="0">
                                          <p:val>
                                            <p:fltVal val="0"/>
                                          </p:val>
                                        </p:tav>
                                        <p:tav tm="100000">
                                          <p:val>
                                            <p:strVal val="#ppt_h"/>
                                          </p:val>
                                        </p:tav>
                                      </p:tavLst>
                                    </p:anim>
                                    <p:animEffect transition="in" filter="fade">
                                      <p:cBhvr>
                                        <p:cTn id="69" dur="500"/>
                                        <p:tgtEl>
                                          <p:spTgt spid="10"/>
                                        </p:tgtEl>
                                      </p:cBhvr>
                                    </p:animEffect>
                                  </p:childTnLst>
                                </p:cTn>
                              </p:par>
                            </p:childTnLst>
                          </p:cTn>
                        </p:par>
                        <p:par>
                          <p:cTn id="70" fill="hold">
                            <p:stCondLst>
                              <p:cond delay="8000"/>
                            </p:stCondLst>
                            <p:childTnLst>
                              <p:par>
                                <p:cTn id="71" presetID="2" presetClass="entr" presetSubtype="8" fill="hold" grpId="0" nodeType="afterEffect">
                                  <p:stCondLst>
                                    <p:cond delay="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500" fill="hold"/>
                                        <p:tgtEl>
                                          <p:spTgt spid="20"/>
                                        </p:tgtEl>
                                        <p:attrNameLst>
                                          <p:attrName>ppt_x</p:attrName>
                                        </p:attrNameLst>
                                      </p:cBhvr>
                                      <p:tavLst>
                                        <p:tav tm="0">
                                          <p:val>
                                            <p:strVal val="0-#ppt_w/2"/>
                                          </p:val>
                                        </p:tav>
                                        <p:tav tm="100000">
                                          <p:val>
                                            <p:strVal val="#ppt_x"/>
                                          </p:val>
                                        </p:tav>
                                      </p:tavLst>
                                    </p:anim>
                                    <p:anim calcmode="lin" valueType="num">
                                      <p:cBhvr additive="base">
                                        <p:cTn id="74" dur="500" fill="hold"/>
                                        <p:tgtEl>
                                          <p:spTgt spid="20"/>
                                        </p:tgtEl>
                                        <p:attrNameLst>
                                          <p:attrName>ppt_y</p:attrName>
                                        </p:attrNameLst>
                                      </p:cBhvr>
                                      <p:tavLst>
                                        <p:tav tm="0">
                                          <p:val>
                                            <p:strVal val="#ppt_y"/>
                                          </p:val>
                                        </p:tav>
                                        <p:tav tm="100000">
                                          <p:val>
                                            <p:strVal val="#ppt_y"/>
                                          </p:val>
                                        </p:tav>
                                      </p:tavLst>
                                    </p:anim>
                                  </p:childTnLst>
                                </p:cTn>
                              </p:par>
                            </p:childTnLst>
                          </p:cTn>
                        </p:par>
                        <p:par>
                          <p:cTn id="75" fill="hold">
                            <p:stCondLst>
                              <p:cond delay="8500"/>
                            </p:stCondLst>
                            <p:childTnLst>
                              <p:par>
                                <p:cTn id="76" presetID="2" presetClass="entr" presetSubtype="8" fill="hold" grpId="0" nodeType="afterEffect">
                                  <p:stCondLst>
                                    <p:cond delay="0"/>
                                  </p:stCondLst>
                                  <p:childTnLst>
                                    <p:set>
                                      <p:cBhvr>
                                        <p:cTn id="77" dur="1" fill="hold">
                                          <p:stCondLst>
                                            <p:cond delay="0"/>
                                          </p:stCondLst>
                                        </p:cTn>
                                        <p:tgtEl>
                                          <p:spTgt spid="17"/>
                                        </p:tgtEl>
                                        <p:attrNameLst>
                                          <p:attrName>style.visibility</p:attrName>
                                        </p:attrNameLst>
                                      </p:cBhvr>
                                      <p:to>
                                        <p:strVal val="visible"/>
                                      </p:to>
                                    </p:set>
                                    <p:anim calcmode="lin" valueType="num">
                                      <p:cBhvr additive="base">
                                        <p:cTn id="78" dur="500" fill="hold"/>
                                        <p:tgtEl>
                                          <p:spTgt spid="17"/>
                                        </p:tgtEl>
                                        <p:attrNameLst>
                                          <p:attrName>ppt_x</p:attrName>
                                        </p:attrNameLst>
                                      </p:cBhvr>
                                      <p:tavLst>
                                        <p:tav tm="0">
                                          <p:val>
                                            <p:strVal val="0-#ppt_w/2"/>
                                          </p:val>
                                        </p:tav>
                                        <p:tav tm="100000">
                                          <p:val>
                                            <p:strVal val="#ppt_x"/>
                                          </p:val>
                                        </p:tav>
                                      </p:tavLst>
                                    </p:anim>
                                    <p:anim calcmode="lin" valueType="num">
                                      <p:cBhvr additive="base">
                                        <p:cTn id="79"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9" grpId="0" animBg="1"/>
      <p:bldP spid="20" grpId="0" animBg="1"/>
      <p:bldP spid="5" grpId="0"/>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08469" y="1227224"/>
            <a:ext cx="9853874" cy="430887"/>
          </a:xfrm>
          <a:prstGeom prst="rect">
            <a:avLst/>
          </a:prstGeom>
        </p:spPr>
        <p:txBody>
          <a:bodyPr wrap="square">
            <a:spAutoFit/>
          </a:bodyPr>
          <a:lstStyle/>
          <a:p>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區塊鏈的基本原理可以區分為</a:t>
            </a:r>
            <a:r>
              <a:rPr lang="zh-TW" altLang="en-US" sz="2200" b="1" dirty="0">
                <a:solidFill>
                  <a:srgbClr val="54667E"/>
                </a:solidFill>
                <a:latin typeface="微軟正黑體" panose="020B0604030504040204" pitchFamily="34" charset="-120"/>
                <a:ea typeface="微軟正黑體" panose="020B0604030504040204" pitchFamily="34" charset="-120"/>
              </a:rPr>
              <a:t>區塊鏈連結</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200" b="1" dirty="0">
                <a:solidFill>
                  <a:srgbClr val="54667E"/>
                </a:solidFill>
                <a:latin typeface="微軟正黑體" panose="020B0604030504040204" pitchFamily="34" charset="-120"/>
                <a:ea typeface="微軟正黑體" panose="020B0604030504040204" pitchFamily="34" charset="-120"/>
              </a:rPr>
              <a:t>區塊鏈安全</a:t>
            </a: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200" b="1" dirty="0">
                <a:solidFill>
                  <a:srgbClr val="54667E"/>
                </a:solidFill>
                <a:latin typeface="微軟正黑體" panose="020B0604030504040204" pitchFamily="34" charset="-120"/>
                <a:ea typeface="微軟正黑體" panose="020B0604030504040204" pitchFamily="34" charset="-120"/>
              </a:rPr>
              <a:t>區塊鏈價值</a:t>
            </a: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標題 1">
            <a:extLst>
              <a:ext uri="{FF2B5EF4-FFF2-40B4-BE49-F238E27FC236}">
                <a16:creationId xmlns:a16="http://schemas.microsoft.com/office/drawing/2014/main" id="{89ECFA43-E6C3-41B9-83CC-8BE2EE7D2B5F}"/>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0" name="文字方塊 9">
            <a:extLst>
              <a:ext uri="{FF2B5EF4-FFF2-40B4-BE49-F238E27FC236}">
                <a16:creationId xmlns:a16="http://schemas.microsoft.com/office/drawing/2014/main" id="{85BD613D-FED1-4741-B780-9B8E3EFE002E}"/>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grpSp>
        <p:nvGrpSpPr>
          <p:cNvPr id="8" name="群組 7">
            <a:extLst>
              <a:ext uri="{FF2B5EF4-FFF2-40B4-BE49-F238E27FC236}">
                <a16:creationId xmlns:a16="http://schemas.microsoft.com/office/drawing/2014/main" id="{53BB7235-3E1C-415C-BA72-3BD17C726FE4}"/>
              </a:ext>
            </a:extLst>
          </p:cNvPr>
          <p:cNvGrpSpPr/>
          <p:nvPr/>
        </p:nvGrpSpPr>
        <p:grpSpPr>
          <a:xfrm>
            <a:off x="2715805" y="1991822"/>
            <a:ext cx="6760390" cy="4096604"/>
            <a:chOff x="1732927" y="80322"/>
            <a:chExt cx="8317743" cy="5040317"/>
          </a:xfrm>
        </p:grpSpPr>
        <p:sp>
          <p:nvSpPr>
            <p:cNvPr id="11" name="橢圓 10">
              <a:extLst>
                <a:ext uri="{FF2B5EF4-FFF2-40B4-BE49-F238E27FC236}">
                  <a16:creationId xmlns:a16="http://schemas.microsoft.com/office/drawing/2014/main" id="{102EB8E6-AB07-4CAC-90C3-63245791C6F4}"/>
                </a:ext>
              </a:extLst>
            </p:cNvPr>
            <p:cNvSpPr/>
            <p:nvPr/>
          </p:nvSpPr>
          <p:spPr>
            <a:xfrm>
              <a:off x="2562817" y="923494"/>
              <a:ext cx="6849194" cy="4197145"/>
            </a:xfrm>
            <a:prstGeom prst="ellipse">
              <a:avLst/>
            </a:prstGeom>
            <a:noFill/>
            <a:ln w="95250" cap="flat" cmpd="sng" algn="ctr">
              <a:solidFill>
                <a:srgbClr val="C00000"/>
              </a:solidFill>
              <a:prstDash val="solid"/>
              <a:miter lim="800000"/>
            </a:ln>
            <a:effectLst/>
            <a:scene3d>
              <a:camera prst="orthographicFront">
                <a:rot lat="0" lon="0" rev="0"/>
              </a:camera>
              <a:lightRig rig="chilly" dir="t">
                <a:rot lat="0" lon="0" rev="18480000"/>
              </a:lightRig>
            </a:scene3d>
            <a:sp3d prstMaterial="clear">
              <a:bevelT h="635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400" b="1" i="0" u="none" strike="noStrike" kern="0" cap="none" spc="0" normalizeH="0" baseline="0" noProof="0">
                <a:ln w="0"/>
                <a:solidFill>
                  <a:sysClr val="windowText" lastClr="000000"/>
                </a:solidFill>
                <a:effectLst>
                  <a:outerShdw blurRad="38100" dist="19050" dir="2700000" algn="tl" rotWithShape="0">
                    <a:prstClr val="black">
                      <a:alpha val="40000"/>
                    </a:prstClr>
                  </a:outerShdw>
                </a:effectLst>
                <a:uLnTx/>
                <a:uFillTx/>
                <a:latin typeface="微軟正黑體" panose="020B0604030504040204" pitchFamily="34" charset="-120"/>
                <a:ea typeface="微軟正黑體" panose="020B0604030504040204" pitchFamily="34" charset="-120"/>
              </a:endParaRPr>
            </a:p>
          </p:txBody>
        </p:sp>
        <p:grpSp>
          <p:nvGrpSpPr>
            <p:cNvPr id="12" name="群組 11">
              <a:extLst>
                <a:ext uri="{FF2B5EF4-FFF2-40B4-BE49-F238E27FC236}">
                  <a16:creationId xmlns:a16="http://schemas.microsoft.com/office/drawing/2014/main" id="{CF5973A0-839C-4462-80FD-FD202920A8C3}"/>
                </a:ext>
              </a:extLst>
            </p:cNvPr>
            <p:cNvGrpSpPr/>
            <p:nvPr/>
          </p:nvGrpSpPr>
          <p:grpSpPr>
            <a:xfrm>
              <a:off x="4285011" y="80322"/>
              <a:ext cx="2943032" cy="1705961"/>
              <a:chOff x="3038287" y="1010015"/>
              <a:chExt cx="2943032" cy="1705961"/>
            </a:xfrm>
          </p:grpSpPr>
          <p:pic>
            <p:nvPicPr>
              <p:cNvPr id="24" name="圖片 23">
                <a:extLst>
                  <a:ext uri="{FF2B5EF4-FFF2-40B4-BE49-F238E27FC236}">
                    <a16:creationId xmlns:a16="http://schemas.microsoft.com/office/drawing/2014/main" id="{F986EE45-643F-4DA7-B1C5-D4EF5FDC330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038287" y="1010015"/>
                <a:ext cx="2943032" cy="1705961"/>
              </a:xfrm>
              <a:prstGeom prst="rect">
                <a:avLst/>
              </a:prstGeom>
            </p:spPr>
          </p:pic>
          <p:sp>
            <p:nvSpPr>
              <p:cNvPr id="25" name="文字方塊 24">
                <a:extLst>
                  <a:ext uri="{FF2B5EF4-FFF2-40B4-BE49-F238E27FC236}">
                    <a16:creationId xmlns:a16="http://schemas.microsoft.com/office/drawing/2014/main" id="{E7086F2D-BDBE-4613-A596-8DEDB0601FFD}"/>
                  </a:ext>
                </a:extLst>
              </p:cNvPr>
              <p:cNvSpPr txBox="1"/>
              <p:nvPr/>
            </p:nvSpPr>
            <p:spPr>
              <a:xfrm>
                <a:off x="3994312" y="1557607"/>
                <a:ext cx="1354408"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連結</a:t>
                </a:r>
              </a:p>
            </p:txBody>
          </p:sp>
          <p:sp>
            <p:nvSpPr>
              <p:cNvPr id="26" name="橢圓 25">
                <a:extLst>
                  <a:ext uri="{FF2B5EF4-FFF2-40B4-BE49-F238E27FC236}">
                    <a16:creationId xmlns:a16="http://schemas.microsoft.com/office/drawing/2014/main" id="{AB3C55D4-FF0A-43D7-A564-67F7EA55D82A}"/>
                  </a:ext>
                </a:extLst>
              </p:cNvPr>
              <p:cNvSpPr/>
              <p:nvPr/>
            </p:nvSpPr>
            <p:spPr>
              <a:xfrm>
                <a:off x="5425804" y="1162025"/>
                <a:ext cx="435110" cy="355343"/>
              </a:xfrm>
              <a:prstGeom prst="ellipse">
                <a:avLst/>
              </a:prstGeom>
              <a:solidFill>
                <a:srgbClr val="70AD47">
                  <a:lumMod val="60000"/>
                  <a:lumOff val="4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05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區塊</a:t>
                </a:r>
              </a:p>
            </p:txBody>
          </p:sp>
          <p:sp>
            <p:nvSpPr>
              <p:cNvPr id="27" name="橢圓 26">
                <a:extLst>
                  <a:ext uri="{FF2B5EF4-FFF2-40B4-BE49-F238E27FC236}">
                    <a16:creationId xmlns:a16="http://schemas.microsoft.com/office/drawing/2014/main" id="{D0460F7B-7458-49FD-A3A9-E76D26C7B741}"/>
                  </a:ext>
                </a:extLst>
              </p:cNvPr>
              <p:cNvSpPr/>
              <p:nvPr/>
            </p:nvSpPr>
            <p:spPr>
              <a:xfrm>
                <a:off x="3324447" y="1557607"/>
                <a:ext cx="442762" cy="355343"/>
              </a:xfrm>
              <a:prstGeom prst="ellipse">
                <a:avLst/>
              </a:prstGeom>
              <a:solidFill>
                <a:srgbClr val="FFC000">
                  <a:lumMod val="60000"/>
                  <a:lumOff val="4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05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交易</a:t>
                </a:r>
              </a:p>
            </p:txBody>
          </p:sp>
          <p:sp>
            <p:nvSpPr>
              <p:cNvPr id="28" name="橢圓 27">
                <a:extLst>
                  <a:ext uri="{FF2B5EF4-FFF2-40B4-BE49-F238E27FC236}">
                    <a16:creationId xmlns:a16="http://schemas.microsoft.com/office/drawing/2014/main" id="{286B9206-5C10-4FDA-B605-BD8EA298C65A}"/>
                  </a:ext>
                </a:extLst>
              </p:cNvPr>
              <p:cNvSpPr/>
              <p:nvPr/>
            </p:nvSpPr>
            <p:spPr>
              <a:xfrm>
                <a:off x="3429235" y="2252557"/>
                <a:ext cx="337974" cy="238036"/>
              </a:xfrm>
              <a:prstGeom prst="ellipse">
                <a:avLst/>
              </a:prstGeom>
              <a:solidFill>
                <a:srgbClr val="70AD47">
                  <a:lumMod val="60000"/>
                  <a:lumOff val="4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05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鏈</a:t>
                </a:r>
              </a:p>
            </p:txBody>
          </p:sp>
        </p:grpSp>
        <p:grpSp>
          <p:nvGrpSpPr>
            <p:cNvPr id="13" name="群組 12">
              <a:extLst>
                <a:ext uri="{FF2B5EF4-FFF2-40B4-BE49-F238E27FC236}">
                  <a16:creationId xmlns:a16="http://schemas.microsoft.com/office/drawing/2014/main" id="{09079A9C-FABC-4573-BD12-EC2EF4C44B96}"/>
                </a:ext>
              </a:extLst>
            </p:cNvPr>
            <p:cNvGrpSpPr/>
            <p:nvPr/>
          </p:nvGrpSpPr>
          <p:grpSpPr>
            <a:xfrm>
              <a:off x="7107638" y="3344450"/>
              <a:ext cx="2943032" cy="1705961"/>
              <a:chOff x="7528047" y="2138121"/>
              <a:chExt cx="2943032" cy="1705961"/>
            </a:xfrm>
          </p:grpSpPr>
          <p:pic>
            <p:nvPicPr>
              <p:cNvPr id="20" name="圖片 19">
                <a:extLst>
                  <a:ext uri="{FF2B5EF4-FFF2-40B4-BE49-F238E27FC236}">
                    <a16:creationId xmlns:a16="http://schemas.microsoft.com/office/drawing/2014/main" id="{93E19FBD-E78F-4BDE-862A-22029538F04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528047" y="2138121"/>
                <a:ext cx="2943032" cy="1705961"/>
              </a:xfrm>
              <a:prstGeom prst="rect">
                <a:avLst/>
              </a:prstGeom>
            </p:spPr>
          </p:pic>
          <p:sp>
            <p:nvSpPr>
              <p:cNvPr id="21" name="文字方塊 20">
                <a:extLst>
                  <a:ext uri="{FF2B5EF4-FFF2-40B4-BE49-F238E27FC236}">
                    <a16:creationId xmlns:a16="http://schemas.microsoft.com/office/drawing/2014/main" id="{1A840E39-611F-465C-B4B0-AD2A44385F75}"/>
                  </a:ext>
                </a:extLst>
              </p:cNvPr>
              <p:cNvSpPr txBox="1"/>
              <p:nvPr/>
            </p:nvSpPr>
            <p:spPr>
              <a:xfrm>
                <a:off x="8506235" y="2621524"/>
                <a:ext cx="1354408"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價值</a:t>
                </a:r>
              </a:p>
            </p:txBody>
          </p:sp>
          <p:sp>
            <p:nvSpPr>
              <p:cNvPr id="22" name="橢圓 21">
                <a:extLst>
                  <a:ext uri="{FF2B5EF4-FFF2-40B4-BE49-F238E27FC236}">
                    <a16:creationId xmlns:a16="http://schemas.microsoft.com/office/drawing/2014/main" id="{05EDCCD4-0BD2-4D5F-AA95-A61AEE0E77C2}"/>
                  </a:ext>
                </a:extLst>
              </p:cNvPr>
              <p:cNvSpPr/>
              <p:nvPr/>
            </p:nvSpPr>
            <p:spPr>
              <a:xfrm>
                <a:off x="7750554" y="2715976"/>
                <a:ext cx="442762" cy="355343"/>
              </a:xfrm>
              <a:prstGeom prst="ellipse">
                <a:avLst/>
              </a:prstGeom>
              <a:solidFill>
                <a:srgbClr val="FFC000">
                  <a:lumMod val="60000"/>
                  <a:lumOff val="4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05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技術</a:t>
                </a:r>
              </a:p>
            </p:txBody>
          </p:sp>
          <p:sp>
            <p:nvSpPr>
              <p:cNvPr id="23" name="橢圓 22">
                <a:extLst>
                  <a:ext uri="{FF2B5EF4-FFF2-40B4-BE49-F238E27FC236}">
                    <a16:creationId xmlns:a16="http://schemas.microsoft.com/office/drawing/2014/main" id="{06ACAEC5-5F25-4713-A3FD-0BEFB4A1B1F9}"/>
                  </a:ext>
                </a:extLst>
              </p:cNvPr>
              <p:cNvSpPr/>
              <p:nvPr/>
            </p:nvSpPr>
            <p:spPr>
              <a:xfrm>
                <a:off x="9942902" y="2319699"/>
                <a:ext cx="417496" cy="341787"/>
              </a:xfrm>
              <a:prstGeom prst="ellipse">
                <a:avLst/>
              </a:prstGeom>
              <a:solidFill>
                <a:srgbClr val="70AD47">
                  <a:lumMod val="60000"/>
                  <a:lumOff val="4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05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資料</a:t>
                </a:r>
              </a:p>
            </p:txBody>
          </p:sp>
        </p:grpSp>
        <p:grpSp>
          <p:nvGrpSpPr>
            <p:cNvPr id="14" name="群組 13">
              <a:extLst>
                <a:ext uri="{FF2B5EF4-FFF2-40B4-BE49-F238E27FC236}">
                  <a16:creationId xmlns:a16="http://schemas.microsoft.com/office/drawing/2014/main" id="{23999B2A-8603-4936-B064-0A2E82F5DB53}"/>
                </a:ext>
              </a:extLst>
            </p:cNvPr>
            <p:cNvGrpSpPr/>
            <p:nvPr/>
          </p:nvGrpSpPr>
          <p:grpSpPr>
            <a:xfrm>
              <a:off x="1732927" y="3360916"/>
              <a:ext cx="2943032" cy="1705961"/>
              <a:chOff x="1814302" y="4419781"/>
              <a:chExt cx="2943032" cy="1705961"/>
            </a:xfrm>
          </p:grpSpPr>
          <p:pic>
            <p:nvPicPr>
              <p:cNvPr id="15" name="圖片 14">
                <a:extLst>
                  <a:ext uri="{FF2B5EF4-FFF2-40B4-BE49-F238E27FC236}">
                    <a16:creationId xmlns:a16="http://schemas.microsoft.com/office/drawing/2014/main" id="{62857759-D397-4EFB-AF0F-0D093BCE8FE4}"/>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814302" y="4419781"/>
                <a:ext cx="2943032" cy="1705961"/>
              </a:xfrm>
              <a:prstGeom prst="rect">
                <a:avLst/>
              </a:prstGeom>
            </p:spPr>
          </p:pic>
          <p:sp>
            <p:nvSpPr>
              <p:cNvPr id="16" name="文字方塊 15">
                <a:extLst>
                  <a:ext uri="{FF2B5EF4-FFF2-40B4-BE49-F238E27FC236}">
                    <a16:creationId xmlns:a16="http://schemas.microsoft.com/office/drawing/2014/main" id="{71960E2E-BD96-49D8-B9FF-73B8E89F0317}"/>
                  </a:ext>
                </a:extLst>
              </p:cNvPr>
              <p:cNvSpPr txBox="1"/>
              <p:nvPr/>
            </p:nvSpPr>
            <p:spPr>
              <a:xfrm>
                <a:off x="2686428" y="4970538"/>
                <a:ext cx="1354408"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28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安全</a:t>
                </a:r>
              </a:p>
            </p:txBody>
          </p:sp>
          <p:sp>
            <p:nvSpPr>
              <p:cNvPr id="17" name="橢圓 16">
                <a:extLst>
                  <a:ext uri="{FF2B5EF4-FFF2-40B4-BE49-F238E27FC236}">
                    <a16:creationId xmlns:a16="http://schemas.microsoft.com/office/drawing/2014/main" id="{714C87CE-3799-4FDE-8BFF-9F63E71F94B6}"/>
                  </a:ext>
                </a:extLst>
              </p:cNvPr>
              <p:cNvSpPr/>
              <p:nvPr/>
            </p:nvSpPr>
            <p:spPr>
              <a:xfrm>
                <a:off x="2021159" y="5009626"/>
                <a:ext cx="442762" cy="355343"/>
              </a:xfrm>
              <a:prstGeom prst="ellipse">
                <a:avLst/>
              </a:prstGeom>
              <a:solidFill>
                <a:srgbClr val="FFC000">
                  <a:lumMod val="60000"/>
                  <a:lumOff val="4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05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特性</a:t>
                </a:r>
              </a:p>
            </p:txBody>
          </p:sp>
          <p:sp>
            <p:nvSpPr>
              <p:cNvPr id="18" name="橢圓 17">
                <a:extLst>
                  <a:ext uri="{FF2B5EF4-FFF2-40B4-BE49-F238E27FC236}">
                    <a16:creationId xmlns:a16="http://schemas.microsoft.com/office/drawing/2014/main" id="{ED21747A-32ED-4FB5-9B80-027E3236AA55}"/>
                  </a:ext>
                </a:extLst>
              </p:cNvPr>
              <p:cNvSpPr/>
              <p:nvPr/>
            </p:nvSpPr>
            <p:spPr>
              <a:xfrm>
                <a:off x="4211414" y="4594931"/>
                <a:ext cx="446533" cy="355343"/>
              </a:xfrm>
              <a:prstGeom prst="ellipse">
                <a:avLst/>
              </a:prstGeom>
              <a:solidFill>
                <a:srgbClr val="70AD47">
                  <a:lumMod val="60000"/>
                  <a:lumOff val="4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05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挑戰</a:t>
                </a:r>
              </a:p>
            </p:txBody>
          </p:sp>
          <p:sp>
            <p:nvSpPr>
              <p:cNvPr id="19" name="橢圓 18">
                <a:extLst>
                  <a:ext uri="{FF2B5EF4-FFF2-40B4-BE49-F238E27FC236}">
                    <a16:creationId xmlns:a16="http://schemas.microsoft.com/office/drawing/2014/main" id="{0FE1A7EE-6D93-466A-B365-AB85D2AE6B70}"/>
                  </a:ext>
                </a:extLst>
              </p:cNvPr>
              <p:cNvSpPr/>
              <p:nvPr/>
            </p:nvSpPr>
            <p:spPr>
              <a:xfrm>
                <a:off x="2214544" y="5645433"/>
                <a:ext cx="436507" cy="355343"/>
              </a:xfrm>
              <a:prstGeom prst="ellipse">
                <a:avLst/>
              </a:prstGeom>
              <a:solidFill>
                <a:srgbClr val="70AD47">
                  <a:lumMod val="60000"/>
                  <a:lumOff val="40000"/>
                </a:srgbClr>
              </a:solidFill>
              <a:ln w="12700" cap="flat" cmpd="sng" algn="ctr">
                <a:noFill/>
                <a:prstDash val="solid"/>
                <a:miter lim="800000"/>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05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rPr>
                  <a:t>策略</a:t>
                </a:r>
              </a:p>
            </p:txBody>
          </p:sp>
        </p:grpSp>
      </p:grpSp>
      <p:cxnSp>
        <p:nvCxnSpPr>
          <p:cNvPr id="29" name="直接连接符 33">
            <a:extLst>
              <a:ext uri="{FF2B5EF4-FFF2-40B4-BE49-F238E27FC236}">
                <a16:creationId xmlns:a16="http://schemas.microsoft.com/office/drawing/2014/main" id="{442DA8D0-9F9C-4608-9ED7-D695EE872F7B}"/>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8336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2" presetClass="entr" presetSubtype="8"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0-#ppt_w/2"/>
                                          </p:val>
                                        </p:tav>
                                        <p:tav tm="100000">
                                          <p:val>
                                            <p:strVal val="#ppt_x"/>
                                          </p:val>
                                        </p:tav>
                                      </p:tavLst>
                                    </p:anim>
                                    <p:anim calcmode="lin" valueType="num">
                                      <p:cBhvr additive="base">
                                        <p:cTn id="12" dur="500" fill="hold"/>
                                        <p:tgtEl>
                                          <p:spTgt spid="29"/>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2" presetClass="entr" presetSubtype="4"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childTnLst>
                          </p:cTn>
                        </p:par>
                        <p:par>
                          <p:cTn id="18" fill="hold">
                            <p:stCondLst>
                              <p:cond delay="3000"/>
                            </p:stCondLst>
                            <p:childTnLst>
                              <p:par>
                                <p:cTn id="19" presetID="53" presetClass="entr" presetSubtype="16"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58752" y="1200762"/>
            <a:ext cx="8776740" cy="4156394"/>
          </a:xfrm>
          <a:prstGeom prst="rect">
            <a:avLst/>
          </a:prstGeom>
        </p:spPr>
        <p:txBody>
          <a:bodyPr wrap="square">
            <a:spAutoFit/>
          </a:bodyPr>
          <a:lstStyle/>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區段鏈起源自</a:t>
            </a:r>
            <a:r>
              <a:rPr lang="zh-TW" altLang="en-US" sz="2400" b="1" dirty="0">
                <a:solidFill>
                  <a:schemeClr val="tx2"/>
                </a:solidFill>
                <a:latin typeface="微軟正黑體" panose="020B0604030504040204" pitchFamily="34" charset="-120"/>
                <a:ea typeface="微軟正黑體" panose="020B0604030504040204" pitchFamily="34" charset="-120"/>
              </a:rPr>
              <a:t>比特幣</a:t>
            </a:r>
            <a:r>
              <a:rPr lang="en-US" altLang="zh-TW" sz="2400" b="1" dirty="0">
                <a:solidFill>
                  <a:schemeClr val="tx2"/>
                </a:solidFill>
                <a:latin typeface="微軟正黑體" panose="020B0604030504040204" pitchFamily="34" charset="-120"/>
                <a:ea typeface="微軟正黑體" panose="020B0604030504040204" pitchFamily="34" charset="-120"/>
              </a:rPr>
              <a:t>(</a:t>
            </a:r>
            <a:r>
              <a:rPr lang="en-US" altLang="zh-TW" sz="2400" b="1" dirty="0" err="1">
                <a:solidFill>
                  <a:schemeClr val="tx2"/>
                </a:solidFill>
                <a:latin typeface="微軟正黑體" panose="020B0604030504040204" pitchFamily="34" charset="-120"/>
                <a:ea typeface="微軟正黑體" panose="020B0604030504040204" pitchFamily="34" charset="-120"/>
              </a:rPr>
              <a:t>BitCoin</a:t>
            </a:r>
            <a:r>
              <a:rPr lang="en-US" altLang="zh-TW" sz="2400" b="1" dirty="0">
                <a:solidFill>
                  <a:schemeClr val="tx2"/>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，係用分散式資料庫識別、傳播和記載資訊的智慧化對等網路，此一分散式的資料紀錄本，只允許增加、不允許刪除。</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endParaRPr lang="zh-TW" altLang="en-US" sz="11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當新的資料要加入，須置放到一個新的區塊中，而這個區塊</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以及區塊裡的交易</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是否合法，可以通過一些手段快速檢驗出來。</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因此，維護節點都可以提議一個新的區塊，但必須</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經過一定的共識機制來對最終選擇的區塊達成一致。</a:t>
            </a: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12" name="圖片 11" descr="一張含有 文字 的圖片&#10;&#10;描述是以高可信度產生">
            <a:extLst>
              <a:ext uri="{FF2B5EF4-FFF2-40B4-BE49-F238E27FC236}">
                <a16:creationId xmlns:a16="http://schemas.microsoft.com/office/drawing/2014/main" id="{90D4B888-D588-459C-9502-34345C6ED4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9295" y="4615207"/>
            <a:ext cx="2242793" cy="2242793"/>
          </a:xfrm>
          <a:prstGeom prst="rect">
            <a:avLst/>
          </a:prstGeom>
        </p:spPr>
      </p:pic>
      <p:sp>
        <p:nvSpPr>
          <p:cNvPr id="13" name="文字方塊 12">
            <a:extLst>
              <a:ext uri="{FF2B5EF4-FFF2-40B4-BE49-F238E27FC236}">
                <a16:creationId xmlns:a16="http://schemas.microsoft.com/office/drawing/2014/main" id="{BC867CA5-8090-413E-A74A-DDB32CBDF55D}"/>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0" name="標題 1">
            <a:extLst>
              <a:ext uri="{FF2B5EF4-FFF2-40B4-BE49-F238E27FC236}">
                <a16:creationId xmlns:a16="http://schemas.microsoft.com/office/drawing/2014/main" id="{AC5C97EE-234D-461D-A7B5-36F52C5F7B70}"/>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cxnSp>
        <p:nvCxnSpPr>
          <p:cNvPr id="8" name="直接连接符 33">
            <a:extLst>
              <a:ext uri="{FF2B5EF4-FFF2-40B4-BE49-F238E27FC236}">
                <a16:creationId xmlns:a16="http://schemas.microsoft.com/office/drawing/2014/main" id="{5155247C-3C8A-48BA-864E-364C84DFC84D}"/>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204029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16" presetClass="entr" presetSubtype="21"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arn(inVertical)">
                                      <p:cBhvr>
                                        <p:cTn id="16" dur="500"/>
                                        <p:tgtEl>
                                          <p:spTgt spid="4"/>
                                        </p:tgtEl>
                                      </p:cBhvr>
                                    </p:animEffect>
                                  </p:childTnLst>
                                </p:cTn>
                              </p:par>
                            </p:childTnLst>
                          </p:cTn>
                        </p:par>
                        <p:par>
                          <p:cTn id="17" fill="hold">
                            <p:stCondLst>
                              <p:cond delay="3000"/>
                            </p:stCondLst>
                            <p:childTnLst>
                              <p:par>
                                <p:cTn id="18" presetID="2" presetClass="entr" presetSubtype="4" fill="hold"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58751" y="1268415"/>
            <a:ext cx="9136958" cy="4133311"/>
          </a:xfrm>
          <a:prstGeom prst="rect">
            <a:avLst/>
          </a:prstGeom>
        </p:spPr>
        <p:txBody>
          <a:bodyPr wrap="square">
            <a:spAutoFit/>
          </a:bodyPr>
          <a:lstStyle/>
          <a:p>
            <a:pPr>
              <a:lnSpc>
                <a:spcPct val="150000"/>
              </a:lnSpc>
            </a:pP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一</a:t>
            </a: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 區塊</a:t>
            </a:r>
            <a:r>
              <a:rPr lang="en-US" altLang="zh-TW" sz="2400" b="1" dirty="0">
                <a:solidFill>
                  <a:srgbClr val="3DA18E"/>
                </a:solidFill>
                <a:latin typeface="微軟正黑體" panose="020B0604030504040204" pitchFamily="34" charset="-120"/>
                <a:ea typeface="微軟正黑體" panose="020B0604030504040204" pitchFamily="34" charset="-120"/>
              </a:rPr>
              <a:t>(Block)</a:t>
            </a:r>
            <a:r>
              <a:rPr lang="zh-TW" altLang="en-US" sz="2400" b="1" dirty="0">
                <a:solidFill>
                  <a:srgbClr val="3DA18E"/>
                </a:solidFill>
                <a:latin typeface="微軟正黑體" panose="020B0604030504040204" pitchFamily="34" charset="-120"/>
                <a:ea typeface="微軟正黑體" panose="020B0604030504040204" pitchFamily="34" charset="-120"/>
              </a:rPr>
              <a:t>： </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marL="285750" indent="-285750">
              <a:lnSpc>
                <a:spcPct val="150000"/>
              </a:lnSpc>
              <a:buFont typeface="Wingdings" panose="05000000000000000000" pitchFamily="2" charset="2"/>
              <a:buChar char="Ø"/>
            </a:pPr>
            <a:endParaRPr lang="en-US" altLang="zh-TW" sz="1000" b="1" dirty="0">
              <a:solidFill>
                <a:srgbClr val="4A5A6F"/>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節點與節點之間的交易資訊，會經由節點與節點所產生的共識之後，相互紀錄此交易資料，當交易的紀錄愈來愈多的時候，會將節點的紀錄擴充由</a:t>
            </a:r>
            <a:r>
              <a:rPr lang="zh-TW" altLang="en-US" sz="2400" b="1" dirty="0">
                <a:solidFill>
                  <a:srgbClr val="54667E"/>
                </a:solidFill>
                <a:latin typeface="微軟正黑體" panose="020B0604030504040204" pitchFamily="34" charset="-120"/>
                <a:ea typeface="微軟正黑體" panose="020B0604030504040204" pitchFamily="34" charset="-120"/>
              </a:rPr>
              <a:t>區塊</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的方式進行交易資料的儲存與管理，此時交易紀錄會</a:t>
            </a:r>
            <a:r>
              <a:rPr lang="zh-TW" altLang="en-US" sz="2400" b="1" dirty="0">
                <a:solidFill>
                  <a:srgbClr val="54667E"/>
                </a:solidFill>
                <a:latin typeface="微軟正黑體" panose="020B0604030504040204" pitchFamily="34" charset="-120"/>
                <a:ea typeface="微軟正黑體" panose="020B0604030504040204" pitchFamily="34" charset="-120"/>
              </a:rPr>
              <a:t>透過區塊進行串連</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區塊是區塊鏈中的</a:t>
            </a:r>
            <a:r>
              <a:rPr lang="zh-TW" altLang="en-US" sz="2400" b="1" dirty="0">
                <a:solidFill>
                  <a:srgbClr val="54667E"/>
                </a:solidFill>
                <a:latin typeface="微軟正黑體" panose="020B0604030504040204" pitchFamily="34" charset="-120"/>
                <a:ea typeface="微軟正黑體" panose="020B0604030504040204" pitchFamily="34" charset="-120"/>
              </a:rPr>
              <a:t>數筆交易紀錄的連結</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其中連結的交易紀錄包含確認與待確認的交易。</a:t>
            </a: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3" name="圖片 2">
            <a:extLst>
              <a:ext uri="{FF2B5EF4-FFF2-40B4-BE49-F238E27FC236}">
                <a16:creationId xmlns:a16="http://schemas.microsoft.com/office/drawing/2014/main" id="{6E7718D6-B68A-4A28-811B-7565BE0374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16264" y="4187104"/>
            <a:ext cx="1811954" cy="1811954"/>
          </a:xfrm>
          <a:prstGeom prst="rect">
            <a:avLst/>
          </a:prstGeom>
        </p:spPr>
      </p:pic>
      <p:sp>
        <p:nvSpPr>
          <p:cNvPr id="8" name="文字方塊 7">
            <a:extLst>
              <a:ext uri="{FF2B5EF4-FFF2-40B4-BE49-F238E27FC236}">
                <a16:creationId xmlns:a16="http://schemas.microsoft.com/office/drawing/2014/main" id="{15962489-7A1B-4871-A199-49D1F957B228}"/>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0" name="標題 1">
            <a:extLst>
              <a:ext uri="{FF2B5EF4-FFF2-40B4-BE49-F238E27FC236}">
                <a16:creationId xmlns:a16="http://schemas.microsoft.com/office/drawing/2014/main" id="{81917E01-1BA5-4242-8371-A9441E51E3E0}"/>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9" name="文字方塊 8">
            <a:extLst>
              <a:ext uri="{FF2B5EF4-FFF2-40B4-BE49-F238E27FC236}">
                <a16:creationId xmlns:a16="http://schemas.microsoft.com/office/drawing/2014/main" id="{8CEDD71F-1C1D-46C7-B8AC-ED6212BC6A51}"/>
              </a:ext>
            </a:extLst>
          </p:cNvPr>
          <p:cNvSpPr txBox="1"/>
          <p:nvPr/>
        </p:nvSpPr>
        <p:spPr>
          <a:xfrm>
            <a:off x="4616553" y="458402"/>
            <a:ext cx="2044149" cy="400110"/>
          </a:xfrm>
          <a:prstGeom prst="rect">
            <a:avLst/>
          </a:prstGeom>
          <a:noFill/>
        </p:spPr>
        <p:txBody>
          <a:bodyPr wrap="none" rtlCol="0">
            <a:spAutoFit/>
          </a:bodyPr>
          <a:lstStyle/>
          <a:p>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一、 區塊鏈連結</a:t>
            </a:r>
          </a:p>
        </p:txBody>
      </p:sp>
      <p:cxnSp>
        <p:nvCxnSpPr>
          <p:cNvPr id="11" name="直接连接符 33">
            <a:extLst>
              <a:ext uri="{FF2B5EF4-FFF2-40B4-BE49-F238E27FC236}">
                <a16:creationId xmlns:a16="http://schemas.microsoft.com/office/drawing/2014/main" id="{2A77ACA2-7B6B-44E5-9AFD-C9F4AEC76701}"/>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57786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barn(inVertical)">
                                      <p:cBhvr>
                                        <p:cTn id="11" dur="500"/>
                                        <p:tgtEl>
                                          <p:spTgt spid="9">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58751" y="1662235"/>
            <a:ext cx="8785976" cy="3071482"/>
          </a:xfrm>
          <a:prstGeom prst="rect">
            <a:avLst/>
          </a:prstGeom>
        </p:spPr>
        <p:txBody>
          <a:bodyPr wrap="square">
            <a:spAutoFit/>
          </a:bodyPr>
          <a:lstStyle/>
          <a:p>
            <a:pPr>
              <a:lnSpc>
                <a:spcPct val="150000"/>
              </a:lnSpc>
            </a:pP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二</a:t>
            </a: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 鏈</a:t>
            </a:r>
            <a:r>
              <a:rPr lang="en-US" altLang="zh-TW" sz="2400" b="1" dirty="0">
                <a:solidFill>
                  <a:srgbClr val="3DA18E"/>
                </a:solidFill>
                <a:latin typeface="微軟正黑體" panose="020B0604030504040204" pitchFamily="34" charset="-120"/>
                <a:ea typeface="微軟正黑體" panose="020B0604030504040204" pitchFamily="34" charset="-120"/>
              </a:rPr>
              <a:t>(Chain)</a:t>
            </a:r>
            <a:r>
              <a:rPr lang="zh-TW" altLang="en-US" sz="2400" b="1" dirty="0">
                <a:solidFill>
                  <a:srgbClr val="3DA18E"/>
                </a:solidFill>
                <a:latin typeface="微軟正黑體" panose="020B0604030504040204" pitchFamily="34" charset="-120"/>
                <a:ea typeface="微軟正黑體" panose="020B0604030504040204" pitchFamily="34" charset="-120"/>
              </a:rPr>
              <a:t>：</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marL="285750" indent="-285750">
              <a:lnSpc>
                <a:spcPct val="150000"/>
              </a:lnSpc>
              <a:buFont typeface="Wingdings" panose="05000000000000000000" pitchFamily="2" charset="2"/>
              <a:buChar char="Ø"/>
            </a:pPr>
            <a:endParaRPr lang="en-US" altLang="zh-TW" sz="1000" b="1" dirty="0">
              <a:solidFill>
                <a:srgbClr val="4A5A6F"/>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整個交易紀錄的過程與變化等資訊，由每一個區塊按照發生順序串接，整體區塊與區塊串接的路徑即是</a:t>
            </a:r>
            <a:r>
              <a:rPr lang="zh-TW" altLang="en-US" sz="2400" b="1" dirty="0">
                <a:solidFill>
                  <a:srgbClr val="54667E"/>
                </a:solidFill>
                <a:latin typeface="微軟正黑體" panose="020B0604030504040204" pitchFamily="34" charset="-120"/>
                <a:ea typeface="微軟正黑體" panose="020B0604030504040204" pitchFamily="34" charset="-120"/>
              </a:rPr>
              <a:t>鏈</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2"/>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區塊與區塊鏈結的數位交易資訊一般會在數位網路平台上公開，讓區塊鏈可以更公開、公正、透明。</a:t>
            </a: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3"/>
          <a:stretch>
            <a:fillRect/>
          </a:stretch>
        </p:blipFill>
        <p:spPr>
          <a:xfrm rot="16200000">
            <a:off x="145169" y="-145167"/>
            <a:ext cx="1268414" cy="1558750"/>
          </a:xfrm>
          <a:prstGeom prst="rect">
            <a:avLst/>
          </a:prstGeom>
        </p:spPr>
      </p:pic>
      <p:pic>
        <p:nvPicPr>
          <p:cNvPr id="10" name="圖片 9">
            <a:extLst>
              <a:ext uri="{FF2B5EF4-FFF2-40B4-BE49-F238E27FC236}">
                <a16:creationId xmlns:a16="http://schemas.microsoft.com/office/drawing/2014/main" id="{42E98C95-D48D-4DA8-AA70-CB61443372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0591" y="0"/>
            <a:ext cx="2159242" cy="2159242"/>
          </a:xfrm>
          <a:prstGeom prst="rect">
            <a:avLst/>
          </a:prstGeom>
        </p:spPr>
      </p:pic>
      <p:sp>
        <p:nvSpPr>
          <p:cNvPr id="11" name="文字方塊 10">
            <a:extLst>
              <a:ext uri="{FF2B5EF4-FFF2-40B4-BE49-F238E27FC236}">
                <a16:creationId xmlns:a16="http://schemas.microsoft.com/office/drawing/2014/main" id="{FE201FF3-A662-4E68-8C7D-5DB987FB90D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8" name="標題 1">
            <a:extLst>
              <a:ext uri="{FF2B5EF4-FFF2-40B4-BE49-F238E27FC236}">
                <a16:creationId xmlns:a16="http://schemas.microsoft.com/office/drawing/2014/main" id="{0F2CA278-A18C-4EC0-89B0-4A4BFA6487CD}"/>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9" name="文字方塊 8">
            <a:extLst>
              <a:ext uri="{FF2B5EF4-FFF2-40B4-BE49-F238E27FC236}">
                <a16:creationId xmlns:a16="http://schemas.microsoft.com/office/drawing/2014/main" id="{0326682D-0D87-4CAB-B52B-CD1C3DA56A6D}"/>
              </a:ext>
            </a:extLst>
          </p:cNvPr>
          <p:cNvSpPr txBox="1"/>
          <p:nvPr/>
        </p:nvSpPr>
        <p:spPr>
          <a:xfrm>
            <a:off x="4616553" y="458402"/>
            <a:ext cx="2044149" cy="400110"/>
          </a:xfrm>
          <a:prstGeom prst="rect">
            <a:avLst/>
          </a:prstGeom>
          <a:noFill/>
        </p:spPr>
        <p:txBody>
          <a:bodyPr wrap="none" rtlCol="0">
            <a:spAutoFit/>
          </a:bodyPr>
          <a:lstStyle/>
          <a:p>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一、 區塊鏈連結</a:t>
            </a:r>
          </a:p>
        </p:txBody>
      </p:sp>
      <p:cxnSp>
        <p:nvCxnSpPr>
          <p:cNvPr id="12" name="直接连接符 33">
            <a:extLst>
              <a:ext uri="{FF2B5EF4-FFF2-40B4-BE49-F238E27FC236}">
                <a16:creationId xmlns:a16="http://schemas.microsoft.com/office/drawing/2014/main" id="{00748B7C-8A36-4EA8-AFFA-7671AE3C20B2}"/>
              </a:ext>
            </a:extLst>
          </p:cNvPr>
          <p:cNvCxnSpPr>
            <a:cxnSpLocks/>
          </p:cNvCxnSpPr>
          <p:nvPr/>
        </p:nvCxnSpPr>
        <p:spPr>
          <a:xfrm>
            <a:off x="1177167" y="1046746"/>
            <a:ext cx="6950833"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798632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barn(inVertical)">
                                      <p:cBhvr>
                                        <p:cTn id="11" dur="500"/>
                                        <p:tgtEl>
                                          <p:spTgt spid="9">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2" presetClass="entr" presetSubtype="1"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282757" y="1268415"/>
            <a:ext cx="9811212" cy="3602396"/>
          </a:xfrm>
          <a:prstGeom prst="rect">
            <a:avLst/>
          </a:prstGeom>
        </p:spPr>
        <p:txBody>
          <a:bodyPr wrap="square">
            <a:spAutoFit/>
          </a:bodyPr>
          <a:lstStyle/>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區塊鏈就像一個大的總帳本，系統中的每個使用者都可以參與記帳，在某段時間內，系統會將使用者在這段時間內的交易資訊紀錄於一個區塊中，就如同在記帳一般，並且把這張帳面上所記得帳目複製至系統中所有其他使用者進行交易資訊的備份作業。</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endParaRPr lang="zh-TW" altLang="en-US" sz="11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區塊內的系統必須透過鏈的連結，將帳目複製至每個節點，並且將帳目儲存至每個節點之內，如同帳本的副本一般。</a:t>
            </a: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8" name="圖片 7" descr="一張含有 樂高, 向量圖形 的圖片&#10;&#10;描述是以高可信度產生">
            <a:extLst>
              <a:ext uri="{FF2B5EF4-FFF2-40B4-BE49-F238E27FC236}">
                <a16:creationId xmlns:a16="http://schemas.microsoft.com/office/drawing/2014/main" id="{574FD008-846A-40EE-9D37-E7651EF8AC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89286" y="5014037"/>
            <a:ext cx="1843963" cy="1843963"/>
          </a:xfrm>
          <a:prstGeom prst="rect">
            <a:avLst/>
          </a:prstGeom>
        </p:spPr>
      </p:pic>
      <p:sp>
        <p:nvSpPr>
          <p:cNvPr id="10" name="文字方塊 9">
            <a:extLst>
              <a:ext uri="{FF2B5EF4-FFF2-40B4-BE49-F238E27FC236}">
                <a16:creationId xmlns:a16="http://schemas.microsoft.com/office/drawing/2014/main" id="{64EB64EA-793E-4A78-B028-7B8A620EBCDC}"/>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1" name="標題 1">
            <a:extLst>
              <a:ext uri="{FF2B5EF4-FFF2-40B4-BE49-F238E27FC236}">
                <a16:creationId xmlns:a16="http://schemas.microsoft.com/office/drawing/2014/main" id="{BAC52EA4-B58C-4B40-BAFC-17E1EE361E23}"/>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9" name="文字方塊 8">
            <a:extLst>
              <a:ext uri="{FF2B5EF4-FFF2-40B4-BE49-F238E27FC236}">
                <a16:creationId xmlns:a16="http://schemas.microsoft.com/office/drawing/2014/main" id="{6DFD742F-A37F-48B6-B30F-974499BE529C}"/>
              </a:ext>
            </a:extLst>
          </p:cNvPr>
          <p:cNvSpPr txBox="1"/>
          <p:nvPr/>
        </p:nvSpPr>
        <p:spPr>
          <a:xfrm>
            <a:off x="4616553" y="458402"/>
            <a:ext cx="2044149" cy="400110"/>
          </a:xfrm>
          <a:prstGeom prst="rect">
            <a:avLst/>
          </a:prstGeom>
          <a:noFill/>
        </p:spPr>
        <p:txBody>
          <a:bodyPr wrap="none" rtlCol="0">
            <a:spAutoFit/>
          </a:bodyPr>
          <a:lstStyle/>
          <a:p>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一、 區塊鏈連結</a:t>
            </a:r>
          </a:p>
        </p:txBody>
      </p:sp>
      <p:cxnSp>
        <p:nvCxnSpPr>
          <p:cNvPr id="12" name="直接连接符 33">
            <a:extLst>
              <a:ext uri="{FF2B5EF4-FFF2-40B4-BE49-F238E27FC236}">
                <a16:creationId xmlns:a16="http://schemas.microsoft.com/office/drawing/2014/main" id="{56521FA9-E83A-44E7-B5B6-932CEEB7699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713339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500"/>
                                        <p:tgtEl>
                                          <p:spTgt spid="9"/>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87526" y="1662235"/>
            <a:ext cx="9216948" cy="3717813"/>
          </a:xfrm>
          <a:prstGeom prst="rect">
            <a:avLst/>
          </a:prstGeom>
        </p:spPr>
        <p:txBody>
          <a:bodyPr wrap="square">
            <a:spAutoFit/>
          </a:bodyPr>
          <a:lstStyle/>
          <a:p>
            <a:pPr>
              <a:lnSpc>
                <a:spcPct val="150000"/>
              </a:lnSpc>
            </a:pP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三</a:t>
            </a: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 交易</a:t>
            </a:r>
            <a:r>
              <a:rPr lang="en-US" altLang="zh-TW" sz="2400" b="1" dirty="0">
                <a:solidFill>
                  <a:srgbClr val="3DA18E"/>
                </a:solidFill>
                <a:latin typeface="微軟正黑體" panose="020B0604030504040204" pitchFamily="34" charset="-120"/>
                <a:ea typeface="微軟正黑體" panose="020B0604030504040204" pitchFamily="34" charset="-120"/>
              </a:rPr>
              <a:t>(Transaction)</a:t>
            </a:r>
            <a:r>
              <a:rPr lang="zh-TW" altLang="en-US" sz="2400" b="1" dirty="0">
                <a:solidFill>
                  <a:srgbClr val="3DA18E"/>
                </a:solidFill>
                <a:latin typeface="微軟正黑體" panose="020B0604030504040204" pitchFamily="34" charset="-120"/>
                <a:ea typeface="微軟正黑體" panose="020B0604030504040204" pitchFamily="34" charset="-120"/>
              </a:rPr>
              <a:t>：</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marL="285750" indent="-285750">
              <a:lnSpc>
                <a:spcPct val="150000"/>
              </a:lnSpc>
              <a:buFont typeface="Wingdings" panose="05000000000000000000" pitchFamily="2" charset="2"/>
              <a:buChar char="Ø"/>
            </a:pPr>
            <a:endParaRPr lang="en-US" altLang="zh-TW" sz="1050" b="1" dirty="0">
              <a:solidFill>
                <a:srgbClr val="4A5A6F"/>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區塊鏈內進行的交易泛指使用者雙方在同一數位網路的交易平台內，進行交易行為。交易方式採一次性操作，當交易完成時，帳本狀態也會進行一次的新增</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即修改</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，如同添加一條交易紀錄，而在比特幣錢包的功能內，則會進行區段鏈的交易行為確認流程，這樣的流程為一次</a:t>
            </a:r>
            <a:r>
              <a:rPr lang="zh-TW" altLang="en-US" sz="2400" b="1" dirty="0">
                <a:solidFill>
                  <a:srgbClr val="54667E"/>
                </a:solidFill>
                <a:latin typeface="微軟正黑體" panose="020B0604030504040204" pitchFamily="34" charset="-120"/>
                <a:ea typeface="微軟正黑體" panose="020B0604030504040204" pitchFamily="34" charset="-120"/>
              </a:rPr>
              <a:t>有效檢驗</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，又稱為一次</a:t>
            </a:r>
            <a:r>
              <a:rPr lang="zh-TW" altLang="en-US" sz="2400" b="1" dirty="0">
                <a:solidFill>
                  <a:srgbClr val="54667E"/>
                </a:solidFill>
                <a:latin typeface="微軟正黑體" panose="020B0604030504040204" pitchFamily="34" charset="-120"/>
                <a:ea typeface="微軟正黑體" panose="020B0604030504040204" pitchFamily="34" charset="-120"/>
              </a:rPr>
              <a:t>確認</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8" name="圖片 7">
            <a:extLst>
              <a:ext uri="{FF2B5EF4-FFF2-40B4-BE49-F238E27FC236}">
                <a16:creationId xmlns:a16="http://schemas.microsoft.com/office/drawing/2014/main" id="{ADC75ECC-603B-4DFA-B234-48751183C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3782" y="0"/>
            <a:ext cx="2138218" cy="2138218"/>
          </a:xfrm>
          <a:prstGeom prst="rect">
            <a:avLst/>
          </a:prstGeom>
        </p:spPr>
      </p:pic>
      <p:sp>
        <p:nvSpPr>
          <p:cNvPr id="10" name="文字方塊 9">
            <a:extLst>
              <a:ext uri="{FF2B5EF4-FFF2-40B4-BE49-F238E27FC236}">
                <a16:creationId xmlns:a16="http://schemas.microsoft.com/office/drawing/2014/main" id="{BE38692B-BD0E-4EED-9E15-874044898DE3}"/>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1" name="標題 1">
            <a:extLst>
              <a:ext uri="{FF2B5EF4-FFF2-40B4-BE49-F238E27FC236}">
                <a16:creationId xmlns:a16="http://schemas.microsoft.com/office/drawing/2014/main" id="{EFCD1A2A-A571-4693-8A6F-33F0140600BB}"/>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9" name="文字方塊 8">
            <a:extLst>
              <a:ext uri="{FF2B5EF4-FFF2-40B4-BE49-F238E27FC236}">
                <a16:creationId xmlns:a16="http://schemas.microsoft.com/office/drawing/2014/main" id="{F87D5088-4935-474A-B187-14B1C074FFBD}"/>
              </a:ext>
            </a:extLst>
          </p:cNvPr>
          <p:cNvSpPr txBox="1"/>
          <p:nvPr/>
        </p:nvSpPr>
        <p:spPr>
          <a:xfrm>
            <a:off x="4616553" y="458402"/>
            <a:ext cx="2044149" cy="400110"/>
          </a:xfrm>
          <a:prstGeom prst="rect">
            <a:avLst/>
          </a:prstGeom>
          <a:noFill/>
        </p:spPr>
        <p:txBody>
          <a:bodyPr wrap="none" rtlCol="0">
            <a:spAutoFit/>
          </a:bodyPr>
          <a:lstStyle/>
          <a:p>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一、 區塊鏈連結</a:t>
            </a:r>
          </a:p>
        </p:txBody>
      </p:sp>
      <p:cxnSp>
        <p:nvCxnSpPr>
          <p:cNvPr id="12" name="直接连接符 33">
            <a:extLst>
              <a:ext uri="{FF2B5EF4-FFF2-40B4-BE49-F238E27FC236}">
                <a16:creationId xmlns:a16="http://schemas.microsoft.com/office/drawing/2014/main" id="{206C0805-8159-4296-8F7B-ABD40E7C6DE1}"/>
              </a:ext>
            </a:extLst>
          </p:cNvPr>
          <p:cNvCxnSpPr>
            <a:cxnSpLocks/>
          </p:cNvCxnSpPr>
          <p:nvPr/>
        </p:nvCxnSpPr>
        <p:spPr>
          <a:xfrm>
            <a:off x="1177167" y="1046746"/>
            <a:ext cx="8262397"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67009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500"/>
                                        <p:tgtEl>
                                          <p:spTgt spid="9"/>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fltVal val="0"/>
                                          </p:val>
                                        </p:tav>
                                        <p:tav tm="100000">
                                          <p:val>
                                            <p:strVal val="#ppt_w"/>
                                          </p:val>
                                        </p:tav>
                                      </p:tavLst>
                                    </p:anim>
                                    <p:anim calcmode="lin" valueType="num">
                                      <p:cBhvr>
                                        <p:cTn id="25" dur="500" fill="hold"/>
                                        <p:tgtEl>
                                          <p:spTgt spid="8"/>
                                        </p:tgtEl>
                                        <p:attrNameLst>
                                          <p:attrName>ppt_h</p:attrName>
                                        </p:attrNameLst>
                                      </p:cBhvr>
                                      <p:tavLst>
                                        <p:tav tm="0">
                                          <p:val>
                                            <p:fltVal val="0"/>
                                          </p:val>
                                        </p:tav>
                                        <p:tav tm="100000">
                                          <p:val>
                                            <p:strVal val="#ppt_h"/>
                                          </p:val>
                                        </p:tav>
                                      </p:tavLst>
                                    </p:anim>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558308" y="1685153"/>
            <a:ext cx="8767504" cy="2794483"/>
          </a:xfrm>
          <a:prstGeom prst="rect">
            <a:avLst/>
          </a:prstGeom>
        </p:spPr>
        <p:txBody>
          <a:bodyPr wrap="square">
            <a:spAutoFit/>
          </a:bodyPr>
          <a:lstStyle/>
          <a:p>
            <a:pPr>
              <a:lnSpc>
                <a:spcPct val="150000"/>
              </a:lnSpc>
            </a:pP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一</a:t>
            </a: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 特性：</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當使用者雙方在區塊鏈內的交易平台，進行交易行為時，區塊鏈則會透過密碼學方法與相關方法的串接，提供每一交易的驗證，據以防止詐騙的行為肇生，以及達到資訊的有效性</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即防偽</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8" name="圖片 7" descr="一張含有 樂高, 玩具 的圖片&#10;&#10;描述是以高可信度產生">
            <a:extLst>
              <a:ext uri="{FF2B5EF4-FFF2-40B4-BE49-F238E27FC236}">
                <a16:creationId xmlns:a16="http://schemas.microsoft.com/office/drawing/2014/main" id="{24A7A007-A051-4256-80B9-167A2B980D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6452" y="4479636"/>
            <a:ext cx="2466808" cy="2466808"/>
          </a:xfrm>
          <a:prstGeom prst="rect">
            <a:avLst/>
          </a:prstGeom>
        </p:spPr>
      </p:pic>
      <p:sp>
        <p:nvSpPr>
          <p:cNvPr id="10" name="文字方塊 9">
            <a:extLst>
              <a:ext uri="{FF2B5EF4-FFF2-40B4-BE49-F238E27FC236}">
                <a16:creationId xmlns:a16="http://schemas.microsoft.com/office/drawing/2014/main" id="{5DE34F17-FF87-4E16-B095-FF48EE986640}"/>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1" name="標題 1">
            <a:extLst>
              <a:ext uri="{FF2B5EF4-FFF2-40B4-BE49-F238E27FC236}">
                <a16:creationId xmlns:a16="http://schemas.microsoft.com/office/drawing/2014/main" id="{D869C550-0DF4-462D-B1DF-CD3BD27306B7}"/>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9" name="文字方塊 8">
            <a:extLst>
              <a:ext uri="{FF2B5EF4-FFF2-40B4-BE49-F238E27FC236}">
                <a16:creationId xmlns:a16="http://schemas.microsoft.com/office/drawing/2014/main" id="{1FEEE7AB-D2F2-46D8-93E9-4881F3E28266}"/>
              </a:ext>
            </a:extLst>
          </p:cNvPr>
          <p:cNvSpPr txBox="1"/>
          <p:nvPr/>
        </p:nvSpPr>
        <p:spPr>
          <a:xfrm>
            <a:off x="4616553" y="458402"/>
            <a:ext cx="2044149" cy="400110"/>
          </a:xfrm>
          <a:prstGeom prst="rect">
            <a:avLst/>
          </a:prstGeom>
          <a:noFill/>
        </p:spPr>
        <p:txBody>
          <a:bodyPr wrap="none" rtlCol="0">
            <a:spAutoFit/>
          </a:bodyPr>
          <a:lstStyle/>
          <a:p>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二、 區塊鏈安全</a:t>
            </a:r>
          </a:p>
        </p:txBody>
      </p:sp>
      <p:cxnSp>
        <p:nvCxnSpPr>
          <p:cNvPr id="12" name="直接连接符 33">
            <a:extLst>
              <a:ext uri="{FF2B5EF4-FFF2-40B4-BE49-F238E27FC236}">
                <a16:creationId xmlns:a16="http://schemas.microsoft.com/office/drawing/2014/main" id="{6EBE8D90-F23C-4981-ABAC-C973505F097B}"/>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690081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barn(inVertical)">
                                      <p:cBhvr>
                                        <p:cTn id="11" dur="500"/>
                                        <p:tgtEl>
                                          <p:spTgt spid="9">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2" presetClass="entr" presetSubtype="4"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771188" y="1268415"/>
            <a:ext cx="9136958" cy="3348481"/>
          </a:xfrm>
          <a:prstGeom prst="rect">
            <a:avLst/>
          </a:prstGeom>
        </p:spPr>
        <p:txBody>
          <a:bodyPr wrap="square">
            <a:spAutoFit/>
          </a:bodyPr>
          <a:lstStyle/>
          <a:p>
            <a:pPr>
              <a:lnSpc>
                <a:spcPct val="150000"/>
              </a:lnSpc>
            </a:pP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二</a:t>
            </a: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 挑戰：</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提供了透明度高的交易平台，也開啟了便利的交易行為模式，但在面對不同以往傳統交易的方式，消費市場的接受程度，對區塊鏈而言是一項嚴峻的挑戰。因而區塊鏈的推展亦應考量其市場或產業的接受度之外，亦應考慮產業或領域納入區塊鏈的可行性。</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8" name="圖片 7">
            <a:extLst>
              <a:ext uri="{FF2B5EF4-FFF2-40B4-BE49-F238E27FC236}">
                <a16:creationId xmlns:a16="http://schemas.microsoft.com/office/drawing/2014/main" id="{9B7B5145-31FB-4F3D-AC61-8E0FCB6D53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2798" y="4257549"/>
            <a:ext cx="2600451" cy="2600451"/>
          </a:xfrm>
          <a:prstGeom prst="rect">
            <a:avLst/>
          </a:prstGeom>
        </p:spPr>
      </p:pic>
      <p:sp>
        <p:nvSpPr>
          <p:cNvPr id="10" name="文字方塊 9">
            <a:extLst>
              <a:ext uri="{FF2B5EF4-FFF2-40B4-BE49-F238E27FC236}">
                <a16:creationId xmlns:a16="http://schemas.microsoft.com/office/drawing/2014/main" id="{1072EFED-0879-4756-9670-3C13300E299A}"/>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1" name="標題 1">
            <a:extLst>
              <a:ext uri="{FF2B5EF4-FFF2-40B4-BE49-F238E27FC236}">
                <a16:creationId xmlns:a16="http://schemas.microsoft.com/office/drawing/2014/main" id="{B733B89E-8841-43B0-918E-87EBE6D43628}"/>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9" name="文字方塊 8">
            <a:extLst>
              <a:ext uri="{FF2B5EF4-FFF2-40B4-BE49-F238E27FC236}">
                <a16:creationId xmlns:a16="http://schemas.microsoft.com/office/drawing/2014/main" id="{9771EB26-CE44-4B4F-BB41-2E5438945E7A}"/>
              </a:ext>
            </a:extLst>
          </p:cNvPr>
          <p:cNvSpPr txBox="1"/>
          <p:nvPr/>
        </p:nvSpPr>
        <p:spPr>
          <a:xfrm>
            <a:off x="4616553" y="458402"/>
            <a:ext cx="2044149" cy="400110"/>
          </a:xfrm>
          <a:prstGeom prst="rect">
            <a:avLst/>
          </a:prstGeom>
          <a:noFill/>
        </p:spPr>
        <p:txBody>
          <a:bodyPr wrap="none" rtlCol="0">
            <a:spAutoFit/>
          </a:bodyPr>
          <a:lstStyle/>
          <a:p>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二、 區塊鏈安全</a:t>
            </a:r>
          </a:p>
        </p:txBody>
      </p:sp>
      <p:cxnSp>
        <p:nvCxnSpPr>
          <p:cNvPr id="12" name="直接连接符 33">
            <a:extLst>
              <a:ext uri="{FF2B5EF4-FFF2-40B4-BE49-F238E27FC236}">
                <a16:creationId xmlns:a16="http://schemas.microsoft.com/office/drawing/2014/main" id="{A2553BCA-C640-45B4-A524-D3E0B660E2D2}"/>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8923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animEffect transition="in" filter="barn(inVertical)">
                                      <p:cBhvr>
                                        <p:cTn id="11" dur="500"/>
                                        <p:tgtEl>
                                          <p:spTgt spid="9">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0-#ppt_w/2"/>
                                          </p:val>
                                        </p:tav>
                                        <p:tav tm="100000">
                                          <p:val>
                                            <p:strVal val="#ppt_x"/>
                                          </p:val>
                                        </p:tav>
                                      </p:tavLst>
                                    </p:anim>
                                    <p:anim calcmode="lin" valueType="num">
                                      <p:cBhvr additive="base">
                                        <p:cTn id="25"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94097" y="1425433"/>
            <a:ext cx="6384521" cy="4156394"/>
          </a:xfrm>
          <a:prstGeom prst="rect">
            <a:avLst/>
          </a:prstGeom>
        </p:spPr>
        <p:txBody>
          <a:bodyPr wrap="square">
            <a:spAutoFit/>
          </a:bodyPr>
          <a:lstStyle/>
          <a:p>
            <a:pPr>
              <a:lnSpc>
                <a:spcPct val="150000"/>
              </a:lnSpc>
            </a:pP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三</a:t>
            </a: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 策略：</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marL="285750" indent="-285750">
              <a:lnSpc>
                <a:spcPct val="150000"/>
              </a:lnSpc>
              <a:buFont typeface="Wingdings" panose="05000000000000000000" pitchFamily="2" charset="2"/>
              <a:buChar char="Ø"/>
            </a:pPr>
            <a:endParaRPr lang="en-US" altLang="zh-TW" sz="11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的使用初期是被應用於金融產業之上，同時也牽動了整體金融產業的發展，同樣的，在瞬息萬變的經濟與社會環境中，區塊鏈的延伸亦可能為經濟、社會和其他領域帶來衝擊，故區塊鏈的應用亦是帶動策略變革的一種創新思維。</a:t>
            </a: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3" name="圖片 2" descr="一張含有 物件 的圖片&#10;&#10;描述是以高可信度產生">
            <a:extLst>
              <a:ext uri="{FF2B5EF4-FFF2-40B4-BE49-F238E27FC236}">
                <a16:creationId xmlns:a16="http://schemas.microsoft.com/office/drawing/2014/main" id="{BE903506-CA61-4841-8DFB-29B1B8EEC9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4174" y="3682585"/>
            <a:ext cx="3175415" cy="3175415"/>
          </a:xfrm>
          <a:prstGeom prst="rect">
            <a:avLst/>
          </a:prstGeom>
        </p:spPr>
      </p:pic>
      <p:sp>
        <p:nvSpPr>
          <p:cNvPr id="8" name="文字方塊 7">
            <a:extLst>
              <a:ext uri="{FF2B5EF4-FFF2-40B4-BE49-F238E27FC236}">
                <a16:creationId xmlns:a16="http://schemas.microsoft.com/office/drawing/2014/main" id="{EA3E9723-3411-405B-8B82-26640DFB485B}"/>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0" name="標題 1">
            <a:extLst>
              <a:ext uri="{FF2B5EF4-FFF2-40B4-BE49-F238E27FC236}">
                <a16:creationId xmlns:a16="http://schemas.microsoft.com/office/drawing/2014/main" id="{ACCBF978-8C2A-456E-9497-44BDBDC6DEFD}"/>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9" name="文字方塊 8">
            <a:extLst>
              <a:ext uri="{FF2B5EF4-FFF2-40B4-BE49-F238E27FC236}">
                <a16:creationId xmlns:a16="http://schemas.microsoft.com/office/drawing/2014/main" id="{DB4EB79A-4961-4375-A775-A8B6F076025D}"/>
              </a:ext>
            </a:extLst>
          </p:cNvPr>
          <p:cNvSpPr txBox="1"/>
          <p:nvPr/>
        </p:nvSpPr>
        <p:spPr>
          <a:xfrm>
            <a:off x="4616553" y="458402"/>
            <a:ext cx="2044149" cy="400110"/>
          </a:xfrm>
          <a:prstGeom prst="rect">
            <a:avLst/>
          </a:prstGeom>
          <a:noFill/>
        </p:spPr>
        <p:txBody>
          <a:bodyPr wrap="none" rtlCol="0">
            <a:spAutoFit/>
          </a:bodyPr>
          <a:lstStyle/>
          <a:p>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二、 區塊鏈安全</a:t>
            </a:r>
          </a:p>
        </p:txBody>
      </p:sp>
      <p:cxnSp>
        <p:nvCxnSpPr>
          <p:cNvPr id="11" name="直接连接符 33">
            <a:extLst>
              <a:ext uri="{FF2B5EF4-FFF2-40B4-BE49-F238E27FC236}">
                <a16:creationId xmlns:a16="http://schemas.microsoft.com/office/drawing/2014/main" id="{03CA0F1F-FE91-4250-A877-CF2823CAEAF5}"/>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76246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500"/>
                                        <p:tgtEl>
                                          <p:spTgt spid="9"/>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53" presetClass="entr" presetSubtype="1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666837" y="1627802"/>
            <a:ext cx="7324436" cy="3602396"/>
          </a:xfrm>
          <a:prstGeom prst="rect">
            <a:avLst/>
          </a:prstGeom>
        </p:spPr>
        <p:txBody>
          <a:bodyPr wrap="square">
            <a:spAutoFit/>
          </a:bodyPr>
          <a:lstStyle/>
          <a:p>
            <a:pPr>
              <a:lnSpc>
                <a:spcPct val="150000"/>
              </a:lnSpc>
            </a:pP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一</a:t>
            </a: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 技術：</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marL="285750" indent="-285750">
              <a:lnSpc>
                <a:spcPct val="150000"/>
              </a:lnSpc>
              <a:buFont typeface="Wingdings" panose="05000000000000000000" pitchFamily="2" charset="2"/>
              <a:buChar char="Ø"/>
            </a:pPr>
            <a:endParaRPr lang="en-US" altLang="zh-TW" sz="11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發展初期，已成為金融科技必備的一項基礎技術，透過交易紀錄系統和中立的貨幣發行機制系統，以及滿足公正、無法被篡改地記錄發生過的每一筆交易的功能，區塊鏈技術開發將提高產業或企業的競爭力。</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3" name="圖片 2" descr="一張含有 向量圖形 的圖片&#10;&#10;描述是以高可信度產生">
            <a:extLst>
              <a:ext uri="{FF2B5EF4-FFF2-40B4-BE49-F238E27FC236}">
                <a16:creationId xmlns:a16="http://schemas.microsoft.com/office/drawing/2014/main" id="{998E90A1-C095-450C-9A4F-2960468515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09" y="2345066"/>
            <a:ext cx="2967181" cy="2967181"/>
          </a:xfrm>
          <a:prstGeom prst="rect">
            <a:avLst/>
          </a:prstGeom>
        </p:spPr>
      </p:pic>
      <p:sp>
        <p:nvSpPr>
          <p:cNvPr id="8" name="文字方塊 7">
            <a:extLst>
              <a:ext uri="{FF2B5EF4-FFF2-40B4-BE49-F238E27FC236}">
                <a16:creationId xmlns:a16="http://schemas.microsoft.com/office/drawing/2014/main" id="{FB26AB59-C0D2-4347-A6C4-8279932D61C2}"/>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0" name="標題 1">
            <a:extLst>
              <a:ext uri="{FF2B5EF4-FFF2-40B4-BE49-F238E27FC236}">
                <a16:creationId xmlns:a16="http://schemas.microsoft.com/office/drawing/2014/main" id="{4D76A2B0-0564-47FE-A38F-EF882BED8597}"/>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9" name="文字方塊 8">
            <a:extLst>
              <a:ext uri="{FF2B5EF4-FFF2-40B4-BE49-F238E27FC236}">
                <a16:creationId xmlns:a16="http://schemas.microsoft.com/office/drawing/2014/main" id="{8FFA198E-1243-4D15-84B9-857A979D61C0}"/>
              </a:ext>
            </a:extLst>
          </p:cNvPr>
          <p:cNvSpPr txBox="1"/>
          <p:nvPr/>
        </p:nvSpPr>
        <p:spPr>
          <a:xfrm>
            <a:off x="4616553" y="458402"/>
            <a:ext cx="2044149" cy="400110"/>
          </a:xfrm>
          <a:prstGeom prst="rect">
            <a:avLst/>
          </a:prstGeom>
          <a:noFill/>
        </p:spPr>
        <p:txBody>
          <a:bodyPr wrap="none" rtlCol="0">
            <a:spAutoFit/>
          </a:bodyPr>
          <a:lstStyle/>
          <a:p>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三、 區塊鏈價值</a:t>
            </a:r>
          </a:p>
        </p:txBody>
      </p:sp>
      <p:cxnSp>
        <p:nvCxnSpPr>
          <p:cNvPr id="11" name="直接连接符 33">
            <a:extLst>
              <a:ext uri="{FF2B5EF4-FFF2-40B4-BE49-F238E27FC236}">
                <a16:creationId xmlns:a16="http://schemas.microsoft.com/office/drawing/2014/main" id="{D723B44A-8B98-4F18-8B92-79393FBEC3F9}"/>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1531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arn(inVertical)">
                                      <p:cBhvr>
                                        <p:cTn id="11" dur="500"/>
                                        <p:tgtEl>
                                          <p:spTgt spid="9"/>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2" presetClass="entr" presetSubtype="4"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ppt_x"/>
                                          </p:val>
                                        </p:tav>
                                        <p:tav tm="100000">
                                          <p:val>
                                            <p:strVal val="#ppt_x"/>
                                          </p:val>
                                        </p:tav>
                                      </p:tavLst>
                                    </p:anim>
                                    <p:anim calcmode="lin" valueType="num">
                                      <p:cBhvr additive="base">
                                        <p:cTn id="2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808133" y="1333070"/>
            <a:ext cx="8887576" cy="2494401"/>
          </a:xfrm>
          <a:prstGeom prst="rect">
            <a:avLst/>
          </a:prstGeom>
        </p:spPr>
        <p:txBody>
          <a:bodyPr wrap="square">
            <a:spAutoFit/>
          </a:bodyPr>
          <a:lstStyle/>
          <a:p>
            <a:pPr>
              <a:lnSpc>
                <a:spcPct val="150000"/>
              </a:lnSpc>
            </a:pP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二</a:t>
            </a:r>
            <a:r>
              <a:rPr lang="en-US" altLang="zh-TW" sz="2400" b="1" dirty="0">
                <a:solidFill>
                  <a:srgbClr val="3DA18E"/>
                </a:solidFill>
                <a:latin typeface="微軟正黑體" panose="020B0604030504040204" pitchFamily="34" charset="-120"/>
                <a:ea typeface="微軟正黑體" panose="020B0604030504040204" pitchFamily="34" charset="-120"/>
              </a:rPr>
              <a:t>)</a:t>
            </a:r>
            <a:r>
              <a:rPr lang="zh-TW" altLang="en-US" sz="2400" b="1" dirty="0">
                <a:solidFill>
                  <a:srgbClr val="3DA18E"/>
                </a:solidFill>
                <a:latin typeface="微軟正黑體" panose="020B0604030504040204" pitchFamily="34" charset="-120"/>
                <a:ea typeface="微軟正黑體" panose="020B0604030504040204" pitchFamily="34" charset="-120"/>
              </a:rPr>
              <a:t> 資料：      </a:t>
            </a:r>
            <a:endParaRPr lang="en-US" altLang="zh-TW" sz="2400" b="1" dirty="0">
              <a:solidFill>
                <a:srgbClr val="3DA18E"/>
              </a:solidFill>
              <a:latin typeface="微軟正黑體" panose="020B0604030504040204" pitchFamily="34" charset="-120"/>
              <a:ea typeface="微軟正黑體" panose="020B0604030504040204" pitchFamily="34" charset="-120"/>
            </a:endParaRPr>
          </a:p>
          <a:p>
            <a:pPr marL="285750" indent="-285750">
              <a:lnSpc>
                <a:spcPct val="150000"/>
              </a:lnSpc>
              <a:buFont typeface="Wingdings" panose="05000000000000000000" pitchFamily="2" charset="2"/>
              <a:buChar char="Ø"/>
            </a:pPr>
            <a:endParaRPr lang="en-US" altLang="zh-TW" sz="11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採</a:t>
            </a:r>
            <a:r>
              <a:rPr lang="zh-TW" altLang="en-US" sz="2400" b="1" dirty="0">
                <a:solidFill>
                  <a:srgbClr val="54667E"/>
                </a:solidFill>
                <a:latin typeface="微軟正黑體" panose="020B0604030504040204" pitchFamily="34" charset="-120"/>
                <a:ea typeface="微軟正黑體" panose="020B0604030504040204" pitchFamily="34" charset="-120"/>
              </a:rPr>
              <a:t>離散模式</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進行儲存，只要交易雙方在具備</a:t>
            </a:r>
            <a:r>
              <a:rPr lang="zh-TW" altLang="en-US" sz="2400" b="1" dirty="0">
                <a:solidFill>
                  <a:srgbClr val="54667E"/>
                </a:solidFill>
                <a:latin typeface="微軟正黑體" panose="020B0604030504040204" pitchFamily="34" charset="-120"/>
                <a:ea typeface="微軟正黑體" panose="020B0604030504040204" pitchFamily="34" charset="-120"/>
              </a:rPr>
              <a:t>共識</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的條件下，即可完成交易，此時交易資訊便可以透過資料儲存方式將資訊存至離散式的資料庫。</a:t>
            </a:r>
          </a:p>
        </p:txBody>
      </p:sp>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pic>
        <p:nvPicPr>
          <p:cNvPr id="8" name="圖片 7" descr="一張含有 顯示, 電子用品 的圖片&#10;&#10;描述是以非常高的可信度產生">
            <a:extLst>
              <a:ext uri="{FF2B5EF4-FFF2-40B4-BE49-F238E27FC236}">
                <a16:creationId xmlns:a16="http://schemas.microsoft.com/office/drawing/2014/main" id="{43E8A889-4BFE-473A-B2C1-8714C9521C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37055" y="4729018"/>
            <a:ext cx="2196194" cy="2196194"/>
          </a:xfrm>
          <a:prstGeom prst="rect">
            <a:avLst/>
          </a:prstGeom>
        </p:spPr>
      </p:pic>
      <p:sp>
        <p:nvSpPr>
          <p:cNvPr id="10" name="文字方塊 9">
            <a:extLst>
              <a:ext uri="{FF2B5EF4-FFF2-40B4-BE49-F238E27FC236}">
                <a16:creationId xmlns:a16="http://schemas.microsoft.com/office/drawing/2014/main" id="{43AA707D-77CC-4B86-A7EC-8FE523D2E396}"/>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1" name="標題 1">
            <a:extLst>
              <a:ext uri="{FF2B5EF4-FFF2-40B4-BE49-F238E27FC236}">
                <a16:creationId xmlns:a16="http://schemas.microsoft.com/office/drawing/2014/main" id="{7F87EBB9-E18D-4A0A-BB27-6C5D55D24AAE}"/>
              </a:ext>
            </a:extLst>
          </p:cNvPr>
          <p:cNvSpPr txBox="1">
            <a:spLocks/>
          </p:cNvSpPr>
          <p:nvPr/>
        </p:nvSpPr>
        <p:spPr>
          <a:xfrm>
            <a:off x="1242066"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1-2</a:t>
            </a:r>
            <a:r>
              <a:rPr lang="zh-TW" altLang="en-US" sz="2400" b="1" dirty="0">
                <a:solidFill>
                  <a:srgbClr val="E06741"/>
                </a:solidFill>
              </a:rPr>
              <a:t> 區塊鏈的基本原理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2" name="文字方塊 11">
            <a:extLst>
              <a:ext uri="{FF2B5EF4-FFF2-40B4-BE49-F238E27FC236}">
                <a16:creationId xmlns:a16="http://schemas.microsoft.com/office/drawing/2014/main" id="{82A597A4-1555-4A9B-9164-5BA07B34AEC7}"/>
              </a:ext>
            </a:extLst>
          </p:cNvPr>
          <p:cNvSpPr txBox="1"/>
          <p:nvPr/>
        </p:nvSpPr>
        <p:spPr>
          <a:xfrm>
            <a:off x="4616553" y="458402"/>
            <a:ext cx="2044149" cy="400110"/>
          </a:xfrm>
          <a:prstGeom prst="rect">
            <a:avLst/>
          </a:prstGeom>
          <a:noFill/>
        </p:spPr>
        <p:txBody>
          <a:bodyPr wrap="none" rtlCol="0">
            <a:spAutoFit/>
          </a:bodyPr>
          <a:lstStyle/>
          <a:p>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三、 區塊鏈價值</a:t>
            </a:r>
          </a:p>
        </p:txBody>
      </p:sp>
      <p:cxnSp>
        <p:nvCxnSpPr>
          <p:cNvPr id="9" name="直接连接符 33">
            <a:extLst>
              <a:ext uri="{FF2B5EF4-FFF2-40B4-BE49-F238E27FC236}">
                <a16:creationId xmlns:a16="http://schemas.microsoft.com/office/drawing/2014/main" id="{F141DEFB-7C38-49C8-94D1-626C44C50882}"/>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631391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par>
                          <p:cTn id="8" fill="hold">
                            <p:stCondLst>
                              <p:cond delay="2000"/>
                            </p:stCondLst>
                            <p:childTnLst>
                              <p:par>
                                <p:cTn id="9" presetID="16" presetClass="entr" presetSubtype="21" fill="hold" nodeType="after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animEffect transition="in" filter="barn(inVertical)">
                                      <p:cBhvr>
                                        <p:cTn id="11" dur="500"/>
                                        <p:tgtEl>
                                          <p:spTgt spid="12">
                                            <p:txEl>
                                              <p:pRg st="0" end="0"/>
                                            </p:txEl>
                                          </p:spTgt>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par>
                          <p:cTn id="21" fill="hold">
                            <p:stCondLst>
                              <p:cond delay="3500"/>
                            </p:stCondLst>
                            <p:childTnLst>
                              <p:par>
                                <p:cTn id="22" presetID="2" presetClass="entr" presetSubtype="4"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標題 1">
            <a:extLst>
              <a:ext uri="{FF2B5EF4-FFF2-40B4-BE49-F238E27FC236}">
                <a16:creationId xmlns:a16="http://schemas.microsoft.com/office/drawing/2014/main" id="{89ECFA43-E6C3-41B9-83CC-8BE2EE7D2B5F}"/>
              </a:ext>
            </a:extLst>
          </p:cNvPr>
          <p:cNvSpPr txBox="1">
            <a:spLocks/>
          </p:cNvSpPr>
          <p:nvPr/>
        </p:nvSpPr>
        <p:spPr>
          <a:xfrm>
            <a:off x="93638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1-3</a:t>
            </a:r>
            <a:r>
              <a:rPr lang="zh-TW" altLang="en-US" sz="2400" b="1" dirty="0">
                <a:solidFill>
                  <a:srgbClr val="E06741"/>
                </a:solidFill>
              </a:rPr>
              <a:t> 區塊鏈的演進</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F92B6E6E-7FFA-4D99-B78E-B1D16C0BCB4D}"/>
              </a:ext>
            </a:extLst>
          </p:cNvPr>
          <p:cNvSpPr txBox="1"/>
          <p:nvPr/>
        </p:nvSpPr>
        <p:spPr>
          <a:xfrm>
            <a:off x="798594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graphicFrame>
        <p:nvGraphicFramePr>
          <p:cNvPr id="6" name="資料庫圖表 5">
            <a:extLst>
              <a:ext uri="{FF2B5EF4-FFF2-40B4-BE49-F238E27FC236}">
                <a16:creationId xmlns:a16="http://schemas.microsoft.com/office/drawing/2014/main" id="{83AD3255-1A20-4DBD-A6DA-C004A8C3503A}"/>
              </a:ext>
            </a:extLst>
          </p:cNvPr>
          <p:cNvGraphicFramePr/>
          <p:nvPr>
            <p:extLst>
              <p:ext uri="{D42A27DB-BD31-4B8C-83A1-F6EECF244321}">
                <p14:modId xmlns:p14="http://schemas.microsoft.com/office/powerpoint/2010/main" val="447579080"/>
              </p:ext>
            </p:extLst>
          </p:nvPr>
        </p:nvGraphicFramePr>
        <p:xfrm>
          <a:off x="2277188" y="1396033"/>
          <a:ext cx="7265880" cy="48510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 name="直接连接符 33">
            <a:extLst>
              <a:ext uri="{FF2B5EF4-FFF2-40B4-BE49-F238E27FC236}">
                <a16:creationId xmlns:a16="http://schemas.microsoft.com/office/drawing/2014/main" id="{B17E7D2B-CA52-4C84-909D-9085FEF34675}"/>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818484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53" presetClass="entr" presetSubtype="16"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fill="hold"/>
                                        <p:tgtEl>
                                          <p:spTgt spid="6"/>
                                        </p:tgtEl>
                                        <p:attrNameLst>
                                          <p:attrName>ppt_w</p:attrName>
                                        </p:attrNameLst>
                                      </p:cBhvr>
                                      <p:tavLst>
                                        <p:tav tm="0">
                                          <p:val>
                                            <p:fltVal val="0"/>
                                          </p:val>
                                        </p:tav>
                                        <p:tav tm="100000">
                                          <p:val>
                                            <p:strVal val="#ppt_w"/>
                                          </p:val>
                                        </p:tav>
                                      </p:tavLst>
                                    </p:anim>
                                    <p:anim calcmode="lin" valueType="num">
                                      <p:cBhvr>
                                        <p:cTn id="17" dur="500" fill="hold"/>
                                        <p:tgtEl>
                                          <p:spTgt spid="6"/>
                                        </p:tgtEl>
                                        <p:attrNameLst>
                                          <p:attrName>ppt_h</p:attrName>
                                        </p:attrNameLst>
                                      </p:cBhvr>
                                      <p:tavLst>
                                        <p:tav tm="0">
                                          <p:val>
                                            <p:fltVal val="0"/>
                                          </p:val>
                                        </p:tav>
                                        <p:tav tm="100000">
                                          <p:val>
                                            <p:strVal val="#ppt_h"/>
                                          </p:val>
                                        </p:tav>
                                      </p:tavLst>
                                    </p:anim>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Graphic spid="6"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標題 1">
            <a:extLst>
              <a:ext uri="{FF2B5EF4-FFF2-40B4-BE49-F238E27FC236}">
                <a16:creationId xmlns:a16="http://schemas.microsoft.com/office/drawing/2014/main" id="{89ECFA43-E6C3-41B9-83CC-8BE2EE7D2B5F}"/>
              </a:ext>
            </a:extLst>
          </p:cNvPr>
          <p:cNvSpPr txBox="1">
            <a:spLocks/>
          </p:cNvSpPr>
          <p:nvPr/>
        </p:nvSpPr>
        <p:spPr>
          <a:xfrm>
            <a:off x="93638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1-3</a:t>
            </a:r>
            <a:r>
              <a:rPr lang="zh-TW" altLang="en-US" sz="2400" b="1" dirty="0">
                <a:solidFill>
                  <a:srgbClr val="E06741"/>
                </a:solidFill>
              </a:rPr>
              <a:t> 區塊鏈的演進</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F92B6E6E-7FFA-4D99-B78E-B1D16C0BCB4D}"/>
              </a:ext>
            </a:extLst>
          </p:cNvPr>
          <p:cNvSpPr txBox="1"/>
          <p:nvPr/>
        </p:nvSpPr>
        <p:spPr>
          <a:xfrm>
            <a:off x="798594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09" name="文本框 22">
            <a:extLst>
              <a:ext uri="{FF2B5EF4-FFF2-40B4-BE49-F238E27FC236}">
                <a16:creationId xmlns:a16="http://schemas.microsoft.com/office/drawing/2014/main" id="{531F3419-0DEE-49FE-9C1D-B4E5DFD266B3}"/>
              </a:ext>
            </a:extLst>
          </p:cNvPr>
          <p:cNvSpPr txBox="1">
            <a:spLocks noChangeArrowheads="1"/>
          </p:cNvSpPr>
          <p:nvPr/>
        </p:nvSpPr>
        <p:spPr bwMode="auto">
          <a:xfrm>
            <a:off x="1558751" y="1431402"/>
            <a:ext cx="6710940" cy="461665"/>
          </a:xfrm>
          <a:prstGeom prst="rect">
            <a:avLst/>
          </a:prstGeom>
          <a:noFill/>
          <a:ln w="9525">
            <a:noFill/>
            <a:miter lim="800000"/>
            <a:headEnd/>
            <a:tailEnd/>
          </a:ln>
        </p:spPr>
        <p:txBody>
          <a:bodyPr wrap="none">
            <a:spAutoFit/>
          </a:bodyPr>
          <a:lstStyle/>
          <a:p>
            <a:r>
              <a:rPr lang="zh-TW" altLang="en-US" sz="2400" b="1" dirty="0">
                <a:solidFill>
                  <a:srgbClr val="3DA18E"/>
                </a:solidFill>
                <a:latin typeface="微軟正黑體" panose="020B0604030504040204" pitchFamily="34" charset="-120"/>
                <a:ea typeface="微軟正黑體" panose="020B0604030504040204" pitchFamily="34" charset="-120"/>
              </a:rPr>
              <a:t>一、區塊鏈</a:t>
            </a:r>
            <a:r>
              <a:rPr lang="en-US" altLang="zh-TW" sz="2400" b="1" dirty="0">
                <a:solidFill>
                  <a:srgbClr val="3DA18E"/>
                </a:solidFill>
                <a:latin typeface="微軟正黑體" panose="020B0604030504040204" pitchFamily="34" charset="-120"/>
                <a:ea typeface="微軟正黑體" panose="020B0604030504040204" pitchFamily="34" charset="-120"/>
              </a:rPr>
              <a:t>1.0</a:t>
            </a:r>
            <a:r>
              <a:rPr lang="zh-TW" altLang="en-US" sz="2400" b="1" dirty="0">
                <a:solidFill>
                  <a:srgbClr val="3DA18E"/>
                </a:solidFill>
                <a:latin typeface="微軟正黑體" panose="020B0604030504040204" pitchFamily="34" charset="-120"/>
                <a:ea typeface="微軟正黑體" panose="020B0604030504040204" pitchFamily="34" charset="-120"/>
              </a:rPr>
              <a:t>：數位貨幣（</a:t>
            </a:r>
            <a:r>
              <a:rPr lang="en-US" altLang="zh-TW" sz="2400" b="1" dirty="0">
                <a:solidFill>
                  <a:srgbClr val="3DA18E"/>
                </a:solidFill>
                <a:latin typeface="微軟正黑體" panose="020B0604030504040204" pitchFamily="34" charset="-120"/>
                <a:ea typeface="微軟正黑體" panose="020B0604030504040204" pitchFamily="34" charset="-120"/>
              </a:rPr>
              <a:t>Digital Currency</a:t>
            </a:r>
            <a:r>
              <a:rPr lang="zh-TW" altLang="en-US" sz="2400" b="1" dirty="0">
                <a:solidFill>
                  <a:srgbClr val="3DA18E"/>
                </a:solidFill>
                <a:latin typeface="微軟正黑體" panose="020B0604030504040204" pitchFamily="34" charset="-120"/>
                <a:ea typeface="微軟正黑體" panose="020B0604030504040204" pitchFamily="34" charset="-120"/>
              </a:rPr>
              <a:t>）</a:t>
            </a:r>
            <a:endParaRPr lang="zh-CN" altLang="en-US" sz="2400" b="1" dirty="0">
              <a:solidFill>
                <a:srgbClr val="3DA18E"/>
              </a:solidFill>
              <a:latin typeface="微軟正黑體" panose="020B0604030504040204" pitchFamily="34" charset="-120"/>
              <a:ea typeface="微軟正黑體" panose="020B0604030504040204" pitchFamily="34" charset="-120"/>
            </a:endParaRPr>
          </a:p>
        </p:txBody>
      </p:sp>
      <p:sp>
        <p:nvSpPr>
          <p:cNvPr id="120" name="文本框 36">
            <a:extLst>
              <a:ext uri="{FF2B5EF4-FFF2-40B4-BE49-F238E27FC236}">
                <a16:creationId xmlns:a16="http://schemas.microsoft.com/office/drawing/2014/main" id="{8C0FF8BB-220F-406F-848B-7C6B9F76AD4A}"/>
              </a:ext>
            </a:extLst>
          </p:cNvPr>
          <p:cNvSpPr txBox="1">
            <a:spLocks noChangeArrowheads="1"/>
          </p:cNvSpPr>
          <p:nvPr/>
        </p:nvSpPr>
        <p:spPr bwMode="auto">
          <a:xfrm>
            <a:off x="2205218" y="2056054"/>
            <a:ext cx="5780723" cy="3902479"/>
          </a:xfrm>
          <a:prstGeom prst="rect">
            <a:avLst/>
          </a:prstGeom>
          <a:noFill/>
          <a:ln w="9525">
            <a:noFill/>
            <a:miter lim="800000"/>
            <a:headEnd/>
            <a:tailEnd/>
          </a:ln>
        </p:spPr>
        <p:txBody>
          <a:bodyPr wrap="square">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交易過程透明、公開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a:t>
            </a:r>
            <a:r>
              <a:rPr lang="zh-TW" altLang="en-US" sz="2400" b="1" dirty="0">
                <a:solidFill>
                  <a:srgbClr val="54667E"/>
                </a:solidFill>
                <a:latin typeface="微軟正黑體" panose="020B0604030504040204" pitchFamily="34" charset="-120"/>
                <a:ea typeface="微軟正黑體" panose="020B0604030504040204" pitchFamily="34" charset="-120"/>
              </a:rPr>
              <a:t>比特幣</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最常被引用</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rgbClr val="54667E"/>
                </a:solidFill>
                <a:latin typeface="微軟正黑體" panose="020B0604030504040204" pitchFamily="34" charset="-120"/>
                <a:ea typeface="微軟正黑體" panose="020B0604030504040204" pitchFamily="34" charset="-120"/>
              </a:rPr>
              <a:t>去中心化、</a:t>
            </a:r>
            <a:r>
              <a:rPr lang="en-US" altLang="zh-TW" sz="2400" b="1" dirty="0">
                <a:solidFill>
                  <a:srgbClr val="54667E"/>
                </a:solidFill>
                <a:latin typeface="微軟正黑體" panose="020B0604030504040204" pitchFamily="34" charset="-120"/>
                <a:ea typeface="微軟正黑體" panose="020B0604030504040204" pitchFamily="34" charset="-120"/>
              </a:rPr>
              <a:t>P2P</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的交易模式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分散式資料庫</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著重數位貨幣的</a:t>
            </a:r>
            <a:r>
              <a:rPr lang="zh-TW" altLang="en-US" sz="2400" b="1" dirty="0">
                <a:solidFill>
                  <a:srgbClr val="54667E"/>
                </a:solidFill>
                <a:latin typeface="微軟正黑體" panose="020B0604030504040204" pitchFamily="34" charset="-120"/>
                <a:ea typeface="微軟正黑體" panose="020B0604030504040204" pitchFamily="34" charset="-120"/>
              </a:rPr>
              <a:t>加密</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作為</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管控機制</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密碼</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協定網路與網路間交易</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開放、對等、共識、直接參與</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30" name="圖片 129" descr="一張含有 文字 的圖片&#10;&#10;描述是以高可信度產生">
            <a:extLst>
              <a:ext uri="{FF2B5EF4-FFF2-40B4-BE49-F238E27FC236}">
                <a16:creationId xmlns:a16="http://schemas.microsoft.com/office/drawing/2014/main" id="{CFD524F9-B018-4C1A-A367-7F262384BE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37612" y="4085508"/>
            <a:ext cx="2114478" cy="2114478"/>
          </a:xfrm>
          <a:prstGeom prst="rect">
            <a:avLst/>
          </a:prstGeom>
        </p:spPr>
      </p:pic>
      <p:cxnSp>
        <p:nvCxnSpPr>
          <p:cNvPr id="8" name="直接连接符 33">
            <a:extLst>
              <a:ext uri="{FF2B5EF4-FFF2-40B4-BE49-F238E27FC236}">
                <a16:creationId xmlns:a16="http://schemas.microsoft.com/office/drawing/2014/main" id="{DB528603-4997-49BD-A22D-156CF0F71183}"/>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675978"/>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49" presetClass="entr" presetSubtype="0" decel="100000" fill="hold" grpId="0" nodeType="afterEffect">
                                  <p:stCondLst>
                                    <p:cond delay="0"/>
                                  </p:stCondLst>
                                  <p:childTnLst>
                                    <p:set>
                                      <p:cBhvr>
                                        <p:cTn id="15" dur="1" fill="hold">
                                          <p:stCondLst>
                                            <p:cond delay="0"/>
                                          </p:stCondLst>
                                        </p:cTn>
                                        <p:tgtEl>
                                          <p:spTgt spid="109"/>
                                        </p:tgtEl>
                                        <p:attrNameLst>
                                          <p:attrName>style.visibility</p:attrName>
                                        </p:attrNameLst>
                                      </p:cBhvr>
                                      <p:to>
                                        <p:strVal val="visible"/>
                                      </p:to>
                                    </p:set>
                                    <p:anim calcmode="lin" valueType="num">
                                      <p:cBhvr>
                                        <p:cTn id="16" dur="500" fill="hold"/>
                                        <p:tgtEl>
                                          <p:spTgt spid="109"/>
                                        </p:tgtEl>
                                        <p:attrNameLst>
                                          <p:attrName>ppt_w</p:attrName>
                                        </p:attrNameLst>
                                      </p:cBhvr>
                                      <p:tavLst>
                                        <p:tav tm="0">
                                          <p:val>
                                            <p:fltVal val="0"/>
                                          </p:val>
                                        </p:tav>
                                        <p:tav tm="100000">
                                          <p:val>
                                            <p:strVal val="#ppt_w"/>
                                          </p:val>
                                        </p:tav>
                                      </p:tavLst>
                                    </p:anim>
                                    <p:anim calcmode="lin" valueType="num">
                                      <p:cBhvr>
                                        <p:cTn id="17" dur="500" fill="hold"/>
                                        <p:tgtEl>
                                          <p:spTgt spid="109"/>
                                        </p:tgtEl>
                                        <p:attrNameLst>
                                          <p:attrName>ppt_h</p:attrName>
                                        </p:attrNameLst>
                                      </p:cBhvr>
                                      <p:tavLst>
                                        <p:tav tm="0">
                                          <p:val>
                                            <p:fltVal val="0"/>
                                          </p:val>
                                        </p:tav>
                                        <p:tav tm="100000">
                                          <p:val>
                                            <p:strVal val="#ppt_h"/>
                                          </p:val>
                                        </p:tav>
                                      </p:tavLst>
                                    </p:anim>
                                    <p:anim calcmode="lin" valueType="num">
                                      <p:cBhvr>
                                        <p:cTn id="18" dur="500" fill="hold"/>
                                        <p:tgtEl>
                                          <p:spTgt spid="109"/>
                                        </p:tgtEl>
                                        <p:attrNameLst>
                                          <p:attrName>style.rotation</p:attrName>
                                        </p:attrNameLst>
                                      </p:cBhvr>
                                      <p:tavLst>
                                        <p:tav tm="0">
                                          <p:val>
                                            <p:fltVal val="360"/>
                                          </p:val>
                                        </p:tav>
                                        <p:tav tm="100000">
                                          <p:val>
                                            <p:fltVal val="0"/>
                                          </p:val>
                                        </p:tav>
                                      </p:tavLst>
                                    </p:anim>
                                    <p:animEffect transition="in" filter="fade">
                                      <p:cBhvr>
                                        <p:cTn id="19" dur="500"/>
                                        <p:tgtEl>
                                          <p:spTgt spid="109"/>
                                        </p:tgtEl>
                                      </p:cBhvr>
                                    </p:animEffect>
                                  </p:childTnLst>
                                </p:cTn>
                              </p:par>
                            </p:childTnLst>
                          </p:cTn>
                        </p:par>
                        <p:par>
                          <p:cTn id="20" fill="hold">
                            <p:stCondLst>
                              <p:cond delay="3000"/>
                            </p:stCondLst>
                            <p:childTnLst>
                              <p:par>
                                <p:cTn id="21" presetID="14" presetClass="entr" presetSubtype="10" fill="hold" grpId="0" nodeType="afterEffect">
                                  <p:stCondLst>
                                    <p:cond delay="0"/>
                                  </p:stCondLst>
                                  <p:childTnLst>
                                    <p:set>
                                      <p:cBhvr>
                                        <p:cTn id="22" dur="1" fill="hold">
                                          <p:stCondLst>
                                            <p:cond delay="0"/>
                                          </p:stCondLst>
                                        </p:cTn>
                                        <p:tgtEl>
                                          <p:spTgt spid="120"/>
                                        </p:tgtEl>
                                        <p:attrNameLst>
                                          <p:attrName>style.visibility</p:attrName>
                                        </p:attrNameLst>
                                      </p:cBhvr>
                                      <p:to>
                                        <p:strVal val="visible"/>
                                      </p:to>
                                    </p:set>
                                    <p:animEffect transition="in" filter="randombar(horizontal)">
                                      <p:cBhvr>
                                        <p:cTn id="23" dur="500"/>
                                        <p:tgtEl>
                                          <p:spTgt spid="120"/>
                                        </p:tgtEl>
                                      </p:cBhvr>
                                    </p:animEffect>
                                  </p:childTnLst>
                                </p:cTn>
                              </p:par>
                            </p:childTnLst>
                          </p:cTn>
                        </p:par>
                        <p:par>
                          <p:cTn id="24" fill="hold">
                            <p:stCondLst>
                              <p:cond delay="3500"/>
                            </p:stCondLst>
                            <p:childTnLst>
                              <p:par>
                                <p:cTn id="25" presetID="53" presetClass="entr" presetSubtype="16" fill="hold" nodeType="afterEffect">
                                  <p:stCondLst>
                                    <p:cond delay="0"/>
                                  </p:stCondLst>
                                  <p:childTnLst>
                                    <p:set>
                                      <p:cBhvr>
                                        <p:cTn id="26" dur="1" fill="hold">
                                          <p:stCondLst>
                                            <p:cond delay="0"/>
                                          </p:stCondLst>
                                        </p:cTn>
                                        <p:tgtEl>
                                          <p:spTgt spid="130"/>
                                        </p:tgtEl>
                                        <p:attrNameLst>
                                          <p:attrName>style.visibility</p:attrName>
                                        </p:attrNameLst>
                                      </p:cBhvr>
                                      <p:to>
                                        <p:strVal val="visible"/>
                                      </p:to>
                                    </p:set>
                                    <p:anim calcmode="lin" valueType="num">
                                      <p:cBhvr>
                                        <p:cTn id="27" dur="500" fill="hold"/>
                                        <p:tgtEl>
                                          <p:spTgt spid="130"/>
                                        </p:tgtEl>
                                        <p:attrNameLst>
                                          <p:attrName>ppt_w</p:attrName>
                                        </p:attrNameLst>
                                      </p:cBhvr>
                                      <p:tavLst>
                                        <p:tav tm="0">
                                          <p:val>
                                            <p:fltVal val="0"/>
                                          </p:val>
                                        </p:tav>
                                        <p:tav tm="100000">
                                          <p:val>
                                            <p:strVal val="#ppt_w"/>
                                          </p:val>
                                        </p:tav>
                                      </p:tavLst>
                                    </p:anim>
                                    <p:anim calcmode="lin" valueType="num">
                                      <p:cBhvr>
                                        <p:cTn id="28" dur="500" fill="hold"/>
                                        <p:tgtEl>
                                          <p:spTgt spid="130"/>
                                        </p:tgtEl>
                                        <p:attrNameLst>
                                          <p:attrName>ppt_h</p:attrName>
                                        </p:attrNameLst>
                                      </p:cBhvr>
                                      <p:tavLst>
                                        <p:tav tm="0">
                                          <p:val>
                                            <p:fltVal val="0"/>
                                          </p:val>
                                        </p:tav>
                                        <p:tav tm="100000">
                                          <p:val>
                                            <p:strVal val="#ppt_h"/>
                                          </p:val>
                                        </p:tav>
                                      </p:tavLst>
                                    </p:anim>
                                    <p:animEffect transition="in" filter="fade">
                                      <p:cBhvr>
                                        <p:cTn id="29"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9" grpId="0"/>
      <p:bldP spid="12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55ACCB54-C2E7-464F-8A73-9C2CE3653A1D}"/>
              </a:ext>
            </a:extLst>
          </p:cNvPr>
          <p:cNvSpPr>
            <a:spLocks noChangeArrowheads="1"/>
          </p:cNvSpPr>
          <p:nvPr/>
        </p:nvSpPr>
        <p:spPr bwMode="auto">
          <a:xfrm>
            <a:off x="4826748" y="492563"/>
            <a:ext cx="705674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2794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indent="-342900">
              <a:buBlip>
                <a:blip r:embed="rId2"/>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cs typeface="Times New Roman" panose="02020603050405020304" pitchFamily="18" charset="0"/>
              </a:rPr>
              <a:t>區塊鏈</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cs typeface="Times New Roman" panose="02020603050405020304" pitchFamily="18" charset="0"/>
              </a:rPr>
              <a:t>1.0</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cs typeface="Times New Roman" panose="02020603050405020304" pitchFamily="18" charset="0"/>
              </a:rPr>
              <a:t>時代的數位貨幣交易方式與傳統交易方式之比較</a:t>
            </a:r>
            <a:endPar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endParaRPr lang="zh-TW" altLang="en-US" b="1" dirty="0">
              <a:solidFill>
                <a:schemeClr val="accent1"/>
              </a:solidFill>
              <a:latin typeface="微軟正黑體" panose="020B0604030504040204" pitchFamily="34" charset="-120"/>
              <a:ea typeface="微軟正黑體" panose="020B0604030504040204" pitchFamily="34" charset="-120"/>
            </a:endParaRPr>
          </a:p>
        </p:txBody>
      </p:sp>
      <p:sp>
        <p:nvSpPr>
          <p:cNvPr id="10" name="文字方塊 9">
            <a:extLst>
              <a:ext uri="{FF2B5EF4-FFF2-40B4-BE49-F238E27FC236}">
                <a16:creationId xmlns:a16="http://schemas.microsoft.com/office/drawing/2014/main" id="{052270ED-4987-43B6-89BA-313BBC7E0986}"/>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8" name="標題 1">
            <a:extLst>
              <a:ext uri="{FF2B5EF4-FFF2-40B4-BE49-F238E27FC236}">
                <a16:creationId xmlns:a16="http://schemas.microsoft.com/office/drawing/2014/main" id="{7069F3B8-1186-4F5E-89FB-B200E67C4627}"/>
              </a:ext>
            </a:extLst>
          </p:cNvPr>
          <p:cNvSpPr txBox="1">
            <a:spLocks/>
          </p:cNvSpPr>
          <p:nvPr/>
        </p:nvSpPr>
        <p:spPr>
          <a:xfrm>
            <a:off x="93638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1-3</a:t>
            </a:r>
            <a:r>
              <a:rPr lang="zh-TW" altLang="en-US" sz="2400" b="1" dirty="0">
                <a:solidFill>
                  <a:srgbClr val="E06741"/>
                </a:solidFill>
              </a:rPr>
              <a:t> 區塊鏈的演進</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559F5ABE-87A9-4E3B-B6F8-5F00B38151B5}"/>
              </a:ext>
            </a:extLst>
          </p:cNvPr>
          <p:cNvGraphicFramePr>
            <a:graphicFrameLocks noGrp="1"/>
          </p:cNvGraphicFramePr>
          <p:nvPr>
            <p:extLst>
              <p:ext uri="{D42A27DB-BD31-4B8C-83A1-F6EECF244321}">
                <p14:modId xmlns:p14="http://schemas.microsoft.com/office/powerpoint/2010/main" val="2329576818"/>
              </p:ext>
            </p:extLst>
          </p:nvPr>
        </p:nvGraphicFramePr>
        <p:xfrm>
          <a:off x="241666" y="1138498"/>
          <a:ext cx="11708668" cy="5394960"/>
        </p:xfrm>
        <a:graphic>
          <a:graphicData uri="http://schemas.openxmlformats.org/drawingml/2006/table">
            <a:tbl>
              <a:tblPr firstRow="1" bandRow="1">
                <a:tableStyleId>{69012ECD-51FC-41F1-AA8D-1B2483CD663E}</a:tableStyleId>
              </a:tblPr>
              <a:tblGrid>
                <a:gridCol w="463425">
                  <a:extLst>
                    <a:ext uri="{9D8B030D-6E8A-4147-A177-3AD203B41FA5}">
                      <a16:colId xmlns:a16="http://schemas.microsoft.com/office/drawing/2014/main" val="1259566898"/>
                    </a:ext>
                  </a:extLst>
                </a:gridCol>
                <a:gridCol w="5723418">
                  <a:extLst>
                    <a:ext uri="{9D8B030D-6E8A-4147-A177-3AD203B41FA5}">
                      <a16:colId xmlns:a16="http://schemas.microsoft.com/office/drawing/2014/main" val="176385114"/>
                    </a:ext>
                  </a:extLst>
                </a:gridCol>
                <a:gridCol w="5521825">
                  <a:extLst>
                    <a:ext uri="{9D8B030D-6E8A-4147-A177-3AD203B41FA5}">
                      <a16:colId xmlns:a16="http://schemas.microsoft.com/office/drawing/2014/main" val="4101588361"/>
                    </a:ext>
                  </a:extLst>
                </a:gridCol>
              </a:tblGrid>
              <a:tr h="370840">
                <a:tc>
                  <a:txBody>
                    <a:bodyPr/>
                    <a:lstStyle/>
                    <a:p>
                      <a:endPar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txBody>
                  <a:tcPr>
                    <a:solidFill>
                      <a:schemeClr val="tx2"/>
                    </a:solidFill>
                  </a:tcPr>
                </a:tc>
                <a:tc>
                  <a:txBody>
                    <a:bodyPr/>
                    <a:lstStyle/>
                    <a:p>
                      <a:pPr algn="ctr">
                        <a:lnSpc>
                          <a:spcPct val="150000"/>
                        </a:lnSpc>
                      </a:pPr>
                      <a:r>
                        <a:rPr lang="zh-TW" altLang="en-US" sz="2000" dirty="0">
                          <a:solidFill>
                            <a:schemeClr val="bg1"/>
                          </a:solidFill>
                          <a:latin typeface="微軟正黑體" panose="020B0604030504040204" pitchFamily="34" charset="-120"/>
                          <a:ea typeface="微軟正黑體" panose="020B0604030504040204" pitchFamily="34" charset="-120"/>
                        </a:rPr>
                        <a:t>傳統模型</a:t>
                      </a:r>
                      <a:endParaRPr lang="zh-TW" altLang="en-US" sz="2000" b="1" dirty="0">
                        <a:solidFill>
                          <a:schemeClr val="bg1"/>
                        </a:solidFill>
                        <a:latin typeface="微軟正黑體" panose="020B0604030504040204" pitchFamily="34" charset="-120"/>
                        <a:ea typeface="微軟正黑體" panose="020B0604030504040204" pitchFamily="34" charset="-120"/>
                      </a:endParaRPr>
                    </a:p>
                  </a:txBody>
                  <a:tcPr>
                    <a:solidFill>
                      <a:schemeClr val="tx2"/>
                    </a:solidFill>
                  </a:tcPr>
                </a:tc>
                <a:tc>
                  <a:txBody>
                    <a:bodyPr/>
                    <a:lstStyle/>
                    <a:p>
                      <a:pPr algn="ctr">
                        <a:lnSpc>
                          <a:spcPct val="150000"/>
                        </a:lnSpc>
                      </a:pPr>
                      <a:r>
                        <a:rPr lang="zh-TW" altLang="en-US" sz="2000" dirty="0">
                          <a:solidFill>
                            <a:schemeClr val="bg1"/>
                          </a:solidFill>
                          <a:latin typeface="微軟正黑體" panose="020B0604030504040204" pitchFamily="34" charset="-120"/>
                          <a:ea typeface="微軟正黑體" panose="020B0604030504040204" pitchFamily="34" charset="-120"/>
                        </a:rPr>
                        <a:t>區塊鏈 </a:t>
                      </a:r>
                      <a:r>
                        <a:rPr lang="en-US" altLang="zh-TW" sz="2000" dirty="0">
                          <a:solidFill>
                            <a:schemeClr val="bg1"/>
                          </a:solidFill>
                          <a:latin typeface="微軟正黑體" panose="020B0604030504040204" pitchFamily="34" charset="-120"/>
                          <a:ea typeface="微軟正黑體" panose="020B0604030504040204" pitchFamily="34" charset="-120"/>
                        </a:rPr>
                        <a:t>1.0</a:t>
                      </a:r>
                      <a:r>
                        <a:rPr lang="zh-TW" altLang="en-US" sz="2000" dirty="0">
                          <a:solidFill>
                            <a:schemeClr val="bg1"/>
                          </a:solidFill>
                          <a:latin typeface="微軟正黑體" panose="020B0604030504040204" pitchFamily="34" charset="-120"/>
                          <a:ea typeface="微軟正黑體" panose="020B0604030504040204" pitchFamily="34" charset="-120"/>
                        </a:rPr>
                        <a:t> 數位貨幣交易模型</a:t>
                      </a:r>
                      <a:endParaRPr lang="zh-TW" altLang="en-US" sz="2000" b="1" dirty="0">
                        <a:solidFill>
                          <a:schemeClr val="bg1"/>
                        </a:solidFill>
                        <a:latin typeface="微軟正黑體" panose="020B0604030504040204" pitchFamily="34" charset="-120"/>
                        <a:ea typeface="微軟正黑體" panose="020B0604030504040204" pitchFamily="34" charset="-120"/>
                      </a:endParaRPr>
                    </a:p>
                  </a:txBody>
                  <a:tcPr>
                    <a:solidFill>
                      <a:schemeClr val="tx2"/>
                    </a:solidFill>
                  </a:tcPr>
                </a:tc>
                <a:extLst>
                  <a:ext uri="{0D108BD9-81ED-4DB2-BD59-A6C34878D82A}">
                    <a16:rowId xmlns:a16="http://schemas.microsoft.com/office/drawing/2014/main" val="991466852"/>
                  </a:ext>
                </a:extLst>
              </a:tr>
              <a:tr h="370840">
                <a:tc>
                  <a:txBody>
                    <a:bodyPr/>
                    <a:lstStyle/>
                    <a:p>
                      <a:endParaRPr lang="en-US" altLang="zh-TW" sz="1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交易方式</a:t>
                      </a:r>
                    </a:p>
                  </a:txBody>
                  <a:tcPr/>
                </a:tc>
                <a:tc>
                  <a:txBody>
                    <a:bodyPr/>
                    <a:lstStyle/>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金融交易紀錄由中間金融機構負責管理</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中間金融機構負責查核金融往來交易資訊</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金融交易由付款人提出，中間金融機構執行</a:t>
                      </a:r>
                      <a:endPar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txBody>
                  <a:tcPr/>
                </a:tc>
                <a:tc>
                  <a:txBody>
                    <a:bodyPr/>
                    <a:lstStyle/>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數位金融交易紀錄採分散式記帳與儲存</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數位貨幣交易由分散式網路使用者進行驗證</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數位貨幣移轉由付款人啟動</a:t>
                      </a:r>
                      <a:endPar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2795996200"/>
                  </a:ext>
                </a:extLst>
              </a:tr>
              <a:tr h="370840">
                <a:tc>
                  <a:txBody>
                    <a:bodyPr/>
                    <a:lstStyle/>
                    <a:p>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優點</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 </a:t>
                      </a:r>
                    </a:p>
                  </a:txBody>
                  <a:tcPr/>
                </a:tc>
                <a:tc>
                  <a:txBody>
                    <a:bodyPr/>
                    <a:lstStyle/>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中間金融機構之金融支付系統涵蓋面廣</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客戶對中間金融機構的接受度高</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可以與國際金融市場接軌</a:t>
                      </a:r>
                      <a:endPar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txBody>
                  <a:tcPr/>
                </a:tc>
                <a:tc>
                  <a:txBody>
                    <a:bodyPr/>
                    <a:lstStyle/>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數位貨幣交易紀錄資料透明，但無法變更</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數位貨幣交易成本低</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數位貨幣交易成本風險低</a:t>
                      </a:r>
                      <a:endPar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8546120"/>
                  </a:ext>
                </a:extLst>
              </a:tr>
              <a:tr h="370840">
                <a:tc>
                  <a:txBody>
                    <a:bodyPr/>
                    <a:lstStyle/>
                    <a:p>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1800" b="1" dirty="0">
                          <a:solidFill>
                            <a:schemeClr val="tx1">
                              <a:lumMod val="75000"/>
                              <a:lumOff val="25000"/>
                            </a:schemeClr>
                          </a:solidFill>
                          <a:latin typeface="微軟正黑體" panose="020B0604030504040204" pitchFamily="34" charset="-120"/>
                          <a:ea typeface="微軟正黑體" panose="020B0604030504040204" pitchFamily="34" charset="-120"/>
                        </a:rPr>
                        <a:t>缺點</a:t>
                      </a:r>
                    </a:p>
                  </a:txBody>
                  <a:tcPr/>
                </a:tc>
                <a:tc>
                  <a:txBody>
                    <a:bodyPr/>
                    <a:lstStyle/>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金融交易過程透明度低</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個人資料易隨中間金融機構的管理不當而外流</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資產（金）轉移曠日費時</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金融交易成本高</a:t>
                      </a:r>
                      <a:endPar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txBody>
                  <a:tcPr/>
                </a:tc>
                <a:tc>
                  <a:txBody>
                    <a:bodyPr/>
                    <a:lstStyle/>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數位貨幣價值的穩定性低</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未受到貨幣法規限制</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數位貨幣交易無法變更或撤銷</a:t>
                      </a:r>
                    </a:p>
                    <a:p>
                      <a:pPr marL="457200" indent="-457200">
                        <a:lnSpc>
                          <a:spcPct val="150000"/>
                        </a:lnSpc>
                        <a:buFont typeface="+mj-lt"/>
                        <a:buAutoNum type="arabicPeriod"/>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易受到網路駭客的攻擊，造成重大損失</a:t>
                      </a:r>
                      <a:endPar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txBody>
                  <a:tcPr/>
                </a:tc>
                <a:extLst>
                  <a:ext uri="{0D108BD9-81ED-4DB2-BD59-A6C34878D82A}">
                    <a16:rowId xmlns:a16="http://schemas.microsoft.com/office/drawing/2014/main" val="51795252"/>
                  </a:ext>
                </a:extLst>
              </a:tr>
            </a:tbl>
          </a:graphicData>
        </a:graphic>
      </p:graphicFrame>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3"/>
          <a:stretch>
            <a:fillRect/>
          </a:stretch>
        </p:blipFill>
        <p:spPr>
          <a:xfrm rot="16200000">
            <a:off x="145169" y="-145167"/>
            <a:ext cx="1268414" cy="1558750"/>
          </a:xfrm>
          <a:prstGeom prst="rect">
            <a:avLst/>
          </a:prstGeom>
        </p:spPr>
      </p:pic>
      <p:cxnSp>
        <p:nvCxnSpPr>
          <p:cNvPr id="4" name="直線接點 3">
            <a:extLst>
              <a:ext uri="{FF2B5EF4-FFF2-40B4-BE49-F238E27FC236}">
                <a16:creationId xmlns:a16="http://schemas.microsoft.com/office/drawing/2014/main" id="{988A583B-9697-446D-9606-E14BBEB4461D}"/>
              </a:ext>
            </a:extLst>
          </p:cNvPr>
          <p:cNvCxnSpPr/>
          <p:nvPr/>
        </p:nvCxnSpPr>
        <p:spPr>
          <a:xfrm>
            <a:off x="6400797" y="1138498"/>
            <a:ext cx="0" cy="5226939"/>
          </a:xfrm>
          <a:prstGeom prst="line">
            <a:avLst/>
          </a:prstGeom>
          <a:ln>
            <a:solidFill>
              <a:srgbClr val="54667E"/>
            </a:solidFill>
          </a:ln>
        </p:spPr>
        <p:style>
          <a:lnRef idx="1">
            <a:schemeClr val="accent1"/>
          </a:lnRef>
          <a:fillRef idx="0">
            <a:schemeClr val="accent1"/>
          </a:fillRef>
          <a:effectRef idx="0">
            <a:schemeClr val="accent1"/>
          </a:effectRef>
          <a:fontRef idx="minor">
            <a:schemeClr val="tx1"/>
          </a:fontRef>
        </p:style>
      </p:cxnSp>
      <p:cxnSp>
        <p:nvCxnSpPr>
          <p:cNvPr id="9" name="直線接點 8">
            <a:extLst>
              <a:ext uri="{FF2B5EF4-FFF2-40B4-BE49-F238E27FC236}">
                <a16:creationId xmlns:a16="http://schemas.microsoft.com/office/drawing/2014/main" id="{AE465C67-95E9-42D6-9BD4-7CF8228EE3BA}"/>
              </a:ext>
            </a:extLst>
          </p:cNvPr>
          <p:cNvCxnSpPr>
            <a:cxnSpLocks/>
          </p:cNvCxnSpPr>
          <p:nvPr/>
        </p:nvCxnSpPr>
        <p:spPr>
          <a:xfrm>
            <a:off x="678870" y="1634836"/>
            <a:ext cx="0" cy="4730601"/>
          </a:xfrm>
          <a:prstGeom prst="line">
            <a:avLst/>
          </a:prstGeom>
          <a:ln>
            <a:solidFill>
              <a:srgbClr val="54667E"/>
            </a:solidFill>
          </a:ln>
        </p:spPr>
        <p:style>
          <a:lnRef idx="1">
            <a:schemeClr val="accent1"/>
          </a:lnRef>
          <a:fillRef idx="0">
            <a:schemeClr val="accent1"/>
          </a:fillRef>
          <a:effectRef idx="0">
            <a:schemeClr val="accent1"/>
          </a:effectRef>
          <a:fontRef idx="minor">
            <a:schemeClr val="tx1"/>
          </a:fontRef>
        </p:style>
      </p:cxnSp>
      <p:cxnSp>
        <p:nvCxnSpPr>
          <p:cNvPr id="11" name="直接连接符 33">
            <a:extLst>
              <a:ext uri="{FF2B5EF4-FFF2-40B4-BE49-F238E27FC236}">
                <a16:creationId xmlns:a16="http://schemas.microsoft.com/office/drawing/2014/main" id="{8370A7A3-2025-4FE0-A2E9-D53A0DE83951}"/>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93552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par>
                          <p:cTn id="8" fill="hold">
                            <p:stCondLst>
                              <p:cond delay="2000"/>
                            </p:stCondLst>
                            <p:childTnLst>
                              <p:par>
                                <p:cTn id="9" presetID="2" presetClass="entr" presetSubtype="8"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2" presetClass="entr" presetSubtype="8"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0-#ppt_w/2"/>
                                          </p:val>
                                        </p:tav>
                                        <p:tav tm="100000">
                                          <p:val>
                                            <p:strVal val="#ppt_x"/>
                                          </p:val>
                                        </p:tav>
                                      </p:tavLst>
                                    </p:anim>
                                    <p:anim calcmode="lin" valueType="num">
                                      <p:cBhvr additive="base">
                                        <p:cTn id="17" dur="500" fill="hold"/>
                                        <p:tgtEl>
                                          <p:spTgt spid="11"/>
                                        </p:tgtEl>
                                        <p:attrNameLst>
                                          <p:attrName>ppt_y</p:attrName>
                                        </p:attrNameLst>
                                      </p:cBhvr>
                                      <p:tavLst>
                                        <p:tav tm="0">
                                          <p:val>
                                            <p:strVal val="#ppt_y"/>
                                          </p:val>
                                        </p:tav>
                                        <p:tav tm="100000">
                                          <p:val>
                                            <p:strVal val="#ppt_y"/>
                                          </p:val>
                                        </p:tav>
                                      </p:tavLst>
                                    </p:anim>
                                  </p:childTnLst>
                                </p:cTn>
                              </p:par>
                            </p:childTnLst>
                          </p:cTn>
                        </p:par>
                        <p:par>
                          <p:cTn id="18" fill="hold">
                            <p:stCondLst>
                              <p:cond delay="3000"/>
                            </p:stCondLst>
                            <p:childTnLst>
                              <p:par>
                                <p:cTn id="19" presetID="53" presetClass="entr" presetSubtype="16"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childTnLst>
                          </p:cTn>
                        </p:par>
                        <p:par>
                          <p:cTn id="24" fill="hold">
                            <p:stCondLst>
                              <p:cond delay="3500"/>
                            </p:stCondLst>
                            <p:childTnLst>
                              <p:par>
                                <p:cTn id="25" presetID="53" presetClass="entr" presetSubtype="16"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par>
                          <p:cTn id="30" fill="hold">
                            <p:stCondLst>
                              <p:cond delay="4000"/>
                            </p:stCondLst>
                            <p:childTnLst>
                              <p:par>
                                <p:cTn id="31" presetID="53" presetClass="entr" presetSubtype="16" fill="hold" nodeType="after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animEffect transition="in" filter="fade">
                                      <p:cBhvr>
                                        <p:cTn id="3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標題 1">
            <a:extLst>
              <a:ext uri="{FF2B5EF4-FFF2-40B4-BE49-F238E27FC236}">
                <a16:creationId xmlns:a16="http://schemas.microsoft.com/office/drawing/2014/main" id="{89ECFA43-E6C3-41B9-83CC-8BE2EE7D2B5F}"/>
              </a:ext>
            </a:extLst>
          </p:cNvPr>
          <p:cNvSpPr txBox="1">
            <a:spLocks/>
          </p:cNvSpPr>
          <p:nvPr/>
        </p:nvSpPr>
        <p:spPr>
          <a:xfrm>
            <a:off x="93638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1-3</a:t>
            </a:r>
            <a:r>
              <a:rPr lang="zh-TW" altLang="en-US" sz="2400" b="1" dirty="0">
                <a:solidFill>
                  <a:srgbClr val="E06741"/>
                </a:solidFill>
              </a:rPr>
              <a:t> 區塊鏈的演進</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F92B6E6E-7FFA-4D99-B78E-B1D16C0BCB4D}"/>
              </a:ext>
            </a:extLst>
          </p:cNvPr>
          <p:cNvSpPr txBox="1"/>
          <p:nvPr/>
        </p:nvSpPr>
        <p:spPr>
          <a:xfrm>
            <a:off x="798594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03" name="流程图: 数据 16">
            <a:extLst>
              <a:ext uri="{FF2B5EF4-FFF2-40B4-BE49-F238E27FC236}">
                <a16:creationId xmlns:a16="http://schemas.microsoft.com/office/drawing/2014/main" id="{8CD165D5-445D-424D-B661-B2C5A822D307}"/>
              </a:ext>
            </a:extLst>
          </p:cNvPr>
          <p:cNvSpPr>
            <a:spLocks noChangeArrowheads="1"/>
          </p:cNvSpPr>
          <p:nvPr/>
        </p:nvSpPr>
        <p:spPr bwMode="auto">
          <a:xfrm>
            <a:off x="5963535" y="2554404"/>
            <a:ext cx="4044812" cy="874596"/>
          </a:xfrm>
          <a:prstGeom prst="flowChartInputOutput">
            <a:avLst/>
          </a:prstGeom>
          <a:solidFill>
            <a:srgbClr val="3CBBCE"/>
          </a:solidFill>
          <a:ln w="9525">
            <a:noFill/>
            <a:miter lim="800000"/>
            <a:headEnd/>
            <a:tailEnd/>
          </a:ln>
        </p:spPr>
        <p:txBody>
          <a:bodyPr anchor="ctr"/>
          <a:lstStyle/>
          <a:p>
            <a:pPr algn="ctr" eaLnBrk="1" hangingPunct="1"/>
            <a:endParaRPr lang="zh-CN" altLang="en-US">
              <a:solidFill>
                <a:srgbClr val="FFFFFF"/>
              </a:solidFill>
            </a:endParaRPr>
          </a:p>
        </p:txBody>
      </p:sp>
      <p:grpSp>
        <p:nvGrpSpPr>
          <p:cNvPr id="107" name="组合 20">
            <a:extLst>
              <a:ext uri="{FF2B5EF4-FFF2-40B4-BE49-F238E27FC236}">
                <a16:creationId xmlns:a16="http://schemas.microsoft.com/office/drawing/2014/main" id="{23F2D291-350D-46A3-AB14-A744DCDF1ADB}"/>
              </a:ext>
            </a:extLst>
          </p:cNvPr>
          <p:cNvGrpSpPr>
            <a:grpSpLocks/>
          </p:cNvGrpSpPr>
          <p:nvPr/>
        </p:nvGrpSpPr>
        <p:grpSpPr bwMode="auto">
          <a:xfrm>
            <a:off x="2719986" y="4010426"/>
            <a:ext cx="4044813" cy="874595"/>
            <a:chOff x="0" y="0"/>
            <a:chExt cx="3176332" cy="635266"/>
          </a:xfrm>
        </p:grpSpPr>
        <p:sp>
          <p:nvSpPr>
            <p:cNvPr id="108" name="流程图: 数据 21">
              <a:extLst>
                <a:ext uri="{FF2B5EF4-FFF2-40B4-BE49-F238E27FC236}">
                  <a16:creationId xmlns:a16="http://schemas.microsoft.com/office/drawing/2014/main" id="{EDEA2ED3-D906-4B16-A485-E4A76E17D0BA}"/>
                </a:ext>
              </a:extLst>
            </p:cNvPr>
            <p:cNvSpPr>
              <a:spLocks noChangeArrowheads="1"/>
            </p:cNvSpPr>
            <p:nvPr/>
          </p:nvSpPr>
          <p:spPr bwMode="auto">
            <a:xfrm>
              <a:off x="0" y="0"/>
              <a:ext cx="3176332" cy="635266"/>
            </a:xfrm>
            <a:prstGeom prst="flowChartInputOutput">
              <a:avLst/>
            </a:prstGeom>
            <a:solidFill>
              <a:srgbClr val="3CBBCE"/>
            </a:solidFill>
            <a:ln w="9525">
              <a:noFill/>
              <a:miter lim="800000"/>
              <a:headEnd/>
              <a:tailEnd/>
            </a:ln>
          </p:spPr>
          <p:txBody>
            <a:bodyPr anchor="ctr"/>
            <a:lstStyle/>
            <a:p>
              <a:pPr algn="ctr" eaLnBrk="1" hangingPunct="1"/>
              <a:endParaRPr lang="zh-CN" altLang="en-US">
                <a:solidFill>
                  <a:srgbClr val="FFFFFF"/>
                </a:solidFill>
              </a:endParaRPr>
            </a:p>
          </p:txBody>
        </p:sp>
        <p:sp>
          <p:nvSpPr>
            <p:cNvPr id="109" name="文本框 22">
              <a:extLst>
                <a:ext uri="{FF2B5EF4-FFF2-40B4-BE49-F238E27FC236}">
                  <a16:creationId xmlns:a16="http://schemas.microsoft.com/office/drawing/2014/main" id="{531F3419-0DEE-49FE-9C1D-B4E5DFD266B3}"/>
                </a:ext>
              </a:extLst>
            </p:cNvPr>
            <p:cNvSpPr txBox="1">
              <a:spLocks noChangeArrowheads="1"/>
            </p:cNvSpPr>
            <p:nvPr/>
          </p:nvSpPr>
          <p:spPr bwMode="auto">
            <a:xfrm>
              <a:off x="645680" y="182454"/>
              <a:ext cx="1580064" cy="290622"/>
            </a:xfrm>
            <a:prstGeom prst="rect">
              <a:avLst/>
            </a:prstGeom>
            <a:noFill/>
            <a:ln w="9525">
              <a:noFill/>
              <a:miter lim="800000"/>
              <a:headEnd/>
              <a:tailEnd/>
            </a:ln>
          </p:spPr>
          <p:txBody>
            <a:bodyPr wrap="none">
              <a:spAutoFit/>
            </a:bodyPr>
            <a:lstStyle/>
            <a:p>
              <a:pPr eaLnBrk="1" hangingPunct="1"/>
              <a:r>
                <a:rPr lang="zh-TW" altLang="en-US" sz="2000" b="1" dirty="0">
                  <a:solidFill>
                    <a:schemeClr val="bg1"/>
                  </a:solidFill>
                  <a:latin typeface="微软雅黑" pitchFamily="34" charset="-122"/>
                  <a:ea typeface="微软雅黑" pitchFamily="34" charset="-122"/>
                </a:rPr>
                <a:t>區塊鏈 </a:t>
              </a:r>
              <a:r>
                <a:rPr lang="en-US" altLang="zh-TW" sz="2000" b="1" dirty="0">
                  <a:solidFill>
                    <a:schemeClr val="bg1"/>
                  </a:solidFill>
                  <a:latin typeface="微软雅黑" pitchFamily="34" charset="-122"/>
                  <a:ea typeface="微软雅黑" pitchFamily="34" charset="-122"/>
                </a:rPr>
                <a:t>1.0 </a:t>
              </a:r>
              <a:r>
                <a:rPr lang="zh-TW" altLang="en-US" sz="2000" b="1" dirty="0">
                  <a:solidFill>
                    <a:schemeClr val="bg1"/>
                  </a:solidFill>
                  <a:latin typeface="微软雅黑" pitchFamily="34" charset="-122"/>
                  <a:ea typeface="微软雅黑" pitchFamily="34" charset="-122"/>
                </a:rPr>
                <a:t>時代</a:t>
              </a:r>
              <a:endParaRPr lang="zh-CN" altLang="en-US" sz="2000" b="1" dirty="0">
                <a:solidFill>
                  <a:schemeClr val="bg1"/>
                </a:solidFill>
                <a:latin typeface="微软雅黑" pitchFamily="34" charset="-122"/>
                <a:ea typeface="微软雅黑" pitchFamily="34" charset="-122"/>
              </a:endParaRPr>
            </a:p>
          </p:txBody>
        </p:sp>
      </p:grpSp>
      <p:grpSp>
        <p:nvGrpSpPr>
          <p:cNvPr id="110" name="组合 23">
            <a:extLst>
              <a:ext uri="{FF2B5EF4-FFF2-40B4-BE49-F238E27FC236}">
                <a16:creationId xmlns:a16="http://schemas.microsoft.com/office/drawing/2014/main" id="{50CE26B3-631A-4FE9-BFCE-F4DBE3193310}"/>
              </a:ext>
            </a:extLst>
          </p:cNvPr>
          <p:cNvGrpSpPr>
            <a:grpSpLocks/>
          </p:cNvGrpSpPr>
          <p:nvPr/>
        </p:nvGrpSpPr>
        <p:grpSpPr bwMode="auto">
          <a:xfrm>
            <a:off x="5965276" y="2807561"/>
            <a:ext cx="2978442" cy="2077460"/>
            <a:chOff x="436781" y="34104"/>
            <a:chExt cx="2339990" cy="1511585"/>
          </a:xfrm>
        </p:grpSpPr>
        <p:sp>
          <p:nvSpPr>
            <p:cNvPr id="111" name="矩形 12">
              <a:extLst>
                <a:ext uri="{FF2B5EF4-FFF2-40B4-BE49-F238E27FC236}">
                  <a16:creationId xmlns:a16="http://schemas.microsoft.com/office/drawing/2014/main" id="{7C7F932E-9184-4C90-8FE8-53F95D482BC6}"/>
                </a:ext>
              </a:extLst>
            </p:cNvPr>
            <p:cNvSpPr>
              <a:spLocks/>
            </p:cNvSpPr>
            <p:nvPr/>
          </p:nvSpPr>
          <p:spPr bwMode="auto">
            <a:xfrm flipH="1" flipV="1">
              <a:off x="436781" y="486911"/>
              <a:ext cx="635196" cy="1058778"/>
            </a:xfrm>
            <a:custGeom>
              <a:avLst/>
              <a:gdLst>
                <a:gd name="T0" fmla="*/ 933968 w 432000"/>
                <a:gd name="T1" fmla="*/ 0 h 720080"/>
                <a:gd name="T2" fmla="*/ 933968 w 432000"/>
                <a:gd name="T3" fmla="*/ 933968 h 720080"/>
                <a:gd name="T4" fmla="*/ 933968 w 432000"/>
                <a:gd name="T5" fmla="*/ 1556787 h 720080"/>
                <a:gd name="T6" fmla="*/ 0 w 432000"/>
                <a:gd name="T7" fmla="*/ 1556787 h 720080"/>
                <a:gd name="T8" fmla="*/ 0 w 432000"/>
                <a:gd name="T9" fmla="*/ 933968 h 720080"/>
                <a:gd name="T10" fmla="*/ 933968 w 432000"/>
                <a:gd name="T11" fmla="*/ 0 h 720080"/>
                <a:gd name="T12" fmla="*/ 0 60000 65536"/>
                <a:gd name="T13" fmla="*/ 0 60000 65536"/>
                <a:gd name="T14" fmla="*/ 0 60000 65536"/>
                <a:gd name="T15" fmla="*/ 0 60000 65536"/>
                <a:gd name="T16" fmla="*/ 0 60000 65536"/>
                <a:gd name="T17" fmla="*/ 0 60000 65536"/>
                <a:gd name="T18" fmla="*/ 0 w 432000"/>
                <a:gd name="T19" fmla="*/ 0 h 720080"/>
                <a:gd name="T20" fmla="*/ 432000 w 432000"/>
                <a:gd name="T21" fmla="*/ 720080 h 720080"/>
              </a:gdLst>
              <a:ahLst/>
              <a:cxnLst>
                <a:cxn ang="T12">
                  <a:pos x="T0" y="T1"/>
                </a:cxn>
                <a:cxn ang="T13">
                  <a:pos x="T2" y="T3"/>
                </a:cxn>
                <a:cxn ang="T14">
                  <a:pos x="T4" y="T5"/>
                </a:cxn>
                <a:cxn ang="T15">
                  <a:pos x="T6" y="T7"/>
                </a:cxn>
                <a:cxn ang="T16">
                  <a:pos x="T8" y="T9"/>
                </a:cxn>
                <a:cxn ang="T17">
                  <a:pos x="T10" y="T11"/>
                </a:cxn>
              </a:cxnLst>
              <a:rect l="T18" t="T19" r="T20" b="T21"/>
              <a:pathLst>
                <a:path w="432000" h="720080">
                  <a:moveTo>
                    <a:pt x="432000" y="0"/>
                  </a:moveTo>
                  <a:lnTo>
                    <a:pt x="432000" y="432000"/>
                  </a:lnTo>
                  <a:lnTo>
                    <a:pt x="432000" y="720080"/>
                  </a:lnTo>
                  <a:lnTo>
                    <a:pt x="0" y="720080"/>
                  </a:lnTo>
                  <a:lnTo>
                    <a:pt x="0" y="432000"/>
                  </a:lnTo>
                  <a:lnTo>
                    <a:pt x="432000" y="0"/>
                  </a:lnTo>
                  <a:close/>
                </a:path>
              </a:pathLst>
            </a:custGeom>
            <a:solidFill>
              <a:srgbClr val="A6A6A6"/>
            </a:solidFill>
            <a:ln w="9525">
              <a:noFill/>
              <a:round/>
              <a:headEnd/>
              <a:tailEnd/>
            </a:ln>
          </p:spPr>
          <p:txBody>
            <a:bodyPr anchor="ctr"/>
            <a:lstStyle/>
            <a:p>
              <a:endParaRPr lang="zh-CN" altLang="en-US"/>
            </a:p>
          </p:txBody>
        </p:sp>
        <p:sp>
          <p:nvSpPr>
            <p:cNvPr id="112" name="文本框 26">
              <a:extLst>
                <a:ext uri="{FF2B5EF4-FFF2-40B4-BE49-F238E27FC236}">
                  <a16:creationId xmlns:a16="http://schemas.microsoft.com/office/drawing/2014/main" id="{34AF6F26-D918-432D-AB7E-4B1BFD726BCE}"/>
                </a:ext>
              </a:extLst>
            </p:cNvPr>
            <p:cNvSpPr txBox="1">
              <a:spLocks noChangeArrowheads="1"/>
            </p:cNvSpPr>
            <p:nvPr/>
          </p:nvSpPr>
          <p:spPr bwMode="auto">
            <a:xfrm>
              <a:off x="1195987" y="34104"/>
              <a:ext cx="1580784" cy="291125"/>
            </a:xfrm>
            <a:prstGeom prst="rect">
              <a:avLst/>
            </a:prstGeom>
            <a:noFill/>
            <a:ln w="9525">
              <a:noFill/>
              <a:miter lim="800000"/>
              <a:headEnd/>
              <a:tailEnd/>
            </a:ln>
          </p:spPr>
          <p:txBody>
            <a:bodyPr wrap="none">
              <a:spAutoFit/>
            </a:bodyPr>
            <a:lstStyle/>
            <a:p>
              <a:pPr lvl="0"/>
              <a:r>
                <a:rPr lang="zh-TW" altLang="en-US" sz="2000" b="1" dirty="0">
                  <a:solidFill>
                    <a:prstClr val="white"/>
                  </a:solidFill>
                  <a:latin typeface="微软雅黑" pitchFamily="34" charset="-122"/>
                  <a:ea typeface="微软雅黑" pitchFamily="34" charset="-122"/>
                </a:rPr>
                <a:t>區塊鏈 </a:t>
              </a:r>
              <a:r>
                <a:rPr lang="en-US" altLang="zh-TW" sz="2000" b="1" dirty="0">
                  <a:solidFill>
                    <a:prstClr val="white"/>
                  </a:solidFill>
                  <a:latin typeface="微软雅黑" pitchFamily="34" charset="-122"/>
                  <a:ea typeface="微软雅黑" pitchFamily="34" charset="-122"/>
                </a:rPr>
                <a:t>2.0</a:t>
              </a:r>
              <a:r>
                <a:rPr lang="zh-TW" altLang="en-US" sz="2000" b="1" dirty="0">
                  <a:solidFill>
                    <a:prstClr val="white"/>
                  </a:solidFill>
                  <a:latin typeface="微软雅黑" pitchFamily="34" charset="-122"/>
                  <a:ea typeface="微软雅黑" pitchFamily="34" charset="-122"/>
                </a:rPr>
                <a:t> 時代</a:t>
              </a:r>
              <a:endParaRPr lang="zh-CN" altLang="en-US" sz="2000" b="1" dirty="0">
                <a:solidFill>
                  <a:prstClr val="white"/>
                </a:solidFill>
                <a:latin typeface="微软雅黑" pitchFamily="34" charset="-122"/>
                <a:ea typeface="微软雅黑" pitchFamily="34" charset="-122"/>
              </a:endParaRPr>
            </a:p>
          </p:txBody>
        </p:sp>
      </p:grpSp>
      <p:sp>
        <p:nvSpPr>
          <p:cNvPr id="124" name="箭號: 彎曲 123">
            <a:extLst>
              <a:ext uri="{FF2B5EF4-FFF2-40B4-BE49-F238E27FC236}">
                <a16:creationId xmlns:a16="http://schemas.microsoft.com/office/drawing/2014/main" id="{620E8E9D-EC88-4876-9CE5-20CAB901D6DE}"/>
              </a:ext>
            </a:extLst>
          </p:cNvPr>
          <p:cNvSpPr/>
          <p:nvPr/>
        </p:nvSpPr>
        <p:spPr>
          <a:xfrm>
            <a:off x="4955635" y="2892768"/>
            <a:ext cx="1055300" cy="629806"/>
          </a:xfrm>
          <a:prstGeom prst="ben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solidFill>
                <a:schemeClr val="tx1"/>
              </a:solidFill>
            </a:endParaRPr>
          </a:p>
        </p:txBody>
      </p:sp>
      <p:sp>
        <p:nvSpPr>
          <p:cNvPr id="6" name="文字方塊 5">
            <a:extLst>
              <a:ext uri="{FF2B5EF4-FFF2-40B4-BE49-F238E27FC236}">
                <a16:creationId xmlns:a16="http://schemas.microsoft.com/office/drawing/2014/main" id="{9C3E780B-D613-4C61-A89E-58AEB82E5A1B}"/>
              </a:ext>
            </a:extLst>
          </p:cNvPr>
          <p:cNvSpPr txBox="1"/>
          <p:nvPr/>
        </p:nvSpPr>
        <p:spPr>
          <a:xfrm>
            <a:off x="3775998" y="2002005"/>
            <a:ext cx="3479774" cy="707886"/>
          </a:xfrm>
          <a:prstGeom prst="rect">
            <a:avLst/>
          </a:prstGeom>
          <a:noFill/>
        </p:spPr>
        <p:txBody>
          <a:bodyPr wrap="square" rtlCol="0">
            <a:spAutoFit/>
          </a:bodyPr>
          <a:lstStyle/>
          <a:p>
            <a:r>
              <a:rPr lang="zh-TW" altLang="en-US" sz="2000" b="1" dirty="0">
                <a:solidFill>
                  <a:srgbClr val="C00000"/>
                </a:solidFill>
                <a:latin typeface="微軟正黑體" panose="020B0604030504040204" pitchFamily="34" charset="-120"/>
                <a:ea typeface="微軟正黑體" panose="020B0604030504040204" pitchFamily="34" charset="-120"/>
              </a:rPr>
              <a:t>沒有交易承諾或履約要求權，</a:t>
            </a:r>
            <a:endParaRPr lang="en-US" altLang="zh-TW" sz="2000" b="1" dirty="0">
              <a:solidFill>
                <a:srgbClr val="C00000"/>
              </a:solidFill>
              <a:latin typeface="微軟正黑體" panose="020B0604030504040204" pitchFamily="34" charset="-120"/>
              <a:ea typeface="微軟正黑體" panose="020B0604030504040204" pitchFamily="34" charset="-120"/>
            </a:endParaRPr>
          </a:p>
          <a:p>
            <a:r>
              <a:rPr lang="zh-TW" altLang="en-US" sz="2000" b="1" dirty="0">
                <a:solidFill>
                  <a:srgbClr val="C00000"/>
                </a:solidFill>
                <a:latin typeface="微軟正黑體" panose="020B0604030504040204" pitchFamily="34" charset="-120"/>
                <a:ea typeface="微軟正黑體" panose="020B0604030504040204" pitchFamily="34" charset="-120"/>
              </a:rPr>
              <a:t>在交易過程中產生窒礙</a:t>
            </a:r>
          </a:p>
        </p:txBody>
      </p:sp>
      <p:sp>
        <p:nvSpPr>
          <p:cNvPr id="24" name="文本框 36">
            <a:extLst>
              <a:ext uri="{FF2B5EF4-FFF2-40B4-BE49-F238E27FC236}">
                <a16:creationId xmlns:a16="http://schemas.microsoft.com/office/drawing/2014/main" id="{04C3C0FE-91AF-4FDA-B1FC-E4B6EAE32A0F}"/>
              </a:ext>
            </a:extLst>
          </p:cNvPr>
          <p:cNvSpPr txBox="1">
            <a:spLocks noChangeArrowheads="1"/>
          </p:cNvSpPr>
          <p:nvPr/>
        </p:nvSpPr>
        <p:spPr bwMode="auto">
          <a:xfrm>
            <a:off x="3894952" y="5122263"/>
            <a:ext cx="1289761" cy="400110"/>
          </a:xfrm>
          <a:prstGeom prst="rect">
            <a:avLst/>
          </a:prstGeom>
          <a:noFill/>
          <a:ln w="9525">
            <a:noFill/>
            <a:miter lim="800000"/>
            <a:headEnd/>
            <a:tailEnd/>
          </a:ln>
        </p:spPr>
        <p:txBody>
          <a:bodyPr wrap="square">
            <a:spAutoFit/>
          </a:bodyPr>
          <a:lstStyle/>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數位貨幣</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25" name="文本框 36">
            <a:extLst>
              <a:ext uri="{FF2B5EF4-FFF2-40B4-BE49-F238E27FC236}">
                <a16:creationId xmlns:a16="http://schemas.microsoft.com/office/drawing/2014/main" id="{3FB82713-D4CC-46FB-AB1C-CEFDAE1DAD58}"/>
              </a:ext>
            </a:extLst>
          </p:cNvPr>
          <p:cNvSpPr txBox="1">
            <a:spLocks noChangeArrowheads="1"/>
          </p:cNvSpPr>
          <p:nvPr/>
        </p:nvSpPr>
        <p:spPr bwMode="auto">
          <a:xfrm>
            <a:off x="7255772" y="3692177"/>
            <a:ext cx="1264333" cy="400110"/>
          </a:xfrm>
          <a:prstGeom prst="rect">
            <a:avLst/>
          </a:prstGeom>
          <a:noFill/>
          <a:ln w="9525">
            <a:noFill/>
            <a:miter lim="800000"/>
            <a:headEnd/>
            <a:tailEnd/>
          </a:ln>
        </p:spPr>
        <p:txBody>
          <a:bodyPr wrap="square">
            <a:spAutoFit/>
          </a:bodyPr>
          <a:lstStyle/>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智能合約</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16" name="直接连接符 33">
            <a:extLst>
              <a:ext uri="{FF2B5EF4-FFF2-40B4-BE49-F238E27FC236}">
                <a16:creationId xmlns:a16="http://schemas.microsoft.com/office/drawing/2014/main" id="{A8A5D5B4-6B05-476C-BB97-75F57B7917FA}"/>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36905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2" presetClass="entr" presetSubtype="8"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0-#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53" presetClass="entr" presetSubtype="16" fill="hold" nodeType="afterEffect">
                                  <p:stCondLst>
                                    <p:cond delay="0"/>
                                  </p:stCondLst>
                                  <p:childTnLst>
                                    <p:set>
                                      <p:cBhvr>
                                        <p:cTn id="15" dur="1" fill="hold">
                                          <p:stCondLst>
                                            <p:cond delay="0"/>
                                          </p:stCondLst>
                                        </p:cTn>
                                        <p:tgtEl>
                                          <p:spTgt spid="107"/>
                                        </p:tgtEl>
                                        <p:attrNameLst>
                                          <p:attrName>style.visibility</p:attrName>
                                        </p:attrNameLst>
                                      </p:cBhvr>
                                      <p:to>
                                        <p:strVal val="visible"/>
                                      </p:to>
                                    </p:set>
                                    <p:anim calcmode="lin" valueType="num">
                                      <p:cBhvr>
                                        <p:cTn id="16" dur="500" fill="hold"/>
                                        <p:tgtEl>
                                          <p:spTgt spid="107"/>
                                        </p:tgtEl>
                                        <p:attrNameLst>
                                          <p:attrName>ppt_w</p:attrName>
                                        </p:attrNameLst>
                                      </p:cBhvr>
                                      <p:tavLst>
                                        <p:tav tm="0">
                                          <p:val>
                                            <p:fltVal val="0"/>
                                          </p:val>
                                        </p:tav>
                                        <p:tav tm="100000">
                                          <p:val>
                                            <p:strVal val="#ppt_w"/>
                                          </p:val>
                                        </p:tav>
                                      </p:tavLst>
                                    </p:anim>
                                    <p:anim calcmode="lin" valueType="num">
                                      <p:cBhvr>
                                        <p:cTn id="17" dur="500" fill="hold"/>
                                        <p:tgtEl>
                                          <p:spTgt spid="107"/>
                                        </p:tgtEl>
                                        <p:attrNameLst>
                                          <p:attrName>ppt_h</p:attrName>
                                        </p:attrNameLst>
                                      </p:cBhvr>
                                      <p:tavLst>
                                        <p:tav tm="0">
                                          <p:val>
                                            <p:fltVal val="0"/>
                                          </p:val>
                                        </p:tav>
                                        <p:tav tm="100000">
                                          <p:val>
                                            <p:strVal val="#ppt_h"/>
                                          </p:val>
                                        </p:tav>
                                      </p:tavLst>
                                    </p:anim>
                                    <p:animEffect transition="in" filter="fade">
                                      <p:cBhvr>
                                        <p:cTn id="18" dur="500"/>
                                        <p:tgtEl>
                                          <p:spTgt spid="107"/>
                                        </p:tgtEl>
                                      </p:cBhvr>
                                    </p:animEffect>
                                  </p:childTnLst>
                                </p:cTn>
                              </p:par>
                            </p:childTnLst>
                          </p:cTn>
                        </p:par>
                        <p:par>
                          <p:cTn id="19" fill="hold">
                            <p:stCondLst>
                              <p:cond delay="3000"/>
                            </p:stCondLst>
                            <p:childTnLst>
                              <p:par>
                                <p:cTn id="20" presetID="16" presetClass="entr" presetSubtype="21" fill="hold" grpId="0" nodeType="after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arn(inVertical)">
                                      <p:cBhvr>
                                        <p:cTn id="22" dur="500"/>
                                        <p:tgtEl>
                                          <p:spTgt spid="24"/>
                                        </p:tgtEl>
                                      </p:cBhvr>
                                    </p:animEffect>
                                  </p:childTnLst>
                                </p:cTn>
                              </p:par>
                            </p:childTnLst>
                          </p:cTn>
                        </p:par>
                        <p:par>
                          <p:cTn id="23" fill="hold">
                            <p:stCondLst>
                              <p:cond delay="3500"/>
                            </p:stCondLst>
                            <p:childTnLst>
                              <p:par>
                                <p:cTn id="24" presetID="2" presetClass="entr" presetSubtype="8" fill="hold" grpId="0" nodeType="afterEffect">
                                  <p:stCondLst>
                                    <p:cond delay="0"/>
                                  </p:stCondLst>
                                  <p:childTnLst>
                                    <p:set>
                                      <p:cBhvr>
                                        <p:cTn id="25" dur="1" fill="hold">
                                          <p:stCondLst>
                                            <p:cond delay="0"/>
                                          </p:stCondLst>
                                        </p:cTn>
                                        <p:tgtEl>
                                          <p:spTgt spid="124"/>
                                        </p:tgtEl>
                                        <p:attrNameLst>
                                          <p:attrName>style.visibility</p:attrName>
                                        </p:attrNameLst>
                                      </p:cBhvr>
                                      <p:to>
                                        <p:strVal val="visible"/>
                                      </p:to>
                                    </p:set>
                                    <p:anim calcmode="lin" valueType="num">
                                      <p:cBhvr additive="base">
                                        <p:cTn id="26" dur="500" fill="hold"/>
                                        <p:tgtEl>
                                          <p:spTgt spid="124"/>
                                        </p:tgtEl>
                                        <p:attrNameLst>
                                          <p:attrName>ppt_x</p:attrName>
                                        </p:attrNameLst>
                                      </p:cBhvr>
                                      <p:tavLst>
                                        <p:tav tm="0">
                                          <p:val>
                                            <p:strVal val="0-#ppt_w/2"/>
                                          </p:val>
                                        </p:tav>
                                        <p:tav tm="100000">
                                          <p:val>
                                            <p:strVal val="#ppt_x"/>
                                          </p:val>
                                        </p:tav>
                                      </p:tavLst>
                                    </p:anim>
                                    <p:anim calcmode="lin" valueType="num">
                                      <p:cBhvr additive="base">
                                        <p:cTn id="27" dur="500" fill="hold"/>
                                        <p:tgtEl>
                                          <p:spTgt spid="124"/>
                                        </p:tgtEl>
                                        <p:attrNameLst>
                                          <p:attrName>ppt_y</p:attrName>
                                        </p:attrNameLst>
                                      </p:cBhvr>
                                      <p:tavLst>
                                        <p:tav tm="0">
                                          <p:val>
                                            <p:strVal val="#ppt_y"/>
                                          </p:val>
                                        </p:tav>
                                        <p:tav tm="100000">
                                          <p:val>
                                            <p:strVal val="#ppt_y"/>
                                          </p:val>
                                        </p:tav>
                                      </p:tavLst>
                                    </p:anim>
                                  </p:childTnLst>
                                </p:cTn>
                              </p:par>
                            </p:childTnLst>
                          </p:cTn>
                        </p:par>
                        <p:par>
                          <p:cTn id="28" fill="hold">
                            <p:stCondLst>
                              <p:cond delay="4000"/>
                            </p:stCondLst>
                            <p:childTnLst>
                              <p:par>
                                <p:cTn id="29" presetID="16" presetClass="entr" presetSubtype="21"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arn(inVertical)">
                                      <p:cBhvr>
                                        <p:cTn id="31" dur="500"/>
                                        <p:tgtEl>
                                          <p:spTgt spid="6"/>
                                        </p:tgtEl>
                                      </p:cBhvr>
                                    </p:animEffect>
                                  </p:childTnLst>
                                </p:cTn>
                              </p:par>
                            </p:childTnLst>
                          </p:cTn>
                        </p:par>
                        <p:par>
                          <p:cTn id="32" fill="hold">
                            <p:stCondLst>
                              <p:cond delay="4500"/>
                            </p:stCondLst>
                            <p:childTnLst>
                              <p:par>
                                <p:cTn id="33" presetID="53" presetClass="entr" presetSubtype="16" fill="hold" grpId="0" nodeType="afterEffect">
                                  <p:stCondLst>
                                    <p:cond delay="0"/>
                                  </p:stCondLst>
                                  <p:childTnLst>
                                    <p:set>
                                      <p:cBhvr>
                                        <p:cTn id="34" dur="1" fill="hold">
                                          <p:stCondLst>
                                            <p:cond delay="0"/>
                                          </p:stCondLst>
                                        </p:cTn>
                                        <p:tgtEl>
                                          <p:spTgt spid="103"/>
                                        </p:tgtEl>
                                        <p:attrNameLst>
                                          <p:attrName>style.visibility</p:attrName>
                                        </p:attrNameLst>
                                      </p:cBhvr>
                                      <p:to>
                                        <p:strVal val="visible"/>
                                      </p:to>
                                    </p:set>
                                    <p:anim calcmode="lin" valueType="num">
                                      <p:cBhvr>
                                        <p:cTn id="35" dur="500" fill="hold"/>
                                        <p:tgtEl>
                                          <p:spTgt spid="103"/>
                                        </p:tgtEl>
                                        <p:attrNameLst>
                                          <p:attrName>ppt_w</p:attrName>
                                        </p:attrNameLst>
                                      </p:cBhvr>
                                      <p:tavLst>
                                        <p:tav tm="0">
                                          <p:val>
                                            <p:fltVal val="0"/>
                                          </p:val>
                                        </p:tav>
                                        <p:tav tm="100000">
                                          <p:val>
                                            <p:strVal val="#ppt_w"/>
                                          </p:val>
                                        </p:tav>
                                      </p:tavLst>
                                    </p:anim>
                                    <p:anim calcmode="lin" valueType="num">
                                      <p:cBhvr>
                                        <p:cTn id="36" dur="500" fill="hold"/>
                                        <p:tgtEl>
                                          <p:spTgt spid="103"/>
                                        </p:tgtEl>
                                        <p:attrNameLst>
                                          <p:attrName>ppt_h</p:attrName>
                                        </p:attrNameLst>
                                      </p:cBhvr>
                                      <p:tavLst>
                                        <p:tav tm="0">
                                          <p:val>
                                            <p:fltVal val="0"/>
                                          </p:val>
                                        </p:tav>
                                        <p:tav tm="100000">
                                          <p:val>
                                            <p:strVal val="#ppt_h"/>
                                          </p:val>
                                        </p:tav>
                                      </p:tavLst>
                                    </p:anim>
                                    <p:animEffect transition="in" filter="fade">
                                      <p:cBhvr>
                                        <p:cTn id="37" dur="500"/>
                                        <p:tgtEl>
                                          <p:spTgt spid="103"/>
                                        </p:tgtEl>
                                      </p:cBhvr>
                                    </p:animEffect>
                                  </p:childTnLst>
                                </p:cTn>
                              </p:par>
                            </p:childTnLst>
                          </p:cTn>
                        </p:par>
                        <p:par>
                          <p:cTn id="38" fill="hold">
                            <p:stCondLst>
                              <p:cond delay="5000"/>
                            </p:stCondLst>
                            <p:childTnLst>
                              <p:par>
                                <p:cTn id="39" presetID="53" presetClass="entr" presetSubtype="16" fill="hold" nodeType="afterEffect">
                                  <p:stCondLst>
                                    <p:cond delay="0"/>
                                  </p:stCondLst>
                                  <p:childTnLst>
                                    <p:set>
                                      <p:cBhvr>
                                        <p:cTn id="40" dur="1" fill="hold">
                                          <p:stCondLst>
                                            <p:cond delay="0"/>
                                          </p:stCondLst>
                                        </p:cTn>
                                        <p:tgtEl>
                                          <p:spTgt spid="110"/>
                                        </p:tgtEl>
                                        <p:attrNameLst>
                                          <p:attrName>style.visibility</p:attrName>
                                        </p:attrNameLst>
                                      </p:cBhvr>
                                      <p:to>
                                        <p:strVal val="visible"/>
                                      </p:to>
                                    </p:set>
                                    <p:anim calcmode="lin" valueType="num">
                                      <p:cBhvr>
                                        <p:cTn id="41" dur="500" fill="hold"/>
                                        <p:tgtEl>
                                          <p:spTgt spid="110"/>
                                        </p:tgtEl>
                                        <p:attrNameLst>
                                          <p:attrName>ppt_w</p:attrName>
                                        </p:attrNameLst>
                                      </p:cBhvr>
                                      <p:tavLst>
                                        <p:tav tm="0">
                                          <p:val>
                                            <p:fltVal val="0"/>
                                          </p:val>
                                        </p:tav>
                                        <p:tav tm="100000">
                                          <p:val>
                                            <p:strVal val="#ppt_w"/>
                                          </p:val>
                                        </p:tav>
                                      </p:tavLst>
                                    </p:anim>
                                    <p:anim calcmode="lin" valueType="num">
                                      <p:cBhvr>
                                        <p:cTn id="42" dur="500" fill="hold"/>
                                        <p:tgtEl>
                                          <p:spTgt spid="110"/>
                                        </p:tgtEl>
                                        <p:attrNameLst>
                                          <p:attrName>ppt_h</p:attrName>
                                        </p:attrNameLst>
                                      </p:cBhvr>
                                      <p:tavLst>
                                        <p:tav tm="0">
                                          <p:val>
                                            <p:fltVal val="0"/>
                                          </p:val>
                                        </p:tav>
                                        <p:tav tm="100000">
                                          <p:val>
                                            <p:strVal val="#ppt_h"/>
                                          </p:val>
                                        </p:tav>
                                      </p:tavLst>
                                    </p:anim>
                                    <p:animEffect transition="in" filter="fade">
                                      <p:cBhvr>
                                        <p:cTn id="43" dur="500"/>
                                        <p:tgtEl>
                                          <p:spTgt spid="110"/>
                                        </p:tgtEl>
                                      </p:cBhvr>
                                    </p:animEffect>
                                  </p:childTnLst>
                                </p:cTn>
                              </p:par>
                            </p:childTnLst>
                          </p:cTn>
                        </p:par>
                        <p:par>
                          <p:cTn id="44" fill="hold">
                            <p:stCondLst>
                              <p:cond delay="5500"/>
                            </p:stCondLst>
                            <p:childTnLst>
                              <p:par>
                                <p:cTn id="45" presetID="16" presetClass="entr" presetSubtype="21" fill="hold" nodeType="afterEffect">
                                  <p:stCondLst>
                                    <p:cond delay="0"/>
                                  </p:stCondLst>
                                  <p:childTnLst>
                                    <p:set>
                                      <p:cBhvr>
                                        <p:cTn id="46" dur="1" fill="hold">
                                          <p:stCondLst>
                                            <p:cond delay="0"/>
                                          </p:stCondLst>
                                        </p:cTn>
                                        <p:tgtEl>
                                          <p:spTgt spid="25">
                                            <p:txEl>
                                              <p:pRg st="0" end="0"/>
                                            </p:txEl>
                                          </p:spTgt>
                                        </p:tgtEl>
                                        <p:attrNameLst>
                                          <p:attrName>style.visibility</p:attrName>
                                        </p:attrNameLst>
                                      </p:cBhvr>
                                      <p:to>
                                        <p:strVal val="visible"/>
                                      </p:to>
                                    </p:set>
                                    <p:animEffect transition="in" filter="barn(inVertical)">
                                      <p:cBhvr>
                                        <p:cTn id="47" dur="500"/>
                                        <p:tgtEl>
                                          <p:spTgt spid="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3" grpId="0" animBg="1"/>
      <p:bldP spid="124" grpId="0" animBg="1"/>
      <p:bldP spid="6" grpId="0"/>
      <p:bldP spid="2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標題 1">
            <a:extLst>
              <a:ext uri="{FF2B5EF4-FFF2-40B4-BE49-F238E27FC236}">
                <a16:creationId xmlns:a16="http://schemas.microsoft.com/office/drawing/2014/main" id="{89ECFA43-E6C3-41B9-83CC-8BE2EE7D2B5F}"/>
              </a:ext>
            </a:extLst>
          </p:cNvPr>
          <p:cNvSpPr txBox="1">
            <a:spLocks/>
          </p:cNvSpPr>
          <p:nvPr/>
        </p:nvSpPr>
        <p:spPr>
          <a:xfrm>
            <a:off x="93638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1-3</a:t>
            </a:r>
            <a:r>
              <a:rPr lang="zh-TW" altLang="en-US" sz="2400" b="1" dirty="0">
                <a:solidFill>
                  <a:srgbClr val="E06741"/>
                </a:solidFill>
              </a:rPr>
              <a:t> 區塊鏈的演進</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F92B6E6E-7FFA-4D99-B78E-B1D16C0BCB4D}"/>
              </a:ext>
            </a:extLst>
          </p:cNvPr>
          <p:cNvSpPr txBox="1"/>
          <p:nvPr/>
        </p:nvSpPr>
        <p:spPr>
          <a:xfrm>
            <a:off x="798594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09" name="文本框 22">
            <a:extLst>
              <a:ext uri="{FF2B5EF4-FFF2-40B4-BE49-F238E27FC236}">
                <a16:creationId xmlns:a16="http://schemas.microsoft.com/office/drawing/2014/main" id="{531F3419-0DEE-49FE-9C1D-B4E5DFD266B3}"/>
              </a:ext>
            </a:extLst>
          </p:cNvPr>
          <p:cNvSpPr txBox="1">
            <a:spLocks noChangeArrowheads="1"/>
          </p:cNvSpPr>
          <p:nvPr/>
        </p:nvSpPr>
        <p:spPr bwMode="auto">
          <a:xfrm>
            <a:off x="1558751" y="1489328"/>
            <a:ext cx="6579045" cy="461665"/>
          </a:xfrm>
          <a:prstGeom prst="rect">
            <a:avLst/>
          </a:prstGeom>
          <a:noFill/>
          <a:ln w="9525">
            <a:noFill/>
            <a:miter lim="800000"/>
            <a:headEnd/>
            <a:tailEnd/>
          </a:ln>
        </p:spPr>
        <p:txBody>
          <a:bodyPr wrap="none">
            <a:spAutoFit/>
          </a:bodyPr>
          <a:lstStyle/>
          <a:p>
            <a:r>
              <a:rPr lang="zh-TW" altLang="en-US" sz="2400" b="1" dirty="0">
                <a:solidFill>
                  <a:srgbClr val="3DA18E"/>
                </a:solidFill>
                <a:latin typeface="微軟正黑體" panose="020B0604030504040204" pitchFamily="34" charset="-120"/>
                <a:ea typeface="微軟正黑體" panose="020B0604030504040204" pitchFamily="34" charset="-120"/>
              </a:rPr>
              <a:t>二、區塊鏈</a:t>
            </a:r>
            <a:r>
              <a:rPr lang="en-US" altLang="zh-TW" sz="2400" b="1" dirty="0">
                <a:solidFill>
                  <a:srgbClr val="3DA18E"/>
                </a:solidFill>
                <a:latin typeface="微軟正黑體" panose="020B0604030504040204" pitchFamily="34" charset="-120"/>
                <a:ea typeface="微軟正黑體" panose="020B0604030504040204" pitchFamily="34" charset="-120"/>
              </a:rPr>
              <a:t>2.0</a:t>
            </a:r>
            <a:r>
              <a:rPr lang="zh-TW" altLang="en-US" sz="2400" b="1" dirty="0">
                <a:solidFill>
                  <a:srgbClr val="3DA18E"/>
                </a:solidFill>
                <a:latin typeface="微軟正黑體" panose="020B0604030504040204" pitchFamily="34" charset="-120"/>
                <a:ea typeface="微軟正黑體" panose="020B0604030504040204" pitchFamily="34" charset="-120"/>
              </a:rPr>
              <a:t>：智能合約（</a:t>
            </a:r>
            <a:r>
              <a:rPr lang="en-US" altLang="zh-TW" sz="2400" b="1" dirty="0">
                <a:solidFill>
                  <a:srgbClr val="3DA18E"/>
                </a:solidFill>
                <a:latin typeface="微軟正黑體" panose="020B0604030504040204" pitchFamily="34" charset="-120"/>
                <a:ea typeface="微軟正黑體" panose="020B0604030504040204" pitchFamily="34" charset="-120"/>
              </a:rPr>
              <a:t>Smart Contract</a:t>
            </a:r>
            <a:r>
              <a:rPr lang="zh-TW" altLang="en-US" sz="2400" b="1" dirty="0">
                <a:solidFill>
                  <a:srgbClr val="3DA18E"/>
                </a:solidFill>
                <a:latin typeface="微軟正黑體" panose="020B0604030504040204" pitchFamily="34" charset="-120"/>
                <a:ea typeface="微軟正黑體" panose="020B0604030504040204" pitchFamily="34" charset="-120"/>
              </a:rPr>
              <a:t>）</a:t>
            </a:r>
          </a:p>
        </p:txBody>
      </p:sp>
      <p:sp>
        <p:nvSpPr>
          <p:cNvPr id="120" name="文本框 36">
            <a:extLst>
              <a:ext uri="{FF2B5EF4-FFF2-40B4-BE49-F238E27FC236}">
                <a16:creationId xmlns:a16="http://schemas.microsoft.com/office/drawing/2014/main" id="{8C0FF8BB-220F-406F-848B-7C6B9F76AD4A}"/>
              </a:ext>
            </a:extLst>
          </p:cNvPr>
          <p:cNvSpPr txBox="1">
            <a:spLocks noChangeArrowheads="1"/>
          </p:cNvSpPr>
          <p:nvPr/>
        </p:nvSpPr>
        <p:spPr bwMode="auto">
          <a:xfrm>
            <a:off x="2135949" y="2159726"/>
            <a:ext cx="8171833" cy="3348481"/>
          </a:xfrm>
          <a:prstGeom prst="rect">
            <a:avLst/>
          </a:prstGeom>
          <a:noFill/>
          <a:ln w="9525">
            <a:noFill/>
            <a:miter lim="800000"/>
            <a:headEnd/>
            <a:tailEnd/>
          </a:ln>
        </p:spPr>
        <p:txBody>
          <a:bodyPr wrap="square">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加入</a:t>
            </a:r>
            <a:r>
              <a:rPr lang="zh-TW" altLang="en-US" sz="2400" b="1" dirty="0">
                <a:solidFill>
                  <a:srgbClr val="54667E"/>
                </a:solidFill>
                <a:latin typeface="微軟正黑體" panose="020B0604030504040204" pitchFamily="34" charset="-120"/>
                <a:ea typeface="微軟正黑體" panose="020B0604030504040204" pitchFamily="34" charset="-120"/>
              </a:rPr>
              <a:t>智能合約</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機制，在達成共識下交易，提高交易信任度</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以數位形式呈現</a:t>
            </a:r>
            <a:r>
              <a:rPr lang="zh-TW" altLang="en-US" sz="2400" b="1" dirty="0">
                <a:solidFill>
                  <a:srgbClr val="54667E"/>
                </a:solidFill>
                <a:latin typeface="微軟正黑體" panose="020B0604030504040204" pitchFamily="34" charset="-120"/>
                <a:ea typeface="微軟正黑體" panose="020B0604030504040204" pitchFamily="34" charset="-120"/>
              </a:rPr>
              <a:t>交易承諾</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Deal Promises</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簽署同意後即刻建立雙方的權利義務，且能強制執行， 無須透過第三方管理仲裁</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最常被使用在</a:t>
            </a:r>
            <a:r>
              <a:rPr lang="zh-TW" altLang="en-US" sz="2400" b="1" dirty="0">
                <a:solidFill>
                  <a:srgbClr val="54667E"/>
                </a:solidFill>
                <a:latin typeface="微軟正黑體" panose="020B0604030504040204" pitchFamily="34" charset="-120"/>
                <a:ea typeface="微軟正黑體" panose="020B0604030504040204" pitchFamily="34" charset="-120"/>
              </a:rPr>
              <a:t>金融交易</a:t>
            </a:r>
            <a:endParaRPr lang="en-US" altLang="zh-TW" sz="2400" b="1" dirty="0">
              <a:solidFill>
                <a:srgbClr val="54667E"/>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不侷限於資金或商品的交易</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2" name="圖片 11">
            <a:extLst>
              <a:ext uri="{FF2B5EF4-FFF2-40B4-BE49-F238E27FC236}">
                <a16:creationId xmlns:a16="http://schemas.microsoft.com/office/drawing/2014/main" id="{F1647588-C20D-43CC-8859-E8BE7FF945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2274" y="4098884"/>
            <a:ext cx="1967670" cy="1967670"/>
          </a:xfrm>
          <a:prstGeom prst="rect">
            <a:avLst/>
          </a:prstGeom>
        </p:spPr>
      </p:pic>
      <p:cxnSp>
        <p:nvCxnSpPr>
          <p:cNvPr id="8" name="直接连接符 33">
            <a:extLst>
              <a:ext uri="{FF2B5EF4-FFF2-40B4-BE49-F238E27FC236}">
                <a16:creationId xmlns:a16="http://schemas.microsoft.com/office/drawing/2014/main" id="{201FD04B-73A4-4BDD-B67F-1E8EE073D6EA}"/>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009865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2" presetClass="entr" presetSubtype="4" fill="hold" grpId="0" nodeType="afterEffect">
                                  <p:stCondLst>
                                    <p:cond delay="0"/>
                                  </p:stCondLst>
                                  <p:childTnLst>
                                    <p:set>
                                      <p:cBhvr>
                                        <p:cTn id="15" dur="1" fill="hold">
                                          <p:stCondLst>
                                            <p:cond delay="0"/>
                                          </p:stCondLst>
                                        </p:cTn>
                                        <p:tgtEl>
                                          <p:spTgt spid="109"/>
                                        </p:tgtEl>
                                        <p:attrNameLst>
                                          <p:attrName>style.visibility</p:attrName>
                                        </p:attrNameLst>
                                      </p:cBhvr>
                                      <p:to>
                                        <p:strVal val="visible"/>
                                      </p:to>
                                    </p:set>
                                    <p:anim calcmode="lin" valueType="num">
                                      <p:cBhvr additive="base">
                                        <p:cTn id="16" dur="500" fill="hold"/>
                                        <p:tgtEl>
                                          <p:spTgt spid="109"/>
                                        </p:tgtEl>
                                        <p:attrNameLst>
                                          <p:attrName>ppt_x</p:attrName>
                                        </p:attrNameLst>
                                      </p:cBhvr>
                                      <p:tavLst>
                                        <p:tav tm="0">
                                          <p:val>
                                            <p:strVal val="#ppt_x"/>
                                          </p:val>
                                        </p:tav>
                                        <p:tav tm="100000">
                                          <p:val>
                                            <p:strVal val="#ppt_x"/>
                                          </p:val>
                                        </p:tav>
                                      </p:tavLst>
                                    </p:anim>
                                    <p:anim calcmode="lin" valueType="num">
                                      <p:cBhvr additive="base">
                                        <p:cTn id="17" dur="500" fill="hold"/>
                                        <p:tgtEl>
                                          <p:spTgt spid="109"/>
                                        </p:tgtEl>
                                        <p:attrNameLst>
                                          <p:attrName>ppt_y</p:attrName>
                                        </p:attrNameLst>
                                      </p:cBhvr>
                                      <p:tavLst>
                                        <p:tav tm="0">
                                          <p:val>
                                            <p:strVal val="1+#ppt_h/2"/>
                                          </p:val>
                                        </p:tav>
                                        <p:tav tm="100000">
                                          <p:val>
                                            <p:strVal val="#ppt_y"/>
                                          </p:val>
                                        </p:tav>
                                      </p:tavLst>
                                    </p:anim>
                                  </p:childTnLst>
                                </p:cTn>
                              </p:par>
                            </p:childTnLst>
                          </p:cTn>
                        </p:par>
                        <p:par>
                          <p:cTn id="18" fill="hold">
                            <p:stCondLst>
                              <p:cond delay="3000"/>
                            </p:stCondLst>
                            <p:childTnLst>
                              <p:par>
                                <p:cTn id="19" presetID="16" presetClass="entr" presetSubtype="21" fill="hold" grpId="0" nodeType="afterEffect">
                                  <p:stCondLst>
                                    <p:cond delay="0"/>
                                  </p:stCondLst>
                                  <p:childTnLst>
                                    <p:set>
                                      <p:cBhvr>
                                        <p:cTn id="20" dur="1" fill="hold">
                                          <p:stCondLst>
                                            <p:cond delay="0"/>
                                          </p:stCondLst>
                                        </p:cTn>
                                        <p:tgtEl>
                                          <p:spTgt spid="120"/>
                                        </p:tgtEl>
                                        <p:attrNameLst>
                                          <p:attrName>style.visibility</p:attrName>
                                        </p:attrNameLst>
                                      </p:cBhvr>
                                      <p:to>
                                        <p:strVal val="visible"/>
                                      </p:to>
                                    </p:set>
                                    <p:animEffect transition="in" filter="barn(inVertical)">
                                      <p:cBhvr>
                                        <p:cTn id="21" dur="500"/>
                                        <p:tgtEl>
                                          <p:spTgt spid="120"/>
                                        </p:tgtEl>
                                      </p:cBhvr>
                                    </p:animEffect>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9" grpId="0"/>
      <p:bldP spid="12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標題 1">
            <a:extLst>
              <a:ext uri="{FF2B5EF4-FFF2-40B4-BE49-F238E27FC236}">
                <a16:creationId xmlns:a16="http://schemas.microsoft.com/office/drawing/2014/main" id="{89ECFA43-E6C3-41B9-83CC-8BE2EE7D2B5F}"/>
              </a:ext>
            </a:extLst>
          </p:cNvPr>
          <p:cNvSpPr txBox="1">
            <a:spLocks/>
          </p:cNvSpPr>
          <p:nvPr/>
        </p:nvSpPr>
        <p:spPr>
          <a:xfrm>
            <a:off x="93638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1-3</a:t>
            </a:r>
            <a:r>
              <a:rPr lang="zh-TW" altLang="en-US" sz="2400" b="1" dirty="0">
                <a:solidFill>
                  <a:srgbClr val="E06741"/>
                </a:solidFill>
              </a:rPr>
              <a:t> 區塊鏈的演進</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F92B6E6E-7FFA-4D99-B78E-B1D16C0BCB4D}"/>
              </a:ext>
            </a:extLst>
          </p:cNvPr>
          <p:cNvSpPr txBox="1"/>
          <p:nvPr/>
        </p:nvSpPr>
        <p:spPr>
          <a:xfrm>
            <a:off x="798594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grpSp>
        <p:nvGrpSpPr>
          <p:cNvPr id="44" name="Group 37">
            <a:extLst>
              <a:ext uri="{FF2B5EF4-FFF2-40B4-BE49-F238E27FC236}">
                <a16:creationId xmlns:a16="http://schemas.microsoft.com/office/drawing/2014/main" id="{45579EF9-F215-4CDD-899F-43F5803063D5}"/>
              </a:ext>
            </a:extLst>
          </p:cNvPr>
          <p:cNvGrpSpPr>
            <a:grpSpLocks noChangeAspect="1"/>
          </p:cNvGrpSpPr>
          <p:nvPr/>
        </p:nvGrpSpPr>
        <p:grpSpPr>
          <a:xfrm>
            <a:off x="173930" y="4789467"/>
            <a:ext cx="978604" cy="947894"/>
            <a:chOff x="2053710" y="1590342"/>
            <a:chExt cx="345538" cy="334695"/>
          </a:xfrm>
          <a:solidFill>
            <a:schemeClr val="accent1"/>
          </a:solidFill>
          <a:effectLst>
            <a:outerShdw blurRad="76200" dir="18900000" sy="23000" kx="-1200000" algn="bl" rotWithShape="0">
              <a:prstClr val="black">
                <a:alpha val="20000"/>
              </a:prstClr>
            </a:outerShdw>
          </a:effectLst>
        </p:grpSpPr>
        <p:sp>
          <p:nvSpPr>
            <p:cNvPr id="45" name="Oval 204">
              <a:extLst>
                <a:ext uri="{FF2B5EF4-FFF2-40B4-BE49-F238E27FC236}">
                  <a16:creationId xmlns:a16="http://schemas.microsoft.com/office/drawing/2014/main" id="{F5CB001F-C425-4C0B-960F-8E63F65A0637}"/>
                </a:ext>
              </a:extLst>
            </p:cNvPr>
            <p:cNvSpPr>
              <a:spLocks noChangeArrowheads="1"/>
            </p:cNvSpPr>
            <p:nvPr/>
          </p:nvSpPr>
          <p:spPr bwMode="auto">
            <a:xfrm>
              <a:off x="2243829" y="1590342"/>
              <a:ext cx="71566" cy="7156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a:p>
          </p:txBody>
        </p:sp>
        <p:sp>
          <p:nvSpPr>
            <p:cNvPr id="46" name="Freeform 205">
              <a:extLst>
                <a:ext uri="{FF2B5EF4-FFF2-40B4-BE49-F238E27FC236}">
                  <a16:creationId xmlns:a16="http://schemas.microsoft.com/office/drawing/2014/main" id="{17D27911-E40B-40D9-B74E-72CC11151B95}"/>
                </a:ext>
              </a:extLst>
            </p:cNvPr>
            <p:cNvSpPr>
              <a:spLocks/>
            </p:cNvSpPr>
            <p:nvPr/>
          </p:nvSpPr>
          <p:spPr bwMode="auto">
            <a:xfrm>
              <a:off x="2053710" y="1656847"/>
              <a:ext cx="345538" cy="268190"/>
            </a:xfrm>
            <a:custGeom>
              <a:avLst/>
              <a:gdLst>
                <a:gd name="T0" fmla="*/ 383 w 478"/>
                <a:gd name="T1" fmla="*/ 76 h 371"/>
                <a:gd name="T2" fmla="*/ 331 w 478"/>
                <a:gd name="T3" fmla="*/ 35 h 371"/>
                <a:gd name="T4" fmla="*/ 242 w 478"/>
                <a:gd name="T5" fmla="*/ 0 h 371"/>
                <a:gd name="T6" fmla="*/ 133 w 478"/>
                <a:gd name="T7" fmla="*/ 0 h 371"/>
                <a:gd name="T8" fmla="*/ 78 w 478"/>
                <a:gd name="T9" fmla="*/ 118 h 371"/>
                <a:gd name="T10" fmla="*/ 64 w 478"/>
                <a:gd name="T11" fmla="*/ 114 h 371"/>
                <a:gd name="T12" fmla="*/ 59 w 478"/>
                <a:gd name="T13" fmla="*/ 128 h 371"/>
                <a:gd name="T14" fmla="*/ 57 w 478"/>
                <a:gd name="T15" fmla="*/ 132 h 371"/>
                <a:gd name="T16" fmla="*/ 55 w 478"/>
                <a:gd name="T17" fmla="*/ 137 h 371"/>
                <a:gd name="T18" fmla="*/ 38 w 478"/>
                <a:gd name="T19" fmla="*/ 130 h 371"/>
                <a:gd name="T20" fmla="*/ 0 w 478"/>
                <a:gd name="T21" fmla="*/ 220 h 371"/>
                <a:gd name="T22" fmla="*/ 90 w 478"/>
                <a:gd name="T23" fmla="*/ 258 h 371"/>
                <a:gd name="T24" fmla="*/ 97 w 478"/>
                <a:gd name="T25" fmla="*/ 260 h 371"/>
                <a:gd name="T26" fmla="*/ 97 w 478"/>
                <a:gd name="T27" fmla="*/ 258 h 371"/>
                <a:gd name="T28" fmla="*/ 135 w 478"/>
                <a:gd name="T29" fmla="*/ 170 h 371"/>
                <a:gd name="T30" fmla="*/ 119 w 478"/>
                <a:gd name="T31" fmla="*/ 163 h 371"/>
                <a:gd name="T32" fmla="*/ 121 w 478"/>
                <a:gd name="T33" fmla="*/ 159 h 371"/>
                <a:gd name="T34" fmla="*/ 123 w 478"/>
                <a:gd name="T35" fmla="*/ 154 h 371"/>
                <a:gd name="T36" fmla="*/ 128 w 478"/>
                <a:gd name="T37" fmla="*/ 140 h 371"/>
                <a:gd name="T38" fmla="*/ 114 w 478"/>
                <a:gd name="T39" fmla="*/ 135 h 371"/>
                <a:gd name="T40" fmla="*/ 156 w 478"/>
                <a:gd name="T41" fmla="*/ 38 h 371"/>
                <a:gd name="T42" fmla="*/ 227 w 478"/>
                <a:gd name="T43" fmla="*/ 38 h 371"/>
                <a:gd name="T44" fmla="*/ 178 w 478"/>
                <a:gd name="T45" fmla="*/ 175 h 371"/>
                <a:gd name="T46" fmla="*/ 166 w 478"/>
                <a:gd name="T47" fmla="*/ 251 h 371"/>
                <a:gd name="T48" fmla="*/ 145 w 478"/>
                <a:gd name="T49" fmla="*/ 253 h 371"/>
                <a:gd name="T50" fmla="*/ 135 w 478"/>
                <a:gd name="T51" fmla="*/ 277 h 371"/>
                <a:gd name="T52" fmla="*/ 130 w 478"/>
                <a:gd name="T53" fmla="*/ 286 h 371"/>
                <a:gd name="T54" fmla="*/ 121 w 478"/>
                <a:gd name="T55" fmla="*/ 282 h 371"/>
                <a:gd name="T56" fmla="*/ 64 w 478"/>
                <a:gd name="T57" fmla="*/ 260 h 371"/>
                <a:gd name="T58" fmla="*/ 57 w 478"/>
                <a:gd name="T59" fmla="*/ 260 h 371"/>
                <a:gd name="T60" fmla="*/ 59 w 478"/>
                <a:gd name="T61" fmla="*/ 310 h 371"/>
                <a:gd name="T62" fmla="*/ 208 w 478"/>
                <a:gd name="T63" fmla="*/ 298 h 371"/>
                <a:gd name="T64" fmla="*/ 225 w 478"/>
                <a:gd name="T65" fmla="*/ 208 h 371"/>
                <a:gd name="T66" fmla="*/ 227 w 478"/>
                <a:gd name="T67" fmla="*/ 211 h 371"/>
                <a:gd name="T68" fmla="*/ 286 w 478"/>
                <a:gd name="T69" fmla="*/ 253 h 371"/>
                <a:gd name="T70" fmla="*/ 291 w 478"/>
                <a:gd name="T71" fmla="*/ 371 h 371"/>
                <a:gd name="T72" fmla="*/ 341 w 478"/>
                <a:gd name="T73" fmla="*/ 369 h 371"/>
                <a:gd name="T74" fmla="*/ 334 w 478"/>
                <a:gd name="T75" fmla="*/ 227 h 371"/>
                <a:gd name="T76" fmla="*/ 263 w 478"/>
                <a:gd name="T77" fmla="*/ 175 h 371"/>
                <a:gd name="T78" fmla="*/ 315 w 478"/>
                <a:gd name="T79" fmla="*/ 69 h 371"/>
                <a:gd name="T80" fmla="*/ 383 w 478"/>
                <a:gd name="T81" fmla="*/ 123 h 371"/>
                <a:gd name="T82" fmla="*/ 478 w 478"/>
                <a:gd name="T83" fmla="*/ 43 h 371"/>
                <a:gd name="T84" fmla="*/ 454 w 478"/>
                <a:gd name="T85" fmla="*/ 14 h 371"/>
                <a:gd name="T86" fmla="*/ 383 w 478"/>
                <a:gd name="T87" fmla="*/ 76 h 3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78" h="371">
                  <a:moveTo>
                    <a:pt x="383" y="76"/>
                  </a:moveTo>
                  <a:lnTo>
                    <a:pt x="331" y="35"/>
                  </a:lnTo>
                  <a:lnTo>
                    <a:pt x="242" y="0"/>
                  </a:lnTo>
                  <a:lnTo>
                    <a:pt x="133" y="0"/>
                  </a:lnTo>
                  <a:lnTo>
                    <a:pt x="78" y="118"/>
                  </a:lnTo>
                  <a:lnTo>
                    <a:pt x="64" y="114"/>
                  </a:lnTo>
                  <a:lnTo>
                    <a:pt x="59" y="128"/>
                  </a:lnTo>
                  <a:lnTo>
                    <a:pt x="57" y="132"/>
                  </a:lnTo>
                  <a:lnTo>
                    <a:pt x="55" y="137"/>
                  </a:lnTo>
                  <a:lnTo>
                    <a:pt x="38" y="130"/>
                  </a:lnTo>
                  <a:lnTo>
                    <a:pt x="0" y="220"/>
                  </a:lnTo>
                  <a:lnTo>
                    <a:pt x="90" y="258"/>
                  </a:lnTo>
                  <a:lnTo>
                    <a:pt x="97" y="260"/>
                  </a:lnTo>
                  <a:lnTo>
                    <a:pt x="97" y="258"/>
                  </a:lnTo>
                  <a:lnTo>
                    <a:pt x="135" y="170"/>
                  </a:lnTo>
                  <a:lnTo>
                    <a:pt x="119" y="163"/>
                  </a:lnTo>
                  <a:lnTo>
                    <a:pt x="121" y="159"/>
                  </a:lnTo>
                  <a:lnTo>
                    <a:pt x="123" y="154"/>
                  </a:lnTo>
                  <a:lnTo>
                    <a:pt x="128" y="140"/>
                  </a:lnTo>
                  <a:lnTo>
                    <a:pt x="114" y="135"/>
                  </a:lnTo>
                  <a:lnTo>
                    <a:pt x="156" y="38"/>
                  </a:lnTo>
                  <a:lnTo>
                    <a:pt x="227" y="38"/>
                  </a:lnTo>
                  <a:lnTo>
                    <a:pt x="178" y="175"/>
                  </a:lnTo>
                  <a:lnTo>
                    <a:pt x="166" y="251"/>
                  </a:lnTo>
                  <a:lnTo>
                    <a:pt x="145" y="253"/>
                  </a:lnTo>
                  <a:lnTo>
                    <a:pt x="135" y="277"/>
                  </a:lnTo>
                  <a:lnTo>
                    <a:pt x="130" y="286"/>
                  </a:lnTo>
                  <a:lnTo>
                    <a:pt x="121" y="282"/>
                  </a:lnTo>
                  <a:lnTo>
                    <a:pt x="64" y="260"/>
                  </a:lnTo>
                  <a:lnTo>
                    <a:pt x="57" y="260"/>
                  </a:lnTo>
                  <a:lnTo>
                    <a:pt x="59" y="310"/>
                  </a:lnTo>
                  <a:lnTo>
                    <a:pt x="208" y="298"/>
                  </a:lnTo>
                  <a:lnTo>
                    <a:pt x="225" y="208"/>
                  </a:lnTo>
                  <a:lnTo>
                    <a:pt x="227" y="211"/>
                  </a:lnTo>
                  <a:lnTo>
                    <a:pt x="286" y="253"/>
                  </a:lnTo>
                  <a:lnTo>
                    <a:pt x="291" y="371"/>
                  </a:lnTo>
                  <a:lnTo>
                    <a:pt x="341" y="369"/>
                  </a:lnTo>
                  <a:lnTo>
                    <a:pt x="334" y="227"/>
                  </a:lnTo>
                  <a:lnTo>
                    <a:pt x="263" y="175"/>
                  </a:lnTo>
                  <a:lnTo>
                    <a:pt x="315" y="69"/>
                  </a:lnTo>
                  <a:lnTo>
                    <a:pt x="383" y="123"/>
                  </a:lnTo>
                  <a:lnTo>
                    <a:pt x="478" y="43"/>
                  </a:lnTo>
                  <a:lnTo>
                    <a:pt x="454" y="14"/>
                  </a:lnTo>
                  <a:lnTo>
                    <a:pt x="383" y="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0" tIns="34290" rIns="68580" bIns="34290" numCol="1" anchor="t" anchorCtr="0" compatLnSpc="1">
              <a:prstTxWarp prst="textNoShape">
                <a:avLst/>
              </a:prstTxWarp>
            </a:bodyPr>
            <a:lstStyle/>
            <a:p>
              <a:endParaRPr lang="id-ID" sz="1350" dirty="0"/>
            </a:p>
          </p:txBody>
        </p:sp>
      </p:grpSp>
      <p:sp>
        <p:nvSpPr>
          <p:cNvPr id="103" name="流程图: 数据 16">
            <a:extLst>
              <a:ext uri="{FF2B5EF4-FFF2-40B4-BE49-F238E27FC236}">
                <a16:creationId xmlns:a16="http://schemas.microsoft.com/office/drawing/2014/main" id="{8CD165D5-445D-424D-B661-B2C5A822D307}"/>
              </a:ext>
            </a:extLst>
          </p:cNvPr>
          <p:cNvSpPr>
            <a:spLocks noChangeArrowheads="1"/>
          </p:cNvSpPr>
          <p:nvPr/>
        </p:nvSpPr>
        <p:spPr bwMode="auto">
          <a:xfrm>
            <a:off x="4579914" y="3333445"/>
            <a:ext cx="4044812" cy="874596"/>
          </a:xfrm>
          <a:prstGeom prst="flowChartInputOutput">
            <a:avLst/>
          </a:prstGeom>
          <a:solidFill>
            <a:srgbClr val="3CBBCE"/>
          </a:solidFill>
          <a:ln w="9525">
            <a:noFill/>
            <a:miter lim="800000"/>
            <a:headEnd/>
            <a:tailEnd/>
          </a:ln>
        </p:spPr>
        <p:txBody>
          <a:bodyPr anchor="ctr"/>
          <a:lstStyle/>
          <a:p>
            <a:pPr algn="ctr" eaLnBrk="1" hangingPunct="1"/>
            <a:endParaRPr lang="zh-CN" altLang="en-US">
              <a:solidFill>
                <a:srgbClr val="FFFFFF"/>
              </a:solidFill>
            </a:endParaRPr>
          </a:p>
        </p:txBody>
      </p:sp>
      <p:sp>
        <p:nvSpPr>
          <p:cNvPr id="104" name="流程图: 数据 17">
            <a:extLst>
              <a:ext uri="{FF2B5EF4-FFF2-40B4-BE49-F238E27FC236}">
                <a16:creationId xmlns:a16="http://schemas.microsoft.com/office/drawing/2014/main" id="{0E146128-B921-46BB-A867-D66EB0A1F692}"/>
              </a:ext>
            </a:extLst>
          </p:cNvPr>
          <p:cNvSpPr>
            <a:spLocks noChangeArrowheads="1"/>
          </p:cNvSpPr>
          <p:nvPr/>
        </p:nvSpPr>
        <p:spPr bwMode="auto">
          <a:xfrm>
            <a:off x="7821869" y="1879601"/>
            <a:ext cx="4044812" cy="872415"/>
          </a:xfrm>
          <a:prstGeom prst="flowChartInputOutput">
            <a:avLst/>
          </a:prstGeom>
          <a:solidFill>
            <a:srgbClr val="3CBBCE"/>
          </a:solidFill>
          <a:ln w="9525">
            <a:noFill/>
            <a:miter lim="800000"/>
            <a:headEnd/>
            <a:tailEnd/>
          </a:ln>
        </p:spPr>
        <p:txBody>
          <a:bodyPr anchor="ctr"/>
          <a:lstStyle/>
          <a:p>
            <a:pPr algn="ctr" eaLnBrk="1" hangingPunct="1"/>
            <a:endParaRPr lang="zh-CN" altLang="en-US">
              <a:solidFill>
                <a:srgbClr val="FFFFFF"/>
              </a:solidFill>
            </a:endParaRPr>
          </a:p>
        </p:txBody>
      </p:sp>
      <p:grpSp>
        <p:nvGrpSpPr>
          <p:cNvPr id="107" name="组合 20">
            <a:extLst>
              <a:ext uri="{FF2B5EF4-FFF2-40B4-BE49-F238E27FC236}">
                <a16:creationId xmlns:a16="http://schemas.microsoft.com/office/drawing/2014/main" id="{23F2D291-350D-46A3-AB14-A744DCDF1ADB}"/>
              </a:ext>
            </a:extLst>
          </p:cNvPr>
          <p:cNvGrpSpPr>
            <a:grpSpLocks/>
          </p:cNvGrpSpPr>
          <p:nvPr/>
        </p:nvGrpSpPr>
        <p:grpSpPr bwMode="auto">
          <a:xfrm>
            <a:off x="1336365" y="4789467"/>
            <a:ext cx="4044813" cy="874595"/>
            <a:chOff x="0" y="0"/>
            <a:chExt cx="3176332" cy="635266"/>
          </a:xfrm>
        </p:grpSpPr>
        <p:sp>
          <p:nvSpPr>
            <p:cNvPr id="108" name="流程图: 数据 21">
              <a:extLst>
                <a:ext uri="{FF2B5EF4-FFF2-40B4-BE49-F238E27FC236}">
                  <a16:creationId xmlns:a16="http://schemas.microsoft.com/office/drawing/2014/main" id="{EDEA2ED3-D906-4B16-A485-E4A76E17D0BA}"/>
                </a:ext>
              </a:extLst>
            </p:cNvPr>
            <p:cNvSpPr>
              <a:spLocks noChangeArrowheads="1"/>
            </p:cNvSpPr>
            <p:nvPr/>
          </p:nvSpPr>
          <p:spPr bwMode="auto">
            <a:xfrm>
              <a:off x="0" y="0"/>
              <a:ext cx="3176332" cy="635266"/>
            </a:xfrm>
            <a:prstGeom prst="flowChartInputOutput">
              <a:avLst/>
            </a:prstGeom>
            <a:solidFill>
              <a:srgbClr val="3CBBCE"/>
            </a:solidFill>
            <a:ln w="9525">
              <a:noFill/>
              <a:miter lim="800000"/>
              <a:headEnd/>
              <a:tailEnd/>
            </a:ln>
          </p:spPr>
          <p:txBody>
            <a:bodyPr anchor="ctr"/>
            <a:lstStyle/>
            <a:p>
              <a:pPr algn="ctr" eaLnBrk="1" hangingPunct="1"/>
              <a:endParaRPr lang="zh-CN" altLang="en-US">
                <a:solidFill>
                  <a:srgbClr val="FFFFFF"/>
                </a:solidFill>
              </a:endParaRPr>
            </a:p>
          </p:txBody>
        </p:sp>
        <p:sp>
          <p:nvSpPr>
            <p:cNvPr id="109" name="文本框 22">
              <a:extLst>
                <a:ext uri="{FF2B5EF4-FFF2-40B4-BE49-F238E27FC236}">
                  <a16:creationId xmlns:a16="http://schemas.microsoft.com/office/drawing/2014/main" id="{531F3419-0DEE-49FE-9C1D-B4E5DFD266B3}"/>
                </a:ext>
              </a:extLst>
            </p:cNvPr>
            <p:cNvSpPr txBox="1">
              <a:spLocks noChangeArrowheads="1"/>
            </p:cNvSpPr>
            <p:nvPr/>
          </p:nvSpPr>
          <p:spPr bwMode="auto">
            <a:xfrm>
              <a:off x="762934" y="172322"/>
              <a:ext cx="1580064" cy="290622"/>
            </a:xfrm>
            <a:prstGeom prst="rect">
              <a:avLst/>
            </a:prstGeom>
            <a:noFill/>
            <a:ln w="9525">
              <a:noFill/>
              <a:miter lim="800000"/>
              <a:headEnd/>
              <a:tailEnd/>
            </a:ln>
          </p:spPr>
          <p:txBody>
            <a:bodyPr wrap="none">
              <a:spAutoFit/>
            </a:bodyPr>
            <a:lstStyle/>
            <a:p>
              <a:pPr eaLnBrk="1" hangingPunct="1"/>
              <a:r>
                <a:rPr lang="zh-TW" altLang="en-US" sz="2000" b="1" dirty="0">
                  <a:solidFill>
                    <a:schemeClr val="bg1"/>
                  </a:solidFill>
                  <a:latin typeface="微软雅黑" pitchFamily="34" charset="-122"/>
                  <a:ea typeface="微软雅黑" pitchFamily="34" charset="-122"/>
                </a:rPr>
                <a:t>區塊鏈 </a:t>
              </a:r>
              <a:r>
                <a:rPr lang="en-US" altLang="zh-TW" sz="2000" b="1" dirty="0">
                  <a:solidFill>
                    <a:schemeClr val="bg1"/>
                  </a:solidFill>
                  <a:latin typeface="微软雅黑" pitchFamily="34" charset="-122"/>
                  <a:ea typeface="微软雅黑" pitchFamily="34" charset="-122"/>
                </a:rPr>
                <a:t>1.0</a:t>
              </a:r>
              <a:r>
                <a:rPr lang="zh-TW" altLang="en-US" sz="2000" b="1" dirty="0">
                  <a:solidFill>
                    <a:schemeClr val="bg1"/>
                  </a:solidFill>
                  <a:latin typeface="微软雅黑" pitchFamily="34" charset="-122"/>
                  <a:ea typeface="微软雅黑" pitchFamily="34" charset="-122"/>
                </a:rPr>
                <a:t> 時代</a:t>
              </a:r>
              <a:endParaRPr lang="zh-CN" altLang="en-US" sz="2000" b="1" dirty="0">
                <a:solidFill>
                  <a:schemeClr val="bg1"/>
                </a:solidFill>
                <a:latin typeface="微软雅黑" pitchFamily="34" charset="-122"/>
                <a:ea typeface="微软雅黑" pitchFamily="34" charset="-122"/>
              </a:endParaRPr>
            </a:p>
          </p:txBody>
        </p:sp>
      </p:grpSp>
      <p:grpSp>
        <p:nvGrpSpPr>
          <p:cNvPr id="110" name="组合 23">
            <a:extLst>
              <a:ext uri="{FF2B5EF4-FFF2-40B4-BE49-F238E27FC236}">
                <a16:creationId xmlns:a16="http://schemas.microsoft.com/office/drawing/2014/main" id="{50CE26B3-631A-4FE9-BFCE-F4DBE3193310}"/>
              </a:ext>
            </a:extLst>
          </p:cNvPr>
          <p:cNvGrpSpPr>
            <a:grpSpLocks/>
          </p:cNvGrpSpPr>
          <p:nvPr/>
        </p:nvGrpSpPr>
        <p:grpSpPr bwMode="auto">
          <a:xfrm>
            <a:off x="4581655" y="3570688"/>
            <a:ext cx="2866452" cy="2093374"/>
            <a:chOff x="436781" y="22525"/>
            <a:chExt cx="2252008" cy="1523164"/>
          </a:xfrm>
        </p:grpSpPr>
        <p:sp>
          <p:nvSpPr>
            <p:cNvPr id="111" name="矩形 12">
              <a:extLst>
                <a:ext uri="{FF2B5EF4-FFF2-40B4-BE49-F238E27FC236}">
                  <a16:creationId xmlns:a16="http://schemas.microsoft.com/office/drawing/2014/main" id="{7C7F932E-9184-4C90-8FE8-53F95D482BC6}"/>
                </a:ext>
              </a:extLst>
            </p:cNvPr>
            <p:cNvSpPr>
              <a:spLocks/>
            </p:cNvSpPr>
            <p:nvPr/>
          </p:nvSpPr>
          <p:spPr bwMode="auto">
            <a:xfrm flipH="1" flipV="1">
              <a:off x="436781" y="486911"/>
              <a:ext cx="635196" cy="1058778"/>
            </a:xfrm>
            <a:custGeom>
              <a:avLst/>
              <a:gdLst>
                <a:gd name="T0" fmla="*/ 933968 w 432000"/>
                <a:gd name="T1" fmla="*/ 0 h 720080"/>
                <a:gd name="T2" fmla="*/ 933968 w 432000"/>
                <a:gd name="T3" fmla="*/ 933968 h 720080"/>
                <a:gd name="T4" fmla="*/ 933968 w 432000"/>
                <a:gd name="T5" fmla="*/ 1556787 h 720080"/>
                <a:gd name="T6" fmla="*/ 0 w 432000"/>
                <a:gd name="T7" fmla="*/ 1556787 h 720080"/>
                <a:gd name="T8" fmla="*/ 0 w 432000"/>
                <a:gd name="T9" fmla="*/ 933968 h 720080"/>
                <a:gd name="T10" fmla="*/ 933968 w 432000"/>
                <a:gd name="T11" fmla="*/ 0 h 720080"/>
                <a:gd name="T12" fmla="*/ 0 60000 65536"/>
                <a:gd name="T13" fmla="*/ 0 60000 65536"/>
                <a:gd name="T14" fmla="*/ 0 60000 65536"/>
                <a:gd name="T15" fmla="*/ 0 60000 65536"/>
                <a:gd name="T16" fmla="*/ 0 60000 65536"/>
                <a:gd name="T17" fmla="*/ 0 60000 65536"/>
                <a:gd name="T18" fmla="*/ 0 w 432000"/>
                <a:gd name="T19" fmla="*/ 0 h 720080"/>
                <a:gd name="T20" fmla="*/ 432000 w 432000"/>
                <a:gd name="T21" fmla="*/ 720080 h 720080"/>
              </a:gdLst>
              <a:ahLst/>
              <a:cxnLst>
                <a:cxn ang="T12">
                  <a:pos x="T0" y="T1"/>
                </a:cxn>
                <a:cxn ang="T13">
                  <a:pos x="T2" y="T3"/>
                </a:cxn>
                <a:cxn ang="T14">
                  <a:pos x="T4" y="T5"/>
                </a:cxn>
                <a:cxn ang="T15">
                  <a:pos x="T6" y="T7"/>
                </a:cxn>
                <a:cxn ang="T16">
                  <a:pos x="T8" y="T9"/>
                </a:cxn>
                <a:cxn ang="T17">
                  <a:pos x="T10" y="T11"/>
                </a:cxn>
              </a:cxnLst>
              <a:rect l="T18" t="T19" r="T20" b="T21"/>
              <a:pathLst>
                <a:path w="432000" h="720080">
                  <a:moveTo>
                    <a:pt x="432000" y="0"/>
                  </a:moveTo>
                  <a:lnTo>
                    <a:pt x="432000" y="432000"/>
                  </a:lnTo>
                  <a:lnTo>
                    <a:pt x="432000" y="720080"/>
                  </a:lnTo>
                  <a:lnTo>
                    <a:pt x="0" y="720080"/>
                  </a:lnTo>
                  <a:lnTo>
                    <a:pt x="0" y="432000"/>
                  </a:lnTo>
                  <a:lnTo>
                    <a:pt x="432000" y="0"/>
                  </a:lnTo>
                  <a:close/>
                </a:path>
              </a:pathLst>
            </a:custGeom>
            <a:solidFill>
              <a:srgbClr val="A6A6A6"/>
            </a:solidFill>
            <a:ln w="9525">
              <a:noFill/>
              <a:round/>
              <a:headEnd/>
              <a:tailEnd/>
            </a:ln>
          </p:spPr>
          <p:txBody>
            <a:bodyPr anchor="ctr"/>
            <a:lstStyle/>
            <a:p>
              <a:endParaRPr lang="zh-CN" altLang="en-US"/>
            </a:p>
          </p:txBody>
        </p:sp>
        <p:sp>
          <p:nvSpPr>
            <p:cNvPr id="112" name="文本框 26">
              <a:extLst>
                <a:ext uri="{FF2B5EF4-FFF2-40B4-BE49-F238E27FC236}">
                  <a16:creationId xmlns:a16="http://schemas.microsoft.com/office/drawing/2014/main" id="{34AF6F26-D918-432D-AB7E-4B1BFD726BCE}"/>
                </a:ext>
              </a:extLst>
            </p:cNvPr>
            <p:cNvSpPr txBox="1">
              <a:spLocks noChangeArrowheads="1"/>
            </p:cNvSpPr>
            <p:nvPr/>
          </p:nvSpPr>
          <p:spPr bwMode="auto">
            <a:xfrm>
              <a:off x="1108005" y="22525"/>
              <a:ext cx="1580784" cy="291125"/>
            </a:xfrm>
            <a:prstGeom prst="rect">
              <a:avLst/>
            </a:prstGeom>
            <a:noFill/>
            <a:ln w="9525">
              <a:noFill/>
              <a:miter lim="800000"/>
              <a:headEnd/>
              <a:tailEnd/>
            </a:ln>
          </p:spPr>
          <p:txBody>
            <a:bodyPr wrap="none">
              <a:spAutoFit/>
            </a:bodyPr>
            <a:lstStyle/>
            <a:p>
              <a:pPr lvl="0"/>
              <a:r>
                <a:rPr lang="zh-TW" altLang="en-US" sz="2000" b="1" dirty="0">
                  <a:solidFill>
                    <a:prstClr val="white"/>
                  </a:solidFill>
                  <a:latin typeface="微软雅黑" pitchFamily="34" charset="-122"/>
                  <a:ea typeface="微软雅黑" pitchFamily="34" charset="-122"/>
                </a:rPr>
                <a:t>區塊鏈 </a:t>
              </a:r>
              <a:r>
                <a:rPr lang="en-US" altLang="zh-TW" sz="2000" b="1" dirty="0">
                  <a:solidFill>
                    <a:prstClr val="white"/>
                  </a:solidFill>
                  <a:latin typeface="微软雅黑" pitchFamily="34" charset="-122"/>
                  <a:ea typeface="微软雅黑" pitchFamily="34" charset="-122"/>
                </a:rPr>
                <a:t>2.0 </a:t>
              </a:r>
              <a:r>
                <a:rPr lang="zh-TW" altLang="en-US" sz="2000" b="1" dirty="0">
                  <a:solidFill>
                    <a:prstClr val="white"/>
                  </a:solidFill>
                  <a:latin typeface="微软雅黑" pitchFamily="34" charset="-122"/>
                  <a:ea typeface="微软雅黑" pitchFamily="34" charset="-122"/>
                </a:rPr>
                <a:t>時代</a:t>
              </a:r>
              <a:endParaRPr lang="zh-CN" altLang="en-US" sz="2000" b="1" dirty="0">
                <a:solidFill>
                  <a:prstClr val="white"/>
                </a:solidFill>
                <a:latin typeface="微软雅黑" pitchFamily="34" charset="-122"/>
                <a:ea typeface="微软雅黑" pitchFamily="34" charset="-122"/>
              </a:endParaRPr>
            </a:p>
          </p:txBody>
        </p:sp>
      </p:grpSp>
      <p:grpSp>
        <p:nvGrpSpPr>
          <p:cNvPr id="113" name="组合 27">
            <a:extLst>
              <a:ext uri="{FF2B5EF4-FFF2-40B4-BE49-F238E27FC236}">
                <a16:creationId xmlns:a16="http://schemas.microsoft.com/office/drawing/2014/main" id="{664EA56C-6357-4806-AD20-359D2D87AD35}"/>
              </a:ext>
            </a:extLst>
          </p:cNvPr>
          <p:cNvGrpSpPr>
            <a:grpSpLocks/>
          </p:cNvGrpSpPr>
          <p:nvPr/>
        </p:nvGrpSpPr>
        <p:grpSpPr bwMode="auto">
          <a:xfrm>
            <a:off x="7822408" y="2115753"/>
            <a:ext cx="3104855" cy="2092285"/>
            <a:chOff x="1027621" y="-284050"/>
            <a:chExt cx="2437695" cy="1522835"/>
          </a:xfrm>
        </p:grpSpPr>
        <p:sp>
          <p:nvSpPr>
            <p:cNvPr id="114" name="矩形 12">
              <a:extLst>
                <a:ext uri="{FF2B5EF4-FFF2-40B4-BE49-F238E27FC236}">
                  <a16:creationId xmlns:a16="http://schemas.microsoft.com/office/drawing/2014/main" id="{4B12116D-592A-480D-8822-2BCBCA841178}"/>
                </a:ext>
              </a:extLst>
            </p:cNvPr>
            <p:cNvSpPr>
              <a:spLocks/>
            </p:cNvSpPr>
            <p:nvPr/>
          </p:nvSpPr>
          <p:spPr bwMode="auto">
            <a:xfrm flipH="1" flipV="1">
              <a:off x="1027621" y="180007"/>
              <a:ext cx="635196" cy="1058778"/>
            </a:xfrm>
            <a:custGeom>
              <a:avLst/>
              <a:gdLst>
                <a:gd name="T0" fmla="*/ 933968 w 432000"/>
                <a:gd name="T1" fmla="*/ 0 h 720080"/>
                <a:gd name="T2" fmla="*/ 933968 w 432000"/>
                <a:gd name="T3" fmla="*/ 933968 h 720080"/>
                <a:gd name="T4" fmla="*/ 933968 w 432000"/>
                <a:gd name="T5" fmla="*/ 1556787 h 720080"/>
                <a:gd name="T6" fmla="*/ 0 w 432000"/>
                <a:gd name="T7" fmla="*/ 1556787 h 720080"/>
                <a:gd name="T8" fmla="*/ 0 w 432000"/>
                <a:gd name="T9" fmla="*/ 933968 h 720080"/>
                <a:gd name="T10" fmla="*/ 933968 w 432000"/>
                <a:gd name="T11" fmla="*/ 0 h 720080"/>
                <a:gd name="T12" fmla="*/ 0 60000 65536"/>
                <a:gd name="T13" fmla="*/ 0 60000 65536"/>
                <a:gd name="T14" fmla="*/ 0 60000 65536"/>
                <a:gd name="T15" fmla="*/ 0 60000 65536"/>
                <a:gd name="T16" fmla="*/ 0 60000 65536"/>
                <a:gd name="T17" fmla="*/ 0 60000 65536"/>
                <a:gd name="T18" fmla="*/ 0 w 432000"/>
                <a:gd name="T19" fmla="*/ 0 h 720080"/>
                <a:gd name="T20" fmla="*/ 432000 w 432000"/>
                <a:gd name="T21" fmla="*/ 720080 h 720080"/>
              </a:gdLst>
              <a:ahLst/>
              <a:cxnLst>
                <a:cxn ang="T12">
                  <a:pos x="T0" y="T1"/>
                </a:cxn>
                <a:cxn ang="T13">
                  <a:pos x="T2" y="T3"/>
                </a:cxn>
                <a:cxn ang="T14">
                  <a:pos x="T4" y="T5"/>
                </a:cxn>
                <a:cxn ang="T15">
                  <a:pos x="T6" y="T7"/>
                </a:cxn>
                <a:cxn ang="T16">
                  <a:pos x="T8" y="T9"/>
                </a:cxn>
                <a:cxn ang="T17">
                  <a:pos x="T10" y="T11"/>
                </a:cxn>
              </a:cxnLst>
              <a:rect l="T18" t="T19" r="T20" b="T21"/>
              <a:pathLst>
                <a:path w="432000" h="720080">
                  <a:moveTo>
                    <a:pt x="432000" y="0"/>
                  </a:moveTo>
                  <a:lnTo>
                    <a:pt x="432000" y="432000"/>
                  </a:lnTo>
                  <a:lnTo>
                    <a:pt x="432000" y="720080"/>
                  </a:lnTo>
                  <a:lnTo>
                    <a:pt x="0" y="720080"/>
                  </a:lnTo>
                  <a:lnTo>
                    <a:pt x="0" y="432000"/>
                  </a:lnTo>
                  <a:lnTo>
                    <a:pt x="432000" y="0"/>
                  </a:lnTo>
                  <a:close/>
                </a:path>
              </a:pathLst>
            </a:custGeom>
            <a:solidFill>
              <a:srgbClr val="A6A6A6"/>
            </a:solidFill>
            <a:ln w="9525">
              <a:noFill/>
              <a:round/>
              <a:headEnd/>
              <a:tailEnd/>
            </a:ln>
          </p:spPr>
          <p:txBody>
            <a:bodyPr anchor="ctr"/>
            <a:lstStyle/>
            <a:p>
              <a:endParaRPr lang="zh-CN" altLang="en-US"/>
            </a:p>
          </p:txBody>
        </p:sp>
        <p:sp>
          <p:nvSpPr>
            <p:cNvPr id="115" name="文本框 30">
              <a:extLst>
                <a:ext uri="{FF2B5EF4-FFF2-40B4-BE49-F238E27FC236}">
                  <a16:creationId xmlns:a16="http://schemas.microsoft.com/office/drawing/2014/main" id="{49B0F47B-58DC-410D-8027-B0D07D12CE92}"/>
                </a:ext>
              </a:extLst>
            </p:cNvPr>
            <p:cNvSpPr txBox="1">
              <a:spLocks noChangeArrowheads="1"/>
            </p:cNvSpPr>
            <p:nvPr/>
          </p:nvSpPr>
          <p:spPr bwMode="auto">
            <a:xfrm>
              <a:off x="1885577" y="-284050"/>
              <a:ext cx="1579739" cy="291213"/>
            </a:xfrm>
            <a:prstGeom prst="rect">
              <a:avLst/>
            </a:prstGeom>
            <a:noFill/>
            <a:ln w="9525">
              <a:noFill/>
              <a:miter lim="800000"/>
              <a:headEnd/>
              <a:tailEnd/>
            </a:ln>
          </p:spPr>
          <p:txBody>
            <a:bodyPr wrap="none">
              <a:spAutoFit/>
            </a:bodyPr>
            <a:lstStyle/>
            <a:p>
              <a:pPr lvl="0"/>
              <a:r>
                <a:rPr lang="zh-TW" altLang="en-US" sz="2000" b="1" dirty="0">
                  <a:solidFill>
                    <a:prstClr val="white"/>
                  </a:solidFill>
                  <a:latin typeface="微软雅黑" pitchFamily="34" charset="-122"/>
                  <a:ea typeface="微软雅黑" pitchFamily="34" charset="-122"/>
                </a:rPr>
                <a:t>區塊鏈 </a:t>
              </a:r>
              <a:r>
                <a:rPr lang="en-US" altLang="zh-TW" sz="2000" b="1" dirty="0">
                  <a:solidFill>
                    <a:prstClr val="white"/>
                  </a:solidFill>
                  <a:latin typeface="微软雅黑" pitchFamily="34" charset="-122"/>
                  <a:ea typeface="微软雅黑" pitchFamily="34" charset="-122"/>
                </a:rPr>
                <a:t>3.0 </a:t>
              </a:r>
              <a:r>
                <a:rPr lang="zh-TW" altLang="en-US" sz="2000" b="1" dirty="0">
                  <a:solidFill>
                    <a:prstClr val="white"/>
                  </a:solidFill>
                  <a:latin typeface="微软雅黑" pitchFamily="34" charset="-122"/>
                  <a:ea typeface="微软雅黑" pitchFamily="34" charset="-122"/>
                </a:rPr>
                <a:t>時代</a:t>
              </a:r>
              <a:endParaRPr lang="zh-CN" altLang="en-US" sz="2000" b="1" dirty="0">
                <a:solidFill>
                  <a:prstClr val="white"/>
                </a:solidFill>
                <a:latin typeface="微软雅黑" pitchFamily="34" charset="-122"/>
                <a:ea typeface="微软雅黑" pitchFamily="34" charset="-122"/>
              </a:endParaRPr>
            </a:p>
          </p:txBody>
        </p:sp>
      </p:grpSp>
      <p:sp>
        <p:nvSpPr>
          <p:cNvPr id="120" name="文本框 36">
            <a:extLst>
              <a:ext uri="{FF2B5EF4-FFF2-40B4-BE49-F238E27FC236}">
                <a16:creationId xmlns:a16="http://schemas.microsoft.com/office/drawing/2014/main" id="{8C0FF8BB-220F-406F-848B-7C6B9F76AD4A}"/>
              </a:ext>
            </a:extLst>
          </p:cNvPr>
          <p:cNvSpPr txBox="1">
            <a:spLocks noChangeArrowheads="1"/>
          </p:cNvSpPr>
          <p:nvPr/>
        </p:nvSpPr>
        <p:spPr bwMode="auto">
          <a:xfrm>
            <a:off x="2669065" y="5901304"/>
            <a:ext cx="1289761" cy="400110"/>
          </a:xfrm>
          <a:prstGeom prst="rect">
            <a:avLst/>
          </a:prstGeom>
          <a:noFill/>
          <a:ln w="9525">
            <a:noFill/>
            <a:miter lim="800000"/>
            <a:headEnd/>
            <a:tailEnd/>
          </a:ln>
        </p:spPr>
        <p:txBody>
          <a:bodyPr wrap="square">
            <a:spAutoFit/>
          </a:bodyPr>
          <a:lstStyle/>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數位貨幣</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AD968B58-77D5-445E-A4D8-3971BB6F5FE1}"/>
              </a:ext>
            </a:extLst>
          </p:cNvPr>
          <p:cNvSpPr txBox="1"/>
          <p:nvPr/>
        </p:nvSpPr>
        <p:spPr>
          <a:xfrm>
            <a:off x="5767459" y="1329083"/>
            <a:ext cx="4031873" cy="400110"/>
          </a:xfrm>
          <a:prstGeom prst="rect">
            <a:avLst/>
          </a:prstGeom>
          <a:noFill/>
        </p:spPr>
        <p:txBody>
          <a:bodyPr wrap="none" rtlCol="0">
            <a:spAutoFit/>
          </a:bodyPr>
          <a:lstStyle/>
          <a:p>
            <a:r>
              <a:rPr lang="zh-TW" altLang="en-US" sz="2000" b="1" dirty="0">
                <a:solidFill>
                  <a:srgbClr val="C00000"/>
                </a:solidFill>
                <a:latin typeface="微軟正黑體" panose="020B0604030504040204" pitchFamily="34" charset="-120"/>
                <a:ea typeface="微軟正黑體" panose="020B0604030504040204" pitchFamily="34" charset="-120"/>
              </a:rPr>
              <a:t>智能合約無法滿足其他領域的規範</a:t>
            </a:r>
            <a:endParaRPr lang="zh-TW" altLang="en-US" sz="2000" dirty="0">
              <a:solidFill>
                <a:srgbClr val="C00000"/>
              </a:solidFill>
            </a:endParaRPr>
          </a:p>
        </p:txBody>
      </p:sp>
      <p:sp>
        <p:nvSpPr>
          <p:cNvPr id="5" name="箭號: 彎曲 4">
            <a:extLst>
              <a:ext uri="{FF2B5EF4-FFF2-40B4-BE49-F238E27FC236}">
                <a16:creationId xmlns:a16="http://schemas.microsoft.com/office/drawing/2014/main" id="{F18092FD-D2C7-4CB9-B18B-D44E8BF5FF1C}"/>
              </a:ext>
            </a:extLst>
          </p:cNvPr>
          <p:cNvSpPr/>
          <p:nvPr/>
        </p:nvSpPr>
        <p:spPr>
          <a:xfrm>
            <a:off x="6766568" y="2090493"/>
            <a:ext cx="1055300" cy="629806"/>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131" name="文本框 36">
            <a:extLst>
              <a:ext uri="{FF2B5EF4-FFF2-40B4-BE49-F238E27FC236}">
                <a16:creationId xmlns:a16="http://schemas.microsoft.com/office/drawing/2014/main" id="{8B002E33-A2F0-4775-AF32-82C08DE7DDBC}"/>
              </a:ext>
            </a:extLst>
          </p:cNvPr>
          <p:cNvSpPr txBox="1">
            <a:spLocks noChangeArrowheads="1"/>
          </p:cNvSpPr>
          <p:nvPr/>
        </p:nvSpPr>
        <p:spPr bwMode="auto">
          <a:xfrm>
            <a:off x="6029885" y="4471218"/>
            <a:ext cx="1264333" cy="400110"/>
          </a:xfrm>
          <a:prstGeom prst="rect">
            <a:avLst/>
          </a:prstGeom>
          <a:noFill/>
          <a:ln w="9525">
            <a:noFill/>
            <a:miter lim="800000"/>
            <a:headEnd/>
            <a:tailEnd/>
          </a:ln>
        </p:spPr>
        <p:txBody>
          <a:bodyPr wrap="square">
            <a:spAutoFit/>
          </a:bodyPr>
          <a:lstStyle/>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智能合約</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32" name="文本框 36">
            <a:extLst>
              <a:ext uri="{FF2B5EF4-FFF2-40B4-BE49-F238E27FC236}">
                <a16:creationId xmlns:a16="http://schemas.microsoft.com/office/drawing/2014/main" id="{ECB9A7AC-56F2-4F2D-B8B5-ADB43AFD7DCE}"/>
              </a:ext>
            </a:extLst>
          </p:cNvPr>
          <p:cNvSpPr txBox="1">
            <a:spLocks noChangeArrowheads="1"/>
          </p:cNvSpPr>
          <p:nvPr/>
        </p:nvSpPr>
        <p:spPr bwMode="auto">
          <a:xfrm>
            <a:off x="9414610" y="3016767"/>
            <a:ext cx="1262625" cy="400110"/>
          </a:xfrm>
          <a:prstGeom prst="rect">
            <a:avLst/>
          </a:prstGeom>
          <a:noFill/>
          <a:ln w="9525">
            <a:noFill/>
            <a:miter lim="800000"/>
            <a:headEnd/>
            <a:tailEnd/>
          </a:ln>
        </p:spPr>
        <p:txBody>
          <a:bodyPr wrap="square">
            <a:spAutoFit/>
          </a:bodyPr>
          <a:lstStyle/>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公正應用</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4" name="直接连接符 33">
            <a:extLst>
              <a:ext uri="{FF2B5EF4-FFF2-40B4-BE49-F238E27FC236}">
                <a16:creationId xmlns:a16="http://schemas.microsoft.com/office/drawing/2014/main" id="{B7C1FD83-4E0F-468C-BB69-B2B73D190C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156766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2" presetClass="entr" presetSubtype="8"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fill="hold"/>
                                        <p:tgtEl>
                                          <p:spTgt spid="24"/>
                                        </p:tgtEl>
                                        <p:attrNameLst>
                                          <p:attrName>ppt_x</p:attrName>
                                        </p:attrNameLst>
                                      </p:cBhvr>
                                      <p:tavLst>
                                        <p:tav tm="0">
                                          <p:val>
                                            <p:strVal val="0-#ppt_w/2"/>
                                          </p:val>
                                        </p:tav>
                                        <p:tav tm="100000">
                                          <p:val>
                                            <p:strVal val="#ppt_x"/>
                                          </p:val>
                                        </p:tav>
                                      </p:tavLst>
                                    </p:anim>
                                    <p:anim calcmode="lin" valueType="num">
                                      <p:cBhvr additive="base">
                                        <p:cTn id="12" dur="500" fill="hold"/>
                                        <p:tgtEl>
                                          <p:spTgt spid="24"/>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53" presetClass="entr" presetSubtype="16" fill="hold" nodeType="afterEffect">
                                  <p:stCondLst>
                                    <p:cond delay="0"/>
                                  </p:stCondLst>
                                  <p:childTnLst>
                                    <p:set>
                                      <p:cBhvr>
                                        <p:cTn id="15" dur="1" fill="hold">
                                          <p:stCondLst>
                                            <p:cond delay="0"/>
                                          </p:stCondLst>
                                        </p:cTn>
                                        <p:tgtEl>
                                          <p:spTgt spid="44"/>
                                        </p:tgtEl>
                                        <p:attrNameLst>
                                          <p:attrName>style.visibility</p:attrName>
                                        </p:attrNameLst>
                                      </p:cBhvr>
                                      <p:to>
                                        <p:strVal val="visible"/>
                                      </p:to>
                                    </p:set>
                                    <p:anim calcmode="lin" valueType="num">
                                      <p:cBhvr>
                                        <p:cTn id="16" dur="500" fill="hold"/>
                                        <p:tgtEl>
                                          <p:spTgt spid="44"/>
                                        </p:tgtEl>
                                        <p:attrNameLst>
                                          <p:attrName>ppt_w</p:attrName>
                                        </p:attrNameLst>
                                      </p:cBhvr>
                                      <p:tavLst>
                                        <p:tav tm="0">
                                          <p:val>
                                            <p:fltVal val="0"/>
                                          </p:val>
                                        </p:tav>
                                        <p:tav tm="100000">
                                          <p:val>
                                            <p:strVal val="#ppt_w"/>
                                          </p:val>
                                        </p:tav>
                                      </p:tavLst>
                                    </p:anim>
                                    <p:anim calcmode="lin" valueType="num">
                                      <p:cBhvr>
                                        <p:cTn id="17" dur="500" fill="hold"/>
                                        <p:tgtEl>
                                          <p:spTgt spid="44"/>
                                        </p:tgtEl>
                                        <p:attrNameLst>
                                          <p:attrName>ppt_h</p:attrName>
                                        </p:attrNameLst>
                                      </p:cBhvr>
                                      <p:tavLst>
                                        <p:tav tm="0">
                                          <p:val>
                                            <p:fltVal val="0"/>
                                          </p:val>
                                        </p:tav>
                                        <p:tav tm="100000">
                                          <p:val>
                                            <p:strVal val="#ppt_h"/>
                                          </p:val>
                                        </p:tav>
                                      </p:tavLst>
                                    </p:anim>
                                    <p:animEffect transition="in" filter="fade">
                                      <p:cBhvr>
                                        <p:cTn id="18" dur="500"/>
                                        <p:tgtEl>
                                          <p:spTgt spid="44"/>
                                        </p:tgtEl>
                                      </p:cBhvr>
                                    </p:animEffect>
                                  </p:childTnLst>
                                </p:cTn>
                              </p:par>
                            </p:childTnLst>
                          </p:cTn>
                        </p:par>
                        <p:par>
                          <p:cTn id="19" fill="hold">
                            <p:stCondLst>
                              <p:cond delay="3000"/>
                            </p:stCondLst>
                            <p:childTnLst>
                              <p:par>
                                <p:cTn id="20" presetID="53" presetClass="entr" presetSubtype="16" fill="hold" nodeType="afterEffect">
                                  <p:stCondLst>
                                    <p:cond delay="0"/>
                                  </p:stCondLst>
                                  <p:childTnLst>
                                    <p:set>
                                      <p:cBhvr>
                                        <p:cTn id="21" dur="1" fill="hold">
                                          <p:stCondLst>
                                            <p:cond delay="0"/>
                                          </p:stCondLst>
                                        </p:cTn>
                                        <p:tgtEl>
                                          <p:spTgt spid="107"/>
                                        </p:tgtEl>
                                        <p:attrNameLst>
                                          <p:attrName>style.visibility</p:attrName>
                                        </p:attrNameLst>
                                      </p:cBhvr>
                                      <p:to>
                                        <p:strVal val="visible"/>
                                      </p:to>
                                    </p:set>
                                    <p:anim calcmode="lin" valueType="num">
                                      <p:cBhvr>
                                        <p:cTn id="22" dur="500" fill="hold"/>
                                        <p:tgtEl>
                                          <p:spTgt spid="107"/>
                                        </p:tgtEl>
                                        <p:attrNameLst>
                                          <p:attrName>ppt_w</p:attrName>
                                        </p:attrNameLst>
                                      </p:cBhvr>
                                      <p:tavLst>
                                        <p:tav tm="0">
                                          <p:val>
                                            <p:fltVal val="0"/>
                                          </p:val>
                                        </p:tav>
                                        <p:tav tm="100000">
                                          <p:val>
                                            <p:strVal val="#ppt_w"/>
                                          </p:val>
                                        </p:tav>
                                      </p:tavLst>
                                    </p:anim>
                                    <p:anim calcmode="lin" valueType="num">
                                      <p:cBhvr>
                                        <p:cTn id="23" dur="500" fill="hold"/>
                                        <p:tgtEl>
                                          <p:spTgt spid="107"/>
                                        </p:tgtEl>
                                        <p:attrNameLst>
                                          <p:attrName>ppt_h</p:attrName>
                                        </p:attrNameLst>
                                      </p:cBhvr>
                                      <p:tavLst>
                                        <p:tav tm="0">
                                          <p:val>
                                            <p:fltVal val="0"/>
                                          </p:val>
                                        </p:tav>
                                        <p:tav tm="100000">
                                          <p:val>
                                            <p:strVal val="#ppt_h"/>
                                          </p:val>
                                        </p:tav>
                                      </p:tavLst>
                                    </p:anim>
                                    <p:animEffect transition="in" filter="fade">
                                      <p:cBhvr>
                                        <p:cTn id="24" dur="500"/>
                                        <p:tgtEl>
                                          <p:spTgt spid="107"/>
                                        </p:tgtEl>
                                      </p:cBhvr>
                                    </p:animEffect>
                                  </p:childTnLst>
                                </p:cTn>
                              </p:par>
                            </p:childTnLst>
                          </p:cTn>
                        </p:par>
                        <p:par>
                          <p:cTn id="25" fill="hold">
                            <p:stCondLst>
                              <p:cond delay="3500"/>
                            </p:stCondLst>
                            <p:childTnLst>
                              <p:par>
                                <p:cTn id="26" presetID="16" presetClass="entr" presetSubtype="21" fill="hold" grpId="0" nodeType="afterEffect">
                                  <p:stCondLst>
                                    <p:cond delay="0"/>
                                  </p:stCondLst>
                                  <p:childTnLst>
                                    <p:set>
                                      <p:cBhvr>
                                        <p:cTn id="27" dur="1" fill="hold">
                                          <p:stCondLst>
                                            <p:cond delay="0"/>
                                          </p:stCondLst>
                                        </p:cTn>
                                        <p:tgtEl>
                                          <p:spTgt spid="120"/>
                                        </p:tgtEl>
                                        <p:attrNameLst>
                                          <p:attrName>style.visibility</p:attrName>
                                        </p:attrNameLst>
                                      </p:cBhvr>
                                      <p:to>
                                        <p:strVal val="visible"/>
                                      </p:to>
                                    </p:set>
                                    <p:animEffect transition="in" filter="barn(inVertical)">
                                      <p:cBhvr>
                                        <p:cTn id="28" dur="500"/>
                                        <p:tgtEl>
                                          <p:spTgt spid="120"/>
                                        </p:tgtEl>
                                      </p:cBhvr>
                                    </p:animEffect>
                                  </p:childTnLst>
                                </p:cTn>
                              </p:par>
                            </p:childTnLst>
                          </p:cTn>
                        </p:par>
                        <p:par>
                          <p:cTn id="29" fill="hold">
                            <p:stCondLst>
                              <p:cond delay="4000"/>
                            </p:stCondLst>
                            <p:childTnLst>
                              <p:par>
                                <p:cTn id="30" presetID="53" presetClass="entr" presetSubtype="16" fill="hold" nodeType="afterEffect">
                                  <p:stCondLst>
                                    <p:cond delay="0"/>
                                  </p:stCondLst>
                                  <p:childTnLst>
                                    <p:set>
                                      <p:cBhvr>
                                        <p:cTn id="31" dur="1" fill="hold">
                                          <p:stCondLst>
                                            <p:cond delay="0"/>
                                          </p:stCondLst>
                                        </p:cTn>
                                        <p:tgtEl>
                                          <p:spTgt spid="110"/>
                                        </p:tgtEl>
                                        <p:attrNameLst>
                                          <p:attrName>style.visibility</p:attrName>
                                        </p:attrNameLst>
                                      </p:cBhvr>
                                      <p:to>
                                        <p:strVal val="visible"/>
                                      </p:to>
                                    </p:set>
                                    <p:anim calcmode="lin" valueType="num">
                                      <p:cBhvr>
                                        <p:cTn id="32" dur="500" fill="hold"/>
                                        <p:tgtEl>
                                          <p:spTgt spid="110"/>
                                        </p:tgtEl>
                                        <p:attrNameLst>
                                          <p:attrName>ppt_w</p:attrName>
                                        </p:attrNameLst>
                                      </p:cBhvr>
                                      <p:tavLst>
                                        <p:tav tm="0">
                                          <p:val>
                                            <p:fltVal val="0"/>
                                          </p:val>
                                        </p:tav>
                                        <p:tav tm="100000">
                                          <p:val>
                                            <p:strVal val="#ppt_w"/>
                                          </p:val>
                                        </p:tav>
                                      </p:tavLst>
                                    </p:anim>
                                    <p:anim calcmode="lin" valueType="num">
                                      <p:cBhvr>
                                        <p:cTn id="33" dur="500" fill="hold"/>
                                        <p:tgtEl>
                                          <p:spTgt spid="110"/>
                                        </p:tgtEl>
                                        <p:attrNameLst>
                                          <p:attrName>ppt_h</p:attrName>
                                        </p:attrNameLst>
                                      </p:cBhvr>
                                      <p:tavLst>
                                        <p:tav tm="0">
                                          <p:val>
                                            <p:fltVal val="0"/>
                                          </p:val>
                                        </p:tav>
                                        <p:tav tm="100000">
                                          <p:val>
                                            <p:strVal val="#ppt_h"/>
                                          </p:val>
                                        </p:tav>
                                      </p:tavLst>
                                    </p:anim>
                                    <p:animEffect transition="in" filter="fade">
                                      <p:cBhvr>
                                        <p:cTn id="34" dur="500"/>
                                        <p:tgtEl>
                                          <p:spTgt spid="110"/>
                                        </p:tgtEl>
                                      </p:cBhvr>
                                    </p:animEffect>
                                  </p:childTnLst>
                                </p:cTn>
                              </p:par>
                            </p:childTnLst>
                          </p:cTn>
                        </p:par>
                        <p:par>
                          <p:cTn id="35" fill="hold">
                            <p:stCondLst>
                              <p:cond delay="4500"/>
                            </p:stCondLst>
                            <p:childTnLst>
                              <p:par>
                                <p:cTn id="36" presetID="53" presetClass="entr" presetSubtype="16" fill="hold" grpId="0" nodeType="afterEffect">
                                  <p:stCondLst>
                                    <p:cond delay="0"/>
                                  </p:stCondLst>
                                  <p:childTnLst>
                                    <p:set>
                                      <p:cBhvr>
                                        <p:cTn id="37" dur="1" fill="hold">
                                          <p:stCondLst>
                                            <p:cond delay="0"/>
                                          </p:stCondLst>
                                        </p:cTn>
                                        <p:tgtEl>
                                          <p:spTgt spid="103"/>
                                        </p:tgtEl>
                                        <p:attrNameLst>
                                          <p:attrName>style.visibility</p:attrName>
                                        </p:attrNameLst>
                                      </p:cBhvr>
                                      <p:to>
                                        <p:strVal val="visible"/>
                                      </p:to>
                                    </p:set>
                                    <p:anim calcmode="lin" valueType="num">
                                      <p:cBhvr>
                                        <p:cTn id="38" dur="500" fill="hold"/>
                                        <p:tgtEl>
                                          <p:spTgt spid="103"/>
                                        </p:tgtEl>
                                        <p:attrNameLst>
                                          <p:attrName>ppt_w</p:attrName>
                                        </p:attrNameLst>
                                      </p:cBhvr>
                                      <p:tavLst>
                                        <p:tav tm="0">
                                          <p:val>
                                            <p:fltVal val="0"/>
                                          </p:val>
                                        </p:tav>
                                        <p:tav tm="100000">
                                          <p:val>
                                            <p:strVal val="#ppt_w"/>
                                          </p:val>
                                        </p:tav>
                                      </p:tavLst>
                                    </p:anim>
                                    <p:anim calcmode="lin" valueType="num">
                                      <p:cBhvr>
                                        <p:cTn id="39" dur="500" fill="hold"/>
                                        <p:tgtEl>
                                          <p:spTgt spid="103"/>
                                        </p:tgtEl>
                                        <p:attrNameLst>
                                          <p:attrName>ppt_h</p:attrName>
                                        </p:attrNameLst>
                                      </p:cBhvr>
                                      <p:tavLst>
                                        <p:tav tm="0">
                                          <p:val>
                                            <p:fltVal val="0"/>
                                          </p:val>
                                        </p:tav>
                                        <p:tav tm="100000">
                                          <p:val>
                                            <p:strVal val="#ppt_h"/>
                                          </p:val>
                                        </p:tav>
                                      </p:tavLst>
                                    </p:anim>
                                    <p:animEffect transition="in" filter="fade">
                                      <p:cBhvr>
                                        <p:cTn id="40" dur="500"/>
                                        <p:tgtEl>
                                          <p:spTgt spid="103"/>
                                        </p:tgtEl>
                                      </p:cBhvr>
                                    </p:animEffect>
                                  </p:childTnLst>
                                </p:cTn>
                              </p:par>
                            </p:childTnLst>
                          </p:cTn>
                        </p:par>
                        <p:par>
                          <p:cTn id="41" fill="hold">
                            <p:stCondLst>
                              <p:cond delay="5000"/>
                            </p:stCondLst>
                            <p:childTnLst>
                              <p:par>
                                <p:cTn id="42" presetID="16" presetClass="entr" presetSubtype="21" fill="hold" grpId="0" nodeType="afterEffect">
                                  <p:stCondLst>
                                    <p:cond delay="0"/>
                                  </p:stCondLst>
                                  <p:childTnLst>
                                    <p:set>
                                      <p:cBhvr>
                                        <p:cTn id="43" dur="1" fill="hold">
                                          <p:stCondLst>
                                            <p:cond delay="0"/>
                                          </p:stCondLst>
                                        </p:cTn>
                                        <p:tgtEl>
                                          <p:spTgt spid="131"/>
                                        </p:tgtEl>
                                        <p:attrNameLst>
                                          <p:attrName>style.visibility</p:attrName>
                                        </p:attrNameLst>
                                      </p:cBhvr>
                                      <p:to>
                                        <p:strVal val="visible"/>
                                      </p:to>
                                    </p:set>
                                    <p:animEffect transition="in" filter="barn(inVertical)">
                                      <p:cBhvr>
                                        <p:cTn id="44" dur="500"/>
                                        <p:tgtEl>
                                          <p:spTgt spid="131"/>
                                        </p:tgtEl>
                                      </p:cBhvr>
                                    </p:animEffect>
                                  </p:childTnLst>
                                </p:cTn>
                              </p:par>
                            </p:childTnLst>
                          </p:cTn>
                        </p:par>
                        <p:par>
                          <p:cTn id="45" fill="hold">
                            <p:stCondLst>
                              <p:cond delay="5500"/>
                            </p:stCondLst>
                            <p:childTnLst>
                              <p:par>
                                <p:cTn id="46" presetID="2" presetClass="entr" presetSubtype="8" fill="hold" grpId="0" nodeType="afterEffect">
                                  <p:stCondLst>
                                    <p:cond delay="0"/>
                                  </p:stCondLst>
                                  <p:childTnLst>
                                    <p:set>
                                      <p:cBhvr>
                                        <p:cTn id="47" dur="1" fill="hold">
                                          <p:stCondLst>
                                            <p:cond delay="0"/>
                                          </p:stCondLst>
                                        </p:cTn>
                                        <p:tgtEl>
                                          <p:spTgt spid="5"/>
                                        </p:tgtEl>
                                        <p:attrNameLst>
                                          <p:attrName>style.visibility</p:attrName>
                                        </p:attrNameLst>
                                      </p:cBhvr>
                                      <p:to>
                                        <p:strVal val="visible"/>
                                      </p:to>
                                    </p:set>
                                    <p:anim calcmode="lin" valueType="num">
                                      <p:cBhvr additive="base">
                                        <p:cTn id="48" dur="500" fill="hold"/>
                                        <p:tgtEl>
                                          <p:spTgt spid="5"/>
                                        </p:tgtEl>
                                        <p:attrNameLst>
                                          <p:attrName>ppt_x</p:attrName>
                                        </p:attrNameLst>
                                      </p:cBhvr>
                                      <p:tavLst>
                                        <p:tav tm="0">
                                          <p:val>
                                            <p:strVal val="0-#ppt_w/2"/>
                                          </p:val>
                                        </p:tav>
                                        <p:tav tm="100000">
                                          <p:val>
                                            <p:strVal val="#ppt_x"/>
                                          </p:val>
                                        </p:tav>
                                      </p:tavLst>
                                    </p:anim>
                                    <p:anim calcmode="lin" valueType="num">
                                      <p:cBhvr additive="base">
                                        <p:cTn id="49" dur="500" fill="hold"/>
                                        <p:tgtEl>
                                          <p:spTgt spid="5"/>
                                        </p:tgtEl>
                                        <p:attrNameLst>
                                          <p:attrName>ppt_y</p:attrName>
                                        </p:attrNameLst>
                                      </p:cBhvr>
                                      <p:tavLst>
                                        <p:tav tm="0">
                                          <p:val>
                                            <p:strVal val="#ppt_y"/>
                                          </p:val>
                                        </p:tav>
                                        <p:tav tm="100000">
                                          <p:val>
                                            <p:strVal val="#ppt_y"/>
                                          </p:val>
                                        </p:tav>
                                      </p:tavLst>
                                    </p:anim>
                                  </p:childTnLst>
                                </p:cTn>
                              </p:par>
                            </p:childTnLst>
                          </p:cTn>
                        </p:par>
                        <p:par>
                          <p:cTn id="50" fill="hold">
                            <p:stCondLst>
                              <p:cond delay="6000"/>
                            </p:stCondLst>
                            <p:childTnLst>
                              <p:par>
                                <p:cTn id="51" presetID="16" presetClass="entr" presetSubtype="21" fill="hold" grpId="0" nodeType="afterEffect">
                                  <p:stCondLst>
                                    <p:cond delay="0"/>
                                  </p:stCondLst>
                                  <p:childTnLst>
                                    <p:set>
                                      <p:cBhvr>
                                        <p:cTn id="52" dur="1" fill="hold">
                                          <p:stCondLst>
                                            <p:cond delay="0"/>
                                          </p:stCondLst>
                                        </p:cTn>
                                        <p:tgtEl>
                                          <p:spTgt spid="3"/>
                                        </p:tgtEl>
                                        <p:attrNameLst>
                                          <p:attrName>style.visibility</p:attrName>
                                        </p:attrNameLst>
                                      </p:cBhvr>
                                      <p:to>
                                        <p:strVal val="visible"/>
                                      </p:to>
                                    </p:set>
                                    <p:animEffect transition="in" filter="barn(inVertical)">
                                      <p:cBhvr>
                                        <p:cTn id="53" dur="500"/>
                                        <p:tgtEl>
                                          <p:spTgt spid="3"/>
                                        </p:tgtEl>
                                      </p:cBhvr>
                                    </p:animEffect>
                                  </p:childTnLst>
                                </p:cTn>
                              </p:par>
                            </p:childTnLst>
                          </p:cTn>
                        </p:par>
                        <p:par>
                          <p:cTn id="54" fill="hold">
                            <p:stCondLst>
                              <p:cond delay="6500"/>
                            </p:stCondLst>
                            <p:childTnLst>
                              <p:par>
                                <p:cTn id="55" presetID="53" presetClass="entr" presetSubtype="16" fill="hold" nodeType="afterEffect">
                                  <p:stCondLst>
                                    <p:cond delay="0"/>
                                  </p:stCondLst>
                                  <p:childTnLst>
                                    <p:set>
                                      <p:cBhvr>
                                        <p:cTn id="56" dur="1" fill="hold">
                                          <p:stCondLst>
                                            <p:cond delay="0"/>
                                          </p:stCondLst>
                                        </p:cTn>
                                        <p:tgtEl>
                                          <p:spTgt spid="113"/>
                                        </p:tgtEl>
                                        <p:attrNameLst>
                                          <p:attrName>style.visibility</p:attrName>
                                        </p:attrNameLst>
                                      </p:cBhvr>
                                      <p:to>
                                        <p:strVal val="visible"/>
                                      </p:to>
                                    </p:set>
                                    <p:anim calcmode="lin" valueType="num">
                                      <p:cBhvr>
                                        <p:cTn id="57" dur="500" fill="hold"/>
                                        <p:tgtEl>
                                          <p:spTgt spid="113"/>
                                        </p:tgtEl>
                                        <p:attrNameLst>
                                          <p:attrName>ppt_w</p:attrName>
                                        </p:attrNameLst>
                                      </p:cBhvr>
                                      <p:tavLst>
                                        <p:tav tm="0">
                                          <p:val>
                                            <p:fltVal val="0"/>
                                          </p:val>
                                        </p:tav>
                                        <p:tav tm="100000">
                                          <p:val>
                                            <p:strVal val="#ppt_w"/>
                                          </p:val>
                                        </p:tav>
                                      </p:tavLst>
                                    </p:anim>
                                    <p:anim calcmode="lin" valueType="num">
                                      <p:cBhvr>
                                        <p:cTn id="58" dur="500" fill="hold"/>
                                        <p:tgtEl>
                                          <p:spTgt spid="113"/>
                                        </p:tgtEl>
                                        <p:attrNameLst>
                                          <p:attrName>ppt_h</p:attrName>
                                        </p:attrNameLst>
                                      </p:cBhvr>
                                      <p:tavLst>
                                        <p:tav tm="0">
                                          <p:val>
                                            <p:fltVal val="0"/>
                                          </p:val>
                                        </p:tav>
                                        <p:tav tm="100000">
                                          <p:val>
                                            <p:strVal val="#ppt_h"/>
                                          </p:val>
                                        </p:tav>
                                      </p:tavLst>
                                    </p:anim>
                                    <p:animEffect transition="in" filter="fade">
                                      <p:cBhvr>
                                        <p:cTn id="59" dur="500"/>
                                        <p:tgtEl>
                                          <p:spTgt spid="113"/>
                                        </p:tgtEl>
                                      </p:cBhvr>
                                    </p:animEffect>
                                  </p:childTnLst>
                                </p:cTn>
                              </p:par>
                            </p:childTnLst>
                          </p:cTn>
                        </p:par>
                        <p:par>
                          <p:cTn id="60" fill="hold">
                            <p:stCondLst>
                              <p:cond delay="7000"/>
                            </p:stCondLst>
                            <p:childTnLst>
                              <p:par>
                                <p:cTn id="61" presetID="53" presetClass="entr" presetSubtype="16" fill="hold" grpId="0" nodeType="afterEffect">
                                  <p:stCondLst>
                                    <p:cond delay="0"/>
                                  </p:stCondLst>
                                  <p:childTnLst>
                                    <p:set>
                                      <p:cBhvr>
                                        <p:cTn id="62" dur="1" fill="hold">
                                          <p:stCondLst>
                                            <p:cond delay="0"/>
                                          </p:stCondLst>
                                        </p:cTn>
                                        <p:tgtEl>
                                          <p:spTgt spid="104"/>
                                        </p:tgtEl>
                                        <p:attrNameLst>
                                          <p:attrName>style.visibility</p:attrName>
                                        </p:attrNameLst>
                                      </p:cBhvr>
                                      <p:to>
                                        <p:strVal val="visible"/>
                                      </p:to>
                                    </p:set>
                                    <p:anim calcmode="lin" valueType="num">
                                      <p:cBhvr>
                                        <p:cTn id="63" dur="500" fill="hold"/>
                                        <p:tgtEl>
                                          <p:spTgt spid="104"/>
                                        </p:tgtEl>
                                        <p:attrNameLst>
                                          <p:attrName>ppt_w</p:attrName>
                                        </p:attrNameLst>
                                      </p:cBhvr>
                                      <p:tavLst>
                                        <p:tav tm="0">
                                          <p:val>
                                            <p:fltVal val="0"/>
                                          </p:val>
                                        </p:tav>
                                        <p:tav tm="100000">
                                          <p:val>
                                            <p:strVal val="#ppt_w"/>
                                          </p:val>
                                        </p:tav>
                                      </p:tavLst>
                                    </p:anim>
                                    <p:anim calcmode="lin" valueType="num">
                                      <p:cBhvr>
                                        <p:cTn id="64" dur="500" fill="hold"/>
                                        <p:tgtEl>
                                          <p:spTgt spid="104"/>
                                        </p:tgtEl>
                                        <p:attrNameLst>
                                          <p:attrName>ppt_h</p:attrName>
                                        </p:attrNameLst>
                                      </p:cBhvr>
                                      <p:tavLst>
                                        <p:tav tm="0">
                                          <p:val>
                                            <p:fltVal val="0"/>
                                          </p:val>
                                        </p:tav>
                                        <p:tav tm="100000">
                                          <p:val>
                                            <p:strVal val="#ppt_h"/>
                                          </p:val>
                                        </p:tav>
                                      </p:tavLst>
                                    </p:anim>
                                    <p:animEffect transition="in" filter="fade">
                                      <p:cBhvr>
                                        <p:cTn id="65" dur="500"/>
                                        <p:tgtEl>
                                          <p:spTgt spid="104"/>
                                        </p:tgtEl>
                                      </p:cBhvr>
                                    </p:animEffect>
                                  </p:childTnLst>
                                </p:cTn>
                              </p:par>
                            </p:childTnLst>
                          </p:cTn>
                        </p:par>
                        <p:par>
                          <p:cTn id="66" fill="hold">
                            <p:stCondLst>
                              <p:cond delay="7500"/>
                            </p:stCondLst>
                            <p:childTnLst>
                              <p:par>
                                <p:cTn id="67" presetID="16" presetClass="entr" presetSubtype="21" fill="hold" grpId="0" nodeType="afterEffect">
                                  <p:stCondLst>
                                    <p:cond delay="0"/>
                                  </p:stCondLst>
                                  <p:childTnLst>
                                    <p:set>
                                      <p:cBhvr>
                                        <p:cTn id="68" dur="1" fill="hold">
                                          <p:stCondLst>
                                            <p:cond delay="0"/>
                                          </p:stCondLst>
                                        </p:cTn>
                                        <p:tgtEl>
                                          <p:spTgt spid="132"/>
                                        </p:tgtEl>
                                        <p:attrNameLst>
                                          <p:attrName>style.visibility</p:attrName>
                                        </p:attrNameLst>
                                      </p:cBhvr>
                                      <p:to>
                                        <p:strVal val="visible"/>
                                      </p:to>
                                    </p:set>
                                    <p:animEffect transition="in" filter="barn(inVertical)">
                                      <p:cBhvr>
                                        <p:cTn id="69"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3" grpId="0" animBg="1"/>
      <p:bldP spid="104" grpId="0" animBg="1"/>
      <p:bldP spid="120" grpId="0"/>
      <p:bldP spid="3" grpId="0"/>
      <p:bldP spid="5" grpId="0" animBg="1"/>
      <p:bldP spid="131" grpId="0"/>
      <p:bldP spid="13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42">
            <a:extLst>
              <a:ext uri="{FF2B5EF4-FFF2-40B4-BE49-F238E27FC236}">
                <a16:creationId xmlns:a16="http://schemas.microsoft.com/office/drawing/2014/main" id="{50B1F4E3-72AD-4DE3-A1A2-62296E9E7686}"/>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標題 1">
            <a:extLst>
              <a:ext uri="{FF2B5EF4-FFF2-40B4-BE49-F238E27FC236}">
                <a16:creationId xmlns:a16="http://schemas.microsoft.com/office/drawing/2014/main" id="{89ECFA43-E6C3-41B9-83CC-8BE2EE7D2B5F}"/>
              </a:ext>
            </a:extLst>
          </p:cNvPr>
          <p:cNvSpPr txBox="1">
            <a:spLocks/>
          </p:cNvSpPr>
          <p:nvPr/>
        </p:nvSpPr>
        <p:spPr>
          <a:xfrm>
            <a:off x="936387" y="393820"/>
            <a:ext cx="3643527"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1-3</a:t>
            </a:r>
            <a:r>
              <a:rPr lang="zh-TW" altLang="en-US" sz="2400" b="1" dirty="0">
                <a:solidFill>
                  <a:srgbClr val="E06741"/>
                </a:solidFill>
              </a:rPr>
              <a:t> 區塊鏈的演進</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11" name="文字方塊 10">
            <a:extLst>
              <a:ext uri="{FF2B5EF4-FFF2-40B4-BE49-F238E27FC236}">
                <a16:creationId xmlns:a16="http://schemas.microsoft.com/office/drawing/2014/main" id="{F92B6E6E-7FFA-4D99-B78E-B1D16C0BCB4D}"/>
              </a:ext>
            </a:extLst>
          </p:cNvPr>
          <p:cNvSpPr txBox="1"/>
          <p:nvPr/>
        </p:nvSpPr>
        <p:spPr>
          <a:xfrm>
            <a:off x="798594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109" name="文本框 22">
            <a:extLst>
              <a:ext uri="{FF2B5EF4-FFF2-40B4-BE49-F238E27FC236}">
                <a16:creationId xmlns:a16="http://schemas.microsoft.com/office/drawing/2014/main" id="{531F3419-0DEE-49FE-9C1D-B4E5DFD266B3}"/>
              </a:ext>
            </a:extLst>
          </p:cNvPr>
          <p:cNvSpPr txBox="1">
            <a:spLocks noChangeArrowheads="1"/>
          </p:cNvSpPr>
          <p:nvPr/>
        </p:nvSpPr>
        <p:spPr bwMode="auto">
          <a:xfrm>
            <a:off x="1558751" y="1662235"/>
            <a:ext cx="7457939" cy="461665"/>
          </a:xfrm>
          <a:prstGeom prst="rect">
            <a:avLst/>
          </a:prstGeom>
          <a:noFill/>
          <a:ln w="9525">
            <a:noFill/>
            <a:miter lim="800000"/>
            <a:headEnd/>
            <a:tailEnd/>
          </a:ln>
        </p:spPr>
        <p:txBody>
          <a:bodyPr wrap="none">
            <a:spAutoFit/>
          </a:bodyPr>
          <a:lstStyle/>
          <a:p>
            <a:r>
              <a:rPr lang="zh-TW" altLang="en-US" sz="2400" b="1" dirty="0">
                <a:solidFill>
                  <a:srgbClr val="3DA18E"/>
                </a:solidFill>
                <a:latin typeface="微軟正黑體" panose="020B0604030504040204" pitchFamily="34" charset="-120"/>
                <a:ea typeface="微軟正黑體" panose="020B0604030504040204" pitchFamily="34" charset="-120"/>
              </a:rPr>
              <a:t>三、區塊鏈</a:t>
            </a:r>
            <a:r>
              <a:rPr lang="en-US" altLang="zh-TW" sz="2400" b="1" dirty="0">
                <a:solidFill>
                  <a:srgbClr val="3DA18E"/>
                </a:solidFill>
                <a:latin typeface="微軟正黑體" panose="020B0604030504040204" pitchFamily="34" charset="-120"/>
                <a:ea typeface="微軟正黑體" panose="020B0604030504040204" pitchFamily="34" charset="-120"/>
              </a:rPr>
              <a:t>3.0</a:t>
            </a:r>
            <a:r>
              <a:rPr lang="zh-TW" altLang="en-US" sz="2400" b="1" dirty="0">
                <a:solidFill>
                  <a:srgbClr val="3DA18E"/>
                </a:solidFill>
                <a:latin typeface="微軟正黑體" panose="020B0604030504040204" pitchFamily="34" charset="-120"/>
                <a:ea typeface="微軟正黑體" panose="020B0604030504040204" pitchFamily="34" charset="-120"/>
              </a:rPr>
              <a:t>：公正應用（</a:t>
            </a:r>
            <a:r>
              <a:rPr lang="en-US" altLang="zh-TW" sz="2400" b="1" dirty="0">
                <a:solidFill>
                  <a:srgbClr val="3DA18E"/>
                </a:solidFill>
                <a:latin typeface="微軟正黑體" panose="020B0604030504040204" pitchFamily="34" charset="-120"/>
                <a:ea typeface="微軟正黑體" panose="020B0604030504040204" pitchFamily="34" charset="-120"/>
              </a:rPr>
              <a:t>Impartial Application</a:t>
            </a:r>
            <a:r>
              <a:rPr lang="zh-TW" altLang="en-US" sz="2400" b="1" dirty="0">
                <a:solidFill>
                  <a:srgbClr val="3DA18E"/>
                </a:solidFill>
                <a:latin typeface="微軟正黑體" panose="020B0604030504040204" pitchFamily="34" charset="-120"/>
                <a:ea typeface="微軟正黑體" panose="020B0604030504040204" pitchFamily="34" charset="-120"/>
              </a:rPr>
              <a:t>）</a:t>
            </a:r>
          </a:p>
        </p:txBody>
      </p:sp>
      <p:sp>
        <p:nvSpPr>
          <p:cNvPr id="120" name="文本框 36">
            <a:extLst>
              <a:ext uri="{FF2B5EF4-FFF2-40B4-BE49-F238E27FC236}">
                <a16:creationId xmlns:a16="http://schemas.microsoft.com/office/drawing/2014/main" id="{8C0FF8BB-220F-406F-848B-7C6B9F76AD4A}"/>
              </a:ext>
            </a:extLst>
          </p:cNvPr>
          <p:cNvSpPr txBox="1">
            <a:spLocks noChangeArrowheads="1"/>
          </p:cNvSpPr>
          <p:nvPr/>
        </p:nvSpPr>
        <p:spPr bwMode="auto">
          <a:xfrm>
            <a:off x="2152198" y="2308757"/>
            <a:ext cx="7942653" cy="2240485"/>
          </a:xfrm>
          <a:prstGeom prst="rect">
            <a:avLst/>
          </a:prstGeom>
          <a:noFill/>
          <a:ln w="9525">
            <a:noFill/>
            <a:miter lim="800000"/>
            <a:headEnd/>
            <a:tailEnd/>
          </a:ln>
        </p:spPr>
        <p:txBody>
          <a:bodyPr wrap="square">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「公正應用」導入智能合約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適用於政府、醫療、科學、 文化與藝術等產業領域</a:t>
            </a:r>
          </a:p>
          <a:p>
            <a:pPr marL="800100" lvl="1" indent="-342900">
              <a:lnSpc>
                <a:spcPct val="150000"/>
              </a:lnSpc>
              <a:buFont typeface="微軟正黑體" panose="020B0604030504040204" pitchFamily="34" charset="-120"/>
              <a:buChar char="→"/>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區塊鏈跨足非金融貨幣的領域</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「共享、合作、便捷」</a:t>
            </a:r>
          </a:p>
        </p:txBody>
      </p:sp>
      <p:pic>
        <p:nvPicPr>
          <p:cNvPr id="12" name="圖片 11" descr="一張含有 向量圖形, 樂高, 文字 的圖片&#10;&#10;描述是以非常高的可信度產生">
            <a:extLst>
              <a:ext uri="{FF2B5EF4-FFF2-40B4-BE49-F238E27FC236}">
                <a16:creationId xmlns:a16="http://schemas.microsoft.com/office/drawing/2014/main" id="{BFFD4C29-06C7-410C-A4A0-B10EB72A14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6975" y="3796513"/>
            <a:ext cx="2338044" cy="2338040"/>
          </a:xfrm>
          <a:prstGeom prst="rect">
            <a:avLst/>
          </a:prstGeom>
        </p:spPr>
      </p:pic>
      <p:cxnSp>
        <p:nvCxnSpPr>
          <p:cNvPr id="8" name="直接连接符 33">
            <a:extLst>
              <a:ext uri="{FF2B5EF4-FFF2-40B4-BE49-F238E27FC236}">
                <a16:creationId xmlns:a16="http://schemas.microsoft.com/office/drawing/2014/main" id="{A369D08F-BD48-47FD-8F41-91637868F2D3}"/>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176156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in)">
                                      <p:cBhvr>
                                        <p:cTn id="7" dur="2000"/>
                                        <p:tgtEl>
                                          <p:spTgt spid="9"/>
                                        </p:tgtEl>
                                      </p:cBhvr>
                                    </p:animEffect>
                                  </p:childTnLst>
                                </p:cTn>
                              </p:par>
                            </p:childTnLst>
                          </p:cTn>
                        </p:par>
                        <p:par>
                          <p:cTn id="8" fill="hold">
                            <p:stCondLst>
                              <p:cond delay="2000"/>
                            </p:stCondLst>
                            <p:childTnLst>
                              <p:par>
                                <p:cTn id="9" presetID="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2500"/>
                            </p:stCondLst>
                            <p:childTnLst>
                              <p:par>
                                <p:cTn id="14" presetID="2" presetClass="entr" presetSubtype="4" fill="hold" grpId="0" nodeType="afterEffect">
                                  <p:stCondLst>
                                    <p:cond delay="0"/>
                                  </p:stCondLst>
                                  <p:childTnLst>
                                    <p:set>
                                      <p:cBhvr>
                                        <p:cTn id="15" dur="1" fill="hold">
                                          <p:stCondLst>
                                            <p:cond delay="0"/>
                                          </p:stCondLst>
                                        </p:cTn>
                                        <p:tgtEl>
                                          <p:spTgt spid="109"/>
                                        </p:tgtEl>
                                        <p:attrNameLst>
                                          <p:attrName>style.visibility</p:attrName>
                                        </p:attrNameLst>
                                      </p:cBhvr>
                                      <p:to>
                                        <p:strVal val="visible"/>
                                      </p:to>
                                    </p:set>
                                    <p:anim calcmode="lin" valueType="num">
                                      <p:cBhvr additive="base">
                                        <p:cTn id="16" dur="500" fill="hold"/>
                                        <p:tgtEl>
                                          <p:spTgt spid="109"/>
                                        </p:tgtEl>
                                        <p:attrNameLst>
                                          <p:attrName>ppt_x</p:attrName>
                                        </p:attrNameLst>
                                      </p:cBhvr>
                                      <p:tavLst>
                                        <p:tav tm="0">
                                          <p:val>
                                            <p:strVal val="#ppt_x"/>
                                          </p:val>
                                        </p:tav>
                                        <p:tav tm="100000">
                                          <p:val>
                                            <p:strVal val="#ppt_x"/>
                                          </p:val>
                                        </p:tav>
                                      </p:tavLst>
                                    </p:anim>
                                    <p:anim calcmode="lin" valueType="num">
                                      <p:cBhvr additive="base">
                                        <p:cTn id="17" dur="500" fill="hold"/>
                                        <p:tgtEl>
                                          <p:spTgt spid="109"/>
                                        </p:tgtEl>
                                        <p:attrNameLst>
                                          <p:attrName>ppt_y</p:attrName>
                                        </p:attrNameLst>
                                      </p:cBhvr>
                                      <p:tavLst>
                                        <p:tav tm="0">
                                          <p:val>
                                            <p:strVal val="1+#ppt_h/2"/>
                                          </p:val>
                                        </p:tav>
                                        <p:tav tm="100000">
                                          <p:val>
                                            <p:strVal val="#ppt_y"/>
                                          </p:val>
                                        </p:tav>
                                      </p:tavLst>
                                    </p:anim>
                                  </p:childTnLst>
                                </p:cTn>
                              </p:par>
                            </p:childTnLst>
                          </p:cTn>
                        </p:par>
                        <p:par>
                          <p:cTn id="18" fill="hold">
                            <p:stCondLst>
                              <p:cond delay="3000"/>
                            </p:stCondLst>
                            <p:childTnLst>
                              <p:par>
                                <p:cTn id="19" presetID="16" presetClass="entr" presetSubtype="21" fill="hold" grpId="0" nodeType="afterEffect">
                                  <p:stCondLst>
                                    <p:cond delay="0"/>
                                  </p:stCondLst>
                                  <p:childTnLst>
                                    <p:set>
                                      <p:cBhvr>
                                        <p:cTn id="20" dur="1" fill="hold">
                                          <p:stCondLst>
                                            <p:cond delay="0"/>
                                          </p:stCondLst>
                                        </p:cTn>
                                        <p:tgtEl>
                                          <p:spTgt spid="120"/>
                                        </p:tgtEl>
                                        <p:attrNameLst>
                                          <p:attrName>style.visibility</p:attrName>
                                        </p:attrNameLst>
                                      </p:cBhvr>
                                      <p:to>
                                        <p:strVal val="visible"/>
                                      </p:to>
                                    </p:set>
                                    <p:animEffect transition="in" filter="barn(inVertical)">
                                      <p:cBhvr>
                                        <p:cTn id="21" dur="500"/>
                                        <p:tgtEl>
                                          <p:spTgt spid="120"/>
                                        </p:tgtEl>
                                      </p:cBhvr>
                                    </p:animEffect>
                                  </p:childTnLst>
                                </p:cTn>
                              </p:par>
                            </p:childTnLst>
                          </p:cTn>
                        </p:par>
                        <p:par>
                          <p:cTn id="22" fill="hold">
                            <p:stCondLst>
                              <p:cond delay="3500"/>
                            </p:stCondLst>
                            <p:childTnLst>
                              <p:par>
                                <p:cTn id="23" presetID="53" presetClass="entr" presetSubtype="16"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9" grpId="0"/>
      <p:bldP spid="120"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包图主题2">
  <a:themeElements>
    <a:clrScheme name="自定义 154">
      <a:dk1>
        <a:sysClr val="windowText" lastClr="000000"/>
      </a:dk1>
      <a:lt1>
        <a:sysClr val="window" lastClr="FFFFFF"/>
      </a:lt1>
      <a:dk2>
        <a:srgbClr val="44546A"/>
      </a:dk2>
      <a:lt2>
        <a:srgbClr val="E7E6E6"/>
      </a:lt2>
      <a:accent1>
        <a:srgbClr val="4A5A6F"/>
      </a:accent1>
      <a:accent2>
        <a:srgbClr val="E06741"/>
      </a:accent2>
      <a:accent3>
        <a:srgbClr val="4A5A6F"/>
      </a:accent3>
      <a:accent4>
        <a:srgbClr val="E06741"/>
      </a:accent4>
      <a:accent5>
        <a:srgbClr val="4A5A6F"/>
      </a:accent5>
      <a:accent6>
        <a:srgbClr val="E06741"/>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1030</TotalTime>
  <Words>2765</Words>
  <Application>Microsoft Office PowerPoint</Application>
  <PresentationFormat>寬螢幕</PresentationFormat>
  <Paragraphs>264</Paragraphs>
  <Slides>30</Slides>
  <Notes>2</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30</vt:i4>
      </vt:variant>
    </vt:vector>
  </HeadingPairs>
  <TitlesOfParts>
    <vt:vector size="39" baseType="lpstr">
      <vt:lpstr>等线</vt:lpstr>
      <vt:lpstr>Microsoft JhengHei Light</vt:lpstr>
      <vt:lpstr>微软雅黑</vt:lpstr>
      <vt:lpstr>微軟正黑體</vt:lpstr>
      <vt:lpstr>標楷體</vt:lpstr>
      <vt:lpstr>Arial</vt:lpstr>
      <vt:lpstr>Times New Roman</vt:lpstr>
      <vt:lpstr>Wingdings</vt:lpstr>
      <vt:lpstr>包图主题2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dc:description>http://www.ypppt.com/</dc:description>
  <cp:lastModifiedBy>張景涵</cp:lastModifiedBy>
  <cp:revision>121</cp:revision>
  <dcterms:created xsi:type="dcterms:W3CDTF">2017-09-04T07:53:30Z</dcterms:created>
  <dcterms:modified xsi:type="dcterms:W3CDTF">2018-07-27T07:36:37Z</dcterms:modified>
</cp:coreProperties>
</file>