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284" r:id="rId2"/>
    <p:sldId id="257" r:id="rId3"/>
    <p:sldId id="285" r:id="rId4"/>
    <p:sldId id="354" r:id="rId5"/>
    <p:sldId id="373" r:id="rId6"/>
    <p:sldId id="374" r:id="rId7"/>
    <p:sldId id="375" r:id="rId8"/>
    <p:sldId id="376" r:id="rId9"/>
    <p:sldId id="377" r:id="rId10"/>
    <p:sldId id="378" r:id="rId11"/>
    <p:sldId id="379" r:id="rId12"/>
    <p:sldId id="380" r:id="rId13"/>
    <p:sldId id="381" r:id="rId14"/>
    <p:sldId id="382" r:id="rId15"/>
    <p:sldId id="383" r:id="rId16"/>
    <p:sldId id="384" r:id="rId17"/>
    <p:sldId id="385" r:id="rId18"/>
    <p:sldId id="386" r:id="rId19"/>
    <p:sldId id="387" r:id="rId20"/>
    <p:sldId id="388" r:id="rId21"/>
    <p:sldId id="390" r:id="rId22"/>
    <p:sldId id="391" r:id="rId23"/>
    <p:sldId id="393" r:id="rId24"/>
    <p:sldId id="392" r:id="rId25"/>
    <p:sldId id="394" r:id="rId26"/>
    <p:sldId id="395" r:id="rId27"/>
    <p:sldId id="396" r:id="rId28"/>
    <p:sldId id="397" r:id="rId29"/>
    <p:sldId id="398" r:id="rId30"/>
    <p:sldId id="399" r:id="rId31"/>
    <p:sldId id="400" r:id="rId32"/>
    <p:sldId id="402" r:id="rId33"/>
    <p:sldId id="403" r:id="rId34"/>
    <p:sldId id="404" r:id="rId35"/>
    <p:sldId id="405" r:id="rId36"/>
    <p:sldId id="407" r:id="rId37"/>
    <p:sldId id="409" r:id="rId38"/>
    <p:sldId id="408" r:id="rId39"/>
    <p:sldId id="410" r:id="rId40"/>
    <p:sldId id="411" r:id="rId41"/>
    <p:sldId id="412" r:id="rId42"/>
    <p:sldId id="415" r:id="rId43"/>
    <p:sldId id="413" r:id="rId44"/>
    <p:sldId id="414" r:id="rId45"/>
    <p:sldId id="416" r:id="rId46"/>
    <p:sldId id="417" r:id="rId47"/>
    <p:sldId id="418" r:id="rId48"/>
    <p:sldId id="419" r:id="rId49"/>
  </p:sldIdLst>
  <p:sldSz cx="12192000" cy="6858000"/>
  <p:notesSz cx="6858000" cy="9144000"/>
  <p:custDataLst>
    <p:tags r:id="rId5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667E"/>
    <a:srgbClr val="3DA18E"/>
    <a:srgbClr val="F9F9F9"/>
    <a:srgbClr val="D6DCE5"/>
    <a:srgbClr val="32AC9D"/>
    <a:srgbClr val="252D37"/>
    <a:srgbClr val="B1BCCB"/>
    <a:srgbClr val="F7C655"/>
    <a:srgbClr val="4A5A6F"/>
    <a:srgbClr val="E067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623" autoAdjust="0"/>
  </p:normalViewPr>
  <p:slideViewPr>
    <p:cSldViewPr snapToGrid="0" showGuides="1">
      <p:cViewPr varScale="1">
        <p:scale>
          <a:sx n="102" d="100"/>
          <a:sy n="102" d="100"/>
        </p:scale>
        <p:origin x="276" y="108"/>
      </p:cViewPr>
      <p:guideLst>
        <p:guide orient="horz" pos="2160"/>
        <p:guide pos="3840"/>
      </p:guideLst>
    </p:cSldViewPr>
  </p:slideViewPr>
  <p:notesTextViewPr>
    <p:cViewPr>
      <p:scale>
        <a:sx n="1" d="1"/>
        <a:sy n="1" d="1"/>
      </p:scale>
      <p:origin x="0" y="0"/>
    </p:cViewPr>
  </p:notesTextViewPr>
  <p:sorterViewPr>
    <p:cViewPr>
      <p:scale>
        <a:sx n="100" d="100"/>
        <a:sy n="100" d="100"/>
      </p:scale>
      <p:origin x="0" y="-59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A1C29E-4DEB-482D-8A52-B3AA1C7734AF}" type="doc">
      <dgm:prSet loTypeId="urn:microsoft.com/office/officeart/2005/8/layout/vList3" loCatId="list" qsTypeId="urn:microsoft.com/office/officeart/2005/8/quickstyle/simple1" qsCatId="simple" csTypeId="urn:microsoft.com/office/officeart/2005/8/colors/accent1_2" csCatId="accent1" phldr="1"/>
      <dgm:spPr/>
    </dgm:pt>
    <dgm:pt modelId="{C27182B7-9922-4209-AFCA-BDFCC02B90FA}">
      <dgm:prSet phldrT="[文字]" custT="1">
        <dgm:style>
          <a:lnRef idx="2">
            <a:schemeClr val="accent5"/>
          </a:lnRef>
          <a:fillRef idx="1">
            <a:schemeClr val="lt1"/>
          </a:fillRef>
          <a:effectRef idx="0">
            <a:schemeClr val="accent5"/>
          </a:effectRef>
          <a:fontRef idx="minor">
            <a:schemeClr val="dk1"/>
          </a:fontRef>
        </dgm:style>
      </dgm:prSet>
      <dgm:spPr>
        <a:solidFill>
          <a:srgbClr val="F9F9F9"/>
        </a:solidFill>
      </dgm:spPr>
      <dgm:t>
        <a:bodyPr/>
        <a:lstStyle/>
        <a:p>
          <a:r>
            <a:rPr lang="zh-TW" altLang="en-US" sz="1200" b="1" dirty="0">
              <a:latin typeface="微軟正黑體" panose="020B0604030504040204" pitchFamily="34" charset="-120"/>
              <a:ea typeface="微軟正黑體" panose="020B0604030504040204" pitchFamily="34" charset="-120"/>
            </a:rPr>
            <a:t>網路資源處理技術</a:t>
          </a:r>
        </a:p>
      </dgm:t>
    </dgm:pt>
    <dgm:pt modelId="{98CB5E19-34BB-446A-8603-7D3C08B32A7C}" type="parTrans" cxnId="{B4E4B5F6-B678-4130-8D09-6216C8A0D0FA}">
      <dgm:prSet/>
      <dgm:spPr/>
      <dgm:t>
        <a:bodyPr/>
        <a:lstStyle/>
        <a:p>
          <a:endParaRPr lang="zh-TW" altLang="en-US"/>
        </a:p>
      </dgm:t>
    </dgm:pt>
    <dgm:pt modelId="{48479C70-84CD-4269-B764-E4FFE36D92D3}" type="sibTrans" cxnId="{B4E4B5F6-B678-4130-8D09-6216C8A0D0FA}">
      <dgm:prSet/>
      <dgm:spPr/>
      <dgm:t>
        <a:bodyPr/>
        <a:lstStyle/>
        <a:p>
          <a:endParaRPr lang="zh-TW" altLang="en-US"/>
        </a:p>
      </dgm:t>
    </dgm:pt>
    <dgm:pt modelId="{A11ABAD9-2794-46BF-A9DC-9CDF9A25F7F1}">
      <dgm:prSet phldrT="[文字]" custT="1">
        <dgm:style>
          <a:lnRef idx="2">
            <a:schemeClr val="accent5"/>
          </a:lnRef>
          <a:fillRef idx="1">
            <a:schemeClr val="lt1"/>
          </a:fillRef>
          <a:effectRef idx="0">
            <a:schemeClr val="accent5"/>
          </a:effectRef>
          <a:fontRef idx="minor">
            <a:schemeClr val="dk1"/>
          </a:fontRef>
        </dgm:style>
      </dgm:prSet>
      <dgm:spPr>
        <a:noFill/>
      </dgm:spPr>
      <dgm:t>
        <a:bodyPr/>
        <a:lstStyle/>
        <a:p>
          <a:r>
            <a:rPr lang="zh-TW" altLang="en-US" sz="1200" b="1" dirty="0">
              <a:latin typeface="微軟正黑體" panose="020B0604030504040204" pitchFamily="34" charset="-120"/>
              <a:ea typeface="微軟正黑體" panose="020B0604030504040204" pitchFamily="34" charset="-120"/>
            </a:rPr>
            <a:t>資訊儲存作業技術</a:t>
          </a:r>
        </a:p>
      </dgm:t>
    </dgm:pt>
    <dgm:pt modelId="{BFE2266D-7F06-46D3-9CD8-58B8FA7789C7}" type="parTrans" cxnId="{5995DAC9-841B-46F5-970D-DF001D5E138F}">
      <dgm:prSet/>
      <dgm:spPr/>
      <dgm:t>
        <a:bodyPr/>
        <a:lstStyle/>
        <a:p>
          <a:endParaRPr lang="zh-TW" altLang="en-US"/>
        </a:p>
      </dgm:t>
    </dgm:pt>
    <dgm:pt modelId="{4CA2920F-B7DC-420D-B274-2F0D2DB44859}" type="sibTrans" cxnId="{5995DAC9-841B-46F5-970D-DF001D5E138F}">
      <dgm:prSet/>
      <dgm:spPr/>
      <dgm:t>
        <a:bodyPr/>
        <a:lstStyle/>
        <a:p>
          <a:endParaRPr lang="zh-TW" altLang="en-US"/>
        </a:p>
      </dgm:t>
    </dgm:pt>
    <dgm:pt modelId="{AF62616B-C79B-4E5C-BCC1-D5ECA0ED362B}">
      <dgm:prSet phldrT="[文字]" custT="1">
        <dgm:style>
          <a:lnRef idx="2">
            <a:schemeClr val="accent5"/>
          </a:lnRef>
          <a:fillRef idx="1">
            <a:schemeClr val="lt1"/>
          </a:fillRef>
          <a:effectRef idx="0">
            <a:schemeClr val="accent5"/>
          </a:effectRef>
          <a:fontRef idx="minor">
            <a:schemeClr val="dk1"/>
          </a:fontRef>
        </dgm:style>
      </dgm:prSet>
      <dgm:spPr>
        <a:noFill/>
      </dgm:spPr>
      <dgm:t>
        <a:bodyPr/>
        <a:lstStyle/>
        <a:p>
          <a:r>
            <a:rPr lang="zh-TW" altLang="en-US" sz="1200" b="1" dirty="0">
              <a:latin typeface="微軟正黑體" panose="020B0604030504040204" pitchFamily="34" charset="-120"/>
              <a:ea typeface="微軟正黑體" panose="020B0604030504040204" pitchFamily="34" charset="-120"/>
            </a:rPr>
            <a:t>節點操作分配技術</a:t>
          </a:r>
        </a:p>
      </dgm:t>
    </dgm:pt>
    <dgm:pt modelId="{13650EFA-8F94-44AC-95B4-466CFFEA67D1}" type="parTrans" cxnId="{EAD3326B-3360-4A3E-BBC4-3B4603DBE5CD}">
      <dgm:prSet/>
      <dgm:spPr/>
      <dgm:t>
        <a:bodyPr/>
        <a:lstStyle/>
        <a:p>
          <a:endParaRPr lang="zh-TW" altLang="en-US"/>
        </a:p>
      </dgm:t>
    </dgm:pt>
    <dgm:pt modelId="{99EDDDB8-8DD6-43A3-BB85-00A0425A354A}" type="sibTrans" cxnId="{EAD3326B-3360-4A3E-BBC4-3B4603DBE5CD}">
      <dgm:prSet/>
      <dgm:spPr/>
      <dgm:t>
        <a:bodyPr/>
        <a:lstStyle/>
        <a:p>
          <a:endParaRPr lang="zh-TW" altLang="en-US"/>
        </a:p>
      </dgm:t>
    </dgm:pt>
    <dgm:pt modelId="{43B917C3-923A-4ABF-A2DE-73DD617546D3}" type="pres">
      <dgm:prSet presAssocID="{62A1C29E-4DEB-482D-8A52-B3AA1C7734AF}" presName="linearFlow" presStyleCnt="0">
        <dgm:presLayoutVars>
          <dgm:dir/>
          <dgm:resizeHandles val="exact"/>
        </dgm:presLayoutVars>
      </dgm:prSet>
      <dgm:spPr/>
    </dgm:pt>
    <dgm:pt modelId="{87CFF632-C2B4-4AFC-9AE3-F649E3CB26DF}" type="pres">
      <dgm:prSet presAssocID="{C27182B7-9922-4209-AFCA-BDFCC02B90FA}" presName="composite" presStyleCnt="0"/>
      <dgm:spPr/>
    </dgm:pt>
    <dgm:pt modelId="{AABAB41D-8391-4B57-9DE9-CFFE61373002}" type="pres">
      <dgm:prSet presAssocID="{C27182B7-9922-4209-AFCA-BDFCC02B90FA}" presName="imgShp" presStyleLbl="fgImgPlace1" presStyleIdx="0" presStyleCnt="3" custLinFactX="300000" custLinFactNeighborX="351426" custLinFactNeighborY="3875"/>
      <dgm:spPr/>
    </dgm:pt>
    <dgm:pt modelId="{7CBC648E-A3F5-4C61-9E9B-73244E087394}" type="pres">
      <dgm:prSet presAssocID="{C27182B7-9922-4209-AFCA-BDFCC02B90FA}" presName="txShp" presStyleLbl="node1" presStyleIdx="0" presStyleCnt="3" custScaleX="108477">
        <dgm:presLayoutVars>
          <dgm:bulletEnabled val="1"/>
        </dgm:presLayoutVars>
      </dgm:prSet>
      <dgm:spPr/>
    </dgm:pt>
    <dgm:pt modelId="{C726F3B4-0C83-44BA-920C-21247EE28718}" type="pres">
      <dgm:prSet presAssocID="{48479C70-84CD-4269-B764-E4FFE36D92D3}" presName="spacing" presStyleCnt="0"/>
      <dgm:spPr/>
    </dgm:pt>
    <dgm:pt modelId="{FF36D49A-95EF-4621-8D0C-6F8F35EB34CF}" type="pres">
      <dgm:prSet presAssocID="{AF62616B-C79B-4E5C-BCC1-D5ECA0ED362B}" presName="composite" presStyleCnt="0"/>
      <dgm:spPr/>
    </dgm:pt>
    <dgm:pt modelId="{A681754B-5276-4A53-BCDC-AFA001C97186}" type="pres">
      <dgm:prSet presAssocID="{AF62616B-C79B-4E5C-BCC1-D5ECA0ED362B}" presName="imgShp" presStyleLbl="fgImgPlace1" presStyleIdx="1" presStyleCnt="3" custLinFactX="200000" custLinFactNeighborX="280282"/>
      <dgm:spPr/>
    </dgm:pt>
    <dgm:pt modelId="{5970B935-42B7-4890-9A37-C33A81F5394C}" type="pres">
      <dgm:prSet presAssocID="{AF62616B-C79B-4E5C-BCC1-D5ECA0ED362B}" presName="txShp" presStyleLbl="node1" presStyleIdx="1" presStyleCnt="3" custScaleX="111046">
        <dgm:presLayoutVars>
          <dgm:bulletEnabled val="1"/>
        </dgm:presLayoutVars>
      </dgm:prSet>
      <dgm:spPr/>
    </dgm:pt>
    <dgm:pt modelId="{FD0B8947-D141-4F3F-96E8-D4D53BE79900}" type="pres">
      <dgm:prSet presAssocID="{99EDDDB8-8DD6-43A3-BB85-00A0425A354A}" presName="spacing" presStyleCnt="0"/>
      <dgm:spPr/>
    </dgm:pt>
    <dgm:pt modelId="{95FF4477-9F97-4F80-9EF6-17FB5FD5CB23}" type="pres">
      <dgm:prSet presAssocID="{A11ABAD9-2794-46BF-A9DC-9CDF9A25F7F1}" presName="composite" presStyleCnt="0"/>
      <dgm:spPr/>
    </dgm:pt>
    <dgm:pt modelId="{D90C2DBF-FF93-46DC-BF2D-7E3B24AAF040}" type="pres">
      <dgm:prSet presAssocID="{A11ABAD9-2794-46BF-A9DC-9CDF9A25F7F1}" presName="imgShp" presStyleLbl="fgImgPlace1" presStyleIdx="2" presStyleCnt="3" custLinFactX="300000" custLinFactNeighborX="351426" custLinFactNeighborY="-10894"/>
      <dgm:spPr/>
    </dgm:pt>
    <dgm:pt modelId="{32C99941-280F-403B-89F6-FF0C5F04B60E}" type="pres">
      <dgm:prSet presAssocID="{A11ABAD9-2794-46BF-A9DC-9CDF9A25F7F1}" presName="txShp" presStyleLbl="node1" presStyleIdx="2" presStyleCnt="3" custScaleX="111363">
        <dgm:presLayoutVars>
          <dgm:bulletEnabled val="1"/>
        </dgm:presLayoutVars>
      </dgm:prSet>
      <dgm:spPr/>
    </dgm:pt>
  </dgm:ptLst>
  <dgm:cxnLst>
    <dgm:cxn modelId="{EAD3326B-3360-4A3E-BBC4-3B4603DBE5CD}" srcId="{62A1C29E-4DEB-482D-8A52-B3AA1C7734AF}" destId="{AF62616B-C79B-4E5C-BCC1-D5ECA0ED362B}" srcOrd="1" destOrd="0" parTransId="{13650EFA-8F94-44AC-95B4-466CFFEA67D1}" sibTransId="{99EDDDB8-8DD6-43A3-BB85-00A0425A354A}"/>
    <dgm:cxn modelId="{2F3FE475-E768-43C3-A40F-3587D3A12BF5}" type="presOf" srcId="{A11ABAD9-2794-46BF-A9DC-9CDF9A25F7F1}" destId="{32C99941-280F-403B-89F6-FF0C5F04B60E}" srcOrd="0" destOrd="0" presId="urn:microsoft.com/office/officeart/2005/8/layout/vList3"/>
    <dgm:cxn modelId="{018AE3BE-3F4B-497C-8BEF-8105447CCB89}" type="presOf" srcId="{AF62616B-C79B-4E5C-BCC1-D5ECA0ED362B}" destId="{5970B935-42B7-4890-9A37-C33A81F5394C}" srcOrd="0" destOrd="0" presId="urn:microsoft.com/office/officeart/2005/8/layout/vList3"/>
    <dgm:cxn modelId="{9CFD99C6-57AD-4B9B-9B1D-B7062091E547}" type="presOf" srcId="{C27182B7-9922-4209-AFCA-BDFCC02B90FA}" destId="{7CBC648E-A3F5-4C61-9E9B-73244E087394}" srcOrd="0" destOrd="0" presId="urn:microsoft.com/office/officeart/2005/8/layout/vList3"/>
    <dgm:cxn modelId="{5995DAC9-841B-46F5-970D-DF001D5E138F}" srcId="{62A1C29E-4DEB-482D-8A52-B3AA1C7734AF}" destId="{A11ABAD9-2794-46BF-A9DC-9CDF9A25F7F1}" srcOrd="2" destOrd="0" parTransId="{BFE2266D-7F06-46D3-9CD8-58B8FA7789C7}" sibTransId="{4CA2920F-B7DC-420D-B274-2F0D2DB44859}"/>
    <dgm:cxn modelId="{4D0D23D2-9486-4BDD-A7DB-AB66B1860443}" type="presOf" srcId="{62A1C29E-4DEB-482D-8A52-B3AA1C7734AF}" destId="{43B917C3-923A-4ABF-A2DE-73DD617546D3}" srcOrd="0" destOrd="0" presId="urn:microsoft.com/office/officeart/2005/8/layout/vList3"/>
    <dgm:cxn modelId="{B4E4B5F6-B678-4130-8D09-6216C8A0D0FA}" srcId="{62A1C29E-4DEB-482D-8A52-B3AA1C7734AF}" destId="{C27182B7-9922-4209-AFCA-BDFCC02B90FA}" srcOrd="0" destOrd="0" parTransId="{98CB5E19-34BB-446A-8603-7D3C08B32A7C}" sibTransId="{48479C70-84CD-4269-B764-E4FFE36D92D3}"/>
    <dgm:cxn modelId="{B9E3BE23-51E5-4AC5-910A-77388DC2D4BB}" type="presParOf" srcId="{43B917C3-923A-4ABF-A2DE-73DD617546D3}" destId="{87CFF632-C2B4-4AFC-9AE3-F649E3CB26DF}" srcOrd="0" destOrd="0" presId="urn:microsoft.com/office/officeart/2005/8/layout/vList3"/>
    <dgm:cxn modelId="{1AE54DB0-D89B-4D62-9724-7B77327EFB6C}" type="presParOf" srcId="{87CFF632-C2B4-4AFC-9AE3-F649E3CB26DF}" destId="{AABAB41D-8391-4B57-9DE9-CFFE61373002}" srcOrd="0" destOrd="0" presId="urn:microsoft.com/office/officeart/2005/8/layout/vList3"/>
    <dgm:cxn modelId="{0E90AFF6-C3DC-46A4-8141-F3FCE09F1799}" type="presParOf" srcId="{87CFF632-C2B4-4AFC-9AE3-F649E3CB26DF}" destId="{7CBC648E-A3F5-4C61-9E9B-73244E087394}" srcOrd="1" destOrd="0" presId="urn:microsoft.com/office/officeart/2005/8/layout/vList3"/>
    <dgm:cxn modelId="{8CB315AE-2DD4-4CFB-A2D1-C64F32774C78}" type="presParOf" srcId="{43B917C3-923A-4ABF-A2DE-73DD617546D3}" destId="{C726F3B4-0C83-44BA-920C-21247EE28718}" srcOrd="1" destOrd="0" presId="urn:microsoft.com/office/officeart/2005/8/layout/vList3"/>
    <dgm:cxn modelId="{7C1B4469-A6E4-488D-8C8A-5C115F2D6BB4}" type="presParOf" srcId="{43B917C3-923A-4ABF-A2DE-73DD617546D3}" destId="{FF36D49A-95EF-4621-8D0C-6F8F35EB34CF}" srcOrd="2" destOrd="0" presId="urn:microsoft.com/office/officeart/2005/8/layout/vList3"/>
    <dgm:cxn modelId="{7F61CA55-9E8C-4DFC-ABB6-E9441DE58499}" type="presParOf" srcId="{FF36D49A-95EF-4621-8D0C-6F8F35EB34CF}" destId="{A681754B-5276-4A53-BCDC-AFA001C97186}" srcOrd="0" destOrd="0" presId="urn:microsoft.com/office/officeart/2005/8/layout/vList3"/>
    <dgm:cxn modelId="{FF61418A-CF5C-46E7-86C9-5A536A232BD5}" type="presParOf" srcId="{FF36D49A-95EF-4621-8D0C-6F8F35EB34CF}" destId="{5970B935-42B7-4890-9A37-C33A81F5394C}" srcOrd="1" destOrd="0" presId="urn:microsoft.com/office/officeart/2005/8/layout/vList3"/>
    <dgm:cxn modelId="{36456953-CFDF-4136-A90A-1F8CF1497F31}" type="presParOf" srcId="{43B917C3-923A-4ABF-A2DE-73DD617546D3}" destId="{FD0B8947-D141-4F3F-96E8-D4D53BE79900}" srcOrd="3" destOrd="0" presId="urn:microsoft.com/office/officeart/2005/8/layout/vList3"/>
    <dgm:cxn modelId="{B153F801-ADAB-4A3F-9993-979B29C86C14}" type="presParOf" srcId="{43B917C3-923A-4ABF-A2DE-73DD617546D3}" destId="{95FF4477-9F97-4F80-9EF6-17FB5FD5CB23}" srcOrd="4" destOrd="0" presId="urn:microsoft.com/office/officeart/2005/8/layout/vList3"/>
    <dgm:cxn modelId="{9AD15FBC-E5E9-4A1F-AB0B-0EC5E81D85C2}" type="presParOf" srcId="{95FF4477-9F97-4F80-9EF6-17FB5FD5CB23}" destId="{D90C2DBF-FF93-46DC-BF2D-7E3B24AAF040}" srcOrd="0" destOrd="0" presId="urn:microsoft.com/office/officeart/2005/8/layout/vList3"/>
    <dgm:cxn modelId="{1C6363B2-51C5-4A84-BDD0-4CE39339AD05}" type="presParOf" srcId="{95FF4477-9F97-4F80-9EF6-17FB5FD5CB23}" destId="{32C99941-280F-403B-89F6-FF0C5F04B60E}"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A1C29E-4DEB-482D-8A52-B3AA1C7734AF}" type="doc">
      <dgm:prSet loTypeId="urn:microsoft.com/office/officeart/2005/8/layout/vList3" loCatId="list" qsTypeId="urn:microsoft.com/office/officeart/2005/8/quickstyle/simple1" qsCatId="simple" csTypeId="urn:microsoft.com/office/officeart/2005/8/colors/accent1_2" csCatId="accent1" phldr="1"/>
      <dgm:spPr/>
    </dgm:pt>
    <dgm:pt modelId="{C27182B7-9922-4209-AFCA-BDFCC02B90FA}">
      <dgm:prSet phldrT="[文字]" custT="1">
        <dgm:style>
          <a:lnRef idx="2">
            <a:schemeClr val="accent5"/>
          </a:lnRef>
          <a:fillRef idx="1">
            <a:schemeClr val="lt1"/>
          </a:fillRef>
          <a:effectRef idx="0">
            <a:schemeClr val="accent5"/>
          </a:effectRef>
          <a:fontRef idx="minor">
            <a:schemeClr val="dk1"/>
          </a:fontRef>
        </dgm:style>
      </dgm:prSet>
      <dgm:spPr>
        <a:noFill/>
      </dgm:spPr>
      <dgm:t>
        <a:bodyPr/>
        <a:lstStyle/>
        <a:p>
          <a:r>
            <a:rPr lang="zh-TW" altLang="en-US" sz="1200" b="1" dirty="0">
              <a:solidFill>
                <a:schemeClr val="tx1">
                  <a:lumMod val="85000"/>
                  <a:lumOff val="15000"/>
                </a:schemeClr>
              </a:solidFill>
              <a:latin typeface="微軟正黑體" panose="020B0604030504040204" pitchFamily="34" charset="-120"/>
              <a:ea typeface="微軟正黑體" panose="020B0604030504040204" pitchFamily="34" charset="-120"/>
            </a:rPr>
            <a:t>隱私安全管理</a:t>
          </a:r>
        </a:p>
      </dgm:t>
    </dgm:pt>
    <dgm:pt modelId="{98CB5E19-34BB-446A-8603-7D3C08B32A7C}" type="parTrans" cxnId="{B4E4B5F6-B678-4130-8D09-6216C8A0D0FA}">
      <dgm:prSet/>
      <dgm:spPr/>
      <dgm:t>
        <a:bodyPr/>
        <a:lstStyle/>
        <a:p>
          <a:endParaRPr lang="zh-TW" altLang="en-US"/>
        </a:p>
      </dgm:t>
    </dgm:pt>
    <dgm:pt modelId="{48479C70-84CD-4269-B764-E4FFE36D92D3}" type="sibTrans" cxnId="{B4E4B5F6-B678-4130-8D09-6216C8A0D0FA}">
      <dgm:prSet/>
      <dgm:spPr/>
      <dgm:t>
        <a:bodyPr/>
        <a:lstStyle/>
        <a:p>
          <a:endParaRPr lang="zh-TW" altLang="en-US"/>
        </a:p>
      </dgm:t>
    </dgm:pt>
    <dgm:pt modelId="{A11ABAD9-2794-46BF-A9DC-9CDF9A25F7F1}">
      <dgm:prSet phldrT="[文字]" custT="1">
        <dgm:style>
          <a:lnRef idx="2">
            <a:schemeClr val="accent5"/>
          </a:lnRef>
          <a:fillRef idx="1">
            <a:schemeClr val="lt1"/>
          </a:fillRef>
          <a:effectRef idx="0">
            <a:schemeClr val="accent5"/>
          </a:effectRef>
          <a:fontRef idx="minor">
            <a:schemeClr val="dk1"/>
          </a:fontRef>
        </dgm:style>
      </dgm:prSet>
      <dgm:spPr>
        <a:solidFill>
          <a:srgbClr val="F9F9F9"/>
        </a:solidFill>
      </dgm:spPr>
      <dgm:t>
        <a:bodyPr/>
        <a:lstStyle/>
        <a:p>
          <a:r>
            <a:rPr lang="zh-TW" altLang="en-US" sz="1200" b="1" dirty="0">
              <a:latin typeface="微軟正黑體" panose="020B0604030504040204" pitchFamily="34" charset="-120"/>
              <a:ea typeface="微軟正黑體" panose="020B0604030504040204" pitchFamily="34" charset="-120"/>
            </a:rPr>
            <a:t>平台規劃管理</a:t>
          </a:r>
        </a:p>
      </dgm:t>
    </dgm:pt>
    <dgm:pt modelId="{BFE2266D-7F06-46D3-9CD8-58B8FA7789C7}" type="parTrans" cxnId="{5995DAC9-841B-46F5-970D-DF001D5E138F}">
      <dgm:prSet/>
      <dgm:spPr/>
      <dgm:t>
        <a:bodyPr/>
        <a:lstStyle/>
        <a:p>
          <a:endParaRPr lang="zh-TW" altLang="en-US"/>
        </a:p>
      </dgm:t>
    </dgm:pt>
    <dgm:pt modelId="{4CA2920F-B7DC-420D-B274-2F0D2DB44859}" type="sibTrans" cxnId="{5995DAC9-841B-46F5-970D-DF001D5E138F}">
      <dgm:prSet/>
      <dgm:spPr/>
      <dgm:t>
        <a:bodyPr/>
        <a:lstStyle/>
        <a:p>
          <a:endParaRPr lang="zh-TW" altLang="en-US"/>
        </a:p>
      </dgm:t>
    </dgm:pt>
    <dgm:pt modelId="{88D2AA01-CAC4-4724-953C-EFDE7ED09D3E}">
      <dgm:prSet phldrT="[文字]" custT="1">
        <dgm:style>
          <a:lnRef idx="2">
            <a:schemeClr val="accent5"/>
          </a:lnRef>
          <a:fillRef idx="1">
            <a:schemeClr val="lt1"/>
          </a:fillRef>
          <a:effectRef idx="0">
            <a:schemeClr val="accent5"/>
          </a:effectRef>
          <a:fontRef idx="minor">
            <a:schemeClr val="dk1"/>
          </a:fontRef>
        </dgm:style>
      </dgm:prSet>
      <dgm:spPr>
        <a:noFill/>
      </dgm:spPr>
      <dgm:t>
        <a:bodyPr/>
        <a:lstStyle/>
        <a:p>
          <a:r>
            <a:rPr lang="zh-TW" altLang="en-US" sz="1200" b="1" dirty="0">
              <a:solidFill>
                <a:schemeClr val="tx1">
                  <a:lumMod val="85000"/>
                  <a:lumOff val="15000"/>
                </a:schemeClr>
              </a:solidFill>
              <a:latin typeface="微軟正黑體" panose="020B0604030504040204" pitchFamily="34" charset="-120"/>
              <a:ea typeface="微軟正黑體" panose="020B0604030504040204" pitchFamily="34" charset="-120"/>
            </a:rPr>
            <a:t>創新設計管理</a:t>
          </a:r>
        </a:p>
      </dgm:t>
    </dgm:pt>
    <dgm:pt modelId="{66D744D1-42B8-4549-8671-05DD9A5C3CBC}" type="parTrans" cxnId="{3489B3AD-094C-4C48-83A8-F51CEC97E6D5}">
      <dgm:prSet/>
      <dgm:spPr/>
      <dgm:t>
        <a:bodyPr/>
        <a:lstStyle/>
        <a:p>
          <a:endParaRPr lang="zh-TW" altLang="en-US"/>
        </a:p>
      </dgm:t>
    </dgm:pt>
    <dgm:pt modelId="{C4271CDA-AA4A-45A9-B4E8-A432D34F6FE6}" type="sibTrans" cxnId="{3489B3AD-094C-4C48-83A8-F51CEC97E6D5}">
      <dgm:prSet/>
      <dgm:spPr/>
      <dgm:t>
        <a:bodyPr/>
        <a:lstStyle/>
        <a:p>
          <a:endParaRPr lang="zh-TW" altLang="en-US"/>
        </a:p>
      </dgm:t>
    </dgm:pt>
    <dgm:pt modelId="{6C1B7003-A5BC-40DE-ADAA-CD8C69B59D47}">
      <dgm:prSet>
        <dgm:style>
          <a:lnRef idx="2">
            <a:schemeClr val="accent5"/>
          </a:lnRef>
          <a:fillRef idx="1">
            <a:schemeClr val="lt1"/>
          </a:fillRef>
          <a:effectRef idx="0">
            <a:schemeClr val="accent5"/>
          </a:effectRef>
          <a:fontRef idx="minor">
            <a:schemeClr val="dk1"/>
          </a:fontRef>
        </dgm:style>
      </dgm:prSet>
      <dgm:spPr>
        <a:solidFill>
          <a:srgbClr val="F9F9F9"/>
        </a:solidFill>
      </dgm:spPr>
      <dgm:t>
        <a:bodyPr/>
        <a:lstStyle/>
        <a:p>
          <a:endParaRPr lang="zh-TW" altLang="en-US"/>
        </a:p>
      </dgm:t>
    </dgm:pt>
    <dgm:pt modelId="{223C46E4-2657-4534-9060-431E00FB50B0}" type="sibTrans" cxnId="{C61F7411-FD1C-4192-84D2-BC624AB46D3B}">
      <dgm:prSet/>
      <dgm:spPr/>
      <dgm:t>
        <a:bodyPr/>
        <a:lstStyle/>
        <a:p>
          <a:endParaRPr lang="zh-TW" altLang="en-US"/>
        </a:p>
      </dgm:t>
    </dgm:pt>
    <dgm:pt modelId="{907B0F6B-3CC5-4ADB-9C52-7F1AB0621004}" type="parTrans" cxnId="{C61F7411-FD1C-4192-84D2-BC624AB46D3B}">
      <dgm:prSet/>
      <dgm:spPr/>
      <dgm:t>
        <a:bodyPr/>
        <a:lstStyle/>
        <a:p>
          <a:endParaRPr lang="zh-TW" altLang="en-US"/>
        </a:p>
      </dgm:t>
    </dgm:pt>
    <dgm:pt modelId="{43B917C3-923A-4ABF-A2DE-73DD617546D3}" type="pres">
      <dgm:prSet presAssocID="{62A1C29E-4DEB-482D-8A52-B3AA1C7734AF}" presName="linearFlow" presStyleCnt="0">
        <dgm:presLayoutVars>
          <dgm:dir/>
          <dgm:resizeHandles val="exact"/>
        </dgm:presLayoutVars>
      </dgm:prSet>
      <dgm:spPr/>
    </dgm:pt>
    <dgm:pt modelId="{87CFF632-C2B4-4AFC-9AE3-F649E3CB26DF}" type="pres">
      <dgm:prSet presAssocID="{C27182B7-9922-4209-AFCA-BDFCC02B90FA}" presName="composite" presStyleCnt="0"/>
      <dgm:spPr/>
    </dgm:pt>
    <dgm:pt modelId="{AABAB41D-8391-4B57-9DE9-CFFE61373002}" type="pres">
      <dgm:prSet presAssocID="{C27182B7-9922-4209-AFCA-BDFCC02B90FA}" presName="imgShp" presStyleLbl="fgImgPlace1" presStyleIdx="0" presStyleCnt="4"/>
      <dgm:spPr/>
    </dgm:pt>
    <dgm:pt modelId="{7CBC648E-A3F5-4C61-9E9B-73244E087394}" type="pres">
      <dgm:prSet presAssocID="{C27182B7-9922-4209-AFCA-BDFCC02B90FA}" presName="txShp" presStyleLbl="node1" presStyleIdx="0" presStyleCnt="4" custLinFactY="100000" custLinFactNeighborX="10029" custLinFactNeighborY="160158">
        <dgm:presLayoutVars>
          <dgm:bulletEnabled val="1"/>
        </dgm:presLayoutVars>
      </dgm:prSet>
      <dgm:spPr/>
    </dgm:pt>
    <dgm:pt modelId="{C726F3B4-0C83-44BA-920C-21247EE28718}" type="pres">
      <dgm:prSet presAssocID="{48479C70-84CD-4269-B764-E4FFE36D92D3}" presName="spacing" presStyleCnt="0"/>
      <dgm:spPr/>
    </dgm:pt>
    <dgm:pt modelId="{F6925D9F-A4EC-4BC5-88D8-4D4F4910F61D}" type="pres">
      <dgm:prSet presAssocID="{6C1B7003-A5BC-40DE-ADAA-CD8C69B59D47}" presName="composite" presStyleCnt="0"/>
      <dgm:spPr/>
    </dgm:pt>
    <dgm:pt modelId="{19A0A5E7-BA08-49DE-ABAA-28ED103926EA}" type="pres">
      <dgm:prSet presAssocID="{6C1B7003-A5BC-40DE-ADAA-CD8C69B59D47}" presName="imgShp" presStyleLbl="fgImgPlace1" presStyleIdx="1" presStyleCnt="4"/>
      <dgm:spPr/>
    </dgm:pt>
    <dgm:pt modelId="{6625F32E-34CF-4A6E-88F5-3D3D3F1F6FA8}" type="pres">
      <dgm:prSet presAssocID="{6C1B7003-A5BC-40DE-ADAA-CD8C69B59D47}" presName="txShp" presStyleLbl="node1" presStyleIdx="1" presStyleCnt="4" custLinFactNeighborX="7767" custLinFactNeighborY="-2244">
        <dgm:presLayoutVars>
          <dgm:bulletEnabled val="1"/>
        </dgm:presLayoutVars>
      </dgm:prSet>
      <dgm:spPr/>
    </dgm:pt>
    <dgm:pt modelId="{ACF7CB03-E09D-448D-B49D-1C5E4E305F1A}" type="pres">
      <dgm:prSet presAssocID="{223C46E4-2657-4534-9060-431E00FB50B0}" presName="spacing" presStyleCnt="0"/>
      <dgm:spPr/>
    </dgm:pt>
    <dgm:pt modelId="{95FF4477-9F97-4F80-9EF6-17FB5FD5CB23}" type="pres">
      <dgm:prSet presAssocID="{A11ABAD9-2794-46BF-A9DC-9CDF9A25F7F1}" presName="composite" presStyleCnt="0"/>
      <dgm:spPr/>
    </dgm:pt>
    <dgm:pt modelId="{D90C2DBF-FF93-46DC-BF2D-7E3B24AAF040}" type="pres">
      <dgm:prSet presAssocID="{A11ABAD9-2794-46BF-A9DC-9CDF9A25F7F1}" presName="imgShp" presStyleLbl="fgImgPlace1" presStyleIdx="2" presStyleCnt="4"/>
      <dgm:spPr/>
    </dgm:pt>
    <dgm:pt modelId="{32C99941-280F-403B-89F6-FF0C5F04B60E}" type="pres">
      <dgm:prSet presAssocID="{A11ABAD9-2794-46BF-A9DC-9CDF9A25F7F1}" presName="txShp" presStyleLbl="node1" presStyleIdx="2" presStyleCnt="4" custLinFactY="-100000" custLinFactNeighborX="8986" custLinFactNeighborY="-155546">
        <dgm:presLayoutVars>
          <dgm:bulletEnabled val="1"/>
        </dgm:presLayoutVars>
      </dgm:prSet>
      <dgm:spPr/>
    </dgm:pt>
    <dgm:pt modelId="{74D83A6A-A575-452E-B0A7-94052DDE33FD}" type="pres">
      <dgm:prSet presAssocID="{4CA2920F-B7DC-420D-B274-2F0D2DB44859}" presName="spacing" presStyleCnt="0"/>
      <dgm:spPr/>
    </dgm:pt>
    <dgm:pt modelId="{CD40B631-9879-429F-8687-706A78665647}" type="pres">
      <dgm:prSet presAssocID="{88D2AA01-CAC4-4724-953C-EFDE7ED09D3E}" presName="composite" presStyleCnt="0"/>
      <dgm:spPr/>
    </dgm:pt>
    <dgm:pt modelId="{755CE961-0469-47E4-B0A4-C29581F032F6}" type="pres">
      <dgm:prSet presAssocID="{88D2AA01-CAC4-4724-953C-EFDE7ED09D3E}" presName="imgShp" presStyleLbl="fgImgPlace1" presStyleIdx="3" presStyleCnt="4"/>
      <dgm:spPr/>
    </dgm:pt>
    <dgm:pt modelId="{2BBBEB45-33AB-4257-AD20-941A9179E3DC}" type="pres">
      <dgm:prSet presAssocID="{88D2AA01-CAC4-4724-953C-EFDE7ED09D3E}" presName="txShp" presStyleLbl="node1" presStyleIdx="3" presStyleCnt="4" custLinFactNeighborX="8986" custLinFactNeighborY="157">
        <dgm:presLayoutVars>
          <dgm:bulletEnabled val="1"/>
        </dgm:presLayoutVars>
      </dgm:prSet>
      <dgm:spPr/>
    </dgm:pt>
  </dgm:ptLst>
  <dgm:cxnLst>
    <dgm:cxn modelId="{AC7FF908-3C5D-4B72-A316-CF4CAE9BD31F}" type="presOf" srcId="{C27182B7-9922-4209-AFCA-BDFCC02B90FA}" destId="{7CBC648E-A3F5-4C61-9E9B-73244E087394}" srcOrd="0" destOrd="0" presId="urn:microsoft.com/office/officeart/2005/8/layout/vList3"/>
    <dgm:cxn modelId="{C61F7411-FD1C-4192-84D2-BC624AB46D3B}" srcId="{62A1C29E-4DEB-482D-8A52-B3AA1C7734AF}" destId="{6C1B7003-A5BC-40DE-ADAA-CD8C69B59D47}" srcOrd="1" destOrd="0" parTransId="{907B0F6B-3CC5-4ADB-9C52-7F1AB0621004}" sibTransId="{223C46E4-2657-4534-9060-431E00FB50B0}"/>
    <dgm:cxn modelId="{5788212F-5861-4B5F-AAA5-4AF8D95560F8}" type="presOf" srcId="{88D2AA01-CAC4-4724-953C-EFDE7ED09D3E}" destId="{2BBBEB45-33AB-4257-AD20-941A9179E3DC}" srcOrd="0" destOrd="0" presId="urn:microsoft.com/office/officeart/2005/8/layout/vList3"/>
    <dgm:cxn modelId="{750C292F-24F1-4CDE-82DF-EAE40994D433}" type="presOf" srcId="{A11ABAD9-2794-46BF-A9DC-9CDF9A25F7F1}" destId="{32C99941-280F-403B-89F6-FF0C5F04B60E}" srcOrd="0" destOrd="0" presId="urn:microsoft.com/office/officeart/2005/8/layout/vList3"/>
    <dgm:cxn modelId="{D197B78F-49FE-4C22-9788-F9E6E66780DB}" type="presOf" srcId="{6C1B7003-A5BC-40DE-ADAA-CD8C69B59D47}" destId="{6625F32E-34CF-4A6E-88F5-3D3D3F1F6FA8}" srcOrd="0" destOrd="0" presId="urn:microsoft.com/office/officeart/2005/8/layout/vList3"/>
    <dgm:cxn modelId="{C739C5A8-F314-4333-967F-8B9F7059190B}" type="presOf" srcId="{62A1C29E-4DEB-482D-8A52-B3AA1C7734AF}" destId="{43B917C3-923A-4ABF-A2DE-73DD617546D3}" srcOrd="0" destOrd="0" presId="urn:microsoft.com/office/officeart/2005/8/layout/vList3"/>
    <dgm:cxn modelId="{3489B3AD-094C-4C48-83A8-F51CEC97E6D5}" srcId="{62A1C29E-4DEB-482D-8A52-B3AA1C7734AF}" destId="{88D2AA01-CAC4-4724-953C-EFDE7ED09D3E}" srcOrd="3" destOrd="0" parTransId="{66D744D1-42B8-4549-8671-05DD9A5C3CBC}" sibTransId="{C4271CDA-AA4A-45A9-B4E8-A432D34F6FE6}"/>
    <dgm:cxn modelId="{5995DAC9-841B-46F5-970D-DF001D5E138F}" srcId="{62A1C29E-4DEB-482D-8A52-B3AA1C7734AF}" destId="{A11ABAD9-2794-46BF-A9DC-9CDF9A25F7F1}" srcOrd="2" destOrd="0" parTransId="{BFE2266D-7F06-46D3-9CD8-58B8FA7789C7}" sibTransId="{4CA2920F-B7DC-420D-B274-2F0D2DB44859}"/>
    <dgm:cxn modelId="{B4E4B5F6-B678-4130-8D09-6216C8A0D0FA}" srcId="{62A1C29E-4DEB-482D-8A52-B3AA1C7734AF}" destId="{C27182B7-9922-4209-AFCA-BDFCC02B90FA}" srcOrd="0" destOrd="0" parTransId="{98CB5E19-34BB-446A-8603-7D3C08B32A7C}" sibTransId="{48479C70-84CD-4269-B764-E4FFE36D92D3}"/>
    <dgm:cxn modelId="{6CAB4655-26EB-4918-8B1E-899BF367089F}" type="presParOf" srcId="{43B917C3-923A-4ABF-A2DE-73DD617546D3}" destId="{87CFF632-C2B4-4AFC-9AE3-F649E3CB26DF}" srcOrd="0" destOrd="0" presId="urn:microsoft.com/office/officeart/2005/8/layout/vList3"/>
    <dgm:cxn modelId="{7F495730-5986-4043-97BC-646406931700}" type="presParOf" srcId="{87CFF632-C2B4-4AFC-9AE3-F649E3CB26DF}" destId="{AABAB41D-8391-4B57-9DE9-CFFE61373002}" srcOrd="0" destOrd="0" presId="urn:microsoft.com/office/officeart/2005/8/layout/vList3"/>
    <dgm:cxn modelId="{7B52B1B7-C743-443B-B294-1BDBED15FE99}" type="presParOf" srcId="{87CFF632-C2B4-4AFC-9AE3-F649E3CB26DF}" destId="{7CBC648E-A3F5-4C61-9E9B-73244E087394}" srcOrd="1" destOrd="0" presId="urn:microsoft.com/office/officeart/2005/8/layout/vList3"/>
    <dgm:cxn modelId="{049ADC66-8920-40DE-986E-653299946E53}" type="presParOf" srcId="{43B917C3-923A-4ABF-A2DE-73DD617546D3}" destId="{C726F3B4-0C83-44BA-920C-21247EE28718}" srcOrd="1" destOrd="0" presId="urn:microsoft.com/office/officeart/2005/8/layout/vList3"/>
    <dgm:cxn modelId="{FD5AF7D8-E281-4201-A2FF-DBDD96B0F872}" type="presParOf" srcId="{43B917C3-923A-4ABF-A2DE-73DD617546D3}" destId="{F6925D9F-A4EC-4BC5-88D8-4D4F4910F61D}" srcOrd="2" destOrd="0" presId="urn:microsoft.com/office/officeart/2005/8/layout/vList3"/>
    <dgm:cxn modelId="{13410C83-3E07-4C51-83DB-37A86EC992D9}" type="presParOf" srcId="{F6925D9F-A4EC-4BC5-88D8-4D4F4910F61D}" destId="{19A0A5E7-BA08-49DE-ABAA-28ED103926EA}" srcOrd="0" destOrd="0" presId="urn:microsoft.com/office/officeart/2005/8/layout/vList3"/>
    <dgm:cxn modelId="{DFE80F69-3653-48B3-A482-5E4F6C645D77}" type="presParOf" srcId="{F6925D9F-A4EC-4BC5-88D8-4D4F4910F61D}" destId="{6625F32E-34CF-4A6E-88F5-3D3D3F1F6FA8}" srcOrd="1" destOrd="0" presId="urn:microsoft.com/office/officeart/2005/8/layout/vList3"/>
    <dgm:cxn modelId="{ADE71A01-992C-44E4-8356-2A483EA06DAB}" type="presParOf" srcId="{43B917C3-923A-4ABF-A2DE-73DD617546D3}" destId="{ACF7CB03-E09D-448D-B49D-1C5E4E305F1A}" srcOrd="3" destOrd="0" presId="urn:microsoft.com/office/officeart/2005/8/layout/vList3"/>
    <dgm:cxn modelId="{95192F15-AF84-4905-8CC9-60FD834BB044}" type="presParOf" srcId="{43B917C3-923A-4ABF-A2DE-73DD617546D3}" destId="{95FF4477-9F97-4F80-9EF6-17FB5FD5CB23}" srcOrd="4" destOrd="0" presId="urn:microsoft.com/office/officeart/2005/8/layout/vList3"/>
    <dgm:cxn modelId="{3F3BFC0E-DD3C-48C6-AB31-796EF08FD66B}" type="presParOf" srcId="{95FF4477-9F97-4F80-9EF6-17FB5FD5CB23}" destId="{D90C2DBF-FF93-46DC-BF2D-7E3B24AAF040}" srcOrd="0" destOrd="0" presId="urn:microsoft.com/office/officeart/2005/8/layout/vList3"/>
    <dgm:cxn modelId="{4A0E0562-8CBA-4FB0-9E23-E734205710CF}" type="presParOf" srcId="{95FF4477-9F97-4F80-9EF6-17FB5FD5CB23}" destId="{32C99941-280F-403B-89F6-FF0C5F04B60E}" srcOrd="1" destOrd="0" presId="urn:microsoft.com/office/officeart/2005/8/layout/vList3"/>
    <dgm:cxn modelId="{DD427838-275A-4873-B03F-99486EBCD09B}" type="presParOf" srcId="{43B917C3-923A-4ABF-A2DE-73DD617546D3}" destId="{74D83A6A-A575-452E-B0A7-94052DDE33FD}" srcOrd="5" destOrd="0" presId="urn:microsoft.com/office/officeart/2005/8/layout/vList3"/>
    <dgm:cxn modelId="{CC3C7525-98A1-418F-B156-BE0C875DF38F}" type="presParOf" srcId="{43B917C3-923A-4ABF-A2DE-73DD617546D3}" destId="{CD40B631-9879-429F-8687-706A78665647}" srcOrd="6" destOrd="0" presId="urn:microsoft.com/office/officeart/2005/8/layout/vList3"/>
    <dgm:cxn modelId="{2681B2B6-C1A9-4F7A-9E46-2BB2F3981293}" type="presParOf" srcId="{CD40B631-9879-429F-8687-706A78665647}" destId="{755CE961-0469-47E4-B0A4-C29581F032F6}" srcOrd="0" destOrd="0" presId="urn:microsoft.com/office/officeart/2005/8/layout/vList3"/>
    <dgm:cxn modelId="{6B790110-5E40-4D51-BA24-027410DD2BFD}" type="presParOf" srcId="{CD40B631-9879-429F-8687-706A78665647}" destId="{2BBBEB45-33AB-4257-AD20-941A9179E3DC}" srcOrd="1" destOrd="0" presId="urn:microsoft.com/office/officeart/2005/8/layout/vList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2A1C29E-4DEB-482D-8A52-B3AA1C7734AF}" type="doc">
      <dgm:prSet loTypeId="urn:microsoft.com/office/officeart/2005/8/layout/pyramid2" loCatId="list" qsTypeId="urn:microsoft.com/office/officeart/2005/8/quickstyle/simple1" qsCatId="simple" csTypeId="urn:microsoft.com/office/officeart/2005/8/colors/colorful5" csCatId="colorful" phldr="1"/>
      <dgm:spPr/>
    </dgm:pt>
    <dgm:pt modelId="{C27182B7-9922-4209-AFCA-BDFCC02B90FA}">
      <dgm:prSet phldrT="[文字]" custT="1">
        <dgm:style>
          <a:lnRef idx="2">
            <a:schemeClr val="accent5"/>
          </a:lnRef>
          <a:fillRef idx="1">
            <a:schemeClr val="lt1"/>
          </a:fillRef>
          <a:effectRef idx="0">
            <a:schemeClr val="accent5"/>
          </a:effectRef>
          <a:fontRef idx="minor">
            <a:schemeClr val="dk1"/>
          </a:fontRef>
        </dgm:style>
      </dgm:prSet>
      <dgm:spPr>
        <a:ln w="19050"/>
      </dgm:spPr>
      <dgm:t>
        <a:bodyPr/>
        <a:lstStyle/>
        <a:p>
          <a:pPr>
            <a:lnSpc>
              <a:spcPct val="100000"/>
            </a:lnSpc>
            <a:spcAft>
              <a:spcPts val="0"/>
            </a:spcAft>
          </a:pPr>
          <a:r>
            <a:rPr lang="zh-TW" altLang="en-US" sz="1800" b="1" dirty="0">
              <a:latin typeface="微軟正黑體" panose="020B0604030504040204" pitchFamily="34" charset="-120"/>
              <a:ea typeface="微軟正黑體" panose="020B0604030504040204" pitchFamily="34" charset="-120"/>
            </a:rPr>
            <a:t>網路資源</a:t>
          </a:r>
          <a:endParaRPr lang="en-US" altLang="zh-TW" sz="1800" b="1" dirty="0">
            <a:latin typeface="微軟正黑體" panose="020B0604030504040204" pitchFamily="34" charset="-120"/>
            <a:ea typeface="微軟正黑體" panose="020B0604030504040204" pitchFamily="34" charset="-120"/>
          </a:endParaRPr>
        </a:p>
        <a:p>
          <a:pPr>
            <a:lnSpc>
              <a:spcPct val="100000"/>
            </a:lnSpc>
            <a:spcAft>
              <a:spcPts val="0"/>
            </a:spcAft>
          </a:pPr>
          <a:r>
            <a:rPr lang="zh-TW" altLang="en-US" sz="1800" b="1" dirty="0">
              <a:latin typeface="微軟正黑體" panose="020B0604030504040204" pitchFamily="34" charset="-120"/>
              <a:ea typeface="微軟正黑體" panose="020B0604030504040204" pitchFamily="34" charset="-120"/>
            </a:rPr>
            <a:t>處理技術</a:t>
          </a:r>
        </a:p>
      </dgm:t>
    </dgm:pt>
    <dgm:pt modelId="{98CB5E19-34BB-446A-8603-7D3C08B32A7C}" type="parTrans" cxnId="{B4E4B5F6-B678-4130-8D09-6216C8A0D0FA}">
      <dgm:prSet/>
      <dgm:spPr/>
      <dgm:t>
        <a:bodyPr/>
        <a:lstStyle/>
        <a:p>
          <a:endParaRPr lang="zh-TW" altLang="en-US"/>
        </a:p>
      </dgm:t>
    </dgm:pt>
    <dgm:pt modelId="{48479C70-84CD-4269-B764-E4FFE36D92D3}" type="sibTrans" cxnId="{B4E4B5F6-B678-4130-8D09-6216C8A0D0FA}">
      <dgm:prSet/>
      <dgm:spPr/>
      <dgm:t>
        <a:bodyPr/>
        <a:lstStyle/>
        <a:p>
          <a:endParaRPr lang="zh-TW" altLang="en-US"/>
        </a:p>
      </dgm:t>
    </dgm:pt>
    <dgm:pt modelId="{A11ABAD9-2794-46BF-A9DC-9CDF9A25F7F1}">
      <dgm:prSet phldrT="[文字]" custT="1">
        <dgm:style>
          <a:lnRef idx="2">
            <a:schemeClr val="accent6"/>
          </a:lnRef>
          <a:fillRef idx="1">
            <a:schemeClr val="lt1"/>
          </a:fillRef>
          <a:effectRef idx="0">
            <a:schemeClr val="accent6"/>
          </a:effectRef>
          <a:fontRef idx="minor">
            <a:schemeClr val="dk1"/>
          </a:fontRef>
        </dgm:style>
      </dgm:prSet>
      <dgm:spPr>
        <a:ln w="19050"/>
      </dgm:spPr>
      <dgm:t>
        <a:bodyPr/>
        <a:lstStyle/>
        <a:p>
          <a:pPr>
            <a:lnSpc>
              <a:spcPts val="3360"/>
            </a:lnSpc>
            <a:spcAft>
              <a:spcPts val="0"/>
            </a:spcAft>
          </a:pPr>
          <a:r>
            <a:rPr lang="zh-TW" altLang="en-US" sz="1800" b="1">
              <a:latin typeface="微軟正黑體" panose="020B0604030504040204" pitchFamily="34" charset="-120"/>
              <a:ea typeface="微軟正黑體" panose="020B0604030504040204" pitchFamily="34" charset="-120"/>
            </a:rPr>
            <a:t>資訊儲存</a:t>
          </a:r>
          <a:endParaRPr lang="en-US" altLang="zh-TW" sz="1800" b="1">
            <a:latin typeface="微軟正黑體" panose="020B0604030504040204" pitchFamily="34" charset="-120"/>
            <a:ea typeface="微軟正黑體" panose="020B0604030504040204" pitchFamily="34" charset="-120"/>
          </a:endParaRPr>
        </a:p>
        <a:p>
          <a:pPr>
            <a:lnSpc>
              <a:spcPts val="3360"/>
            </a:lnSpc>
            <a:spcAft>
              <a:spcPts val="0"/>
            </a:spcAft>
          </a:pPr>
          <a:r>
            <a:rPr lang="zh-TW" altLang="en-US" sz="1800" b="1">
              <a:latin typeface="微軟正黑體" panose="020B0604030504040204" pitchFamily="34" charset="-120"/>
              <a:ea typeface="微軟正黑體" panose="020B0604030504040204" pitchFamily="34" charset="-120"/>
            </a:rPr>
            <a:t>作業技術</a:t>
          </a:r>
          <a:endParaRPr lang="zh-TW" altLang="en-US" sz="1800" b="1" dirty="0">
            <a:latin typeface="微軟正黑體" panose="020B0604030504040204" pitchFamily="34" charset="-120"/>
            <a:ea typeface="微軟正黑體" panose="020B0604030504040204" pitchFamily="34" charset="-120"/>
          </a:endParaRPr>
        </a:p>
      </dgm:t>
    </dgm:pt>
    <dgm:pt modelId="{BFE2266D-7F06-46D3-9CD8-58B8FA7789C7}" type="parTrans" cxnId="{5995DAC9-841B-46F5-970D-DF001D5E138F}">
      <dgm:prSet/>
      <dgm:spPr/>
      <dgm:t>
        <a:bodyPr/>
        <a:lstStyle/>
        <a:p>
          <a:endParaRPr lang="zh-TW" altLang="en-US"/>
        </a:p>
      </dgm:t>
    </dgm:pt>
    <dgm:pt modelId="{4CA2920F-B7DC-420D-B274-2F0D2DB44859}" type="sibTrans" cxnId="{5995DAC9-841B-46F5-970D-DF001D5E138F}">
      <dgm:prSet/>
      <dgm:spPr/>
      <dgm:t>
        <a:bodyPr/>
        <a:lstStyle/>
        <a:p>
          <a:endParaRPr lang="zh-TW" altLang="en-US"/>
        </a:p>
      </dgm:t>
    </dgm:pt>
    <dgm:pt modelId="{AF62616B-C79B-4E5C-BCC1-D5ECA0ED362B}">
      <dgm:prSet phldrT="[文字]" custT="1"/>
      <dgm:spPr>
        <a:ln w="19050">
          <a:solidFill>
            <a:srgbClr val="32AC9D"/>
          </a:solidFill>
        </a:ln>
      </dgm:spPr>
      <dgm:t>
        <a:bodyPr/>
        <a:lstStyle/>
        <a:p>
          <a:pPr>
            <a:lnSpc>
              <a:spcPts val="3360"/>
            </a:lnSpc>
            <a:spcAft>
              <a:spcPts val="0"/>
            </a:spcAft>
          </a:pPr>
          <a:r>
            <a:rPr lang="zh-TW" altLang="en-US" sz="1800" b="1" dirty="0">
              <a:latin typeface="微軟正黑體" panose="020B0604030504040204" pitchFamily="34" charset="-120"/>
              <a:ea typeface="微軟正黑體" panose="020B0604030504040204" pitchFamily="34" charset="-120"/>
            </a:rPr>
            <a:t>節點操作</a:t>
          </a:r>
          <a:endParaRPr lang="en-US" altLang="zh-TW" sz="1800" b="1" dirty="0">
            <a:latin typeface="微軟正黑體" panose="020B0604030504040204" pitchFamily="34" charset="-120"/>
            <a:ea typeface="微軟正黑體" panose="020B0604030504040204" pitchFamily="34" charset="-120"/>
          </a:endParaRPr>
        </a:p>
        <a:p>
          <a:pPr>
            <a:lnSpc>
              <a:spcPts val="3360"/>
            </a:lnSpc>
            <a:spcAft>
              <a:spcPts val="0"/>
            </a:spcAft>
          </a:pPr>
          <a:r>
            <a:rPr lang="zh-TW" altLang="en-US" sz="1800" b="1" dirty="0">
              <a:latin typeface="微軟正黑體" panose="020B0604030504040204" pitchFamily="34" charset="-120"/>
              <a:ea typeface="微軟正黑體" panose="020B0604030504040204" pitchFamily="34" charset="-120"/>
            </a:rPr>
            <a:t>分配技術</a:t>
          </a:r>
        </a:p>
      </dgm:t>
    </dgm:pt>
    <dgm:pt modelId="{13650EFA-8F94-44AC-95B4-466CFFEA67D1}" type="parTrans" cxnId="{EAD3326B-3360-4A3E-BBC4-3B4603DBE5CD}">
      <dgm:prSet/>
      <dgm:spPr/>
      <dgm:t>
        <a:bodyPr/>
        <a:lstStyle/>
        <a:p>
          <a:endParaRPr lang="zh-TW" altLang="en-US"/>
        </a:p>
      </dgm:t>
    </dgm:pt>
    <dgm:pt modelId="{99EDDDB8-8DD6-43A3-BB85-00A0425A354A}" type="sibTrans" cxnId="{EAD3326B-3360-4A3E-BBC4-3B4603DBE5CD}">
      <dgm:prSet/>
      <dgm:spPr/>
      <dgm:t>
        <a:bodyPr/>
        <a:lstStyle/>
        <a:p>
          <a:endParaRPr lang="zh-TW" altLang="en-US"/>
        </a:p>
      </dgm:t>
    </dgm:pt>
    <dgm:pt modelId="{C88E31FE-1BB2-4A10-90F7-46C9A350BF84}" type="pres">
      <dgm:prSet presAssocID="{62A1C29E-4DEB-482D-8A52-B3AA1C7734AF}" presName="compositeShape" presStyleCnt="0">
        <dgm:presLayoutVars>
          <dgm:dir/>
          <dgm:resizeHandles/>
        </dgm:presLayoutVars>
      </dgm:prSet>
      <dgm:spPr/>
    </dgm:pt>
    <dgm:pt modelId="{44BB28C3-5D48-4A5F-9AF5-998C6A6A66FB}" type="pres">
      <dgm:prSet presAssocID="{62A1C29E-4DEB-482D-8A52-B3AA1C7734AF}" presName="pyramid" presStyleLbl="node1" presStyleIdx="0" presStyleCnt="1" custScaleX="81865" custScaleY="58124" custLinFactNeighborX="4215" custLinFactNeighborY="6409"/>
      <dgm:spPr>
        <a:prstGeom prst="leftRightUpArrow">
          <a:avLst/>
        </a:prstGeom>
      </dgm:spPr>
    </dgm:pt>
    <dgm:pt modelId="{5628D36B-00A3-418F-A94A-B2BD3EE68A4C}" type="pres">
      <dgm:prSet presAssocID="{62A1C29E-4DEB-482D-8A52-B3AA1C7734AF}" presName="theList" presStyleCnt="0"/>
      <dgm:spPr/>
    </dgm:pt>
    <dgm:pt modelId="{7984C634-0F6F-449E-8906-39B9FD53642E}" type="pres">
      <dgm:prSet presAssocID="{C27182B7-9922-4209-AFCA-BDFCC02B90FA}" presName="aNode" presStyleLbl="fgAcc1" presStyleIdx="0" presStyleCnt="3" custScaleX="57686" custScaleY="55485" custLinFactY="-8151" custLinFactNeighborX="-42065" custLinFactNeighborY="-100000">
        <dgm:presLayoutVars>
          <dgm:bulletEnabled val="1"/>
        </dgm:presLayoutVars>
      </dgm:prSet>
      <dgm:spPr>
        <a:prstGeom prst="flowChartAlternateProcess">
          <a:avLst/>
        </a:prstGeom>
      </dgm:spPr>
    </dgm:pt>
    <dgm:pt modelId="{81A9762A-ACB0-4BEE-ABDD-2B92199C67F3}" type="pres">
      <dgm:prSet presAssocID="{C27182B7-9922-4209-AFCA-BDFCC02B90FA}" presName="aSpace" presStyleCnt="0"/>
      <dgm:spPr/>
    </dgm:pt>
    <dgm:pt modelId="{60DCFEE0-3B0D-4D69-8BF9-64D987CC87D5}" type="pres">
      <dgm:prSet presAssocID="{AF62616B-C79B-4E5C-BCC1-D5ECA0ED362B}" presName="aNode" presStyleLbl="fgAcc1" presStyleIdx="1" presStyleCnt="3" custAng="0" custScaleX="57686" custScaleY="59253" custLinFactX="-37260" custLinFactY="52732" custLinFactNeighborX="-100000" custLinFactNeighborY="100000">
        <dgm:presLayoutVars>
          <dgm:bulletEnabled val="1"/>
        </dgm:presLayoutVars>
      </dgm:prSet>
      <dgm:spPr>
        <a:prstGeom prst="flowChartAlternateProcess">
          <a:avLst/>
        </a:prstGeom>
      </dgm:spPr>
    </dgm:pt>
    <dgm:pt modelId="{163EA778-0165-475B-AFA5-D505DE90FBD7}" type="pres">
      <dgm:prSet presAssocID="{AF62616B-C79B-4E5C-BCC1-D5ECA0ED362B}" presName="aSpace" presStyleCnt="0"/>
      <dgm:spPr/>
    </dgm:pt>
    <dgm:pt modelId="{7E5B0EE0-509A-46D5-AE14-217A3473DD88}" type="pres">
      <dgm:prSet presAssocID="{A11ABAD9-2794-46BF-A9DC-9CDF9A25F7F1}" presName="aNode" presStyleLbl="fgAcc1" presStyleIdx="2" presStyleCnt="3" custAng="0" custScaleX="52369" custScaleY="67640" custLinFactNeighborX="47355" custLinFactNeighborY="-83657">
        <dgm:presLayoutVars>
          <dgm:bulletEnabled val="1"/>
        </dgm:presLayoutVars>
      </dgm:prSet>
      <dgm:spPr>
        <a:prstGeom prst="flowChartAlternateProcess">
          <a:avLst/>
        </a:prstGeom>
      </dgm:spPr>
    </dgm:pt>
    <dgm:pt modelId="{4E5381E3-F151-4E85-AF55-D96DBE2193B9}" type="pres">
      <dgm:prSet presAssocID="{A11ABAD9-2794-46BF-A9DC-9CDF9A25F7F1}" presName="aSpace" presStyleCnt="0"/>
      <dgm:spPr/>
    </dgm:pt>
  </dgm:ptLst>
  <dgm:cxnLst>
    <dgm:cxn modelId="{EAD3326B-3360-4A3E-BBC4-3B4603DBE5CD}" srcId="{62A1C29E-4DEB-482D-8A52-B3AA1C7734AF}" destId="{AF62616B-C79B-4E5C-BCC1-D5ECA0ED362B}" srcOrd="1" destOrd="0" parTransId="{13650EFA-8F94-44AC-95B4-466CFFEA67D1}" sibTransId="{99EDDDB8-8DD6-43A3-BB85-00A0425A354A}"/>
    <dgm:cxn modelId="{1746E198-AB51-4169-938B-6EF86A1F6C4F}" type="presOf" srcId="{AF62616B-C79B-4E5C-BCC1-D5ECA0ED362B}" destId="{60DCFEE0-3B0D-4D69-8BF9-64D987CC87D5}" srcOrd="0" destOrd="0" presId="urn:microsoft.com/office/officeart/2005/8/layout/pyramid2"/>
    <dgm:cxn modelId="{F7A572AC-35D5-4A1A-A95F-2C1C9C86375A}" type="presOf" srcId="{62A1C29E-4DEB-482D-8A52-B3AA1C7734AF}" destId="{C88E31FE-1BB2-4A10-90F7-46C9A350BF84}" srcOrd="0" destOrd="0" presId="urn:microsoft.com/office/officeart/2005/8/layout/pyramid2"/>
    <dgm:cxn modelId="{6D13E3C4-F57C-4005-A90A-59BD965BEBCE}" type="presOf" srcId="{C27182B7-9922-4209-AFCA-BDFCC02B90FA}" destId="{7984C634-0F6F-449E-8906-39B9FD53642E}" srcOrd="0" destOrd="0" presId="urn:microsoft.com/office/officeart/2005/8/layout/pyramid2"/>
    <dgm:cxn modelId="{5995DAC9-841B-46F5-970D-DF001D5E138F}" srcId="{62A1C29E-4DEB-482D-8A52-B3AA1C7734AF}" destId="{A11ABAD9-2794-46BF-A9DC-9CDF9A25F7F1}" srcOrd="2" destOrd="0" parTransId="{BFE2266D-7F06-46D3-9CD8-58B8FA7789C7}" sibTransId="{4CA2920F-B7DC-420D-B274-2F0D2DB44859}"/>
    <dgm:cxn modelId="{B01FA4D6-693B-451C-A76C-D2E6593DFF0B}" type="presOf" srcId="{A11ABAD9-2794-46BF-A9DC-9CDF9A25F7F1}" destId="{7E5B0EE0-509A-46D5-AE14-217A3473DD88}" srcOrd="0" destOrd="0" presId="urn:microsoft.com/office/officeart/2005/8/layout/pyramid2"/>
    <dgm:cxn modelId="{B4E4B5F6-B678-4130-8D09-6216C8A0D0FA}" srcId="{62A1C29E-4DEB-482D-8A52-B3AA1C7734AF}" destId="{C27182B7-9922-4209-AFCA-BDFCC02B90FA}" srcOrd="0" destOrd="0" parTransId="{98CB5E19-34BB-446A-8603-7D3C08B32A7C}" sibTransId="{48479C70-84CD-4269-B764-E4FFE36D92D3}"/>
    <dgm:cxn modelId="{3AE62857-8D11-428F-8C24-5FA499463F97}" type="presParOf" srcId="{C88E31FE-1BB2-4A10-90F7-46C9A350BF84}" destId="{44BB28C3-5D48-4A5F-9AF5-998C6A6A66FB}" srcOrd="0" destOrd="0" presId="urn:microsoft.com/office/officeart/2005/8/layout/pyramid2"/>
    <dgm:cxn modelId="{69E60987-024F-47D5-8DB9-69B73B2852DC}" type="presParOf" srcId="{C88E31FE-1BB2-4A10-90F7-46C9A350BF84}" destId="{5628D36B-00A3-418F-A94A-B2BD3EE68A4C}" srcOrd="1" destOrd="0" presId="urn:microsoft.com/office/officeart/2005/8/layout/pyramid2"/>
    <dgm:cxn modelId="{B290C459-FA3B-4E22-B381-E0FE997ABC2F}" type="presParOf" srcId="{5628D36B-00A3-418F-A94A-B2BD3EE68A4C}" destId="{7984C634-0F6F-449E-8906-39B9FD53642E}" srcOrd="0" destOrd="0" presId="urn:microsoft.com/office/officeart/2005/8/layout/pyramid2"/>
    <dgm:cxn modelId="{1138FCB0-F996-40B9-8D14-6CB28C210855}" type="presParOf" srcId="{5628D36B-00A3-418F-A94A-B2BD3EE68A4C}" destId="{81A9762A-ACB0-4BEE-ABDD-2B92199C67F3}" srcOrd="1" destOrd="0" presId="urn:microsoft.com/office/officeart/2005/8/layout/pyramid2"/>
    <dgm:cxn modelId="{A307FCD5-272A-44F6-9F71-F29A9D0387F8}" type="presParOf" srcId="{5628D36B-00A3-418F-A94A-B2BD3EE68A4C}" destId="{60DCFEE0-3B0D-4D69-8BF9-64D987CC87D5}" srcOrd="2" destOrd="0" presId="urn:microsoft.com/office/officeart/2005/8/layout/pyramid2"/>
    <dgm:cxn modelId="{C6EE93BC-F353-45C6-A02D-B08659AAC91B}" type="presParOf" srcId="{5628D36B-00A3-418F-A94A-B2BD3EE68A4C}" destId="{163EA778-0165-475B-AFA5-D505DE90FBD7}" srcOrd="3" destOrd="0" presId="urn:microsoft.com/office/officeart/2005/8/layout/pyramid2"/>
    <dgm:cxn modelId="{7594A2FC-C590-40E2-87CE-4AB86C0CC7B9}" type="presParOf" srcId="{5628D36B-00A3-418F-A94A-B2BD3EE68A4C}" destId="{7E5B0EE0-509A-46D5-AE14-217A3473DD88}" srcOrd="4" destOrd="0" presId="urn:microsoft.com/office/officeart/2005/8/layout/pyramid2"/>
    <dgm:cxn modelId="{D4E2DD82-737D-43F9-AC3B-2C13228E25B5}" type="presParOf" srcId="{5628D36B-00A3-418F-A94A-B2BD3EE68A4C}" destId="{4E5381E3-F151-4E85-AF55-D96DBE2193B9}" srcOrd="5" destOrd="0" presId="urn:microsoft.com/office/officeart/2005/8/layout/pyramid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17CC7DC-D21A-4534-BDE4-65B9D291E62B}" type="doc">
      <dgm:prSet loTypeId="urn:microsoft.com/office/officeart/2005/8/layout/hProcess4" loCatId="process" qsTypeId="urn:microsoft.com/office/officeart/2005/8/quickstyle/simple1" qsCatId="simple" csTypeId="urn:microsoft.com/office/officeart/2005/8/colors/colorful2" csCatId="colorful" phldr="1"/>
      <dgm:spPr/>
      <dgm:t>
        <a:bodyPr/>
        <a:lstStyle/>
        <a:p>
          <a:endParaRPr lang="zh-TW" altLang="en-US"/>
        </a:p>
      </dgm:t>
    </dgm:pt>
    <dgm:pt modelId="{E107082F-12F8-479B-9744-0CEC0F920F2A}">
      <dgm:prSet phldrT="[文字]"/>
      <dgm:spPr>
        <a:xfrm>
          <a:off x="1096211" y="2076905"/>
          <a:ext cx="1713706" cy="681484"/>
        </a:xfrm>
        <a:prstGeom prst="roundRect">
          <a:avLst>
            <a:gd name="adj" fmla="val 10000"/>
          </a:avLst>
        </a:prstGeom>
        <a:solidFill>
          <a:sysClr val="window" lastClr="FFFFFF"/>
        </a:solidFill>
        <a:ln w="12700" cap="flat" cmpd="sng" algn="ctr">
          <a:solidFill>
            <a:sysClr val="window" lastClr="FFFFFF">
              <a:hueOff val="0"/>
              <a:satOff val="0"/>
              <a:lumOff val="0"/>
              <a:alphaOff val="0"/>
            </a:sysClr>
          </a:solidFill>
          <a:prstDash val="solid"/>
          <a:miter lim="800000"/>
        </a:ln>
        <a:effectLst/>
      </dgm:spPr>
      <dgm:t>
        <a:bodyPr/>
        <a:lstStyle/>
        <a:p>
          <a:pPr>
            <a:buNone/>
          </a:pPr>
          <a:endParaRPr lang="zh-TW" altLang="en-US" dirty="0">
            <a:solidFill>
              <a:sysClr val="window" lastClr="FFFFFF"/>
            </a:solidFill>
            <a:latin typeface="Calibri" panose="020F0502020204030204"/>
            <a:ea typeface="新細明體" panose="02020500000000000000" pitchFamily="18" charset="-120"/>
            <a:cs typeface="+mn-cs"/>
          </a:endParaRPr>
        </a:p>
      </dgm:t>
    </dgm:pt>
    <dgm:pt modelId="{A00BB2DE-42B8-4DBF-A0DF-131C68558558}" type="parTrans" cxnId="{895F317F-065A-496A-B1A7-7D809E986C23}">
      <dgm:prSet/>
      <dgm:spPr/>
      <dgm:t>
        <a:bodyPr/>
        <a:lstStyle/>
        <a:p>
          <a:endParaRPr lang="zh-TW" altLang="en-US"/>
        </a:p>
      </dgm:t>
    </dgm:pt>
    <dgm:pt modelId="{FA175F20-FBFA-4772-8D73-49432617E7AB}" type="sibTrans" cxnId="{895F317F-065A-496A-B1A7-7D809E986C23}">
      <dgm:prSet>
        <dgm:style>
          <a:lnRef idx="3">
            <a:schemeClr val="lt1"/>
          </a:lnRef>
          <a:fillRef idx="1">
            <a:schemeClr val="accent5"/>
          </a:fillRef>
          <a:effectRef idx="1">
            <a:schemeClr val="accent5"/>
          </a:effectRef>
          <a:fontRef idx="minor">
            <a:schemeClr val="lt1"/>
          </a:fontRef>
        </dgm:style>
      </dgm:prSet>
      <dgm:spPr>
        <a:xfrm>
          <a:off x="2251543" y="1042491"/>
          <a:ext cx="2305671" cy="2305671"/>
        </a:xfrm>
        <a:prstGeom prst="leftCircularArrow">
          <a:avLst>
            <a:gd name="adj1" fmla="val 3928"/>
            <a:gd name="adj2" fmla="val 492346"/>
            <a:gd name="adj3" fmla="val 2267856"/>
            <a:gd name="adj4" fmla="val 9024489"/>
            <a:gd name="adj5" fmla="val 4582"/>
          </a:avLst>
        </a:prstGeom>
        <a:ln/>
      </dgm:spPr>
      <dgm:t>
        <a:bodyPr/>
        <a:lstStyle/>
        <a:p>
          <a:endParaRPr lang="zh-TW" altLang="en-US"/>
        </a:p>
      </dgm:t>
    </dgm:pt>
    <dgm:pt modelId="{DE84BD22-0724-4977-9CE3-1511BF48A8B8}">
      <dgm:prSet phldrT="[文字]" custT="1"/>
      <dgm:spPr>
        <a:xfrm>
          <a:off x="667785" y="827517"/>
          <a:ext cx="1927920" cy="1590130"/>
        </a:xfrm>
        <a:prstGeom prst="roundRect">
          <a:avLst>
            <a:gd name="adj" fmla="val 10000"/>
          </a:avLst>
        </a:prstGeom>
        <a:solidFill>
          <a:sysClr val="window" lastClr="FFFFFF">
            <a:alpha val="90000"/>
            <a:hueOff val="0"/>
            <a:satOff val="0"/>
            <a:lumOff val="0"/>
            <a:alphaOff val="0"/>
          </a:sysClr>
        </a:solidFill>
        <a:ln w="19050" cap="flat" cmpd="sng" algn="ctr">
          <a:solidFill>
            <a:srgbClr val="ED7D31">
              <a:hueOff val="0"/>
              <a:satOff val="0"/>
              <a:lumOff val="0"/>
              <a:alphaOff val="0"/>
            </a:srgbClr>
          </a:solidFill>
          <a:prstDash val="solid"/>
          <a:miter lim="800000"/>
        </a:ln>
        <a:effectLst/>
      </dgm:spPr>
      <dgm:t>
        <a:bodyPr/>
        <a:lstStyle/>
        <a:p>
          <a:pPr>
            <a:buNone/>
          </a:pPr>
          <a:r>
            <a:rPr lang="zh-TW" altLang="en-US" sz="1400" b="1"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rPr>
            <a:t>匯款人向匯款銀行下達匯款指示</a:t>
          </a:r>
        </a:p>
      </dgm:t>
    </dgm:pt>
    <dgm:pt modelId="{9BB81D84-9BF3-480A-82E8-6858C2D25E1D}" type="parTrans" cxnId="{82397B21-BDC7-467A-B581-BA7236AD6CAA}">
      <dgm:prSet/>
      <dgm:spPr/>
      <dgm:t>
        <a:bodyPr/>
        <a:lstStyle/>
        <a:p>
          <a:endParaRPr lang="zh-TW" altLang="en-US"/>
        </a:p>
      </dgm:t>
    </dgm:pt>
    <dgm:pt modelId="{760FE211-FCB5-4B32-8D09-15A6459A0698}" type="sibTrans" cxnId="{82397B21-BDC7-467A-B581-BA7236AD6CAA}">
      <dgm:prSet/>
      <dgm:spPr/>
      <dgm:t>
        <a:bodyPr/>
        <a:lstStyle/>
        <a:p>
          <a:endParaRPr lang="zh-TW" altLang="en-US"/>
        </a:p>
      </dgm:t>
    </dgm:pt>
    <dgm:pt modelId="{93E177BA-5524-40EF-901D-F6F75C8F4667}">
      <dgm:prSet phldrT="[文字]"/>
      <dgm:spPr>
        <a:xfrm>
          <a:off x="3669565" y="486774"/>
          <a:ext cx="1713706" cy="681484"/>
        </a:xfrm>
        <a:prstGeom prst="roundRect">
          <a:avLst>
            <a:gd name="adj" fmla="val 10000"/>
          </a:avLst>
        </a:prstGeom>
        <a:solidFill>
          <a:sysClr val="window" lastClr="FFFFFF"/>
        </a:solidFill>
        <a:ln w="12700" cap="flat" cmpd="sng" algn="ctr">
          <a:solidFill>
            <a:sysClr val="window" lastClr="FFFFFF">
              <a:hueOff val="0"/>
              <a:satOff val="0"/>
              <a:lumOff val="0"/>
              <a:alphaOff val="0"/>
            </a:sysClr>
          </a:solidFill>
          <a:prstDash val="solid"/>
          <a:miter lim="800000"/>
        </a:ln>
        <a:effectLst/>
      </dgm:spPr>
      <dgm:t>
        <a:bodyPr/>
        <a:lstStyle/>
        <a:p>
          <a:pPr>
            <a:buNone/>
          </a:pPr>
          <a:endParaRPr lang="zh-TW" altLang="en-US" dirty="0">
            <a:solidFill>
              <a:sysClr val="window" lastClr="FFFFFF"/>
            </a:solidFill>
            <a:latin typeface="Calibri" panose="020F0502020204030204"/>
            <a:ea typeface="新細明體" panose="02020500000000000000" pitchFamily="18" charset="-120"/>
            <a:cs typeface="+mn-cs"/>
          </a:endParaRPr>
        </a:p>
      </dgm:t>
    </dgm:pt>
    <dgm:pt modelId="{377930B0-C388-4811-86AC-7A14A1A3D9F0}" type="parTrans" cxnId="{832CE957-9295-403C-9D7B-8248BBBD549B}">
      <dgm:prSet/>
      <dgm:spPr/>
      <dgm:t>
        <a:bodyPr/>
        <a:lstStyle/>
        <a:p>
          <a:endParaRPr lang="zh-TW" altLang="en-US"/>
        </a:p>
      </dgm:t>
    </dgm:pt>
    <dgm:pt modelId="{853F0824-8822-4005-B511-85A29801B023}" type="sibTrans" cxnId="{832CE957-9295-403C-9D7B-8248BBBD549B}">
      <dgm:prSet>
        <dgm:style>
          <a:lnRef idx="3">
            <a:schemeClr val="lt1"/>
          </a:lnRef>
          <a:fillRef idx="1">
            <a:schemeClr val="accent5"/>
          </a:fillRef>
          <a:effectRef idx="1">
            <a:schemeClr val="accent5"/>
          </a:effectRef>
          <a:fontRef idx="minor">
            <a:schemeClr val="lt1"/>
          </a:fontRef>
        </dgm:style>
      </dgm:prSet>
      <dgm:spPr>
        <a:xfrm>
          <a:off x="4524417" y="-82156"/>
          <a:ext cx="2552016" cy="2552016"/>
        </a:xfrm>
        <a:prstGeom prst="circularArrow">
          <a:avLst>
            <a:gd name="adj1" fmla="val 3548"/>
            <a:gd name="adj2" fmla="val 440787"/>
            <a:gd name="adj3" fmla="val 19383703"/>
            <a:gd name="adj4" fmla="val 12575511"/>
            <a:gd name="adj5" fmla="val 4140"/>
          </a:avLst>
        </a:prstGeom>
        <a:ln/>
      </dgm:spPr>
      <dgm:t>
        <a:bodyPr/>
        <a:lstStyle/>
        <a:p>
          <a:endParaRPr lang="zh-TW" altLang="en-US"/>
        </a:p>
      </dgm:t>
    </dgm:pt>
    <dgm:pt modelId="{BAA8CA4E-C418-472B-A78B-5A6D3BFC1169}">
      <dgm:prSet phldrT="[文字]" custT="1"/>
      <dgm:spPr>
        <a:xfrm>
          <a:off x="3241139" y="827517"/>
          <a:ext cx="1927920" cy="1590130"/>
        </a:xfrm>
        <a:prstGeom prst="roundRect">
          <a:avLst>
            <a:gd name="adj" fmla="val 10000"/>
          </a:avLst>
        </a:prstGeom>
        <a:solidFill>
          <a:sysClr val="window" lastClr="FFFFFF">
            <a:alpha val="90000"/>
            <a:hueOff val="0"/>
            <a:satOff val="0"/>
            <a:lumOff val="0"/>
            <a:alphaOff val="0"/>
          </a:sysClr>
        </a:solidFill>
        <a:ln w="19050" cap="flat" cmpd="sng" algn="ctr">
          <a:solidFill>
            <a:srgbClr val="ED7D31">
              <a:hueOff val="-727682"/>
              <a:satOff val="-41964"/>
              <a:lumOff val="4314"/>
              <a:alphaOff val="0"/>
            </a:srgbClr>
          </a:solidFill>
          <a:prstDash val="solid"/>
          <a:miter lim="800000"/>
        </a:ln>
        <a:effectLst/>
      </dgm:spPr>
      <dgm:t>
        <a:bodyPr/>
        <a:lstStyle/>
        <a:p>
          <a:pPr>
            <a:buNone/>
          </a:pPr>
          <a:r>
            <a:rPr lang="zh-TW" altLang="en-US" sz="1400" b="1"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rPr>
            <a:t>匯款銀行認證匯款人身分及接收匯款資訊、將之紀錄於區塊鏈上，並扣減匯款人存款帳戶餘額</a:t>
          </a:r>
        </a:p>
      </dgm:t>
    </dgm:pt>
    <dgm:pt modelId="{FCDDA755-022A-44A1-9520-D135FC2896AC}" type="parTrans" cxnId="{12994B05-7FCD-4A2D-8475-04B771382235}">
      <dgm:prSet/>
      <dgm:spPr/>
      <dgm:t>
        <a:bodyPr/>
        <a:lstStyle/>
        <a:p>
          <a:endParaRPr lang="zh-TW" altLang="en-US"/>
        </a:p>
      </dgm:t>
    </dgm:pt>
    <dgm:pt modelId="{8D1EC25B-00B3-4680-B6BD-1467065087C7}" type="sibTrans" cxnId="{12994B05-7FCD-4A2D-8475-04B771382235}">
      <dgm:prSet/>
      <dgm:spPr/>
      <dgm:t>
        <a:bodyPr/>
        <a:lstStyle/>
        <a:p>
          <a:endParaRPr lang="zh-TW" altLang="en-US"/>
        </a:p>
      </dgm:t>
    </dgm:pt>
    <dgm:pt modelId="{27E5E29A-04D7-4B5E-9B37-795A029E9B7D}">
      <dgm:prSet phldrT="[文字]"/>
      <dgm:spPr>
        <a:xfrm>
          <a:off x="6242919" y="2076905"/>
          <a:ext cx="1713706" cy="681484"/>
        </a:xfrm>
        <a:prstGeom prst="roundRect">
          <a:avLst>
            <a:gd name="adj" fmla="val 10000"/>
          </a:avLst>
        </a:prstGeom>
        <a:solidFill>
          <a:sysClr val="window" lastClr="FFFFFF"/>
        </a:solidFill>
        <a:ln w="12700" cap="flat" cmpd="sng" algn="ctr">
          <a:solidFill>
            <a:sysClr val="window" lastClr="FFFFFF">
              <a:hueOff val="0"/>
              <a:satOff val="0"/>
              <a:lumOff val="0"/>
              <a:alphaOff val="0"/>
            </a:sysClr>
          </a:solidFill>
          <a:prstDash val="solid"/>
          <a:miter lim="800000"/>
        </a:ln>
        <a:effectLst/>
      </dgm:spPr>
      <dgm:t>
        <a:bodyPr/>
        <a:lstStyle/>
        <a:p>
          <a:pPr>
            <a:buNone/>
          </a:pPr>
          <a:endParaRPr lang="zh-TW" altLang="en-US" dirty="0">
            <a:solidFill>
              <a:sysClr val="window" lastClr="FFFFFF"/>
            </a:solidFill>
            <a:latin typeface="Calibri" panose="020F0502020204030204"/>
            <a:ea typeface="新細明體" panose="02020500000000000000" pitchFamily="18" charset="-120"/>
            <a:cs typeface="+mn-cs"/>
          </a:endParaRPr>
        </a:p>
      </dgm:t>
    </dgm:pt>
    <dgm:pt modelId="{D3C680E9-4B45-4A0E-9D77-28A8CB7FFBA5}" type="parTrans" cxnId="{86B5BA1A-BC22-44C5-BE54-D3BF75406AF2}">
      <dgm:prSet/>
      <dgm:spPr/>
      <dgm:t>
        <a:bodyPr/>
        <a:lstStyle/>
        <a:p>
          <a:endParaRPr lang="zh-TW" altLang="en-US"/>
        </a:p>
      </dgm:t>
    </dgm:pt>
    <dgm:pt modelId="{BF4979F5-BEA3-4A10-91A8-0C7B907B77FC}" type="sibTrans" cxnId="{86B5BA1A-BC22-44C5-BE54-D3BF75406AF2}">
      <dgm:prSet/>
      <dgm:spPr/>
      <dgm:t>
        <a:bodyPr/>
        <a:lstStyle/>
        <a:p>
          <a:endParaRPr lang="zh-TW" altLang="en-US"/>
        </a:p>
      </dgm:t>
    </dgm:pt>
    <dgm:pt modelId="{0F148242-0F82-45AF-9C74-B306D9796B29}">
      <dgm:prSet phldrT="[文字]" custT="1"/>
      <dgm:spPr>
        <a:xfrm>
          <a:off x="5814493" y="827517"/>
          <a:ext cx="1927920" cy="1590130"/>
        </a:xfrm>
        <a:prstGeom prst="roundRect">
          <a:avLst>
            <a:gd name="adj" fmla="val 10000"/>
          </a:avLst>
        </a:prstGeom>
        <a:solidFill>
          <a:sysClr val="window" lastClr="FFFFFF">
            <a:alpha val="90000"/>
            <a:hueOff val="0"/>
            <a:satOff val="0"/>
            <a:lumOff val="0"/>
            <a:alphaOff val="0"/>
          </a:sysClr>
        </a:solidFill>
        <a:ln w="19050" cap="flat" cmpd="sng" algn="ctr">
          <a:solidFill>
            <a:srgbClr val="ED7D31">
              <a:hueOff val="-1455363"/>
              <a:satOff val="-83928"/>
              <a:lumOff val="8628"/>
              <a:alphaOff val="0"/>
            </a:srgbClr>
          </a:solidFill>
          <a:prstDash val="solid"/>
          <a:miter lim="800000"/>
        </a:ln>
        <a:effectLst/>
      </dgm:spPr>
      <dgm:t>
        <a:bodyPr/>
        <a:lstStyle/>
        <a:p>
          <a:pPr>
            <a:buNone/>
          </a:pPr>
          <a:r>
            <a:rPr lang="zh-TW" altLang="en-US" sz="1400" b="1"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rPr>
            <a:t>匯款銀行在各國銀行共同組成的私有鏈中發起匯款交易</a:t>
          </a:r>
        </a:p>
      </dgm:t>
    </dgm:pt>
    <dgm:pt modelId="{D56AAAE8-6BEA-498B-B6F0-8B1EC9FAA538}" type="parTrans" cxnId="{32359E9D-DC22-48E4-ABF1-9CC189EDA6E6}">
      <dgm:prSet/>
      <dgm:spPr/>
      <dgm:t>
        <a:bodyPr/>
        <a:lstStyle/>
        <a:p>
          <a:endParaRPr lang="zh-TW" altLang="en-US"/>
        </a:p>
      </dgm:t>
    </dgm:pt>
    <dgm:pt modelId="{0AADDCCE-DE53-4CEB-A64B-39AEE006AE8D}" type="sibTrans" cxnId="{32359E9D-DC22-48E4-ABF1-9CC189EDA6E6}">
      <dgm:prSet/>
      <dgm:spPr/>
      <dgm:t>
        <a:bodyPr/>
        <a:lstStyle/>
        <a:p>
          <a:endParaRPr lang="zh-TW" altLang="en-US"/>
        </a:p>
      </dgm:t>
    </dgm:pt>
    <dgm:pt modelId="{E7FB7A7F-6470-4B40-BD86-E3535EBD48DE}" type="pres">
      <dgm:prSet presAssocID="{F17CC7DC-D21A-4534-BDE4-65B9D291E62B}" presName="Name0" presStyleCnt="0">
        <dgm:presLayoutVars>
          <dgm:dir/>
          <dgm:animLvl val="lvl"/>
          <dgm:resizeHandles val="exact"/>
        </dgm:presLayoutVars>
      </dgm:prSet>
      <dgm:spPr/>
    </dgm:pt>
    <dgm:pt modelId="{B20A763D-694C-495A-ACA2-981728D9E7A5}" type="pres">
      <dgm:prSet presAssocID="{F17CC7DC-D21A-4534-BDE4-65B9D291E62B}" presName="tSp" presStyleCnt="0"/>
      <dgm:spPr/>
    </dgm:pt>
    <dgm:pt modelId="{139D9E0C-904F-4008-A953-AEC19A768683}" type="pres">
      <dgm:prSet presAssocID="{F17CC7DC-D21A-4534-BDE4-65B9D291E62B}" presName="bSp" presStyleCnt="0"/>
      <dgm:spPr/>
    </dgm:pt>
    <dgm:pt modelId="{8415D312-9470-4368-B47B-2807B6408BB9}" type="pres">
      <dgm:prSet presAssocID="{F17CC7DC-D21A-4534-BDE4-65B9D291E62B}" presName="process" presStyleCnt="0"/>
      <dgm:spPr/>
    </dgm:pt>
    <dgm:pt modelId="{9893A6AD-FFD2-43FC-8925-BBEBD50BC749}" type="pres">
      <dgm:prSet presAssocID="{E107082F-12F8-479B-9744-0CEC0F920F2A}" presName="composite1" presStyleCnt="0"/>
      <dgm:spPr/>
    </dgm:pt>
    <dgm:pt modelId="{899C862E-7AC5-4D1F-AEB6-A4E20AE81B75}" type="pres">
      <dgm:prSet presAssocID="{E107082F-12F8-479B-9744-0CEC0F920F2A}" presName="dummyNode1" presStyleLbl="node1" presStyleIdx="0" presStyleCnt="3"/>
      <dgm:spPr/>
    </dgm:pt>
    <dgm:pt modelId="{0A70D7C2-560E-402D-8D6F-A7A502C07B73}" type="pres">
      <dgm:prSet presAssocID="{E107082F-12F8-479B-9744-0CEC0F920F2A}" presName="childNode1" presStyleLbl="bgAcc1" presStyleIdx="0" presStyleCnt="3" custScaleX="130080">
        <dgm:presLayoutVars>
          <dgm:bulletEnabled val="1"/>
        </dgm:presLayoutVars>
      </dgm:prSet>
      <dgm:spPr/>
    </dgm:pt>
    <dgm:pt modelId="{EE968E80-902A-4B02-B4E9-37244BBA35B5}" type="pres">
      <dgm:prSet presAssocID="{E107082F-12F8-479B-9744-0CEC0F920F2A}" presName="childNode1tx" presStyleLbl="bgAcc1" presStyleIdx="0" presStyleCnt="3">
        <dgm:presLayoutVars>
          <dgm:bulletEnabled val="1"/>
        </dgm:presLayoutVars>
      </dgm:prSet>
      <dgm:spPr/>
    </dgm:pt>
    <dgm:pt modelId="{F2C95784-0BD4-4C75-9569-757E07A17871}" type="pres">
      <dgm:prSet presAssocID="{E107082F-12F8-479B-9744-0CEC0F920F2A}" presName="parentNode1" presStyleLbl="node1" presStyleIdx="0" presStyleCnt="3">
        <dgm:presLayoutVars>
          <dgm:chMax val="1"/>
          <dgm:bulletEnabled val="1"/>
        </dgm:presLayoutVars>
      </dgm:prSet>
      <dgm:spPr/>
    </dgm:pt>
    <dgm:pt modelId="{D3D2BF33-F273-43B0-A1A0-247AE738386D}" type="pres">
      <dgm:prSet presAssocID="{E107082F-12F8-479B-9744-0CEC0F920F2A}" presName="connSite1" presStyleCnt="0"/>
      <dgm:spPr/>
    </dgm:pt>
    <dgm:pt modelId="{2587CEBC-A21A-4179-AB8E-3C6DECFCA2EC}" type="pres">
      <dgm:prSet presAssocID="{FA175F20-FBFA-4772-8D73-49432617E7AB}" presName="Name9" presStyleLbl="sibTrans2D1" presStyleIdx="0" presStyleCnt="2" custLinFactNeighborX="14925" custLinFactNeighborY="-4365"/>
      <dgm:spPr/>
    </dgm:pt>
    <dgm:pt modelId="{90ADED85-06E6-4CC9-98AC-EAF6BF601006}" type="pres">
      <dgm:prSet presAssocID="{93E177BA-5524-40EF-901D-F6F75C8F4667}" presName="composite2" presStyleCnt="0"/>
      <dgm:spPr/>
    </dgm:pt>
    <dgm:pt modelId="{44DC1C49-2E34-4531-BA6B-145517555CF5}" type="pres">
      <dgm:prSet presAssocID="{93E177BA-5524-40EF-901D-F6F75C8F4667}" presName="dummyNode2" presStyleLbl="node1" presStyleIdx="0" presStyleCnt="3"/>
      <dgm:spPr/>
    </dgm:pt>
    <dgm:pt modelId="{8D032E8B-421E-4373-8984-874791F76802}" type="pres">
      <dgm:prSet presAssocID="{93E177BA-5524-40EF-901D-F6F75C8F4667}" presName="childNode2" presStyleLbl="bgAcc1" presStyleIdx="1" presStyleCnt="3" custScaleX="334050">
        <dgm:presLayoutVars>
          <dgm:bulletEnabled val="1"/>
        </dgm:presLayoutVars>
      </dgm:prSet>
      <dgm:spPr/>
    </dgm:pt>
    <dgm:pt modelId="{292CFAAB-41B0-488C-BC30-03DFA2113110}" type="pres">
      <dgm:prSet presAssocID="{93E177BA-5524-40EF-901D-F6F75C8F4667}" presName="childNode2tx" presStyleLbl="bgAcc1" presStyleIdx="1" presStyleCnt="3">
        <dgm:presLayoutVars>
          <dgm:bulletEnabled val="1"/>
        </dgm:presLayoutVars>
      </dgm:prSet>
      <dgm:spPr/>
    </dgm:pt>
    <dgm:pt modelId="{0167A9D5-C4DF-4AEC-8DA0-E4F182A571E7}" type="pres">
      <dgm:prSet presAssocID="{93E177BA-5524-40EF-901D-F6F75C8F4667}" presName="parentNode2" presStyleLbl="node1" presStyleIdx="1" presStyleCnt="3">
        <dgm:presLayoutVars>
          <dgm:chMax val="0"/>
          <dgm:bulletEnabled val="1"/>
        </dgm:presLayoutVars>
      </dgm:prSet>
      <dgm:spPr/>
    </dgm:pt>
    <dgm:pt modelId="{E9707615-FD98-4A7D-9CF8-C955B8EB1457}" type="pres">
      <dgm:prSet presAssocID="{93E177BA-5524-40EF-901D-F6F75C8F4667}" presName="connSite2" presStyleCnt="0"/>
      <dgm:spPr/>
    </dgm:pt>
    <dgm:pt modelId="{97029388-6E48-4488-9D8F-B8422E8797EC}" type="pres">
      <dgm:prSet presAssocID="{853F0824-8822-4005-B511-85A29801B023}" presName="Name18" presStyleLbl="sibTrans2D1" presStyleIdx="1" presStyleCnt="2" custAng="21368830" custLinFactNeighborX="16812" custLinFactNeighborY="4672"/>
      <dgm:spPr/>
    </dgm:pt>
    <dgm:pt modelId="{2E53C2D1-79A7-49E9-9A6A-33A815C3C9BE}" type="pres">
      <dgm:prSet presAssocID="{27E5E29A-04D7-4B5E-9B37-795A029E9B7D}" presName="composite1" presStyleCnt="0"/>
      <dgm:spPr/>
    </dgm:pt>
    <dgm:pt modelId="{74F97D6A-0847-43B5-A8C0-129C87772F1B}" type="pres">
      <dgm:prSet presAssocID="{27E5E29A-04D7-4B5E-9B37-795A029E9B7D}" presName="dummyNode1" presStyleLbl="node1" presStyleIdx="1" presStyleCnt="3"/>
      <dgm:spPr/>
    </dgm:pt>
    <dgm:pt modelId="{0BE315EF-8BCD-4555-864E-6407778FF56C}" type="pres">
      <dgm:prSet presAssocID="{27E5E29A-04D7-4B5E-9B37-795A029E9B7D}" presName="childNode1" presStyleLbl="bgAcc1" presStyleIdx="2" presStyleCnt="3" custScaleX="174826">
        <dgm:presLayoutVars>
          <dgm:bulletEnabled val="1"/>
        </dgm:presLayoutVars>
      </dgm:prSet>
      <dgm:spPr/>
    </dgm:pt>
    <dgm:pt modelId="{5311D6C5-2AE3-4691-ACB8-E94FDB0F85B6}" type="pres">
      <dgm:prSet presAssocID="{27E5E29A-04D7-4B5E-9B37-795A029E9B7D}" presName="childNode1tx" presStyleLbl="bgAcc1" presStyleIdx="2" presStyleCnt="3">
        <dgm:presLayoutVars>
          <dgm:bulletEnabled val="1"/>
        </dgm:presLayoutVars>
      </dgm:prSet>
      <dgm:spPr/>
    </dgm:pt>
    <dgm:pt modelId="{FFA6DF61-522D-4F7E-BAB5-EDB8059AA60D}" type="pres">
      <dgm:prSet presAssocID="{27E5E29A-04D7-4B5E-9B37-795A029E9B7D}" presName="parentNode1" presStyleLbl="node1" presStyleIdx="2" presStyleCnt="3">
        <dgm:presLayoutVars>
          <dgm:chMax val="1"/>
          <dgm:bulletEnabled val="1"/>
        </dgm:presLayoutVars>
      </dgm:prSet>
      <dgm:spPr/>
    </dgm:pt>
    <dgm:pt modelId="{2CCE6FE5-C1C4-4F68-B944-2AC99DD53559}" type="pres">
      <dgm:prSet presAssocID="{27E5E29A-04D7-4B5E-9B37-795A029E9B7D}" presName="connSite1" presStyleCnt="0"/>
      <dgm:spPr/>
    </dgm:pt>
  </dgm:ptLst>
  <dgm:cxnLst>
    <dgm:cxn modelId="{12994B05-7FCD-4A2D-8475-04B771382235}" srcId="{93E177BA-5524-40EF-901D-F6F75C8F4667}" destId="{BAA8CA4E-C418-472B-A78B-5A6D3BFC1169}" srcOrd="0" destOrd="0" parTransId="{FCDDA755-022A-44A1-9520-D135FC2896AC}" sibTransId="{8D1EC25B-00B3-4680-B6BD-1467065087C7}"/>
    <dgm:cxn modelId="{D24E6D0A-7A4F-4A75-8AF6-AC5A720E1852}" type="presOf" srcId="{BAA8CA4E-C418-472B-A78B-5A6D3BFC1169}" destId="{292CFAAB-41B0-488C-BC30-03DFA2113110}" srcOrd="1" destOrd="0" presId="urn:microsoft.com/office/officeart/2005/8/layout/hProcess4"/>
    <dgm:cxn modelId="{A55A3212-0C35-4D33-875D-308CFA2575A8}" type="presOf" srcId="{853F0824-8822-4005-B511-85A29801B023}" destId="{97029388-6E48-4488-9D8F-B8422E8797EC}" srcOrd="0" destOrd="0" presId="urn:microsoft.com/office/officeart/2005/8/layout/hProcess4"/>
    <dgm:cxn modelId="{86B5BA1A-BC22-44C5-BE54-D3BF75406AF2}" srcId="{F17CC7DC-D21A-4534-BDE4-65B9D291E62B}" destId="{27E5E29A-04D7-4B5E-9B37-795A029E9B7D}" srcOrd="2" destOrd="0" parTransId="{D3C680E9-4B45-4A0E-9D77-28A8CB7FFBA5}" sibTransId="{BF4979F5-BEA3-4A10-91A8-0C7B907B77FC}"/>
    <dgm:cxn modelId="{82397B21-BDC7-467A-B581-BA7236AD6CAA}" srcId="{E107082F-12F8-479B-9744-0CEC0F920F2A}" destId="{DE84BD22-0724-4977-9CE3-1511BF48A8B8}" srcOrd="0" destOrd="0" parTransId="{9BB81D84-9BF3-480A-82E8-6858C2D25E1D}" sibTransId="{760FE211-FCB5-4B32-8D09-15A6459A0698}"/>
    <dgm:cxn modelId="{C92EED2D-7E9E-4FC5-832D-695874ED79DE}" type="presOf" srcId="{E107082F-12F8-479B-9744-0CEC0F920F2A}" destId="{F2C95784-0BD4-4C75-9569-757E07A17871}" srcOrd="0" destOrd="0" presId="urn:microsoft.com/office/officeart/2005/8/layout/hProcess4"/>
    <dgm:cxn modelId="{EB2F5F36-18F3-4B1E-8929-557EAF3DBCAA}" type="presOf" srcId="{0F148242-0F82-45AF-9C74-B306D9796B29}" destId="{0BE315EF-8BCD-4555-864E-6407778FF56C}" srcOrd="0" destOrd="0" presId="urn:microsoft.com/office/officeart/2005/8/layout/hProcess4"/>
    <dgm:cxn modelId="{A3F1D272-0CE4-444F-9CFE-38BCB93CBE08}" type="presOf" srcId="{DE84BD22-0724-4977-9CE3-1511BF48A8B8}" destId="{0A70D7C2-560E-402D-8D6F-A7A502C07B73}" srcOrd="0" destOrd="0" presId="urn:microsoft.com/office/officeart/2005/8/layout/hProcess4"/>
    <dgm:cxn modelId="{D376E052-9BF8-4ADE-B953-A0BC0488D58C}" type="presOf" srcId="{0F148242-0F82-45AF-9C74-B306D9796B29}" destId="{5311D6C5-2AE3-4691-ACB8-E94FDB0F85B6}" srcOrd="1" destOrd="0" presId="urn:microsoft.com/office/officeart/2005/8/layout/hProcess4"/>
    <dgm:cxn modelId="{832CE957-9295-403C-9D7B-8248BBBD549B}" srcId="{F17CC7DC-D21A-4534-BDE4-65B9D291E62B}" destId="{93E177BA-5524-40EF-901D-F6F75C8F4667}" srcOrd="1" destOrd="0" parTransId="{377930B0-C388-4811-86AC-7A14A1A3D9F0}" sibTransId="{853F0824-8822-4005-B511-85A29801B023}"/>
    <dgm:cxn modelId="{D916E459-C2CC-400A-86D5-32FFD6441EB6}" type="presOf" srcId="{FA175F20-FBFA-4772-8D73-49432617E7AB}" destId="{2587CEBC-A21A-4179-AB8E-3C6DECFCA2EC}" srcOrd="0" destOrd="0" presId="urn:microsoft.com/office/officeart/2005/8/layout/hProcess4"/>
    <dgm:cxn modelId="{895F317F-065A-496A-B1A7-7D809E986C23}" srcId="{F17CC7DC-D21A-4534-BDE4-65B9D291E62B}" destId="{E107082F-12F8-479B-9744-0CEC0F920F2A}" srcOrd="0" destOrd="0" parTransId="{A00BB2DE-42B8-4DBF-A0DF-131C68558558}" sibTransId="{FA175F20-FBFA-4772-8D73-49432617E7AB}"/>
    <dgm:cxn modelId="{3A89788E-1235-4DCB-ADA3-CBD4171005B6}" type="presOf" srcId="{27E5E29A-04D7-4B5E-9B37-795A029E9B7D}" destId="{FFA6DF61-522D-4F7E-BAB5-EDB8059AA60D}" srcOrd="0" destOrd="0" presId="urn:microsoft.com/office/officeart/2005/8/layout/hProcess4"/>
    <dgm:cxn modelId="{32359E9D-DC22-48E4-ABF1-9CC189EDA6E6}" srcId="{27E5E29A-04D7-4B5E-9B37-795A029E9B7D}" destId="{0F148242-0F82-45AF-9C74-B306D9796B29}" srcOrd="0" destOrd="0" parTransId="{D56AAAE8-6BEA-498B-B6F0-8B1EC9FAA538}" sibTransId="{0AADDCCE-DE53-4CEB-A64B-39AEE006AE8D}"/>
    <dgm:cxn modelId="{B59240AF-E9BF-421C-B4D5-3F34DED564AA}" type="presOf" srcId="{BAA8CA4E-C418-472B-A78B-5A6D3BFC1169}" destId="{8D032E8B-421E-4373-8984-874791F76802}" srcOrd="0" destOrd="0" presId="urn:microsoft.com/office/officeart/2005/8/layout/hProcess4"/>
    <dgm:cxn modelId="{E11E36B9-28A1-4B9B-8D21-97D5B39F7339}" type="presOf" srcId="{DE84BD22-0724-4977-9CE3-1511BF48A8B8}" destId="{EE968E80-902A-4B02-B4E9-37244BBA35B5}" srcOrd="1" destOrd="0" presId="urn:microsoft.com/office/officeart/2005/8/layout/hProcess4"/>
    <dgm:cxn modelId="{3729B1F2-2FCE-4169-9684-144D6CC37FA9}" type="presOf" srcId="{F17CC7DC-D21A-4534-BDE4-65B9D291E62B}" destId="{E7FB7A7F-6470-4B40-BD86-E3535EBD48DE}" srcOrd="0" destOrd="0" presId="urn:microsoft.com/office/officeart/2005/8/layout/hProcess4"/>
    <dgm:cxn modelId="{3B977BF5-E415-4966-8AB6-BDB2E4B73CE5}" type="presOf" srcId="{93E177BA-5524-40EF-901D-F6F75C8F4667}" destId="{0167A9D5-C4DF-4AEC-8DA0-E4F182A571E7}" srcOrd="0" destOrd="0" presId="urn:microsoft.com/office/officeart/2005/8/layout/hProcess4"/>
    <dgm:cxn modelId="{A5C7D028-CD2C-4BC3-94B1-EA8B6D916C58}" type="presParOf" srcId="{E7FB7A7F-6470-4B40-BD86-E3535EBD48DE}" destId="{B20A763D-694C-495A-ACA2-981728D9E7A5}" srcOrd="0" destOrd="0" presId="urn:microsoft.com/office/officeart/2005/8/layout/hProcess4"/>
    <dgm:cxn modelId="{5E8898E2-C2E2-4112-A2C3-84143200E97B}" type="presParOf" srcId="{E7FB7A7F-6470-4B40-BD86-E3535EBD48DE}" destId="{139D9E0C-904F-4008-A953-AEC19A768683}" srcOrd="1" destOrd="0" presId="urn:microsoft.com/office/officeart/2005/8/layout/hProcess4"/>
    <dgm:cxn modelId="{16A0694B-3AF5-4B33-B02F-69A1F318D6AF}" type="presParOf" srcId="{E7FB7A7F-6470-4B40-BD86-E3535EBD48DE}" destId="{8415D312-9470-4368-B47B-2807B6408BB9}" srcOrd="2" destOrd="0" presId="urn:microsoft.com/office/officeart/2005/8/layout/hProcess4"/>
    <dgm:cxn modelId="{26D42E08-9D3B-4EDA-ADFF-78AFEA7C1A0B}" type="presParOf" srcId="{8415D312-9470-4368-B47B-2807B6408BB9}" destId="{9893A6AD-FFD2-43FC-8925-BBEBD50BC749}" srcOrd="0" destOrd="0" presId="urn:microsoft.com/office/officeart/2005/8/layout/hProcess4"/>
    <dgm:cxn modelId="{998A2E73-6247-4EE1-B992-D7DBE9126722}" type="presParOf" srcId="{9893A6AD-FFD2-43FC-8925-BBEBD50BC749}" destId="{899C862E-7AC5-4D1F-AEB6-A4E20AE81B75}" srcOrd="0" destOrd="0" presId="urn:microsoft.com/office/officeart/2005/8/layout/hProcess4"/>
    <dgm:cxn modelId="{C0B431A9-8EEB-45CF-9421-054A9A3A6F89}" type="presParOf" srcId="{9893A6AD-FFD2-43FC-8925-BBEBD50BC749}" destId="{0A70D7C2-560E-402D-8D6F-A7A502C07B73}" srcOrd="1" destOrd="0" presId="urn:microsoft.com/office/officeart/2005/8/layout/hProcess4"/>
    <dgm:cxn modelId="{A22A318E-7939-4486-A3E2-C42CD7BC84D3}" type="presParOf" srcId="{9893A6AD-FFD2-43FC-8925-BBEBD50BC749}" destId="{EE968E80-902A-4B02-B4E9-37244BBA35B5}" srcOrd="2" destOrd="0" presId="urn:microsoft.com/office/officeart/2005/8/layout/hProcess4"/>
    <dgm:cxn modelId="{102A4C66-22D8-4B84-8823-5359B81A2AE6}" type="presParOf" srcId="{9893A6AD-FFD2-43FC-8925-BBEBD50BC749}" destId="{F2C95784-0BD4-4C75-9569-757E07A17871}" srcOrd="3" destOrd="0" presId="urn:microsoft.com/office/officeart/2005/8/layout/hProcess4"/>
    <dgm:cxn modelId="{10A4C0D8-4E1E-43DE-AA21-1D4C05EB7CD1}" type="presParOf" srcId="{9893A6AD-FFD2-43FC-8925-BBEBD50BC749}" destId="{D3D2BF33-F273-43B0-A1A0-247AE738386D}" srcOrd="4" destOrd="0" presId="urn:microsoft.com/office/officeart/2005/8/layout/hProcess4"/>
    <dgm:cxn modelId="{509AF6D1-5B17-47C3-95B8-BC12E8465445}" type="presParOf" srcId="{8415D312-9470-4368-B47B-2807B6408BB9}" destId="{2587CEBC-A21A-4179-AB8E-3C6DECFCA2EC}" srcOrd="1" destOrd="0" presId="urn:microsoft.com/office/officeart/2005/8/layout/hProcess4"/>
    <dgm:cxn modelId="{B35EAEBE-6710-49C0-B8F9-0109B629DBDB}" type="presParOf" srcId="{8415D312-9470-4368-B47B-2807B6408BB9}" destId="{90ADED85-06E6-4CC9-98AC-EAF6BF601006}" srcOrd="2" destOrd="0" presId="urn:microsoft.com/office/officeart/2005/8/layout/hProcess4"/>
    <dgm:cxn modelId="{A4312E6F-FB50-4617-AC82-67E679A0B562}" type="presParOf" srcId="{90ADED85-06E6-4CC9-98AC-EAF6BF601006}" destId="{44DC1C49-2E34-4531-BA6B-145517555CF5}" srcOrd="0" destOrd="0" presId="urn:microsoft.com/office/officeart/2005/8/layout/hProcess4"/>
    <dgm:cxn modelId="{CCA5B36C-5B40-4E38-94DC-61FC6B80FBF2}" type="presParOf" srcId="{90ADED85-06E6-4CC9-98AC-EAF6BF601006}" destId="{8D032E8B-421E-4373-8984-874791F76802}" srcOrd="1" destOrd="0" presId="urn:microsoft.com/office/officeart/2005/8/layout/hProcess4"/>
    <dgm:cxn modelId="{A490EF6B-934A-4C78-8327-A0077A92BD2E}" type="presParOf" srcId="{90ADED85-06E6-4CC9-98AC-EAF6BF601006}" destId="{292CFAAB-41B0-488C-BC30-03DFA2113110}" srcOrd="2" destOrd="0" presId="urn:microsoft.com/office/officeart/2005/8/layout/hProcess4"/>
    <dgm:cxn modelId="{34616159-05C7-4A92-AB46-6E0891444371}" type="presParOf" srcId="{90ADED85-06E6-4CC9-98AC-EAF6BF601006}" destId="{0167A9D5-C4DF-4AEC-8DA0-E4F182A571E7}" srcOrd="3" destOrd="0" presId="urn:microsoft.com/office/officeart/2005/8/layout/hProcess4"/>
    <dgm:cxn modelId="{33ACC9FD-FB49-44BD-885D-D392FFDEFFCD}" type="presParOf" srcId="{90ADED85-06E6-4CC9-98AC-EAF6BF601006}" destId="{E9707615-FD98-4A7D-9CF8-C955B8EB1457}" srcOrd="4" destOrd="0" presId="urn:microsoft.com/office/officeart/2005/8/layout/hProcess4"/>
    <dgm:cxn modelId="{9B297D46-2180-4B9C-BB6B-B235B5AD5958}" type="presParOf" srcId="{8415D312-9470-4368-B47B-2807B6408BB9}" destId="{97029388-6E48-4488-9D8F-B8422E8797EC}" srcOrd="3" destOrd="0" presId="urn:microsoft.com/office/officeart/2005/8/layout/hProcess4"/>
    <dgm:cxn modelId="{C65B0FA8-433C-4BB7-AE3F-0121717072C5}" type="presParOf" srcId="{8415D312-9470-4368-B47B-2807B6408BB9}" destId="{2E53C2D1-79A7-49E9-9A6A-33A815C3C9BE}" srcOrd="4" destOrd="0" presId="urn:microsoft.com/office/officeart/2005/8/layout/hProcess4"/>
    <dgm:cxn modelId="{D956849D-63FA-46D6-BDF6-CF299F35FC3D}" type="presParOf" srcId="{2E53C2D1-79A7-49E9-9A6A-33A815C3C9BE}" destId="{74F97D6A-0847-43B5-A8C0-129C87772F1B}" srcOrd="0" destOrd="0" presId="urn:microsoft.com/office/officeart/2005/8/layout/hProcess4"/>
    <dgm:cxn modelId="{C5C92174-1E97-4F37-BE62-89F03E8668FB}" type="presParOf" srcId="{2E53C2D1-79A7-49E9-9A6A-33A815C3C9BE}" destId="{0BE315EF-8BCD-4555-864E-6407778FF56C}" srcOrd="1" destOrd="0" presId="urn:microsoft.com/office/officeart/2005/8/layout/hProcess4"/>
    <dgm:cxn modelId="{5CC8D300-E4EF-4CE3-9506-A669EB012540}" type="presParOf" srcId="{2E53C2D1-79A7-49E9-9A6A-33A815C3C9BE}" destId="{5311D6C5-2AE3-4691-ACB8-E94FDB0F85B6}" srcOrd="2" destOrd="0" presId="urn:microsoft.com/office/officeart/2005/8/layout/hProcess4"/>
    <dgm:cxn modelId="{3306D0A1-50A1-46FD-A37E-DEA97F9235E5}" type="presParOf" srcId="{2E53C2D1-79A7-49E9-9A6A-33A815C3C9BE}" destId="{FFA6DF61-522D-4F7E-BAB5-EDB8059AA60D}" srcOrd="3" destOrd="0" presId="urn:microsoft.com/office/officeart/2005/8/layout/hProcess4"/>
    <dgm:cxn modelId="{218C2AD6-3772-499B-B333-F4C61B33CC6B}" type="presParOf" srcId="{2E53C2D1-79A7-49E9-9A6A-33A815C3C9BE}" destId="{2CCE6FE5-C1C4-4F68-B944-2AC99DD53559}" srcOrd="4" destOrd="0" presId="urn:microsoft.com/office/officeart/2005/8/layout/h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17CC7DC-D21A-4534-BDE4-65B9D291E62B}" type="doc">
      <dgm:prSet loTypeId="urn:microsoft.com/office/officeart/2005/8/layout/hProcess4" loCatId="process" qsTypeId="urn:microsoft.com/office/officeart/2005/8/quickstyle/simple1" qsCatId="simple" csTypeId="urn:microsoft.com/office/officeart/2005/8/colors/colorful4" csCatId="colorful" phldr="1"/>
      <dgm:spPr/>
      <dgm:t>
        <a:bodyPr/>
        <a:lstStyle/>
        <a:p>
          <a:endParaRPr lang="zh-TW" altLang="en-US"/>
        </a:p>
      </dgm:t>
    </dgm:pt>
    <dgm:pt modelId="{DE84BD22-0724-4977-9CE3-1511BF48A8B8}">
      <dgm:prSet phldrT="[文字]" custT="1"/>
      <dgm:spPr>
        <a:xfrm>
          <a:off x="672320" y="826801"/>
          <a:ext cx="1926253" cy="1588755"/>
        </a:xfrm>
        <a:prstGeom prst="roundRect">
          <a:avLst>
            <a:gd name="adj" fmla="val 10000"/>
          </a:avLst>
        </a:prstGeom>
        <a:solidFill>
          <a:sysClr val="window" lastClr="FFFFFF">
            <a:alpha val="90000"/>
            <a:hueOff val="0"/>
            <a:satOff val="0"/>
            <a:lumOff val="0"/>
            <a:alphaOff val="0"/>
          </a:sysClr>
        </a:solidFill>
        <a:ln w="19050" cap="flat" cmpd="sng" algn="ctr">
          <a:solidFill>
            <a:srgbClr val="FFC000">
              <a:hueOff val="0"/>
              <a:satOff val="0"/>
              <a:lumOff val="0"/>
              <a:alphaOff val="0"/>
            </a:srgbClr>
          </a:solidFill>
          <a:prstDash val="solid"/>
          <a:miter lim="800000"/>
        </a:ln>
        <a:effectLst/>
      </dgm:spPr>
      <dgm:t>
        <a:bodyPr/>
        <a:lstStyle/>
        <a:p>
          <a:pPr>
            <a:buNone/>
          </a:pPr>
          <a:r>
            <a:rPr lang="zh-TW" altLang="en-US" sz="1400" b="1"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rPr>
            <a:t>內嵌的智慧合約自動將區塊鏈上記載的匯款資訊與資料庫比對檢查</a:t>
          </a:r>
        </a:p>
      </dgm:t>
    </dgm:pt>
    <dgm:pt modelId="{9BB81D84-9BF3-480A-82E8-6858C2D25E1D}" type="parTrans" cxnId="{82397B21-BDC7-467A-B581-BA7236AD6CAA}">
      <dgm:prSet/>
      <dgm:spPr/>
      <dgm:t>
        <a:bodyPr/>
        <a:lstStyle/>
        <a:p>
          <a:endParaRPr lang="zh-TW" altLang="en-US"/>
        </a:p>
      </dgm:t>
    </dgm:pt>
    <dgm:pt modelId="{760FE211-FCB5-4B32-8D09-15A6459A0698}" type="sibTrans" cxnId="{82397B21-BDC7-467A-B581-BA7236AD6CAA}">
      <dgm:prSet/>
      <dgm:spPr/>
      <dgm:t>
        <a:bodyPr/>
        <a:lstStyle/>
        <a:p>
          <a:endParaRPr lang="zh-TW" altLang="en-US"/>
        </a:p>
      </dgm:t>
    </dgm:pt>
    <dgm:pt modelId="{93E177BA-5524-40EF-901D-F6F75C8F4667}">
      <dgm:prSet phldrT="[文字]"/>
      <dgm:spPr>
        <a:xfrm>
          <a:off x="3828062" y="556445"/>
          <a:ext cx="1712224" cy="680895"/>
        </a:xfrm>
        <a:prstGeom prst="roundRect">
          <a:avLst>
            <a:gd name="adj" fmla="val 10000"/>
          </a:avLst>
        </a:prstGeom>
        <a:solidFill>
          <a:sysClr val="window" lastClr="FFFFFF"/>
        </a:solidFill>
        <a:ln w="12700" cap="flat" cmpd="sng" algn="ctr">
          <a:solidFill>
            <a:sysClr val="window" lastClr="FFFFFF">
              <a:hueOff val="0"/>
              <a:satOff val="0"/>
              <a:lumOff val="0"/>
              <a:alphaOff val="0"/>
            </a:sysClr>
          </a:solidFill>
          <a:prstDash val="solid"/>
          <a:miter lim="800000"/>
        </a:ln>
        <a:effectLst/>
      </dgm:spPr>
      <dgm:t>
        <a:bodyPr/>
        <a:lstStyle/>
        <a:p>
          <a:pPr>
            <a:buNone/>
          </a:pPr>
          <a:endParaRPr lang="zh-TW" altLang="en-US">
            <a:solidFill>
              <a:sysClr val="window" lastClr="FFFFFF"/>
            </a:solidFill>
            <a:latin typeface="Calibri" panose="020F0502020204030204"/>
            <a:ea typeface="新細明體" panose="02020500000000000000" pitchFamily="18" charset="-120"/>
            <a:cs typeface="+mn-cs"/>
          </a:endParaRPr>
        </a:p>
      </dgm:t>
    </dgm:pt>
    <dgm:pt modelId="{377930B0-C388-4811-86AC-7A14A1A3D9F0}" type="parTrans" cxnId="{832CE957-9295-403C-9D7B-8248BBBD549B}">
      <dgm:prSet/>
      <dgm:spPr/>
      <dgm:t>
        <a:bodyPr/>
        <a:lstStyle/>
        <a:p>
          <a:endParaRPr lang="zh-TW" altLang="en-US"/>
        </a:p>
      </dgm:t>
    </dgm:pt>
    <dgm:pt modelId="{853F0824-8822-4005-B511-85A29801B023}" type="sibTrans" cxnId="{832CE957-9295-403C-9D7B-8248BBBD549B}">
      <dgm:prSet>
        <dgm:style>
          <a:lnRef idx="3">
            <a:schemeClr val="lt1"/>
          </a:lnRef>
          <a:fillRef idx="1">
            <a:schemeClr val="accent3"/>
          </a:fillRef>
          <a:effectRef idx="1">
            <a:schemeClr val="accent3"/>
          </a:effectRef>
          <a:fontRef idx="minor">
            <a:schemeClr val="lt1"/>
          </a:fontRef>
        </dgm:style>
      </dgm:prSet>
      <dgm:spPr>
        <a:xfrm>
          <a:off x="5031589" y="-652667"/>
          <a:ext cx="2750758" cy="2750758"/>
        </a:xfrm>
        <a:prstGeom prst="circularArrow">
          <a:avLst>
            <a:gd name="adj1" fmla="val 3362"/>
            <a:gd name="adj2" fmla="val 415811"/>
            <a:gd name="adj3" fmla="val 18727690"/>
            <a:gd name="adj4" fmla="val 11894522"/>
            <a:gd name="adj5" fmla="val 3923"/>
          </a:avLst>
        </a:prstGeom>
        <a:ln/>
      </dgm:spPr>
      <dgm:t>
        <a:bodyPr/>
        <a:lstStyle/>
        <a:p>
          <a:endParaRPr lang="zh-TW" altLang="en-US"/>
        </a:p>
      </dgm:t>
    </dgm:pt>
    <dgm:pt modelId="{BAA8CA4E-C418-472B-A78B-5A6D3BFC1169}">
      <dgm:prSet phldrT="[文字]" custT="1"/>
      <dgm:spPr>
        <a:xfrm>
          <a:off x="3231366" y="1025777"/>
          <a:ext cx="2250229" cy="1588755"/>
        </a:xfrm>
        <a:prstGeom prst="roundRect">
          <a:avLst>
            <a:gd name="adj" fmla="val 10000"/>
          </a:avLst>
        </a:prstGeom>
        <a:solidFill>
          <a:sysClr val="window" lastClr="FFFFFF">
            <a:alpha val="90000"/>
            <a:hueOff val="0"/>
            <a:satOff val="0"/>
            <a:lumOff val="0"/>
            <a:alphaOff val="0"/>
          </a:sysClr>
        </a:solidFill>
        <a:ln w="19050" cap="flat" cmpd="sng" algn="ctr">
          <a:solidFill>
            <a:srgbClr val="3DA18E"/>
          </a:solidFill>
          <a:prstDash val="solid"/>
          <a:miter lim="800000"/>
        </a:ln>
        <a:effectLst/>
      </dgm:spPr>
      <dgm:t>
        <a:bodyPr/>
        <a:lstStyle/>
        <a:p>
          <a:pPr>
            <a:buNone/>
          </a:pPr>
          <a:r>
            <a:rPr lang="zh-TW" altLang="en-US" sz="1400" b="1"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rPr>
            <a:t>智慧合約檢核通過後執行交易，匯款金額以數位貨幣形式，在全體會員銀行的見證下移轉到解款行帳號中，完成跨行結算</a:t>
          </a:r>
        </a:p>
      </dgm:t>
    </dgm:pt>
    <dgm:pt modelId="{FCDDA755-022A-44A1-9520-D135FC2896AC}" type="parTrans" cxnId="{12994B05-7FCD-4A2D-8475-04B771382235}">
      <dgm:prSet/>
      <dgm:spPr/>
      <dgm:t>
        <a:bodyPr/>
        <a:lstStyle/>
        <a:p>
          <a:endParaRPr lang="zh-TW" altLang="en-US"/>
        </a:p>
      </dgm:t>
    </dgm:pt>
    <dgm:pt modelId="{8D1EC25B-00B3-4680-B6BD-1467065087C7}" type="sibTrans" cxnId="{12994B05-7FCD-4A2D-8475-04B771382235}">
      <dgm:prSet/>
      <dgm:spPr/>
      <dgm:t>
        <a:bodyPr/>
        <a:lstStyle/>
        <a:p>
          <a:endParaRPr lang="zh-TW" altLang="en-US"/>
        </a:p>
      </dgm:t>
    </dgm:pt>
    <dgm:pt modelId="{27E5E29A-04D7-4B5E-9B37-795A029E9B7D}">
      <dgm:prSet phldrT="[文字]"/>
      <dgm:spPr>
        <a:xfrm>
          <a:off x="6423758" y="2075109"/>
          <a:ext cx="1712224" cy="680895"/>
        </a:xfrm>
        <a:prstGeom prst="roundRect">
          <a:avLst>
            <a:gd name="adj" fmla="val 10000"/>
          </a:avLst>
        </a:prstGeom>
        <a:solidFill>
          <a:sysClr val="window" lastClr="FFFFFF"/>
        </a:solidFill>
        <a:ln w="12700" cap="flat" cmpd="sng" algn="ctr">
          <a:solidFill>
            <a:sysClr val="window" lastClr="FFFFFF">
              <a:hueOff val="0"/>
              <a:satOff val="0"/>
              <a:lumOff val="0"/>
              <a:alphaOff val="0"/>
            </a:sysClr>
          </a:solidFill>
          <a:prstDash val="solid"/>
          <a:miter lim="800000"/>
        </a:ln>
        <a:effectLst/>
      </dgm:spPr>
      <dgm:t>
        <a:bodyPr/>
        <a:lstStyle/>
        <a:p>
          <a:pPr>
            <a:buNone/>
          </a:pPr>
          <a:endParaRPr lang="zh-TW" altLang="en-US" dirty="0">
            <a:solidFill>
              <a:sysClr val="window" lastClr="FFFFFF"/>
            </a:solidFill>
            <a:latin typeface="Calibri" panose="020F0502020204030204"/>
            <a:ea typeface="新細明體" panose="02020500000000000000" pitchFamily="18" charset="-120"/>
            <a:cs typeface="+mn-cs"/>
          </a:endParaRPr>
        </a:p>
      </dgm:t>
    </dgm:pt>
    <dgm:pt modelId="{D3C680E9-4B45-4A0E-9D77-28A8CB7FFBA5}" type="parTrans" cxnId="{86B5BA1A-BC22-44C5-BE54-D3BF75406AF2}">
      <dgm:prSet/>
      <dgm:spPr/>
      <dgm:t>
        <a:bodyPr/>
        <a:lstStyle/>
        <a:p>
          <a:endParaRPr lang="zh-TW" altLang="en-US"/>
        </a:p>
      </dgm:t>
    </dgm:pt>
    <dgm:pt modelId="{BF4979F5-BEA3-4A10-91A8-0C7B907B77FC}" type="sibTrans" cxnId="{86B5BA1A-BC22-44C5-BE54-D3BF75406AF2}">
      <dgm:prSet/>
      <dgm:spPr/>
      <dgm:t>
        <a:bodyPr/>
        <a:lstStyle/>
        <a:p>
          <a:endParaRPr lang="zh-TW" altLang="en-US"/>
        </a:p>
      </dgm:t>
    </dgm:pt>
    <dgm:pt modelId="{0F148242-0F82-45AF-9C74-B306D9796B29}">
      <dgm:prSet phldrT="[文字]" custT="1"/>
      <dgm:spPr>
        <a:xfrm>
          <a:off x="6098717" y="460450"/>
          <a:ext cx="1926253" cy="1588755"/>
        </a:xfrm>
        <a:prstGeom prst="roundRect">
          <a:avLst>
            <a:gd name="adj" fmla="val 10000"/>
          </a:avLst>
        </a:prstGeom>
        <a:solidFill>
          <a:sysClr val="window" lastClr="FFFFFF">
            <a:alpha val="90000"/>
            <a:hueOff val="0"/>
            <a:satOff val="0"/>
            <a:lumOff val="0"/>
            <a:alphaOff val="0"/>
          </a:sysClr>
        </a:solidFill>
        <a:ln w="19050" cap="flat" cmpd="sng" algn="ctr">
          <a:solidFill>
            <a:srgbClr val="FFC000">
              <a:hueOff val="10395692"/>
              <a:satOff val="-47968"/>
              <a:lumOff val="1765"/>
              <a:alphaOff val="0"/>
            </a:srgbClr>
          </a:solidFill>
          <a:prstDash val="solid"/>
          <a:miter lim="800000"/>
        </a:ln>
        <a:effectLst/>
      </dgm:spPr>
      <dgm:t>
        <a:bodyPr/>
        <a:lstStyle/>
        <a:p>
          <a:pPr>
            <a:buNone/>
          </a:pPr>
          <a:r>
            <a:rPr lang="zh-TW" altLang="en-US" sz="1400" b="1"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rPr>
            <a:t>解款銀行確認款項已進入其數位貨幣帳戶中，調增受款人帳戶餘額、發送匯款到帳通知</a:t>
          </a:r>
          <a:endParaRPr lang="zh-TW" altLang="en-US" sz="900" dirty="0">
            <a:solidFill>
              <a:sysClr val="windowText" lastClr="000000">
                <a:hueOff val="0"/>
                <a:satOff val="0"/>
                <a:lumOff val="0"/>
                <a:alphaOff val="0"/>
              </a:sysClr>
            </a:solidFill>
            <a:latin typeface="Calibri" panose="020F0502020204030204"/>
            <a:ea typeface="新細明體" panose="02020500000000000000" pitchFamily="18" charset="-120"/>
            <a:cs typeface="+mn-cs"/>
          </a:endParaRPr>
        </a:p>
      </dgm:t>
    </dgm:pt>
    <dgm:pt modelId="{D56AAAE8-6BEA-498B-B6F0-8B1EC9FAA538}" type="parTrans" cxnId="{32359E9D-DC22-48E4-ABF1-9CC189EDA6E6}">
      <dgm:prSet/>
      <dgm:spPr/>
      <dgm:t>
        <a:bodyPr/>
        <a:lstStyle/>
        <a:p>
          <a:endParaRPr lang="zh-TW" altLang="en-US"/>
        </a:p>
      </dgm:t>
    </dgm:pt>
    <dgm:pt modelId="{0AADDCCE-DE53-4CEB-A64B-39AEE006AE8D}" type="sibTrans" cxnId="{32359E9D-DC22-48E4-ABF1-9CC189EDA6E6}">
      <dgm:prSet/>
      <dgm:spPr/>
      <dgm:t>
        <a:bodyPr/>
        <a:lstStyle/>
        <a:p>
          <a:endParaRPr lang="zh-TW" altLang="en-US"/>
        </a:p>
      </dgm:t>
    </dgm:pt>
    <dgm:pt modelId="{E107082F-12F8-479B-9744-0CEC0F920F2A}">
      <dgm:prSet phldrT="[文字]"/>
      <dgm:spPr>
        <a:xfrm>
          <a:off x="1100377" y="2075109"/>
          <a:ext cx="1712224" cy="680895"/>
        </a:xfrm>
        <a:prstGeom prst="roundRect">
          <a:avLst>
            <a:gd name="adj" fmla="val 10000"/>
          </a:avLst>
        </a:prstGeom>
        <a:solidFill>
          <a:sysClr val="window" lastClr="FFFFFF"/>
        </a:solidFill>
        <a:ln w="12700" cap="flat" cmpd="sng" algn="ctr">
          <a:solidFill>
            <a:sysClr val="window" lastClr="FFFFFF">
              <a:hueOff val="0"/>
              <a:satOff val="0"/>
              <a:lumOff val="0"/>
              <a:alphaOff val="0"/>
            </a:sysClr>
          </a:solidFill>
          <a:prstDash val="solid"/>
          <a:miter lim="800000"/>
        </a:ln>
        <a:effectLst/>
      </dgm:spPr>
      <dgm:t>
        <a:bodyPr/>
        <a:lstStyle/>
        <a:p>
          <a:pPr>
            <a:buNone/>
          </a:pPr>
          <a:endParaRPr lang="zh-TW" altLang="en-US" dirty="0">
            <a:solidFill>
              <a:sysClr val="window" lastClr="FFFFFF"/>
            </a:solidFill>
            <a:latin typeface="Calibri" panose="020F0502020204030204"/>
            <a:ea typeface="新細明體" panose="02020500000000000000" pitchFamily="18" charset="-120"/>
            <a:cs typeface="+mn-cs"/>
          </a:endParaRPr>
        </a:p>
      </dgm:t>
    </dgm:pt>
    <dgm:pt modelId="{FA175F20-FBFA-4772-8D73-49432617E7AB}" type="sibTrans" cxnId="{895F317F-065A-496A-B1A7-7D809E986C23}">
      <dgm:prSet>
        <dgm:style>
          <a:lnRef idx="3">
            <a:schemeClr val="lt1"/>
          </a:lnRef>
          <a:fillRef idx="1">
            <a:schemeClr val="accent3"/>
          </a:fillRef>
          <a:effectRef idx="1">
            <a:schemeClr val="accent3"/>
          </a:effectRef>
          <a:fontRef idx="minor">
            <a:schemeClr val="lt1"/>
          </a:fontRef>
        </dgm:style>
      </dgm:prSet>
      <dgm:spPr>
        <a:xfrm>
          <a:off x="2354475" y="759905"/>
          <a:ext cx="2491874" cy="2491874"/>
        </a:xfrm>
        <a:prstGeom prst="leftCircularArrow">
          <a:avLst>
            <a:gd name="adj1" fmla="val 3712"/>
            <a:gd name="adj2" fmla="val 462855"/>
            <a:gd name="adj3" fmla="val 2582224"/>
            <a:gd name="adj4" fmla="val 9368347"/>
            <a:gd name="adj5" fmla="val 4330"/>
          </a:avLst>
        </a:prstGeom>
        <a:ln/>
      </dgm:spPr>
      <dgm:t>
        <a:bodyPr/>
        <a:lstStyle/>
        <a:p>
          <a:endParaRPr lang="zh-TW" altLang="en-US"/>
        </a:p>
      </dgm:t>
    </dgm:pt>
    <dgm:pt modelId="{A00BB2DE-42B8-4DBF-A0DF-131C68558558}" type="parTrans" cxnId="{895F317F-065A-496A-B1A7-7D809E986C23}">
      <dgm:prSet/>
      <dgm:spPr/>
      <dgm:t>
        <a:bodyPr/>
        <a:lstStyle/>
        <a:p>
          <a:endParaRPr lang="zh-TW" altLang="en-US"/>
        </a:p>
      </dgm:t>
    </dgm:pt>
    <dgm:pt modelId="{E7FB7A7F-6470-4B40-BD86-E3535EBD48DE}" type="pres">
      <dgm:prSet presAssocID="{F17CC7DC-D21A-4534-BDE4-65B9D291E62B}" presName="Name0" presStyleCnt="0">
        <dgm:presLayoutVars>
          <dgm:dir/>
          <dgm:animLvl val="lvl"/>
          <dgm:resizeHandles val="exact"/>
        </dgm:presLayoutVars>
      </dgm:prSet>
      <dgm:spPr/>
    </dgm:pt>
    <dgm:pt modelId="{B20A763D-694C-495A-ACA2-981728D9E7A5}" type="pres">
      <dgm:prSet presAssocID="{F17CC7DC-D21A-4534-BDE4-65B9D291E62B}" presName="tSp" presStyleCnt="0"/>
      <dgm:spPr/>
    </dgm:pt>
    <dgm:pt modelId="{139D9E0C-904F-4008-A953-AEC19A768683}" type="pres">
      <dgm:prSet presAssocID="{F17CC7DC-D21A-4534-BDE4-65B9D291E62B}" presName="bSp" presStyleCnt="0"/>
      <dgm:spPr/>
    </dgm:pt>
    <dgm:pt modelId="{8415D312-9470-4368-B47B-2807B6408BB9}" type="pres">
      <dgm:prSet presAssocID="{F17CC7DC-D21A-4534-BDE4-65B9D291E62B}" presName="process" presStyleCnt="0"/>
      <dgm:spPr/>
    </dgm:pt>
    <dgm:pt modelId="{9893A6AD-FFD2-43FC-8925-BBEBD50BC749}" type="pres">
      <dgm:prSet presAssocID="{E107082F-12F8-479B-9744-0CEC0F920F2A}" presName="composite1" presStyleCnt="0"/>
      <dgm:spPr/>
    </dgm:pt>
    <dgm:pt modelId="{899C862E-7AC5-4D1F-AEB6-A4E20AE81B75}" type="pres">
      <dgm:prSet presAssocID="{E107082F-12F8-479B-9744-0CEC0F920F2A}" presName="dummyNode1" presStyleLbl="node1" presStyleIdx="0" presStyleCnt="3"/>
      <dgm:spPr/>
    </dgm:pt>
    <dgm:pt modelId="{0A70D7C2-560E-402D-8D6F-A7A502C07B73}" type="pres">
      <dgm:prSet presAssocID="{E107082F-12F8-479B-9744-0CEC0F920F2A}" presName="childNode1" presStyleLbl="bgAcc1" presStyleIdx="0" presStyleCnt="3" custScaleX="378903" custScaleY="129582" custLinFactNeighborX="2435" custLinFactNeighborY="-8572">
        <dgm:presLayoutVars>
          <dgm:bulletEnabled val="1"/>
        </dgm:presLayoutVars>
      </dgm:prSet>
      <dgm:spPr/>
    </dgm:pt>
    <dgm:pt modelId="{EE968E80-902A-4B02-B4E9-37244BBA35B5}" type="pres">
      <dgm:prSet presAssocID="{E107082F-12F8-479B-9744-0CEC0F920F2A}" presName="childNode1tx" presStyleLbl="bgAcc1" presStyleIdx="0" presStyleCnt="3">
        <dgm:presLayoutVars>
          <dgm:bulletEnabled val="1"/>
        </dgm:presLayoutVars>
      </dgm:prSet>
      <dgm:spPr/>
    </dgm:pt>
    <dgm:pt modelId="{F2C95784-0BD4-4C75-9569-757E07A17871}" type="pres">
      <dgm:prSet presAssocID="{E107082F-12F8-479B-9744-0CEC0F920F2A}" presName="parentNode1" presStyleLbl="node1" presStyleIdx="0" presStyleCnt="3" custLinFactNeighborX="15662" custLinFactNeighborY="9489">
        <dgm:presLayoutVars>
          <dgm:chMax val="1"/>
          <dgm:bulletEnabled val="1"/>
        </dgm:presLayoutVars>
      </dgm:prSet>
      <dgm:spPr/>
    </dgm:pt>
    <dgm:pt modelId="{D3D2BF33-F273-43B0-A1A0-247AE738386D}" type="pres">
      <dgm:prSet presAssocID="{E107082F-12F8-479B-9744-0CEC0F920F2A}" presName="connSite1" presStyleCnt="0"/>
      <dgm:spPr/>
    </dgm:pt>
    <dgm:pt modelId="{2587CEBC-A21A-4179-AB8E-3C6DECFCA2EC}" type="pres">
      <dgm:prSet presAssocID="{FA175F20-FBFA-4772-8D73-49432617E7AB}" presName="Name9" presStyleLbl="sibTrans2D1" presStyleIdx="0" presStyleCnt="2" custAng="732904" custLinFactNeighborX="20067" custLinFactNeighborY="5724"/>
      <dgm:spPr/>
    </dgm:pt>
    <dgm:pt modelId="{90ADED85-06E6-4CC9-98AC-EAF6BF601006}" type="pres">
      <dgm:prSet presAssocID="{93E177BA-5524-40EF-901D-F6F75C8F4667}" presName="composite2" presStyleCnt="0"/>
      <dgm:spPr/>
    </dgm:pt>
    <dgm:pt modelId="{44DC1C49-2E34-4531-BA6B-145517555CF5}" type="pres">
      <dgm:prSet presAssocID="{93E177BA-5524-40EF-901D-F6F75C8F4667}" presName="dummyNode2" presStyleLbl="node1" presStyleIdx="0" presStyleCnt="3"/>
      <dgm:spPr/>
    </dgm:pt>
    <dgm:pt modelId="{8D032E8B-421E-4373-8984-874791F76802}" type="pres">
      <dgm:prSet presAssocID="{93E177BA-5524-40EF-901D-F6F75C8F4667}" presName="childNode2" presStyleLbl="bgAcc1" presStyleIdx="1" presStyleCnt="3" custScaleX="343030" custScaleY="240471" custLinFactNeighborX="-1124" custLinFactNeighborY="12524">
        <dgm:presLayoutVars>
          <dgm:bulletEnabled val="1"/>
        </dgm:presLayoutVars>
      </dgm:prSet>
      <dgm:spPr/>
    </dgm:pt>
    <dgm:pt modelId="{292CFAAB-41B0-488C-BC30-03DFA2113110}" type="pres">
      <dgm:prSet presAssocID="{93E177BA-5524-40EF-901D-F6F75C8F4667}" presName="childNode2tx" presStyleLbl="bgAcc1" presStyleIdx="1" presStyleCnt="3">
        <dgm:presLayoutVars>
          <dgm:bulletEnabled val="1"/>
        </dgm:presLayoutVars>
      </dgm:prSet>
      <dgm:spPr/>
    </dgm:pt>
    <dgm:pt modelId="{0167A9D5-C4DF-4AEC-8DA0-E4F182A571E7}" type="pres">
      <dgm:prSet presAssocID="{93E177BA-5524-40EF-901D-F6F75C8F4667}" presName="parentNode2" presStyleLbl="node1" presStyleIdx="1" presStyleCnt="3" custLinFactNeighborX="-876" custLinFactNeighborY="10294">
        <dgm:presLayoutVars>
          <dgm:chMax val="0"/>
          <dgm:bulletEnabled val="1"/>
        </dgm:presLayoutVars>
      </dgm:prSet>
      <dgm:spPr/>
    </dgm:pt>
    <dgm:pt modelId="{E9707615-FD98-4A7D-9CF8-C955B8EB1457}" type="pres">
      <dgm:prSet presAssocID="{93E177BA-5524-40EF-901D-F6F75C8F4667}" presName="connSite2" presStyleCnt="0"/>
      <dgm:spPr/>
    </dgm:pt>
    <dgm:pt modelId="{97029388-6E48-4488-9D8F-B8422E8797EC}" type="pres">
      <dgm:prSet presAssocID="{853F0824-8822-4005-B511-85A29801B023}" presName="Name18" presStyleLbl="sibTrans2D1" presStyleIdx="1" presStyleCnt="2" custAng="21379177" custLinFactNeighborX="7810" custLinFactNeighborY="-4069"/>
      <dgm:spPr/>
    </dgm:pt>
    <dgm:pt modelId="{2E53C2D1-79A7-49E9-9A6A-33A815C3C9BE}" type="pres">
      <dgm:prSet presAssocID="{27E5E29A-04D7-4B5E-9B37-795A029E9B7D}" presName="composite1" presStyleCnt="0"/>
      <dgm:spPr/>
    </dgm:pt>
    <dgm:pt modelId="{74F97D6A-0847-43B5-A8C0-129C87772F1B}" type="pres">
      <dgm:prSet presAssocID="{27E5E29A-04D7-4B5E-9B37-795A029E9B7D}" presName="dummyNode1" presStyleLbl="node1" presStyleIdx="1" presStyleCnt="3"/>
      <dgm:spPr/>
    </dgm:pt>
    <dgm:pt modelId="{0BE315EF-8BCD-4555-864E-6407778FF56C}" type="pres">
      <dgm:prSet presAssocID="{27E5E29A-04D7-4B5E-9B37-795A029E9B7D}" presName="childNode1" presStyleLbl="bgAcc1" presStyleIdx="2" presStyleCnt="3" custScaleX="342914" custScaleY="216401" custLinFactNeighborX="-1982" custLinFactNeighborY="-41437">
        <dgm:presLayoutVars>
          <dgm:bulletEnabled val="1"/>
        </dgm:presLayoutVars>
      </dgm:prSet>
      <dgm:spPr/>
    </dgm:pt>
    <dgm:pt modelId="{5311D6C5-2AE3-4691-ACB8-E94FDB0F85B6}" type="pres">
      <dgm:prSet presAssocID="{27E5E29A-04D7-4B5E-9B37-795A029E9B7D}" presName="childNode1tx" presStyleLbl="bgAcc1" presStyleIdx="2" presStyleCnt="3">
        <dgm:presLayoutVars>
          <dgm:bulletEnabled val="1"/>
        </dgm:presLayoutVars>
      </dgm:prSet>
      <dgm:spPr/>
    </dgm:pt>
    <dgm:pt modelId="{FFA6DF61-522D-4F7E-BAB5-EDB8059AA60D}" type="pres">
      <dgm:prSet presAssocID="{27E5E29A-04D7-4B5E-9B37-795A029E9B7D}" presName="parentNode1" presStyleLbl="node1" presStyleIdx="2" presStyleCnt="3">
        <dgm:presLayoutVars>
          <dgm:chMax val="1"/>
          <dgm:bulletEnabled val="1"/>
        </dgm:presLayoutVars>
      </dgm:prSet>
      <dgm:spPr/>
    </dgm:pt>
    <dgm:pt modelId="{2CCE6FE5-C1C4-4F68-B944-2AC99DD53559}" type="pres">
      <dgm:prSet presAssocID="{27E5E29A-04D7-4B5E-9B37-795A029E9B7D}" presName="connSite1" presStyleCnt="0"/>
      <dgm:spPr/>
    </dgm:pt>
  </dgm:ptLst>
  <dgm:cxnLst>
    <dgm:cxn modelId="{4D180B04-3BE7-4BC0-BAA6-37DB2A18CB9B}" type="presOf" srcId="{27E5E29A-04D7-4B5E-9B37-795A029E9B7D}" destId="{FFA6DF61-522D-4F7E-BAB5-EDB8059AA60D}" srcOrd="0" destOrd="0" presId="urn:microsoft.com/office/officeart/2005/8/layout/hProcess4"/>
    <dgm:cxn modelId="{12994B05-7FCD-4A2D-8475-04B771382235}" srcId="{93E177BA-5524-40EF-901D-F6F75C8F4667}" destId="{BAA8CA4E-C418-472B-A78B-5A6D3BFC1169}" srcOrd="0" destOrd="0" parTransId="{FCDDA755-022A-44A1-9520-D135FC2896AC}" sibTransId="{8D1EC25B-00B3-4680-B6BD-1467065087C7}"/>
    <dgm:cxn modelId="{86B5BA1A-BC22-44C5-BE54-D3BF75406AF2}" srcId="{F17CC7DC-D21A-4534-BDE4-65B9D291E62B}" destId="{27E5E29A-04D7-4B5E-9B37-795A029E9B7D}" srcOrd="2" destOrd="0" parTransId="{D3C680E9-4B45-4A0E-9D77-28A8CB7FFBA5}" sibTransId="{BF4979F5-BEA3-4A10-91A8-0C7B907B77FC}"/>
    <dgm:cxn modelId="{DB40A91D-DB39-4F23-AB83-DC230B5F2B73}" type="presOf" srcId="{F17CC7DC-D21A-4534-BDE4-65B9D291E62B}" destId="{E7FB7A7F-6470-4B40-BD86-E3535EBD48DE}" srcOrd="0" destOrd="0" presId="urn:microsoft.com/office/officeart/2005/8/layout/hProcess4"/>
    <dgm:cxn modelId="{82397B21-BDC7-467A-B581-BA7236AD6CAA}" srcId="{E107082F-12F8-479B-9744-0CEC0F920F2A}" destId="{DE84BD22-0724-4977-9CE3-1511BF48A8B8}" srcOrd="0" destOrd="0" parTransId="{9BB81D84-9BF3-480A-82E8-6858C2D25E1D}" sibTransId="{760FE211-FCB5-4B32-8D09-15A6459A0698}"/>
    <dgm:cxn modelId="{6E99FE2B-A0E3-4C09-B317-F1E5AC7564C8}" type="presOf" srcId="{93E177BA-5524-40EF-901D-F6F75C8F4667}" destId="{0167A9D5-C4DF-4AEC-8DA0-E4F182A571E7}" srcOrd="0" destOrd="0" presId="urn:microsoft.com/office/officeart/2005/8/layout/hProcess4"/>
    <dgm:cxn modelId="{75E6182F-8D32-4A6F-9C6E-065A53EE236D}" type="presOf" srcId="{FA175F20-FBFA-4772-8D73-49432617E7AB}" destId="{2587CEBC-A21A-4179-AB8E-3C6DECFCA2EC}" srcOrd="0" destOrd="0" presId="urn:microsoft.com/office/officeart/2005/8/layout/hProcess4"/>
    <dgm:cxn modelId="{06769331-D221-4302-93C5-5360498F94E0}" type="presOf" srcId="{BAA8CA4E-C418-472B-A78B-5A6D3BFC1169}" destId="{8D032E8B-421E-4373-8984-874791F76802}" srcOrd="0" destOrd="0" presId="urn:microsoft.com/office/officeart/2005/8/layout/hProcess4"/>
    <dgm:cxn modelId="{63A40449-372B-49AF-9E06-EB92FA55F8A6}" type="presOf" srcId="{BAA8CA4E-C418-472B-A78B-5A6D3BFC1169}" destId="{292CFAAB-41B0-488C-BC30-03DFA2113110}" srcOrd="1" destOrd="0" presId="urn:microsoft.com/office/officeart/2005/8/layout/hProcess4"/>
    <dgm:cxn modelId="{FEC2AA54-A6FD-4203-A64E-68E45D90161F}" type="presOf" srcId="{853F0824-8822-4005-B511-85A29801B023}" destId="{97029388-6E48-4488-9D8F-B8422E8797EC}" srcOrd="0" destOrd="0" presId="urn:microsoft.com/office/officeart/2005/8/layout/hProcess4"/>
    <dgm:cxn modelId="{832CE957-9295-403C-9D7B-8248BBBD549B}" srcId="{F17CC7DC-D21A-4534-BDE4-65B9D291E62B}" destId="{93E177BA-5524-40EF-901D-F6F75C8F4667}" srcOrd="1" destOrd="0" parTransId="{377930B0-C388-4811-86AC-7A14A1A3D9F0}" sibTransId="{853F0824-8822-4005-B511-85A29801B023}"/>
    <dgm:cxn modelId="{895F317F-065A-496A-B1A7-7D809E986C23}" srcId="{F17CC7DC-D21A-4534-BDE4-65B9D291E62B}" destId="{E107082F-12F8-479B-9744-0CEC0F920F2A}" srcOrd="0" destOrd="0" parTransId="{A00BB2DE-42B8-4DBF-A0DF-131C68558558}" sibTransId="{FA175F20-FBFA-4772-8D73-49432617E7AB}"/>
    <dgm:cxn modelId="{556CE38E-CD50-4844-AB98-2F339498A48B}" type="presOf" srcId="{E107082F-12F8-479B-9744-0CEC0F920F2A}" destId="{F2C95784-0BD4-4C75-9569-757E07A17871}" srcOrd="0" destOrd="0" presId="urn:microsoft.com/office/officeart/2005/8/layout/hProcess4"/>
    <dgm:cxn modelId="{E3651B9C-CC9B-4314-BDC8-B345B4F32F7E}" type="presOf" srcId="{DE84BD22-0724-4977-9CE3-1511BF48A8B8}" destId="{0A70D7C2-560E-402D-8D6F-A7A502C07B73}" srcOrd="0" destOrd="0" presId="urn:microsoft.com/office/officeart/2005/8/layout/hProcess4"/>
    <dgm:cxn modelId="{32359E9D-DC22-48E4-ABF1-9CC189EDA6E6}" srcId="{27E5E29A-04D7-4B5E-9B37-795A029E9B7D}" destId="{0F148242-0F82-45AF-9C74-B306D9796B29}" srcOrd="0" destOrd="0" parTransId="{D56AAAE8-6BEA-498B-B6F0-8B1EC9FAA538}" sibTransId="{0AADDCCE-DE53-4CEB-A64B-39AEE006AE8D}"/>
    <dgm:cxn modelId="{C4AF13A0-6BC5-425E-958B-981D16DF106D}" type="presOf" srcId="{0F148242-0F82-45AF-9C74-B306D9796B29}" destId="{5311D6C5-2AE3-4691-ACB8-E94FDB0F85B6}" srcOrd="1" destOrd="0" presId="urn:microsoft.com/office/officeart/2005/8/layout/hProcess4"/>
    <dgm:cxn modelId="{71746EBD-CA6B-4C5E-94D9-FF30C625A278}" type="presOf" srcId="{0F148242-0F82-45AF-9C74-B306D9796B29}" destId="{0BE315EF-8BCD-4555-864E-6407778FF56C}" srcOrd="0" destOrd="0" presId="urn:microsoft.com/office/officeart/2005/8/layout/hProcess4"/>
    <dgm:cxn modelId="{38D4F5E7-6AEE-4346-8865-096BB58E218B}" type="presOf" srcId="{DE84BD22-0724-4977-9CE3-1511BF48A8B8}" destId="{EE968E80-902A-4B02-B4E9-37244BBA35B5}" srcOrd="1" destOrd="0" presId="urn:microsoft.com/office/officeart/2005/8/layout/hProcess4"/>
    <dgm:cxn modelId="{CCB711B6-BDF1-49EC-A58B-7F263EA7F423}" type="presParOf" srcId="{E7FB7A7F-6470-4B40-BD86-E3535EBD48DE}" destId="{B20A763D-694C-495A-ACA2-981728D9E7A5}" srcOrd="0" destOrd="0" presId="urn:microsoft.com/office/officeart/2005/8/layout/hProcess4"/>
    <dgm:cxn modelId="{76DF9DFB-2EC4-4180-82F6-29F586B3B75A}" type="presParOf" srcId="{E7FB7A7F-6470-4B40-BD86-E3535EBD48DE}" destId="{139D9E0C-904F-4008-A953-AEC19A768683}" srcOrd="1" destOrd="0" presId="urn:microsoft.com/office/officeart/2005/8/layout/hProcess4"/>
    <dgm:cxn modelId="{A7BDF2E0-1BC9-4881-A03F-B7F7BA8ADE87}" type="presParOf" srcId="{E7FB7A7F-6470-4B40-BD86-E3535EBD48DE}" destId="{8415D312-9470-4368-B47B-2807B6408BB9}" srcOrd="2" destOrd="0" presId="urn:microsoft.com/office/officeart/2005/8/layout/hProcess4"/>
    <dgm:cxn modelId="{E006F1F4-0F72-402B-834E-C3991FB82148}" type="presParOf" srcId="{8415D312-9470-4368-B47B-2807B6408BB9}" destId="{9893A6AD-FFD2-43FC-8925-BBEBD50BC749}" srcOrd="0" destOrd="0" presId="urn:microsoft.com/office/officeart/2005/8/layout/hProcess4"/>
    <dgm:cxn modelId="{07CE8768-AC1C-4411-B17C-D58971C87C29}" type="presParOf" srcId="{9893A6AD-FFD2-43FC-8925-BBEBD50BC749}" destId="{899C862E-7AC5-4D1F-AEB6-A4E20AE81B75}" srcOrd="0" destOrd="0" presId="urn:microsoft.com/office/officeart/2005/8/layout/hProcess4"/>
    <dgm:cxn modelId="{CDC4A782-5A06-480E-8A40-4F5A49C4F605}" type="presParOf" srcId="{9893A6AD-FFD2-43FC-8925-BBEBD50BC749}" destId="{0A70D7C2-560E-402D-8D6F-A7A502C07B73}" srcOrd="1" destOrd="0" presId="urn:microsoft.com/office/officeart/2005/8/layout/hProcess4"/>
    <dgm:cxn modelId="{97A776E0-852A-4644-9E12-9DE3F1061BD5}" type="presParOf" srcId="{9893A6AD-FFD2-43FC-8925-BBEBD50BC749}" destId="{EE968E80-902A-4B02-B4E9-37244BBA35B5}" srcOrd="2" destOrd="0" presId="urn:microsoft.com/office/officeart/2005/8/layout/hProcess4"/>
    <dgm:cxn modelId="{B9D9A6BE-ECC6-48CA-9179-161B4C67D514}" type="presParOf" srcId="{9893A6AD-FFD2-43FC-8925-BBEBD50BC749}" destId="{F2C95784-0BD4-4C75-9569-757E07A17871}" srcOrd="3" destOrd="0" presId="urn:microsoft.com/office/officeart/2005/8/layout/hProcess4"/>
    <dgm:cxn modelId="{E0C56A6A-3220-469B-9E47-77A7A94C4428}" type="presParOf" srcId="{9893A6AD-FFD2-43FC-8925-BBEBD50BC749}" destId="{D3D2BF33-F273-43B0-A1A0-247AE738386D}" srcOrd="4" destOrd="0" presId="urn:microsoft.com/office/officeart/2005/8/layout/hProcess4"/>
    <dgm:cxn modelId="{A15100DE-25CF-4C9E-9BCB-8D4E58EF4356}" type="presParOf" srcId="{8415D312-9470-4368-B47B-2807B6408BB9}" destId="{2587CEBC-A21A-4179-AB8E-3C6DECFCA2EC}" srcOrd="1" destOrd="0" presId="urn:microsoft.com/office/officeart/2005/8/layout/hProcess4"/>
    <dgm:cxn modelId="{87D65128-64FF-423A-9E2B-E6813D86CFAC}" type="presParOf" srcId="{8415D312-9470-4368-B47B-2807B6408BB9}" destId="{90ADED85-06E6-4CC9-98AC-EAF6BF601006}" srcOrd="2" destOrd="0" presId="urn:microsoft.com/office/officeart/2005/8/layout/hProcess4"/>
    <dgm:cxn modelId="{1572249E-F791-4BF3-B03A-4A55CEB1DC15}" type="presParOf" srcId="{90ADED85-06E6-4CC9-98AC-EAF6BF601006}" destId="{44DC1C49-2E34-4531-BA6B-145517555CF5}" srcOrd="0" destOrd="0" presId="urn:microsoft.com/office/officeart/2005/8/layout/hProcess4"/>
    <dgm:cxn modelId="{1CDF52FA-B04D-422C-8BE4-87D2F453D8C3}" type="presParOf" srcId="{90ADED85-06E6-4CC9-98AC-EAF6BF601006}" destId="{8D032E8B-421E-4373-8984-874791F76802}" srcOrd="1" destOrd="0" presId="urn:microsoft.com/office/officeart/2005/8/layout/hProcess4"/>
    <dgm:cxn modelId="{E723CB6C-53B4-4138-999F-5312D94BC32F}" type="presParOf" srcId="{90ADED85-06E6-4CC9-98AC-EAF6BF601006}" destId="{292CFAAB-41B0-488C-BC30-03DFA2113110}" srcOrd="2" destOrd="0" presId="urn:microsoft.com/office/officeart/2005/8/layout/hProcess4"/>
    <dgm:cxn modelId="{2FB7F26D-3FD7-4917-A96A-EF915CECC9A8}" type="presParOf" srcId="{90ADED85-06E6-4CC9-98AC-EAF6BF601006}" destId="{0167A9D5-C4DF-4AEC-8DA0-E4F182A571E7}" srcOrd="3" destOrd="0" presId="urn:microsoft.com/office/officeart/2005/8/layout/hProcess4"/>
    <dgm:cxn modelId="{16B27C63-F745-4642-8DB1-53FEFDE77818}" type="presParOf" srcId="{90ADED85-06E6-4CC9-98AC-EAF6BF601006}" destId="{E9707615-FD98-4A7D-9CF8-C955B8EB1457}" srcOrd="4" destOrd="0" presId="urn:microsoft.com/office/officeart/2005/8/layout/hProcess4"/>
    <dgm:cxn modelId="{6C3125B9-37D5-42FF-B558-B64873D7636D}" type="presParOf" srcId="{8415D312-9470-4368-B47B-2807B6408BB9}" destId="{97029388-6E48-4488-9D8F-B8422E8797EC}" srcOrd="3" destOrd="0" presId="urn:microsoft.com/office/officeart/2005/8/layout/hProcess4"/>
    <dgm:cxn modelId="{E22C8559-1DC9-4E5E-9B80-B60C7A6A79A0}" type="presParOf" srcId="{8415D312-9470-4368-B47B-2807B6408BB9}" destId="{2E53C2D1-79A7-49E9-9A6A-33A815C3C9BE}" srcOrd="4" destOrd="0" presId="urn:microsoft.com/office/officeart/2005/8/layout/hProcess4"/>
    <dgm:cxn modelId="{8FD292FB-86FB-41C4-A51C-4793DD44B81A}" type="presParOf" srcId="{2E53C2D1-79A7-49E9-9A6A-33A815C3C9BE}" destId="{74F97D6A-0847-43B5-A8C0-129C87772F1B}" srcOrd="0" destOrd="0" presId="urn:microsoft.com/office/officeart/2005/8/layout/hProcess4"/>
    <dgm:cxn modelId="{DF272203-1046-4A3A-A08F-E5FDD0035597}" type="presParOf" srcId="{2E53C2D1-79A7-49E9-9A6A-33A815C3C9BE}" destId="{0BE315EF-8BCD-4555-864E-6407778FF56C}" srcOrd="1" destOrd="0" presId="urn:microsoft.com/office/officeart/2005/8/layout/hProcess4"/>
    <dgm:cxn modelId="{164D2D0E-091B-44E0-9689-F47BF70E1A13}" type="presParOf" srcId="{2E53C2D1-79A7-49E9-9A6A-33A815C3C9BE}" destId="{5311D6C5-2AE3-4691-ACB8-E94FDB0F85B6}" srcOrd="2" destOrd="0" presId="urn:microsoft.com/office/officeart/2005/8/layout/hProcess4"/>
    <dgm:cxn modelId="{05DE85C0-BA0C-4630-9930-52DFD264A9F7}" type="presParOf" srcId="{2E53C2D1-79A7-49E9-9A6A-33A815C3C9BE}" destId="{FFA6DF61-522D-4F7E-BAB5-EDB8059AA60D}" srcOrd="3" destOrd="0" presId="urn:microsoft.com/office/officeart/2005/8/layout/hProcess4"/>
    <dgm:cxn modelId="{47B00EFB-BEF8-4E4C-9083-187AEE21E8C2}" type="presParOf" srcId="{2E53C2D1-79A7-49E9-9A6A-33A815C3C9BE}" destId="{2CCE6FE5-C1C4-4F68-B944-2AC99DD53559}" srcOrd="4" destOrd="0" presId="urn:microsoft.com/office/officeart/2005/8/layout/hProcess4"/>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64783E8-CE9E-42D6-A0F8-15EF686A6866}" type="doc">
      <dgm:prSet loTypeId="urn:microsoft.com/office/officeart/2005/8/layout/chevron1" loCatId="process" qsTypeId="urn:microsoft.com/office/officeart/2005/8/quickstyle/simple1" qsCatId="simple" csTypeId="urn:microsoft.com/office/officeart/2005/8/colors/accent0_2" csCatId="mainScheme" phldr="1"/>
      <dgm:spPr/>
    </dgm:pt>
    <dgm:pt modelId="{904F5CF0-C028-4540-AC1F-4CBF163D4425}">
      <dgm:prSet phldrT="[文字]" custT="1"/>
      <dgm:spPr>
        <a:solidFill>
          <a:srgbClr val="F9F9F9"/>
        </a:solidFill>
        <a:ln w="19050">
          <a:solidFill>
            <a:srgbClr val="54667E"/>
          </a:solidFill>
          <a:prstDash val="sysDash"/>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銀行或匯款機構接到匯款需求，收取資金及相應費用，進行反洗錢核查以及身分查驗，開始處理匯款人的請求</a:t>
          </a:r>
        </a:p>
      </dgm:t>
    </dgm:pt>
    <dgm:pt modelId="{A98F6444-1F3A-4964-9653-6DFED74C036B}" type="parTrans" cxnId="{242A9245-6091-4829-9F2D-F9797841D317}">
      <dgm:prSet/>
      <dgm:spPr/>
      <dgm:t>
        <a:bodyPr/>
        <a:lstStyle/>
        <a:p>
          <a:endParaRPr lang="zh-TW" altLang="en-US" sz="5400" b="1">
            <a:latin typeface="微軟正黑體" panose="020B0604030504040204" pitchFamily="34" charset="-120"/>
            <a:ea typeface="微軟正黑體" panose="020B0604030504040204" pitchFamily="34" charset="-120"/>
          </a:endParaRPr>
        </a:p>
      </dgm:t>
    </dgm:pt>
    <dgm:pt modelId="{032D7BE3-56B0-4E4C-BC41-BEB5B56CB4F2}" type="sibTrans" cxnId="{242A9245-6091-4829-9F2D-F9797841D317}">
      <dgm:prSet/>
      <dgm:spPr/>
      <dgm:t>
        <a:bodyPr/>
        <a:lstStyle/>
        <a:p>
          <a:endParaRPr lang="zh-TW" altLang="en-US" sz="5400" b="1">
            <a:latin typeface="微軟正黑體" panose="020B0604030504040204" pitchFamily="34" charset="-120"/>
            <a:ea typeface="微軟正黑體" panose="020B0604030504040204" pitchFamily="34" charset="-120"/>
          </a:endParaRPr>
        </a:p>
      </dgm:t>
    </dgm:pt>
    <dgm:pt modelId="{E22FD564-B8E8-4074-B796-680FF2FC72C0}">
      <dgm:prSet phldrT="[文字]" custT="1"/>
      <dgm:spPr>
        <a:solidFill>
          <a:srgbClr val="F9F9F9"/>
        </a:solidFill>
        <a:ln w="19050">
          <a:solidFill>
            <a:srgbClr val="54667E"/>
          </a:solidFill>
          <a:prstDash val="sysDash"/>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在轉移環節，對於</a:t>
          </a:r>
          <a:r>
            <a:rPr lang="en-US"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Swift </a:t>
          </a:r>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成員，可運用</a:t>
          </a:r>
          <a:r>
            <a:rPr lang="en-US"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SWIFT </a:t>
          </a:r>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網絡，而非會員只能透過當地的代理銀行匯款</a:t>
          </a:r>
        </a:p>
      </dgm:t>
    </dgm:pt>
    <dgm:pt modelId="{F46930F8-008B-4F98-979C-D8D1770C5A6F}" type="parTrans" cxnId="{D4C7955D-96CF-4047-93F4-4F32CF984AF9}">
      <dgm:prSet/>
      <dgm:spPr/>
      <dgm:t>
        <a:bodyPr/>
        <a:lstStyle/>
        <a:p>
          <a:endParaRPr lang="zh-TW" altLang="en-US" sz="5400" b="1">
            <a:latin typeface="微軟正黑體" panose="020B0604030504040204" pitchFamily="34" charset="-120"/>
            <a:ea typeface="微軟正黑體" panose="020B0604030504040204" pitchFamily="34" charset="-120"/>
          </a:endParaRPr>
        </a:p>
      </dgm:t>
    </dgm:pt>
    <dgm:pt modelId="{552732B8-27E9-4640-A68B-39DC9B7E5325}" type="sibTrans" cxnId="{D4C7955D-96CF-4047-93F4-4F32CF984AF9}">
      <dgm:prSet/>
      <dgm:spPr/>
      <dgm:t>
        <a:bodyPr/>
        <a:lstStyle/>
        <a:p>
          <a:endParaRPr lang="zh-TW" altLang="en-US" sz="5400" b="1">
            <a:latin typeface="微軟正黑體" panose="020B0604030504040204" pitchFamily="34" charset="-120"/>
            <a:ea typeface="微軟正黑體" panose="020B0604030504040204" pitchFamily="34" charset="-120"/>
          </a:endParaRPr>
        </a:p>
      </dgm:t>
    </dgm:pt>
    <dgm:pt modelId="{916F02E0-B88F-465C-A1FB-909DC17541A8}">
      <dgm:prSet phldrT="[文字]" custT="1"/>
      <dgm:spPr>
        <a:solidFill>
          <a:srgbClr val="F9F9F9"/>
        </a:solidFill>
        <a:ln w="19050">
          <a:solidFill>
            <a:srgbClr val="54667E"/>
          </a:solidFill>
          <a:prstDash val="sysDash"/>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收款人收到通知，前往銀行或匯款機構</a:t>
          </a:r>
        </a:p>
      </dgm:t>
    </dgm:pt>
    <dgm:pt modelId="{D6E86109-BE43-4123-9166-02482953DA65}" type="parTrans" cxnId="{3BFED4E2-2FDA-410B-8BA5-0E176F3D6D35}">
      <dgm:prSet/>
      <dgm:spPr/>
      <dgm:t>
        <a:bodyPr/>
        <a:lstStyle/>
        <a:p>
          <a:endParaRPr lang="zh-TW" altLang="en-US" sz="5400" b="1">
            <a:latin typeface="微軟正黑體" panose="020B0604030504040204" pitchFamily="34" charset="-120"/>
            <a:ea typeface="微軟正黑體" panose="020B0604030504040204" pitchFamily="34" charset="-120"/>
          </a:endParaRPr>
        </a:p>
      </dgm:t>
    </dgm:pt>
    <dgm:pt modelId="{0EADFB81-36A5-4B0F-A040-AD8159257F4F}" type="sibTrans" cxnId="{3BFED4E2-2FDA-410B-8BA5-0E176F3D6D35}">
      <dgm:prSet/>
      <dgm:spPr/>
      <dgm:t>
        <a:bodyPr/>
        <a:lstStyle/>
        <a:p>
          <a:endParaRPr lang="zh-TW" altLang="en-US" sz="5400" b="1">
            <a:latin typeface="微軟正黑體" panose="020B0604030504040204" pitchFamily="34" charset="-120"/>
            <a:ea typeface="微軟正黑體" panose="020B0604030504040204" pitchFamily="34" charset="-120"/>
          </a:endParaRPr>
        </a:p>
      </dgm:t>
    </dgm:pt>
    <dgm:pt modelId="{8CBE3E2E-8E37-4B19-8C50-D7436BCB7EF1}" type="pres">
      <dgm:prSet presAssocID="{B64783E8-CE9E-42D6-A0F8-15EF686A6866}" presName="Name0" presStyleCnt="0">
        <dgm:presLayoutVars>
          <dgm:dir/>
          <dgm:animLvl val="lvl"/>
          <dgm:resizeHandles val="exact"/>
        </dgm:presLayoutVars>
      </dgm:prSet>
      <dgm:spPr/>
    </dgm:pt>
    <dgm:pt modelId="{EF55A67F-F3A9-41B1-B98E-640A6EF16183}" type="pres">
      <dgm:prSet presAssocID="{904F5CF0-C028-4540-AC1F-4CBF163D4425}" presName="parTxOnly" presStyleLbl="node1" presStyleIdx="0" presStyleCnt="3" custScaleX="120851">
        <dgm:presLayoutVars>
          <dgm:chMax val="0"/>
          <dgm:chPref val="0"/>
          <dgm:bulletEnabled val="1"/>
        </dgm:presLayoutVars>
      </dgm:prSet>
      <dgm:spPr/>
    </dgm:pt>
    <dgm:pt modelId="{875537A6-FE91-463A-BEB3-B6ED1C74E84F}" type="pres">
      <dgm:prSet presAssocID="{032D7BE3-56B0-4E4C-BC41-BEB5B56CB4F2}" presName="parTxOnlySpace" presStyleCnt="0"/>
      <dgm:spPr/>
    </dgm:pt>
    <dgm:pt modelId="{52A1CD02-223E-43D0-B255-608B8694366D}" type="pres">
      <dgm:prSet presAssocID="{E22FD564-B8E8-4074-B796-680FF2FC72C0}" presName="parTxOnly" presStyleLbl="node1" presStyleIdx="1" presStyleCnt="3" custScaleX="125135">
        <dgm:presLayoutVars>
          <dgm:chMax val="0"/>
          <dgm:chPref val="0"/>
          <dgm:bulletEnabled val="1"/>
        </dgm:presLayoutVars>
      </dgm:prSet>
      <dgm:spPr/>
    </dgm:pt>
    <dgm:pt modelId="{8E642559-C859-4AEF-9C20-C5DE1AD86D4C}" type="pres">
      <dgm:prSet presAssocID="{552732B8-27E9-4640-A68B-39DC9B7E5325}" presName="parTxOnlySpace" presStyleCnt="0"/>
      <dgm:spPr/>
    </dgm:pt>
    <dgm:pt modelId="{B6413D96-08EB-4AF0-B609-D558CF1141D5}" type="pres">
      <dgm:prSet presAssocID="{916F02E0-B88F-465C-A1FB-909DC17541A8}" presName="parTxOnly" presStyleLbl="node1" presStyleIdx="2" presStyleCnt="3" custScaleX="105108">
        <dgm:presLayoutVars>
          <dgm:chMax val="0"/>
          <dgm:chPref val="0"/>
          <dgm:bulletEnabled val="1"/>
        </dgm:presLayoutVars>
      </dgm:prSet>
      <dgm:spPr/>
    </dgm:pt>
  </dgm:ptLst>
  <dgm:cxnLst>
    <dgm:cxn modelId="{1013871E-B0BC-471B-B1E6-A57F48AA6DD0}" type="presOf" srcId="{B64783E8-CE9E-42D6-A0F8-15EF686A6866}" destId="{8CBE3E2E-8E37-4B19-8C50-D7436BCB7EF1}" srcOrd="0" destOrd="0" presId="urn:microsoft.com/office/officeart/2005/8/layout/chevron1"/>
    <dgm:cxn modelId="{D4C7955D-96CF-4047-93F4-4F32CF984AF9}" srcId="{B64783E8-CE9E-42D6-A0F8-15EF686A6866}" destId="{E22FD564-B8E8-4074-B796-680FF2FC72C0}" srcOrd="1" destOrd="0" parTransId="{F46930F8-008B-4F98-979C-D8D1770C5A6F}" sibTransId="{552732B8-27E9-4640-A68B-39DC9B7E5325}"/>
    <dgm:cxn modelId="{242A9245-6091-4829-9F2D-F9797841D317}" srcId="{B64783E8-CE9E-42D6-A0F8-15EF686A6866}" destId="{904F5CF0-C028-4540-AC1F-4CBF163D4425}" srcOrd="0" destOrd="0" parTransId="{A98F6444-1F3A-4964-9653-6DFED74C036B}" sibTransId="{032D7BE3-56B0-4E4C-BC41-BEB5B56CB4F2}"/>
    <dgm:cxn modelId="{A8448148-29A9-4CEC-9826-E6671B9BCAEE}" type="presOf" srcId="{916F02E0-B88F-465C-A1FB-909DC17541A8}" destId="{B6413D96-08EB-4AF0-B609-D558CF1141D5}" srcOrd="0" destOrd="0" presId="urn:microsoft.com/office/officeart/2005/8/layout/chevron1"/>
    <dgm:cxn modelId="{7C5A1CA4-6B62-4CC7-9C34-4B20B3A4758E}" type="presOf" srcId="{904F5CF0-C028-4540-AC1F-4CBF163D4425}" destId="{EF55A67F-F3A9-41B1-B98E-640A6EF16183}" srcOrd="0" destOrd="0" presId="urn:microsoft.com/office/officeart/2005/8/layout/chevron1"/>
    <dgm:cxn modelId="{F93C5CD1-6C6B-4DAE-B078-EF8BB4E6781B}" type="presOf" srcId="{E22FD564-B8E8-4074-B796-680FF2FC72C0}" destId="{52A1CD02-223E-43D0-B255-608B8694366D}" srcOrd="0" destOrd="0" presId="urn:microsoft.com/office/officeart/2005/8/layout/chevron1"/>
    <dgm:cxn modelId="{3BFED4E2-2FDA-410B-8BA5-0E176F3D6D35}" srcId="{B64783E8-CE9E-42D6-A0F8-15EF686A6866}" destId="{916F02E0-B88F-465C-A1FB-909DC17541A8}" srcOrd="2" destOrd="0" parTransId="{D6E86109-BE43-4123-9166-02482953DA65}" sibTransId="{0EADFB81-36A5-4B0F-A040-AD8159257F4F}"/>
    <dgm:cxn modelId="{F60910B0-F4E1-4E2E-BDE5-B5638FD10418}" type="presParOf" srcId="{8CBE3E2E-8E37-4B19-8C50-D7436BCB7EF1}" destId="{EF55A67F-F3A9-41B1-B98E-640A6EF16183}" srcOrd="0" destOrd="0" presId="urn:microsoft.com/office/officeart/2005/8/layout/chevron1"/>
    <dgm:cxn modelId="{E9321875-F582-43B1-825B-B6EE2A8220C4}" type="presParOf" srcId="{8CBE3E2E-8E37-4B19-8C50-D7436BCB7EF1}" destId="{875537A6-FE91-463A-BEB3-B6ED1C74E84F}" srcOrd="1" destOrd="0" presId="urn:microsoft.com/office/officeart/2005/8/layout/chevron1"/>
    <dgm:cxn modelId="{0671FE44-A92C-4197-9663-B74D045819C2}" type="presParOf" srcId="{8CBE3E2E-8E37-4B19-8C50-D7436BCB7EF1}" destId="{52A1CD02-223E-43D0-B255-608B8694366D}" srcOrd="2" destOrd="0" presId="urn:microsoft.com/office/officeart/2005/8/layout/chevron1"/>
    <dgm:cxn modelId="{401251EA-5368-4459-97FA-EF97DB7D4193}" type="presParOf" srcId="{8CBE3E2E-8E37-4B19-8C50-D7436BCB7EF1}" destId="{8E642559-C859-4AEF-9C20-C5DE1AD86D4C}" srcOrd="3" destOrd="0" presId="urn:microsoft.com/office/officeart/2005/8/layout/chevron1"/>
    <dgm:cxn modelId="{9AD967F9-46E3-417F-B936-225F70BEEF15}" type="presParOf" srcId="{8CBE3E2E-8E37-4B19-8C50-D7436BCB7EF1}" destId="{B6413D96-08EB-4AF0-B609-D558CF1141D5}" srcOrd="4"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727098-CA00-49D2-8CC7-03569669B929}" type="doc">
      <dgm:prSet loTypeId="urn:microsoft.com/office/officeart/2005/8/layout/chevron1" loCatId="process" qsTypeId="urn:microsoft.com/office/officeart/2005/8/quickstyle/simple1" qsCatId="simple" csTypeId="urn:microsoft.com/office/officeart/2005/8/colors/accent0_2" csCatId="mainScheme" phldr="1"/>
      <dgm:spPr/>
    </dgm:pt>
    <dgm:pt modelId="{2997C342-DF2C-4E63-B2B2-3913A7AA40A0}">
      <dgm:prSet phldrT="[文字]" custT="1"/>
      <dgm:spPr>
        <a:noFill/>
        <a:ln w="19050">
          <a:solidFill>
            <a:srgbClr val="54667E"/>
          </a:solidFill>
          <a:prstDash val="sysDash"/>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銀行或者匯款機構對收款人進行身分核驗</a:t>
          </a:r>
        </a:p>
      </dgm:t>
    </dgm:pt>
    <dgm:pt modelId="{ED09D38A-E84E-4B62-93F1-902BF639E7E4}" type="parTrans" cxnId="{B215FC87-AE4B-4C04-B70B-7F909B1D98A0}">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EC1ABF94-8877-451E-8907-16925ACA9A43}" type="sibTrans" cxnId="{B215FC87-AE4B-4C04-B70B-7F909B1D98A0}">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CC590ED7-38E6-48E6-A233-EF1B333DFD58}">
      <dgm:prSet phldrT="[文字]" custT="1"/>
      <dgm:spPr>
        <a:noFill/>
        <a:ln w="19050">
          <a:solidFill>
            <a:srgbClr val="54667E"/>
          </a:solidFill>
          <a:prstDash val="sysDash"/>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收款人以當地貨幣獲得匯款</a:t>
          </a:r>
        </a:p>
      </dgm:t>
    </dgm:pt>
    <dgm:pt modelId="{1D73F5AA-AE57-49B9-91D1-D67A1B226A07}" type="parTrans" cxnId="{CDA534E2-C07A-4A13-BFA5-E1514E75D976}">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5769B029-3AFA-402D-9DB5-CB4A5E81A1EB}" type="sibTrans" cxnId="{CDA534E2-C07A-4A13-BFA5-E1514E75D976}">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E6642C2B-E2AF-4511-B9EC-C9985419516F}">
      <dgm:prSet phldrT="[文字]" custT="1"/>
      <dgm:spPr>
        <a:noFill/>
        <a:ln w="19050">
          <a:solidFill>
            <a:srgbClr val="54667E"/>
          </a:solidFill>
          <a:prstDash val="sysDash"/>
        </a:ln>
      </dgm:spPr>
      <dgm: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根據當地監管政策，銀行或者匯款機構有時需要向監管層提交包括交易細節在內的報告</a:t>
          </a:r>
        </a:p>
      </dgm:t>
    </dgm:pt>
    <dgm:pt modelId="{B21C6313-2BF7-432A-BB32-F3FB58CEF2A7}" type="parTrans" cxnId="{3D12C027-6A05-449A-9420-026FE2A179F9}">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485130F3-AEB8-4F28-AC09-287BDFEBC718}" type="sibTrans" cxnId="{3D12C027-6A05-449A-9420-026FE2A179F9}">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7A50219E-2E08-4DA1-9F64-93219E56A6F7}" type="pres">
      <dgm:prSet presAssocID="{3D727098-CA00-49D2-8CC7-03569669B929}" presName="Name0" presStyleCnt="0">
        <dgm:presLayoutVars>
          <dgm:dir/>
          <dgm:animLvl val="lvl"/>
          <dgm:resizeHandles val="exact"/>
        </dgm:presLayoutVars>
      </dgm:prSet>
      <dgm:spPr/>
    </dgm:pt>
    <dgm:pt modelId="{3760DB10-C215-4800-A50E-F4836E226AF5}" type="pres">
      <dgm:prSet presAssocID="{2997C342-DF2C-4E63-B2B2-3913A7AA40A0}" presName="parTxOnly" presStyleLbl="node1" presStyleIdx="0" presStyleCnt="3" custScaleX="112634">
        <dgm:presLayoutVars>
          <dgm:chMax val="0"/>
          <dgm:chPref val="0"/>
          <dgm:bulletEnabled val="1"/>
        </dgm:presLayoutVars>
      </dgm:prSet>
      <dgm:spPr/>
    </dgm:pt>
    <dgm:pt modelId="{9AD66BA3-67B6-469B-9707-0BDA7AC85942}" type="pres">
      <dgm:prSet presAssocID="{EC1ABF94-8877-451E-8907-16925ACA9A43}" presName="parTxOnlySpace" presStyleCnt="0"/>
      <dgm:spPr/>
    </dgm:pt>
    <dgm:pt modelId="{309176E1-2F68-4B45-94D0-55D49FA5AE0F}" type="pres">
      <dgm:prSet presAssocID="{CC590ED7-38E6-48E6-A233-EF1B333DFD58}" presName="parTxOnly" presStyleLbl="node1" presStyleIdx="1" presStyleCnt="3" custScaleX="113973">
        <dgm:presLayoutVars>
          <dgm:chMax val="0"/>
          <dgm:chPref val="0"/>
          <dgm:bulletEnabled val="1"/>
        </dgm:presLayoutVars>
      </dgm:prSet>
      <dgm:spPr/>
    </dgm:pt>
    <dgm:pt modelId="{3E2E96DB-3D3F-4F83-8772-A7519B9180D9}" type="pres">
      <dgm:prSet presAssocID="{5769B029-3AFA-402D-9DB5-CB4A5E81A1EB}" presName="parTxOnlySpace" presStyleCnt="0"/>
      <dgm:spPr/>
    </dgm:pt>
    <dgm:pt modelId="{046B8B88-1F7E-4CA1-9A52-57D04BB6D90B}" type="pres">
      <dgm:prSet presAssocID="{E6642C2B-E2AF-4511-B9EC-C9985419516F}" presName="parTxOnly" presStyleLbl="node1" presStyleIdx="2" presStyleCnt="3" custScaleX="125829">
        <dgm:presLayoutVars>
          <dgm:chMax val="0"/>
          <dgm:chPref val="0"/>
          <dgm:bulletEnabled val="1"/>
        </dgm:presLayoutVars>
      </dgm:prSet>
      <dgm:spPr/>
    </dgm:pt>
  </dgm:ptLst>
  <dgm:cxnLst>
    <dgm:cxn modelId="{3D12C027-6A05-449A-9420-026FE2A179F9}" srcId="{3D727098-CA00-49D2-8CC7-03569669B929}" destId="{E6642C2B-E2AF-4511-B9EC-C9985419516F}" srcOrd="2" destOrd="0" parTransId="{B21C6313-2BF7-432A-BB32-F3FB58CEF2A7}" sibTransId="{485130F3-AEB8-4F28-AC09-287BDFEBC718}"/>
    <dgm:cxn modelId="{B449034F-4281-4F93-8AF9-E8B8B7A09916}" type="presOf" srcId="{2997C342-DF2C-4E63-B2B2-3913A7AA40A0}" destId="{3760DB10-C215-4800-A50E-F4836E226AF5}" srcOrd="0" destOrd="0" presId="urn:microsoft.com/office/officeart/2005/8/layout/chevron1"/>
    <dgm:cxn modelId="{4260B975-8144-4E04-91BB-BB181F4374BD}" type="presOf" srcId="{CC590ED7-38E6-48E6-A233-EF1B333DFD58}" destId="{309176E1-2F68-4B45-94D0-55D49FA5AE0F}" srcOrd="0" destOrd="0" presId="urn:microsoft.com/office/officeart/2005/8/layout/chevron1"/>
    <dgm:cxn modelId="{B215FC87-AE4B-4C04-B70B-7F909B1D98A0}" srcId="{3D727098-CA00-49D2-8CC7-03569669B929}" destId="{2997C342-DF2C-4E63-B2B2-3913A7AA40A0}" srcOrd="0" destOrd="0" parTransId="{ED09D38A-E84E-4B62-93F1-902BF639E7E4}" sibTransId="{EC1ABF94-8877-451E-8907-16925ACA9A43}"/>
    <dgm:cxn modelId="{0CA4F49E-DD4A-45F6-A911-774497DDDC31}" type="presOf" srcId="{3D727098-CA00-49D2-8CC7-03569669B929}" destId="{7A50219E-2E08-4DA1-9F64-93219E56A6F7}" srcOrd="0" destOrd="0" presId="urn:microsoft.com/office/officeart/2005/8/layout/chevron1"/>
    <dgm:cxn modelId="{D1166FB5-6EBD-4943-9CA2-D08CBD017E55}" type="presOf" srcId="{E6642C2B-E2AF-4511-B9EC-C9985419516F}" destId="{046B8B88-1F7E-4CA1-9A52-57D04BB6D90B}" srcOrd="0" destOrd="0" presId="urn:microsoft.com/office/officeart/2005/8/layout/chevron1"/>
    <dgm:cxn modelId="{CDA534E2-C07A-4A13-BFA5-E1514E75D976}" srcId="{3D727098-CA00-49D2-8CC7-03569669B929}" destId="{CC590ED7-38E6-48E6-A233-EF1B333DFD58}" srcOrd="1" destOrd="0" parTransId="{1D73F5AA-AE57-49B9-91D1-D67A1B226A07}" sibTransId="{5769B029-3AFA-402D-9DB5-CB4A5E81A1EB}"/>
    <dgm:cxn modelId="{6807C33A-883E-4F0B-8A57-428AE6FC3818}" type="presParOf" srcId="{7A50219E-2E08-4DA1-9F64-93219E56A6F7}" destId="{3760DB10-C215-4800-A50E-F4836E226AF5}" srcOrd="0" destOrd="0" presId="urn:microsoft.com/office/officeart/2005/8/layout/chevron1"/>
    <dgm:cxn modelId="{F9C0BB85-DE36-44E6-8B03-C793B1C5ACA9}" type="presParOf" srcId="{7A50219E-2E08-4DA1-9F64-93219E56A6F7}" destId="{9AD66BA3-67B6-469B-9707-0BDA7AC85942}" srcOrd="1" destOrd="0" presId="urn:microsoft.com/office/officeart/2005/8/layout/chevron1"/>
    <dgm:cxn modelId="{67F7CD72-76C7-4ECB-8669-2FE7A063FE3B}" type="presParOf" srcId="{7A50219E-2E08-4DA1-9F64-93219E56A6F7}" destId="{309176E1-2F68-4B45-94D0-55D49FA5AE0F}" srcOrd="2" destOrd="0" presId="urn:microsoft.com/office/officeart/2005/8/layout/chevron1"/>
    <dgm:cxn modelId="{B63145F7-91D1-4EAA-BEE2-96EA0AD62AB9}" type="presParOf" srcId="{7A50219E-2E08-4DA1-9F64-93219E56A6F7}" destId="{3E2E96DB-3D3F-4F83-8772-A7519B9180D9}" srcOrd="3" destOrd="0" presId="urn:microsoft.com/office/officeart/2005/8/layout/chevron1"/>
    <dgm:cxn modelId="{ED6AAFD9-A428-4E8D-B754-B1B18374F277}" type="presParOf" srcId="{7A50219E-2E08-4DA1-9F64-93219E56A6F7}" destId="{046B8B88-1F7E-4CA1-9A52-57D04BB6D90B}" srcOrd="4" destOrd="0" presId="urn:microsoft.com/office/officeart/2005/8/layout/chevron1"/>
  </dgm:cxnLst>
  <dgm:bg/>
  <dgm:whole>
    <a:ln w="28575">
      <a:noFill/>
    </a:ln>
  </dgm:whole>
  <dgm:extLst>
    <a:ext uri="http://schemas.microsoft.com/office/drawing/2008/diagram">
      <dsp:dataModelExt xmlns:dsp="http://schemas.microsoft.com/office/drawing/2008/diagram" relId="rId1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D8C0E28-BE6C-458B-B0C9-046D9BF9F76A}"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zh-TW" altLang="en-US"/>
        </a:p>
      </dgm:t>
    </dgm:pt>
    <dgm:pt modelId="{782B2AE8-55ED-4F11-85B3-1DE6E765FEBE}">
      <dgm:prSet phldrT="[文字]" custT="1"/>
      <dgm:spPr/>
      <dgm:t>
        <a:bodyPr/>
        <a:lstStyle/>
        <a:p>
          <a:r>
            <a:rPr lang="zh-TW" altLang="en-US" sz="1600" b="1" dirty="0">
              <a:latin typeface="微軟正黑體" panose="020B0604030504040204" pitchFamily="34" charset="-120"/>
              <a:ea typeface="微軟正黑體" panose="020B0604030504040204" pitchFamily="34" charset="-120"/>
            </a:rPr>
            <a:t>區塊鏈之   非金融服務應用需求</a:t>
          </a:r>
        </a:p>
      </dgm:t>
    </dgm:pt>
    <dgm:pt modelId="{D182617A-3789-48C3-AD92-362F3FDC0FE7}" type="parTrans" cxnId="{74F49811-E8EB-4D2F-82E4-4D156B55126C}">
      <dgm:prSet/>
      <dgm:spPr/>
      <dgm:t>
        <a:bodyPr/>
        <a:lstStyle/>
        <a:p>
          <a:endParaRPr lang="zh-TW" altLang="en-US" sz="1100" b="1">
            <a:latin typeface="微軟正黑體" panose="020B0604030504040204" pitchFamily="34" charset="-120"/>
            <a:ea typeface="微軟正黑體" panose="020B0604030504040204" pitchFamily="34" charset="-120"/>
          </a:endParaRPr>
        </a:p>
      </dgm:t>
    </dgm:pt>
    <dgm:pt modelId="{A3C552D2-54CE-4D29-BD2F-59AFDF825491}" type="sibTrans" cxnId="{74F49811-E8EB-4D2F-82E4-4D156B55126C}">
      <dgm:prSet/>
      <dgm:spPr/>
      <dgm:t>
        <a:bodyPr/>
        <a:lstStyle/>
        <a:p>
          <a:endParaRPr lang="zh-TW" altLang="en-US" sz="1100" b="1">
            <a:latin typeface="微軟正黑體" panose="020B0604030504040204" pitchFamily="34" charset="-120"/>
            <a:ea typeface="微軟正黑體" panose="020B0604030504040204" pitchFamily="34" charset="-120"/>
          </a:endParaRPr>
        </a:p>
      </dgm:t>
    </dgm:pt>
    <dgm:pt modelId="{060B2FAA-0E82-4579-805D-63086320AD4E}">
      <dgm:prSet phldrT="[文字]" custT="1">
        <dgm:style>
          <a:lnRef idx="2">
            <a:schemeClr val="accent5"/>
          </a:lnRef>
          <a:fillRef idx="1">
            <a:schemeClr val="lt1"/>
          </a:fillRef>
          <a:effectRef idx="0">
            <a:schemeClr val="accent5"/>
          </a:effectRef>
          <a:fontRef idx="minor">
            <a:schemeClr val="dk1"/>
          </a:fontRef>
        </dgm:style>
      </dgm:prSet>
      <dgm:spPr>
        <a:solidFill>
          <a:srgbClr val="F9F9F9"/>
        </a:solidFill>
        <a:ln w="19050"/>
      </dgm:spPr>
      <dgm:t>
        <a:bodyPr/>
        <a:lstStyle/>
        <a:p>
          <a:r>
            <a:rPr lang="zh-TW" altLang="en-US" sz="1800" b="1" dirty="0">
              <a:latin typeface="微軟正黑體" panose="020B0604030504040204" pitchFamily="34" charset="-120"/>
              <a:ea typeface="微軟正黑體" panose="020B0604030504040204" pitchFamily="34" charset="-120"/>
            </a:rPr>
            <a:t>短縮作業流程</a:t>
          </a:r>
        </a:p>
      </dgm:t>
    </dgm:pt>
    <dgm:pt modelId="{DCE248AC-F770-4670-97E7-4FBC5BF26597}" type="parTrans" cxnId="{1F88802A-C2F9-41B7-8990-F6659EFF1929}">
      <dgm:prSet/>
      <dgm:spPr>
        <a:xfrm rot="17700000">
          <a:off x="3827499" y="1634388"/>
          <a:ext cx="1825460" cy="595316"/>
        </a:xfrm>
        <a:prstGeom prst="leftArrow">
          <a:avLst>
            <a:gd name="adj1" fmla="val 60000"/>
            <a:gd name="adj2" fmla="val 50000"/>
          </a:avLst>
        </a:prstGeom>
      </dgm:spPr>
      <dgm:t>
        <a:bodyPr/>
        <a:lstStyle/>
        <a:p>
          <a:endParaRPr lang="zh-TW" altLang="en-US" sz="1100" b="1">
            <a:latin typeface="微軟正黑體" panose="020B0604030504040204" pitchFamily="34" charset="-120"/>
            <a:ea typeface="微軟正黑體" panose="020B0604030504040204" pitchFamily="34" charset="-120"/>
          </a:endParaRPr>
        </a:p>
      </dgm:t>
    </dgm:pt>
    <dgm:pt modelId="{6C0A4CEB-BBA9-488E-9060-E6F960C85A15}" type="sibTrans" cxnId="{1F88802A-C2F9-41B7-8990-F6659EFF1929}">
      <dgm:prSet/>
      <dgm:spPr/>
      <dgm:t>
        <a:bodyPr/>
        <a:lstStyle/>
        <a:p>
          <a:endParaRPr lang="zh-TW" altLang="en-US" sz="1100" b="1">
            <a:latin typeface="微軟正黑體" panose="020B0604030504040204" pitchFamily="34" charset="-120"/>
            <a:ea typeface="微軟正黑體" panose="020B0604030504040204" pitchFamily="34" charset="-120"/>
          </a:endParaRPr>
        </a:p>
      </dgm:t>
    </dgm:pt>
    <dgm:pt modelId="{F3F39625-47F8-454F-914C-1A040B7D15F2}">
      <dgm:prSet phldrT="[文字]" custT="1">
        <dgm:style>
          <a:lnRef idx="2">
            <a:schemeClr val="accent6"/>
          </a:lnRef>
          <a:fillRef idx="1">
            <a:schemeClr val="lt1"/>
          </a:fillRef>
          <a:effectRef idx="0">
            <a:schemeClr val="accent6"/>
          </a:effectRef>
          <a:fontRef idx="minor">
            <a:schemeClr val="dk1"/>
          </a:fontRef>
        </dgm:style>
      </dgm:prSet>
      <dgm:spPr>
        <a:solidFill>
          <a:srgbClr val="F9F9F9"/>
        </a:solidFill>
        <a:ln w="19050"/>
      </dgm:spPr>
      <dgm:t>
        <a:bodyPr/>
        <a:lstStyle/>
        <a:p>
          <a:r>
            <a:rPr lang="zh-TW" altLang="en-US" sz="1800" b="1" dirty="0">
              <a:latin typeface="微軟正黑體" panose="020B0604030504040204" pitchFamily="34" charset="-120"/>
              <a:ea typeface="微軟正黑體" panose="020B0604030504040204" pitchFamily="34" charset="-120"/>
            </a:rPr>
            <a:t>安居樂業生活</a:t>
          </a:r>
        </a:p>
      </dgm:t>
    </dgm:pt>
    <dgm:pt modelId="{67876572-B6B9-4DF4-813E-D45EA73E7FD4}" type="parTrans" cxnId="{9B1443EF-5C29-4E96-AB31-19BEBEE0B954}">
      <dgm:prSet/>
      <dgm:spPr>
        <a:xfrm rot="20593188">
          <a:off x="4929752" y="2914603"/>
          <a:ext cx="1789151" cy="595316"/>
        </a:xfrm>
        <a:prstGeom prst="leftArrow">
          <a:avLst>
            <a:gd name="adj1" fmla="val 60000"/>
            <a:gd name="adj2" fmla="val 50000"/>
          </a:avLst>
        </a:prstGeom>
      </dgm:spPr>
      <dgm:t>
        <a:bodyPr/>
        <a:lstStyle/>
        <a:p>
          <a:endParaRPr lang="zh-TW" altLang="en-US" sz="1100" b="1">
            <a:latin typeface="微軟正黑體" panose="020B0604030504040204" pitchFamily="34" charset="-120"/>
            <a:ea typeface="微軟正黑體" panose="020B0604030504040204" pitchFamily="34" charset="-120"/>
          </a:endParaRPr>
        </a:p>
      </dgm:t>
    </dgm:pt>
    <dgm:pt modelId="{F46EFE93-3656-438A-AF94-EA236D9D45DC}" type="sibTrans" cxnId="{9B1443EF-5C29-4E96-AB31-19BEBEE0B954}">
      <dgm:prSet/>
      <dgm:spPr/>
      <dgm:t>
        <a:bodyPr/>
        <a:lstStyle/>
        <a:p>
          <a:endParaRPr lang="zh-TW" altLang="en-US" sz="1100" b="1">
            <a:latin typeface="微軟正黑體" panose="020B0604030504040204" pitchFamily="34" charset="-120"/>
            <a:ea typeface="微軟正黑體" panose="020B0604030504040204" pitchFamily="34" charset="-120"/>
          </a:endParaRPr>
        </a:p>
      </dgm:t>
    </dgm:pt>
    <dgm:pt modelId="{D2DE2FB6-DA8F-48FF-B0FF-37FD9A574CBF}">
      <dgm:prSet custT="1">
        <dgm:style>
          <a:lnRef idx="2">
            <a:schemeClr val="accent6"/>
          </a:lnRef>
          <a:fillRef idx="1">
            <a:schemeClr val="lt1"/>
          </a:fillRef>
          <a:effectRef idx="0">
            <a:schemeClr val="accent6"/>
          </a:effectRef>
          <a:fontRef idx="minor">
            <a:schemeClr val="dk1"/>
          </a:fontRef>
        </dgm:style>
      </dgm:prSet>
      <dgm:spPr>
        <a:solidFill>
          <a:srgbClr val="F9F9F9"/>
        </a:solidFill>
        <a:ln w="19050"/>
      </dgm:spPr>
      <dgm:t>
        <a:bodyPr/>
        <a:lstStyle/>
        <a:p>
          <a:r>
            <a:rPr lang="zh-TW" altLang="zh-TW" sz="1800" b="1" dirty="0">
              <a:latin typeface="微軟正黑體" panose="020B0604030504040204" pitchFamily="34" charset="-120"/>
              <a:ea typeface="微軟正黑體" panose="020B0604030504040204" pitchFamily="34" charset="-120"/>
            </a:rPr>
            <a:t>資訊取得簡便</a:t>
          </a:r>
        </a:p>
      </dgm:t>
    </dgm:pt>
    <dgm:pt modelId="{232736CF-0B04-4FC8-8516-933BEAAD5F59}" type="sibTrans" cxnId="{D1834705-4984-4EEB-A1B7-3CAD67AFDB97}">
      <dgm:prSet/>
      <dgm:spPr/>
      <dgm:t>
        <a:bodyPr/>
        <a:lstStyle/>
        <a:p>
          <a:endParaRPr lang="zh-TW" altLang="en-US" sz="1100" b="1">
            <a:latin typeface="微軟正黑體" panose="020B0604030504040204" pitchFamily="34" charset="-120"/>
            <a:ea typeface="微軟正黑體" panose="020B0604030504040204" pitchFamily="34" charset="-120"/>
          </a:endParaRPr>
        </a:p>
      </dgm:t>
    </dgm:pt>
    <dgm:pt modelId="{AD0B3781-9E20-4CAC-A62A-E2891F4EF2B8}" type="parTrans" cxnId="{D1834705-4984-4EEB-A1B7-3CAD67AFDB97}">
      <dgm:prSet/>
      <dgm:spPr>
        <a:xfrm rot="14675862">
          <a:off x="2045632" y="1623710"/>
          <a:ext cx="1858871" cy="595316"/>
        </a:xfrm>
        <a:prstGeom prst="leftArrow">
          <a:avLst>
            <a:gd name="adj1" fmla="val 60000"/>
            <a:gd name="adj2" fmla="val 50000"/>
          </a:avLst>
        </a:prstGeom>
      </dgm:spPr>
      <dgm:t>
        <a:bodyPr/>
        <a:lstStyle/>
        <a:p>
          <a:endParaRPr lang="zh-TW" altLang="en-US" sz="1100" b="1">
            <a:latin typeface="微軟正黑體" panose="020B0604030504040204" pitchFamily="34" charset="-120"/>
            <a:ea typeface="微軟正黑體" panose="020B0604030504040204" pitchFamily="34" charset="-120"/>
          </a:endParaRPr>
        </a:p>
      </dgm:t>
    </dgm:pt>
    <dgm:pt modelId="{4305B89D-16E0-453D-B066-91BBF071ADA2}">
      <dgm:prSet custT="1">
        <dgm:style>
          <a:lnRef idx="2">
            <a:schemeClr val="accent5"/>
          </a:lnRef>
          <a:fillRef idx="1">
            <a:schemeClr val="lt1"/>
          </a:fillRef>
          <a:effectRef idx="0">
            <a:schemeClr val="accent5"/>
          </a:effectRef>
          <a:fontRef idx="minor">
            <a:schemeClr val="dk1"/>
          </a:fontRef>
        </dgm:style>
      </dgm:prSet>
      <dgm:spPr>
        <a:solidFill>
          <a:srgbClr val="F9F9F9"/>
        </a:solidFill>
        <a:ln w="19050"/>
      </dgm:spPr>
      <dgm:t>
        <a:bodyPr/>
        <a:lstStyle/>
        <a:p>
          <a:r>
            <a:rPr lang="zh-TW" altLang="zh-TW" sz="1800" b="1" dirty="0">
              <a:latin typeface="微軟正黑體" panose="020B0604030504040204" pitchFamily="34" charset="-120"/>
              <a:ea typeface="微軟正黑體" panose="020B0604030504040204" pitchFamily="34" charset="-120"/>
            </a:rPr>
            <a:t>開創消費經濟</a:t>
          </a:r>
        </a:p>
      </dgm:t>
    </dgm:pt>
    <dgm:pt modelId="{488053FE-7A15-4623-82B5-22FFAD163E06}" type="parTrans" cxnId="{9D7C53C1-0778-4384-96DD-94B1F04D8CA9}">
      <dgm:prSet/>
      <dgm:spPr>
        <a:xfrm rot="11888676">
          <a:off x="1240763" y="2903393"/>
          <a:ext cx="1586656" cy="595316"/>
        </a:xfrm>
        <a:prstGeom prst="leftArrow">
          <a:avLst>
            <a:gd name="adj1" fmla="val 60000"/>
            <a:gd name="adj2" fmla="val 50000"/>
          </a:avLst>
        </a:prstGeom>
      </dgm:spPr>
      <dgm:t>
        <a:bodyPr/>
        <a:lstStyle/>
        <a:p>
          <a:endParaRPr lang="zh-TW" altLang="en-US" sz="1100" b="1">
            <a:latin typeface="微軟正黑體" panose="020B0604030504040204" pitchFamily="34" charset="-120"/>
            <a:ea typeface="微軟正黑體" panose="020B0604030504040204" pitchFamily="34" charset="-120"/>
          </a:endParaRPr>
        </a:p>
      </dgm:t>
    </dgm:pt>
    <dgm:pt modelId="{91F5EC3E-4887-4C96-B032-DA8504C9713B}" type="sibTrans" cxnId="{9D7C53C1-0778-4384-96DD-94B1F04D8CA9}">
      <dgm:prSet/>
      <dgm:spPr/>
      <dgm:t>
        <a:bodyPr/>
        <a:lstStyle/>
        <a:p>
          <a:endParaRPr lang="zh-TW" altLang="en-US" sz="1100" b="1">
            <a:latin typeface="微軟正黑體" panose="020B0604030504040204" pitchFamily="34" charset="-120"/>
            <a:ea typeface="微軟正黑體" panose="020B0604030504040204" pitchFamily="34" charset="-120"/>
          </a:endParaRPr>
        </a:p>
      </dgm:t>
    </dgm:pt>
    <dgm:pt modelId="{3D504FB5-A3E0-4B9E-B2B5-48623DC954E7}" type="pres">
      <dgm:prSet presAssocID="{DD8C0E28-BE6C-458B-B0C9-046D9BF9F76A}" presName="cycle" presStyleCnt="0">
        <dgm:presLayoutVars>
          <dgm:chMax val="1"/>
          <dgm:dir/>
          <dgm:animLvl val="ctr"/>
          <dgm:resizeHandles val="exact"/>
        </dgm:presLayoutVars>
      </dgm:prSet>
      <dgm:spPr/>
    </dgm:pt>
    <dgm:pt modelId="{131B9391-EA1A-40DF-9CBD-8853FCFC437B}" type="pres">
      <dgm:prSet presAssocID="{782B2AE8-55ED-4F11-85B3-1DE6E765FEBE}" presName="centerShape" presStyleLbl="node0" presStyleIdx="0" presStyleCnt="1"/>
      <dgm:spPr>
        <a:xfrm>
          <a:off x="2823788" y="2757697"/>
          <a:ext cx="2088830" cy="2088830"/>
        </a:xfrm>
      </dgm:spPr>
    </dgm:pt>
    <dgm:pt modelId="{3133D2E5-1A67-4CCD-A16F-804CD644A84D}" type="pres">
      <dgm:prSet presAssocID="{488053FE-7A15-4623-82B5-22FFAD163E06}" presName="parTrans" presStyleLbl="bgSibTrans2D1" presStyleIdx="0" presStyleCnt="4"/>
      <dgm:spPr/>
    </dgm:pt>
    <dgm:pt modelId="{AB1BEA99-69BD-4596-B562-87649451AB8F}" type="pres">
      <dgm:prSet presAssocID="{4305B89D-16E0-453D-B066-91BBF071ADA2}" presName="node" presStyleLbl="node1" presStyleIdx="0" presStyleCnt="4">
        <dgm:presLayoutVars>
          <dgm:bulletEnabled val="1"/>
        </dgm:presLayoutVars>
      </dgm:prSet>
      <dgm:spPr>
        <a:xfrm>
          <a:off x="288018" y="2160240"/>
          <a:ext cx="1984388" cy="1587510"/>
        </a:xfrm>
      </dgm:spPr>
    </dgm:pt>
    <dgm:pt modelId="{5CB2109E-D5C7-489C-A1FA-659C5342432F}" type="pres">
      <dgm:prSet presAssocID="{AD0B3781-9E20-4CAC-A62A-E2891F4EF2B8}" presName="parTrans" presStyleLbl="bgSibTrans2D1" presStyleIdx="1" presStyleCnt="4"/>
      <dgm:spPr/>
    </dgm:pt>
    <dgm:pt modelId="{116967FC-1846-43C1-A8FA-CB2C30E1AAB1}" type="pres">
      <dgm:prSet presAssocID="{D2DE2FB6-DA8F-48FF-B0FF-37FD9A574CBF}" presName="node" presStyleLbl="node1" presStyleIdx="1" presStyleCnt="4">
        <dgm:presLayoutVars>
          <dgm:bulletEnabled val="1"/>
        </dgm:presLayoutVars>
      </dgm:prSet>
      <dgm:spPr>
        <a:xfrm>
          <a:off x="1584172" y="288037"/>
          <a:ext cx="1984388" cy="1587510"/>
        </a:xfrm>
      </dgm:spPr>
    </dgm:pt>
    <dgm:pt modelId="{4036F1DB-A93C-4D74-86A2-058C727145BC}" type="pres">
      <dgm:prSet presAssocID="{DCE248AC-F770-4670-97E7-4FBC5BF26597}" presName="parTrans" presStyleLbl="bgSibTrans2D1" presStyleIdx="2" presStyleCnt="4"/>
      <dgm:spPr/>
    </dgm:pt>
    <dgm:pt modelId="{8C20741E-38E8-4F15-88DF-12B1ADF009C9}" type="pres">
      <dgm:prSet presAssocID="{060B2FAA-0E82-4579-805D-63086320AD4E}" presName="node" presStyleLbl="node1" presStyleIdx="2" presStyleCnt="4">
        <dgm:presLayoutVars>
          <dgm:bulletEnabled val="1"/>
        </dgm:presLayoutVars>
      </dgm:prSet>
      <dgm:spPr>
        <a:xfrm>
          <a:off x="4133771" y="311077"/>
          <a:ext cx="1984388" cy="1587510"/>
        </a:xfrm>
      </dgm:spPr>
    </dgm:pt>
    <dgm:pt modelId="{CB825C9D-CBEB-44DD-BC56-4A24713A9EAB}" type="pres">
      <dgm:prSet presAssocID="{67876572-B6B9-4DF4-813E-D45EA73E7FD4}" presName="parTrans" presStyleLbl="bgSibTrans2D1" presStyleIdx="3" presStyleCnt="4"/>
      <dgm:spPr/>
    </dgm:pt>
    <dgm:pt modelId="{8ED30EE3-741F-418E-9AB3-6D7BA6174C8D}" type="pres">
      <dgm:prSet presAssocID="{F3F39625-47F8-454F-914C-1A040B7D15F2}" presName="node" presStyleLbl="node1" presStyleIdx="3" presStyleCnt="4">
        <dgm:presLayoutVars>
          <dgm:bulletEnabled val="1"/>
        </dgm:presLayoutVars>
      </dgm:prSet>
      <dgm:spPr>
        <a:xfrm>
          <a:off x="5688617" y="2160241"/>
          <a:ext cx="1984388" cy="1587510"/>
        </a:xfrm>
      </dgm:spPr>
    </dgm:pt>
  </dgm:ptLst>
  <dgm:cxnLst>
    <dgm:cxn modelId="{D1834705-4984-4EEB-A1B7-3CAD67AFDB97}" srcId="{782B2AE8-55ED-4F11-85B3-1DE6E765FEBE}" destId="{D2DE2FB6-DA8F-48FF-B0FF-37FD9A574CBF}" srcOrd="1" destOrd="0" parTransId="{AD0B3781-9E20-4CAC-A62A-E2891F4EF2B8}" sibTransId="{232736CF-0B04-4FC8-8516-933BEAAD5F59}"/>
    <dgm:cxn modelId="{5A06E205-638F-44F1-81B3-9C16B854ADA9}" type="presOf" srcId="{4305B89D-16E0-453D-B066-91BBF071ADA2}" destId="{AB1BEA99-69BD-4596-B562-87649451AB8F}" srcOrd="0" destOrd="0" presId="urn:microsoft.com/office/officeart/2005/8/layout/radial4"/>
    <dgm:cxn modelId="{74F49811-E8EB-4D2F-82E4-4D156B55126C}" srcId="{DD8C0E28-BE6C-458B-B0C9-046D9BF9F76A}" destId="{782B2AE8-55ED-4F11-85B3-1DE6E765FEBE}" srcOrd="0" destOrd="0" parTransId="{D182617A-3789-48C3-AD92-362F3FDC0FE7}" sibTransId="{A3C552D2-54CE-4D29-BD2F-59AFDF825491}"/>
    <dgm:cxn modelId="{28044E16-90D8-4768-92B5-D48182AE2DC7}" type="presOf" srcId="{060B2FAA-0E82-4579-805D-63086320AD4E}" destId="{8C20741E-38E8-4F15-88DF-12B1ADF009C9}" srcOrd="0" destOrd="0" presId="urn:microsoft.com/office/officeart/2005/8/layout/radial4"/>
    <dgm:cxn modelId="{1F88802A-C2F9-41B7-8990-F6659EFF1929}" srcId="{782B2AE8-55ED-4F11-85B3-1DE6E765FEBE}" destId="{060B2FAA-0E82-4579-805D-63086320AD4E}" srcOrd="2" destOrd="0" parTransId="{DCE248AC-F770-4670-97E7-4FBC5BF26597}" sibTransId="{6C0A4CEB-BBA9-488E-9060-E6F960C85A15}"/>
    <dgm:cxn modelId="{E89EA95E-C926-4CCE-9BF4-CD8747265E6C}" type="presOf" srcId="{488053FE-7A15-4623-82B5-22FFAD163E06}" destId="{3133D2E5-1A67-4CCD-A16F-804CD644A84D}" srcOrd="0" destOrd="0" presId="urn:microsoft.com/office/officeart/2005/8/layout/radial4"/>
    <dgm:cxn modelId="{294A1655-375A-49C6-8491-43BEA2E88318}" type="presOf" srcId="{DCE248AC-F770-4670-97E7-4FBC5BF26597}" destId="{4036F1DB-A93C-4D74-86A2-058C727145BC}" srcOrd="0" destOrd="0" presId="urn:microsoft.com/office/officeart/2005/8/layout/radial4"/>
    <dgm:cxn modelId="{3E3B967E-8C31-447A-9FF9-6255EC9B1C22}" type="presOf" srcId="{F3F39625-47F8-454F-914C-1A040B7D15F2}" destId="{8ED30EE3-741F-418E-9AB3-6D7BA6174C8D}" srcOrd="0" destOrd="0" presId="urn:microsoft.com/office/officeart/2005/8/layout/radial4"/>
    <dgm:cxn modelId="{4CE92BA8-8C1F-4BB4-828F-3F373CFA7E8B}" type="presOf" srcId="{AD0B3781-9E20-4CAC-A62A-E2891F4EF2B8}" destId="{5CB2109E-D5C7-489C-A1FA-659C5342432F}" srcOrd="0" destOrd="0" presId="urn:microsoft.com/office/officeart/2005/8/layout/radial4"/>
    <dgm:cxn modelId="{83F0FBC0-3D89-4530-B72B-800069268497}" type="presOf" srcId="{67876572-B6B9-4DF4-813E-D45EA73E7FD4}" destId="{CB825C9D-CBEB-44DD-BC56-4A24713A9EAB}" srcOrd="0" destOrd="0" presId="urn:microsoft.com/office/officeart/2005/8/layout/radial4"/>
    <dgm:cxn modelId="{9D7C53C1-0778-4384-96DD-94B1F04D8CA9}" srcId="{782B2AE8-55ED-4F11-85B3-1DE6E765FEBE}" destId="{4305B89D-16E0-453D-B066-91BBF071ADA2}" srcOrd="0" destOrd="0" parTransId="{488053FE-7A15-4623-82B5-22FFAD163E06}" sibTransId="{91F5EC3E-4887-4C96-B032-DA8504C9713B}"/>
    <dgm:cxn modelId="{62547FD5-4A17-41FC-8D89-43F4F43DD4F4}" type="presOf" srcId="{782B2AE8-55ED-4F11-85B3-1DE6E765FEBE}" destId="{131B9391-EA1A-40DF-9CBD-8853FCFC437B}" srcOrd="0" destOrd="0" presId="urn:microsoft.com/office/officeart/2005/8/layout/radial4"/>
    <dgm:cxn modelId="{0E5026DC-0DDF-44BE-8924-E6241004C99A}" type="presOf" srcId="{DD8C0E28-BE6C-458B-B0C9-046D9BF9F76A}" destId="{3D504FB5-A3E0-4B9E-B2B5-48623DC954E7}" srcOrd="0" destOrd="0" presId="urn:microsoft.com/office/officeart/2005/8/layout/radial4"/>
    <dgm:cxn modelId="{9B1443EF-5C29-4E96-AB31-19BEBEE0B954}" srcId="{782B2AE8-55ED-4F11-85B3-1DE6E765FEBE}" destId="{F3F39625-47F8-454F-914C-1A040B7D15F2}" srcOrd="3" destOrd="0" parTransId="{67876572-B6B9-4DF4-813E-D45EA73E7FD4}" sibTransId="{F46EFE93-3656-438A-AF94-EA236D9D45DC}"/>
    <dgm:cxn modelId="{BD617EFB-B2DA-4F5B-A2F4-5CF5B656AFB9}" type="presOf" srcId="{D2DE2FB6-DA8F-48FF-B0FF-37FD9A574CBF}" destId="{116967FC-1846-43C1-A8FA-CB2C30E1AAB1}" srcOrd="0" destOrd="0" presId="urn:microsoft.com/office/officeart/2005/8/layout/radial4"/>
    <dgm:cxn modelId="{BDCA21D5-20D1-4046-8AC5-EFAF4CB6C1FB}" type="presParOf" srcId="{3D504FB5-A3E0-4B9E-B2B5-48623DC954E7}" destId="{131B9391-EA1A-40DF-9CBD-8853FCFC437B}" srcOrd="0" destOrd="0" presId="urn:microsoft.com/office/officeart/2005/8/layout/radial4"/>
    <dgm:cxn modelId="{DC408045-2583-468B-9319-B84C3C2082CB}" type="presParOf" srcId="{3D504FB5-A3E0-4B9E-B2B5-48623DC954E7}" destId="{3133D2E5-1A67-4CCD-A16F-804CD644A84D}" srcOrd="1" destOrd="0" presId="urn:microsoft.com/office/officeart/2005/8/layout/radial4"/>
    <dgm:cxn modelId="{94188637-7D3F-4725-9732-EDD5EE129356}" type="presParOf" srcId="{3D504FB5-A3E0-4B9E-B2B5-48623DC954E7}" destId="{AB1BEA99-69BD-4596-B562-87649451AB8F}" srcOrd="2" destOrd="0" presId="urn:microsoft.com/office/officeart/2005/8/layout/radial4"/>
    <dgm:cxn modelId="{A4768140-1CCB-4E97-873E-4EB61EA5B44E}" type="presParOf" srcId="{3D504FB5-A3E0-4B9E-B2B5-48623DC954E7}" destId="{5CB2109E-D5C7-489C-A1FA-659C5342432F}" srcOrd="3" destOrd="0" presId="urn:microsoft.com/office/officeart/2005/8/layout/radial4"/>
    <dgm:cxn modelId="{C67D1302-328F-49F0-BEF2-813A39071DEC}" type="presParOf" srcId="{3D504FB5-A3E0-4B9E-B2B5-48623DC954E7}" destId="{116967FC-1846-43C1-A8FA-CB2C30E1AAB1}" srcOrd="4" destOrd="0" presId="urn:microsoft.com/office/officeart/2005/8/layout/radial4"/>
    <dgm:cxn modelId="{385D9DC8-42B3-4A4E-A814-178AE7320440}" type="presParOf" srcId="{3D504FB5-A3E0-4B9E-B2B5-48623DC954E7}" destId="{4036F1DB-A93C-4D74-86A2-058C727145BC}" srcOrd="5" destOrd="0" presId="urn:microsoft.com/office/officeart/2005/8/layout/radial4"/>
    <dgm:cxn modelId="{36AF92EE-A063-42A5-BBC0-82368D587201}" type="presParOf" srcId="{3D504FB5-A3E0-4B9E-B2B5-48623DC954E7}" destId="{8C20741E-38E8-4F15-88DF-12B1ADF009C9}" srcOrd="6" destOrd="0" presId="urn:microsoft.com/office/officeart/2005/8/layout/radial4"/>
    <dgm:cxn modelId="{3DA38616-BEC6-41B0-94BE-149578341570}" type="presParOf" srcId="{3D504FB5-A3E0-4B9E-B2B5-48623DC954E7}" destId="{CB825C9D-CBEB-44DD-BC56-4A24713A9EAB}" srcOrd="7" destOrd="0" presId="urn:microsoft.com/office/officeart/2005/8/layout/radial4"/>
    <dgm:cxn modelId="{A1BCA57B-11A5-47FD-AED2-24EA9C953B81}" type="presParOf" srcId="{3D504FB5-A3E0-4B9E-B2B5-48623DC954E7}" destId="{8ED30EE3-741F-418E-9AB3-6D7BA6174C8D}" srcOrd="8" destOrd="0" presId="urn:microsoft.com/office/officeart/2005/8/layout/radial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8D6B9B0-05C0-4879-9C97-095BA88EC3E7}" type="doc">
      <dgm:prSet loTypeId="urn:microsoft.com/office/officeart/2005/8/layout/gear1" loCatId="process" qsTypeId="urn:microsoft.com/office/officeart/2005/8/quickstyle/simple1" qsCatId="simple" csTypeId="urn:microsoft.com/office/officeart/2005/8/colors/colorful3" csCatId="colorful" phldr="1"/>
      <dgm:spPr/>
    </dgm:pt>
    <dgm:pt modelId="{87DCBFD3-6B40-4859-BDC4-F8E25FF4A382}">
      <dgm:prSet phldrT="[文字]" custT="1"/>
      <dgm:spPr>
        <a:solidFill>
          <a:schemeClr val="accent5">
            <a:lumMod val="40000"/>
            <a:lumOff val="60000"/>
          </a:schemeClr>
        </a:solidFill>
      </dgm:spPr>
      <dgm:t>
        <a:bodyPr/>
        <a:lstStyle/>
        <a:p>
          <a:r>
            <a:rPr lang="zh-TW" altLang="en-US" sz="1600" b="1" dirty="0">
              <a:solidFill>
                <a:schemeClr val="tx1"/>
              </a:solidFill>
              <a:latin typeface="微軟正黑體" panose="020B0604030504040204" pitchFamily="34" charset="-120"/>
              <a:ea typeface="微軟正黑體" panose="020B0604030504040204" pitchFamily="34" charset="-120"/>
            </a:rPr>
            <a:t>架構</a:t>
          </a:r>
          <a:endParaRPr lang="en-US" altLang="zh-TW" sz="1600" b="1" dirty="0">
            <a:solidFill>
              <a:schemeClr val="tx1"/>
            </a:solidFill>
            <a:latin typeface="微軟正黑體" panose="020B0604030504040204" pitchFamily="34" charset="-120"/>
            <a:ea typeface="微軟正黑體" panose="020B0604030504040204" pitchFamily="34" charset="-120"/>
          </a:endParaRPr>
        </a:p>
        <a:p>
          <a:r>
            <a:rPr lang="zh-TW" altLang="en-US" sz="1600" b="1" dirty="0">
              <a:solidFill>
                <a:schemeClr val="tx1"/>
              </a:solidFill>
              <a:latin typeface="微軟正黑體" panose="020B0604030504040204" pitchFamily="34" charset="-120"/>
              <a:ea typeface="微軟正黑體" panose="020B0604030504040204" pitchFamily="34" charset="-120"/>
            </a:rPr>
            <a:t>交易</a:t>
          </a:r>
          <a:endParaRPr lang="en-US" altLang="zh-TW" sz="1600" b="1" dirty="0">
            <a:solidFill>
              <a:schemeClr val="tx1"/>
            </a:solidFill>
            <a:latin typeface="微軟正黑體" panose="020B0604030504040204" pitchFamily="34" charset="-120"/>
            <a:ea typeface="微軟正黑體" panose="020B0604030504040204" pitchFamily="34" charset="-120"/>
          </a:endParaRPr>
        </a:p>
        <a:p>
          <a:r>
            <a:rPr lang="zh-TW" altLang="en-US" sz="1600" b="1" dirty="0">
              <a:solidFill>
                <a:schemeClr val="tx1"/>
              </a:solidFill>
              <a:latin typeface="微軟正黑體" panose="020B0604030504040204" pitchFamily="34" charset="-120"/>
              <a:ea typeface="微軟正黑體" panose="020B0604030504040204" pitchFamily="34" charset="-120"/>
            </a:rPr>
            <a:t>平台</a:t>
          </a:r>
        </a:p>
      </dgm:t>
    </dgm:pt>
    <dgm:pt modelId="{2FD925B5-04E1-48F9-B00C-33BEA99AD038}" type="parTrans" cxnId="{5E4DBEE4-6596-41F0-B05B-06FBDB8AA587}">
      <dgm:prSet/>
      <dgm:spPr/>
      <dgm:t>
        <a:bodyPr/>
        <a:lstStyle/>
        <a:p>
          <a:endParaRPr lang="zh-TW" altLang="en-US" sz="1200">
            <a:latin typeface="微軟正黑體" panose="020B0604030504040204" pitchFamily="34" charset="-120"/>
            <a:ea typeface="微軟正黑體" panose="020B0604030504040204" pitchFamily="34" charset="-120"/>
          </a:endParaRPr>
        </a:p>
      </dgm:t>
    </dgm:pt>
    <dgm:pt modelId="{59503DE0-F881-42C4-A33B-2CE9C4CB8586}" type="sibTrans" cxnId="{5E4DBEE4-6596-41F0-B05B-06FBDB8AA587}">
      <dgm:prSet/>
      <dgm:spPr>
        <a:solidFill>
          <a:schemeClr val="accent5">
            <a:lumMod val="40000"/>
            <a:lumOff val="60000"/>
          </a:schemeClr>
        </a:solidFill>
      </dgm:spPr>
      <dgm:t>
        <a:bodyPr/>
        <a:lstStyle/>
        <a:p>
          <a:endParaRPr lang="zh-TW" altLang="en-US" sz="1200">
            <a:latin typeface="微軟正黑體" panose="020B0604030504040204" pitchFamily="34" charset="-120"/>
            <a:ea typeface="微軟正黑體" panose="020B0604030504040204" pitchFamily="34" charset="-120"/>
          </a:endParaRPr>
        </a:p>
      </dgm:t>
    </dgm:pt>
    <dgm:pt modelId="{75312538-EDFA-4CF7-A8CD-B7B7CAAAF5D7}">
      <dgm:prSet phldrT="[文字]" custT="1"/>
      <dgm:spPr>
        <a:solidFill>
          <a:schemeClr val="accent4">
            <a:lumMod val="40000"/>
            <a:lumOff val="60000"/>
          </a:schemeClr>
        </a:solidFill>
      </dgm:spPr>
      <dgm:t>
        <a:bodyPr/>
        <a:lstStyle/>
        <a:p>
          <a:r>
            <a:rPr lang="zh-TW" altLang="en-US" sz="1400" b="1" dirty="0">
              <a:solidFill>
                <a:schemeClr val="tx1"/>
              </a:solidFill>
              <a:latin typeface="微軟正黑體" panose="020B0604030504040204" pitchFamily="34" charset="-120"/>
              <a:ea typeface="微軟正黑體" panose="020B0604030504040204" pitchFamily="34" charset="-120"/>
            </a:rPr>
            <a:t>建立</a:t>
          </a:r>
          <a:endParaRPr lang="en-US" altLang="zh-TW" sz="1400" b="1" dirty="0">
            <a:solidFill>
              <a:schemeClr val="tx1"/>
            </a:solidFill>
            <a:latin typeface="微軟正黑體" panose="020B0604030504040204" pitchFamily="34" charset="-120"/>
            <a:ea typeface="微軟正黑體" panose="020B0604030504040204" pitchFamily="34" charset="-120"/>
          </a:endParaRPr>
        </a:p>
        <a:p>
          <a:r>
            <a:rPr lang="zh-TW" altLang="en-US" sz="1400" b="1" dirty="0">
              <a:solidFill>
                <a:schemeClr val="tx1"/>
              </a:solidFill>
              <a:latin typeface="微軟正黑體" panose="020B0604030504040204" pitchFamily="34" charset="-120"/>
              <a:ea typeface="微軟正黑體" panose="020B0604030504040204" pitchFamily="34" charset="-120"/>
            </a:rPr>
            <a:t>權益</a:t>
          </a:r>
          <a:endParaRPr lang="en-US" altLang="zh-TW" sz="1400" b="1" dirty="0">
            <a:solidFill>
              <a:schemeClr val="tx1"/>
            </a:solidFill>
            <a:latin typeface="微軟正黑體" panose="020B0604030504040204" pitchFamily="34" charset="-120"/>
            <a:ea typeface="微軟正黑體" panose="020B0604030504040204" pitchFamily="34" charset="-120"/>
          </a:endParaRPr>
        </a:p>
        <a:p>
          <a:r>
            <a:rPr lang="zh-TW" altLang="en-US" sz="1400" b="1" dirty="0">
              <a:solidFill>
                <a:schemeClr val="tx1"/>
              </a:solidFill>
              <a:latin typeface="微軟正黑體" panose="020B0604030504040204" pitchFamily="34" charset="-120"/>
              <a:ea typeface="微軟正黑體" panose="020B0604030504040204" pitchFamily="34" charset="-120"/>
            </a:rPr>
            <a:t>憑證</a:t>
          </a:r>
        </a:p>
      </dgm:t>
    </dgm:pt>
    <dgm:pt modelId="{3BE706BE-257B-4F2E-8E25-07352F3F597C}" type="parTrans" cxnId="{3F9DBB78-F3AD-4D7E-BDCF-BDEDCE100920}">
      <dgm:prSet/>
      <dgm:spPr/>
      <dgm:t>
        <a:bodyPr/>
        <a:lstStyle/>
        <a:p>
          <a:endParaRPr lang="zh-TW" altLang="en-US" sz="1200">
            <a:latin typeface="微軟正黑體" panose="020B0604030504040204" pitchFamily="34" charset="-120"/>
            <a:ea typeface="微軟正黑體" panose="020B0604030504040204" pitchFamily="34" charset="-120"/>
          </a:endParaRPr>
        </a:p>
      </dgm:t>
    </dgm:pt>
    <dgm:pt modelId="{414245AB-42F0-45A3-80A1-78F371D685FB}" type="sibTrans" cxnId="{3F9DBB78-F3AD-4D7E-BDCF-BDEDCE100920}">
      <dgm:prSet/>
      <dgm:spPr>
        <a:solidFill>
          <a:schemeClr val="accent4">
            <a:lumMod val="40000"/>
            <a:lumOff val="60000"/>
          </a:schemeClr>
        </a:solidFill>
      </dgm:spPr>
      <dgm:t>
        <a:bodyPr/>
        <a:lstStyle/>
        <a:p>
          <a:endParaRPr lang="zh-TW" altLang="en-US" sz="1200">
            <a:latin typeface="微軟正黑體" panose="020B0604030504040204" pitchFamily="34" charset="-120"/>
            <a:ea typeface="微軟正黑體" panose="020B0604030504040204" pitchFamily="34" charset="-120"/>
          </a:endParaRPr>
        </a:p>
      </dgm:t>
    </dgm:pt>
    <dgm:pt modelId="{0E14305E-4937-4C21-BD9C-BF4C8C26852E}">
      <dgm:prSet phldrT="[文字]" custT="1"/>
      <dgm:spPr/>
      <dgm:t>
        <a:bodyPr/>
        <a:lstStyle/>
        <a:p>
          <a:r>
            <a:rPr lang="zh-TW" altLang="en-US" sz="1400" b="1" dirty="0">
              <a:latin typeface="微軟正黑體" panose="020B0604030504040204" pitchFamily="34" charset="-120"/>
              <a:ea typeface="微軟正黑體" panose="020B0604030504040204" pitchFamily="34" charset="-120"/>
            </a:rPr>
            <a:t>設計</a:t>
          </a:r>
          <a:endParaRPr lang="en-US" altLang="zh-TW" sz="1400" b="1" dirty="0">
            <a:latin typeface="微軟正黑體" panose="020B0604030504040204" pitchFamily="34" charset="-120"/>
            <a:ea typeface="微軟正黑體" panose="020B0604030504040204" pitchFamily="34" charset="-120"/>
          </a:endParaRPr>
        </a:p>
        <a:p>
          <a:r>
            <a:rPr lang="zh-TW" altLang="en-US" sz="1400" b="1" dirty="0">
              <a:latin typeface="微軟正黑體" panose="020B0604030504040204" pitchFamily="34" charset="-120"/>
              <a:ea typeface="微軟正黑體" panose="020B0604030504040204" pitchFamily="34" charset="-120"/>
            </a:rPr>
            <a:t>數字</a:t>
          </a:r>
          <a:endParaRPr lang="en-US" altLang="zh-TW" sz="1400" b="1" dirty="0">
            <a:latin typeface="微軟正黑體" panose="020B0604030504040204" pitchFamily="34" charset="-120"/>
            <a:ea typeface="微軟正黑體" panose="020B0604030504040204" pitchFamily="34" charset="-120"/>
          </a:endParaRPr>
        </a:p>
        <a:p>
          <a:r>
            <a:rPr lang="zh-TW" altLang="en-US" sz="1400" b="1" dirty="0">
              <a:latin typeface="微軟正黑體" panose="020B0604030504040204" pitchFamily="34" charset="-120"/>
              <a:ea typeface="微軟正黑體" panose="020B0604030504040204" pitchFamily="34" charset="-120"/>
            </a:rPr>
            <a:t>貨幣</a:t>
          </a:r>
        </a:p>
      </dgm:t>
    </dgm:pt>
    <dgm:pt modelId="{B159F0C7-6398-42B4-9CDE-A5192D6DB4D3}" type="parTrans" cxnId="{CF6374B5-B487-4B5C-B38D-4EA6BED42D9F}">
      <dgm:prSet/>
      <dgm:spPr/>
      <dgm:t>
        <a:bodyPr/>
        <a:lstStyle/>
        <a:p>
          <a:endParaRPr lang="zh-TW" altLang="en-US" sz="1200">
            <a:latin typeface="微軟正黑體" panose="020B0604030504040204" pitchFamily="34" charset="-120"/>
            <a:ea typeface="微軟正黑體" panose="020B0604030504040204" pitchFamily="34" charset="-120"/>
          </a:endParaRPr>
        </a:p>
      </dgm:t>
    </dgm:pt>
    <dgm:pt modelId="{CE6301BA-A00B-431C-85F4-C1AC19BCA30F}" type="sibTrans" cxnId="{CF6374B5-B487-4B5C-B38D-4EA6BED42D9F}">
      <dgm:prSet/>
      <dgm:spPr/>
      <dgm:t>
        <a:bodyPr/>
        <a:lstStyle/>
        <a:p>
          <a:endParaRPr lang="zh-TW" altLang="en-US" sz="1200">
            <a:latin typeface="微軟正黑體" panose="020B0604030504040204" pitchFamily="34" charset="-120"/>
            <a:ea typeface="微軟正黑體" panose="020B0604030504040204" pitchFamily="34" charset="-120"/>
          </a:endParaRPr>
        </a:p>
      </dgm:t>
    </dgm:pt>
    <dgm:pt modelId="{F383AAA7-79DA-41AF-A8C9-522FA986A0D9}" type="pres">
      <dgm:prSet presAssocID="{88D6B9B0-05C0-4879-9C97-095BA88EC3E7}" presName="composite" presStyleCnt="0">
        <dgm:presLayoutVars>
          <dgm:chMax val="3"/>
          <dgm:animLvl val="lvl"/>
          <dgm:resizeHandles val="exact"/>
        </dgm:presLayoutVars>
      </dgm:prSet>
      <dgm:spPr/>
    </dgm:pt>
    <dgm:pt modelId="{4DB97B26-7C1B-479D-A728-5C74D53044E6}" type="pres">
      <dgm:prSet presAssocID="{87DCBFD3-6B40-4859-BDC4-F8E25FF4A382}" presName="gear1" presStyleLbl="node1" presStyleIdx="0" presStyleCnt="3">
        <dgm:presLayoutVars>
          <dgm:chMax val="1"/>
          <dgm:bulletEnabled val="1"/>
        </dgm:presLayoutVars>
      </dgm:prSet>
      <dgm:spPr/>
    </dgm:pt>
    <dgm:pt modelId="{392CC88F-33A5-4250-BA7A-E5BBE64A20C6}" type="pres">
      <dgm:prSet presAssocID="{87DCBFD3-6B40-4859-BDC4-F8E25FF4A382}" presName="gear1srcNode" presStyleLbl="node1" presStyleIdx="0" presStyleCnt="3"/>
      <dgm:spPr/>
    </dgm:pt>
    <dgm:pt modelId="{1FDF3047-5FD4-4E8D-8921-E312A388BFB7}" type="pres">
      <dgm:prSet presAssocID="{87DCBFD3-6B40-4859-BDC4-F8E25FF4A382}" presName="gear1dstNode" presStyleLbl="node1" presStyleIdx="0" presStyleCnt="3"/>
      <dgm:spPr/>
    </dgm:pt>
    <dgm:pt modelId="{9CC3E80D-A831-45C1-A70D-5C0750EF216F}" type="pres">
      <dgm:prSet presAssocID="{75312538-EDFA-4CF7-A8CD-B7B7CAAAF5D7}" presName="gear2" presStyleLbl="node1" presStyleIdx="1" presStyleCnt="3" custLinFactNeighborX="-22871" custLinFactNeighborY="23690">
        <dgm:presLayoutVars>
          <dgm:chMax val="1"/>
          <dgm:bulletEnabled val="1"/>
        </dgm:presLayoutVars>
      </dgm:prSet>
      <dgm:spPr/>
    </dgm:pt>
    <dgm:pt modelId="{CF559F8E-C5E0-4574-8E6E-F3B389172F0D}" type="pres">
      <dgm:prSet presAssocID="{75312538-EDFA-4CF7-A8CD-B7B7CAAAF5D7}" presName="gear2srcNode" presStyleLbl="node1" presStyleIdx="1" presStyleCnt="3"/>
      <dgm:spPr/>
    </dgm:pt>
    <dgm:pt modelId="{881A0FB7-47A3-4FD9-8A81-56AA87EA496E}" type="pres">
      <dgm:prSet presAssocID="{75312538-EDFA-4CF7-A8CD-B7B7CAAAF5D7}" presName="gear2dstNode" presStyleLbl="node1" presStyleIdx="1" presStyleCnt="3"/>
      <dgm:spPr/>
    </dgm:pt>
    <dgm:pt modelId="{3E066770-D08D-4CEF-99F3-BCCC00B18584}" type="pres">
      <dgm:prSet presAssocID="{0E14305E-4937-4C21-BD9C-BF4C8C26852E}" presName="gear3" presStyleLbl="node1" presStyleIdx="2" presStyleCnt="3" custLinFactNeighborX="-42916" custLinFactNeighborY="-4548"/>
      <dgm:spPr/>
    </dgm:pt>
    <dgm:pt modelId="{83A0C54C-EECB-4B84-BEBC-BAA564ACF4B8}" type="pres">
      <dgm:prSet presAssocID="{0E14305E-4937-4C21-BD9C-BF4C8C26852E}" presName="gear3tx" presStyleLbl="node1" presStyleIdx="2" presStyleCnt="3">
        <dgm:presLayoutVars>
          <dgm:chMax val="1"/>
          <dgm:bulletEnabled val="1"/>
        </dgm:presLayoutVars>
      </dgm:prSet>
      <dgm:spPr/>
    </dgm:pt>
    <dgm:pt modelId="{46CD7775-5C24-4AE7-8255-422E4C726DCA}" type="pres">
      <dgm:prSet presAssocID="{0E14305E-4937-4C21-BD9C-BF4C8C26852E}" presName="gear3srcNode" presStyleLbl="node1" presStyleIdx="2" presStyleCnt="3"/>
      <dgm:spPr/>
    </dgm:pt>
    <dgm:pt modelId="{813D0197-CBAB-4B36-ABC6-0CDAAE9F4A48}" type="pres">
      <dgm:prSet presAssocID="{0E14305E-4937-4C21-BD9C-BF4C8C26852E}" presName="gear3dstNode" presStyleLbl="node1" presStyleIdx="2" presStyleCnt="3"/>
      <dgm:spPr/>
    </dgm:pt>
    <dgm:pt modelId="{256CBC4D-E0BA-4BCD-8D7C-9008A687D2C9}" type="pres">
      <dgm:prSet presAssocID="{59503DE0-F881-42C4-A33B-2CE9C4CB8586}" presName="connector1" presStyleLbl="sibTrans2D1" presStyleIdx="0" presStyleCnt="3"/>
      <dgm:spPr/>
    </dgm:pt>
    <dgm:pt modelId="{A452C55A-8D29-48D4-B0DE-51B9E0DD9E5F}" type="pres">
      <dgm:prSet presAssocID="{414245AB-42F0-45A3-80A1-78F371D685FB}" presName="connector2" presStyleLbl="sibTrans2D1" presStyleIdx="1" presStyleCnt="3" custAng="15741803" custLinFactNeighborX="-12772" custLinFactNeighborY="31666"/>
      <dgm:spPr/>
    </dgm:pt>
    <dgm:pt modelId="{B8158AC7-C6D9-42D3-871B-E7D73BBB5C9D}" type="pres">
      <dgm:prSet presAssocID="{CE6301BA-A00B-431C-85F4-C1AC19BCA30F}" presName="connector3" presStyleLbl="sibTrans2D1" presStyleIdx="2" presStyleCnt="3" custAng="11099109" custLinFactNeighborX="-33825" custLinFactNeighborY="6896"/>
      <dgm:spPr/>
    </dgm:pt>
  </dgm:ptLst>
  <dgm:cxnLst>
    <dgm:cxn modelId="{D25D401F-DBBB-4471-841C-3B844DD78FE8}" type="presOf" srcId="{88D6B9B0-05C0-4879-9C97-095BA88EC3E7}" destId="{F383AAA7-79DA-41AF-A8C9-522FA986A0D9}" srcOrd="0" destOrd="0" presId="urn:microsoft.com/office/officeart/2005/8/layout/gear1"/>
    <dgm:cxn modelId="{93570224-E27A-4924-B73C-F2122F973408}" type="presOf" srcId="{CE6301BA-A00B-431C-85F4-C1AC19BCA30F}" destId="{B8158AC7-C6D9-42D3-871B-E7D73BBB5C9D}" srcOrd="0" destOrd="0" presId="urn:microsoft.com/office/officeart/2005/8/layout/gear1"/>
    <dgm:cxn modelId="{DF000E61-A91D-4A7B-BFFE-A02366BB18FB}" type="presOf" srcId="{0E14305E-4937-4C21-BD9C-BF4C8C26852E}" destId="{813D0197-CBAB-4B36-ABC6-0CDAAE9F4A48}" srcOrd="3" destOrd="0" presId="urn:microsoft.com/office/officeart/2005/8/layout/gear1"/>
    <dgm:cxn modelId="{A9B1AE45-6C43-42FF-82CB-1D05CBAE482D}" type="presOf" srcId="{414245AB-42F0-45A3-80A1-78F371D685FB}" destId="{A452C55A-8D29-48D4-B0DE-51B9E0DD9E5F}" srcOrd="0" destOrd="0" presId="urn:microsoft.com/office/officeart/2005/8/layout/gear1"/>
    <dgm:cxn modelId="{84D3464E-53D7-469F-903C-531C9B2F67DF}" type="presOf" srcId="{0E14305E-4937-4C21-BD9C-BF4C8C26852E}" destId="{46CD7775-5C24-4AE7-8255-422E4C726DCA}" srcOrd="2" destOrd="0" presId="urn:microsoft.com/office/officeart/2005/8/layout/gear1"/>
    <dgm:cxn modelId="{3F9DBB78-F3AD-4D7E-BDCF-BDEDCE100920}" srcId="{88D6B9B0-05C0-4879-9C97-095BA88EC3E7}" destId="{75312538-EDFA-4CF7-A8CD-B7B7CAAAF5D7}" srcOrd="1" destOrd="0" parTransId="{3BE706BE-257B-4F2E-8E25-07352F3F597C}" sibTransId="{414245AB-42F0-45A3-80A1-78F371D685FB}"/>
    <dgm:cxn modelId="{ED4AC288-4DF3-4101-AF27-D72E4D5301E1}" type="presOf" srcId="{75312538-EDFA-4CF7-A8CD-B7B7CAAAF5D7}" destId="{CF559F8E-C5E0-4574-8E6E-F3B389172F0D}" srcOrd="1" destOrd="0" presId="urn:microsoft.com/office/officeart/2005/8/layout/gear1"/>
    <dgm:cxn modelId="{AA63068A-D514-4E09-A0B5-DEAA3D8D3CA0}" type="presOf" srcId="{0E14305E-4937-4C21-BD9C-BF4C8C26852E}" destId="{83A0C54C-EECB-4B84-BEBC-BAA564ACF4B8}" srcOrd="1" destOrd="0" presId="urn:microsoft.com/office/officeart/2005/8/layout/gear1"/>
    <dgm:cxn modelId="{B79DC28A-380C-4584-A0C7-67142C6D97C1}" type="presOf" srcId="{0E14305E-4937-4C21-BD9C-BF4C8C26852E}" destId="{3E066770-D08D-4CEF-99F3-BCCC00B18584}" srcOrd="0" destOrd="0" presId="urn:microsoft.com/office/officeart/2005/8/layout/gear1"/>
    <dgm:cxn modelId="{E33FC097-D8EC-4C10-A537-8135737C1378}" type="presOf" srcId="{87DCBFD3-6B40-4859-BDC4-F8E25FF4A382}" destId="{392CC88F-33A5-4250-BA7A-E5BBE64A20C6}" srcOrd="1" destOrd="0" presId="urn:microsoft.com/office/officeart/2005/8/layout/gear1"/>
    <dgm:cxn modelId="{CF6374B5-B487-4B5C-B38D-4EA6BED42D9F}" srcId="{88D6B9B0-05C0-4879-9C97-095BA88EC3E7}" destId="{0E14305E-4937-4C21-BD9C-BF4C8C26852E}" srcOrd="2" destOrd="0" parTransId="{B159F0C7-6398-42B4-9CDE-A5192D6DB4D3}" sibTransId="{CE6301BA-A00B-431C-85F4-C1AC19BCA30F}"/>
    <dgm:cxn modelId="{456161BD-145C-435C-A6D1-ED7A2BF7736E}" type="presOf" srcId="{87DCBFD3-6B40-4859-BDC4-F8E25FF4A382}" destId="{4DB97B26-7C1B-479D-A728-5C74D53044E6}" srcOrd="0" destOrd="0" presId="urn:microsoft.com/office/officeart/2005/8/layout/gear1"/>
    <dgm:cxn modelId="{005447CC-54B2-4BF4-8468-03F7EE12973C}" type="presOf" srcId="{75312538-EDFA-4CF7-A8CD-B7B7CAAAF5D7}" destId="{9CC3E80D-A831-45C1-A70D-5C0750EF216F}" srcOrd="0" destOrd="0" presId="urn:microsoft.com/office/officeart/2005/8/layout/gear1"/>
    <dgm:cxn modelId="{BD2A63D2-9676-43F0-9E35-CEA5A03B161E}" type="presOf" srcId="{59503DE0-F881-42C4-A33B-2CE9C4CB8586}" destId="{256CBC4D-E0BA-4BCD-8D7C-9008A687D2C9}" srcOrd="0" destOrd="0" presId="urn:microsoft.com/office/officeart/2005/8/layout/gear1"/>
    <dgm:cxn modelId="{5AD45ED9-FB2D-4F23-B2B2-4CCD4F6542AC}" type="presOf" srcId="{75312538-EDFA-4CF7-A8CD-B7B7CAAAF5D7}" destId="{881A0FB7-47A3-4FD9-8A81-56AA87EA496E}" srcOrd="2" destOrd="0" presId="urn:microsoft.com/office/officeart/2005/8/layout/gear1"/>
    <dgm:cxn modelId="{65B39DD9-BC3F-4F0F-8528-436B27386D2F}" type="presOf" srcId="{87DCBFD3-6B40-4859-BDC4-F8E25FF4A382}" destId="{1FDF3047-5FD4-4E8D-8921-E312A388BFB7}" srcOrd="2" destOrd="0" presId="urn:microsoft.com/office/officeart/2005/8/layout/gear1"/>
    <dgm:cxn modelId="{5E4DBEE4-6596-41F0-B05B-06FBDB8AA587}" srcId="{88D6B9B0-05C0-4879-9C97-095BA88EC3E7}" destId="{87DCBFD3-6B40-4859-BDC4-F8E25FF4A382}" srcOrd="0" destOrd="0" parTransId="{2FD925B5-04E1-48F9-B00C-33BEA99AD038}" sibTransId="{59503DE0-F881-42C4-A33B-2CE9C4CB8586}"/>
    <dgm:cxn modelId="{3848E37B-DCA0-4EB7-92A7-1112A8A840B2}" type="presParOf" srcId="{F383AAA7-79DA-41AF-A8C9-522FA986A0D9}" destId="{4DB97B26-7C1B-479D-A728-5C74D53044E6}" srcOrd="0" destOrd="0" presId="urn:microsoft.com/office/officeart/2005/8/layout/gear1"/>
    <dgm:cxn modelId="{4E6447C3-3F8B-4344-8355-71FE9C876940}" type="presParOf" srcId="{F383AAA7-79DA-41AF-A8C9-522FA986A0D9}" destId="{392CC88F-33A5-4250-BA7A-E5BBE64A20C6}" srcOrd="1" destOrd="0" presId="urn:microsoft.com/office/officeart/2005/8/layout/gear1"/>
    <dgm:cxn modelId="{114F352F-F16B-4B97-9837-12C80C5B3ABC}" type="presParOf" srcId="{F383AAA7-79DA-41AF-A8C9-522FA986A0D9}" destId="{1FDF3047-5FD4-4E8D-8921-E312A388BFB7}" srcOrd="2" destOrd="0" presId="urn:microsoft.com/office/officeart/2005/8/layout/gear1"/>
    <dgm:cxn modelId="{A5D1F15C-34FA-4E62-BAB0-E38044BEC21D}" type="presParOf" srcId="{F383AAA7-79DA-41AF-A8C9-522FA986A0D9}" destId="{9CC3E80D-A831-45C1-A70D-5C0750EF216F}" srcOrd="3" destOrd="0" presId="urn:microsoft.com/office/officeart/2005/8/layout/gear1"/>
    <dgm:cxn modelId="{3A2CFFB7-B17B-4793-A08E-41CCBD524D98}" type="presParOf" srcId="{F383AAA7-79DA-41AF-A8C9-522FA986A0D9}" destId="{CF559F8E-C5E0-4574-8E6E-F3B389172F0D}" srcOrd="4" destOrd="0" presId="urn:microsoft.com/office/officeart/2005/8/layout/gear1"/>
    <dgm:cxn modelId="{BFD8937C-B358-4DFA-AC99-9309CDB46D13}" type="presParOf" srcId="{F383AAA7-79DA-41AF-A8C9-522FA986A0D9}" destId="{881A0FB7-47A3-4FD9-8A81-56AA87EA496E}" srcOrd="5" destOrd="0" presId="urn:microsoft.com/office/officeart/2005/8/layout/gear1"/>
    <dgm:cxn modelId="{08B6C401-F2A3-4CAE-8771-FACF23D08E74}" type="presParOf" srcId="{F383AAA7-79DA-41AF-A8C9-522FA986A0D9}" destId="{3E066770-D08D-4CEF-99F3-BCCC00B18584}" srcOrd="6" destOrd="0" presId="urn:microsoft.com/office/officeart/2005/8/layout/gear1"/>
    <dgm:cxn modelId="{333C8319-EDDC-43DA-9E2F-8224218E21BB}" type="presParOf" srcId="{F383AAA7-79DA-41AF-A8C9-522FA986A0D9}" destId="{83A0C54C-EECB-4B84-BEBC-BAA564ACF4B8}" srcOrd="7" destOrd="0" presId="urn:microsoft.com/office/officeart/2005/8/layout/gear1"/>
    <dgm:cxn modelId="{43A087BA-3C34-4180-9BBD-A9C33930F7F1}" type="presParOf" srcId="{F383AAA7-79DA-41AF-A8C9-522FA986A0D9}" destId="{46CD7775-5C24-4AE7-8255-422E4C726DCA}" srcOrd="8" destOrd="0" presId="urn:microsoft.com/office/officeart/2005/8/layout/gear1"/>
    <dgm:cxn modelId="{1C1F824B-DA56-4343-8CEC-5BF1E7DAA71A}" type="presParOf" srcId="{F383AAA7-79DA-41AF-A8C9-522FA986A0D9}" destId="{813D0197-CBAB-4B36-ABC6-0CDAAE9F4A48}" srcOrd="9" destOrd="0" presId="urn:microsoft.com/office/officeart/2005/8/layout/gear1"/>
    <dgm:cxn modelId="{9EAE12C9-62B7-4155-A43F-3C31827CADCB}" type="presParOf" srcId="{F383AAA7-79DA-41AF-A8C9-522FA986A0D9}" destId="{256CBC4D-E0BA-4BCD-8D7C-9008A687D2C9}" srcOrd="10" destOrd="0" presId="urn:microsoft.com/office/officeart/2005/8/layout/gear1"/>
    <dgm:cxn modelId="{AAE1BD13-31CB-40FD-8102-28513B7390CE}" type="presParOf" srcId="{F383AAA7-79DA-41AF-A8C9-522FA986A0D9}" destId="{A452C55A-8D29-48D4-B0DE-51B9E0DD9E5F}" srcOrd="11" destOrd="0" presId="urn:microsoft.com/office/officeart/2005/8/layout/gear1"/>
    <dgm:cxn modelId="{D9944D57-3F9C-441F-8046-F33123767D06}" type="presParOf" srcId="{F383AAA7-79DA-41AF-A8C9-522FA986A0D9}" destId="{B8158AC7-C6D9-42D3-871B-E7D73BBB5C9D}" srcOrd="12" destOrd="0" presId="urn:microsoft.com/office/officeart/2005/8/layout/gear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BC648E-A3F5-4C61-9E9B-73244E087394}">
      <dsp:nvSpPr>
        <dsp:cNvPr id="0" name=""/>
        <dsp:cNvSpPr/>
      </dsp:nvSpPr>
      <dsp:spPr>
        <a:xfrm rot="10800000">
          <a:off x="356622" y="401"/>
          <a:ext cx="1579786" cy="329565"/>
        </a:xfrm>
        <a:prstGeom prst="homePlate">
          <a:avLst/>
        </a:prstGeom>
        <a:solidFill>
          <a:srgbClr val="F9F9F9"/>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145329" tIns="45720" rIns="85344" bIns="45720" numCol="1" spcCol="1270" anchor="ctr" anchorCtr="0">
          <a:noAutofit/>
        </a:bodyPr>
        <a:lstStyle/>
        <a:p>
          <a:pPr marL="0" lvl="0" indent="0" algn="ctr" defTabSz="533400">
            <a:lnSpc>
              <a:spcPct val="90000"/>
            </a:lnSpc>
            <a:spcBef>
              <a:spcPct val="0"/>
            </a:spcBef>
            <a:spcAft>
              <a:spcPct val="35000"/>
            </a:spcAft>
            <a:buNone/>
          </a:pPr>
          <a:r>
            <a:rPr lang="zh-TW" altLang="en-US" sz="1200" b="1" kern="1200" dirty="0">
              <a:latin typeface="微軟正黑體" panose="020B0604030504040204" pitchFamily="34" charset="-120"/>
              <a:ea typeface="微軟正黑體" panose="020B0604030504040204" pitchFamily="34" charset="-120"/>
            </a:rPr>
            <a:t>網路資源處理技術</a:t>
          </a:r>
        </a:p>
      </dsp:txBody>
      <dsp:txXfrm rot="10800000">
        <a:off x="439013" y="401"/>
        <a:ext cx="1497395" cy="329565"/>
      </dsp:txXfrm>
    </dsp:sp>
    <dsp:sp modelId="{AABAB41D-8391-4B57-9DE9-CFFE61373002}">
      <dsp:nvSpPr>
        <dsp:cNvPr id="0" name=""/>
        <dsp:cNvSpPr/>
      </dsp:nvSpPr>
      <dsp:spPr>
        <a:xfrm>
          <a:off x="1860409" y="13172"/>
          <a:ext cx="329565" cy="32956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70B935-42B7-4890-9A37-C33A81F5394C}">
      <dsp:nvSpPr>
        <dsp:cNvPr id="0" name=""/>
        <dsp:cNvSpPr/>
      </dsp:nvSpPr>
      <dsp:spPr>
        <a:xfrm rot="10800000">
          <a:off x="328562" y="428345"/>
          <a:ext cx="1617199" cy="329565"/>
        </a:xfrm>
        <a:prstGeom prst="homePlate">
          <a:avLst/>
        </a:prstGeom>
        <a:no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145329" tIns="45720" rIns="85344" bIns="45720" numCol="1" spcCol="1270" anchor="ctr" anchorCtr="0">
          <a:noAutofit/>
        </a:bodyPr>
        <a:lstStyle/>
        <a:p>
          <a:pPr marL="0" lvl="0" indent="0" algn="ctr" defTabSz="533400">
            <a:lnSpc>
              <a:spcPct val="90000"/>
            </a:lnSpc>
            <a:spcBef>
              <a:spcPct val="0"/>
            </a:spcBef>
            <a:spcAft>
              <a:spcPct val="35000"/>
            </a:spcAft>
            <a:buNone/>
          </a:pPr>
          <a:r>
            <a:rPr lang="zh-TW" altLang="en-US" sz="1200" b="1" kern="1200" dirty="0">
              <a:latin typeface="微軟正黑體" panose="020B0604030504040204" pitchFamily="34" charset="-120"/>
              <a:ea typeface="微軟正黑體" panose="020B0604030504040204" pitchFamily="34" charset="-120"/>
            </a:rPr>
            <a:t>節點操作分配技術</a:t>
          </a:r>
        </a:p>
      </dsp:txBody>
      <dsp:txXfrm rot="10800000">
        <a:off x="410953" y="428345"/>
        <a:ext cx="1534808" cy="329565"/>
      </dsp:txXfrm>
    </dsp:sp>
    <dsp:sp modelId="{A681754B-5276-4A53-BCDC-AFA001C97186}">
      <dsp:nvSpPr>
        <dsp:cNvPr id="0" name=""/>
        <dsp:cNvSpPr/>
      </dsp:nvSpPr>
      <dsp:spPr>
        <a:xfrm>
          <a:off x="1827056" y="428345"/>
          <a:ext cx="329565" cy="32956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C99941-280F-403B-89F6-FF0C5F04B60E}">
      <dsp:nvSpPr>
        <dsp:cNvPr id="0" name=""/>
        <dsp:cNvSpPr/>
      </dsp:nvSpPr>
      <dsp:spPr>
        <a:xfrm rot="10800000">
          <a:off x="325099" y="856288"/>
          <a:ext cx="1621816" cy="329565"/>
        </a:xfrm>
        <a:prstGeom prst="homePlate">
          <a:avLst/>
        </a:prstGeom>
        <a:no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145329" tIns="45720" rIns="85344" bIns="45720" numCol="1" spcCol="1270" anchor="ctr" anchorCtr="0">
          <a:noAutofit/>
        </a:bodyPr>
        <a:lstStyle/>
        <a:p>
          <a:pPr marL="0" lvl="0" indent="0" algn="ctr" defTabSz="533400">
            <a:lnSpc>
              <a:spcPct val="90000"/>
            </a:lnSpc>
            <a:spcBef>
              <a:spcPct val="0"/>
            </a:spcBef>
            <a:spcAft>
              <a:spcPct val="35000"/>
            </a:spcAft>
            <a:buNone/>
          </a:pPr>
          <a:r>
            <a:rPr lang="zh-TW" altLang="en-US" sz="1200" b="1" kern="1200" dirty="0">
              <a:latin typeface="微軟正黑體" panose="020B0604030504040204" pitchFamily="34" charset="-120"/>
              <a:ea typeface="微軟正黑體" panose="020B0604030504040204" pitchFamily="34" charset="-120"/>
            </a:rPr>
            <a:t>資訊儲存作業技術</a:t>
          </a:r>
        </a:p>
      </dsp:txBody>
      <dsp:txXfrm rot="10800000">
        <a:off x="407490" y="856288"/>
        <a:ext cx="1539425" cy="329565"/>
      </dsp:txXfrm>
    </dsp:sp>
    <dsp:sp modelId="{D90C2DBF-FF93-46DC-BF2D-7E3B24AAF040}">
      <dsp:nvSpPr>
        <dsp:cNvPr id="0" name=""/>
        <dsp:cNvSpPr/>
      </dsp:nvSpPr>
      <dsp:spPr>
        <a:xfrm>
          <a:off x="1860409" y="820385"/>
          <a:ext cx="329565" cy="32956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BC648E-A3F5-4C61-9E9B-73244E087394}">
      <dsp:nvSpPr>
        <dsp:cNvPr id="0" name=""/>
        <dsp:cNvSpPr/>
      </dsp:nvSpPr>
      <dsp:spPr>
        <a:xfrm rot="10800000">
          <a:off x="573416" y="630376"/>
          <a:ext cx="1456333" cy="242159"/>
        </a:xfrm>
        <a:prstGeom prst="homePlate">
          <a:avLst/>
        </a:prstGeom>
        <a:no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106785" tIns="45720" rIns="85344" bIns="45720" numCol="1" spcCol="1270" anchor="ctr" anchorCtr="0">
          <a:noAutofit/>
        </a:bodyPr>
        <a:lstStyle/>
        <a:p>
          <a:pPr marL="0" lvl="0" indent="0" algn="ctr" defTabSz="533400">
            <a:lnSpc>
              <a:spcPct val="90000"/>
            </a:lnSpc>
            <a:spcBef>
              <a:spcPct val="0"/>
            </a:spcBef>
            <a:spcAft>
              <a:spcPct val="35000"/>
            </a:spcAft>
            <a:buNone/>
          </a:pPr>
          <a:r>
            <a:rPr lang="zh-TW" altLang="en-US" sz="1200" b="1" kern="1200" dirty="0">
              <a:solidFill>
                <a:schemeClr val="tx1">
                  <a:lumMod val="85000"/>
                  <a:lumOff val="15000"/>
                </a:schemeClr>
              </a:solidFill>
              <a:latin typeface="微軟正黑體" panose="020B0604030504040204" pitchFamily="34" charset="-120"/>
              <a:ea typeface="微軟正黑體" panose="020B0604030504040204" pitchFamily="34" charset="-120"/>
            </a:rPr>
            <a:t>隱私安全管理</a:t>
          </a:r>
        </a:p>
      </dsp:txBody>
      <dsp:txXfrm rot="10800000">
        <a:off x="633956" y="630376"/>
        <a:ext cx="1395793" cy="242159"/>
      </dsp:txXfrm>
    </dsp:sp>
    <dsp:sp modelId="{AABAB41D-8391-4B57-9DE9-CFFE61373002}">
      <dsp:nvSpPr>
        <dsp:cNvPr id="0" name=""/>
        <dsp:cNvSpPr/>
      </dsp:nvSpPr>
      <dsp:spPr>
        <a:xfrm>
          <a:off x="306281" y="380"/>
          <a:ext cx="242159" cy="24215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625F32E-34CF-4A6E-88F5-3D3D3F1F6FA8}">
      <dsp:nvSpPr>
        <dsp:cNvPr id="0" name=""/>
        <dsp:cNvSpPr/>
      </dsp:nvSpPr>
      <dsp:spPr>
        <a:xfrm rot="10800000">
          <a:off x="540473" y="309391"/>
          <a:ext cx="1456333" cy="242159"/>
        </a:xfrm>
        <a:prstGeom prst="homePlate">
          <a:avLst/>
        </a:prstGeom>
        <a:solidFill>
          <a:srgbClr val="F9F9F9"/>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106785" tIns="41910" rIns="78232" bIns="4191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rot="10800000">
        <a:off x="601013" y="309391"/>
        <a:ext cx="1395793" cy="242159"/>
      </dsp:txXfrm>
    </dsp:sp>
    <dsp:sp modelId="{19A0A5E7-BA08-49DE-ABAA-28ED103926EA}">
      <dsp:nvSpPr>
        <dsp:cNvPr id="0" name=""/>
        <dsp:cNvSpPr/>
      </dsp:nvSpPr>
      <dsp:spPr>
        <a:xfrm>
          <a:off x="306281" y="314825"/>
          <a:ext cx="242159" cy="24215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C99941-280F-403B-89F6-FF0C5F04B60E}">
      <dsp:nvSpPr>
        <dsp:cNvPr id="0" name=""/>
        <dsp:cNvSpPr/>
      </dsp:nvSpPr>
      <dsp:spPr>
        <a:xfrm rot="10800000">
          <a:off x="558226" y="10443"/>
          <a:ext cx="1456333" cy="242159"/>
        </a:xfrm>
        <a:prstGeom prst="homePlate">
          <a:avLst/>
        </a:prstGeom>
        <a:solidFill>
          <a:srgbClr val="F9F9F9"/>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106785" tIns="45720" rIns="85344" bIns="45720" numCol="1" spcCol="1270" anchor="ctr" anchorCtr="0">
          <a:noAutofit/>
        </a:bodyPr>
        <a:lstStyle/>
        <a:p>
          <a:pPr marL="0" lvl="0" indent="0" algn="ctr" defTabSz="533400">
            <a:lnSpc>
              <a:spcPct val="90000"/>
            </a:lnSpc>
            <a:spcBef>
              <a:spcPct val="0"/>
            </a:spcBef>
            <a:spcAft>
              <a:spcPct val="35000"/>
            </a:spcAft>
            <a:buNone/>
          </a:pPr>
          <a:r>
            <a:rPr lang="zh-TW" altLang="en-US" sz="1200" b="1" kern="1200" dirty="0">
              <a:latin typeface="微軟正黑體" panose="020B0604030504040204" pitchFamily="34" charset="-120"/>
              <a:ea typeface="微軟正黑體" panose="020B0604030504040204" pitchFamily="34" charset="-120"/>
            </a:rPr>
            <a:t>平台規劃管理</a:t>
          </a:r>
        </a:p>
      </dsp:txBody>
      <dsp:txXfrm rot="10800000">
        <a:off x="618766" y="10443"/>
        <a:ext cx="1395793" cy="242159"/>
      </dsp:txXfrm>
    </dsp:sp>
    <dsp:sp modelId="{D90C2DBF-FF93-46DC-BF2D-7E3B24AAF040}">
      <dsp:nvSpPr>
        <dsp:cNvPr id="0" name=""/>
        <dsp:cNvSpPr/>
      </dsp:nvSpPr>
      <dsp:spPr>
        <a:xfrm>
          <a:off x="306281" y="629271"/>
          <a:ext cx="242159" cy="24215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BBBEB45-33AB-4257-AD20-941A9179E3DC}">
      <dsp:nvSpPr>
        <dsp:cNvPr id="0" name=""/>
        <dsp:cNvSpPr/>
      </dsp:nvSpPr>
      <dsp:spPr>
        <a:xfrm rot="10800000">
          <a:off x="558226" y="944096"/>
          <a:ext cx="1456333" cy="242159"/>
        </a:xfrm>
        <a:prstGeom prst="homePlate">
          <a:avLst/>
        </a:prstGeom>
        <a:no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106785" tIns="45720" rIns="85344" bIns="45720" numCol="1" spcCol="1270" anchor="ctr" anchorCtr="0">
          <a:noAutofit/>
        </a:bodyPr>
        <a:lstStyle/>
        <a:p>
          <a:pPr marL="0" lvl="0" indent="0" algn="ctr" defTabSz="533400">
            <a:lnSpc>
              <a:spcPct val="90000"/>
            </a:lnSpc>
            <a:spcBef>
              <a:spcPct val="0"/>
            </a:spcBef>
            <a:spcAft>
              <a:spcPct val="35000"/>
            </a:spcAft>
            <a:buNone/>
          </a:pPr>
          <a:r>
            <a:rPr lang="zh-TW" altLang="en-US" sz="1200" b="1" kern="1200" dirty="0">
              <a:solidFill>
                <a:schemeClr val="tx1">
                  <a:lumMod val="85000"/>
                  <a:lumOff val="15000"/>
                </a:schemeClr>
              </a:solidFill>
              <a:latin typeface="微軟正黑體" panose="020B0604030504040204" pitchFamily="34" charset="-120"/>
              <a:ea typeface="微軟正黑體" panose="020B0604030504040204" pitchFamily="34" charset="-120"/>
            </a:rPr>
            <a:t>創新設計管理</a:t>
          </a:r>
        </a:p>
      </dsp:txBody>
      <dsp:txXfrm rot="10800000">
        <a:off x="618766" y="944096"/>
        <a:ext cx="1395793" cy="242159"/>
      </dsp:txXfrm>
    </dsp:sp>
    <dsp:sp modelId="{755CE961-0469-47E4-B0A4-C29581F032F6}">
      <dsp:nvSpPr>
        <dsp:cNvPr id="0" name=""/>
        <dsp:cNvSpPr/>
      </dsp:nvSpPr>
      <dsp:spPr>
        <a:xfrm>
          <a:off x="306281" y="943716"/>
          <a:ext cx="242159" cy="24215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BB28C3-5D48-4A5F-9AF5-998C6A6A66FB}">
      <dsp:nvSpPr>
        <dsp:cNvPr id="0" name=""/>
        <dsp:cNvSpPr/>
      </dsp:nvSpPr>
      <dsp:spPr>
        <a:xfrm>
          <a:off x="1732833" y="1024606"/>
          <a:ext cx="3067224" cy="2177723"/>
        </a:xfrm>
        <a:prstGeom prst="leftRightUpArrow">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84C634-0F6F-449E-8906-39B9FD53642E}">
      <dsp:nvSpPr>
        <dsp:cNvPr id="0" name=""/>
        <dsp:cNvSpPr/>
      </dsp:nvSpPr>
      <dsp:spPr>
        <a:xfrm>
          <a:off x="2599341" y="93970"/>
          <a:ext cx="1404853" cy="756018"/>
        </a:xfrm>
        <a:prstGeom prst="flowChartAlternateProcess">
          <a:avLst/>
        </a:prstGeom>
        <a:solidFill>
          <a:schemeClr val="lt1"/>
        </a:solidFill>
        <a:ln w="1905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ts val="0"/>
            </a:spcAft>
            <a:buNone/>
          </a:pPr>
          <a:r>
            <a:rPr lang="zh-TW" altLang="en-US" sz="1800" b="1" kern="1200" dirty="0">
              <a:latin typeface="微軟正黑體" panose="020B0604030504040204" pitchFamily="34" charset="-120"/>
              <a:ea typeface="微軟正黑體" panose="020B0604030504040204" pitchFamily="34" charset="-120"/>
            </a:rPr>
            <a:t>網路資源</a:t>
          </a:r>
          <a:endParaRPr lang="en-US" altLang="zh-TW" sz="1800" b="1" kern="1200" dirty="0">
            <a:latin typeface="微軟正黑體" panose="020B0604030504040204" pitchFamily="34" charset="-120"/>
            <a:ea typeface="微軟正黑體" panose="020B0604030504040204" pitchFamily="34" charset="-120"/>
          </a:endParaRPr>
        </a:p>
        <a:p>
          <a:pPr marL="0" lvl="0" indent="0" algn="ctr" defTabSz="800100">
            <a:lnSpc>
              <a:spcPct val="100000"/>
            </a:lnSpc>
            <a:spcBef>
              <a:spcPct val="0"/>
            </a:spcBef>
            <a:spcAft>
              <a:spcPts val="0"/>
            </a:spcAft>
            <a:buNone/>
          </a:pPr>
          <a:r>
            <a:rPr lang="zh-TW" altLang="en-US" sz="1800" b="1" kern="1200" dirty="0">
              <a:latin typeface="微軟正黑體" panose="020B0604030504040204" pitchFamily="34" charset="-120"/>
              <a:ea typeface="微軟正黑體" panose="020B0604030504040204" pitchFamily="34" charset="-120"/>
            </a:rPr>
            <a:t>處理技術</a:t>
          </a:r>
        </a:p>
      </dsp:txBody>
      <dsp:txXfrm>
        <a:off x="2636246" y="130875"/>
        <a:ext cx="1331043" cy="682208"/>
      </dsp:txXfrm>
    </dsp:sp>
    <dsp:sp modelId="{60DCFEE0-3B0D-4D69-8BF9-64D987CC87D5}">
      <dsp:nvSpPr>
        <dsp:cNvPr id="0" name=""/>
        <dsp:cNvSpPr/>
      </dsp:nvSpPr>
      <dsp:spPr>
        <a:xfrm>
          <a:off x="281013" y="2190520"/>
          <a:ext cx="1404853" cy="807360"/>
        </a:xfrm>
        <a:prstGeom prst="flowChartAlternateProcess">
          <a:avLst/>
        </a:prstGeom>
        <a:solidFill>
          <a:schemeClr val="lt1">
            <a:alpha val="90000"/>
            <a:hueOff val="0"/>
            <a:satOff val="0"/>
            <a:lumOff val="0"/>
            <a:alphaOff val="0"/>
          </a:schemeClr>
        </a:solidFill>
        <a:ln w="19050" cap="flat" cmpd="sng" algn="ctr">
          <a:solidFill>
            <a:srgbClr val="32AC9D"/>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ts val="3360"/>
            </a:lnSpc>
            <a:spcBef>
              <a:spcPct val="0"/>
            </a:spcBef>
            <a:spcAft>
              <a:spcPts val="0"/>
            </a:spcAft>
            <a:buNone/>
          </a:pPr>
          <a:r>
            <a:rPr lang="zh-TW" altLang="en-US" sz="1800" b="1" kern="1200" dirty="0">
              <a:latin typeface="微軟正黑體" panose="020B0604030504040204" pitchFamily="34" charset="-120"/>
              <a:ea typeface="微軟正黑體" panose="020B0604030504040204" pitchFamily="34" charset="-120"/>
            </a:rPr>
            <a:t>節點操作</a:t>
          </a:r>
          <a:endParaRPr lang="en-US" altLang="zh-TW" sz="1800" b="1" kern="1200" dirty="0">
            <a:latin typeface="微軟正黑體" panose="020B0604030504040204" pitchFamily="34" charset="-120"/>
            <a:ea typeface="微軟正黑體" panose="020B0604030504040204" pitchFamily="34" charset="-120"/>
          </a:endParaRPr>
        </a:p>
        <a:p>
          <a:pPr marL="0" lvl="0" indent="0" algn="ctr" defTabSz="800100">
            <a:lnSpc>
              <a:spcPts val="3360"/>
            </a:lnSpc>
            <a:spcBef>
              <a:spcPct val="0"/>
            </a:spcBef>
            <a:spcAft>
              <a:spcPts val="0"/>
            </a:spcAft>
            <a:buNone/>
          </a:pPr>
          <a:r>
            <a:rPr lang="zh-TW" altLang="en-US" sz="1800" b="1" kern="1200" dirty="0">
              <a:latin typeface="微軟正黑體" panose="020B0604030504040204" pitchFamily="34" charset="-120"/>
              <a:ea typeface="微軟正黑體" panose="020B0604030504040204" pitchFamily="34" charset="-120"/>
            </a:rPr>
            <a:t>分配技術</a:t>
          </a:r>
        </a:p>
      </dsp:txBody>
      <dsp:txXfrm>
        <a:off x="320424" y="2229931"/>
        <a:ext cx="1326031" cy="728538"/>
      </dsp:txXfrm>
    </dsp:sp>
    <dsp:sp modelId="{7E5B0EE0-509A-46D5-AE14-217A3473DD88}">
      <dsp:nvSpPr>
        <dsp:cNvPr id="0" name=""/>
        <dsp:cNvSpPr/>
      </dsp:nvSpPr>
      <dsp:spPr>
        <a:xfrm>
          <a:off x="4841771" y="2136888"/>
          <a:ext cx="1275366" cy="921638"/>
        </a:xfrm>
        <a:prstGeom prst="flowChartAlternateProcess">
          <a:avLst/>
        </a:prstGeom>
        <a:solidFill>
          <a:schemeClr val="lt1"/>
        </a:solidFill>
        <a:ln w="1905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ts val="3360"/>
            </a:lnSpc>
            <a:spcBef>
              <a:spcPct val="0"/>
            </a:spcBef>
            <a:spcAft>
              <a:spcPts val="0"/>
            </a:spcAft>
            <a:buNone/>
          </a:pPr>
          <a:r>
            <a:rPr lang="zh-TW" altLang="en-US" sz="1800" b="1" kern="1200">
              <a:latin typeface="微軟正黑體" panose="020B0604030504040204" pitchFamily="34" charset="-120"/>
              <a:ea typeface="微軟正黑體" panose="020B0604030504040204" pitchFamily="34" charset="-120"/>
            </a:rPr>
            <a:t>資訊儲存</a:t>
          </a:r>
          <a:endParaRPr lang="en-US" altLang="zh-TW" sz="1800" b="1" kern="1200">
            <a:latin typeface="微軟正黑體" panose="020B0604030504040204" pitchFamily="34" charset="-120"/>
            <a:ea typeface="微軟正黑體" panose="020B0604030504040204" pitchFamily="34" charset="-120"/>
          </a:endParaRPr>
        </a:p>
        <a:p>
          <a:pPr marL="0" lvl="0" indent="0" algn="ctr" defTabSz="800100">
            <a:lnSpc>
              <a:spcPts val="3360"/>
            </a:lnSpc>
            <a:spcBef>
              <a:spcPct val="0"/>
            </a:spcBef>
            <a:spcAft>
              <a:spcPts val="0"/>
            </a:spcAft>
            <a:buNone/>
          </a:pPr>
          <a:r>
            <a:rPr lang="zh-TW" altLang="en-US" sz="1800" b="1" kern="1200">
              <a:latin typeface="微軟正黑體" panose="020B0604030504040204" pitchFamily="34" charset="-120"/>
              <a:ea typeface="微軟正黑體" panose="020B0604030504040204" pitchFamily="34" charset="-120"/>
            </a:rPr>
            <a:t>作業技術</a:t>
          </a:r>
          <a:endParaRPr lang="zh-TW" altLang="en-US" sz="1800" b="1" kern="1200" dirty="0">
            <a:latin typeface="微軟正黑體" panose="020B0604030504040204" pitchFamily="34" charset="-120"/>
            <a:ea typeface="微軟正黑體" panose="020B0604030504040204" pitchFamily="34" charset="-120"/>
          </a:endParaRPr>
        </a:p>
      </dsp:txBody>
      <dsp:txXfrm>
        <a:off x="4886761" y="2181878"/>
        <a:ext cx="1185386" cy="8316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70D7C2-560E-402D-8D6F-A7A502C07B73}">
      <dsp:nvSpPr>
        <dsp:cNvPr id="0" name=""/>
        <dsp:cNvSpPr/>
      </dsp:nvSpPr>
      <dsp:spPr>
        <a:xfrm>
          <a:off x="179" y="759101"/>
          <a:ext cx="1724650" cy="1093539"/>
        </a:xfrm>
        <a:prstGeom prst="roundRect">
          <a:avLst>
            <a:gd name="adj" fmla="val 10000"/>
          </a:avLst>
        </a:prstGeom>
        <a:solidFill>
          <a:sysClr val="window" lastClr="FFFFFF">
            <a:alpha val="90000"/>
            <a:hueOff val="0"/>
            <a:satOff val="0"/>
            <a:lumOff val="0"/>
            <a:alphaOff val="0"/>
          </a:sysClr>
        </a:solidFill>
        <a:ln w="19050" cap="flat" cmpd="sng" algn="ctr">
          <a:solidFill>
            <a:srgbClr val="ED7D31">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None/>
          </a:pPr>
          <a:r>
            <a:rPr lang="zh-TW" altLang="en-US" sz="1400" b="1" kern="1200"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rPr>
            <a:t>匯款人向匯款銀行下達匯款指示</a:t>
          </a:r>
        </a:p>
      </dsp:txBody>
      <dsp:txXfrm>
        <a:off x="25344" y="784266"/>
        <a:ext cx="1674320" cy="808879"/>
      </dsp:txXfrm>
    </dsp:sp>
    <dsp:sp modelId="{2587CEBC-A21A-4179-AB8E-3C6DECFCA2EC}">
      <dsp:nvSpPr>
        <dsp:cNvPr id="0" name=""/>
        <dsp:cNvSpPr/>
      </dsp:nvSpPr>
      <dsp:spPr>
        <a:xfrm>
          <a:off x="1306782" y="-705942"/>
          <a:ext cx="3589075" cy="3589075"/>
        </a:xfrm>
        <a:prstGeom prst="leftCircularArrow">
          <a:avLst>
            <a:gd name="adj1" fmla="val 3928"/>
            <a:gd name="adj2" fmla="val 492346"/>
            <a:gd name="adj3" fmla="val 2267856"/>
            <a:gd name="adj4" fmla="val 9024489"/>
            <a:gd name="adj5" fmla="val 4582"/>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sp>
    <dsp:sp modelId="{F2C95784-0BD4-4C75-9569-757E07A17871}">
      <dsp:nvSpPr>
        <dsp:cNvPr id="0" name=""/>
        <dsp:cNvSpPr/>
      </dsp:nvSpPr>
      <dsp:spPr>
        <a:xfrm>
          <a:off x="494216" y="1618310"/>
          <a:ext cx="1178523" cy="468659"/>
        </a:xfrm>
        <a:prstGeom prst="roundRect">
          <a:avLst>
            <a:gd name="adj" fmla="val 10000"/>
          </a:avLst>
        </a:prstGeom>
        <a:solidFill>
          <a:sysClr val="window" lastClr="FFFF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endParaRPr lang="zh-TW" altLang="en-US" sz="2600" kern="1200" dirty="0">
            <a:solidFill>
              <a:sysClr val="window" lastClr="FFFFFF"/>
            </a:solidFill>
            <a:latin typeface="Calibri" panose="020F0502020204030204"/>
            <a:ea typeface="新細明體" panose="02020500000000000000" pitchFamily="18" charset="-120"/>
            <a:cs typeface="+mn-cs"/>
          </a:endParaRPr>
        </a:p>
      </dsp:txBody>
      <dsp:txXfrm>
        <a:off x="507943" y="1632037"/>
        <a:ext cx="1151069" cy="441205"/>
      </dsp:txXfrm>
    </dsp:sp>
    <dsp:sp modelId="{8D032E8B-421E-4373-8984-874791F76802}">
      <dsp:nvSpPr>
        <dsp:cNvPr id="0" name=""/>
        <dsp:cNvSpPr/>
      </dsp:nvSpPr>
      <dsp:spPr>
        <a:xfrm>
          <a:off x="2120606" y="759101"/>
          <a:ext cx="4428963" cy="1093539"/>
        </a:xfrm>
        <a:prstGeom prst="roundRect">
          <a:avLst>
            <a:gd name="adj" fmla="val 10000"/>
          </a:avLst>
        </a:prstGeom>
        <a:solidFill>
          <a:sysClr val="window" lastClr="FFFFFF">
            <a:alpha val="90000"/>
            <a:hueOff val="0"/>
            <a:satOff val="0"/>
            <a:lumOff val="0"/>
            <a:alphaOff val="0"/>
          </a:sysClr>
        </a:solidFill>
        <a:ln w="19050" cap="flat" cmpd="sng" algn="ctr">
          <a:solidFill>
            <a:srgbClr val="ED7D31">
              <a:hueOff val="-727682"/>
              <a:satOff val="-41964"/>
              <a:lumOff val="4314"/>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None/>
          </a:pPr>
          <a:r>
            <a:rPr lang="zh-TW" altLang="en-US" sz="1400" b="1" kern="1200"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rPr>
            <a:t>匯款銀行認證匯款人身分及接收匯款資訊、將之紀錄於區塊鏈上，並扣減匯款人存款帳戶餘額</a:t>
          </a:r>
        </a:p>
      </dsp:txBody>
      <dsp:txXfrm>
        <a:off x="2145771" y="1018596"/>
        <a:ext cx="4378633" cy="808879"/>
      </dsp:txXfrm>
    </dsp:sp>
    <dsp:sp modelId="{97029388-6E48-4488-9D8F-B8422E8797EC}">
      <dsp:nvSpPr>
        <dsp:cNvPr id="0" name=""/>
        <dsp:cNvSpPr/>
      </dsp:nvSpPr>
      <dsp:spPr>
        <a:xfrm rot="21368830">
          <a:off x="4899627" y="-365732"/>
          <a:ext cx="4099612" cy="4099612"/>
        </a:xfrm>
        <a:prstGeom prst="circularArrow">
          <a:avLst>
            <a:gd name="adj1" fmla="val 3548"/>
            <a:gd name="adj2" fmla="val 440787"/>
            <a:gd name="adj3" fmla="val 19383703"/>
            <a:gd name="adj4" fmla="val 12575511"/>
            <a:gd name="adj5" fmla="val 4140"/>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sp>
    <dsp:sp modelId="{0167A9D5-C4DF-4AEC-8DA0-E4F182A571E7}">
      <dsp:nvSpPr>
        <dsp:cNvPr id="0" name=""/>
        <dsp:cNvSpPr/>
      </dsp:nvSpPr>
      <dsp:spPr>
        <a:xfrm>
          <a:off x="3966800" y="524771"/>
          <a:ext cx="1178523" cy="468659"/>
        </a:xfrm>
        <a:prstGeom prst="roundRect">
          <a:avLst>
            <a:gd name="adj" fmla="val 10000"/>
          </a:avLst>
        </a:prstGeom>
        <a:solidFill>
          <a:sysClr val="window" lastClr="FFFF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endParaRPr lang="zh-TW" altLang="en-US" sz="2600" kern="1200" dirty="0">
            <a:solidFill>
              <a:sysClr val="window" lastClr="FFFFFF"/>
            </a:solidFill>
            <a:latin typeface="Calibri" panose="020F0502020204030204"/>
            <a:ea typeface="新細明體" panose="02020500000000000000" pitchFamily="18" charset="-120"/>
            <a:cs typeface="+mn-cs"/>
          </a:endParaRPr>
        </a:p>
      </dsp:txBody>
      <dsp:txXfrm>
        <a:off x="3980527" y="538498"/>
        <a:ext cx="1151069" cy="441205"/>
      </dsp:txXfrm>
    </dsp:sp>
    <dsp:sp modelId="{0BE315EF-8BCD-4555-864E-6407778FF56C}">
      <dsp:nvSpPr>
        <dsp:cNvPr id="0" name=""/>
        <dsp:cNvSpPr/>
      </dsp:nvSpPr>
      <dsp:spPr>
        <a:xfrm>
          <a:off x="6945347" y="759101"/>
          <a:ext cx="2317910" cy="1093539"/>
        </a:xfrm>
        <a:prstGeom prst="roundRect">
          <a:avLst>
            <a:gd name="adj" fmla="val 10000"/>
          </a:avLst>
        </a:prstGeom>
        <a:solidFill>
          <a:sysClr val="window" lastClr="FFFFFF">
            <a:alpha val="90000"/>
            <a:hueOff val="0"/>
            <a:satOff val="0"/>
            <a:lumOff val="0"/>
            <a:alphaOff val="0"/>
          </a:sysClr>
        </a:solidFill>
        <a:ln w="19050" cap="flat" cmpd="sng" algn="ctr">
          <a:solidFill>
            <a:srgbClr val="ED7D31">
              <a:hueOff val="-1455363"/>
              <a:satOff val="-83928"/>
              <a:lumOff val="8628"/>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None/>
          </a:pPr>
          <a:r>
            <a:rPr lang="zh-TW" altLang="en-US" sz="1400" b="1" kern="1200"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rPr>
            <a:t>匯款銀行在各國銀行共同組成的私有鏈中發起匯款交易</a:t>
          </a:r>
        </a:p>
      </dsp:txBody>
      <dsp:txXfrm>
        <a:off x="6970512" y="784266"/>
        <a:ext cx="2267580" cy="808879"/>
      </dsp:txXfrm>
    </dsp:sp>
    <dsp:sp modelId="{FFA6DF61-522D-4F7E-BAB5-EDB8059AA60D}">
      <dsp:nvSpPr>
        <dsp:cNvPr id="0" name=""/>
        <dsp:cNvSpPr/>
      </dsp:nvSpPr>
      <dsp:spPr>
        <a:xfrm>
          <a:off x="7736013" y="1618310"/>
          <a:ext cx="1178523" cy="468659"/>
        </a:xfrm>
        <a:prstGeom prst="roundRect">
          <a:avLst>
            <a:gd name="adj" fmla="val 10000"/>
          </a:avLst>
        </a:prstGeom>
        <a:solidFill>
          <a:sysClr val="window" lastClr="FFFF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endParaRPr lang="zh-TW" altLang="en-US" sz="2600" kern="1200" dirty="0">
            <a:solidFill>
              <a:sysClr val="window" lastClr="FFFFFF"/>
            </a:solidFill>
            <a:latin typeface="Calibri" panose="020F0502020204030204"/>
            <a:ea typeface="新細明體" panose="02020500000000000000" pitchFamily="18" charset="-120"/>
            <a:cs typeface="+mn-cs"/>
          </a:endParaRPr>
        </a:p>
      </dsp:txBody>
      <dsp:txXfrm>
        <a:off x="7749740" y="1632037"/>
        <a:ext cx="1151069" cy="4412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70D7C2-560E-402D-8D6F-A7A502C07B73}">
      <dsp:nvSpPr>
        <dsp:cNvPr id="0" name=""/>
        <dsp:cNvSpPr/>
      </dsp:nvSpPr>
      <dsp:spPr>
        <a:xfrm>
          <a:off x="25566" y="805077"/>
          <a:ext cx="3140522" cy="885854"/>
        </a:xfrm>
        <a:prstGeom prst="roundRect">
          <a:avLst>
            <a:gd name="adj" fmla="val 10000"/>
          </a:avLst>
        </a:prstGeom>
        <a:solidFill>
          <a:sysClr val="window" lastClr="FFFFFF">
            <a:alpha val="90000"/>
            <a:hueOff val="0"/>
            <a:satOff val="0"/>
            <a:lumOff val="0"/>
            <a:alphaOff val="0"/>
          </a:sysClr>
        </a:solidFill>
        <a:ln w="19050" cap="flat" cmpd="sng" algn="ctr">
          <a:solidFill>
            <a:srgbClr val="FFC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None/>
          </a:pPr>
          <a:r>
            <a:rPr lang="zh-TW" altLang="en-US" sz="1400" b="1" kern="1200"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rPr>
            <a:t>內嵌的智慧合約自動將區塊鏈上記載的匯款資訊與資料庫比對檢查</a:t>
          </a:r>
        </a:p>
      </dsp:txBody>
      <dsp:txXfrm>
        <a:off x="45952" y="825463"/>
        <a:ext cx="3099750" cy="655256"/>
      </dsp:txXfrm>
    </dsp:sp>
    <dsp:sp modelId="{2587CEBC-A21A-4179-AB8E-3C6DECFCA2EC}">
      <dsp:nvSpPr>
        <dsp:cNvPr id="0" name=""/>
        <dsp:cNvSpPr/>
      </dsp:nvSpPr>
      <dsp:spPr>
        <a:xfrm rot="732904">
          <a:off x="2249089" y="-415671"/>
          <a:ext cx="3332868" cy="3332868"/>
        </a:xfrm>
        <a:prstGeom prst="leftCircularArrow">
          <a:avLst>
            <a:gd name="adj1" fmla="val 3712"/>
            <a:gd name="adj2" fmla="val 462855"/>
            <a:gd name="adj3" fmla="val 2582224"/>
            <a:gd name="adj4" fmla="val 9368347"/>
            <a:gd name="adj5" fmla="val 4330"/>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sp>
    <dsp:sp modelId="{F2C95784-0BD4-4C75-9569-757E07A17871}">
      <dsp:nvSpPr>
        <dsp:cNvPr id="0" name=""/>
        <dsp:cNvSpPr/>
      </dsp:nvSpPr>
      <dsp:spPr>
        <a:xfrm>
          <a:off x="1460799" y="1529727"/>
          <a:ext cx="736752" cy="292981"/>
        </a:xfrm>
        <a:prstGeom prst="roundRect">
          <a:avLst>
            <a:gd name="adj" fmla="val 10000"/>
          </a:avLst>
        </a:prstGeom>
        <a:solidFill>
          <a:sysClr val="window" lastClr="FFFF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endParaRPr lang="zh-TW" altLang="en-US" sz="1600" kern="1200" dirty="0">
            <a:solidFill>
              <a:sysClr val="window" lastClr="FFFFFF"/>
            </a:solidFill>
            <a:latin typeface="Calibri" panose="020F0502020204030204"/>
            <a:ea typeface="新細明體" panose="02020500000000000000" pitchFamily="18" charset="-120"/>
            <a:cs typeface="+mn-cs"/>
          </a:endParaRPr>
        </a:p>
      </dsp:txBody>
      <dsp:txXfrm>
        <a:off x="1469380" y="1538308"/>
        <a:ext cx="719590" cy="275819"/>
      </dsp:txXfrm>
    </dsp:sp>
    <dsp:sp modelId="{8D032E8B-421E-4373-8984-874791F76802}">
      <dsp:nvSpPr>
        <dsp:cNvPr id="0" name=""/>
        <dsp:cNvSpPr/>
      </dsp:nvSpPr>
      <dsp:spPr>
        <a:xfrm>
          <a:off x="3385928" y="569540"/>
          <a:ext cx="2843190" cy="1643919"/>
        </a:xfrm>
        <a:prstGeom prst="roundRect">
          <a:avLst>
            <a:gd name="adj" fmla="val 10000"/>
          </a:avLst>
        </a:prstGeom>
        <a:solidFill>
          <a:sysClr val="window" lastClr="FFFFFF">
            <a:alpha val="90000"/>
            <a:hueOff val="0"/>
            <a:satOff val="0"/>
            <a:lumOff val="0"/>
            <a:alphaOff val="0"/>
          </a:sysClr>
        </a:solidFill>
        <a:ln w="19050" cap="flat" cmpd="sng" algn="ctr">
          <a:solidFill>
            <a:srgbClr val="3DA18E"/>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None/>
          </a:pPr>
          <a:r>
            <a:rPr lang="zh-TW" altLang="en-US" sz="1400" b="1" kern="1200"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rPr>
            <a:t>智慧合約檢核通過後執行交易，匯款金額以數位貨幣形式，在全體會員銀行的見證下移轉到解款行帳號中，完成跨行結算</a:t>
          </a:r>
        </a:p>
      </dsp:txBody>
      <dsp:txXfrm>
        <a:off x="3423759" y="959639"/>
        <a:ext cx="2767528" cy="1215988"/>
      </dsp:txXfrm>
    </dsp:sp>
    <dsp:sp modelId="{97029388-6E48-4488-9D8F-B8422E8797EC}">
      <dsp:nvSpPr>
        <dsp:cNvPr id="0" name=""/>
        <dsp:cNvSpPr/>
      </dsp:nvSpPr>
      <dsp:spPr>
        <a:xfrm rot="21379177">
          <a:off x="5024971" y="-349253"/>
          <a:ext cx="3418796" cy="3418796"/>
        </a:xfrm>
        <a:prstGeom prst="circularArrow">
          <a:avLst>
            <a:gd name="adj1" fmla="val 3362"/>
            <a:gd name="adj2" fmla="val 415811"/>
            <a:gd name="adj3" fmla="val 18727690"/>
            <a:gd name="adj4" fmla="val 11894522"/>
            <a:gd name="adj5" fmla="val 3923"/>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sp>
    <dsp:sp modelId="{0167A9D5-C4DF-4AEC-8DA0-E4F182A571E7}">
      <dsp:nvSpPr>
        <dsp:cNvPr id="0" name=""/>
        <dsp:cNvSpPr/>
      </dsp:nvSpPr>
      <dsp:spPr>
        <a:xfrm>
          <a:off x="4580151" y="847739"/>
          <a:ext cx="736752" cy="292981"/>
        </a:xfrm>
        <a:prstGeom prst="roundRect">
          <a:avLst>
            <a:gd name="adj" fmla="val 10000"/>
          </a:avLst>
        </a:prstGeom>
        <a:solidFill>
          <a:sysClr val="window" lastClr="FFFF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endParaRPr lang="zh-TW" altLang="en-US" sz="1600" kern="1200">
            <a:solidFill>
              <a:sysClr val="window" lastClr="FFFFFF"/>
            </a:solidFill>
            <a:latin typeface="Calibri" panose="020F0502020204030204"/>
            <a:ea typeface="新細明體" panose="02020500000000000000" pitchFamily="18" charset="-120"/>
            <a:cs typeface="+mn-cs"/>
          </a:endParaRPr>
        </a:p>
      </dsp:txBody>
      <dsp:txXfrm>
        <a:off x="4588732" y="856320"/>
        <a:ext cx="719590" cy="275819"/>
      </dsp:txXfrm>
    </dsp:sp>
    <dsp:sp modelId="{0BE315EF-8BCD-4555-864E-6407778FF56C}">
      <dsp:nvSpPr>
        <dsp:cNvPr id="0" name=""/>
        <dsp:cNvSpPr/>
      </dsp:nvSpPr>
      <dsp:spPr>
        <a:xfrm>
          <a:off x="6471346" y="282924"/>
          <a:ext cx="2842229" cy="1479370"/>
        </a:xfrm>
        <a:prstGeom prst="roundRect">
          <a:avLst>
            <a:gd name="adj" fmla="val 10000"/>
          </a:avLst>
        </a:prstGeom>
        <a:solidFill>
          <a:sysClr val="window" lastClr="FFFFFF">
            <a:alpha val="90000"/>
            <a:hueOff val="0"/>
            <a:satOff val="0"/>
            <a:lumOff val="0"/>
            <a:alphaOff val="0"/>
          </a:sysClr>
        </a:solidFill>
        <a:ln w="19050" cap="flat" cmpd="sng" algn="ctr">
          <a:solidFill>
            <a:srgbClr val="FFC000">
              <a:hueOff val="10395692"/>
              <a:satOff val="-47968"/>
              <a:lumOff val="1765"/>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None/>
          </a:pPr>
          <a:r>
            <a:rPr lang="zh-TW" altLang="en-US" sz="1400" b="1" kern="1200" dirty="0">
              <a:solidFill>
                <a:sysClr val="windowText" lastClr="000000">
                  <a:hueOff val="0"/>
                  <a:satOff val="0"/>
                  <a:lumOff val="0"/>
                  <a:alphaOff val="0"/>
                </a:sysClr>
              </a:solidFill>
              <a:latin typeface="微軟正黑體" panose="020B0604030504040204" pitchFamily="34" charset="-120"/>
              <a:ea typeface="微軟正黑體" panose="020B0604030504040204" pitchFamily="34" charset="-120"/>
              <a:cs typeface="+mn-cs"/>
            </a:rPr>
            <a:t>解款銀行確認款項已進入其數位貨幣帳戶中，調增受款人帳戶餘額、發送匯款到帳通知</a:t>
          </a:r>
          <a:endParaRPr lang="zh-TW" altLang="en-US" sz="900" kern="1200" dirty="0">
            <a:solidFill>
              <a:sysClr val="windowText" lastClr="000000">
                <a:hueOff val="0"/>
                <a:satOff val="0"/>
                <a:lumOff val="0"/>
                <a:alphaOff val="0"/>
              </a:sysClr>
            </a:solidFill>
            <a:latin typeface="Calibri" panose="020F0502020204030204"/>
            <a:ea typeface="新細明體" panose="02020500000000000000" pitchFamily="18" charset="-120"/>
            <a:cs typeface="+mn-cs"/>
          </a:endParaRPr>
        </a:p>
      </dsp:txBody>
      <dsp:txXfrm>
        <a:off x="6505390" y="316968"/>
        <a:ext cx="2774141" cy="1094274"/>
      </dsp:txXfrm>
    </dsp:sp>
    <dsp:sp modelId="{FFA6DF61-522D-4F7E-BAB5-EDB8059AA60D}">
      <dsp:nvSpPr>
        <dsp:cNvPr id="0" name=""/>
        <dsp:cNvSpPr/>
      </dsp:nvSpPr>
      <dsp:spPr>
        <a:xfrm>
          <a:off x="7678653" y="1501204"/>
          <a:ext cx="736752" cy="292981"/>
        </a:xfrm>
        <a:prstGeom prst="roundRect">
          <a:avLst>
            <a:gd name="adj" fmla="val 10000"/>
          </a:avLst>
        </a:prstGeom>
        <a:solidFill>
          <a:sysClr val="window" lastClr="FFFF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endParaRPr lang="zh-TW" altLang="en-US" sz="1600" kern="1200" dirty="0">
            <a:solidFill>
              <a:sysClr val="window" lastClr="FFFFFF"/>
            </a:solidFill>
            <a:latin typeface="Calibri" panose="020F0502020204030204"/>
            <a:ea typeface="新細明體" panose="02020500000000000000" pitchFamily="18" charset="-120"/>
            <a:cs typeface="+mn-cs"/>
          </a:endParaRPr>
        </a:p>
      </dsp:txBody>
      <dsp:txXfrm>
        <a:off x="7687234" y="1509785"/>
        <a:ext cx="719590" cy="2758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55A67F-F3A9-41B1-B98E-640A6EF16183}">
      <dsp:nvSpPr>
        <dsp:cNvPr id="0" name=""/>
        <dsp:cNvSpPr/>
      </dsp:nvSpPr>
      <dsp:spPr>
        <a:xfrm>
          <a:off x="5162" y="1180446"/>
          <a:ext cx="4192757" cy="1387744"/>
        </a:xfrm>
        <a:prstGeom prst="chevron">
          <a:avLst/>
        </a:prstGeom>
        <a:solidFill>
          <a:srgbClr val="F9F9F9"/>
        </a:solidFill>
        <a:ln w="19050" cap="flat" cmpd="sng" algn="ctr">
          <a:solidFill>
            <a:srgbClr val="54667E"/>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銀行或匯款機構接到匯款需求，收取資金及相應費用，進行反洗錢核查以及身分查驗，開始處理匯款人的請求</a:t>
          </a:r>
        </a:p>
      </dsp:txBody>
      <dsp:txXfrm>
        <a:off x="699034" y="1180446"/>
        <a:ext cx="2805013" cy="1387744"/>
      </dsp:txXfrm>
    </dsp:sp>
    <dsp:sp modelId="{52A1CD02-223E-43D0-B255-608B8694366D}">
      <dsp:nvSpPr>
        <dsp:cNvPr id="0" name=""/>
        <dsp:cNvSpPr/>
      </dsp:nvSpPr>
      <dsp:spPr>
        <a:xfrm>
          <a:off x="3850983" y="1180446"/>
          <a:ext cx="4341385" cy="1387744"/>
        </a:xfrm>
        <a:prstGeom prst="chevron">
          <a:avLst/>
        </a:prstGeom>
        <a:solidFill>
          <a:srgbClr val="F9F9F9"/>
        </a:solidFill>
        <a:ln w="19050" cap="flat" cmpd="sng" algn="ctr">
          <a:solidFill>
            <a:srgbClr val="54667E"/>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在轉移環節，對於</a:t>
          </a:r>
          <a:r>
            <a:rPr lang="en-US"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Swift </a:t>
          </a: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成員，可運用</a:t>
          </a:r>
          <a:r>
            <a:rPr lang="en-US"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SWIFT </a:t>
          </a: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網絡，而非會員只能透過當地的代理銀行匯款</a:t>
          </a:r>
        </a:p>
      </dsp:txBody>
      <dsp:txXfrm>
        <a:off x="4544855" y="1180446"/>
        <a:ext cx="2953641" cy="1387744"/>
      </dsp:txXfrm>
    </dsp:sp>
    <dsp:sp modelId="{B6413D96-08EB-4AF0-B609-D558CF1141D5}">
      <dsp:nvSpPr>
        <dsp:cNvPr id="0" name=""/>
        <dsp:cNvSpPr/>
      </dsp:nvSpPr>
      <dsp:spPr>
        <a:xfrm>
          <a:off x="7845432" y="1180446"/>
          <a:ext cx="3646576" cy="1387744"/>
        </a:xfrm>
        <a:prstGeom prst="chevron">
          <a:avLst/>
        </a:prstGeom>
        <a:solidFill>
          <a:srgbClr val="F9F9F9"/>
        </a:solidFill>
        <a:ln w="19050" cap="flat" cmpd="sng" algn="ctr">
          <a:solidFill>
            <a:srgbClr val="54667E"/>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收款人收到通知，前往銀行或匯款機構</a:t>
          </a:r>
        </a:p>
      </dsp:txBody>
      <dsp:txXfrm>
        <a:off x="8539304" y="1180446"/>
        <a:ext cx="2258832" cy="13877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60DB10-C215-4800-A50E-F4836E226AF5}">
      <dsp:nvSpPr>
        <dsp:cNvPr id="0" name=""/>
        <dsp:cNvSpPr/>
      </dsp:nvSpPr>
      <dsp:spPr>
        <a:xfrm>
          <a:off x="538" y="816711"/>
          <a:ext cx="3844751" cy="1365396"/>
        </a:xfrm>
        <a:prstGeom prst="chevron">
          <a:avLst/>
        </a:prstGeom>
        <a:noFill/>
        <a:ln w="19050" cap="flat" cmpd="sng" algn="ctr">
          <a:solidFill>
            <a:srgbClr val="54667E"/>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銀行或者匯款機構對收款人進行身分核驗</a:t>
          </a:r>
        </a:p>
      </dsp:txBody>
      <dsp:txXfrm>
        <a:off x="683236" y="816711"/>
        <a:ext cx="2479355" cy="1365396"/>
      </dsp:txXfrm>
    </dsp:sp>
    <dsp:sp modelId="{309176E1-2F68-4B45-94D0-55D49FA5AE0F}">
      <dsp:nvSpPr>
        <dsp:cNvPr id="0" name=""/>
        <dsp:cNvSpPr/>
      </dsp:nvSpPr>
      <dsp:spPr>
        <a:xfrm>
          <a:off x="3503940" y="816711"/>
          <a:ext cx="3890457" cy="1365396"/>
        </a:xfrm>
        <a:prstGeom prst="chevron">
          <a:avLst/>
        </a:prstGeom>
        <a:noFill/>
        <a:ln w="19050" cap="flat" cmpd="sng" algn="ctr">
          <a:solidFill>
            <a:srgbClr val="54667E"/>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收款人以當地貨幣獲得匯款</a:t>
          </a:r>
        </a:p>
      </dsp:txBody>
      <dsp:txXfrm>
        <a:off x="4186638" y="816711"/>
        <a:ext cx="2525061" cy="1365396"/>
      </dsp:txXfrm>
    </dsp:sp>
    <dsp:sp modelId="{046B8B88-1F7E-4CA1-9A52-57D04BB6D90B}">
      <dsp:nvSpPr>
        <dsp:cNvPr id="0" name=""/>
        <dsp:cNvSpPr/>
      </dsp:nvSpPr>
      <dsp:spPr>
        <a:xfrm>
          <a:off x="7053048" y="816711"/>
          <a:ext cx="4295161" cy="1365396"/>
        </a:xfrm>
        <a:prstGeom prst="chevron">
          <a:avLst/>
        </a:prstGeom>
        <a:noFill/>
        <a:ln w="19050" cap="flat" cmpd="sng" algn="ctr">
          <a:solidFill>
            <a:srgbClr val="54667E"/>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lumMod val="75000"/>
                  <a:lumOff val="25000"/>
                </a:schemeClr>
              </a:solidFill>
              <a:latin typeface="微軟正黑體" panose="020B0604030504040204" pitchFamily="34" charset="-120"/>
              <a:ea typeface="微軟正黑體" panose="020B0604030504040204" pitchFamily="34" charset="-120"/>
            </a:rPr>
            <a:t>根據當地監管政策，銀行或者匯款機構有時需要向監管層提交包括交易細節在內的報告</a:t>
          </a:r>
        </a:p>
      </dsp:txBody>
      <dsp:txXfrm>
        <a:off x="7735746" y="816711"/>
        <a:ext cx="2929765" cy="13653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1B9391-EA1A-40DF-9CBD-8853FCFC437B}">
      <dsp:nvSpPr>
        <dsp:cNvPr id="0" name=""/>
        <dsp:cNvSpPr/>
      </dsp:nvSpPr>
      <dsp:spPr>
        <a:xfrm>
          <a:off x="2263983" y="2210993"/>
          <a:ext cx="1674727" cy="167472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latin typeface="微軟正黑體" panose="020B0604030504040204" pitchFamily="34" charset="-120"/>
              <a:ea typeface="微軟正黑體" panose="020B0604030504040204" pitchFamily="34" charset="-120"/>
            </a:rPr>
            <a:t>區塊鏈之   非金融服務應用需求</a:t>
          </a:r>
        </a:p>
      </dsp:txBody>
      <dsp:txXfrm>
        <a:off x="2509241" y="2456251"/>
        <a:ext cx="1184211" cy="1184211"/>
      </dsp:txXfrm>
    </dsp:sp>
    <dsp:sp modelId="{3133D2E5-1A67-4CCD-A16F-804CD644A84D}">
      <dsp:nvSpPr>
        <dsp:cNvPr id="0" name=""/>
        <dsp:cNvSpPr/>
      </dsp:nvSpPr>
      <dsp:spPr>
        <a:xfrm rot="11700000">
          <a:off x="771602" y="2381536"/>
          <a:ext cx="1463569" cy="477297"/>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1BEA99-69BD-4596-B562-87649451AB8F}">
      <dsp:nvSpPr>
        <dsp:cNvPr id="0" name=""/>
        <dsp:cNvSpPr/>
      </dsp:nvSpPr>
      <dsp:spPr>
        <a:xfrm>
          <a:off x="1041" y="1794389"/>
          <a:ext cx="1590991" cy="1272792"/>
        </a:xfrm>
        <a:prstGeom prst="roundRect">
          <a:avLst>
            <a:gd name="adj" fmla="val 10000"/>
          </a:avLst>
        </a:prstGeom>
        <a:solidFill>
          <a:srgbClr val="F9F9F9"/>
        </a:solidFill>
        <a:ln w="1905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zh-TW" altLang="zh-TW" sz="1800" b="1" kern="1200" dirty="0">
              <a:latin typeface="微軟正黑體" panose="020B0604030504040204" pitchFamily="34" charset="-120"/>
              <a:ea typeface="微軟正黑體" panose="020B0604030504040204" pitchFamily="34" charset="-120"/>
            </a:rPr>
            <a:t>開創消費經濟</a:t>
          </a:r>
        </a:p>
      </dsp:txBody>
      <dsp:txXfrm>
        <a:off x="38320" y="1831668"/>
        <a:ext cx="1516433" cy="1198234"/>
      </dsp:txXfrm>
    </dsp:sp>
    <dsp:sp modelId="{5CB2109E-D5C7-489C-A1FA-659C5342432F}">
      <dsp:nvSpPr>
        <dsp:cNvPr id="0" name=""/>
        <dsp:cNvSpPr/>
      </dsp:nvSpPr>
      <dsp:spPr>
        <a:xfrm rot="14700000">
          <a:off x="1670412" y="1310376"/>
          <a:ext cx="1463569" cy="477297"/>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16967FC-1846-43C1-A8FA-CB2C30E1AAB1}">
      <dsp:nvSpPr>
        <dsp:cNvPr id="0" name=""/>
        <dsp:cNvSpPr/>
      </dsp:nvSpPr>
      <dsp:spPr>
        <a:xfrm>
          <a:off x="1297435" y="249406"/>
          <a:ext cx="1590991" cy="1272792"/>
        </a:xfrm>
        <a:prstGeom prst="roundRect">
          <a:avLst>
            <a:gd name="adj" fmla="val 10000"/>
          </a:avLst>
        </a:prstGeom>
        <a:solidFill>
          <a:srgbClr val="F9F9F9"/>
        </a:solidFill>
        <a:ln w="1905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zh-TW" altLang="zh-TW" sz="1800" b="1" kern="1200" dirty="0">
              <a:latin typeface="微軟正黑體" panose="020B0604030504040204" pitchFamily="34" charset="-120"/>
              <a:ea typeface="微軟正黑體" panose="020B0604030504040204" pitchFamily="34" charset="-120"/>
            </a:rPr>
            <a:t>資訊取得簡便</a:t>
          </a:r>
        </a:p>
      </dsp:txBody>
      <dsp:txXfrm>
        <a:off x="1334714" y="286685"/>
        <a:ext cx="1516433" cy="1198234"/>
      </dsp:txXfrm>
    </dsp:sp>
    <dsp:sp modelId="{4036F1DB-A93C-4D74-86A2-058C727145BC}">
      <dsp:nvSpPr>
        <dsp:cNvPr id="0" name=""/>
        <dsp:cNvSpPr/>
      </dsp:nvSpPr>
      <dsp:spPr>
        <a:xfrm rot="17700000">
          <a:off x="3068712" y="1310376"/>
          <a:ext cx="1463569" cy="477297"/>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C20741E-38E8-4F15-88DF-12B1ADF009C9}">
      <dsp:nvSpPr>
        <dsp:cNvPr id="0" name=""/>
        <dsp:cNvSpPr/>
      </dsp:nvSpPr>
      <dsp:spPr>
        <a:xfrm>
          <a:off x="3314267" y="249406"/>
          <a:ext cx="1590991" cy="1272792"/>
        </a:xfrm>
        <a:prstGeom prst="roundRect">
          <a:avLst>
            <a:gd name="adj" fmla="val 10000"/>
          </a:avLst>
        </a:prstGeom>
        <a:solidFill>
          <a:srgbClr val="F9F9F9"/>
        </a:solidFill>
        <a:ln w="1905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latin typeface="微軟正黑體" panose="020B0604030504040204" pitchFamily="34" charset="-120"/>
              <a:ea typeface="微軟正黑體" panose="020B0604030504040204" pitchFamily="34" charset="-120"/>
            </a:rPr>
            <a:t>短縮作業流程</a:t>
          </a:r>
        </a:p>
      </dsp:txBody>
      <dsp:txXfrm>
        <a:off x="3351546" y="286685"/>
        <a:ext cx="1516433" cy="1198234"/>
      </dsp:txXfrm>
    </dsp:sp>
    <dsp:sp modelId="{CB825C9D-CBEB-44DD-BC56-4A24713A9EAB}">
      <dsp:nvSpPr>
        <dsp:cNvPr id="0" name=""/>
        <dsp:cNvSpPr/>
      </dsp:nvSpPr>
      <dsp:spPr>
        <a:xfrm rot="20700000">
          <a:off x="3967522" y="2381536"/>
          <a:ext cx="1463569" cy="477297"/>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ED30EE3-741F-418E-9AB3-6D7BA6174C8D}">
      <dsp:nvSpPr>
        <dsp:cNvPr id="0" name=""/>
        <dsp:cNvSpPr/>
      </dsp:nvSpPr>
      <dsp:spPr>
        <a:xfrm>
          <a:off x="4610661" y="1794389"/>
          <a:ext cx="1590991" cy="1272792"/>
        </a:xfrm>
        <a:prstGeom prst="roundRect">
          <a:avLst>
            <a:gd name="adj" fmla="val 10000"/>
          </a:avLst>
        </a:prstGeom>
        <a:solidFill>
          <a:srgbClr val="F9F9F9"/>
        </a:solidFill>
        <a:ln w="1905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latin typeface="微軟正黑體" panose="020B0604030504040204" pitchFamily="34" charset="-120"/>
              <a:ea typeface="微軟正黑體" panose="020B0604030504040204" pitchFamily="34" charset="-120"/>
            </a:rPr>
            <a:t>安居樂業生活</a:t>
          </a:r>
        </a:p>
      </dsp:txBody>
      <dsp:txXfrm>
        <a:off x="4647940" y="1831668"/>
        <a:ext cx="1516433" cy="11982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B97B26-7C1B-479D-A728-5C74D53044E6}">
      <dsp:nvSpPr>
        <dsp:cNvPr id="0" name=""/>
        <dsp:cNvSpPr/>
      </dsp:nvSpPr>
      <dsp:spPr>
        <a:xfrm>
          <a:off x="2697943" y="1984437"/>
          <a:ext cx="2425424" cy="2425424"/>
        </a:xfrm>
        <a:prstGeom prst="gear9">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TW" altLang="en-US" sz="1600" b="1" kern="1200" dirty="0">
              <a:solidFill>
                <a:schemeClr val="tx1"/>
              </a:solidFill>
              <a:latin typeface="微軟正黑體" panose="020B0604030504040204" pitchFamily="34" charset="-120"/>
              <a:ea typeface="微軟正黑體" panose="020B0604030504040204" pitchFamily="34" charset="-120"/>
            </a:rPr>
            <a:t>架構</a:t>
          </a:r>
          <a:endParaRPr lang="en-US" altLang="zh-TW" sz="1600" b="1" kern="1200" dirty="0">
            <a:solidFill>
              <a:schemeClr val="tx1"/>
            </a:solidFill>
            <a:latin typeface="微軟正黑體" panose="020B0604030504040204" pitchFamily="34" charset="-120"/>
            <a:ea typeface="微軟正黑體" panose="020B0604030504040204" pitchFamily="34" charset="-120"/>
          </a:endParaRPr>
        </a:p>
        <a:p>
          <a:pPr marL="0" lvl="0" indent="0" algn="ctr" defTabSz="711200">
            <a:lnSpc>
              <a:spcPct val="90000"/>
            </a:lnSpc>
            <a:spcBef>
              <a:spcPct val="0"/>
            </a:spcBef>
            <a:spcAft>
              <a:spcPct val="35000"/>
            </a:spcAft>
            <a:buNone/>
          </a:pPr>
          <a:r>
            <a:rPr lang="zh-TW" altLang="en-US" sz="1600" b="1" kern="1200" dirty="0">
              <a:solidFill>
                <a:schemeClr val="tx1"/>
              </a:solidFill>
              <a:latin typeface="微軟正黑體" panose="020B0604030504040204" pitchFamily="34" charset="-120"/>
              <a:ea typeface="微軟正黑體" panose="020B0604030504040204" pitchFamily="34" charset="-120"/>
            </a:rPr>
            <a:t>交易</a:t>
          </a:r>
          <a:endParaRPr lang="en-US" altLang="zh-TW" sz="1600" b="1" kern="1200" dirty="0">
            <a:solidFill>
              <a:schemeClr val="tx1"/>
            </a:solidFill>
            <a:latin typeface="微軟正黑體" panose="020B0604030504040204" pitchFamily="34" charset="-120"/>
            <a:ea typeface="微軟正黑體" panose="020B0604030504040204" pitchFamily="34" charset="-120"/>
          </a:endParaRPr>
        </a:p>
        <a:p>
          <a:pPr marL="0" lvl="0" indent="0" algn="ctr" defTabSz="711200">
            <a:lnSpc>
              <a:spcPct val="90000"/>
            </a:lnSpc>
            <a:spcBef>
              <a:spcPct val="0"/>
            </a:spcBef>
            <a:spcAft>
              <a:spcPct val="35000"/>
            </a:spcAft>
            <a:buNone/>
          </a:pPr>
          <a:r>
            <a:rPr lang="zh-TW" altLang="en-US" sz="1600" b="1" kern="1200" dirty="0">
              <a:solidFill>
                <a:schemeClr val="tx1"/>
              </a:solidFill>
              <a:latin typeface="微軟正黑體" panose="020B0604030504040204" pitchFamily="34" charset="-120"/>
              <a:ea typeface="微軟正黑體" panose="020B0604030504040204" pitchFamily="34" charset="-120"/>
            </a:rPr>
            <a:t>平台</a:t>
          </a:r>
        </a:p>
      </dsp:txBody>
      <dsp:txXfrm>
        <a:off x="3185561" y="2552581"/>
        <a:ext cx="1450188" cy="1246718"/>
      </dsp:txXfrm>
    </dsp:sp>
    <dsp:sp modelId="{9CC3E80D-A831-45C1-A70D-5C0750EF216F}">
      <dsp:nvSpPr>
        <dsp:cNvPr id="0" name=""/>
        <dsp:cNvSpPr/>
      </dsp:nvSpPr>
      <dsp:spPr>
        <a:xfrm>
          <a:off x="883356" y="1829034"/>
          <a:ext cx="1763944" cy="1763944"/>
        </a:xfrm>
        <a:prstGeom prst="gear6">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TW" altLang="en-US" sz="1400" b="1" kern="1200" dirty="0">
              <a:solidFill>
                <a:schemeClr val="tx1"/>
              </a:solidFill>
              <a:latin typeface="微軟正黑體" panose="020B0604030504040204" pitchFamily="34" charset="-120"/>
              <a:ea typeface="微軟正黑體" panose="020B0604030504040204" pitchFamily="34" charset="-120"/>
            </a:rPr>
            <a:t>建立</a:t>
          </a:r>
          <a:endParaRPr lang="en-US" altLang="zh-TW" sz="1400" b="1" kern="1200" dirty="0">
            <a:solidFill>
              <a:schemeClr val="tx1"/>
            </a:solidFill>
            <a:latin typeface="微軟正黑體" panose="020B0604030504040204" pitchFamily="34" charset="-120"/>
            <a:ea typeface="微軟正黑體" panose="020B0604030504040204" pitchFamily="34" charset="-120"/>
          </a:endParaRPr>
        </a:p>
        <a:p>
          <a:pPr marL="0" lvl="0" indent="0" algn="ctr" defTabSz="622300">
            <a:lnSpc>
              <a:spcPct val="90000"/>
            </a:lnSpc>
            <a:spcBef>
              <a:spcPct val="0"/>
            </a:spcBef>
            <a:spcAft>
              <a:spcPct val="35000"/>
            </a:spcAft>
            <a:buNone/>
          </a:pPr>
          <a:r>
            <a:rPr lang="zh-TW" altLang="en-US" sz="1400" b="1" kern="1200" dirty="0">
              <a:solidFill>
                <a:schemeClr val="tx1"/>
              </a:solidFill>
              <a:latin typeface="微軟正黑體" panose="020B0604030504040204" pitchFamily="34" charset="-120"/>
              <a:ea typeface="微軟正黑體" panose="020B0604030504040204" pitchFamily="34" charset="-120"/>
            </a:rPr>
            <a:t>權益</a:t>
          </a:r>
          <a:endParaRPr lang="en-US" altLang="zh-TW" sz="1400" b="1" kern="1200" dirty="0">
            <a:solidFill>
              <a:schemeClr val="tx1"/>
            </a:solidFill>
            <a:latin typeface="微軟正黑體" panose="020B0604030504040204" pitchFamily="34" charset="-120"/>
            <a:ea typeface="微軟正黑體" panose="020B0604030504040204" pitchFamily="34" charset="-120"/>
          </a:endParaRPr>
        </a:p>
        <a:p>
          <a:pPr marL="0" lvl="0" indent="0" algn="ctr" defTabSz="622300">
            <a:lnSpc>
              <a:spcPct val="90000"/>
            </a:lnSpc>
            <a:spcBef>
              <a:spcPct val="0"/>
            </a:spcBef>
            <a:spcAft>
              <a:spcPct val="35000"/>
            </a:spcAft>
            <a:buNone/>
          </a:pPr>
          <a:r>
            <a:rPr lang="zh-TW" altLang="en-US" sz="1400" b="1" kern="1200" dirty="0">
              <a:solidFill>
                <a:schemeClr val="tx1"/>
              </a:solidFill>
              <a:latin typeface="微軟正黑體" panose="020B0604030504040204" pitchFamily="34" charset="-120"/>
              <a:ea typeface="微軟正黑體" panose="020B0604030504040204" pitchFamily="34" charset="-120"/>
            </a:rPr>
            <a:t>憑證</a:t>
          </a:r>
        </a:p>
      </dsp:txBody>
      <dsp:txXfrm>
        <a:off x="1327434" y="2275796"/>
        <a:ext cx="875788" cy="870420"/>
      </dsp:txXfrm>
    </dsp:sp>
    <dsp:sp modelId="{3E066770-D08D-4CEF-99F3-BCCC00B18584}">
      <dsp:nvSpPr>
        <dsp:cNvPr id="0" name=""/>
        <dsp:cNvSpPr/>
      </dsp:nvSpPr>
      <dsp:spPr>
        <a:xfrm rot="20700000">
          <a:off x="1366359" y="194213"/>
          <a:ext cx="1728305" cy="1728305"/>
        </a:xfrm>
        <a:prstGeom prst="gear6">
          <a:avLst/>
        </a:prstGeom>
        <a:solidFill>
          <a:schemeClr val="accent3">
            <a:hueOff val="-11982998"/>
            <a:satOff val="51946"/>
            <a:lumOff val="203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TW" altLang="en-US" sz="1400" b="1" kern="1200" dirty="0">
              <a:latin typeface="微軟正黑體" panose="020B0604030504040204" pitchFamily="34" charset="-120"/>
              <a:ea typeface="微軟正黑體" panose="020B0604030504040204" pitchFamily="34" charset="-120"/>
            </a:rPr>
            <a:t>設計</a:t>
          </a:r>
          <a:endParaRPr lang="en-US" altLang="zh-TW" sz="1400" b="1" kern="1200" dirty="0">
            <a:latin typeface="微軟正黑體" panose="020B0604030504040204" pitchFamily="34" charset="-120"/>
            <a:ea typeface="微軟正黑體" panose="020B0604030504040204" pitchFamily="34" charset="-120"/>
          </a:endParaRPr>
        </a:p>
        <a:p>
          <a:pPr marL="0" lvl="0" indent="0" algn="ctr" defTabSz="622300">
            <a:lnSpc>
              <a:spcPct val="90000"/>
            </a:lnSpc>
            <a:spcBef>
              <a:spcPct val="0"/>
            </a:spcBef>
            <a:spcAft>
              <a:spcPct val="35000"/>
            </a:spcAft>
            <a:buNone/>
          </a:pPr>
          <a:r>
            <a:rPr lang="zh-TW" altLang="en-US" sz="1400" b="1" kern="1200" dirty="0">
              <a:latin typeface="微軟正黑體" panose="020B0604030504040204" pitchFamily="34" charset="-120"/>
              <a:ea typeface="微軟正黑體" panose="020B0604030504040204" pitchFamily="34" charset="-120"/>
            </a:rPr>
            <a:t>數字</a:t>
          </a:r>
          <a:endParaRPr lang="en-US" altLang="zh-TW" sz="1400" b="1" kern="1200" dirty="0">
            <a:latin typeface="微軟正黑體" panose="020B0604030504040204" pitchFamily="34" charset="-120"/>
            <a:ea typeface="微軟正黑體" panose="020B0604030504040204" pitchFamily="34" charset="-120"/>
          </a:endParaRPr>
        </a:p>
        <a:p>
          <a:pPr marL="0" lvl="0" indent="0" algn="ctr" defTabSz="622300">
            <a:lnSpc>
              <a:spcPct val="90000"/>
            </a:lnSpc>
            <a:spcBef>
              <a:spcPct val="0"/>
            </a:spcBef>
            <a:spcAft>
              <a:spcPct val="35000"/>
            </a:spcAft>
            <a:buNone/>
          </a:pPr>
          <a:r>
            <a:rPr lang="zh-TW" altLang="en-US" sz="1400" b="1" kern="1200" dirty="0">
              <a:latin typeface="微軟正黑體" panose="020B0604030504040204" pitchFamily="34" charset="-120"/>
              <a:ea typeface="微軟正黑體" panose="020B0604030504040204" pitchFamily="34" charset="-120"/>
            </a:rPr>
            <a:t>貨幣</a:t>
          </a:r>
        </a:p>
      </dsp:txBody>
      <dsp:txXfrm rot="-20700000">
        <a:off x="1745427" y="573282"/>
        <a:ext cx="970169" cy="970169"/>
      </dsp:txXfrm>
    </dsp:sp>
    <dsp:sp modelId="{256CBC4D-E0BA-4BCD-8D7C-9008A687D2C9}">
      <dsp:nvSpPr>
        <dsp:cNvPr id="0" name=""/>
        <dsp:cNvSpPr/>
      </dsp:nvSpPr>
      <dsp:spPr>
        <a:xfrm>
          <a:off x="2513814" y="1617097"/>
          <a:ext cx="3104542" cy="3104542"/>
        </a:xfrm>
        <a:prstGeom prst="circularArrow">
          <a:avLst>
            <a:gd name="adj1" fmla="val 4687"/>
            <a:gd name="adj2" fmla="val 299029"/>
            <a:gd name="adj3" fmla="val 2521118"/>
            <a:gd name="adj4" fmla="val 15850650"/>
            <a:gd name="adj5" fmla="val 5469"/>
          </a:avLst>
        </a:prstGeom>
        <a:solidFill>
          <a:schemeClr val="accent5">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sp>
    <dsp:sp modelId="{A452C55A-8D29-48D4-B0DE-51B9E0DD9E5F}">
      <dsp:nvSpPr>
        <dsp:cNvPr id="0" name=""/>
        <dsp:cNvSpPr/>
      </dsp:nvSpPr>
      <dsp:spPr>
        <a:xfrm rot="15741803">
          <a:off x="686305" y="1734208"/>
          <a:ext cx="2255644" cy="2255644"/>
        </a:xfrm>
        <a:prstGeom prst="leftCircularArrow">
          <a:avLst>
            <a:gd name="adj1" fmla="val 6452"/>
            <a:gd name="adj2" fmla="val 429999"/>
            <a:gd name="adj3" fmla="val 10489124"/>
            <a:gd name="adj4" fmla="val 14837806"/>
            <a:gd name="adj5" fmla="val 7527"/>
          </a:avLst>
        </a:prstGeom>
        <a:solidFill>
          <a:schemeClr val="accent4">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sp>
    <dsp:sp modelId="{B8158AC7-C6D9-42D3-871B-E7D73BBB5C9D}">
      <dsp:nvSpPr>
        <dsp:cNvPr id="0" name=""/>
        <dsp:cNvSpPr/>
      </dsp:nvSpPr>
      <dsp:spPr>
        <a:xfrm rot="11099109">
          <a:off x="1052365" y="-17561"/>
          <a:ext cx="2432038" cy="2432038"/>
        </a:xfrm>
        <a:prstGeom prst="circularArrow">
          <a:avLst>
            <a:gd name="adj1" fmla="val 5984"/>
            <a:gd name="adj2" fmla="val 394124"/>
            <a:gd name="adj3" fmla="val 13313824"/>
            <a:gd name="adj4" fmla="val 10508221"/>
            <a:gd name="adj5" fmla="val 6981"/>
          </a:avLst>
        </a:prstGeom>
        <a:solidFill>
          <a:schemeClr val="accent3">
            <a:hueOff val="-11982998"/>
            <a:satOff val="51946"/>
            <a:lumOff val="20391"/>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E56F87-A81A-4EDE-81AE-3C76F245D5E1}" type="datetimeFigureOut">
              <a:rPr lang="zh-CN" altLang="en-US" smtClean="0"/>
              <a:t>2018/7/24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DC7B0-EBAC-4569-9993-246641655C40}" type="slidenum">
              <a:rPr lang="zh-CN" altLang="en-US" smtClean="0"/>
              <a:t>‹#›</a:t>
            </a:fld>
            <a:endParaRPr lang="zh-CN" altLang="en-US"/>
          </a:p>
        </p:txBody>
      </p:sp>
    </p:spTree>
    <p:extLst>
      <p:ext uri="{BB962C8B-B14F-4D97-AF65-F5344CB8AC3E}">
        <p14:creationId xmlns:p14="http://schemas.microsoft.com/office/powerpoint/2010/main" val="2416002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C7B0-EBAC-4569-9993-246641655C40}" type="slidenum">
              <a:rPr lang="zh-CN" altLang="en-US" smtClean="0"/>
              <a:t>1</a:t>
            </a:fld>
            <a:endParaRPr lang="zh-CN" altLang="en-US"/>
          </a:p>
        </p:txBody>
      </p:sp>
    </p:spTree>
    <p:extLst>
      <p:ext uri="{BB962C8B-B14F-4D97-AF65-F5344CB8AC3E}">
        <p14:creationId xmlns:p14="http://schemas.microsoft.com/office/powerpoint/2010/main" val="1141127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C7B0-EBAC-4569-9993-246641655C40}" type="slidenum">
              <a:rPr lang="zh-CN" altLang="en-US" smtClean="0"/>
              <a:t>2</a:t>
            </a:fld>
            <a:endParaRPr lang="zh-CN" altLang="en-US"/>
          </a:p>
        </p:txBody>
      </p:sp>
    </p:spTree>
    <p:extLst>
      <p:ext uri="{BB962C8B-B14F-4D97-AF65-F5344CB8AC3E}">
        <p14:creationId xmlns:p14="http://schemas.microsoft.com/office/powerpoint/2010/main" val="2419616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a:t>
            </a:fld>
            <a:endParaRPr lang="zh-CN" altLang="en-US"/>
          </a:p>
        </p:txBody>
      </p:sp>
    </p:spTree>
    <p:extLst>
      <p:ext uri="{BB962C8B-B14F-4D97-AF65-F5344CB8AC3E}">
        <p14:creationId xmlns:p14="http://schemas.microsoft.com/office/powerpoint/2010/main" val="1756215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5</a:t>
            </a:fld>
            <a:endParaRPr lang="zh-CN" altLang="en-US"/>
          </a:p>
        </p:txBody>
      </p:sp>
    </p:spTree>
    <p:extLst>
      <p:ext uri="{BB962C8B-B14F-4D97-AF65-F5344CB8AC3E}">
        <p14:creationId xmlns:p14="http://schemas.microsoft.com/office/powerpoint/2010/main" val="234788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6</a:t>
            </a:fld>
            <a:endParaRPr lang="zh-CN" altLang="en-US"/>
          </a:p>
        </p:txBody>
      </p:sp>
    </p:spTree>
    <p:extLst>
      <p:ext uri="{BB962C8B-B14F-4D97-AF65-F5344CB8AC3E}">
        <p14:creationId xmlns:p14="http://schemas.microsoft.com/office/powerpoint/2010/main" val="2597587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7</a:t>
            </a:fld>
            <a:endParaRPr lang="zh-CN" altLang="en-US"/>
          </a:p>
        </p:txBody>
      </p:sp>
    </p:spTree>
    <p:extLst>
      <p:ext uri="{BB962C8B-B14F-4D97-AF65-F5344CB8AC3E}">
        <p14:creationId xmlns:p14="http://schemas.microsoft.com/office/powerpoint/2010/main" val="1559566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8</a:t>
            </a:fld>
            <a:endParaRPr lang="zh-CN" altLang="en-US"/>
          </a:p>
        </p:txBody>
      </p:sp>
    </p:spTree>
    <p:extLst>
      <p:ext uri="{BB962C8B-B14F-4D97-AF65-F5344CB8AC3E}">
        <p14:creationId xmlns:p14="http://schemas.microsoft.com/office/powerpoint/2010/main" val="1399367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9</a:t>
            </a:fld>
            <a:endParaRPr lang="zh-CN" altLang="en-US"/>
          </a:p>
        </p:txBody>
      </p:sp>
    </p:spTree>
    <p:extLst>
      <p:ext uri="{BB962C8B-B14F-4D97-AF65-F5344CB8AC3E}">
        <p14:creationId xmlns:p14="http://schemas.microsoft.com/office/powerpoint/2010/main" val="3303141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10</a:t>
            </a:fld>
            <a:endParaRPr lang="zh-CN" altLang="en-US"/>
          </a:p>
        </p:txBody>
      </p:sp>
    </p:spTree>
    <p:extLst>
      <p:ext uri="{BB962C8B-B14F-4D97-AF65-F5344CB8AC3E}">
        <p14:creationId xmlns:p14="http://schemas.microsoft.com/office/powerpoint/2010/main" val="1885459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11</a:t>
            </a:fld>
            <a:endParaRPr lang="zh-CN" altLang="en-US"/>
          </a:p>
        </p:txBody>
      </p:sp>
    </p:spTree>
    <p:extLst>
      <p:ext uri="{BB962C8B-B14F-4D97-AF65-F5344CB8AC3E}">
        <p14:creationId xmlns:p14="http://schemas.microsoft.com/office/powerpoint/2010/main" val="686029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12</a:t>
            </a:fld>
            <a:endParaRPr lang="zh-CN" altLang="en-US"/>
          </a:p>
        </p:txBody>
      </p:sp>
    </p:spTree>
    <p:extLst>
      <p:ext uri="{BB962C8B-B14F-4D97-AF65-F5344CB8AC3E}">
        <p14:creationId xmlns:p14="http://schemas.microsoft.com/office/powerpoint/2010/main" val="25106497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13</a:t>
            </a:fld>
            <a:endParaRPr lang="zh-CN" altLang="en-US"/>
          </a:p>
        </p:txBody>
      </p:sp>
    </p:spTree>
    <p:extLst>
      <p:ext uri="{BB962C8B-B14F-4D97-AF65-F5344CB8AC3E}">
        <p14:creationId xmlns:p14="http://schemas.microsoft.com/office/powerpoint/2010/main" val="3318127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14</a:t>
            </a:fld>
            <a:endParaRPr lang="zh-CN" altLang="en-US"/>
          </a:p>
        </p:txBody>
      </p:sp>
    </p:spTree>
    <p:extLst>
      <p:ext uri="{BB962C8B-B14F-4D97-AF65-F5344CB8AC3E}">
        <p14:creationId xmlns:p14="http://schemas.microsoft.com/office/powerpoint/2010/main" val="27798794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15</a:t>
            </a:fld>
            <a:endParaRPr lang="zh-CN" altLang="en-US"/>
          </a:p>
        </p:txBody>
      </p:sp>
    </p:spTree>
    <p:extLst>
      <p:ext uri="{BB962C8B-B14F-4D97-AF65-F5344CB8AC3E}">
        <p14:creationId xmlns:p14="http://schemas.microsoft.com/office/powerpoint/2010/main" val="29932757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16</a:t>
            </a:fld>
            <a:endParaRPr lang="zh-CN" altLang="en-US"/>
          </a:p>
        </p:txBody>
      </p:sp>
    </p:spTree>
    <p:extLst>
      <p:ext uri="{BB962C8B-B14F-4D97-AF65-F5344CB8AC3E}">
        <p14:creationId xmlns:p14="http://schemas.microsoft.com/office/powerpoint/2010/main" val="1649766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17</a:t>
            </a:fld>
            <a:endParaRPr lang="zh-CN" altLang="en-US"/>
          </a:p>
        </p:txBody>
      </p:sp>
    </p:spTree>
    <p:extLst>
      <p:ext uri="{BB962C8B-B14F-4D97-AF65-F5344CB8AC3E}">
        <p14:creationId xmlns:p14="http://schemas.microsoft.com/office/powerpoint/2010/main" val="36372843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18</a:t>
            </a:fld>
            <a:endParaRPr lang="zh-CN" altLang="en-US"/>
          </a:p>
        </p:txBody>
      </p:sp>
    </p:spTree>
    <p:extLst>
      <p:ext uri="{BB962C8B-B14F-4D97-AF65-F5344CB8AC3E}">
        <p14:creationId xmlns:p14="http://schemas.microsoft.com/office/powerpoint/2010/main" val="2455078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19</a:t>
            </a:fld>
            <a:endParaRPr lang="zh-CN" altLang="en-US"/>
          </a:p>
        </p:txBody>
      </p:sp>
    </p:spTree>
    <p:extLst>
      <p:ext uri="{BB962C8B-B14F-4D97-AF65-F5344CB8AC3E}">
        <p14:creationId xmlns:p14="http://schemas.microsoft.com/office/powerpoint/2010/main" val="23614468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20</a:t>
            </a:fld>
            <a:endParaRPr lang="zh-CN" altLang="en-US"/>
          </a:p>
        </p:txBody>
      </p:sp>
    </p:spTree>
    <p:extLst>
      <p:ext uri="{BB962C8B-B14F-4D97-AF65-F5344CB8AC3E}">
        <p14:creationId xmlns:p14="http://schemas.microsoft.com/office/powerpoint/2010/main" val="34435584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21</a:t>
            </a:fld>
            <a:endParaRPr lang="zh-CN" altLang="en-US"/>
          </a:p>
        </p:txBody>
      </p:sp>
    </p:spTree>
    <p:extLst>
      <p:ext uri="{BB962C8B-B14F-4D97-AF65-F5344CB8AC3E}">
        <p14:creationId xmlns:p14="http://schemas.microsoft.com/office/powerpoint/2010/main" val="33217024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22</a:t>
            </a:fld>
            <a:endParaRPr lang="zh-CN" altLang="en-US"/>
          </a:p>
        </p:txBody>
      </p:sp>
    </p:spTree>
    <p:extLst>
      <p:ext uri="{BB962C8B-B14F-4D97-AF65-F5344CB8AC3E}">
        <p14:creationId xmlns:p14="http://schemas.microsoft.com/office/powerpoint/2010/main" val="13381515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23</a:t>
            </a:fld>
            <a:endParaRPr lang="zh-CN" altLang="en-US"/>
          </a:p>
        </p:txBody>
      </p:sp>
    </p:spTree>
    <p:extLst>
      <p:ext uri="{BB962C8B-B14F-4D97-AF65-F5344CB8AC3E}">
        <p14:creationId xmlns:p14="http://schemas.microsoft.com/office/powerpoint/2010/main" val="31017002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24</a:t>
            </a:fld>
            <a:endParaRPr lang="zh-CN" altLang="en-US"/>
          </a:p>
        </p:txBody>
      </p:sp>
    </p:spTree>
    <p:extLst>
      <p:ext uri="{BB962C8B-B14F-4D97-AF65-F5344CB8AC3E}">
        <p14:creationId xmlns:p14="http://schemas.microsoft.com/office/powerpoint/2010/main" val="810159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25</a:t>
            </a:fld>
            <a:endParaRPr lang="zh-CN" altLang="en-US"/>
          </a:p>
        </p:txBody>
      </p:sp>
    </p:spTree>
    <p:extLst>
      <p:ext uri="{BB962C8B-B14F-4D97-AF65-F5344CB8AC3E}">
        <p14:creationId xmlns:p14="http://schemas.microsoft.com/office/powerpoint/2010/main" val="42504245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26</a:t>
            </a:fld>
            <a:endParaRPr lang="zh-CN" altLang="en-US"/>
          </a:p>
        </p:txBody>
      </p:sp>
    </p:spTree>
    <p:extLst>
      <p:ext uri="{BB962C8B-B14F-4D97-AF65-F5344CB8AC3E}">
        <p14:creationId xmlns:p14="http://schemas.microsoft.com/office/powerpoint/2010/main" val="2210875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27</a:t>
            </a:fld>
            <a:endParaRPr lang="zh-CN" altLang="en-US"/>
          </a:p>
        </p:txBody>
      </p:sp>
    </p:spTree>
    <p:extLst>
      <p:ext uri="{BB962C8B-B14F-4D97-AF65-F5344CB8AC3E}">
        <p14:creationId xmlns:p14="http://schemas.microsoft.com/office/powerpoint/2010/main" val="12506990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28</a:t>
            </a:fld>
            <a:endParaRPr lang="zh-CN" altLang="en-US"/>
          </a:p>
        </p:txBody>
      </p:sp>
    </p:spTree>
    <p:extLst>
      <p:ext uri="{BB962C8B-B14F-4D97-AF65-F5344CB8AC3E}">
        <p14:creationId xmlns:p14="http://schemas.microsoft.com/office/powerpoint/2010/main" val="6258170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29</a:t>
            </a:fld>
            <a:endParaRPr lang="zh-CN" altLang="en-US"/>
          </a:p>
        </p:txBody>
      </p:sp>
    </p:spTree>
    <p:extLst>
      <p:ext uri="{BB962C8B-B14F-4D97-AF65-F5344CB8AC3E}">
        <p14:creationId xmlns:p14="http://schemas.microsoft.com/office/powerpoint/2010/main" val="10358343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30</a:t>
            </a:fld>
            <a:endParaRPr lang="zh-CN" altLang="en-US"/>
          </a:p>
        </p:txBody>
      </p:sp>
    </p:spTree>
    <p:extLst>
      <p:ext uri="{BB962C8B-B14F-4D97-AF65-F5344CB8AC3E}">
        <p14:creationId xmlns:p14="http://schemas.microsoft.com/office/powerpoint/2010/main" val="29610512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31</a:t>
            </a:fld>
            <a:endParaRPr lang="zh-CN" altLang="en-US"/>
          </a:p>
        </p:txBody>
      </p:sp>
    </p:spTree>
    <p:extLst>
      <p:ext uri="{BB962C8B-B14F-4D97-AF65-F5344CB8AC3E}">
        <p14:creationId xmlns:p14="http://schemas.microsoft.com/office/powerpoint/2010/main" val="19305334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32</a:t>
            </a:fld>
            <a:endParaRPr lang="zh-CN" altLang="en-US"/>
          </a:p>
        </p:txBody>
      </p:sp>
    </p:spTree>
    <p:extLst>
      <p:ext uri="{BB962C8B-B14F-4D97-AF65-F5344CB8AC3E}">
        <p14:creationId xmlns:p14="http://schemas.microsoft.com/office/powerpoint/2010/main" val="40546010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33</a:t>
            </a:fld>
            <a:endParaRPr lang="zh-CN" altLang="en-US"/>
          </a:p>
        </p:txBody>
      </p:sp>
    </p:spTree>
    <p:extLst>
      <p:ext uri="{BB962C8B-B14F-4D97-AF65-F5344CB8AC3E}">
        <p14:creationId xmlns:p14="http://schemas.microsoft.com/office/powerpoint/2010/main" val="33740530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34</a:t>
            </a:fld>
            <a:endParaRPr lang="zh-CN" altLang="en-US"/>
          </a:p>
        </p:txBody>
      </p:sp>
    </p:spTree>
    <p:extLst>
      <p:ext uri="{BB962C8B-B14F-4D97-AF65-F5344CB8AC3E}">
        <p14:creationId xmlns:p14="http://schemas.microsoft.com/office/powerpoint/2010/main" val="21239812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35</a:t>
            </a:fld>
            <a:endParaRPr lang="zh-CN" altLang="en-US"/>
          </a:p>
        </p:txBody>
      </p:sp>
    </p:spTree>
    <p:extLst>
      <p:ext uri="{BB962C8B-B14F-4D97-AF65-F5344CB8AC3E}">
        <p14:creationId xmlns:p14="http://schemas.microsoft.com/office/powerpoint/2010/main" val="16773157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36</a:t>
            </a:fld>
            <a:endParaRPr lang="zh-CN" altLang="en-US"/>
          </a:p>
        </p:txBody>
      </p:sp>
    </p:spTree>
    <p:extLst>
      <p:ext uri="{BB962C8B-B14F-4D97-AF65-F5344CB8AC3E}">
        <p14:creationId xmlns:p14="http://schemas.microsoft.com/office/powerpoint/2010/main" val="6464121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37</a:t>
            </a:fld>
            <a:endParaRPr lang="zh-CN" altLang="en-US"/>
          </a:p>
        </p:txBody>
      </p:sp>
    </p:spTree>
    <p:extLst>
      <p:ext uri="{BB962C8B-B14F-4D97-AF65-F5344CB8AC3E}">
        <p14:creationId xmlns:p14="http://schemas.microsoft.com/office/powerpoint/2010/main" val="4095771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38</a:t>
            </a:fld>
            <a:endParaRPr lang="zh-CN" altLang="en-US"/>
          </a:p>
        </p:txBody>
      </p:sp>
    </p:spTree>
    <p:extLst>
      <p:ext uri="{BB962C8B-B14F-4D97-AF65-F5344CB8AC3E}">
        <p14:creationId xmlns:p14="http://schemas.microsoft.com/office/powerpoint/2010/main" val="20722817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39</a:t>
            </a:fld>
            <a:endParaRPr lang="zh-CN" altLang="en-US"/>
          </a:p>
        </p:txBody>
      </p:sp>
    </p:spTree>
    <p:extLst>
      <p:ext uri="{BB962C8B-B14F-4D97-AF65-F5344CB8AC3E}">
        <p14:creationId xmlns:p14="http://schemas.microsoft.com/office/powerpoint/2010/main" val="32302857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40</a:t>
            </a:fld>
            <a:endParaRPr lang="zh-CN" altLang="en-US"/>
          </a:p>
        </p:txBody>
      </p:sp>
    </p:spTree>
    <p:extLst>
      <p:ext uri="{BB962C8B-B14F-4D97-AF65-F5344CB8AC3E}">
        <p14:creationId xmlns:p14="http://schemas.microsoft.com/office/powerpoint/2010/main" val="24523160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41</a:t>
            </a:fld>
            <a:endParaRPr lang="zh-CN" altLang="en-US"/>
          </a:p>
        </p:txBody>
      </p:sp>
    </p:spTree>
    <p:extLst>
      <p:ext uri="{BB962C8B-B14F-4D97-AF65-F5344CB8AC3E}">
        <p14:creationId xmlns:p14="http://schemas.microsoft.com/office/powerpoint/2010/main" val="26896112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42</a:t>
            </a:fld>
            <a:endParaRPr lang="zh-CN" altLang="en-US"/>
          </a:p>
        </p:txBody>
      </p:sp>
    </p:spTree>
    <p:extLst>
      <p:ext uri="{BB962C8B-B14F-4D97-AF65-F5344CB8AC3E}">
        <p14:creationId xmlns:p14="http://schemas.microsoft.com/office/powerpoint/2010/main" val="9813854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43</a:t>
            </a:fld>
            <a:endParaRPr lang="zh-CN" altLang="en-US"/>
          </a:p>
        </p:txBody>
      </p:sp>
    </p:spTree>
    <p:extLst>
      <p:ext uri="{BB962C8B-B14F-4D97-AF65-F5344CB8AC3E}">
        <p14:creationId xmlns:p14="http://schemas.microsoft.com/office/powerpoint/2010/main" val="14286571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44</a:t>
            </a:fld>
            <a:endParaRPr lang="zh-CN" altLang="en-US"/>
          </a:p>
        </p:txBody>
      </p:sp>
    </p:spTree>
    <p:extLst>
      <p:ext uri="{BB962C8B-B14F-4D97-AF65-F5344CB8AC3E}">
        <p14:creationId xmlns:p14="http://schemas.microsoft.com/office/powerpoint/2010/main" val="39072203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45</a:t>
            </a:fld>
            <a:endParaRPr lang="zh-CN" altLang="en-US"/>
          </a:p>
        </p:txBody>
      </p:sp>
    </p:spTree>
    <p:extLst>
      <p:ext uri="{BB962C8B-B14F-4D97-AF65-F5344CB8AC3E}">
        <p14:creationId xmlns:p14="http://schemas.microsoft.com/office/powerpoint/2010/main" val="293350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46</a:t>
            </a:fld>
            <a:endParaRPr lang="zh-CN" altLang="en-US"/>
          </a:p>
        </p:txBody>
      </p:sp>
    </p:spTree>
    <p:extLst>
      <p:ext uri="{BB962C8B-B14F-4D97-AF65-F5344CB8AC3E}">
        <p14:creationId xmlns:p14="http://schemas.microsoft.com/office/powerpoint/2010/main" val="41705066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47</a:t>
            </a:fld>
            <a:endParaRPr lang="zh-CN" altLang="en-US"/>
          </a:p>
        </p:txBody>
      </p:sp>
    </p:spTree>
    <p:extLst>
      <p:ext uri="{BB962C8B-B14F-4D97-AF65-F5344CB8AC3E}">
        <p14:creationId xmlns:p14="http://schemas.microsoft.com/office/powerpoint/2010/main" val="4371050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48</a:t>
            </a:fld>
            <a:endParaRPr lang="zh-CN" altLang="en-US"/>
          </a:p>
        </p:txBody>
      </p:sp>
    </p:spTree>
    <p:extLst>
      <p:ext uri="{BB962C8B-B14F-4D97-AF65-F5344CB8AC3E}">
        <p14:creationId xmlns:p14="http://schemas.microsoft.com/office/powerpoint/2010/main" val="90603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2842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1107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26"/>
            <a:ext cx="10363200" cy="1470025"/>
          </a:xfrm>
        </p:spPr>
        <p:txBody>
          <a:bodyPr/>
          <a:lstStyle/>
          <a:p>
            <a:r>
              <a:rPr lang="zh-TW" altLang="en-US"/>
              <a:t>按一下以編輯母片標題樣式</a:t>
            </a:r>
          </a:p>
        </p:txBody>
      </p:sp>
      <p:sp>
        <p:nvSpPr>
          <p:cNvPr id="3" name="副標題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6EB3881-3AD9-4248-89BF-3585ADFDE6D3}" type="datetime1">
              <a:rPr lang="zh-TW" altLang="en-US" smtClean="0"/>
              <a:t>2018/7/24</a:t>
            </a:fld>
            <a:endParaRPr lang="zh-TW" altLang="en-US"/>
          </a:p>
        </p:txBody>
      </p:sp>
      <p:sp>
        <p:nvSpPr>
          <p:cNvPr id="5" name="頁尾版面配置區 4"/>
          <p:cNvSpPr>
            <a:spLocks noGrp="1"/>
          </p:cNvSpPr>
          <p:nvPr>
            <p:ph type="ftr" sz="quarter" idx="11"/>
          </p:nvPr>
        </p:nvSpPr>
        <p:spPr/>
        <p:txBody>
          <a:bodyPr/>
          <a:lstStyle/>
          <a:p>
            <a:r>
              <a:rPr lang="zh-TW" altLang="en-US"/>
              <a:t>區塊鏈商業應用概論 實例與分析／許孟祥 編著／新陸書局股份有限公司 發行</a:t>
            </a:r>
          </a:p>
        </p:txBody>
      </p:sp>
      <p:sp>
        <p:nvSpPr>
          <p:cNvPr id="6" name="投影片編號版面配置區 5"/>
          <p:cNvSpPr>
            <a:spLocks noGrp="1"/>
          </p:cNvSpPr>
          <p:nvPr>
            <p:ph type="sldNum" sz="quarter" idx="12"/>
          </p:nvPr>
        </p:nvSpPr>
        <p:spPr/>
        <p:txBody>
          <a:bodyPr/>
          <a:lstStyle/>
          <a:p>
            <a:fld id="{9F98A096-46F7-4F4A-8106-40B5A13C16D3}" type="slidenum">
              <a:rPr lang="zh-TW" altLang="en-US" smtClean="0"/>
              <a:t>‹#›</a:t>
            </a:fld>
            <a:endParaRPr lang="zh-TW" altLang="en-US"/>
          </a:p>
        </p:txBody>
      </p:sp>
    </p:spTree>
    <p:extLst>
      <p:ext uri="{BB962C8B-B14F-4D97-AF65-F5344CB8AC3E}">
        <p14:creationId xmlns:p14="http://schemas.microsoft.com/office/powerpoint/2010/main" val="42474287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05873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0"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diagramLayout" Target="../diagrams/layout2.xml"/><Relationship Id="rId3" Type="http://schemas.openxmlformats.org/officeDocument/2006/relationships/image" Target="../media/image3.png"/><Relationship Id="rId7" Type="http://schemas.openxmlformats.org/officeDocument/2006/relationships/diagramData" Target="../diagrams/data1.xml"/><Relationship Id="rId12" Type="http://schemas.openxmlformats.org/officeDocument/2006/relationships/diagramData" Target="../diagrams/data2.xml"/><Relationship Id="rId2" Type="http://schemas.openxmlformats.org/officeDocument/2006/relationships/image" Target="../media/image2.png"/><Relationship Id="rId16" Type="http://schemas.microsoft.com/office/2007/relationships/diagramDrawing" Target="../diagrams/drawing2.xml"/><Relationship Id="rId1" Type="http://schemas.openxmlformats.org/officeDocument/2006/relationships/slideLayout" Target="../slideLayouts/slideLayout3.xml"/><Relationship Id="rId6" Type="http://schemas.microsoft.com/office/2007/relationships/hdphoto" Target="../media/hdphoto1.wdp"/><Relationship Id="rId11" Type="http://schemas.microsoft.com/office/2007/relationships/diagramDrawing" Target="../diagrams/drawing1.xml"/><Relationship Id="rId5" Type="http://schemas.openxmlformats.org/officeDocument/2006/relationships/image" Target="../media/image5.png"/><Relationship Id="rId15" Type="http://schemas.openxmlformats.org/officeDocument/2006/relationships/diagramColors" Target="../diagrams/colors2.xml"/><Relationship Id="rId10" Type="http://schemas.openxmlformats.org/officeDocument/2006/relationships/diagramColors" Target="../diagrams/colors1.xml"/><Relationship Id="rId4" Type="http://schemas.openxmlformats.org/officeDocument/2006/relationships/image" Target="../media/image4.png"/><Relationship Id="rId9" Type="http://schemas.openxmlformats.org/officeDocument/2006/relationships/diagramQuickStyle" Target="../diagrams/quickStyle1.xml"/><Relationship Id="rId1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2.png"/><Relationship Id="rId7" Type="http://schemas.openxmlformats.org/officeDocument/2006/relationships/diagramQuickStyle" Target="../diagrams/quickStyle3.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diagramDrawing" Target="../diagrams/drawing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microsoft.com/office/2007/relationships/hdphoto" Target="../media/hdphoto2.wdp"/><Relationship Id="rId5" Type="http://schemas.openxmlformats.org/officeDocument/2006/relationships/image" Target="../media/image18.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image" Target="../media/image25.jp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8.xml.rels><?xml version="1.0" encoding="UTF-8" standalone="yes"?>
<Relationships xmlns="http://schemas.openxmlformats.org/package/2006/relationships"><Relationship Id="rId8" Type="http://schemas.microsoft.com/office/2007/relationships/diagramDrawing" Target="../diagrams/drawing4.xml"/><Relationship Id="rId13" Type="http://schemas.openxmlformats.org/officeDocument/2006/relationships/diagramColors" Target="../diagrams/colors5.xml"/><Relationship Id="rId18" Type="http://schemas.openxmlformats.org/officeDocument/2006/relationships/image" Target="../media/image32.png"/><Relationship Id="rId3" Type="http://schemas.openxmlformats.org/officeDocument/2006/relationships/image" Target="../media/image2.png"/><Relationship Id="rId7" Type="http://schemas.openxmlformats.org/officeDocument/2006/relationships/diagramColors" Target="../diagrams/colors4.xml"/><Relationship Id="rId12" Type="http://schemas.openxmlformats.org/officeDocument/2006/relationships/diagramQuickStyle" Target="../diagrams/quickStyle5.xml"/><Relationship Id="rId17" Type="http://schemas.openxmlformats.org/officeDocument/2006/relationships/image" Target="../media/image31.png"/><Relationship Id="rId2" Type="http://schemas.openxmlformats.org/officeDocument/2006/relationships/notesSlide" Target="../notesSlides/notesSlide17.xml"/><Relationship Id="rId16"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diagramQuickStyle" Target="../diagrams/quickStyle4.xml"/><Relationship Id="rId11" Type="http://schemas.openxmlformats.org/officeDocument/2006/relationships/diagramLayout" Target="../diagrams/layout5.xml"/><Relationship Id="rId5" Type="http://schemas.openxmlformats.org/officeDocument/2006/relationships/diagramLayout" Target="../diagrams/layout4.xml"/><Relationship Id="rId15" Type="http://schemas.openxmlformats.org/officeDocument/2006/relationships/image" Target="../media/image29.png"/><Relationship Id="rId10" Type="http://schemas.openxmlformats.org/officeDocument/2006/relationships/diagramData" Target="../diagrams/data5.xml"/><Relationship Id="rId19" Type="http://schemas.openxmlformats.org/officeDocument/2006/relationships/image" Target="../media/image33.jpg"/><Relationship Id="rId4" Type="http://schemas.openxmlformats.org/officeDocument/2006/relationships/diagramData" Target="../diagrams/data4.xml"/><Relationship Id="rId9" Type="http://schemas.openxmlformats.org/officeDocument/2006/relationships/image" Target="../media/image28.png"/><Relationship Id="rId14" Type="http://schemas.microsoft.com/office/2007/relationships/diagramDrawing" Target="../diagrams/drawing5.xml"/></Relationships>
</file>

<file path=ppt/slides/_rels/slide19.xml.rels><?xml version="1.0" encoding="UTF-8" standalone="yes"?>
<Relationships xmlns="http://schemas.openxmlformats.org/package/2006/relationships"><Relationship Id="rId8" Type="http://schemas.microsoft.com/office/2007/relationships/diagramDrawing" Target="../diagrams/drawing6.xml"/><Relationship Id="rId13" Type="http://schemas.microsoft.com/office/2007/relationships/diagramDrawing" Target="../diagrams/drawing7.xml"/><Relationship Id="rId3" Type="http://schemas.openxmlformats.org/officeDocument/2006/relationships/image" Target="../media/image2.png"/><Relationship Id="rId7" Type="http://schemas.openxmlformats.org/officeDocument/2006/relationships/diagramColors" Target="../diagrams/colors6.xml"/><Relationship Id="rId12" Type="http://schemas.openxmlformats.org/officeDocument/2006/relationships/diagramColors" Target="../diagrams/colors7.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QuickStyle" Target="../diagrams/quickStyle6.xml"/><Relationship Id="rId11" Type="http://schemas.openxmlformats.org/officeDocument/2006/relationships/diagramQuickStyle" Target="../diagrams/quickStyle7.xml"/><Relationship Id="rId5" Type="http://schemas.openxmlformats.org/officeDocument/2006/relationships/diagramLayout" Target="../diagrams/layout6.xml"/><Relationship Id="rId10" Type="http://schemas.openxmlformats.org/officeDocument/2006/relationships/diagramLayout" Target="../diagrams/layout7.xml"/><Relationship Id="rId4" Type="http://schemas.openxmlformats.org/officeDocument/2006/relationships/diagramData" Target="../diagrams/data6.xml"/><Relationship Id="rId9" Type="http://schemas.openxmlformats.org/officeDocument/2006/relationships/diagramData" Target="../diagrams/data7.xml"/><Relationship Id="rId1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8" Type="http://schemas.openxmlformats.org/officeDocument/2006/relationships/diagramColors" Target="../diagrams/colors8.xml"/><Relationship Id="rId3" Type="http://schemas.openxmlformats.org/officeDocument/2006/relationships/image" Target="../media/image2.png"/><Relationship Id="rId7" Type="http://schemas.openxmlformats.org/officeDocument/2006/relationships/diagramQuickStyle" Target="../diagrams/quickStyle8.xml"/><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diagramLayout" Target="../diagrams/layout8.xml"/><Relationship Id="rId5" Type="http://schemas.openxmlformats.org/officeDocument/2006/relationships/diagramData" Target="../diagrams/data8.xml"/><Relationship Id="rId4" Type="http://schemas.openxmlformats.org/officeDocument/2006/relationships/image" Target="../media/image3.png"/><Relationship Id="rId9" Type="http://schemas.microsoft.com/office/2007/relationships/diagramDrawing" Target="../diagrams/drawing8.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2.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3.png"/><Relationship Id="rId9" Type="http://schemas.openxmlformats.org/officeDocument/2006/relationships/image" Target="../media/image50.png"/><Relationship Id="rId14" Type="http://schemas.openxmlformats.org/officeDocument/2006/relationships/image" Target="../media/image55.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58.jpg"/><Relationship Id="rId5" Type="http://schemas.openxmlformats.org/officeDocument/2006/relationships/image" Target="../media/image57.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60.jpeg"/><Relationship Id="rId5" Type="http://schemas.openxmlformats.org/officeDocument/2006/relationships/image" Target="../media/image59.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3.jpe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6.jp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65.jpg"/><Relationship Id="rId5" Type="http://schemas.openxmlformats.org/officeDocument/2006/relationships/image" Target="../media/image6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68.jpg"/><Relationship Id="rId5" Type="http://schemas.openxmlformats.org/officeDocument/2006/relationships/image" Target="../media/image67.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69.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1.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72.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77.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8" Type="http://schemas.openxmlformats.org/officeDocument/2006/relationships/diagramColors" Target="../diagrams/colors9.xml"/><Relationship Id="rId3" Type="http://schemas.openxmlformats.org/officeDocument/2006/relationships/image" Target="../media/image2.png"/><Relationship Id="rId7" Type="http://schemas.openxmlformats.org/officeDocument/2006/relationships/diagramQuickStyle" Target="../diagrams/quickStyle9.xml"/><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diagramLayout" Target="../diagrams/layout9.xml"/><Relationship Id="rId5" Type="http://schemas.openxmlformats.org/officeDocument/2006/relationships/diagramData" Target="../diagrams/data9.xml"/><Relationship Id="rId4" Type="http://schemas.openxmlformats.org/officeDocument/2006/relationships/image" Target="../media/image3.png"/><Relationship Id="rId9" Type="http://schemas.microsoft.com/office/2007/relationships/diagramDrawing" Target="../diagrams/drawing9.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78.png"/></Relationships>
</file>

<file path=ppt/slides/_rels/slide47.xml.rels><?xml version="1.0" encoding="UTF-8" standalone="yes"?>
<Relationships xmlns="http://schemas.openxmlformats.org/package/2006/relationships"><Relationship Id="rId8" Type="http://schemas.openxmlformats.org/officeDocument/2006/relationships/image" Target="../media/image83.jpeg"/><Relationship Id="rId3" Type="http://schemas.openxmlformats.org/officeDocument/2006/relationships/image" Target="../media/image2.png"/><Relationship Id="rId7" Type="http://schemas.openxmlformats.org/officeDocument/2006/relationships/image" Target="../media/image82.pn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 Id="rId9" Type="http://schemas.openxmlformats.org/officeDocument/2006/relationships/image" Target="../media/image84.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l="3675" r="8038"/>
          <a:stretch/>
        </p:blipFill>
        <p:spPr>
          <a:xfrm>
            <a:off x="0" y="0"/>
            <a:ext cx="12192000" cy="6858000"/>
          </a:xfrm>
          <a:prstGeom prst="rect">
            <a:avLst/>
          </a:prstGeom>
        </p:spPr>
      </p:pic>
      <p:sp>
        <p:nvSpPr>
          <p:cNvPr id="7" name="文本框 6"/>
          <p:cNvSpPr txBox="1"/>
          <p:nvPr/>
        </p:nvSpPr>
        <p:spPr>
          <a:xfrm>
            <a:off x="2876355" y="2280980"/>
            <a:ext cx="3647152" cy="923330"/>
          </a:xfrm>
          <a:prstGeom prst="rect">
            <a:avLst/>
          </a:prstGeom>
          <a:noFill/>
        </p:spPr>
        <p:txBody>
          <a:bodyPr wrap="none" rtlCol="0">
            <a:spAutoFit/>
            <a:scene3d>
              <a:camera prst="orthographicFront"/>
              <a:lightRig rig="threePt" dir="t"/>
            </a:scene3d>
            <a:sp3d contourW="12700"/>
          </a:bodyPr>
          <a:lstStyle/>
          <a:p>
            <a:r>
              <a:rPr lang="zh-TW" altLang="en-US" sz="5400" b="1" dirty="0">
                <a:solidFill>
                  <a:schemeClr val="accent1"/>
                </a:solidFill>
              </a:rPr>
              <a:t>區塊鏈應用</a:t>
            </a:r>
          </a:p>
        </p:txBody>
      </p:sp>
      <p:sp>
        <p:nvSpPr>
          <p:cNvPr id="9" name="矩形 8"/>
          <p:cNvSpPr/>
          <p:nvPr/>
        </p:nvSpPr>
        <p:spPr>
          <a:xfrm>
            <a:off x="2876355" y="1678466"/>
            <a:ext cx="2220480" cy="523220"/>
          </a:xfrm>
          <a:prstGeom prst="rect">
            <a:avLst/>
          </a:prstGeom>
        </p:spPr>
        <p:txBody>
          <a:bodyPr wrap="none">
            <a:spAutoFit/>
            <a:scene3d>
              <a:camera prst="orthographicFront"/>
              <a:lightRig rig="threePt" dir="t"/>
            </a:scene3d>
            <a:sp3d contourW="12700"/>
          </a:bodyPr>
          <a:lstStyle/>
          <a:p>
            <a:r>
              <a:rPr lang="en-US" altLang="zh-CN" sz="2800" b="1" dirty="0">
                <a:solidFill>
                  <a:srgbClr val="4A5A6F"/>
                </a:solidFill>
              </a:rPr>
              <a:t>CHAPTER </a:t>
            </a:r>
            <a:r>
              <a:rPr lang="en-US" altLang="zh-TW" sz="2800" b="1" dirty="0">
                <a:solidFill>
                  <a:srgbClr val="4A5A6F"/>
                </a:solidFill>
              </a:rPr>
              <a:t>5</a:t>
            </a:r>
            <a:endParaRPr lang="zh-CN" altLang="en-US" sz="2800" b="1" dirty="0">
              <a:solidFill>
                <a:srgbClr val="4A5A6F"/>
              </a:solidFill>
            </a:endParaRPr>
          </a:p>
        </p:txBody>
      </p:sp>
      <p:sp>
        <p:nvSpPr>
          <p:cNvPr id="46" name="矩形 23"/>
          <p:cNvSpPr/>
          <p:nvPr/>
        </p:nvSpPr>
        <p:spPr>
          <a:xfrm>
            <a:off x="3329969" y="5032201"/>
            <a:ext cx="189597" cy="242711"/>
          </a:xfrm>
          <a:custGeom>
            <a:avLst/>
            <a:gdLst>
              <a:gd name="connsiteX0" fmla="*/ 11784 w 473070"/>
              <a:gd name="connsiteY0" fmla="*/ 563888 h 605592"/>
              <a:gd name="connsiteX1" fmla="*/ 461073 w 473070"/>
              <a:gd name="connsiteY1" fmla="*/ 563888 h 605592"/>
              <a:gd name="connsiteX2" fmla="*/ 461073 w 473070"/>
              <a:gd name="connsiteY2" fmla="*/ 605592 h 605592"/>
              <a:gd name="connsiteX3" fmla="*/ 11784 w 473070"/>
              <a:gd name="connsiteY3" fmla="*/ 605592 h 605592"/>
              <a:gd name="connsiteX4" fmla="*/ 11784 w 473070"/>
              <a:gd name="connsiteY4" fmla="*/ 500661 h 605592"/>
              <a:gd name="connsiteX5" fmla="*/ 461073 w 473070"/>
              <a:gd name="connsiteY5" fmla="*/ 500661 h 605592"/>
              <a:gd name="connsiteX6" fmla="*/ 461073 w 473070"/>
              <a:gd name="connsiteY6" fmla="*/ 542506 h 605592"/>
              <a:gd name="connsiteX7" fmla="*/ 11784 w 473070"/>
              <a:gd name="connsiteY7" fmla="*/ 542506 h 605592"/>
              <a:gd name="connsiteX8" fmla="*/ 365246 w 473070"/>
              <a:gd name="connsiteY8" fmla="*/ 196807 h 605592"/>
              <a:gd name="connsiteX9" fmla="*/ 407162 w 473070"/>
              <a:gd name="connsiteY9" fmla="*/ 196807 h 605592"/>
              <a:gd name="connsiteX10" fmla="*/ 407162 w 473070"/>
              <a:gd name="connsiteY10" fmla="*/ 467496 h 605592"/>
              <a:gd name="connsiteX11" fmla="*/ 365246 w 473070"/>
              <a:gd name="connsiteY11" fmla="*/ 467496 h 605592"/>
              <a:gd name="connsiteX12" fmla="*/ 215507 w 473070"/>
              <a:gd name="connsiteY12" fmla="*/ 196807 h 605592"/>
              <a:gd name="connsiteX13" fmla="*/ 257352 w 473070"/>
              <a:gd name="connsiteY13" fmla="*/ 196807 h 605592"/>
              <a:gd name="connsiteX14" fmla="*/ 257352 w 473070"/>
              <a:gd name="connsiteY14" fmla="*/ 467496 h 605592"/>
              <a:gd name="connsiteX15" fmla="*/ 215507 w 473070"/>
              <a:gd name="connsiteY15" fmla="*/ 467496 h 605592"/>
              <a:gd name="connsiteX16" fmla="*/ 65767 w 473070"/>
              <a:gd name="connsiteY16" fmla="*/ 196807 h 605592"/>
              <a:gd name="connsiteX17" fmla="*/ 107612 w 473070"/>
              <a:gd name="connsiteY17" fmla="*/ 196807 h 605592"/>
              <a:gd name="connsiteX18" fmla="*/ 107612 w 473070"/>
              <a:gd name="connsiteY18" fmla="*/ 467496 h 605592"/>
              <a:gd name="connsiteX19" fmla="*/ 65767 w 473070"/>
              <a:gd name="connsiteY19" fmla="*/ 467496 h 605592"/>
              <a:gd name="connsiteX20" fmla="*/ 236581 w 473070"/>
              <a:gd name="connsiteY20" fmla="*/ 0 h 605592"/>
              <a:gd name="connsiteX21" fmla="*/ 473070 w 473070"/>
              <a:gd name="connsiteY21" fmla="*/ 164833 h 605592"/>
              <a:gd name="connsiteX22" fmla="*/ 449115 w 473070"/>
              <a:gd name="connsiteY22" fmla="*/ 199135 h 605592"/>
              <a:gd name="connsiteX23" fmla="*/ 236303 w 473070"/>
              <a:gd name="connsiteY23" fmla="*/ 50711 h 605592"/>
              <a:gd name="connsiteX24" fmla="*/ 23491 w 473070"/>
              <a:gd name="connsiteY24" fmla="*/ 194963 h 605592"/>
              <a:gd name="connsiteX25" fmla="*/ 0 w 473070"/>
              <a:gd name="connsiteY25" fmla="*/ 160383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3070" h="605592">
                <a:moveTo>
                  <a:pt x="11784" y="563888"/>
                </a:moveTo>
                <a:lnTo>
                  <a:pt x="461073" y="563888"/>
                </a:lnTo>
                <a:lnTo>
                  <a:pt x="461073" y="605592"/>
                </a:lnTo>
                <a:lnTo>
                  <a:pt x="11784" y="605592"/>
                </a:lnTo>
                <a:close/>
                <a:moveTo>
                  <a:pt x="11784" y="500661"/>
                </a:moveTo>
                <a:lnTo>
                  <a:pt x="461073" y="500661"/>
                </a:lnTo>
                <a:lnTo>
                  <a:pt x="461073" y="542506"/>
                </a:lnTo>
                <a:lnTo>
                  <a:pt x="11784" y="542506"/>
                </a:lnTo>
                <a:close/>
                <a:moveTo>
                  <a:pt x="365246" y="196807"/>
                </a:moveTo>
                <a:lnTo>
                  <a:pt x="407162" y="196807"/>
                </a:lnTo>
                <a:lnTo>
                  <a:pt x="407162" y="467496"/>
                </a:lnTo>
                <a:lnTo>
                  <a:pt x="365246" y="467496"/>
                </a:lnTo>
                <a:close/>
                <a:moveTo>
                  <a:pt x="215507" y="196807"/>
                </a:moveTo>
                <a:lnTo>
                  <a:pt x="257352" y="196807"/>
                </a:lnTo>
                <a:lnTo>
                  <a:pt x="257352" y="467496"/>
                </a:lnTo>
                <a:lnTo>
                  <a:pt x="215507" y="467496"/>
                </a:lnTo>
                <a:close/>
                <a:moveTo>
                  <a:pt x="65767" y="196807"/>
                </a:moveTo>
                <a:lnTo>
                  <a:pt x="107612" y="196807"/>
                </a:lnTo>
                <a:lnTo>
                  <a:pt x="107612" y="467496"/>
                </a:lnTo>
                <a:lnTo>
                  <a:pt x="65767" y="467496"/>
                </a:lnTo>
                <a:close/>
                <a:moveTo>
                  <a:pt x="236581" y="0"/>
                </a:moveTo>
                <a:lnTo>
                  <a:pt x="473070" y="164833"/>
                </a:lnTo>
                <a:lnTo>
                  <a:pt x="449115" y="199135"/>
                </a:lnTo>
                <a:lnTo>
                  <a:pt x="236303" y="50711"/>
                </a:lnTo>
                <a:lnTo>
                  <a:pt x="23491" y="194963"/>
                </a:lnTo>
                <a:lnTo>
                  <a:pt x="0" y="16038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7" name="矩形 35"/>
          <p:cNvSpPr/>
          <p:nvPr/>
        </p:nvSpPr>
        <p:spPr>
          <a:xfrm>
            <a:off x="4863869" y="5032384"/>
            <a:ext cx="242711" cy="242344"/>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文字方塊 9">
            <a:extLst>
              <a:ext uri="{FF2B5EF4-FFF2-40B4-BE49-F238E27FC236}">
                <a16:creationId xmlns:a16="http://schemas.microsoft.com/office/drawing/2014/main" id="{5EB95789-1338-4013-A515-04F0F93F710E}"/>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Tree>
    <p:extLst>
      <p:ext uri="{BB962C8B-B14F-4D97-AF65-F5344CB8AC3E}">
        <p14:creationId xmlns:p14="http://schemas.microsoft.com/office/powerpoint/2010/main" val="326388290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ppt_x</p:attrName>
                                        </p:attrNameLst>
                                      </p:cBhvr>
                                      <p:tavLst>
                                        <p:tav tm="0">
                                          <p:val>
                                            <p:strVal val="#ppt_x-#ppt_w*1.125000"/>
                                          </p:val>
                                        </p:tav>
                                        <p:tav tm="100000">
                                          <p:val>
                                            <p:strVal val="#ppt_x"/>
                                          </p:val>
                                        </p:tav>
                                      </p:tavLst>
                                    </p:anim>
                                    <p:animEffect transition="in" filter="wipe(right)">
                                      <p:cBhvr>
                                        <p:cTn id="8" dur="500"/>
                                        <p:tgtEl>
                                          <p:spTgt spid="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p:tgtEl>
                                          <p:spTgt spid="9"/>
                                        </p:tgtEl>
                                        <p:attrNameLst>
                                          <p:attrName>ppt_y</p:attrName>
                                        </p:attrNameLst>
                                      </p:cBhvr>
                                      <p:tavLst>
                                        <p:tav tm="0">
                                          <p:val>
                                            <p:strVal val="#ppt_y+#ppt_h*1.125000"/>
                                          </p:val>
                                        </p:tav>
                                        <p:tav tm="100000">
                                          <p:val>
                                            <p:strVal val="#ppt_y"/>
                                          </p:val>
                                        </p:tav>
                                      </p:tavLst>
                                    </p:anim>
                                    <p:animEffect transition="in" filter="wipe(up)">
                                      <p:cBhvr>
                                        <p:cTn id="12" dur="500"/>
                                        <p:tgtEl>
                                          <p:spTgt spid="9"/>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p:cTn id="15" dur="500" fill="hold"/>
                                        <p:tgtEl>
                                          <p:spTgt spid="46"/>
                                        </p:tgtEl>
                                        <p:attrNameLst>
                                          <p:attrName>ppt_w</p:attrName>
                                        </p:attrNameLst>
                                      </p:cBhvr>
                                      <p:tavLst>
                                        <p:tav tm="0">
                                          <p:val>
                                            <p:fltVal val="0"/>
                                          </p:val>
                                        </p:tav>
                                        <p:tav tm="100000">
                                          <p:val>
                                            <p:strVal val="#ppt_w"/>
                                          </p:val>
                                        </p:tav>
                                      </p:tavLst>
                                    </p:anim>
                                    <p:anim calcmode="lin" valueType="num">
                                      <p:cBhvr>
                                        <p:cTn id="16" dur="500" fill="hold"/>
                                        <p:tgtEl>
                                          <p:spTgt spid="46"/>
                                        </p:tgtEl>
                                        <p:attrNameLst>
                                          <p:attrName>ppt_h</p:attrName>
                                        </p:attrNameLst>
                                      </p:cBhvr>
                                      <p:tavLst>
                                        <p:tav tm="0">
                                          <p:val>
                                            <p:fltVal val="0"/>
                                          </p:val>
                                        </p:tav>
                                        <p:tav tm="100000">
                                          <p:val>
                                            <p:strVal val="#ppt_h"/>
                                          </p:val>
                                        </p:tav>
                                      </p:tavLst>
                                    </p:anim>
                                    <p:animEffect transition="in" filter="fade">
                                      <p:cBhvr>
                                        <p:cTn id="17" dur="500"/>
                                        <p:tgtEl>
                                          <p:spTgt spid="46"/>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47"/>
                                        </p:tgtEl>
                                        <p:attrNameLst>
                                          <p:attrName>style.visibility</p:attrName>
                                        </p:attrNameLst>
                                      </p:cBhvr>
                                      <p:to>
                                        <p:strVal val="visible"/>
                                      </p:to>
                                    </p:set>
                                    <p:anim calcmode="lin" valueType="num">
                                      <p:cBhvr>
                                        <p:cTn id="20" dur="500" fill="hold"/>
                                        <p:tgtEl>
                                          <p:spTgt spid="47"/>
                                        </p:tgtEl>
                                        <p:attrNameLst>
                                          <p:attrName>ppt_w</p:attrName>
                                        </p:attrNameLst>
                                      </p:cBhvr>
                                      <p:tavLst>
                                        <p:tav tm="0">
                                          <p:val>
                                            <p:fltVal val="0"/>
                                          </p:val>
                                        </p:tav>
                                        <p:tav tm="100000">
                                          <p:val>
                                            <p:strVal val="#ppt_w"/>
                                          </p:val>
                                        </p:tav>
                                      </p:tavLst>
                                    </p:anim>
                                    <p:anim calcmode="lin" valueType="num">
                                      <p:cBhvr>
                                        <p:cTn id="21" dur="500" fill="hold"/>
                                        <p:tgtEl>
                                          <p:spTgt spid="47"/>
                                        </p:tgtEl>
                                        <p:attrNameLst>
                                          <p:attrName>ppt_h</p:attrName>
                                        </p:attrNameLst>
                                      </p:cBhvr>
                                      <p:tavLst>
                                        <p:tav tm="0">
                                          <p:val>
                                            <p:fltVal val="0"/>
                                          </p:val>
                                        </p:tav>
                                        <p:tav tm="100000">
                                          <p:val>
                                            <p:strVal val="#ppt_h"/>
                                          </p:val>
                                        </p:tav>
                                      </p:tavLst>
                                    </p:anim>
                                    <p:animEffect transition="in" filter="fade">
                                      <p:cBhvr>
                                        <p:cTn id="2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46" grpId="0" animBg="1"/>
      <p:bldP spid="4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flipH="1">
            <a:off x="8244230" y="0"/>
            <a:ext cx="3947770" cy="4851400"/>
          </a:xfrm>
          <a:prstGeom prst="rect">
            <a:avLst/>
          </a:prstGeom>
        </p:spPr>
      </p:pic>
      <p:sp>
        <p:nvSpPr>
          <p:cNvPr id="5" name="矩形 4"/>
          <p:cNvSpPr/>
          <p:nvPr/>
        </p:nvSpPr>
        <p:spPr>
          <a:xfrm>
            <a:off x="1797330" y="1351226"/>
            <a:ext cx="3318537"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5-1 </a:t>
            </a:r>
            <a:r>
              <a:rPr lang="zh-TW" altLang="en-US" sz="2800" b="1" dirty="0">
                <a:solidFill>
                  <a:schemeClr val="accent6"/>
                </a:solidFill>
              </a:rPr>
              <a:t>區塊鏈應用架構</a:t>
            </a:r>
          </a:p>
        </p:txBody>
      </p:sp>
      <p:sp>
        <p:nvSpPr>
          <p:cNvPr id="47" name="矩形 46"/>
          <p:cNvSpPr/>
          <p:nvPr/>
        </p:nvSpPr>
        <p:spPr>
          <a:xfrm>
            <a:off x="1797330" y="2230883"/>
            <a:ext cx="4395755"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5-2</a:t>
            </a:r>
            <a:r>
              <a:rPr lang="zh-TW" altLang="en-US" sz="2800" b="1" dirty="0">
                <a:solidFill>
                  <a:schemeClr val="accent6"/>
                </a:solidFill>
              </a:rPr>
              <a:t> 區塊鏈之金融服務應用</a:t>
            </a:r>
          </a:p>
        </p:txBody>
      </p:sp>
      <p:sp>
        <p:nvSpPr>
          <p:cNvPr id="52" name="矩形 51"/>
          <p:cNvSpPr/>
          <p:nvPr/>
        </p:nvSpPr>
        <p:spPr>
          <a:xfrm>
            <a:off x="1797330" y="3110540"/>
            <a:ext cx="4754828"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5-3</a:t>
            </a:r>
            <a:r>
              <a:rPr lang="zh-TW" altLang="en-US" sz="2800" b="1" dirty="0">
                <a:solidFill>
                  <a:schemeClr val="accent6"/>
                </a:solidFill>
              </a:rPr>
              <a:t> 區塊鏈之非金融服務應用</a:t>
            </a:r>
          </a:p>
        </p:txBody>
      </p:sp>
      <p:sp>
        <p:nvSpPr>
          <p:cNvPr id="65" name="文本框 64"/>
          <p:cNvSpPr txBox="1"/>
          <p:nvPr/>
        </p:nvSpPr>
        <p:spPr>
          <a:xfrm rot="5400000">
            <a:off x="5416355" y="2443872"/>
            <a:ext cx="3531736" cy="923330"/>
          </a:xfrm>
          <a:prstGeom prst="rect">
            <a:avLst/>
          </a:prstGeom>
          <a:noFill/>
        </p:spPr>
        <p:txBody>
          <a:bodyPr wrap="none" rtlCol="0">
            <a:spAutoFit/>
            <a:scene3d>
              <a:camera prst="orthographicFront"/>
              <a:lightRig rig="threePt" dir="t"/>
            </a:scene3d>
            <a:sp3d contourW="12700"/>
          </a:bodyPr>
          <a:lstStyle/>
          <a:p>
            <a:r>
              <a:rPr lang="en-US" altLang="zh-CN" sz="5400" b="1" dirty="0">
                <a:solidFill>
                  <a:schemeClr val="accent1"/>
                </a:solidFill>
              </a:rPr>
              <a:t>CONTENT</a:t>
            </a:r>
            <a:endParaRPr lang="zh-CN" altLang="en-US" sz="5400" b="1" dirty="0">
              <a:solidFill>
                <a:schemeClr val="accent1"/>
              </a:solidFill>
            </a:endParaRPr>
          </a:p>
        </p:txBody>
      </p:sp>
      <p:sp>
        <p:nvSpPr>
          <p:cNvPr id="8" name="文字方塊 7">
            <a:extLst>
              <a:ext uri="{FF2B5EF4-FFF2-40B4-BE49-F238E27FC236}">
                <a16:creationId xmlns:a16="http://schemas.microsoft.com/office/drawing/2014/main" id="{AD9A2B78-0D0D-4B36-A4E1-F03D659AB278}"/>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矩形 8">
            <a:extLst>
              <a:ext uri="{FF2B5EF4-FFF2-40B4-BE49-F238E27FC236}">
                <a16:creationId xmlns:a16="http://schemas.microsoft.com/office/drawing/2014/main" id="{C851E388-964F-4C2E-98A5-9657B39F9D31}"/>
              </a:ext>
            </a:extLst>
          </p:cNvPr>
          <p:cNvSpPr/>
          <p:nvPr/>
        </p:nvSpPr>
        <p:spPr>
          <a:xfrm>
            <a:off x="1797329" y="3990197"/>
            <a:ext cx="4395755"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5-4</a:t>
            </a:r>
            <a:r>
              <a:rPr lang="zh-TW" altLang="en-US" sz="2800" b="1" dirty="0">
                <a:solidFill>
                  <a:schemeClr val="accent6"/>
                </a:solidFill>
              </a:rPr>
              <a:t> 區塊鏈應用 </a:t>
            </a:r>
            <a:r>
              <a:rPr lang="en-US" altLang="zh-TW" sz="2800" b="1" dirty="0">
                <a:solidFill>
                  <a:schemeClr val="accent6"/>
                </a:solidFill>
              </a:rPr>
              <a:t>–</a:t>
            </a:r>
            <a:r>
              <a:rPr lang="zh-TW" altLang="en-US" sz="2800" b="1" dirty="0">
                <a:solidFill>
                  <a:schemeClr val="accent6"/>
                </a:solidFill>
              </a:rPr>
              <a:t> </a:t>
            </a:r>
            <a:r>
              <a:rPr lang="en-US" altLang="zh-TW" sz="2800" b="1" dirty="0">
                <a:solidFill>
                  <a:schemeClr val="accent6"/>
                </a:solidFill>
              </a:rPr>
              <a:t>ICO</a:t>
            </a:r>
            <a:r>
              <a:rPr lang="zh-TW" altLang="en-US" sz="2800" b="1" dirty="0">
                <a:solidFill>
                  <a:schemeClr val="accent6"/>
                </a:solidFill>
              </a:rPr>
              <a:t>案例</a:t>
            </a:r>
          </a:p>
        </p:txBody>
      </p:sp>
    </p:spTree>
    <p:extLst>
      <p:ext uri="{BB962C8B-B14F-4D97-AF65-F5344CB8AC3E}">
        <p14:creationId xmlns:p14="http://schemas.microsoft.com/office/powerpoint/2010/main" val="383953671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1000"/>
                                        <p:tgtEl>
                                          <p:spTgt spid="65"/>
                                        </p:tgtEl>
                                      </p:cBhvr>
                                    </p:animEffect>
                                    <p:anim calcmode="lin" valueType="num">
                                      <p:cBhvr>
                                        <p:cTn id="13" dur="1000" fill="hold"/>
                                        <p:tgtEl>
                                          <p:spTgt spid="65"/>
                                        </p:tgtEl>
                                        <p:attrNameLst>
                                          <p:attrName>ppt_x</p:attrName>
                                        </p:attrNameLst>
                                      </p:cBhvr>
                                      <p:tavLst>
                                        <p:tav tm="0">
                                          <p:val>
                                            <p:strVal val="#ppt_x"/>
                                          </p:val>
                                        </p:tav>
                                        <p:tav tm="100000">
                                          <p:val>
                                            <p:strVal val="#ppt_x"/>
                                          </p:val>
                                        </p:tav>
                                      </p:tavLst>
                                    </p:anim>
                                    <p:anim calcmode="lin" valueType="num">
                                      <p:cBhvr>
                                        <p:cTn id="14" dur="1000" fill="hold"/>
                                        <p:tgtEl>
                                          <p:spTgt spid="65"/>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16" presetClass="entr" presetSubtype="21"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inVertical)">
                                      <p:cBhvr>
                                        <p:cTn id="18" dur="500"/>
                                        <p:tgtEl>
                                          <p:spTgt spid="5"/>
                                        </p:tgtEl>
                                      </p:cBhvr>
                                    </p:animEffect>
                                  </p:childTnLst>
                                </p:cTn>
                              </p:par>
                            </p:childTnLst>
                          </p:cTn>
                        </p:par>
                        <p:par>
                          <p:cTn id="19" fill="hold">
                            <p:stCondLst>
                              <p:cond delay="2000"/>
                            </p:stCondLst>
                            <p:childTnLst>
                              <p:par>
                                <p:cTn id="20" presetID="16" presetClass="entr" presetSubtype="21" fill="hold" grpId="0" nodeType="after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barn(inVertical)">
                                      <p:cBhvr>
                                        <p:cTn id="22" dur="500"/>
                                        <p:tgtEl>
                                          <p:spTgt spid="47"/>
                                        </p:tgtEl>
                                      </p:cBhvr>
                                    </p:animEffect>
                                  </p:childTnLst>
                                </p:cTn>
                              </p:par>
                            </p:childTnLst>
                          </p:cTn>
                        </p:par>
                        <p:par>
                          <p:cTn id="23" fill="hold">
                            <p:stCondLst>
                              <p:cond delay="2500"/>
                            </p:stCondLst>
                            <p:childTnLst>
                              <p:par>
                                <p:cTn id="24" presetID="16" presetClass="entr" presetSubtype="21" fill="hold" grpId="0" nodeType="after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barn(inVertical)">
                                      <p:cBhvr>
                                        <p:cTn id="26" dur="500"/>
                                        <p:tgtEl>
                                          <p:spTgt spid="52"/>
                                        </p:tgtEl>
                                      </p:cBhvr>
                                    </p:animEffect>
                                  </p:childTnLst>
                                </p:cTn>
                              </p:par>
                            </p:childTnLst>
                          </p:cTn>
                        </p:par>
                        <p:par>
                          <p:cTn id="27" fill="hold">
                            <p:stCondLst>
                              <p:cond delay="3000"/>
                            </p:stCondLst>
                            <p:childTnLst>
                              <p:par>
                                <p:cTn id="28" presetID="16" presetClass="entr" presetSubtype="21"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arn(inVertical)">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7" grpId="0"/>
      <p:bldP spid="52" grpId="0"/>
      <p:bldP spid="65"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6729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5-1 </a:t>
            </a:r>
            <a:r>
              <a:rPr lang="zh-TW" altLang="en-US" sz="2400" b="1" dirty="0">
                <a:solidFill>
                  <a:srgbClr val="E06741"/>
                </a:solidFill>
              </a:rPr>
              <a:t>區塊鏈應用架構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4" name="文字方塊 33">
            <a:extLst>
              <a:ext uri="{FF2B5EF4-FFF2-40B4-BE49-F238E27FC236}">
                <a16:creationId xmlns:a16="http://schemas.microsoft.com/office/drawing/2014/main" id="{73EA10E1-7638-4516-B61E-4B64E154AD56}"/>
              </a:ext>
            </a:extLst>
          </p:cNvPr>
          <p:cNvSpPr txBox="1"/>
          <p:nvPr/>
        </p:nvSpPr>
        <p:spPr>
          <a:xfrm>
            <a:off x="1727580" y="1057821"/>
            <a:ext cx="9666577" cy="2150973"/>
          </a:xfrm>
          <a:prstGeom prst="rect">
            <a:avLst/>
          </a:prstGeom>
          <a:noFill/>
        </p:spPr>
        <p:txBody>
          <a:bodyPr wrap="square" rtlCol="0">
            <a:spAutoFit/>
          </a:bodyPr>
          <a:lstStyle/>
          <a:p>
            <a:pPr marL="342900" indent="-342900">
              <a:lnSpc>
                <a:spcPct val="150000"/>
              </a:lnSpc>
              <a:buBlip>
                <a:blip r:embed="rId3"/>
              </a:buBlip>
            </a:pPr>
            <a:r>
              <a:rPr lang="zh-TW" altLang="en-US" sz="2300" b="1" dirty="0">
                <a:solidFill>
                  <a:schemeClr val="tx2"/>
                </a:solidFill>
                <a:latin typeface="微軟正黑體" panose="020B0604030504040204" pitchFamily="34" charset="-120"/>
                <a:ea typeface="微軟正黑體" panose="020B0604030504040204" pitchFamily="34" charset="-120"/>
              </a:rPr>
              <a:t>架構</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：為完成既定目標所規劃的</a:t>
            </a:r>
            <a:r>
              <a:rPr lang="zh-TW" altLang="en-US" sz="2300" b="1" dirty="0">
                <a:solidFill>
                  <a:schemeClr val="tx2"/>
                </a:solidFill>
                <a:latin typeface="微軟正黑體" panose="020B0604030504040204" pitchFamily="34" charset="-120"/>
                <a:ea typeface="微軟正黑體" panose="020B0604030504040204" pitchFamily="34" charset="-120"/>
              </a:rPr>
              <a:t>功能性、系統性</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a:t>
            </a:r>
            <a:r>
              <a:rPr lang="zh-TW" altLang="en-US" sz="2300" b="1" dirty="0">
                <a:solidFill>
                  <a:schemeClr val="tx2"/>
                </a:solidFill>
                <a:latin typeface="微軟正黑體" panose="020B0604030504040204" pitchFamily="34" charset="-120"/>
                <a:ea typeface="微軟正黑體" panose="020B0604030504040204" pitchFamily="34" charset="-120"/>
              </a:rPr>
              <a:t>作業模式或流程</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，整合成一個</a:t>
            </a:r>
            <a:r>
              <a:rPr lang="zh-TW" altLang="en-US" sz="2300" b="1" dirty="0">
                <a:solidFill>
                  <a:schemeClr val="tx2"/>
                </a:solidFill>
                <a:latin typeface="微軟正黑體" panose="020B0604030504040204" pitchFamily="34" charset="-120"/>
                <a:ea typeface="微軟正黑體" panose="020B0604030504040204" pitchFamily="34" charset="-120"/>
              </a:rPr>
              <a:t>組織性結構</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，目的在於順利</a:t>
            </a:r>
            <a:r>
              <a:rPr lang="zh-TW" altLang="en-US" sz="2300" b="1" dirty="0">
                <a:solidFill>
                  <a:srgbClr val="54667E"/>
                </a:solidFill>
                <a:latin typeface="微軟正黑體" panose="020B0604030504040204" pitchFamily="34" charset="-120"/>
                <a:ea typeface="微軟正黑體" panose="020B0604030504040204" pitchFamily="34" charset="-120"/>
              </a:rPr>
              <a:t>執行任務</a:t>
            </a:r>
            <a:endParaRPr lang="en-US" altLang="zh-TW" sz="2300" b="1" dirty="0">
              <a:solidFill>
                <a:srgbClr val="54667E"/>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區塊鏈應用秉持架構的理念，設計區塊鏈在各產業領域應用的基礎架構，主要在於</a:t>
            </a:r>
            <a:r>
              <a:rPr lang="zh-TW" altLang="en-US" sz="2300" b="1" dirty="0">
                <a:solidFill>
                  <a:srgbClr val="54667E"/>
                </a:solidFill>
                <a:latin typeface="微軟正黑體" panose="020B0604030504040204" pitchFamily="34" charset="-120"/>
                <a:ea typeface="微軟正黑體" panose="020B0604030504040204" pitchFamily="34" charset="-120"/>
              </a:rPr>
              <a:t>落實區塊鏈交易平台</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的功能及達到</a:t>
            </a:r>
            <a:r>
              <a:rPr lang="zh-TW" altLang="en-US" sz="2300" b="1" dirty="0">
                <a:solidFill>
                  <a:srgbClr val="54667E"/>
                </a:solidFill>
                <a:latin typeface="微軟正黑體" panose="020B0604030504040204" pitchFamily="34" charset="-120"/>
                <a:ea typeface="微軟正黑體" panose="020B0604030504040204" pitchFamily="34" charset="-120"/>
              </a:rPr>
              <a:t>交易便利性</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的目標</a:t>
            </a:r>
          </a:p>
        </p:txBody>
      </p:sp>
      <p:cxnSp>
        <p:nvCxnSpPr>
          <p:cNvPr id="26" name="直接连接符 33">
            <a:extLst>
              <a:ext uri="{FF2B5EF4-FFF2-40B4-BE49-F238E27FC236}">
                <a16:creationId xmlns:a16="http://schemas.microsoft.com/office/drawing/2014/main" id="{08042C65-3D7D-4C26-8CA1-7B312D733703}"/>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群組 1">
            <a:extLst>
              <a:ext uri="{FF2B5EF4-FFF2-40B4-BE49-F238E27FC236}">
                <a16:creationId xmlns:a16="http://schemas.microsoft.com/office/drawing/2014/main" id="{69187220-5D7E-4053-ABEA-F9EF821598E2}"/>
              </a:ext>
            </a:extLst>
          </p:cNvPr>
          <p:cNvGrpSpPr/>
          <p:nvPr/>
        </p:nvGrpSpPr>
        <p:grpSpPr>
          <a:xfrm>
            <a:off x="2843549" y="3208794"/>
            <a:ext cx="7434638" cy="3230780"/>
            <a:chOff x="-57826" y="1053533"/>
            <a:chExt cx="12467278" cy="5417752"/>
          </a:xfrm>
        </p:grpSpPr>
        <p:pic>
          <p:nvPicPr>
            <p:cNvPr id="53" name="圖片 52">
              <a:extLst>
                <a:ext uri="{FF2B5EF4-FFF2-40B4-BE49-F238E27FC236}">
                  <a16:creationId xmlns:a16="http://schemas.microsoft.com/office/drawing/2014/main" id="{7F1292B9-976C-4A7F-8E11-393DB8686D33}"/>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38399" y="2007838"/>
              <a:ext cx="6101888" cy="1990139"/>
            </a:xfrm>
            <a:prstGeom prst="rect">
              <a:avLst/>
            </a:prstGeom>
          </p:spPr>
        </p:pic>
        <p:pic>
          <p:nvPicPr>
            <p:cNvPr id="54" name="圖片 53">
              <a:extLst>
                <a:ext uri="{FF2B5EF4-FFF2-40B4-BE49-F238E27FC236}">
                  <a16:creationId xmlns:a16="http://schemas.microsoft.com/office/drawing/2014/main" id="{F648072E-7976-40B3-9638-56889C20CF81}"/>
                </a:ext>
              </a:extLst>
            </p:cNvPr>
            <p:cNvPicPr>
              <a:picLocks noChangeAspect="1"/>
            </p:cNvPicPr>
            <p:nvPr/>
          </p:nvPicPr>
          <p:blipFill>
            <a:blip r:embed="rId5" cstate="print">
              <a:clrChange>
                <a:clrFrom>
                  <a:srgbClr val="000000">
                    <a:alpha val="0"/>
                  </a:srgbClr>
                </a:clrFrom>
                <a:clrTo>
                  <a:srgbClr val="000000">
                    <a:alpha val="0"/>
                  </a:srgbClr>
                </a:clrTo>
              </a:clrChange>
              <a:duotone>
                <a:schemeClr val="accent5">
                  <a:shade val="45000"/>
                  <a:satMod val="135000"/>
                </a:schemeClr>
                <a:prstClr val="white"/>
              </a:duotone>
              <a:extLst>
                <a:ext uri="{BEBA8EAE-BF5A-486C-A8C5-ECC9F3942E4B}">
                  <a14:imgProps xmlns:a14="http://schemas.microsoft.com/office/drawing/2010/main">
                    <a14:imgLayer r:embed="rId6">
                      <a14:imgEffect>
                        <a14:artisticCutout/>
                      </a14:imgEffect>
                    </a14:imgLayer>
                  </a14:imgProps>
                </a:ext>
                <a:ext uri="{28A0092B-C50C-407E-A947-70E740481C1C}">
                  <a14:useLocalDpi xmlns:a14="http://schemas.microsoft.com/office/drawing/2010/main" val="0"/>
                </a:ext>
              </a:extLst>
            </a:blip>
            <a:stretch>
              <a:fillRect/>
            </a:stretch>
          </p:blipFill>
          <p:spPr>
            <a:xfrm>
              <a:off x="0" y="1053533"/>
              <a:ext cx="4319560" cy="5417752"/>
            </a:xfrm>
            <a:prstGeom prst="rect">
              <a:avLst/>
            </a:prstGeom>
          </p:spPr>
        </p:pic>
        <p:graphicFrame>
          <p:nvGraphicFramePr>
            <p:cNvPr id="55" name="資料庫圖表 54">
              <a:extLst>
                <a:ext uri="{FF2B5EF4-FFF2-40B4-BE49-F238E27FC236}">
                  <a16:creationId xmlns:a16="http://schemas.microsoft.com/office/drawing/2014/main" id="{5CB70F90-A4B0-49F5-AC2B-E5CB744E2668}"/>
                </a:ext>
              </a:extLst>
            </p:cNvPr>
            <p:cNvGraphicFramePr/>
            <p:nvPr>
              <p:extLst>
                <p:ext uri="{D42A27DB-BD31-4B8C-83A1-F6EECF244321}">
                  <p14:modId xmlns:p14="http://schemas.microsoft.com/office/powerpoint/2010/main" val="2097995726"/>
                </p:ext>
              </p:extLst>
            </p:nvPr>
          </p:nvGraphicFramePr>
          <p:xfrm>
            <a:off x="-57826" y="1889801"/>
            <a:ext cx="3672408" cy="198925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6" name="文字方塊 55">
              <a:extLst>
                <a:ext uri="{FF2B5EF4-FFF2-40B4-BE49-F238E27FC236}">
                  <a16:creationId xmlns:a16="http://schemas.microsoft.com/office/drawing/2014/main" id="{E860C6C2-D263-44F7-8D3D-D9399594B1BA}"/>
                </a:ext>
              </a:extLst>
            </p:cNvPr>
            <p:cNvSpPr txBox="1"/>
            <p:nvPr/>
          </p:nvSpPr>
          <p:spPr>
            <a:xfrm>
              <a:off x="5298785" y="2519167"/>
              <a:ext cx="1784199" cy="980620"/>
            </a:xfrm>
            <a:prstGeom prst="rect">
              <a:avLst/>
            </a:prstGeom>
            <a:noFill/>
          </p:spPr>
          <p:txBody>
            <a:bodyPr wrap="square" rtlCol="0">
              <a:spAutoFit/>
            </a:bodyP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區塊鏈</a:t>
              </a:r>
              <a:endParaRPr lang="en-US" altLang="zh-TW" sz="1600" b="1" dirty="0">
                <a:solidFill>
                  <a:schemeClr val="bg1"/>
                </a:solidFill>
                <a:latin typeface="微軟正黑體" panose="020B0604030504040204" pitchFamily="34" charset="-120"/>
                <a:ea typeface="微軟正黑體" panose="020B0604030504040204" pitchFamily="34" charset="-120"/>
              </a:endParaRPr>
            </a:p>
            <a:p>
              <a:pPr algn="ctr"/>
              <a:r>
                <a:rPr lang="zh-TW" altLang="en-US" sz="1600" b="1" dirty="0">
                  <a:solidFill>
                    <a:schemeClr val="bg1"/>
                  </a:solidFill>
                  <a:latin typeface="微軟正黑體" panose="020B0604030504040204" pitchFamily="34" charset="-120"/>
                  <a:ea typeface="微軟正黑體" panose="020B0604030504040204" pitchFamily="34" charset="-120"/>
                </a:rPr>
                <a:t>應用架構</a:t>
              </a:r>
            </a:p>
          </p:txBody>
        </p:sp>
        <p:sp>
          <p:nvSpPr>
            <p:cNvPr id="57" name="文字方塊 56">
              <a:extLst>
                <a:ext uri="{FF2B5EF4-FFF2-40B4-BE49-F238E27FC236}">
                  <a16:creationId xmlns:a16="http://schemas.microsoft.com/office/drawing/2014/main" id="{61EA95A1-D48F-4F2D-B906-E15BE29304B6}"/>
                </a:ext>
              </a:extLst>
            </p:cNvPr>
            <p:cNvSpPr txBox="1"/>
            <p:nvPr/>
          </p:nvSpPr>
          <p:spPr>
            <a:xfrm>
              <a:off x="560589" y="5606165"/>
              <a:ext cx="3109522" cy="567727"/>
            </a:xfrm>
            <a:prstGeom prst="rect">
              <a:avLst/>
            </a:prstGeom>
            <a:noFill/>
          </p:spPr>
          <p:txBody>
            <a:bodyPr wrap="square" rtlCol="0">
              <a:spAutoFit/>
            </a:bodyPr>
            <a:lstStyle/>
            <a:p>
              <a:pPr algn="ctr"/>
              <a:r>
                <a:rPr lang="zh-TW" altLang="en-US" sz="1600" b="1" dirty="0">
                  <a:solidFill>
                    <a:srgbClr val="F9F9F9"/>
                  </a:solidFill>
                  <a:latin typeface="微軟正黑體" panose="020B0604030504040204" pitchFamily="34" charset="-120"/>
                  <a:ea typeface="微軟正黑體" panose="020B0604030504040204" pitchFamily="34" charset="-120"/>
                </a:rPr>
                <a:t>區塊鏈應用技術</a:t>
              </a:r>
            </a:p>
          </p:txBody>
        </p:sp>
        <p:grpSp>
          <p:nvGrpSpPr>
            <p:cNvPr id="58" name="群組 57">
              <a:extLst>
                <a:ext uri="{FF2B5EF4-FFF2-40B4-BE49-F238E27FC236}">
                  <a16:creationId xmlns:a16="http://schemas.microsoft.com/office/drawing/2014/main" id="{2780BB3F-3AE6-4822-8AAC-4324B7121601}"/>
                </a:ext>
              </a:extLst>
            </p:cNvPr>
            <p:cNvGrpSpPr/>
            <p:nvPr/>
          </p:nvGrpSpPr>
          <p:grpSpPr>
            <a:xfrm>
              <a:off x="8089892" y="1053533"/>
              <a:ext cx="4319560" cy="5417752"/>
              <a:chOff x="8089892" y="1053533"/>
              <a:chExt cx="4319560" cy="5417752"/>
            </a:xfrm>
          </p:grpSpPr>
          <p:grpSp>
            <p:nvGrpSpPr>
              <p:cNvPr id="59" name="群組 58">
                <a:extLst>
                  <a:ext uri="{FF2B5EF4-FFF2-40B4-BE49-F238E27FC236}">
                    <a16:creationId xmlns:a16="http://schemas.microsoft.com/office/drawing/2014/main" id="{E024D7C1-68AB-41C8-B4AC-74008728EC2F}"/>
                  </a:ext>
                </a:extLst>
              </p:cNvPr>
              <p:cNvGrpSpPr/>
              <p:nvPr/>
            </p:nvGrpSpPr>
            <p:grpSpPr>
              <a:xfrm>
                <a:off x="8089892" y="1053533"/>
                <a:ext cx="4319560" cy="5417752"/>
                <a:chOff x="8094808" y="1196752"/>
                <a:chExt cx="4319560" cy="5417752"/>
              </a:xfrm>
            </p:grpSpPr>
            <p:pic>
              <p:nvPicPr>
                <p:cNvPr id="61" name="圖片 60">
                  <a:extLst>
                    <a:ext uri="{FF2B5EF4-FFF2-40B4-BE49-F238E27FC236}">
                      <a16:creationId xmlns:a16="http://schemas.microsoft.com/office/drawing/2014/main" id="{780C5D16-F464-4251-B38C-4F46AFF4332B}"/>
                    </a:ext>
                  </a:extLst>
                </p:cNvPr>
                <p:cNvPicPr>
                  <a:picLocks noChangeAspect="1"/>
                </p:cNvPicPr>
                <p:nvPr/>
              </p:nvPicPr>
              <p:blipFill>
                <a:blip r:embed="rId5" cstate="print">
                  <a:clrChange>
                    <a:clrFrom>
                      <a:srgbClr val="000000">
                        <a:alpha val="0"/>
                      </a:srgbClr>
                    </a:clrFrom>
                    <a:clrTo>
                      <a:srgbClr val="000000">
                        <a:alpha val="0"/>
                      </a:srgbClr>
                    </a:clrTo>
                  </a:clrChange>
                  <a:duotone>
                    <a:schemeClr val="accent5">
                      <a:shade val="45000"/>
                      <a:satMod val="135000"/>
                    </a:schemeClr>
                    <a:prstClr val="white"/>
                  </a:duotone>
                  <a:extLst>
                    <a:ext uri="{BEBA8EAE-BF5A-486C-A8C5-ECC9F3942E4B}">
                      <a14:imgProps xmlns:a14="http://schemas.microsoft.com/office/drawing/2010/main">
                        <a14:imgLayer r:embed="rId6">
                          <a14:imgEffect>
                            <a14:artisticCutout/>
                          </a14:imgEffect>
                        </a14:imgLayer>
                      </a14:imgProps>
                    </a:ext>
                    <a:ext uri="{28A0092B-C50C-407E-A947-70E740481C1C}">
                      <a14:useLocalDpi xmlns:a14="http://schemas.microsoft.com/office/drawing/2010/main" val="0"/>
                    </a:ext>
                  </a:extLst>
                </a:blip>
                <a:stretch>
                  <a:fillRect/>
                </a:stretch>
              </p:blipFill>
              <p:spPr>
                <a:xfrm>
                  <a:off x="8094808" y="1196752"/>
                  <a:ext cx="4319560" cy="5417752"/>
                </a:xfrm>
                <a:prstGeom prst="rect">
                  <a:avLst/>
                </a:prstGeom>
              </p:spPr>
            </p:pic>
            <p:grpSp>
              <p:nvGrpSpPr>
                <p:cNvPr id="62" name="群組 61">
                  <a:extLst>
                    <a:ext uri="{FF2B5EF4-FFF2-40B4-BE49-F238E27FC236}">
                      <a16:creationId xmlns:a16="http://schemas.microsoft.com/office/drawing/2014/main" id="{0AF15129-74AF-4196-A30D-FA40B3CB5B68}"/>
                    </a:ext>
                  </a:extLst>
                </p:cNvPr>
                <p:cNvGrpSpPr/>
                <p:nvPr/>
              </p:nvGrpSpPr>
              <p:grpSpPr>
                <a:xfrm>
                  <a:off x="8261156" y="2033019"/>
                  <a:ext cx="3672408" cy="1989253"/>
                  <a:chOff x="8452500" y="2175704"/>
                  <a:chExt cx="3672408" cy="1989253"/>
                </a:xfrm>
              </p:grpSpPr>
              <p:sp>
                <p:nvSpPr>
                  <p:cNvPr id="64" name="文字方塊 63">
                    <a:extLst>
                      <a:ext uri="{FF2B5EF4-FFF2-40B4-BE49-F238E27FC236}">
                        <a16:creationId xmlns:a16="http://schemas.microsoft.com/office/drawing/2014/main" id="{A9F613F6-7808-4F42-93C3-255E2FA128E5}"/>
                      </a:ext>
                    </a:extLst>
                  </p:cNvPr>
                  <p:cNvSpPr txBox="1"/>
                  <p:nvPr/>
                </p:nvSpPr>
                <p:spPr>
                  <a:xfrm>
                    <a:off x="9817247" y="2636911"/>
                    <a:ext cx="1944216" cy="369332"/>
                  </a:xfrm>
                  <a:prstGeom prst="rect">
                    <a:avLst/>
                  </a:prstGeom>
                  <a:noFill/>
                </p:spPr>
                <p:txBody>
                  <a:bodyPr wrap="square" rtlCol="0">
                    <a:spAutoFit/>
                  </a:bodyPr>
                  <a:lstStyle/>
                  <a:p>
                    <a:r>
                      <a:rPr lang="zh-TW" altLang="en-US" b="1" dirty="0">
                        <a:solidFill>
                          <a:schemeClr val="bg1"/>
                        </a:solidFill>
                        <a:latin typeface="微軟正黑體" panose="020B0604030504040204" pitchFamily="34" charset="-120"/>
                        <a:ea typeface="微軟正黑體" panose="020B0604030504040204" pitchFamily="34" charset="-120"/>
                      </a:rPr>
                      <a:t>    節點監控管理</a:t>
                    </a:r>
                  </a:p>
                </p:txBody>
              </p:sp>
              <p:graphicFrame>
                <p:nvGraphicFramePr>
                  <p:cNvPr id="65" name="資料庫圖表 64">
                    <a:extLst>
                      <a:ext uri="{FF2B5EF4-FFF2-40B4-BE49-F238E27FC236}">
                        <a16:creationId xmlns:a16="http://schemas.microsoft.com/office/drawing/2014/main" id="{B76DC2EC-4563-4B10-9E59-3E74A3D2828F}"/>
                      </a:ext>
                    </a:extLst>
                  </p:cNvPr>
                  <p:cNvGraphicFramePr/>
                  <p:nvPr>
                    <p:extLst>
                      <p:ext uri="{D42A27DB-BD31-4B8C-83A1-F6EECF244321}">
                        <p14:modId xmlns:p14="http://schemas.microsoft.com/office/powerpoint/2010/main" val="2177664986"/>
                      </p:ext>
                    </p:extLst>
                  </p:nvPr>
                </p:nvGraphicFramePr>
                <p:xfrm>
                  <a:off x="8452500" y="2175704"/>
                  <a:ext cx="3672408" cy="198925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pSp>
            <p:sp>
              <p:nvSpPr>
                <p:cNvPr id="63" name="文字方塊 62">
                  <a:extLst>
                    <a:ext uri="{FF2B5EF4-FFF2-40B4-BE49-F238E27FC236}">
                      <a16:creationId xmlns:a16="http://schemas.microsoft.com/office/drawing/2014/main" id="{32369058-967B-40DC-9A28-06FF4537C6A3}"/>
                    </a:ext>
                  </a:extLst>
                </p:cNvPr>
                <p:cNvSpPr txBox="1"/>
                <p:nvPr/>
              </p:nvSpPr>
              <p:spPr>
                <a:xfrm>
                  <a:off x="8748870" y="5749384"/>
                  <a:ext cx="3011435" cy="567727"/>
                </a:xfrm>
                <a:prstGeom prst="rect">
                  <a:avLst/>
                </a:prstGeom>
                <a:noFill/>
              </p:spPr>
              <p:txBody>
                <a:bodyPr wrap="square" rtlCol="0">
                  <a:spAutoFit/>
                </a:bodyPr>
                <a:lstStyle/>
                <a:p>
                  <a:pPr algn="ctr"/>
                  <a:r>
                    <a:rPr lang="zh-TW" altLang="en-US" sz="1600" b="1" dirty="0">
                      <a:solidFill>
                        <a:srgbClr val="F9F9F9"/>
                      </a:solidFill>
                      <a:latin typeface="微軟正黑體" panose="020B0604030504040204" pitchFamily="34" charset="-120"/>
                      <a:ea typeface="微軟正黑體" panose="020B0604030504040204" pitchFamily="34" charset="-120"/>
                    </a:rPr>
                    <a:t>區塊鏈應用管理</a:t>
                  </a:r>
                </a:p>
              </p:txBody>
            </p:sp>
          </p:grpSp>
          <p:sp>
            <p:nvSpPr>
              <p:cNvPr id="60" name="文字方塊 59">
                <a:extLst>
                  <a:ext uri="{FF2B5EF4-FFF2-40B4-BE49-F238E27FC236}">
                    <a16:creationId xmlns:a16="http://schemas.microsoft.com/office/drawing/2014/main" id="{EE97F988-56F8-4AB1-BEF7-F24EB71C432C}"/>
                  </a:ext>
                </a:extLst>
              </p:cNvPr>
              <p:cNvSpPr txBox="1"/>
              <p:nvPr/>
            </p:nvSpPr>
            <p:spPr>
              <a:xfrm>
                <a:off x="9257542" y="2396739"/>
                <a:ext cx="2164355" cy="464505"/>
              </a:xfrm>
              <a:prstGeom prst="rect">
                <a:avLst/>
              </a:prstGeom>
              <a:noFill/>
            </p:spPr>
            <p:txBody>
              <a:bodyPr wrap="square" rtlCol="0">
                <a:spAutoFit/>
              </a:bodyPr>
              <a:lstStyle/>
              <a:p>
                <a:pPr algn="ctr"/>
                <a:r>
                  <a:rPr lang="zh-TW" altLang="en-US" sz="1200" b="1" dirty="0">
                    <a:solidFill>
                      <a:schemeClr val="tx1">
                        <a:lumMod val="85000"/>
                        <a:lumOff val="15000"/>
                      </a:schemeClr>
                    </a:solidFill>
                    <a:latin typeface="微軟正黑體" panose="020B0604030504040204" pitchFamily="34" charset="-120"/>
                    <a:ea typeface="微軟正黑體" panose="020B0604030504040204" pitchFamily="34" charset="-120"/>
                  </a:rPr>
                  <a:t>     節點監控管理</a:t>
                </a:r>
              </a:p>
            </p:txBody>
          </p:sp>
        </p:grpSp>
      </p:grpSp>
      <p:sp>
        <p:nvSpPr>
          <p:cNvPr id="66" name="文字方塊 65">
            <a:extLst>
              <a:ext uri="{FF2B5EF4-FFF2-40B4-BE49-F238E27FC236}">
                <a16:creationId xmlns:a16="http://schemas.microsoft.com/office/drawing/2014/main" id="{0CDCB81A-FE8C-4DCE-B761-9F8E5128319A}"/>
              </a:ext>
            </a:extLst>
          </p:cNvPr>
          <p:cNvSpPr txBox="1"/>
          <p:nvPr/>
        </p:nvSpPr>
        <p:spPr>
          <a:xfrm>
            <a:off x="5409004" y="6339605"/>
            <a:ext cx="2319866" cy="369332"/>
          </a:xfrm>
          <a:prstGeom prst="rect">
            <a:avLst/>
          </a:prstGeom>
          <a:noFill/>
        </p:spPr>
        <p:txBody>
          <a:bodyPr wrap="none" rtlCol="0">
            <a:spAutoFit/>
          </a:bodyPr>
          <a:lstStyle/>
          <a:p>
            <a:pPr marL="285750" indent="-285750">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區塊鏈的應用架構</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84970006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2" presetClass="entr" presetSubtype="8"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0-#ppt_w/2"/>
                                          </p:val>
                                        </p:tav>
                                        <p:tav tm="100000">
                                          <p:val>
                                            <p:strVal val="#ppt_x"/>
                                          </p:val>
                                        </p:tav>
                                      </p:tavLst>
                                    </p:anim>
                                    <p:anim calcmode="lin" valueType="num">
                                      <p:cBhvr additive="base">
                                        <p:cTn id="12" dur="500" fill="hold"/>
                                        <p:tgtEl>
                                          <p:spTgt spid="26"/>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16" presetClass="entr" presetSubtype="21" fill="hold" nodeType="afterEffect">
                                  <p:stCondLst>
                                    <p:cond delay="0"/>
                                  </p:stCondLst>
                                  <p:childTnLst>
                                    <p:set>
                                      <p:cBhvr>
                                        <p:cTn id="15" dur="1" fill="hold">
                                          <p:stCondLst>
                                            <p:cond delay="0"/>
                                          </p:stCondLst>
                                        </p:cTn>
                                        <p:tgtEl>
                                          <p:spTgt spid="34">
                                            <p:txEl>
                                              <p:pRg st="0" end="0"/>
                                            </p:txEl>
                                          </p:spTgt>
                                        </p:tgtEl>
                                        <p:attrNameLst>
                                          <p:attrName>style.visibility</p:attrName>
                                        </p:attrNameLst>
                                      </p:cBhvr>
                                      <p:to>
                                        <p:strVal val="visible"/>
                                      </p:to>
                                    </p:set>
                                    <p:animEffect transition="in" filter="barn(inVertical)">
                                      <p:cBhvr>
                                        <p:cTn id="16" dur="500"/>
                                        <p:tgtEl>
                                          <p:spTgt spid="34">
                                            <p:txEl>
                                              <p:pRg st="0" end="0"/>
                                            </p:txEl>
                                          </p:spTgt>
                                        </p:tgtEl>
                                      </p:cBhvr>
                                    </p:animEffect>
                                  </p:childTnLst>
                                </p:cTn>
                              </p:par>
                            </p:childTnLst>
                          </p:cTn>
                        </p:par>
                        <p:par>
                          <p:cTn id="17" fill="hold">
                            <p:stCondLst>
                              <p:cond delay="3000"/>
                            </p:stCondLst>
                            <p:childTnLst>
                              <p:par>
                                <p:cTn id="18" presetID="16" presetClass="entr" presetSubtype="21" fill="hold" nodeType="afterEffect">
                                  <p:stCondLst>
                                    <p:cond delay="0"/>
                                  </p:stCondLst>
                                  <p:childTnLst>
                                    <p:set>
                                      <p:cBhvr>
                                        <p:cTn id="19" dur="1" fill="hold">
                                          <p:stCondLst>
                                            <p:cond delay="0"/>
                                          </p:stCondLst>
                                        </p:cTn>
                                        <p:tgtEl>
                                          <p:spTgt spid="34">
                                            <p:txEl>
                                              <p:pRg st="1" end="1"/>
                                            </p:txEl>
                                          </p:spTgt>
                                        </p:tgtEl>
                                        <p:attrNameLst>
                                          <p:attrName>style.visibility</p:attrName>
                                        </p:attrNameLst>
                                      </p:cBhvr>
                                      <p:to>
                                        <p:strVal val="visible"/>
                                      </p:to>
                                    </p:set>
                                    <p:animEffect transition="in" filter="barn(inVertical)">
                                      <p:cBhvr>
                                        <p:cTn id="20" dur="500"/>
                                        <p:tgtEl>
                                          <p:spTgt spid="34">
                                            <p:txEl>
                                              <p:pRg st="1" end="1"/>
                                            </p:txEl>
                                          </p:spTgt>
                                        </p:tgtEl>
                                      </p:cBhvr>
                                    </p:animEffect>
                                  </p:childTnLst>
                                </p:cTn>
                              </p:par>
                            </p:childTnLst>
                          </p:cTn>
                        </p:par>
                        <p:par>
                          <p:cTn id="21" fill="hold">
                            <p:stCondLst>
                              <p:cond delay="3500"/>
                            </p:stCondLst>
                            <p:childTnLst>
                              <p:par>
                                <p:cTn id="22" presetID="2" presetClass="entr" presetSubtype="4"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ppt_x"/>
                                          </p:val>
                                        </p:tav>
                                        <p:tav tm="100000">
                                          <p:val>
                                            <p:strVal val="#ppt_x"/>
                                          </p:val>
                                        </p:tav>
                                      </p:tavLst>
                                    </p:anim>
                                    <p:anim calcmode="lin" valueType="num">
                                      <p:cBhvr additive="base">
                                        <p:cTn id="25" dur="500" fill="hold"/>
                                        <p:tgtEl>
                                          <p:spTgt spid="2"/>
                                        </p:tgtEl>
                                        <p:attrNameLst>
                                          <p:attrName>ppt_y</p:attrName>
                                        </p:attrNameLst>
                                      </p:cBhvr>
                                      <p:tavLst>
                                        <p:tav tm="0">
                                          <p:val>
                                            <p:strVal val="1+#ppt_h/2"/>
                                          </p:val>
                                        </p:tav>
                                        <p:tav tm="100000">
                                          <p:val>
                                            <p:strVal val="#ppt_y"/>
                                          </p:val>
                                        </p:tav>
                                      </p:tavLst>
                                    </p:anim>
                                  </p:childTnLst>
                                </p:cTn>
                              </p:par>
                            </p:childTnLst>
                          </p:cTn>
                        </p:par>
                        <p:par>
                          <p:cTn id="26" fill="hold">
                            <p:stCondLst>
                              <p:cond delay="4000"/>
                            </p:stCondLst>
                            <p:childTnLst>
                              <p:par>
                                <p:cTn id="27" presetID="2" presetClass="entr" presetSubtype="4" fill="hold" grpId="0" nodeType="afterEffect">
                                  <p:stCondLst>
                                    <p:cond delay="0"/>
                                  </p:stCondLst>
                                  <p:childTnLst>
                                    <p:set>
                                      <p:cBhvr>
                                        <p:cTn id="28" dur="1" fill="hold">
                                          <p:stCondLst>
                                            <p:cond delay="0"/>
                                          </p:stCondLst>
                                        </p:cTn>
                                        <p:tgtEl>
                                          <p:spTgt spid="66"/>
                                        </p:tgtEl>
                                        <p:attrNameLst>
                                          <p:attrName>style.visibility</p:attrName>
                                        </p:attrNameLst>
                                      </p:cBhvr>
                                      <p:to>
                                        <p:strVal val="visible"/>
                                      </p:to>
                                    </p:set>
                                    <p:anim calcmode="lin" valueType="num">
                                      <p:cBhvr additive="base">
                                        <p:cTn id="29" dur="500" fill="hold"/>
                                        <p:tgtEl>
                                          <p:spTgt spid="66"/>
                                        </p:tgtEl>
                                        <p:attrNameLst>
                                          <p:attrName>ppt_x</p:attrName>
                                        </p:attrNameLst>
                                      </p:cBhvr>
                                      <p:tavLst>
                                        <p:tav tm="0">
                                          <p:val>
                                            <p:strVal val="#ppt_x"/>
                                          </p:val>
                                        </p:tav>
                                        <p:tav tm="100000">
                                          <p:val>
                                            <p:strVal val="#ppt_x"/>
                                          </p:val>
                                        </p:tav>
                                      </p:tavLst>
                                    </p:anim>
                                    <p:anim calcmode="lin" valueType="num">
                                      <p:cBhvr additive="base">
                                        <p:cTn id="30"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AD7F4831-1A36-4A2F-ACBE-344F724510DC}"/>
              </a:ext>
            </a:extLst>
          </p:cNvPr>
          <p:cNvSpPr txBox="1"/>
          <p:nvPr/>
        </p:nvSpPr>
        <p:spPr>
          <a:xfrm>
            <a:off x="4422583"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區塊鏈應用技術</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958663" y="1921341"/>
            <a:ext cx="4817910" cy="2979149"/>
          </a:xfrm>
          <a:prstGeom prst="rect">
            <a:avLst/>
          </a:prstGeom>
          <a:noFill/>
        </p:spPr>
        <p:txBody>
          <a:bodyPr wrap="square" rtlCol="0">
            <a:spAutoFit/>
          </a:bodyPr>
          <a:lstStyle/>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網路資訊的價值必須靠著</a:t>
            </a:r>
            <a:r>
              <a:rPr lang="zh-TW" altLang="en-US" sz="2400" b="1" dirty="0">
                <a:solidFill>
                  <a:srgbClr val="54667E"/>
                </a:solidFill>
                <a:latin typeface="微軟正黑體" panose="020B0604030504040204" pitchFamily="34" charset="-120"/>
                <a:ea typeface="微軟正黑體" panose="020B0604030504040204" pitchFamily="34" charset="-120"/>
              </a:rPr>
              <a:t>技術 研發與支援</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，才能真正發揮效應</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導入資源處理、節點操作及資訊儲存作業等技術，使區塊鏈應用發揮的更淋漓盡緻</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16729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5-1 </a:t>
            </a:r>
            <a:r>
              <a:rPr lang="zh-TW" altLang="en-US" sz="2400" b="1" dirty="0">
                <a:solidFill>
                  <a:srgbClr val="E06741"/>
                </a:solidFill>
              </a:rPr>
              <a:t>區塊鏈應用架構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grpSp>
        <p:nvGrpSpPr>
          <p:cNvPr id="2" name="群組 1">
            <a:extLst>
              <a:ext uri="{FF2B5EF4-FFF2-40B4-BE49-F238E27FC236}">
                <a16:creationId xmlns:a16="http://schemas.microsoft.com/office/drawing/2014/main" id="{199744EA-3E5B-44F6-91CF-FD710748B7AB}"/>
              </a:ext>
            </a:extLst>
          </p:cNvPr>
          <p:cNvGrpSpPr/>
          <p:nvPr/>
        </p:nvGrpSpPr>
        <p:grpSpPr>
          <a:xfrm>
            <a:off x="5776572" y="1921863"/>
            <a:ext cx="6603534" cy="3746686"/>
            <a:chOff x="1415480" y="692696"/>
            <a:chExt cx="10153125" cy="5760641"/>
          </a:xfrm>
        </p:grpSpPr>
        <p:graphicFrame>
          <p:nvGraphicFramePr>
            <p:cNvPr id="50" name="資料庫圖表 49">
              <a:extLst>
                <a:ext uri="{FF2B5EF4-FFF2-40B4-BE49-F238E27FC236}">
                  <a16:creationId xmlns:a16="http://schemas.microsoft.com/office/drawing/2014/main" id="{E30A0503-5039-403B-98FF-0B44FBDFC989}"/>
                </a:ext>
              </a:extLst>
            </p:cNvPr>
            <p:cNvGraphicFramePr/>
            <p:nvPr>
              <p:extLst>
                <p:ext uri="{D42A27DB-BD31-4B8C-83A1-F6EECF244321}">
                  <p14:modId xmlns:p14="http://schemas.microsoft.com/office/powerpoint/2010/main" val="1347000386"/>
                </p:ext>
              </p:extLst>
            </p:nvPr>
          </p:nvGraphicFramePr>
          <p:xfrm>
            <a:off x="1415480" y="692696"/>
            <a:ext cx="10153125" cy="576064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51" name="文字方塊 50">
              <a:extLst>
                <a:ext uri="{FF2B5EF4-FFF2-40B4-BE49-F238E27FC236}">
                  <a16:creationId xmlns:a16="http://schemas.microsoft.com/office/drawing/2014/main" id="{CE624D44-0507-4791-994A-F7C2052ED68C}"/>
                </a:ext>
              </a:extLst>
            </p:cNvPr>
            <p:cNvSpPr txBox="1"/>
            <p:nvPr/>
          </p:nvSpPr>
          <p:spPr>
            <a:xfrm>
              <a:off x="4693604" y="5497673"/>
              <a:ext cx="3596866" cy="615181"/>
            </a:xfrm>
            <a:prstGeom prst="rect">
              <a:avLst/>
            </a:prstGeom>
            <a:noFill/>
          </p:spPr>
          <p:txBody>
            <a:bodyPr wrap="square" rtlCol="0">
              <a:spAutoFit/>
            </a:bodyPr>
            <a:lstStyle/>
            <a:p>
              <a:pPr algn="ctr"/>
              <a:r>
                <a:rPr lang="zh-TW" altLang="en-US" sz="2000" b="1" dirty="0">
                  <a:solidFill>
                    <a:schemeClr val="accent1">
                      <a:lumMod val="50000"/>
                    </a:schemeClr>
                  </a:solidFill>
                  <a:latin typeface="微軟正黑體" panose="020B0604030504040204" pitchFamily="34" charset="-120"/>
                  <a:ea typeface="微軟正黑體" panose="020B0604030504040204" pitchFamily="34" charset="-120"/>
                </a:rPr>
                <a:t>區塊鏈應用技術</a:t>
              </a:r>
            </a:p>
          </p:txBody>
        </p:sp>
        <p:pic>
          <p:nvPicPr>
            <p:cNvPr id="52" name="圖片 51">
              <a:extLst>
                <a:ext uri="{FF2B5EF4-FFF2-40B4-BE49-F238E27FC236}">
                  <a16:creationId xmlns:a16="http://schemas.microsoft.com/office/drawing/2014/main" id="{A2DE9BF5-F85D-42FA-882E-FDA8F1BB2A28}"/>
                </a:ext>
              </a:extLst>
            </p:cNvPr>
            <p:cNvPicPr>
              <a:picLocks noChangeAspect="1"/>
            </p:cNvPicPr>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6023992" y="4221087"/>
              <a:ext cx="936103" cy="936105"/>
            </a:xfrm>
            <a:prstGeom prst="rect">
              <a:avLst/>
            </a:prstGeom>
          </p:spPr>
        </p:pic>
      </p:grpSp>
      <p:sp>
        <p:nvSpPr>
          <p:cNvPr id="53" name="文字方塊 52">
            <a:extLst>
              <a:ext uri="{FF2B5EF4-FFF2-40B4-BE49-F238E27FC236}">
                <a16:creationId xmlns:a16="http://schemas.microsoft.com/office/drawing/2014/main" id="{AE62D468-15B5-4D7B-93CC-6B6E7928C359}"/>
              </a:ext>
            </a:extLst>
          </p:cNvPr>
          <p:cNvSpPr txBox="1"/>
          <p:nvPr/>
        </p:nvSpPr>
        <p:spPr>
          <a:xfrm>
            <a:off x="7687569" y="5889996"/>
            <a:ext cx="2781531" cy="369332"/>
          </a:xfrm>
          <a:prstGeom prst="rect">
            <a:avLst/>
          </a:prstGeom>
          <a:noFill/>
        </p:spPr>
        <p:txBody>
          <a:bodyPr wrap="none" rtlCol="0">
            <a:spAutoFit/>
          </a:bodyPr>
          <a:lstStyle/>
          <a:p>
            <a:pPr marL="285750" indent="-285750">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區塊鏈的應用技術層面</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49023978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arn(inVertical)">
                                      <p:cBhvr>
                                        <p:cTn id="20" dur="500"/>
                                        <p:tgtEl>
                                          <p:spTgt spid="3"/>
                                        </p:tgtEl>
                                      </p:cBhvr>
                                    </p:animEffect>
                                  </p:childTnLst>
                                </p:cTn>
                              </p:par>
                            </p:childTnLst>
                          </p:cTn>
                        </p:par>
                        <p:par>
                          <p:cTn id="21" fill="hold">
                            <p:stCondLst>
                              <p:cond delay="3500"/>
                            </p:stCondLst>
                            <p:childTnLst>
                              <p:par>
                                <p:cTn id="22" presetID="2" presetClass="entr" presetSubtype="4"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ppt_x"/>
                                          </p:val>
                                        </p:tav>
                                        <p:tav tm="100000">
                                          <p:val>
                                            <p:strVal val="#ppt_x"/>
                                          </p:val>
                                        </p:tav>
                                      </p:tavLst>
                                    </p:anim>
                                    <p:anim calcmode="lin" valueType="num">
                                      <p:cBhvr additive="base">
                                        <p:cTn id="25" dur="500" fill="hold"/>
                                        <p:tgtEl>
                                          <p:spTgt spid="2"/>
                                        </p:tgtEl>
                                        <p:attrNameLst>
                                          <p:attrName>ppt_y</p:attrName>
                                        </p:attrNameLst>
                                      </p:cBhvr>
                                      <p:tavLst>
                                        <p:tav tm="0">
                                          <p:val>
                                            <p:strVal val="1+#ppt_h/2"/>
                                          </p:val>
                                        </p:tav>
                                        <p:tav tm="100000">
                                          <p:val>
                                            <p:strVal val="#ppt_y"/>
                                          </p:val>
                                        </p:tav>
                                      </p:tavLst>
                                    </p:anim>
                                  </p:childTnLst>
                                </p:cTn>
                              </p:par>
                            </p:childTnLst>
                          </p:cTn>
                        </p:par>
                        <p:par>
                          <p:cTn id="26" fill="hold">
                            <p:stCondLst>
                              <p:cond delay="4000"/>
                            </p:stCondLst>
                            <p:childTnLst>
                              <p:par>
                                <p:cTn id="27" presetID="2" presetClass="entr" presetSubtype="4" fill="hold" grpId="0" nodeType="afterEffect">
                                  <p:stCondLst>
                                    <p:cond delay="0"/>
                                  </p:stCondLst>
                                  <p:childTnLst>
                                    <p:set>
                                      <p:cBhvr>
                                        <p:cTn id="28" dur="1" fill="hold">
                                          <p:stCondLst>
                                            <p:cond delay="0"/>
                                          </p:stCondLst>
                                        </p:cTn>
                                        <p:tgtEl>
                                          <p:spTgt spid="53"/>
                                        </p:tgtEl>
                                        <p:attrNameLst>
                                          <p:attrName>style.visibility</p:attrName>
                                        </p:attrNameLst>
                                      </p:cBhvr>
                                      <p:to>
                                        <p:strVal val="visible"/>
                                      </p:to>
                                    </p:set>
                                    <p:anim calcmode="lin" valueType="num">
                                      <p:cBhvr additive="base">
                                        <p:cTn id="29" dur="500" fill="hold"/>
                                        <p:tgtEl>
                                          <p:spTgt spid="53"/>
                                        </p:tgtEl>
                                        <p:attrNameLst>
                                          <p:attrName>ppt_x</p:attrName>
                                        </p:attrNameLst>
                                      </p:cBhvr>
                                      <p:tavLst>
                                        <p:tav tm="0">
                                          <p:val>
                                            <p:strVal val="#ppt_x"/>
                                          </p:val>
                                        </p:tav>
                                        <p:tav tm="100000">
                                          <p:val>
                                            <p:strVal val="#ppt_x"/>
                                          </p:val>
                                        </p:tav>
                                      </p:tavLst>
                                    </p:anim>
                                    <p:anim calcmode="lin" valueType="num">
                                      <p:cBhvr additive="base">
                                        <p:cTn id="3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p:bldP spid="46" grpId="0"/>
      <p:bldP spid="5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AD7F4831-1A36-4A2F-ACBE-344F724510DC}"/>
              </a:ext>
            </a:extLst>
          </p:cNvPr>
          <p:cNvSpPr txBox="1"/>
          <p:nvPr/>
        </p:nvSpPr>
        <p:spPr>
          <a:xfrm>
            <a:off x="4422583"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區塊鏈應用技術</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16729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5-1 </a:t>
            </a:r>
            <a:r>
              <a:rPr lang="zh-TW" altLang="en-US" sz="2400" b="1" dirty="0">
                <a:solidFill>
                  <a:srgbClr val="E06741"/>
                </a:solidFill>
              </a:rPr>
              <a:t>區塊鏈應用架構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3" name="文字方塊 12">
            <a:extLst>
              <a:ext uri="{FF2B5EF4-FFF2-40B4-BE49-F238E27FC236}">
                <a16:creationId xmlns:a16="http://schemas.microsoft.com/office/drawing/2014/main" id="{945E1CB7-33EB-4518-A61A-2E7ABF5A13DC}"/>
              </a:ext>
            </a:extLst>
          </p:cNvPr>
          <p:cNvSpPr txBox="1"/>
          <p:nvPr/>
        </p:nvSpPr>
        <p:spPr>
          <a:xfrm>
            <a:off x="1292223" y="1409534"/>
            <a:ext cx="10355063" cy="4482381"/>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一、網路資源處理技術</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於企業內部跨部門資訊整合，</a:t>
            </a:r>
            <a:r>
              <a:rPr lang="zh-TW" altLang="en-US" sz="2300" b="1" dirty="0">
                <a:solidFill>
                  <a:schemeClr val="tx2"/>
                </a:solidFill>
                <a:latin typeface="微軟正黑體" panose="020B0604030504040204" pitchFamily="34" charset="-120"/>
                <a:ea typeface="微軟正黑體" panose="020B0604030504040204" pitchFamily="34" charset="-120"/>
              </a:rPr>
              <a:t>可達到追蹤性、不可改變</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及</a:t>
            </a:r>
            <a:r>
              <a:rPr lang="zh-TW" altLang="en-US" sz="2300" b="1" dirty="0">
                <a:solidFill>
                  <a:schemeClr val="tx2"/>
                </a:solidFill>
                <a:latin typeface="微軟正黑體" panose="020B0604030504040204" pitchFamily="34" charset="-120"/>
                <a:ea typeface="微軟正黑體" panose="020B0604030504040204" pitchFamily="34" charset="-120"/>
              </a:rPr>
              <a:t>結果一致性</a:t>
            </a:r>
            <a:endParaRPr lang="en-US" altLang="zh-TW" sz="2300" b="1" dirty="0">
              <a:solidFill>
                <a:schemeClr val="tx2"/>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區塊鏈網路資源之相關法規應受到規範與遵循</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區塊鏈網路狀況透過建置連線架構圖、即時流量圖、無線網路流量圖、 硬體設施流量圖來控制</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骨幹設備資源分配狀況以連線單位頻寬資料表及連線單位介接設備表監管</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區塊鏈系統管理者及使用者帳號與</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IP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管理、 </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IP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位址資料與網路服務設備相關設定也應具體說明，以利使用者參考應用</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4" name="圖片 13">
            <a:extLst>
              <a:ext uri="{FF2B5EF4-FFF2-40B4-BE49-F238E27FC236}">
                <a16:creationId xmlns:a16="http://schemas.microsoft.com/office/drawing/2014/main" id="{7A22D7CF-1771-4E7A-BA9B-EF858747FE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187440"/>
            <a:ext cx="1725978" cy="1725976"/>
          </a:xfrm>
          <a:prstGeom prst="rect">
            <a:avLst/>
          </a:prstGeom>
        </p:spPr>
      </p:pic>
    </p:spTree>
    <p:extLst>
      <p:ext uri="{BB962C8B-B14F-4D97-AF65-F5344CB8AC3E}">
        <p14:creationId xmlns:p14="http://schemas.microsoft.com/office/powerpoint/2010/main" val="18993102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anim calcmode="lin" valueType="num">
                                      <p:cBhvr additive="base">
                                        <p:cTn id="20"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13">
                                            <p:txEl>
                                              <p:pRg st="2" end="2"/>
                                            </p:txEl>
                                          </p:spTgt>
                                        </p:tgtEl>
                                        <p:attrNameLst>
                                          <p:attrName>style.visibility</p:attrName>
                                        </p:attrNameLst>
                                      </p:cBhvr>
                                      <p:to>
                                        <p:strVal val="visible"/>
                                      </p:to>
                                    </p:set>
                                    <p:animEffect transition="in" filter="barn(inVertical)">
                                      <p:cBhvr>
                                        <p:cTn id="25" dur="500"/>
                                        <p:tgtEl>
                                          <p:spTgt spid="13">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13">
                                            <p:txEl>
                                              <p:pRg st="3" end="3"/>
                                            </p:txEl>
                                          </p:spTgt>
                                        </p:tgtEl>
                                        <p:attrNameLst>
                                          <p:attrName>style.visibility</p:attrName>
                                        </p:attrNameLst>
                                      </p:cBhvr>
                                      <p:to>
                                        <p:strVal val="visible"/>
                                      </p:to>
                                    </p:set>
                                    <p:animEffect transition="in" filter="barn(inVertical)">
                                      <p:cBhvr>
                                        <p:cTn id="29" dur="500"/>
                                        <p:tgtEl>
                                          <p:spTgt spid="13">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13">
                                            <p:txEl>
                                              <p:pRg st="4" end="4"/>
                                            </p:txEl>
                                          </p:spTgt>
                                        </p:tgtEl>
                                        <p:attrNameLst>
                                          <p:attrName>style.visibility</p:attrName>
                                        </p:attrNameLst>
                                      </p:cBhvr>
                                      <p:to>
                                        <p:strVal val="visible"/>
                                      </p:to>
                                    </p:set>
                                    <p:animEffect transition="in" filter="barn(inVertical)">
                                      <p:cBhvr>
                                        <p:cTn id="33" dur="500"/>
                                        <p:tgtEl>
                                          <p:spTgt spid="13">
                                            <p:txEl>
                                              <p:pRg st="4" end="4"/>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13">
                                            <p:txEl>
                                              <p:pRg st="5" end="5"/>
                                            </p:txEl>
                                          </p:spTgt>
                                        </p:tgtEl>
                                        <p:attrNameLst>
                                          <p:attrName>style.visibility</p:attrName>
                                        </p:attrNameLst>
                                      </p:cBhvr>
                                      <p:to>
                                        <p:strVal val="visible"/>
                                      </p:to>
                                    </p:set>
                                    <p:animEffect transition="in" filter="barn(inVertical)">
                                      <p:cBhvr>
                                        <p:cTn id="37" dur="500"/>
                                        <p:tgtEl>
                                          <p:spTgt spid="13">
                                            <p:txEl>
                                              <p:pRg st="5" end="5"/>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13">
                                            <p:txEl>
                                              <p:pRg st="6" end="6"/>
                                            </p:txEl>
                                          </p:spTgt>
                                        </p:tgtEl>
                                        <p:attrNameLst>
                                          <p:attrName>style.visibility</p:attrName>
                                        </p:attrNameLst>
                                      </p:cBhvr>
                                      <p:to>
                                        <p:strVal val="visible"/>
                                      </p:to>
                                    </p:set>
                                    <p:animEffect transition="in" filter="barn(inVertical)">
                                      <p:cBhvr>
                                        <p:cTn id="41" dur="500"/>
                                        <p:tgtEl>
                                          <p:spTgt spid="13">
                                            <p:txEl>
                                              <p:pRg st="6" end="6"/>
                                            </p:txEl>
                                          </p:spTgt>
                                        </p:tgtEl>
                                      </p:cBhvr>
                                    </p:animEffect>
                                  </p:childTnLst>
                                </p:cTn>
                              </p:par>
                            </p:childTnLst>
                          </p:cTn>
                        </p:par>
                        <p:par>
                          <p:cTn id="42" fill="hold">
                            <p:stCondLst>
                              <p:cond delay="6000"/>
                            </p:stCondLst>
                            <p:childTnLst>
                              <p:par>
                                <p:cTn id="43" presetID="31" presetClass="entr" presetSubtype="0" fill="hold" nodeType="after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p:cTn id="45" dur="1000" fill="hold"/>
                                        <p:tgtEl>
                                          <p:spTgt spid="14"/>
                                        </p:tgtEl>
                                        <p:attrNameLst>
                                          <p:attrName>ppt_w</p:attrName>
                                        </p:attrNameLst>
                                      </p:cBhvr>
                                      <p:tavLst>
                                        <p:tav tm="0">
                                          <p:val>
                                            <p:fltVal val="0"/>
                                          </p:val>
                                        </p:tav>
                                        <p:tav tm="100000">
                                          <p:val>
                                            <p:strVal val="#ppt_w"/>
                                          </p:val>
                                        </p:tav>
                                      </p:tavLst>
                                    </p:anim>
                                    <p:anim calcmode="lin" valueType="num">
                                      <p:cBhvr>
                                        <p:cTn id="46" dur="1000" fill="hold"/>
                                        <p:tgtEl>
                                          <p:spTgt spid="14"/>
                                        </p:tgtEl>
                                        <p:attrNameLst>
                                          <p:attrName>ppt_h</p:attrName>
                                        </p:attrNameLst>
                                      </p:cBhvr>
                                      <p:tavLst>
                                        <p:tav tm="0">
                                          <p:val>
                                            <p:fltVal val="0"/>
                                          </p:val>
                                        </p:tav>
                                        <p:tav tm="100000">
                                          <p:val>
                                            <p:strVal val="#ppt_h"/>
                                          </p:val>
                                        </p:tav>
                                      </p:tavLst>
                                    </p:anim>
                                    <p:anim calcmode="lin" valueType="num">
                                      <p:cBhvr>
                                        <p:cTn id="47" dur="1000" fill="hold"/>
                                        <p:tgtEl>
                                          <p:spTgt spid="14"/>
                                        </p:tgtEl>
                                        <p:attrNameLst>
                                          <p:attrName>style.rotation</p:attrName>
                                        </p:attrNameLst>
                                      </p:cBhvr>
                                      <p:tavLst>
                                        <p:tav tm="0">
                                          <p:val>
                                            <p:fltVal val="90"/>
                                          </p:val>
                                        </p:tav>
                                        <p:tav tm="100000">
                                          <p:val>
                                            <p:fltVal val="0"/>
                                          </p:val>
                                        </p:tav>
                                      </p:tavLst>
                                    </p:anim>
                                    <p:animEffect transition="in" filter="fade">
                                      <p:cBhvr>
                                        <p:cTn id="48"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AD7F4831-1A36-4A2F-ACBE-344F724510DC}"/>
              </a:ext>
            </a:extLst>
          </p:cNvPr>
          <p:cNvSpPr txBox="1"/>
          <p:nvPr/>
        </p:nvSpPr>
        <p:spPr>
          <a:xfrm>
            <a:off x="4422583"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區塊鏈應用技術</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16729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5-1 </a:t>
            </a:r>
            <a:r>
              <a:rPr lang="zh-TW" altLang="en-US" sz="2400" b="1" dirty="0">
                <a:solidFill>
                  <a:srgbClr val="E06741"/>
                </a:solidFill>
              </a:rPr>
              <a:t>區塊鏈應用架構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3" name="文字方塊 12">
            <a:extLst>
              <a:ext uri="{FF2B5EF4-FFF2-40B4-BE49-F238E27FC236}">
                <a16:creationId xmlns:a16="http://schemas.microsoft.com/office/drawing/2014/main" id="{945E1CB7-33EB-4518-A61A-2E7ABF5A13DC}"/>
              </a:ext>
            </a:extLst>
          </p:cNvPr>
          <p:cNvSpPr txBox="1"/>
          <p:nvPr/>
        </p:nvSpPr>
        <p:spPr>
          <a:xfrm>
            <a:off x="1054618" y="1323761"/>
            <a:ext cx="10585176" cy="4739118"/>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二、節點操作分配技術</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4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區塊鏈是跳過第三方中介的的點對點（</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Peer-to-Peer</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）網路關係</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應用</a:t>
            </a:r>
            <a:r>
              <a:rPr lang="zh-TW" altLang="en-US" sz="2200" b="1" dirty="0">
                <a:solidFill>
                  <a:schemeClr val="tx2"/>
                </a:solidFill>
                <a:latin typeface="微軟正黑體" panose="020B0604030504040204" pitchFamily="34" charset="-120"/>
                <a:ea typeface="微軟正黑體" panose="020B0604030504040204" pitchFamily="34" charset="-120"/>
              </a:rPr>
              <a:t>分散式共識演算法</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並透過分散式節點形成大型網路帳本，確保</a:t>
            </a:r>
            <a:r>
              <a:rPr lang="zh-TW" altLang="en-US" sz="2200" b="1" dirty="0">
                <a:solidFill>
                  <a:srgbClr val="54667E"/>
                </a:solidFill>
                <a:latin typeface="微軟正黑體" panose="020B0604030504040204" pitchFamily="34" charset="-120"/>
                <a:ea typeface="微軟正黑體" panose="020B0604030504040204" pitchFamily="34" charset="-120"/>
              </a:rPr>
              <a:t>交易安全性</a:t>
            </a:r>
            <a:endParaRPr lang="en-US" altLang="zh-TW" sz="2200" b="1" dirty="0">
              <a:solidFill>
                <a:srgbClr val="54667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區塊鏈會依據</a:t>
            </a:r>
            <a:r>
              <a:rPr lang="zh-TW" altLang="en-US" sz="2200" b="1" dirty="0">
                <a:solidFill>
                  <a:schemeClr val="tx2"/>
                </a:solidFill>
                <a:latin typeface="微軟正黑體" panose="020B0604030504040204" pitchFamily="34" charset="-120"/>
                <a:ea typeface="微軟正黑體" panose="020B0604030504040204" pitchFamily="34" charset="-120"/>
              </a:rPr>
              <a:t>智能條約</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進行資產的交易</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在比特幣系統中，所有的節點都是由自願者建立，資料經由網路傳送至節點，再以離散方式傳遞給所有的節點，全世界的節點內比特幣帳本為同步</a:t>
            </a: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在比特幣的生態系中是由分散在世界各地的節點互相溝通自主管理， 屬於 「分散式拓樸」（</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Distributed</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Topology</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 或名「非集中式拓樸」（</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Decentralized</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Topology</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）型態。</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671574664"/>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anim calcmode="lin" valueType="num">
                                      <p:cBhvr additive="base">
                                        <p:cTn id="20"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13">
                                            <p:txEl>
                                              <p:pRg st="2" end="2"/>
                                            </p:txEl>
                                          </p:spTgt>
                                        </p:tgtEl>
                                        <p:attrNameLst>
                                          <p:attrName>style.visibility</p:attrName>
                                        </p:attrNameLst>
                                      </p:cBhvr>
                                      <p:to>
                                        <p:strVal val="visible"/>
                                      </p:to>
                                    </p:set>
                                    <p:animEffect transition="in" filter="barn(inVertical)">
                                      <p:cBhvr>
                                        <p:cTn id="25" dur="500"/>
                                        <p:tgtEl>
                                          <p:spTgt spid="13">
                                            <p:txEl>
                                              <p:pRg st="2" end="2"/>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13">
                                            <p:txEl>
                                              <p:pRg st="3" end="3"/>
                                            </p:txEl>
                                          </p:spTgt>
                                        </p:tgtEl>
                                        <p:attrNameLst>
                                          <p:attrName>style.visibility</p:attrName>
                                        </p:attrNameLst>
                                      </p:cBhvr>
                                      <p:to>
                                        <p:strVal val="visible"/>
                                      </p:to>
                                    </p:set>
                                    <p:animEffect transition="in" filter="barn(inVertical)">
                                      <p:cBhvr>
                                        <p:cTn id="28" dur="500"/>
                                        <p:tgtEl>
                                          <p:spTgt spid="13">
                                            <p:txEl>
                                              <p:pRg st="3" end="3"/>
                                            </p:txEl>
                                          </p:spTgt>
                                        </p:tgtEl>
                                      </p:cBhvr>
                                    </p:animEffect>
                                  </p:childTnLst>
                                </p:cTn>
                              </p:par>
                              <p:par>
                                <p:cTn id="29" presetID="16" presetClass="entr" presetSubtype="21" fill="hold" nodeType="withEffect">
                                  <p:stCondLst>
                                    <p:cond delay="0"/>
                                  </p:stCondLst>
                                  <p:childTnLst>
                                    <p:set>
                                      <p:cBhvr>
                                        <p:cTn id="30" dur="1" fill="hold">
                                          <p:stCondLst>
                                            <p:cond delay="0"/>
                                          </p:stCondLst>
                                        </p:cTn>
                                        <p:tgtEl>
                                          <p:spTgt spid="13">
                                            <p:txEl>
                                              <p:pRg st="4" end="4"/>
                                            </p:txEl>
                                          </p:spTgt>
                                        </p:tgtEl>
                                        <p:attrNameLst>
                                          <p:attrName>style.visibility</p:attrName>
                                        </p:attrNameLst>
                                      </p:cBhvr>
                                      <p:to>
                                        <p:strVal val="visible"/>
                                      </p:to>
                                    </p:set>
                                    <p:animEffect transition="in" filter="barn(inVertical)">
                                      <p:cBhvr>
                                        <p:cTn id="31" dur="500"/>
                                        <p:tgtEl>
                                          <p:spTgt spid="13">
                                            <p:txEl>
                                              <p:pRg st="4" end="4"/>
                                            </p:txEl>
                                          </p:spTgt>
                                        </p:tgtEl>
                                      </p:cBhvr>
                                    </p:animEffect>
                                  </p:childTnLst>
                                </p:cTn>
                              </p:par>
                              <p:par>
                                <p:cTn id="32" presetID="16" presetClass="entr" presetSubtype="21" fill="hold" nodeType="withEffect">
                                  <p:stCondLst>
                                    <p:cond delay="0"/>
                                  </p:stCondLst>
                                  <p:childTnLst>
                                    <p:set>
                                      <p:cBhvr>
                                        <p:cTn id="33" dur="1" fill="hold">
                                          <p:stCondLst>
                                            <p:cond delay="0"/>
                                          </p:stCondLst>
                                        </p:cTn>
                                        <p:tgtEl>
                                          <p:spTgt spid="13">
                                            <p:txEl>
                                              <p:pRg st="5" end="5"/>
                                            </p:txEl>
                                          </p:spTgt>
                                        </p:tgtEl>
                                        <p:attrNameLst>
                                          <p:attrName>style.visibility</p:attrName>
                                        </p:attrNameLst>
                                      </p:cBhvr>
                                      <p:to>
                                        <p:strVal val="visible"/>
                                      </p:to>
                                    </p:set>
                                    <p:animEffect transition="in" filter="barn(inVertical)">
                                      <p:cBhvr>
                                        <p:cTn id="34" dur="500"/>
                                        <p:tgtEl>
                                          <p:spTgt spid="13">
                                            <p:txEl>
                                              <p:pRg st="5" end="5"/>
                                            </p:txEl>
                                          </p:spTgt>
                                        </p:tgtEl>
                                      </p:cBhvr>
                                    </p:animEffect>
                                  </p:childTnLst>
                                </p:cTn>
                              </p:par>
                              <p:par>
                                <p:cTn id="35" presetID="16" presetClass="entr" presetSubtype="21" fill="hold" nodeType="with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barn(inVertical)">
                                      <p:cBhvr>
                                        <p:cTn id="37" dur="500"/>
                                        <p:tgtEl>
                                          <p:spTgt spid="1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AD7F4831-1A36-4A2F-ACBE-344F724510DC}"/>
              </a:ext>
            </a:extLst>
          </p:cNvPr>
          <p:cNvSpPr txBox="1"/>
          <p:nvPr/>
        </p:nvSpPr>
        <p:spPr>
          <a:xfrm>
            <a:off x="4422583"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區塊鏈應用技術</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16729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5-1 </a:t>
            </a:r>
            <a:r>
              <a:rPr lang="zh-TW" altLang="en-US" sz="2400" b="1" dirty="0">
                <a:solidFill>
                  <a:srgbClr val="E06741"/>
                </a:solidFill>
              </a:rPr>
              <a:t>區塊鏈應用架構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3" name="文字方塊 12">
            <a:extLst>
              <a:ext uri="{FF2B5EF4-FFF2-40B4-BE49-F238E27FC236}">
                <a16:creationId xmlns:a16="http://schemas.microsoft.com/office/drawing/2014/main" id="{945E1CB7-33EB-4518-A61A-2E7ABF5A13DC}"/>
              </a:ext>
            </a:extLst>
          </p:cNvPr>
          <p:cNvSpPr txBox="1"/>
          <p:nvPr/>
        </p:nvSpPr>
        <p:spPr>
          <a:xfrm>
            <a:off x="1376499" y="1323761"/>
            <a:ext cx="9370058" cy="3928383"/>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三、資訊儲存作業技術</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7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區塊鏈設有驗證機制，保障資料不被竄改，並保護交易雙方資訊</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實現自動化及資訊安全，為避免驗證投入資源不致浪費，可遵循比特幣之運作模式，只要協助交易驗證的電腦，即可獲取獎勵，來自於比特幣的系統或是向交易雙方收取的手續費，構建一個區塊鏈的生態系，維持機制運作</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落實資料機密、可用性，以及誠信等資訊安全基本原則</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3" name="圖片 2" descr="一張含有 電子用品 的圖片&#10;&#10;描述是以高可信度產生">
            <a:extLst>
              <a:ext uri="{FF2B5EF4-FFF2-40B4-BE49-F238E27FC236}">
                <a16:creationId xmlns:a16="http://schemas.microsoft.com/office/drawing/2014/main" id="{3D5DDD97-F1DB-49E7-88BB-FF409C437A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12292" y="4616086"/>
            <a:ext cx="2241914" cy="2241914"/>
          </a:xfrm>
          <a:prstGeom prst="rect">
            <a:avLst/>
          </a:prstGeom>
        </p:spPr>
      </p:pic>
    </p:spTree>
    <p:extLst>
      <p:ext uri="{BB962C8B-B14F-4D97-AF65-F5344CB8AC3E}">
        <p14:creationId xmlns:p14="http://schemas.microsoft.com/office/powerpoint/2010/main" val="6434841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circle(in)">
                                      <p:cBhvr>
                                        <p:cTn id="7" dur="2000"/>
                                        <p:tgtEl>
                                          <p:spTgt spid="46">
                                            <p:txEl>
                                              <p:pRg st="0" end="0"/>
                                            </p:txEl>
                                          </p:spTgt>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anim calcmode="lin" valueType="num">
                                      <p:cBhvr additive="base">
                                        <p:cTn id="20"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13">
                                            <p:txEl>
                                              <p:pRg st="2" end="2"/>
                                            </p:txEl>
                                          </p:spTgt>
                                        </p:tgtEl>
                                        <p:attrNameLst>
                                          <p:attrName>style.visibility</p:attrName>
                                        </p:attrNameLst>
                                      </p:cBhvr>
                                      <p:to>
                                        <p:strVal val="visible"/>
                                      </p:to>
                                    </p:set>
                                    <p:animEffect transition="in" filter="barn(inVertical)">
                                      <p:cBhvr>
                                        <p:cTn id="25" dur="500"/>
                                        <p:tgtEl>
                                          <p:spTgt spid="13">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13">
                                            <p:txEl>
                                              <p:pRg st="3" end="3"/>
                                            </p:txEl>
                                          </p:spTgt>
                                        </p:tgtEl>
                                        <p:attrNameLst>
                                          <p:attrName>style.visibility</p:attrName>
                                        </p:attrNameLst>
                                      </p:cBhvr>
                                      <p:to>
                                        <p:strVal val="visible"/>
                                      </p:to>
                                    </p:set>
                                    <p:animEffect transition="in" filter="barn(inVertical)">
                                      <p:cBhvr>
                                        <p:cTn id="29" dur="500"/>
                                        <p:tgtEl>
                                          <p:spTgt spid="13">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13">
                                            <p:txEl>
                                              <p:pRg st="4" end="4"/>
                                            </p:txEl>
                                          </p:spTgt>
                                        </p:tgtEl>
                                        <p:attrNameLst>
                                          <p:attrName>style.visibility</p:attrName>
                                        </p:attrNameLst>
                                      </p:cBhvr>
                                      <p:to>
                                        <p:strVal val="visible"/>
                                      </p:to>
                                    </p:set>
                                    <p:animEffect transition="in" filter="barn(inVertical)">
                                      <p:cBhvr>
                                        <p:cTn id="33" dur="500"/>
                                        <p:tgtEl>
                                          <p:spTgt spid="13">
                                            <p:txEl>
                                              <p:pRg st="4" end="4"/>
                                            </p:txEl>
                                          </p:spTgt>
                                        </p:tgtEl>
                                      </p:cBhvr>
                                    </p:animEffect>
                                  </p:childTnLst>
                                </p:cTn>
                              </p:par>
                            </p:childTnLst>
                          </p:cTn>
                        </p:par>
                        <p:par>
                          <p:cTn id="34" fill="hold">
                            <p:stCondLst>
                              <p:cond delay="5000"/>
                            </p:stCondLst>
                            <p:childTnLst>
                              <p:par>
                                <p:cTn id="35" presetID="53" presetClass="entr" presetSubtype="16" fill="hold" nodeType="after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p:cTn id="37" dur="500" fill="hold"/>
                                        <p:tgtEl>
                                          <p:spTgt spid="3"/>
                                        </p:tgtEl>
                                        <p:attrNameLst>
                                          <p:attrName>ppt_w</p:attrName>
                                        </p:attrNameLst>
                                      </p:cBhvr>
                                      <p:tavLst>
                                        <p:tav tm="0">
                                          <p:val>
                                            <p:fltVal val="0"/>
                                          </p:val>
                                        </p:tav>
                                        <p:tav tm="100000">
                                          <p:val>
                                            <p:strVal val="#ppt_w"/>
                                          </p:val>
                                        </p:tav>
                                      </p:tavLst>
                                    </p:anim>
                                    <p:anim calcmode="lin" valueType="num">
                                      <p:cBhvr>
                                        <p:cTn id="38" dur="500" fill="hold"/>
                                        <p:tgtEl>
                                          <p:spTgt spid="3"/>
                                        </p:tgtEl>
                                        <p:attrNameLst>
                                          <p:attrName>ppt_h</p:attrName>
                                        </p:attrNameLst>
                                      </p:cBhvr>
                                      <p:tavLst>
                                        <p:tav tm="0">
                                          <p:val>
                                            <p:fltVal val="0"/>
                                          </p:val>
                                        </p:tav>
                                        <p:tav tm="100000">
                                          <p:val>
                                            <p:strVal val="#ppt_h"/>
                                          </p:val>
                                        </p:tav>
                                      </p:tavLst>
                                    </p:anim>
                                    <p:animEffect transition="in" filter="fade">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AD7F4831-1A36-4A2F-ACBE-344F724510DC}"/>
              </a:ext>
            </a:extLst>
          </p:cNvPr>
          <p:cNvSpPr txBox="1"/>
          <p:nvPr/>
        </p:nvSpPr>
        <p:spPr>
          <a:xfrm>
            <a:off x="4422583"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區塊鏈應用管理</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200832" y="1681116"/>
            <a:ext cx="7103619" cy="3651384"/>
          </a:xfrm>
          <a:prstGeom prst="rect">
            <a:avLst/>
          </a:prstGeom>
          <a:noFill/>
        </p:spPr>
        <p:txBody>
          <a:bodyPr wrap="square" rtlCol="0">
            <a:spAutoFit/>
          </a:bodyPr>
          <a:lstStyle/>
          <a:p>
            <a:pPr marL="342900" indent="-342900">
              <a:lnSpc>
                <a:spcPct val="150000"/>
              </a:lnSpc>
              <a:buBlip>
                <a:blip r:embed="rId4"/>
              </a:buBlip>
            </a:pPr>
            <a:r>
              <a:rPr lang="zh-TW" altLang="en-US" sz="2400" b="1" dirty="0">
                <a:solidFill>
                  <a:schemeClr val="tx2"/>
                </a:solidFill>
                <a:latin typeface="微軟正黑體" panose="020B0604030504040204" pitchFamily="34" charset="-120"/>
                <a:ea typeface="微軟正黑體" panose="020B0604030504040204" pitchFamily="34" charset="-120"/>
              </a:rPr>
              <a:t>管理</a:t>
            </a:r>
            <a:r>
              <a:rPr lang="zh-TW" altLang="en-US" sz="2400" b="1" dirty="0">
                <a:solidFill>
                  <a:srgbClr val="54667E"/>
                </a:solidFill>
                <a:latin typeface="微軟正黑體" panose="020B0604030504040204" pitchFamily="34" charset="-120"/>
                <a:ea typeface="微軟正黑體" panose="020B0604030504040204" pitchFamily="34" charset="-120"/>
              </a:rPr>
              <a:t>（</a:t>
            </a:r>
            <a:r>
              <a:rPr lang="en-US" altLang="zh-TW" sz="2400" b="1" dirty="0">
                <a:solidFill>
                  <a:srgbClr val="54667E"/>
                </a:solidFill>
                <a:latin typeface="微軟正黑體" panose="020B0604030504040204" pitchFamily="34" charset="-120"/>
                <a:ea typeface="微軟正黑體" panose="020B0604030504040204" pitchFamily="34" charset="-120"/>
              </a:rPr>
              <a:t>Management</a:t>
            </a:r>
            <a:r>
              <a:rPr lang="zh-TW" altLang="en-US" sz="2400" b="1" dirty="0">
                <a:solidFill>
                  <a:srgbClr val="54667E"/>
                </a:solidFill>
                <a:latin typeface="微軟正黑體" panose="020B0604030504040204" pitchFamily="34" charset="-120"/>
                <a:ea typeface="微軟正黑體" panose="020B0604030504040204" pitchFamily="34" charset="-120"/>
              </a:rPr>
              <a:t>）</a:t>
            </a:r>
            <a:endParaRPr lang="en-US" altLang="zh-TW" sz="2400" b="1" dirty="0">
              <a:solidFill>
                <a:srgbClr val="54667E"/>
              </a:solidFill>
              <a:latin typeface="微軟正黑體" panose="020B0604030504040204" pitchFamily="34" charset="-120"/>
              <a:ea typeface="微軟正黑體" panose="020B0604030504040204" pitchFamily="34" charset="-120"/>
            </a:endParaRPr>
          </a:p>
          <a:p>
            <a:pPr lvl="1">
              <a:lnSpc>
                <a:spcPct val="150000"/>
              </a:lnSpc>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將組織現有的資源，有效的規劃、配置與控制， 以達成預定目標</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在資訊領域進行管理作業，稱為</a:t>
            </a:r>
            <a:r>
              <a:rPr lang="zh-TW" altLang="en-US" sz="2400" b="1" dirty="0">
                <a:solidFill>
                  <a:schemeClr val="tx2"/>
                </a:solidFill>
                <a:latin typeface="微軟正黑體" panose="020B0604030504040204" pitchFamily="34" charset="-120"/>
                <a:ea typeface="微軟正黑體" panose="020B0604030504040204" pitchFamily="34" charset="-120"/>
              </a:rPr>
              <a:t>資訊管理（</a:t>
            </a:r>
            <a:r>
              <a:rPr lang="en-US" altLang="zh-TW" sz="2400" b="1" dirty="0">
                <a:solidFill>
                  <a:schemeClr val="tx2"/>
                </a:solidFill>
                <a:latin typeface="微軟正黑體" panose="020B0604030504040204" pitchFamily="34" charset="-120"/>
                <a:ea typeface="微軟正黑體" panose="020B0604030504040204" pitchFamily="34" charset="-120"/>
              </a:rPr>
              <a:t>IM</a:t>
            </a:r>
            <a:r>
              <a:rPr lang="zh-TW" altLang="en-US" sz="2400" b="1" dirty="0">
                <a:solidFill>
                  <a:schemeClr val="tx2"/>
                </a:solidFill>
                <a:latin typeface="微軟正黑體" panose="020B0604030504040204" pitchFamily="34" charset="-120"/>
                <a:ea typeface="微軟正黑體" panose="020B0604030504040204" pitchFamily="34" charset="-120"/>
              </a:rPr>
              <a:t>）</a:t>
            </a:r>
            <a:endParaRPr lang="en-US" altLang="zh-TW" sz="2400" b="1" dirty="0">
              <a:solidFill>
                <a:schemeClr val="tx2"/>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endParaRPr lang="en-US" altLang="zh-TW" sz="800" b="1" dirty="0">
              <a:solidFill>
                <a:schemeClr val="tx2"/>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區塊鏈應用的管理層面包含</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平台規劃、節點監控、隱私安全、創新設計等</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16729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5-1 </a:t>
            </a:r>
            <a:r>
              <a:rPr lang="zh-TW" altLang="en-US" sz="2400" b="1" dirty="0">
                <a:solidFill>
                  <a:srgbClr val="E06741"/>
                </a:solidFill>
              </a:rPr>
              <a:t>區塊鏈應用架構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3" name="文字方塊 52">
            <a:extLst>
              <a:ext uri="{FF2B5EF4-FFF2-40B4-BE49-F238E27FC236}">
                <a16:creationId xmlns:a16="http://schemas.microsoft.com/office/drawing/2014/main" id="{AE62D468-15B5-4D7B-93CC-6B6E7928C359}"/>
              </a:ext>
            </a:extLst>
          </p:cNvPr>
          <p:cNvSpPr txBox="1"/>
          <p:nvPr/>
        </p:nvSpPr>
        <p:spPr>
          <a:xfrm>
            <a:off x="8369638" y="5992480"/>
            <a:ext cx="2781531" cy="369332"/>
          </a:xfrm>
          <a:prstGeom prst="rect">
            <a:avLst/>
          </a:prstGeom>
          <a:noFill/>
        </p:spPr>
        <p:txBody>
          <a:bodyPr wrap="none" rtlCol="0">
            <a:spAutoFit/>
          </a:bodyPr>
          <a:lstStyle/>
          <a:p>
            <a:pPr marL="285750" indent="-285750">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區塊鏈的應用管理層面</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pSp>
        <p:nvGrpSpPr>
          <p:cNvPr id="4" name="群組 3">
            <a:extLst>
              <a:ext uri="{FF2B5EF4-FFF2-40B4-BE49-F238E27FC236}">
                <a16:creationId xmlns:a16="http://schemas.microsoft.com/office/drawing/2014/main" id="{0A1A660D-A6B2-444D-869B-6E011E5A29B4}"/>
              </a:ext>
            </a:extLst>
          </p:cNvPr>
          <p:cNvGrpSpPr/>
          <p:nvPr/>
        </p:nvGrpSpPr>
        <p:grpSpPr>
          <a:xfrm>
            <a:off x="8661499" y="1681116"/>
            <a:ext cx="2197808" cy="3859706"/>
            <a:chOff x="4439815" y="404665"/>
            <a:chExt cx="3447734" cy="6054780"/>
          </a:xfrm>
        </p:grpSpPr>
        <p:sp>
          <p:nvSpPr>
            <p:cNvPr id="13" name="流程圖: 結束點 12">
              <a:extLst>
                <a:ext uri="{FF2B5EF4-FFF2-40B4-BE49-F238E27FC236}">
                  <a16:creationId xmlns:a16="http://schemas.microsoft.com/office/drawing/2014/main" id="{0E5108F6-DDFD-4E46-963F-C81642D325F1}"/>
                </a:ext>
              </a:extLst>
            </p:cNvPr>
            <p:cNvSpPr/>
            <p:nvPr/>
          </p:nvSpPr>
          <p:spPr>
            <a:xfrm>
              <a:off x="4912880" y="1740877"/>
              <a:ext cx="2592288" cy="368102"/>
            </a:xfrm>
            <a:prstGeom prst="flowChartTerminator">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600" b="0"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4" name="流程圖: 結束點 13">
              <a:extLst>
                <a:ext uri="{FF2B5EF4-FFF2-40B4-BE49-F238E27FC236}">
                  <a16:creationId xmlns:a16="http://schemas.microsoft.com/office/drawing/2014/main" id="{BA417AFD-CD0D-42CF-BA9D-D1B7CC9312BF}"/>
                </a:ext>
              </a:extLst>
            </p:cNvPr>
            <p:cNvSpPr/>
            <p:nvPr/>
          </p:nvSpPr>
          <p:spPr>
            <a:xfrm>
              <a:off x="4887963" y="1179757"/>
              <a:ext cx="2592288" cy="368102"/>
            </a:xfrm>
            <a:prstGeom prst="flowChartTerminator">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600" b="0"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5" name="流程圖: 結束點 14">
              <a:extLst>
                <a:ext uri="{FF2B5EF4-FFF2-40B4-BE49-F238E27FC236}">
                  <a16:creationId xmlns:a16="http://schemas.microsoft.com/office/drawing/2014/main" id="{D7929F59-344B-42D7-BB3D-A17B4C3CEE78}"/>
                </a:ext>
              </a:extLst>
            </p:cNvPr>
            <p:cNvSpPr/>
            <p:nvPr/>
          </p:nvSpPr>
          <p:spPr>
            <a:xfrm>
              <a:off x="4923934" y="721680"/>
              <a:ext cx="2592288" cy="368102"/>
            </a:xfrm>
            <a:prstGeom prst="flowChartTerminator">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600" b="0"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6" name="流程圖: 結束點 15">
              <a:extLst>
                <a:ext uri="{FF2B5EF4-FFF2-40B4-BE49-F238E27FC236}">
                  <a16:creationId xmlns:a16="http://schemas.microsoft.com/office/drawing/2014/main" id="{3FEF210F-6174-4252-B5AD-6EE014DD3F6C}"/>
                </a:ext>
              </a:extLst>
            </p:cNvPr>
            <p:cNvSpPr/>
            <p:nvPr/>
          </p:nvSpPr>
          <p:spPr>
            <a:xfrm>
              <a:off x="4887963" y="2177807"/>
              <a:ext cx="2592288" cy="368102"/>
            </a:xfrm>
            <a:prstGeom prst="flowChartTerminator">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600" b="0"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7" name="流程圖: 延遲 16">
              <a:extLst>
                <a:ext uri="{FF2B5EF4-FFF2-40B4-BE49-F238E27FC236}">
                  <a16:creationId xmlns:a16="http://schemas.microsoft.com/office/drawing/2014/main" id="{97ADD691-5D7F-402D-B3BC-18B2DF97247D}"/>
                </a:ext>
              </a:extLst>
            </p:cNvPr>
            <p:cNvSpPr/>
            <p:nvPr/>
          </p:nvSpPr>
          <p:spPr>
            <a:xfrm rot="5400000">
              <a:off x="4631089" y="213391"/>
              <a:ext cx="3024336" cy="3406883"/>
            </a:xfrm>
            <a:prstGeom prst="flowChartDelay">
              <a:avLst/>
            </a:prstGeom>
            <a:noFill/>
            <a:ln w="317500" cap="flat" cmpd="sng" algn="ctr">
              <a:solidFill>
                <a:schemeClr val="accent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600" b="0"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8" name="流程圖: 延遲 17">
              <a:extLst>
                <a:ext uri="{FF2B5EF4-FFF2-40B4-BE49-F238E27FC236}">
                  <a16:creationId xmlns:a16="http://schemas.microsoft.com/office/drawing/2014/main" id="{F6B45810-1DA4-44E6-A777-7C92B9CB0F81}"/>
                </a:ext>
              </a:extLst>
            </p:cNvPr>
            <p:cNvSpPr/>
            <p:nvPr/>
          </p:nvSpPr>
          <p:spPr>
            <a:xfrm rot="16200000">
              <a:off x="4671940" y="3243835"/>
              <a:ext cx="3024336" cy="3406883"/>
            </a:xfrm>
            <a:prstGeom prst="flowChartDelay">
              <a:avLst/>
            </a:prstGeom>
            <a:solidFill>
              <a:schemeClr val="bg1">
                <a:lumMod val="85000"/>
              </a:schemeClr>
            </a:solidFill>
            <a:ln w="317500" cap="flat" cmpd="sng" algn="ctr">
              <a:solidFill>
                <a:schemeClr val="accent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600" b="0"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9" name="矩形 18">
              <a:extLst>
                <a:ext uri="{FF2B5EF4-FFF2-40B4-BE49-F238E27FC236}">
                  <a16:creationId xmlns:a16="http://schemas.microsoft.com/office/drawing/2014/main" id="{0E75DFCA-6912-4D30-8852-407DEA7BE1E5}"/>
                </a:ext>
              </a:extLst>
            </p:cNvPr>
            <p:cNvSpPr/>
            <p:nvPr/>
          </p:nvSpPr>
          <p:spPr>
            <a:xfrm>
              <a:off x="5204887" y="676903"/>
              <a:ext cx="2454830" cy="482815"/>
            </a:xfrm>
            <a:prstGeom prst="rect">
              <a:avLst/>
            </a:prstGeom>
            <a:ln>
              <a:noFill/>
            </a:ln>
          </p:spPr>
          <p:txBody>
            <a:bodyPr wrap="square">
              <a:spAutoFit/>
            </a:bodyPr>
            <a:lstStyle/>
            <a:p>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平台規劃管理</a:t>
              </a:r>
            </a:p>
          </p:txBody>
        </p:sp>
        <p:sp>
          <p:nvSpPr>
            <p:cNvPr id="20" name="矩形 19">
              <a:extLst>
                <a:ext uri="{FF2B5EF4-FFF2-40B4-BE49-F238E27FC236}">
                  <a16:creationId xmlns:a16="http://schemas.microsoft.com/office/drawing/2014/main" id="{885798B2-2733-4506-8CCB-596240B88597}"/>
                </a:ext>
              </a:extLst>
            </p:cNvPr>
            <p:cNvSpPr/>
            <p:nvPr/>
          </p:nvSpPr>
          <p:spPr>
            <a:xfrm>
              <a:off x="5220685" y="1164521"/>
              <a:ext cx="1979536" cy="482815"/>
            </a:xfrm>
            <a:prstGeom prst="rect">
              <a:avLst/>
            </a:prstGeom>
            <a:ln>
              <a:noFill/>
            </a:ln>
          </p:spPr>
          <p:txBody>
            <a:bodyPr wrap="none">
              <a:spAutoFit/>
            </a:bodyPr>
            <a:lstStyle/>
            <a:p>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節點監控管理</a:t>
              </a:r>
            </a:p>
          </p:txBody>
        </p:sp>
        <p:sp>
          <p:nvSpPr>
            <p:cNvPr id="21" name="矩形 20">
              <a:extLst>
                <a:ext uri="{FF2B5EF4-FFF2-40B4-BE49-F238E27FC236}">
                  <a16:creationId xmlns:a16="http://schemas.microsoft.com/office/drawing/2014/main" id="{FC446BB7-DCB3-40A9-8FBD-4FB74C95E52F}"/>
                </a:ext>
              </a:extLst>
            </p:cNvPr>
            <p:cNvSpPr/>
            <p:nvPr/>
          </p:nvSpPr>
          <p:spPr>
            <a:xfrm>
              <a:off x="5220685" y="1675036"/>
              <a:ext cx="1979536" cy="482815"/>
            </a:xfrm>
            <a:prstGeom prst="rect">
              <a:avLst/>
            </a:prstGeom>
            <a:ln>
              <a:noFill/>
            </a:ln>
          </p:spPr>
          <p:txBody>
            <a:bodyPr wrap="none">
              <a:spAutoFit/>
            </a:bodyPr>
            <a:lstStyle/>
            <a:p>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隱私安全管理</a:t>
              </a:r>
            </a:p>
          </p:txBody>
        </p:sp>
        <p:sp>
          <p:nvSpPr>
            <p:cNvPr id="22" name="矩形 21">
              <a:extLst>
                <a:ext uri="{FF2B5EF4-FFF2-40B4-BE49-F238E27FC236}">
                  <a16:creationId xmlns:a16="http://schemas.microsoft.com/office/drawing/2014/main" id="{8BD6869F-78CD-4AFF-9C28-BB74D28BE6F9}"/>
                </a:ext>
              </a:extLst>
            </p:cNvPr>
            <p:cNvSpPr/>
            <p:nvPr/>
          </p:nvSpPr>
          <p:spPr>
            <a:xfrm>
              <a:off x="5197369" y="2139755"/>
              <a:ext cx="1979536" cy="482815"/>
            </a:xfrm>
            <a:prstGeom prst="rect">
              <a:avLst/>
            </a:prstGeom>
            <a:ln>
              <a:noFill/>
            </a:ln>
          </p:spPr>
          <p:txBody>
            <a:bodyPr wrap="none">
              <a:spAutoFit/>
            </a:bodyPr>
            <a:lstStyle/>
            <a:p>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創新設計管理</a:t>
              </a:r>
            </a:p>
          </p:txBody>
        </p:sp>
        <p:sp>
          <p:nvSpPr>
            <p:cNvPr id="23" name="文字方塊 22">
              <a:extLst>
                <a:ext uri="{FF2B5EF4-FFF2-40B4-BE49-F238E27FC236}">
                  <a16:creationId xmlns:a16="http://schemas.microsoft.com/office/drawing/2014/main" id="{823173AB-647A-4F15-B914-514E5478B88D}"/>
                </a:ext>
              </a:extLst>
            </p:cNvPr>
            <p:cNvSpPr txBox="1"/>
            <p:nvPr/>
          </p:nvSpPr>
          <p:spPr>
            <a:xfrm>
              <a:off x="4628470" y="4669340"/>
              <a:ext cx="3111271" cy="579377"/>
            </a:xfrm>
            <a:prstGeom prst="rect">
              <a:avLst/>
            </a:prstGeom>
            <a:noFill/>
            <a:ln>
              <a:noFill/>
            </a:ln>
          </p:spPr>
          <p:txBody>
            <a:bodyPr wrap="square" rtlCol="0">
              <a:spAutoFit/>
            </a:bodyPr>
            <a:lstStyle/>
            <a:p>
              <a:pPr algn="ctr"/>
              <a:r>
                <a:rPr lang="zh-TW" altLang="en-US" b="1" dirty="0">
                  <a:solidFill>
                    <a:schemeClr val="accent3">
                      <a:lumMod val="50000"/>
                    </a:schemeClr>
                  </a:solidFill>
                  <a:latin typeface="微軟正黑體" panose="020B0604030504040204" pitchFamily="34" charset="-120"/>
                  <a:ea typeface="微軟正黑體" panose="020B0604030504040204" pitchFamily="34" charset="-120"/>
                </a:rPr>
                <a:t>區塊鏈應用管理</a:t>
              </a:r>
            </a:p>
          </p:txBody>
        </p:sp>
        <p:sp>
          <p:nvSpPr>
            <p:cNvPr id="24" name="橢圓 23">
              <a:extLst>
                <a:ext uri="{FF2B5EF4-FFF2-40B4-BE49-F238E27FC236}">
                  <a16:creationId xmlns:a16="http://schemas.microsoft.com/office/drawing/2014/main" id="{560B6216-B97B-422B-9F46-47A3FDEA57AA}"/>
                </a:ext>
              </a:extLst>
            </p:cNvPr>
            <p:cNvSpPr/>
            <p:nvPr/>
          </p:nvSpPr>
          <p:spPr>
            <a:xfrm>
              <a:off x="5849108" y="2718869"/>
              <a:ext cx="588298" cy="517114"/>
            </a:xfrm>
            <a:prstGeom prst="ellipse">
              <a:avLst/>
            </a:prstGeom>
            <a:solidFill>
              <a:schemeClr val="accent5"/>
            </a:solidFill>
            <a:ln w="12700" cap="flat" cmpd="sng" algn="ctr">
              <a:solidFill>
                <a:schemeClr val="accent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600" b="0"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25" name="流程圖: 程序 24">
              <a:extLst>
                <a:ext uri="{FF2B5EF4-FFF2-40B4-BE49-F238E27FC236}">
                  <a16:creationId xmlns:a16="http://schemas.microsoft.com/office/drawing/2014/main" id="{31DEA889-6682-47B2-8A5D-687421F371B7}"/>
                </a:ext>
              </a:extLst>
            </p:cNvPr>
            <p:cNvSpPr/>
            <p:nvPr/>
          </p:nvSpPr>
          <p:spPr>
            <a:xfrm>
              <a:off x="6637996" y="2712038"/>
              <a:ext cx="504056" cy="212908"/>
            </a:xfrm>
            <a:prstGeom prst="flowChartProcess">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600" b="0"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27" name="流程圖: 程序 26">
              <a:extLst>
                <a:ext uri="{FF2B5EF4-FFF2-40B4-BE49-F238E27FC236}">
                  <a16:creationId xmlns:a16="http://schemas.microsoft.com/office/drawing/2014/main" id="{DE1FF952-C579-4273-8529-D7B7D48EB2A3}"/>
                </a:ext>
              </a:extLst>
            </p:cNvPr>
            <p:cNvSpPr/>
            <p:nvPr/>
          </p:nvSpPr>
          <p:spPr>
            <a:xfrm>
              <a:off x="5216523" y="2742440"/>
              <a:ext cx="504056" cy="182506"/>
            </a:xfrm>
            <a:prstGeom prst="flowChartProcess">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600" b="0"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15771361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arn(inVertical)">
                                      <p:cBhvr>
                                        <p:cTn id="20" dur="500"/>
                                        <p:tgtEl>
                                          <p:spTgt spid="3"/>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childTnLst>
                          </p:cTn>
                        </p:par>
                        <p:par>
                          <p:cTn id="27" fill="hold">
                            <p:stCondLst>
                              <p:cond delay="4000"/>
                            </p:stCondLst>
                            <p:childTnLst>
                              <p:par>
                                <p:cTn id="28" presetID="2" presetClass="entr" presetSubtype="4" fill="hold" grpId="0" nodeType="afterEffect">
                                  <p:stCondLst>
                                    <p:cond delay="0"/>
                                  </p:stCondLst>
                                  <p:childTnLst>
                                    <p:set>
                                      <p:cBhvr>
                                        <p:cTn id="29" dur="1" fill="hold">
                                          <p:stCondLst>
                                            <p:cond delay="0"/>
                                          </p:stCondLst>
                                        </p:cTn>
                                        <p:tgtEl>
                                          <p:spTgt spid="53"/>
                                        </p:tgtEl>
                                        <p:attrNameLst>
                                          <p:attrName>style.visibility</p:attrName>
                                        </p:attrNameLst>
                                      </p:cBhvr>
                                      <p:to>
                                        <p:strVal val="visible"/>
                                      </p:to>
                                    </p:set>
                                    <p:anim calcmode="lin" valueType="num">
                                      <p:cBhvr additive="base">
                                        <p:cTn id="30" dur="500" fill="hold"/>
                                        <p:tgtEl>
                                          <p:spTgt spid="53"/>
                                        </p:tgtEl>
                                        <p:attrNameLst>
                                          <p:attrName>ppt_x</p:attrName>
                                        </p:attrNameLst>
                                      </p:cBhvr>
                                      <p:tavLst>
                                        <p:tav tm="0">
                                          <p:val>
                                            <p:strVal val="#ppt_x"/>
                                          </p:val>
                                        </p:tav>
                                        <p:tav tm="100000">
                                          <p:val>
                                            <p:strVal val="#ppt_x"/>
                                          </p:val>
                                        </p:tav>
                                      </p:tavLst>
                                    </p:anim>
                                    <p:anim calcmode="lin" valueType="num">
                                      <p:cBhvr additive="base">
                                        <p:cTn id="31"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6" grpId="0"/>
      <p:bldP spid="5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AD7F4831-1A36-4A2F-ACBE-344F724510DC}"/>
              </a:ext>
            </a:extLst>
          </p:cNvPr>
          <p:cNvSpPr txBox="1"/>
          <p:nvPr/>
        </p:nvSpPr>
        <p:spPr>
          <a:xfrm>
            <a:off x="4422583"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區塊鏈應用管理</a:t>
            </a:r>
          </a:p>
        </p:txBody>
      </p:sp>
      <p:cxnSp>
        <p:nvCxnSpPr>
          <p:cNvPr id="33" name="直接连接符 33">
            <a:extLst>
              <a:ext uri="{FF2B5EF4-FFF2-40B4-BE49-F238E27FC236}">
                <a16:creationId xmlns:a16="http://schemas.microsoft.com/office/drawing/2014/main" id="{DFF80DCD-8EF0-4D2F-8380-59FA348D932C}"/>
              </a:ext>
            </a:extLst>
          </p:cNvPr>
          <p:cNvCxnSpPr>
            <a:cxnSpLocks/>
          </p:cNvCxnSpPr>
          <p:nvPr/>
        </p:nvCxnSpPr>
        <p:spPr>
          <a:xfrm>
            <a:off x="1177167" y="1046746"/>
            <a:ext cx="874268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16729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5-1 </a:t>
            </a:r>
            <a:r>
              <a:rPr lang="zh-TW" altLang="en-US" sz="2400" b="1" dirty="0">
                <a:solidFill>
                  <a:srgbClr val="E06741"/>
                </a:solidFill>
              </a:rPr>
              <a:t>區塊鏈應用架構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292223" y="1409534"/>
            <a:ext cx="10355063" cy="4482381"/>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一、平台規劃管理</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於企業內部跨部門資訊整合，</a:t>
            </a:r>
            <a:r>
              <a:rPr lang="zh-TW" altLang="en-US" sz="2300" b="1" dirty="0">
                <a:solidFill>
                  <a:schemeClr val="tx2"/>
                </a:solidFill>
                <a:latin typeface="微軟正黑體" panose="020B0604030504040204" pitchFamily="34" charset="-120"/>
                <a:ea typeface="微軟正黑體" panose="020B0604030504040204" pitchFamily="34" charset="-120"/>
              </a:rPr>
              <a:t>可達到追蹤性、不可改變</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及</a:t>
            </a:r>
            <a:r>
              <a:rPr lang="zh-TW" altLang="en-US" sz="2300" b="1" dirty="0">
                <a:solidFill>
                  <a:schemeClr val="tx2"/>
                </a:solidFill>
                <a:latin typeface="微軟正黑體" panose="020B0604030504040204" pitchFamily="34" charset="-120"/>
                <a:ea typeface="微軟正黑體" panose="020B0604030504040204" pitchFamily="34" charset="-120"/>
              </a:rPr>
              <a:t>結果一致性</a:t>
            </a:r>
            <a:endParaRPr lang="en-US" altLang="zh-TW" sz="2300" b="1" dirty="0">
              <a:solidFill>
                <a:schemeClr val="tx2"/>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區塊鏈網路資源之相關法規應受到規範與遵循</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區塊鏈網路狀況透過建置連線架構圖、即時流量圖、無線網路流量圖、 硬體設施流量圖來控制</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骨幹設備資源分配狀況以連線單位頻寬資料表及連線單位介接設備表監管</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區塊鏈系統管理者及使用者帳號與</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IP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管理、 </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IP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位址資料與網路服務設備相關設定也應具體說明，以利使用者參考應用</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2" name="圖片 11">
            <a:extLst>
              <a:ext uri="{FF2B5EF4-FFF2-40B4-BE49-F238E27FC236}">
                <a16:creationId xmlns:a16="http://schemas.microsoft.com/office/drawing/2014/main" id="{75C497F7-6480-4DAD-878D-93952DF990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06337" y="393820"/>
            <a:ext cx="1468362" cy="1468362"/>
          </a:xfrm>
          <a:prstGeom prst="rect">
            <a:avLst/>
          </a:prstGeom>
        </p:spPr>
      </p:pic>
    </p:spTree>
    <p:extLst>
      <p:ext uri="{BB962C8B-B14F-4D97-AF65-F5344CB8AC3E}">
        <p14:creationId xmlns:p14="http://schemas.microsoft.com/office/powerpoint/2010/main" val="2023360179"/>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animEffect transition="in" filter="barn(inVertical)">
                                      <p:cBhvr>
                                        <p:cTn id="29" dur="500"/>
                                        <p:tgtEl>
                                          <p:spTgt spid="28">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4" end="4"/>
                                            </p:txEl>
                                          </p:spTgt>
                                        </p:tgtEl>
                                        <p:attrNameLst>
                                          <p:attrName>style.visibility</p:attrName>
                                        </p:attrNameLst>
                                      </p:cBhvr>
                                      <p:to>
                                        <p:strVal val="visible"/>
                                      </p:to>
                                    </p:set>
                                    <p:animEffect transition="in" filter="barn(inVertical)">
                                      <p:cBhvr>
                                        <p:cTn id="33" dur="500"/>
                                        <p:tgtEl>
                                          <p:spTgt spid="28">
                                            <p:txEl>
                                              <p:pRg st="4" end="4"/>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5" end="5"/>
                                            </p:txEl>
                                          </p:spTgt>
                                        </p:tgtEl>
                                        <p:attrNameLst>
                                          <p:attrName>style.visibility</p:attrName>
                                        </p:attrNameLst>
                                      </p:cBhvr>
                                      <p:to>
                                        <p:strVal val="visible"/>
                                      </p:to>
                                    </p:set>
                                    <p:animEffect transition="in" filter="barn(inVertical)">
                                      <p:cBhvr>
                                        <p:cTn id="37" dur="500"/>
                                        <p:tgtEl>
                                          <p:spTgt spid="28">
                                            <p:txEl>
                                              <p:pRg st="5" end="5"/>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28">
                                            <p:txEl>
                                              <p:pRg st="6" end="6"/>
                                            </p:txEl>
                                          </p:spTgt>
                                        </p:tgtEl>
                                        <p:attrNameLst>
                                          <p:attrName>style.visibility</p:attrName>
                                        </p:attrNameLst>
                                      </p:cBhvr>
                                      <p:to>
                                        <p:strVal val="visible"/>
                                      </p:to>
                                    </p:set>
                                    <p:animEffect transition="in" filter="barn(inVertical)">
                                      <p:cBhvr>
                                        <p:cTn id="41" dur="500"/>
                                        <p:tgtEl>
                                          <p:spTgt spid="28">
                                            <p:txEl>
                                              <p:pRg st="6" end="6"/>
                                            </p:txEl>
                                          </p:spTgt>
                                        </p:tgtEl>
                                      </p:cBhvr>
                                    </p:animEffect>
                                  </p:childTnLst>
                                </p:cTn>
                              </p:par>
                            </p:childTnLst>
                          </p:cTn>
                        </p:par>
                        <p:par>
                          <p:cTn id="42" fill="hold">
                            <p:stCondLst>
                              <p:cond delay="6000"/>
                            </p:stCondLst>
                            <p:childTnLst>
                              <p:par>
                                <p:cTn id="43" presetID="53" presetClass="entr" presetSubtype="16" fill="hold" nodeType="after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p:cTn id="45" dur="500" fill="hold"/>
                                        <p:tgtEl>
                                          <p:spTgt spid="12"/>
                                        </p:tgtEl>
                                        <p:attrNameLst>
                                          <p:attrName>ppt_w</p:attrName>
                                        </p:attrNameLst>
                                      </p:cBhvr>
                                      <p:tavLst>
                                        <p:tav tm="0">
                                          <p:val>
                                            <p:fltVal val="0"/>
                                          </p:val>
                                        </p:tav>
                                        <p:tav tm="100000">
                                          <p:val>
                                            <p:strVal val="#ppt_w"/>
                                          </p:val>
                                        </p:tav>
                                      </p:tavLst>
                                    </p:anim>
                                    <p:anim calcmode="lin" valueType="num">
                                      <p:cBhvr>
                                        <p:cTn id="46" dur="500" fill="hold"/>
                                        <p:tgtEl>
                                          <p:spTgt spid="12"/>
                                        </p:tgtEl>
                                        <p:attrNameLst>
                                          <p:attrName>ppt_h</p:attrName>
                                        </p:attrNameLst>
                                      </p:cBhvr>
                                      <p:tavLst>
                                        <p:tav tm="0">
                                          <p:val>
                                            <p:fltVal val="0"/>
                                          </p:val>
                                        </p:tav>
                                        <p:tav tm="100000">
                                          <p:val>
                                            <p:strVal val="#ppt_h"/>
                                          </p:val>
                                        </p:tav>
                                      </p:tavLst>
                                    </p:anim>
                                    <p:animEffect transition="in" filter="fade">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AD7F4831-1A36-4A2F-ACBE-344F724510DC}"/>
              </a:ext>
            </a:extLst>
          </p:cNvPr>
          <p:cNvSpPr txBox="1"/>
          <p:nvPr/>
        </p:nvSpPr>
        <p:spPr>
          <a:xfrm>
            <a:off x="4422583"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區塊鏈應用管理</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16729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5-1 </a:t>
            </a:r>
            <a:r>
              <a:rPr lang="zh-TW" altLang="en-US" sz="2400" b="1" dirty="0">
                <a:solidFill>
                  <a:srgbClr val="E06741"/>
                </a:solidFill>
              </a:rPr>
              <a:t>區塊鏈應用架構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558751" y="1437387"/>
            <a:ext cx="9460231" cy="4320798"/>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二、節點監控管理</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rgbClr val="54667E"/>
                </a:solidFill>
                <a:latin typeface="微軟正黑體" panose="020B0604030504040204" pitchFamily="34" charset="-120"/>
                <a:ea typeface="微軟正黑體" panose="020B0604030504040204" pitchFamily="34" charset="-120"/>
              </a:rPr>
              <a:t>離散式帳本（</a:t>
            </a:r>
            <a:r>
              <a:rPr lang="en-US" altLang="zh-TW" sz="2300" b="1" dirty="0">
                <a:solidFill>
                  <a:srgbClr val="54667E"/>
                </a:solidFill>
                <a:latin typeface="微軟正黑體" panose="020B0604030504040204" pitchFamily="34" charset="-120"/>
                <a:ea typeface="微軟正黑體" panose="020B0604030504040204" pitchFamily="34" charset="-120"/>
              </a:rPr>
              <a:t>Distributed Ledger</a:t>
            </a:r>
            <a:r>
              <a:rPr lang="zh-TW" altLang="en-US" sz="2300" b="1" dirty="0">
                <a:solidFill>
                  <a:srgbClr val="54667E"/>
                </a:solidFill>
                <a:latin typeface="微軟正黑體" panose="020B0604030504040204" pitchFamily="34" charset="-120"/>
                <a:ea typeface="微軟正黑體" panose="020B0604030504040204" pitchFamily="34" charset="-120"/>
              </a:rPr>
              <a:t>）</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為區塊鏈的核心，所有權、身分判定與証明、加密金鑰或裝置屬性等各類資產，皆可被追蹤</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endParaRPr lang="zh-TW" altLang="en-US"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每個區塊網路的參與者都是一個節點（</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Node</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），被記錄在一套    完整的帳本（</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Ledger</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）中</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要發起一個交易行為，皆須推播至網路中的其他節點</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Font typeface="微軟正黑體" panose="020B0604030504040204" pitchFamily="34" charset="-120"/>
              <a:buChar cha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應確保交易訊息隱私安全，節點之監控管理十分重要</a:t>
            </a:r>
          </a:p>
        </p:txBody>
      </p:sp>
      <p:pic>
        <p:nvPicPr>
          <p:cNvPr id="10" name="圖片 9" descr="一張含有 運輸, 輪子 的圖片&#10;&#10;描述是以非常高的可信度產生">
            <a:extLst>
              <a:ext uri="{FF2B5EF4-FFF2-40B4-BE49-F238E27FC236}">
                <a16:creationId xmlns:a16="http://schemas.microsoft.com/office/drawing/2014/main" id="{C8263931-F283-4110-9852-790EA9A2C3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87696" y="4592434"/>
            <a:ext cx="2003956" cy="2003956"/>
          </a:xfrm>
          <a:prstGeom prst="rect">
            <a:avLst/>
          </a:prstGeom>
        </p:spPr>
      </p:pic>
    </p:spTree>
    <p:extLst>
      <p:ext uri="{BB962C8B-B14F-4D97-AF65-F5344CB8AC3E}">
        <p14:creationId xmlns:p14="http://schemas.microsoft.com/office/powerpoint/2010/main" val="240599195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8"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ppt_y"/>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4" end="4"/>
                                            </p:txEl>
                                          </p:spTgt>
                                        </p:tgtEl>
                                        <p:attrNameLst>
                                          <p:attrName>style.visibility</p:attrName>
                                        </p:attrNameLst>
                                      </p:cBhvr>
                                      <p:to>
                                        <p:strVal val="visible"/>
                                      </p:to>
                                    </p:set>
                                    <p:animEffect transition="in" filter="barn(inVertical)">
                                      <p:cBhvr>
                                        <p:cTn id="29" dur="500"/>
                                        <p:tgtEl>
                                          <p:spTgt spid="28">
                                            <p:txEl>
                                              <p:pRg st="4" end="4"/>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6" end="6"/>
                                            </p:txEl>
                                          </p:spTgt>
                                        </p:tgtEl>
                                        <p:attrNameLst>
                                          <p:attrName>style.visibility</p:attrName>
                                        </p:attrNameLst>
                                      </p:cBhvr>
                                      <p:to>
                                        <p:strVal val="visible"/>
                                      </p:to>
                                    </p:set>
                                    <p:animEffect transition="in" filter="barn(inVertical)">
                                      <p:cBhvr>
                                        <p:cTn id="33" dur="500"/>
                                        <p:tgtEl>
                                          <p:spTgt spid="28">
                                            <p:txEl>
                                              <p:pRg st="6" end="6"/>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7" end="7"/>
                                            </p:txEl>
                                          </p:spTgt>
                                        </p:tgtEl>
                                        <p:attrNameLst>
                                          <p:attrName>style.visibility</p:attrName>
                                        </p:attrNameLst>
                                      </p:cBhvr>
                                      <p:to>
                                        <p:strVal val="visible"/>
                                      </p:to>
                                    </p:set>
                                    <p:animEffect transition="in" filter="barn(inVertical)">
                                      <p:cBhvr>
                                        <p:cTn id="37" dur="500"/>
                                        <p:tgtEl>
                                          <p:spTgt spid="28">
                                            <p:txEl>
                                              <p:pRg st="7" end="7"/>
                                            </p:txEl>
                                          </p:spTgt>
                                        </p:tgtEl>
                                      </p:cBhvr>
                                    </p:animEffect>
                                  </p:childTnLst>
                                </p:cTn>
                              </p:par>
                            </p:childTnLst>
                          </p:cTn>
                        </p:par>
                        <p:par>
                          <p:cTn id="38" fill="hold">
                            <p:stCondLst>
                              <p:cond delay="5500"/>
                            </p:stCondLst>
                            <p:childTnLst>
                              <p:par>
                                <p:cTn id="39" presetID="53" presetClass="entr" presetSubtype="16" fill="hold" nodeType="after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fltVal val="0"/>
                                          </p:val>
                                        </p:tav>
                                        <p:tav tm="100000">
                                          <p:val>
                                            <p:strVal val="#ppt_h"/>
                                          </p:val>
                                        </p:tav>
                                      </p:tavLst>
                                    </p:anim>
                                    <p:animEffect transition="in" filter="fade">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AD7F4831-1A36-4A2F-ACBE-344F724510DC}"/>
              </a:ext>
            </a:extLst>
          </p:cNvPr>
          <p:cNvSpPr txBox="1"/>
          <p:nvPr/>
        </p:nvSpPr>
        <p:spPr>
          <a:xfrm>
            <a:off x="4422583"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區塊鏈應用管理</a:t>
            </a:r>
          </a:p>
        </p:txBody>
      </p:sp>
      <p:cxnSp>
        <p:nvCxnSpPr>
          <p:cNvPr id="33" name="直接连接符 33">
            <a:extLst>
              <a:ext uri="{FF2B5EF4-FFF2-40B4-BE49-F238E27FC236}">
                <a16:creationId xmlns:a16="http://schemas.microsoft.com/office/drawing/2014/main" id="{DFF80DCD-8EF0-4D2F-8380-59FA348D932C}"/>
              </a:ext>
            </a:extLst>
          </p:cNvPr>
          <p:cNvCxnSpPr>
            <a:cxnSpLocks/>
            <a:endCxn id="10" idx="1"/>
          </p:cNvCxnSpPr>
          <p:nvPr/>
        </p:nvCxnSpPr>
        <p:spPr>
          <a:xfrm>
            <a:off x="1177167" y="1046746"/>
            <a:ext cx="8710617"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16729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5-1 </a:t>
            </a:r>
            <a:r>
              <a:rPr lang="zh-TW" altLang="en-US" sz="2400" b="1" dirty="0">
                <a:solidFill>
                  <a:srgbClr val="E06741"/>
                </a:solidFill>
              </a:rPr>
              <a:t>區塊鏈應用架構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558751" y="1733922"/>
            <a:ext cx="9432522" cy="3605218"/>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三、隱私安全管理</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為了整體安全性，可採用類似私人建置之區塊鏈，採行</a:t>
            </a:r>
            <a:r>
              <a:rPr lang="zh-TW" altLang="en-US" sz="2300" b="1" dirty="0">
                <a:solidFill>
                  <a:srgbClr val="54667E"/>
                </a:solidFill>
                <a:latin typeface="微軟正黑體" panose="020B0604030504040204" pitchFamily="34" charset="-120"/>
                <a:ea typeface="微軟正黑體" panose="020B0604030504040204" pitchFamily="34" charset="-120"/>
              </a:rPr>
              <a:t>封閉式</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的用戶社群規則，進出除了考量管理加密式存取金鑰，更建置網路安全措施，限制訪問路徑</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區塊鏈的</a:t>
            </a:r>
            <a:r>
              <a:rPr lang="zh-TW" altLang="en-US" sz="2300" b="1" dirty="0">
                <a:solidFill>
                  <a:srgbClr val="54667E"/>
                </a:solidFill>
                <a:latin typeface="微軟正黑體" panose="020B0604030504040204" pitchFamily="34" charset="-120"/>
                <a:ea typeface="微軟正黑體" panose="020B0604030504040204" pitchFamily="34" charset="-120"/>
              </a:rPr>
              <a:t>驗證機制</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能保障資料不被竄改，且交易紀錄都被加密，保護交易雙方的個資</a:t>
            </a:r>
          </a:p>
        </p:txBody>
      </p:sp>
      <p:pic>
        <p:nvPicPr>
          <p:cNvPr id="10" name="圖片 9">
            <a:extLst>
              <a:ext uri="{FF2B5EF4-FFF2-40B4-BE49-F238E27FC236}">
                <a16:creationId xmlns:a16="http://schemas.microsoft.com/office/drawing/2014/main" id="{311BB223-8AF6-4D95-815B-00C850539F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87784" y="227747"/>
            <a:ext cx="1637998" cy="1637998"/>
          </a:xfrm>
          <a:prstGeom prst="rect">
            <a:avLst/>
          </a:prstGeom>
        </p:spPr>
      </p:pic>
    </p:spTree>
    <p:extLst>
      <p:ext uri="{BB962C8B-B14F-4D97-AF65-F5344CB8AC3E}">
        <p14:creationId xmlns:p14="http://schemas.microsoft.com/office/powerpoint/2010/main" val="3584947805"/>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4" end="4"/>
                                            </p:txEl>
                                          </p:spTgt>
                                        </p:tgtEl>
                                        <p:attrNameLst>
                                          <p:attrName>style.visibility</p:attrName>
                                        </p:attrNameLst>
                                      </p:cBhvr>
                                      <p:to>
                                        <p:strVal val="visible"/>
                                      </p:to>
                                    </p:set>
                                    <p:animEffect transition="in" filter="barn(inVertical)">
                                      <p:cBhvr>
                                        <p:cTn id="29" dur="500"/>
                                        <p:tgtEl>
                                          <p:spTgt spid="28">
                                            <p:txEl>
                                              <p:pRg st="4" end="4"/>
                                            </p:txEl>
                                          </p:spTgt>
                                        </p:tgtEl>
                                      </p:cBhvr>
                                    </p:animEffect>
                                  </p:childTnLst>
                                </p:cTn>
                              </p:par>
                            </p:childTnLst>
                          </p:cTn>
                        </p:par>
                        <p:par>
                          <p:cTn id="30" fill="hold">
                            <p:stCondLst>
                              <p:cond delay="4500"/>
                            </p:stCondLst>
                            <p:childTnLst>
                              <p:par>
                                <p:cTn id="31" presetID="53" presetClass="entr" presetSubtype="16"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500" fill="hold"/>
                                        <p:tgtEl>
                                          <p:spTgt spid="10"/>
                                        </p:tgtEl>
                                        <p:attrNameLst>
                                          <p:attrName>ppt_w</p:attrName>
                                        </p:attrNameLst>
                                      </p:cBhvr>
                                      <p:tavLst>
                                        <p:tav tm="0">
                                          <p:val>
                                            <p:fltVal val="0"/>
                                          </p:val>
                                        </p:tav>
                                        <p:tav tm="100000">
                                          <p:val>
                                            <p:strVal val="#ppt_w"/>
                                          </p:val>
                                        </p:tav>
                                      </p:tavLst>
                                    </p:anim>
                                    <p:anim calcmode="lin" valueType="num">
                                      <p:cBhvr>
                                        <p:cTn id="34" dur="500" fill="hold"/>
                                        <p:tgtEl>
                                          <p:spTgt spid="10"/>
                                        </p:tgtEl>
                                        <p:attrNameLst>
                                          <p:attrName>ppt_h</p:attrName>
                                        </p:attrNameLst>
                                      </p:cBhvr>
                                      <p:tavLst>
                                        <p:tav tm="0">
                                          <p:val>
                                            <p:fltVal val="0"/>
                                          </p:val>
                                        </p:tav>
                                        <p:tav tm="100000">
                                          <p:val>
                                            <p:strVal val="#ppt_h"/>
                                          </p:val>
                                        </p:tav>
                                      </p:tavLst>
                                    </p:anim>
                                    <p:animEffect transition="in" filter="fade">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AD7F4831-1A36-4A2F-ACBE-344F724510DC}"/>
              </a:ext>
            </a:extLst>
          </p:cNvPr>
          <p:cNvSpPr txBox="1"/>
          <p:nvPr/>
        </p:nvSpPr>
        <p:spPr>
          <a:xfrm>
            <a:off x="4422583"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區塊鏈應用管理</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16729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5-1 </a:t>
            </a:r>
            <a:r>
              <a:rPr lang="zh-TW" altLang="en-US" sz="2400" b="1" dirty="0">
                <a:solidFill>
                  <a:srgbClr val="E06741"/>
                </a:solidFill>
              </a:rPr>
              <a:t>區塊鏈應用架構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558751" y="1382907"/>
            <a:ext cx="9597680" cy="4482381"/>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四、創新設計管理</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區塊鏈技術為一種</a:t>
            </a:r>
            <a:r>
              <a:rPr lang="zh-TW" altLang="en-US" sz="2300" b="1" dirty="0">
                <a:solidFill>
                  <a:srgbClr val="54667E"/>
                </a:solidFill>
                <a:latin typeface="微軟正黑體" panose="020B0604030504040204" pitchFamily="34" charset="-120"/>
                <a:ea typeface="微軟正黑體" panose="020B0604030504040204" pitchFamily="34" charset="-120"/>
              </a:rPr>
              <a:t>大規模協作</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的工具</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降低交易成本，消除第三方中介者</a:t>
            </a:r>
          </a:p>
          <a:p>
            <a:pPr marL="800100" lvl="1" indent="-342900">
              <a:lnSpc>
                <a:spcPct val="150000"/>
              </a:lnSpc>
              <a:buBlip>
                <a:blip r:embed="rId4"/>
              </a:buBlip>
            </a:pPr>
            <a:r>
              <a:rPr lang="zh-TW" altLang="en-US" sz="2300" b="1" dirty="0">
                <a:solidFill>
                  <a:srgbClr val="54667E"/>
                </a:solidFill>
                <a:latin typeface="微軟正黑體" panose="020B0604030504040204" pitchFamily="34" charset="-120"/>
                <a:ea typeface="微軟正黑體" panose="020B0604030504040204" pitchFamily="34" charset="-120"/>
              </a:rPr>
              <a:t>「智能合約」</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是現階段最具轉型力量的區塊鏈應用</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隨著區塊鏈廣泛運用，將產生許多新的商業模式，帶動</a:t>
            </a:r>
            <a:r>
              <a:rPr lang="zh-TW" altLang="en-US" sz="2300" b="1" dirty="0">
                <a:solidFill>
                  <a:srgbClr val="54667E"/>
                </a:solidFill>
                <a:latin typeface="微軟正黑體" panose="020B0604030504040204" pitchFamily="34" charset="-120"/>
                <a:ea typeface="微軟正黑體" panose="020B0604030504040204" pitchFamily="34" charset="-120"/>
              </a:rPr>
              <a:t>創業創新</a:t>
            </a:r>
            <a:endParaRPr lang="en-US" altLang="zh-TW" sz="2300" b="1" dirty="0">
              <a:solidFill>
                <a:srgbClr val="54667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區塊鏈利於資訊技術的替代升級，助於推動資訊產業的跨越式發展，優化業務流程、降低營運成本、提升資源運用效率</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Font typeface="微軟正黑體" panose="020B0604030504040204" pitchFamily="34" charset="-120"/>
              <a:buChar cha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為經濟社會</a:t>
            </a:r>
            <a:r>
              <a:rPr lang="zh-TW" altLang="en-US" sz="2300" b="1" dirty="0">
                <a:solidFill>
                  <a:srgbClr val="54667E"/>
                </a:solidFill>
                <a:latin typeface="微軟正黑體" panose="020B0604030504040204" pitchFamily="34" charset="-120"/>
                <a:ea typeface="微軟正黑體" panose="020B0604030504040204" pitchFamily="34" charset="-120"/>
              </a:rPr>
              <a:t>轉型升級</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提供系統化的支撐</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0" name="圖片 9">
            <a:extLst>
              <a:ext uri="{FF2B5EF4-FFF2-40B4-BE49-F238E27FC236}">
                <a16:creationId xmlns:a16="http://schemas.microsoft.com/office/drawing/2014/main" id="{6B6E421D-5311-4965-952E-E98D2DAA4B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0583064" y="1382907"/>
            <a:ext cx="1608936" cy="1608936"/>
          </a:xfrm>
          <a:prstGeom prst="rect">
            <a:avLst/>
          </a:prstGeom>
        </p:spPr>
      </p:pic>
    </p:spTree>
    <p:extLst>
      <p:ext uri="{BB962C8B-B14F-4D97-AF65-F5344CB8AC3E}">
        <p14:creationId xmlns:p14="http://schemas.microsoft.com/office/powerpoint/2010/main" val="30974437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animEffect transition="in" filter="barn(inVertical)">
                                      <p:cBhvr>
                                        <p:cTn id="29" dur="500"/>
                                        <p:tgtEl>
                                          <p:spTgt spid="28">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4" end="4"/>
                                            </p:txEl>
                                          </p:spTgt>
                                        </p:tgtEl>
                                        <p:attrNameLst>
                                          <p:attrName>style.visibility</p:attrName>
                                        </p:attrNameLst>
                                      </p:cBhvr>
                                      <p:to>
                                        <p:strVal val="visible"/>
                                      </p:to>
                                    </p:set>
                                    <p:animEffect transition="in" filter="barn(inVertical)">
                                      <p:cBhvr>
                                        <p:cTn id="33" dur="500"/>
                                        <p:tgtEl>
                                          <p:spTgt spid="28">
                                            <p:txEl>
                                              <p:pRg st="4" end="4"/>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5" end="5"/>
                                            </p:txEl>
                                          </p:spTgt>
                                        </p:tgtEl>
                                        <p:attrNameLst>
                                          <p:attrName>style.visibility</p:attrName>
                                        </p:attrNameLst>
                                      </p:cBhvr>
                                      <p:to>
                                        <p:strVal val="visible"/>
                                      </p:to>
                                    </p:set>
                                    <p:animEffect transition="in" filter="barn(inVertical)">
                                      <p:cBhvr>
                                        <p:cTn id="37" dur="500"/>
                                        <p:tgtEl>
                                          <p:spTgt spid="28">
                                            <p:txEl>
                                              <p:pRg st="5" end="5"/>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28">
                                            <p:txEl>
                                              <p:pRg st="6" end="6"/>
                                            </p:txEl>
                                          </p:spTgt>
                                        </p:tgtEl>
                                        <p:attrNameLst>
                                          <p:attrName>style.visibility</p:attrName>
                                        </p:attrNameLst>
                                      </p:cBhvr>
                                      <p:to>
                                        <p:strVal val="visible"/>
                                      </p:to>
                                    </p:set>
                                    <p:animEffect transition="in" filter="barn(inVertical)">
                                      <p:cBhvr>
                                        <p:cTn id="41" dur="500"/>
                                        <p:tgtEl>
                                          <p:spTgt spid="28">
                                            <p:txEl>
                                              <p:pRg st="6" end="6"/>
                                            </p:txEl>
                                          </p:spTgt>
                                        </p:tgtEl>
                                      </p:cBhvr>
                                    </p:animEffect>
                                  </p:childTnLst>
                                </p:cTn>
                              </p:par>
                            </p:childTnLst>
                          </p:cTn>
                        </p:par>
                        <p:par>
                          <p:cTn id="42" fill="hold">
                            <p:stCondLst>
                              <p:cond delay="6000"/>
                            </p:stCondLst>
                            <p:childTnLst>
                              <p:par>
                                <p:cTn id="43" presetID="16" presetClass="entr" presetSubtype="21" fill="hold" nodeType="afterEffect">
                                  <p:stCondLst>
                                    <p:cond delay="0"/>
                                  </p:stCondLst>
                                  <p:childTnLst>
                                    <p:set>
                                      <p:cBhvr>
                                        <p:cTn id="44" dur="1" fill="hold">
                                          <p:stCondLst>
                                            <p:cond delay="0"/>
                                          </p:stCondLst>
                                        </p:cTn>
                                        <p:tgtEl>
                                          <p:spTgt spid="28">
                                            <p:txEl>
                                              <p:pRg st="7" end="7"/>
                                            </p:txEl>
                                          </p:spTgt>
                                        </p:tgtEl>
                                        <p:attrNameLst>
                                          <p:attrName>style.visibility</p:attrName>
                                        </p:attrNameLst>
                                      </p:cBhvr>
                                      <p:to>
                                        <p:strVal val="visible"/>
                                      </p:to>
                                    </p:set>
                                    <p:animEffect transition="in" filter="barn(inVertical)">
                                      <p:cBhvr>
                                        <p:cTn id="45" dur="500"/>
                                        <p:tgtEl>
                                          <p:spTgt spid="28">
                                            <p:txEl>
                                              <p:pRg st="7" end="7"/>
                                            </p:txEl>
                                          </p:spTgt>
                                        </p:tgtEl>
                                      </p:cBhvr>
                                    </p:animEffect>
                                  </p:childTnLst>
                                </p:cTn>
                              </p:par>
                            </p:childTnLst>
                          </p:cTn>
                        </p:par>
                        <p:par>
                          <p:cTn id="46" fill="hold">
                            <p:stCondLst>
                              <p:cond delay="6500"/>
                            </p:stCondLst>
                            <p:childTnLst>
                              <p:par>
                                <p:cTn id="47" presetID="2" presetClass="entr" presetSubtype="2" fill="hold" nodeType="after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1+#ppt_w/2"/>
                                          </p:val>
                                        </p:tav>
                                        <p:tav tm="100000">
                                          <p:val>
                                            <p:strVal val="#ppt_x"/>
                                          </p:val>
                                        </p:tav>
                                      </p:tavLst>
                                    </p:anim>
                                    <p:anim calcmode="lin" valueType="num">
                                      <p:cBhvr additive="base">
                                        <p:cTn id="50"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558751" y="1790521"/>
            <a:ext cx="3829576" cy="3348481"/>
          </a:xfrm>
          <a:prstGeom prst="rect">
            <a:avLst/>
          </a:prstGeom>
          <a:noFill/>
        </p:spPr>
        <p:txBody>
          <a:bodyPr wrap="square" rtlCol="0">
            <a:spAutoFit/>
          </a:bodyPr>
          <a:lstStyle/>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區塊鏈技術的應用為能保障金融交易的安全性，藉</a:t>
            </a:r>
            <a:r>
              <a:rPr lang="zh-TW" altLang="en-US" sz="2400" b="1" dirty="0">
                <a:solidFill>
                  <a:srgbClr val="54667E"/>
                </a:solidFill>
                <a:latin typeface="微軟正黑體" panose="020B0604030504040204" pitchFamily="34" charset="-120"/>
                <a:ea typeface="微軟正黑體" panose="020B0604030504040204" pitchFamily="34" charset="-120"/>
              </a:rPr>
              <a:t>信任建立</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與</a:t>
            </a:r>
            <a:r>
              <a:rPr lang="zh-TW" altLang="en-US" sz="2400" b="1" dirty="0">
                <a:solidFill>
                  <a:srgbClr val="54667E"/>
                </a:solidFill>
                <a:latin typeface="微軟正黑體" panose="020B0604030504040204" pitchFamily="34" charset="-120"/>
                <a:ea typeface="微軟正黑體" panose="020B0604030504040204" pitchFamily="34" charset="-120"/>
              </a:rPr>
              <a:t>輔助交易自動化</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，改善金融業務交易或作業時的效率性，節省成本。</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518277" y="393820"/>
            <a:ext cx="3829576"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5-2 </a:t>
            </a:r>
            <a:r>
              <a:rPr lang="zh-TW" altLang="en-US" sz="2400" b="1" dirty="0">
                <a:solidFill>
                  <a:srgbClr val="E06741"/>
                </a:solidFill>
              </a:rPr>
              <a:t>區塊鏈之金融服務應用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3" name="文字方塊 52">
            <a:extLst>
              <a:ext uri="{FF2B5EF4-FFF2-40B4-BE49-F238E27FC236}">
                <a16:creationId xmlns:a16="http://schemas.microsoft.com/office/drawing/2014/main" id="{AE62D468-15B5-4D7B-93CC-6B6E7928C359}"/>
              </a:ext>
            </a:extLst>
          </p:cNvPr>
          <p:cNvSpPr txBox="1"/>
          <p:nvPr/>
        </p:nvSpPr>
        <p:spPr>
          <a:xfrm>
            <a:off x="7294192" y="5697961"/>
            <a:ext cx="3243196" cy="369332"/>
          </a:xfrm>
          <a:prstGeom prst="rect">
            <a:avLst/>
          </a:prstGeom>
          <a:noFill/>
        </p:spPr>
        <p:txBody>
          <a:bodyPr wrap="none" rtlCol="0">
            <a:spAutoFit/>
          </a:bodyPr>
          <a:lstStyle/>
          <a:p>
            <a:pPr marL="285750" indent="-285750">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區塊鏈之金融服務發展需求</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pSp>
        <p:nvGrpSpPr>
          <p:cNvPr id="2" name="群組 1">
            <a:extLst>
              <a:ext uri="{FF2B5EF4-FFF2-40B4-BE49-F238E27FC236}">
                <a16:creationId xmlns:a16="http://schemas.microsoft.com/office/drawing/2014/main" id="{5F977028-B37C-4492-85CD-7AE06C15C25F}"/>
              </a:ext>
            </a:extLst>
          </p:cNvPr>
          <p:cNvGrpSpPr/>
          <p:nvPr/>
        </p:nvGrpSpPr>
        <p:grpSpPr>
          <a:xfrm>
            <a:off x="6022109" y="1583175"/>
            <a:ext cx="5509380" cy="3763172"/>
            <a:chOff x="983431" y="548680"/>
            <a:chExt cx="9865096" cy="6192389"/>
          </a:xfrm>
        </p:grpSpPr>
        <p:pic>
          <p:nvPicPr>
            <p:cNvPr id="28" name="圖片 27">
              <a:extLst>
                <a:ext uri="{FF2B5EF4-FFF2-40B4-BE49-F238E27FC236}">
                  <a16:creationId xmlns:a16="http://schemas.microsoft.com/office/drawing/2014/main" id="{303F1315-E5A8-403E-9E28-D89D5F2B39A2}"/>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83431" y="548680"/>
              <a:ext cx="9865096" cy="6192389"/>
            </a:xfrm>
            <a:prstGeom prst="rect">
              <a:avLst/>
            </a:prstGeom>
          </p:spPr>
        </p:pic>
        <p:pic>
          <p:nvPicPr>
            <p:cNvPr id="29" name="圖片 28">
              <a:extLst>
                <a:ext uri="{FF2B5EF4-FFF2-40B4-BE49-F238E27FC236}">
                  <a16:creationId xmlns:a16="http://schemas.microsoft.com/office/drawing/2014/main" id="{0A43B975-F241-464B-9B12-121D56C1EE9F}"/>
                </a:ext>
              </a:extLst>
            </p:cNvPr>
            <p:cNvPicPr>
              <a:picLocks noChangeAspect="1"/>
            </p:cNvPicPr>
            <p:nvPr/>
          </p:nvPicPr>
          <p:blipFill>
            <a:blip r:embed="rId6"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927315" y="1994401"/>
              <a:ext cx="1484306" cy="1459983"/>
            </a:xfrm>
            <a:prstGeom prst="rect">
              <a:avLst/>
            </a:prstGeom>
          </p:spPr>
        </p:pic>
        <p:sp>
          <p:nvSpPr>
            <p:cNvPr id="30" name="流程圖: 結束點 29">
              <a:extLst>
                <a:ext uri="{FF2B5EF4-FFF2-40B4-BE49-F238E27FC236}">
                  <a16:creationId xmlns:a16="http://schemas.microsoft.com/office/drawing/2014/main" id="{59F8FCD2-6D9E-48AB-8FB2-03E49EB8953D}"/>
                </a:ext>
              </a:extLst>
            </p:cNvPr>
            <p:cNvSpPr/>
            <p:nvPr/>
          </p:nvSpPr>
          <p:spPr>
            <a:xfrm>
              <a:off x="3414773" y="1296567"/>
              <a:ext cx="2753235" cy="576064"/>
            </a:xfrm>
            <a:prstGeom prst="flowChartTerminator">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縮短交易流程</a:t>
              </a:r>
            </a:p>
          </p:txBody>
        </p:sp>
        <p:sp>
          <p:nvSpPr>
            <p:cNvPr id="31" name="流程圖: 結束點 30">
              <a:extLst>
                <a:ext uri="{FF2B5EF4-FFF2-40B4-BE49-F238E27FC236}">
                  <a16:creationId xmlns:a16="http://schemas.microsoft.com/office/drawing/2014/main" id="{43ABF9A6-C5D7-4B7F-A77A-26A4D8F14F3A}"/>
                </a:ext>
              </a:extLst>
            </p:cNvPr>
            <p:cNvSpPr/>
            <p:nvPr/>
          </p:nvSpPr>
          <p:spPr>
            <a:xfrm>
              <a:off x="3411621" y="2081053"/>
              <a:ext cx="2753235" cy="576064"/>
            </a:xfrm>
            <a:prstGeom prst="flowChartTerminator">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節省交易成本</a:t>
              </a:r>
            </a:p>
          </p:txBody>
        </p:sp>
        <p:sp>
          <p:nvSpPr>
            <p:cNvPr id="32" name="流程圖: 結束點 31">
              <a:extLst>
                <a:ext uri="{FF2B5EF4-FFF2-40B4-BE49-F238E27FC236}">
                  <a16:creationId xmlns:a16="http://schemas.microsoft.com/office/drawing/2014/main" id="{0D7B987D-C0CB-4082-B494-B82CF3C2E030}"/>
                </a:ext>
              </a:extLst>
            </p:cNvPr>
            <p:cNvSpPr/>
            <p:nvPr/>
          </p:nvSpPr>
          <p:spPr>
            <a:xfrm>
              <a:off x="3411622" y="2833403"/>
              <a:ext cx="2753235" cy="576064"/>
            </a:xfrm>
            <a:prstGeom prst="flowChartTerminator">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交易紀錄追蹤</a:t>
              </a:r>
            </a:p>
          </p:txBody>
        </p:sp>
        <p:sp>
          <p:nvSpPr>
            <p:cNvPr id="34" name="流程圖: 結束點 33">
              <a:extLst>
                <a:ext uri="{FF2B5EF4-FFF2-40B4-BE49-F238E27FC236}">
                  <a16:creationId xmlns:a16="http://schemas.microsoft.com/office/drawing/2014/main" id="{3145349D-8AD0-4A61-804E-9E74C168BCBF}"/>
                </a:ext>
              </a:extLst>
            </p:cNvPr>
            <p:cNvSpPr/>
            <p:nvPr/>
          </p:nvSpPr>
          <p:spPr>
            <a:xfrm>
              <a:off x="3413994" y="3578386"/>
              <a:ext cx="2753235" cy="576064"/>
            </a:xfrm>
            <a:prstGeom prst="flowChartTerminator">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資料品質維護</a:t>
              </a:r>
            </a:p>
          </p:txBody>
        </p:sp>
        <p:sp>
          <p:nvSpPr>
            <p:cNvPr id="35" name="流程圖: 結束點 34">
              <a:extLst>
                <a:ext uri="{FF2B5EF4-FFF2-40B4-BE49-F238E27FC236}">
                  <a16:creationId xmlns:a16="http://schemas.microsoft.com/office/drawing/2014/main" id="{59A07E28-4E56-46C5-8800-6CE78268B393}"/>
                </a:ext>
              </a:extLst>
            </p:cNvPr>
            <p:cNvSpPr/>
            <p:nvPr/>
          </p:nvSpPr>
          <p:spPr>
            <a:xfrm>
              <a:off x="3414772" y="4365104"/>
              <a:ext cx="2753235" cy="576064"/>
            </a:xfrm>
            <a:prstGeom prst="flowChartTerminator">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產業潛力發展</a:t>
              </a:r>
            </a:p>
          </p:txBody>
        </p:sp>
        <p:grpSp>
          <p:nvGrpSpPr>
            <p:cNvPr id="36" name="群組 35">
              <a:extLst>
                <a:ext uri="{FF2B5EF4-FFF2-40B4-BE49-F238E27FC236}">
                  <a16:creationId xmlns:a16="http://schemas.microsoft.com/office/drawing/2014/main" id="{980BA7B4-527A-494A-B6F8-450B0886CC5C}"/>
                </a:ext>
              </a:extLst>
            </p:cNvPr>
            <p:cNvGrpSpPr/>
            <p:nvPr/>
          </p:nvGrpSpPr>
          <p:grpSpPr>
            <a:xfrm>
              <a:off x="6271016" y="4261498"/>
              <a:ext cx="432048" cy="432048"/>
              <a:chOff x="10920536" y="692696"/>
              <a:chExt cx="792088" cy="864096"/>
            </a:xfrm>
          </p:grpSpPr>
          <p:cxnSp>
            <p:nvCxnSpPr>
              <p:cNvPr id="37" name="直線接點 36">
                <a:extLst>
                  <a:ext uri="{FF2B5EF4-FFF2-40B4-BE49-F238E27FC236}">
                    <a16:creationId xmlns:a16="http://schemas.microsoft.com/office/drawing/2014/main" id="{A45CBF36-5388-4FF7-9047-E629E91242B5}"/>
                  </a:ext>
                </a:extLst>
              </p:cNvPr>
              <p:cNvCxnSpPr/>
              <p:nvPr/>
            </p:nvCxnSpPr>
            <p:spPr>
              <a:xfrm>
                <a:off x="10920536" y="1124744"/>
                <a:ext cx="216024" cy="43204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223167B8-DBED-440A-B72E-E5B240FC2A09}"/>
                  </a:ext>
                </a:extLst>
              </p:cNvPr>
              <p:cNvCxnSpPr/>
              <p:nvPr/>
            </p:nvCxnSpPr>
            <p:spPr>
              <a:xfrm flipV="1">
                <a:off x="11136560" y="692696"/>
                <a:ext cx="576064" cy="864096"/>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9" name="群組 38">
              <a:extLst>
                <a:ext uri="{FF2B5EF4-FFF2-40B4-BE49-F238E27FC236}">
                  <a16:creationId xmlns:a16="http://schemas.microsoft.com/office/drawing/2014/main" id="{523C29CC-FCEE-4787-BF87-4D38AA486204}"/>
                </a:ext>
              </a:extLst>
            </p:cNvPr>
            <p:cNvGrpSpPr/>
            <p:nvPr/>
          </p:nvGrpSpPr>
          <p:grpSpPr>
            <a:xfrm>
              <a:off x="6271016" y="3614293"/>
              <a:ext cx="432048" cy="432048"/>
              <a:chOff x="10920536" y="692696"/>
              <a:chExt cx="792088" cy="864096"/>
            </a:xfrm>
          </p:grpSpPr>
          <p:cxnSp>
            <p:nvCxnSpPr>
              <p:cNvPr id="40" name="直線接點 39">
                <a:extLst>
                  <a:ext uri="{FF2B5EF4-FFF2-40B4-BE49-F238E27FC236}">
                    <a16:creationId xmlns:a16="http://schemas.microsoft.com/office/drawing/2014/main" id="{CE4CCC4E-9BB2-4E5A-8321-5B67607F3A50}"/>
                  </a:ext>
                </a:extLst>
              </p:cNvPr>
              <p:cNvCxnSpPr/>
              <p:nvPr/>
            </p:nvCxnSpPr>
            <p:spPr>
              <a:xfrm>
                <a:off x="10920536" y="1124744"/>
                <a:ext cx="216024" cy="43204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線接點 40">
                <a:extLst>
                  <a:ext uri="{FF2B5EF4-FFF2-40B4-BE49-F238E27FC236}">
                    <a16:creationId xmlns:a16="http://schemas.microsoft.com/office/drawing/2014/main" id="{AA9D67DB-5F58-47B9-903B-C069D3D73415}"/>
                  </a:ext>
                </a:extLst>
              </p:cNvPr>
              <p:cNvCxnSpPr/>
              <p:nvPr/>
            </p:nvCxnSpPr>
            <p:spPr>
              <a:xfrm flipV="1">
                <a:off x="11136560" y="692696"/>
                <a:ext cx="576064" cy="864096"/>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2" name="群組 41">
              <a:extLst>
                <a:ext uri="{FF2B5EF4-FFF2-40B4-BE49-F238E27FC236}">
                  <a16:creationId xmlns:a16="http://schemas.microsoft.com/office/drawing/2014/main" id="{6F2B0040-512E-4C25-A38F-E79463020C9D}"/>
                </a:ext>
              </a:extLst>
            </p:cNvPr>
            <p:cNvGrpSpPr/>
            <p:nvPr/>
          </p:nvGrpSpPr>
          <p:grpSpPr>
            <a:xfrm>
              <a:off x="6272351" y="2905411"/>
              <a:ext cx="432048" cy="432048"/>
              <a:chOff x="10920536" y="692696"/>
              <a:chExt cx="792088" cy="864096"/>
            </a:xfrm>
          </p:grpSpPr>
          <p:cxnSp>
            <p:nvCxnSpPr>
              <p:cNvPr id="43" name="直線接點 42">
                <a:extLst>
                  <a:ext uri="{FF2B5EF4-FFF2-40B4-BE49-F238E27FC236}">
                    <a16:creationId xmlns:a16="http://schemas.microsoft.com/office/drawing/2014/main" id="{D7ACFEB3-FFC6-424F-8012-FC30C135621B}"/>
                  </a:ext>
                </a:extLst>
              </p:cNvPr>
              <p:cNvCxnSpPr/>
              <p:nvPr/>
            </p:nvCxnSpPr>
            <p:spPr>
              <a:xfrm>
                <a:off x="10920536" y="1124744"/>
                <a:ext cx="216024" cy="43204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7D8C1429-2C93-4EF2-BB46-A032EAC20533}"/>
                  </a:ext>
                </a:extLst>
              </p:cNvPr>
              <p:cNvCxnSpPr/>
              <p:nvPr/>
            </p:nvCxnSpPr>
            <p:spPr>
              <a:xfrm flipV="1">
                <a:off x="11136560" y="692696"/>
                <a:ext cx="576064" cy="864096"/>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5" name="群組 44">
              <a:extLst>
                <a:ext uri="{FF2B5EF4-FFF2-40B4-BE49-F238E27FC236}">
                  <a16:creationId xmlns:a16="http://schemas.microsoft.com/office/drawing/2014/main" id="{88EC82A0-3E4C-4389-A114-8FE9C1E7F09B}"/>
                </a:ext>
              </a:extLst>
            </p:cNvPr>
            <p:cNvGrpSpPr/>
            <p:nvPr/>
          </p:nvGrpSpPr>
          <p:grpSpPr>
            <a:xfrm>
              <a:off x="6272351" y="2081053"/>
              <a:ext cx="432048" cy="432048"/>
              <a:chOff x="10920536" y="692696"/>
              <a:chExt cx="792088" cy="864096"/>
            </a:xfrm>
          </p:grpSpPr>
          <p:cxnSp>
            <p:nvCxnSpPr>
              <p:cNvPr id="47" name="直線接點 46">
                <a:extLst>
                  <a:ext uri="{FF2B5EF4-FFF2-40B4-BE49-F238E27FC236}">
                    <a16:creationId xmlns:a16="http://schemas.microsoft.com/office/drawing/2014/main" id="{D8974FCE-6139-4599-9E19-40028B64E0C8}"/>
                  </a:ext>
                </a:extLst>
              </p:cNvPr>
              <p:cNvCxnSpPr/>
              <p:nvPr/>
            </p:nvCxnSpPr>
            <p:spPr>
              <a:xfrm>
                <a:off x="10920536" y="1124744"/>
                <a:ext cx="216024" cy="43204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25FF2D87-78F4-4EFE-BEAF-F681FE21286C}"/>
                  </a:ext>
                </a:extLst>
              </p:cNvPr>
              <p:cNvCxnSpPr/>
              <p:nvPr/>
            </p:nvCxnSpPr>
            <p:spPr>
              <a:xfrm flipV="1">
                <a:off x="11136560" y="692696"/>
                <a:ext cx="576064" cy="864096"/>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9" name="群組 48">
              <a:extLst>
                <a:ext uri="{FF2B5EF4-FFF2-40B4-BE49-F238E27FC236}">
                  <a16:creationId xmlns:a16="http://schemas.microsoft.com/office/drawing/2014/main" id="{963D94E9-F36E-4CBF-984B-0FFD9AA4928D}"/>
                </a:ext>
              </a:extLst>
            </p:cNvPr>
            <p:cNvGrpSpPr/>
            <p:nvPr/>
          </p:nvGrpSpPr>
          <p:grpSpPr>
            <a:xfrm>
              <a:off x="6285839" y="1351613"/>
              <a:ext cx="432048" cy="432048"/>
              <a:chOff x="10920536" y="692696"/>
              <a:chExt cx="792088" cy="864096"/>
            </a:xfrm>
          </p:grpSpPr>
          <p:cxnSp>
            <p:nvCxnSpPr>
              <p:cNvPr id="50" name="直線接點 49">
                <a:extLst>
                  <a:ext uri="{FF2B5EF4-FFF2-40B4-BE49-F238E27FC236}">
                    <a16:creationId xmlns:a16="http://schemas.microsoft.com/office/drawing/2014/main" id="{3CB3C9BA-E798-4806-A20E-28A980F07A0C}"/>
                  </a:ext>
                </a:extLst>
              </p:cNvPr>
              <p:cNvCxnSpPr/>
              <p:nvPr/>
            </p:nvCxnSpPr>
            <p:spPr>
              <a:xfrm>
                <a:off x="10920536" y="1124744"/>
                <a:ext cx="216024" cy="43204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線接點 50">
                <a:extLst>
                  <a:ext uri="{FF2B5EF4-FFF2-40B4-BE49-F238E27FC236}">
                    <a16:creationId xmlns:a16="http://schemas.microsoft.com/office/drawing/2014/main" id="{D4E06966-BCE1-4AEA-AB95-D96228B60CA2}"/>
                  </a:ext>
                </a:extLst>
              </p:cNvPr>
              <p:cNvCxnSpPr/>
              <p:nvPr/>
            </p:nvCxnSpPr>
            <p:spPr>
              <a:xfrm flipV="1">
                <a:off x="11136560" y="692696"/>
                <a:ext cx="576064" cy="864096"/>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52" name="圖片 51">
              <a:extLst>
                <a:ext uri="{FF2B5EF4-FFF2-40B4-BE49-F238E27FC236}">
                  <a16:creationId xmlns:a16="http://schemas.microsoft.com/office/drawing/2014/main" id="{9B0B4F70-AE4B-48AB-A1BC-06323181A5AC}"/>
                </a:ext>
              </a:extLst>
            </p:cNvPr>
            <p:cNvPicPr>
              <a:picLocks noChangeAspect="1"/>
            </p:cNvPicPr>
            <p:nvPr/>
          </p:nvPicPr>
          <p:blipFill>
            <a:blip r:embed="rId7"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084839" y="1686905"/>
              <a:ext cx="2467545" cy="2467545"/>
            </a:xfrm>
            <a:prstGeom prst="rect">
              <a:avLst/>
            </a:prstGeom>
          </p:spPr>
        </p:pic>
      </p:grpSp>
      <p:sp>
        <p:nvSpPr>
          <p:cNvPr id="54" name="文字方塊 53">
            <a:extLst>
              <a:ext uri="{FF2B5EF4-FFF2-40B4-BE49-F238E27FC236}">
                <a16:creationId xmlns:a16="http://schemas.microsoft.com/office/drawing/2014/main" id="{999910B4-9816-4E61-AD7E-58181DB8235A}"/>
              </a:ext>
            </a:extLst>
          </p:cNvPr>
          <p:cNvSpPr txBox="1"/>
          <p:nvPr/>
        </p:nvSpPr>
        <p:spPr>
          <a:xfrm>
            <a:off x="5327744"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區塊鏈之金融服務應用需求</a:t>
            </a:r>
          </a:p>
        </p:txBody>
      </p:sp>
    </p:spTree>
    <p:extLst>
      <p:ext uri="{BB962C8B-B14F-4D97-AF65-F5344CB8AC3E}">
        <p14:creationId xmlns:p14="http://schemas.microsoft.com/office/powerpoint/2010/main" val="4742518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54">
                                            <p:txEl>
                                              <p:pRg st="0" end="0"/>
                                            </p:txEl>
                                          </p:spTgt>
                                        </p:tgtEl>
                                        <p:attrNameLst>
                                          <p:attrName>style.visibility</p:attrName>
                                        </p:attrNameLst>
                                      </p:cBhvr>
                                      <p:to>
                                        <p:strVal val="visible"/>
                                      </p:to>
                                    </p:set>
                                    <p:animEffect transition="in" filter="barn(inVertical)">
                                      <p:cBhvr>
                                        <p:cTn id="11" dur="500"/>
                                        <p:tgtEl>
                                          <p:spTgt spid="54">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arn(inVertical)">
                                      <p:cBhvr>
                                        <p:cTn id="20" dur="500"/>
                                        <p:tgtEl>
                                          <p:spTgt spid="3"/>
                                        </p:tgtEl>
                                      </p:cBhvr>
                                    </p:animEffect>
                                  </p:childTnLst>
                                </p:cTn>
                              </p:par>
                            </p:childTnLst>
                          </p:cTn>
                        </p:par>
                        <p:par>
                          <p:cTn id="21" fill="hold">
                            <p:stCondLst>
                              <p:cond delay="3500"/>
                            </p:stCondLst>
                            <p:childTnLst>
                              <p:par>
                                <p:cTn id="22" presetID="14" presetClass="entr" presetSubtype="10"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randombar(horizontal)">
                                      <p:cBhvr>
                                        <p:cTn id="24" dur="500"/>
                                        <p:tgtEl>
                                          <p:spTgt spid="2"/>
                                        </p:tgtEl>
                                      </p:cBhvr>
                                    </p:animEffect>
                                  </p:childTnLst>
                                </p:cTn>
                              </p:par>
                            </p:childTnLst>
                          </p:cTn>
                        </p:par>
                        <p:par>
                          <p:cTn id="25" fill="hold">
                            <p:stCondLst>
                              <p:cond delay="4000"/>
                            </p:stCondLst>
                            <p:childTnLst>
                              <p:par>
                                <p:cTn id="26" presetID="2" presetClass="entr" presetSubtype="4" fill="hold" grpId="0" nodeType="afterEffect">
                                  <p:stCondLst>
                                    <p:cond delay="0"/>
                                  </p:stCondLst>
                                  <p:childTnLst>
                                    <p:set>
                                      <p:cBhvr>
                                        <p:cTn id="27" dur="1" fill="hold">
                                          <p:stCondLst>
                                            <p:cond delay="0"/>
                                          </p:stCondLst>
                                        </p:cTn>
                                        <p:tgtEl>
                                          <p:spTgt spid="53"/>
                                        </p:tgtEl>
                                        <p:attrNameLst>
                                          <p:attrName>style.visibility</p:attrName>
                                        </p:attrNameLst>
                                      </p:cBhvr>
                                      <p:to>
                                        <p:strVal val="visible"/>
                                      </p:to>
                                    </p:set>
                                    <p:anim calcmode="lin" valueType="num">
                                      <p:cBhvr additive="base">
                                        <p:cTn id="28" dur="500" fill="hold"/>
                                        <p:tgtEl>
                                          <p:spTgt spid="53"/>
                                        </p:tgtEl>
                                        <p:attrNameLst>
                                          <p:attrName>ppt_x</p:attrName>
                                        </p:attrNameLst>
                                      </p:cBhvr>
                                      <p:tavLst>
                                        <p:tav tm="0">
                                          <p:val>
                                            <p:strVal val="#ppt_x"/>
                                          </p:val>
                                        </p:tav>
                                        <p:tav tm="100000">
                                          <p:val>
                                            <p:strVal val="#ppt_x"/>
                                          </p:val>
                                        </p:tav>
                                      </p:tavLst>
                                    </p:anim>
                                    <p:anim calcmode="lin" valueType="num">
                                      <p:cBhvr additive="base">
                                        <p:cTn id="29"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6" grpId="0"/>
      <p:bldP spid="5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標題 1">
            <a:extLst>
              <a:ext uri="{FF2B5EF4-FFF2-40B4-BE49-F238E27FC236}">
                <a16:creationId xmlns:a16="http://schemas.microsoft.com/office/drawing/2014/main" id="{CBC8891A-476A-4F93-B9BF-D395DE5DA58E}"/>
              </a:ext>
            </a:extLst>
          </p:cNvPr>
          <p:cNvSpPr txBox="1">
            <a:spLocks/>
          </p:cNvSpPr>
          <p:nvPr/>
        </p:nvSpPr>
        <p:spPr>
          <a:xfrm>
            <a:off x="1518277" y="393820"/>
            <a:ext cx="3829576"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5-2 </a:t>
            </a:r>
            <a:r>
              <a:rPr lang="zh-TW" altLang="en-US" sz="2400" b="1" dirty="0">
                <a:solidFill>
                  <a:srgbClr val="E06741"/>
                </a:solidFill>
              </a:rPr>
              <a:t>區塊鏈之金融服務應用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DD5DA447-1F1E-496D-B9F4-24C9EFCF062A}"/>
              </a:ext>
            </a:extLst>
          </p:cNvPr>
          <p:cNvSpPr txBox="1"/>
          <p:nvPr/>
        </p:nvSpPr>
        <p:spPr>
          <a:xfrm>
            <a:off x="5327744"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區塊鏈之金融服務應用需求</a:t>
            </a:r>
          </a:p>
        </p:txBody>
      </p:sp>
      <p:sp>
        <p:nvSpPr>
          <p:cNvPr id="19" name="圆角矩形 56">
            <a:extLst>
              <a:ext uri="{FF2B5EF4-FFF2-40B4-BE49-F238E27FC236}">
                <a16:creationId xmlns:a16="http://schemas.microsoft.com/office/drawing/2014/main" id="{C785D202-CFDA-476F-AD9B-CA16CB2DFF89}"/>
              </a:ext>
            </a:extLst>
          </p:cNvPr>
          <p:cNvSpPr/>
          <p:nvPr/>
        </p:nvSpPr>
        <p:spPr>
          <a:xfrm>
            <a:off x="5038120" y="1220310"/>
            <a:ext cx="2115760" cy="56516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節省交易成本</a:t>
            </a:r>
            <a:endParaRPr lang="zh-CN" altLang="en-US" sz="2000" b="1" dirty="0">
              <a:solidFill>
                <a:schemeClr val="bg1"/>
              </a:solidFill>
              <a:latin typeface="微軟正黑體" panose="020B0604030504040204" pitchFamily="34" charset="-120"/>
              <a:ea typeface="微軟正黑體" panose="020B0604030504040204" pitchFamily="34" charset="-120"/>
            </a:endParaRPr>
          </a:p>
        </p:txBody>
      </p:sp>
      <p:sp>
        <p:nvSpPr>
          <p:cNvPr id="22" name="文本框 8">
            <a:extLst>
              <a:ext uri="{FF2B5EF4-FFF2-40B4-BE49-F238E27FC236}">
                <a16:creationId xmlns:a16="http://schemas.microsoft.com/office/drawing/2014/main" id="{E58B6A00-D2BB-4FDA-891F-01A137FB2A87}"/>
              </a:ext>
            </a:extLst>
          </p:cNvPr>
          <p:cNvSpPr txBox="1"/>
          <p:nvPr/>
        </p:nvSpPr>
        <p:spPr>
          <a:xfrm>
            <a:off x="2473904" y="4740625"/>
            <a:ext cx="3376822" cy="18557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30000"/>
              </a:lnSpc>
              <a:buBlip>
                <a:blip r:embed="rId4"/>
              </a:buBlip>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區塊鏈內的資料儲存量大</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buBlip>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交易資料的多寡影響區塊鏈系統運轉的速度與順暢</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buBlip>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資料品質的維護能確保系統運轉與資料的正確性</a:t>
            </a:r>
            <a:endParaRPr lang="zh-CN" altLang="en-US"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24" name="圆角矩形 62">
            <a:extLst>
              <a:ext uri="{FF2B5EF4-FFF2-40B4-BE49-F238E27FC236}">
                <a16:creationId xmlns:a16="http://schemas.microsoft.com/office/drawing/2014/main" id="{715F597F-5B24-4310-B300-0BD4728DA7C3}"/>
              </a:ext>
            </a:extLst>
          </p:cNvPr>
          <p:cNvSpPr/>
          <p:nvPr/>
        </p:nvSpPr>
        <p:spPr>
          <a:xfrm>
            <a:off x="1783661" y="1215341"/>
            <a:ext cx="2115758" cy="565168"/>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縮短交易流程</a:t>
            </a:r>
            <a:endParaRPr lang="zh-CN" altLang="en-US" sz="2000" b="1" dirty="0">
              <a:solidFill>
                <a:schemeClr val="bg1"/>
              </a:solidFill>
              <a:latin typeface="微軟正黑體" panose="020B0604030504040204" pitchFamily="34" charset="-120"/>
              <a:ea typeface="微軟正黑體" panose="020B0604030504040204" pitchFamily="34" charset="-120"/>
            </a:endParaRPr>
          </a:p>
        </p:txBody>
      </p:sp>
      <p:sp>
        <p:nvSpPr>
          <p:cNvPr id="25" name="文本框 8">
            <a:extLst>
              <a:ext uri="{FF2B5EF4-FFF2-40B4-BE49-F238E27FC236}">
                <a16:creationId xmlns:a16="http://schemas.microsoft.com/office/drawing/2014/main" id="{7A496834-7CD5-44D1-9560-4EDD00623308}"/>
              </a:ext>
            </a:extLst>
          </p:cNvPr>
          <p:cNvSpPr txBox="1"/>
          <p:nvPr/>
        </p:nvSpPr>
        <p:spPr>
          <a:xfrm>
            <a:off x="1426547" y="1884786"/>
            <a:ext cx="2625012" cy="18557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30000"/>
              </a:lnSpc>
              <a:buBlip>
                <a:blip r:embed="rId4">
                  <a:extLst/>
                </a:blip>
              </a:buBlip>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第三方金融機構作業可能延宕</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區塊鏈省去交易或等候時間，能隨時隨地進行金融交易</a:t>
            </a:r>
            <a:endParaRPr lang="zh-CN" altLang="en-US"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27" name="文本框 8">
            <a:extLst>
              <a:ext uri="{FF2B5EF4-FFF2-40B4-BE49-F238E27FC236}">
                <a16:creationId xmlns:a16="http://schemas.microsoft.com/office/drawing/2014/main" id="{1DF29915-BAFE-4AEF-BD21-3C9CA39E9732}"/>
              </a:ext>
            </a:extLst>
          </p:cNvPr>
          <p:cNvSpPr txBox="1"/>
          <p:nvPr/>
        </p:nvSpPr>
        <p:spPr>
          <a:xfrm>
            <a:off x="4585298" y="1973219"/>
            <a:ext cx="2776084" cy="149566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30000"/>
              </a:lnSpc>
              <a:buBlip>
                <a:blip r:embed="rId4"/>
              </a:buBlip>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多元化交易方式的選擇，防止第三方金融機構的市場壟斷，並節省成本支出</a:t>
            </a:r>
            <a:endParaRPr lang="zh-CN" altLang="en-US"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29" name="文本框 8">
            <a:extLst>
              <a:ext uri="{FF2B5EF4-FFF2-40B4-BE49-F238E27FC236}">
                <a16:creationId xmlns:a16="http://schemas.microsoft.com/office/drawing/2014/main" id="{DC9E1482-C6F0-4E47-B799-52A11EC65405}"/>
              </a:ext>
            </a:extLst>
          </p:cNvPr>
          <p:cNvSpPr txBox="1"/>
          <p:nvPr/>
        </p:nvSpPr>
        <p:spPr>
          <a:xfrm>
            <a:off x="7919160" y="1892479"/>
            <a:ext cx="3347476" cy="18557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30000"/>
              </a:lnSpc>
              <a:buBlip>
                <a:blip r:embed="rId4"/>
              </a:buBlip>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節點與節點相互認證機制，以解決檢附文件的繁瑣作法，並避免錯誤的發生率</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buBlip>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附加交易紀錄的查詢功能，交易公開透明，提升公信力</a:t>
            </a:r>
            <a:endParaRPr lang="zh-CN" altLang="en-US"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30" name="文本框 8">
            <a:extLst>
              <a:ext uri="{FF2B5EF4-FFF2-40B4-BE49-F238E27FC236}">
                <a16:creationId xmlns:a16="http://schemas.microsoft.com/office/drawing/2014/main" id="{E2D4EBCC-EFDF-4DA7-8A05-A10973F61E0B}"/>
              </a:ext>
            </a:extLst>
          </p:cNvPr>
          <p:cNvSpPr txBox="1"/>
          <p:nvPr/>
        </p:nvSpPr>
        <p:spPr>
          <a:xfrm>
            <a:off x="6266457" y="4782427"/>
            <a:ext cx="3909762" cy="18557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30000"/>
              </a:lnSpc>
              <a:buBlip>
                <a:blip r:embed="rId4"/>
              </a:buBlip>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國際間有許多國際級金融機構研發區塊鏈技術在金融產業上的應用</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buBlip>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建立國際區塊鏈聯盟，加強區塊鏈金融產業國際交流與合作，提升金融產業核心競爭力</a:t>
            </a:r>
            <a:endParaRPr lang="zh-CN" altLang="en-US"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31" name="圆角矩形 62">
            <a:extLst>
              <a:ext uri="{FF2B5EF4-FFF2-40B4-BE49-F238E27FC236}">
                <a16:creationId xmlns:a16="http://schemas.microsoft.com/office/drawing/2014/main" id="{317AB0D2-F0A3-4A3E-BD2B-239E8620018A}"/>
              </a:ext>
            </a:extLst>
          </p:cNvPr>
          <p:cNvSpPr/>
          <p:nvPr/>
        </p:nvSpPr>
        <p:spPr>
          <a:xfrm>
            <a:off x="8415299" y="1215341"/>
            <a:ext cx="2115758" cy="565168"/>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交易紀錄追蹤</a:t>
            </a:r>
            <a:endParaRPr lang="zh-CN" altLang="en-US" sz="2000" b="1" dirty="0">
              <a:solidFill>
                <a:schemeClr val="bg1"/>
              </a:solidFill>
              <a:latin typeface="微軟正黑體" panose="020B0604030504040204" pitchFamily="34" charset="-120"/>
              <a:ea typeface="微軟正黑體" panose="020B0604030504040204" pitchFamily="34" charset="-120"/>
            </a:endParaRPr>
          </a:p>
        </p:txBody>
      </p:sp>
      <p:sp>
        <p:nvSpPr>
          <p:cNvPr id="32" name="圆角矩形 56">
            <a:extLst>
              <a:ext uri="{FF2B5EF4-FFF2-40B4-BE49-F238E27FC236}">
                <a16:creationId xmlns:a16="http://schemas.microsoft.com/office/drawing/2014/main" id="{BB7CEF43-A161-4418-9F7A-DDD44C8C7CE1}"/>
              </a:ext>
            </a:extLst>
          </p:cNvPr>
          <p:cNvSpPr/>
          <p:nvPr/>
        </p:nvSpPr>
        <p:spPr>
          <a:xfrm>
            <a:off x="3104435" y="4077624"/>
            <a:ext cx="2115760" cy="56516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資料品質維護</a:t>
            </a:r>
            <a:endParaRPr lang="zh-CN" altLang="en-US" sz="2000" b="1" dirty="0">
              <a:solidFill>
                <a:schemeClr val="bg1"/>
              </a:solidFill>
              <a:latin typeface="微軟正黑體" panose="020B0604030504040204" pitchFamily="34" charset="-120"/>
              <a:ea typeface="微軟正黑體" panose="020B0604030504040204" pitchFamily="34" charset="-120"/>
            </a:endParaRPr>
          </a:p>
        </p:txBody>
      </p:sp>
      <p:sp>
        <p:nvSpPr>
          <p:cNvPr id="34" name="圆角矩形 56">
            <a:extLst>
              <a:ext uri="{FF2B5EF4-FFF2-40B4-BE49-F238E27FC236}">
                <a16:creationId xmlns:a16="http://schemas.microsoft.com/office/drawing/2014/main" id="{9CA63851-9FCC-48BA-A286-8BA8B5B77012}"/>
              </a:ext>
            </a:extLst>
          </p:cNvPr>
          <p:cNvSpPr/>
          <p:nvPr/>
        </p:nvSpPr>
        <p:spPr>
          <a:xfrm>
            <a:off x="7163457" y="4077624"/>
            <a:ext cx="2115760" cy="56516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產業潛力發展</a:t>
            </a:r>
            <a:endParaRPr lang="zh-CN" altLang="en-US" sz="2000" b="1" dirty="0">
              <a:solidFill>
                <a:schemeClr val="bg1"/>
              </a:solidFill>
              <a:latin typeface="微軟正黑體" panose="020B0604030504040204" pitchFamily="34" charset="-120"/>
              <a:ea typeface="微軟正黑體" panose="020B0604030504040204" pitchFamily="34" charset="-120"/>
            </a:endParaRPr>
          </a:p>
        </p:txBody>
      </p:sp>
      <p:cxnSp>
        <p:nvCxnSpPr>
          <p:cNvPr id="35" name="直接连接符 18">
            <a:extLst>
              <a:ext uri="{FF2B5EF4-FFF2-40B4-BE49-F238E27FC236}">
                <a16:creationId xmlns:a16="http://schemas.microsoft.com/office/drawing/2014/main" id="{0FC6253A-D14A-4D06-86DC-538E28FB6F5D}"/>
              </a:ext>
            </a:extLst>
          </p:cNvPr>
          <p:cNvCxnSpPr>
            <a:cxnSpLocks/>
          </p:cNvCxnSpPr>
          <p:nvPr/>
        </p:nvCxnSpPr>
        <p:spPr>
          <a:xfrm flipH="1">
            <a:off x="1426547" y="3855956"/>
            <a:ext cx="975134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直線接點 6">
            <a:extLst>
              <a:ext uri="{FF2B5EF4-FFF2-40B4-BE49-F238E27FC236}">
                <a16:creationId xmlns:a16="http://schemas.microsoft.com/office/drawing/2014/main" id="{87D320F1-C610-41A6-AA32-23F9BF7FF5FC}"/>
              </a:ext>
            </a:extLst>
          </p:cNvPr>
          <p:cNvCxnSpPr/>
          <p:nvPr/>
        </p:nvCxnSpPr>
        <p:spPr>
          <a:xfrm>
            <a:off x="4356276" y="1037017"/>
            <a:ext cx="0" cy="2818939"/>
          </a:xfrm>
          <a:prstGeom prst="line">
            <a:avLst/>
          </a:prstGeom>
          <a:ln w="9525"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7" name="直線接點 36">
            <a:extLst>
              <a:ext uri="{FF2B5EF4-FFF2-40B4-BE49-F238E27FC236}">
                <a16:creationId xmlns:a16="http://schemas.microsoft.com/office/drawing/2014/main" id="{58A8D466-AEFD-402C-9130-8EAEB83A8C79}"/>
              </a:ext>
            </a:extLst>
          </p:cNvPr>
          <p:cNvCxnSpPr/>
          <p:nvPr/>
        </p:nvCxnSpPr>
        <p:spPr>
          <a:xfrm>
            <a:off x="7711658" y="1037016"/>
            <a:ext cx="0" cy="2818939"/>
          </a:xfrm>
          <a:prstGeom prst="line">
            <a:avLst/>
          </a:prstGeom>
          <a:ln w="9525"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8" name="直線接點 37">
            <a:extLst>
              <a:ext uri="{FF2B5EF4-FFF2-40B4-BE49-F238E27FC236}">
                <a16:creationId xmlns:a16="http://schemas.microsoft.com/office/drawing/2014/main" id="{8D48F5F8-5BCF-4322-9483-48CA1CB58640}"/>
              </a:ext>
            </a:extLst>
          </p:cNvPr>
          <p:cNvCxnSpPr/>
          <p:nvPr/>
        </p:nvCxnSpPr>
        <p:spPr>
          <a:xfrm>
            <a:off x="6004970" y="3854943"/>
            <a:ext cx="0" cy="2818939"/>
          </a:xfrm>
          <a:prstGeom prst="line">
            <a:avLst/>
          </a:prstGeom>
          <a:ln w="9525"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3" name="圖片 22">
            <a:extLst>
              <a:ext uri="{FF2B5EF4-FFF2-40B4-BE49-F238E27FC236}">
                <a16:creationId xmlns:a16="http://schemas.microsoft.com/office/drawing/2014/main" id="{915AFB11-9ADD-4FD6-80A2-35EDBC6582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3394" y="5346654"/>
            <a:ext cx="1520220" cy="1520220"/>
          </a:xfrm>
          <a:prstGeom prst="rect">
            <a:avLst/>
          </a:prstGeom>
        </p:spPr>
      </p:pic>
      <p:pic>
        <p:nvPicPr>
          <p:cNvPr id="26" name="圖片 25" descr="一張含有 向量圖形, 文字 的圖片&#10;&#10;描述是以高可信度產生">
            <a:extLst>
              <a:ext uri="{FF2B5EF4-FFF2-40B4-BE49-F238E27FC236}">
                <a16:creationId xmlns:a16="http://schemas.microsoft.com/office/drawing/2014/main" id="{CD8787DF-70B8-4F8A-8169-586CFAAE0B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3958971"/>
            <a:ext cx="1563308" cy="1563308"/>
          </a:xfrm>
          <a:prstGeom prst="rect">
            <a:avLst/>
          </a:prstGeom>
        </p:spPr>
      </p:pic>
    </p:spTree>
    <p:extLst>
      <p:ext uri="{BB962C8B-B14F-4D97-AF65-F5344CB8AC3E}">
        <p14:creationId xmlns:p14="http://schemas.microsoft.com/office/powerpoint/2010/main" val="144183723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animEffect transition="in" filter="barn(inVertical)">
                                      <p:cBhvr>
                                        <p:cTn id="11" dur="500"/>
                                        <p:tgtEl>
                                          <p:spTgt spid="11">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fill="hold"/>
                                        <p:tgtEl>
                                          <p:spTgt spid="24"/>
                                        </p:tgtEl>
                                        <p:attrNameLst>
                                          <p:attrName>ppt_x</p:attrName>
                                        </p:attrNameLst>
                                      </p:cBhvr>
                                      <p:tavLst>
                                        <p:tav tm="0">
                                          <p:val>
                                            <p:strVal val="#ppt_x"/>
                                          </p:val>
                                        </p:tav>
                                        <p:tav tm="100000">
                                          <p:val>
                                            <p:strVal val="#ppt_x"/>
                                          </p:val>
                                        </p:tav>
                                      </p:tavLst>
                                    </p:anim>
                                    <p:anim calcmode="lin" valueType="num">
                                      <p:cBhvr additive="base">
                                        <p:cTn id="21" dur="500" fill="hold"/>
                                        <p:tgtEl>
                                          <p:spTgt spid="24"/>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barn(inVertical)">
                                      <p:cBhvr>
                                        <p:cTn id="25" dur="500"/>
                                        <p:tgtEl>
                                          <p:spTgt spid="25"/>
                                        </p:tgtEl>
                                      </p:cBhvr>
                                    </p:animEffect>
                                  </p:childTnLst>
                                </p:cTn>
                              </p:par>
                            </p:childTnLst>
                          </p:cTn>
                        </p:par>
                        <p:par>
                          <p:cTn id="26" fill="hold">
                            <p:stCondLst>
                              <p:cond delay="4000"/>
                            </p:stCondLst>
                            <p:childTnLst>
                              <p:par>
                                <p:cTn id="27" presetID="2" presetClass="entr" presetSubtype="1"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0-#ppt_h/2"/>
                                          </p:val>
                                        </p:tav>
                                        <p:tav tm="100000">
                                          <p:val>
                                            <p:strVal val="#ppt_y"/>
                                          </p:val>
                                        </p:tav>
                                      </p:tavLst>
                                    </p:anim>
                                  </p:childTnLst>
                                </p:cTn>
                              </p:par>
                            </p:childTnLst>
                          </p:cTn>
                        </p:par>
                        <p:par>
                          <p:cTn id="31" fill="hold">
                            <p:stCondLst>
                              <p:cond delay="4500"/>
                            </p:stCondLst>
                            <p:childTnLst>
                              <p:par>
                                <p:cTn id="32" presetID="2" presetClass="entr" presetSubtype="4" fill="hold" grpId="0" nodeType="after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additive="base">
                                        <p:cTn id="34" dur="500" fill="hold"/>
                                        <p:tgtEl>
                                          <p:spTgt spid="19"/>
                                        </p:tgtEl>
                                        <p:attrNameLst>
                                          <p:attrName>ppt_x</p:attrName>
                                        </p:attrNameLst>
                                      </p:cBhvr>
                                      <p:tavLst>
                                        <p:tav tm="0">
                                          <p:val>
                                            <p:strVal val="#ppt_x"/>
                                          </p:val>
                                        </p:tav>
                                        <p:tav tm="100000">
                                          <p:val>
                                            <p:strVal val="#ppt_x"/>
                                          </p:val>
                                        </p:tav>
                                      </p:tavLst>
                                    </p:anim>
                                    <p:anim calcmode="lin" valueType="num">
                                      <p:cBhvr additive="base">
                                        <p:cTn id="35" dur="500" fill="hold"/>
                                        <p:tgtEl>
                                          <p:spTgt spid="19"/>
                                        </p:tgtEl>
                                        <p:attrNameLst>
                                          <p:attrName>ppt_y</p:attrName>
                                        </p:attrNameLst>
                                      </p:cBhvr>
                                      <p:tavLst>
                                        <p:tav tm="0">
                                          <p:val>
                                            <p:strVal val="1+#ppt_h/2"/>
                                          </p:val>
                                        </p:tav>
                                        <p:tav tm="100000">
                                          <p:val>
                                            <p:strVal val="#ppt_y"/>
                                          </p:val>
                                        </p:tav>
                                      </p:tavLst>
                                    </p:anim>
                                  </p:childTnLst>
                                </p:cTn>
                              </p:par>
                            </p:childTnLst>
                          </p:cTn>
                        </p:par>
                        <p:par>
                          <p:cTn id="36" fill="hold">
                            <p:stCondLst>
                              <p:cond delay="5000"/>
                            </p:stCondLst>
                            <p:childTnLst>
                              <p:par>
                                <p:cTn id="37" presetID="16" presetClass="entr" presetSubtype="21" fill="hold" grpId="0" nodeType="after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barn(inVertical)">
                                      <p:cBhvr>
                                        <p:cTn id="39" dur="500"/>
                                        <p:tgtEl>
                                          <p:spTgt spid="27"/>
                                        </p:tgtEl>
                                      </p:cBhvr>
                                    </p:animEffect>
                                  </p:childTnLst>
                                </p:cTn>
                              </p:par>
                            </p:childTnLst>
                          </p:cTn>
                        </p:par>
                        <p:par>
                          <p:cTn id="40" fill="hold">
                            <p:stCondLst>
                              <p:cond delay="5500"/>
                            </p:stCondLst>
                            <p:childTnLst>
                              <p:par>
                                <p:cTn id="41" presetID="2" presetClass="entr" presetSubtype="1" fill="hold" nodeType="afterEffect">
                                  <p:stCondLst>
                                    <p:cond delay="0"/>
                                  </p:stCondLst>
                                  <p:childTnLst>
                                    <p:set>
                                      <p:cBhvr>
                                        <p:cTn id="42" dur="1" fill="hold">
                                          <p:stCondLst>
                                            <p:cond delay="0"/>
                                          </p:stCondLst>
                                        </p:cTn>
                                        <p:tgtEl>
                                          <p:spTgt spid="37"/>
                                        </p:tgtEl>
                                        <p:attrNameLst>
                                          <p:attrName>style.visibility</p:attrName>
                                        </p:attrNameLst>
                                      </p:cBhvr>
                                      <p:to>
                                        <p:strVal val="visible"/>
                                      </p:to>
                                    </p:set>
                                    <p:anim calcmode="lin" valueType="num">
                                      <p:cBhvr additive="base">
                                        <p:cTn id="43" dur="500" fill="hold"/>
                                        <p:tgtEl>
                                          <p:spTgt spid="37"/>
                                        </p:tgtEl>
                                        <p:attrNameLst>
                                          <p:attrName>ppt_x</p:attrName>
                                        </p:attrNameLst>
                                      </p:cBhvr>
                                      <p:tavLst>
                                        <p:tav tm="0">
                                          <p:val>
                                            <p:strVal val="#ppt_x"/>
                                          </p:val>
                                        </p:tav>
                                        <p:tav tm="100000">
                                          <p:val>
                                            <p:strVal val="#ppt_x"/>
                                          </p:val>
                                        </p:tav>
                                      </p:tavLst>
                                    </p:anim>
                                    <p:anim calcmode="lin" valueType="num">
                                      <p:cBhvr additive="base">
                                        <p:cTn id="44" dur="500" fill="hold"/>
                                        <p:tgtEl>
                                          <p:spTgt spid="37"/>
                                        </p:tgtEl>
                                        <p:attrNameLst>
                                          <p:attrName>ppt_y</p:attrName>
                                        </p:attrNameLst>
                                      </p:cBhvr>
                                      <p:tavLst>
                                        <p:tav tm="0">
                                          <p:val>
                                            <p:strVal val="0-#ppt_h/2"/>
                                          </p:val>
                                        </p:tav>
                                        <p:tav tm="100000">
                                          <p:val>
                                            <p:strVal val="#ppt_y"/>
                                          </p:val>
                                        </p:tav>
                                      </p:tavLst>
                                    </p:anim>
                                  </p:childTnLst>
                                </p:cTn>
                              </p:par>
                            </p:childTnLst>
                          </p:cTn>
                        </p:par>
                        <p:par>
                          <p:cTn id="45" fill="hold">
                            <p:stCondLst>
                              <p:cond delay="6000"/>
                            </p:stCondLst>
                            <p:childTnLst>
                              <p:par>
                                <p:cTn id="46" presetID="2" presetClass="entr" presetSubtype="4" fill="hold" grpId="0" nodeType="afterEffect">
                                  <p:stCondLst>
                                    <p:cond delay="0"/>
                                  </p:stCondLst>
                                  <p:childTnLst>
                                    <p:set>
                                      <p:cBhvr>
                                        <p:cTn id="47" dur="1" fill="hold">
                                          <p:stCondLst>
                                            <p:cond delay="0"/>
                                          </p:stCondLst>
                                        </p:cTn>
                                        <p:tgtEl>
                                          <p:spTgt spid="31"/>
                                        </p:tgtEl>
                                        <p:attrNameLst>
                                          <p:attrName>style.visibility</p:attrName>
                                        </p:attrNameLst>
                                      </p:cBhvr>
                                      <p:to>
                                        <p:strVal val="visible"/>
                                      </p:to>
                                    </p:set>
                                    <p:anim calcmode="lin" valueType="num">
                                      <p:cBhvr additive="base">
                                        <p:cTn id="48" dur="500" fill="hold"/>
                                        <p:tgtEl>
                                          <p:spTgt spid="31"/>
                                        </p:tgtEl>
                                        <p:attrNameLst>
                                          <p:attrName>ppt_x</p:attrName>
                                        </p:attrNameLst>
                                      </p:cBhvr>
                                      <p:tavLst>
                                        <p:tav tm="0">
                                          <p:val>
                                            <p:strVal val="#ppt_x"/>
                                          </p:val>
                                        </p:tav>
                                        <p:tav tm="100000">
                                          <p:val>
                                            <p:strVal val="#ppt_x"/>
                                          </p:val>
                                        </p:tav>
                                      </p:tavLst>
                                    </p:anim>
                                    <p:anim calcmode="lin" valueType="num">
                                      <p:cBhvr additive="base">
                                        <p:cTn id="49" dur="500" fill="hold"/>
                                        <p:tgtEl>
                                          <p:spTgt spid="31"/>
                                        </p:tgtEl>
                                        <p:attrNameLst>
                                          <p:attrName>ppt_y</p:attrName>
                                        </p:attrNameLst>
                                      </p:cBhvr>
                                      <p:tavLst>
                                        <p:tav tm="0">
                                          <p:val>
                                            <p:strVal val="1+#ppt_h/2"/>
                                          </p:val>
                                        </p:tav>
                                        <p:tav tm="100000">
                                          <p:val>
                                            <p:strVal val="#ppt_y"/>
                                          </p:val>
                                        </p:tav>
                                      </p:tavLst>
                                    </p:anim>
                                  </p:childTnLst>
                                </p:cTn>
                              </p:par>
                            </p:childTnLst>
                          </p:cTn>
                        </p:par>
                        <p:par>
                          <p:cTn id="50" fill="hold">
                            <p:stCondLst>
                              <p:cond delay="6500"/>
                            </p:stCondLst>
                            <p:childTnLst>
                              <p:par>
                                <p:cTn id="51" presetID="16" presetClass="entr" presetSubtype="21" fill="hold" grpId="0" nodeType="after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barn(inVertical)">
                                      <p:cBhvr>
                                        <p:cTn id="53" dur="500"/>
                                        <p:tgtEl>
                                          <p:spTgt spid="29"/>
                                        </p:tgtEl>
                                      </p:cBhvr>
                                    </p:animEffect>
                                  </p:childTnLst>
                                </p:cTn>
                              </p:par>
                            </p:childTnLst>
                          </p:cTn>
                        </p:par>
                        <p:par>
                          <p:cTn id="54" fill="hold">
                            <p:stCondLst>
                              <p:cond delay="7000"/>
                            </p:stCondLst>
                            <p:childTnLst>
                              <p:par>
                                <p:cTn id="55" presetID="2" presetClass="entr" presetSubtype="8" fill="hold" nodeType="afterEffect">
                                  <p:stCondLst>
                                    <p:cond delay="0"/>
                                  </p:stCondLst>
                                  <p:childTnLst>
                                    <p:set>
                                      <p:cBhvr>
                                        <p:cTn id="56" dur="1" fill="hold">
                                          <p:stCondLst>
                                            <p:cond delay="0"/>
                                          </p:stCondLst>
                                        </p:cTn>
                                        <p:tgtEl>
                                          <p:spTgt spid="35"/>
                                        </p:tgtEl>
                                        <p:attrNameLst>
                                          <p:attrName>style.visibility</p:attrName>
                                        </p:attrNameLst>
                                      </p:cBhvr>
                                      <p:to>
                                        <p:strVal val="visible"/>
                                      </p:to>
                                    </p:set>
                                    <p:anim calcmode="lin" valueType="num">
                                      <p:cBhvr additive="base">
                                        <p:cTn id="57" dur="500" fill="hold"/>
                                        <p:tgtEl>
                                          <p:spTgt spid="35"/>
                                        </p:tgtEl>
                                        <p:attrNameLst>
                                          <p:attrName>ppt_x</p:attrName>
                                        </p:attrNameLst>
                                      </p:cBhvr>
                                      <p:tavLst>
                                        <p:tav tm="0">
                                          <p:val>
                                            <p:strVal val="0-#ppt_w/2"/>
                                          </p:val>
                                        </p:tav>
                                        <p:tav tm="100000">
                                          <p:val>
                                            <p:strVal val="#ppt_x"/>
                                          </p:val>
                                        </p:tav>
                                      </p:tavLst>
                                    </p:anim>
                                    <p:anim calcmode="lin" valueType="num">
                                      <p:cBhvr additive="base">
                                        <p:cTn id="58" dur="500" fill="hold"/>
                                        <p:tgtEl>
                                          <p:spTgt spid="35"/>
                                        </p:tgtEl>
                                        <p:attrNameLst>
                                          <p:attrName>ppt_y</p:attrName>
                                        </p:attrNameLst>
                                      </p:cBhvr>
                                      <p:tavLst>
                                        <p:tav tm="0">
                                          <p:val>
                                            <p:strVal val="#ppt_y"/>
                                          </p:val>
                                        </p:tav>
                                        <p:tav tm="100000">
                                          <p:val>
                                            <p:strVal val="#ppt_y"/>
                                          </p:val>
                                        </p:tav>
                                      </p:tavLst>
                                    </p:anim>
                                  </p:childTnLst>
                                </p:cTn>
                              </p:par>
                            </p:childTnLst>
                          </p:cTn>
                        </p:par>
                        <p:par>
                          <p:cTn id="59" fill="hold">
                            <p:stCondLst>
                              <p:cond delay="7500"/>
                            </p:stCondLst>
                            <p:childTnLst>
                              <p:par>
                                <p:cTn id="60" presetID="2" presetClass="entr" presetSubtype="4" fill="hold" grpId="0" nodeType="afterEffect">
                                  <p:stCondLst>
                                    <p:cond delay="0"/>
                                  </p:stCondLst>
                                  <p:childTnLst>
                                    <p:set>
                                      <p:cBhvr>
                                        <p:cTn id="61" dur="1" fill="hold">
                                          <p:stCondLst>
                                            <p:cond delay="0"/>
                                          </p:stCondLst>
                                        </p:cTn>
                                        <p:tgtEl>
                                          <p:spTgt spid="32"/>
                                        </p:tgtEl>
                                        <p:attrNameLst>
                                          <p:attrName>style.visibility</p:attrName>
                                        </p:attrNameLst>
                                      </p:cBhvr>
                                      <p:to>
                                        <p:strVal val="visible"/>
                                      </p:to>
                                    </p:set>
                                    <p:anim calcmode="lin" valueType="num">
                                      <p:cBhvr additive="base">
                                        <p:cTn id="62" dur="500" fill="hold"/>
                                        <p:tgtEl>
                                          <p:spTgt spid="32"/>
                                        </p:tgtEl>
                                        <p:attrNameLst>
                                          <p:attrName>ppt_x</p:attrName>
                                        </p:attrNameLst>
                                      </p:cBhvr>
                                      <p:tavLst>
                                        <p:tav tm="0">
                                          <p:val>
                                            <p:strVal val="#ppt_x"/>
                                          </p:val>
                                        </p:tav>
                                        <p:tav tm="100000">
                                          <p:val>
                                            <p:strVal val="#ppt_x"/>
                                          </p:val>
                                        </p:tav>
                                      </p:tavLst>
                                    </p:anim>
                                    <p:anim calcmode="lin" valueType="num">
                                      <p:cBhvr additive="base">
                                        <p:cTn id="63" dur="500" fill="hold"/>
                                        <p:tgtEl>
                                          <p:spTgt spid="32"/>
                                        </p:tgtEl>
                                        <p:attrNameLst>
                                          <p:attrName>ppt_y</p:attrName>
                                        </p:attrNameLst>
                                      </p:cBhvr>
                                      <p:tavLst>
                                        <p:tav tm="0">
                                          <p:val>
                                            <p:strVal val="1+#ppt_h/2"/>
                                          </p:val>
                                        </p:tav>
                                        <p:tav tm="100000">
                                          <p:val>
                                            <p:strVal val="#ppt_y"/>
                                          </p:val>
                                        </p:tav>
                                      </p:tavLst>
                                    </p:anim>
                                  </p:childTnLst>
                                </p:cTn>
                              </p:par>
                            </p:childTnLst>
                          </p:cTn>
                        </p:par>
                        <p:par>
                          <p:cTn id="64" fill="hold">
                            <p:stCondLst>
                              <p:cond delay="8000"/>
                            </p:stCondLst>
                            <p:childTnLst>
                              <p:par>
                                <p:cTn id="65" presetID="16" presetClass="entr" presetSubtype="21" fill="hold" grpId="0"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barn(inVertical)">
                                      <p:cBhvr>
                                        <p:cTn id="67" dur="500"/>
                                        <p:tgtEl>
                                          <p:spTgt spid="22"/>
                                        </p:tgtEl>
                                      </p:cBhvr>
                                    </p:animEffect>
                                  </p:childTnLst>
                                </p:cTn>
                              </p:par>
                            </p:childTnLst>
                          </p:cTn>
                        </p:par>
                        <p:par>
                          <p:cTn id="68" fill="hold">
                            <p:stCondLst>
                              <p:cond delay="8500"/>
                            </p:stCondLst>
                            <p:childTnLst>
                              <p:par>
                                <p:cTn id="69" presetID="2" presetClass="entr" presetSubtype="1" fill="hold" nodeType="afterEffect">
                                  <p:stCondLst>
                                    <p:cond delay="0"/>
                                  </p:stCondLst>
                                  <p:childTnLst>
                                    <p:set>
                                      <p:cBhvr>
                                        <p:cTn id="70" dur="1" fill="hold">
                                          <p:stCondLst>
                                            <p:cond delay="0"/>
                                          </p:stCondLst>
                                        </p:cTn>
                                        <p:tgtEl>
                                          <p:spTgt spid="38"/>
                                        </p:tgtEl>
                                        <p:attrNameLst>
                                          <p:attrName>style.visibility</p:attrName>
                                        </p:attrNameLst>
                                      </p:cBhvr>
                                      <p:to>
                                        <p:strVal val="visible"/>
                                      </p:to>
                                    </p:set>
                                    <p:anim calcmode="lin" valueType="num">
                                      <p:cBhvr additive="base">
                                        <p:cTn id="71" dur="500" fill="hold"/>
                                        <p:tgtEl>
                                          <p:spTgt spid="38"/>
                                        </p:tgtEl>
                                        <p:attrNameLst>
                                          <p:attrName>ppt_x</p:attrName>
                                        </p:attrNameLst>
                                      </p:cBhvr>
                                      <p:tavLst>
                                        <p:tav tm="0">
                                          <p:val>
                                            <p:strVal val="#ppt_x"/>
                                          </p:val>
                                        </p:tav>
                                        <p:tav tm="100000">
                                          <p:val>
                                            <p:strVal val="#ppt_x"/>
                                          </p:val>
                                        </p:tav>
                                      </p:tavLst>
                                    </p:anim>
                                    <p:anim calcmode="lin" valueType="num">
                                      <p:cBhvr additive="base">
                                        <p:cTn id="72" dur="500" fill="hold"/>
                                        <p:tgtEl>
                                          <p:spTgt spid="38"/>
                                        </p:tgtEl>
                                        <p:attrNameLst>
                                          <p:attrName>ppt_y</p:attrName>
                                        </p:attrNameLst>
                                      </p:cBhvr>
                                      <p:tavLst>
                                        <p:tav tm="0">
                                          <p:val>
                                            <p:strVal val="0-#ppt_h/2"/>
                                          </p:val>
                                        </p:tav>
                                        <p:tav tm="100000">
                                          <p:val>
                                            <p:strVal val="#ppt_y"/>
                                          </p:val>
                                        </p:tav>
                                      </p:tavLst>
                                    </p:anim>
                                  </p:childTnLst>
                                </p:cTn>
                              </p:par>
                            </p:childTnLst>
                          </p:cTn>
                        </p:par>
                        <p:par>
                          <p:cTn id="73" fill="hold">
                            <p:stCondLst>
                              <p:cond delay="9000"/>
                            </p:stCondLst>
                            <p:childTnLst>
                              <p:par>
                                <p:cTn id="74" presetID="2" presetClass="entr" presetSubtype="4" fill="hold" grpId="0" nodeType="afterEffect">
                                  <p:stCondLst>
                                    <p:cond delay="0"/>
                                  </p:stCondLst>
                                  <p:childTnLst>
                                    <p:set>
                                      <p:cBhvr>
                                        <p:cTn id="75" dur="1" fill="hold">
                                          <p:stCondLst>
                                            <p:cond delay="0"/>
                                          </p:stCondLst>
                                        </p:cTn>
                                        <p:tgtEl>
                                          <p:spTgt spid="34"/>
                                        </p:tgtEl>
                                        <p:attrNameLst>
                                          <p:attrName>style.visibility</p:attrName>
                                        </p:attrNameLst>
                                      </p:cBhvr>
                                      <p:to>
                                        <p:strVal val="visible"/>
                                      </p:to>
                                    </p:set>
                                    <p:anim calcmode="lin" valueType="num">
                                      <p:cBhvr additive="base">
                                        <p:cTn id="76" dur="500" fill="hold"/>
                                        <p:tgtEl>
                                          <p:spTgt spid="34"/>
                                        </p:tgtEl>
                                        <p:attrNameLst>
                                          <p:attrName>ppt_x</p:attrName>
                                        </p:attrNameLst>
                                      </p:cBhvr>
                                      <p:tavLst>
                                        <p:tav tm="0">
                                          <p:val>
                                            <p:strVal val="#ppt_x"/>
                                          </p:val>
                                        </p:tav>
                                        <p:tav tm="100000">
                                          <p:val>
                                            <p:strVal val="#ppt_x"/>
                                          </p:val>
                                        </p:tav>
                                      </p:tavLst>
                                    </p:anim>
                                    <p:anim calcmode="lin" valueType="num">
                                      <p:cBhvr additive="base">
                                        <p:cTn id="77" dur="500" fill="hold"/>
                                        <p:tgtEl>
                                          <p:spTgt spid="34"/>
                                        </p:tgtEl>
                                        <p:attrNameLst>
                                          <p:attrName>ppt_y</p:attrName>
                                        </p:attrNameLst>
                                      </p:cBhvr>
                                      <p:tavLst>
                                        <p:tav tm="0">
                                          <p:val>
                                            <p:strVal val="1+#ppt_h/2"/>
                                          </p:val>
                                        </p:tav>
                                        <p:tav tm="100000">
                                          <p:val>
                                            <p:strVal val="#ppt_y"/>
                                          </p:val>
                                        </p:tav>
                                      </p:tavLst>
                                    </p:anim>
                                  </p:childTnLst>
                                </p:cTn>
                              </p:par>
                            </p:childTnLst>
                          </p:cTn>
                        </p:par>
                        <p:par>
                          <p:cTn id="78" fill="hold">
                            <p:stCondLst>
                              <p:cond delay="9500"/>
                            </p:stCondLst>
                            <p:childTnLst>
                              <p:par>
                                <p:cTn id="79" presetID="16" presetClass="entr" presetSubtype="21" fill="hold" grpId="0" nodeType="after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barn(inVertical)">
                                      <p:cBhvr>
                                        <p:cTn id="81" dur="500"/>
                                        <p:tgtEl>
                                          <p:spTgt spid="30"/>
                                        </p:tgtEl>
                                      </p:cBhvr>
                                    </p:animEffect>
                                  </p:childTnLst>
                                </p:cTn>
                              </p:par>
                            </p:childTnLst>
                          </p:cTn>
                        </p:par>
                        <p:par>
                          <p:cTn id="82" fill="hold">
                            <p:stCondLst>
                              <p:cond delay="10000"/>
                            </p:stCondLst>
                            <p:childTnLst>
                              <p:par>
                                <p:cTn id="83" presetID="2" presetClass="entr" presetSubtype="8" fill="hold" nodeType="afterEffect">
                                  <p:stCondLst>
                                    <p:cond delay="0"/>
                                  </p:stCondLst>
                                  <p:childTnLst>
                                    <p:set>
                                      <p:cBhvr>
                                        <p:cTn id="84" dur="1" fill="hold">
                                          <p:stCondLst>
                                            <p:cond delay="0"/>
                                          </p:stCondLst>
                                        </p:cTn>
                                        <p:tgtEl>
                                          <p:spTgt spid="26"/>
                                        </p:tgtEl>
                                        <p:attrNameLst>
                                          <p:attrName>style.visibility</p:attrName>
                                        </p:attrNameLst>
                                      </p:cBhvr>
                                      <p:to>
                                        <p:strVal val="visible"/>
                                      </p:to>
                                    </p:set>
                                    <p:anim calcmode="lin" valueType="num">
                                      <p:cBhvr additive="base">
                                        <p:cTn id="85" dur="500" fill="hold"/>
                                        <p:tgtEl>
                                          <p:spTgt spid="26"/>
                                        </p:tgtEl>
                                        <p:attrNameLst>
                                          <p:attrName>ppt_x</p:attrName>
                                        </p:attrNameLst>
                                      </p:cBhvr>
                                      <p:tavLst>
                                        <p:tav tm="0">
                                          <p:val>
                                            <p:strVal val="0-#ppt_w/2"/>
                                          </p:val>
                                        </p:tav>
                                        <p:tav tm="100000">
                                          <p:val>
                                            <p:strVal val="#ppt_x"/>
                                          </p:val>
                                        </p:tav>
                                      </p:tavLst>
                                    </p:anim>
                                    <p:anim calcmode="lin" valueType="num">
                                      <p:cBhvr additive="base">
                                        <p:cTn id="86" dur="500" fill="hold"/>
                                        <p:tgtEl>
                                          <p:spTgt spid="26"/>
                                        </p:tgtEl>
                                        <p:attrNameLst>
                                          <p:attrName>ppt_y</p:attrName>
                                        </p:attrNameLst>
                                      </p:cBhvr>
                                      <p:tavLst>
                                        <p:tav tm="0">
                                          <p:val>
                                            <p:strVal val="#ppt_y"/>
                                          </p:val>
                                        </p:tav>
                                        <p:tav tm="100000">
                                          <p:val>
                                            <p:strVal val="#ppt_y"/>
                                          </p:val>
                                        </p:tav>
                                      </p:tavLst>
                                    </p:anim>
                                  </p:childTnLst>
                                </p:cTn>
                              </p:par>
                            </p:childTnLst>
                          </p:cTn>
                        </p:par>
                        <p:par>
                          <p:cTn id="87" fill="hold">
                            <p:stCondLst>
                              <p:cond delay="10500"/>
                            </p:stCondLst>
                            <p:childTnLst>
                              <p:par>
                                <p:cTn id="88" presetID="2" presetClass="entr" presetSubtype="4"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 calcmode="lin" valueType="num">
                                      <p:cBhvr additive="base">
                                        <p:cTn id="90" dur="500" fill="hold"/>
                                        <p:tgtEl>
                                          <p:spTgt spid="23"/>
                                        </p:tgtEl>
                                        <p:attrNameLst>
                                          <p:attrName>ppt_x</p:attrName>
                                        </p:attrNameLst>
                                      </p:cBhvr>
                                      <p:tavLst>
                                        <p:tav tm="0">
                                          <p:val>
                                            <p:strVal val="#ppt_x"/>
                                          </p:val>
                                        </p:tav>
                                        <p:tav tm="100000">
                                          <p:val>
                                            <p:strVal val="#ppt_x"/>
                                          </p:val>
                                        </p:tav>
                                      </p:tavLst>
                                    </p:anim>
                                    <p:anim calcmode="lin" valueType="num">
                                      <p:cBhvr additive="base">
                                        <p:cTn id="91"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9" grpId="0" animBg="1"/>
      <p:bldP spid="22" grpId="0"/>
      <p:bldP spid="24" grpId="0" animBg="1"/>
      <p:bldP spid="25" grpId="0"/>
      <p:bldP spid="27" grpId="0"/>
      <p:bldP spid="29" grpId="0"/>
      <p:bldP spid="30" grpId="0"/>
      <p:bldP spid="31" grpId="0" animBg="1"/>
      <p:bldP spid="32" grpId="0" animBg="1"/>
      <p:bldP spid="3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702900" y="1098201"/>
            <a:ext cx="9423952" cy="1553630"/>
          </a:xfrm>
          <a:prstGeom prst="rect">
            <a:avLst/>
          </a:prstGeom>
          <a:noFill/>
        </p:spPr>
        <p:txBody>
          <a:bodyPr wrap="square" rtlCol="0">
            <a:spAutoFit/>
          </a:bodyPr>
          <a:lstStyle/>
          <a:p>
            <a:pPr marL="342900"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區塊鏈技術在金融產業上應用為能</a:t>
            </a:r>
            <a:r>
              <a:rPr lang="zh-TW" altLang="en-US" sz="2200" b="1" dirty="0">
                <a:solidFill>
                  <a:srgbClr val="54667E"/>
                </a:solidFill>
                <a:latin typeface="微軟正黑體" panose="020B0604030504040204" pitchFamily="34" charset="-120"/>
                <a:ea typeface="微軟正黑體" panose="020B0604030504040204" pitchFamily="34" charset="-120"/>
              </a:rPr>
              <a:t>保障金融交易安全性</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，藉由節點相互信任機制與輔助交易自動化，提升交易安全性與作業效率，撙節成本</a:t>
            </a:r>
          </a:p>
          <a:p>
            <a:pPr marL="342900" indent="-342900">
              <a:lnSpc>
                <a:spcPct val="150000"/>
              </a:lnSpc>
              <a:buBlip>
                <a:blip r:embed="rId4"/>
              </a:buBlip>
            </a:pPr>
            <a:r>
              <a:rPr lang="zh-TW" altLang="en-US" sz="2200" b="1" dirty="0">
                <a:solidFill>
                  <a:srgbClr val="54667E"/>
                </a:solidFill>
                <a:latin typeface="微軟正黑體" panose="020B0604030504040204" pitchFamily="34" charset="-120"/>
                <a:ea typeface="微軟正黑體" panose="020B0604030504040204" pitchFamily="34" charset="-120"/>
              </a:rPr>
              <a:t>金融服務應用領域</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分為跨境匯款、資產數位化、智能證券、徵信等</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518277" y="393820"/>
            <a:ext cx="3829576"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5-2 </a:t>
            </a:r>
            <a:r>
              <a:rPr lang="zh-TW" altLang="en-US" sz="2400" b="1" dirty="0">
                <a:solidFill>
                  <a:srgbClr val="E06741"/>
                </a:solidFill>
              </a:rPr>
              <a:t>區塊鏈之金融服務應用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3" name="文字方塊 52">
            <a:extLst>
              <a:ext uri="{FF2B5EF4-FFF2-40B4-BE49-F238E27FC236}">
                <a16:creationId xmlns:a16="http://schemas.microsoft.com/office/drawing/2014/main" id="{AE62D468-15B5-4D7B-93CC-6B6E7928C359}"/>
              </a:ext>
            </a:extLst>
          </p:cNvPr>
          <p:cNvSpPr txBox="1"/>
          <p:nvPr/>
        </p:nvSpPr>
        <p:spPr>
          <a:xfrm>
            <a:off x="5907639" y="6411724"/>
            <a:ext cx="3704860" cy="369332"/>
          </a:xfrm>
          <a:prstGeom prst="rect">
            <a:avLst/>
          </a:prstGeom>
          <a:noFill/>
        </p:spPr>
        <p:txBody>
          <a:bodyPr wrap="none" rtlCol="0">
            <a:spAutoFit/>
          </a:bodyPr>
          <a:lstStyle/>
          <a:p>
            <a:pPr marL="285750" indent="-285750">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區塊鏈之金融服務應用領域配置</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54" name="文字方塊 53">
            <a:extLst>
              <a:ext uri="{FF2B5EF4-FFF2-40B4-BE49-F238E27FC236}">
                <a16:creationId xmlns:a16="http://schemas.microsoft.com/office/drawing/2014/main" id="{999910B4-9816-4E61-AD7E-58181DB8235A}"/>
              </a:ext>
            </a:extLst>
          </p:cNvPr>
          <p:cNvSpPr txBox="1"/>
          <p:nvPr/>
        </p:nvSpPr>
        <p:spPr>
          <a:xfrm>
            <a:off x="5327744"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區塊鏈之金融服務應用領域</a:t>
            </a:r>
          </a:p>
        </p:txBody>
      </p:sp>
      <p:grpSp>
        <p:nvGrpSpPr>
          <p:cNvPr id="5" name="群組 4">
            <a:extLst>
              <a:ext uri="{FF2B5EF4-FFF2-40B4-BE49-F238E27FC236}">
                <a16:creationId xmlns:a16="http://schemas.microsoft.com/office/drawing/2014/main" id="{B005B011-0510-4F9C-8794-00E14AB47C56}"/>
              </a:ext>
            </a:extLst>
          </p:cNvPr>
          <p:cNvGrpSpPr/>
          <p:nvPr/>
        </p:nvGrpSpPr>
        <p:grpSpPr>
          <a:xfrm>
            <a:off x="2925509" y="2803356"/>
            <a:ext cx="6978734" cy="3571366"/>
            <a:chOff x="1564899" y="631390"/>
            <a:chExt cx="10122340" cy="6226610"/>
          </a:xfrm>
        </p:grpSpPr>
        <p:grpSp>
          <p:nvGrpSpPr>
            <p:cNvPr id="60" name="群組 59">
              <a:extLst>
                <a:ext uri="{FF2B5EF4-FFF2-40B4-BE49-F238E27FC236}">
                  <a16:creationId xmlns:a16="http://schemas.microsoft.com/office/drawing/2014/main" id="{9C96135D-040C-4E97-B2FE-9BC6230E5607}"/>
                </a:ext>
              </a:extLst>
            </p:cNvPr>
            <p:cNvGrpSpPr/>
            <p:nvPr/>
          </p:nvGrpSpPr>
          <p:grpSpPr>
            <a:xfrm>
              <a:off x="2886706" y="677155"/>
              <a:ext cx="6943725" cy="4819650"/>
              <a:chOff x="2624137" y="1019175"/>
              <a:chExt cx="6943725" cy="4819650"/>
            </a:xfrm>
          </p:grpSpPr>
          <p:pic>
            <p:nvPicPr>
              <p:cNvPr id="61" name="圖片 60">
                <a:extLst>
                  <a:ext uri="{FF2B5EF4-FFF2-40B4-BE49-F238E27FC236}">
                    <a16:creationId xmlns:a16="http://schemas.microsoft.com/office/drawing/2014/main" id="{B2C4C2CE-F883-4A48-80E7-8082CEA3103B}"/>
                  </a:ext>
                </a:extLst>
              </p:cNvPr>
              <p:cNvPicPr>
                <a:picLocks noChangeAspect="1"/>
              </p:cNvPicPr>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2624137" y="1019175"/>
                <a:ext cx="6943725" cy="4819650"/>
              </a:xfrm>
              <a:prstGeom prst="rect">
                <a:avLst/>
              </a:prstGeom>
            </p:spPr>
          </p:pic>
          <p:sp>
            <p:nvSpPr>
              <p:cNvPr id="62" name="流程圖: 接點 61">
                <a:extLst>
                  <a:ext uri="{FF2B5EF4-FFF2-40B4-BE49-F238E27FC236}">
                    <a16:creationId xmlns:a16="http://schemas.microsoft.com/office/drawing/2014/main" id="{2179D0E3-E4BC-4B0E-AD62-FF58AC5C64AC}"/>
                  </a:ext>
                </a:extLst>
              </p:cNvPr>
              <p:cNvSpPr/>
              <p:nvPr/>
            </p:nvSpPr>
            <p:spPr>
              <a:xfrm>
                <a:off x="5519935" y="2888940"/>
                <a:ext cx="1152128" cy="1080120"/>
              </a:xfrm>
              <a:prstGeom prst="flowChartConnector">
                <a:avLst/>
              </a:prstGeom>
              <a:solidFill>
                <a:schemeClr val="bg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zh-TW" altLang="en-US" sz="1100" b="1" dirty="0">
                  <a:latin typeface="微軟正黑體" panose="020B0604030504040204" pitchFamily="34" charset="-120"/>
                  <a:ea typeface="微軟正黑體" panose="020B0604030504040204" pitchFamily="34" charset="-120"/>
                </a:endParaRPr>
              </a:p>
            </p:txBody>
          </p:sp>
        </p:grpSp>
        <p:sp>
          <p:nvSpPr>
            <p:cNvPr id="63" name="矩形 62">
              <a:extLst>
                <a:ext uri="{FF2B5EF4-FFF2-40B4-BE49-F238E27FC236}">
                  <a16:creationId xmlns:a16="http://schemas.microsoft.com/office/drawing/2014/main" id="{90A358D3-18A9-4BAE-ACD8-7064C0329111}"/>
                </a:ext>
              </a:extLst>
            </p:cNvPr>
            <p:cNvSpPr/>
            <p:nvPr/>
          </p:nvSpPr>
          <p:spPr>
            <a:xfrm>
              <a:off x="5742922" y="631390"/>
              <a:ext cx="1800200" cy="338554"/>
            </a:xfrm>
            <a:prstGeom prst="rect">
              <a:avLst/>
            </a:prstGeom>
          </p:spPr>
          <p:txBody>
            <a:bodyPr wrap="square">
              <a:spAutoFit/>
            </a:bodyPr>
            <a:lstStyle/>
            <a:p>
              <a:r>
                <a:rPr lang="zh-TW" altLang="en-US" sz="1600" b="1" dirty="0">
                  <a:latin typeface="微軟正黑體" panose="020B0604030504040204" pitchFamily="34" charset="-120"/>
                  <a:ea typeface="微軟正黑體" panose="020B0604030504040204" pitchFamily="34" charset="-120"/>
                </a:rPr>
                <a:t>跨境匯款</a:t>
              </a:r>
            </a:p>
          </p:txBody>
        </p:sp>
        <p:sp>
          <p:nvSpPr>
            <p:cNvPr id="64" name="矩形 63">
              <a:extLst>
                <a:ext uri="{FF2B5EF4-FFF2-40B4-BE49-F238E27FC236}">
                  <a16:creationId xmlns:a16="http://schemas.microsoft.com/office/drawing/2014/main" id="{4824F302-962C-48F8-88F5-D8A2BB40C31F}"/>
                </a:ext>
              </a:extLst>
            </p:cNvPr>
            <p:cNvSpPr/>
            <p:nvPr/>
          </p:nvSpPr>
          <p:spPr>
            <a:xfrm>
              <a:off x="5555734" y="1334052"/>
              <a:ext cx="4483666" cy="338554"/>
            </a:xfrm>
            <a:prstGeom prst="rect">
              <a:avLst/>
            </a:prstGeom>
          </p:spPr>
          <p:txBody>
            <a:bodyPr wrap="square">
              <a:spAutoFit/>
            </a:bodyPr>
            <a:lstStyle/>
            <a:p>
              <a:r>
                <a:rPr lang="zh-TW" altLang="en-US" sz="1600" b="1" dirty="0">
                  <a:latin typeface="微軟正黑體" panose="020B0604030504040204" pitchFamily="34" charset="-120"/>
                  <a:ea typeface="微軟正黑體" panose="020B0604030504040204" pitchFamily="34" charset="-120"/>
                </a:rPr>
                <a:t>資產數位化</a:t>
              </a:r>
            </a:p>
          </p:txBody>
        </p:sp>
        <p:sp>
          <p:nvSpPr>
            <p:cNvPr id="65" name="矩形 64">
              <a:extLst>
                <a:ext uri="{FF2B5EF4-FFF2-40B4-BE49-F238E27FC236}">
                  <a16:creationId xmlns:a16="http://schemas.microsoft.com/office/drawing/2014/main" id="{F63B0B6E-A50F-4D69-8E49-5B1F7939F64C}"/>
                </a:ext>
              </a:extLst>
            </p:cNvPr>
            <p:cNvSpPr/>
            <p:nvPr/>
          </p:nvSpPr>
          <p:spPr>
            <a:xfrm>
              <a:off x="5742922" y="4827033"/>
              <a:ext cx="4483666" cy="338554"/>
            </a:xfrm>
            <a:prstGeom prst="rect">
              <a:avLst/>
            </a:prstGeom>
          </p:spPr>
          <p:txBody>
            <a:bodyPr wrap="square">
              <a:spAutoFit/>
            </a:bodyPr>
            <a:lstStyle/>
            <a:p>
              <a:r>
                <a:rPr lang="zh-TW" altLang="en-US" sz="1600" b="1" dirty="0">
                  <a:latin typeface="微軟正黑體" panose="020B0604030504040204" pitchFamily="34" charset="-120"/>
                  <a:ea typeface="微軟正黑體" panose="020B0604030504040204" pitchFamily="34" charset="-120"/>
                </a:rPr>
                <a:t>智能證券</a:t>
              </a:r>
            </a:p>
          </p:txBody>
        </p:sp>
        <p:sp>
          <p:nvSpPr>
            <p:cNvPr id="66" name="矩形 65">
              <a:extLst>
                <a:ext uri="{FF2B5EF4-FFF2-40B4-BE49-F238E27FC236}">
                  <a16:creationId xmlns:a16="http://schemas.microsoft.com/office/drawing/2014/main" id="{3FFA3500-D362-4E97-8CAB-FD648385A884}"/>
                </a:ext>
              </a:extLst>
            </p:cNvPr>
            <p:cNvSpPr/>
            <p:nvPr/>
          </p:nvSpPr>
          <p:spPr>
            <a:xfrm>
              <a:off x="6102962" y="4195742"/>
              <a:ext cx="4483666" cy="338554"/>
            </a:xfrm>
            <a:prstGeom prst="rect">
              <a:avLst/>
            </a:prstGeom>
          </p:spPr>
          <p:txBody>
            <a:bodyPr wrap="square">
              <a:spAutoFit/>
            </a:bodyPr>
            <a:lstStyle/>
            <a:p>
              <a:r>
                <a:rPr lang="zh-TW" altLang="en-US" sz="1600" b="1" dirty="0">
                  <a:latin typeface="微軟正黑體" panose="020B0604030504040204" pitchFamily="34" charset="-120"/>
                  <a:ea typeface="微軟正黑體" panose="020B0604030504040204" pitchFamily="34" charset="-120"/>
                </a:rPr>
                <a:t>徵信</a:t>
              </a:r>
            </a:p>
          </p:txBody>
        </p:sp>
        <p:pic>
          <p:nvPicPr>
            <p:cNvPr id="67" name="圖片 66">
              <a:extLst>
                <a:ext uri="{FF2B5EF4-FFF2-40B4-BE49-F238E27FC236}">
                  <a16:creationId xmlns:a16="http://schemas.microsoft.com/office/drawing/2014/main" id="{9C7B0A8D-C1B5-47A2-8A1A-B1DAFE4539E3}"/>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7104112" y="4310521"/>
              <a:ext cx="4583127" cy="2492578"/>
            </a:xfrm>
            <a:prstGeom prst="rect">
              <a:avLst/>
            </a:prstGeom>
          </p:spPr>
        </p:pic>
        <p:pic>
          <p:nvPicPr>
            <p:cNvPr id="68" name="圖片 67">
              <a:extLst>
                <a:ext uri="{FF2B5EF4-FFF2-40B4-BE49-F238E27FC236}">
                  <a16:creationId xmlns:a16="http://schemas.microsoft.com/office/drawing/2014/main" id="{B1B59ED2-33D3-48CD-B47A-19E11B5877D2}"/>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1564899" y="5114925"/>
              <a:ext cx="4048125" cy="1743075"/>
            </a:xfrm>
            <a:prstGeom prst="rect">
              <a:avLst/>
            </a:prstGeom>
          </p:spPr>
        </p:pic>
      </p:grpSp>
    </p:spTree>
    <p:extLst>
      <p:ext uri="{BB962C8B-B14F-4D97-AF65-F5344CB8AC3E}">
        <p14:creationId xmlns:p14="http://schemas.microsoft.com/office/powerpoint/2010/main" val="216715068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barn(inVertical)">
                                      <p:cBhvr>
                                        <p:cTn id="11" dur="500"/>
                                        <p:tgtEl>
                                          <p:spTgt spid="5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arn(inVertical)">
                                      <p:cBhvr>
                                        <p:cTn id="20" dur="500"/>
                                        <p:tgtEl>
                                          <p:spTgt spid="3"/>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childTnLst>
                          </p:cTn>
                        </p:par>
                        <p:par>
                          <p:cTn id="27" fill="hold">
                            <p:stCondLst>
                              <p:cond delay="4000"/>
                            </p:stCondLst>
                            <p:childTnLst>
                              <p:par>
                                <p:cTn id="28" presetID="2" presetClass="entr" presetSubtype="4" fill="hold" grpId="0" nodeType="afterEffect">
                                  <p:stCondLst>
                                    <p:cond delay="0"/>
                                  </p:stCondLst>
                                  <p:childTnLst>
                                    <p:set>
                                      <p:cBhvr>
                                        <p:cTn id="29" dur="1" fill="hold">
                                          <p:stCondLst>
                                            <p:cond delay="0"/>
                                          </p:stCondLst>
                                        </p:cTn>
                                        <p:tgtEl>
                                          <p:spTgt spid="53"/>
                                        </p:tgtEl>
                                        <p:attrNameLst>
                                          <p:attrName>style.visibility</p:attrName>
                                        </p:attrNameLst>
                                      </p:cBhvr>
                                      <p:to>
                                        <p:strVal val="visible"/>
                                      </p:to>
                                    </p:set>
                                    <p:anim calcmode="lin" valueType="num">
                                      <p:cBhvr additive="base">
                                        <p:cTn id="30" dur="500" fill="hold"/>
                                        <p:tgtEl>
                                          <p:spTgt spid="53"/>
                                        </p:tgtEl>
                                        <p:attrNameLst>
                                          <p:attrName>ppt_x</p:attrName>
                                        </p:attrNameLst>
                                      </p:cBhvr>
                                      <p:tavLst>
                                        <p:tav tm="0">
                                          <p:val>
                                            <p:strVal val="#ppt_x"/>
                                          </p:val>
                                        </p:tav>
                                        <p:tav tm="100000">
                                          <p:val>
                                            <p:strVal val="#ppt_x"/>
                                          </p:val>
                                        </p:tav>
                                      </p:tavLst>
                                    </p:anim>
                                    <p:anim calcmode="lin" valueType="num">
                                      <p:cBhvr additive="base">
                                        <p:cTn id="31"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6" grpId="0"/>
      <p:bldP spid="53" grpId="0"/>
      <p:bldP spid="5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C5975A11-2F1B-4406-B386-35CD2CCB95B2}"/>
              </a:ext>
            </a:extLst>
          </p:cNvPr>
          <p:cNvSpPr txBox="1"/>
          <p:nvPr/>
        </p:nvSpPr>
        <p:spPr>
          <a:xfrm>
            <a:off x="1177169" y="1180552"/>
            <a:ext cx="10395996" cy="5197961"/>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一、跨境匯款</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6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跨境匯款：銀行向客戶提供的境內帳戶對海外分行的匯款業務</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方式有現金匯款、電匯匯款、外幣匯票匯款、旅行支票匯款、信用卡匯款</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endParaRPr lang="zh-TW" altLang="en-US"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（一）跨境匯款現況</a:t>
            </a:r>
          </a:p>
          <a:p>
            <a:pPr marL="1257300" lvl="2"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優點：安全性佳、匯款金額限制少</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缺點：高額手續費、跨境匯款的時間（依據通道</a:t>
            </a: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rPr>
              <a:t>Corridor</a:t>
            </a: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而不同）</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衍生出透過</a:t>
            </a:r>
            <a:r>
              <a:rPr lang="zh-TW" altLang="en-US" sz="2300" b="1" dirty="0">
                <a:solidFill>
                  <a:srgbClr val="54667E"/>
                </a:solidFill>
                <a:latin typeface="微軟正黑體" panose="020B0604030504040204" pitchFamily="34" charset="-120"/>
                <a:ea typeface="微軟正黑體" panose="020B0604030504040204" pitchFamily="34" charset="-120"/>
              </a:rPr>
              <a:t>數位網路</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實施跨境匯款的構想，在數位網路之金融交易   環境，加強安全防護作為</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區塊鏈技術導入跨境匯款，試圖解決傳統電匯作業的不便</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0" name="標題 1">
            <a:extLst>
              <a:ext uri="{FF2B5EF4-FFF2-40B4-BE49-F238E27FC236}">
                <a16:creationId xmlns:a16="http://schemas.microsoft.com/office/drawing/2014/main" id="{77E13B55-C119-4D95-AA99-CCCEB6676D08}"/>
              </a:ext>
            </a:extLst>
          </p:cNvPr>
          <p:cNvSpPr txBox="1">
            <a:spLocks/>
          </p:cNvSpPr>
          <p:nvPr/>
        </p:nvSpPr>
        <p:spPr>
          <a:xfrm>
            <a:off x="1518277" y="393820"/>
            <a:ext cx="3829576"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5-2 </a:t>
            </a:r>
            <a:r>
              <a:rPr lang="zh-TW" altLang="en-US" sz="2400" b="1" dirty="0">
                <a:solidFill>
                  <a:srgbClr val="E06741"/>
                </a:solidFill>
              </a:rPr>
              <a:t>區塊鏈之金融服務應用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E8CB8989-F715-4501-9844-A4A743C57337}"/>
              </a:ext>
            </a:extLst>
          </p:cNvPr>
          <p:cNvSpPr txBox="1"/>
          <p:nvPr/>
        </p:nvSpPr>
        <p:spPr>
          <a:xfrm>
            <a:off x="5327744"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區塊鏈之金融服務應用領域</a:t>
            </a:r>
          </a:p>
        </p:txBody>
      </p:sp>
      <p:pic>
        <p:nvPicPr>
          <p:cNvPr id="3" name="圖片 2" descr="一張含有 向量圖形 的圖片&#10;&#10;描述是以高可信度產生">
            <a:extLst>
              <a:ext uri="{FF2B5EF4-FFF2-40B4-BE49-F238E27FC236}">
                <a16:creationId xmlns:a16="http://schemas.microsoft.com/office/drawing/2014/main" id="{CC8417DC-A1AF-4885-B5E0-01AE0CF07C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281" y="4534293"/>
            <a:ext cx="1478438" cy="1478438"/>
          </a:xfrm>
          <a:prstGeom prst="rect">
            <a:avLst/>
          </a:prstGeom>
        </p:spPr>
      </p:pic>
    </p:spTree>
    <p:extLst>
      <p:ext uri="{BB962C8B-B14F-4D97-AF65-F5344CB8AC3E}">
        <p14:creationId xmlns:p14="http://schemas.microsoft.com/office/powerpoint/2010/main" val="1918776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animEffect transition="in" filter="barn(inVertical)">
                                      <p:cBhvr>
                                        <p:cTn id="29" dur="500"/>
                                        <p:tgtEl>
                                          <p:spTgt spid="28">
                                            <p:txEl>
                                              <p:pRg st="3" end="3"/>
                                            </p:txEl>
                                          </p:spTgt>
                                        </p:tgtEl>
                                      </p:cBhvr>
                                    </p:animEffect>
                                  </p:childTnLst>
                                </p:cTn>
                              </p:par>
                            </p:childTnLst>
                          </p:cTn>
                        </p:par>
                        <p:par>
                          <p:cTn id="30" fill="hold">
                            <p:stCondLst>
                              <p:cond delay="4500"/>
                            </p:stCondLst>
                            <p:childTnLst>
                              <p:par>
                                <p:cTn id="31" presetID="2" presetClass="entr" presetSubtype="4" fill="hold" nodeType="afterEffect">
                                  <p:stCondLst>
                                    <p:cond delay="0"/>
                                  </p:stCondLst>
                                  <p:childTnLst>
                                    <p:set>
                                      <p:cBhvr>
                                        <p:cTn id="32" dur="1" fill="hold">
                                          <p:stCondLst>
                                            <p:cond delay="0"/>
                                          </p:stCondLst>
                                        </p:cTn>
                                        <p:tgtEl>
                                          <p:spTgt spid="28">
                                            <p:txEl>
                                              <p:pRg st="5" end="5"/>
                                            </p:txEl>
                                          </p:spTgt>
                                        </p:tgtEl>
                                        <p:attrNameLst>
                                          <p:attrName>style.visibility</p:attrName>
                                        </p:attrNameLst>
                                      </p:cBhvr>
                                      <p:to>
                                        <p:strVal val="visible"/>
                                      </p:to>
                                    </p:set>
                                    <p:anim calcmode="lin" valueType="num">
                                      <p:cBhvr additive="base">
                                        <p:cTn id="33" dur="500" fill="hold"/>
                                        <p:tgtEl>
                                          <p:spTgt spid="28">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8">
                                            <p:txEl>
                                              <p:pRg st="5" end="5"/>
                                            </p:txEl>
                                          </p:spTgt>
                                        </p:tgtEl>
                                        <p:attrNameLst>
                                          <p:attrName>ppt_y</p:attrName>
                                        </p:attrNameLst>
                                      </p:cBhvr>
                                      <p:tavLst>
                                        <p:tav tm="0">
                                          <p:val>
                                            <p:strVal val="1+#ppt_h/2"/>
                                          </p:val>
                                        </p:tav>
                                        <p:tav tm="100000">
                                          <p:val>
                                            <p:strVal val="#ppt_y"/>
                                          </p:val>
                                        </p:tav>
                                      </p:tavLst>
                                    </p:anim>
                                  </p:childTnLst>
                                </p:cTn>
                              </p:par>
                            </p:childTnLst>
                          </p:cTn>
                        </p:par>
                        <p:par>
                          <p:cTn id="35" fill="hold">
                            <p:stCondLst>
                              <p:cond delay="5000"/>
                            </p:stCondLst>
                            <p:childTnLst>
                              <p:par>
                                <p:cTn id="36" presetID="16" presetClass="entr" presetSubtype="21" fill="hold" nodeType="afterEffect">
                                  <p:stCondLst>
                                    <p:cond delay="0"/>
                                  </p:stCondLst>
                                  <p:childTnLst>
                                    <p:set>
                                      <p:cBhvr>
                                        <p:cTn id="37" dur="1" fill="hold">
                                          <p:stCondLst>
                                            <p:cond delay="0"/>
                                          </p:stCondLst>
                                        </p:cTn>
                                        <p:tgtEl>
                                          <p:spTgt spid="28">
                                            <p:txEl>
                                              <p:pRg st="6" end="6"/>
                                            </p:txEl>
                                          </p:spTgt>
                                        </p:tgtEl>
                                        <p:attrNameLst>
                                          <p:attrName>style.visibility</p:attrName>
                                        </p:attrNameLst>
                                      </p:cBhvr>
                                      <p:to>
                                        <p:strVal val="visible"/>
                                      </p:to>
                                    </p:set>
                                    <p:animEffect transition="in" filter="barn(inVertical)">
                                      <p:cBhvr>
                                        <p:cTn id="38" dur="500"/>
                                        <p:tgtEl>
                                          <p:spTgt spid="28">
                                            <p:txEl>
                                              <p:pRg st="6" end="6"/>
                                            </p:txEl>
                                          </p:spTgt>
                                        </p:tgtEl>
                                      </p:cBhvr>
                                    </p:animEffect>
                                  </p:childTnLst>
                                </p:cTn>
                              </p:par>
                            </p:childTnLst>
                          </p:cTn>
                        </p:par>
                        <p:par>
                          <p:cTn id="39" fill="hold">
                            <p:stCondLst>
                              <p:cond delay="5500"/>
                            </p:stCondLst>
                            <p:childTnLst>
                              <p:par>
                                <p:cTn id="40" presetID="16" presetClass="entr" presetSubtype="21" fill="hold" nodeType="afterEffect">
                                  <p:stCondLst>
                                    <p:cond delay="0"/>
                                  </p:stCondLst>
                                  <p:childTnLst>
                                    <p:set>
                                      <p:cBhvr>
                                        <p:cTn id="41" dur="1" fill="hold">
                                          <p:stCondLst>
                                            <p:cond delay="0"/>
                                          </p:stCondLst>
                                        </p:cTn>
                                        <p:tgtEl>
                                          <p:spTgt spid="28">
                                            <p:txEl>
                                              <p:pRg st="7" end="7"/>
                                            </p:txEl>
                                          </p:spTgt>
                                        </p:tgtEl>
                                        <p:attrNameLst>
                                          <p:attrName>style.visibility</p:attrName>
                                        </p:attrNameLst>
                                      </p:cBhvr>
                                      <p:to>
                                        <p:strVal val="visible"/>
                                      </p:to>
                                    </p:set>
                                    <p:animEffect transition="in" filter="barn(inVertical)">
                                      <p:cBhvr>
                                        <p:cTn id="42" dur="500"/>
                                        <p:tgtEl>
                                          <p:spTgt spid="28">
                                            <p:txEl>
                                              <p:pRg st="7" end="7"/>
                                            </p:txEl>
                                          </p:spTgt>
                                        </p:tgtEl>
                                      </p:cBhvr>
                                    </p:animEffect>
                                  </p:childTnLst>
                                </p:cTn>
                              </p:par>
                            </p:childTnLst>
                          </p:cTn>
                        </p:par>
                        <p:par>
                          <p:cTn id="43" fill="hold">
                            <p:stCondLst>
                              <p:cond delay="6000"/>
                            </p:stCondLst>
                            <p:childTnLst>
                              <p:par>
                                <p:cTn id="44" presetID="16" presetClass="entr" presetSubtype="21" fill="hold" nodeType="afterEffect">
                                  <p:stCondLst>
                                    <p:cond delay="0"/>
                                  </p:stCondLst>
                                  <p:childTnLst>
                                    <p:set>
                                      <p:cBhvr>
                                        <p:cTn id="45" dur="1" fill="hold">
                                          <p:stCondLst>
                                            <p:cond delay="0"/>
                                          </p:stCondLst>
                                        </p:cTn>
                                        <p:tgtEl>
                                          <p:spTgt spid="28">
                                            <p:txEl>
                                              <p:pRg st="8" end="8"/>
                                            </p:txEl>
                                          </p:spTgt>
                                        </p:tgtEl>
                                        <p:attrNameLst>
                                          <p:attrName>style.visibility</p:attrName>
                                        </p:attrNameLst>
                                      </p:cBhvr>
                                      <p:to>
                                        <p:strVal val="visible"/>
                                      </p:to>
                                    </p:set>
                                    <p:animEffect transition="in" filter="barn(inVertical)">
                                      <p:cBhvr>
                                        <p:cTn id="46" dur="500"/>
                                        <p:tgtEl>
                                          <p:spTgt spid="28">
                                            <p:txEl>
                                              <p:pRg st="8" end="8"/>
                                            </p:txEl>
                                          </p:spTgt>
                                        </p:tgtEl>
                                      </p:cBhvr>
                                    </p:animEffect>
                                  </p:childTnLst>
                                </p:cTn>
                              </p:par>
                            </p:childTnLst>
                          </p:cTn>
                        </p:par>
                        <p:par>
                          <p:cTn id="47" fill="hold">
                            <p:stCondLst>
                              <p:cond delay="6500"/>
                            </p:stCondLst>
                            <p:childTnLst>
                              <p:par>
                                <p:cTn id="48" presetID="16" presetClass="entr" presetSubtype="21" fill="hold" nodeType="afterEffect">
                                  <p:stCondLst>
                                    <p:cond delay="0"/>
                                  </p:stCondLst>
                                  <p:childTnLst>
                                    <p:set>
                                      <p:cBhvr>
                                        <p:cTn id="49" dur="1" fill="hold">
                                          <p:stCondLst>
                                            <p:cond delay="0"/>
                                          </p:stCondLst>
                                        </p:cTn>
                                        <p:tgtEl>
                                          <p:spTgt spid="28">
                                            <p:txEl>
                                              <p:pRg st="9" end="9"/>
                                            </p:txEl>
                                          </p:spTgt>
                                        </p:tgtEl>
                                        <p:attrNameLst>
                                          <p:attrName>style.visibility</p:attrName>
                                        </p:attrNameLst>
                                      </p:cBhvr>
                                      <p:to>
                                        <p:strVal val="visible"/>
                                      </p:to>
                                    </p:set>
                                    <p:animEffect transition="in" filter="barn(inVertical)">
                                      <p:cBhvr>
                                        <p:cTn id="50" dur="500"/>
                                        <p:tgtEl>
                                          <p:spTgt spid="28">
                                            <p:txEl>
                                              <p:pRg st="9" end="9"/>
                                            </p:txEl>
                                          </p:spTgt>
                                        </p:tgtEl>
                                      </p:cBhvr>
                                    </p:animEffect>
                                  </p:childTnLst>
                                </p:cTn>
                              </p:par>
                            </p:childTnLst>
                          </p:cTn>
                        </p:par>
                        <p:par>
                          <p:cTn id="51" fill="hold">
                            <p:stCondLst>
                              <p:cond delay="7000"/>
                            </p:stCondLst>
                            <p:childTnLst>
                              <p:par>
                                <p:cTn id="52" presetID="2" presetClass="entr" presetSubtype="8" fill="hold" nodeType="afterEffect">
                                  <p:stCondLst>
                                    <p:cond delay="0"/>
                                  </p:stCondLst>
                                  <p:childTnLst>
                                    <p:set>
                                      <p:cBhvr>
                                        <p:cTn id="53" dur="1" fill="hold">
                                          <p:stCondLst>
                                            <p:cond delay="0"/>
                                          </p:stCondLst>
                                        </p:cTn>
                                        <p:tgtEl>
                                          <p:spTgt spid="3"/>
                                        </p:tgtEl>
                                        <p:attrNameLst>
                                          <p:attrName>style.visibility</p:attrName>
                                        </p:attrNameLst>
                                      </p:cBhvr>
                                      <p:to>
                                        <p:strVal val="visible"/>
                                      </p:to>
                                    </p:set>
                                    <p:anim calcmode="lin" valueType="num">
                                      <p:cBhvr additive="base">
                                        <p:cTn id="54" dur="500" fill="hold"/>
                                        <p:tgtEl>
                                          <p:spTgt spid="3"/>
                                        </p:tgtEl>
                                        <p:attrNameLst>
                                          <p:attrName>ppt_x</p:attrName>
                                        </p:attrNameLst>
                                      </p:cBhvr>
                                      <p:tavLst>
                                        <p:tav tm="0">
                                          <p:val>
                                            <p:strVal val="0-#ppt_w/2"/>
                                          </p:val>
                                        </p:tav>
                                        <p:tav tm="100000">
                                          <p:val>
                                            <p:strVal val="#ppt_x"/>
                                          </p:val>
                                        </p:tav>
                                      </p:tavLst>
                                    </p:anim>
                                    <p:anim calcmode="lin" valueType="num">
                                      <p:cBhvr additive="base">
                                        <p:cTn id="55"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C5975A11-2F1B-4406-B386-35CD2CCB95B2}"/>
              </a:ext>
            </a:extLst>
          </p:cNvPr>
          <p:cNvSpPr txBox="1"/>
          <p:nvPr/>
        </p:nvSpPr>
        <p:spPr>
          <a:xfrm>
            <a:off x="1177167" y="1141827"/>
            <a:ext cx="10395996" cy="2081724"/>
          </a:xfrm>
          <a:prstGeom prst="rect">
            <a:avLst/>
          </a:prstGeom>
          <a:noFill/>
        </p:spPr>
        <p:txBody>
          <a:bodyPr wrap="square" rtlCol="0">
            <a:spAutoFit/>
          </a:bodyPr>
          <a:lstStyle/>
          <a:p>
            <a:pPr lvl="1">
              <a:lnSpc>
                <a:spcPct val="150000"/>
              </a:lnSpc>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（二）跨境匯款流程</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Font typeface="+mj-lt"/>
              <a:buAutoNum type="arabicPeriod"/>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傳統跨境匯款流程</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2">
              <a:lnSpc>
                <a:spcPct val="150000"/>
              </a:lnSpc>
            </a:pP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endPar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0" name="標題 1">
            <a:extLst>
              <a:ext uri="{FF2B5EF4-FFF2-40B4-BE49-F238E27FC236}">
                <a16:creationId xmlns:a16="http://schemas.microsoft.com/office/drawing/2014/main" id="{77E13B55-C119-4D95-AA99-CCCEB6676D08}"/>
              </a:ext>
            </a:extLst>
          </p:cNvPr>
          <p:cNvSpPr txBox="1">
            <a:spLocks/>
          </p:cNvSpPr>
          <p:nvPr/>
        </p:nvSpPr>
        <p:spPr>
          <a:xfrm>
            <a:off x="1518277" y="393820"/>
            <a:ext cx="3829576"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5-2 </a:t>
            </a:r>
            <a:r>
              <a:rPr lang="zh-TW" altLang="en-US" sz="2400" b="1" dirty="0">
                <a:solidFill>
                  <a:srgbClr val="E06741"/>
                </a:solidFill>
              </a:rPr>
              <a:t>區塊鏈之金融服務應用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E8CB8989-F715-4501-9844-A4A743C57337}"/>
              </a:ext>
            </a:extLst>
          </p:cNvPr>
          <p:cNvSpPr txBox="1"/>
          <p:nvPr/>
        </p:nvSpPr>
        <p:spPr>
          <a:xfrm>
            <a:off x="5327744"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區塊鏈之金融服務應用領域</a:t>
            </a:r>
          </a:p>
        </p:txBody>
      </p:sp>
      <p:grpSp>
        <p:nvGrpSpPr>
          <p:cNvPr id="4" name="群組 3">
            <a:extLst>
              <a:ext uri="{FF2B5EF4-FFF2-40B4-BE49-F238E27FC236}">
                <a16:creationId xmlns:a16="http://schemas.microsoft.com/office/drawing/2014/main" id="{CFE100F9-68D0-456D-801B-25AB5806E69B}"/>
              </a:ext>
            </a:extLst>
          </p:cNvPr>
          <p:cNvGrpSpPr/>
          <p:nvPr/>
        </p:nvGrpSpPr>
        <p:grpSpPr>
          <a:xfrm>
            <a:off x="2741104" y="2082908"/>
            <a:ext cx="7457302" cy="4278414"/>
            <a:chOff x="1474040" y="248536"/>
            <a:chExt cx="10722959" cy="6151991"/>
          </a:xfrm>
        </p:grpSpPr>
        <p:grpSp>
          <p:nvGrpSpPr>
            <p:cNvPr id="74" name="群組 73">
              <a:extLst>
                <a:ext uri="{FF2B5EF4-FFF2-40B4-BE49-F238E27FC236}">
                  <a16:creationId xmlns:a16="http://schemas.microsoft.com/office/drawing/2014/main" id="{56712B60-DD51-4A3E-8792-552201C41ACE}"/>
                </a:ext>
              </a:extLst>
            </p:cNvPr>
            <p:cNvGrpSpPr/>
            <p:nvPr/>
          </p:nvGrpSpPr>
          <p:grpSpPr>
            <a:xfrm>
              <a:off x="1543775" y="601612"/>
              <a:ext cx="1275825" cy="2487518"/>
              <a:chOff x="2279577" y="260648"/>
              <a:chExt cx="1275825" cy="2487518"/>
            </a:xfrm>
          </p:grpSpPr>
          <p:pic>
            <p:nvPicPr>
              <p:cNvPr id="75" name="圖片 74">
                <a:extLst>
                  <a:ext uri="{FF2B5EF4-FFF2-40B4-BE49-F238E27FC236}">
                    <a16:creationId xmlns:a16="http://schemas.microsoft.com/office/drawing/2014/main" id="{59753899-8FA0-46D8-822A-C6A8C40F5D85}"/>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351583" y="260648"/>
                <a:ext cx="792089" cy="1974483"/>
              </a:xfrm>
              <a:prstGeom prst="rect">
                <a:avLst/>
              </a:prstGeom>
            </p:spPr>
          </p:pic>
          <p:sp>
            <p:nvSpPr>
              <p:cNvPr id="76" name="文字方塊 75">
                <a:extLst>
                  <a:ext uri="{FF2B5EF4-FFF2-40B4-BE49-F238E27FC236}">
                    <a16:creationId xmlns:a16="http://schemas.microsoft.com/office/drawing/2014/main" id="{4A9962E7-A0B6-4E0E-B349-08CB952F48E3}"/>
                  </a:ext>
                </a:extLst>
              </p:cNvPr>
              <p:cNvSpPr txBox="1"/>
              <p:nvPr/>
            </p:nvSpPr>
            <p:spPr>
              <a:xfrm>
                <a:off x="2279577" y="2235131"/>
                <a:ext cx="1275825" cy="513035"/>
              </a:xfrm>
              <a:prstGeom prst="rect">
                <a:avLst/>
              </a:prstGeom>
              <a:noFill/>
            </p:spPr>
            <p:txBody>
              <a:bodyPr wrap="square" rtlCol="0">
                <a:spAutoFit/>
              </a:bodyPr>
              <a:lstStyle/>
              <a:p>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匯款人</a:t>
                </a:r>
              </a:p>
            </p:txBody>
          </p:sp>
        </p:grpSp>
        <p:grpSp>
          <p:nvGrpSpPr>
            <p:cNvPr id="77" name="群組 76">
              <a:extLst>
                <a:ext uri="{FF2B5EF4-FFF2-40B4-BE49-F238E27FC236}">
                  <a16:creationId xmlns:a16="http://schemas.microsoft.com/office/drawing/2014/main" id="{B1B95570-F818-4FF3-B9B0-9A000B848225}"/>
                </a:ext>
              </a:extLst>
            </p:cNvPr>
            <p:cNvGrpSpPr/>
            <p:nvPr/>
          </p:nvGrpSpPr>
          <p:grpSpPr>
            <a:xfrm>
              <a:off x="1474040" y="4071360"/>
              <a:ext cx="1275825" cy="2292111"/>
              <a:chOff x="9084987" y="404664"/>
              <a:chExt cx="1275825" cy="2292111"/>
            </a:xfrm>
          </p:grpSpPr>
          <p:pic>
            <p:nvPicPr>
              <p:cNvPr id="78" name="圖片 77">
                <a:extLst>
                  <a:ext uri="{FF2B5EF4-FFF2-40B4-BE49-F238E27FC236}">
                    <a16:creationId xmlns:a16="http://schemas.microsoft.com/office/drawing/2014/main" id="{AF04C7C4-910E-4D9A-9154-C80290EC2D87}"/>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300849" y="404664"/>
                <a:ext cx="804820" cy="1779076"/>
              </a:xfrm>
              <a:prstGeom prst="rect">
                <a:avLst/>
              </a:prstGeom>
            </p:spPr>
          </p:pic>
          <p:sp>
            <p:nvSpPr>
              <p:cNvPr id="79" name="文字方塊 78">
                <a:extLst>
                  <a:ext uri="{FF2B5EF4-FFF2-40B4-BE49-F238E27FC236}">
                    <a16:creationId xmlns:a16="http://schemas.microsoft.com/office/drawing/2014/main" id="{98B16B5A-3CEF-4641-ACF2-89DB545E4199}"/>
                  </a:ext>
                </a:extLst>
              </p:cNvPr>
              <p:cNvSpPr txBox="1"/>
              <p:nvPr/>
            </p:nvSpPr>
            <p:spPr>
              <a:xfrm>
                <a:off x="9084987" y="2183740"/>
                <a:ext cx="1275825" cy="513035"/>
              </a:xfrm>
              <a:prstGeom prst="rect">
                <a:avLst/>
              </a:prstGeom>
              <a:noFill/>
            </p:spPr>
            <p:txBody>
              <a:bodyPr wrap="square" rtlCol="0">
                <a:spAutoFit/>
              </a:bodyPr>
              <a:lstStyle/>
              <a:p>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收款人</a:t>
                </a:r>
              </a:p>
            </p:txBody>
          </p:sp>
        </p:grpSp>
        <p:grpSp>
          <p:nvGrpSpPr>
            <p:cNvPr id="80" name="群組 79">
              <a:extLst>
                <a:ext uri="{FF2B5EF4-FFF2-40B4-BE49-F238E27FC236}">
                  <a16:creationId xmlns:a16="http://schemas.microsoft.com/office/drawing/2014/main" id="{5C79B167-5C0A-4D47-AB52-471A43CF62F0}"/>
                </a:ext>
              </a:extLst>
            </p:cNvPr>
            <p:cNvGrpSpPr/>
            <p:nvPr/>
          </p:nvGrpSpPr>
          <p:grpSpPr>
            <a:xfrm>
              <a:off x="7945128" y="248536"/>
              <a:ext cx="1653870" cy="1921949"/>
              <a:chOff x="4584613" y="391801"/>
              <a:chExt cx="1653870" cy="1921949"/>
            </a:xfrm>
          </p:grpSpPr>
          <p:pic>
            <p:nvPicPr>
              <p:cNvPr id="81" name="圖片 80">
                <a:extLst>
                  <a:ext uri="{FF2B5EF4-FFF2-40B4-BE49-F238E27FC236}">
                    <a16:creationId xmlns:a16="http://schemas.microsoft.com/office/drawing/2014/main" id="{67217271-015E-499E-B625-9BAAD2385E1F}"/>
                  </a:ext>
                </a:extLst>
              </p:cNvPr>
              <p:cNvPicPr>
                <a:picLocks noChangeAspect="1"/>
              </p:cNvPicPr>
              <p:nvPr/>
            </p:nvPicPr>
            <p:blipFill>
              <a:blip r:embed="rId6" cstate="print">
                <a:clrChange>
                  <a:clrFrom>
                    <a:srgbClr val="030303">
                      <a:alpha val="4706"/>
                    </a:srgbClr>
                  </a:clrFrom>
                  <a:clrTo>
                    <a:srgbClr val="030303">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4584613" y="391801"/>
                <a:ext cx="1583395" cy="1583395"/>
              </a:xfrm>
              <a:prstGeom prst="rect">
                <a:avLst/>
              </a:prstGeom>
            </p:spPr>
          </p:pic>
          <p:sp>
            <p:nvSpPr>
              <p:cNvPr id="82" name="文字方塊 81">
                <a:extLst>
                  <a:ext uri="{FF2B5EF4-FFF2-40B4-BE49-F238E27FC236}">
                    <a16:creationId xmlns:a16="http://schemas.microsoft.com/office/drawing/2014/main" id="{2ADA081F-6DA1-4DFE-92EC-D1D966A93E27}"/>
                  </a:ext>
                </a:extLst>
              </p:cNvPr>
              <p:cNvSpPr txBox="1"/>
              <p:nvPr/>
            </p:nvSpPr>
            <p:spPr>
              <a:xfrm>
                <a:off x="4673638" y="1975196"/>
                <a:ext cx="1564845" cy="338554"/>
              </a:xfrm>
              <a:prstGeom prst="rect">
                <a:avLst/>
              </a:prstGeom>
              <a:noFill/>
            </p:spPr>
            <p:txBody>
              <a:bodyPr wrap="square" rtlCol="0">
                <a:spAutoFit/>
              </a:bodyPr>
              <a:lstStyle/>
              <a:p>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匯出銀行</a:t>
                </a:r>
              </a:p>
            </p:txBody>
          </p:sp>
        </p:grpSp>
        <p:sp>
          <p:nvSpPr>
            <p:cNvPr id="83" name="文字方塊 82">
              <a:extLst>
                <a:ext uri="{FF2B5EF4-FFF2-40B4-BE49-F238E27FC236}">
                  <a16:creationId xmlns:a16="http://schemas.microsoft.com/office/drawing/2014/main" id="{63109BE0-4A7C-49A7-8CC3-786EFCE57BCD}"/>
                </a:ext>
              </a:extLst>
            </p:cNvPr>
            <p:cNvSpPr txBox="1"/>
            <p:nvPr/>
          </p:nvSpPr>
          <p:spPr>
            <a:xfrm>
              <a:off x="3155619" y="823039"/>
              <a:ext cx="2772808" cy="513035"/>
            </a:xfrm>
            <a:prstGeom prst="rect">
              <a:avLst/>
            </a:prstGeom>
            <a:noFill/>
          </p:spPr>
          <p:txBody>
            <a:bodyPr wrap="square" rtlCol="0">
              <a:spAutoFit/>
            </a:bodyPr>
            <a:lstStyle/>
            <a:p>
              <a:r>
                <a:rPr lang="en-US" altLang="zh-TW" sz="1600" b="1" dirty="0">
                  <a:solidFill>
                    <a:schemeClr val="accent5">
                      <a:lumMod val="50000"/>
                    </a:schemeClr>
                  </a:solidFill>
                  <a:latin typeface="微軟正黑體" panose="020B0604030504040204" pitchFamily="34" charset="-120"/>
                  <a:ea typeface="微軟正黑體" panose="020B0604030504040204" pitchFamily="34" charset="-120"/>
                </a:rPr>
                <a:t>1.</a:t>
              </a:r>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填寫電匯申請書</a:t>
              </a:r>
            </a:p>
          </p:txBody>
        </p:sp>
        <p:grpSp>
          <p:nvGrpSpPr>
            <p:cNvPr id="84" name="群組 83">
              <a:extLst>
                <a:ext uri="{FF2B5EF4-FFF2-40B4-BE49-F238E27FC236}">
                  <a16:creationId xmlns:a16="http://schemas.microsoft.com/office/drawing/2014/main" id="{BF0EF46A-0F73-4E3E-8BD1-469E6D2DFCFB}"/>
                </a:ext>
              </a:extLst>
            </p:cNvPr>
            <p:cNvGrpSpPr/>
            <p:nvPr/>
          </p:nvGrpSpPr>
          <p:grpSpPr>
            <a:xfrm>
              <a:off x="6955254" y="3736231"/>
              <a:ext cx="4464496" cy="2664296"/>
              <a:chOff x="7321894" y="2396575"/>
              <a:chExt cx="4464496" cy="2664296"/>
            </a:xfrm>
          </p:grpSpPr>
          <p:sp>
            <p:nvSpPr>
              <p:cNvPr id="85" name="圓角矩形 64">
                <a:extLst>
                  <a:ext uri="{FF2B5EF4-FFF2-40B4-BE49-F238E27FC236}">
                    <a16:creationId xmlns:a16="http://schemas.microsoft.com/office/drawing/2014/main" id="{555C828A-889F-4ECD-AEA7-A3F54B875990}"/>
                  </a:ext>
                </a:extLst>
              </p:cNvPr>
              <p:cNvSpPr/>
              <p:nvPr/>
            </p:nvSpPr>
            <p:spPr>
              <a:xfrm>
                <a:off x="7321894" y="2396575"/>
                <a:ext cx="4464496" cy="2664296"/>
              </a:xfrm>
              <a:prstGeom prst="roundRect">
                <a:avLst/>
              </a:prstGeom>
              <a:noFill/>
              <a:ln w="53975">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a:latin typeface="微軟正黑體" panose="020B0604030504040204" pitchFamily="34" charset="-120"/>
                  <a:ea typeface="微軟正黑體" panose="020B0604030504040204" pitchFamily="34" charset="-120"/>
                </a:endParaRPr>
              </a:p>
            </p:txBody>
          </p:sp>
          <p:grpSp>
            <p:nvGrpSpPr>
              <p:cNvPr id="86" name="群組 85">
                <a:extLst>
                  <a:ext uri="{FF2B5EF4-FFF2-40B4-BE49-F238E27FC236}">
                    <a16:creationId xmlns:a16="http://schemas.microsoft.com/office/drawing/2014/main" id="{EFB58831-FCC3-4D5B-9AA0-41349043BD3D}"/>
                  </a:ext>
                </a:extLst>
              </p:cNvPr>
              <p:cNvGrpSpPr/>
              <p:nvPr/>
            </p:nvGrpSpPr>
            <p:grpSpPr>
              <a:xfrm>
                <a:off x="9556299" y="2718439"/>
                <a:ext cx="2161263" cy="2126765"/>
                <a:chOff x="7784578" y="4573209"/>
                <a:chExt cx="2161263" cy="2126765"/>
              </a:xfrm>
            </p:grpSpPr>
            <p:pic>
              <p:nvPicPr>
                <p:cNvPr id="90" name="圖片 89">
                  <a:extLst>
                    <a:ext uri="{FF2B5EF4-FFF2-40B4-BE49-F238E27FC236}">
                      <a16:creationId xmlns:a16="http://schemas.microsoft.com/office/drawing/2014/main" id="{EB36A1A0-95DF-401F-A546-A40BACE5B8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73210" y="4573209"/>
                  <a:ext cx="1656184" cy="1562979"/>
                </a:xfrm>
                <a:prstGeom prst="rect">
                  <a:avLst/>
                </a:prstGeom>
              </p:spPr>
            </p:pic>
            <p:sp>
              <p:nvSpPr>
                <p:cNvPr id="91" name="文字方塊 90">
                  <a:extLst>
                    <a:ext uri="{FF2B5EF4-FFF2-40B4-BE49-F238E27FC236}">
                      <a16:creationId xmlns:a16="http://schemas.microsoft.com/office/drawing/2014/main" id="{575C7AEB-611F-47A5-A947-C8D55DF8884E}"/>
                    </a:ext>
                  </a:extLst>
                </p:cNvPr>
                <p:cNvSpPr txBox="1"/>
                <p:nvPr/>
              </p:nvSpPr>
              <p:spPr>
                <a:xfrm>
                  <a:off x="7784578" y="6186939"/>
                  <a:ext cx="2161263" cy="513035"/>
                </a:xfrm>
                <a:prstGeom prst="rect">
                  <a:avLst/>
                </a:prstGeom>
                <a:noFill/>
              </p:spPr>
              <p:txBody>
                <a:bodyPr wrap="square" rtlCol="0">
                  <a:spAutoFit/>
                </a:bodyPr>
                <a:lstStyle/>
                <a:p>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國外代理銀行</a:t>
                  </a:r>
                </a:p>
              </p:txBody>
            </p:sp>
          </p:grpSp>
          <p:grpSp>
            <p:nvGrpSpPr>
              <p:cNvPr id="87" name="群組 86">
                <a:extLst>
                  <a:ext uri="{FF2B5EF4-FFF2-40B4-BE49-F238E27FC236}">
                    <a16:creationId xmlns:a16="http://schemas.microsoft.com/office/drawing/2014/main" id="{79A14100-C49D-495F-AF07-D6475CC306F9}"/>
                  </a:ext>
                </a:extLst>
              </p:cNvPr>
              <p:cNvGrpSpPr/>
              <p:nvPr/>
            </p:nvGrpSpPr>
            <p:grpSpPr>
              <a:xfrm>
                <a:off x="7591043" y="2718439"/>
                <a:ext cx="1768612" cy="2120484"/>
                <a:chOff x="9840416" y="4573209"/>
                <a:chExt cx="1768612" cy="2120484"/>
              </a:xfrm>
            </p:grpSpPr>
            <p:sp>
              <p:nvSpPr>
                <p:cNvPr id="88" name="文字方塊 87">
                  <a:extLst>
                    <a:ext uri="{FF2B5EF4-FFF2-40B4-BE49-F238E27FC236}">
                      <a16:creationId xmlns:a16="http://schemas.microsoft.com/office/drawing/2014/main" id="{10F49999-8346-4C77-B691-DA282811A01B}"/>
                    </a:ext>
                  </a:extLst>
                </p:cNvPr>
                <p:cNvSpPr txBox="1"/>
                <p:nvPr/>
              </p:nvSpPr>
              <p:spPr>
                <a:xfrm>
                  <a:off x="9993469" y="6180658"/>
                  <a:ext cx="1615559" cy="513035"/>
                </a:xfrm>
                <a:prstGeom prst="rect">
                  <a:avLst/>
                </a:prstGeom>
                <a:noFill/>
              </p:spPr>
              <p:txBody>
                <a:bodyPr wrap="square" rtlCol="0">
                  <a:spAutoFit/>
                </a:bodyPr>
                <a:lstStyle/>
                <a:p>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匯入銀行</a:t>
                  </a:r>
                </a:p>
              </p:txBody>
            </p:sp>
            <p:pic>
              <p:nvPicPr>
                <p:cNvPr id="89" name="圖片 88">
                  <a:extLst>
                    <a:ext uri="{FF2B5EF4-FFF2-40B4-BE49-F238E27FC236}">
                      <a16:creationId xmlns:a16="http://schemas.microsoft.com/office/drawing/2014/main" id="{8E41B4A1-891F-4A97-97A6-9BFB77D5289A}"/>
                    </a:ext>
                  </a:extLst>
                </p:cNvPr>
                <p:cNvPicPr>
                  <a:picLocks noChangeAspect="1"/>
                </p:cNvPicPr>
                <p:nvPr/>
              </p:nvPicPr>
              <p:blipFill>
                <a:blip r:embed="rId8" cstate="print">
                  <a:clrChange>
                    <a:clrFrom>
                      <a:srgbClr val="000000">
                        <a:alpha val="0"/>
                      </a:srgbClr>
                    </a:clrFrom>
                    <a:clrTo>
                      <a:srgbClr val="000000">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9840416" y="4573209"/>
                  <a:ext cx="1657650" cy="1657650"/>
                </a:xfrm>
                <a:prstGeom prst="rect">
                  <a:avLst/>
                </a:prstGeom>
              </p:spPr>
            </p:pic>
          </p:grpSp>
        </p:grpSp>
        <p:grpSp>
          <p:nvGrpSpPr>
            <p:cNvPr id="92" name="群組 91">
              <a:extLst>
                <a:ext uri="{FF2B5EF4-FFF2-40B4-BE49-F238E27FC236}">
                  <a16:creationId xmlns:a16="http://schemas.microsoft.com/office/drawing/2014/main" id="{B032820D-AE87-42CE-AC1F-66CC86A7F7C1}"/>
                </a:ext>
              </a:extLst>
            </p:cNvPr>
            <p:cNvGrpSpPr/>
            <p:nvPr/>
          </p:nvGrpSpPr>
          <p:grpSpPr>
            <a:xfrm>
              <a:off x="2847464" y="1371516"/>
              <a:ext cx="3600000" cy="273696"/>
              <a:chOff x="1856035" y="1211088"/>
              <a:chExt cx="2523055" cy="273696"/>
            </a:xfrm>
          </p:grpSpPr>
          <p:cxnSp>
            <p:nvCxnSpPr>
              <p:cNvPr id="93" name="直線單箭頭接點 92">
                <a:extLst>
                  <a:ext uri="{FF2B5EF4-FFF2-40B4-BE49-F238E27FC236}">
                    <a16:creationId xmlns:a16="http://schemas.microsoft.com/office/drawing/2014/main" id="{D7A12213-1050-446D-BB9F-575BDBF25C1F}"/>
                  </a:ext>
                </a:extLst>
              </p:cNvPr>
              <p:cNvCxnSpPr/>
              <p:nvPr/>
            </p:nvCxnSpPr>
            <p:spPr>
              <a:xfrm>
                <a:off x="1863519" y="1211088"/>
                <a:ext cx="2515571" cy="0"/>
              </a:xfrm>
              <a:prstGeom prst="straightConnector1">
                <a:avLst/>
              </a:prstGeom>
              <a:ln w="34925">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4" name="直線單箭頭接點 93">
                <a:extLst>
                  <a:ext uri="{FF2B5EF4-FFF2-40B4-BE49-F238E27FC236}">
                    <a16:creationId xmlns:a16="http://schemas.microsoft.com/office/drawing/2014/main" id="{D67368D8-7FEF-4CB5-8EEA-788D53FF2788}"/>
                  </a:ext>
                </a:extLst>
              </p:cNvPr>
              <p:cNvCxnSpPr/>
              <p:nvPr/>
            </p:nvCxnSpPr>
            <p:spPr>
              <a:xfrm flipH="1">
                <a:off x="1856035" y="1484784"/>
                <a:ext cx="2484000" cy="0"/>
              </a:xfrm>
              <a:prstGeom prst="straightConnector1">
                <a:avLst/>
              </a:prstGeom>
              <a:ln w="34925">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95" name="群組 94">
              <a:extLst>
                <a:ext uri="{FF2B5EF4-FFF2-40B4-BE49-F238E27FC236}">
                  <a16:creationId xmlns:a16="http://schemas.microsoft.com/office/drawing/2014/main" id="{A1A23B01-3517-4C21-B093-72D14808D3A4}"/>
                </a:ext>
              </a:extLst>
            </p:cNvPr>
            <p:cNvGrpSpPr/>
            <p:nvPr/>
          </p:nvGrpSpPr>
          <p:grpSpPr>
            <a:xfrm rot="5400000">
              <a:off x="8199893" y="2824041"/>
              <a:ext cx="1044000" cy="273696"/>
              <a:chOff x="1856035" y="1211088"/>
              <a:chExt cx="2523055" cy="273696"/>
            </a:xfrm>
          </p:grpSpPr>
          <p:cxnSp>
            <p:nvCxnSpPr>
              <p:cNvPr id="96" name="直線單箭頭接點 95">
                <a:extLst>
                  <a:ext uri="{FF2B5EF4-FFF2-40B4-BE49-F238E27FC236}">
                    <a16:creationId xmlns:a16="http://schemas.microsoft.com/office/drawing/2014/main" id="{9291A0C6-136E-4E2A-8458-7F5D081F4F8B}"/>
                  </a:ext>
                </a:extLst>
              </p:cNvPr>
              <p:cNvCxnSpPr/>
              <p:nvPr/>
            </p:nvCxnSpPr>
            <p:spPr>
              <a:xfrm>
                <a:off x="1863519" y="1211088"/>
                <a:ext cx="2515571" cy="0"/>
              </a:xfrm>
              <a:prstGeom prst="straightConnector1">
                <a:avLst/>
              </a:prstGeom>
              <a:ln w="34925">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7" name="直線單箭頭接點 96">
                <a:extLst>
                  <a:ext uri="{FF2B5EF4-FFF2-40B4-BE49-F238E27FC236}">
                    <a16:creationId xmlns:a16="http://schemas.microsoft.com/office/drawing/2014/main" id="{4E2F595D-42D7-4375-92A1-E2605E760CB1}"/>
                  </a:ext>
                </a:extLst>
              </p:cNvPr>
              <p:cNvCxnSpPr/>
              <p:nvPr/>
            </p:nvCxnSpPr>
            <p:spPr>
              <a:xfrm flipH="1">
                <a:off x="1856035" y="1484784"/>
                <a:ext cx="2484000" cy="0"/>
              </a:xfrm>
              <a:prstGeom prst="straightConnector1">
                <a:avLst/>
              </a:prstGeom>
              <a:ln w="34925">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98" name="文字方塊 97">
              <a:extLst>
                <a:ext uri="{FF2B5EF4-FFF2-40B4-BE49-F238E27FC236}">
                  <a16:creationId xmlns:a16="http://schemas.microsoft.com/office/drawing/2014/main" id="{AD2E86E4-3977-4A4E-B730-09D2F9412393}"/>
                </a:ext>
              </a:extLst>
            </p:cNvPr>
            <p:cNvSpPr txBox="1"/>
            <p:nvPr/>
          </p:nvSpPr>
          <p:spPr>
            <a:xfrm>
              <a:off x="9281699" y="2546938"/>
              <a:ext cx="2915300" cy="584775"/>
            </a:xfrm>
            <a:prstGeom prst="rect">
              <a:avLst/>
            </a:prstGeom>
            <a:noFill/>
          </p:spPr>
          <p:txBody>
            <a:bodyPr wrap="square" rtlCol="0">
              <a:spAutoFit/>
            </a:bodyPr>
            <a:lstStyle/>
            <a:p>
              <a:r>
                <a:rPr lang="en-US" altLang="zh-TW" sz="1600" b="1" dirty="0">
                  <a:solidFill>
                    <a:schemeClr val="accent5">
                      <a:lumMod val="50000"/>
                    </a:schemeClr>
                  </a:solidFill>
                  <a:latin typeface="微軟正黑體" panose="020B0604030504040204" pitchFamily="34" charset="-120"/>
                  <a:ea typeface="微軟正黑體" panose="020B0604030504040204" pitchFamily="34" charset="-120"/>
                </a:rPr>
                <a:t>3.</a:t>
              </a:r>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以 </a:t>
              </a:r>
              <a:r>
                <a:rPr lang="en-US" altLang="zh-TW" sz="1600" b="1" dirty="0">
                  <a:solidFill>
                    <a:schemeClr val="accent5">
                      <a:lumMod val="50000"/>
                    </a:schemeClr>
                  </a:solidFill>
                  <a:latin typeface="微軟正黑體" panose="020B0604030504040204" pitchFamily="34" charset="-120"/>
                  <a:ea typeface="微軟正黑體" panose="020B0604030504040204" pitchFamily="34" charset="-120"/>
                </a:rPr>
                <a:t>SWIFT</a:t>
              </a:r>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方式</a:t>
              </a:r>
              <a:endParaRPr lang="en-US" altLang="zh-TW" sz="1600" b="1" dirty="0">
                <a:solidFill>
                  <a:schemeClr val="accent5">
                    <a:lumMod val="50000"/>
                  </a:schemeClr>
                </a:solidFill>
                <a:latin typeface="微軟正黑體" panose="020B0604030504040204" pitchFamily="34" charset="-120"/>
                <a:ea typeface="微軟正黑體" panose="020B0604030504040204" pitchFamily="34" charset="-120"/>
              </a:endParaRPr>
            </a:p>
            <a:p>
              <a:r>
                <a:rPr lang="en-US" altLang="zh-TW" sz="1600" b="1" dirty="0">
                  <a:solidFill>
                    <a:schemeClr val="accent5">
                      <a:lumMod val="50000"/>
                    </a:schemeClr>
                  </a:solidFill>
                  <a:latin typeface="微軟正黑體" panose="020B0604030504040204" pitchFamily="34" charset="-120"/>
                  <a:ea typeface="微軟正黑體" panose="020B0604030504040204" pitchFamily="34" charset="-120"/>
                </a:rPr>
                <a:t>    </a:t>
              </a:r>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發出匯款委託書</a:t>
              </a:r>
            </a:p>
          </p:txBody>
        </p:sp>
        <p:sp>
          <p:nvSpPr>
            <p:cNvPr id="99" name="文字方塊 98">
              <a:extLst>
                <a:ext uri="{FF2B5EF4-FFF2-40B4-BE49-F238E27FC236}">
                  <a16:creationId xmlns:a16="http://schemas.microsoft.com/office/drawing/2014/main" id="{0B34FD66-387D-4EC3-BB7B-31E069BA11F4}"/>
                </a:ext>
              </a:extLst>
            </p:cNvPr>
            <p:cNvSpPr txBox="1"/>
            <p:nvPr/>
          </p:nvSpPr>
          <p:spPr>
            <a:xfrm>
              <a:off x="3307801" y="1697210"/>
              <a:ext cx="2538345" cy="513035"/>
            </a:xfrm>
            <a:prstGeom prst="rect">
              <a:avLst/>
            </a:prstGeom>
            <a:noFill/>
          </p:spPr>
          <p:txBody>
            <a:bodyPr wrap="square" rtlCol="0">
              <a:spAutoFit/>
            </a:bodyPr>
            <a:lstStyle/>
            <a:p>
              <a:r>
                <a:rPr lang="en-US" altLang="zh-TW" sz="1600" b="1" dirty="0">
                  <a:solidFill>
                    <a:schemeClr val="accent5">
                      <a:lumMod val="50000"/>
                    </a:schemeClr>
                  </a:solidFill>
                  <a:latin typeface="微軟正黑體" panose="020B0604030504040204" pitchFamily="34" charset="-120"/>
                  <a:ea typeface="微軟正黑體" panose="020B0604030504040204" pitchFamily="34" charset="-120"/>
                </a:rPr>
                <a:t>2.</a:t>
              </a:r>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發送電匯回執</a:t>
              </a:r>
            </a:p>
          </p:txBody>
        </p:sp>
        <p:sp>
          <p:nvSpPr>
            <p:cNvPr id="100" name="文字方塊 99">
              <a:extLst>
                <a:ext uri="{FF2B5EF4-FFF2-40B4-BE49-F238E27FC236}">
                  <a16:creationId xmlns:a16="http://schemas.microsoft.com/office/drawing/2014/main" id="{E1408E0E-A685-4C3B-AB47-234404E04B4B}"/>
                </a:ext>
              </a:extLst>
            </p:cNvPr>
            <p:cNvSpPr txBox="1"/>
            <p:nvPr/>
          </p:nvSpPr>
          <p:spPr>
            <a:xfrm>
              <a:off x="6633795" y="2576095"/>
              <a:ext cx="1801986" cy="886152"/>
            </a:xfrm>
            <a:prstGeom prst="rect">
              <a:avLst/>
            </a:prstGeom>
            <a:noFill/>
          </p:spPr>
          <p:txBody>
            <a:bodyPr wrap="square" rtlCol="0">
              <a:spAutoFit/>
            </a:bodyPr>
            <a:lstStyle/>
            <a:p>
              <a:r>
                <a:rPr lang="en-US" altLang="zh-TW" sz="1600" b="1" dirty="0">
                  <a:solidFill>
                    <a:schemeClr val="accent5">
                      <a:lumMod val="50000"/>
                    </a:schemeClr>
                  </a:solidFill>
                  <a:latin typeface="微軟正黑體" panose="020B0604030504040204" pitchFamily="34" charset="-120"/>
                  <a:ea typeface="微軟正黑體" panose="020B0604030504040204" pitchFamily="34" charset="-120"/>
                </a:rPr>
                <a:t>6.</a:t>
              </a:r>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發出借記</a:t>
              </a:r>
              <a:endParaRPr lang="en-US" altLang="zh-TW" sz="1600" b="1" dirty="0">
                <a:solidFill>
                  <a:schemeClr val="accent5">
                    <a:lumMod val="50000"/>
                  </a:schemeClr>
                </a:solidFill>
                <a:latin typeface="微軟正黑體" panose="020B0604030504040204" pitchFamily="34" charset="-120"/>
                <a:ea typeface="微軟正黑體" panose="020B0604030504040204" pitchFamily="34" charset="-120"/>
              </a:endParaRPr>
            </a:p>
            <a:p>
              <a:r>
                <a:rPr lang="en-US" altLang="zh-TW" sz="1600" b="1" dirty="0">
                  <a:solidFill>
                    <a:schemeClr val="accent5">
                      <a:lumMod val="50000"/>
                    </a:schemeClr>
                  </a:solidFill>
                  <a:latin typeface="微軟正黑體" panose="020B0604030504040204" pitchFamily="34" charset="-120"/>
                  <a:ea typeface="微軟正黑體" panose="020B0604030504040204" pitchFamily="34" charset="-120"/>
                </a:rPr>
                <a:t>    </a:t>
              </a:r>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通知書</a:t>
              </a:r>
            </a:p>
          </p:txBody>
        </p:sp>
        <p:sp>
          <p:nvSpPr>
            <p:cNvPr id="101" name="文字方塊 100">
              <a:extLst>
                <a:ext uri="{FF2B5EF4-FFF2-40B4-BE49-F238E27FC236}">
                  <a16:creationId xmlns:a16="http://schemas.microsoft.com/office/drawing/2014/main" id="{03491273-0518-43BD-B64B-57F27B7CE20E}"/>
                </a:ext>
              </a:extLst>
            </p:cNvPr>
            <p:cNvSpPr txBox="1"/>
            <p:nvPr/>
          </p:nvSpPr>
          <p:spPr>
            <a:xfrm>
              <a:off x="3044149" y="4046986"/>
              <a:ext cx="3427382" cy="338554"/>
            </a:xfrm>
            <a:prstGeom prst="rect">
              <a:avLst/>
            </a:prstGeom>
            <a:noFill/>
          </p:spPr>
          <p:txBody>
            <a:bodyPr wrap="square" rtlCol="0">
              <a:spAutoFit/>
            </a:bodyPr>
            <a:lstStyle/>
            <a:p>
              <a:r>
                <a:rPr lang="en-US" altLang="zh-TW" sz="1600" b="1" dirty="0">
                  <a:solidFill>
                    <a:schemeClr val="accent5">
                      <a:lumMod val="50000"/>
                    </a:schemeClr>
                  </a:solidFill>
                  <a:latin typeface="微軟正黑體" panose="020B0604030504040204" pitchFamily="34" charset="-120"/>
                  <a:ea typeface="微軟正黑體" panose="020B0604030504040204" pitchFamily="34" charset="-120"/>
                </a:rPr>
                <a:t>4.</a:t>
              </a:r>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核對密碼並通知取款</a:t>
              </a:r>
            </a:p>
          </p:txBody>
        </p:sp>
        <p:sp>
          <p:nvSpPr>
            <p:cNvPr id="102" name="文字方塊 101">
              <a:extLst>
                <a:ext uri="{FF2B5EF4-FFF2-40B4-BE49-F238E27FC236}">
                  <a16:creationId xmlns:a16="http://schemas.microsoft.com/office/drawing/2014/main" id="{1A0584E8-2806-4677-B14B-F9171D13BB9E}"/>
                </a:ext>
              </a:extLst>
            </p:cNvPr>
            <p:cNvSpPr txBox="1"/>
            <p:nvPr/>
          </p:nvSpPr>
          <p:spPr>
            <a:xfrm>
              <a:off x="3134897" y="4960898"/>
              <a:ext cx="2711248" cy="338554"/>
            </a:xfrm>
            <a:prstGeom prst="rect">
              <a:avLst/>
            </a:prstGeom>
            <a:noFill/>
          </p:spPr>
          <p:txBody>
            <a:bodyPr wrap="square" rtlCol="0">
              <a:spAutoFit/>
            </a:bodyPr>
            <a:lstStyle/>
            <a:p>
              <a:r>
                <a:rPr lang="en-US" altLang="zh-TW" sz="1600" b="1" dirty="0">
                  <a:solidFill>
                    <a:schemeClr val="accent5">
                      <a:lumMod val="50000"/>
                    </a:schemeClr>
                  </a:solidFill>
                  <a:latin typeface="微軟正黑體" panose="020B0604030504040204" pitchFamily="34" charset="-120"/>
                  <a:ea typeface="微軟正黑體" panose="020B0604030504040204" pitchFamily="34" charset="-120"/>
                </a:rPr>
                <a:t>5.</a:t>
              </a:r>
              <a:r>
                <a:rPr lang="zh-TW" altLang="en-US" sz="1600" b="1" dirty="0">
                  <a:solidFill>
                    <a:schemeClr val="accent5">
                      <a:lumMod val="50000"/>
                    </a:schemeClr>
                  </a:solidFill>
                  <a:latin typeface="微軟正黑體" panose="020B0604030504040204" pitchFamily="34" charset="-120"/>
                  <a:ea typeface="微軟正黑體" panose="020B0604030504040204" pitchFamily="34" charset="-120"/>
                </a:rPr>
                <a:t>持有效憑證取款</a:t>
              </a:r>
            </a:p>
          </p:txBody>
        </p:sp>
        <p:grpSp>
          <p:nvGrpSpPr>
            <p:cNvPr id="103" name="群組 102">
              <a:extLst>
                <a:ext uri="{FF2B5EF4-FFF2-40B4-BE49-F238E27FC236}">
                  <a16:creationId xmlns:a16="http://schemas.microsoft.com/office/drawing/2014/main" id="{7F854DD2-BED3-49EB-995D-4181FECAA779}"/>
                </a:ext>
              </a:extLst>
            </p:cNvPr>
            <p:cNvGrpSpPr/>
            <p:nvPr/>
          </p:nvGrpSpPr>
          <p:grpSpPr>
            <a:xfrm>
              <a:off x="2819601" y="4543010"/>
              <a:ext cx="3705386" cy="291334"/>
              <a:chOff x="2819601" y="4543010"/>
              <a:chExt cx="3705386" cy="291334"/>
            </a:xfrm>
          </p:grpSpPr>
          <p:cxnSp>
            <p:nvCxnSpPr>
              <p:cNvPr id="104" name="直線單箭頭接點 103">
                <a:extLst>
                  <a:ext uri="{FF2B5EF4-FFF2-40B4-BE49-F238E27FC236}">
                    <a16:creationId xmlns:a16="http://schemas.microsoft.com/office/drawing/2014/main" id="{3FDAFE43-5541-4024-84F6-17D508B1C6B2}"/>
                  </a:ext>
                </a:extLst>
              </p:cNvPr>
              <p:cNvCxnSpPr/>
              <p:nvPr/>
            </p:nvCxnSpPr>
            <p:spPr>
              <a:xfrm rot="10800000">
                <a:off x="2819601" y="4543010"/>
                <a:ext cx="3600000" cy="0"/>
              </a:xfrm>
              <a:prstGeom prst="straightConnector1">
                <a:avLst/>
              </a:prstGeom>
              <a:ln w="34925">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直線單箭頭接點 104">
                <a:extLst>
                  <a:ext uri="{FF2B5EF4-FFF2-40B4-BE49-F238E27FC236}">
                    <a16:creationId xmlns:a16="http://schemas.microsoft.com/office/drawing/2014/main" id="{B4097278-31E9-43DE-BF78-0FD0F575DE34}"/>
                  </a:ext>
                </a:extLst>
              </p:cNvPr>
              <p:cNvCxnSpPr/>
              <p:nvPr/>
            </p:nvCxnSpPr>
            <p:spPr>
              <a:xfrm rot="10800000" flipH="1">
                <a:off x="2924987" y="4834344"/>
                <a:ext cx="3600000" cy="0"/>
              </a:xfrm>
              <a:prstGeom prst="straightConnector1">
                <a:avLst/>
              </a:prstGeom>
              <a:ln w="34925">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grpSp>
      </p:grpSp>
      <p:sp>
        <p:nvSpPr>
          <p:cNvPr id="106" name="文字方塊 105">
            <a:extLst>
              <a:ext uri="{FF2B5EF4-FFF2-40B4-BE49-F238E27FC236}">
                <a16:creationId xmlns:a16="http://schemas.microsoft.com/office/drawing/2014/main" id="{03D79299-4C0E-4464-8ADE-154BF9F2B45F}"/>
              </a:ext>
            </a:extLst>
          </p:cNvPr>
          <p:cNvSpPr txBox="1"/>
          <p:nvPr/>
        </p:nvSpPr>
        <p:spPr>
          <a:xfrm>
            <a:off x="8105446" y="6488668"/>
            <a:ext cx="2319866" cy="369332"/>
          </a:xfrm>
          <a:prstGeom prst="rect">
            <a:avLst/>
          </a:prstGeom>
          <a:noFill/>
        </p:spPr>
        <p:txBody>
          <a:bodyPr wrap="none" rtlCol="0">
            <a:spAutoFit/>
          </a:bodyPr>
          <a:lstStyle/>
          <a:p>
            <a:pPr marL="285750" indent="-285750">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傳統跨境匯款流程</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7474B017-63B2-42E5-80B9-A90A2D2B350D}"/>
              </a:ext>
            </a:extLst>
          </p:cNvPr>
          <p:cNvSpPr txBox="1"/>
          <p:nvPr/>
        </p:nvSpPr>
        <p:spPr>
          <a:xfrm>
            <a:off x="8989977" y="2236715"/>
            <a:ext cx="3217547" cy="707886"/>
          </a:xfrm>
          <a:prstGeom prst="rect">
            <a:avLst/>
          </a:prstGeom>
          <a:noFill/>
        </p:spPr>
        <p:txBody>
          <a:bodyPr wrap="none" rtlCol="0">
            <a:spAutoFit/>
          </a:bodyPr>
          <a:lstStyle/>
          <a:p>
            <a:pPr marL="285750" indent="-285750">
              <a:buBlip>
                <a:blip r:embed="rId9"/>
              </a:buBlip>
            </a:pPr>
            <a:r>
              <a:rPr lang="zh-TW" altLang="en-US" sz="2000" b="1" dirty="0">
                <a:solidFill>
                  <a:srgbClr val="C00000"/>
                </a:solidFill>
                <a:latin typeface="微軟正黑體" panose="020B0604030504040204" pitchFamily="34" charset="-120"/>
                <a:ea typeface="微軟正黑體" panose="020B0604030504040204" pitchFamily="34" charset="-120"/>
              </a:rPr>
              <a:t>成本高</a:t>
            </a:r>
            <a:r>
              <a:rPr lang="en-US" altLang="zh-TW" sz="2000" b="1" dirty="0">
                <a:solidFill>
                  <a:srgbClr val="C00000"/>
                </a:solidFill>
                <a:latin typeface="微軟正黑體" panose="020B0604030504040204" pitchFamily="34" charset="-120"/>
                <a:ea typeface="微軟正黑體" panose="020B0604030504040204" pitchFamily="34" charset="-120"/>
              </a:rPr>
              <a:t>(</a:t>
            </a:r>
            <a:r>
              <a:rPr lang="zh-TW" altLang="en-US" sz="2000" b="1" dirty="0">
                <a:solidFill>
                  <a:srgbClr val="C00000"/>
                </a:solidFill>
                <a:latin typeface="微軟正黑體" panose="020B0604030504040204" pitchFamily="34" charset="-120"/>
                <a:ea typeface="微軟正黑體" panose="020B0604030504040204" pitchFamily="34" charset="-120"/>
              </a:rPr>
              <a:t>中介機關手續費</a:t>
            </a:r>
            <a:r>
              <a:rPr lang="en-US" altLang="zh-TW" sz="2000" b="1" dirty="0">
                <a:solidFill>
                  <a:srgbClr val="C00000"/>
                </a:solidFill>
                <a:latin typeface="微軟正黑體" panose="020B0604030504040204" pitchFamily="34" charset="-120"/>
                <a:ea typeface="微軟正黑體" panose="020B0604030504040204" pitchFamily="34" charset="-120"/>
              </a:rPr>
              <a:t>)</a:t>
            </a:r>
          </a:p>
          <a:p>
            <a:pPr marL="285750" indent="-285750">
              <a:buBlip>
                <a:blip r:embed="rId9"/>
              </a:buBlip>
            </a:pPr>
            <a:r>
              <a:rPr lang="zh-TW" altLang="en-US" sz="2000" b="1" dirty="0">
                <a:solidFill>
                  <a:srgbClr val="C00000"/>
                </a:solidFill>
                <a:latin typeface="微軟正黑體" panose="020B0604030504040204" pitchFamily="34" charset="-120"/>
                <a:ea typeface="微軟正黑體" panose="020B0604030504040204" pitchFamily="34" charset="-120"/>
              </a:rPr>
              <a:t>效率低</a:t>
            </a:r>
            <a:r>
              <a:rPr lang="en-US" altLang="zh-TW" sz="2000" b="1" dirty="0">
                <a:solidFill>
                  <a:srgbClr val="C00000"/>
                </a:solidFill>
                <a:latin typeface="微軟正黑體" panose="020B0604030504040204" pitchFamily="34" charset="-120"/>
                <a:ea typeface="微軟正黑體" panose="020B0604030504040204" pitchFamily="34" charset="-120"/>
              </a:rPr>
              <a:t>(</a:t>
            </a:r>
            <a:r>
              <a:rPr lang="zh-TW" altLang="en-US" sz="2000" b="1" dirty="0">
                <a:solidFill>
                  <a:srgbClr val="C00000"/>
                </a:solidFill>
                <a:latin typeface="微軟正黑體" panose="020B0604030504040204" pitchFamily="34" charset="-120"/>
                <a:ea typeface="微軟正黑體" panose="020B0604030504040204" pitchFamily="34" charset="-120"/>
              </a:rPr>
              <a:t>匯款流程耗時</a:t>
            </a:r>
            <a:r>
              <a:rPr lang="en-US" altLang="zh-TW" sz="2000" b="1" dirty="0">
                <a:solidFill>
                  <a:srgbClr val="C00000"/>
                </a:solidFill>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38242196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1" end="1"/>
                                            </p:txEl>
                                          </p:spTgt>
                                        </p:tgtEl>
                                        <p:attrNameLst>
                                          <p:attrName>style.visibility</p:attrName>
                                        </p:attrNameLst>
                                      </p:cBhvr>
                                      <p:to>
                                        <p:strVal val="visible"/>
                                      </p:to>
                                    </p:set>
                                    <p:animEffect transition="in" filter="barn(inVertical)">
                                      <p:cBhvr>
                                        <p:cTn id="25" dur="500"/>
                                        <p:tgtEl>
                                          <p:spTgt spid="28">
                                            <p:txEl>
                                              <p:pRg st="1" end="1"/>
                                            </p:txEl>
                                          </p:spTgt>
                                        </p:tgtEl>
                                      </p:cBhvr>
                                    </p:animEffect>
                                  </p:childTnLst>
                                </p:cTn>
                              </p:par>
                            </p:childTnLst>
                          </p:cTn>
                        </p:par>
                        <p:par>
                          <p:cTn id="26" fill="hold">
                            <p:stCondLst>
                              <p:cond delay="4000"/>
                            </p:stCondLst>
                            <p:childTnLst>
                              <p:par>
                                <p:cTn id="27" presetID="53" presetClass="entr" presetSubtype="16"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ppt_w</p:attrName>
                                        </p:attrNameLst>
                                      </p:cBhvr>
                                      <p:tavLst>
                                        <p:tav tm="0">
                                          <p:val>
                                            <p:fltVal val="0"/>
                                          </p:val>
                                        </p:tav>
                                        <p:tav tm="100000">
                                          <p:val>
                                            <p:strVal val="#ppt_w"/>
                                          </p:val>
                                        </p:tav>
                                      </p:tavLst>
                                    </p:anim>
                                    <p:anim calcmode="lin" valueType="num">
                                      <p:cBhvr>
                                        <p:cTn id="30" dur="500" fill="hold"/>
                                        <p:tgtEl>
                                          <p:spTgt spid="4"/>
                                        </p:tgtEl>
                                        <p:attrNameLst>
                                          <p:attrName>ppt_h</p:attrName>
                                        </p:attrNameLst>
                                      </p:cBhvr>
                                      <p:tavLst>
                                        <p:tav tm="0">
                                          <p:val>
                                            <p:fltVal val="0"/>
                                          </p:val>
                                        </p:tav>
                                        <p:tav tm="100000">
                                          <p:val>
                                            <p:strVal val="#ppt_h"/>
                                          </p:val>
                                        </p:tav>
                                      </p:tavLst>
                                    </p:anim>
                                    <p:animEffect transition="in" filter="fade">
                                      <p:cBhvr>
                                        <p:cTn id="31" dur="500"/>
                                        <p:tgtEl>
                                          <p:spTgt spid="4"/>
                                        </p:tgtEl>
                                      </p:cBhvr>
                                    </p:animEffect>
                                  </p:childTnLst>
                                </p:cTn>
                              </p:par>
                              <p:par>
                                <p:cTn id="32" presetID="2" presetClass="entr" presetSubtype="4" fill="hold" grpId="0" nodeType="withEffect">
                                  <p:stCondLst>
                                    <p:cond delay="0"/>
                                  </p:stCondLst>
                                  <p:childTnLst>
                                    <p:set>
                                      <p:cBhvr>
                                        <p:cTn id="33" dur="1" fill="hold">
                                          <p:stCondLst>
                                            <p:cond delay="0"/>
                                          </p:stCondLst>
                                        </p:cTn>
                                        <p:tgtEl>
                                          <p:spTgt spid="106"/>
                                        </p:tgtEl>
                                        <p:attrNameLst>
                                          <p:attrName>style.visibility</p:attrName>
                                        </p:attrNameLst>
                                      </p:cBhvr>
                                      <p:to>
                                        <p:strVal val="visible"/>
                                      </p:to>
                                    </p:set>
                                    <p:anim calcmode="lin" valueType="num">
                                      <p:cBhvr additive="base">
                                        <p:cTn id="34" dur="500" fill="hold"/>
                                        <p:tgtEl>
                                          <p:spTgt spid="106"/>
                                        </p:tgtEl>
                                        <p:attrNameLst>
                                          <p:attrName>ppt_x</p:attrName>
                                        </p:attrNameLst>
                                      </p:cBhvr>
                                      <p:tavLst>
                                        <p:tav tm="0">
                                          <p:val>
                                            <p:strVal val="#ppt_x"/>
                                          </p:val>
                                        </p:tav>
                                        <p:tav tm="100000">
                                          <p:val>
                                            <p:strVal val="#ppt_x"/>
                                          </p:val>
                                        </p:tav>
                                      </p:tavLst>
                                    </p:anim>
                                    <p:anim calcmode="lin" valueType="num">
                                      <p:cBhvr additive="base">
                                        <p:cTn id="35" dur="500" fill="hold"/>
                                        <p:tgtEl>
                                          <p:spTgt spid="106"/>
                                        </p:tgtEl>
                                        <p:attrNameLst>
                                          <p:attrName>ppt_y</p:attrName>
                                        </p:attrNameLst>
                                      </p:cBhvr>
                                      <p:tavLst>
                                        <p:tav tm="0">
                                          <p:val>
                                            <p:strVal val="1+#ppt_h/2"/>
                                          </p:val>
                                        </p:tav>
                                        <p:tav tm="100000">
                                          <p:val>
                                            <p:strVal val="#ppt_y"/>
                                          </p:val>
                                        </p:tav>
                                      </p:tavLst>
                                    </p:anim>
                                  </p:childTnLst>
                                </p:cTn>
                              </p:par>
                            </p:childTnLst>
                          </p:cTn>
                        </p:par>
                        <p:par>
                          <p:cTn id="36" fill="hold">
                            <p:stCondLst>
                              <p:cond delay="4500"/>
                            </p:stCondLst>
                            <p:childTnLst>
                              <p:par>
                                <p:cTn id="37" presetID="53" presetClass="entr" presetSubtype="16" fill="hold" nodeType="afterEffect">
                                  <p:stCondLst>
                                    <p:cond delay="0"/>
                                  </p:stCondLst>
                                  <p:childTnLst>
                                    <p:set>
                                      <p:cBhvr>
                                        <p:cTn id="38" dur="1" fill="hold">
                                          <p:stCondLst>
                                            <p:cond delay="0"/>
                                          </p:stCondLst>
                                        </p:cTn>
                                        <p:tgtEl>
                                          <p:spTgt spid="5">
                                            <p:txEl>
                                              <p:pRg st="0" end="0"/>
                                            </p:txEl>
                                          </p:spTgt>
                                        </p:tgtEl>
                                        <p:attrNameLst>
                                          <p:attrName>style.visibility</p:attrName>
                                        </p:attrNameLst>
                                      </p:cBhvr>
                                      <p:to>
                                        <p:strVal val="visible"/>
                                      </p:to>
                                    </p:set>
                                    <p:anim calcmode="lin" valueType="num">
                                      <p:cBhvr>
                                        <p:cTn id="39"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40"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41" dur="500"/>
                                        <p:tgtEl>
                                          <p:spTgt spid="5">
                                            <p:txEl>
                                              <p:pRg st="0" end="0"/>
                                            </p:txEl>
                                          </p:spTgt>
                                        </p:tgtEl>
                                      </p:cBhvr>
                                    </p:animEffect>
                                  </p:childTnLst>
                                </p:cTn>
                              </p:par>
                            </p:childTnLst>
                          </p:cTn>
                        </p:par>
                        <p:par>
                          <p:cTn id="42" fill="hold">
                            <p:stCondLst>
                              <p:cond delay="5000"/>
                            </p:stCondLst>
                            <p:childTnLst>
                              <p:par>
                                <p:cTn id="43" presetID="53" presetClass="entr" presetSubtype="16" fill="hold" nodeType="afterEffect">
                                  <p:stCondLst>
                                    <p:cond delay="0"/>
                                  </p:stCondLst>
                                  <p:childTnLst>
                                    <p:set>
                                      <p:cBhvr>
                                        <p:cTn id="44" dur="1" fill="hold">
                                          <p:stCondLst>
                                            <p:cond delay="0"/>
                                          </p:stCondLst>
                                        </p:cTn>
                                        <p:tgtEl>
                                          <p:spTgt spid="5">
                                            <p:txEl>
                                              <p:pRg st="1" end="1"/>
                                            </p:txEl>
                                          </p:spTgt>
                                        </p:tgtEl>
                                        <p:attrNameLst>
                                          <p:attrName>style.visibility</p:attrName>
                                        </p:attrNameLst>
                                      </p:cBhvr>
                                      <p:to>
                                        <p:strVal val="visible"/>
                                      </p:to>
                                    </p:set>
                                    <p:anim calcmode="lin" valueType="num">
                                      <p:cBhvr>
                                        <p:cTn id="45"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46"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4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0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C5975A11-2F1B-4406-B386-35CD2CCB95B2}"/>
              </a:ext>
            </a:extLst>
          </p:cNvPr>
          <p:cNvSpPr txBox="1"/>
          <p:nvPr/>
        </p:nvSpPr>
        <p:spPr>
          <a:xfrm>
            <a:off x="479584" y="1084693"/>
            <a:ext cx="10395996" cy="497444"/>
          </a:xfrm>
          <a:prstGeom prst="rect">
            <a:avLst/>
          </a:prstGeom>
          <a:noFill/>
        </p:spPr>
        <p:txBody>
          <a:bodyPr wrap="square" rtlCol="0">
            <a:spAutoFit/>
          </a:bodyPr>
          <a:lstStyle/>
          <a:p>
            <a:pPr lvl="2">
              <a:lnSpc>
                <a:spcPct val="150000"/>
              </a:lnSpc>
            </a:pP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2.</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    區塊鏈之金融跨境匯款作業流程</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0" name="標題 1">
            <a:extLst>
              <a:ext uri="{FF2B5EF4-FFF2-40B4-BE49-F238E27FC236}">
                <a16:creationId xmlns:a16="http://schemas.microsoft.com/office/drawing/2014/main" id="{77E13B55-C119-4D95-AA99-CCCEB6676D08}"/>
              </a:ext>
            </a:extLst>
          </p:cNvPr>
          <p:cNvSpPr txBox="1">
            <a:spLocks/>
          </p:cNvSpPr>
          <p:nvPr/>
        </p:nvSpPr>
        <p:spPr>
          <a:xfrm>
            <a:off x="1518277" y="393820"/>
            <a:ext cx="3829576"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5-2 </a:t>
            </a:r>
            <a:r>
              <a:rPr lang="zh-TW" altLang="en-US" sz="2400" b="1" dirty="0">
                <a:solidFill>
                  <a:srgbClr val="E06741"/>
                </a:solidFill>
              </a:rPr>
              <a:t>區塊鏈之金融服務應用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E8CB8989-F715-4501-9844-A4A743C57337}"/>
              </a:ext>
            </a:extLst>
          </p:cNvPr>
          <p:cNvSpPr txBox="1"/>
          <p:nvPr/>
        </p:nvSpPr>
        <p:spPr>
          <a:xfrm>
            <a:off x="5327744"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區塊鏈之金融服務應用領域</a:t>
            </a:r>
          </a:p>
        </p:txBody>
      </p:sp>
      <p:grpSp>
        <p:nvGrpSpPr>
          <p:cNvPr id="13" name="群組 12">
            <a:extLst>
              <a:ext uri="{FF2B5EF4-FFF2-40B4-BE49-F238E27FC236}">
                <a16:creationId xmlns:a16="http://schemas.microsoft.com/office/drawing/2014/main" id="{A0DF5441-8679-431D-92F5-B86AC8BEF3F7}"/>
              </a:ext>
            </a:extLst>
          </p:cNvPr>
          <p:cNvGrpSpPr/>
          <p:nvPr/>
        </p:nvGrpSpPr>
        <p:grpSpPr>
          <a:xfrm>
            <a:off x="581340" y="1349213"/>
            <a:ext cx="11181003" cy="5114967"/>
            <a:chOff x="-2017583" y="461029"/>
            <a:chExt cx="13880576" cy="6349940"/>
          </a:xfrm>
        </p:grpSpPr>
        <p:graphicFrame>
          <p:nvGraphicFramePr>
            <p:cNvPr id="107" name="資料庫圖表 106">
              <a:extLst>
                <a:ext uri="{FF2B5EF4-FFF2-40B4-BE49-F238E27FC236}">
                  <a16:creationId xmlns:a16="http://schemas.microsoft.com/office/drawing/2014/main" id="{0CE25153-FEC1-4FE7-B368-A6F829AECE97}"/>
                </a:ext>
              </a:extLst>
            </p:cNvPr>
            <p:cNvGraphicFramePr/>
            <p:nvPr>
              <p:extLst>
                <p:ext uri="{D42A27DB-BD31-4B8C-83A1-F6EECF244321}">
                  <p14:modId xmlns:p14="http://schemas.microsoft.com/office/powerpoint/2010/main" val="2029290011"/>
                </p:ext>
              </p:extLst>
            </p:nvPr>
          </p:nvGraphicFramePr>
          <p:xfrm>
            <a:off x="-2017583" y="461029"/>
            <a:ext cx="11500027" cy="324232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9" name="圖片 108">
              <a:extLst>
                <a:ext uri="{FF2B5EF4-FFF2-40B4-BE49-F238E27FC236}">
                  <a16:creationId xmlns:a16="http://schemas.microsoft.com/office/drawing/2014/main" id="{3220D53A-11AC-48AF-B5CD-68581FD951D6}"/>
                </a:ext>
              </a:extLst>
            </p:cNvPr>
            <p:cNvPicPr>
              <a:picLocks noChangeAspect="1"/>
            </p:cNvPicPr>
            <p:nvPr/>
          </p:nvPicPr>
          <p:blipFill>
            <a:blip r:embed="rId9" cstate="print">
              <a:duotone>
                <a:srgbClr val="ED7D31">
                  <a:shade val="45000"/>
                  <a:satMod val="135000"/>
                </a:srgbClr>
                <a:prstClr val="white"/>
              </a:duotone>
              <a:extLst>
                <a:ext uri="{28A0092B-C50C-407E-A947-70E740481C1C}">
                  <a14:useLocalDpi xmlns:a14="http://schemas.microsoft.com/office/drawing/2010/main" val="0"/>
                </a:ext>
              </a:extLst>
            </a:blip>
            <a:stretch>
              <a:fillRect/>
            </a:stretch>
          </p:blipFill>
          <p:spPr>
            <a:xfrm>
              <a:off x="-1234662" y="2337939"/>
              <a:ext cx="1070739" cy="1070740"/>
            </a:xfrm>
            <a:prstGeom prst="rect">
              <a:avLst/>
            </a:prstGeom>
          </p:spPr>
        </p:pic>
        <p:graphicFrame>
          <p:nvGraphicFramePr>
            <p:cNvPr id="108" name="資料庫圖表 107">
              <a:extLst>
                <a:ext uri="{FF2B5EF4-FFF2-40B4-BE49-F238E27FC236}">
                  <a16:creationId xmlns:a16="http://schemas.microsoft.com/office/drawing/2014/main" id="{53656812-067C-4C73-8072-67FFD5589D55}"/>
                </a:ext>
              </a:extLst>
            </p:cNvPr>
            <p:cNvGraphicFramePr/>
            <p:nvPr>
              <p:extLst>
                <p:ext uri="{D42A27DB-BD31-4B8C-83A1-F6EECF244321}">
                  <p14:modId xmlns:p14="http://schemas.microsoft.com/office/powerpoint/2010/main" val="3968607937"/>
                </p:ext>
              </p:extLst>
            </p:nvPr>
          </p:nvGraphicFramePr>
          <p:xfrm>
            <a:off x="273644" y="3568610"/>
            <a:ext cx="11589349" cy="324235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110" name="圖片 109">
              <a:extLst>
                <a:ext uri="{FF2B5EF4-FFF2-40B4-BE49-F238E27FC236}">
                  <a16:creationId xmlns:a16="http://schemas.microsoft.com/office/drawing/2014/main" id="{255EC727-862E-4186-82B9-28496EA6F637}"/>
                </a:ext>
              </a:extLst>
            </p:cNvPr>
            <p:cNvPicPr>
              <a:picLocks noChangeAspect="1"/>
            </p:cNvPicPr>
            <p:nvPr/>
          </p:nvPicPr>
          <p:blipFill>
            <a:blip r:embed="rId15" cstate="print">
              <a:clrChange>
                <a:clrFrom>
                  <a:srgbClr val="040404">
                    <a:alpha val="5490"/>
                  </a:srgbClr>
                </a:clrFrom>
                <a:clrTo>
                  <a:srgbClr val="040404">
                    <a:alpha val="0"/>
                  </a:srgbClr>
                </a:clrTo>
              </a:clrChange>
              <a:duotone>
                <a:srgbClr val="5B9BD5">
                  <a:shade val="45000"/>
                  <a:satMod val="135000"/>
                </a:srgbClr>
                <a:prstClr val="white"/>
              </a:duotone>
              <a:extLst>
                <a:ext uri="{28A0092B-C50C-407E-A947-70E740481C1C}">
                  <a14:useLocalDpi xmlns:a14="http://schemas.microsoft.com/office/drawing/2010/main" val="0"/>
                </a:ext>
              </a:extLst>
            </a:blip>
            <a:stretch>
              <a:fillRect/>
            </a:stretch>
          </p:blipFill>
          <p:spPr>
            <a:xfrm>
              <a:off x="9975856" y="5102082"/>
              <a:ext cx="1291463" cy="1291463"/>
            </a:xfrm>
            <a:prstGeom prst="rect">
              <a:avLst/>
            </a:prstGeom>
          </p:spPr>
        </p:pic>
        <p:pic>
          <p:nvPicPr>
            <p:cNvPr id="111" name="圖片 110">
              <a:extLst>
                <a:ext uri="{FF2B5EF4-FFF2-40B4-BE49-F238E27FC236}">
                  <a16:creationId xmlns:a16="http://schemas.microsoft.com/office/drawing/2014/main" id="{C4532E6B-4E4F-493A-A926-88042EF76F5F}"/>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883249" y="5310040"/>
              <a:ext cx="1301042" cy="1463671"/>
            </a:xfrm>
            <a:prstGeom prst="rect">
              <a:avLst/>
            </a:prstGeom>
          </p:spPr>
        </p:pic>
        <p:pic>
          <p:nvPicPr>
            <p:cNvPr id="112" name="圖片 111">
              <a:extLst>
                <a:ext uri="{FF2B5EF4-FFF2-40B4-BE49-F238E27FC236}">
                  <a16:creationId xmlns:a16="http://schemas.microsoft.com/office/drawing/2014/main" id="{00C9B254-F161-4591-82BA-D4985336DC40}"/>
                </a:ext>
              </a:extLst>
            </p:cNvPr>
            <p:cNvPicPr>
              <a:picLocks noChangeAspect="1"/>
            </p:cNvPicPr>
            <p:nvPr/>
          </p:nvPicPr>
          <p:blipFill>
            <a:blip r:embed="rId17">
              <a:clrChange>
                <a:clrFrom>
                  <a:srgbClr val="FFFFFF"/>
                </a:clrFrom>
                <a:clrTo>
                  <a:srgbClr val="FFFFFF">
                    <a:alpha val="0"/>
                  </a:srgbClr>
                </a:clrTo>
              </a:clrChange>
            </a:blip>
            <a:stretch>
              <a:fillRect/>
            </a:stretch>
          </p:blipFill>
          <p:spPr>
            <a:xfrm>
              <a:off x="7816391" y="2235906"/>
              <a:ext cx="1449034" cy="1424181"/>
            </a:xfrm>
            <a:prstGeom prst="rect">
              <a:avLst/>
            </a:prstGeom>
          </p:spPr>
        </p:pic>
        <p:pic>
          <p:nvPicPr>
            <p:cNvPr id="113" name="圖片 112">
              <a:extLst>
                <a:ext uri="{FF2B5EF4-FFF2-40B4-BE49-F238E27FC236}">
                  <a16:creationId xmlns:a16="http://schemas.microsoft.com/office/drawing/2014/main" id="{7EA59DCA-3D22-44D4-945E-5B1B88A467C2}"/>
                </a:ext>
              </a:extLst>
            </p:cNvPr>
            <p:cNvPicPr>
              <a:picLocks noChangeAspect="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944507" y="581259"/>
              <a:ext cx="1415334" cy="1415334"/>
            </a:xfrm>
            <a:prstGeom prst="rect">
              <a:avLst/>
            </a:prstGeom>
          </p:spPr>
        </p:pic>
        <p:cxnSp>
          <p:nvCxnSpPr>
            <p:cNvPr id="114" name="直線單箭頭接點 113">
              <a:extLst>
                <a:ext uri="{FF2B5EF4-FFF2-40B4-BE49-F238E27FC236}">
                  <a16:creationId xmlns:a16="http://schemas.microsoft.com/office/drawing/2014/main" id="{2A3FDF40-0606-4E0A-9AC8-659C2E6CB125}"/>
                </a:ext>
              </a:extLst>
            </p:cNvPr>
            <p:cNvCxnSpPr>
              <a:cxnSpLocks/>
            </p:cNvCxnSpPr>
            <p:nvPr/>
          </p:nvCxnSpPr>
          <p:spPr>
            <a:xfrm flipH="1">
              <a:off x="3601713" y="2713743"/>
              <a:ext cx="3066144" cy="1966077"/>
            </a:xfrm>
            <a:prstGeom prst="straightConnector1">
              <a:avLst/>
            </a:prstGeom>
            <a:ln w="114300">
              <a:tailEnd type="triangle"/>
            </a:ln>
          </p:spPr>
          <p:style>
            <a:lnRef idx="3">
              <a:schemeClr val="accent5"/>
            </a:lnRef>
            <a:fillRef idx="0">
              <a:schemeClr val="accent5"/>
            </a:fillRef>
            <a:effectRef idx="2">
              <a:schemeClr val="accent5"/>
            </a:effectRef>
            <a:fontRef idx="minor">
              <a:schemeClr val="tx1"/>
            </a:fontRef>
          </p:style>
        </p:cxnSp>
        <p:pic>
          <p:nvPicPr>
            <p:cNvPr id="115" name="圖片 114">
              <a:extLst>
                <a:ext uri="{FF2B5EF4-FFF2-40B4-BE49-F238E27FC236}">
                  <a16:creationId xmlns:a16="http://schemas.microsoft.com/office/drawing/2014/main" id="{B4BFC590-E128-4A76-AA89-A0EB435A6497}"/>
                </a:ext>
              </a:extLst>
            </p:cNvPr>
            <p:cNvPicPr>
              <a:picLocks noChangeAspect="1"/>
            </p:cNvPicPr>
            <p:nvPr/>
          </p:nvPicPr>
          <p:blipFill>
            <a:blip r:embed="rId19">
              <a:clrChange>
                <a:clrFrom>
                  <a:srgbClr val="FFFFFF"/>
                </a:clrFrom>
                <a:clrTo>
                  <a:srgbClr val="FFFFFF">
                    <a:alpha val="0"/>
                  </a:srgbClr>
                </a:clrTo>
              </a:clrChange>
              <a:duotone>
                <a:srgbClr val="FFC000">
                  <a:shade val="45000"/>
                  <a:satMod val="135000"/>
                </a:srgbClr>
                <a:prstClr val="white"/>
              </a:duotone>
              <a:extLst>
                <a:ext uri="{28A0092B-C50C-407E-A947-70E740481C1C}">
                  <a14:useLocalDpi xmlns:a14="http://schemas.microsoft.com/office/drawing/2010/main" val="0"/>
                </a:ext>
              </a:extLst>
            </a:blip>
            <a:stretch>
              <a:fillRect/>
            </a:stretch>
          </p:blipFill>
          <p:spPr>
            <a:xfrm rot="576191">
              <a:off x="5063814" y="3808874"/>
              <a:ext cx="1444590" cy="1058958"/>
            </a:xfrm>
            <a:prstGeom prst="rect">
              <a:avLst/>
            </a:prstGeom>
          </p:spPr>
        </p:pic>
      </p:grpSp>
      <p:sp>
        <p:nvSpPr>
          <p:cNvPr id="116" name="文字方塊 115">
            <a:extLst>
              <a:ext uri="{FF2B5EF4-FFF2-40B4-BE49-F238E27FC236}">
                <a16:creationId xmlns:a16="http://schemas.microsoft.com/office/drawing/2014/main" id="{BBCE04A9-B522-496D-8CA4-40036E8DD00C}"/>
              </a:ext>
            </a:extLst>
          </p:cNvPr>
          <p:cNvSpPr txBox="1"/>
          <p:nvPr/>
        </p:nvSpPr>
        <p:spPr>
          <a:xfrm>
            <a:off x="7816454" y="6464180"/>
            <a:ext cx="3704860" cy="369332"/>
          </a:xfrm>
          <a:prstGeom prst="rect">
            <a:avLst/>
          </a:prstGeom>
          <a:noFill/>
        </p:spPr>
        <p:txBody>
          <a:bodyPr wrap="none" rtlCol="0">
            <a:spAutoFit/>
          </a:bodyPr>
          <a:lstStyle/>
          <a:p>
            <a:pPr marL="285750" indent="-285750">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區塊鏈之金融跨境匯款作業流程</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22211770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 calcmode="lin" valueType="num">
                                      <p:cBhvr additive="base">
                                        <p:cTn id="20" dur="500" fill="hold"/>
                                        <p:tgtEl>
                                          <p:spTgt spid="28"/>
                                        </p:tgtEl>
                                        <p:attrNameLst>
                                          <p:attrName>ppt_x</p:attrName>
                                        </p:attrNameLst>
                                      </p:cBhvr>
                                      <p:tavLst>
                                        <p:tav tm="0">
                                          <p:val>
                                            <p:strVal val="#ppt_x"/>
                                          </p:val>
                                        </p:tav>
                                        <p:tav tm="100000">
                                          <p:val>
                                            <p:strVal val="#ppt_x"/>
                                          </p:val>
                                        </p:tav>
                                      </p:tavLst>
                                    </p:anim>
                                    <p:anim calcmode="lin" valueType="num">
                                      <p:cBhvr additive="base">
                                        <p:cTn id="21" dur="500" fill="hold"/>
                                        <p:tgtEl>
                                          <p:spTgt spid="28"/>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500" fill="hold"/>
                                        <p:tgtEl>
                                          <p:spTgt spid="13"/>
                                        </p:tgtEl>
                                        <p:attrNameLst>
                                          <p:attrName>ppt_w</p:attrName>
                                        </p:attrNameLst>
                                      </p:cBhvr>
                                      <p:tavLst>
                                        <p:tav tm="0">
                                          <p:val>
                                            <p:fltVal val="0"/>
                                          </p:val>
                                        </p:tav>
                                        <p:tav tm="100000">
                                          <p:val>
                                            <p:strVal val="#ppt_w"/>
                                          </p:val>
                                        </p:tav>
                                      </p:tavLst>
                                    </p:anim>
                                    <p:anim calcmode="lin" valueType="num">
                                      <p:cBhvr>
                                        <p:cTn id="26" dur="500" fill="hold"/>
                                        <p:tgtEl>
                                          <p:spTgt spid="13"/>
                                        </p:tgtEl>
                                        <p:attrNameLst>
                                          <p:attrName>ppt_h</p:attrName>
                                        </p:attrNameLst>
                                      </p:cBhvr>
                                      <p:tavLst>
                                        <p:tav tm="0">
                                          <p:val>
                                            <p:fltVal val="0"/>
                                          </p:val>
                                        </p:tav>
                                        <p:tav tm="100000">
                                          <p:val>
                                            <p:strVal val="#ppt_h"/>
                                          </p:val>
                                        </p:tav>
                                      </p:tavLst>
                                    </p:anim>
                                    <p:animEffect transition="in" filter="fade">
                                      <p:cBhvr>
                                        <p:cTn id="27" dur="500"/>
                                        <p:tgtEl>
                                          <p:spTgt spid="13"/>
                                        </p:tgtEl>
                                      </p:cBhvr>
                                    </p:animEffect>
                                  </p:childTnLst>
                                </p:cTn>
                              </p:par>
                              <p:par>
                                <p:cTn id="28" presetID="2" presetClass="entr" presetSubtype="4" fill="hold" grpId="0" nodeType="withEffect">
                                  <p:stCondLst>
                                    <p:cond delay="0"/>
                                  </p:stCondLst>
                                  <p:childTnLst>
                                    <p:set>
                                      <p:cBhvr>
                                        <p:cTn id="29" dur="1" fill="hold">
                                          <p:stCondLst>
                                            <p:cond delay="0"/>
                                          </p:stCondLst>
                                        </p:cTn>
                                        <p:tgtEl>
                                          <p:spTgt spid="116"/>
                                        </p:tgtEl>
                                        <p:attrNameLst>
                                          <p:attrName>style.visibility</p:attrName>
                                        </p:attrNameLst>
                                      </p:cBhvr>
                                      <p:to>
                                        <p:strVal val="visible"/>
                                      </p:to>
                                    </p:set>
                                    <p:anim calcmode="lin" valueType="num">
                                      <p:cBhvr additive="base">
                                        <p:cTn id="30" dur="500" fill="hold"/>
                                        <p:tgtEl>
                                          <p:spTgt spid="116"/>
                                        </p:tgtEl>
                                        <p:attrNameLst>
                                          <p:attrName>ppt_x</p:attrName>
                                        </p:attrNameLst>
                                      </p:cBhvr>
                                      <p:tavLst>
                                        <p:tav tm="0">
                                          <p:val>
                                            <p:strVal val="#ppt_x"/>
                                          </p:val>
                                        </p:tav>
                                        <p:tav tm="100000">
                                          <p:val>
                                            <p:strVal val="#ppt_x"/>
                                          </p:val>
                                        </p:tav>
                                      </p:tavLst>
                                    </p:anim>
                                    <p:anim calcmode="lin" valueType="num">
                                      <p:cBhvr additive="base">
                                        <p:cTn id="31" dur="500" fill="hold"/>
                                        <p:tgtEl>
                                          <p:spTgt spid="1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0" grpId="0"/>
      <p:bldP spid="11" grpId="0"/>
      <p:bldP spid="1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a:cxnSpLocks/>
          </p:cNvCxnSpPr>
          <p:nvPr/>
        </p:nvCxnSpPr>
        <p:spPr>
          <a:xfrm>
            <a:off x="1177167" y="1046746"/>
            <a:ext cx="929601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C5975A11-2F1B-4406-B386-35CD2CCB95B2}"/>
              </a:ext>
            </a:extLst>
          </p:cNvPr>
          <p:cNvSpPr txBox="1"/>
          <p:nvPr/>
        </p:nvSpPr>
        <p:spPr>
          <a:xfrm>
            <a:off x="250101" y="1178919"/>
            <a:ext cx="10395996" cy="578492"/>
          </a:xfrm>
          <a:prstGeom prst="rect">
            <a:avLst/>
          </a:prstGeom>
          <a:noFill/>
        </p:spPr>
        <p:txBody>
          <a:bodyPr wrap="square" rtlCol="0">
            <a:spAutoFit/>
          </a:bodyPr>
          <a:lstStyle/>
          <a:p>
            <a:pPr lvl="2">
              <a:lnSpc>
                <a:spcPct val="150000"/>
              </a:lnSpc>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區塊鏈之金融跨境匯款作業流程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0" name="標題 1">
            <a:extLst>
              <a:ext uri="{FF2B5EF4-FFF2-40B4-BE49-F238E27FC236}">
                <a16:creationId xmlns:a16="http://schemas.microsoft.com/office/drawing/2014/main" id="{77E13B55-C119-4D95-AA99-CCCEB6676D08}"/>
              </a:ext>
            </a:extLst>
          </p:cNvPr>
          <p:cNvSpPr txBox="1">
            <a:spLocks/>
          </p:cNvSpPr>
          <p:nvPr/>
        </p:nvSpPr>
        <p:spPr>
          <a:xfrm>
            <a:off x="1518277" y="393820"/>
            <a:ext cx="3829576"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5-2 </a:t>
            </a:r>
            <a:r>
              <a:rPr lang="zh-TW" altLang="en-US" sz="2400" b="1" dirty="0">
                <a:solidFill>
                  <a:srgbClr val="E06741"/>
                </a:solidFill>
              </a:rPr>
              <a:t>區塊鏈之金融服務應用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E8CB8989-F715-4501-9844-A4A743C57337}"/>
              </a:ext>
            </a:extLst>
          </p:cNvPr>
          <p:cNvSpPr txBox="1"/>
          <p:nvPr/>
        </p:nvSpPr>
        <p:spPr>
          <a:xfrm>
            <a:off x="5327744"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區塊鏈之金融服務應用領域</a:t>
            </a:r>
          </a:p>
        </p:txBody>
      </p:sp>
      <p:graphicFrame>
        <p:nvGraphicFramePr>
          <p:cNvPr id="2" name="資料庫圖表 1">
            <a:extLst>
              <a:ext uri="{FF2B5EF4-FFF2-40B4-BE49-F238E27FC236}">
                <a16:creationId xmlns:a16="http://schemas.microsoft.com/office/drawing/2014/main" id="{2BC61C6D-3FEA-48F9-A7B3-B0E02C355FBD}"/>
              </a:ext>
            </a:extLst>
          </p:cNvPr>
          <p:cNvGraphicFramePr/>
          <p:nvPr>
            <p:extLst>
              <p:ext uri="{D42A27DB-BD31-4B8C-83A1-F6EECF244321}">
                <p14:modId xmlns:p14="http://schemas.microsoft.com/office/powerpoint/2010/main" val="2358463807"/>
              </p:ext>
            </p:extLst>
          </p:nvPr>
        </p:nvGraphicFramePr>
        <p:xfrm>
          <a:off x="550284" y="1376390"/>
          <a:ext cx="11497171" cy="37486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3" name="資料庫圖表 2">
            <a:extLst>
              <a:ext uri="{FF2B5EF4-FFF2-40B4-BE49-F238E27FC236}">
                <a16:creationId xmlns:a16="http://schemas.microsoft.com/office/drawing/2014/main" id="{AEBFA2DB-996C-4669-92F3-6D1DC79B1783}"/>
              </a:ext>
            </a:extLst>
          </p:cNvPr>
          <p:cNvGraphicFramePr/>
          <p:nvPr>
            <p:extLst>
              <p:ext uri="{D42A27DB-BD31-4B8C-83A1-F6EECF244321}">
                <p14:modId xmlns:p14="http://schemas.microsoft.com/office/powerpoint/2010/main" val="1202605865"/>
              </p:ext>
            </p:extLst>
          </p:nvPr>
        </p:nvGraphicFramePr>
        <p:xfrm>
          <a:off x="698707" y="3795004"/>
          <a:ext cx="11348748" cy="299881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4" name="文字方塊 3">
            <a:extLst>
              <a:ext uri="{FF2B5EF4-FFF2-40B4-BE49-F238E27FC236}">
                <a16:creationId xmlns:a16="http://schemas.microsoft.com/office/drawing/2014/main" id="{922D9999-4338-4AE6-86EA-AC799C404B0D}"/>
              </a:ext>
            </a:extLst>
          </p:cNvPr>
          <p:cNvSpPr txBox="1"/>
          <p:nvPr/>
        </p:nvSpPr>
        <p:spPr>
          <a:xfrm>
            <a:off x="1177167" y="2085645"/>
            <a:ext cx="912429" cy="369332"/>
          </a:xfrm>
          <a:prstGeom prst="rect">
            <a:avLst/>
          </a:prstGeom>
          <a:noFill/>
        </p:spPr>
        <p:txBody>
          <a:bodyPr wrap="none" rtlCol="0">
            <a:spAutoFit/>
          </a:bodyPr>
          <a:lstStyle/>
          <a:p>
            <a:r>
              <a:rPr lang="en-US" altLang="zh-TW" dirty="0">
                <a:solidFill>
                  <a:srgbClr val="54667E"/>
                </a:solidFill>
                <a:latin typeface="Eras Demi ITC" panose="020B0805030504020804" pitchFamily="34" charset="0"/>
              </a:rPr>
              <a:t>STEP 1</a:t>
            </a:r>
            <a:endParaRPr lang="zh-TW" altLang="en-US" dirty="0">
              <a:solidFill>
                <a:srgbClr val="54667E"/>
              </a:solidFill>
              <a:latin typeface="Eras Demi ITC" panose="020B0805030504020804" pitchFamily="34" charset="0"/>
            </a:endParaRPr>
          </a:p>
        </p:txBody>
      </p:sp>
      <p:sp>
        <p:nvSpPr>
          <p:cNvPr id="22" name="文字方塊 21">
            <a:extLst>
              <a:ext uri="{FF2B5EF4-FFF2-40B4-BE49-F238E27FC236}">
                <a16:creationId xmlns:a16="http://schemas.microsoft.com/office/drawing/2014/main" id="{84666FF3-F71C-4AA2-BA0A-F4760DF52426}"/>
              </a:ext>
            </a:extLst>
          </p:cNvPr>
          <p:cNvSpPr txBox="1"/>
          <p:nvPr/>
        </p:nvSpPr>
        <p:spPr>
          <a:xfrm>
            <a:off x="8527916" y="2094226"/>
            <a:ext cx="912429" cy="369332"/>
          </a:xfrm>
          <a:prstGeom prst="rect">
            <a:avLst/>
          </a:prstGeom>
          <a:noFill/>
        </p:spPr>
        <p:txBody>
          <a:bodyPr wrap="none" rtlCol="0">
            <a:spAutoFit/>
          </a:bodyPr>
          <a:lstStyle/>
          <a:p>
            <a:r>
              <a:rPr lang="en-US" altLang="zh-TW" dirty="0">
                <a:solidFill>
                  <a:srgbClr val="54667E"/>
                </a:solidFill>
                <a:latin typeface="Eras Demi ITC" panose="020B0805030504020804" pitchFamily="34" charset="0"/>
              </a:rPr>
              <a:t>STEP 3</a:t>
            </a:r>
            <a:endParaRPr lang="zh-TW" altLang="en-US" dirty="0">
              <a:solidFill>
                <a:srgbClr val="54667E"/>
              </a:solidFill>
              <a:latin typeface="Eras Demi ITC" panose="020B0805030504020804" pitchFamily="34" charset="0"/>
            </a:endParaRPr>
          </a:p>
        </p:txBody>
      </p:sp>
      <p:sp>
        <p:nvSpPr>
          <p:cNvPr id="23" name="文字方塊 22">
            <a:extLst>
              <a:ext uri="{FF2B5EF4-FFF2-40B4-BE49-F238E27FC236}">
                <a16:creationId xmlns:a16="http://schemas.microsoft.com/office/drawing/2014/main" id="{50CDEC6F-AA41-4692-AE8D-754B6AE46885}"/>
              </a:ext>
            </a:extLst>
          </p:cNvPr>
          <p:cNvSpPr txBox="1"/>
          <p:nvPr/>
        </p:nvSpPr>
        <p:spPr>
          <a:xfrm>
            <a:off x="4998165" y="2088954"/>
            <a:ext cx="912429" cy="369332"/>
          </a:xfrm>
          <a:prstGeom prst="rect">
            <a:avLst/>
          </a:prstGeom>
          <a:noFill/>
        </p:spPr>
        <p:txBody>
          <a:bodyPr wrap="none" rtlCol="0">
            <a:spAutoFit/>
          </a:bodyPr>
          <a:lstStyle/>
          <a:p>
            <a:r>
              <a:rPr lang="en-US" altLang="zh-TW" dirty="0">
                <a:solidFill>
                  <a:srgbClr val="54667E"/>
                </a:solidFill>
                <a:latin typeface="Eras Demi ITC" panose="020B0805030504020804" pitchFamily="34" charset="0"/>
              </a:rPr>
              <a:t>STEP 2</a:t>
            </a:r>
            <a:endParaRPr lang="zh-TW" altLang="en-US" dirty="0">
              <a:solidFill>
                <a:srgbClr val="54667E"/>
              </a:solidFill>
              <a:latin typeface="Eras Demi ITC" panose="020B0805030504020804" pitchFamily="34" charset="0"/>
            </a:endParaRPr>
          </a:p>
        </p:txBody>
      </p:sp>
      <p:sp>
        <p:nvSpPr>
          <p:cNvPr id="26" name="文字方塊 25">
            <a:extLst>
              <a:ext uri="{FF2B5EF4-FFF2-40B4-BE49-F238E27FC236}">
                <a16:creationId xmlns:a16="http://schemas.microsoft.com/office/drawing/2014/main" id="{32563F28-65B0-43D0-9120-94C63ED22DD0}"/>
              </a:ext>
            </a:extLst>
          </p:cNvPr>
          <p:cNvSpPr txBox="1"/>
          <p:nvPr/>
        </p:nvSpPr>
        <p:spPr>
          <a:xfrm>
            <a:off x="8527916" y="4157415"/>
            <a:ext cx="912429" cy="369332"/>
          </a:xfrm>
          <a:prstGeom prst="rect">
            <a:avLst/>
          </a:prstGeom>
          <a:noFill/>
        </p:spPr>
        <p:txBody>
          <a:bodyPr wrap="none" rtlCol="0">
            <a:spAutoFit/>
          </a:bodyPr>
          <a:lstStyle/>
          <a:p>
            <a:r>
              <a:rPr lang="en-US" altLang="zh-TW" dirty="0">
                <a:solidFill>
                  <a:srgbClr val="54667E"/>
                </a:solidFill>
                <a:latin typeface="Eras Demi ITC" panose="020B0805030504020804" pitchFamily="34" charset="0"/>
              </a:rPr>
              <a:t>STEP 6</a:t>
            </a:r>
            <a:endParaRPr lang="zh-TW" altLang="en-US" dirty="0">
              <a:solidFill>
                <a:srgbClr val="54667E"/>
              </a:solidFill>
              <a:latin typeface="Eras Demi ITC" panose="020B0805030504020804" pitchFamily="34" charset="0"/>
            </a:endParaRPr>
          </a:p>
        </p:txBody>
      </p:sp>
      <p:sp>
        <p:nvSpPr>
          <p:cNvPr id="27" name="文字方塊 26">
            <a:extLst>
              <a:ext uri="{FF2B5EF4-FFF2-40B4-BE49-F238E27FC236}">
                <a16:creationId xmlns:a16="http://schemas.microsoft.com/office/drawing/2014/main" id="{28B64B8D-7A84-4590-A1C7-491D947AE2B2}"/>
              </a:ext>
            </a:extLst>
          </p:cNvPr>
          <p:cNvSpPr txBox="1"/>
          <p:nvPr/>
        </p:nvSpPr>
        <p:spPr>
          <a:xfrm>
            <a:off x="4998164" y="4157415"/>
            <a:ext cx="912429" cy="369332"/>
          </a:xfrm>
          <a:prstGeom prst="rect">
            <a:avLst/>
          </a:prstGeom>
          <a:noFill/>
        </p:spPr>
        <p:txBody>
          <a:bodyPr wrap="none" rtlCol="0">
            <a:spAutoFit/>
          </a:bodyPr>
          <a:lstStyle/>
          <a:p>
            <a:r>
              <a:rPr lang="en-US" altLang="zh-TW" dirty="0">
                <a:solidFill>
                  <a:srgbClr val="54667E"/>
                </a:solidFill>
                <a:latin typeface="Eras Demi ITC" panose="020B0805030504020804" pitchFamily="34" charset="0"/>
              </a:rPr>
              <a:t>STEP 5</a:t>
            </a:r>
            <a:endParaRPr lang="zh-TW" altLang="en-US" dirty="0">
              <a:solidFill>
                <a:srgbClr val="54667E"/>
              </a:solidFill>
              <a:latin typeface="Eras Demi ITC" panose="020B0805030504020804" pitchFamily="34" charset="0"/>
            </a:endParaRPr>
          </a:p>
        </p:txBody>
      </p:sp>
      <p:sp>
        <p:nvSpPr>
          <p:cNvPr id="29" name="文字方塊 28">
            <a:extLst>
              <a:ext uri="{FF2B5EF4-FFF2-40B4-BE49-F238E27FC236}">
                <a16:creationId xmlns:a16="http://schemas.microsoft.com/office/drawing/2014/main" id="{C11A90E5-B6A3-4A0F-AAD5-ACDFEEA2F4EA}"/>
              </a:ext>
            </a:extLst>
          </p:cNvPr>
          <p:cNvSpPr txBox="1"/>
          <p:nvPr/>
        </p:nvSpPr>
        <p:spPr>
          <a:xfrm>
            <a:off x="1177166" y="4157415"/>
            <a:ext cx="912429" cy="369332"/>
          </a:xfrm>
          <a:prstGeom prst="rect">
            <a:avLst/>
          </a:prstGeom>
          <a:noFill/>
        </p:spPr>
        <p:txBody>
          <a:bodyPr wrap="none" rtlCol="0">
            <a:spAutoFit/>
          </a:bodyPr>
          <a:lstStyle/>
          <a:p>
            <a:r>
              <a:rPr lang="en-US" altLang="zh-TW" dirty="0">
                <a:solidFill>
                  <a:srgbClr val="54667E"/>
                </a:solidFill>
                <a:latin typeface="Eras Demi ITC" panose="020B0805030504020804" pitchFamily="34" charset="0"/>
              </a:rPr>
              <a:t>STEP 4</a:t>
            </a:r>
            <a:endParaRPr lang="zh-TW" altLang="en-US" dirty="0">
              <a:solidFill>
                <a:srgbClr val="54667E"/>
              </a:solidFill>
              <a:latin typeface="Eras Demi ITC" panose="020B0805030504020804" pitchFamily="34" charset="0"/>
            </a:endParaRPr>
          </a:p>
        </p:txBody>
      </p:sp>
      <p:pic>
        <p:nvPicPr>
          <p:cNvPr id="30" name="圖片 29">
            <a:extLst>
              <a:ext uri="{FF2B5EF4-FFF2-40B4-BE49-F238E27FC236}">
                <a16:creationId xmlns:a16="http://schemas.microsoft.com/office/drawing/2014/main" id="{7D7EC529-5036-43C5-BDD9-38EFD3EB886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flipH="1">
            <a:off x="10748300" y="524480"/>
            <a:ext cx="1439002" cy="1439002"/>
          </a:xfrm>
          <a:prstGeom prst="rect">
            <a:avLst/>
          </a:prstGeom>
        </p:spPr>
      </p:pic>
    </p:spTree>
    <p:extLst>
      <p:ext uri="{BB962C8B-B14F-4D97-AF65-F5344CB8AC3E}">
        <p14:creationId xmlns:p14="http://schemas.microsoft.com/office/powerpoint/2010/main" val="424164345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 calcmode="lin" valueType="num">
                                      <p:cBhvr additive="base">
                                        <p:cTn id="20" dur="500" fill="hold"/>
                                        <p:tgtEl>
                                          <p:spTgt spid="28"/>
                                        </p:tgtEl>
                                        <p:attrNameLst>
                                          <p:attrName>ppt_x</p:attrName>
                                        </p:attrNameLst>
                                      </p:cBhvr>
                                      <p:tavLst>
                                        <p:tav tm="0">
                                          <p:val>
                                            <p:strVal val="#ppt_x"/>
                                          </p:val>
                                        </p:tav>
                                        <p:tav tm="100000">
                                          <p:val>
                                            <p:strVal val="#ppt_x"/>
                                          </p:val>
                                        </p:tav>
                                      </p:tavLst>
                                    </p:anim>
                                    <p:anim calcmode="lin" valueType="num">
                                      <p:cBhvr additive="base">
                                        <p:cTn id="21" dur="500" fill="hold"/>
                                        <p:tgtEl>
                                          <p:spTgt spid="28"/>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grpId="0" nodeType="after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0-#ppt_w/2"/>
                                          </p:val>
                                        </p:tav>
                                        <p:tav tm="100000">
                                          <p:val>
                                            <p:strVal val="#ppt_x"/>
                                          </p:val>
                                        </p:tav>
                                      </p:tavLst>
                                    </p:anim>
                                    <p:anim calcmode="lin" valueType="num">
                                      <p:cBhvr additive="base">
                                        <p:cTn id="26" dur="500" fill="hold"/>
                                        <p:tgtEl>
                                          <p:spTgt spid="2"/>
                                        </p:tgtEl>
                                        <p:attrNameLst>
                                          <p:attrName>ppt_y</p:attrName>
                                        </p:attrNameLst>
                                      </p:cBhvr>
                                      <p:tavLst>
                                        <p:tav tm="0">
                                          <p:val>
                                            <p:strVal val="#ppt_y"/>
                                          </p:val>
                                        </p:tav>
                                        <p:tav tm="100000">
                                          <p:val>
                                            <p:strVal val="#ppt_y"/>
                                          </p:val>
                                        </p:tav>
                                      </p:tavLst>
                                    </p:anim>
                                  </p:childTnLst>
                                </p:cTn>
                              </p:par>
                              <p:par>
                                <p:cTn id="27" presetID="16" presetClass="entr" presetSubtype="21"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barn(inVertical)">
                                      <p:cBhvr>
                                        <p:cTn id="29" dur="500"/>
                                        <p:tgtEl>
                                          <p:spTgt spid="4"/>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barn(inVertical)">
                                      <p:cBhvr>
                                        <p:cTn id="32" dur="500"/>
                                        <p:tgtEl>
                                          <p:spTgt spid="23"/>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barn(inVertical)">
                                      <p:cBhvr>
                                        <p:cTn id="35" dur="500"/>
                                        <p:tgtEl>
                                          <p:spTgt spid="22"/>
                                        </p:tgtEl>
                                      </p:cBhvr>
                                    </p:animEffect>
                                  </p:childTnLst>
                                </p:cTn>
                              </p:par>
                            </p:childTnLst>
                          </p:cTn>
                        </p:par>
                        <p:par>
                          <p:cTn id="36" fill="hold">
                            <p:stCondLst>
                              <p:cond delay="4000"/>
                            </p:stCondLst>
                            <p:childTnLst>
                              <p:par>
                                <p:cTn id="37" presetID="2" presetClass="entr" presetSubtype="8" fill="hold" grpId="0" nodeType="after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500" fill="hold"/>
                                        <p:tgtEl>
                                          <p:spTgt spid="3"/>
                                        </p:tgtEl>
                                        <p:attrNameLst>
                                          <p:attrName>ppt_x</p:attrName>
                                        </p:attrNameLst>
                                      </p:cBhvr>
                                      <p:tavLst>
                                        <p:tav tm="0">
                                          <p:val>
                                            <p:strVal val="0-#ppt_w/2"/>
                                          </p:val>
                                        </p:tav>
                                        <p:tav tm="100000">
                                          <p:val>
                                            <p:strVal val="#ppt_x"/>
                                          </p:val>
                                        </p:tav>
                                      </p:tavLst>
                                    </p:anim>
                                    <p:anim calcmode="lin" valueType="num">
                                      <p:cBhvr additive="base">
                                        <p:cTn id="40" dur="500" fill="hold"/>
                                        <p:tgtEl>
                                          <p:spTgt spid="3"/>
                                        </p:tgtEl>
                                        <p:attrNameLst>
                                          <p:attrName>ppt_y</p:attrName>
                                        </p:attrNameLst>
                                      </p:cBhvr>
                                      <p:tavLst>
                                        <p:tav tm="0">
                                          <p:val>
                                            <p:strVal val="#ppt_y"/>
                                          </p:val>
                                        </p:tav>
                                        <p:tav tm="100000">
                                          <p:val>
                                            <p:strVal val="#ppt_y"/>
                                          </p:val>
                                        </p:tav>
                                      </p:tavLst>
                                    </p:anim>
                                  </p:childTnLst>
                                </p:cTn>
                              </p:par>
                              <p:par>
                                <p:cTn id="41" presetID="16" presetClass="entr" presetSubtype="21"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barn(inVertical)">
                                      <p:cBhvr>
                                        <p:cTn id="43" dur="500"/>
                                        <p:tgtEl>
                                          <p:spTgt spid="29"/>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barn(inVertical)">
                                      <p:cBhvr>
                                        <p:cTn id="46" dur="500"/>
                                        <p:tgtEl>
                                          <p:spTgt spid="27"/>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barn(inVertical)">
                                      <p:cBhvr>
                                        <p:cTn id="49" dur="500"/>
                                        <p:tgtEl>
                                          <p:spTgt spid="26"/>
                                        </p:tgtEl>
                                      </p:cBhvr>
                                    </p:animEffect>
                                  </p:childTnLst>
                                </p:cTn>
                              </p:par>
                            </p:childTnLst>
                          </p:cTn>
                        </p:par>
                        <p:par>
                          <p:cTn id="50" fill="hold">
                            <p:stCondLst>
                              <p:cond delay="4500"/>
                            </p:stCondLst>
                            <p:childTnLst>
                              <p:par>
                                <p:cTn id="51" presetID="53" presetClass="entr" presetSubtype="16" fill="hold" nodeType="afterEffect">
                                  <p:stCondLst>
                                    <p:cond delay="0"/>
                                  </p:stCondLst>
                                  <p:childTnLst>
                                    <p:set>
                                      <p:cBhvr>
                                        <p:cTn id="52" dur="1" fill="hold">
                                          <p:stCondLst>
                                            <p:cond delay="0"/>
                                          </p:stCondLst>
                                        </p:cTn>
                                        <p:tgtEl>
                                          <p:spTgt spid="30"/>
                                        </p:tgtEl>
                                        <p:attrNameLst>
                                          <p:attrName>style.visibility</p:attrName>
                                        </p:attrNameLst>
                                      </p:cBhvr>
                                      <p:to>
                                        <p:strVal val="visible"/>
                                      </p:to>
                                    </p:set>
                                    <p:anim calcmode="lin" valueType="num">
                                      <p:cBhvr>
                                        <p:cTn id="53" dur="500" fill="hold"/>
                                        <p:tgtEl>
                                          <p:spTgt spid="30"/>
                                        </p:tgtEl>
                                        <p:attrNameLst>
                                          <p:attrName>ppt_w</p:attrName>
                                        </p:attrNameLst>
                                      </p:cBhvr>
                                      <p:tavLst>
                                        <p:tav tm="0">
                                          <p:val>
                                            <p:fltVal val="0"/>
                                          </p:val>
                                        </p:tav>
                                        <p:tav tm="100000">
                                          <p:val>
                                            <p:strVal val="#ppt_w"/>
                                          </p:val>
                                        </p:tav>
                                      </p:tavLst>
                                    </p:anim>
                                    <p:anim calcmode="lin" valueType="num">
                                      <p:cBhvr>
                                        <p:cTn id="54" dur="500" fill="hold"/>
                                        <p:tgtEl>
                                          <p:spTgt spid="30"/>
                                        </p:tgtEl>
                                        <p:attrNameLst>
                                          <p:attrName>ppt_h</p:attrName>
                                        </p:attrNameLst>
                                      </p:cBhvr>
                                      <p:tavLst>
                                        <p:tav tm="0">
                                          <p:val>
                                            <p:fltVal val="0"/>
                                          </p:val>
                                        </p:tav>
                                        <p:tav tm="100000">
                                          <p:val>
                                            <p:strVal val="#ppt_h"/>
                                          </p:val>
                                        </p:tav>
                                      </p:tavLst>
                                    </p:anim>
                                    <p:animEffect transition="in" filter="fade">
                                      <p:cBhvr>
                                        <p:cTn id="5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0" grpId="0"/>
      <p:bldP spid="11" grpId="0"/>
      <p:bldGraphic spid="2" grpId="0">
        <p:bldAsOne/>
      </p:bldGraphic>
      <p:bldGraphic spid="3" grpId="0">
        <p:bldAsOne/>
      </p:bldGraphic>
      <p:bldP spid="4" grpId="0"/>
      <p:bldP spid="22" grpId="0"/>
      <p:bldP spid="23" grpId="0"/>
      <p:bldP spid="26" grpId="0"/>
      <p:bldP spid="27" grpId="0"/>
      <p:bldP spid="2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2100712" y="2243111"/>
            <a:ext cx="8738086" cy="2681888"/>
          </a:xfrm>
          <a:prstGeom prst="rect">
            <a:avLst/>
          </a:prstGeom>
          <a:noFill/>
        </p:spPr>
        <p:txBody>
          <a:bodyPr wrap="square" rtlCol="0">
            <a:spAutoFit/>
          </a:bodyPr>
          <a:lstStyle/>
          <a:p>
            <a:pPr marL="342900" indent="-342900">
              <a:lnSpc>
                <a:spcPct val="150000"/>
              </a:lnSpc>
              <a:buBlip>
                <a:blip r:embed="rId4"/>
              </a:buBlip>
            </a:pPr>
            <a:r>
              <a:rPr lang="zh-TW" altLang="en-US" sz="2300" b="1" dirty="0">
                <a:solidFill>
                  <a:srgbClr val="54667E"/>
                </a:solidFill>
                <a:latin typeface="微軟正黑體" panose="020B0604030504040204" pitchFamily="34" charset="-120"/>
                <a:ea typeface="微軟正黑體" panose="020B0604030504040204" pitchFamily="34" charset="-120"/>
              </a:rPr>
              <a:t>低成本</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300" b="1" dirty="0">
                <a:solidFill>
                  <a:srgbClr val="54667E"/>
                </a:solidFill>
                <a:latin typeface="微軟正黑體" panose="020B0604030504040204" pitchFamily="34" charset="-120"/>
                <a:ea typeface="微軟正黑體" panose="020B0604030504040204" pitchFamily="34" charset="-120"/>
              </a:rPr>
              <a:t>低風險</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的跨境支付轉匯系統</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300" b="1" dirty="0">
                <a:solidFill>
                  <a:srgbClr val="54667E"/>
                </a:solidFill>
                <a:latin typeface="微軟正黑體" panose="020B0604030504040204" pitchFamily="34" charset="-120"/>
                <a:ea typeface="微軟正黑體" panose="020B0604030504040204" pitchFamily="34" charset="-120"/>
              </a:rPr>
              <a:t>即時</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分享交易紀錄</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保障交易訊息數據</a:t>
            </a:r>
            <a:r>
              <a:rPr lang="zh-TW" altLang="en-US" sz="2300" b="1" dirty="0">
                <a:solidFill>
                  <a:srgbClr val="54667E"/>
                </a:solidFill>
                <a:latin typeface="微軟正黑體" panose="020B0604030504040204" pitchFamily="34" charset="-120"/>
                <a:ea typeface="微軟正黑體" panose="020B0604030504040204" pitchFamily="34" charset="-120"/>
              </a:rPr>
              <a:t>不被篡改</a:t>
            </a:r>
            <a:endParaRPr lang="en-US" altLang="zh-TW" sz="2300" b="1" dirty="0">
              <a:solidFill>
                <a:srgbClr val="54667E"/>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縮短交易時間，防護交易安全</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對於金融產業的衝擊：銀行產業的</a:t>
            </a:r>
            <a:r>
              <a:rPr lang="zh-TW" altLang="en-US" sz="2300" b="1" dirty="0">
                <a:solidFill>
                  <a:srgbClr val="54667E"/>
                </a:solidFill>
                <a:latin typeface="微軟正黑體" panose="020B0604030504040204" pitchFamily="34" charset="-120"/>
                <a:ea typeface="微軟正黑體" panose="020B0604030504040204" pitchFamily="34" charset="-120"/>
              </a:rPr>
              <a:t>價值移轉</a:t>
            </a:r>
            <a:endParaRPr lang="en-US" altLang="zh-TW" sz="2300" b="1" dirty="0">
              <a:solidFill>
                <a:srgbClr val="54667E"/>
              </a:solidFill>
              <a:latin typeface="微軟正黑體" panose="020B0604030504040204" pitchFamily="34" charset="-120"/>
              <a:ea typeface="微軟正黑體" panose="020B0604030504040204" pitchFamily="34" charset="-120"/>
            </a:endParaRPr>
          </a:p>
        </p:txBody>
      </p:sp>
      <p:sp>
        <p:nvSpPr>
          <p:cNvPr id="10" name="標題 1">
            <a:extLst>
              <a:ext uri="{FF2B5EF4-FFF2-40B4-BE49-F238E27FC236}">
                <a16:creationId xmlns:a16="http://schemas.microsoft.com/office/drawing/2014/main" id="{77E13B55-C119-4D95-AA99-CCCEB6676D08}"/>
              </a:ext>
            </a:extLst>
          </p:cNvPr>
          <p:cNvSpPr txBox="1">
            <a:spLocks/>
          </p:cNvSpPr>
          <p:nvPr/>
        </p:nvSpPr>
        <p:spPr>
          <a:xfrm>
            <a:off x="1518277" y="393820"/>
            <a:ext cx="3829576"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5-2 </a:t>
            </a:r>
            <a:r>
              <a:rPr lang="zh-TW" altLang="en-US" sz="2400" b="1" dirty="0">
                <a:solidFill>
                  <a:srgbClr val="E06741"/>
                </a:solidFill>
              </a:rPr>
              <a:t>區塊鏈之金融服務應用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E8CB8989-F715-4501-9844-A4A743C57337}"/>
              </a:ext>
            </a:extLst>
          </p:cNvPr>
          <p:cNvSpPr txBox="1"/>
          <p:nvPr/>
        </p:nvSpPr>
        <p:spPr>
          <a:xfrm>
            <a:off x="5327744"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區塊鏈之金融服務應用領域</a:t>
            </a:r>
          </a:p>
        </p:txBody>
      </p:sp>
      <p:cxnSp>
        <p:nvCxnSpPr>
          <p:cNvPr id="17" name="直接连接符 33">
            <a:extLst>
              <a:ext uri="{FF2B5EF4-FFF2-40B4-BE49-F238E27FC236}">
                <a16:creationId xmlns:a16="http://schemas.microsoft.com/office/drawing/2014/main" id="{C3970D39-AA0C-4514-ACA7-2CC2219C9EF3}"/>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23BDC169-8FF6-4E07-AD40-989ABA40C4C3}"/>
              </a:ext>
            </a:extLst>
          </p:cNvPr>
          <p:cNvSpPr txBox="1"/>
          <p:nvPr/>
        </p:nvSpPr>
        <p:spPr>
          <a:xfrm>
            <a:off x="578574" y="1465885"/>
            <a:ext cx="10395996" cy="578492"/>
          </a:xfrm>
          <a:prstGeom prst="rect">
            <a:avLst/>
          </a:prstGeom>
          <a:noFill/>
        </p:spPr>
        <p:txBody>
          <a:bodyPr wrap="square" rtlCol="0">
            <a:spAutoFit/>
          </a:bodyPr>
          <a:lstStyle/>
          <a:p>
            <a:pPr lvl="2">
              <a:lnSpc>
                <a:spcPct val="150000"/>
              </a:lnSpc>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區塊鏈之金融跨境匯款作業流程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3" name="圖片 12" descr="一張含有 向量圖形, 樂高, 文字 的圖片&#10;&#10;描述是以非常高的可信度產生">
            <a:extLst>
              <a:ext uri="{FF2B5EF4-FFF2-40B4-BE49-F238E27FC236}">
                <a16:creationId xmlns:a16="http://schemas.microsoft.com/office/drawing/2014/main" id="{A31DDDF4-DDA0-48C9-8384-0024931982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11821" y="4316855"/>
            <a:ext cx="2150522" cy="2150520"/>
          </a:xfrm>
          <a:prstGeom prst="rect">
            <a:avLst/>
          </a:prstGeom>
        </p:spPr>
      </p:pic>
    </p:spTree>
    <p:extLst>
      <p:ext uri="{BB962C8B-B14F-4D97-AF65-F5344CB8AC3E}">
        <p14:creationId xmlns:p14="http://schemas.microsoft.com/office/powerpoint/2010/main" val="428424331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0-#ppt_w/2"/>
                                          </p:val>
                                        </p:tav>
                                        <p:tav tm="100000">
                                          <p:val>
                                            <p:strVal val="#ppt_x"/>
                                          </p:val>
                                        </p:tav>
                                      </p:tavLst>
                                    </p:anim>
                                    <p:anim calcmode="lin" valueType="num">
                                      <p:cBhvr additive="base">
                                        <p:cTn id="16" dur="500" fill="hold"/>
                                        <p:tgtEl>
                                          <p:spTgt spid="17"/>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barn(inVertical)">
                                      <p:cBhvr>
                                        <p:cTn id="25" dur="500"/>
                                        <p:tgtEl>
                                          <p:spTgt spid="28"/>
                                        </p:tgtEl>
                                      </p:cBhvr>
                                    </p:animEffect>
                                  </p:childTnLst>
                                </p:cTn>
                              </p:par>
                            </p:childTnLst>
                          </p:cTn>
                        </p:par>
                        <p:par>
                          <p:cTn id="26" fill="hold">
                            <p:stCondLst>
                              <p:cond delay="4000"/>
                            </p:stCondLst>
                            <p:childTnLst>
                              <p:par>
                                <p:cTn id="27" presetID="53" presetClass="entr" presetSubtype="16" fill="hold" nodeType="after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0" grpId="0"/>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C5975A11-2F1B-4406-B386-35CD2CCB95B2}"/>
              </a:ext>
            </a:extLst>
          </p:cNvPr>
          <p:cNvSpPr txBox="1"/>
          <p:nvPr/>
        </p:nvSpPr>
        <p:spPr>
          <a:xfrm>
            <a:off x="1177169" y="1180552"/>
            <a:ext cx="10087862" cy="4990212"/>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二、資產數位化</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7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數位貨幣應用技術導入於金融產業，將提升全民自我信用管理、共享 經濟，促進互聯網與金融的發展</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發展同時應</a:t>
            </a:r>
            <a:r>
              <a:rPr lang="zh-TW" altLang="en-US" sz="2300" b="1" dirty="0">
                <a:solidFill>
                  <a:srgbClr val="54667E"/>
                </a:solidFill>
                <a:latin typeface="微軟正黑體" panose="020B0604030504040204" pitchFamily="34" charset="-120"/>
                <a:ea typeface="微軟正黑體" panose="020B0604030504040204" pitchFamily="34" charset="-120"/>
              </a:rPr>
              <a:t>防範潛在金融風險</a:t>
            </a: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區塊鏈結合密碼學，設計公開金鑰與私密金鑰，並增設地址功能，增加交易安全性，使區塊鏈底層技術得到認同，研擬深入金融改革</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有價證券的交易可藉由區塊鏈系統，將</a:t>
            </a:r>
            <a:r>
              <a:rPr lang="zh-TW" altLang="en-US" sz="2300" b="1" dirty="0">
                <a:solidFill>
                  <a:srgbClr val="54667E"/>
                </a:solidFill>
                <a:latin typeface="微軟正黑體" panose="020B0604030504040204" pitchFamily="34" charset="-120"/>
                <a:ea typeface="微軟正黑體" panose="020B0604030504040204" pitchFamily="34" charset="-120"/>
              </a:rPr>
              <a:t>資產數位化</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，確保資產真實性與合法性，並透過離散式帳本平台託管資產</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解決傳統高成本、低效率的問題，邁向數位網路處理的時代</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0" name="標題 1">
            <a:extLst>
              <a:ext uri="{FF2B5EF4-FFF2-40B4-BE49-F238E27FC236}">
                <a16:creationId xmlns:a16="http://schemas.microsoft.com/office/drawing/2014/main" id="{77E13B55-C119-4D95-AA99-CCCEB6676D08}"/>
              </a:ext>
            </a:extLst>
          </p:cNvPr>
          <p:cNvSpPr txBox="1">
            <a:spLocks/>
          </p:cNvSpPr>
          <p:nvPr/>
        </p:nvSpPr>
        <p:spPr>
          <a:xfrm>
            <a:off x="1518277" y="393820"/>
            <a:ext cx="3829576"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5-2 </a:t>
            </a:r>
            <a:r>
              <a:rPr lang="zh-TW" altLang="en-US" sz="2400" b="1" dirty="0">
                <a:solidFill>
                  <a:srgbClr val="E06741"/>
                </a:solidFill>
              </a:rPr>
              <a:t>區塊鏈之金融服務應用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E8CB8989-F715-4501-9844-A4A743C57337}"/>
              </a:ext>
            </a:extLst>
          </p:cNvPr>
          <p:cNvSpPr txBox="1"/>
          <p:nvPr/>
        </p:nvSpPr>
        <p:spPr>
          <a:xfrm>
            <a:off x="5327744"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區塊鏈之金融服務應用領域</a:t>
            </a:r>
          </a:p>
        </p:txBody>
      </p:sp>
    </p:spTree>
    <p:extLst>
      <p:ext uri="{BB962C8B-B14F-4D97-AF65-F5344CB8AC3E}">
        <p14:creationId xmlns:p14="http://schemas.microsoft.com/office/powerpoint/2010/main" val="29982900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animEffect transition="in" filter="barn(inVertical)">
                                      <p:cBhvr>
                                        <p:cTn id="29" dur="500"/>
                                        <p:tgtEl>
                                          <p:spTgt spid="28">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4" end="4"/>
                                            </p:txEl>
                                          </p:spTgt>
                                        </p:tgtEl>
                                        <p:attrNameLst>
                                          <p:attrName>style.visibility</p:attrName>
                                        </p:attrNameLst>
                                      </p:cBhvr>
                                      <p:to>
                                        <p:strVal val="visible"/>
                                      </p:to>
                                    </p:set>
                                    <p:animEffect transition="in" filter="barn(inVertical)">
                                      <p:cBhvr>
                                        <p:cTn id="33" dur="500"/>
                                        <p:tgtEl>
                                          <p:spTgt spid="28">
                                            <p:txEl>
                                              <p:pRg st="4" end="4"/>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5" end="5"/>
                                            </p:txEl>
                                          </p:spTgt>
                                        </p:tgtEl>
                                        <p:attrNameLst>
                                          <p:attrName>style.visibility</p:attrName>
                                        </p:attrNameLst>
                                      </p:cBhvr>
                                      <p:to>
                                        <p:strVal val="visible"/>
                                      </p:to>
                                    </p:set>
                                    <p:animEffect transition="in" filter="barn(inVertical)">
                                      <p:cBhvr>
                                        <p:cTn id="37" dur="500"/>
                                        <p:tgtEl>
                                          <p:spTgt spid="28">
                                            <p:txEl>
                                              <p:pRg st="5" end="5"/>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28">
                                            <p:txEl>
                                              <p:pRg st="6" end="6"/>
                                            </p:txEl>
                                          </p:spTgt>
                                        </p:tgtEl>
                                        <p:attrNameLst>
                                          <p:attrName>style.visibility</p:attrName>
                                        </p:attrNameLst>
                                      </p:cBhvr>
                                      <p:to>
                                        <p:strVal val="visible"/>
                                      </p:to>
                                    </p:set>
                                    <p:animEffect transition="in" filter="barn(inVertical)">
                                      <p:cBhvr>
                                        <p:cTn id="41" dur="500"/>
                                        <p:tgtEl>
                                          <p:spTgt spid="2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C5975A11-2F1B-4406-B386-35CD2CCB95B2}"/>
              </a:ext>
            </a:extLst>
          </p:cNvPr>
          <p:cNvSpPr txBox="1"/>
          <p:nvPr/>
        </p:nvSpPr>
        <p:spPr>
          <a:xfrm>
            <a:off x="1177169" y="1058001"/>
            <a:ext cx="10087862" cy="1161215"/>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三、智能證券</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2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現行證券交易必須透過證券公司交易系統的媒合</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0" name="標題 1">
            <a:extLst>
              <a:ext uri="{FF2B5EF4-FFF2-40B4-BE49-F238E27FC236}">
                <a16:creationId xmlns:a16="http://schemas.microsoft.com/office/drawing/2014/main" id="{77E13B55-C119-4D95-AA99-CCCEB6676D08}"/>
              </a:ext>
            </a:extLst>
          </p:cNvPr>
          <p:cNvSpPr txBox="1">
            <a:spLocks/>
          </p:cNvSpPr>
          <p:nvPr/>
        </p:nvSpPr>
        <p:spPr>
          <a:xfrm>
            <a:off x="1518277" y="393820"/>
            <a:ext cx="3829576"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5-2 </a:t>
            </a:r>
            <a:r>
              <a:rPr lang="zh-TW" altLang="en-US" sz="2400" b="1" dirty="0">
                <a:solidFill>
                  <a:srgbClr val="E06741"/>
                </a:solidFill>
              </a:rPr>
              <a:t>區塊鏈之金融服務應用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E8CB8989-F715-4501-9844-A4A743C57337}"/>
              </a:ext>
            </a:extLst>
          </p:cNvPr>
          <p:cNvSpPr txBox="1"/>
          <p:nvPr/>
        </p:nvSpPr>
        <p:spPr>
          <a:xfrm>
            <a:off x="5327744"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區塊鏈之金融服務應用領域</a:t>
            </a:r>
          </a:p>
        </p:txBody>
      </p:sp>
      <p:grpSp>
        <p:nvGrpSpPr>
          <p:cNvPr id="2" name="群組 1">
            <a:extLst>
              <a:ext uri="{FF2B5EF4-FFF2-40B4-BE49-F238E27FC236}">
                <a16:creationId xmlns:a16="http://schemas.microsoft.com/office/drawing/2014/main" id="{A57F029E-8924-4136-B216-0F6DEE416A44}"/>
              </a:ext>
            </a:extLst>
          </p:cNvPr>
          <p:cNvGrpSpPr/>
          <p:nvPr/>
        </p:nvGrpSpPr>
        <p:grpSpPr>
          <a:xfrm>
            <a:off x="2043396" y="2240579"/>
            <a:ext cx="8355407" cy="4233442"/>
            <a:chOff x="2280771" y="2246035"/>
            <a:chExt cx="8355407" cy="4233442"/>
          </a:xfrm>
        </p:grpSpPr>
        <p:sp>
          <p:nvSpPr>
            <p:cNvPr id="12" name="文字方塊 11">
              <a:extLst>
                <a:ext uri="{FF2B5EF4-FFF2-40B4-BE49-F238E27FC236}">
                  <a16:creationId xmlns:a16="http://schemas.microsoft.com/office/drawing/2014/main" id="{D3E51109-6DCF-4D91-9413-76A640291CD7}"/>
                </a:ext>
              </a:extLst>
            </p:cNvPr>
            <p:cNvSpPr txBox="1"/>
            <p:nvPr/>
          </p:nvSpPr>
          <p:spPr>
            <a:xfrm>
              <a:off x="9860284" y="4641287"/>
              <a:ext cx="775894" cy="307777"/>
            </a:xfrm>
            <a:prstGeom prst="rect">
              <a:avLst/>
            </a:prstGeom>
            <a:noFill/>
          </p:spPr>
          <p:txBody>
            <a:bodyPr wrap="square" rtlCol="0">
              <a:spAutoFit/>
            </a:bodyPr>
            <a:lstStyle/>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投資者</a:t>
              </a:r>
            </a:p>
          </p:txBody>
        </p:sp>
        <p:grpSp>
          <p:nvGrpSpPr>
            <p:cNvPr id="13" name="群組 12">
              <a:extLst>
                <a:ext uri="{FF2B5EF4-FFF2-40B4-BE49-F238E27FC236}">
                  <a16:creationId xmlns:a16="http://schemas.microsoft.com/office/drawing/2014/main" id="{F7246F05-1627-4233-8361-91CEA41B33E6}"/>
                </a:ext>
              </a:extLst>
            </p:cNvPr>
            <p:cNvGrpSpPr/>
            <p:nvPr/>
          </p:nvGrpSpPr>
          <p:grpSpPr>
            <a:xfrm>
              <a:off x="2280771" y="2246035"/>
              <a:ext cx="8308272" cy="4233442"/>
              <a:chOff x="407368" y="563101"/>
              <a:chExt cx="11565917" cy="5893360"/>
            </a:xfrm>
          </p:grpSpPr>
          <p:grpSp>
            <p:nvGrpSpPr>
              <p:cNvPr id="14" name="群組 13">
                <a:extLst>
                  <a:ext uri="{FF2B5EF4-FFF2-40B4-BE49-F238E27FC236}">
                    <a16:creationId xmlns:a16="http://schemas.microsoft.com/office/drawing/2014/main" id="{B5DBED23-FC43-43BF-B277-0945D6F963F8}"/>
                  </a:ext>
                </a:extLst>
              </p:cNvPr>
              <p:cNvGrpSpPr/>
              <p:nvPr/>
            </p:nvGrpSpPr>
            <p:grpSpPr>
              <a:xfrm>
                <a:off x="407368" y="2708920"/>
                <a:ext cx="1100249" cy="1496380"/>
                <a:chOff x="407368" y="2708920"/>
                <a:chExt cx="1100249" cy="1496380"/>
              </a:xfrm>
            </p:grpSpPr>
            <p:sp>
              <p:nvSpPr>
                <p:cNvPr id="63" name="文字方塊 62">
                  <a:extLst>
                    <a:ext uri="{FF2B5EF4-FFF2-40B4-BE49-F238E27FC236}">
                      <a16:creationId xmlns:a16="http://schemas.microsoft.com/office/drawing/2014/main" id="{299EBBEA-78F7-4CA9-B447-83B34629A4AC}"/>
                    </a:ext>
                  </a:extLst>
                </p:cNvPr>
                <p:cNvSpPr txBox="1"/>
                <p:nvPr/>
              </p:nvSpPr>
              <p:spPr>
                <a:xfrm>
                  <a:off x="427497" y="3897523"/>
                  <a:ext cx="1080120" cy="307777"/>
                </a:xfrm>
                <a:prstGeom prst="rect">
                  <a:avLst/>
                </a:prstGeom>
                <a:noFill/>
              </p:spPr>
              <p:txBody>
                <a:bodyPr wrap="square" rtlCol="0">
                  <a:spAutoFit/>
                </a:bodyPr>
                <a:lstStyle/>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投資者</a:t>
                  </a:r>
                </a:p>
              </p:txBody>
            </p:sp>
            <p:pic>
              <p:nvPicPr>
                <p:cNvPr id="64" name="圖片 63">
                  <a:extLst>
                    <a:ext uri="{FF2B5EF4-FFF2-40B4-BE49-F238E27FC236}">
                      <a16:creationId xmlns:a16="http://schemas.microsoft.com/office/drawing/2014/main" id="{4F58118A-11A8-49C4-A9ED-81E9C057E566}"/>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07368" y="2708920"/>
                  <a:ext cx="995582" cy="1188603"/>
                </a:xfrm>
                <a:prstGeom prst="rect">
                  <a:avLst/>
                </a:prstGeom>
              </p:spPr>
            </p:pic>
          </p:grpSp>
          <p:grpSp>
            <p:nvGrpSpPr>
              <p:cNvPr id="15" name="群組 14">
                <a:extLst>
                  <a:ext uri="{FF2B5EF4-FFF2-40B4-BE49-F238E27FC236}">
                    <a16:creationId xmlns:a16="http://schemas.microsoft.com/office/drawing/2014/main" id="{9CDF903E-660A-49CB-8F61-717D50126C26}"/>
                  </a:ext>
                </a:extLst>
              </p:cNvPr>
              <p:cNvGrpSpPr/>
              <p:nvPr/>
            </p:nvGrpSpPr>
            <p:grpSpPr>
              <a:xfrm>
                <a:off x="905158" y="1655450"/>
                <a:ext cx="1359432" cy="918337"/>
                <a:chOff x="905158" y="1655450"/>
                <a:chExt cx="1620000" cy="918337"/>
              </a:xfrm>
            </p:grpSpPr>
            <p:cxnSp>
              <p:nvCxnSpPr>
                <p:cNvPr id="61" name="直線接點 60">
                  <a:extLst>
                    <a:ext uri="{FF2B5EF4-FFF2-40B4-BE49-F238E27FC236}">
                      <a16:creationId xmlns:a16="http://schemas.microsoft.com/office/drawing/2014/main" id="{F61380CC-DE31-4E70-B619-A5D6E85ED615}"/>
                    </a:ext>
                  </a:extLst>
                </p:cNvPr>
                <p:cNvCxnSpPr/>
                <p:nvPr/>
              </p:nvCxnSpPr>
              <p:spPr>
                <a:xfrm>
                  <a:off x="905159" y="1655450"/>
                  <a:ext cx="1" cy="918337"/>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6D50E4BB-B4BC-4A5A-8FE7-4C1EA571E0CB}"/>
                    </a:ext>
                  </a:extLst>
                </p:cNvPr>
                <p:cNvCxnSpPr/>
                <p:nvPr/>
              </p:nvCxnSpPr>
              <p:spPr>
                <a:xfrm>
                  <a:off x="905158" y="1655450"/>
                  <a:ext cx="1620000"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grpSp>
          <p:grpSp>
            <p:nvGrpSpPr>
              <p:cNvPr id="16" name="群組 15">
                <a:extLst>
                  <a:ext uri="{FF2B5EF4-FFF2-40B4-BE49-F238E27FC236}">
                    <a16:creationId xmlns:a16="http://schemas.microsoft.com/office/drawing/2014/main" id="{8F6611E5-3B9D-4EBD-A71E-3E8A22CC90E5}"/>
                  </a:ext>
                </a:extLst>
              </p:cNvPr>
              <p:cNvGrpSpPr/>
              <p:nvPr/>
            </p:nvGrpSpPr>
            <p:grpSpPr>
              <a:xfrm>
                <a:off x="902979" y="4365104"/>
                <a:ext cx="1361611" cy="918337"/>
                <a:chOff x="902979" y="4365104"/>
                <a:chExt cx="1622179" cy="918337"/>
              </a:xfrm>
            </p:grpSpPr>
            <p:cxnSp>
              <p:nvCxnSpPr>
                <p:cNvPr id="59" name="直線接點 58">
                  <a:extLst>
                    <a:ext uri="{FF2B5EF4-FFF2-40B4-BE49-F238E27FC236}">
                      <a16:creationId xmlns:a16="http://schemas.microsoft.com/office/drawing/2014/main" id="{227CB7C2-4075-4821-A43B-DCA0716B299B}"/>
                    </a:ext>
                  </a:extLst>
                </p:cNvPr>
                <p:cNvCxnSpPr/>
                <p:nvPr/>
              </p:nvCxnSpPr>
              <p:spPr>
                <a:xfrm>
                  <a:off x="902979" y="4365104"/>
                  <a:ext cx="1" cy="918337"/>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8EFA122A-1375-45EE-AC25-BF52E1FA489B}"/>
                    </a:ext>
                  </a:extLst>
                </p:cNvPr>
                <p:cNvCxnSpPr/>
                <p:nvPr/>
              </p:nvCxnSpPr>
              <p:spPr>
                <a:xfrm>
                  <a:off x="905158" y="5283441"/>
                  <a:ext cx="1620000"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grpSp>
          <p:cxnSp>
            <p:nvCxnSpPr>
              <p:cNvPr id="17" name="直線單箭頭接點 16">
                <a:extLst>
                  <a:ext uri="{FF2B5EF4-FFF2-40B4-BE49-F238E27FC236}">
                    <a16:creationId xmlns:a16="http://schemas.microsoft.com/office/drawing/2014/main" id="{A4560254-87EA-4311-A574-EECB887D130B}"/>
                  </a:ext>
                </a:extLst>
              </p:cNvPr>
              <p:cNvCxnSpPr/>
              <p:nvPr/>
            </p:nvCxnSpPr>
            <p:spPr>
              <a:xfrm>
                <a:off x="1402950" y="3517230"/>
                <a:ext cx="94863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53580332-51D3-4C43-9FFF-F160E01BE6BA}"/>
                  </a:ext>
                </a:extLst>
              </p:cNvPr>
              <p:cNvSpPr txBox="1"/>
              <p:nvPr/>
            </p:nvSpPr>
            <p:spPr>
              <a:xfrm>
                <a:off x="1250350" y="2960478"/>
                <a:ext cx="1421062" cy="307777"/>
              </a:xfrm>
              <a:prstGeom prst="rect">
                <a:avLst/>
              </a:prstGeom>
              <a:noFill/>
            </p:spPr>
            <p:txBody>
              <a:bodyPr wrap="square" rtlCol="0">
                <a:spAutoFit/>
              </a:bodyPr>
              <a:lstStyle/>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買賣委託</a:t>
                </a:r>
              </a:p>
            </p:txBody>
          </p:sp>
          <p:pic>
            <p:nvPicPr>
              <p:cNvPr id="19" name="圖片 18">
                <a:extLst>
                  <a:ext uri="{FF2B5EF4-FFF2-40B4-BE49-F238E27FC236}">
                    <a16:creationId xmlns:a16="http://schemas.microsoft.com/office/drawing/2014/main" id="{E1A858C8-1FE1-4F7A-B2EB-0FB329B9A008}"/>
                  </a:ext>
                </a:extLst>
              </p:cNvPr>
              <p:cNvPicPr>
                <a:picLocks noChangeAspect="1"/>
              </p:cNvPicPr>
              <p:nvPr/>
            </p:nvPicPr>
            <p:blipFill>
              <a:blip r:embed="rId6">
                <a:clrChange>
                  <a:clrFrom>
                    <a:srgbClr val="EDEDED"/>
                  </a:clrFrom>
                  <a:clrTo>
                    <a:srgbClr val="EDEDED">
                      <a:alpha val="0"/>
                    </a:srgbClr>
                  </a:clrTo>
                </a:clrChange>
                <a:duotone>
                  <a:schemeClr val="accent1">
                    <a:shade val="45000"/>
                    <a:satMod val="135000"/>
                  </a:schemeClr>
                  <a:prstClr val="white"/>
                </a:duotone>
              </a:blip>
              <a:stretch>
                <a:fillRect/>
              </a:stretch>
            </p:blipFill>
            <p:spPr>
              <a:xfrm>
                <a:off x="8169959" y="563101"/>
                <a:ext cx="1228327" cy="1220698"/>
              </a:xfrm>
              <a:prstGeom prst="rect">
                <a:avLst/>
              </a:prstGeom>
            </p:spPr>
          </p:pic>
          <p:pic>
            <p:nvPicPr>
              <p:cNvPr id="20" name="圖片 19">
                <a:extLst>
                  <a:ext uri="{FF2B5EF4-FFF2-40B4-BE49-F238E27FC236}">
                    <a16:creationId xmlns:a16="http://schemas.microsoft.com/office/drawing/2014/main" id="{54D48CB0-E6DF-4775-9A4B-E18A83ED52DC}"/>
                  </a:ext>
                </a:extLst>
              </p:cNvPr>
              <p:cNvPicPr>
                <a:picLocks noChangeAspect="1"/>
              </p:cNvPicPr>
              <p:nvPr/>
            </p:nvPicPr>
            <p:blipFill>
              <a:blip r:embed="rId6">
                <a:clrChange>
                  <a:clrFrom>
                    <a:srgbClr val="EDEDED"/>
                  </a:clrFrom>
                  <a:clrTo>
                    <a:srgbClr val="EDEDED">
                      <a:alpha val="0"/>
                    </a:srgbClr>
                  </a:clrTo>
                </a:clrChange>
                <a:duotone>
                  <a:schemeClr val="accent6">
                    <a:shade val="45000"/>
                    <a:satMod val="135000"/>
                  </a:schemeClr>
                  <a:prstClr val="white"/>
                </a:duotone>
              </a:blip>
              <a:stretch>
                <a:fillRect/>
              </a:stretch>
            </p:blipFill>
            <p:spPr>
              <a:xfrm>
                <a:off x="8224251" y="2714182"/>
                <a:ext cx="1228327" cy="1220698"/>
              </a:xfrm>
              <a:prstGeom prst="rect">
                <a:avLst/>
              </a:prstGeom>
            </p:spPr>
          </p:pic>
          <p:pic>
            <p:nvPicPr>
              <p:cNvPr id="21" name="圖片 20">
                <a:extLst>
                  <a:ext uri="{FF2B5EF4-FFF2-40B4-BE49-F238E27FC236}">
                    <a16:creationId xmlns:a16="http://schemas.microsoft.com/office/drawing/2014/main" id="{D8335CEF-92C6-4544-8A7F-F3C9DF949A65}"/>
                  </a:ext>
                </a:extLst>
              </p:cNvPr>
              <p:cNvPicPr>
                <a:picLocks noChangeAspect="1"/>
              </p:cNvPicPr>
              <p:nvPr/>
            </p:nvPicPr>
            <p:blipFill>
              <a:blip r:embed="rId6">
                <a:clrChange>
                  <a:clrFrom>
                    <a:srgbClr val="EDEDED"/>
                  </a:clrFrom>
                  <a:clrTo>
                    <a:srgbClr val="EDEDED">
                      <a:alpha val="0"/>
                    </a:srgbClr>
                  </a:clrTo>
                </a:clrChange>
                <a:duotone>
                  <a:schemeClr val="accent4">
                    <a:shade val="45000"/>
                    <a:satMod val="135000"/>
                  </a:schemeClr>
                  <a:prstClr val="white"/>
                </a:duotone>
              </a:blip>
              <a:stretch>
                <a:fillRect/>
              </a:stretch>
            </p:blipFill>
            <p:spPr>
              <a:xfrm>
                <a:off x="8279710" y="4834847"/>
                <a:ext cx="1228327" cy="1220698"/>
              </a:xfrm>
              <a:prstGeom prst="rect">
                <a:avLst/>
              </a:prstGeom>
            </p:spPr>
          </p:pic>
          <p:sp>
            <p:nvSpPr>
              <p:cNvPr id="22" name="文字方塊 21">
                <a:extLst>
                  <a:ext uri="{FF2B5EF4-FFF2-40B4-BE49-F238E27FC236}">
                    <a16:creationId xmlns:a16="http://schemas.microsoft.com/office/drawing/2014/main" id="{85F6B799-A4EE-406C-9604-EF800372B42D}"/>
                  </a:ext>
                </a:extLst>
              </p:cNvPr>
              <p:cNvSpPr txBox="1"/>
              <p:nvPr/>
            </p:nvSpPr>
            <p:spPr>
              <a:xfrm>
                <a:off x="8261161" y="1702560"/>
                <a:ext cx="1421062" cy="307777"/>
              </a:xfrm>
              <a:prstGeom prst="rect">
                <a:avLst/>
              </a:prstGeom>
              <a:noFill/>
            </p:spPr>
            <p:txBody>
              <a:bodyPr wrap="square" rtlCol="0">
                <a:spAutoFit/>
              </a:bodyPr>
              <a:lstStyle/>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證券商</a:t>
                </a:r>
                <a:r>
                  <a:rPr lang="en-US" altLang="zh-TW" sz="1400" b="1" dirty="0">
                    <a:solidFill>
                      <a:schemeClr val="accent5">
                        <a:lumMod val="50000"/>
                      </a:schemeClr>
                    </a:solidFill>
                    <a:latin typeface="微軟正黑體" panose="020B0604030504040204" pitchFamily="34" charset="-120"/>
                    <a:ea typeface="微軟正黑體" panose="020B0604030504040204" pitchFamily="34" charset="-120"/>
                  </a:rPr>
                  <a:t>A</a:t>
                </a:r>
                <a:endParaRPr lang="zh-TW" altLang="en-US" sz="1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23" name="文字方塊 22">
                <a:extLst>
                  <a:ext uri="{FF2B5EF4-FFF2-40B4-BE49-F238E27FC236}">
                    <a16:creationId xmlns:a16="http://schemas.microsoft.com/office/drawing/2014/main" id="{A7107AA4-243A-4EBE-AAE0-497A90624BF8}"/>
                  </a:ext>
                </a:extLst>
              </p:cNvPr>
              <p:cNvSpPr txBox="1"/>
              <p:nvPr/>
            </p:nvSpPr>
            <p:spPr>
              <a:xfrm>
                <a:off x="8306699" y="3931174"/>
                <a:ext cx="1421062" cy="307777"/>
              </a:xfrm>
              <a:prstGeom prst="rect">
                <a:avLst/>
              </a:prstGeom>
              <a:noFill/>
            </p:spPr>
            <p:txBody>
              <a:bodyPr wrap="square" rtlCol="0">
                <a:spAutoFit/>
              </a:bodyPr>
              <a:lstStyle/>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證券商</a:t>
                </a:r>
                <a:r>
                  <a:rPr lang="en-US" altLang="zh-TW" sz="1400" b="1" dirty="0">
                    <a:solidFill>
                      <a:schemeClr val="accent5">
                        <a:lumMod val="50000"/>
                      </a:schemeClr>
                    </a:solidFill>
                    <a:latin typeface="微軟正黑體" panose="020B0604030504040204" pitchFamily="34" charset="-120"/>
                    <a:ea typeface="微軟正黑體" panose="020B0604030504040204" pitchFamily="34" charset="-120"/>
                  </a:rPr>
                  <a:t>B</a:t>
                </a:r>
                <a:endParaRPr lang="zh-TW" altLang="en-US" sz="1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24" name="文字方塊 23">
                <a:extLst>
                  <a:ext uri="{FF2B5EF4-FFF2-40B4-BE49-F238E27FC236}">
                    <a16:creationId xmlns:a16="http://schemas.microsoft.com/office/drawing/2014/main" id="{21A68037-A8AE-478F-950A-4772A4AE975D}"/>
                  </a:ext>
                </a:extLst>
              </p:cNvPr>
              <p:cNvSpPr txBox="1"/>
              <p:nvPr/>
            </p:nvSpPr>
            <p:spPr>
              <a:xfrm>
                <a:off x="8394792" y="6124244"/>
                <a:ext cx="1421062" cy="307777"/>
              </a:xfrm>
              <a:prstGeom prst="rect">
                <a:avLst/>
              </a:prstGeom>
              <a:noFill/>
            </p:spPr>
            <p:txBody>
              <a:bodyPr wrap="square" rtlCol="0">
                <a:spAutoFit/>
              </a:bodyPr>
              <a:lstStyle/>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證券商</a:t>
                </a:r>
                <a:r>
                  <a:rPr lang="en-US" altLang="zh-TW" sz="1400" b="1" dirty="0">
                    <a:solidFill>
                      <a:schemeClr val="accent5">
                        <a:lumMod val="50000"/>
                      </a:schemeClr>
                    </a:solidFill>
                    <a:latin typeface="微軟正黑體" panose="020B0604030504040204" pitchFamily="34" charset="-120"/>
                    <a:ea typeface="微軟正黑體" panose="020B0604030504040204" pitchFamily="34" charset="-120"/>
                  </a:rPr>
                  <a:t>C</a:t>
                </a:r>
                <a:endParaRPr lang="zh-TW" altLang="en-US" sz="1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25" name="文字方塊 24">
                <a:extLst>
                  <a:ext uri="{FF2B5EF4-FFF2-40B4-BE49-F238E27FC236}">
                    <a16:creationId xmlns:a16="http://schemas.microsoft.com/office/drawing/2014/main" id="{157BD34D-B62B-4C54-A8C5-ACA95F212AEE}"/>
                  </a:ext>
                </a:extLst>
              </p:cNvPr>
              <p:cNvSpPr txBox="1"/>
              <p:nvPr/>
            </p:nvSpPr>
            <p:spPr>
              <a:xfrm>
                <a:off x="3630236" y="2960478"/>
                <a:ext cx="1421062" cy="307777"/>
              </a:xfrm>
              <a:prstGeom prst="rect">
                <a:avLst/>
              </a:prstGeom>
              <a:noFill/>
            </p:spPr>
            <p:txBody>
              <a:bodyPr wrap="square" rtlCol="0">
                <a:spAutoFit/>
              </a:bodyPr>
              <a:lstStyle/>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買賣申報</a:t>
                </a:r>
                <a:endParaRPr lang="en-US" altLang="zh-TW" sz="1400" b="1" dirty="0">
                  <a:solidFill>
                    <a:schemeClr val="accent5">
                      <a:lumMod val="50000"/>
                    </a:schemeClr>
                  </a:solidFill>
                  <a:latin typeface="微軟正黑體" panose="020B0604030504040204" pitchFamily="34" charset="-120"/>
                  <a:ea typeface="微軟正黑體" panose="020B0604030504040204" pitchFamily="34" charset="-120"/>
                </a:endParaRPr>
              </a:p>
            </p:txBody>
          </p:sp>
          <p:cxnSp>
            <p:nvCxnSpPr>
              <p:cNvPr id="26" name="直線單箭頭接點 25">
                <a:extLst>
                  <a:ext uri="{FF2B5EF4-FFF2-40B4-BE49-F238E27FC236}">
                    <a16:creationId xmlns:a16="http://schemas.microsoft.com/office/drawing/2014/main" id="{53AE0E33-E90D-4B7D-861D-88003092230B}"/>
                  </a:ext>
                </a:extLst>
              </p:cNvPr>
              <p:cNvCxnSpPr/>
              <p:nvPr/>
            </p:nvCxnSpPr>
            <p:spPr>
              <a:xfrm>
                <a:off x="3590101" y="3429000"/>
                <a:ext cx="1391531"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grpSp>
            <p:nvGrpSpPr>
              <p:cNvPr id="27" name="群組 26">
                <a:extLst>
                  <a:ext uri="{FF2B5EF4-FFF2-40B4-BE49-F238E27FC236}">
                    <a16:creationId xmlns:a16="http://schemas.microsoft.com/office/drawing/2014/main" id="{66155C4D-1F68-4C11-B67E-2143EAB31B74}"/>
                  </a:ext>
                </a:extLst>
              </p:cNvPr>
              <p:cNvGrpSpPr/>
              <p:nvPr/>
            </p:nvGrpSpPr>
            <p:grpSpPr>
              <a:xfrm>
                <a:off x="3688207" y="1544663"/>
                <a:ext cx="1572105" cy="484440"/>
                <a:chOff x="4367808" y="1655450"/>
                <a:chExt cx="1800200" cy="856953"/>
              </a:xfrm>
            </p:grpSpPr>
            <p:cxnSp>
              <p:nvCxnSpPr>
                <p:cNvPr id="57" name="直線接點 56">
                  <a:extLst>
                    <a:ext uri="{FF2B5EF4-FFF2-40B4-BE49-F238E27FC236}">
                      <a16:creationId xmlns:a16="http://schemas.microsoft.com/office/drawing/2014/main" id="{72705222-2BFB-494C-B782-D7145BEC7824}"/>
                    </a:ext>
                  </a:extLst>
                </p:cNvPr>
                <p:cNvCxnSpPr/>
                <p:nvPr/>
              </p:nvCxnSpPr>
              <p:spPr>
                <a:xfrm flipH="1">
                  <a:off x="4367808" y="1655450"/>
                  <a:ext cx="180020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線單箭頭接點 57">
                  <a:extLst>
                    <a:ext uri="{FF2B5EF4-FFF2-40B4-BE49-F238E27FC236}">
                      <a16:creationId xmlns:a16="http://schemas.microsoft.com/office/drawing/2014/main" id="{C0FE9389-E890-4D24-B9D5-8ECA4054C626}"/>
                    </a:ext>
                  </a:extLst>
                </p:cNvPr>
                <p:cNvCxnSpPr/>
                <p:nvPr/>
              </p:nvCxnSpPr>
              <p:spPr>
                <a:xfrm>
                  <a:off x="6168008" y="1655450"/>
                  <a:ext cx="0" cy="856953"/>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grpSp>
          <p:grpSp>
            <p:nvGrpSpPr>
              <p:cNvPr id="29" name="群組 28">
                <a:extLst>
                  <a:ext uri="{FF2B5EF4-FFF2-40B4-BE49-F238E27FC236}">
                    <a16:creationId xmlns:a16="http://schemas.microsoft.com/office/drawing/2014/main" id="{DE7A6AD2-56E0-45B4-A7CE-5F51FF596F9F}"/>
                  </a:ext>
                </a:extLst>
              </p:cNvPr>
              <p:cNvGrpSpPr/>
              <p:nvPr/>
            </p:nvGrpSpPr>
            <p:grpSpPr>
              <a:xfrm rot="10800000" flipH="1">
                <a:off x="3742501" y="4834144"/>
                <a:ext cx="1633419" cy="527413"/>
                <a:chOff x="4367808" y="1655450"/>
                <a:chExt cx="1837220" cy="659550"/>
              </a:xfrm>
            </p:grpSpPr>
            <p:cxnSp>
              <p:nvCxnSpPr>
                <p:cNvPr id="55" name="直線接點 54">
                  <a:extLst>
                    <a:ext uri="{FF2B5EF4-FFF2-40B4-BE49-F238E27FC236}">
                      <a16:creationId xmlns:a16="http://schemas.microsoft.com/office/drawing/2014/main" id="{07D5F2EC-BF4C-49B1-8281-9B2D798CC6A8}"/>
                    </a:ext>
                  </a:extLst>
                </p:cNvPr>
                <p:cNvCxnSpPr/>
                <p:nvPr/>
              </p:nvCxnSpPr>
              <p:spPr>
                <a:xfrm flipH="1">
                  <a:off x="4367808" y="1655450"/>
                  <a:ext cx="180020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39DF1D48-95AA-4E6C-AD47-ED2B15902BBF}"/>
                    </a:ext>
                  </a:extLst>
                </p:cNvPr>
                <p:cNvCxnSpPr/>
                <p:nvPr/>
              </p:nvCxnSpPr>
              <p:spPr>
                <a:xfrm rot="11152868" flipH="1" flipV="1">
                  <a:off x="6140177" y="1657765"/>
                  <a:ext cx="64851" cy="657235"/>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grpSp>
          <p:pic>
            <p:nvPicPr>
              <p:cNvPr id="30" name="圖片 29">
                <a:extLst>
                  <a:ext uri="{FF2B5EF4-FFF2-40B4-BE49-F238E27FC236}">
                    <a16:creationId xmlns:a16="http://schemas.microsoft.com/office/drawing/2014/main" id="{7A92E4EF-4440-4DEF-B2CB-ECCA52E64D9D}"/>
                  </a:ext>
                </a:extLst>
              </p:cNvPr>
              <p:cNvPicPr>
                <a:picLocks noChangeAspect="1"/>
              </p:cNvPicPr>
              <p:nvPr/>
            </p:nvPicPr>
            <p:blipFill>
              <a:blip r:embed="rId7" cstate="print">
                <a:clrChange>
                  <a:clrFrom>
                    <a:srgbClr val="000000">
                      <a:alpha val="0"/>
                    </a:srgbClr>
                  </a:clrFrom>
                  <a:clrTo>
                    <a:srgbClr val="000000">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076378" y="2665493"/>
                <a:ext cx="1430379" cy="1430379"/>
              </a:xfrm>
              <a:prstGeom prst="rect">
                <a:avLst/>
              </a:prstGeom>
            </p:spPr>
          </p:pic>
          <p:sp>
            <p:nvSpPr>
              <p:cNvPr id="31" name="文字方塊 30">
                <a:extLst>
                  <a:ext uri="{FF2B5EF4-FFF2-40B4-BE49-F238E27FC236}">
                    <a16:creationId xmlns:a16="http://schemas.microsoft.com/office/drawing/2014/main" id="{3FF48047-58BE-4731-A474-A18A0E9B7982}"/>
                  </a:ext>
                </a:extLst>
              </p:cNvPr>
              <p:cNvSpPr txBox="1"/>
              <p:nvPr/>
            </p:nvSpPr>
            <p:spPr>
              <a:xfrm>
                <a:off x="4914882" y="2022371"/>
                <a:ext cx="1831700" cy="523220"/>
              </a:xfrm>
              <a:prstGeom prst="rect">
                <a:avLst/>
              </a:prstGeom>
              <a:noFill/>
            </p:spPr>
            <p:txBody>
              <a:bodyPr wrap="square" rtlCol="0">
                <a:spAutoFit/>
              </a:bodyPr>
              <a:lstStyle/>
              <a:p>
                <a:pPr algn="ctr"/>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自動撮合系統</a:t>
                </a:r>
                <a:endParaRPr lang="en-US" altLang="zh-TW" sz="1400" b="1" dirty="0">
                  <a:solidFill>
                    <a:schemeClr val="accent5">
                      <a:lumMod val="50000"/>
                    </a:schemeClr>
                  </a:solidFill>
                  <a:latin typeface="微軟正黑體" panose="020B0604030504040204" pitchFamily="34" charset="-120"/>
                  <a:ea typeface="微軟正黑體" panose="020B0604030504040204" pitchFamily="34" charset="-120"/>
                </a:endParaRPr>
              </a:p>
              <a:p>
                <a:pPr algn="ctr"/>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清算系統</a:t>
                </a:r>
                <a:endParaRPr lang="en-US" altLang="zh-TW" sz="1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32" name="文字方塊 31">
                <a:extLst>
                  <a:ext uri="{FF2B5EF4-FFF2-40B4-BE49-F238E27FC236}">
                    <a16:creationId xmlns:a16="http://schemas.microsoft.com/office/drawing/2014/main" id="{21D9EC70-33F6-48D4-918D-CDA5DE38FEE4}"/>
                  </a:ext>
                </a:extLst>
              </p:cNvPr>
              <p:cNvSpPr txBox="1"/>
              <p:nvPr/>
            </p:nvSpPr>
            <p:spPr>
              <a:xfrm>
                <a:off x="4521208" y="4073138"/>
                <a:ext cx="2658112" cy="523220"/>
              </a:xfrm>
              <a:prstGeom prst="rect">
                <a:avLst/>
              </a:prstGeom>
              <a:noFill/>
            </p:spPr>
            <p:txBody>
              <a:bodyPr wrap="square" rtlCol="0">
                <a:spAutoFit/>
              </a:bodyPr>
              <a:lstStyle/>
              <a:p>
                <a:pPr algn="ctr"/>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方式</a:t>
                </a:r>
                <a:endParaRPr lang="en-US" altLang="zh-TW" sz="1400" b="1" dirty="0">
                  <a:solidFill>
                    <a:schemeClr val="accent5">
                      <a:lumMod val="50000"/>
                    </a:schemeClr>
                  </a:solidFill>
                  <a:latin typeface="微軟正黑體" panose="020B0604030504040204" pitchFamily="34" charset="-120"/>
                  <a:ea typeface="微軟正黑體" panose="020B0604030504040204" pitchFamily="34" charset="-120"/>
                </a:endParaRPr>
              </a:p>
              <a:p>
                <a:pPr algn="ctr"/>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自動撮合 對敲交易</a:t>
                </a:r>
                <a:endParaRPr lang="en-US" altLang="zh-TW" sz="1400" b="1" dirty="0">
                  <a:solidFill>
                    <a:schemeClr val="accent5">
                      <a:lumMod val="50000"/>
                    </a:schemeClr>
                  </a:solidFill>
                  <a:latin typeface="微軟正黑體" panose="020B0604030504040204" pitchFamily="34" charset="-120"/>
                  <a:ea typeface="微軟正黑體" panose="020B0604030504040204" pitchFamily="34" charset="-120"/>
                </a:endParaRPr>
              </a:p>
            </p:txBody>
          </p:sp>
          <p:pic>
            <p:nvPicPr>
              <p:cNvPr id="34" name="圖片 33">
                <a:extLst>
                  <a:ext uri="{FF2B5EF4-FFF2-40B4-BE49-F238E27FC236}">
                    <a16:creationId xmlns:a16="http://schemas.microsoft.com/office/drawing/2014/main" id="{1653C5BE-1443-4EE2-AB35-F7137CD6A7C8}"/>
                  </a:ext>
                </a:extLst>
              </p:cNvPr>
              <p:cNvPicPr>
                <a:picLocks noChangeAspect="1"/>
              </p:cNvPicPr>
              <p:nvPr/>
            </p:nvPicPr>
            <p:blipFill>
              <a:blip r:embed="rId6">
                <a:clrChange>
                  <a:clrFrom>
                    <a:srgbClr val="EDEDED"/>
                  </a:clrFrom>
                  <a:clrTo>
                    <a:srgbClr val="EDEDED">
                      <a:alpha val="0"/>
                    </a:srgbClr>
                  </a:clrTo>
                </a:clrChange>
                <a:duotone>
                  <a:schemeClr val="accent1">
                    <a:shade val="45000"/>
                    <a:satMod val="135000"/>
                  </a:schemeClr>
                  <a:prstClr val="white"/>
                </a:duotone>
              </a:blip>
              <a:stretch>
                <a:fillRect/>
              </a:stretch>
            </p:blipFill>
            <p:spPr>
              <a:xfrm>
                <a:off x="2449891" y="691174"/>
                <a:ext cx="1228327" cy="1220698"/>
              </a:xfrm>
              <a:prstGeom prst="rect">
                <a:avLst/>
              </a:prstGeom>
            </p:spPr>
          </p:pic>
          <p:pic>
            <p:nvPicPr>
              <p:cNvPr id="35" name="圖片 34">
                <a:extLst>
                  <a:ext uri="{FF2B5EF4-FFF2-40B4-BE49-F238E27FC236}">
                    <a16:creationId xmlns:a16="http://schemas.microsoft.com/office/drawing/2014/main" id="{C0EF979D-00DD-41B9-8D05-5D1F5BF865CE}"/>
                  </a:ext>
                </a:extLst>
              </p:cNvPr>
              <p:cNvPicPr>
                <a:picLocks noChangeAspect="1"/>
              </p:cNvPicPr>
              <p:nvPr/>
            </p:nvPicPr>
            <p:blipFill>
              <a:blip r:embed="rId6">
                <a:clrChange>
                  <a:clrFrom>
                    <a:srgbClr val="EDEDED"/>
                  </a:clrFrom>
                  <a:clrTo>
                    <a:srgbClr val="EDEDED">
                      <a:alpha val="0"/>
                    </a:srgbClr>
                  </a:clrTo>
                </a:clrChange>
                <a:duotone>
                  <a:schemeClr val="accent6">
                    <a:shade val="45000"/>
                    <a:satMod val="135000"/>
                  </a:schemeClr>
                  <a:prstClr val="white"/>
                </a:duotone>
              </a:blip>
              <a:stretch>
                <a:fillRect/>
              </a:stretch>
            </p:blipFill>
            <p:spPr>
              <a:xfrm>
                <a:off x="2485085" y="2693464"/>
                <a:ext cx="1228327" cy="1220698"/>
              </a:xfrm>
              <a:prstGeom prst="rect">
                <a:avLst/>
              </a:prstGeom>
            </p:spPr>
          </p:pic>
          <p:pic>
            <p:nvPicPr>
              <p:cNvPr id="36" name="圖片 35">
                <a:extLst>
                  <a:ext uri="{FF2B5EF4-FFF2-40B4-BE49-F238E27FC236}">
                    <a16:creationId xmlns:a16="http://schemas.microsoft.com/office/drawing/2014/main" id="{325923E5-972D-42DD-9D93-16C7B7445FD7}"/>
                  </a:ext>
                </a:extLst>
              </p:cNvPr>
              <p:cNvPicPr>
                <a:picLocks noChangeAspect="1"/>
              </p:cNvPicPr>
              <p:nvPr/>
            </p:nvPicPr>
            <p:blipFill>
              <a:blip r:embed="rId6">
                <a:clrChange>
                  <a:clrFrom>
                    <a:srgbClr val="EDEDED"/>
                  </a:clrFrom>
                  <a:clrTo>
                    <a:srgbClr val="EDEDED">
                      <a:alpha val="0"/>
                    </a:srgbClr>
                  </a:clrTo>
                </a:clrChange>
                <a:duotone>
                  <a:schemeClr val="accent4">
                    <a:shade val="45000"/>
                    <a:satMod val="135000"/>
                  </a:schemeClr>
                  <a:prstClr val="white"/>
                </a:duotone>
              </a:blip>
              <a:stretch>
                <a:fillRect/>
              </a:stretch>
            </p:blipFill>
            <p:spPr>
              <a:xfrm>
                <a:off x="2448385" y="4903546"/>
                <a:ext cx="1228327" cy="1220698"/>
              </a:xfrm>
              <a:prstGeom prst="rect">
                <a:avLst/>
              </a:prstGeom>
            </p:spPr>
          </p:pic>
          <p:sp>
            <p:nvSpPr>
              <p:cNvPr id="37" name="文字方塊 36">
                <a:extLst>
                  <a:ext uri="{FF2B5EF4-FFF2-40B4-BE49-F238E27FC236}">
                    <a16:creationId xmlns:a16="http://schemas.microsoft.com/office/drawing/2014/main" id="{61FBDA49-7E0A-4554-AE94-2634649FD6A6}"/>
                  </a:ext>
                </a:extLst>
              </p:cNvPr>
              <p:cNvSpPr txBox="1"/>
              <p:nvPr/>
            </p:nvSpPr>
            <p:spPr>
              <a:xfrm>
                <a:off x="2448385" y="1919009"/>
                <a:ext cx="1421062" cy="307777"/>
              </a:xfrm>
              <a:prstGeom prst="rect">
                <a:avLst/>
              </a:prstGeom>
              <a:noFill/>
            </p:spPr>
            <p:txBody>
              <a:bodyPr wrap="square" rtlCol="0">
                <a:spAutoFit/>
              </a:bodyPr>
              <a:lstStyle/>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證券商</a:t>
                </a:r>
                <a:r>
                  <a:rPr lang="en-US" altLang="zh-TW" sz="1400" b="1" dirty="0">
                    <a:solidFill>
                      <a:schemeClr val="accent5">
                        <a:lumMod val="50000"/>
                      </a:schemeClr>
                    </a:solidFill>
                    <a:latin typeface="微軟正黑體" panose="020B0604030504040204" pitchFamily="34" charset="-120"/>
                    <a:ea typeface="微軟正黑體" panose="020B0604030504040204" pitchFamily="34" charset="-120"/>
                  </a:rPr>
                  <a:t>A</a:t>
                </a:r>
                <a:endParaRPr lang="zh-TW" altLang="en-US" sz="1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38" name="文字方塊 37">
                <a:extLst>
                  <a:ext uri="{FF2B5EF4-FFF2-40B4-BE49-F238E27FC236}">
                    <a16:creationId xmlns:a16="http://schemas.microsoft.com/office/drawing/2014/main" id="{0F4C65F7-A878-424A-938D-12F4C97D3BED}"/>
                  </a:ext>
                </a:extLst>
              </p:cNvPr>
              <p:cNvSpPr txBox="1"/>
              <p:nvPr/>
            </p:nvSpPr>
            <p:spPr>
              <a:xfrm>
                <a:off x="2485085" y="3907615"/>
                <a:ext cx="1421062" cy="307777"/>
              </a:xfrm>
              <a:prstGeom prst="rect">
                <a:avLst/>
              </a:prstGeom>
              <a:noFill/>
            </p:spPr>
            <p:txBody>
              <a:bodyPr wrap="square" rtlCol="0">
                <a:spAutoFit/>
              </a:bodyPr>
              <a:lstStyle/>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證券商</a:t>
                </a:r>
                <a:r>
                  <a:rPr lang="en-US" altLang="zh-TW" sz="1400" b="1" dirty="0">
                    <a:solidFill>
                      <a:schemeClr val="accent5">
                        <a:lumMod val="50000"/>
                      </a:schemeClr>
                    </a:solidFill>
                    <a:latin typeface="微軟正黑體" panose="020B0604030504040204" pitchFamily="34" charset="-120"/>
                    <a:ea typeface="微軟正黑體" panose="020B0604030504040204" pitchFamily="34" charset="-120"/>
                  </a:rPr>
                  <a:t>B</a:t>
                </a:r>
                <a:endParaRPr lang="zh-TW" altLang="en-US" sz="1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39" name="文字方塊 38">
                <a:extLst>
                  <a:ext uri="{FF2B5EF4-FFF2-40B4-BE49-F238E27FC236}">
                    <a16:creationId xmlns:a16="http://schemas.microsoft.com/office/drawing/2014/main" id="{7C6F2B1C-8D9E-42DB-A8E7-72264CF0629F}"/>
                  </a:ext>
                </a:extLst>
              </p:cNvPr>
              <p:cNvSpPr txBox="1"/>
              <p:nvPr/>
            </p:nvSpPr>
            <p:spPr>
              <a:xfrm>
                <a:off x="2514174" y="6148684"/>
                <a:ext cx="1421062" cy="307777"/>
              </a:xfrm>
              <a:prstGeom prst="rect">
                <a:avLst/>
              </a:prstGeom>
              <a:noFill/>
            </p:spPr>
            <p:txBody>
              <a:bodyPr wrap="square" rtlCol="0">
                <a:spAutoFit/>
              </a:bodyPr>
              <a:lstStyle/>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證券商</a:t>
                </a:r>
                <a:r>
                  <a:rPr lang="en-US" altLang="zh-TW" sz="1400" b="1" dirty="0">
                    <a:solidFill>
                      <a:schemeClr val="accent5">
                        <a:lumMod val="50000"/>
                      </a:schemeClr>
                    </a:solidFill>
                    <a:latin typeface="微軟正黑體" panose="020B0604030504040204" pitchFamily="34" charset="-120"/>
                    <a:ea typeface="微軟正黑體" panose="020B0604030504040204" pitchFamily="34" charset="-120"/>
                  </a:rPr>
                  <a:t>C</a:t>
                </a:r>
                <a:endParaRPr lang="zh-TW" altLang="en-US" sz="1400" b="1" dirty="0">
                  <a:solidFill>
                    <a:schemeClr val="accent5">
                      <a:lumMod val="50000"/>
                    </a:schemeClr>
                  </a:solidFill>
                  <a:latin typeface="微軟正黑體" panose="020B0604030504040204" pitchFamily="34" charset="-120"/>
                  <a:ea typeface="微軟正黑體" panose="020B0604030504040204" pitchFamily="34" charset="-120"/>
                </a:endParaRPr>
              </a:p>
            </p:txBody>
          </p:sp>
          <p:pic>
            <p:nvPicPr>
              <p:cNvPr id="40" name="圖片 39">
                <a:extLst>
                  <a:ext uri="{FF2B5EF4-FFF2-40B4-BE49-F238E27FC236}">
                    <a16:creationId xmlns:a16="http://schemas.microsoft.com/office/drawing/2014/main" id="{C99D87A8-A492-46FA-8D53-0607D62B95A8}"/>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0977703" y="2655261"/>
                <a:ext cx="995582" cy="1188603"/>
              </a:xfrm>
              <a:prstGeom prst="rect">
                <a:avLst/>
              </a:prstGeom>
            </p:spPr>
          </p:pic>
          <p:cxnSp>
            <p:nvCxnSpPr>
              <p:cNvPr id="41" name="直線單箭頭接點 40">
                <a:extLst>
                  <a:ext uri="{FF2B5EF4-FFF2-40B4-BE49-F238E27FC236}">
                    <a16:creationId xmlns:a16="http://schemas.microsoft.com/office/drawing/2014/main" id="{57635F90-223F-4B9D-9332-7457DBC6C35E}"/>
                  </a:ext>
                </a:extLst>
              </p:cNvPr>
              <p:cNvCxnSpPr/>
              <p:nvPr/>
            </p:nvCxnSpPr>
            <p:spPr>
              <a:xfrm flipV="1">
                <a:off x="6215693" y="1519650"/>
                <a:ext cx="1927254" cy="1"/>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420E6804-8B41-4F7A-B15C-FDA5C0549AC4}"/>
                  </a:ext>
                </a:extLst>
              </p:cNvPr>
              <p:cNvCxnSpPr/>
              <p:nvPr/>
            </p:nvCxnSpPr>
            <p:spPr>
              <a:xfrm>
                <a:off x="6672064" y="3360588"/>
                <a:ext cx="1391531"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81ECD8E1-EBB9-4E74-AF88-D9D78569FE87}"/>
                  </a:ext>
                </a:extLst>
              </p:cNvPr>
              <p:cNvCxnSpPr/>
              <p:nvPr/>
            </p:nvCxnSpPr>
            <p:spPr>
              <a:xfrm flipV="1">
                <a:off x="6384032" y="5343884"/>
                <a:ext cx="1679563" cy="11877"/>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9CE10DA7-54B2-4731-9502-76D99032917F}"/>
                  </a:ext>
                </a:extLst>
              </p:cNvPr>
              <p:cNvCxnSpPr/>
              <p:nvPr/>
            </p:nvCxnSpPr>
            <p:spPr>
              <a:xfrm>
                <a:off x="6384032" y="4904893"/>
                <a:ext cx="0" cy="43899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EFF0A821-AD72-4580-9BB3-6E7D95703C1B}"/>
                  </a:ext>
                </a:extLst>
              </p:cNvPr>
              <p:cNvCxnSpPr/>
              <p:nvPr/>
            </p:nvCxnSpPr>
            <p:spPr>
              <a:xfrm>
                <a:off x="6215693" y="1516810"/>
                <a:ext cx="0" cy="43899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6" name="文字方塊 45">
                <a:extLst>
                  <a:ext uri="{FF2B5EF4-FFF2-40B4-BE49-F238E27FC236}">
                    <a16:creationId xmlns:a16="http://schemas.microsoft.com/office/drawing/2014/main" id="{7AF0F885-B6B9-40DC-BD70-D310F51CB667}"/>
                  </a:ext>
                </a:extLst>
              </p:cNvPr>
              <p:cNvSpPr txBox="1"/>
              <p:nvPr/>
            </p:nvSpPr>
            <p:spPr>
              <a:xfrm>
                <a:off x="6668253" y="2535574"/>
                <a:ext cx="1421062" cy="523220"/>
              </a:xfrm>
              <a:prstGeom prst="rect">
                <a:avLst/>
              </a:prstGeom>
              <a:noFill/>
            </p:spPr>
            <p:txBody>
              <a:bodyPr wrap="square" rtlCol="0">
                <a:spAutoFit/>
              </a:bodyPr>
              <a:lstStyle/>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清算數據</a:t>
                </a:r>
                <a:endParaRPr lang="en-US" altLang="zh-TW" sz="1400" b="1" dirty="0">
                  <a:solidFill>
                    <a:schemeClr val="accent5">
                      <a:lumMod val="50000"/>
                    </a:schemeClr>
                  </a:solidFill>
                  <a:latin typeface="微軟正黑體" panose="020B0604030504040204" pitchFamily="34" charset="-120"/>
                  <a:ea typeface="微軟正黑體" panose="020B0604030504040204" pitchFamily="34" charset="-120"/>
                </a:endParaRPr>
              </a:p>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成交回報</a:t>
                </a:r>
                <a:endParaRPr lang="en-US" altLang="zh-TW" sz="1400" b="1"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47" name="文字方塊 46">
                <a:extLst>
                  <a:ext uri="{FF2B5EF4-FFF2-40B4-BE49-F238E27FC236}">
                    <a16:creationId xmlns:a16="http://schemas.microsoft.com/office/drawing/2014/main" id="{CECD126C-A8BE-46B6-A03C-3656570F13F1}"/>
                  </a:ext>
                </a:extLst>
              </p:cNvPr>
              <p:cNvSpPr txBox="1"/>
              <p:nvPr/>
            </p:nvSpPr>
            <p:spPr>
              <a:xfrm>
                <a:off x="9571482" y="2487131"/>
                <a:ext cx="1421062" cy="523220"/>
              </a:xfrm>
              <a:prstGeom prst="rect">
                <a:avLst/>
              </a:prstGeom>
              <a:noFill/>
            </p:spPr>
            <p:txBody>
              <a:bodyPr wrap="square" rtlCol="0">
                <a:spAutoFit/>
              </a:bodyPr>
              <a:lstStyle/>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交割</a:t>
                </a:r>
                <a:r>
                  <a:rPr lang="en-US" altLang="zh-TW" sz="1400" b="1" dirty="0">
                    <a:solidFill>
                      <a:schemeClr val="accent5">
                        <a:lumMod val="50000"/>
                      </a:schemeClr>
                    </a:solidFill>
                    <a:latin typeface="微軟正黑體" panose="020B0604030504040204" pitchFamily="34" charset="-120"/>
                    <a:ea typeface="微軟正黑體" panose="020B0604030504040204" pitchFamily="34" charset="-120"/>
                  </a:rPr>
                  <a:t>T+3</a:t>
                </a:r>
              </a:p>
              <a:p>
                <a:r>
                  <a:rPr lang="zh-TW" altLang="en-US" sz="1400" b="1" dirty="0">
                    <a:solidFill>
                      <a:schemeClr val="accent5">
                        <a:lumMod val="50000"/>
                      </a:schemeClr>
                    </a:solidFill>
                    <a:latin typeface="微軟正黑體" panose="020B0604030504040204" pitchFamily="34" charset="-120"/>
                    <a:ea typeface="微軟正黑體" panose="020B0604030504040204" pitchFamily="34" charset="-120"/>
                  </a:rPr>
                  <a:t>成交回報</a:t>
                </a:r>
                <a:endParaRPr lang="en-US" altLang="zh-TW" sz="1400" b="1" dirty="0">
                  <a:solidFill>
                    <a:schemeClr val="accent5">
                      <a:lumMod val="50000"/>
                    </a:schemeClr>
                  </a:solidFill>
                  <a:latin typeface="微軟正黑體" panose="020B0604030504040204" pitchFamily="34" charset="-120"/>
                  <a:ea typeface="微軟正黑體" panose="020B0604030504040204" pitchFamily="34" charset="-120"/>
                </a:endParaRPr>
              </a:p>
            </p:txBody>
          </p:sp>
          <p:cxnSp>
            <p:nvCxnSpPr>
              <p:cNvPr id="48" name="直線單箭頭接點 47">
                <a:extLst>
                  <a:ext uri="{FF2B5EF4-FFF2-40B4-BE49-F238E27FC236}">
                    <a16:creationId xmlns:a16="http://schemas.microsoft.com/office/drawing/2014/main" id="{E62D01F7-C71E-48C5-961A-DD11D7D4CADC}"/>
                  </a:ext>
                </a:extLst>
              </p:cNvPr>
              <p:cNvCxnSpPr/>
              <p:nvPr/>
            </p:nvCxnSpPr>
            <p:spPr>
              <a:xfrm>
                <a:off x="9480376" y="3303221"/>
                <a:ext cx="1391531"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grpSp>
            <p:nvGrpSpPr>
              <p:cNvPr id="49" name="群組 48">
                <a:extLst>
                  <a:ext uri="{FF2B5EF4-FFF2-40B4-BE49-F238E27FC236}">
                    <a16:creationId xmlns:a16="http://schemas.microsoft.com/office/drawing/2014/main" id="{69E00544-F6CE-4D9C-A0BD-1F24F7F8661A}"/>
                  </a:ext>
                </a:extLst>
              </p:cNvPr>
              <p:cNvGrpSpPr/>
              <p:nvPr/>
            </p:nvGrpSpPr>
            <p:grpSpPr>
              <a:xfrm>
                <a:off x="9622720" y="1544663"/>
                <a:ext cx="1826732" cy="901966"/>
                <a:chOff x="4367808" y="1655450"/>
                <a:chExt cx="1800200" cy="856953"/>
              </a:xfrm>
            </p:grpSpPr>
            <p:cxnSp>
              <p:nvCxnSpPr>
                <p:cNvPr id="53" name="直線接點 52">
                  <a:extLst>
                    <a:ext uri="{FF2B5EF4-FFF2-40B4-BE49-F238E27FC236}">
                      <a16:creationId xmlns:a16="http://schemas.microsoft.com/office/drawing/2014/main" id="{F79BC263-4154-41AF-914D-1F800E758E1B}"/>
                    </a:ext>
                  </a:extLst>
                </p:cNvPr>
                <p:cNvCxnSpPr/>
                <p:nvPr/>
              </p:nvCxnSpPr>
              <p:spPr>
                <a:xfrm flipH="1">
                  <a:off x="4367808" y="1655450"/>
                  <a:ext cx="180020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線單箭頭接點 53">
                  <a:extLst>
                    <a:ext uri="{FF2B5EF4-FFF2-40B4-BE49-F238E27FC236}">
                      <a16:creationId xmlns:a16="http://schemas.microsoft.com/office/drawing/2014/main" id="{D3969103-114B-4B1F-817E-5D31C8953CDA}"/>
                    </a:ext>
                  </a:extLst>
                </p:cNvPr>
                <p:cNvCxnSpPr/>
                <p:nvPr/>
              </p:nvCxnSpPr>
              <p:spPr>
                <a:xfrm>
                  <a:off x="6168008" y="1655450"/>
                  <a:ext cx="0" cy="856953"/>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grpSp>
          <p:grpSp>
            <p:nvGrpSpPr>
              <p:cNvPr id="50" name="群組 49">
                <a:extLst>
                  <a:ext uri="{FF2B5EF4-FFF2-40B4-BE49-F238E27FC236}">
                    <a16:creationId xmlns:a16="http://schemas.microsoft.com/office/drawing/2014/main" id="{6A1B7521-865B-41EC-AC7B-BDA6D3DC7931}"/>
                  </a:ext>
                </a:extLst>
              </p:cNvPr>
              <p:cNvGrpSpPr/>
              <p:nvPr/>
            </p:nvGrpSpPr>
            <p:grpSpPr>
              <a:xfrm rot="10800000" flipH="1">
                <a:off x="9701134" y="4566969"/>
                <a:ext cx="1748318" cy="737791"/>
                <a:chOff x="4367808" y="1655450"/>
                <a:chExt cx="1837220" cy="659550"/>
              </a:xfrm>
            </p:grpSpPr>
            <p:cxnSp>
              <p:nvCxnSpPr>
                <p:cNvPr id="51" name="直線接點 50">
                  <a:extLst>
                    <a:ext uri="{FF2B5EF4-FFF2-40B4-BE49-F238E27FC236}">
                      <a16:creationId xmlns:a16="http://schemas.microsoft.com/office/drawing/2014/main" id="{C2ADD86D-0F23-4CA1-88FF-42E1D3E7C865}"/>
                    </a:ext>
                  </a:extLst>
                </p:cNvPr>
                <p:cNvCxnSpPr/>
                <p:nvPr/>
              </p:nvCxnSpPr>
              <p:spPr>
                <a:xfrm flipH="1">
                  <a:off x="4367808" y="1655450"/>
                  <a:ext cx="180020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21B38B94-40B2-49A3-A36E-8A5C39518FE8}"/>
                    </a:ext>
                  </a:extLst>
                </p:cNvPr>
                <p:cNvCxnSpPr/>
                <p:nvPr/>
              </p:nvCxnSpPr>
              <p:spPr>
                <a:xfrm rot="11152868" flipH="1" flipV="1">
                  <a:off x="6140177" y="1657765"/>
                  <a:ext cx="64851" cy="657235"/>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grpSp>
        </p:grpSp>
      </p:grpSp>
      <p:sp>
        <p:nvSpPr>
          <p:cNvPr id="65" name="文字方塊 64">
            <a:extLst>
              <a:ext uri="{FF2B5EF4-FFF2-40B4-BE49-F238E27FC236}">
                <a16:creationId xmlns:a16="http://schemas.microsoft.com/office/drawing/2014/main" id="{955C198F-F1A4-4B79-8021-7DB3B135EE1C}"/>
              </a:ext>
            </a:extLst>
          </p:cNvPr>
          <p:cNvSpPr txBox="1"/>
          <p:nvPr/>
        </p:nvSpPr>
        <p:spPr>
          <a:xfrm>
            <a:off x="8763157" y="6381395"/>
            <a:ext cx="3012363" cy="369332"/>
          </a:xfrm>
          <a:prstGeom prst="rect">
            <a:avLst/>
          </a:prstGeom>
          <a:noFill/>
        </p:spPr>
        <p:txBody>
          <a:bodyPr wrap="none" rtlCol="0">
            <a:spAutoFit/>
          </a:bodyPr>
          <a:lstStyle/>
          <a:p>
            <a:pPr marL="285750" indent="-285750">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目前證券交易流程示意圖</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58479315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53" presetClass="entr" presetSubtype="16"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p:cTn id="29" dur="500" fill="hold"/>
                                        <p:tgtEl>
                                          <p:spTgt spid="2"/>
                                        </p:tgtEl>
                                        <p:attrNameLst>
                                          <p:attrName>ppt_w</p:attrName>
                                        </p:attrNameLst>
                                      </p:cBhvr>
                                      <p:tavLst>
                                        <p:tav tm="0">
                                          <p:val>
                                            <p:fltVal val="0"/>
                                          </p:val>
                                        </p:tav>
                                        <p:tav tm="100000">
                                          <p:val>
                                            <p:strVal val="#ppt_w"/>
                                          </p:val>
                                        </p:tav>
                                      </p:tavLst>
                                    </p:anim>
                                    <p:anim calcmode="lin" valueType="num">
                                      <p:cBhvr>
                                        <p:cTn id="30" dur="500" fill="hold"/>
                                        <p:tgtEl>
                                          <p:spTgt spid="2"/>
                                        </p:tgtEl>
                                        <p:attrNameLst>
                                          <p:attrName>ppt_h</p:attrName>
                                        </p:attrNameLst>
                                      </p:cBhvr>
                                      <p:tavLst>
                                        <p:tav tm="0">
                                          <p:val>
                                            <p:fltVal val="0"/>
                                          </p:val>
                                        </p:tav>
                                        <p:tav tm="100000">
                                          <p:val>
                                            <p:strVal val="#ppt_h"/>
                                          </p:val>
                                        </p:tav>
                                      </p:tavLst>
                                    </p:anim>
                                    <p:animEffect transition="in" filter="fade">
                                      <p:cBhvr>
                                        <p:cTn id="31" dur="500"/>
                                        <p:tgtEl>
                                          <p:spTgt spid="2"/>
                                        </p:tgtEl>
                                      </p:cBhvr>
                                    </p:animEffect>
                                  </p:childTnLst>
                                </p:cTn>
                              </p:par>
                              <p:par>
                                <p:cTn id="32" presetID="2" presetClass="entr" presetSubtype="4" fill="hold" grpId="0" nodeType="withEffect">
                                  <p:stCondLst>
                                    <p:cond delay="0"/>
                                  </p:stCondLst>
                                  <p:childTnLst>
                                    <p:set>
                                      <p:cBhvr>
                                        <p:cTn id="33" dur="1" fill="hold">
                                          <p:stCondLst>
                                            <p:cond delay="0"/>
                                          </p:stCondLst>
                                        </p:cTn>
                                        <p:tgtEl>
                                          <p:spTgt spid="65"/>
                                        </p:tgtEl>
                                        <p:attrNameLst>
                                          <p:attrName>style.visibility</p:attrName>
                                        </p:attrNameLst>
                                      </p:cBhvr>
                                      <p:to>
                                        <p:strVal val="visible"/>
                                      </p:to>
                                    </p:set>
                                    <p:anim calcmode="lin" valueType="num">
                                      <p:cBhvr additive="base">
                                        <p:cTn id="34" dur="500" fill="hold"/>
                                        <p:tgtEl>
                                          <p:spTgt spid="65"/>
                                        </p:tgtEl>
                                        <p:attrNameLst>
                                          <p:attrName>ppt_x</p:attrName>
                                        </p:attrNameLst>
                                      </p:cBhvr>
                                      <p:tavLst>
                                        <p:tav tm="0">
                                          <p:val>
                                            <p:strVal val="#ppt_x"/>
                                          </p:val>
                                        </p:tav>
                                        <p:tav tm="100000">
                                          <p:val>
                                            <p:strVal val="#ppt_x"/>
                                          </p:val>
                                        </p:tav>
                                      </p:tavLst>
                                    </p:anim>
                                    <p:anim calcmode="lin" valueType="num">
                                      <p:cBhvr additive="base">
                                        <p:cTn id="35"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6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a:cxnSpLocks/>
          </p:cNvCxnSpPr>
          <p:nvPr/>
        </p:nvCxnSpPr>
        <p:spPr>
          <a:xfrm>
            <a:off x="1177167" y="1046746"/>
            <a:ext cx="8315625"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C5975A11-2F1B-4406-B386-35CD2CCB95B2}"/>
              </a:ext>
            </a:extLst>
          </p:cNvPr>
          <p:cNvSpPr txBox="1"/>
          <p:nvPr/>
        </p:nvSpPr>
        <p:spPr>
          <a:xfrm>
            <a:off x="1177167" y="1161885"/>
            <a:ext cx="10078437" cy="5246949"/>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三、智能證券</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4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運用</a:t>
            </a:r>
            <a:r>
              <a:rPr lang="zh-TW" altLang="en-US" sz="2200" b="1" dirty="0">
                <a:solidFill>
                  <a:srgbClr val="54667E"/>
                </a:solidFill>
                <a:latin typeface="微軟正黑體" panose="020B0604030504040204" pitchFamily="34" charset="-120"/>
                <a:ea typeface="微軟正黑體" panose="020B0604030504040204" pitchFamily="34" charset="-120"/>
              </a:rPr>
              <a:t>智能證券</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的概念，讓證券產權</a:t>
            </a:r>
            <a:r>
              <a:rPr lang="zh-TW" altLang="en-US" sz="2200" b="1" dirty="0">
                <a:solidFill>
                  <a:srgbClr val="54667E"/>
                </a:solidFill>
                <a:latin typeface="微軟正黑體" panose="020B0604030504040204" pitchFamily="34" charset="-120"/>
                <a:ea typeface="微軟正黑體" panose="020B0604030504040204" pitchFamily="34" charset="-120"/>
              </a:rPr>
              <a:t>數位化</a:t>
            </a:r>
            <a:endParaRPr lang="en-US" altLang="zh-TW" sz="2200" b="1" dirty="0">
              <a:solidFill>
                <a:srgbClr val="54667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那斯達克（</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NASDAQ</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）證券交易所的「</a:t>
            </a:r>
            <a:r>
              <a:rPr lang="en-US" altLang="zh-TW" sz="2200" b="1" dirty="0" err="1">
                <a:solidFill>
                  <a:schemeClr val="tx1">
                    <a:lumMod val="75000"/>
                    <a:lumOff val="25000"/>
                  </a:schemeClr>
                </a:solidFill>
                <a:latin typeface="微軟正黑體" panose="020B0604030504040204" pitchFamily="34" charset="-120"/>
                <a:ea typeface="微軟正黑體" panose="020B0604030504040204" pitchFamily="34" charset="-120"/>
              </a:rPr>
              <a:t>Linq</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」交易平台系統</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交易被系統數位化，精密管理與紀錄交易資訊，降低紀錄時間及交易成本，也提升交易資訊查詢的效率，基於資料具有不可竄改性和可追蹤性等，讓交易資訊更加透明，降低犯罪可能性</a:t>
            </a: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交易完成後的價值轉移</a:t>
            </a:r>
          </a:p>
          <a:p>
            <a:pPr marL="1257300" lvl="2"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透過法定數位貨幣或者是某種「結算工具」的設計，與區塊鏈的數位資產連結，降低有價證券的移轉成本，縮短清算、結算與交割的時間</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投資者可以查詢得知交易資訊或執行進度及實際成交價格</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0" name="標題 1">
            <a:extLst>
              <a:ext uri="{FF2B5EF4-FFF2-40B4-BE49-F238E27FC236}">
                <a16:creationId xmlns:a16="http://schemas.microsoft.com/office/drawing/2014/main" id="{77E13B55-C119-4D95-AA99-CCCEB6676D08}"/>
              </a:ext>
            </a:extLst>
          </p:cNvPr>
          <p:cNvSpPr txBox="1">
            <a:spLocks/>
          </p:cNvSpPr>
          <p:nvPr/>
        </p:nvSpPr>
        <p:spPr>
          <a:xfrm>
            <a:off x="1518277" y="393820"/>
            <a:ext cx="3829576"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5-2 </a:t>
            </a:r>
            <a:r>
              <a:rPr lang="zh-TW" altLang="en-US" sz="2400" b="1" dirty="0">
                <a:solidFill>
                  <a:srgbClr val="E06741"/>
                </a:solidFill>
              </a:rPr>
              <a:t>區塊鏈之金融服務應用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E8CB8989-F715-4501-9844-A4A743C57337}"/>
              </a:ext>
            </a:extLst>
          </p:cNvPr>
          <p:cNvSpPr txBox="1"/>
          <p:nvPr/>
        </p:nvSpPr>
        <p:spPr>
          <a:xfrm>
            <a:off x="5327744"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區塊鏈之金融服務應用領域</a:t>
            </a:r>
          </a:p>
        </p:txBody>
      </p:sp>
      <p:pic>
        <p:nvPicPr>
          <p:cNvPr id="4" name="圖片 3" descr="一張含有 房間 的圖片&#10;&#10;描述是以高可信度產生">
            <a:extLst>
              <a:ext uri="{FF2B5EF4-FFF2-40B4-BE49-F238E27FC236}">
                <a16:creationId xmlns:a16="http://schemas.microsoft.com/office/drawing/2014/main" id="{D40398FF-B6FC-4AEB-BA0A-F81F8880A5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12795" y="172151"/>
            <a:ext cx="1749190" cy="1749190"/>
          </a:xfrm>
          <a:prstGeom prst="rect">
            <a:avLst/>
          </a:prstGeom>
        </p:spPr>
      </p:pic>
    </p:spTree>
    <p:extLst>
      <p:ext uri="{BB962C8B-B14F-4D97-AF65-F5344CB8AC3E}">
        <p14:creationId xmlns:p14="http://schemas.microsoft.com/office/powerpoint/2010/main" val="205009568"/>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animEffect transition="in" filter="barn(inVertical)">
                                      <p:cBhvr>
                                        <p:cTn id="29" dur="500"/>
                                        <p:tgtEl>
                                          <p:spTgt spid="28">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4" end="4"/>
                                            </p:txEl>
                                          </p:spTgt>
                                        </p:tgtEl>
                                        <p:attrNameLst>
                                          <p:attrName>style.visibility</p:attrName>
                                        </p:attrNameLst>
                                      </p:cBhvr>
                                      <p:to>
                                        <p:strVal val="visible"/>
                                      </p:to>
                                    </p:set>
                                    <p:animEffect transition="in" filter="barn(inVertical)">
                                      <p:cBhvr>
                                        <p:cTn id="33" dur="500"/>
                                        <p:tgtEl>
                                          <p:spTgt spid="28">
                                            <p:txEl>
                                              <p:pRg st="4" end="4"/>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5" end="5"/>
                                            </p:txEl>
                                          </p:spTgt>
                                        </p:tgtEl>
                                        <p:attrNameLst>
                                          <p:attrName>style.visibility</p:attrName>
                                        </p:attrNameLst>
                                      </p:cBhvr>
                                      <p:to>
                                        <p:strVal val="visible"/>
                                      </p:to>
                                    </p:set>
                                    <p:animEffect transition="in" filter="barn(inVertical)">
                                      <p:cBhvr>
                                        <p:cTn id="37" dur="500"/>
                                        <p:tgtEl>
                                          <p:spTgt spid="28">
                                            <p:txEl>
                                              <p:pRg st="5" end="5"/>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28">
                                            <p:txEl>
                                              <p:pRg st="6" end="6"/>
                                            </p:txEl>
                                          </p:spTgt>
                                        </p:tgtEl>
                                        <p:attrNameLst>
                                          <p:attrName>style.visibility</p:attrName>
                                        </p:attrNameLst>
                                      </p:cBhvr>
                                      <p:to>
                                        <p:strVal val="visible"/>
                                      </p:to>
                                    </p:set>
                                    <p:animEffect transition="in" filter="barn(inVertical)">
                                      <p:cBhvr>
                                        <p:cTn id="41" dur="500"/>
                                        <p:tgtEl>
                                          <p:spTgt spid="28">
                                            <p:txEl>
                                              <p:pRg st="6" end="6"/>
                                            </p:txEl>
                                          </p:spTgt>
                                        </p:tgtEl>
                                      </p:cBhvr>
                                    </p:animEffect>
                                  </p:childTnLst>
                                </p:cTn>
                              </p:par>
                            </p:childTnLst>
                          </p:cTn>
                        </p:par>
                        <p:par>
                          <p:cTn id="42" fill="hold">
                            <p:stCondLst>
                              <p:cond delay="6000"/>
                            </p:stCondLst>
                            <p:childTnLst>
                              <p:par>
                                <p:cTn id="43" presetID="16" presetClass="entr" presetSubtype="21" fill="hold" nodeType="afterEffect">
                                  <p:stCondLst>
                                    <p:cond delay="0"/>
                                  </p:stCondLst>
                                  <p:childTnLst>
                                    <p:set>
                                      <p:cBhvr>
                                        <p:cTn id="44" dur="1" fill="hold">
                                          <p:stCondLst>
                                            <p:cond delay="0"/>
                                          </p:stCondLst>
                                        </p:cTn>
                                        <p:tgtEl>
                                          <p:spTgt spid="28">
                                            <p:txEl>
                                              <p:pRg st="7" end="7"/>
                                            </p:txEl>
                                          </p:spTgt>
                                        </p:tgtEl>
                                        <p:attrNameLst>
                                          <p:attrName>style.visibility</p:attrName>
                                        </p:attrNameLst>
                                      </p:cBhvr>
                                      <p:to>
                                        <p:strVal val="visible"/>
                                      </p:to>
                                    </p:set>
                                    <p:animEffect transition="in" filter="barn(inVertical)">
                                      <p:cBhvr>
                                        <p:cTn id="45" dur="500"/>
                                        <p:tgtEl>
                                          <p:spTgt spid="28">
                                            <p:txEl>
                                              <p:pRg st="7" end="7"/>
                                            </p:txEl>
                                          </p:spTgt>
                                        </p:tgtEl>
                                      </p:cBhvr>
                                    </p:animEffect>
                                  </p:childTnLst>
                                </p:cTn>
                              </p:par>
                            </p:childTnLst>
                          </p:cTn>
                        </p:par>
                        <p:par>
                          <p:cTn id="46" fill="hold">
                            <p:stCondLst>
                              <p:cond delay="6500"/>
                            </p:stCondLst>
                            <p:childTnLst>
                              <p:par>
                                <p:cTn id="47" presetID="53" presetClass="entr" presetSubtype="16" fill="hold" nodeType="after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p:cTn id="49" dur="500" fill="hold"/>
                                        <p:tgtEl>
                                          <p:spTgt spid="4"/>
                                        </p:tgtEl>
                                        <p:attrNameLst>
                                          <p:attrName>ppt_w</p:attrName>
                                        </p:attrNameLst>
                                      </p:cBhvr>
                                      <p:tavLst>
                                        <p:tav tm="0">
                                          <p:val>
                                            <p:fltVal val="0"/>
                                          </p:val>
                                        </p:tav>
                                        <p:tav tm="100000">
                                          <p:val>
                                            <p:strVal val="#ppt_w"/>
                                          </p:val>
                                        </p:tav>
                                      </p:tavLst>
                                    </p:anim>
                                    <p:anim calcmode="lin" valueType="num">
                                      <p:cBhvr>
                                        <p:cTn id="50" dur="500" fill="hold"/>
                                        <p:tgtEl>
                                          <p:spTgt spid="4"/>
                                        </p:tgtEl>
                                        <p:attrNameLst>
                                          <p:attrName>ppt_h</p:attrName>
                                        </p:attrNameLst>
                                      </p:cBhvr>
                                      <p:tavLst>
                                        <p:tav tm="0">
                                          <p:val>
                                            <p:fltVal val="0"/>
                                          </p:val>
                                        </p:tav>
                                        <p:tav tm="100000">
                                          <p:val>
                                            <p:strVal val="#ppt_h"/>
                                          </p:val>
                                        </p:tav>
                                      </p:tavLst>
                                    </p:anim>
                                    <p:animEffect transition="in" filter="fade">
                                      <p:cBhvr>
                                        <p:cTn id="5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a:cxnSpLocks/>
          </p:cNvCxnSpPr>
          <p:nvPr/>
        </p:nvCxnSpPr>
        <p:spPr>
          <a:xfrm>
            <a:off x="1177167" y="1046746"/>
            <a:ext cx="816479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C5975A11-2F1B-4406-B386-35CD2CCB95B2}"/>
              </a:ext>
            </a:extLst>
          </p:cNvPr>
          <p:cNvSpPr txBox="1"/>
          <p:nvPr/>
        </p:nvSpPr>
        <p:spPr>
          <a:xfrm>
            <a:off x="1177167" y="1465885"/>
            <a:ext cx="10087862" cy="4248727"/>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四、徵信</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7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金融機構的身分識別（</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KYC</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作業效率低</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Font typeface="微軟正黑體" panose="020B0604030504040204" pitchFamily="34" charset="-120"/>
              <a:buChar cha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須透過</a:t>
            </a:r>
            <a:r>
              <a:rPr lang="zh-TW" altLang="en-US" sz="2400" b="1" dirty="0">
                <a:solidFill>
                  <a:srgbClr val="54667E"/>
                </a:solidFill>
                <a:latin typeface="微軟正黑體" panose="020B0604030504040204" pitchFamily="34" charset="-120"/>
                <a:ea typeface="微軟正黑體" panose="020B0604030504040204" pitchFamily="34" charset="-120"/>
              </a:rPr>
              <a:t>徵信</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識別身分準確性</a:t>
            </a: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對消費者進行重複認證，識別的成本提高，並有個資外洩的風險</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區塊鏈技術可藉由數據主系統通過交易機制，且徵信訊息無法篡改，並經由區塊鏈交換交易訊息</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導入區塊鏈可提高徵信公信力，降低成本，提供多維度精準大數據</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0" name="標題 1">
            <a:extLst>
              <a:ext uri="{FF2B5EF4-FFF2-40B4-BE49-F238E27FC236}">
                <a16:creationId xmlns:a16="http://schemas.microsoft.com/office/drawing/2014/main" id="{77E13B55-C119-4D95-AA99-CCCEB6676D08}"/>
              </a:ext>
            </a:extLst>
          </p:cNvPr>
          <p:cNvSpPr txBox="1">
            <a:spLocks/>
          </p:cNvSpPr>
          <p:nvPr/>
        </p:nvSpPr>
        <p:spPr>
          <a:xfrm>
            <a:off x="1518277" y="393820"/>
            <a:ext cx="3829576"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5-2 </a:t>
            </a:r>
            <a:r>
              <a:rPr lang="zh-TW" altLang="en-US" sz="2400" b="1" dirty="0">
                <a:solidFill>
                  <a:srgbClr val="E06741"/>
                </a:solidFill>
              </a:rPr>
              <a:t>區塊鏈之金融服務應用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E8CB8989-F715-4501-9844-A4A743C57337}"/>
              </a:ext>
            </a:extLst>
          </p:cNvPr>
          <p:cNvSpPr txBox="1"/>
          <p:nvPr/>
        </p:nvSpPr>
        <p:spPr>
          <a:xfrm>
            <a:off x="5327744"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區塊鏈之金融服務應用領域</a:t>
            </a:r>
          </a:p>
        </p:txBody>
      </p:sp>
      <p:pic>
        <p:nvPicPr>
          <p:cNvPr id="4" name="圖片 3" descr="一張含有 名片, 文字 的圖片&#10;&#10;描述是以高可信度產生">
            <a:extLst>
              <a:ext uri="{FF2B5EF4-FFF2-40B4-BE49-F238E27FC236}">
                <a16:creationId xmlns:a16="http://schemas.microsoft.com/office/drawing/2014/main" id="{F2D2E084-E641-447B-BBA8-11670B2477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4545" y="275620"/>
            <a:ext cx="1698356" cy="1698356"/>
          </a:xfrm>
          <a:prstGeom prst="rect">
            <a:avLst/>
          </a:prstGeom>
        </p:spPr>
      </p:pic>
    </p:spTree>
    <p:extLst>
      <p:ext uri="{BB962C8B-B14F-4D97-AF65-F5344CB8AC3E}">
        <p14:creationId xmlns:p14="http://schemas.microsoft.com/office/powerpoint/2010/main" val="8340583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animEffect transition="in" filter="barn(inVertical)">
                                      <p:cBhvr>
                                        <p:cTn id="29" dur="500"/>
                                        <p:tgtEl>
                                          <p:spTgt spid="28">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4" end="4"/>
                                            </p:txEl>
                                          </p:spTgt>
                                        </p:tgtEl>
                                        <p:attrNameLst>
                                          <p:attrName>style.visibility</p:attrName>
                                        </p:attrNameLst>
                                      </p:cBhvr>
                                      <p:to>
                                        <p:strVal val="visible"/>
                                      </p:to>
                                    </p:set>
                                    <p:animEffect transition="in" filter="barn(inVertical)">
                                      <p:cBhvr>
                                        <p:cTn id="33" dur="500"/>
                                        <p:tgtEl>
                                          <p:spTgt spid="28">
                                            <p:txEl>
                                              <p:pRg st="4" end="4"/>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6" end="6"/>
                                            </p:txEl>
                                          </p:spTgt>
                                        </p:tgtEl>
                                        <p:attrNameLst>
                                          <p:attrName>style.visibility</p:attrName>
                                        </p:attrNameLst>
                                      </p:cBhvr>
                                      <p:to>
                                        <p:strVal val="visible"/>
                                      </p:to>
                                    </p:set>
                                    <p:animEffect transition="in" filter="barn(inVertical)">
                                      <p:cBhvr>
                                        <p:cTn id="37" dur="500"/>
                                        <p:tgtEl>
                                          <p:spTgt spid="28">
                                            <p:txEl>
                                              <p:pRg st="6" end="6"/>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28">
                                            <p:txEl>
                                              <p:pRg st="7" end="7"/>
                                            </p:txEl>
                                          </p:spTgt>
                                        </p:tgtEl>
                                        <p:attrNameLst>
                                          <p:attrName>style.visibility</p:attrName>
                                        </p:attrNameLst>
                                      </p:cBhvr>
                                      <p:to>
                                        <p:strVal val="visible"/>
                                      </p:to>
                                    </p:set>
                                    <p:animEffect transition="in" filter="barn(inVertical)">
                                      <p:cBhvr>
                                        <p:cTn id="41" dur="500"/>
                                        <p:tgtEl>
                                          <p:spTgt spid="28">
                                            <p:txEl>
                                              <p:pRg st="7" end="7"/>
                                            </p:txEl>
                                          </p:spTgt>
                                        </p:tgtEl>
                                      </p:cBhvr>
                                    </p:animEffect>
                                  </p:childTnLst>
                                </p:cTn>
                              </p:par>
                            </p:childTnLst>
                          </p:cTn>
                        </p:par>
                        <p:par>
                          <p:cTn id="42" fill="hold">
                            <p:stCondLst>
                              <p:cond delay="6000"/>
                            </p:stCondLst>
                            <p:childTnLst>
                              <p:par>
                                <p:cTn id="43" presetID="53" presetClass="entr" presetSubtype="16" fill="hold" nodeType="after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p:cTn id="45" dur="500" fill="hold"/>
                                        <p:tgtEl>
                                          <p:spTgt spid="4"/>
                                        </p:tgtEl>
                                        <p:attrNameLst>
                                          <p:attrName>ppt_w</p:attrName>
                                        </p:attrNameLst>
                                      </p:cBhvr>
                                      <p:tavLst>
                                        <p:tav tm="0">
                                          <p:val>
                                            <p:fltVal val="0"/>
                                          </p:val>
                                        </p:tav>
                                        <p:tav tm="100000">
                                          <p:val>
                                            <p:strVal val="#ppt_w"/>
                                          </p:val>
                                        </p:tav>
                                      </p:tavLst>
                                    </p:anim>
                                    <p:anim calcmode="lin" valueType="num">
                                      <p:cBhvr>
                                        <p:cTn id="46" dur="500" fill="hold"/>
                                        <p:tgtEl>
                                          <p:spTgt spid="4"/>
                                        </p:tgtEl>
                                        <p:attrNameLst>
                                          <p:attrName>ppt_h</p:attrName>
                                        </p:attrNameLst>
                                      </p:cBhvr>
                                      <p:tavLst>
                                        <p:tav tm="0">
                                          <p:val>
                                            <p:fltVal val="0"/>
                                          </p:val>
                                        </p:tav>
                                        <p:tav tm="100000">
                                          <p:val>
                                            <p:strVal val="#ppt_h"/>
                                          </p:val>
                                        </p:tav>
                                      </p:tavLst>
                                    </p:anim>
                                    <p:animEffect transition="in" filter="fade">
                                      <p:cBhvr>
                                        <p:cTn id="4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558751" y="1790521"/>
            <a:ext cx="3842808" cy="3902479"/>
          </a:xfrm>
          <a:prstGeom prst="rect">
            <a:avLst/>
          </a:prstGeom>
          <a:noFill/>
        </p:spPr>
        <p:txBody>
          <a:bodyPr wrap="square" rtlCol="0">
            <a:spAutoFit/>
          </a:bodyPr>
          <a:lstStyle/>
          <a:p>
            <a:pPr marL="342900" indent="-342900">
              <a:lnSpc>
                <a:spcPct val="150000"/>
              </a:lnSpc>
              <a:buBlip>
                <a:blip r:embed="rId4"/>
              </a:buBlip>
            </a:pPr>
            <a:r>
              <a:rPr lang="zh-TW" altLang="en-US" sz="2400" b="1" dirty="0">
                <a:solidFill>
                  <a:srgbClr val="54667E"/>
                </a:solidFill>
                <a:latin typeface="微軟正黑體" panose="020B0604030504040204" pitchFamily="34" charset="-120"/>
                <a:ea typeface="微軟正黑體" panose="020B0604030504040204" pitchFamily="34" charset="-120"/>
              </a:rPr>
              <a:t>非金融服務</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應用區塊鏈技術於服務消費市場或公務行政事務處理上，應改善非金融服務產業或公務部門的</a:t>
            </a:r>
            <a:r>
              <a:rPr lang="zh-TW" altLang="en-US" sz="2400" b="1" dirty="0">
                <a:solidFill>
                  <a:srgbClr val="54667E"/>
                </a:solidFill>
                <a:latin typeface="微軟正黑體" panose="020B0604030504040204" pitchFamily="34" charset="-120"/>
                <a:ea typeface="微軟正黑體" panose="020B0604030504040204" pitchFamily="34" charset="-120"/>
              </a:rPr>
              <a:t>效率</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，進而提升民眾或消費者的</a:t>
            </a:r>
            <a:r>
              <a:rPr lang="zh-TW" altLang="en-US" sz="2400" b="1" dirty="0">
                <a:solidFill>
                  <a:srgbClr val="54667E"/>
                </a:solidFill>
                <a:latin typeface="微軟正黑體" panose="020B0604030504040204" pitchFamily="34" charset="-120"/>
                <a:ea typeface="微軟正黑體" panose="020B0604030504040204" pitchFamily="34" charset="-120"/>
              </a:rPr>
              <a:t>滿意度</a:t>
            </a:r>
            <a:endParaRPr lang="en-US" altLang="zh-TW" sz="2300" b="1" dirty="0">
              <a:solidFill>
                <a:srgbClr val="54667E"/>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3" name="文字方塊 52">
            <a:extLst>
              <a:ext uri="{FF2B5EF4-FFF2-40B4-BE49-F238E27FC236}">
                <a16:creationId xmlns:a16="http://schemas.microsoft.com/office/drawing/2014/main" id="{AE62D468-15B5-4D7B-93CC-6B6E7928C359}"/>
              </a:ext>
            </a:extLst>
          </p:cNvPr>
          <p:cNvSpPr txBox="1"/>
          <p:nvPr/>
        </p:nvSpPr>
        <p:spPr>
          <a:xfrm>
            <a:off x="7294192" y="5697961"/>
            <a:ext cx="3474028" cy="369332"/>
          </a:xfrm>
          <a:prstGeom prst="rect">
            <a:avLst/>
          </a:prstGeom>
          <a:noFill/>
        </p:spPr>
        <p:txBody>
          <a:bodyPr wrap="none" rtlCol="0">
            <a:spAutoFit/>
          </a:bodyPr>
          <a:lstStyle/>
          <a:p>
            <a:pPr marL="285750" indent="-285750">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區塊鏈之非金融服務發展需求</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54" name="文字方塊 53">
            <a:extLst>
              <a:ext uri="{FF2B5EF4-FFF2-40B4-BE49-F238E27FC236}">
                <a16:creationId xmlns:a16="http://schemas.microsoft.com/office/drawing/2014/main" id="{999910B4-9816-4E61-AD7E-58181DB8235A}"/>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區塊鏈之非金融服務應用需求</a:t>
            </a:r>
          </a:p>
        </p:txBody>
      </p:sp>
      <p:graphicFrame>
        <p:nvGraphicFramePr>
          <p:cNvPr id="55" name="資料庫圖表 54">
            <a:extLst>
              <a:ext uri="{FF2B5EF4-FFF2-40B4-BE49-F238E27FC236}">
                <a16:creationId xmlns:a16="http://schemas.microsoft.com/office/drawing/2014/main" id="{DDAFEEB2-81D4-4F4B-8C19-B969B197BA5C}"/>
              </a:ext>
            </a:extLst>
          </p:cNvPr>
          <p:cNvGraphicFramePr/>
          <p:nvPr>
            <p:extLst>
              <p:ext uri="{D42A27DB-BD31-4B8C-83A1-F6EECF244321}">
                <p14:modId xmlns:p14="http://schemas.microsoft.com/office/powerpoint/2010/main" val="343617388"/>
              </p:ext>
            </p:extLst>
          </p:nvPr>
        </p:nvGraphicFramePr>
        <p:xfrm>
          <a:off x="5704819" y="1450304"/>
          <a:ext cx="6202694" cy="413512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75513811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barn(inVertical)">
                                      <p:cBhvr>
                                        <p:cTn id="11" dur="500"/>
                                        <p:tgtEl>
                                          <p:spTgt spid="5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arn(inVertical)">
                                      <p:cBhvr>
                                        <p:cTn id="20" dur="500"/>
                                        <p:tgtEl>
                                          <p:spTgt spid="3"/>
                                        </p:tgtEl>
                                      </p:cBhvr>
                                    </p:animEffect>
                                  </p:childTnLst>
                                </p:cTn>
                              </p:par>
                            </p:childTnLst>
                          </p:cTn>
                        </p:par>
                        <p:par>
                          <p:cTn id="21" fill="hold">
                            <p:stCondLst>
                              <p:cond delay="3500"/>
                            </p:stCondLst>
                            <p:childTnLst>
                              <p:par>
                                <p:cTn id="22" presetID="53" presetClass="entr" presetSubtype="16" fill="hold" grpId="0" nodeType="afterEffect">
                                  <p:stCondLst>
                                    <p:cond delay="0"/>
                                  </p:stCondLst>
                                  <p:childTnLst>
                                    <p:set>
                                      <p:cBhvr>
                                        <p:cTn id="23" dur="1" fill="hold">
                                          <p:stCondLst>
                                            <p:cond delay="0"/>
                                          </p:stCondLst>
                                        </p:cTn>
                                        <p:tgtEl>
                                          <p:spTgt spid="55"/>
                                        </p:tgtEl>
                                        <p:attrNameLst>
                                          <p:attrName>style.visibility</p:attrName>
                                        </p:attrNameLst>
                                      </p:cBhvr>
                                      <p:to>
                                        <p:strVal val="visible"/>
                                      </p:to>
                                    </p:set>
                                    <p:anim calcmode="lin" valueType="num">
                                      <p:cBhvr>
                                        <p:cTn id="24" dur="500" fill="hold"/>
                                        <p:tgtEl>
                                          <p:spTgt spid="55"/>
                                        </p:tgtEl>
                                        <p:attrNameLst>
                                          <p:attrName>ppt_w</p:attrName>
                                        </p:attrNameLst>
                                      </p:cBhvr>
                                      <p:tavLst>
                                        <p:tav tm="0">
                                          <p:val>
                                            <p:fltVal val="0"/>
                                          </p:val>
                                        </p:tav>
                                        <p:tav tm="100000">
                                          <p:val>
                                            <p:strVal val="#ppt_w"/>
                                          </p:val>
                                        </p:tav>
                                      </p:tavLst>
                                    </p:anim>
                                    <p:anim calcmode="lin" valueType="num">
                                      <p:cBhvr>
                                        <p:cTn id="25" dur="500" fill="hold"/>
                                        <p:tgtEl>
                                          <p:spTgt spid="55"/>
                                        </p:tgtEl>
                                        <p:attrNameLst>
                                          <p:attrName>ppt_h</p:attrName>
                                        </p:attrNameLst>
                                      </p:cBhvr>
                                      <p:tavLst>
                                        <p:tav tm="0">
                                          <p:val>
                                            <p:fltVal val="0"/>
                                          </p:val>
                                        </p:tav>
                                        <p:tav tm="100000">
                                          <p:val>
                                            <p:strVal val="#ppt_h"/>
                                          </p:val>
                                        </p:tav>
                                      </p:tavLst>
                                    </p:anim>
                                    <p:animEffect transition="in" filter="fade">
                                      <p:cBhvr>
                                        <p:cTn id="26" dur="500"/>
                                        <p:tgtEl>
                                          <p:spTgt spid="55"/>
                                        </p:tgtEl>
                                      </p:cBhvr>
                                    </p:animEffect>
                                  </p:childTnLst>
                                </p:cTn>
                              </p:par>
                              <p:par>
                                <p:cTn id="27" presetID="2" presetClass="entr" presetSubtype="4"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anim calcmode="lin" valueType="num">
                                      <p:cBhvr additive="base">
                                        <p:cTn id="29" dur="500" fill="hold"/>
                                        <p:tgtEl>
                                          <p:spTgt spid="53"/>
                                        </p:tgtEl>
                                        <p:attrNameLst>
                                          <p:attrName>ppt_x</p:attrName>
                                        </p:attrNameLst>
                                      </p:cBhvr>
                                      <p:tavLst>
                                        <p:tav tm="0">
                                          <p:val>
                                            <p:strVal val="#ppt_x"/>
                                          </p:val>
                                        </p:tav>
                                        <p:tav tm="100000">
                                          <p:val>
                                            <p:strVal val="#ppt_x"/>
                                          </p:val>
                                        </p:tav>
                                      </p:tavLst>
                                    </p:anim>
                                    <p:anim calcmode="lin" valueType="num">
                                      <p:cBhvr additive="base">
                                        <p:cTn id="3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6" grpId="0"/>
      <p:bldP spid="53" grpId="0"/>
      <p:bldP spid="54" grpId="0"/>
      <p:bldGraphic spid="55"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a:cxnSpLocks/>
          </p:cNvCxnSpPr>
          <p:nvPr/>
        </p:nvCxnSpPr>
        <p:spPr>
          <a:xfrm>
            <a:off x="1177167" y="1046746"/>
            <a:ext cx="805167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C5975A11-2F1B-4406-B386-35CD2CCB95B2}"/>
              </a:ext>
            </a:extLst>
          </p:cNvPr>
          <p:cNvSpPr txBox="1"/>
          <p:nvPr/>
        </p:nvSpPr>
        <p:spPr>
          <a:xfrm>
            <a:off x="1196908" y="1678161"/>
            <a:ext cx="9798184" cy="3717813"/>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一、縮短作業流程</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9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rgbClr val="54667E"/>
                </a:solidFill>
                <a:latin typeface="微軟正黑體" panose="020B0604030504040204" pitchFamily="34" charset="-120"/>
                <a:ea typeface="微軟正黑體" panose="020B0604030504040204" pitchFamily="34" charset="-120"/>
              </a:rPr>
              <a:t>作業流程</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泛指任何公務部門或企業的行政作業或銷售作業程序</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公務部門或企業會訂定標準作業流程（</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SOP</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）管控業務推展程序</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公務部門或企業的作業流程可能延遲或耗時</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00150" lvl="2" indent="-285750">
              <a:lnSpc>
                <a:spcPct val="150000"/>
              </a:lnSpc>
              <a:buFont typeface="微軟正黑體" panose="020B0604030504040204" pitchFamily="34" charset="-120"/>
              <a:buChar cha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促使非金融服務產業導入</a:t>
            </a:r>
            <a:r>
              <a:rPr lang="zh-TW" altLang="en-US" sz="2400" b="1" dirty="0">
                <a:solidFill>
                  <a:srgbClr val="54667E"/>
                </a:solidFill>
                <a:latin typeface="微軟正黑體" panose="020B0604030504040204" pitchFamily="34" charset="-120"/>
                <a:ea typeface="微軟正黑體" panose="020B0604030504040204" pitchFamily="34" charset="-120"/>
              </a:rPr>
              <a:t>區塊鏈</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，省去等候時間，且不需配合辦公或營業時間，隨到隨辦，提升作業效率及滿意度</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4" name="圖片 3" descr="一張含有 物件 的圖片&#10;&#10;描述是以高可信度產生">
            <a:extLst>
              <a:ext uri="{FF2B5EF4-FFF2-40B4-BE49-F238E27FC236}">
                <a16:creationId xmlns:a16="http://schemas.microsoft.com/office/drawing/2014/main" id="{495311C4-D029-43DF-8EE3-CA0A5BE6FE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00593" y="290589"/>
            <a:ext cx="1946260" cy="1946260"/>
          </a:xfrm>
          <a:prstGeom prst="rect">
            <a:avLst/>
          </a:prstGeom>
        </p:spPr>
      </p:pic>
      <p:sp>
        <p:nvSpPr>
          <p:cNvPr id="12" name="標題 1">
            <a:extLst>
              <a:ext uri="{FF2B5EF4-FFF2-40B4-BE49-F238E27FC236}">
                <a16:creationId xmlns:a16="http://schemas.microsoft.com/office/drawing/2014/main" id="{670C5702-3A5E-4D44-AE3B-CD1AFA0B1C0E}"/>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3" name="文字方塊 12">
            <a:extLst>
              <a:ext uri="{FF2B5EF4-FFF2-40B4-BE49-F238E27FC236}">
                <a16:creationId xmlns:a16="http://schemas.microsoft.com/office/drawing/2014/main" id="{8CAEA026-ABF4-4916-97AD-EBE568880A58}"/>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區塊鏈之非金融服務應用需求</a:t>
            </a:r>
          </a:p>
        </p:txBody>
      </p:sp>
    </p:spTree>
    <p:extLst>
      <p:ext uri="{BB962C8B-B14F-4D97-AF65-F5344CB8AC3E}">
        <p14:creationId xmlns:p14="http://schemas.microsoft.com/office/powerpoint/2010/main" val="3104446831"/>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arn(inVertical)">
                                      <p:cBhvr>
                                        <p:cTn id="11" dur="500"/>
                                        <p:tgtEl>
                                          <p:spTgt spid="13"/>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animEffect transition="in" filter="barn(inVertical)">
                                      <p:cBhvr>
                                        <p:cTn id="29" dur="500"/>
                                        <p:tgtEl>
                                          <p:spTgt spid="28">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5" end="5"/>
                                            </p:txEl>
                                          </p:spTgt>
                                        </p:tgtEl>
                                        <p:attrNameLst>
                                          <p:attrName>style.visibility</p:attrName>
                                        </p:attrNameLst>
                                      </p:cBhvr>
                                      <p:to>
                                        <p:strVal val="visible"/>
                                      </p:to>
                                    </p:set>
                                    <p:animEffect transition="in" filter="barn(inVertical)">
                                      <p:cBhvr>
                                        <p:cTn id="33" dur="500"/>
                                        <p:tgtEl>
                                          <p:spTgt spid="28">
                                            <p:txEl>
                                              <p:pRg st="5" end="5"/>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6" end="6"/>
                                            </p:txEl>
                                          </p:spTgt>
                                        </p:tgtEl>
                                        <p:attrNameLst>
                                          <p:attrName>style.visibility</p:attrName>
                                        </p:attrNameLst>
                                      </p:cBhvr>
                                      <p:to>
                                        <p:strVal val="visible"/>
                                      </p:to>
                                    </p:set>
                                    <p:animEffect transition="in" filter="barn(inVertical)">
                                      <p:cBhvr>
                                        <p:cTn id="37" dur="500"/>
                                        <p:tgtEl>
                                          <p:spTgt spid="28">
                                            <p:txEl>
                                              <p:pRg st="6" end="6"/>
                                            </p:txEl>
                                          </p:spTgt>
                                        </p:tgtEl>
                                      </p:cBhvr>
                                    </p:animEffect>
                                  </p:childTnLst>
                                </p:cTn>
                              </p:par>
                            </p:childTnLst>
                          </p:cTn>
                        </p:par>
                        <p:par>
                          <p:cTn id="38" fill="hold">
                            <p:stCondLst>
                              <p:cond delay="5500"/>
                            </p:stCondLst>
                            <p:childTnLst>
                              <p:par>
                                <p:cTn id="39" presetID="31" presetClass="entr" presetSubtype="0" fill="hold" nodeType="after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p:cTn id="41" dur="1000" fill="hold"/>
                                        <p:tgtEl>
                                          <p:spTgt spid="4"/>
                                        </p:tgtEl>
                                        <p:attrNameLst>
                                          <p:attrName>ppt_w</p:attrName>
                                        </p:attrNameLst>
                                      </p:cBhvr>
                                      <p:tavLst>
                                        <p:tav tm="0">
                                          <p:val>
                                            <p:fltVal val="0"/>
                                          </p:val>
                                        </p:tav>
                                        <p:tav tm="100000">
                                          <p:val>
                                            <p:strVal val="#ppt_w"/>
                                          </p:val>
                                        </p:tav>
                                      </p:tavLst>
                                    </p:anim>
                                    <p:anim calcmode="lin" valueType="num">
                                      <p:cBhvr>
                                        <p:cTn id="42" dur="1000" fill="hold"/>
                                        <p:tgtEl>
                                          <p:spTgt spid="4"/>
                                        </p:tgtEl>
                                        <p:attrNameLst>
                                          <p:attrName>ppt_h</p:attrName>
                                        </p:attrNameLst>
                                      </p:cBhvr>
                                      <p:tavLst>
                                        <p:tav tm="0">
                                          <p:val>
                                            <p:fltVal val="0"/>
                                          </p:val>
                                        </p:tav>
                                        <p:tav tm="100000">
                                          <p:val>
                                            <p:strVal val="#ppt_h"/>
                                          </p:val>
                                        </p:tav>
                                      </p:tavLst>
                                    </p:anim>
                                    <p:anim calcmode="lin" valueType="num">
                                      <p:cBhvr>
                                        <p:cTn id="43" dur="1000" fill="hold"/>
                                        <p:tgtEl>
                                          <p:spTgt spid="4"/>
                                        </p:tgtEl>
                                        <p:attrNameLst>
                                          <p:attrName>style.rotation</p:attrName>
                                        </p:attrNameLst>
                                      </p:cBhvr>
                                      <p:tavLst>
                                        <p:tav tm="0">
                                          <p:val>
                                            <p:fltVal val="90"/>
                                          </p:val>
                                        </p:tav>
                                        <p:tav tm="100000">
                                          <p:val>
                                            <p:fltVal val="0"/>
                                          </p:val>
                                        </p:tav>
                                      </p:tavLst>
                                    </p:anim>
                                    <p:animEffect transition="in" filter="fade">
                                      <p:cBhvr>
                                        <p:cTn id="44"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558751" y="1502202"/>
            <a:ext cx="9119453" cy="2979149"/>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二、資訊取得簡便</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資訊取得的即時與否關係著企業的經營良窳</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區塊鏈在密碼演算法的支援下能</a:t>
            </a:r>
            <a:r>
              <a:rPr lang="zh-TW" altLang="en-US" sz="2400" b="1" dirty="0">
                <a:solidFill>
                  <a:srgbClr val="54667E"/>
                </a:solidFill>
                <a:latin typeface="微軟正黑體" panose="020B0604030504040204" pitchFamily="34" charset="-120"/>
                <a:ea typeface="微軟正黑體" panose="020B0604030504040204" pitchFamily="34" charset="-120"/>
              </a:rPr>
              <a:t>安全的分享資訊</a:t>
            </a:r>
            <a:endParaRPr lang="en-US" altLang="zh-TW" sz="2400" b="1" dirty="0">
              <a:solidFill>
                <a:srgbClr val="54667E"/>
              </a:solidFill>
              <a:latin typeface="微軟正黑體" panose="020B0604030504040204" pitchFamily="34" charset="-120"/>
              <a:ea typeface="微軟正黑體" panose="020B0604030504040204" pitchFamily="34" charset="-120"/>
            </a:endParaRPr>
          </a:p>
          <a:p>
            <a:pPr lvl="2">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滿足民眾或企業對於資訊的需求，且不用擔心不法份子侵入，造成個人或企業權益損害</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11B7C34C-5C84-467F-81F2-10D96D691FDE}"/>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圖片 5">
            <a:extLst>
              <a:ext uri="{FF2B5EF4-FFF2-40B4-BE49-F238E27FC236}">
                <a16:creationId xmlns:a16="http://schemas.microsoft.com/office/drawing/2014/main" id="{140917BF-F6EB-4038-BDBD-54C4588066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227056"/>
            <a:ext cx="1935636" cy="1935636"/>
          </a:xfrm>
          <a:prstGeom prst="rect">
            <a:avLst/>
          </a:prstGeom>
        </p:spPr>
      </p:pic>
      <p:pic>
        <p:nvPicPr>
          <p:cNvPr id="15" name="圖片 14">
            <a:extLst>
              <a:ext uri="{FF2B5EF4-FFF2-40B4-BE49-F238E27FC236}">
                <a16:creationId xmlns:a16="http://schemas.microsoft.com/office/drawing/2014/main" id="{20863306-10C5-4B29-B8B1-CB319D3AB5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42574" y="4274879"/>
            <a:ext cx="2274970" cy="2274970"/>
          </a:xfrm>
          <a:prstGeom prst="rect">
            <a:avLst/>
          </a:prstGeom>
        </p:spPr>
      </p:pic>
      <p:sp>
        <p:nvSpPr>
          <p:cNvPr id="19" name="標題 1">
            <a:extLst>
              <a:ext uri="{FF2B5EF4-FFF2-40B4-BE49-F238E27FC236}">
                <a16:creationId xmlns:a16="http://schemas.microsoft.com/office/drawing/2014/main" id="{B09F432C-1EF5-40FD-9F12-8C2F79B260AF}"/>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0" name="文字方塊 19">
            <a:extLst>
              <a:ext uri="{FF2B5EF4-FFF2-40B4-BE49-F238E27FC236}">
                <a16:creationId xmlns:a16="http://schemas.microsoft.com/office/drawing/2014/main" id="{2A6BBD4B-A689-4CFE-BCD4-158C23A964FF}"/>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區塊鏈之非金融服務應用需求</a:t>
            </a:r>
          </a:p>
        </p:txBody>
      </p:sp>
    </p:spTree>
    <p:extLst>
      <p:ext uri="{BB962C8B-B14F-4D97-AF65-F5344CB8AC3E}">
        <p14:creationId xmlns:p14="http://schemas.microsoft.com/office/powerpoint/2010/main" val="11765947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ircle(in)">
                                      <p:cBhvr>
                                        <p:cTn id="7" dur="2000"/>
                                        <p:tgtEl>
                                          <p:spTgt spid="19"/>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barn(inVertical)">
                                      <p:cBhvr>
                                        <p:cTn id="11" dur="500"/>
                                        <p:tgtEl>
                                          <p:spTgt spid="2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animEffect transition="in" filter="barn(inVertical)">
                                      <p:cBhvr>
                                        <p:cTn id="29" dur="500"/>
                                        <p:tgtEl>
                                          <p:spTgt spid="28">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4" end="4"/>
                                            </p:txEl>
                                          </p:spTgt>
                                        </p:tgtEl>
                                        <p:attrNameLst>
                                          <p:attrName>style.visibility</p:attrName>
                                        </p:attrNameLst>
                                      </p:cBhvr>
                                      <p:to>
                                        <p:strVal val="visible"/>
                                      </p:to>
                                    </p:set>
                                    <p:animEffect transition="in" filter="barn(inVertical)">
                                      <p:cBhvr>
                                        <p:cTn id="33" dur="500"/>
                                        <p:tgtEl>
                                          <p:spTgt spid="28">
                                            <p:txEl>
                                              <p:pRg st="4" end="4"/>
                                            </p:txEl>
                                          </p:spTgt>
                                        </p:tgtEl>
                                      </p:cBhvr>
                                    </p:animEffect>
                                  </p:childTnLst>
                                </p:cTn>
                              </p:par>
                            </p:childTnLst>
                          </p:cTn>
                        </p:par>
                        <p:par>
                          <p:cTn id="34" fill="hold">
                            <p:stCondLst>
                              <p:cond delay="5000"/>
                            </p:stCondLst>
                            <p:childTnLst>
                              <p:par>
                                <p:cTn id="35" presetID="2" presetClass="entr" presetSubtype="8" fill="hold" nodeType="after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0-#ppt_w/2"/>
                                          </p:val>
                                        </p:tav>
                                        <p:tav tm="100000">
                                          <p:val>
                                            <p:strVal val="#ppt_x"/>
                                          </p:val>
                                        </p:tav>
                                      </p:tavLst>
                                    </p:anim>
                                    <p:anim calcmode="lin" valueType="num">
                                      <p:cBhvr additive="base">
                                        <p:cTn id="38" dur="500" fill="hold"/>
                                        <p:tgtEl>
                                          <p:spTgt spid="6"/>
                                        </p:tgtEl>
                                        <p:attrNameLst>
                                          <p:attrName>ppt_y</p:attrName>
                                        </p:attrNameLst>
                                      </p:cBhvr>
                                      <p:tavLst>
                                        <p:tav tm="0">
                                          <p:val>
                                            <p:strVal val="#ppt_y"/>
                                          </p:val>
                                        </p:tav>
                                        <p:tav tm="100000">
                                          <p:val>
                                            <p:strVal val="#ppt_y"/>
                                          </p:val>
                                        </p:tav>
                                      </p:tavLst>
                                    </p:anim>
                                  </p:childTnLst>
                                </p:cTn>
                              </p:par>
                            </p:childTnLst>
                          </p:cTn>
                        </p:par>
                        <p:par>
                          <p:cTn id="39" fill="hold">
                            <p:stCondLst>
                              <p:cond delay="5500"/>
                            </p:stCondLst>
                            <p:childTnLst>
                              <p:par>
                                <p:cTn id="40" presetID="53" presetClass="entr" presetSubtype="16" fill="hold" nodeType="after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p:cTn id="42" dur="500" fill="hold"/>
                                        <p:tgtEl>
                                          <p:spTgt spid="15"/>
                                        </p:tgtEl>
                                        <p:attrNameLst>
                                          <p:attrName>ppt_w</p:attrName>
                                        </p:attrNameLst>
                                      </p:cBhvr>
                                      <p:tavLst>
                                        <p:tav tm="0">
                                          <p:val>
                                            <p:fltVal val="0"/>
                                          </p:val>
                                        </p:tav>
                                        <p:tav tm="100000">
                                          <p:val>
                                            <p:strVal val="#ppt_w"/>
                                          </p:val>
                                        </p:tav>
                                      </p:tavLst>
                                    </p:anim>
                                    <p:anim calcmode="lin" valueType="num">
                                      <p:cBhvr>
                                        <p:cTn id="43" dur="500" fill="hold"/>
                                        <p:tgtEl>
                                          <p:spTgt spid="15"/>
                                        </p:tgtEl>
                                        <p:attrNameLst>
                                          <p:attrName>ppt_h</p:attrName>
                                        </p:attrNameLst>
                                      </p:cBhvr>
                                      <p:tavLst>
                                        <p:tav tm="0">
                                          <p:val>
                                            <p:fltVal val="0"/>
                                          </p:val>
                                        </p:tav>
                                        <p:tav tm="100000">
                                          <p:val>
                                            <p:strVal val="#ppt_h"/>
                                          </p:val>
                                        </p:tav>
                                      </p:tavLst>
                                    </p:anim>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518277" y="1465885"/>
            <a:ext cx="9259838" cy="4087145"/>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三、安居樂業生活</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區塊鏈的出發點以滿足便利性為主，民眾也可以在便利之餘，享受更多時間、更方便的生活</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區塊鏈在多數決機制及離散式帳本的技術支援下，嚴密的管控認證程序與交易資訊紀錄，降低平台受到攻擊的機會，並減少使用者的權益損失</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降低生活上的危安風險，</a:t>
            </a:r>
            <a:r>
              <a:rPr lang="zh-TW" altLang="en-US" sz="2400" b="1" dirty="0">
                <a:solidFill>
                  <a:srgbClr val="54667E"/>
                </a:solidFill>
                <a:latin typeface="微軟正黑體" panose="020B0604030504040204" pitchFamily="34" charset="-120"/>
                <a:ea typeface="微軟正黑體" panose="020B0604030504040204" pitchFamily="34" charset="-120"/>
              </a:rPr>
              <a:t>提高生活品質</a:t>
            </a:r>
            <a:endParaRPr lang="en-US" altLang="zh-TW" sz="2300" b="1" dirty="0">
              <a:solidFill>
                <a:srgbClr val="54667E"/>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11B7C34C-5C84-467F-81F2-10D96D691FDE}"/>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圖片 4">
            <a:extLst>
              <a:ext uri="{FF2B5EF4-FFF2-40B4-BE49-F238E27FC236}">
                <a16:creationId xmlns:a16="http://schemas.microsoft.com/office/drawing/2014/main" id="{A1911032-55A9-4B4B-B9B1-8777E78152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20572" y="4524873"/>
            <a:ext cx="2408372" cy="2408372"/>
          </a:xfrm>
          <a:prstGeom prst="rect">
            <a:avLst/>
          </a:prstGeom>
        </p:spPr>
      </p:pic>
      <p:sp>
        <p:nvSpPr>
          <p:cNvPr id="16" name="標題 1">
            <a:extLst>
              <a:ext uri="{FF2B5EF4-FFF2-40B4-BE49-F238E27FC236}">
                <a16:creationId xmlns:a16="http://schemas.microsoft.com/office/drawing/2014/main" id="{F7A2FF96-5C6F-4025-8553-C00F911B2D47}"/>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7" name="文字方塊 16">
            <a:extLst>
              <a:ext uri="{FF2B5EF4-FFF2-40B4-BE49-F238E27FC236}">
                <a16:creationId xmlns:a16="http://schemas.microsoft.com/office/drawing/2014/main" id="{6859296E-7044-47A5-BBF6-619158C9E589}"/>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區塊鏈之非金融服務應用需求</a:t>
            </a:r>
          </a:p>
        </p:txBody>
      </p:sp>
    </p:spTree>
    <p:extLst>
      <p:ext uri="{BB962C8B-B14F-4D97-AF65-F5344CB8AC3E}">
        <p14:creationId xmlns:p14="http://schemas.microsoft.com/office/powerpoint/2010/main" val="421787818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barn(inVertical)">
                                      <p:cBhvr>
                                        <p:cTn id="11" dur="500"/>
                                        <p:tgtEl>
                                          <p:spTgt spid="17"/>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animEffect transition="in" filter="barn(inVertical)">
                                      <p:cBhvr>
                                        <p:cTn id="29" dur="500"/>
                                        <p:tgtEl>
                                          <p:spTgt spid="28">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4" end="4"/>
                                            </p:txEl>
                                          </p:spTgt>
                                        </p:tgtEl>
                                        <p:attrNameLst>
                                          <p:attrName>style.visibility</p:attrName>
                                        </p:attrNameLst>
                                      </p:cBhvr>
                                      <p:to>
                                        <p:strVal val="visible"/>
                                      </p:to>
                                    </p:set>
                                    <p:animEffect transition="in" filter="barn(inVertical)">
                                      <p:cBhvr>
                                        <p:cTn id="33" dur="500"/>
                                        <p:tgtEl>
                                          <p:spTgt spid="28">
                                            <p:txEl>
                                              <p:pRg st="4" end="4"/>
                                            </p:txEl>
                                          </p:spTgt>
                                        </p:tgtEl>
                                      </p:cBhvr>
                                    </p:animEffect>
                                  </p:childTnLst>
                                </p:cTn>
                              </p:par>
                            </p:childTnLst>
                          </p:cTn>
                        </p:par>
                        <p:par>
                          <p:cTn id="34" fill="hold">
                            <p:stCondLst>
                              <p:cond delay="5000"/>
                            </p:stCondLst>
                            <p:childTnLst>
                              <p:par>
                                <p:cTn id="35" presetID="53" presetClass="entr" presetSubtype="16"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p:cTn id="37" dur="500" fill="hold"/>
                                        <p:tgtEl>
                                          <p:spTgt spid="5"/>
                                        </p:tgtEl>
                                        <p:attrNameLst>
                                          <p:attrName>ppt_w</p:attrName>
                                        </p:attrNameLst>
                                      </p:cBhvr>
                                      <p:tavLst>
                                        <p:tav tm="0">
                                          <p:val>
                                            <p:fltVal val="0"/>
                                          </p:val>
                                        </p:tav>
                                        <p:tav tm="100000">
                                          <p:val>
                                            <p:strVal val="#ppt_w"/>
                                          </p:val>
                                        </p:tav>
                                      </p:tavLst>
                                    </p:anim>
                                    <p:anim calcmode="lin" valueType="num">
                                      <p:cBhvr>
                                        <p:cTn id="38" dur="500" fill="hold"/>
                                        <p:tgtEl>
                                          <p:spTgt spid="5"/>
                                        </p:tgtEl>
                                        <p:attrNameLst>
                                          <p:attrName>ppt_h</p:attrName>
                                        </p:attrNameLst>
                                      </p:cBhvr>
                                      <p:tavLst>
                                        <p:tav tm="0">
                                          <p:val>
                                            <p:fltVal val="0"/>
                                          </p:val>
                                        </p:tav>
                                        <p:tav tm="100000">
                                          <p:val>
                                            <p:strVal val="#ppt_h"/>
                                          </p:val>
                                        </p:tav>
                                      </p:tavLst>
                                    </p:anim>
                                    <p:animEffect transition="in" filter="fade">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558751" y="1465885"/>
            <a:ext cx="9284840" cy="3163815"/>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四、開創消費經濟</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消費行為逐漸轉變</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Font typeface="微軟正黑體" panose="020B0604030504040204" pitchFamily="34" charset="-120"/>
              <a:buChar cha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改變企業經營模式，帶動消費</a:t>
            </a:r>
            <a:r>
              <a:rPr lang="zh-TW" altLang="en-US" sz="2400" b="1" dirty="0">
                <a:solidFill>
                  <a:srgbClr val="54667E"/>
                </a:solidFill>
                <a:latin typeface="微軟正黑體" panose="020B0604030504040204" pitchFamily="34" charset="-120"/>
                <a:ea typeface="微軟正黑體" panose="020B0604030504040204" pitchFamily="34" charset="-120"/>
              </a:rPr>
              <a:t>市場變革</a:t>
            </a:r>
            <a:endParaRPr lang="en-US" altLang="zh-TW" sz="2400" b="1" dirty="0">
              <a:solidFill>
                <a:srgbClr val="54667E"/>
              </a:solidFill>
              <a:latin typeface="微軟正黑體" panose="020B0604030504040204" pitchFamily="34" charset="-120"/>
              <a:ea typeface="微軟正黑體" panose="020B0604030504040204" pitchFamily="34" charset="-120"/>
            </a:endParaRPr>
          </a:p>
          <a:p>
            <a:pPr marL="1257300" lvl="2" indent="-342900">
              <a:lnSpc>
                <a:spcPct val="150000"/>
              </a:lnSpc>
              <a:buFont typeface="微軟正黑體" panose="020B0604030504040204" pitchFamily="34" charset="-120"/>
              <a:buChar char="→"/>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區塊鏈將使用者的需求藉由網絡的通路達到</a:t>
            </a:r>
            <a:r>
              <a:rPr lang="zh-TW" altLang="en-US" sz="2400" b="1" dirty="0">
                <a:solidFill>
                  <a:srgbClr val="54667E"/>
                </a:solidFill>
                <a:latin typeface="微軟正黑體" panose="020B0604030504040204" pitchFamily="34" charset="-120"/>
                <a:ea typeface="微軟正黑體" panose="020B0604030504040204" pitchFamily="34" charset="-120"/>
              </a:rPr>
              <a:t>供需平衡</a:t>
            </a:r>
            <a:endParaRPr lang="en-US" altLang="zh-TW" sz="2400" b="1" dirty="0">
              <a:solidFill>
                <a:srgbClr val="54667E"/>
              </a:solidFill>
              <a:latin typeface="微軟正黑體" panose="020B0604030504040204" pitchFamily="34" charset="-120"/>
              <a:ea typeface="微軟正黑體" panose="020B0604030504040204" pitchFamily="34" charset="-120"/>
            </a:endParaRPr>
          </a:p>
          <a:p>
            <a:pPr lvl="2">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因應消費市場的變革，對於市場需求適時供給</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11B7C34C-5C84-467F-81F2-10D96D691FDE}"/>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圖片 2">
            <a:extLst>
              <a:ext uri="{FF2B5EF4-FFF2-40B4-BE49-F238E27FC236}">
                <a16:creationId xmlns:a16="http://schemas.microsoft.com/office/drawing/2014/main" id="{53164F74-7F0C-4757-9826-3A883DD984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66212" y="4363734"/>
            <a:ext cx="2315634" cy="2315634"/>
          </a:xfrm>
          <a:prstGeom prst="rect">
            <a:avLst/>
          </a:prstGeom>
        </p:spPr>
      </p:pic>
      <p:sp>
        <p:nvSpPr>
          <p:cNvPr id="13" name="標題 1">
            <a:extLst>
              <a:ext uri="{FF2B5EF4-FFF2-40B4-BE49-F238E27FC236}">
                <a16:creationId xmlns:a16="http://schemas.microsoft.com/office/drawing/2014/main" id="{DCCC873F-4809-49E4-9F7D-D36DEDC4E4DC}"/>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4FD11169-F6BE-42D9-9250-CB1CD422C69B}"/>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區塊鏈之非金融服務應用需求</a:t>
            </a:r>
          </a:p>
        </p:txBody>
      </p:sp>
    </p:spTree>
    <p:extLst>
      <p:ext uri="{BB962C8B-B14F-4D97-AF65-F5344CB8AC3E}">
        <p14:creationId xmlns:p14="http://schemas.microsoft.com/office/powerpoint/2010/main" val="414280204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animEffect transition="in" filter="barn(inVertical)">
                                      <p:cBhvr>
                                        <p:cTn id="29" dur="500"/>
                                        <p:tgtEl>
                                          <p:spTgt spid="28">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5" end="5"/>
                                            </p:txEl>
                                          </p:spTgt>
                                        </p:tgtEl>
                                        <p:attrNameLst>
                                          <p:attrName>style.visibility</p:attrName>
                                        </p:attrNameLst>
                                      </p:cBhvr>
                                      <p:to>
                                        <p:strVal val="visible"/>
                                      </p:to>
                                    </p:set>
                                    <p:animEffect transition="in" filter="barn(inVertical)">
                                      <p:cBhvr>
                                        <p:cTn id="33" dur="500"/>
                                        <p:tgtEl>
                                          <p:spTgt spid="28">
                                            <p:txEl>
                                              <p:pRg st="5" end="5"/>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6" end="6"/>
                                            </p:txEl>
                                          </p:spTgt>
                                        </p:tgtEl>
                                        <p:attrNameLst>
                                          <p:attrName>style.visibility</p:attrName>
                                        </p:attrNameLst>
                                      </p:cBhvr>
                                      <p:to>
                                        <p:strVal val="visible"/>
                                      </p:to>
                                    </p:set>
                                    <p:animEffect transition="in" filter="barn(inVertical)">
                                      <p:cBhvr>
                                        <p:cTn id="37" dur="500"/>
                                        <p:tgtEl>
                                          <p:spTgt spid="28">
                                            <p:txEl>
                                              <p:pRg st="6" end="6"/>
                                            </p:txEl>
                                          </p:spTgt>
                                        </p:tgtEl>
                                      </p:cBhvr>
                                    </p:animEffect>
                                  </p:childTnLst>
                                </p:cTn>
                              </p:par>
                            </p:childTnLst>
                          </p:cTn>
                        </p:par>
                        <p:par>
                          <p:cTn id="38" fill="hold">
                            <p:stCondLst>
                              <p:cond delay="5500"/>
                            </p:stCondLst>
                            <p:childTnLst>
                              <p:par>
                                <p:cTn id="39" presetID="53" presetClass="entr" presetSubtype="16" fill="hold" nodeType="after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p:cTn id="41" dur="500" fill="hold"/>
                                        <p:tgtEl>
                                          <p:spTgt spid="3"/>
                                        </p:tgtEl>
                                        <p:attrNameLst>
                                          <p:attrName>ppt_w</p:attrName>
                                        </p:attrNameLst>
                                      </p:cBhvr>
                                      <p:tavLst>
                                        <p:tav tm="0">
                                          <p:val>
                                            <p:fltVal val="0"/>
                                          </p:val>
                                        </p:tav>
                                        <p:tav tm="100000">
                                          <p:val>
                                            <p:strVal val="#ppt_w"/>
                                          </p:val>
                                        </p:tav>
                                      </p:tavLst>
                                    </p:anim>
                                    <p:anim calcmode="lin" valueType="num">
                                      <p:cBhvr>
                                        <p:cTn id="42" dur="500" fill="hold"/>
                                        <p:tgtEl>
                                          <p:spTgt spid="3"/>
                                        </p:tgtEl>
                                        <p:attrNameLst>
                                          <p:attrName>ppt_h</p:attrName>
                                        </p:attrNameLst>
                                      </p:cBhvr>
                                      <p:tavLst>
                                        <p:tav tm="0">
                                          <p:val>
                                            <p:fltVal val="0"/>
                                          </p:val>
                                        </p:tav>
                                        <p:tav tm="100000">
                                          <p:val>
                                            <p:strVal val="#ppt_h"/>
                                          </p:val>
                                        </p:tav>
                                      </p:tavLst>
                                    </p:anim>
                                    <p:animEffect transition="in" filter="fade">
                                      <p:cBhvr>
                                        <p:cTn id="4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250264" y="1496383"/>
            <a:ext cx="3987888" cy="4436214"/>
          </a:xfrm>
          <a:prstGeom prst="rect">
            <a:avLst/>
          </a:prstGeom>
          <a:noFill/>
        </p:spPr>
        <p:txBody>
          <a:bodyPr wrap="square" rtlCol="0">
            <a:spAutoFit/>
          </a:bodyPr>
          <a:lstStyle/>
          <a:p>
            <a:pPr marL="342900"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非金融服務產業重於</a:t>
            </a:r>
            <a:r>
              <a:rPr lang="zh-TW" altLang="en-US" sz="2300" b="1" dirty="0">
                <a:solidFill>
                  <a:srgbClr val="54667E"/>
                </a:solidFill>
                <a:latin typeface="微軟正黑體" panose="020B0604030504040204" pitchFamily="34" charset="-120"/>
                <a:ea typeface="微軟正黑體" panose="020B0604030504040204" pitchFamily="34" charset="-120"/>
              </a:rPr>
              <a:t>服務</a:t>
            </a:r>
            <a:endParaRPr lang="en-US" altLang="zh-TW" sz="2300" b="1" dirty="0">
              <a:solidFill>
                <a:srgbClr val="54667E"/>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繁瑣流程與人工作業易造成疏忽，影響民眾的權益</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endParaRPr lang="zh-TW" altLang="en-US"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區塊鏈之非金融服務應用能提高</a:t>
            </a:r>
            <a:r>
              <a:rPr lang="zh-TW" altLang="en-US" sz="2300" b="1" dirty="0">
                <a:solidFill>
                  <a:srgbClr val="54667E"/>
                </a:solidFill>
                <a:latin typeface="微軟正黑體" panose="020B0604030504040204" pitchFamily="34" charset="-120"/>
                <a:ea typeface="微軟正黑體" panose="020B0604030504040204" pitchFamily="34" charset="-120"/>
              </a:rPr>
              <a:t>消費滿意度</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，提升消費或交易</a:t>
            </a:r>
            <a:r>
              <a:rPr lang="zh-TW" altLang="en-US" sz="2300" b="1" dirty="0">
                <a:solidFill>
                  <a:srgbClr val="54667E"/>
                </a:solidFill>
                <a:latin typeface="微軟正黑體" panose="020B0604030504040204" pitchFamily="34" charset="-120"/>
                <a:ea typeface="微軟正黑體" panose="020B0604030504040204" pitchFamily="34" charset="-120"/>
              </a:rPr>
              <a:t>便利性</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，進而提升對公務部門與市場消費的</a:t>
            </a:r>
            <a:r>
              <a:rPr lang="zh-TW" altLang="en-US" sz="2300" b="1" dirty="0">
                <a:solidFill>
                  <a:srgbClr val="54667E"/>
                </a:solidFill>
                <a:latin typeface="微軟正黑體" panose="020B0604030504040204" pitchFamily="34" charset="-120"/>
                <a:ea typeface="微軟正黑體" panose="020B0604030504040204" pitchFamily="34" charset="-120"/>
              </a:rPr>
              <a:t>信心</a:t>
            </a:r>
            <a:endParaRPr lang="en-US" altLang="zh-TW" sz="2300" b="1" dirty="0">
              <a:solidFill>
                <a:srgbClr val="54667E"/>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3" name="文字方塊 52">
            <a:extLst>
              <a:ext uri="{FF2B5EF4-FFF2-40B4-BE49-F238E27FC236}">
                <a16:creationId xmlns:a16="http://schemas.microsoft.com/office/drawing/2014/main" id="{AE62D468-15B5-4D7B-93CC-6B6E7928C359}"/>
              </a:ext>
            </a:extLst>
          </p:cNvPr>
          <p:cNvSpPr txBox="1"/>
          <p:nvPr/>
        </p:nvSpPr>
        <p:spPr>
          <a:xfrm>
            <a:off x="7027863" y="5853295"/>
            <a:ext cx="3474028" cy="369332"/>
          </a:xfrm>
          <a:prstGeom prst="rect">
            <a:avLst/>
          </a:prstGeom>
          <a:noFill/>
        </p:spPr>
        <p:txBody>
          <a:bodyPr wrap="none" rtlCol="0">
            <a:spAutoFit/>
          </a:bodyPr>
          <a:lstStyle/>
          <a:p>
            <a:pPr marL="285750" indent="-285750">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區塊鏈之非金融服務應用領域</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54" name="文字方塊 53">
            <a:extLst>
              <a:ext uri="{FF2B5EF4-FFF2-40B4-BE49-F238E27FC236}">
                <a16:creationId xmlns:a16="http://schemas.microsoft.com/office/drawing/2014/main" id="{999910B4-9816-4E61-AD7E-58181DB8235A}"/>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區塊鏈之非金融服務應用領域</a:t>
            </a:r>
          </a:p>
        </p:txBody>
      </p:sp>
      <p:grpSp>
        <p:nvGrpSpPr>
          <p:cNvPr id="10" name="群組 9">
            <a:extLst>
              <a:ext uri="{FF2B5EF4-FFF2-40B4-BE49-F238E27FC236}">
                <a16:creationId xmlns:a16="http://schemas.microsoft.com/office/drawing/2014/main" id="{2B62EAB9-7AD3-447C-94AC-186CAD662739}"/>
              </a:ext>
            </a:extLst>
          </p:cNvPr>
          <p:cNvGrpSpPr/>
          <p:nvPr/>
        </p:nvGrpSpPr>
        <p:grpSpPr>
          <a:xfrm>
            <a:off x="5335572" y="1494889"/>
            <a:ext cx="6661552" cy="4176688"/>
            <a:chOff x="2423592" y="799087"/>
            <a:chExt cx="9073008" cy="5688632"/>
          </a:xfrm>
        </p:grpSpPr>
        <p:sp>
          <p:nvSpPr>
            <p:cNvPr id="11" name="橢圓 10">
              <a:extLst>
                <a:ext uri="{FF2B5EF4-FFF2-40B4-BE49-F238E27FC236}">
                  <a16:creationId xmlns:a16="http://schemas.microsoft.com/office/drawing/2014/main" id="{6DB2DE31-54EB-49F0-A9B2-AAE0057B84C7}"/>
                </a:ext>
              </a:extLst>
            </p:cNvPr>
            <p:cNvSpPr/>
            <p:nvPr/>
          </p:nvSpPr>
          <p:spPr>
            <a:xfrm>
              <a:off x="2423592" y="799087"/>
              <a:ext cx="9073008" cy="5688632"/>
            </a:xfrm>
            <a:prstGeom prst="ellipse">
              <a:avLst/>
            </a:prstGeom>
            <a:solidFill>
              <a:schemeClr val="tx2">
                <a:lumMod val="20000"/>
                <a:lumOff val="80000"/>
              </a:schemeClr>
            </a:solidFill>
            <a:ln w="381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latin typeface="微軟正黑體" panose="020B0604030504040204" pitchFamily="34" charset="-120"/>
                <a:ea typeface="微軟正黑體" panose="020B0604030504040204" pitchFamily="34" charset="-120"/>
              </a:endParaRPr>
            </a:p>
          </p:txBody>
        </p:sp>
        <p:grpSp>
          <p:nvGrpSpPr>
            <p:cNvPr id="12" name="群組 11">
              <a:extLst>
                <a:ext uri="{FF2B5EF4-FFF2-40B4-BE49-F238E27FC236}">
                  <a16:creationId xmlns:a16="http://schemas.microsoft.com/office/drawing/2014/main" id="{1E1C164C-BB9E-4F77-93D7-84840F05520E}"/>
                </a:ext>
              </a:extLst>
            </p:cNvPr>
            <p:cNvGrpSpPr/>
            <p:nvPr/>
          </p:nvGrpSpPr>
          <p:grpSpPr>
            <a:xfrm>
              <a:off x="4248059" y="1456677"/>
              <a:ext cx="1446422" cy="1342431"/>
              <a:chOff x="845344" y="447111"/>
              <a:chExt cx="1584176" cy="1444387"/>
            </a:xfrm>
          </p:grpSpPr>
          <p:pic>
            <p:nvPicPr>
              <p:cNvPr id="42" name="圖片 41">
                <a:extLst>
                  <a:ext uri="{FF2B5EF4-FFF2-40B4-BE49-F238E27FC236}">
                    <a16:creationId xmlns:a16="http://schemas.microsoft.com/office/drawing/2014/main" id="{E29C8FFF-34EB-4EB5-A377-1420E42A705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1424" y="447111"/>
                <a:ext cx="1077929" cy="1080120"/>
              </a:xfrm>
              <a:prstGeom prst="rect">
                <a:avLst/>
              </a:prstGeom>
            </p:spPr>
          </p:pic>
          <p:sp>
            <p:nvSpPr>
              <p:cNvPr id="43" name="文字方塊 42">
                <a:extLst>
                  <a:ext uri="{FF2B5EF4-FFF2-40B4-BE49-F238E27FC236}">
                    <a16:creationId xmlns:a16="http://schemas.microsoft.com/office/drawing/2014/main" id="{E571C7AC-2036-4B1F-A83E-832123D4446F}"/>
                  </a:ext>
                </a:extLst>
              </p:cNvPr>
              <p:cNvSpPr txBox="1"/>
              <p:nvPr/>
            </p:nvSpPr>
            <p:spPr>
              <a:xfrm>
                <a:off x="845344" y="1527231"/>
                <a:ext cx="1584176" cy="364267"/>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醫療領域</a:t>
                </a:r>
              </a:p>
            </p:txBody>
          </p:sp>
        </p:grpSp>
        <p:grpSp>
          <p:nvGrpSpPr>
            <p:cNvPr id="13" name="群組 12">
              <a:extLst>
                <a:ext uri="{FF2B5EF4-FFF2-40B4-BE49-F238E27FC236}">
                  <a16:creationId xmlns:a16="http://schemas.microsoft.com/office/drawing/2014/main" id="{55A4DE24-91D0-4860-AC7E-671DED758299}"/>
                </a:ext>
              </a:extLst>
            </p:cNvPr>
            <p:cNvGrpSpPr/>
            <p:nvPr/>
          </p:nvGrpSpPr>
          <p:grpSpPr>
            <a:xfrm>
              <a:off x="4115371" y="4108056"/>
              <a:ext cx="1446422" cy="1674281"/>
              <a:chOff x="606502" y="4128955"/>
              <a:chExt cx="1584176" cy="1801441"/>
            </a:xfrm>
          </p:grpSpPr>
          <p:pic>
            <p:nvPicPr>
              <p:cNvPr id="40" name="圖片 39">
                <a:extLst>
                  <a:ext uri="{FF2B5EF4-FFF2-40B4-BE49-F238E27FC236}">
                    <a16:creationId xmlns:a16="http://schemas.microsoft.com/office/drawing/2014/main" id="{1481A938-6372-4B44-804F-7A574C97FEC3}"/>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56580" y="4128955"/>
                <a:ext cx="1296144" cy="1296144"/>
              </a:xfrm>
              <a:prstGeom prst="rect">
                <a:avLst/>
              </a:prstGeom>
            </p:spPr>
          </p:pic>
          <p:sp>
            <p:nvSpPr>
              <p:cNvPr id="41" name="文字方塊 40">
                <a:extLst>
                  <a:ext uri="{FF2B5EF4-FFF2-40B4-BE49-F238E27FC236}">
                    <a16:creationId xmlns:a16="http://schemas.microsoft.com/office/drawing/2014/main" id="{FA0249B7-E16C-4EEC-8299-B69EA1FEA542}"/>
                  </a:ext>
                </a:extLst>
              </p:cNvPr>
              <p:cNvSpPr txBox="1"/>
              <p:nvPr/>
            </p:nvSpPr>
            <p:spPr>
              <a:xfrm>
                <a:off x="606502" y="5301208"/>
                <a:ext cx="1584176" cy="629188"/>
              </a:xfrm>
              <a:prstGeom prst="rect">
                <a:avLst/>
              </a:prstGeom>
              <a:noFill/>
            </p:spPr>
            <p:txBody>
              <a:bodyPr wrap="square" rtlCol="0">
                <a:spAutoFit/>
              </a:bodyPr>
              <a:lstStyle/>
              <a:p>
                <a:pPr algn="ctr"/>
                <a:r>
                  <a:rPr lang="zh-TW" altLang="en-US" sz="1600" b="1" dirty="0">
                    <a:latin typeface="微軟正黑體" panose="020B0604030504040204" pitchFamily="34" charset="-120"/>
                    <a:ea typeface="微軟正黑體" panose="020B0604030504040204" pitchFamily="34" charset="-120"/>
                  </a:rPr>
                  <a:t>家庭發電</a:t>
                </a:r>
                <a:endParaRPr lang="en-US" altLang="zh-TW" sz="1600" b="1" dirty="0">
                  <a:latin typeface="微軟正黑體" panose="020B0604030504040204" pitchFamily="34" charset="-120"/>
                  <a:ea typeface="微軟正黑體" panose="020B0604030504040204" pitchFamily="34" charset="-120"/>
                </a:endParaRPr>
              </a:p>
              <a:p>
                <a:pPr algn="ctr"/>
                <a:r>
                  <a:rPr lang="zh-TW" altLang="en-US" sz="1600" b="1" dirty="0">
                    <a:latin typeface="微軟正黑體" panose="020B0604030504040204" pitchFamily="34" charset="-120"/>
                    <a:ea typeface="微軟正黑體" panose="020B0604030504040204" pitchFamily="34" charset="-120"/>
                  </a:rPr>
                  <a:t>與供電</a:t>
                </a:r>
              </a:p>
            </p:txBody>
          </p:sp>
        </p:grpSp>
        <p:grpSp>
          <p:nvGrpSpPr>
            <p:cNvPr id="14" name="群組 13">
              <a:extLst>
                <a:ext uri="{FF2B5EF4-FFF2-40B4-BE49-F238E27FC236}">
                  <a16:creationId xmlns:a16="http://schemas.microsoft.com/office/drawing/2014/main" id="{7099367C-2BCA-4BFD-88A5-16A87A6A0931}"/>
                </a:ext>
              </a:extLst>
            </p:cNvPr>
            <p:cNvGrpSpPr/>
            <p:nvPr/>
          </p:nvGrpSpPr>
          <p:grpSpPr>
            <a:xfrm>
              <a:off x="8662163" y="1778919"/>
              <a:ext cx="1446422" cy="1870796"/>
              <a:chOff x="5653970" y="692696"/>
              <a:chExt cx="1584176" cy="2012881"/>
            </a:xfrm>
          </p:grpSpPr>
          <p:grpSp>
            <p:nvGrpSpPr>
              <p:cNvPr id="36" name="群組 35">
                <a:extLst>
                  <a:ext uri="{FF2B5EF4-FFF2-40B4-BE49-F238E27FC236}">
                    <a16:creationId xmlns:a16="http://schemas.microsoft.com/office/drawing/2014/main" id="{695A2F35-88ED-4758-99D5-B954A06CF2C8}"/>
                  </a:ext>
                </a:extLst>
              </p:cNvPr>
              <p:cNvGrpSpPr/>
              <p:nvPr/>
            </p:nvGrpSpPr>
            <p:grpSpPr>
              <a:xfrm>
                <a:off x="5925917" y="692696"/>
                <a:ext cx="1101810" cy="1376943"/>
                <a:chOff x="3470171" y="1927522"/>
                <a:chExt cx="1200832" cy="1582540"/>
              </a:xfrm>
            </p:grpSpPr>
            <p:pic>
              <p:nvPicPr>
                <p:cNvPr id="38" name="圖片 37">
                  <a:extLst>
                    <a:ext uri="{FF2B5EF4-FFF2-40B4-BE49-F238E27FC236}">
                      <a16:creationId xmlns:a16="http://schemas.microsoft.com/office/drawing/2014/main" id="{F12E8BFF-AC5F-4002-B082-A4B02EFC072C}"/>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3470171" y="2718406"/>
                  <a:ext cx="1200832" cy="791656"/>
                </a:xfrm>
                <a:prstGeom prst="rect">
                  <a:avLst/>
                </a:prstGeom>
                <a:solidFill>
                  <a:schemeClr val="accent5">
                    <a:lumMod val="40000"/>
                    <a:lumOff val="60000"/>
                  </a:schemeClr>
                </a:solidFill>
              </p:spPr>
            </p:pic>
            <p:pic>
              <p:nvPicPr>
                <p:cNvPr id="39" name="圖片 38">
                  <a:extLst>
                    <a:ext uri="{FF2B5EF4-FFF2-40B4-BE49-F238E27FC236}">
                      <a16:creationId xmlns:a16="http://schemas.microsoft.com/office/drawing/2014/main" id="{E1B4EFAD-5133-4D72-BFFF-0C45DB208E1C}"/>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3471921" y="1927522"/>
                  <a:ext cx="1199082" cy="790884"/>
                </a:xfrm>
                <a:prstGeom prst="rect">
                  <a:avLst/>
                </a:prstGeom>
                <a:solidFill>
                  <a:schemeClr val="accent5">
                    <a:lumMod val="40000"/>
                    <a:lumOff val="60000"/>
                  </a:schemeClr>
                </a:solidFill>
              </p:spPr>
            </p:pic>
          </p:grpSp>
          <p:sp>
            <p:nvSpPr>
              <p:cNvPr id="37" name="文字方塊 36">
                <a:extLst>
                  <a:ext uri="{FF2B5EF4-FFF2-40B4-BE49-F238E27FC236}">
                    <a16:creationId xmlns:a16="http://schemas.microsoft.com/office/drawing/2014/main" id="{ABCE74BB-348E-47B3-9C46-808B71EF0BAC}"/>
                  </a:ext>
                </a:extLst>
              </p:cNvPr>
              <p:cNvSpPr txBox="1"/>
              <p:nvPr/>
            </p:nvSpPr>
            <p:spPr>
              <a:xfrm>
                <a:off x="5653970" y="2076389"/>
                <a:ext cx="1584176" cy="629188"/>
              </a:xfrm>
              <a:prstGeom prst="rect">
                <a:avLst/>
              </a:prstGeom>
              <a:noFill/>
            </p:spPr>
            <p:txBody>
              <a:bodyPr wrap="square" rtlCol="0">
                <a:spAutoFit/>
              </a:bodyPr>
              <a:lstStyle/>
              <a:p>
                <a:pPr algn="ctr"/>
                <a:r>
                  <a:rPr lang="zh-TW" altLang="en-US" sz="1600" b="1" dirty="0">
                    <a:latin typeface="微軟正黑體" panose="020B0604030504040204" pitchFamily="34" charset="-120"/>
                    <a:ea typeface="微軟正黑體" panose="020B0604030504040204" pitchFamily="34" charset="-120"/>
                  </a:rPr>
                  <a:t>供應鏈與</a:t>
                </a:r>
                <a:endParaRPr lang="en-US" altLang="zh-TW" sz="1600" b="1" dirty="0">
                  <a:latin typeface="微軟正黑體" panose="020B0604030504040204" pitchFamily="34" charset="-120"/>
                  <a:ea typeface="微軟正黑體" panose="020B0604030504040204" pitchFamily="34" charset="-120"/>
                </a:endParaRPr>
              </a:p>
              <a:p>
                <a:pPr algn="ctr"/>
                <a:r>
                  <a:rPr lang="zh-TW" altLang="en-US" sz="1600" b="1" dirty="0">
                    <a:latin typeface="微軟正黑體" panose="020B0604030504040204" pitchFamily="34" charset="-120"/>
                    <a:ea typeface="微軟正黑體" panose="020B0604030504040204" pitchFamily="34" charset="-120"/>
                  </a:rPr>
                  <a:t>物聯網</a:t>
                </a:r>
              </a:p>
            </p:txBody>
          </p:sp>
        </p:grpSp>
        <p:grpSp>
          <p:nvGrpSpPr>
            <p:cNvPr id="15" name="群組 14">
              <a:extLst>
                <a:ext uri="{FF2B5EF4-FFF2-40B4-BE49-F238E27FC236}">
                  <a16:creationId xmlns:a16="http://schemas.microsoft.com/office/drawing/2014/main" id="{4F003603-EEC9-4466-9114-BCC11D92A40B}"/>
                </a:ext>
              </a:extLst>
            </p:cNvPr>
            <p:cNvGrpSpPr/>
            <p:nvPr/>
          </p:nvGrpSpPr>
          <p:grpSpPr>
            <a:xfrm>
              <a:off x="7262353" y="989534"/>
              <a:ext cx="1446422" cy="1717091"/>
              <a:chOff x="5663952" y="3573016"/>
              <a:chExt cx="1584176" cy="1847502"/>
            </a:xfrm>
          </p:grpSpPr>
          <p:grpSp>
            <p:nvGrpSpPr>
              <p:cNvPr id="31" name="群組 30">
                <a:extLst>
                  <a:ext uri="{FF2B5EF4-FFF2-40B4-BE49-F238E27FC236}">
                    <a16:creationId xmlns:a16="http://schemas.microsoft.com/office/drawing/2014/main" id="{7ACDB9FA-2A5A-41A0-A384-53B143493B7A}"/>
                  </a:ext>
                </a:extLst>
              </p:cNvPr>
              <p:cNvGrpSpPr/>
              <p:nvPr/>
            </p:nvGrpSpPr>
            <p:grpSpPr>
              <a:xfrm>
                <a:off x="5663952" y="3573016"/>
                <a:ext cx="1363775" cy="1370964"/>
                <a:chOff x="6096000" y="3356992"/>
                <a:chExt cx="1278307" cy="1269412"/>
              </a:xfrm>
            </p:grpSpPr>
            <p:pic>
              <p:nvPicPr>
                <p:cNvPr id="34" name="圖片 33">
                  <a:extLst>
                    <a:ext uri="{FF2B5EF4-FFF2-40B4-BE49-F238E27FC236}">
                      <a16:creationId xmlns:a16="http://schemas.microsoft.com/office/drawing/2014/main" id="{D0E6053E-3722-4262-AB50-0A551F083815}"/>
                    </a:ext>
                  </a:extLst>
                </p:cNvPr>
                <p:cNvPicPr>
                  <a:picLocks noChangeAspect="1"/>
                </p:cNvPicPr>
                <p:nvPr/>
              </p:nvPicPr>
              <p:blipFill>
                <a:blip r:embed="rId9">
                  <a:clrChange>
                    <a:clrFrom>
                      <a:srgbClr val="FFFFFF"/>
                    </a:clrFrom>
                    <a:clrTo>
                      <a:srgbClr val="FFFFFF">
                        <a:alpha val="0"/>
                      </a:srgbClr>
                    </a:clrTo>
                  </a:clrChange>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150171" y="3356992"/>
                  <a:ext cx="1224136" cy="1269412"/>
                </a:xfrm>
                <a:prstGeom prst="rect">
                  <a:avLst/>
                </a:prstGeom>
              </p:spPr>
            </p:pic>
            <p:pic>
              <p:nvPicPr>
                <p:cNvPr id="35" name="圖片 34">
                  <a:extLst>
                    <a:ext uri="{FF2B5EF4-FFF2-40B4-BE49-F238E27FC236}">
                      <a16:creationId xmlns:a16="http://schemas.microsoft.com/office/drawing/2014/main" id="{284A59E4-B553-4511-A5E1-D13BFCEE4C86}"/>
                    </a:ext>
                  </a:extLst>
                </p:cNvPr>
                <p:cNvPicPr>
                  <a:picLocks noChangeAspect="1"/>
                </p:cNvPicPr>
                <p:nvPr/>
              </p:nvPicPr>
              <p:blipFill>
                <a:blip r:embed="rId10"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6096000" y="3660432"/>
                  <a:ext cx="965972" cy="965972"/>
                </a:xfrm>
                <a:prstGeom prst="rect">
                  <a:avLst/>
                </a:prstGeom>
              </p:spPr>
            </p:pic>
          </p:grpSp>
          <p:sp>
            <p:nvSpPr>
              <p:cNvPr id="32" name="文字方塊 31">
                <a:extLst>
                  <a:ext uri="{FF2B5EF4-FFF2-40B4-BE49-F238E27FC236}">
                    <a16:creationId xmlns:a16="http://schemas.microsoft.com/office/drawing/2014/main" id="{4CB4CB14-9C25-4C95-BF8F-DBAEF02F899A}"/>
                  </a:ext>
                </a:extLst>
              </p:cNvPr>
              <p:cNvSpPr txBox="1"/>
              <p:nvPr/>
            </p:nvSpPr>
            <p:spPr>
              <a:xfrm>
                <a:off x="5663952" y="5056251"/>
                <a:ext cx="1584176" cy="364267"/>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運動區塊鏈</a:t>
                </a:r>
              </a:p>
            </p:txBody>
          </p:sp>
        </p:grpSp>
        <p:grpSp>
          <p:nvGrpSpPr>
            <p:cNvPr id="16" name="群組 15">
              <a:extLst>
                <a:ext uri="{FF2B5EF4-FFF2-40B4-BE49-F238E27FC236}">
                  <a16:creationId xmlns:a16="http://schemas.microsoft.com/office/drawing/2014/main" id="{992D339F-78AC-4DC5-AEF9-F33A6EA444F1}"/>
                </a:ext>
              </a:extLst>
            </p:cNvPr>
            <p:cNvGrpSpPr/>
            <p:nvPr/>
          </p:nvGrpSpPr>
          <p:grpSpPr>
            <a:xfrm>
              <a:off x="8919967" y="4141940"/>
              <a:ext cx="1446422" cy="1432494"/>
              <a:chOff x="2313314" y="3766958"/>
              <a:chExt cx="1584176" cy="1541289"/>
            </a:xfrm>
          </p:grpSpPr>
          <p:pic>
            <p:nvPicPr>
              <p:cNvPr id="29" name="圖片 28">
                <a:extLst>
                  <a:ext uri="{FF2B5EF4-FFF2-40B4-BE49-F238E27FC236}">
                    <a16:creationId xmlns:a16="http://schemas.microsoft.com/office/drawing/2014/main" id="{4FC44103-B303-410C-B70B-DF934D9E7D7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420493" y="3766958"/>
                <a:ext cx="1065501" cy="1065501"/>
              </a:xfrm>
              <a:prstGeom prst="rect">
                <a:avLst/>
              </a:prstGeom>
            </p:spPr>
          </p:pic>
          <p:sp>
            <p:nvSpPr>
              <p:cNvPr id="30" name="文字方塊 29">
                <a:extLst>
                  <a:ext uri="{FF2B5EF4-FFF2-40B4-BE49-F238E27FC236}">
                    <a16:creationId xmlns:a16="http://schemas.microsoft.com/office/drawing/2014/main" id="{9A43AD1A-7265-496A-ACD2-C98D9ABDEB4A}"/>
                  </a:ext>
                </a:extLst>
              </p:cNvPr>
              <p:cNvSpPr txBox="1"/>
              <p:nvPr/>
            </p:nvSpPr>
            <p:spPr>
              <a:xfrm>
                <a:off x="2313314" y="4943980"/>
                <a:ext cx="1584176" cy="364267"/>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食品安全</a:t>
                </a:r>
              </a:p>
            </p:txBody>
          </p:sp>
        </p:grpSp>
        <p:grpSp>
          <p:nvGrpSpPr>
            <p:cNvPr id="17" name="群組 16">
              <a:extLst>
                <a:ext uri="{FF2B5EF4-FFF2-40B4-BE49-F238E27FC236}">
                  <a16:creationId xmlns:a16="http://schemas.microsoft.com/office/drawing/2014/main" id="{84221211-C82F-4825-903C-1D9581D95A47}"/>
                </a:ext>
              </a:extLst>
            </p:cNvPr>
            <p:cNvGrpSpPr/>
            <p:nvPr/>
          </p:nvGrpSpPr>
          <p:grpSpPr>
            <a:xfrm>
              <a:off x="7429290" y="3390109"/>
              <a:ext cx="1446422" cy="1718602"/>
              <a:chOff x="9018547" y="419419"/>
              <a:chExt cx="1584176" cy="1849128"/>
            </a:xfrm>
          </p:grpSpPr>
          <p:pic>
            <p:nvPicPr>
              <p:cNvPr id="27" name="圖片 26">
                <a:extLst>
                  <a:ext uri="{FF2B5EF4-FFF2-40B4-BE49-F238E27FC236}">
                    <a16:creationId xmlns:a16="http://schemas.microsoft.com/office/drawing/2014/main" id="{40EAAC93-2A3C-44D8-804D-6F587FCA4A69}"/>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9048328" y="419419"/>
                <a:ext cx="1224136" cy="1455564"/>
              </a:xfrm>
              <a:prstGeom prst="rect">
                <a:avLst/>
              </a:prstGeom>
            </p:spPr>
          </p:pic>
          <p:sp>
            <p:nvSpPr>
              <p:cNvPr id="28" name="文字方塊 27">
                <a:extLst>
                  <a:ext uri="{FF2B5EF4-FFF2-40B4-BE49-F238E27FC236}">
                    <a16:creationId xmlns:a16="http://schemas.microsoft.com/office/drawing/2014/main" id="{82BA4CB7-F237-4043-984C-778CF4B4F0FC}"/>
                  </a:ext>
                </a:extLst>
              </p:cNvPr>
              <p:cNvSpPr txBox="1"/>
              <p:nvPr/>
            </p:nvSpPr>
            <p:spPr>
              <a:xfrm>
                <a:off x="9018547" y="1904280"/>
                <a:ext cx="1584176" cy="364267"/>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慈善捐款</a:t>
                </a:r>
              </a:p>
            </p:txBody>
          </p:sp>
        </p:grpSp>
        <p:grpSp>
          <p:nvGrpSpPr>
            <p:cNvPr id="18" name="群組 17">
              <a:extLst>
                <a:ext uri="{FF2B5EF4-FFF2-40B4-BE49-F238E27FC236}">
                  <a16:creationId xmlns:a16="http://schemas.microsoft.com/office/drawing/2014/main" id="{B5C55146-9CD0-4BA3-8DC2-AADAA13E24A8}"/>
                </a:ext>
              </a:extLst>
            </p:cNvPr>
            <p:cNvGrpSpPr/>
            <p:nvPr/>
          </p:nvGrpSpPr>
          <p:grpSpPr>
            <a:xfrm>
              <a:off x="5628943" y="799087"/>
              <a:ext cx="1465348" cy="1437666"/>
              <a:chOff x="3935098" y="357372"/>
              <a:chExt cx="1604905" cy="1546855"/>
            </a:xfrm>
          </p:grpSpPr>
          <p:pic>
            <p:nvPicPr>
              <p:cNvPr id="25" name="圖片 24">
                <a:extLst>
                  <a:ext uri="{FF2B5EF4-FFF2-40B4-BE49-F238E27FC236}">
                    <a16:creationId xmlns:a16="http://schemas.microsoft.com/office/drawing/2014/main" id="{6BB9AFA9-AB9A-406D-9872-6AAA367A353B}"/>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935098" y="357372"/>
                <a:ext cx="1343436" cy="1343436"/>
              </a:xfrm>
              <a:prstGeom prst="rect">
                <a:avLst/>
              </a:prstGeom>
            </p:spPr>
          </p:pic>
          <p:sp>
            <p:nvSpPr>
              <p:cNvPr id="26" name="文字方塊 25">
                <a:extLst>
                  <a:ext uri="{FF2B5EF4-FFF2-40B4-BE49-F238E27FC236}">
                    <a16:creationId xmlns:a16="http://schemas.microsoft.com/office/drawing/2014/main" id="{2D405D61-1E81-4274-8527-5B8C78613423}"/>
                  </a:ext>
                </a:extLst>
              </p:cNvPr>
              <p:cNvSpPr txBox="1"/>
              <p:nvPr/>
            </p:nvSpPr>
            <p:spPr>
              <a:xfrm>
                <a:off x="3955826" y="1539960"/>
                <a:ext cx="1584177" cy="364267"/>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房屋保險</a:t>
                </a:r>
              </a:p>
            </p:txBody>
          </p:sp>
        </p:grpSp>
        <p:grpSp>
          <p:nvGrpSpPr>
            <p:cNvPr id="19" name="群組 18">
              <a:extLst>
                <a:ext uri="{FF2B5EF4-FFF2-40B4-BE49-F238E27FC236}">
                  <a16:creationId xmlns:a16="http://schemas.microsoft.com/office/drawing/2014/main" id="{6B42C458-C6C2-4DAC-981C-065717214747}"/>
                </a:ext>
              </a:extLst>
            </p:cNvPr>
            <p:cNvGrpSpPr/>
            <p:nvPr/>
          </p:nvGrpSpPr>
          <p:grpSpPr>
            <a:xfrm>
              <a:off x="5694480" y="2768541"/>
              <a:ext cx="1629314" cy="1832233"/>
              <a:chOff x="2160218" y="86992"/>
              <a:chExt cx="1684356" cy="1835079"/>
            </a:xfrm>
          </p:grpSpPr>
          <p:pic>
            <p:nvPicPr>
              <p:cNvPr id="23" name="圖片 22">
                <a:extLst>
                  <a:ext uri="{FF2B5EF4-FFF2-40B4-BE49-F238E27FC236}">
                    <a16:creationId xmlns:a16="http://schemas.microsoft.com/office/drawing/2014/main" id="{BAA17290-FBB3-4C1F-8CC1-BBC1533E9CB8}"/>
                  </a:ext>
                </a:extLst>
              </p:cNvPr>
              <p:cNvPicPr>
                <a:picLocks noChangeAspect="1"/>
              </p:cNvPicPr>
              <p:nvPr/>
            </p:nvPicPr>
            <p:blipFill>
              <a:blip r:embed="rId1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2160218" y="86992"/>
                <a:ext cx="1513411" cy="1513411"/>
              </a:xfrm>
              <a:prstGeom prst="rect">
                <a:avLst/>
              </a:prstGeom>
            </p:spPr>
          </p:pic>
          <p:sp>
            <p:nvSpPr>
              <p:cNvPr id="24" name="文字方塊 23">
                <a:extLst>
                  <a:ext uri="{FF2B5EF4-FFF2-40B4-BE49-F238E27FC236}">
                    <a16:creationId xmlns:a16="http://schemas.microsoft.com/office/drawing/2014/main" id="{FA638CE5-D237-465B-BDFD-F84DDE9B4561}"/>
                  </a:ext>
                </a:extLst>
              </p:cNvPr>
              <p:cNvSpPr txBox="1"/>
              <p:nvPr/>
            </p:nvSpPr>
            <p:spPr>
              <a:xfrm>
                <a:off x="2260398" y="1582991"/>
                <a:ext cx="1584176" cy="339080"/>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公務機構</a:t>
                </a:r>
              </a:p>
            </p:txBody>
          </p:sp>
        </p:grpSp>
        <p:grpSp>
          <p:nvGrpSpPr>
            <p:cNvPr id="20" name="群組 19">
              <a:extLst>
                <a:ext uri="{FF2B5EF4-FFF2-40B4-BE49-F238E27FC236}">
                  <a16:creationId xmlns:a16="http://schemas.microsoft.com/office/drawing/2014/main" id="{370764D1-2D29-445F-966F-5E0E2A9B9279}"/>
                </a:ext>
              </a:extLst>
            </p:cNvPr>
            <p:cNvGrpSpPr/>
            <p:nvPr/>
          </p:nvGrpSpPr>
          <p:grpSpPr>
            <a:xfrm>
              <a:off x="2981794" y="2943691"/>
              <a:ext cx="1481574" cy="1273996"/>
              <a:chOff x="674064" y="2204864"/>
              <a:chExt cx="1622676" cy="1370755"/>
            </a:xfrm>
            <a:solidFill>
              <a:srgbClr val="2CF4D3"/>
            </a:solidFill>
          </p:grpSpPr>
          <p:sp>
            <p:nvSpPr>
              <p:cNvPr id="21" name="文字方塊 20">
                <a:extLst>
                  <a:ext uri="{FF2B5EF4-FFF2-40B4-BE49-F238E27FC236}">
                    <a16:creationId xmlns:a16="http://schemas.microsoft.com/office/drawing/2014/main" id="{335AA433-F97A-40FE-95B7-D4FAEAC66ECC}"/>
                  </a:ext>
                </a:extLst>
              </p:cNvPr>
              <p:cNvSpPr txBox="1"/>
              <p:nvPr/>
            </p:nvSpPr>
            <p:spPr>
              <a:xfrm>
                <a:off x="712564" y="3211352"/>
                <a:ext cx="1584176" cy="364267"/>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雲端平台</a:t>
                </a:r>
              </a:p>
            </p:txBody>
          </p:sp>
          <p:pic>
            <p:nvPicPr>
              <p:cNvPr id="22" name="圖片 21">
                <a:extLst>
                  <a:ext uri="{FF2B5EF4-FFF2-40B4-BE49-F238E27FC236}">
                    <a16:creationId xmlns:a16="http://schemas.microsoft.com/office/drawing/2014/main" id="{062A116E-7F43-46C3-B1E8-49E8C521B774}"/>
                  </a:ext>
                </a:extLst>
              </p:cNvPr>
              <p:cNvPicPr>
                <a:picLocks noChangeAspect="1"/>
              </p:cNvPicPr>
              <p:nvPr/>
            </p:nvPicPr>
            <p:blipFill>
              <a:blip r:embed="rId15">
                <a:clrChange>
                  <a:clrFrom>
                    <a:srgbClr val="FFFFFF"/>
                  </a:clrFrom>
                  <a:clrTo>
                    <a:srgbClr val="FFFFFF">
                      <a:alpha val="0"/>
                    </a:srgbClr>
                  </a:clrTo>
                </a:clrChange>
                <a:biLevel thresh="75000"/>
              </a:blip>
              <a:stretch>
                <a:fillRect/>
              </a:stretch>
            </p:blipFill>
            <p:spPr>
              <a:xfrm>
                <a:off x="674064" y="2204864"/>
                <a:ext cx="1281858" cy="1022020"/>
              </a:xfrm>
              <a:prstGeom prst="rect">
                <a:avLst/>
              </a:prstGeom>
              <a:grpFill/>
            </p:spPr>
          </p:pic>
        </p:grpSp>
      </p:grpSp>
    </p:spTree>
    <p:extLst>
      <p:ext uri="{BB962C8B-B14F-4D97-AF65-F5344CB8AC3E}">
        <p14:creationId xmlns:p14="http://schemas.microsoft.com/office/powerpoint/2010/main" val="406258829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barn(inVertical)">
                                      <p:cBhvr>
                                        <p:cTn id="11" dur="500"/>
                                        <p:tgtEl>
                                          <p:spTgt spid="5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barn(inVertical)">
                                      <p:cBhvr>
                                        <p:cTn id="20" dur="500"/>
                                        <p:tgtEl>
                                          <p:spTgt spid="3">
                                            <p:txEl>
                                              <p:pRg st="0" end="0"/>
                                            </p:txEl>
                                          </p:spTgt>
                                        </p:tgtEl>
                                      </p:cBhvr>
                                    </p:animEffect>
                                  </p:childTnLst>
                                </p:cTn>
                              </p:par>
                            </p:childTnLst>
                          </p:cTn>
                        </p:par>
                        <p:par>
                          <p:cTn id="21" fill="hold">
                            <p:stCondLst>
                              <p:cond delay="3500"/>
                            </p:stCondLst>
                            <p:childTnLst>
                              <p:par>
                                <p:cTn id="22" presetID="16" presetClass="entr" presetSubtype="21" fill="hold" nodeType="after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barn(inVertical)">
                                      <p:cBhvr>
                                        <p:cTn id="24" dur="500"/>
                                        <p:tgtEl>
                                          <p:spTgt spid="3">
                                            <p:txEl>
                                              <p:pRg st="1" end="1"/>
                                            </p:txEl>
                                          </p:spTgt>
                                        </p:tgtEl>
                                      </p:cBhvr>
                                    </p:animEffect>
                                  </p:childTnLst>
                                </p:cTn>
                              </p:par>
                            </p:childTnLst>
                          </p:cTn>
                        </p:par>
                        <p:par>
                          <p:cTn id="25" fill="hold">
                            <p:stCondLst>
                              <p:cond delay="4000"/>
                            </p:stCondLst>
                            <p:childTnLst>
                              <p:par>
                                <p:cTn id="26" presetID="16" presetClass="entr" presetSubtype="21" fill="hold" nodeType="after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barn(inVertical)">
                                      <p:cBhvr>
                                        <p:cTn id="28" dur="500"/>
                                        <p:tgtEl>
                                          <p:spTgt spid="3">
                                            <p:txEl>
                                              <p:pRg st="3" end="3"/>
                                            </p:txEl>
                                          </p:spTgt>
                                        </p:tgtEl>
                                      </p:cBhvr>
                                    </p:animEffect>
                                  </p:childTnLst>
                                </p:cTn>
                              </p:par>
                            </p:childTnLst>
                          </p:cTn>
                        </p:par>
                        <p:par>
                          <p:cTn id="29" fill="hold">
                            <p:stCondLst>
                              <p:cond delay="4500"/>
                            </p:stCondLst>
                            <p:childTnLst>
                              <p:par>
                                <p:cTn id="30" presetID="53" presetClass="entr" presetSubtype="16" fill="hold"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2" presetClass="entr" presetSubtype="4"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 calcmode="lin" valueType="num">
                                      <p:cBhvr additive="base">
                                        <p:cTn id="37" dur="500" fill="hold"/>
                                        <p:tgtEl>
                                          <p:spTgt spid="53"/>
                                        </p:tgtEl>
                                        <p:attrNameLst>
                                          <p:attrName>ppt_x</p:attrName>
                                        </p:attrNameLst>
                                      </p:cBhvr>
                                      <p:tavLst>
                                        <p:tav tm="0">
                                          <p:val>
                                            <p:strVal val="#ppt_x"/>
                                          </p:val>
                                        </p:tav>
                                        <p:tav tm="100000">
                                          <p:val>
                                            <p:strVal val="#ppt_x"/>
                                          </p:val>
                                        </p:tav>
                                      </p:tavLst>
                                    </p:anim>
                                    <p:anim calcmode="lin" valueType="num">
                                      <p:cBhvr additive="base">
                                        <p:cTn id="3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3" grpId="0"/>
      <p:bldP spid="5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191012" y="1315968"/>
            <a:ext cx="9009963" cy="4136132"/>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一、醫療領域</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為保障患者權益及避免資源浪費，醫療產業可引進區塊鏈技術</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以</a:t>
            </a:r>
            <a:r>
              <a:rPr lang="en-US" altLang="zh-TW" sz="2300" b="1" dirty="0" err="1">
                <a:solidFill>
                  <a:schemeClr val="tx1">
                    <a:lumMod val="75000"/>
                    <a:lumOff val="25000"/>
                  </a:schemeClr>
                </a:solidFill>
                <a:latin typeface="微軟正黑體" panose="020B0604030504040204" pitchFamily="34" charset="-120"/>
                <a:ea typeface="微軟正黑體" panose="020B0604030504040204" pitchFamily="34" charset="-120"/>
              </a:rPr>
              <a:t>Factom</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區塊鏈系統為例</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4">
                  <a:extLst/>
                </a:blip>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運用離散式帳本與智慧合約，雙重驗證醫療紀錄和合約和標記時間，</a:t>
            </a:r>
            <a:r>
              <a:rPr lang="zh-TW" altLang="en-US" sz="2300" b="1" dirty="0">
                <a:solidFill>
                  <a:srgbClr val="54667E"/>
                </a:solidFill>
                <a:latin typeface="微軟正黑體" panose="020B0604030504040204" pitchFamily="34" charset="-120"/>
                <a:ea typeface="微軟正黑體" panose="020B0604030504040204" pitchFamily="34" charset="-120"/>
              </a:rPr>
              <a:t>提高醫療品質與醫療效率</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，確保紀錄不被更改</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4">
                  <a:extLst/>
                </a:blip>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將私人醫療數據加密編碼，生成數據指紋以供時間標記和驗證過程，確保數據不會洩漏，保護患者的隱私與個資</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11B7C34C-5C84-467F-81F2-10D96D691FDE}"/>
              </a:ext>
            </a:extLst>
          </p:cNvPr>
          <p:cNvCxnSpPr>
            <a:cxnSpLocks/>
          </p:cNvCxnSpPr>
          <p:nvPr/>
        </p:nvCxnSpPr>
        <p:spPr>
          <a:xfrm>
            <a:off x="1177167" y="1046746"/>
            <a:ext cx="85890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標題 1">
            <a:extLst>
              <a:ext uri="{FF2B5EF4-FFF2-40B4-BE49-F238E27FC236}">
                <a16:creationId xmlns:a16="http://schemas.microsoft.com/office/drawing/2014/main" id="{DCCC873F-4809-49E4-9F7D-D36DEDC4E4DC}"/>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4FD11169-F6BE-42D9-9250-CB1CD422C69B}"/>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區塊鏈之非金融服務應用領域</a:t>
            </a:r>
          </a:p>
        </p:txBody>
      </p:sp>
      <p:pic>
        <p:nvPicPr>
          <p:cNvPr id="4" name="圖片 3" descr="一張含有 文字 的圖片&#10;&#10;描述是以非常高的可信度產生">
            <a:extLst>
              <a:ext uri="{FF2B5EF4-FFF2-40B4-BE49-F238E27FC236}">
                <a16:creationId xmlns:a16="http://schemas.microsoft.com/office/drawing/2014/main" id="{5406D577-374D-4266-B788-64AC2FBABA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00975" y="304385"/>
            <a:ext cx="1484722" cy="1484722"/>
          </a:xfrm>
          <a:prstGeom prst="rect">
            <a:avLst/>
          </a:prstGeom>
        </p:spPr>
      </p:pic>
      <p:pic>
        <p:nvPicPr>
          <p:cNvPr id="6" name="圖片 5">
            <a:extLst>
              <a:ext uri="{FF2B5EF4-FFF2-40B4-BE49-F238E27FC236}">
                <a16:creationId xmlns:a16="http://schemas.microsoft.com/office/drawing/2014/main" id="{7C4618C5-F457-4C82-BEFD-9C087923C3D9}"/>
              </a:ext>
            </a:extLst>
          </p:cNvPr>
          <p:cNvPicPr>
            <a:picLocks noChangeAspect="1"/>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t="37238" b="32898"/>
          <a:stretch/>
        </p:blipFill>
        <p:spPr>
          <a:xfrm>
            <a:off x="6551500" y="5559408"/>
            <a:ext cx="3472314" cy="1036982"/>
          </a:xfrm>
          <a:prstGeom prst="rect">
            <a:avLst/>
          </a:prstGeom>
        </p:spPr>
      </p:pic>
    </p:spTree>
    <p:extLst>
      <p:ext uri="{BB962C8B-B14F-4D97-AF65-F5344CB8AC3E}">
        <p14:creationId xmlns:p14="http://schemas.microsoft.com/office/powerpoint/2010/main" val="344421257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4" end="4"/>
                                            </p:txEl>
                                          </p:spTgt>
                                        </p:tgtEl>
                                        <p:attrNameLst>
                                          <p:attrName>style.visibility</p:attrName>
                                        </p:attrNameLst>
                                      </p:cBhvr>
                                      <p:to>
                                        <p:strVal val="visible"/>
                                      </p:to>
                                    </p:set>
                                    <p:animEffect transition="in" filter="barn(inVertical)">
                                      <p:cBhvr>
                                        <p:cTn id="29" dur="500"/>
                                        <p:tgtEl>
                                          <p:spTgt spid="28">
                                            <p:txEl>
                                              <p:pRg st="4" end="4"/>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5" end="5"/>
                                            </p:txEl>
                                          </p:spTgt>
                                        </p:tgtEl>
                                        <p:attrNameLst>
                                          <p:attrName>style.visibility</p:attrName>
                                        </p:attrNameLst>
                                      </p:cBhvr>
                                      <p:to>
                                        <p:strVal val="visible"/>
                                      </p:to>
                                    </p:set>
                                    <p:animEffect transition="in" filter="barn(inVertical)">
                                      <p:cBhvr>
                                        <p:cTn id="33" dur="500"/>
                                        <p:tgtEl>
                                          <p:spTgt spid="28">
                                            <p:txEl>
                                              <p:pRg st="5" end="5"/>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6" end="6"/>
                                            </p:txEl>
                                          </p:spTgt>
                                        </p:tgtEl>
                                        <p:attrNameLst>
                                          <p:attrName>style.visibility</p:attrName>
                                        </p:attrNameLst>
                                      </p:cBhvr>
                                      <p:to>
                                        <p:strVal val="visible"/>
                                      </p:to>
                                    </p:set>
                                    <p:animEffect transition="in" filter="barn(inVertical)">
                                      <p:cBhvr>
                                        <p:cTn id="37" dur="500"/>
                                        <p:tgtEl>
                                          <p:spTgt spid="28">
                                            <p:txEl>
                                              <p:pRg st="6" end="6"/>
                                            </p:txEl>
                                          </p:spTgt>
                                        </p:tgtEl>
                                      </p:cBhvr>
                                    </p:animEffect>
                                  </p:childTnLst>
                                </p:cTn>
                              </p:par>
                            </p:childTnLst>
                          </p:cTn>
                        </p:par>
                        <p:par>
                          <p:cTn id="38" fill="hold">
                            <p:stCondLst>
                              <p:cond delay="5500"/>
                            </p:stCondLst>
                            <p:childTnLst>
                              <p:par>
                                <p:cTn id="39" presetID="53" presetClass="entr" presetSubtype="16"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p:cTn id="41" dur="500" fill="hold"/>
                                        <p:tgtEl>
                                          <p:spTgt spid="6"/>
                                        </p:tgtEl>
                                        <p:attrNameLst>
                                          <p:attrName>ppt_w</p:attrName>
                                        </p:attrNameLst>
                                      </p:cBhvr>
                                      <p:tavLst>
                                        <p:tav tm="0">
                                          <p:val>
                                            <p:fltVal val="0"/>
                                          </p:val>
                                        </p:tav>
                                        <p:tav tm="100000">
                                          <p:val>
                                            <p:strVal val="#ppt_w"/>
                                          </p:val>
                                        </p:tav>
                                      </p:tavLst>
                                    </p:anim>
                                    <p:anim calcmode="lin" valueType="num">
                                      <p:cBhvr>
                                        <p:cTn id="42" dur="500" fill="hold"/>
                                        <p:tgtEl>
                                          <p:spTgt spid="6"/>
                                        </p:tgtEl>
                                        <p:attrNameLst>
                                          <p:attrName>ppt_h</p:attrName>
                                        </p:attrNameLst>
                                      </p:cBhvr>
                                      <p:tavLst>
                                        <p:tav tm="0">
                                          <p:val>
                                            <p:fltVal val="0"/>
                                          </p:val>
                                        </p:tav>
                                        <p:tav tm="100000">
                                          <p:val>
                                            <p:strVal val="#ppt_h"/>
                                          </p:val>
                                        </p:tav>
                                      </p:tavLst>
                                    </p:anim>
                                    <p:animEffect transition="in" filter="fade">
                                      <p:cBhvr>
                                        <p:cTn id="43" dur="500"/>
                                        <p:tgtEl>
                                          <p:spTgt spid="6"/>
                                        </p:tgtEl>
                                      </p:cBhvr>
                                    </p:animEffect>
                                  </p:childTnLst>
                                </p:cTn>
                              </p:par>
                            </p:childTnLst>
                          </p:cTn>
                        </p:par>
                        <p:par>
                          <p:cTn id="44" fill="hold">
                            <p:stCondLst>
                              <p:cond delay="6000"/>
                            </p:stCondLst>
                            <p:childTnLst>
                              <p:par>
                                <p:cTn id="45" presetID="2" presetClass="entr" presetSubtype="2" fill="hold" nodeType="after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additive="base">
                                        <p:cTn id="47" dur="500" fill="hold"/>
                                        <p:tgtEl>
                                          <p:spTgt spid="4"/>
                                        </p:tgtEl>
                                        <p:attrNameLst>
                                          <p:attrName>ppt_x</p:attrName>
                                        </p:attrNameLst>
                                      </p:cBhvr>
                                      <p:tavLst>
                                        <p:tav tm="0">
                                          <p:val>
                                            <p:strVal val="1+#ppt_w/2"/>
                                          </p:val>
                                        </p:tav>
                                        <p:tav tm="100000">
                                          <p:val>
                                            <p:strVal val="#ppt_x"/>
                                          </p:val>
                                        </p:tav>
                                      </p:tavLst>
                                    </p:anim>
                                    <p:anim calcmode="lin" valueType="num">
                                      <p:cBhvr additive="base">
                                        <p:cTn id="4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191013" y="1315968"/>
            <a:ext cx="9103058" cy="4136132"/>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二、雲端平台</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可藉由區塊鏈技術將資源進行分享，再利用密碼學演算法進行</a:t>
            </a:r>
            <a:r>
              <a:rPr lang="zh-TW" altLang="en-US" sz="2300" b="1" dirty="0">
                <a:solidFill>
                  <a:srgbClr val="54667E"/>
                </a:solidFill>
                <a:latin typeface="微軟正黑體" panose="020B0604030504040204" pitchFamily="34" charset="-120"/>
                <a:ea typeface="微軟正黑體" panose="020B0604030504040204" pitchFamily="34" charset="-120"/>
              </a:rPr>
              <a:t>安全管控</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，提升雲端資訊</a:t>
            </a:r>
            <a:r>
              <a:rPr lang="zh-TW" altLang="en-US" sz="2300" b="1" dirty="0">
                <a:solidFill>
                  <a:srgbClr val="54667E"/>
                </a:solidFill>
                <a:latin typeface="微軟正黑體" panose="020B0604030504040204" pitchFamily="34" charset="-120"/>
                <a:ea typeface="微軟正黑體" panose="020B0604030504040204" pitchFamily="34" charset="-120"/>
              </a:rPr>
              <a:t>服務品質</a:t>
            </a:r>
            <a:endParaRPr lang="en-US" altLang="zh-TW" sz="2300" b="1" dirty="0">
              <a:solidFill>
                <a:srgbClr val="54667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endParaRPr lang="en-US" altLang="zh-TW" sz="800" b="1" dirty="0">
              <a:solidFill>
                <a:srgbClr val="54667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以</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Microsoft Azure</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為例</a:t>
            </a:r>
          </a:p>
          <a:p>
            <a:pPr lvl="2">
              <a:lnSpc>
                <a:spcPct val="150000"/>
              </a:lnSpc>
            </a:pP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Microsoft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推出雲端區塊鏈服務</a:t>
            </a:r>
            <a:r>
              <a:rPr lang="en-US" altLang="zh-TW" sz="2300" b="1" dirty="0" err="1">
                <a:solidFill>
                  <a:schemeClr val="tx1">
                    <a:lumMod val="75000"/>
                    <a:lumOff val="25000"/>
                  </a:schemeClr>
                </a:solidFill>
                <a:latin typeface="微軟正黑體" panose="020B0604030504040204" pitchFamily="34" charset="-120"/>
                <a:ea typeface="微軟正黑體" panose="020B0604030504040204" pitchFamily="34" charset="-120"/>
              </a:rPr>
              <a:t>EBaaS</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，透過離散式帳本與</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2">
              <a:lnSpc>
                <a:spcPct val="150000"/>
              </a:lnSpc>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密碼演算法等，提高網路使用者</a:t>
            </a:r>
            <a:r>
              <a:rPr lang="zh-TW" altLang="en-US" sz="2300" b="1" dirty="0">
                <a:solidFill>
                  <a:srgbClr val="54667E"/>
                </a:solidFill>
                <a:latin typeface="微軟正黑體" panose="020B0604030504040204" pitchFamily="34" charset="-120"/>
                <a:ea typeface="微軟正黑體" panose="020B0604030504040204" pitchFamily="34" charset="-120"/>
              </a:rPr>
              <a:t>安全性</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與資料紀錄</a:t>
            </a:r>
            <a:r>
              <a:rPr lang="zh-TW" altLang="en-US" sz="2300" b="1" dirty="0">
                <a:solidFill>
                  <a:srgbClr val="54667E"/>
                </a:solidFill>
                <a:latin typeface="微軟正黑體" panose="020B0604030504040204" pitchFamily="34" charset="-120"/>
                <a:ea typeface="微軟正黑體" panose="020B0604030504040204" pitchFamily="34" charset="-120"/>
              </a:rPr>
              <a:t>完整性</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2">
              <a:lnSpc>
                <a:spcPct val="150000"/>
              </a:lnSpc>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節省花費</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11B7C34C-5C84-467F-81F2-10D96D691FDE}"/>
              </a:ext>
            </a:extLst>
          </p:cNvPr>
          <p:cNvCxnSpPr>
            <a:cxnSpLocks/>
          </p:cNvCxnSpPr>
          <p:nvPr/>
        </p:nvCxnSpPr>
        <p:spPr>
          <a:xfrm>
            <a:off x="1177167" y="1046746"/>
            <a:ext cx="85890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標題 1">
            <a:extLst>
              <a:ext uri="{FF2B5EF4-FFF2-40B4-BE49-F238E27FC236}">
                <a16:creationId xmlns:a16="http://schemas.microsoft.com/office/drawing/2014/main" id="{DCCC873F-4809-49E4-9F7D-D36DEDC4E4DC}"/>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4FD11169-F6BE-42D9-9250-CB1CD422C69B}"/>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區塊鏈之非金融服務應用領域</a:t>
            </a:r>
          </a:p>
        </p:txBody>
      </p:sp>
      <p:pic>
        <p:nvPicPr>
          <p:cNvPr id="11" name="圖片 10" descr="一張含有 文字 的圖片&#10;&#10;描述是以高可信度產生">
            <a:extLst>
              <a:ext uri="{FF2B5EF4-FFF2-40B4-BE49-F238E27FC236}">
                <a16:creationId xmlns:a16="http://schemas.microsoft.com/office/drawing/2014/main" id="{1F403583-E010-46E6-B3BD-5EC831691F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49192" y="311085"/>
            <a:ext cx="1740546" cy="1740546"/>
          </a:xfrm>
          <a:prstGeom prst="rect">
            <a:avLst/>
          </a:prstGeom>
        </p:spPr>
      </p:pic>
      <p:pic>
        <p:nvPicPr>
          <p:cNvPr id="16" name="圖片 15">
            <a:extLst>
              <a:ext uri="{FF2B5EF4-FFF2-40B4-BE49-F238E27FC236}">
                <a16:creationId xmlns:a16="http://schemas.microsoft.com/office/drawing/2014/main" id="{76B0F8B5-DDF7-4152-B78C-C3CF14F7A5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10424" y="5087872"/>
            <a:ext cx="3138768" cy="1435100"/>
          </a:xfrm>
          <a:prstGeom prst="rect">
            <a:avLst/>
          </a:prstGeom>
        </p:spPr>
      </p:pic>
    </p:spTree>
    <p:extLst>
      <p:ext uri="{BB962C8B-B14F-4D97-AF65-F5344CB8AC3E}">
        <p14:creationId xmlns:p14="http://schemas.microsoft.com/office/powerpoint/2010/main" val="23605057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4" end="4"/>
                                            </p:txEl>
                                          </p:spTgt>
                                        </p:tgtEl>
                                        <p:attrNameLst>
                                          <p:attrName>style.visibility</p:attrName>
                                        </p:attrNameLst>
                                      </p:cBhvr>
                                      <p:to>
                                        <p:strVal val="visible"/>
                                      </p:to>
                                    </p:set>
                                    <p:animEffect transition="in" filter="barn(inVertical)">
                                      <p:cBhvr>
                                        <p:cTn id="29" dur="500"/>
                                        <p:tgtEl>
                                          <p:spTgt spid="28">
                                            <p:txEl>
                                              <p:pRg st="4" end="4"/>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5" end="5"/>
                                            </p:txEl>
                                          </p:spTgt>
                                        </p:tgtEl>
                                        <p:attrNameLst>
                                          <p:attrName>style.visibility</p:attrName>
                                        </p:attrNameLst>
                                      </p:cBhvr>
                                      <p:to>
                                        <p:strVal val="visible"/>
                                      </p:to>
                                    </p:set>
                                    <p:animEffect transition="in" filter="barn(inVertical)">
                                      <p:cBhvr>
                                        <p:cTn id="33" dur="500"/>
                                        <p:tgtEl>
                                          <p:spTgt spid="28">
                                            <p:txEl>
                                              <p:pRg st="5" end="5"/>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6" end="6"/>
                                            </p:txEl>
                                          </p:spTgt>
                                        </p:tgtEl>
                                        <p:attrNameLst>
                                          <p:attrName>style.visibility</p:attrName>
                                        </p:attrNameLst>
                                      </p:cBhvr>
                                      <p:to>
                                        <p:strVal val="visible"/>
                                      </p:to>
                                    </p:set>
                                    <p:animEffect transition="in" filter="barn(inVertical)">
                                      <p:cBhvr>
                                        <p:cTn id="37" dur="500"/>
                                        <p:tgtEl>
                                          <p:spTgt spid="28">
                                            <p:txEl>
                                              <p:pRg st="6" end="6"/>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28">
                                            <p:txEl>
                                              <p:pRg st="7" end="7"/>
                                            </p:txEl>
                                          </p:spTgt>
                                        </p:tgtEl>
                                        <p:attrNameLst>
                                          <p:attrName>style.visibility</p:attrName>
                                        </p:attrNameLst>
                                      </p:cBhvr>
                                      <p:to>
                                        <p:strVal val="visible"/>
                                      </p:to>
                                    </p:set>
                                    <p:animEffect transition="in" filter="barn(inVertical)">
                                      <p:cBhvr>
                                        <p:cTn id="41" dur="500"/>
                                        <p:tgtEl>
                                          <p:spTgt spid="28">
                                            <p:txEl>
                                              <p:pRg st="7" end="7"/>
                                            </p:txEl>
                                          </p:spTgt>
                                        </p:tgtEl>
                                      </p:cBhvr>
                                    </p:animEffect>
                                  </p:childTnLst>
                                </p:cTn>
                              </p:par>
                            </p:childTnLst>
                          </p:cTn>
                        </p:par>
                        <p:par>
                          <p:cTn id="42" fill="hold">
                            <p:stCondLst>
                              <p:cond delay="6000"/>
                            </p:stCondLst>
                            <p:childTnLst>
                              <p:par>
                                <p:cTn id="43" presetID="2" presetClass="entr" presetSubtype="4" fill="hold" nodeType="after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childTnLst>
                          </p:cTn>
                        </p:par>
                        <p:par>
                          <p:cTn id="47" fill="hold">
                            <p:stCondLst>
                              <p:cond delay="6500"/>
                            </p:stCondLst>
                            <p:childTnLst>
                              <p:par>
                                <p:cTn id="48" presetID="53" presetClass="entr" presetSubtype="16" fill="hold" nodeType="after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00" fill="hold"/>
                                        <p:tgtEl>
                                          <p:spTgt spid="11"/>
                                        </p:tgtEl>
                                        <p:attrNameLst>
                                          <p:attrName>ppt_w</p:attrName>
                                        </p:attrNameLst>
                                      </p:cBhvr>
                                      <p:tavLst>
                                        <p:tav tm="0">
                                          <p:val>
                                            <p:fltVal val="0"/>
                                          </p:val>
                                        </p:tav>
                                        <p:tav tm="100000">
                                          <p:val>
                                            <p:strVal val="#ppt_w"/>
                                          </p:val>
                                        </p:tav>
                                      </p:tavLst>
                                    </p:anim>
                                    <p:anim calcmode="lin" valueType="num">
                                      <p:cBhvr>
                                        <p:cTn id="51" dur="500" fill="hold"/>
                                        <p:tgtEl>
                                          <p:spTgt spid="11"/>
                                        </p:tgtEl>
                                        <p:attrNameLst>
                                          <p:attrName>ppt_h</p:attrName>
                                        </p:attrNameLst>
                                      </p:cBhvr>
                                      <p:tavLst>
                                        <p:tav tm="0">
                                          <p:val>
                                            <p:fltVal val="0"/>
                                          </p:val>
                                        </p:tav>
                                        <p:tav tm="100000">
                                          <p:val>
                                            <p:strVal val="#ppt_h"/>
                                          </p:val>
                                        </p:tav>
                                      </p:tavLst>
                                    </p:anim>
                                    <p:animEffect transition="in" filter="fade">
                                      <p:cBhvr>
                                        <p:cTn id="5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233387" y="1173747"/>
            <a:ext cx="8832738" cy="4900701"/>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三、房屋保險</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區塊鏈的離散式帳本保障交易紀錄不被篡改，永久儲存</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英國</a:t>
            </a:r>
            <a:r>
              <a:rPr lang="en-US" altLang="zh-TW" sz="2300" b="1" dirty="0" err="1">
                <a:solidFill>
                  <a:schemeClr val="tx1">
                    <a:lumMod val="75000"/>
                    <a:lumOff val="25000"/>
                  </a:schemeClr>
                </a:solidFill>
                <a:latin typeface="微軟正黑體" panose="020B0604030504040204" pitchFamily="34" charset="-120"/>
                <a:ea typeface="微軟正黑體" panose="020B0604030504040204" pitchFamily="34" charset="-120"/>
              </a:rPr>
              <a:t>Vrumi</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2">
              <a:lnSpc>
                <a:spcPct val="150000"/>
              </a:lnSpc>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提供使用者出租多餘房間作為辦公室，經由智慧合約及多數決機制完成交易，紀錄會被永久保留，開創新的市場商機</a:t>
            </a:r>
          </a:p>
          <a:p>
            <a:pPr marL="800100" lvl="1" indent="-342900">
              <a:lnSpc>
                <a:spcPct val="150000"/>
              </a:lnSpc>
              <a:buBlip>
                <a:blip r:embed="rId4">
                  <a:extLst/>
                </a:blip>
              </a:buBlip>
            </a:pP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BITMARK</a:t>
            </a:r>
          </a:p>
          <a:p>
            <a:pPr lvl="2">
              <a:lnSpc>
                <a:spcPct val="150000"/>
              </a:lnSpc>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將區塊鏈應用於跨市場、跨地域的房地產交易，交易過程完整紀錄於區塊的節點內，並藉由智慧合約，讓交易資料無法輕易篡改，避免惡意人士違約或詐欺</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11B7C34C-5C84-467F-81F2-10D96D691FDE}"/>
              </a:ext>
            </a:extLst>
          </p:cNvPr>
          <p:cNvCxnSpPr>
            <a:cxnSpLocks/>
          </p:cNvCxnSpPr>
          <p:nvPr/>
        </p:nvCxnSpPr>
        <p:spPr>
          <a:xfrm>
            <a:off x="1177167" y="1046746"/>
            <a:ext cx="85890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標題 1">
            <a:extLst>
              <a:ext uri="{FF2B5EF4-FFF2-40B4-BE49-F238E27FC236}">
                <a16:creationId xmlns:a16="http://schemas.microsoft.com/office/drawing/2014/main" id="{DCCC873F-4809-49E4-9F7D-D36DEDC4E4DC}"/>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4FD11169-F6BE-42D9-9250-CB1CD422C69B}"/>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區塊鏈之非金融服務應用領域</a:t>
            </a:r>
          </a:p>
        </p:txBody>
      </p:sp>
      <p:pic>
        <p:nvPicPr>
          <p:cNvPr id="3" name="圖片 2">
            <a:extLst>
              <a:ext uri="{FF2B5EF4-FFF2-40B4-BE49-F238E27FC236}">
                <a16:creationId xmlns:a16="http://schemas.microsoft.com/office/drawing/2014/main" id="{D3B1423C-2C6D-4BBB-B0BB-677CA526C1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66125" y="188536"/>
            <a:ext cx="1716420" cy="1716420"/>
          </a:xfrm>
          <a:prstGeom prst="rect">
            <a:avLst/>
          </a:prstGeom>
        </p:spPr>
      </p:pic>
      <p:pic>
        <p:nvPicPr>
          <p:cNvPr id="5" name="圖片 4">
            <a:extLst>
              <a:ext uri="{FF2B5EF4-FFF2-40B4-BE49-F238E27FC236}">
                <a16:creationId xmlns:a16="http://schemas.microsoft.com/office/drawing/2014/main" id="{176F8165-8A72-40CE-95EA-E4D053A09C5E}"/>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5406" y="2775706"/>
            <a:ext cx="1767526" cy="1767526"/>
          </a:xfrm>
          <a:prstGeom prst="rect">
            <a:avLst/>
          </a:prstGeom>
        </p:spPr>
      </p:pic>
      <p:pic>
        <p:nvPicPr>
          <p:cNvPr id="7" name="圖片 6">
            <a:extLst>
              <a:ext uri="{FF2B5EF4-FFF2-40B4-BE49-F238E27FC236}">
                <a16:creationId xmlns:a16="http://schemas.microsoft.com/office/drawing/2014/main" id="{516FD460-BBDC-4543-90AF-90474D146BCD}"/>
              </a:ext>
            </a:extLst>
          </p:cNvPr>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550744" y="5413982"/>
            <a:ext cx="2348254" cy="1228920"/>
          </a:xfrm>
          <a:prstGeom prst="rect">
            <a:avLst/>
          </a:prstGeom>
        </p:spPr>
      </p:pic>
    </p:spTree>
    <p:extLst>
      <p:ext uri="{BB962C8B-B14F-4D97-AF65-F5344CB8AC3E}">
        <p14:creationId xmlns:p14="http://schemas.microsoft.com/office/powerpoint/2010/main" val="390283616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animEffect transition="in" filter="barn(inVertical)">
                                      <p:cBhvr>
                                        <p:cTn id="29" dur="500"/>
                                        <p:tgtEl>
                                          <p:spTgt spid="28">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4" end="4"/>
                                            </p:txEl>
                                          </p:spTgt>
                                        </p:tgtEl>
                                        <p:attrNameLst>
                                          <p:attrName>style.visibility</p:attrName>
                                        </p:attrNameLst>
                                      </p:cBhvr>
                                      <p:to>
                                        <p:strVal val="visible"/>
                                      </p:to>
                                    </p:set>
                                    <p:animEffect transition="in" filter="barn(inVertical)">
                                      <p:cBhvr>
                                        <p:cTn id="33" dur="500"/>
                                        <p:tgtEl>
                                          <p:spTgt spid="28">
                                            <p:txEl>
                                              <p:pRg st="4" end="4"/>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5" end="5"/>
                                            </p:txEl>
                                          </p:spTgt>
                                        </p:tgtEl>
                                        <p:attrNameLst>
                                          <p:attrName>style.visibility</p:attrName>
                                        </p:attrNameLst>
                                      </p:cBhvr>
                                      <p:to>
                                        <p:strVal val="visible"/>
                                      </p:to>
                                    </p:set>
                                    <p:animEffect transition="in" filter="barn(inVertical)">
                                      <p:cBhvr>
                                        <p:cTn id="37" dur="500"/>
                                        <p:tgtEl>
                                          <p:spTgt spid="28">
                                            <p:txEl>
                                              <p:pRg st="5" end="5"/>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28">
                                            <p:txEl>
                                              <p:pRg st="6" end="6"/>
                                            </p:txEl>
                                          </p:spTgt>
                                        </p:tgtEl>
                                        <p:attrNameLst>
                                          <p:attrName>style.visibility</p:attrName>
                                        </p:attrNameLst>
                                      </p:cBhvr>
                                      <p:to>
                                        <p:strVal val="visible"/>
                                      </p:to>
                                    </p:set>
                                    <p:animEffect transition="in" filter="barn(inVertical)">
                                      <p:cBhvr>
                                        <p:cTn id="41" dur="500"/>
                                        <p:tgtEl>
                                          <p:spTgt spid="28">
                                            <p:txEl>
                                              <p:pRg st="6" end="6"/>
                                            </p:txEl>
                                          </p:spTgt>
                                        </p:tgtEl>
                                      </p:cBhvr>
                                    </p:animEffect>
                                  </p:childTnLst>
                                </p:cTn>
                              </p:par>
                            </p:childTnLst>
                          </p:cTn>
                        </p:par>
                        <p:par>
                          <p:cTn id="42" fill="hold">
                            <p:stCondLst>
                              <p:cond delay="6000"/>
                            </p:stCondLst>
                            <p:childTnLst>
                              <p:par>
                                <p:cTn id="43" presetID="2" presetClass="entr" presetSubtype="2" fill="hold" nodeType="afterEffect">
                                  <p:stCondLst>
                                    <p:cond delay="0"/>
                                  </p:stCondLst>
                                  <p:childTnLst>
                                    <p:set>
                                      <p:cBhvr>
                                        <p:cTn id="44" dur="1" fill="hold">
                                          <p:stCondLst>
                                            <p:cond delay="0"/>
                                          </p:stCondLst>
                                        </p:cTn>
                                        <p:tgtEl>
                                          <p:spTgt spid="3"/>
                                        </p:tgtEl>
                                        <p:attrNameLst>
                                          <p:attrName>style.visibility</p:attrName>
                                        </p:attrNameLst>
                                      </p:cBhvr>
                                      <p:to>
                                        <p:strVal val="visible"/>
                                      </p:to>
                                    </p:set>
                                    <p:anim calcmode="lin" valueType="num">
                                      <p:cBhvr additive="base">
                                        <p:cTn id="45" dur="500" fill="hold"/>
                                        <p:tgtEl>
                                          <p:spTgt spid="3"/>
                                        </p:tgtEl>
                                        <p:attrNameLst>
                                          <p:attrName>ppt_x</p:attrName>
                                        </p:attrNameLst>
                                      </p:cBhvr>
                                      <p:tavLst>
                                        <p:tav tm="0">
                                          <p:val>
                                            <p:strVal val="1+#ppt_w/2"/>
                                          </p:val>
                                        </p:tav>
                                        <p:tav tm="100000">
                                          <p:val>
                                            <p:strVal val="#ppt_x"/>
                                          </p:val>
                                        </p:tav>
                                      </p:tavLst>
                                    </p:anim>
                                    <p:anim calcmode="lin" valueType="num">
                                      <p:cBhvr additive="base">
                                        <p:cTn id="46" dur="500" fill="hold"/>
                                        <p:tgtEl>
                                          <p:spTgt spid="3"/>
                                        </p:tgtEl>
                                        <p:attrNameLst>
                                          <p:attrName>ppt_y</p:attrName>
                                        </p:attrNameLst>
                                      </p:cBhvr>
                                      <p:tavLst>
                                        <p:tav tm="0">
                                          <p:val>
                                            <p:strVal val="#ppt_y"/>
                                          </p:val>
                                        </p:tav>
                                        <p:tav tm="100000">
                                          <p:val>
                                            <p:strVal val="#ppt_y"/>
                                          </p:val>
                                        </p:tav>
                                      </p:tavLst>
                                    </p:anim>
                                  </p:childTnLst>
                                </p:cTn>
                              </p:par>
                            </p:childTnLst>
                          </p:cTn>
                        </p:par>
                        <p:par>
                          <p:cTn id="47" fill="hold">
                            <p:stCondLst>
                              <p:cond delay="6500"/>
                            </p:stCondLst>
                            <p:childTnLst>
                              <p:par>
                                <p:cTn id="48" presetID="53" presetClass="entr" presetSubtype="16" fill="hold" nodeType="afterEffect">
                                  <p:stCondLst>
                                    <p:cond delay="0"/>
                                  </p:stCondLst>
                                  <p:childTnLst>
                                    <p:set>
                                      <p:cBhvr>
                                        <p:cTn id="49" dur="1" fill="hold">
                                          <p:stCondLst>
                                            <p:cond delay="0"/>
                                          </p:stCondLst>
                                        </p:cTn>
                                        <p:tgtEl>
                                          <p:spTgt spid="5"/>
                                        </p:tgtEl>
                                        <p:attrNameLst>
                                          <p:attrName>style.visibility</p:attrName>
                                        </p:attrNameLst>
                                      </p:cBhvr>
                                      <p:to>
                                        <p:strVal val="visible"/>
                                      </p:to>
                                    </p:set>
                                    <p:anim calcmode="lin" valueType="num">
                                      <p:cBhvr>
                                        <p:cTn id="50" dur="500" fill="hold"/>
                                        <p:tgtEl>
                                          <p:spTgt spid="5"/>
                                        </p:tgtEl>
                                        <p:attrNameLst>
                                          <p:attrName>ppt_w</p:attrName>
                                        </p:attrNameLst>
                                      </p:cBhvr>
                                      <p:tavLst>
                                        <p:tav tm="0">
                                          <p:val>
                                            <p:fltVal val="0"/>
                                          </p:val>
                                        </p:tav>
                                        <p:tav tm="100000">
                                          <p:val>
                                            <p:strVal val="#ppt_w"/>
                                          </p:val>
                                        </p:tav>
                                      </p:tavLst>
                                    </p:anim>
                                    <p:anim calcmode="lin" valueType="num">
                                      <p:cBhvr>
                                        <p:cTn id="51" dur="500" fill="hold"/>
                                        <p:tgtEl>
                                          <p:spTgt spid="5"/>
                                        </p:tgtEl>
                                        <p:attrNameLst>
                                          <p:attrName>ppt_h</p:attrName>
                                        </p:attrNameLst>
                                      </p:cBhvr>
                                      <p:tavLst>
                                        <p:tav tm="0">
                                          <p:val>
                                            <p:fltVal val="0"/>
                                          </p:val>
                                        </p:tav>
                                        <p:tav tm="100000">
                                          <p:val>
                                            <p:strVal val="#ppt_h"/>
                                          </p:val>
                                        </p:tav>
                                      </p:tavLst>
                                    </p:anim>
                                    <p:animEffect transition="in" filter="fade">
                                      <p:cBhvr>
                                        <p:cTn id="52" dur="500"/>
                                        <p:tgtEl>
                                          <p:spTgt spid="5"/>
                                        </p:tgtEl>
                                      </p:cBhvr>
                                    </p:animEffect>
                                  </p:childTnLst>
                                </p:cTn>
                              </p:par>
                            </p:childTnLst>
                          </p:cTn>
                        </p:par>
                        <p:par>
                          <p:cTn id="53" fill="hold">
                            <p:stCondLst>
                              <p:cond delay="7000"/>
                            </p:stCondLst>
                            <p:childTnLst>
                              <p:par>
                                <p:cTn id="54" presetID="53" presetClass="entr" presetSubtype="16" fill="hold" nodeType="after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p:cTn id="56" dur="500" fill="hold"/>
                                        <p:tgtEl>
                                          <p:spTgt spid="7"/>
                                        </p:tgtEl>
                                        <p:attrNameLst>
                                          <p:attrName>ppt_w</p:attrName>
                                        </p:attrNameLst>
                                      </p:cBhvr>
                                      <p:tavLst>
                                        <p:tav tm="0">
                                          <p:val>
                                            <p:fltVal val="0"/>
                                          </p:val>
                                        </p:tav>
                                        <p:tav tm="100000">
                                          <p:val>
                                            <p:strVal val="#ppt_w"/>
                                          </p:val>
                                        </p:tav>
                                      </p:tavLst>
                                    </p:anim>
                                    <p:anim calcmode="lin" valueType="num">
                                      <p:cBhvr>
                                        <p:cTn id="57" dur="500" fill="hold"/>
                                        <p:tgtEl>
                                          <p:spTgt spid="7"/>
                                        </p:tgtEl>
                                        <p:attrNameLst>
                                          <p:attrName>ppt_h</p:attrName>
                                        </p:attrNameLst>
                                      </p:cBhvr>
                                      <p:tavLst>
                                        <p:tav tm="0">
                                          <p:val>
                                            <p:fltVal val="0"/>
                                          </p:val>
                                        </p:tav>
                                        <p:tav tm="100000">
                                          <p:val>
                                            <p:strVal val="#ppt_h"/>
                                          </p:val>
                                        </p:tav>
                                      </p:tavLst>
                                    </p:anim>
                                    <p:animEffect transition="in" filter="fade">
                                      <p:cBhvr>
                                        <p:cTn id="5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118055" y="1124898"/>
            <a:ext cx="9955889" cy="5339282"/>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四、家庭發電與供電</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（一）電力區塊鏈應用</a:t>
            </a:r>
          </a:p>
          <a:p>
            <a:pPr marL="800100" lvl="1" indent="-342900">
              <a:lnSpc>
                <a:spcPct val="150000"/>
              </a:lnSpc>
              <a:buBlip>
                <a:blip r:embed="rId4">
                  <a:extLst/>
                </a:blip>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家庭用電量較低，可自行產出，開始將區塊鏈運用於電力分配的實務</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Trans Active Grid </a:t>
            </a:r>
          </a:p>
          <a:p>
            <a:pPr lvl="2">
              <a:lnSpc>
                <a:spcPct val="150000"/>
              </a:lnSpc>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建立社區能源區塊鏈，透過</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P2P</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技術，把多餘能源釋出給其他家庭，</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2">
              <a:lnSpc>
                <a:spcPct val="150000"/>
              </a:lnSpc>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以擴充能源平衡，減少能源浪費，提高使用效率</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2">
              <a:lnSpc>
                <a:spcPct val="150000"/>
              </a:lnSpc>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（二）電力資料處理區塊鏈應用</a:t>
            </a: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英國</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Electron </a:t>
            </a:r>
          </a:p>
          <a:p>
            <a:pPr lvl="2">
              <a:lnSpc>
                <a:spcPct val="150000"/>
              </a:lnSpc>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於電力產業領域，採分散式儲存電力資料，節省時間</a:t>
            </a:r>
          </a:p>
          <a:p>
            <a:pPr lvl="2">
              <a:lnSpc>
                <a:spcPct val="150000"/>
              </a:lnSpc>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將免費提供區塊鏈平台給電力公司，發展衍生應用</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11B7C34C-5C84-467F-81F2-10D96D691FDE}"/>
              </a:ext>
            </a:extLst>
          </p:cNvPr>
          <p:cNvCxnSpPr>
            <a:cxnSpLocks/>
          </p:cNvCxnSpPr>
          <p:nvPr/>
        </p:nvCxnSpPr>
        <p:spPr>
          <a:xfrm>
            <a:off x="1177167" y="1046746"/>
            <a:ext cx="85890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標題 1">
            <a:extLst>
              <a:ext uri="{FF2B5EF4-FFF2-40B4-BE49-F238E27FC236}">
                <a16:creationId xmlns:a16="http://schemas.microsoft.com/office/drawing/2014/main" id="{DCCC873F-4809-49E4-9F7D-D36DEDC4E4DC}"/>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4FD11169-F6BE-42D9-9250-CB1CD422C69B}"/>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區塊鏈之非金融服務應用領域</a:t>
            </a:r>
          </a:p>
        </p:txBody>
      </p:sp>
      <p:pic>
        <p:nvPicPr>
          <p:cNvPr id="4" name="圖片 3" descr="一張含有 文字 的圖片&#10;&#10;描述是以高可信度產生">
            <a:extLst>
              <a:ext uri="{FF2B5EF4-FFF2-40B4-BE49-F238E27FC236}">
                <a16:creationId xmlns:a16="http://schemas.microsoft.com/office/drawing/2014/main" id="{6F581FB7-200F-4CC0-AAE3-F7144BE6E1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76702" y="107209"/>
            <a:ext cx="1879074" cy="1879074"/>
          </a:xfrm>
          <a:prstGeom prst="rect">
            <a:avLst/>
          </a:prstGeom>
        </p:spPr>
      </p:pic>
      <p:pic>
        <p:nvPicPr>
          <p:cNvPr id="6" name="圖片 5">
            <a:extLst>
              <a:ext uri="{FF2B5EF4-FFF2-40B4-BE49-F238E27FC236}">
                <a16:creationId xmlns:a16="http://schemas.microsoft.com/office/drawing/2014/main" id="{3B035BAA-E4DE-4F6F-9CCC-55238E58C3F7}"/>
              </a:ext>
            </a:extLst>
          </p:cNvPr>
          <p:cNvPicPr>
            <a:picLocks noChangeAspect="1"/>
          </p:cNvPicPr>
          <p:nvPr/>
        </p:nvPicPr>
        <p:blipFill>
          <a:blip r:embed="rId6">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8389856" y="3895467"/>
            <a:ext cx="2170948" cy="659528"/>
          </a:xfrm>
          <a:prstGeom prst="rect">
            <a:avLst/>
          </a:prstGeom>
        </p:spPr>
      </p:pic>
      <p:pic>
        <p:nvPicPr>
          <p:cNvPr id="10" name="圖片 9" descr="一張含有 標誌 的圖片&#10;&#10;描述是以高可信度產生">
            <a:extLst>
              <a:ext uri="{FF2B5EF4-FFF2-40B4-BE49-F238E27FC236}">
                <a16:creationId xmlns:a16="http://schemas.microsoft.com/office/drawing/2014/main" id="{80CA2534-7E0D-4E6E-A0AC-DBFDC6EED19F}"/>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6916" t="15675" r="6868" b="29118"/>
          <a:stretch/>
        </p:blipFill>
        <p:spPr>
          <a:xfrm>
            <a:off x="8860526" y="5541735"/>
            <a:ext cx="1972262" cy="659087"/>
          </a:xfrm>
          <a:prstGeom prst="rect">
            <a:avLst/>
          </a:prstGeom>
        </p:spPr>
      </p:pic>
    </p:spTree>
    <p:extLst>
      <p:ext uri="{BB962C8B-B14F-4D97-AF65-F5344CB8AC3E}">
        <p14:creationId xmlns:p14="http://schemas.microsoft.com/office/powerpoint/2010/main" val="57335386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nodeType="afterEffect">
                                  <p:stCondLst>
                                    <p:cond delay="0"/>
                                  </p:stCondLst>
                                  <p:childTnLst>
                                    <p:set>
                                      <p:cBhvr>
                                        <p:cTn id="24" dur="1" fill="hold">
                                          <p:stCondLst>
                                            <p:cond delay="0"/>
                                          </p:stCondLst>
                                        </p:cTn>
                                        <p:tgtEl>
                                          <p:spTgt spid="28">
                                            <p:txEl>
                                              <p:pRg st="1" end="1"/>
                                            </p:txEl>
                                          </p:spTgt>
                                        </p:tgtEl>
                                        <p:attrNameLst>
                                          <p:attrName>style.visibility</p:attrName>
                                        </p:attrNameLst>
                                      </p:cBhvr>
                                      <p:to>
                                        <p:strVal val="visible"/>
                                      </p:to>
                                    </p:set>
                                    <p:anim calcmode="lin" valueType="num">
                                      <p:cBhvr additive="base">
                                        <p:cTn id="25" dur="500" fill="hold"/>
                                        <p:tgtEl>
                                          <p:spTgt spid="28">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8">
                                            <p:txEl>
                                              <p:pRg st="1" end="1"/>
                                            </p:txEl>
                                          </p:spTgt>
                                        </p:tgtEl>
                                        <p:attrNameLst>
                                          <p:attrName>ppt_y</p:attrName>
                                        </p:attrNameLst>
                                      </p:cBhvr>
                                      <p:tavLst>
                                        <p:tav tm="0">
                                          <p:val>
                                            <p:strVal val="#ppt_y"/>
                                          </p:val>
                                        </p:tav>
                                        <p:tav tm="100000">
                                          <p:val>
                                            <p:strVal val="#ppt_y"/>
                                          </p:val>
                                        </p:tav>
                                      </p:tavLst>
                                    </p:anim>
                                  </p:childTnLst>
                                </p:cTn>
                              </p:par>
                            </p:childTnLst>
                          </p:cTn>
                        </p:par>
                        <p:par>
                          <p:cTn id="27" fill="hold">
                            <p:stCondLst>
                              <p:cond delay="4000"/>
                            </p:stCondLst>
                            <p:childTnLst>
                              <p:par>
                                <p:cTn id="28" presetID="16" presetClass="entr" presetSubtype="21" fill="hold" nodeType="afterEffect">
                                  <p:stCondLst>
                                    <p:cond delay="0"/>
                                  </p:stCondLst>
                                  <p:childTnLst>
                                    <p:set>
                                      <p:cBhvr>
                                        <p:cTn id="29" dur="1" fill="hold">
                                          <p:stCondLst>
                                            <p:cond delay="0"/>
                                          </p:stCondLst>
                                        </p:cTn>
                                        <p:tgtEl>
                                          <p:spTgt spid="28">
                                            <p:txEl>
                                              <p:pRg st="2" end="2"/>
                                            </p:txEl>
                                          </p:spTgt>
                                        </p:tgtEl>
                                        <p:attrNameLst>
                                          <p:attrName>style.visibility</p:attrName>
                                        </p:attrNameLst>
                                      </p:cBhvr>
                                      <p:to>
                                        <p:strVal val="visible"/>
                                      </p:to>
                                    </p:set>
                                    <p:animEffect transition="in" filter="barn(inVertical)">
                                      <p:cBhvr>
                                        <p:cTn id="30" dur="500"/>
                                        <p:tgtEl>
                                          <p:spTgt spid="28">
                                            <p:txEl>
                                              <p:pRg st="2" end="2"/>
                                            </p:txEl>
                                          </p:spTgt>
                                        </p:tgtEl>
                                      </p:cBhvr>
                                    </p:animEffect>
                                  </p:childTnLst>
                                </p:cTn>
                              </p:par>
                            </p:childTnLst>
                          </p:cTn>
                        </p:par>
                        <p:par>
                          <p:cTn id="31" fill="hold">
                            <p:stCondLst>
                              <p:cond delay="4500"/>
                            </p:stCondLst>
                            <p:childTnLst>
                              <p:par>
                                <p:cTn id="32" presetID="16" presetClass="entr" presetSubtype="21" fill="hold" nodeType="afterEffect">
                                  <p:stCondLst>
                                    <p:cond delay="0"/>
                                  </p:stCondLst>
                                  <p:childTnLst>
                                    <p:set>
                                      <p:cBhvr>
                                        <p:cTn id="33" dur="1" fill="hold">
                                          <p:stCondLst>
                                            <p:cond delay="0"/>
                                          </p:stCondLst>
                                        </p:cTn>
                                        <p:tgtEl>
                                          <p:spTgt spid="28">
                                            <p:txEl>
                                              <p:pRg st="3" end="3"/>
                                            </p:txEl>
                                          </p:spTgt>
                                        </p:tgtEl>
                                        <p:attrNameLst>
                                          <p:attrName>style.visibility</p:attrName>
                                        </p:attrNameLst>
                                      </p:cBhvr>
                                      <p:to>
                                        <p:strVal val="visible"/>
                                      </p:to>
                                    </p:set>
                                    <p:animEffect transition="in" filter="barn(inVertical)">
                                      <p:cBhvr>
                                        <p:cTn id="34" dur="500"/>
                                        <p:tgtEl>
                                          <p:spTgt spid="28">
                                            <p:txEl>
                                              <p:pRg st="3" end="3"/>
                                            </p:txEl>
                                          </p:spTgt>
                                        </p:tgtEl>
                                      </p:cBhvr>
                                    </p:animEffect>
                                  </p:childTnLst>
                                </p:cTn>
                              </p:par>
                            </p:childTnLst>
                          </p:cTn>
                        </p:par>
                        <p:par>
                          <p:cTn id="35" fill="hold">
                            <p:stCondLst>
                              <p:cond delay="5000"/>
                            </p:stCondLst>
                            <p:childTnLst>
                              <p:par>
                                <p:cTn id="36" presetID="16" presetClass="entr" presetSubtype="21" fill="hold" nodeType="afterEffect">
                                  <p:stCondLst>
                                    <p:cond delay="0"/>
                                  </p:stCondLst>
                                  <p:childTnLst>
                                    <p:set>
                                      <p:cBhvr>
                                        <p:cTn id="37" dur="1" fill="hold">
                                          <p:stCondLst>
                                            <p:cond delay="0"/>
                                          </p:stCondLst>
                                        </p:cTn>
                                        <p:tgtEl>
                                          <p:spTgt spid="28">
                                            <p:txEl>
                                              <p:pRg st="4" end="4"/>
                                            </p:txEl>
                                          </p:spTgt>
                                        </p:tgtEl>
                                        <p:attrNameLst>
                                          <p:attrName>style.visibility</p:attrName>
                                        </p:attrNameLst>
                                      </p:cBhvr>
                                      <p:to>
                                        <p:strVal val="visible"/>
                                      </p:to>
                                    </p:set>
                                    <p:animEffect transition="in" filter="barn(inVertical)">
                                      <p:cBhvr>
                                        <p:cTn id="38" dur="500"/>
                                        <p:tgtEl>
                                          <p:spTgt spid="28">
                                            <p:txEl>
                                              <p:pRg st="4" end="4"/>
                                            </p:txEl>
                                          </p:spTgt>
                                        </p:tgtEl>
                                      </p:cBhvr>
                                    </p:animEffect>
                                  </p:childTnLst>
                                </p:cTn>
                              </p:par>
                            </p:childTnLst>
                          </p:cTn>
                        </p:par>
                        <p:par>
                          <p:cTn id="39" fill="hold">
                            <p:stCondLst>
                              <p:cond delay="5500"/>
                            </p:stCondLst>
                            <p:childTnLst>
                              <p:par>
                                <p:cTn id="40" presetID="16" presetClass="entr" presetSubtype="21" fill="hold" nodeType="afterEffect">
                                  <p:stCondLst>
                                    <p:cond delay="0"/>
                                  </p:stCondLst>
                                  <p:childTnLst>
                                    <p:set>
                                      <p:cBhvr>
                                        <p:cTn id="41" dur="1" fill="hold">
                                          <p:stCondLst>
                                            <p:cond delay="0"/>
                                          </p:stCondLst>
                                        </p:cTn>
                                        <p:tgtEl>
                                          <p:spTgt spid="28">
                                            <p:txEl>
                                              <p:pRg st="5" end="5"/>
                                            </p:txEl>
                                          </p:spTgt>
                                        </p:tgtEl>
                                        <p:attrNameLst>
                                          <p:attrName>style.visibility</p:attrName>
                                        </p:attrNameLst>
                                      </p:cBhvr>
                                      <p:to>
                                        <p:strVal val="visible"/>
                                      </p:to>
                                    </p:set>
                                    <p:animEffect transition="in" filter="barn(inVertical)">
                                      <p:cBhvr>
                                        <p:cTn id="42" dur="500"/>
                                        <p:tgtEl>
                                          <p:spTgt spid="28">
                                            <p:txEl>
                                              <p:pRg st="5" end="5"/>
                                            </p:txEl>
                                          </p:spTgt>
                                        </p:tgtEl>
                                      </p:cBhvr>
                                    </p:animEffect>
                                  </p:childTnLst>
                                </p:cTn>
                              </p:par>
                            </p:childTnLst>
                          </p:cTn>
                        </p:par>
                        <p:par>
                          <p:cTn id="43" fill="hold">
                            <p:stCondLst>
                              <p:cond delay="6000"/>
                            </p:stCondLst>
                            <p:childTnLst>
                              <p:par>
                                <p:cTn id="44" presetID="2" presetClass="entr" presetSubtype="8" fill="hold" nodeType="afterEffect">
                                  <p:stCondLst>
                                    <p:cond delay="0"/>
                                  </p:stCondLst>
                                  <p:childTnLst>
                                    <p:set>
                                      <p:cBhvr>
                                        <p:cTn id="45" dur="1" fill="hold">
                                          <p:stCondLst>
                                            <p:cond delay="0"/>
                                          </p:stCondLst>
                                        </p:cTn>
                                        <p:tgtEl>
                                          <p:spTgt spid="28">
                                            <p:txEl>
                                              <p:pRg st="7" end="7"/>
                                            </p:txEl>
                                          </p:spTgt>
                                        </p:tgtEl>
                                        <p:attrNameLst>
                                          <p:attrName>style.visibility</p:attrName>
                                        </p:attrNameLst>
                                      </p:cBhvr>
                                      <p:to>
                                        <p:strVal val="visible"/>
                                      </p:to>
                                    </p:set>
                                    <p:anim calcmode="lin" valueType="num">
                                      <p:cBhvr additive="base">
                                        <p:cTn id="46" dur="500" fill="hold"/>
                                        <p:tgtEl>
                                          <p:spTgt spid="28">
                                            <p:txEl>
                                              <p:pRg st="7" end="7"/>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28">
                                            <p:txEl>
                                              <p:pRg st="7" end="7"/>
                                            </p:txEl>
                                          </p:spTgt>
                                        </p:tgtEl>
                                        <p:attrNameLst>
                                          <p:attrName>ppt_y</p:attrName>
                                        </p:attrNameLst>
                                      </p:cBhvr>
                                      <p:tavLst>
                                        <p:tav tm="0">
                                          <p:val>
                                            <p:strVal val="#ppt_y"/>
                                          </p:val>
                                        </p:tav>
                                        <p:tav tm="100000">
                                          <p:val>
                                            <p:strVal val="#ppt_y"/>
                                          </p:val>
                                        </p:tav>
                                      </p:tavLst>
                                    </p:anim>
                                  </p:childTnLst>
                                </p:cTn>
                              </p:par>
                            </p:childTnLst>
                          </p:cTn>
                        </p:par>
                        <p:par>
                          <p:cTn id="48" fill="hold">
                            <p:stCondLst>
                              <p:cond delay="6500"/>
                            </p:stCondLst>
                            <p:childTnLst>
                              <p:par>
                                <p:cTn id="49" presetID="16" presetClass="entr" presetSubtype="21" fill="hold" nodeType="afterEffect">
                                  <p:stCondLst>
                                    <p:cond delay="0"/>
                                  </p:stCondLst>
                                  <p:childTnLst>
                                    <p:set>
                                      <p:cBhvr>
                                        <p:cTn id="50" dur="1" fill="hold">
                                          <p:stCondLst>
                                            <p:cond delay="0"/>
                                          </p:stCondLst>
                                        </p:cTn>
                                        <p:tgtEl>
                                          <p:spTgt spid="28">
                                            <p:txEl>
                                              <p:pRg st="8" end="8"/>
                                            </p:txEl>
                                          </p:spTgt>
                                        </p:tgtEl>
                                        <p:attrNameLst>
                                          <p:attrName>style.visibility</p:attrName>
                                        </p:attrNameLst>
                                      </p:cBhvr>
                                      <p:to>
                                        <p:strVal val="visible"/>
                                      </p:to>
                                    </p:set>
                                    <p:animEffect transition="in" filter="barn(inVertical)">
                                      <p:cBhvr>
                                        <p:cTn id="51" dur="500"/>
                                        <p:tgtEl>
                                          <p:spTgt spid="28">
                                            <p:txEl>
                                              <p:pRg st="8" end="8"/>
                                            </p:txEl>
                                          </p:spTgt>
                                        </p:tgtEl>
                                      </p:cBhvr>
                                    </p:animEffect>
                                  </p:childTnLst>
                                </p:cTn>
                              </p:par>
                            </p:childTnLst>
                          </p:cTn>
                        </p:par>
                        <p:par>
                          <p:cTn id="52" fill="hold">
                            <p:stCondLst>
                              <p:cond delay="7000"/>
                            </p:stCondLst>
                            <p:childTnLst>
                              <p:par>
                                <p:cTn id="53" presetID="16" presetClass="entr" presetSubtype="21" fill="hold" nodeType="afterEffect">
                                  <p:stCondLst>
                                    <p:cond delay="0"/>
                                  </p:stCondLst>
                                  <p:childTnLst>
                                    <p:set>
                                      <p:cBhvr>
                                        <p:cTn id="54" dur="1" fill="hold">
                                          <p:stCondLst>
                                            <p:cond delay="0"/>
                                          </p:stCondLst>
                                        </p:cTn>
                                        <p:tgtEl>
                                          <p:spTgt spid="28">
                                            <p:txEl>
                                              <p:pRg st="9" end="9"/>
                                            </p:txEl>
                                          </p:spTgt>
                                        </p:tgtEl>
                                        <p:attrNameLst>
                                          <p:attrName>style.visibility</p:attrName>
                                        </p:attrNameLst>
                                      </p:cBhvr>
                                      <p:to>
                                        <p:strVal val="visible"/>
                                      </p:to>
                                    </p:set>
                                    <p:animEffect transition="in" filter="barn(inVertical)">
                                      <p:cBhvr>
                                        <p:cTn id="55" dur="500"/>
                                        <p:tgtEl>
                                          <p:spTgt spid="28">
                                            <p:txEl>
                                              <p:pRg st="9" end="9"/>
                                            </p:txEl>
                                          </p:spTgt>
                                        </p:tgtEl>
                                      </p:cBhvr>
                                    </p:animEffect>
                                  </p:childTnLst>
                                </p:cTn>
                              </p:par>
                            </p:childTnLst>
                          </p:cTn>
                        </p:par>
                        <p:par>
                          <p:cTn id="56" fill="hold">
                            <p:stCondLst>
                              <p:cond delay="7500"/>
                            </p:stCondLst>
                            <p:childTnLst>
                              <p:par>
                                <p:cTn id="57" presetID="16" presetClass="entr" presetSubtype="21" fill="hold" nodeType="afterEffect">
                                  <p:stCondLst>
                                    <p:cond delay="0"/>
                                  </p:stCondLst>
                                  <p:childTnLst>
                                    <p:set>
                                      <p:cBhvr>
                                        <p:cTn id="58" dur="1" fill="hold">
                                          <p:stCondLst>
                                            <p:cond delay="0"/>
                                          </p:stCondLst>
                                        </p:cTn>
                                        <p:tgtEl>
                                          <p:spTgt spid="28">
                                            <p:txEl>
                                              <p:pRg st="10" end="10"/>
                                            </p:txEl>
                                          </p:spTgt>
                                        </p:tgtEl>
                                        <p:attrNameLst>
                                          <p:attrName>style.visibility</p:attrName>
                                        </p:attrNameLst>
                                      </p:cBhvr>
                                      <p:to>
                                        <p:strVal val="visible"/>
                                      </p:to>
                                    </p:set>
                                    <p:animEffect transition="in" filter="barn(inVertical)">
                                      <p:cBhvr>
                                        <p:cTn id="59" dur="500"/>
                                        <p:tgtEl>
                                          <p:spTgt spid="28">
                                            <p:txEl>
                                              <p:pRg st="10" end="10"/>
                                            </p:txEl>
                                          </p:spTgt>
                                        </p:tgtEl>
                                      </p:cBhvr>
                                    </p:animEffect>
                                  </p:childTnLst>
                                </p:cTn>
                              </p:par>
                            </p:childTnLst>
                          </p:cTn>
                        </p:par>
                        <p:par>
                          <p:cTn id="60" fill="hold">
                            <p:stCondLst>
                              <p:cond delay="8000"/>
                            </p:stCondLst>
                            <p:childTnLst>
                              <p:par>
                                <p:cTn id="61" presetID="53" presetClass="entr" presetSubtype="16" fill="hold" nodeType="afterEffect">
                                  <p:stCondLst>
                                    <p:cond delay="0"/>
                                  </p:stCondLst>
                                  <p:childTnLst>
                                    <p:set>
                                      <p:cBhvr>
                                        <p:cTn id="62" dur="1" fill="hold">
                                          <p:stCondLst>
                                            <p:cond delay="0"/>
                                          </p:stCondLst>
                                        </p:cTn>
                                        <p:tgtEl>
                                          <p:spTgt spid="4"/>
                                        </p:tgtEl>
                                        <p:attrNameLst>
                                          <p:attrName>style.visibility</p:attrName>
                                        </p:attrNameLst>
                                      </p:cBhvr>
                                      <p:to>
                                        <p:strVal val="visible"/>
                                      </p:to>
                                    </p:set>
                                    <p:anim calcmode="lin" valueType="num">
                                      <p:cBhvr>
                                        <p:cTn id="63" dur="500" fill="hold"/>
                                        <p:tgtEl>
                                          <p:spTgt spid="4"/>
                                        </p:tgtEl>
                                        <p:attrNameLst>
                                          <p:attrName>ppt_w</p:attrName>
                                        </p:attrNameLst>
                                      </p:cBhvr>
                                      <p:tavLst>
                                        <p:tav tm="0">
                                          <p:val>
                                            <p:fltVal val="0"/>
                                          </p:val>
                                        </p:tav>
                                        <p:tav tm="100000">
                                          <p:val>
                                            <p:strVal val="#ppt_w"/>
                                          </p:val>
                                        </p:tav>
                                      </p:tavLst>
                                    </p:anim>
                                    <p:anim calcmode="lin" valueType="num">
                                      <p:cBhvr>
                                        <p:cTn id="64" dur="500" fill="hold"/>
                                        <p:tgtEl>
                                          <p:spTgt spid="4"/>
                                        </p:tgtEl>
                                        <p:attrNameLst>
                                          <p:attrName>ppt_h</p:attrName>
                                        </p:attrNameLst>
                                      </p:cBhvr>
                                      <p:tavLst>
                                        <p:tav tm="0">
                                          <p:val>
                                            <p:fltVal val="0"/>
                                          </p:val>
                                        </p:tav>
                                        <p:tav tm="100000">
                                          <p:val>
                                            <p:strVal val="#ppt_h"/>
                                          </p:val>
                                        </p:tav>
                                      </p:tavLst>
                                    </p:anim>
                                    <p:animEffect transition="in" filter="fade">
                                      <p:cBhvr>
                                        <p:cTn id="65" dur="500"/>
                                        <p:tgtEl>
                                          <p:spTgt spid="4"/>
                                        </p:tgtEl>
                                      </p:cBhvr>
                                    </p:animEffect>
                                  </p:childTnLst>
                                </p:cTn>
                              </p:par>
                            </p:childTnLst>
                          </p:cTn>
                        </p:par>
                        <p:par>
                          <p:cTn id="66" fill="hold">
                            <p:stCondLst>
                              <p:cond delay="8500"/>
                            </p:stCondLst>
                            <p:childTnLst>
                              <p:par>
                                <p:cTn id="67" presetID="53" presetClass="entr" presetSubtype="16" fill="hold" nodeType="afterEffect">
                                  <p:stCondLst>
                                    <p:cond delay="0"/>
                                  </p:stCondLst>
                                  <p:childTnLst>
                                    <p:set>
                                      <p:cBhvr>
                                        <p:cTn id="68" dur="1" fill="hold">
                                          <p:stCondLst>
                                            <p:cond delay="0"/>
                                          </p:stCondLst>
                                        </p:cTn>
                                        <p:tgtEl>
                                          <p:spTgt spid="6"/>
                                        </p:tgtEl>
                                        <p:attrNameLst>
                                          <p:attrName>style.visibility</p:attrName>
                                        </p:attrNameLst>
                                      </p:cBhvr>
                                      <p:to>
                                        <p:strVal val="visible"/>
                                      </p:to>
                                    </p:set>
                                    <p:anim calcmode="lin" valueType="num">
                                      <p:cBhvr>
                                        <p:cTn id="69" dur="500" fill="hold"/>
                                        <p:tgtEl>
                                          <p:spTgt spid="6"/>
                                        </p:tgtEl>
                                        <p:attrNameLst>
                                          <p:attrName>ppt_w</p:attrName>
                                        </p:attrNameLst>
                                      </p:cBhvr>
                                      <p:tavLst>
                                        <p:tav tm="0">
                                          <p:val>
                                            <p:fltVal val="0"/>
                                          </p:val>
                                        </p:tav>
                                        <p:tav tm="100000">
                                          <p:val>
                                            <p:strVal val="#ppt_w"/>
                                          </p:val>
                                        </p:tav>
                                      </p:tavLst>
                                    </p:anim>
                                    <p:anim calcmode="lin" valueType="num">
                                      <p:cBhvr>
                                        <p:cTn id="70" dur="500" fill="hold"/>
                                        <p:tgtEl>
                                          <p:spTgt spid="6"/>
                                        </p:tgtEl>
                                        <p:attrNameLst>
                                          <p:attrName>ppt_h</p:attrName>
                                        </p:attrNameLst>
                                      </p:cBhvr>
                                      <p:tavLst>
                                        <p:tav tm="0">
                                          <p:val>
                                            <p:fltVal val="0"/>
                                          </p:val>
                                        </p:tav>
                                        <p:tav tm="100000">
                                          <p:val>
                                            <p:strVal val="#ppt_h"/>
                                          </p:val>
                                        </p:tav>
                                      </p:tavLst>
                                    </p:anim>
                                    <p:animEffect transition="in" filter="fade">
                                      <p:cBhvr>
                                        <p:cTn id="71" dur="500"/>
                                        <p:tgtEl>
                                          <p:spTgt spid="6"/>
                                        </p:tgtEl>
                                      </p:cBhvr>
                                    </p:animEffect>
                                  </p:childTnLst>
                                </p:cTn>
                              </p:par>
                            </p:childTnLst>
                          </p:cTn>
                        </p:par>
                        <p:par>
                          <p:cTn id="72" fill="hold">
                            <p:stCondLst>
                              <p:cond delay="9000"/>
                            </p:stCondLst>
                            <p:childTnLst>
                              <p:par>
                                <p:cTn id="73" presetID="53" presetClass="entr" presetSubtype="16" fill="hold" nodeType="afterEffect">
                                  <p:stCondLst>
                                    <p:cond delay="0"/>
                                  </p:stCondLst>
                                  <p:childTnLst>
                                    <p:set>
                                      <p:cBhvr>
                                        <p:cTn id="74" dur="1" fill="hold">
                                          <p:stCondLst>
                                            <p:cond delay="0"/>
                                          </p:stCondLst>
                                        </p:cTn>
                                        <p:tgtEl>
                                          <p:spTgt spid="10"/>
                                        </p:tgtEl>
                                        <p:attrNameLst>
                                          <p:attrName>style.visibility</p:attrName>
                                        </p:attrNameLst>
                                      </p:cBhvr>
                                      <p:to>
                                        <p:strVal val="visible"/>
                                      </p:to>
                                    </p:set>
                                    <p:anim calcmode="lin" valueType="num">
                                      <p:cBhvr>
                                        <p:cTn id="75" dur="500" fill="hold"/>
                                        <p:tgtEl>
                                          <p:spTgt spid="10"/>
                                        </p:tgtEl>
                                        <p:attrNameLst>
                                          <p:attrName>ppt_w</p:attrName>
                                        </p:attrNameLst>
                                      </p:cBhvr>
                                      <p:tavLst>
                                        <p:tav tm="0">
                                          <p:val>
                                            <p:fltVal val="0"/>
                                          </p:val>
                                        </p:tav>
                                        <p:tav tm="100000">
                                          <p:val>
                                            <p:strVal val="#ppt_w"/>
                                          </p:val>
                                        </p:tav>
                                      </p:tavLst>
                                    </p:anim>
                                    <p:anim calcmode="lin" valueType="num">
                                      <p:cBhvr>
                                        <p:cTn id="76" dur="500" fill="hold"/>
                                        <p:tgtEl>
                                          <p:spTgt spid="10"/>
                                        </p:tgtEl>
                                        <p:attrNameLst>
                                          <p:attrName>ppt_h</p:attrName>
                                        </p:attrNameLst>
                                      </p:cBhvr>
                                      <p:tavLst>
                                        <p:tav tm="0">
                                          <p:val>
                                            <p:fltVal val="0"/>
                                          </p:val>
                                        </p:tav>
                                        <p:tav tm="100000">
                                          <p:val>
                                            <p:strVal val="#ppt_h"/>
                                          </p:val>
                                        </p:tav>
                                      </p:tavLst>
                                    </p:anim>
                                    <p:animEffect transition="in" filter="fade">
                                      <p:cBhvr>
                                        <p:cTn id="7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558751" y="1201767"/>
            <a:ext cx="9187805" cy="3694729"/>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五、慈善捐款</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700" b="1" dirty="0">
              <a:solidFill>
                <a:srgbClr val="3DA18E"/>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extLst/>
                </a:blip>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導入區塊鏈技術，可提高非營利事業組織的</a:t>
            </a:r>
            <a:r>
              <a:rPr lang="zh-TW" altLang="en-US" sz="2400" b="1" dirty="0">
                <a:solidFill>
                  <a:srgbClr val="54667E"/>
                </a:solidFill>
                <a:latin typeface="微軟正黑體" panose="020B0604030504040204" pitchFamily="34" charset="-120"/>
                <a:ea typeface="微軟正黑體" panose="020B0604030504040204" pitchFamily="34" charset="-120"/>
              </a:rPr>
              <a:t>透明度</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extLst/>
                </a:blip>
              </a:buBlip>
            </a:pPr>
            <a:endParaRPr lang="zh-TW" altLang="en-US"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extLst/>
                </a:blip>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以螞蟻金服的「聽障兒童重獲心聲」募款平台為例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在支付寶平台上設計愛心捐贈平台</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捐贈善款後，捐贈的金額顯示於平台上，讓捐贈者瞭解捐贈來源與去向，交易紀錄無法篡改，更讓民眾對平台深具信心</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11B7C34C-5C84-467F-81F2-10D96D691FDE}"/>
              </a:ext>
            </a:extLst>
          </p:cNvPr>
          <p:cNvCxnSpPr>
            <a:cxnSpLocks/>
          </p:cNvCxnSpPr>
          <p:nvPr/>
        </p:nvCxnSpPr>
        <p:spPr>
          <a:xfrm>
            <a:off x="1177167" y="1046746"/>
            <a:ext cx="85890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標題 1">
            <a:extLst>
              <a:ext uri="{FF2B5EF4-FFF2-40B4-BE49-F238E27FC236}">
                <a16:creationId xmlns:a16="http://schemas.microsoft.com/office/drawing/2014/main" id="{DCCC873F-4809-49E4-9F7D-D36DEDC4E4DC}"/>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4FD11169-F6BE-42D9-9250-CB1CD422C69B}"/>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區塊鏈之非金融服務應用領域</a:t>
            </a:r>
          </a:p>
        </p:txBody>
      </p:sp>
      <p:pic>
        <p:nvPicPr>
          <p:cNvPr id="3" name="圖片 2">
            <a:extLst>
              <a:ext uri="{FF2B5EF4-FFF2-40B4-BE49-F238E27FC236}">
                <a16:creationId xmlns:a16="http://schemas.microsoft.com/office/drawing/2014/main" id="{0D306B45-57B5-431B-93A8-C1875BDCFD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974678">
            <a:off x="10147825" y="179737"/>
            <a:ext cx="1734016" cy="1734016"/>
          </a:xfrm>
          <a:prstGeom prst="rect">
            <a:avLst/>
          </a:prstGeom>
        </p:spPr>
      </p:pic>
      <p:pic>
        <p:nvPicPr>
          <p:cNvPr id="7" name="圖片 6">
            <a:extLst>
              <a:ext uri="{FF2B5EF4-FFF2-40B4-BE49-F238E27FC236}">
                <a16:creationId xmlns:a16="http://schemas.microsoft.com/office/drawing/2014/main" id="{EA4DF077-800A-4BEF-8542-53B7D633B1D7}"/>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51617" y="4849058"/>
            <a:ext cx="3481632" cy="1924392"/>
          </a:xfrm>
          <a:prstGeom prst="rect">
            <a:avLst/>
          </a:prstGeom>
        </p:spPr>
      </p:pic>
    </p:spTree>
    <p:extLst>
      <p:ext uri="{BB962C8B-B14F-4D97-AF65-F5344CB8AC3E}">
        <p14:creationId xmlns:p14="http://schemas.microsoft.com/office/powerpoint/2010/main" val="237013819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4" end="4"/>
                                            </p:txEl>
                                          </p:spTgt>
                                        </p:tgtEl>
                                        <p:attrNameLst>
                                          <p:attrName>style.visibility</p:attrName>
                                        </p:attrNameLst>
                                      </p:cBhvr>
                                      <p:to>
                                        <p:strVal val="visible"/>
                                      </p:to>
                                    </p:set>
                                    <p:animEffect transition="in" filter="barn(inVertical)">
                                      <p:cBhvr>
                                        <p:cTn id="29" dur="500"/>
                                        <p:tgtEl>
                                          <p:spTgt spid="28">
                                            <p:txEl>
                                              <p:pRg st="4" end="4"/>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5" end="5"/>
                                            </p:txEl>
                                          </p:spTgt>
                                        </p:tgtEl>
                                        <p:attrNameLst>
                                          <p:attrName>style.visibility</p:attrName>
                                        </p:attrNameLst>
                                      </p:cBhvr>
                                      <p:to>
                                        <p:strVal val="visible"/>
                                      </p:to>
                                    </p:set>
                                    <p:animEffect transition="in" filter="barn(inVertical)">
                                      <p:cBhvr>
                                        <p:cTn id="33" dur="500"/>
                                        <p:tgtEl>
                                          <p:spTgt spid="28">
                                            <p:txEl>
                                              <p:pRg st="5" end="5"/>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6" end="6"/>
                                            </p:txEl>
                                          </p:spTgt>
                                        </p:tgtEl>
                                        <p:attrNameLst>
                                          <p:attrName>style.visibility</p:attrName>
                                        </p:attrNameLst>
                                      </p:cBhvr>
                                      <p:to>
                                        <p:strVal val="visible"/>
                                      </p:to>
                                    </p:set>
                                    <p:animEffect transition="in" filter="barn(inVertical)">
                                      <p:cBhvr>
                                        <p:cTn id="37" dur="500"/>
                                        <p:tgtEl>
                                          <p:spTgt spid="28">
                                            <p:txEl>
                                              <p:pRg st="6" end="6"/>
                                            </p:txEl>
                                          </p:spTgt>
                                        </p:tgtEl>
                                      </p:cBhvr>
                                    </p:animEffect>
                                  </p:childTnLst>
                                </p:cTn>
                              </p:par>
                            </p:childTnLst>
                          </p:cTn>
                        </p:par>
                        <p:par>
                          <p:cTn id="38" fill="hold">
                            <p:stCondLst>
                              <p:cond delay="5500"/>
                            </p:stCondLst>
                            <p:childTnLst>
                              <p:par>
                                <p:cTn id="39" presetID="2" presetClass="entr" presetSubtype="3" fill="hold" nodeType="after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additive="base">
                                        <p:cTn id="41" dur="500" fill="hold"/>
                                        <p:tgtEl>
                                          <p:spTgt spid="3"/>
                                        </p:tgtEl>
                                        <p:attrNameLst>
                                          <p:attrName>ppt_x</p:attrName>
                                        </p:attrNameLst>
                                      </p:cBhvr>
                                      <p:tavLst>
                                        <p:tav tm="0">
                                          <p:val>
                                            <p:strVal val="1+#ppt_w/2"/>
                                          </p:val>
                                        </p:tav>
                                        <p:tav tm="100000">
                                          <p:val>
                                            <p:strVal val="#ppt_x"/>
                                          </p:val>
                                        </p:tav>
                                      </p:tavLst>
                                    </p:anim>
                                    <p:anim calcmode="lin" valueType="num">
                                      <p:cBhvr additive="base">
                                        <p:cTn id="42" dur="500" fill="hold"/>
                                        <p:tgtEl>
                                          <p:spTgt spid="3"/>
                                        </p:tgtEl>
                                        <p:attrNameLst>
                                          <p:attrName>ppt_y</p:attrName>
                                        </p:attrNameLst>
                                      </p:cBhvr>
                                      <p:tavLst>
                                        <p:tav tm="0">
                                          <p:val>
                                            <p:strVal val="0-#ppt_h/2"/>
                                          </p:val>
                                        </p:tav>
                                        <p:tav tm="100000">
                                          <p:val>
                                            <p:strVal val="#ppt_y"/>
                                          </p:val>
                                        </p:tav>
                                      </p:tavLst>
                                    </p:anim>
                                  </p:childTnLst>
                                </p:cTn>
                              </p:par>
                            </p:childTnLst>
                          </p:cTn>
                        </p:par>
                        <p:par>
                          <p:cTn id="43" fill="hold">
                            <p:stCondLst>
                              <p:cond delay="6000"/>
                            </p:stCondLst>
                            <p:childTnLst>
                              <p:par>
                                <p:cTn id="44" presetID="2" presetClass="entr" presetSubtype="4" fill="hold" nodeType="afterEffect">
                                  <p:stCondLst>
                                    <p:cond delay="0"/>
                                  </p:stCondLst>
                                  <p:childTnLst>
                                    <p:set>
                                      <p:cBhvr>
                                        <p:cTn id="45" dur="1" fill="hold">
                                          <p:stCondLst>
                                            <p:cond delay="0"/>
                                          </p:stCondLst>
                                        </p:cTn>
                                        <p:tgtEl>
                                          <p:spTgt spid="7"/>
                                        </p:tgtEl>
                                        <p:attrNameLst>
                                          <p:attrName>style.visibility</p:attrName>
                                        </p:attrNameLst>
                                      </p:cBhvr>
                                      <p:to>
                                        <p:strVal val="visible"/>
                                      </p:to>
                                    </p:set>
                                    <p:anim calcmode="lin" valueType="num">
                                      <p:cBhvr additive="base">
                                        <p:cTn id="46" dur="500" fill="hold"/>
                                        <p:tgtEl>
                                          <p:spTgt spid="7"/>
                                        </p:tgtEl>
                                        <p:attrNameLst>
                                          <p:attrName>ppt_x</p:attrName>
                                        </p:attrNameLst>
                                      </p:cBhvr>
                                      <p:tavLst>
                                        <p:tav tm="0">
                                          <p:val>
                                            <p:strVal val="#ppt_x"/>
                                          </p:val>
                                        </p:tav>
                                        <p:tav tm="100000">
                                          <p:val>
                                            <p:strVal val="#ppt_x"/>
                                          </p:val>
                                        </p:tav>
                                      </p:tavLst>
                                    </p:anim>
                                    <p:anim calcmode="lin" valueType="num">
                                      <p:cBhvr additive="base">
                                        <p:cTn id="4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299390" y="1293095"/>
            <a:ext cx="9164363" cy="4271810"/>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六、公務機構</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（一）勞動津貼區塊鏈</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endParaRPr lang="zh-TW" altLang="en-US" sz="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r>
              <a:rPr lang="zh-TW" altLang="en-US" sz="2400" b="1" dirty="0">
                <a:solidFill>
                  <a:srgbClr val="54667E"/>
                </a:solidFill>
                <a:latin typeface="微軟正黑體" panose="020B0604030504040204" pitchFamily="34" charset="-120"/>
                <a:ea typeface="微軟正黑體" panose="020B0604030504040204" pitchFamily="34" charset="-120"/>
              </a:rPr>
              <a:t>英國勞動津貼部門</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將申請勞動津貼的申請流程狀況及明細於區塊鏈平台內紀錄與公布，保護數據安全，減少欺詐和成本</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extLst/>
                </a:blip>
              </a:buBlip>
            </a:pPr>
            <a:r>
              <a:rPr lang="zh-TW" altLang="en-US" sz="2400" b="1" dirty="0">
                <a:solidFill>
                  <a:srgbClr val="54667E"/>
                </a:solidFill>
                <a:latin typeface="微軟正黑體" panose="020B0604030504040204" pitchFamily="34" charset="-120"/>
                <a:ea typeface="微軟正黑體" panose="020B0604030504040204" pitchFamily="34" charset="-120"/>
              </a:rPr>
              <a:t>皇家商業服務委員</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CCS</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）在</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G-Cloud8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框架協議提供</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Credits</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一個位置讓其供應分布式帳本技術（</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DLT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Credits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的區塊鏈平台即服務可以為英國公共領域的各個組織所用。</a:t>
            </a:r>
          </a:p>
        </p:txBody>
      </p:sp>
      <p:cxnSp>
        <p:nvCxnSpPr>
          <p:cNvPr id="12" name="直接连接符 33">
            <a:extLst>
              <a:ext uri="{FF2B5EF4-FFF2-40B4-BE49-F238E27FC236}">
                <a16:creationId xmlns:a16="http://schemas.microsoft.com/office/drawing/2014/main" id="{11B7C34C-5C84-467F-81F2-10D96D691FDE}"/>
              </a:ext>
            </a:extLst>
          </p:cNvPr>
          <p:cNvCxnSpPr>
            <a:cxnSpLocks/>
          </p:cNvCxnSpPr>
          <p:nvPr/>
        </p:nvCxnSpPr>
        <p:spPr>
          <a:xfrm>
            <a:off x="1177167" y="1046746"/>
            <a:ext cx="85890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標題 1">
            <a:extLst>
              <a:ext uri="{FF2B5EF4-FFF2-40B4-BE49-F238E27FC236}">
                <a16:creationId xmlns:a16="http://schemas.microsoft.com/office/drawing/2014/main" id="{DCCC873F-4809-49E4-9F7D-D36DEDC4E4DC}"/>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4FD11169-F6BE-42D9-9250-CB1CD422C69B}"/>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區塊鏈之非金融服務應用領域</a:t>
            </a:r>
          </a:p>
        </p:txBody>
      </p:sp>
      <p:pic>
        <p:nvPicPr>
          <p:cNvPr id="6" name="圖片 5" descr="一張含有 建築物 的圖片&#10;&#10;描述是以非常高的可信度產生">
            <a:extLst>
              <a:ext uri="{FF2B5EF4-FFF2-40B4-BE49-F238E27FC236}">
                <a16:creationId xmlns:a16="http://schemas.microsoft.com/office/drawing/2014/main" id="{AFFD5262-1D2C-42D5-AB5B-E971FC3BB6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47063" y="201199"/>
            <a:ext cx="1691094" cy="1691094"/>
          </a:xfrm>
          <a:prstGeom prst="rect">
            <a:avLst/>
          </a:prstGeom>
        </p:spPr>
      </p:pic>
    </p:spTree>
    <p:extLst>
      <p:ext uri="{BB962C8B-B14F-4D97-AF65-F5344CB8AC3E}">
        <p14:creationId xmlns:p14="http://schemas.microsoft.com/office/powerpoint/2010/main" val="251787142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 calcmode="lin" valueType="num">
                                      <p:cBhvr additive="base">
                                        <p:cTn id="25" dur="500" fill="hold"/>
                                        <p:tgtEl>
                                          <p:spTgt spid="28">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8">
                                            <p:txEl>
                                              <p:pRg st="2" end="2"/>
                                            </p:txEl>
                                          </p:spTgt>
                                        </p:tgtEl>
                                        <p:attrNameLst>
                                          <p:attrName>ppt_y</p:attrName>
                                        </p:attrNameLst>
                                      </p:cBhvr>
                                      <p:tavLst>
                                        <p:tav tm="0">
                                          <p:val>
                                            <p:strVal val="#ppt_y"/>
                                          </p:val>
                                        </p:tav>
                                        <p:tav tm="100000">
                                          <p:val>
                                            <p:strVal val="#ppt_y"/>
                                          </p:val>
                                        </p:tav>
                                      </p:tavLst>
                                    </p:anim>
                                  </p:childTnLst>
                                </p:cTn>
                              </p:par>
                            </p:childTnLst>
                          </p:cTn>
                        </p:par>
                        <p:par>
                          <p:cTn id="27" fill="hold">
                            <p:stCondLst>
                              <p:cond delay="4000"/>
                            </p:stCondLst>
                            <p:childTnLst>
                              <p:par>
                                <p:cTn id="28" presetID="16" presetClass="entr" presetSubtype="21" fill="hold" nodeType="afterEffect">
                                  <p:stCondLst>
                                    <p:cond delay="0"/>
                                  </p:stCondLst>
                                  <p:childTnLst>
                                    <p:set>
                                      <p:cBhvr>
                                        <p:cTn id="29" dur="1" fill="hold">
                                          <p:stCondLst>
                                            <p:cond delay="0"/>
                                          </p:stCondLst>
                                        </p:cTn>
                                        <p:tgtEl>
                                          <p:spTgt spid="28">
                                            <p:txEl>
                                              <p:pRg st="4" end="4"/>
                                            </p:txEl>
                                          </p:spTgt>
                                        </p:tgtEl>
                                        <p:attrNameLst>
                                          <p:attrName>style.visibility</p:attrName>
                                        </p:attrNameLst>
                                      </p:cBhvr>
                                      <p:to>
                                        <p:strVal val="visible"/>
                                      </p:to>
                                    </p:set>
                                    <p:animEffect transition="in" filter="barn(inVertical)">
                                      <p:cBhvr>
                                        <p:cTn id="30" dur="500"/>
                                        <p:tgtEl>
                                          <p:spTgt spid="28">
                                            <p:txEl>
                                              <p:pRg st="4" end="4"/>
                                            </p:txEl>
                                          </p:spTgt>
                                        </p:tgtEl>
                                      </p:cBhvr>
                                    </p:animEffect>
                                  </p:childTnLst>
                                </p:cTn>
                              </p:par>
                            </p:childTnLst>
                          </p:cTn>
                        </p:par>
                        <p:par>
                          <p:cTn id="31" fill="hold">
                            <p:stCondLst>
                              <p:cond delay="4500"/>
                            </p:stCondLst>
                            <p:childTnLst>
                              <p:par>
                                <p:cTn id="32" presetID="16" presetClass="entr" presetSubtype="21" fill="hold" nodeType="afterEffect">
                                  <p:stCondLst>
                                    <p:cond delay="0"/>
                                  </p:stCondLst>
                                  <p:childTnLst>
                                    <p:set>
                                      <p:cBhvr>
                                        <p:cTn id="33" dur="1" fill="hold">
                                          <p:stCondLst>
                                            <p:cond delay="0"/>
                                          </p:stCondLst>
                                        </p:cTn>
                                        <p:tgtEl>
                                          <p:spTgt spid="28">
                                            <p:txEl>
                                              <p:pRg st="5" end="5"/>
                                            </p:txEl>
                                          </p:spTgt>
                                        </p:tgtEl>
                                        <p:attrNameLst>
                                          <p:attrName>style.visibility</p:attrName>
                                        </p:attrNameLst>
                                      </p:cBhvr>
                                      <p:to>
                                        <p:strVal val="visible"/>
                                      </p:to>
                                    </p:set>
                                    <p:animEffect transition="in" filter="barn(inVertical)">
                                      <p:cBhvr>
                                        <p:cTn id="34" dur="500"/>
                                        <p:tgtEl>
                                          <p:spTgt spid="28">
                                            <p:txEl>
                                              <p:pRg st="5" end="5"/>
                                            </p:txEl>
                                          </p:spTgt>
                                        </p:tgtEl>
                                      </p:cBhvr>
                                    </p:animEffect>
                                  </p:childTnLst>
                                </p:cTn>
                              </p:par>
                            </p:childTnLst>
                          </p:cTn>
                        </p:par>
                        <p:par>
                          <p:cTn id="35" fill="hold">
                            <p:stCondLst>
                              <p:cond delay="5000"/>
                            </p:stCondLst>
                            <p:childTnLst>
                              <p:par>
                                <p:cTn id="36" presetID="53" presetClass="entr" presetSubtype="16" fill="hold" nodeType="afterEffect">
                                  <p:stCondLst>
                                    <p:cond delay="0"/>
                                  </p:stCondLst>
                                  <p:childTnLst>
                                    <p:set>
                                      <p:cBhvr>
                                        <p:cTn id="37" dur="1" fill="hold">
                                          <p:stCondLst>
                                            <p:cond delay="0"/>
                                          </p:stCondLst>
                                        </p:cTn>
                                        <p:tgtEl>
                                          <p:spTgt spid="6"/>
                                        </p:tgtEl>
                                        <p:attrNameLst>
                                          <p:attrName>style.visibility</p:attrName>
                                        </p:attrNameLst>
                                      </p:cBhvr>
                                      <p:to>
                                        <p:strVal val="visible"/>
                                      </p:to>
                                    </p:set>
                                    <p:anim calcmode="lin" valueType="num">
                                      <p:cBhvr>
                                        <p:cTn id="38" dur="500" fill="hold"/>
                                        <p:tgtEl>
                                          <p:spTgt spid="6"/>
                                        </p:tgtEl>
                                        <p:attrNameLst>
                                          <p:attrName>ppt_w</p:attrName>
                                        </p:attrNameLst>
                                      </p:cBhvr>
                                      <p:tavLst>
                                        <p:tav tm="0">
                                          <p:val>
                                            <p:fltVal val="0"/>
                                          </p:val>
                                        </p:tav>
                                        <p:tav tm="100000">
                                          <p:val>
                                            <p:strVal val="#ppt_w"/>
                                          </p:val>
                                        </p:tav>
                                      </p:tavLst>
                                    </p:anim>
                                    <p:anim calcmode="lin" valueType="num">
                                      <p:cBhvr>
                                        <p:cTn id="39" dur="500" fill="hold"/>
                                        <p:tgtEl>
                                          <p:spTgt spid="6"/>
                                        </p:tgtEl>
                                        <p:attrNameLst>
                                          <p:attrName>ppt_h</p:attrName>
                                        </p:attrNameLst>
                                      </p:cBhvr>
                                      <p:tavLst>
                                        <p:tav tm="0">
                                          <p:val>
                                            <p:fltVal val="0"/>
                                          </p:val>
                                        </p:tav>
                                        <p:tav tm="100000">
                                          <p:val>
                                            <p:strVal val="#ppt_h"/>
                                          </p:val>
                                        </p:tav>
                                      </p:tavLst>
                                    </p:anim>
                                    <p:animEffect transition="in" filter="fade">
                                      <p:cBhvr>
                                        <p:cTn id="4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220726" y="1381537"/>
            <a:ext cx="9164363" cy="4317977"/>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六、公務機構</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（二）選舉投票區塊鏈</a:t>
            </a:r>
          </a:p>
          <a:p>
            <a:pPr marL="800100" lvl="1" indent="-342900">
              <a:lnSpc>
                <a:spcPct val="150000"/>
              </a:lnSpc>
              <a:buBlip>
                <a:blip r:embed="rId4"/>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Expanse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發布無集式管理應用程式（</a:t>
            </a: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dApp</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）引入無邊界投票系統，為各地選民提供區塊鏈上記錄投票的方式</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endParaRPr lang="en-US" altLang="zh-TW" sz="11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（三）身分驗證區塊鏈</a:t>
            </a: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愛沙尼亞的一對夫婦將離散式帳本技術運用於婚禮的見證，在區塊鏈的資訊紀錄儲存與數據計算技術的見證下舉行婚禮</a:t>
            </a:r>
          </a:p>
        </p:txBody>
      </p:sp>
      <p:cxnSp>
        <p:nvCxnSpPr>
          <p:cNvPr id="12" name="直接连接符 33">
            <a:extLst>
              <a:ext uri="{FF2B5EF4-FFF2-40B4-BE49-F238E27FC236}">
                <a16:creationId xmlns:a16="http://schemas.microsoft.com/office/drawing/2014/main" id="{11B7C34C-5C84-467F-81F2-10D96D691FDE}"/>
              </a:ext>
            </a:extLst>
          </p:cNvPr>
          <p:cNvCxnSpPr>
            <a:cxnSpLocks/>
          </p:cNvCxnSpPr>
          <p:nvPr/>
        </p:nvCxnSpPr>
        <p:spPr>
          <a:xfrm>
            <a:off x="1177167" y="1046746"/>
            <a:ext cx="85890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標題 1">
            <a:extLst>
              <a:ext uri="{FF2B5EF4-FFF2-40B4-BE49-F238E27FC236}">
                <a16:creationId xmlns:a16="http://schemas.microsoft.com/office/drawing/2014/main" id="{DCCC873F-4809-49E4-9F7D-D36DEDC4E4DC}"/>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4FD11169-F6BE-42D9-9250-CB1CD422C69B}"/>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區塊鏈之非金融服務應用領域</a:t>
            </a:r>
          </a:p>
        </p:txBody>
      </p:sp>
      <p:pic>
        <p:nvPicPr>
          <p:cNvPr id="6" name="圖片 5" descr="一張含有 建築物 的圖片&#10;&#10;描述是以非常高的可信度產生">
            <a:extLst>
              <a:ext uri="{FF2B5EF4-FFF2-40B4-BE49-F238E27FC236}">
                <a16:creationId xmlns:a16="http://schemas.microsoft.com/office/drawing/2014/main" id="{AFFD5262-1D2C-42D5-AB5B-E971FC3BB6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47063" y="201199"/>
            <a:ext cx="1691094" cy="1691094"/>
          </a:xfrm>
          <a:prstGeom prst="rect">
            <a:avLst/>
          </a:prstGeom>
        </p:spPr>
      </p:pic>
      <p:pic>
        <p:nvPicPr>
          <p:cNvPr id="3" name="圖片 2" descr="一張含有 文字 的圖片&#10;&#10;描述是以高可信度產生">
            <a:extLst>
              <a:ext uri="{FF2B5EF4-FFF2-40B4-BE49-F238E27FC236}">
                <a16:creationId xmlns:a16="http://schemas.microsoft.com/office/drawing/2014/main" id="{5045BA6B-488F-418F-893B-DBF9CF22788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35877" y="3300445"/>
            <a:ext cx="1313466" cy="1313466"/>
          </a:xfrm>
          <a:prstGeom prst="rect">
            <a:avLst/>
          </a:prstGeom>
        </p:spPr>
      </p:pic>
      <p:pic>
        <p:nvPicPr>
          <p:cNvPr id="5" name="圖片 4">
            <a:extLst>
              <a:ext uri="{FF2B5EF4-FFF2-40B4-BE49-F238E27FC236}">
                <a16:creationId xmlns:a16="http://schemas.microsoft.com/office/drawing/2014/main" id="{DB0F05B0-6C18-4A25-8728-1DF980D6B3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4576" y="5408477"/>
            <a:ext cx="1477804" cy="1477804"/>
          </a:xfrm>
          <a:prstGeom prst="rect">
            <a:avLst/>
          </a:prstGeom>
        </p:spPr>
      </p:pic>
    </p:spTree>
    <p:extLst>
      <p:ext uri="{BB962C8B-B14F-4D97-AF65-F5344CB8AC3E}">
        <p14:creationId xmlns:p14="http://schemas.microsoft.com/office/powerpoint/2010/main" val="117490195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 calcmode="lin" valueType="num">
                                      <p:cBhvr additive="base">
                                        <p:cTn id="25" dur="500" fill="hold"/>
                                        <p:tgtEl>
                                          <p:spTgt spid="28">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8">
                                            <p:txEl>
                                              <p:pRg st="2" end="2"/>
                                            </p:txEl>
                                          </p:spTgt>
                                        </p:tgtEl>
                                        <p:attrNameLst>
                                          <p:attrName>ppt_y</p:attrName>
                                        </p:attrNameLst>
                                      </p:cBhvr>
                                      <p:tavLst>
                                        <p:tav tm="0">
                                          <p:val>
                                            <p:strVal val="#ppt_y"/>
                                          </p:val>
                                        </p:tav>
                                        <p:tav tm="100000">
                                          <p:val>
                                            <p:strVal val="#ppt_y"/>
                                          </p:val>
                                        </p:tav>
                                      </p:tavLst>
                                    </p:anim>
                                  </p:childTnLst>
                                </p:cTn>
                              </p:par>
                            </p:childTnLst>
                          </p:cTn>
                        </p:par>
                        <p:par>
                          <p:cTn id="27" fill="hold">
                            <p:stCondLst>
                              <p:cond delay="4000"/>
                            </p:stCondLst>
                            <p:childTnLst>
                              <p:par>
                                <p:cTn id="28" presetID="16" presetClass="entr" presetSubtype="21" fill="hold" nodeType="afterEffect">
                                  <p:stCondLst>
                                    <p:cond delay="0"/>
                                  </p:stCondLst>
                                  <p:childTnLst>
                                    <p:set>
                                      <p:cBhvr>
                                        <p:cTn id="29" dur="1" fill="hold">
                                          <p:stCondLst>
                                            <p:cond delay="0"/>
                                          </p:stCondLst>
                                        </p:cTn>
                                        <p:tgtEl>
                                          <p:spTgt spid="28">
                                            <p:txEl>
                                              <p:pRg st="3" end="3"/>
                                            </p:txEl>
                                          </p:spTgt>
                                        </p:tgtEl>
                                        <p:attrNameLst>
                                          <p:attrName>style.visibility</p:attrName>
                                        </p:attrNameLst>
                                      </p:cBhvr>
                                      <p:to>
                                        <p:strVal val="visible"/>
                                      </p:to>
                                    </p:set>
                                    <p:animEffect transition="in" filter="barn(inVertical)">
                                      <p:cBhvr>
                                        <p:cTn id="30" dur="500"/>
                                        <p:tgtEl>
                                          <p:spTgt spid="28">
                                            <p:txEl>
                                              <p:pRg st="3" end="3"/>
                                            </p:txEl>
                                          </p:spTgt>
                                        </p:tgtEl>
                                      </p:cBhvr>
                                    </p:animEffect>
                                  </p:childTnLst>
                                </p:cTn>
                              </p:par>
                            </p:childTnLst>
                          </p:cTn>
                        </p:par>
                        <p:par>
                          <p:cTn id="31" fill="hold">
                            <p:stCondLst>
                              <p:cond delay="4500"/>
                            </p:stCondLst>
                            <p:childTnLst>
                              <p:par>
                                <p:cTn id="32" presetID="2" presetClass="entr" presetSubtype="8" fill="hold" nodeType="afterEffect">
                                  <p:stCondLst>
                                    <p:cond delay="0"/>
                                  </p:stCondLst>
                                  <p:childTnLst>
                                    <p:set>
                                      <p:cBhvr>
                                        <p:cTn id="33" dur="1" fill="hold">
                                          <p:stCondLst>
                                            <p:cond delay="0"/>
                                          </p:stCondLst>
                                        </p:cTn>
                                        <p:tgtEl>
                                          <p:spTgt spid="28">
                                            <p:txEl>
                                              <p:pRg st="5" end="5"/>
                                            </p:txEl>
                                          </p:spTgt>
                                        </p:tgtEl>
                                        <p:attrNameLst>
                                          <p:attrName>style.visibility</p:attrName>
                                        </p:attrNameLst>
                                      </p:cBhvr>
                                      <p:to>
                                        <p:strVal val="visible"/>
                                      </p:to>
                                    </p:set>
                                    <p:anim calcmode="lin" valueType="num">
                                      <p:cBhvr additive="base">
                                        <p:cTn id="34" dur="500" fill="hold"/>
                                        <p:tgtEl>
                                          <p:spTgt spid="28">
                                            <p:txEl>
                                              <p:pRg st="5" end="5"/>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28">
                                            <p:txEl>
                                              <p:pRg st="5" end="5"/>
                                            </p:txEl>
                                          </p:spTgt>
                                        </p:tgtEl>
                                        <p:attrNameLst>
                                          <p:attrName>ppt_y</p:attrName>
                                        </p:attrNameLst>
                                      </p:cBhvr>
                                      <p:tavLst>
                                        <p:tav tm="0">
                                          <p:val>
                                            <p:strVal val="#ppt_y"/>
                                          </p:val>
                                        </p:tav>
                                        <p:tav tm="100000">
                                          <p:val>
                                            <p:strVal val="#ppt_y"/>
                                          </p:val>
                                        </p:tav>
                                      </p:tavLst>
                                    </p:anim>
                                  </p:childTnLst>
                                </p:cTn>
                              </p:par>
                            </p:childTnLst>
                          </p:cTn>
                        </p:par>
                        <p:par>
                          <p:cTn id="36" fill="hold">
                            <p:stCondLst>
                              <p:cond delay="5000"/>
                            </p:stCondLst>
                            <p:childTnLst>
                              <p:par>
                                <p:cTn id="37" presetID="16" presetClass="entr" presetSubtype="21" fill="hold" nodeType="afterEffect">
                                  <p:stCondLst>
                                    <p:cond delay="0"/>
                                  </p:stCondLst>
                                  <p:childTnLst>
                                    <p:set>
                                      <p:cBhvr>
                                        <p:cTn id="38" dur="1" fill="hold">
                                          <p:stCondLst>
                                            <p:cond delay="0"/>
                                          </p:stCondLst>
                                        </p:cTn>
                                        <p:tgtEl>
                                          <p:spTgt spid="28">
                                            <p:txEl>
                                              <p:pRg st="6" end="6"/>
                                            </p:txEl>
                                          </p:spTgt>
                                        </p:tgtEl>
                                        <p:attrNameLst>
                                          <p:attrName>style.visibility</p:attrName>
                                        </p:attrNameLst>
                                      </p:cBhvr>
                                      <p:to>
                                        <p:strVal val="visible"/>
                                      </p:to>
                                    </p:set>
                                    <p:animEffect transition="in" filter="barn(inVertical)">
                                      <p:cBhvr>
                                        <p:cTn id="39" dur="500"/>
                                        <p:tgtEl>
                                          <p:spTgt spid="28">
                                            <p:txEl>
                                              <p:pRg st="6" end="6"/>
                                            </p:txEl>
                                          </p:spTgt>
                                        </p:tgtEl>
                                      </p:cBhvr>
                                    </p:animEffect>
                                  </p:childTnLst>
                                </p:cTn>
                              </p:par>
                            </p:childTnLst>
                          </p:cTn>
                        </p:par>
                        <p:par>
                          <p:cTn id="40" fill="hold">
                            <p:stCondLst>
                              <p:cond delay="5500"/>
                            </p:stCondLst>
                            <p:childTnLst>
                              <p:par>
                                <p:cTn id="41" presetID="53" presetClass="entr" presetSubtype="16" fill="hold" nodeType="after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p:cTn id="43" dur="500" fill="hold"/>
                                        <p:tgtEl>
                                          <p:spTgt spid="6"/>
                                        </p:tgtEl>
                                        <p:attrNameLst>
                                          <p:attrName>ppt_w</p:attrName>
                                        </p:attrNameLst>
                                      </p:cBhvr>
                                      <p:tavLst>
                                        <p:tav tm="0">
                                          <p:val>
                                            <p:fltVal val="0"/>
                                          </p:val>
                                        </p:tav>
                                        <p:tav tm="100000">
                                          <p:val>
                                            <p:strVal val="#ppt_w"/>
                                          </p:val>
                                        </p:tav>
                                      </p:tavLst>
                                    </p:anim>
                                    <p:anim calcmode="lin" valueType="num">
                                      <p:cBhvr>
                                        <p:cTn id="44" dur="500" fill="hold"/>
                                        <p:tgtEl>
                                          <p:spTgt spid="6"/>
                                        </p:tgtEl>
                                        <p:attrNameLst>
                                          <p:attrName>ppt_h</p:attrName>
                                        </p:attrNameLst>
                                      </p:cBhvr>
                                      <p:tavLst>
                                        <p:tav tm="0">
                                          <p:val>
                                            <p:fltVal val="0"/>
                                          </p:val>
                                        </p:tav>
                                        <p:tav tm="100000">
                                          <p:val>
                                            <p:strVal val="#ppt_h"/>
                                          </p:val>
                                        </p:tav>
                                      </p:tavLst>
                                    </p:anim>
                                    <p:animEffect transition="in" filter="fade">
                                      <p:cBhvr>
                                        <p:cTn id="45" dur="500"/>
                                        <p:tgtEl>
                                          <p:spTgt spid="6"/>
                                        </p:tgtEl>
                                      </p:cBhvr>
                                    </p:animEffect>
                                  </p:childTnLst>
                                </p:cTn>
                              </p:par>
                            </p:childTnLst>
                          </p:cTn>
                        </p:par>
                        <p:par>
                          <p:cTn id="46" fill="hold">
                            <p:stCondLst>
                              <p:cond delay="6000"/>
                            </p:stCondLst>
                            <p:childTnLst>
                              <p:par>
                                <p:cTn id="47" presetID="53" presetClass="entr" presetSubtype="16" fill="hold" nodeType="after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p:cTn id="49" dur="500" fill="hold"/>
                                        <p:tgtEl>
                                          <p:spTgt spid="3"/>
                                        </p:tgtEl>
                                        <p:attrNameLst>
                                          <p:attrName>ppt_w</p:attrName>
                                        </p:attrNameLst>
                                      </p:cBhvr>
                                      <p:tavLst>
                                        <p:tav tm="0">
                                          <p:val>
                                            <p:fltVal val="0"/>
                                          </p:val>
                                        </p:tav>
                                        <p:tav tm="100000">
                                          <p:val>
                                            <p:strVal val="#ppt_w"/>
                                          </p:val>
                                        </p:tav>
                                      </p:tavLst>
                                    </p:anim>
                                    <p:anim calcmode="lin" valueType="num">
                                      <p:cBhvr>
                                        <p:cTn id="50" dur="500" fill="hold"/>
                                        <p:tgtEl>
                                          <p:spTgt spid="3"/>
                                        </p:tgtEl>
                                        <p:attrNameLst>
                                          <p:attrName>ppt_h</p:attrName>
                                        </p:attrNameLst>
                                      </p:cBhvr>
                                      <p:tavLst>
                                        <p:tav tm="0">
                                          <p:val>
                                            <p:fltVal val="0"/>
                                          </p:val>
                                        </p:tav>
                                        <p:tav tm="100000">
                                          <p:val>
                                            <p:strVal val="#ppt_h"/>
                                          </p:val>
                                        </p:tav>
                                      </p:tavLst>
                                    </p:anim>
                                    <p:animEffect transition="in" filter="fade">
                                      <p:cBhvr>
                                        <p:cTn id="51" dur="500"/>
                                        <p:tgtEl>
                                          <p:spTgt spid="3"/>
                                        </p:tgtEl>
                                      </p:cBhvr>
                                    </p:animEffect>
                                  </p:childTnLst>
                                </p:cTn>
                              </p:par>
                            </p:childTnLst>
                          </p:cTn>
                        </p:par>
                        <p:par>
                          <p:cTn id="52" fill="hold">
                            <p:stCondLst>
                              <p:cond delay="6500"/>
                            </p:stCondLst>
                            <p:childTnLst>
                              <p:par>
                                <p:cTn id="53" presetID="53" presetClass="entr" presetSubtype="16" fill="hold" nodeType="afterEffect">
                                  <p:stCondLst>
                                    <p:cond delay="0"/>
                                  </p:stCondLst>
                                  <p:childTnLst>
                                    <p:set>
                                      <p:cBhvr>
                                        <p:cTn id="54" dur="1" fill="hold">
                                          <p:stCondLst>
                                            <p:cond delay="0"/>
                                          </p:stCondLst>
                                        </p:cTn>
                                        <p:tgtEl>
                                          <p:spTgt spid="5"/>
                                        </p:tgtEl>
                                        <p:attrNameLst>
                                          <p:attrName>style.visibility</p:attrName>
                                        </p:attrNameLst>
                                      </p:cBhvr>
                                      <p:to>
                                        <p:strVal val="visible"/>
                                      </p:to>
                                    </p:set>
                                    <p:anim calcmode="lin" valueType="num">
                                      <p:cBhvr>
                                        <p:cTn id="55" dur="500" fill="hold"/>
                                        <p:tgtEl>
                                          <p:spTgt spid="5"/>
                                        </p:tgtEl>
                                        <p:attrNameLst>
                                          <p:attrName>ppt_w</p:attrName>
                                        </p:attrNameLst>
                                      </p:cBhvr>
                                      <p:tavLst>
                                        <p:tav tm="0">
                                          <p:val>
                                            <p:fltVal val="0"/>
                                          </p:val>
                                        </p:tav>
                                        <p:tav tm="100000">
                                          <p:val>
                                            <p:strVal val="#ppt_w"/>
                                          </p:val>
                                        </p:tav>
                                      </p:tavLst>
                                    </p:anim>
                                    <p:anim calcmode="lin" valueType="num">
                                      <p:cBhvr>
                                        <p:cTn id="56" dur="500" fill="hold"/>
                                        <p:tgtEl>
                                          <p:spTgt spid="5"/>
                                        </p:tgtEl>
                                        <p:attrNameLst>
                                          <p:attrName>ppt_h</p:attrName>
                                        </p:attrNameLst>
                                      </p:cBhvr>
                                      <p:tavLst>
                                        <p:tav tm="0">
                                          <p:val>
                                            <p:fltVal val="0"/>
                                          </p:val>
                                        </p:tav>
                                        <p:tav tm="100000">
                                          <p:val>
                                            <p:strVal val="#ppt_h"/>
                                          </p:val>
                                        </p:tav>
                                      </p:tavLst>
                                    </p:anim>
                                    <p:animEffect transition="in" filter="fade">
                                      <p:cBhvr>
                                        <p:cTn id="5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296881" y="1128860"/>
            <a:ext cx="9373121" cy="4667047"/>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七、供應鏈與物聯網</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zh-TW" altLang="en-US" sz="800" b="1" dirty="0">
              <a:solidFill>
                <a:srgbClr val="3DA18E"/>
              </a:solidFill>
              <a:latin typeface="微軟正黑體" panose="020B0604030504040204" pitchFamily="34" charset="-120"/>
              <a:ea typeface="微軟正黑體" panose="020B0604030504040204" pitchFamily="34" charset="-120"/>
            </a:endParaRPr>
          </a:p>
          <a:p>
            <a:pPr>
              <a:lnSpc>
                <a:spcPct val="150000"/>
              </a:lnSpc>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（一）供應鏈</a:t>
            </a:r>
          </a:p>
          <a:p>
            <a:pPr marL="800100" lvl="1" indent="-342900">
              <a:lnSpc>
                <a:spcPct val="150000"/>
              </a:lnSpc>
              <a:buBlip>
                <a:blip r:embed="rId4"/>
              </a:buBlip>
            </a:pP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IBM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用區塊鏈技術改造內部供應鏈金流服務，因為可追蹤、不可篡改及結果一致性，供應商在隱私、安全的平台上共享交易紀錄</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endParaRPr lang="zh-TW" altLang="en-US"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（二）物聯網</a:t>
            </a:r>
          </a:p>
          <a:p>
            <a:pPr marL="800100" lvl="1"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在區塊鏈技術支援的環境下，可以有效的避免惡意程式攻擊</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IBM</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和三星為</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ADEPT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提出使用區塊鏈技術建立一個無集中式管理物聯網，可節省買家取貨時間，以及降低賣家的出貨與銷貨成本</a:t>
            </a:r>
          </a:p>
        </p:txBody>
      </p:sp>
      <p:cxnSp>
        <p:nvCxnSpPr>
          <p:cNvPr id="12" name="直接连接符 33">
            <a:extLst>
              <a:ext uri="{FF2B5EF4-FFF2-40B4-BE49-F238E27FC236}">
                <a16:creationId xmlns:a16="http://schemas.microsoft.com/office/drawing/2014/main" id="{11B7C34C-5C84-467F-81F2-10D96D691FDE}"/>
              </a:ext>
            </a:extLst>
          </p:cNvPr>
          <p:cNvCxnSpPr>
            <a:cxnSpLocks/>
          </p:cNvCxnSpPr>
          <p:nvPr/>
        </p:nvCxnSpPr>
        <p:spPr>
          <a:xfrm>
            <a:off x="1177167" y="1046746"/>
            <a:ext cx="85890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標題 1">
            <a:extLst>
              <a:ext uri="{FF2B5EF4-FFF2-40B4-BE49-F238E27FC236}">
                <a16:creationId xmlns:a16="http://schemas.microsoft.com/office/drawing/2014/main" id="{DCCC873F-4809-49E4-9F7D-D36DEDC4E4DC}"/>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4FD11169-F6BE-42D9-9250-CB1CD422C69B}"/>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區塊鏈之非金融服務應用領域</a:t>
            </a:r>
          </a:p>
        </p:txBody>
      </p:sp>
      <p:pic>
        <p:nvPicPr>
          <p:cNvPr id="10" name="圖片 9">
            <a:extLst>
              <a:ext uri="{FF2B5EF4-FFF2-40B4-BE49-F238E27FC236}">
                <a16:creationId xmlns:a16="http://schemas.microsoft.com/office/drawing/2014/main" id="{C49FBAD0-777F-478E-A2A4-E3157902BB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43066" y="264737"/>
            <a:ext cx="1728246" cy="1728246"/>
          </a:xfrm>
          <a:prstGeom prst="rect">
            <a:avLst/>
          </a:prstGeom>
        </p:spPr>
      </p:pic>
    </p:spTree>
    <p:extLst>
      <p:ext uri="{BB962C8B-B14F-4D97-AF65-F5344CB8AC3E}">
        <p14:creationId xmlns:p14="http://schemas.microsoft.com/office/powerpoint/2010/main" val="98607914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2" presetClass="entr" presetSubtype="8"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 calcmode="lin" valueType="num">
                                      <p:cBhvr additive="base">
                                        <p:cTn id="25" dur="500" fill="hold"/>
                                        <p:tgtEl>
                                          <p:spTgt spid="28">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8">
                                            <p:txEl>
                                              <p:pRg st="2" end="2"/>
                                            </p:txEl>
                                          </p:spTgt>
                                        </p:tgtEl>
                                        <p:attrNameLst>
                                          <p:attrName>ppt_y</p:attrName>
                                        </p:attrNameLst>
                                      </p:cBhvr>
                                      <p:tavLst>
                                        <p:tav tm="0">
                                          <p:val>
                                            <p:strVal val="#ppt_y"/>
                                          </p:val>
                                        </p:tav>
                                        <p:tav tm="100000">
                                          <p:val>
                                            <p:strVal val="#ppt_y"/>
                                          </p:val>
                                        </p:tav>
                                      </p:tavLst>
                                    </p:anim>
                                  </p:childTnLst>
                                </p:cTn>
                              </p:par>
                            </p:childTnLst>
                          </p:cTn>
                        </p:par>
                        <p:par>
                          <p:cTn id="27" fill="hold">
                            <p:stCondLst>
                              <p:cond delay="4000"/>
                            </p:stCondLst>
                            <p:childTnLst>
                              <p:par>
                                <p:cTn id="28" presetID="16" presetClass="entr" presetSubtype="21" fill="hold" nodeType="afterEffect">
                                  <p:stCondLst>
                                    <p:cond delay="0"/>
                                  </p:stCondLst>
                                  <p:childTnLst>
                                    <p:set>
                                      <p:cBhvr>
                                        <p:cTn id="29" dur="1" fill="hold">
                                          <p:stCondLst>
                                            <p:cond delay="0"/>
                                          </p:stCondLst>
                                        </p:cTn>
                                        <p:tgtEl>
                                          <p:spTgt spid="28">
                                            <p:txEl>
                                              <p:pRg st="3" end="3"/>
                                            </p:txEl>
                                          </p:spTgt>
                                        </p:tgtEl>
                                        <p:attrNameLst>
                                          <p:attrName>style.visibility</p:attrName>
                                        </p:attrNameLst>
                                      </p:cBhvr>
                                      <p:to>
                                        <p:strVal val="visible"/>
                                      </p:to>
                                    </p:set>
                                    <p:animEffect transition="in" filter="barn(inVertical)">
                                      <p:cBhvr>
                                        <p:cTn id="30" dur="500"/>
                                        <p:tgtEl>
                                          <p:spTgt spid="28">
                                            <p:txEl>
                                              <p:pRg st="3" end="3"/>
                                            </p:txEl>
                                          </p:spTgt>
                                        </p:tgtEl>
                                      </p:cBhvr>
                                    </p:animEffect>
                                  </p:childTnLst>
                                </p:cTn>
                              </p:par>
                            </p:childTnLst>
                          </p:cTn>
                        </p:par>
                        <p:par>
                          <p:cTn id="31" fill="hold">
                            <p:stCondLst>
                              <p:cond delay="4500"/>
                            </p:stCondLst>
                            <p:childTnLst>
                              <p:par>
                                <p:cTn id="32" presetID="2" presetClass="entr" presetSubtype="8" fill="hold" nodeType="afterEffect">
                                  <p:stCondLst>
                                    <p:cond delay="0"/>
                                  </p:stCondLst>
                                  <p:childTnLst>
                                    <p:set>
                                      <p:cBhvr>
                                        <p:cTn id="33" dur="1" fill="hold">
                                          <p:stCondLst>
                                            <p:cond delay="0"/>
                                          </p:stCondLst>
                                        </p:cTn>
                                        <p:tgtEl>
                                          <p:spTgt spid="28">
                                            <p:txEl>
                                              <p:pRg st="5" end="5"/>
                                            </p:txEl>
                                          </p:spTgt>
                                        </p:tgtEl>
                                        <p:attrNameLst>
                                          <p:attrName>style.visibility</p:attrName>
                                        </p:attrNameLst>
                                      </p:cBhvr>
                                      <p:to>
                                        <p:strVal val="visible"/>
                                      </p:to>
                                    </p:set>
                                    <p:anim calcmode="lin" valueType="num">
                                      <p:cBhvr additive="base">
                                        <p:cTn id="34" dur="500" fill="hold"/>
                                        <p:tgtEl>
                                          <p:spTgt spid="28">
                                            <p:txEl>
                                              <p:pRg st="5" end="5"/>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28">
                                            <p:txEl>
                                              <p:pRg st="5" end="5"/>
                                            </p:txEl>
                                          </p:spTgt>
                                        </p:tgtEl>
                                        <p:attrNameLst>
                                          <p:attrName>ppt_y</p:attrName>
                                        </p:attrNameLst>
                                      </p:cBhvr>
                                      <p:tavLst>
                                        <p:tav tm="0">
                                          <p:val>
                                            <p:strVal val="#ppt_y"/>
                                          </p:val>
                                        </p:tav>
                                        <p:tav tm="100000">
                                          <p:val>
                                            <p:strVal val="#ppt_y"/>
                                          </p:val>
                                        </p:tav>
                                      </p:tavLst>
                                    </p:anim>
                                  </p:childTnLst>
                                </p:cTn>
                              </p:par>
                            </p:childTnLst>
                          </p:cTn>
                        </p:par>
                        <p:par>
                          <p:cTn id="36" fill="hold">
                            <p:stCondLst>
                              <p:cond delay="5000"/>
                            </p:stCondLst>
                            <p:childTnLst>
                              <p:par>
                                <p:cTn id="37" presetID="16" presetClass="entr" presetSubtype="21" fill="hold" nodeType="afterEffect">
                                  <p:stCondLst>
                                    <p:cond delay="0"/>
                                  </p:stCondLst>
                                  <p:childTnLst>
                                    <p:set>
                                      <p:cBhvr>
                                        <p:cTn id="38" dur="1" fill="hold">
                                          <p:stCondLst>
                                            <p:cond delay="0"/>
                                          </p:stCondLst>
                                        </p:cTn>
                                        <p:tgtEl>
                                          <p:spTgt spid="28">
                                            <p:txEl>
                                              <p:pRg st="6" end="6"/>
                                            </p:txEl>
                                          </p:spTgt>
                                        </p:tgtEl>
                                        <p:attrNameLst>
                                          <p:attrName>style.visibility</p:attrName>
                                        </p:attrNameLst>
                                      </p:cBhvr>
                                      <p:to>
                                        <p:strVal val="visible"/>
                                      </p:to>
                                    </p:set>
                                    <p:animEffect transition="in" filter="barn(inVertical)">
                                      <p:cBhvr>
                                        <p:cTn id="39" dur="500"/>
                                        <p:tgtEl>
                                          <p:spTgt spid="28">
                                            <p:txEl>
                                              <p:pRg st="6" end="6"/>
                                            </p:txEl>
                                          </p:spTgt>
                                        </p:tgtEl>
                                      </p:cBhvr>
                                    </p:animEffect>
                                  </p:childTnLst>
                                </p:cTn>
                              </p:par>
                            </p:childTnLst>
                          </p:cTn>
                        </p:par>
                        <p:par>
                          <p:cTn id="40" fill="hold">
                            <p:stCondLst>
                              <p:cond delay="5500"/>
                            </p:stCondLst>
                            <p:childTnLst>
                              <p:par>
                                <p:cTn id="41" presetID="16" presetClass="entr" presetSubtype="21" fill="hold" nodeType="afterEffect">
                                  <p:stCondLst>
                                    <p:cond delay="0"/>
                                  </p:stCondLst>
                                  <p:childTnLst>
                                    <p:set>
                                      <p:cBhvr>
                                        <p:cTn id="42" dur="1" fill="hold">
                                          <p:stCondLst>
                                            <p:cond delay="0"/>
                                          </p:stCondLst>
                                        </p:cTn>
                                        <p:tgtEl>
                                          <p:spTgt spid="28">
                                            <p:txEl>
                                              <p:pRg st="7" end="7"/>
                                            </p:txEl>
                                          </p:spTgt>
                                        </p:tgtEl>
                                        <p:attrNameLst>
                                          <p:attrName>style.visibility</p:attrName>
                                        </p:attrNameLst>
                                      </p:cBhvr>
                                      <p:to>
                                        <p:strVal val="visible"/>
                                      </p:to>
                                    </p:set>
                                    <p:animEffect transition="in" filter="barn(inVertical)">
                                      <p:cBhvr>
                                        <p:cTn id="43" dur="500"/>
                                        <p:tgtEl>
                                          <p:spTgt spid="28">
                                            <p:txEl>
                                              <p:pRg st="7" end="7"/>
                                            </p:txEl>
                                          </p:spTgt>
                                        </p:tgtEl>
                                      </p:cBhvr>
                                    </p:animEffect>
                                  </p:childTnLst>
                                </p:cTn>
                              </p:par>
                            </p:childTnLst>
                          </p:cTn>
                        </p:par>
                        <p:par>
                          <p:cTn id="44" fill="hold">
                            <p:stCondLst>
                              <p:cond delay="6000"/>
                            </p:stCondLst>
                            <p:childTnLst>
                              <p:par>
                                <p:cTn id="45" presetID="53" presetClass="entr" presetSubtype="16" fill="hold" nodeType="after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p:cTn id="47" dur="500" fill="hold"/>
                                        <p:tgtEl>
                                          <p:spTgt spid="10"/>
                                        </p:tgtEl>
                                        <p:attrNameLst>
                                          <p:attrName>ppt_w</p:attrName>
                                        </p:attrNameLst>
                                      </p:cBhvr>
                                      <p:tavLst>
                                        <p:tav tm="0">
                                          <p:val>
                                            <p:fltVal val="0"/>
                                          </p:val>
                                        </p:tav>
                                        <p:tav tm="100000">
                                          <p:val>
                                            <p:strVal val="#ppt_w"/>
                                          </p:val>
                                        </p:tav>
                                      </p:tavLst>
                                    </p:anim>
                                    <p:anim calcmode="lin" valueType="num">
                                      <p:cBhvr>
                                        <p:cTn id="48" dur="500" fill="hold"/>
                                        <p:tgtEl>
                                          <p:spTgt spid="10"/>
                                        </p:tgtEl>
                                        <p:attrNameLst>
                                          <p:attrName>ppt_h</p:attrName>
                                        </p:attrNameLst>
                                      </p:cBhvr>
                                      <p:tavLst>
                                        <p:tav tm="0">
                                          <p:val>
                                            <p:fltVal val="0"/>
                                          </p:val>
                                        </p:tav>
                                        <p:tav tm="100000">
                                          <p:val>
                                            <p:strVal val="#ppt_h"/>
                                          </p:val>
                                        </p:tav>
                                      </p:tavLst>
                                    </p:anim>
                                    <p:animEffect transition="in" filter="fade">
                                      <p:cBhvr>
                                        <p:cTn id="4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338309" y="1502202"/>
            <a:ext cx="9373121" cy="3717813"/>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八、食品安全</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zh-TW" altLang="en-US" sz="800" b="1" dirty="0">
              <a:solidFill>
                <a:srgbClr val="3DA18E"/>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使用區塊鏈技術對於食品來源更加精準的追蹤，控制食品的品質，改善追蹤食品效率及應付食品問題</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澳洲</a:t>
            </a: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AgriDigital</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新創公司利用</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Ethereum</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（以太坊）區塊鏈中的私有鏈，透過加密技術，以及不可篡改性與不可否認性等，使交易達到更加保密且更有保障</a:t>
            </a:r>
            <a:endPar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11B7C34C-5C84-467F-81F2-10D96D691FDE}"/>
              </a:ext>
            </a:extLst>
          </p:cNvPr>
          <p:cNvCxnSpPr>
            <a:cxnSpLocks/>
          </p:cNvCxnSpPr>
          <p:nvPr/>
        </p:nvCxnSpPr>
        <p:spPr>
          <a:xfrm>
            <a:off x="1177167" y="1046746"/>
            <a:ext cx="85890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標題 1">
            <a:extLst>
              <a:ext uri="{FF2B5EF4-FFF2-40B4-BE49-F238E27FC236}">
                <a16:creationId xmlns:a16="http://schemas.microsoft.com/office/drawing/2014/main" id="{DCCC873F-4809-49E4-9F7D-D36DEDC4E4DC}"/>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4FD11169-F6BE-42D9-9250-CB1CD422C69B}"/>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區塊鏈之非金融服務應用領域</a:t>
            </a:r>
          </a:p>
        </p:txBody>
      </p:sp>
      <p:pic>
        <p:nvPicPr>
          <p:cNvPr id="3" name="圖片 2" descr="一張含有 樂高, 玩具 的圖片&#10;&#10;描述是以非常高的可信度產生">
            <a:extLst>
              <a:ext uri="{FF2B5EF4-FFF2-40B4-BE49-F238E27FC236}">
                <a16:creationId xmlns:a16="http://schemas.microsoft.com/office/drawing/2014/main" id="{14AAC7CA-7202-452C-AC81-E8D86A842B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85664" y="219545"/>
            <a:ext cx="1654402" cy="1654402"/>
          </a:xfrm>
          <a:prstGeom prst="rect">
            <a:avLst/>
          </a:prstGeom>
        </p:spPr>
      </p:pic>
      <p:pic>
        <p:nvPicPr>
          <p:cNvPr id="5" name="圖片 4">
            <a:extLst>
              <a:ext uri="{FF2B5EF4-FFF2-40B4-BE49-F238E27FC236}">
                <a16:creationId xmlns:a16="http://schemas.microsoft.com/office/drawing/2014/main" id="{E308E089-DA81-4CBB-A8B5-52BF294B85DA}"/>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493376" y="4248271"/>
            <a:ext cx="2692288" cy="2692288"/>
          </a:xfrm>
          <a:prstGeom prst="rect">
            <a:avLst/>
          </a:prstGeom>
        </p:spPr>
      </p:pic>
    </p:spTree>
    <p:extLst>
      <p:ext uri="{BB962C8B-B14F-4D97-AF65-F5344CB8AC3E}">
        <p14:creationId xmlns:p14="http://schemas.microsoft.com/office/powerpoint/2010/main" val="57114027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4" end="4"/>
                                            </p:txEl>
                                          </p:spTgt>
                                        </p:tgtEl>
                                        <p:attrNameLst>
                                          <p:attrName>style.visibility</p:attrName>
                                        </p:attrNameLst>
                                      </p:cBhvr>
                                      <p:to>
                                        <p:strVal val="visible"/>
                                      </p:to>
                                    </p:set>
                                    <p:animEffect transition="in" filter="barn(inVertical)">
                                      <p:cBhvr>
                                        <p:cTn id="29" dur="500"/>
                                        <p:tgtEl>
                                          <p:spTgt spid="28">
                                            <p:txEl>
                                              <p:pRg st="4" end="4"/>
                                            </p:txEl>
                                          </p:spTgt>
                                        </p:tgtEl>
                                      </p:cBhvr>
                                    </p:animEffect>
                                  </p:childTnLst>
                                </p:cTn>
                              </p:par>
                            </p:childTnLst>
                          </p:cTn>
                        </p:par>
                        <p:par>
                          <p:cTn id="30" fill="hold">
                            <p:stCondLst>
                              <p:cond delay="4500"/>
                            </p:stCondLst>
                            <p:childTnLst>
                              <p:par>
                                <p:cTn id="31" presetID="53" presetClass="entr" presetSubtype="16"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p:cTn id="33" dur="500" fill="hold"/>
                                        <p:tgtEl>
                                          <p:spTgt spid="3"/>
                                        </p:tgtEl>
                                        <p:attrNameLst>
                                          <p:attrName>ppt_w</p:attrName>
                                        </p:attrNameLst>
                                      </p:cBhvr>
                                      <p:tavLst>
                                        <p:tav tm="0">
                                          <p:val>
                                            <p:fltVal val="0"/>
                                          </p:val>
                                        </p:tav>
                                        <p:tav tm="100000">
                                          <p:val>
                                            <p:strVal val="#ppt_w"/>
                                          </p:val>
                                        </p:tav>
                                      </p:tavLst>
                                    </p:anim>
                                    <p:anim calcmode="lin" valueType="num">
                                      <p:cBhvr>
                                        <p:cTn id="34" dur="500" fill="hold"/>
                                        <p:tgtEl>
                                          <p:spTgt spid="3"/>
                                        </p:tgtEl>
                                        <p:attrNameLst>
                                          <p:attrName>ppt_h</p:attrName>
                                        </p:attrNameLst>
                                      </p:cBhvr>
                                      <p:tavLst>
                                        <p:tav tm="0">
                                          <p:val>
                                            <p:fltVal val="0"/>
                                          </p:val>
                                        </p:tav>
                                        <p:tav tm="100000">
                                          <p:val>
                                            <p:strVal val="#ppt_h"/>
                                          </p:val>
                                        </p:tav>
                                      </p:tavLst>
                                    </p:anim>
                                    <p:animEffect transition="in" filter="fade">
                                      <p:cBhvr>
                                        <p:cTn id="35" dur="500"/>
                                        <p:tgtEl>
                                          <p:spTgt spid="3"/>
                                        </p:tgtEl>
                                      </p:cBhvr>
                                    </p:animEffect>
                                  </p:childTnLst>
                                </p:cTn>
                              </p:par>
                            </p:childTnLst>
                          </p:cTn>
                        </p:par>
                        <p:par>
                          <p:cTn id="36" fill="hold">
                            <p:stCondLst>
                              <p:cond delay="5000"/>
                            </p:stCondLst>
                            <p:childTnLst>
                              <p:par>
                                <p:cTn id="37" presetID="53" presetClass="entr" presetSubtype="16"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p:cTn id="39" dur="500" fill="hold"/>
                                        <p:tgtEl>
                                          <p:spTgt spid="5"/>
                                        </p:tgtEl>
                                        <p:attrNameLst>
                                          <p:attrName>ppt_w</p:attrName>
                                        </p:attrNameLst>
                                      </p:cBhvr>
                                      <p:tavLst>
                                        <p:tav tm="0">
                                          <p:val>
                                            <p:fltVal val="0"/>
                                          </p:val>
                                        </p:tav>
                                        <p:tav tm="100000">
                                          <p:val>
                                            <p:strVal val="#ppt_w"/>
                                          </p:val>
                                        </p:tav>
                                      </p:tavLst>
                                    </p:anim>
                                    <p:anim calcmode="lin" valueType="num">
                                      <p:cBhvr>
                                        <p:cTn id="40" dur="500" fill="hold"/>
                                        <p:tgtEl>
                                          <p:spTgt spid="5"/>
                                        </p:tgtEl>
                                        <p:attrNameLst>
                                          <p:attrName>ppt_h</p:attrName>
                                        </p:attrNameLst>
                                      </p:cBhvr>
                                      <p:tavLst>
                                        <p:tav tm="0">
                                          <p:val>
                                            <p:fltVal val="0"/>
                                          </p:val>
                                        </p:tav>
                                        <p:tav tm="100000">
                                          <p:val>
                                            <p:strVal val="#ppt_h"/>
                                          </p:val>
                                        </p:tav>
                                      </p:tavLst>
                                    </p:anim>
                                    <p:animEffect transition="in" filter="fade">
                                      <p:cBhvr>
                                        <p:cTn id="4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8" name="文字方塊 27">
            <a:extLst>
              <a:ext uri="{FF2B5EF4-FFF2-40B4-BE49-F238E27FC236}">
                <a16:creationId xmlns:a16="http://schemas.microsoft.com/office/drawing/2014/main" id="{C5975A11-2F1B-4406-B386-35CD2CCB95B2}"/>
              </a:ext>
            </a:extLst>
          </p:cNvPr>
          <p:cNvSpPr txBox="1"/>
          <p:nvPr/>
        </p:nvSpPr>
        <p:spPr>
          <a:xfrm>
            <a:off x="1518277" y="1303526"/>
            <a:ext cx="9548791" cy="4641142"/>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九、運動區塊鏈</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zh-TW" altLang="en-US" sz="700" b="1" dirty="0">
              <a:solidFill>
                <a:srgbClr val="3DA18E"/>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臺灣</a:t>
            </a: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BraveLog</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AMIS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帳聯網開發的區塊鏈架構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將區塊鏈技術應用於鐵人三項運動賽事， 系統紀錄參賽者比賽過程中的資料</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將數據寫入微軟</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Azure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雲端平台，參賽者的親友可以登入</a:t>
            </a: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BraveLog</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平台， 關注即時資訊</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由於不可篡改性，一旦被惡意造假或冒名頂替，資料無法刪除</a:t>
            </a:r>
            <a:endPar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11B7C34C-5C84-467F-81F2-10D96D691FDE}"/>
              </a:ext>
            </a:extLst>
          </p:cNvPr>
          <p:cNvCxnSpPr>
            <a:cxnSpLocks/>
          </p:cNvCxnSpPr>
          <p:nvPr/>
        </p:nvCxnSpPr>
        <p:spPr>
          <a:xfrm>
            <a:off x="1177167" y="1046746"/>
            <a:ext cx="907919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標題 1">
            <a:extLst>
              <a:ext uri="{FF2B5EF4-FFF2-40B4-BE49-F238E27FC236}">
                <a16:creationId xmlns:a16="http://schemas.microsoft.com/office/drawing/2014/main" id="{DCCC873F-4809-49E4-9F7D-D36DEDC4E4DC}"/>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5-3 </a:t>
            </a:r>
            <a:r>
              <a:rPr lang="zh-TW" altLang="en-US" sz="2400" b="1" dirty="0">
                <a:solidFill>
                  <a:srgbClr val="E06741"/>
                </a:solidFill>
              </a:rPr>
              <a:t>區塊鏈之非金融服務應用</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4FD11169-F6BE-42D9-9250-CB1CD422C69B}"/>
              </a:ext>
            </a:extLst>
          </p:cNvPr>
          <p:cNvSpPr txBox="1"/>
          <p:nvPr/>
        </p:nvSpPr>
        <p:spPr>
          <a:xfrm>
            <a:off x="5704819" y="449166"/>
            <a:ext cx="3845925"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區塊鏈之非金融服務應用領域</a:t>
            </a:r>
          </a:p>
        </p:txBody>
      </p:sp>
      <p:pic>
        <p:nvPicPr>
          <p:cNvPr id="3" name="圖片 2">
            <a:extLst>
              <a:ext uri="{FF2B5EF4-FFF2-40B4-BE49-F238E27FC236}">
                <a16:creationId xmlns:a16="http://schemas.microsoft.com/office/drawing/2014/main" id="{093A447A-F8F7-467C-BB5C-2B6793E3D0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64328" y="193058"/>
            <a:ext cx="1707376" cy="1707376"/>
          </a:xfrm>
          <a:prstGeom prst="rect">
            <a:avLst/>
          </a:prstGeom>
        </p:spPr>
      </p:pic>
      <p:pic>
        <p:nvPicPr>
          <p:cNvPr id="6" name="圖片 5" descr="一張含有 美工圖案 的圖片&#10;&#10;描述是以非常高的可信度產生">
            <a:extLst>
              <a:ext uri="{FF2B5EF4-FFF2-40B4-BE49-F238E27FC236}">
                <a16:creationId xmlns:a16="http://schemas.microsoft.com/office/drawing/2014/main" id="{4AA35964-99F7-4C49-A922-C0F9393E70EE}"/>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32775" y="1502202"/>
            <a:ext cx="2897172" cy="709950"/>
          </a:xfrm>
          <a:prstGeom prst="rect">
            <a:avLst/>
          </a:prstGeom>
        </p:spPr>
      </p:pic>
    </p:spTree>
    <p:extLst>
      <p:ext uri="{BB962C8B-B14F-4D97-AF65-F5344CB8AC3E}">
        <p14:creationId xmlns:p14="http://schemas.microsoft.com/office/powerpoint/2010/main" val="232554932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 calcmode="lin" valueType="num">
                                      <p:cBhvr additive="base">
                                        <p:cTn id="20"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animEffect transition="in" filter="barn(inVertical)">
                                      <p:cBhvr>
                                        <p:cTn id="25" dur="500"/>
                                        <p:tgtEl>
                                          <p:spTgt spid="28">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animEffect transition="in" filter="barn(inVertical)">
                                      <p:cBhvr>
                                        <p:cTn id="29" dur="500"/>
                                        <p:tgtEl>
                                          <p:spTgt spid="28">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8">
                                            <p:txEl>
                                              <p:pRg st="4" end="4"/>
                                            </p:txEl>
                                          </p:spTgt>
                                        </p:tgtEl>
                                        <p:attrNameLst>
                                          <p:attrName>style.visibility</p:attrName>
                                        </p:attrNameLst>
                                      </p:cBhvr>
                                      <p:to>
                                        <p:strVal val="visible"/>
                                      </p:to>
                                    </p:set>
                                    <p:animEffect transition="in" filter="barn(inVertical)">
                                      <p:cBhvr>
                                        <p:cTn id="33" dur="500"/>
                                        <p:tgtEl>
                                          <p:spTgt spid="28">
                                            <p:txEl>
                                              <p:pRg st="4" end="4"/>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28">
                                            <p:txEl>
                                              <p:pRg st="5" end="5"/>
                                            </p:txEl>
                                          </p:spTgt>
                                        </p:tgtEl>
                                        <p:attrNameLst>
                                          <p:attrName>style.visibility</p:attrName>
                                        </p:attrNameLst>
                                      </p:cBhvr>
                                      <p:to>
                                        <p:strVal val="visible"/>
                                      </p:to>
                                    </p:set>
                                    <p:animEffect transition="in" filter="barn(inVertical)">
                                      <p:cBhvr>
                                        <p:cTn id="37" dur="500"/>
                                        <p:tgtEl>
                                          <p:spTgt spid="28">
                                            <p:txEl>
                                              <p:pRg st="5" end="5"/>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28">
                                            <p:txEl>
                                              <p:pRg st="6" end="6"/>
                                            </p:txEl>
                                          </p:spTgt>
                                        </p:tgtEl>
                                        <p:attrNameLst>
                                          <p:attrName>style.visibility</p:attrName>
                                        </p:attrNameLst>
                                      </p:cBhvr>
                                      <p:to>
                                        <p:strVal val="visible"/>
                                      </p:to>
                                    </p:set>
                                    <p:animEffect transition="in" filter="barn(inVertical)">
                                      <p:cBhvr>
                                        <p:cTn id="41" dur="500"/>
                                        <p:tgtEl>
                                          <p:spTgt spid="28">
                                            <p:txEl>
                                              <p:pRg st="6" end="6"/>
                                            </p:txEl>
                                          </p:spTgt>
                                        </p:tgtEl>
                                      </p:cBhvr>
                                    </p:animEffect>
                                  </p:childTnLst>
                                </p:cTn>
                              </p:par>
                            </p:childTnLst>
                          </p:cTn>
                        </p:par>
                        <p:par>
                          <p:cTn id="42" fill="hold">
                            <p:stCondLst>
                              <p:cond delay="6000"/>
                            </p:stCondLst>
                            <p:childTnLst>
                              <p:par>
                                <p:cTn id="43" presetID="53" presetClass="entr" presetSubtype="16" fill="hold" nodeType="afterEffect">
                                  <p:stCondLst>
                                    <p:cond delay="0"/>
                                  </p:stCondLst>
                                  <p:childTnLst>
                                    <p:set>
                                      <p:cBhvr>
                                        <p:cTn id="44" dur="1" fill="hold">
                                          <p:stCondLst>
                                            <p:cond delay="0"/>
                                          </p:stCondLst>
                                        </p:cTn>
                                        <p:tgtEl>
                                          <p:spTgt spid="6"/>
                                        </p:tgtEl>
                                        <p:attrNameLst>
                                          <p:attrName>style.visibility</p:attrName>
                                        </p:attrNameLst>
                                      </p:cBhvr>
                                      <p:to>
                                        <p:strVal val="visible"/>
                                      </p:to>
                                    </p:set>
                                    <p:anim calcmode="lin" valueType="num">
                                      <p:cBhvr>
                                        <p:cTn id="45" dur="500" fill="hold"/>
                                        <p:tgtEl>
                                          <p:spTgt spid="6"/>
                                        </p:tgtEl>
                                        <p:attrNameLst>
                                          <p:attrName>ppt_w</p:attrName>
                                        </p:attrNameLst>
                                      </p:cBhvr>
                                      <p:tavLst>
                                        <p:tav tm="0">
                                          <p:val>
                                            <p:fltVal val="0"/>
                                          </p:val>
                                        </p:tav>
                                        <p:tav tm="100000">
                                          <p:val>
                                            <p:strVal val="#ppt_w"/>
                                          </p:val>
                                        </p:tav>
                                      </p:tavLst>
                                    </p:anim>
                                    <p:anim calcmode="lin" valueType="num">
                                      <p:cBhvr>
                                        <p:cTn id="46" dur="500" fill="hold"/>
                                        <p:tgtEl>
                                          <p:spTgt spid="6"/>
                                        </p:tgtEl>
                                        <p:attrNameLst>
                                          <p:attrName>ppt_h</p:attrName>
                                        </p:attrNameLst>
                                      </p:cBhvr>
                                      <p:tavLst>
                                        <p:tav tm="0">
                                          <p:val>
                                            <p:fltVal val="0"/>
                                          </p:val>
                                        </p:tav>
                                        <p:tav tm="100000">
                                          <p:val>
                                            <p:strVal val="#ppt_h"/>
                                          </p:val>
                                        </p:tav>
                                      </p:tavLst>
                                    </p:anim>
                                    <p:animEffect transition="in" filter="fade">
                                      <p:cBhvr>
                                        <p:cTn id="47" dur="500"/>
                                        <p:tgtEl>
                                          <p:spTgt spid="6"/>
                                        </p:tgtEl>
                                      </p:cBhvr>
                                    </p:animEffect>
                                  </p:childTnLst>
                                </p:cTn>
                              </p:par>
                            </p:childTnLst>
                          </p:cTn>
                        </p:par>
                        <p:par>
                          <p:cTn id="48" fill="hold">
                            <p:stCondLst>
                              <p:cond delay="6500"/>
                            </p:stCondLst>
                            <p:childTnLst>
                              <p:par>
                                <p:cTn id="49" presetID="2" presetClass="entr" presetSubtype="8" fill="hold" nodeType="after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additive="base">
                                        <p:cTn id="51" dur="500" fill="hold"/>
                                        <p:tgtEl>
                                          <p:spTgt spid="3"/>
                                        </p:tgtEl>
                                        <p:attrNameLst>
                                          <p:attrName>ppt_x</p:attrName>
                                        </p:attrNameLst>
                                      </p:cBhvr>
                                      <p:tavLst>
                                        <p:tav tm="0">
                                          <p:val>
                                            <p:strVal val="0-#ppt_w/2"/>
                                          </p:val>
                                        </p:tav>
                                        <p:tav tm="100000">
                                          <p:val>
                                            <p:strVal val="#ppt_x"/>
                                          </p:val>
                                        </p:tav>
                                      </p:tavLst>
                                    </p:anim>
                                    <p:anim calcmode="lin" valueType="num">
                                      <p:cBhvr additive="base">
                                        <p:cTn id="5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319130" y="1163956"/>
            <a:ext cx="9932291" cy="5013295"/>
          </a:xfrm>
          <a:prstGeom prst="rect">
            <a:avLst/>
          </a:prstGeom>
          <a:noFill/>
        </p:spPr>
        <p:txBody>
          <a:bodyPr wrap="square" rtlCol="0">
            <a:spAutoFit/>
          </a:bodyPr>
          <a:lstStyle/>
          <a:p>
            <a:pPr>
              <a:lnSpc>
                <a:spcPct val="150000"/>
              </a:lnSpc>
            </a:pPr>
            <a:r>
              <a:rPr lang="en-US" altLang="zh-TW" sz="2400" b="1" dirty="0">
                <a:solidFill>
                  <a:srgbClr val="3DA18E"/>
                </a:solidFill>
                <a:latin typeface="微軟正黑體" panose="020B0604030504040204" pitchFamily="34" charset="-120"/>
                <a:ea typeface="微軟正黑體" panose="020B0604030504040204" pitchFamily="34" charset="-120"/>
              </a:rPr>
              <a:t>ICO </a:t>
            </a:r>
            <a:r>
              <a:rPr lang="zh-TW" altLang="en-US" sz="2400" b="1" dirty="0">
                <a:solidFill>
                  <a:srgbClr val="3DA18E"/>
                </a:solidFill>
                <a:latin typeface="微軟正黑體" panose="020B0604030504040204" pitchFamily="34" charset="-120"/>
                <a:ea typeface="微軟正黑體" panose="020B0604030504040204" pitchFamily="34" charset="-120"/>
              </a:rPr>
              <a:t>（</a:t>
            </a:r>
            <a:r>
              <a:rPr lang="en-US" altLang="zh-TW" sz="2400" b="1" dirty="0">
                <a:solidFill>
                  <a:srgbClr val="3DA18E"/>
                </a:solidFill>
                <a:latin typeface="微軟正黑體" panose="020B0604030504040204" pitchFamily="34" charset="-120"/>
                <a:ea typeface="微軟正黑體" panose="020B0604030504040204" pitchFamily="34" charset="-120"/>
              </a:rPr>
              <a:t>Initial Coin Offering</a:t>
            </a:r>
            <a:r>
              <a:rPr lang="zh-TW" altLang="en-US" sz="2400" b="1" dirty="0">
                <a:solidFill>
                  <a:srgbClr val="3DA18E"/>
                </a:solidFill>
                <a:latin typeface="微軟正黑體" panose="020B0604030504040204" pitchFamily="34" charset="-120"/>
                <a:ea typeface="微軟正黑體" panose="020B0604030504040204" pitchFamily="34" charset="-120"/>
              </a:rPr>
              <a:t>）</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300" b="1" dirty="0">
                <a:solidFill>
                  <a:srgbClr val="54667E"/>
                </a:solidFill>
                <a:latin typeface="微軟正黑體" panose="020B0604030504040204" pitchFamily="34" charset="-120"/>
                <a:ea typeface="微軟正黑體" panose="020B0604030504040204" pitchFamily="34" charset="-120"/>
              </a:rPr>
              <a:t>數字貨幣首次公開募資</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，又稱首次代幣發售，或稱區塊鏈眾籌</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概念源自</a:t>
            </a:r>
            <a:r>
              <a:rPr lang="en-US" altLang="zh-TW" sz="2300" b="1" dirty="0">
                <a:solidFill>
                  <a:srgbClr val="54667E"/>
                </a:solidFill>
                <a:latin typeface="微軟正黑體" panose="020B0604030504040204" pitchFamily="34" charset="-120"/>
                <a:ea typeface="微軟正黑體" panose="020B0604030504040204" pitchFamily="34" charset="-120"/>
              </a:rPr>
              <a:t>IPO</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透過區塊鏈系統發行</a:t>
            </a:r>
            <a:r>
              <a:rPr lang="zh-TW" altLang="en-US" sz="2300" b="1" dirty="0">
                <a:solidFill>
                  <a:srgbClr val="54667E"/>
                </a:solidFill>
                <a:latin typeface="微軟正黑體" panose="020B0604030504040204" pitchFamily="34" charset="-120"/>
                <a:ea typeface="微軟正黑體" panose="020B0604030504040204" pitchFamily="34" charset="-120"/>
              </a:rPr>
              <a:t>加密數字貨幣</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300" b="1" dirty="0">
                <a:solidFill>
                  <a:srgbClr val="54667E"/>
                </a:solidFill>
                <a:latin typeface="微軟正黑體" panose="020B0604030504040204" pitchFamily="34" charset="-120"/>
                <a:ea typeface="微軟正黑體" panose="020B0604030504040204" pitchFamily="34" charset="-120"/>
              </a:rPr>
              <a:t>募集</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或</a:t>
            </a:r>
            <a:r>
              <a:rPr lang="zh-TW" altLang="en-US" sz="2300" b="1" dirty="0">
                <a:solidFill>
                  <a:srgbClr val="54667E"/>
                </a:solidFill>
                <a:latin typeface="微軟正黑體" panose="020B0604030504040204" pitchFamily="34" charset="-120"/>
                <a:ea typeface="微軟正黑體" panose="020B0604030504040204" pitchFamily="34" charset="-120"/>
              </a:rPr>
              <a:t>籌措資金</a:t>
            </a:r>
            <a:endParaRPr lang="en-US" altLang="zh-TW" sz="2300" b="1" dirty="0">
              <a:solidFill>
                <a:srgbClr val="54667E"/>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初期投資者在投入資金後，即可獲得數字貨幣，具有市場價值，可兌換成法定貨幣</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區塊鏈提供記帳服務和價值共識，實現全球發行和流通</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常見的區塊鏈系統包含以太坊（</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ETH</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BTS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比特股等</a:t>
            </a:r>
          </a:p>
          <a:p>
            <a:pPr marL="342900" indent="-342900">
              <a:lnSpc>
                <a:spcPct val="150000"/>
              </a:lnSpc>
              <a:buBlip>
                <a:blip r:embed="rId4"/>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應用區塊鏈把</a:t>
            </a:r>
            <a:r>
              <a:rPr lang="zh-TW" altLang="en-US" sz="2300" b="1" dirty="0">
                <a:solidFill>
                  <a:srgbClr val="54667E"/>
                </a:solidFill>
                <a:latin typeface="微軟正黑體" panose="020B0604030504040204" pitchFamily="34" charset="-120"/>
                <a:ea typeface="微軟正黑體" panose="020B0604030504040204" pitchFamily="34" charset="-120"/>
              </a:rPr>
              <a:t>使用權</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和</a:t>
            </a:r>
            <a:r>
              <a:rPr lang="zh-TW" altLang="en-US" sz="2300" b="1" dirty="0">
                <a:solidFill>
                  <a:srgbClr val="54667E"/>
                </a:solidFill>
                <a:latin typeface="微軟正黑體" panose="020B0604030504040204" pitchFamily="34" charset="-120"/>
                <a:ea typeface="微軟正黑體" panose="020B0604030504040204" pitchFamily="34" charset="-120"/>
              </a:rPr>
              <a:t>加密貨幣</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合二為一的融資行為</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5-4 </a:t>
            </a:r>
            <a:r>
              <a:rPr lang="zh-TW" altLang="en-US" sz="2400" b="1" dirty="0">
                <a:solidFill>
                  <a:srgbClr val="E06741"/>
                </a:solidFill>
              </a:rPr>
              <a:t>區塊鏈應用─ </a:t>
            </a:r>
            <a:r>
              <a:rPr lang="en-US" altLang="zh-TW" sz="2400" b="1" dirty="0">
                <a:solidFill>
                  <a:srgbClr val="E06741"/>
                </a:solidFill>
              </a:rPr>
              <a:t>ICO </a:t>
            </a:r>
            <a:r>
              <a:rPr lang="zh-TW" altLang="en-US" sz="2400" b="1" dirty="0">
                <a:solidFill>
                  <a:srgbClr val="E06741"/>
                </a:solidFill>
              </a:rPr>
              <a:t>案例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4" name="文字方塊 53">
            <a:extLst>
              <a:ext uri="{FF2B5EF4-FFF2-40B4-BE49-F238E27FC236}">
                <a16:creationId xmlns:a16="http://schemas.microsoft.com/office/drawing/2014/main" id="{999910B4-9816-4E61-AD7E-58181DB8235A}"/>
              </a:ext>
            </a:extLst>
          </p:cNvPr>
          <p:cNvSpPr txBox="1"/>
          <p:nvPr/>
        </p:nvSpPr>
        <p:spPr>
          <a:xfrm>
            <a:off x="5704819" y="449166"/>
            <a:ext cx="1545167"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何謂 </a:t>
            </a:r>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ICO</a:t>
            </a:r>
            <a:endPar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4" name="圖片 3">
            <a:extLst>
              <a:ext uri="{FF2B5EF4-FFF2-40B4-BE49-F238E27FC236}">
                <a16:creationId xmlns:a16="http://schemas.microsoft.com/office/drawing/2014/main" id="{8CA6B485-DF83-422E-A0F2-477B021031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57121" y="4544238"/>
            <a:ext cx="1750222" cy="1750222"/>
          </a:xfrm>
          <a:prstGeom prst="rect">
            <a:avLst/>
          </a:prstGeom>
        </p:spPr>
      </p:pic>
    </p:spTree>
    <p:extLst>
      <p:ext uri="{BB962C8B-B14F-4D97-AF65-F5344CB8AC3E}">
        <p14:creationId xmlns:p14="http://schemas.microsoft.com/office/powerpoint/2010/main" val="1389557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barn(inVertical)">
                                      <p:cBhvr>
                                        <p:cTn id="11" dur="500"/>
                                        <p:tgtEl>
                                          <p:spTgt spid="5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 calcmode="lin" valueType="num">
                                      <p:cBhvr additive="base">
                                        <p:cTn id="20"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barn(inVertical)">
                                      <p:cBhvr>
                                        <p:cTn id="25" dur="500"/>
                                        <p:tgtEl>
                                          <p:spTgt spid="3">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barn(inVertical)">
                                      <p:cBhvr>
                                        <p:cTn id="29" dur="500"/>
                                        <p:tgtEl>
                                          <p:spTgt spid="3">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barn(inVertical)">
                                      <p:cBhvr>
                                        <p:cTn id="33" dur="500"/>
                                        <p:tgtEl>
                                          <p:spTgt spid="3">
                                            <p:txEl>
                                              <p:pRg st="4" end="4"/>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arn(inVertical)">
                                      <p:cBhvr>
                                        <p:cTn id="37" dur="500"/>
                                        <p:tgtEl>
                                          <p:spTgt spid="3">
                                            <p:txEl>
                                              <p:pRg st="5" end="5"/>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barn(inVertical)">
                                      <p:cBhvr>
                                        <p:cTn id="41" dur="500"/>
                                        <p:tgtEl>
                                          <p:spTgt spid="3">
                                            <p:txEl>
                                              <p:pRg st="6" end="6"/>
                                            </p:txEl>
                                          </p:spTgt>
                                        </p:tgtEl>
                                      </p:cBhvr>
                                    </p:animEffect>
                                  </p:childTnLst>
                                </p:cTn>
                              </p:par>
                            </p:childTnLst>
                          </p:cTn>
                        </p:par>
                        <p:par>
                          <p:cTn id="42" fill="hold">
                            <p:stCondLst>
                              <p:cond delay="6000"/>
                            </p:stCondLst>
                            <p:childTnLst>
                              <p:par>
                                <p:cTn id="43" presetID="16" presetClass="entr" presetSubtype="21" fill="hold" nodeType="after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barn(inVertical)">
                                      <p:cBhvr>
                                        <p:cTn id="45" dur="500"/>
                                        <p:tgtEl>
                                          <p:spTgt spid="3">
                                            <p:txEl>
                                              <p:pRg st="7" end="7"/>
                                            </p:txEl>
                                          </p:spTgt>
                                        </p:tgtEl>
                                      </p:cBhvr>
                                    </p:animEffect>
                                  </p:childTnLst>
                                </p:cTn>
                              </p:par>
                            </p:childTnLst>
                          </p:cTn>
                        </p:par>
                        <p:par>
                          <p:cTn id="46" fill="hold">
                            <p:stCondLst>
                              <p:cond delay="6500"/>
                            </p:stCondLst>
                            <p:childTnLst>
                              <p:par>
                                <p:cTn id="47" presetID="16" presetClass="entr" presetSubtype="21" fill="hold" nodeType="after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barn(inVertical)">
                                      <p:cBhvr>
                                        <p:cTn id="49" dur="500"/>
                                        <p:tgtEl>
                                          <p:spTgt spid="3">
                                            <p:txEl>
                                              <p:pRg st="8" end="8"/>
                                            </p:txEl>
                                          </p:spTgt>
                                        </p:tgtEl>
                                      </p:cBhvr>
                                    </p:animEffect>
                                  </p:childTnLst>
                                </p:cTn>
                              </p:par>
                            </p:childTnLst>
                          </p:cTn>
                        </p:par>
                        <p:par>
                          <p:cTn id="50" fill="hold">
                            <p:stCondLst>
                              <p:cond delay="7000"/>
                            </p:stCondLst>
                            <p:childTnLst>
                              <p:par>
                                <p:cTn id="51" presetID="53" presetClass="entr" presetSubtype="16" fill="hold" nodeType="afterEffect">
                                  <p:stCondLst>
                                    <p:cond delay="0"/>
                                  </p:stCondLst>
                                  <p:childTnLst>
                                    <p:set>
                                      <p:cBhvr>
                                        <p:cTn id="52" dur="1" fill="hold">
                                          <p:stCondLst>
                                            <p:cond delay="0"/>
                                          </p:stCondLst>
                                        </p:cTn>
                                        <p:tgtEl>
                                          <p:spTgt spid="4"/>
                                        </p:tgtEl>
                                        <p:attrNameLst>
                                          <p:attrName>style.visibility</p:attrName>
                                        </p:attrNameLst>
                                      </p:cBhvr>
                                      <p:to>
                                        <p:strVal val="visible"/>
                                      </p:to>
                                    </p:set>
                                    <p:anim calcmode="lin" valueType="num">
                                      <p:cBhvr>
                                        <p:cTn id="53" dur="500" fill="hold"/>
                                        <p:tgtEl>
                                          <p:spTgt spid="4"/>
                                        </p:tgtEl>
                                        <p:attrNameLst>
                                          <p:attrName>ppt_w</p:attrName>
                                        </p:attrNameLst>
                                      </p:cBhvr>
                                      <p:tavLst>
                                        <p:tav tm="0">
                                          <p:val>
                                            <p:fltVal val="0"/>
                                          </p:val>
                                        </p:tav>
                                        <p:tav tm="100000">
                                          <p:val>
                                            <p:strVal val="#ppt_w"/>
                                          </p:val>
                                        </p:tav>
                                      </p:tavLst>
                                    </p:anim>
                                    <p:anim calcmode="lin" valueType="num">
                                      <p:cBhvr>
                                        <p:cTn id="54" dur="500" fill="hold"/>
                                        <p:tgtEl>
                                          <p:spTgt spid="4"/>
                                        </p:tgtEl>
                                        <p:attrNameLst>
                                          <p:attrName>ppt_h</p:attrName>
                                        </p:attrNameLst>
                                      </p:cBhvr>
                                      <p:tavLst>
                                        <p:tav tm="0">
                                          <p:val>
                                            <p:fltVal val="0"/>
                                          </p:val>
                                        </p:tav>
                                        <p:tav tm="100000">
                                          <p:val>
                                            <p:strVal val="#ppt_h"/>
                                          </p:val>
                                        </p:tav>
                                      </p:tavLst>
                                    </p:anim>
                                    <p:animEffect transition="in" filter="fade">
                                      <p:cBhvr>
                                        <p:cTn id="5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363797" y="1385427"/>
            <a:ext cx="9929513" cy="4641142"/>
          </a:xfrm>
          <a:prstGeom prst="rect">
            <a:avLst/>
          </a:prstGeom>
          <a:noFill/>
        </p:spPr>
        <p:txBody>
          <a:bodyPr wrap="square" rtlCol="0">
            <a:spAutoFit/>
          </a:bodyPr>
          <a:lstStyle/>
          <a:p>
            <a:pPr>
              <a:lnSpc>
                <a:spcPct val="150000"/>
              </a:lnSpc>
            </a:pPr>
            <a:r>
              <a:rPr lang="en-US" altLang="zh-TW" sz="2400" b="1" dirty="0">
                <a:solidFill>
                  <a:srgbClr val="3DA18E"/>
                </a:solidFill>
                <a:latin typeface="微軟正黑體" panose="020B0604030504040204" pitchFamily="34" charset="-120"/>
                <a:ea typeface="微軟正黑體" panose="020B0604030504040204" pitchFamily="34" charset="-120"/>
              </a:rPr>
              <a:t>ICO </a:t>
            </a:r>
            <a:r>
              <a:rPr lang="zh-TW" altLang="en-US" sz="2400" b="1" dirty="0">
                <a:solidFill>
                  <a:srgbClr val="3DA18E"/>
                </a:solidFill>
                <a:latin typeface="微軟正黑體" panose="020B0604030504040204" pitchFamily="34" charset="-120"/>
                <a:ea typeface="微軟正黑體" panose="020B0604030504040204" pitchFamily="34" charset="-120"/>
              </a:rPr>
              <a:t>（</a:t>
            </a:r>
            <a:r>
              <a:rPr lang="en-US" altLang="zh-TW" sz="2400" b="1" dirty="0">
                <a:solidFill>
                  <a:srgbClr val="3DA18E"/>
                </a:solidFill>
                <a:latin typeface="微軟正黑體" panose="020B0604030504040204" pitchFamily="34" charset="-120"/>
                <a:ea typeface="微軟正黑體" panose="020B0604030504040204" pitchFamily="34" charset="-120"/>
              </a:rPr>
              <a:t>Initial Coin Offering</a:t>
            </a:r>
            <a:r>
              <a:rPr lang="zh-TW" altLang="en-US" sz="2400" b="1" dirty="0">
                <a:solidFill>
                  <a:srgbClr val="3DA18E"/>
                </a:solidFill>
                <a:latin typeface="微軟正黑體" panose="020B0604030504040204" pitchFamily="34" charset="-120"/>
                <a:ea typeface="微軟正黑體" panose="020B0604030504040204" pitchFamily="34" charset="-120"/>
              </a:rPr>
              <a:t>）</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在區塊鏈上發售</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ICO</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是屬於社區的行為，無需監管機構審批</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目的為建立一個無需法制、高效便捷、輕所有權、重使用權的共識、共享的社區</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rgbClr val="54667E"/>
                </a:solidFill>
                <a:latin typeface="微軟正黑體" panose="020B0604030504040204" pitchFamily="34" charset="-120"/>
                <a:ea typeface="微軟正黑體" panose="020B0604030504040204" pitchFamily="34" charset="-120"/>
              </a:rPr>
              <a:t>乙太幣</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的發行是一項最典型的</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ICO</a:t>
            </a:r>
          </a:p>
          <a:p>
            <a:pPr marL="342900" indent="-342900">
              <a:lnSpc>
                <a:spcPct val="150000"/>
              </a:lnSpc>
              <a:buBlip>
                <a:blip r:embed="rId4"/>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ICO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基於自身網路的使用權作為代幣價值的支撐，及使用者看好網路未來的發展潛力，因此其代幣也會供不應求，價值因此升值等條件下發行代幣，達到籌募資金的目的。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5-4 </a:t>
            </a:r>
            <a:r>
              <a:rPr lang="zh-TW" altLang="en-US" sz="2400" b="1" dirty="0">
                <a:solidFill>
                  <a:srgbClr val="E06741"/>
                </a:solidFill>
              </a:rPr>
              <a:t>區塊鏈應用─ </a:t>
            </a:r>
            <a:r>
              <a:rPr lang="en-US" altLang="zh-TW" sz="2400" b="1" dirty="0">
                <a:solidFill>
                  <a:srgbClr val="E06741"/>
                </a:solidFill>
              </a:rPr>
              <a:t>ICO </a:t>
            </a:r>
            <a:r>
              <a:rPr lang="zh-TW" altLang="en-US" sz="2400" b="1" dirty="0">
                <a:solidFill>
                  <a:srgbClr val="E06741"/>
                </a:solidFill>
              </a:rPr>
              <a:t>案例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4" name="文字方塊 53">
            <a:extLst>
              <a:ext uri="{FF2B5EF4-FFF2-40B4-BE49-F238E27FC236}">
                <a16:creationId xmlns:a16="http://schemas.microsoft.com/office/drawing/2014/main" id="{999910B4-9816-4E61-AD7E-58181DB8235A}"/>
              </a:ext>
            </a:extLst>
          </p:cNvPr>
          <p:cNvSpPr txBox="1"/>
          <p:nvPr/>
        </p:nvSpPr>
        <p:spPr>
          <a:xfrm>
            <a:off x="5704819" y="449166"/>
            <a:ext cx="1545167"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何謂 </a:t>
            </a:r>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ICO</a:t>
            </a:r>
            <a:endPar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83317687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barn(inVertical)">
                                      <p:cBhvr>
                                        <p:cTn id="11" dur="500"/>
                                        <p:tgtEl>
                                          <p:spTgt spid="5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 calcmode="lin" valueType="num">
                                      <p:cBhvr additive="base">
                                        <p:cTn id="20"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barn(inVertical)">
                                      <p:cBhvr>
                                        <p:cTn id="25" dur="500"/>
                                        <p:tgtEl>
                                          <p:spTgt spid="3">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barn(inVertical)">
                                      <p:cBhvr>
                                        <p:cTn id="29" dur="500"/>
                                        <p:tgtEl>
                                          <p:spTgt spid="3">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barn(inVertical)">
                                      <p:cBhvr>
                                        <p:cTn id="33" dur="500"/>
                                        <p:tgtEl>
                                          <p:spTgt spid="3">
                                            <p:txEl>
                                              <p:pRg st="4" end="4"/>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arn(inVertical)">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014410" y="1465885"/>
            <a:ext cx="5735182" cy="4459298"/>
          </a:xfrm>
          <a:prstGeom prst="rect">
            <a:avLst/>
          </a:prstGeom>
          <a:noFill/>
        </p:spPr>
        <p:txBody>
          <a:bodyPr wrap="square" rtlCol="0">
            <a:spAutoFit/>
          </a:bodyPr>
          <a:lstStyle/>
          <a:p>
            <a:pPr marL="342900" indent="-342900">
              <a:lnSpc>
                <a:spcPct val="150000"/>
              </a:lnSpc>
              <a:buBlip>
                <a:blip r:embed="rId4"/>
              </a:buBlip>
            </a:pP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ICO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是由發行虛擬貨幣，為區塊鏈企業募資的平台，概念類似</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IPO</a:t>
            </a:r>
          </a:p>
          <a:p>
            <a:pPr marL="342900" indent="-342900">
              <a:lnSpc>
                <a:spcPct val="150000"/>
              </a:lnSpc>
              <a:buBlip>
                <a:blip r:embed="rId4"/>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ICO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與</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IPO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的不同</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en-US" altLang="zh-TW" sz="2300" b="1" dirty="0">
                <a:solidFill>
                  <a:srgbClr val="54667E"/>
                </a:solidFill>
                <a:latin typeface="微軟正黑體" panose="020B0604030504040204" pitchFamily="34" charset="-120"/>
                <a:ea typeface="微軟正黑體" panose="020B0604030504040204" pitchFamily="34" charset="-120"/>
              </a:rPr>
              <a:t>IPO</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以營利為目的，且需監管機構審批，才能公開發行股票或證券</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en-US" altLang="zh-TW" sz="2300" b="1" dirty="0">
                <a:solidFill>
                  <a:srgbClr val="54667E"/>
                </a:solidFill>
                <a:latin typeface="微軟正黑體" panose="020B0604030504040204" pitchFamily="34" charset="-120"/>
                <a:ea typeface="微軟正黑體" panose="020B0604030504040204" pitchFamily="34" charset="-120"/>
              </a:rPr>
              <a:t>ICO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是附帶融資手段的創新商業模式，</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不會受到第三方中間主管機構的管轄或</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監控，即可透過區塊鏈平台募集資金</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5-4 </a:t>
            </a:r>
            <a:r>
              <a:rPr lang="zh-TW" altLang="en-US" sz="2400" b="1" dirty="0">
                <a:solidFill>
                  <a:srgbClr val="E06741"/>
                </a:solidFill>
              </a:rPr>
              <a:t>區塊鏈應用─ </a:t>
            </a:r>
            <a:r>
              <a:rPr lang="en-US" altLang="zh-TW" sz="2400" b="1" dirty="0">
                <a:solidFill>
                  <a:srgbClr val="E06741"/>
                </a:solidFill>
              </a:rPr>
              <a:t>ICO </a:t>
            </a:r>
            <a:r>
              <a:rPr lang="zh-TW" altLang="en-US" sz="2400" b="1" dirty="0">
                <a:solidFill>
                  <a:srgbClr val="E06741"/>
                </a:solidFill>
              </a:rPr>
              <a:t>案例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4" name="文字方塊 53">
            <a:extLst>
              <a:ext uri="{FF2B5EF4-FFF2-40B4-BE49-F238E27FC236}">
                <a16:creationId xmlns:a16="http://schemas.microsoft.com/office/drawing/2014/main" id="{999910B4-9816-4E61-AD7E-58181DB8235A}"/>
              </a:ext>
            </a:extLst>
          </p:cNvPr>
          <p:cNvSpPr txBox="1"/>
          <p:nvPr/>
        </p:nvSpPr>
        <p:spPr>
          <a:xfrm>
            <a:off x="5704819" y="449166"/>
            <a:ext cx="2122248"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ICO</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構成要素</a:t>
            </a:r>
          </a:p>
        </p:txBody>
      </p:sp>
      <p:graphicFrame>
        <p:nvGraphicFramePr>
          <p:cNvPr id="10" name="資料庫圖表 9">
            <a:extLst>
              <a:ext uri="{FF2B5EF4-FFF2-40B4-BE49-F238E27FC236}">
                <a16:creationId xmlns:a16="http://schemas.microsoft.com/office/drawing/2014/main" id="{03DE8114-868E-404A-B3A5-D84E3BA95F79}"/>
              </a:ext>
            </a:extLst>
          </p:cNvPr>
          <p:cNvGraphicFramePr/>
          <p:nvPr>
            <p:extLst>
              <p:ext uri="{D42A27DB-BD31-4B8C-83A1-F6EECF244321}">
                <p14:modId xmlns:p14="http://schemas.microsoft.com/office/powerpoint/2010/main" val="3734460245"/>
              </p:ext>
            </p:extLst>
          </p:nvPr>
        </p:nvGraphicFramePr>
        <p:xfrm>
          <a:off x="6255408" y="1351956"/>
          <a:ext cx="5836874" cy="440986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1" name="文字方塊 10">
            <a:extLst>
              <a:ext uri="{FF2B5EF4-FFF2-40B4-BE49-F238E27FC236}">
                <a16:creationId xmlns:a16="http://schemas.microsoft.com/office/drawing/2014/main" id="{CA34C669-5B84-4F25-AE0E-788E98D32D42}"/>
              </a:ext>
            </a:extLst>
          </p:cNvPr>
          <p:cNvSpPr txBox="1"/>
          <p:nvPr/>
        </p:nvSpPr>
        <p:spPr>
          <a:xfrm>
            <a:off x="7796215" y="5998187"/>
            <a:ext cx="2095382" cy="369332"/>
          </a:xfrm>
          <a:prstGeom prst="rect">
            <a:avLst/>
          </a:prstGeom>
          <a:noFill/>
        </p:spPr>
        <p:txBody>
          <a:bodyPr wrap="none" rtlCol="0">
            <a:spAutoFit/>
          </a:bodyPr>
          <a:lstStyle/>
          <a:p>
            <a:pPr marL="285750" indent="-285750">
              <a:buFont typeface="微軟正黑體" panose="020B0604030504040204" pitchFamily="34" charset="-120"/>
              <a:buChar char="▲"/>
            </a:pPr>
            <a:r>
              <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rPr>
              <a:t>ICO </a:t>
            </a: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之構成要素</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30563359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barn(inVertical)">
                                      <p:cBhvr>
                                        <p:cTn id="11" dur="500"/>
                                        <p:tgtEl>
                                          <p:spTgt spid="5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barn(inVertical)">
                                      <p:cBhvr>
                                        <p:cTn id="20" dur="500"/>
                                        <p:tgtEl>
                                          <p:spTgt spid="3">
                                            <p:txEl>
                                              <p:pRg st="0" end="0"/>
                                            </p:txEl>
                                          </p:spTgt>
                                        </p:tgtEl>
                                      </p:cBhvr>
                                    </p:animEffect>
                                  </p:childTnLst>
                                </p:cTn>
                              </p:par>
                            </p:childTnLst>
                          </p:cTn>
                        </p:par>
                        <p:par>
                          <p:cTn id="21" fill="hold">
                            <p:stCondLst>
                              <p:cond delay="3500"/>
                            </p:stCondLst>
                            <p:childTnLst>
                              <p:par>
                                <p:cTn id="22" presetID="16" presetClass="entr" presetSubtype="21" fill="hold" nodeType="after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barn(inVertical)">
                                      <p:cBhvr>
                                        <p:cTn id="24" dur="500"/>
                                        <p:tgtEl>
                                          <p:spTgt spid="3">
                                            <p:txEl>
                                              <p:pRg st="2" end="2"/>
                                            </p:txEl>
                                          </p:spTgt>
                                        </p:tgtEl>
                                      </p:cBhvr>
                                    </p:animEffect>
                                  </p:childTnLst>
                                </p:cTn>
                              </p:par>
                            </p:childTnLst>
                          </p:cTn>
                        </p:par>
                        <p:par>
                          <p:cTn id="25" fill="hold">
                            <p:stCondLst>
                              <p:cond delay="4000"/>
                            </p:stCondLst>
                            <p:childTnLst>
                              <p:par>
                                <p:cTn id="26" presetID="16" presetClass="entr" presetSubtype="21" fill="hold" nodeType="after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barn(inVertical)">
                                      <p:cBhvr>
                                        <p:cTn id="28" dur="500"/>
                                        <p:tgtEl>
                                          <p:spTgt spid="3">
                                            <p:txEl>
                                              <p:pRg st="3" end="3"/>
                                            </p:txEl>
                                          </p:spTgt>
                                        </p:tgtEl>
                                      </p:cBhvr>
                                    </p:animEffect>
                                  </p:childTnLst>
                                </p:cTn>
                              </p:par>
                            </p:childTnLst>
                          </p:cTn>
                        </p:par>
                        <p:par>
                          <p:cTn id="29" fill="hold">
                            <p:stCondLst>
                              <p:cond delay="4500"/>
                            </p:stCondLst>
                            <p:childTnLst>
                              <p:par>
                                <p:cTn id="30" presetID="16" presetClass="entr" presetSubtype="21" fill="hold" nodeType="after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arn(inVertical)">
                                      <p:cBhvr>
                                        <p:cTn id="32" dur="500"/>
                                        <p:tgtEl>
                                          <p:spTgt spid="3">
                                            <p:txEl>
                                              <p:pRg st="4" end="4"/>
                                            </p:txEl>
                                          </p:spTgt>
                                        </p:tgtEl>
                                      </p:cBhvr>
                                    </p:animEffect>
                                  </p:childTnLst>
                                </p:cTn>
                              </p:par>
                            </p:childTnLst>
                          </p:cTn>
                        </p:par>
                        <p:par>
                          <p:cTn id="33" fill="hold">
                            <p:stCondLst>
                              <p:cond delay="5000"/>
                            </p:stCondLst>
                            <p:childTnLst>
                              <p:par>
                                <p:cTn id="34" presetID="16" presetClass="entr" presetSubtype="21" fill="hold" nodeType="after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arn(inVertical)">
                                      <p:cBhvr>
                                        <p:cTn id="36" dur="500"/>
                                        <p:tgtEl>
                                          <p:spTgt spid="3">
                                            <p:txEl>
                                              <p:pRg st="5" end="5"/>
                                            </p:txEl>
                                          </p:spTgt>
                                        </p:tgtEl>
                                      </p:cBhvr>
                                    </p:animEffect>
                                  </p:childTnLst>
                                </p:cTn>
                              </p:par>
                            </p:childTnLst>
                          </p:cTn>
                        </p:par>
                        <p:par>
                          <p:cTn id="37" fill="hold">
                            <p:stCondLst>
                              <p:cond delay="5500"/>
                            </p:stCondLst>
                            <p:childTnLst>
                              <p:par>
                                <p:cTn id="38" presetID="16" presetClass="entr" presetSubtype="21" fill="hold" nodeType="after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barn(inVertical)">
                                      <p:cBhvr>
                                        <p:cTn id="40" dur="500"/>
                                        <p:tgtEl>
                                          <p:spTgt spid="3">
                                            <p:txEl>
                                              <p:pRg st="6" end="6"/>
                                            </p:txEl>
                                          </p:spTgt>
                                        </p:tgtEl>
                                      </p:cBhvr>
                                    </p:animEffect>
                                  </p:childTnLst>
                                </p:cTn>
                              </p:par>
                            </p:childTnLst>
                          </p:cTn>
                        </p:par>
                        <p:par>
                          <p:cTn id="41" fill="hold">
                            <p:stCondLst>
                              <p:cond delay="6000"/>
                            </p:stCondLst>
                            <p:childTnLst>
                              <p:par>
                                <p:cTn id="42" presetID="53" presetClass="entr" presetSubtype="16" fill="hold" grpId="0" nodeType="after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animEffect transition="in" filter="fade">
                                      <p:cBhvr>
                                        <p:cTn id="46" dur="500"/>
                                        <p:tgtEl>
                                          <p:spTgt spid="10"/>
                                        </p:tgtEl>
                                      </p:cBhvr>
                                    </p:animEffect>
                                  </p:childTnLst>
                                </p:cTn>
                              </p:par>
                              <p:par>
                                <p:cTn id="47" presetID="2" presetClass="entr" presetSubtype="4"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4" grpId="0"/>
      <p:bldGraphic spid="10" grpId="0">
        <p:bldAsOne/>
      </p:bldGraphic>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524617" y="393124"/>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5-4 </a:t>
            </a:r>
            <a:r>
              <a:rPr lang="zh-TW" altLang="en-US" sz="2400" b="1" dirty="0">
                <a:solidFill>
                  <a:srgbClr val="E06741"/>
                </a:solidFill>
              </a:rPr>
              <a:t>區塊鏈應用─ </a:t>
            </a:r>
            <a:r>
              <a:rPr lang="en-US" altLang="zh-TW" sz="2400" b="1" dirty="0">
                <a:solidFill>
                  <a:srgbClr val="E06741"/>
                </a:solidFill>
              </a:rPr>
              <a:t>ICO </a:t>
            </a:r>
            <a:r>
              <a:rPr lang="zh-TW" altLang="en-US" sz="2400" b="1" dirty="0">
                <a:solidFill>
                  <a:srgbClr val="E06741"/>
                </a:solidFill>
              </a:rPr>
              <a:t>案例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4" name="文字方塊 53">
            <a:extLst>
              <a:ext uri="{FF2B5EF4-FFF2-40B4-BE49-F238E27FC236}">
                <a16:creationId xmlns:a16="http://schemas.microsoft.com/office/drawing/2014/main" id="{999910B4-9816-4E61-AD7E-58181DB8235A}"/>
              </a:ext>
            </a:extLst>
          </p:cNvPr>
          <p:cNvSpPr txBox="1"/>
          <p:nvPr/>
        </p:nvSpPr>
        <p:spPr>
          <a:xfrm>
            <a:off x="5704819" y="449166"/>
            <a:ext cx="2122248"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ICO</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構成要素</a:t>
            </a:r>
          </a:p>
        </p:txBody>
      </p:sp>
      <p:sp>
        <p:nvSpPr>
          <p:cNvPr id="12" name="圆角矩形 56">
            <a:extLst>
              <a:ext uri="{FF2B5EF4-FFF2-40B4-BE49-F238E27FC236}">
                <a16:creationId xmlns:a16="http://schemas.microsoft.com/office/drawing/2014/main" id="{C18BEFAA-5958-468A-A7CF-99300610681D}"/>
              </a:ext>
            </a:extLst>
          </p:cNvPr>
          <p:cNvSpPr/>
          <p:nvPr/>
        </p:nvSpPr>
        <p:spPr>
          <a:xfrm>
            <a:off x="5231677" y="1268415"/>
            <a:ext cx="2115760" cy="565168"/>
          </a:xfrm>
          <a:prstGeom prst="roundRect">
            <a:avLst/>
          </a:prstGeom>
          <a:noFill/>
          <a:ln w="190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建立權益憑證</a:t>
            </a:r>
            <a:endParaRPr lang="zh-CN"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3" name="圆角矩形 62">
            <a:extLst>
              <a:ext uri="{FF2B5EF4-FFF2-40B4-BE49-F238E27FC236}">
                <a16:creationId xmlns:a16="http://schemas.microsoft.com/office/drawing/2014/main" id="{BC567F13-A915-459A-AE14-92C7BE7A5ED8}"/>
              </a:ext>
            </a:extLst>
          </p:cNvPr>
          <p:cNvSpPr/>
          <p:nvPr/>
        </p:nvSpPr>
        <p:spPr>
          <a:xfrm>
            <a:off x="1644390" y="1261608"/>
            <a:ext cx="2115758" cy="565168"/>
          </a:xfrm>
          <a:prstGeom prst="roundRect">
            <a:avLst/>
          </a:prstGeom>
          <a:no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設計數字貨幣</a:t>
            </a:r>
            <a:endParaRPr lang="zh-CN"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4" name="文本框 8">
            <a:extLst>
              <a:ext uri="{FF2B5EF4-FFF2-40B4-BE49-F238E27FC236}">
                <a16:creationId xmlns:a16="http://schemas.microsoft.com/office/drawing/2014/main" id="{0A04378F-E986-401A-87AB-167C26DE3A3E}"/>
              </a:ext>
            </a:extLst>
          </p:cNvPr>
          <p:cNvSpPr txBox="1"/>
          <p:nvPr/>
        </p:nvSpPr>
        <p:spPr>
          <a:xfrm>
            <a:off x="1164221" y="2053859"/>
            <a:ext cx="2959755" cy="35721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30000"/>
              </a:lnSpc>
              <a:buBlip>
                <a:blip r:embed="rId4">
                  <a:extLst/>
                </a:blip>
              </a:buBlip>
            </a:pP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ICO </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多數以</a:t>
            </a:r>
            <a:r>
              <a:rPr lang="zh-TW" altLang="en-US" sz="2000" b="1" dirty="0">
                <a:solidFill>
                  <a:srgbClr val="54667E"/>
                </a:solidFill>
                <a:latin typeface="微軟正黑體" panose="020B0604030504040204" pitchFamily="34" charset="-120"/>
                <a:ea typeface="微軟正黑體" panose="020B0604030504040204" pitchFamily="34" charset="-120"/>
              </a:rPr>
              <a:t>服務</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為軸進行集資</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extLst/>
                </a:blip>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extLst/>
                </a:blip>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導入密碼學演算法、智慧合約等技術，預防被盜用或篡改</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extLst/>
                </a:blip>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extLst/>
                </a:blip>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專屬於該區塊鏈流通，換取等值的服務，藉此籌募集資</a:t>
            </a:r>
            <a:endParaRPr lang="zh-CN"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5" name="文本框 8">
            <a:extLst>
              <a:ext uri="{FF2B5EF4-FFF2-40B4-BE49-F238E27FC236}">
                <a16:creationId xmlns:a16="http://schemas.microsoft.com/office/drawing/2014/main" id="{0BC7F22B-15AF-4E83-BFD2-4EF01CC1013B}"/>
              </a:ext>
            </a:extLst>
          </p:cNvPr>
          <p:cNvSpPr txBox="1"/>
          <p:nvPr/>
        </p:nvSpPr>
        <p:spPr>
          <a:xfrm>
            <a:off x="4683333" y="2093493"/>
            <a:ext cx="3037220" cy="38121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30000"/>
              </a:lnSpc>
              <a:buBlip>
                <a:blip r:embed="rId4"/>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在區塊鏈建立數字貨幣的</a:t>
            </a:r>
            <a:r>
              <a:rPr lang="zh-TW" altLang="en-US" sz="2000" b="1" dirty="0">
                <a:solidFill>
                  <a:srgbClr val="54667E"/>
                </a:solidFill>
                <a:latin typeface="微軟正黑體" panose="020B0604030504040204" pitchFamily="34" charset="-120"/>
                <a:ea typeface="微軟正黑體" panose="020B0604030504040204" pitchFamily="34" charset="-120"/>
              </a:rPr>
              <a:t>共識</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機制</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數字貨幣可以經由其他加密數字貨幣（如比特幣、乙太幣等）兌換，再藉由數字貨幣在區塊鏈平台內進行消費或換取服務，進而建立數字貨幣的</a:t>
            </a:r>
            <a:r>
              <a:rPr lang="zh-TW" altLang="en-US" sz="2000" b="1" dirty="0">
                <a:solidFill>
                  <a:srgbClr val="54667E"/>
                </a:solidFill>
                <a:latin typeface="微軟正黑體" panose="020B0604030504040204" pitchFamily="34" charset="-120"/>
                <a:ea typeface="微軟正黑體" panose="020B0604030504040204" pitchFamily="34" charset="-120"/>
              </a:rPr>
              <a:t>權益憑證</a:t>
            </a:r>
            <a:endParaRPr lang="zh-CN" altLang="en-US" sz="2000" b="1" dirty="0">
              <a:solidFill>
                <a:srgbClr val="54667E"/>
              </a:solidFill>
              <a:latin typeface="微軟正黑體" panose="020B0604030504040204" pitchFamily="34" charset="-120"/>
              <a:ea typeface="微軟正黑體" panose="020B0604030504040204" pitchFamily="34" charset="-120"/>
            </a:endParaRPr>
          </a:p>
        </p:txBody>
      </p:sp>
      <p:sp>
        <p:nvSpPr>
          <p:cNvPr id="16" name="文本框 8">
            <a:extLst>
              <a:ext uri="{FF2B5EF4-FFF2-40B4-BE49-F238E27FC236}">
                <a16:creationId xmlns:a16="http://schemas.microsoft.com/office/drawing/2014/main" id="{ECC7A150-F39F-4BDF-969F-4B8CB38EF37E}"/>
              </a:ext>
            </a:extLst>
          </p:cNvPr>
          <p:cNvSpPr txBox="1"/>
          <p:nvPr/>
        </p:nvSpPr>
        <p:spPr>
          <a:xfrm>
            <a:off x="8693519" y="2053859"/>
            <a:ext cx="3001629" cy="35721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30000"/>
              </a:lnSpc>
              <a:buBlip>
                <a:blip r:embed="rId4"/>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一般</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ICO </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區塊鏈平台僅是</a:t>
            </a:r>
            <a:r>
              <a:rPr lang="zh-TW" altLang="en-US" sz="2000" b="1" dirty="0">
                <a:solidFill>
                  <a:srgbClr val="54667E"/>
                </a:solidFill>
                <a:latin typeface="微軟正黑體" panose="020B0604030504040204" pitchFamily="34" charset="-120"/>
                <a:ea typeface="微軟正黑體" panose="020B0604030504040204" pitchFamily="34" charset="-120"/>
              </a:rPr>
              <a:t>公有鏈</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的概念</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針對特定對象或事務募資時，需</a:t>
            </a:r>
            <a:r>
              <a:rPr lang="zh-TW" altLang="en-US" sz="2000" b="1" dirty="0">
                <a:solidFill>
                  <a:srgbClr val="54667E"/>
                </a:solidFill>
                <a:latin typeface="微軟正黑體" panose="020B0604030504040204" pitchFamily="34" charset="-120"/>
                <a:ea typeface="微軟正黑體" panose="020B0604030504040204" pitchFamily="34" charset="-120"/>
              </a:rPr>
              <a:t>架構專屬交易平台</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，即</a:t>
            </a:r>
            <a:r>
              <a:rPr lang="zh-TW" altLang="en-US" sz="2000" b="1" dirty="0">
                <a:solidFill>
                  <a:srgbClr val="54667E"/>
                </a:solidFill>
                <a:latin typeface="微軟正黑體" panose="020B0604030504040204" pitchFamily="34" charset="-120"/>
                <a:ea typeface="微軟正黑體" panose="020B0604030504040204" pitchFamily="34" charset="-120"/>
              </a:rPr>
              <a:t>私有鏈</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設計</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30000"/>
              </a:lnSpc>
              <a:buBlip>
                <a:blip r:embed="rId4"/>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據以滿足不同需求，擴充區塊鏈的功能</a:t>
            </a:r>
            <a:endParaRPr lang="zh-CN"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7" name="圆角矩形 62">
            <a:extLst>
              <a:ext uri="{FF2B5EF4-FFF2-40B4-BE49-F238E27FC236}">
                <a16:creationId xmlns:a16="http://schemas.microsoft.com/office/drawing/2014/main" id="{7AF1113B-BE4D-4FFD-8286-3F821B6658D9}"/>
              </a:ext>
            </a:extLst>
          </p:cNvPr>
          <p:cNvSpPr/>
          <p:nvPr/>
        </p:nvSpPr>
        <p:spPr>
          <a:xfrm>
            <a:off x="9000672" y="1267719"/>
            <a:ext cx="2115758" cy="565168"/>
          </a:xfrm>
          <a:prstGeom prst="roundRect">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架構交易平台</a:t>
            </a:r>
            <a:endParaRPr lang="zh-CN"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9" name="直線接點 18">
            <a:extLst>
              <a:ext uri="{FF2B5EF4-FFF2-40B4-BE49-F238E27FC236}">
                <a16:creationId xmlns:a16="http://schemas.microsoft.com/office/drawing/2014/main" id="{6BAFBEDC-D8DD-4682-8CE3-BC356FC6DCE1}"/>
              </a:ext>
            </a:extLst>
          </p:cNvPr>
          <p:cNvCxnSpPr>
            <a:cxnSpLocks/>
          </p:cNvCxnSpPr>
          <p:nvPr/>
        </p:nvCxnSpPr>
        <p:spPr>
          <a:xfrm>
            <a:off x="4356276" y="1037017"/>
            <a:ext cx="0" cy="5231808"/>
          </a:xfrm>
          <a:prstGeom prst="line">
            <a:avLst/>
          </a:prstGeom>
          <a:ln w="9525"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直線接點 22">
            <a:extLst>
              <a:ext uri="{FF2B5EF4-FFF2-40B4-BE49-F238E27FC236}">
                <a16:creationId xmlns:a16="http://schemas.microsoft.com/office/drawing/2014/main" id="{A8C6DAF8-E098-42C4-B21E-69F30BBDE7E5}"/>
              </a:ext>
            </a:extLst>
          </p:cNvPr>
          <p:cNvCxnSpPr>
            <a:cxnSpLocks/>
          </p:cNvCxnSpPr>
          <p:nvPr/>
        </p:nvCxnSpPr>
        <p:spPr>
          <a:xfrm>
            <a:off x="8222837" y="1046746"/>
            <a:ext cx="0" cy="5231808"/>
          </a:xfrm>
          <a:prstGeom prst="line">
            <a:avLst/>
          </a:prstGeom>
          <a:ln w="9525"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84474678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54">
                                            <p:txEl>
                                              <p:pRg st="0" end="0"/>
                                            </p:txEl>
                                          </p:spTgt>
                                        </p:tgtEl>
                                        <p:attrNameLst>
                                          <p:attrName>style.visibility</p:attrName>
                                        </p:attrNameLst>
                                      </p:cBhvr>
                                      <p:to>
                                        <p:strVal val="visible"/>
                                      </p:to>
                                    </p:set>
                                    <p:animEffect transition="in" filter="barn(inVertical)">
                                      <p:cBhvr>
                                        <p:cTn id="11" dur="500"/>
                                        <p:tgtEl>
                                          <p:spTgt spid="54">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ppt_x"/>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arn(inVertical)">
                                      <p:cBhvr>
                                        <p:cTn id="25" dur="500"/>
                                        <p:tgtEl>
                                          <p:spTgt spid="14"/>
                                        </p:tgtEl>
                                      </p:cBhvr>
                                    </p:animEffect>
                                  </p:childTnLst>
                                </p:cTn>
                              </p:par>
                            </p:childTnLst>
                          </p:cTn>
                        </p:par>
                        <p:par>
                          <p:cTn id="26" fill="hold">
                            <p:stCondLst>
                              <p:cond delay="4000"/>
                            </p:stCondLst>
                            <p:childTnLst>
                              <p:par>
                                <p:cTn id="27" presetID="2" presetClass="entr" presetSubtype="1" fill="hold" nodeType="after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0-#ppt_h/2"/>
                                          </p:val>
                                        </p:tav>
                                        <p:tav tm="100000">
                                          <p:val>
                                            <p:strVal val="#ppt_y"/>
                                          </p:val>
                                        </p:tav>
                                      </p:tavLst>
                                    </p:anim>
                                  </p:childTnLst>
                                </p:cTn>
                              </p:par>
                            </p:childTnLst>
                          </p:cTn>
                        </p:par>
                        <p:par>
                          <p:cTn id="31" fill="hold">
                            <p:stCondLst>
                              <p:cond delay="4500"/>
                            </p:stCondLst>
                            <p:childTnLst>
                              <p:par>
                                <p:cTn id="32" presetID="2" presetClass="entr" presetSubtype="4"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ppt_x</p:attrName>
                                        </p:attrNameLst>
                                      </p:cBhvr>
                                      <p:tavLst>
                                        <p:tav tm="0">
                                          <p:val>
                                            <p:strVal val="#ppt_x"/>
                                          </p:val>
                                        </p:tav>
                                        <p:tav tm="100000">
                                          <p:val>
                                            <p:strVal val="#ppt_x"/>
                                          </p:val>
                                        </p:tav>
                                      </p:tavLst>
                                    </p:anim>
                                    <p:anim calcmode="lin" valueType="num">
                                      <p:cBhvr additive="base">
                                        <p:cTn id="35" dur="500" fill="hold"/>
                                        <p:tgtEl>
                                          <p:spTgt spid="12"/>
                                        </p:tgtEl>
                                        <p:attrNameLst>
                                          <p:attrName>ppt_y</p:attrName>
                                        </p:attrNameLst>
                                      </p:cBhvr>
                                      <p:tavLst>
                                        <p:tav tm="0">
                                          <p:val>
                                            <p:strVal val="1+#ppt_h/2"/>
                                          </p:val>
                                        </p:tav>
                                        <p:tav tm="100000">
                                          <p:val>
                                            <p:strVal val="#ppt_y"/>
                                          </p:val>
                                        </p:tav>
                                      </p:tavLst>
                                    </p:anim>
                                  </p:childTnLst>
                                </p:cTn>
                              </p:par>
                            </p:childTnLst>
                          </p:cTn>
                        </p:par>
                        <p:par>
                          <p:cTn id="36" fill="hold">
                            <p:stCondLst>
                              <p:cond delay="5000"/>
                            </p:stCondLst>
                            <p:childTnLst>
                              <p:par>
                                <p:cTn id="37" presetID="16" presetClass="entr" presetSubtype="21"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barn(inVertical)">
                                      <p:cBhvr>
                                        <p:cTn id="39" dur="500"/>
                                        <p:tgtEl>
                                          <p:spTgt spid="15"/>
                                        </p:tgtEl>
                                      </p:cBhvr>
                                    </p:animEffect>
                                  </p:childTnLst>
                                </p:cTn>
                              </p:par>
                            </p:childTnLst>
                          </p:cTn>
                        </p:par>
                        <p:par>
                          <p:cTn id="40" fill="hold">
                            <p:stCondLst>
                              <p:cond delay="5500"/>
                            </p:stCondLst>
                            <p:childTnLst>
                              <p:par>
                                <p:cTn id="41" presetID="2" presetClass="entr" presetSubtype="1" fill="hold" nodeType="after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ppt_x"/>
                                          </p:val>
                                        </p:tav>
                                        <p:tav tm="100000">
                                          <p:val>
                                            <p:strVal val="#ppt_x"/>
                                          </p:val>
                                        </p:tav>
                                      </p:tavLst>
                                    </p:anim>
                                    <p:anim calcmode="lin" valueType="num">
                                      <p:cBhvr additive="base">
                                        <p:cTn id="44" dur="500" fill="hold"/>
                                        <p:tgtEl>
                                          <p:spTgt spid="23"/>
                                        </p:tgtEl>
                                        <p:attrNameLst>
                                          <p:attrName>ppt_y</p:attrName>
                                        </p:attrNameLst>
                                      </p:cBhvr>
                                      <p:tavLst>
                                        <p:tav tm="0">
                                          <p:val>
                                            <p:strVal val="0-#ppt_h/2"/>
                                          </p:val>
                                        </p:tav>
                                        <p:tav tm="100000">
                                          <p:val>
                                            <p:strVal val="#ppt_y"/>
                                          </p:val>
                                        </p:tav>
                                      </p:tavLst>
                                    </p:anim>
                                  </p:childTnLst>
                                </p:cTn>
                              </p:par>
                            </p:childTnLst>
                          </p:cTn>
                        </p:par>
                        <p:par>
                          <p:cTn id="45" fill="hold">
                            <p:stCondLst>
                              <p:cond delay="6000"/>
                            </p:stCondLst>
                            <p:childTnLst>
                              <p:par>
                                <p:cTn id="46" presetID="2" presetClass="entr" presetSubtype="4" fill="hold" grpId="0" nodeType="after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ppt_x"/>
                                          </p:val>
                                        </p:tav>
                                        <p:tav tm="100000">
                                          <p:val>
                                            <p:strVal val="#ppt_x"/>
                                          </p:val>
                                        </p:tav>
                                      </p:tavLst>
                                    </p:anim>
                                    <p:anim calcmode="lin" valueType="num">
                                      <p:cBhvr additive="base">
                                        <p:cTn id="49" dur="500" fill="hold"/>
                                        <p:tgtEl>
                                          <p:spTgt spid="17"/>
                                        </p:tgtEl>
                                        <p:attrNameLst>
                                          <p:attrName>ppt_y</p:attrName>
                                        </p:attrNameLst>
                                      </p:cBhvr>
                                      <p:tavLst>
                                        <p:tav tm="0">
                                          <p:val>
                                            <p:strVal val="1+#ppt_h/2"/>
                                          </p:val>
                                        </p:tav>
                                        <p:tav tm="100000">
                                          <p:val>
                                            <p:strVal val="#ppt_y"/>
                                          </p:val>
                                        </p:tav>
                                      </p:tavLst>
                                    </p:anim>
                                  </p:childTnLst>
                                </p:cTn>
                              </p:par>
                            </p:childTnLst>
                          </p:cTn>
                        </p:par>
                        <p:par>
                          <p:cTn id="50" fill="hold">
                            <p:stCondLst>
                              <p:cond delay="6500"/>
                            </p:stCondLst>
                            <p:childTnLst>
                              <p:par>
                                <p:cTn id="51" presetID="16" presetClass="entr" presetSubtype="21" fill="hold" grpId="0" nodeType="after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barn(inVertical)">
                                      <p:cBhvr>
                                        <p:cTn id="5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12" grpId="0" animBg="1"/>
      <p:bldP spid="13" grpId="0" animBg="1"/>
      <p:bldP spid="14" grpId="0"/>
      <p:bldP spid="15" grpId="0"/>
      <p:bldP spid="16" grpId="0"/>
      <p:bldP spid="1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558751" y="1122161"/>
            <a:ext cx="9434808" cy="5154616"/>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一、</a:t>
            </a:r>
            <a:r>
              <a:rPr lang="en-US" altLang="zh-TW" sz="2400" b="1" dirty="0">
                <a:solidFill>
                  <a:srgbClr val="3DA18E"/>
                </a:solidFill>
                <a:latin typeface="微軟正黑體" panose="020B0604030504040204" pitchFamily="34" charset="-120"/>
                <a:ea typeface="微軟正黑體" panose="020B0604030504040204" pitchFamily="34" charset="-120"/>
              </a:rPr>
              <a:t>NEO</a:t>
            </a:r>
          </a:p>
          <a:p>
            <a:pPr marL="342900"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小蟻區塊鏈（</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ANS/NEO</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）藉由區塊鏈技術</a:t>
            </a:r>
            <a:r>
              <a:rPr lang="zh-TW" altLang="en-US" sz="2200" b="1" dirty="0">
                <a:solidFill>
                  <a:srgbClr val="54667E"/>
                </a:solidFill>
                <a:latin typeface="微軟正黑體" panose="020B0604030504040204" pitchFamily="34" charset="-120"/>
                <a:ea typeface="微軟正黑體" panose="020B0604030504040204" pitchFamily="34" charset="-120"/>
              </a:rPr>
              <a:t>協助管理個人資產</a:t>
            </a:r>
            <a:endParaRPr lang="en-US" altLang="zh-TW" sz="2200" b="1" dirty="0">
              <a:solidFill>
                <a:srgbClr val="54667E"/>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以</a:t>
            </a:r>
            <a:r>
              <a:rPr lang="zh-TW" altLang="en-US" sz="2200" b="1" dirty="0">
                <a:solidFill>
                  <a:srgbClr val="54667E"/>
                </a:solidFill>
                <a:latin typeface="微軟正黑體" panose="020B0604030504040204" pitchFamily="34" charset="-120"/>
                <a:ea typeface="微軟正黑體" panose="020B0604030504040204" pitchFamily="34" charset="-120"/>
              </a:rPr>
              <a:t>滿足金融交易需求</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及與</a:t>
            </a:r>
            <a:r>
              <a:rPr lang="zh-TW" altLang="en-US" sz="2200" b="1" dirty="0">
                <a:solidFill>
                  <a:srgbClr val="54667E"/>
                </a:solidFill>
                <a:latin typeface="微軟正黑體" panose="020B0604030504040204" pitchFamily="34" charset="-120"/>
                <a:ea typeface="微軟正黑體" panose="020B0604030504040204" pitchFamily="34" charset="-120"/>
              </a:rPr>
              <a:t>實體相連結</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為目標</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是一種公有鏈，也是大陸地區數字貨幣</a:t>
            </a:r>
            <a:r>
              <a:rPr lang="zh-TW" altLang="en-US" sz="2200" b="1" dirty="0">
                <a:solidFill>
                  <a:srgbClr val="54667E"/>
                </a:solidFill>
                <a:latin typeface="微軟正黑體" panose="020B0604030504040204" pitchFamily="34" charset="-120"/>
                <a:ea typeface="微軟正黑體" panose="020B0604030504040204" pitchFamily="34" charset="-120"/>
              </a:rPr>
              <a:t>市值最高</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的</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ICO</a:t>
            </a:r>
          </a:p>
          <a:p>
            <a:pPr marL="342900"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非營利的社區化區塊鏈</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利用區塊鏈和</a:t>
            </a:r>
            <a:r>
              <a:rPr lang="zh-TW" altLang="en-US" sz="2200" b="1" dirty="0">
                <a:solidFill>
                  <a:srgbClr val="54667E"/>
                </a:solidFill>
                <a:latin typeface="微軟正黑體" panose="020B0604030504040204" pitchFamily="34" charset="-120"/>
                <a:ea typeface="微軟正黑體" panose="020B0604030504040204" pitchFamily="34" charset="-120"/>
              </a:rPr>
              <a:t>資產數字化</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與智慧合約，將數字資產自動化管理</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用離散式帳本讓資產的移轉、交易更便利，進行創造經濟發展</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數字資產指以電子數據的形式編程控制資產，導入無集中式管理、 多數決機制、安全性等，結合身分數字化與實體資產相互驗證程序，建立合法的數字身分與資產，保障使用者個人財產安全</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5-4 </a:t>
            </a:r>
            <a:r>
              <a:rPr lang="zh-TW" altLang="en-US" sz="2400" b="1" dirty="0">
                <a:solidFill>
                  <a:srgbClr val="E06741"/>
                </a:solidFill>
              </a:rPr>
              <a:t>區塊鏈應用─ </a:t>
            </a:r>
            <a:r>
              <a:rPr lang="en-US" altLang="zh-TW" sz="2400" b="1" dirty="0">
                <a:solidFill>
                  <a:srgbClr val="E06741"/>
                </a:solidFill>
              </a:rPr>
              <a:t>ICO </a:t>
            </a:r>
            <a:r>
              <a:rPr lang="zh-TW" altLang="en-US" sz="2400" b="1" dirty="0">
                <a:solidFill>
                  <a:srgbClr val="E06741"/>
                </a:solidFill>
              </a:rPr>
              <a:t>案例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4" name="文字方塊 53">
            <a:extLst>
              <a:ext uri="{FF2B5EF4-FFF2-40B4-BE49-F238E27FC236}">
                <a16:creationId xmlns:a16="http://schemas.microsoft.com/office/drawing/2014/main" id="{999910B4-9816-4E61-AD7E-58181DB8235A}"/>
              </a:ext>
            </a:extLst>
          </p:cNvPr>
          <p:cNvSpPr txBox="1"/>
          <p:nvPr/>
        </p:nvSpPr>
        <p:spPr>
          <a:xfrm>
            <a:off x="5704819" y="449166"/>
            <a:ext cx="1545167"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 ICO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a:t>
            </a:r>
          </a:p>
        </p:txBody>
      </p:sp>
    </p:spTree>
    <p:extLst>
      <p:ext uri="{BB962C8B-B14F-4D97-AF65-F5344CB8AC3E}">
        <p14:creationId xmlns:p14="http://schemas.microsoft.com/office/powerpoint/2010/main" val="347376266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barn(inVertical)">
                                      <p:cBhvr>
                                        <p:cTn id="11" dur="500"/>
                                        <p:tgtEl>
                                          <p:spTgt spid="5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 calcmode="lin" valueType="num">
                                      <p:cBhvr additive="base">
                                        <p:cTn id="20"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barn(inVertical)">
                                      <p:cBhvr>
                                        <p:cTn id="25" dur="500"/>
                                        <p:tgtEl>
                                          <p:spTgt spid="3">
                                            <p:txEl>
                                              <p:pRg st="1" end="1"/>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barn(inVertical)">
                                      <p:cBhvr>
                                        <p:cTn id="29" dur="500"/>
                                        <p:tgtEl>
                                          <p:spTgt spid="3">
                                            <p:txEl>
                                              <p:pRg st="2" end="2"/>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barn(inVertical)">
                                      <p:cBhvr>
                                        <p:cTn id="33" dur="500"/>
                                        <p:tgtEl>
                                          <p:spTgt spid="3">
                                            <p:txEl>
                                              <p:pRg st="3" end="3"/>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barn(inVertical)">
                                      <p:cBhvr>
                                        <p:cTn id="37" dur="500"/>
                                        <p:tgtEl>
                                          <p:spTgt spid="3">
                                            <p:txEl>
                                              <p:pRg st="4" end="4"/>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barn(inVertical)">
                                      <p:cBhvr>
                                        <p:cTn id="41" dur="500"/>
                                        <p:tgtEl>
                                          <p:spTgt spid="3">
                                            <p:txEl>
                                              <p:pRg st="5" end="5"/>
                                            </p:txEl>
                                          </p:spTgt>
                                        </p:tgtEl>
                                      </p:cBhvr>
                                    </p:animEffect>
                                  </p:childTnLst>
                                </p:cTn>
                              </p:par>
                            </p:childTnLst>
                          </p:cTn>
                        </p:par>
                        <p:par>
                          <p:cTn id="42" fill="hold">
                            <p:stCondLst>
                              <p:cond delay="6000"/>
                            </p:stCondLst>
                            <p:childTnLst>
                              <p:par>
                                <p:cTn id="43" presetID="16" presetClass="entr" presetSubtype="21" fill="hold" nodeType="after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barn(inVertical)">
                                      <p:cBhvr>
                                        <p:cTn id="45" dur="500"/>
                                        <p:tgtEl>
                                          <p:spTgt spid="3">
                                            <p:txEl>
                                              <p:pRg st="6" end="6"/>
                                            </p:txEl>
                                          </p:spTgt>
                                        </p:tgtEl>
                                      </p:cBhvr>
                                    </p:animEffect>
                                  </p:childTnLst>
                                </p:cTn>
                              </p:par>
                            </p:childTnLst>
                          </p:cTn>
                        </p:par>
                        <p:par>
                          <p:cTn id="46" fill="hold">
                            <p:stCondLst>
                              <p:cond delay="6500"/>
                            </p:stCondLst>
                            <p:childTnLst>
                              <p:par>
                                <p:cTn id="47" presetID="16" presetClass="entr" presetSubtype="21" fill="hold" nodeType="after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barn(inVertical)">
                                      <p:cBhvr>
                                        <p:cTn id="4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518277" y="1096123"/>
            <a:ext cx="10001278" cy="1599797"/>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二、音樂幣（</a:t>
            </a:r>
            <a:r>
              <a:rPr lang="en-US" altLang="zh-TW" sz="2400" b="1" dirty="0" err="1">
                <a:solidFill>
                  <a:srgbClr val="3DA18E"/>
                </a:solidFill>
                <a:latin typeface="微軟正黑體" panose="020B0604030504040204" pitchFamily="34" charset="-120"/>
                <a:ea typeface="微軟正黑體" panose="020B0604030504040204" pitchFamily="34" charset="-120"/>
              </a:rPr>
              <a:t>Musicoin</a:t>
            </a:r>
            <a:r>
              <a:rPr lang="zh-TW" altLang="en-US" sz="2400" b="1" dirty="0">
                <a:solidFill>
                  <a:srgbClr val="3DA18E"/>
                </a:solidFill>
                <a:latin typeface="微軟正黑體" panose="020B0604030504040204" pitchFamily="34" charset="-120"/>
                <a:ea typeface="微軟正黑體" panose="020B0604030504040204" pitchFamily="34" charset="-120"/>
              </a:rPr>
              <a:t>）</a:t>
            </a:r>
          </a:p>
          <a:p>
            <a:pPr lvl="1">
              <a:lnSpc>
                <a:spcPct val="150000"/>
              </a:lnSpc>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以服務為導向進行收費的平台，按音樂的播放次數收費（</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Pay-Per-Play</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PPP</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），且以音樂為商品建立一間專屬於音樂幣消費的區塊鏈平台工廠</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5-4 </a:t>
            </a:r>
            <a:r>
              <a:rPr lang="zh-TW" altLang="en-US" sz="2400" b="1" dirty="0">
                <a:solidFill>
                  <a:srgbClr val="E06741"/>
                </a:solidFill>
              </a:rPr>
              <a:t>區塊鏈應用─ </a:t>
            </a:r>
            <a:r>
              <a:rPr lang="en-US" altLang="zh-TW" sz="2400" b="1" dirty="0">
                <a:solidFill>
                  <a:srgbClr val="E06741"/>
                </a:solidFill>
              </a:rPr>
              <a:t>ICO </a:t>
            </a:r>
            <a:r>
              <a:rPr lang="zh-TW" altLang="en-US" sz="2400" b="1" dirty="0">
                <a:solidFill>
                  <a:srgbClr val="E06741"/>
                </a:solidFill>
              </a:rPr>
              <a:t>案例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4" name="文字方塊 53">
            <a:extLst>
              <a:ext uri="{FF2B5EF4-FFF2-40B4-BE49-F238E27FC236}">
                <a16:creationId xmlns:a16="http://schemas.microsoft.com/office/drawing/2014/main" id="{999910B4-9816-4E61-AD7E-58181DB8235A}"/>
              </a:ext>
            </a:extLst>
          </p:cNvPr>
          <p:cNvSpPr txBox="1"/>
          <p:nvPr/>
        </p:nvSpPr>
        <p:spPr>
          <a:xfrm>
            <a:off x="5704819" y="449166"/>
            <a:ext cx="1545167"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 ICO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a:t>
            </a:r>
          </a:p>
        </p:txBody>
      </p:sp>
      <p:pic>
        <p:nvPicPr>
          <p:cNvPr id="2" name="圖片 1">
            <a:extLst>
              <a:ext uri="{FF2B5EF4-FFF2-40B4-BE49-F238E27FC236}">
                <a16:creationId xmlns:a16="http://schemas.microsoft.com/office/drawing/2014/main" id="{F1AFF91F-3F20-4E13-8209-54D10CC78F6A}"/>
              </a:ext>
            </a:extLst>
          </p:cNvPr>
          <p:cNvPicPr>
            <a:picLocks noChangeAspect="1"/>
          </p:cNvPicPr>
          <p:nvPr/>
        </p:nvPicPr>
        <p:blipFill>
          <a:blip r:embed="rId4">
            <a:clrChange>
              <a:clrFrom>
                <a:srgbClr val="FEFEFE"/>
              </a:clrFrom>
              <a:clrTo>
                <a:srgbClr val="FEFEFE">
                  <a:alpha val="0"/>
                </a:srgbClr>
              </a:clrTo>
            </a:clrChange>
          </a:blip>
          <a:stretch>
            <a:fillRect/>
          </a:stretch>
        </p:blipFill>
        <p:spPr>
          <a:xfrm>
            <a:off x="1926210" y="2875617"/>
            <a:ext cx="7849386" cy="3541076"/>
          </a:xfrm>
          <a:prstGeom prst="rect">
            <a:avLst/>
          </a:prstGeom>
        </p:spPr>
      </p:pic>
      <p:sp>
        <p:nvSpPr>
          <p:cNvPr id="10" name="文字方塊 9">
            <a:extLst>
              <a:ext uri="{FF2B5EF4-FFF2-40B4-BE49-F238E27FC236}">
                <a16:creationId xmlns:a16="http://schemas.microsoft.com/office/drawing/2014/main" id="{10EAB048-0003-44CB-9FAC-BE557F888FE9}"/>
              </a:ext>
            </a:extLst>
          </p:cNvPr>
          <p:cNvSpPr txBox="1"/>
          <p:nvPr/>
        </p:nvSpPr>
        <p:spPr>
          <a:xfrm>
            <a:off x="8296569" y="6232027"/>
            <a:ext cx="3704860" cy="369332"/>
          </a:xfrm>
          <a:prstGeom prst="rect">
            <a:avLst/>
          </a:prstGeom>
          <a:noFill/>
        </p:spPr>
        <p:txBody>
          <a:bodyPr wrap="none" rtlCol="0">
            <a:spAutoFit/>
          </a:bodyPr>
          <a:lstStyle/>
          <a:p>
            <a:pPr marL="285750" indent="-285750">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音樂點撥區塊鏈之聽眾消費模式</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18442199"/>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54">
                                            <p:txEl>
                                              <p:pRg st="0" end="0"/>
                                            </p:txEl>
                                          </p:spTgt>
                                        </p:tgtEl>
                                        <p:attrNameLst>
                                          <p:attrName>style.visibility</p:attrName>
                                        </p:attrNameLst>
                                      </p:cBhvr>
                                      <p:to>
                                        <p:strVal val="visible"/>
                                      </p:to>
                                    </p:set>
                                    <p:animEffect transition="in" filter="barn(inVertical)">
                                      <p:cBhvr>
                                        <p:cTn id="11" dur="500"/>
                                        <p:tgtEl>
                                          <p:spTgt spid="54">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 calcmode="lin" valueType="num">
                                      <p:cBhvr additive="base">
                                        <p:cTn id="20"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barn(inVertical)">
                                      <p:cBhvr>
                                        <p:cTn id="25" dur="500"/>
                                        <p:tgtEl>
                                          <p:spTgt spid="3">
                                            <p:txEl>
                                              <p:pRg st="1" end="1"/>
                                            </p:txEl>
                                          </p:spTgt>
                                        </p:tgtEl>
                                      </p:cBhvr>
                                    </p:animEffect>
                                  </p:childTnLst>
                                </p:cTn>
                              </p:par>
                            </p:childTnLst>
                          </p:cTn>
                        </p:par>
                        <p:par>
                          <p:cTn id="26" fill="hold">
                            <p:stCondLst>
                              <p:cond delay="4000"/>
                            </p:stCondLst>
                            <p:childTnLst>
                              <p:par>
                                <p:cTn id="27" presetID="53" presetClass="entr" presetSubtype="16"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p:cTn id="29" dur="500" fill="hold"/>
                                        <p:tgtEl>
                                          <p:spTgt spid="2"/>
                                        </p:tgtEl>
                                        <p:attrNameLst>
                                          <p:attrName>ppt_w</p:attrName>
                                        </p:attrNameLst>
                                      </p:cBhvr>
                                      <p:tavLst>
                                        <p:tav tm="0">
                                          <p:val>
                                            <p:fltVal val="0"/>
                                          </p:val>
                                        </p:tav>
                                        <p:tav tm="100000">
                                          <p:val>
                                            <p:strVal val="#ppt_w"/>
                                          </p:val>
                                        </p:tav>
                                      </p:tavLst>
                                    </p:anim>
                                    <p:anim calcmode="lin" valueType="num">
                                      <p:cBhvr>
                                        <p:cTn id="30" dur="500" fill="hold"/>
                                        <p:tgtEl>
                                          <p:spTgt spid="2"/>
                                        </p:tgtEl>
                                        <p:attrNameLst>
                                          <p:attrName>ppt_h</p:attrName>
                                        </p:attrNameLst>
                                      </p:cBhvr>
                                      <p:tavLst>
                                        <p:tav tm="0">
                                          <p:val>
                                            <p:fltVal val="0"/>
                                          </p:val>
                                        </p:tav>
                                        <p:tav tm="100000">
                                          <p:val>
                                            <p:strVal val="#ppt_h"/>
                                          </p:val>
                                        </p:tav>
                                      </p:tavLst>
                                    </p:anim>
                                    <p:animEffect transition="in" filter="fade">
                                      <p:cBhvr>
                                        <p:cTn id="31" dur="500"/>
                                        <p:tgtEl>
                                          <p:spTgt spid="2"/>
                                        </p:tgtEl>
                                      </p:cBhvr>
                                    </p:animEffect>
                                  </p:childTnLst>
                                </p:cTn>
                              </p:par>
                              <p:par>
                                <p:cTn id="32" presetID="2" presetClass="entr" presetSubtype="4"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440555" y="1089294"/>
            <a:ext cx="9777342" cy="1599797"/>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二、音樂幣</a:t>
            </a:r>
          </a:p>
          <a:p>
            <a:pPr lvl="1">
              <a:lnSpc>
                <a:spcPct val="150000"/>
              </a:lnSpc>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音樂人跳過唱片公司，直接和聽眾簽訂智慧合約，原創作者可以獲得較高的相對報酬，提高創作意願</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5-4 </a:t>
            </a:r>
            <a:r>
              <a:rPr lang="zh-TW" altLang="en-US" sz="2400" b="1" dirty="0">
                <a:solidFill>
                  <a:srgbClr val="E06741"/>
                </a:solidFill>
              </a:rPr>
              <a:t>區塊鏈應用─ </a:t>
            </a:r>
            <a:r>
              <a:rPr lang="en-US" altLang="zh-TW" sz="2400" b="1" dirty="0">
                <a:solidFill>
                  <a:srgbClr val="E06741"/>
                </a:solidFill>
              </a:rPr>
              <a:t>ICO </a:t>
            </a:r>
            <a:r>
              <a:rPr lang="zh-TW" altLang="en-US" sz="2400" b="1" dirty="0">
                <a:solidFill>
                  <a:srgbClr val="E06741"/>
                </a:solidFill>
              </a:rPr>
              <a:t>案例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4" name="文字方塊 53">
            <a:extLst>
              <a:ext uri="{FF2B5EF4-FFF2-40B4-BE49-F238E27FC236}">
                <a16:creationId xmlns:a16="http://schemas.microsoft.com/office/drawing/2014/main" id="{999910B4-9816-4E61-AD7E-58181DB8235A}"/>
              </a:ext>
            </a:extLst>
          </p:cNvPr>
          <p:cNvSpPr txBox="1"/>
          <p:nvPr/>
        </p:nvSpPr>
        <p:spPr>
          <a:xfrm>
            <a:off x="5704819" y="449166"/>
            <a:ext cx="1545167"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 ICO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a:t>
            </a:r>
          </a:p>
        </p:txBody>
      </p:sp>
      <p:grpSp>
        <p:nvGrpSpPr>
          <p:cNvPr id="10" name="群組 9">
            <a:extLst>
              <a:ext uri="{FF2B5EF4-FFF2-40B4-BE49-F238E27FC236}">
                <a16:creationId xmlns:a16="http://schemas.microsoft.com/office/drawing/2014/main" id="{CD9BD9F9-85FC-4DCE-B7B0-EA83ED02E125}"/>
              </a:ext>
            </a:extLst>
          </p:cNvPr>
          <p:cNvGrpSpPr/>
          <p:nvPr/>
        </p:nvGrpSpPr>
        <p:grpSpPr>
          <a:xfrm>
            <a:off x="2929789" y="2486846"/>
            <a:ext cx="7232306" cy="4077424"/>
            <a:chOff x="1204336" y="334570"/>
            <a:chExt cx="10796333" cy="6086747"/>
          </a:xfrm>
        </p:grpSpPr>
        <p:pic>
          <p:nvPicPr>
            <p:cNvPr id="11" name="圖片 10">
              <a:extLst>
                <a:ext uri="{FF2B5EF4-FFF2-40B4-BE49-F238E27FC236}">
                  <a16:creationId xmlns:a16="http://schemas.microsoft.com/office/drawing/2014/main" id="{81DA5D2A-6A9D-437C-B2D8-8BE5CAF0181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204336" y="1654899"/>
              <a:ext cx="1224136" cy="3098595"/>
            </a:xfrm>
            <a:prstGeom prst="rect">
              <a:avLst/>
            </a:prstGeom>
          </p:spPr>
        </p:pic>
        <p:cxnSp>
          <p:nvCxnSpPr>
            <p:cNvPr id="12" name="直線單箭頭接點 11">
              <a:extLst>
                <a:ext uri="{FF2B5EF4-FFF2-40B4-BE49-F238E27FC236}">
                  <a16:creationId xmlns:a16="http://schemas.microsoft.com/office/drawing/2014/main" id="{E2C9FECB-9D53-4A97-B5A5-AA35924EFE37}"/>
                </a:ext>
              </a:extLst>
            </p:cNvPr>
            <p:cNvCxnSpPr/>
            <p:nvPr/>
          </p:nvCxnSpPr>
          <p:spPr>
            <a:xfrm>
              <a:off x="2783632" y="3207350"/>
              <a:ext cx="1080120" cy="0"/>
            </a:xfrm>
            <a:prstGeom prst="straightConnector1">
              <a:avLst/>
            </a:prstGeom>
            <a:ln w="3810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A05DB2FA-8591-48EB-9286-213C53F70B17}"/>
                </a:ext>
              </a:extLst>
            </p:cNvPr>
            <p:cNvCxnSpPr/>
            <p:nvPr/>
          </p:nvCxnSpPr>
          <p:spPr>
            <a:xfrm flipV="1">
              <a:off x="6221589" y="1993627"/>
              <a:ext cx="1475343" cy="357889"/>
            </a:xfrm>
            <a:prstGeom prst="straightConnector1">
              <a:avLst/>
            </a:prstGeom>
            <a:ln w="3810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D44905AD-572F-425E-9BE0-7AD03DE643B4}"/>
                </a:ext>
              </a:extLst>
            </p:cNvPr>
            <p:cNvCxnSpPr/>
            <p:nvPr/>
          </p:nvCxnSpPr>
          <p:spPr>
            <a:xfrm flipV="1">
              <a:off x="6244966" y="3204196"/>
              <a:ext cx="1723242" cy="20641"/>
            </a:xfrm>
            <a:prstGeom prst="straightConnector1">
              <a:avLst/>
            </a:prstGeom>
            <a:ln w="3810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C2576AC2-63BB-4868-8FCE-FE5830573236}"/>
                </a:ext>
              </a:extLst>
            </p:cNvPr>
            <p:cNvCxnSpPr/>
            <p:nvPr/>
          </p:nvCxnSpPr>
          <p:spPr>
            <a:xfrm>
              <a:off x="6244966" y="3811850"/>
              <a:ext cx="1105272" cy="752092"/>
            </a:xfrm>
            <a:prstGeom prst="straightConnector1">
              <a:avLst/>
            </a:prstGeom>
            <a:ln w="3810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pic>
          <p:nvPicPr>
            <p:cNvPr id="16" name="圖片 15">
              <a:extLst>
                <a:ext uri="{FF2B5EF4-FFF2-40B4-BE49-F238E27FC236}">
                  <a16:creationId xmlns:a16="http://schemas.microsoft.com/office/drawing/2014/main" id="{1B7B14F0-F89D-4210-8246-7293D0F9A377}"/>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976925" y="2545799"/>
              <a:ext cx="477579" cy="477579"/>
            </a:xfrm>
            <a:prstGeom prst="rect">
              <a:avLst/>
            </a:prstGeom>
          </p:spPr>
        </p:pic>
        <p:sp>
          <p:nvSpPr>
            <p:cNvPr id="17" name="文字方塊 16">
              <a:extLst>
                <a:ext uri="{FF2B5EF4-FFF2-40B4-BE49-F238E27FC236}">
                  <a16:creationId xmlns:a16="http://schemas.microsoft.com/office/drawing/2014/main" id="{6E92D088-B6AA-4BBC-BC85-B0BF840AA117}"/>
                </a:ext>
              </a:extLst>
            </p:cNvPr>
            <p:cNvSpPr txBox="1"/>
            <p:nvPr/>
          </p:nvSpPr>
          <p:spPr>
            <a:xfrm>
              <a:off x="9768422" y="5261795"/>
              <a:ext cx="1548229" cy="413502"/>
            </a:xfrm>
            <a:prstGeom prst="rect">
              <a:avLst/>
            </a:prstGeom>
            <a:noFill/>
          </p:spPr>
          <p:txBody>
            <a:bodyPr wrap="square" rtlCol="0">
              <a:spAutoFit/>
            </a:bodyPr>
            <a:lstStyle/>
            <a:p>
              <a:r>
                <a:rPr lang="en-US" altLang="zh-TW" sz="1200" b="1" dirty="0">
                  <a:latin typeface="微軟正黑體" panose="020B0604030504040204" pitchFamily="34" charset="-120"/>
                  <a:ea typeface="微軟正黑體" panose="020B0604030504040204" pitchFamily="34" charset="-120"/>
                </a:rPr>
                <a:t>drummer</a:t>
              </a:r>
              <a:endParaRPr lang="zh-TW" altLang="en-US" sz="1200" b="1" dirty="0">
                <a:latin typeface="微軟正黑體" panose="020B0604030504040204" pitchFamily="34" charset="-120"/>
                <a:ea typeface="微軟正黑體" panose="020B0604030504040204" pitchFamily="34" charset="-120"/>
              </a:endParaRPr>
            </a:p>
          </p:txBody>
        </p:sp>
        <p:grpSp>
          <p:nvGrpSpPr>
            <p:cNvPr id="18" name="群組 17">
              <a:extLst>
                <a:ext uri="{FF2B5EF4-FFF2-40B4-BE49-F238E27FC236}">
                  <a16:creationId xmlns:a16="http://schemas.microsoft.com/office/drawing/2014/main" id="{B30EADC8-C0ED-40AD-839E-3B9494DFD4BE}"/>
                </a:ext>
              </a:extLst>
            </p:cNvPr>
            <p:cNvGrpSpPr/>
            <p:nvPr/>
          </p:nvGrpSpPr>
          <p:grpSpPr>
            <a:xfrm>
              <a:off x="4041575" y="1685274"/>
              <a:ext cx="2027707" cy="2103766"/>
              <a:chOff x="4041575" y="1628800"/>
              <a:chExt cx="2203391" cy="2160240"/>
            </a:xfrm>
          </p:grpSpPr>
          <p:pic>
            <p:nvPicPr>
              <p:cNvPr id="28" name="圖片 27">
                <a:extLst>
                  <a:ext uri="{FF2B5EF4-FFF2-40B4-BE49-F238E27FC236}">
                    <a16:creationId xmlns:a16="http://schemas.microsoft.com/office/drawing/2014/main" id="{AFEA1F8E-CC49-4FC1-8C16-C61DD9D7F42A}"/>
                  </a:ext>
                </a:extLst>
              </p:cNvPr>
              <p:cNvPicPr>
                <a:picLocks noChangeAspect="1"/>
              </p:cNvPicPr>
              <p:nvPr/>
            </p:nvPicPr>
            <p:blipFill>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041575" y="1628800"/>
                <a:ext cx="2160240" cy="2160240"/>
              </a:xfrm>
              <a:prstGeom prst="rect">
                <a:avLst/>
              </a:prstGeom>
            </p:spPr>
          </p:pic>
          <p:sp>
            <p:nvSpPr>
              <p:cNvPr id="29" name="文字方塊 28">
                <a:extLst>
                  <a:ext uri="{FF2B5EF4-FFF2-40B4-BE49-F238E27FC236}">
                    <a16:creationId xmlns:a16="http://schemas.microsoft.com/office/drawing/2014/main" id="{2CF87478-5780-4FD2-9697-4D179A1F8209}"/>
                  </a:ext>
                </a:extLst>
              </p:cNvPr>
              <p:cNvSpPr txBox="1"/>
              <p:nvPr/>
            </p:nvSpPr>
            <p:spPr>
              <a:xfrm>
                <a:off x="4680351" y="1872444"/>
                <a:ext cx="1564615" cy="518958"/>
              </a:xfrm>
              <a:prstGeom prst="rect">
                <a:avLst/>
              </a:prstGeom>
              <a:noFill/>
            </p:spPr>
            <p:txBody>
              <a:bodyPr wrap="square" rtlCol="0">
                <a:spAutoFit/>
              </a:bodyPr>
              <a:lstStyle/>
              <a:p>
                <a:r>
                  <a:rPr lang="en-US" altLang="zh-TW" sz="1600" b="1" dirty="0">
                    <a:solidFill>
                      <a:schemeClr val="accent1">
                        <a:lumMod val="75000"/>
                      </a:schemeClr>
                    </a:solidFill>
                    <a:latin typeface="微軟正黑體" panose="020B0604030504040204" pitchFamily="34" charset="-120"/>
                    <a:ea typeface="微軟正黑體" panose="020B0604030504040204" pitchFamily="34" charset="-120"/>
                    <a:cs typeface="Arial Unicode MS" panose="020B0604020202020204" pitchFamily="34" charset="-120"/>
                  </a:rPr>
                  <a:t>PPP</a:t>
                </a:r>
                <a:endParaRPr lang="zh-TW" altLang="en-US" sz="1600" b="1" dirty="0">
                  <a:solidFill>
                    <a:schemeClr val="accent1">
                      <a:lumMod val="75000"/>
                    </a:schemeClr>
                  </a:solidFill>
                  <a:latin typeface="微軟正黑體" panose="020B0604030504040204" pitchFamily="34" charset="-120"/>
                  <a:ea typeface="微軟正黑體" panose="020B0604030504040204" pitchFamily="34" charset="-120"/>
                  <a:cs typeface="Arial Unicode MS" panose="020B0604020202020204" pitchFamily="34" charset="-120"/>
                </a:endParaRPr>
              </a:p>
            </p:txBody>
          </p:sp>
        </p:grpSp>
        <p:sp>
          <p:nvSpPr>
            <p:cNvPr id="19" name="文字方塊 18">
              <a:extLst>
                <a:ext uri="{FF2B5EF4-FFF2-40B4-BE49-F238E27FC236}">
                  <a16:creationId xmlns:a16="http://schemas.microsoft.com/office/drawing/2014/main" id="{9B5383DC-A2C8-45DF-9786-498994F706EF}"/>
                </a:ext>
              </a:extLst>
            </p:cNvPr>
            <p:cNvSpPr txBox="1"/>
            <p:nvPr/>
          </p:nvSpPr>
          <p:spPr>
            <a:xfrm>
              <a:off x="3386184" y="3969927"/>
              <a:ext cx="3489858" cy="413502"/>
            </a:xfrm>
            <a:prstGeom prst="rect">
              <a:avLst/>
            </a:prstGeom>
            <a:noFill/>
          </p:spPr>
          <p:txBody>
            <a:bodyPr wrap="square" rtlCol="0">
              <a:spAutoFit/>
            </a:bodyPr>
            <a:lstStyle/>
            <a:p>
              <a:r>
                <a:rPr lang="en-US" altLang="zh-TW" sz="1200" b="1" dirty="0">
                  <a:latin typeface="微軟正黑體" panose="020B0604030504040204" pitchFamily="34" charset="-120"/>
                  <a:ea typeface="微軟正黑體" panose="020B0604030504040204" pitchFamily="34" charset="-120"/>
                </a:rPr>
                <a:t>Pay per play contract </a:t>
              </a:r>
              <a:endParaRPr lang="zh-TW" altLang="en-US" sz="1200" b="1" dirty="0">
                <a:latin typeface="微軟正黑體" panose="020B0604030504040204" pitchFamily="34" charset="-120"/>
                <a:ea typeface="微軟正黑體" panose="020B0604030504040204" pitchFamily="34" charset="-120"/>
              </a:endParaRPr>
            </a:p>
          </p:txBody>
        </p:sp>
        <p:sp>
          <p:nvSpPr>
            <p:cNvPr id="20" name="文字方塊 19">
              <a:extLst>
                <a:ext uri="{FF2B5EF4-FFF2-40B4-BE49-F238E27FC236}">
                  <a16:creationId xmlns:a16="http://schemas.microsoft.com/office/drawing/2014/main" id="{14A6DA58-CAFF-4E7C-84B1-ED2B0769BC37}"/>
                </a:ext>
              </a:extLst>
            </p:cNvPr>
            <p:cNvSpPr txBox="1"/>
            <p:nvPr/>
          </p:nvSpPr>
          <p:spPr>
            <a:xfrm>
              <a:off x="9768422" y="1210149"/>
              <a:ext cx="1764252" cy="413502"/>
            </a:xfrm>
            <a:prstGeom prst="rect">
              <a:avLst/>
            </a:prstGeom>
            <a:noFill/>
          </p:spPr>
          <p:txBody>
            <a:bodyPr wrap="square" rtlCol="0">
              <a:spAutoFit/>
            </a:bodyPr>
            <a:lstStyle/>
            <a:p>
              <a:r>
                <a:rPr lang="en-US" altLang="zh-TW" sz="1200" b="1" dirty="0">
                  <a:latin typeface="微軟正黑體" panose="020B0604030504040204" pitchFamily="34" charset="-120"/>
                  <a:ea typeface="微軟正黑體" panose="020B0604030504040204" pitchFamily="34" charset="-120"/>
                </a:rPr>
                <a:t>guitarist</a:t>
              </a:r>
              <a:endParaRPr lang="zh-TW" altLang="en-US" sz="1200" b="1" dirty="0">
                <a:latin typeface="微軟正黑體" panose="020B0604030504040204" pitchFamily="34" charset="-120"/>
                <a:ea typeface="微軟正黑體" panose="020B0604030504040204" pitchFamily="34" charset="-120"/>
              </a:endParaRPr>
            </a:p>
          </p:txBody>
        </p:sp>
        <p:sp>
          <p:nvSpPr>
            <p:cNvPr id="21" name="文字方塊 20">
              <a:extLst>
                <a:ext uri="{FF2B5EF4-FFF2-40B4-BE49-F238E27FC236}">
                  <a16:creationId xmlns:a16="http://schemas.microsoft.com/office/drawing/2014/main" id="{D2835047-2376-451F-B8E4-33053D8DA15B}"/>
                </a:ext>
              </a:extLst>
            </p:cNvPr>
            <p:cNvSpPr txBox="1"/>
            <p:nvPr/>
          </p:nvSpPr>
          <p:spPr>
            <a:xfrm>
              <a:off x="9768422" y="2836809"/>
              <a:ext cx="2232247" cy="689170"/>
            </a:xfrm>
            <a:prstGeom prst="rect">
              <a:avLst/>
            </a:prstGeom>
            <a:noFill/>
          </p:spPr>
          <p:txBody>
            <a:bodyPr wrap="square" rtlCol="0">
              <a:spAutoFit/>
            </a:bodyPr>
            <a:lstStyle/>
            <a:p>
              <a:pPr algn="ctr"/>
              <a:r>
                <a:rPr lang="en-US" altLang="zh-TW" sz="1200" b="1" dirty="0">
                  <a:latin typeface="微軟正黑體" panose="020B0604030504040204" pitchFamily="34" charset="-120"/>
                  <a:ea typeface="微軟正黑體" panose="020B0604030504040204" pitchFamily="34" charset="-120"/>
                </a:rPr>
                <a:t>singer </a:t>
              </a:r>
            </a:p>
            <a:p>
              <a:r>
                <a:rPr lang="en-US" altLang="zh-TW" sz="1200" b="1" dirty="0">
                  <a:latin typeface="微軟正黑體" panose="020B0604030504040204" pitchFamily="34" charset="-120"/>
                  <a:ea typeface="微軟正黑體" panose="020B0604030504040204" pitchFamily="34" charset="-120"/>
                </a:rPr>
                <a:t>song-writer</a:t>
              </a:r>
              <a:endParaRPr lang="zh-TW" altLang="en-US" sz="1200" b="1" dirty="0">
                <a:latin typeface="微軟正黑體" panose="020B0604030504040204" pitchFamily="34" charset="-120"/>
                <a:ea typeface="微軟正黑體" panose="020B0604030504040204" pitchFamily="34" charset="-120"/>
              </a:endParaRPr>
            </a:p>
          </p:txBody>
        </p:sp>
        <p:pic>
          <p:nvPicPr>
            <p:cNvPr id="22" name="圖片 21">
              <a:extLst>
                <a:ext uri="{FF2B5EF4-FFF2-40B4-BE49-F238E27FC236}">
                  <a16:creationId xmlns:a16="http://schemas.microsoft.com/office/drawing/2014/main" id="{59A4AC6F-AB9D-4465-965B-2C3FFCC8473D}"/>
                </a:ext>
              </a:extLst>
            </p:cNvPr>
            <p:cNvPicPr>
              <a:picLocks noChangeAspect="1"/>
            </p:cNvPicPr>
            <p:nvPr/>
          </p:nvPicPr>
          <p:blipFill>
            <a:blip r:embed="rId7">
              <a:clrChange>
                <a:clrFrom>
                  <a:srgbClr val="FFFFFF"/>
                </a:clrFrom>
                <a:clrTo>
                  <a:srgbClr val="FFFFFF">
                    <a:alpha val="0"/>
                  </a:srgbClr>
                </a:clrTo>
              </a:clrChange>
            </a:blip>
            <a:stretch>
              <a:fillRect/>
            </a:stretch>
          </p:blipFill>
          <p:spPr>
            <a:xfrm rot="21427011">
              <a:off x="7908927" y="334570"/>
              <a:ext cx="1557413" cy="1751158"/>
            </a:xfrm>
            <a:prstGeom prst="rect">
              <a:avLst/>
            </a:prstGeom>
          </p:spPr>
        </p:pic>
        <p:pic>
          <p:nvPicPr>
            <p:cNvPr id="23" name="圖片 22">
              <a:extLst>
                <a:ext uri="{FF2B5EF4-FFF2-40B4-BE49-F238E27FC236}">
                  <a16:creationId xmlns:a16="http://schemas.microsoft.com/office/drawing/2014/main" id="{0E01E73C-16CC-49B4-A792-A06B4A0E9A9A}"/>
                </a:ext>
              </a:extLst>
            </p:cNvPr>
            <p:cNvPicPr>
              <a:picLocks noChangeAspect="1"/>
            </p:cNvPicPr>
            <p:nvPr/>
          </p:nvPicPr>
          <p:blipFill>
            <a:blip r:embed="rId8" cstate="print">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a:off x="8112069" y="2492036"/>
              <a:ext cx="1274043" cy="1558253"/>
            </a:xfrm>
            <a:prstGeom prst="rect">
              <a:avLst/>
            </a:prstGeom>
          </p:spPr>
        </p:pic>
        <p:pic>
          <p:nvPicPr>
            <p:cNvPr id="24" name="圖片 23">
              <a:extLst>
                <a:ext uri="{FF2B5EF4-FFF2-40B4-BE49-F238E27FC236}">
                  <a16:creationId xmlns:a16="http://schemas.microsoft.com/office/drawing/2014/main" id="{21445E79-A6A3-47CA-B6E8-5B872E685CD0}"/>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7775990" y="4563942"/>
              <a:ext cx="2009775" cy="1857375"/>
            </a:xfrm>
            <a:prstGeom prst="rect">
              <a:avLst/>
            </a:prstGeom>
          </p:spPr>
        </p:pic>
        <p:sp>
          <p:nvSpPr>
            <p:cNvPr id="25" name="文字方塊 24">
              <a:extLst>
                <a:ext uri="{FF2B5EF4-FFF2-40B4-BE49-F238E27FC236}">
                  <a16:creationId xmlns:a16="http://schemas.microsoft.com/office/drawing/2014/main" id="{B2DAECA1-5BE6-48BF-8D4A-43FF26A111A8}"/>
                </a:ext>
              </a:extLst>
            </p:cNvPr>
            <p:cNvSpPr txBox="1"/>
            <p:nvPr/>
          </p:nvSpPr>
          <p:spPr>
            <a:xfrm>
              <a:off x="6616642" y="2766120"/>
              <a:ext cx="788721" cy="413502"/>
            </a:xfrm>
            <a:prstGeom prst="rect">
              <a:avLst/>
            </a:prstGeom>
            <a:noFill/>
          </p:spPr>
          <p:txBody>
            <a:bodyPr wrap="square" rtlCol="0">
              <a:spAutoFit/>
            </a:bodyPr>
            <a:lstStyle/>
            <a:p>
              <a:r>
                <a:rPr lang="en-US" altLang="zh-TW" sz="1200" b="1" dirty="0">
                  <a:latin typeface="微軟正黑體" panose="020B0604030504040204" pitchFamily="34" charset="-120"/>
                  <a:ea typeface="微軟正黑體" panose="020B0604030504040204" pitchFamily="34" charset="-120"/>
                </a:rPr>
                <a:t>50%</a:t>
              </a:r>
              <a:endParaRPr lang="zh-TW" altLang="en-US" sz="1200" b="1" dirty="0">
                <a:latin typeface="微軟正黑體" panose="020B0604030504040204" pitchFamily="34" charset="-120"/>
                <a:ea typeface="微軟正黑體" panose="020B0604030504040204" pitchFamily="34" charset="-120"/>
              </a:endParaRPr>
            </a:p>
          </p:txBody>
        </p:sp>
        <p:sp>
          <p:nvSpPr>
            <p:cNvPr id="26" name="文字方塊 25">
              <a:extLst>
                <a:ext uri="{FF2B5EF4-FFF2-40B4-BE49-F238E27FC236}">
                  <a16:creationId xmlns:a16="http://schemas.microsoft.com/office/drawing/2014/main" id="{E1C4DDCC-78A4-43CC-8255-AA148F9DBD49}"/>
                </a:ext>
              </a:extLst>
            </p:cNvPr>
            <p:cNvSpPr txBox="1"/>
            <p:nvPr/>
          </p:nvSpPr>
          <p:spPr>
            <a:xfrm>
              <a:off x="6399908" y="1717572"/>
              <a:ext cx="950328" cy="413502"/>
            </a:xfrm>
            <a:prstGeom prst="rect">
              <a:avLst/>
            </a:prstGeom>
            <a:noFill/>
          </p:spPr>
          <p:txBody>
            <a:bodyPr wrap="square" rtlCol="0">
              <a:spAutoFit/>
            </a:bodyPr>
            <a:lstStyle/>
            <a:p>
              <a:r>
                <a:rPr lang="en-US" altLang="zh-TW" sz="1200" b="1" dirty="0">
                  <a:latin typeface="微軟正黑體" panose="020B0604030504040204" pitchFamily="34" charset="-120"/>
                  <a:ea typeface="微軟正黑體" panose="020B0604030504040204" pitchFamily="34" charset="-120"/>
                </a:rPr>
                <a:t>25%</a:t>
              </a:r>
              <a:endParaRPr lang="zh-TW" altLang="en-US" sz="1200" b="1" dirty="0">
                <a:latin typeface="微軟正黑體" panose="020B0604030504040204" pitchFamily="34" charset="-120"/>
                <a:ea typeface="微軟正黑體" panose="020B0604030504040204" pitchFamily="34" charset="-120"/>
              </a:endParaRPr>
            </a:p>
          </p:txBody>
        </p:sp>
        <p:sp>
          <p:nvSpPr>
            <p:cNvPr id="27" name="文字方塊 26">
              <a:extLst>
                <a:ext uri="{FF2B5EF4-FFF2-40B4-BE49-F238E27FC236}">
                  <a16:creationId xmlns:a16="http://schemas.microsoft.com/office/drawing/2014/main" id="{E7FB92BE-F6B5-4CE5-B628-B33073D01587}"/>
                </a:ext>
              </a:extLst>
            </p:cNvPr>
            <p:cNvSpPr txBox="1"/>
            <p:nvPr/>
          </p:nvSpPr>
          <p:spPr>
            <a:xfrm>
              <a:off x="6616642" y="3665030"/>
              <a:ext cx="836500" cy="413502"/>
            </a:xfrm>
            <a:prstGeom prst="rect">
              <a:avLst/>
            </a:prstGeom>
            <a:noFill/>
          </p:spPr>
          <p:txBody>
            <a:bodyPr wrap="square" rtlCol="0">
              <a:spAutoFit/>
            </a:bodyPr>
            <a:lstStyle/>
            <a:p>
              <a:r>
                <a:rPr lang="en-US" altLang="zh-TW" sz="1200" b="1" dirty="0">
                  <a:latin typeface="微軟正黑體" panose="020B0604030504040204" pitchFamily="34" charset="-120"/>
                  <a:ea typeface="微軟正黑體" panose="020B0604030504040204" pitchFamily="34" charset="-120"/>
                </a:rPr>
                <a:t>25%</a:t>
              </a:r>
              <a:endParaRPr lang="zh-TW" altLang="en-US" sz="1200" b="1" dirty="0">
                <a:latin typeface="微軟正黑體" panose="020B0604030504040204" pitchFamily="34" charset="-120"/>
                <a:ea typeface="微軟正黑體" panose="020B0604030504040204" pitchFamily="34" charset="-120"/>
              </a:endParaRPr>
            </a:p>
          </p:txBody>
        </p:sp>
      </p:grpSp>
      <p:sp>
        <p:nvSpPr>
          <p:cNvPr id="30" name="文字方塊 29">
            <a:extLst>
              <a:ext uri="{FF2B5EF4-FFF2-40B4-BE49-F238E27FC236}">
                <a16:creationId xmlns:a16="http://schemas.microsoft.com/office/drawing/2014/main" id="{2B9DBFDB-BB91-4805-9FD3-581682014BA4}"/>
              </a:ext>
            </a:extLst>
          </p:cNvPr>
          <p:cNvSpPr txBox="1"/>
          <p:nvPr/>
        </p:nvSpPr>
        <p:spPr>
          <a:xfrm>
            <a:off x="2562007" y="6143070"/>
            <a:ext cx="4166525" cy="369332"/>
          </a:xfrm>
          <a:prstGeom prst="rect">
            <a:avLst/>
          </a:prstGeom>
          <a:noFill/>
        </p:spPr>
        <p:txBody>
          <a:bodyPr wrap="none" rtlCol="0">
            <a:spAutoFit/>
          </a:bodyPr>
          <a:lstStyle/>
          <a:p>
            <a:pPr marL="285750" indent="-285750">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音樂點撥區塊鏈之原創作者獲利分配</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23991996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barn(inVertical)">
                                      <p:cBhvr>
                                        <p:cTn id="11" dur="500"/>
                                        <p:tgtEl>
                                          <p:spTgt spid="5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 calcmode="lin" valueType="num">
                                      <p:cBhvr additive="base">
                                        <p:cTn id="20"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barn(inVertical)">
                                      <p:cBhvr>
                                        <p:cTn id="25" dur="500"/>
                                        <p:tgtEl>
                                          <p:spTgt spid="3">
                                            <p:txEl>
                                              <p:pRg st="1" end="1"/>
                                            </p:txEl>
                                          </p:spTgt>
                                        </p:tgtEl>
                                      </p:cBhvr>
                                    </p:animEffect>
                                  </p:childTnLst>
                                </p:cTn>
                              </p:par>
                            </p:childTnLst>
                          </p:cTn>
                        </p:par>
                        <p:par>
                          <p:cTn id="26" fill="hold">
                            <p:stCondLst>
                              <p:cond delay="4000"/>
                            </p:stCondLst>
                            <p:childTnLst>
                              <p:par>
                                <p:cTn id="27" presetID="53" presetClass="entr" presetSubtype="16"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par>
                                <p:cTn id="32" presetID="2" presetClass="entr" presetSubtype="4"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 calcmode="lin" valueType="num">
                                      <p:cBhvr additive="base">
                                        <p:cTn id="34" dur="500" fill="hold"/>
                                        <p:tgtEl>
                                          <p:spTgt spid="30"/>
                                        </p:tgtEl>
                                        <p:attrNameLst>
                                          <p:attrName>ppt_x</p:attrName>
                                        </p:attrNameLst>
                                      </p:cBhvr>
                                      <p:tavLst>
                                        <p:tav tm="0">
                                          <p:val>
                                            <p:strVal val="#ppt_x"/>
                                          </p:val>
                                        </p:tav>
                                        <p:tav tm="100000">
                                          <p:val>
                                            <p:strVal val="#ppt_x"/>
                                          </p:val>
                                        </p:tav>
                                      </p:tavLst>
                                    </p:anim>
                                    <p:anim calcmode="lin" valueType="num">
                                      <p:cBhvr additive="base">
                                        <p:cTn id="35"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4" grpId="0"/>
      <p:bldP spid="3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486816" y="1268415"/>
            <a:ext cx="9965878" cy="4087145"/>
          </a:xfrm>
          <a:prstGeom prst="rect">
            <a:avLst/>
          </a:prstGeom>
          <a:noFill/>
        </p:spPr>
        <p:txBody>
          <a:bodyPr wrap="square" rtlCol="0">
            <a:spAutoFit/>
          </a:bodyPr>
          <a:lstStyle/>
          <a:p>
            <a:pPr>
              <a:lnSpc>
                <a:spcPct val="150000"/>
              </a:lnSpc>
            </a:pPr>
            <a:r>
              <a:rPr lang="zh-TW" altLang="en-US" sz="2400" b="1" dirty="0">
                <a:solidFill>
                  <a:srgbClr val="3DA18E"/>
                </a:solidFill>
                <a:latin typeface="微軟正黑體" panose="020B0604030504040204" pitchFamily="34" charset="-120"/>
                <a:ea typeface="微軟正黑體" panose="020B0604030504040204" pitchFamily="34" charset="-120"/>
              </a:rPr>
              <a:t>三、武當幣</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zh-TW" altLang="en-US" sz="800" b="1" dirty="0">
              <a:solidFill>
                <a:srgbClr val="3DA18E"/>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為了搶救美國著名嘻哈說唱團體「武當幫」的專輯</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少林往事</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Rare Music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公司發行「武當幣」募集資金。</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募集的資金將用於購買專輯、為代幣購買者發放禮物等。在</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Rare Music</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公司購買專輯之後，代幣持有者將擁有全球率先聽歌的權利。</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Rare Music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藉由</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ICO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平台，成功規避專輯作者「武當幫」的買主不能公開播放這張專輯，只能在私人場合播放專輯的嚴格規定。</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a:extLst>
              <a:ext uri="{FF2B5EF4-FFF2-40B4-BE49-F238E27FC236}">
                <a16:creationId xmlns:a16="http://schemas.microsoft.com/office/drawing/2014/main" id="{C610EB4C-25C3-409C-A0BB-4923D582E285}"/>
              </a:ext>
            </a:extLst>
          </p:cNvPr>
          <p:cNvSpPr txBox="1">
            <a:spLocks/>
          </p:cNvSpPr>
          <p:nvPr/>
        </p:nvSpPr>
        <p:spPr>
          <a:xfrm>
            <a:off x="1518277" y="393820"/>
            <a:ext cx="4100098"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5-4 </a:t>
            </a:r>
            <a:r>
              <a:rPr lang="zh-TW" altLang="en-US" sz="2400" b="1" dirty="0">
                <a:solidFill>
                  <a:srgbClr val="E06741"/>
                </a:solidFill>
              </a:rPr>
              <a:t>區塊鏈應用─ </a:t>
            </a:r>
            <a:r>
              <a:rPr lang="en-US" altLang="zh-TW" sz="2400" b="1" dirty="0">
                <a:solidFill>
                  <a:srgbClr val="E06741"/>
                </a:solidFill>
              </a:rPr>
              <a:t>ICO </a:t>
            </a:r>
            <a:r>
              <a:rPr lang="zh-TW" altLang="en-US" sz="2400" b="1" dirty="0">
                <a:solidFill>
                  <a:srgbClr val="E06741"/>
                </a:solidFill>
              </a:rPr>
              <a:t>案例</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54" name="文字方塊 53">
            <a:extLst>
              <a:ext uri="{FF2B5EF4-FFF2-40B4-BE49-F238E27FC236}">
                <a16:creationId xmlns:a16="http://schemas.microsoft.com/office/drawing/2014/main" id="{999910B4-9816-4E61-AD7E-58181DB8235A}"/>
              </a:ext>
            </a:extLst>
          </p:cNvPr>
          <p:cNvSpPr txBox="1"/>
          <p:nvPr/>
        </p:nvSpPr>
        <p:spPr>
          <a:xfrm>
            <a:off x="5704819" y="449166"/>
            <a:ext cx="1545167"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 ICO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a:t>
            </a:r>
          </a:p>
        </p:txBody>
      </p:sp>
    </p:spTree>
    <p:extLst>
      <p:ext uri="{BB962C8B-B14F-4D97-AF65-F5344CB8AC3E}">
        <p14:creationId xmlns:p14="http://schemas.microsoft.com/office/powerpoint/2010/main" val="71533770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20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barn(inVertical)">
                                      <p:cBhvr>
                                        <p:cTn id="11" dur="500"/>
                                        <p:tgtEl>
                                          <p:spTgt spid="5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 calcmode="lin" valueType="num">
                                      <p:cBhvr additive="base">
                                        <p:cTn id="20"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barn(inVertical)">
                                      <p:cBhvr>
                                        <p:cTn id="25" dur="500"/>
                                        <p:tgtEl>
                                          <p:spTgt spid="3">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barn(inVertical)">
                                      <p:cBhvr>
                                        <p:cTn id="29" dur="500"/>
                                        <p:tgtEl>
                                          <p:spTgt spid="3">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barn(inVertical)">
                                      <p:cBhvr>
                                        <p:cTn id="3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4"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包图主题2">
  <a:themeElements>
    <a:clrScheme name="自定义 154">
      <a:dk1>
        <a:sysClr val="windowText" lastClr="000000"/>
      </a:dk1>
      <a:lt1>
        <a:sysClr val="window" lastClr="FFFFFF"/>
      </a:lt1>
      <a:dk2>
        <a:srgbClr val="44546A"/>
      </a:dk2>
      <a:lt2>
        <a:srgbClr val="E7E6E6"/>
      </a:lt2>
      <a:accent1>
        <a:srgbClr val="4A5A6F"/>
      </a:accent1>
      <a:accent2>
        <a:srgbClr val="E06741"/>
      </a:accent2>
      <a:accent3>
        <a:srgbClr val="4A5A6F"/>
      </a:accent3>
      <a:accent4>
        <a:srgbClr val="E06741"/>
      </a:accent4>
      <a:accent5>
        <a:srgbClr val="4A5A6F"/>
      </a:accent5>
      <a:accent6>
        <a:srgbClr val="E06741"/>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3027</TotalTime>
  <Words>5876</Words>
  <Application>Microsoft Office PowerPoint</Application>
  <PresentationFormat>寬螢幕</PresentationFormat>
  <Paragraphs>604</Paragraphs>
  <Slides>48</Slides>
  <Notes>47</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48</vt:i4>
      </vt:variant>
    </vt:vector>
  </HeadingPairs>
  <TitlesOfParts>
    <vt:vector size="60" baseType="lpstr">
      <vt:lpstr>Arial Unicode MS</vt:lpstr>
      <vt:lpstr>等线</vt:lpstr>
      <vt:lpstr>Microsoft JhengHei Light</vt:lpstr>
      <vt:lpstr>微软雅黑</vt:lpstr>
      <vt:lpstr>微軟正黑體</vt:lpstr>
      <vt:lpstr>新細明體</vt:lpstr>
      <vt:lpstr>標楷體</vt:lpstr>
      <vt:lpstr>Arial</vt:lpstr>
      <vt:lpstr>Calibri</vt:lpstr>
      <vt:lpstr>Eras Demi ITC</vt:lpstr>
      <vt:lpstr>Times New Roman</vt:lpstr>
      <vt:lpstr>包图主题2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dc:description>http://www.ypppt.com/</dc:description>
  <cp:lastModifiedBy>張景涵</cp:lastModifiedBy>
  <cp:revision>299</cp:revision>
  <dcterms:created xsi:type="dcterms:W3CDTF">2017-09-04T07:53:30Z</dcterms:created>
  <dcterms:modified xsi:type="dcterms:W3CDTF">2018-07-24T01:19:35Z</dcterms:modified>
</cp:coreProperties>
</file>