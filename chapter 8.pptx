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84" r:id="rId2"/>
    <p:sldId id="257" r:id="rId3"/>
    <p:sldId id="285" r:id="rId4"/>
    <p:sldId id="352" r:id="rId5"/>
    <p:sldId id="355" r:id="rId6"/>
    <p:sldId id="361" r:id="rId7"/>
    <p:sldId id="357" r:id="rId8"/>
    <p:sldId id="358" r:id="rId9"/>
    <p:sldId id="359" r:id="rId10"/>
    <p:sldId id="360" r:id="rId11"/>
    <p:sldId id="363" r:id="rId12"/>
    <p:sldId id="364" r:id="rId13"/>
    <p:sldId id="365" r:id="rId14"/>
    <p:sldId id="367" r:id="rId15"/>
    <p:sldId id="366" r:id="rId16"/>
    <p:sldId id="368" r:id="rId17"/>
    <p:sldId id="369" r:id="rId18"/>
    <p:sldId id="373" r:id="rId19"/>
    <p:sldId id="370" r:id="rId20"/>
    <p:sldId id="374" r:id="rId21"/>
    <p:sldId id="371" r:id="rId22"/>
    <p:sldId id="375" r:id="rId23"/>
    <p:sldId id="372" r:id="rId24"/>
    <p:sldId id="376" r:id="rId25"/>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A900"/>
    <a:srgbClr val="4B5B71"/>
    <a:srgbClr val="BF9000"/>
    <a:srgbClr val="308071"/>
    <a:srgbClr val="5C708A"/>
    <a:srgbClr val="53657D"/>
    <a:srgbClr val="3DA18E"/>
    <a:srgbClr val="089685"/>
    <a:srgbClr val="0AB09B"/>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4" d="100"/>
          <a:sy n="104" d="100"/>
        </p:scale>
        <p:origin x="198" y="1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B370C0-1CBE-4BAF-923D-3B8835488243}" type="doc">
      <dgm:prSet loTypeId="urn:microsoft.com/office/officeart/2005/8/layout/chevron2" loCatId="process" qsTypeId="urn:microsoft.com/office/officeart/2005/8/quickstyle/simple1" qsCatId="simple" csTypeId="urn:microsoft.com/office/officeart/2005/8/colors/accent0_2" csCatId="mainScheme" phldr="1"/>
      <dgm:spPr/>
      <dgm:t>
        <a:bodyPr/>
        <a:lstStyle/>
        <a:p>
          <a:endParaRPr lang="zh-TW" altLang="en-US"/>
        </a:p>
      </dgm:t>
    </dgm:pt>
    <dgm:pt modelId="{CDD471D9-7FF9-4460-8795-5993826B794D}">
      <dgm:prSet phldrT="[文字]" custT="1"/>
      <dgm:spPr>
        <a:solidFill>
          <a:srgbClr val="F9F9F9"/>
        </a:solidFill>
        <a:ln w="19050">
          <a:solidFill>
            <a:srgbClr val="54667E"/>
          </a:solidFill>
        </a:ln>
      </dgm:spPr>
      <dgm:t>
        <a:bodyPr/>
        <a:lstStyle/>
        <a:p>
          <a:r>
            <a:rPr lang="en-US" altLang="zh-TW" sz="1800" dirty="0">
              <a:latin typeface="Eras Medium ITC" panose="020B0602030504020804" pitchFamily="34" charset="0"/>
            </a:rPr>
            <a:t>STEP</a:t>
          </a:r>
          <a:r>
            <a:rPr lang="zh-TW" altLang="en-US" sz="1800" dirty="0">
              <a:latin typeface="Eras Medium ITC" panose="020B0602030504020804" pitchFamily="34" charset="0"/>
            </a:rPr>
            <a:t> </a:t>
          </a:r>
          <a:r>
            <a:rPr lang="en-US" altLang="zh-TW" sz="1800" dirty="0">
              <a:latin typeface="Eras Medium ITC" panose="020B0602030504020804" pitchFamily="34" charset="0"/>
            </a:rPr>
            <a:t>1</a:t>
          </a:r>
          <a:endParaRPr lang="zh-TW" altLang="en-US" sz="1800" dirty="0">
            <a:latin typeface="Eras Medium ITC" panose="020B0602030504020804" pitchFamily="34" charset="0"/>
          </a:endParaRPr>
        </a:p>
      </dgm:t>
    </dgm:pt>
    <dgm:pt modelId="{5C48556E-91C1-4242-9AC3-10A602A74B65}" type="parTrans" cxnId="{1985E65A-C243-4A83-BED5-668E711AD9E0}">
      <dgm:prSet/>
      <dgm:spPr/>
      <dgm:t>
        <a:bodyPr/>
        <a:lstStyle/>
        <a:p>
          <a:endParaRPr lang="zh-TW" altLang="en-US"/>
        </a:p>
      </dgm:t>
    </dgm:pt>
    <dgm:pt modelId="{7B3209EC-9C27-4427-B41E-FEB9237E21D7}" type="sibTrans" cxnId="{1985E65A-C243-4A83-BED5-668E711AD9E0}">
      <dgm:prSet/>
      <dgm:spPr/>
      <dgm:t>
        <a:bodyPr/>
        <a:lstStyle/>
        <a:p>
          <a:endParaRPr lang="zh-TW" altLang="en-US"/>
        </a:p>
      </dgm:t>
    </dgm:pt>
    <dgm:pt modelId="{88A3B30E-BC81-432D-8F39-8A263D44E34C}">
      <dgm:prSet phldrT="[文字]" custT="1"/>
      <dgm:spPr>
        <a:solidFill>
          <a:srgbClr val="F9F9F9"/>
        </a:solidFill>
        <a:ln w="19050">
          <a:solidFill>
            <a:srgbClr val="54667E"/>
          </a:solidFill>
          <a:prstDash val="sysDash"/>
        </a:ln>
      </dgm:spPr>
      <dgm:t>
        <a:bodyPr/>
        <a:lstStyle/>
        <a:p>
          <a:pPr>
            <a:buNone/>
          </a:pPr>
          <a:r>
            <a:rPr lang="zh-TW" altLang="en-US" sz="1600" b="1" dirty="0">
              <a:solidFill>
                <a:schemeClr val="tx1">
                  <a:lumMod val="85000"/>
                  <a:lumOff val="15000"/>
                </a:schemeClr>
              </a:solidFill>
              <a:latin typeface="微軟正黑體" panose="020B0604030504040204" pitchFamily="34" charset="-120"/>
              <a:ea typeface="微軟正黑體" panose="020B0604030504040204" pitchFamily="34" charset="-120"/>
            </a:rPr>
            <a:t>消費者透過客戶服務專線的撥打或登入票券兌換平台，在登入或撥打後，</a:t>
          </a:r>
        </a:p>
      </dgm:t>
    </dgm:pt>
    <dgm:pt modelId="{FE1D3070-234A-4FAF-86C5-3FD4CB239B53}" type="parTrans" cxnId="{9FD97475-5E77-4A04-8573-62D55FD0DB10}">
      <dgm:prSet/>
      <dgm:spPr/>
      <dgm:t>
        <a:bodyPr/>
        <a:lstStyle/>
        <a:p>
          <a:endParaRPr lang="zh-TW" altLang="en-US"/>
        </a:p>
      </dgm:t>
    </dgm:pt>
    <dgm:pt modelId="{93929E39-7A63-4DCB-81D9-066FCC7D92C5}" type="sibTrans" cxnId="{9FD97475-5E77-4A04-8573-62D55FD0DB10}">
      <dgm:prSet/>
      <dgm:spPr/>
      <dgm:t>
        <a:bodyPr/>
        <a:lstStyle/>
        <a:p>
          <a:endParaRPr lang="zh-TW" altLang="en-US"/>
        </a:p>
      </dgm:t>
    </dgm:pt>
    <dgm:pt modelId="{27968939-704C-4FC7-9F5B-47547DFD114C}">
      <dgm:prSet phldrT="[文字]" custT="1"/>
      <dgm:spPr>
        <a:solidFill>
          <a:srgbClr val="F9F9F9"/>
        </a:solidFill>
        <a:ln w="19050">
          <a:solidFill>
            <a:srgbClr val="54667E"/>
          </a:solidFill>
        </a:ln>
      </dgm:spPr>
      <dgm:t>
        <a:bodyPr/>
        <a:lstStyle/>
        <a:p>
          <a:r>
            <a:rPr lang="en-US" altLang="zh-TW" sz="1800" dirty="0">
              <a:latin typeface="Eras Medium ITC" panose="020B0602030504020804" pitchFamily="34" charset="0"/>
            </a:rPr>
            <a:t>STEP</a:t>
          </a:r>
          <a:r>
            <a:rPr lang="zh-TW" altLang="en-US" sz="1800" dirty="0">
              <a:latin typeface="Eras Medium ITC" panose="020B0602030504020804" pitchFamily="34" charset="0"/>
            </a:rPr>
            <a:t> </a:t>
          </a:r>
          <a:r>
            <a:rPr lang="en-US" altLang="zh-TW" sz="1800" dirty="0">
              <a:latin typeface="Eras Medium ITC" panose="020B0602030504020804" pitchFamily="34" charset="0"/>
            </a:rPr>
            <a:t>2</a:t>
          </a:r>
          <a:endParaRPr lang="zh-TW" altLang="en-US" sz="1800" dirty="0">
            <a:latin typeface="Eras Medium ITC" panose="020B0602030504020804" pitchFamily="34" charset="0"/>
          </a:endParaRPr>
        </a:p>
      </dgm:t>
    </dgm:pt>
    <dgm:pt modelId="{4F43DB0A-A863-4356-9020-D277FFA66956}" type="parTrans" cxnId="{DC9F4B34-E1EF-4794-ADFE-9B34526DC1C1}">
      <dgm:prSet/>
      <dgm:spPr/>
      <dgm:t>
        <a:bodyPr/>
        <a:lstStyle/>
        <a:p>
          <a:endParaRPr lang="zh-TW" altLang="en-US"/>
        </a:p>
      </dgm:t>
    </dgm:pt>
    <dgm:pt modelId="{02326337-F493-4A9B-AC26-1240D7B0BB60}" type="sibTrans" cxnId="{DC9F4B34-E1EF-4794-ADFE-9B34526DC1C1}">
      <dgm:prSet/>
      <dgm:spPr/>
      <dgm:t>
        <a:bodyPr/>
        <a:lstStyle/>
        <a:p>
          <a:endParaRPr lang="zh-TW" altLang="en-US"/>
        </a:p>
      </dgm:t>
    </dgm:pt>
    <dgm:pt modelId="{B49C42C4-4F8D-4D0A-BB1E-CC5AC7462AFC}">
      <dgm:prSet phldrT="[文字]" custT="1"/>
      <dgm:spPr>
        <a:solidFill>
          <a:srgbClr val="F9F9F9"/>
        </a:solidFill>
        <a:ln w="19050">
          <a:solidFill>
            <a:srgbClr val="54667E"/>
          </a:solidFill>
          <a:prstDash val="sysDash"/>
        </a:ln>
      </dgm:spPr>
      <dgm:t>
        <a:bodyPr/>
        <a:lstStyle/>
        <a:p>
          <a:pPr>
            <a:buNone/>
          </a:pPr>
          <a:r>
            <a:rPr lang="zh-TW" altLang="en-US" sz="1600" b="1" dirty="0">
              <a:solidFill>
                <a:schemeClr val="tx1">
                  <a:lumMod val="85000"/>
                  <a:lumOff val="15000"/>
                </a:schemeClr>
              </a:solidFill>
              <a:latin typeface="微軟正黑體" panose="020B0604030504040204" pitchFamily="34" charset="-120"/>
              <a:ea typeface="微軟正黑體" panose="020B0604030504040204" pitchFamily="34" charset="-120"/>
            </a:rPr>
            <a:t>確認身分，在消費者提供身分證號或會員號碼後，實施雙重身分驗證作業，</a:t>
          </a:r>
        </a:p>
      </dgm:t>
    </dgm:pt>
    <dgm:pt modelId="{B4AE4D80-64D6-4429-96F9-151076502AF7}" type="parTrans" cxnId="{74682C68-4349-473B-8AEC-2372442674A2}">
      <dgm:prSet/>
      <dgm:spPr/>
      <dgm:t>
        <a:bodyPr/>
        <a:lstStyle/>
        <a:p>
          <a:endParaRPr lang="zh-TW" altLang="en-US"/>
        </a:p>
      </dgm:t>
    </dgm:pt>
    <dgm:pt modelId="{4F59220D-6064-4F46-BDA8-6E4B4EB620D4}" type="sibTrans" cxnId="{74682C68-4349-473B-8AEC-2372442674A2}">
      <dgm:prSet/>
      <dgm:spPr/>
      <dgm:t>
        <a:bodyPr/>
        <a:lstStyle/>
        <a:p>
          <a:endParaRPr lang="zh-TW" altLang="en-US"/>
        </a:p>
      </dgm:t>
    </dgm:pt>
    <dgm:pt modelId="{B5C6B3D4-C598-4EEC-A49F-09500742DE04}">
      <dgm:prSet phldrT="[文字]" custT="1"/>
      <dgm:spPr>
        <a:solidFill>
          <a:srgbClr val="F9F9F9"/>
        </a:solidFill>
        <a:ln w="19050">
          <a:solidFill>
            <a:srgbClr val="54667E"/>
          </a:solidFill>
        </a:ln>
      </dgm:spPr>
      <dgm:t>
        <a:bodyPr/>
        <a:lstStyle/>
        <a:p>
          <a:r>
            <a:rPr lang="en-US" altLang="zh-TW" sz="1800" dirty="0">
              <a:latin typeface="Eras Medium ITC" panose="020B0602030504020804" pitchFamily="34" charset="0"/>
            </a:rPr>
            <a:t>STEP</a:t>
          </a:r>
          <a:r>
            <a:rPr lang="zh-TW" altLang="en-US" sz="1800" dirty="0">
              <a:latin typeface="Eras Medium ITC" panose="020B0602030504020804" pitchFamily="34" charset="0"/>
            </a:rPr>
            <a:t> </a:t>
          </a:r>
          <a:r>
            <a:rPr lang="en-US" altLang="zh-TW" sz="1800" dirty="0">
              <a:latin typeface="Eras Medium ITC" panose="020B0602030504020804" pitchFamily="34" charset="0"/>
            </a:rPr>
            <a:t>3</a:t>
          </a:r>
          <a:endParaRPr lang="zh-TW" altLang="en-US" sz="1800" dirty="0">
            <a:latin typeface="Eras Medium ITC" panose="020B0602030504020804" pitchFamily="34" charset="0"/>
          </a:endParaRPr>
        </a:p>
      </dgm:t>
    </dgm:pt>
    <dgm:pt modelId="{767E8E61-EC77-4BA6-BD9A-2A15B1D6BED4}" type="parTrans" cxnId="{9A5461E5-93CC-4C3A-81CE-AF0BDF9B3BBF}">
      <dgm:prSet/>
      <dgm:spPr/>
      <dgm:t>
        <a:bodyPr/>
        <a:lstStyle/>
        <a:p>
          <a:endParaRPr lang="zh-TW" altLang="en-US"/>
        </a:p>
      </dgm:t>
    </dgm:pt>
    <dgm:pt modelId="{77F7726F-080B-4B19-9EB0-1F09802FFA31}" type="sibTrans" cxnId="{9A5461E5-93CC-4C3A-81CE-AF0BDF9B3BBF}">
      <dgm:prSet/>
      <dgm:spPr/>
      <dgm:t>
        <a:bodyPr/>
        <a:lstStyle/>
        <a:p>
          <a:endParaRPr lang="zh-TW" altLang="en-US"/>
        </a:p>
      </dgm:t>
    </dgm:pt>
    <dgm:pt modelId="{D898DBF5-0550-4F45-8B2B-48583AF5FB40}">
      <dgm:prSet phldrT="[文字]" custT="1"/>
      <dgm:spPr>
        <a:solidFill>
          <a:srgbClr val="F9F9F9"/>
        </a:solidFill>
        <a:ln w="19050">
          <a:solidFill>
            <a:srgbClr val="54667E"/>
          </a:solidFill>
          <a:prstDash val="sysDash"/>
        </a:ln>
      </dgm:spPr>
      <dgm:t>
        <a:bodyPr/>
        <a:lstStyle/>
        <a:p>
          <a:pPr>
            <a:buNone/>
          </a:pPr>
          <a:r>
            <a:rPr lang="zh-TW" altLang="en-US" sz="1600" b="1" dirty="0">
              <a:solidFill>
                <a:schemeClr val="tx1">
                  <a:lumMod val="85000"/>
                  <a:lumOff val="15000"/>
                </a:schemeClr>
              </a:solidFill>
              <a:latin typeface="微軟正黑體" panose="020B0604030504040204" pitchFamily="34" charset="-120"/>
              <a:ea typeface="微軟正黑體" panose="020B0604030504040204" pitchFamily="34" charset="-120"/>
            </a:rPr>
            <a:t>當消費者未能通過身分驗證程序時，一般會有重新核對或輸入的緩衝次數，</a:t>
          </a:r>
        </a:p>
      </dgm:t>
    </dgm:pt>
    <dgm:pt modelId="{158FC438-4DD3-4C84-A33D-9E129143F6D6}" type="parTrans" cxnId="{F6649FC7-2103-4554-BA4F-A3E380AA9139}">
      <dgm:prSet/>
      <dgm:spPr/>
      <dgm:t>
        <a:bodyPr/>
        <a:lstStyle/>
        <a:p>
          <a:endParaRPr lang="zh-TW" altLang="en-US"/>
        </a:p>
      </dgm:t>
    </dgm:pt>
    <dgm:pt modelId="{18CDB012-6DB6-44F2-8647-E90B3C525638}" type="sibTrans" cxnId="{F6649FC7-2103-4554-BA4F-A3E380AA9139}">
      <dgm:prSet/>
      <dgm:spPr/>
      <dgm:t>
        <a:bodyPr/>
        <a:lstStyle/>
        <a:p>
          <a:endParaRPr lang="zh-TW" altLang="en-US"/>
        </a:p>
      </dgm:t>
    </dgm:pt>
    <dgm:pt modelId="{5B6F2622-6EE8-43BB-93BF-42EAE6159624}">
      <dgm:prSet phldrT="[文字]" custT="1"/>
      <dgm:spPr>
        <a:solidFill>
          <a:srgbClr val="F9F9F9"/>
        </a:solidFill>
        <a:ln w="19050">
          <a:solidFill>
            <a:srgbClr val="54667E"/>
          </a:solidFill>
        </a:ln>
      </dgm:spPr>
      <dgm:t>
        <a:bodyPr/>
        <a:lstStyle/>
        <a:p>
          <a:r>
            <a:rPr lang="en-US" altLang="zh-TW" sz="1800" dirty="0">
              <a:latin typeface="Eras Medium ITC" panose="020B0602030504020804" pitchFamily="34" charset="0"/>
            </a:rPr>
            <a:t>STEP</a:t>
          </a:r>
          <a:r>
            <a:rPr lang="zh-TW" altLang="en-US" sz="1800" dirty="0">
              <a:latin typeface="Eras Medium ITC" panose="020B0602030504020804" pitchFamily="34" charset="0"/>
            </a:rPr>
            <a:t> </a:t>
          </a:r>
          <a:r>
            <a:rPr lang="en-US" altLang="zh-TW" sz="1800" dirty="0">
              <a:latin typeface="Eras Medium ITC" panose="020B0602030504020804" pitchFamily="34" charset="0"/>
            </a:rPr>
            <a:t>4</a:t>
          </a:r>
          <a:endParaRPr lang="zh-TW" altLang="en-US" sz="1800" dirty="0">
            <a:latin typeface="Eras Medium ITC" panose="020B0602030504020804" pitchFamily="34" charset="0"/>
          </a:endParaRPr>
        </a:p>
      </dgm:t>
    </dgm:pt>
    <dgm:pt modelId="{A9DB5C53-8DF2-4A41-BDB5-1BE495502E43}" type="parTrans" cxnId="{FB4A7014-ADDF-45BB-8F42-C2B685C2F2DB}">
      <dgm:prSet/>
      <dgm:spPr/>
      <dgm:t>
        <a:bodyPr/>
        <a:lstStyle/>
        <a:p>
          <a:endParaRPr lang="zh-TW" altLang="en-US"/>
        </a:p>
      </dgm:t>
    </dgm:pt>
    <dgm:pt modelId="{CAAF17A1-7CE9-427C-85AD-681DF2015D61}" type="sibTrans" cxnId="{FB4A7014-ADDF-45BB-8F42-C2B685C2F2DB}">
      <dgm:prSet/>
      <dgm:spPr/>
      <dgm:t>
        <a:bodyPr/>
        <a:lstStyle/>
        <a:p>
          <a:endParaRPr lang="zh-TW" altLang="en-US"/>
        </a:p>
      </dgm:t>
    </dgm:pt>
    <dgm:pt modelId="{BBEF32DC-95A5-4934-A570-1C8A3A1DCAD7}">
      <dgm:prSet phldrT="[文字]" custT="1"/>
      <dgm:spPr>
        <a:solidFill>
          <a:srgbClr val="F9F9F9"/>
        </a:solidFill>
        <a:ln w="19050">
          <a:solidFill>
            <a:srgbClr val="54667E"/>
          </a:solidFill>
          <a:prstDash val="sysDash"/>
        </a:ln>
      </dgm:spPr>
      <dgm:t>
        <a:bodyPr/>
        <a:lstStyle/>
        <a:p>
          <a:pPr>
            <a:buNone/>
          </a:pPr>
          <a:r>
            <a:rPr lang="zh-TW" altLang="en-US" sz="1600" b="1" dirty="0">
              <a:solidFill>
                <a:schemeClr val="tx1">
                  <a:lumMod val="85000"/>
                  <a:lumOff val="15000"/>
                </a:schemeClr>
              </a:solidFill>
              <a:latin typeface="微軟正黑體" panose="020B0604030504040204" pitchFamily="34" charset="-120"/>
              <a:ea typeface="微軟正黑體" panose="020B0604030504040204" pitchFamily="34" charset="-120"/>
            </a:rPr>
            <a:t>當消費者已通過身分驗證程序時，則會進入票券兌換中心，進行票券的兌換作業</a:t>
          </a:r>
        </a:p>
      </dgm:t>
    </dgm:pt>
    <dgm:pt modelId="{A1B500E2-099E-4247-8084-9D3B016D6472}" type="parTrans" cxnId="{466E2390-61F0-433E-BAFF-DB3D2EC7D957}">
      <dgm:prSet/>
      <dgm:spPr/>
      <dgm:t>
        <a:bodyPr/>
        <a:lstStyle/>
        <a:p>
          <a:endParaRPr lang="zh-TW" altLang="en-US"/>
        </a:p>
      </dgm:t>
    </dgm:pt>
    <dgm:pt modelId="{E1B68986-F7AC-4283-8765-643A962A8229}" type="sibTrans" cxnId="{466E2390-61F0-433E-BAFF-DB3D2EC7D957}">
      <dgm:prSet/>
      <dgm:spPr/>
      <dgm:t>
        <a:bodyPr/>
        <a:lstStyle/>
        <a:p>
          <a:endParaRPr lang="zh-TW" altLang="en-US"/>
        </a:p>
      </dgm:t>
    </dgm:pt>
    <dgm:pt modelId="{74959315-2285-477B-992F-72F22C935CCF}">
      <dgm:prSet phldrT="[文字]" custT="1"/>
      <dgm:spPr>
        <a:solidFill>
          <a:srgbClr val="F9F9F9"/>
        </a:solidFill>
        <a:ln w="19050">
          <a:solidFill>
            <a:srgbClr val="54667E"/>
          </a:solidFill>
          <a:prstDash val="sysDash"/>
        </a:ln>
      </dgm:spPr>
      <dgm:t>
        <a:bodyPr/>
        <a:lstStyle/>
        <a:p>
          <a:pPr>
            <a:buNone/>
          </a:pPr>
          <a:r>
            <a:rPr lang="zh-TW" altLang="en-US" sz="1600" b="1" dirty="0">
              <a:solidFill>
                <a:schemeClr val="tx1">
                  <a:lumMod val="85000"/>
                  <a:lumOff val="15000"/>
                </a:schemeClr>
              </a:solidFill>
              <a:latin typeface="微軟正黑體" panose="020B0604030504040204" pitchFamily="34" charset="-120"/>
              <a:ea typeface="微軟正黑體" panose="020B0604030504040204" pitchFamily="34" charset="-120"/>
            </a:rPr>
            <a:t>以確保來電者是消費者本人</a:t>
          </a:r>
        </a:p>
      </dgm:t>
    </dgm:pt>
    <dgm:pt modelId="{627BC266-9B70-46CB-9D02-E8B9FF175BDF}" type="parTrans" cxnId="{8C284A30-527F-4882-87EE-E1ADB4A0EDE5}">
      <dgm:prSet/>
      <dgm:spPr/>
      <dgm:t>
        <a:bodyPr/>
        <a:lstStyle/>
        <a:p>
          <a:endParaRPr lang="zh-TW" altLang="en-US"/>
        </a:p>
      </dgm:t>
    </dgm:pt>
    <dgm:pt modelId="{D709B62D-281A-4A4A-B9F1-C6966B0A9B43}" type="sibTrans" cxnId="{8C284A30-527F-4882-87EE-E1ADB4A0EDE5}">
      <dgm:prSet/>
      <dgm:spPr/>
      <dgm:t>
        <a:bodyPr/>
        <a:lstStyle/>
        <a:p>
          <a:endParaRPr lang="zh-TW" altLang="en-US"/>
        </a:p>
      </dgm:t>
    </dgm:pt>
    <dgm:pt modelId="{65BB9C87-FF80-4B8C-8026-44E69E4EDE1C}">
      <dgm:prSet phldrT="[文字]" custT="1"/>
      <dgm:spPr>
        <a:solidFill>
          <a:srgbClr val="F9F9F9"/>
        </a:solidFill>
        <a:ln w="19050">
          <a:solidFill>
            <a:srgbClr val="54667E"/>
          </a:solidFill>
          <a:prstDash val="sysDash"/>
        </a:ln>
      </dgm:spPr>
      <dgm:t>
        <a:bodyPr/>
        <a:lstStyle/>
        <a:p>
          <a:pPr>
            <a:buNone/>
          </a:pPr>
          <a:r>
            <a:rPr lang="zh-TW" altLang="en-US" sz="1600" b="1" dirty="0">
              <a:solidFill>
                <a:schemeClr val="tx1">
                  <a:lumMod val="85000"/>
                  <a:lumOff val="15000"/>
                </a:schemeClr>
              </a:solidFill>
              <a:latin typeface="微軟正黑體" panose="020B0604030504040204" pitchFamily="34" charset="-120"/>
              <a:ea typeface="微軟正黑體" panose="020B0604030504040204" pitchFamily="34" charset="-120"/>
            </a:rPr>
            <a:t>即是會員身分驗證，確保來電或登入的消費者是當事人本人</a:t>
          </a:r>
        </a:p>
      </dgm:t>
    </dgm:pt>
    <dgm:pt modelId="{F451755F-78F2-437C-A5D0-DB6D0CB3219D}" type="parTrans" cxnId="{0177FE89-92AB-4204-B2F4-9B2961E7DC65}">
      <dgm:prSet/>
      <dgm:spPr/>
      <dgm:t>
        <a:bodyPr/>
        <a:lstStyle/>
        <a:p>
          <a:endParaRPr lang="zh-TW" altLang="en-US"/>
        </a:p>
      </dgm:t>
    </dgm:pt>
    <dgm:pt modelId="{F7AA9126-A7F5-420D-8139-BC24949D5DF2}" type="sibTrans" cxnId="{0177FE89-92AB-4204-B2F4-9B2961E7DC65}">
      <dgm:prSet/>
      <dgm:spPr/>
      <dgm:t>
        <a:bodyPr/>
        <a:lstStyle/>
        <a:p>
          <a:endParaRPr lang="zh-TW" altLang="en-US"/>
        </a:p>
      </dgm:t>
    </dgm:pt>
    <dgm:pt modelId="{A97B0C43-A015-425D-A655-B7AE43B0AE9D}">
      <dgm:prSet phldrT="[文字]" custT="1"/>
      <dgm:spPr>
        <a:solidFill>
          <a:srgbClr val="F9F9F9"/>
        </a:solidFill>
        <a:ln w="19050">
          <a:solidFill>
            <a:srgbClr val="54667E"/>
          </a:solidFill>
          <a:prstDash val="sysDash"/>
        </a:ln>
      </dgm:spPr>
      <dgm:t>
        <a:bodyPr/>
        <a:lstStyle/>
        <a:p>
          <a:pPr>
            <a:buNone/>
          </a:pPr>
          <a:r>
            <a:rPr lang="zh-TW" altLang="en-US" sz="1600" b="1" dirty="0">
              <a:solidFill>
                <a:schemeClr val="tx1">
                  <a:lumMod val="85000"/>
                  <a:lumOff val="15000"/>
                </a:schemeClr>
              </a:solidFill>
              <a:latin typeface="微軟正黑體" panose="020B0604030504040204" pitchFamily="34" charset="-120"/>
              <a:ea typeface="微軟正黑體" panose="020B0604030504040204" pitchFamily="34" charset="-120"/>
            </a:rPr>
            <a:t>如果一直未能通過，系統或客服將無法受理票券兌換</a:t>
          </a:r>
        </a:p>
      </dgm:t>
    </dgm:pt>
    <dgm:pt modelId="{FAE8BB95-1F1F-4081-8934-ABD990DB6368}" type="parTrans" cxnId="{4D54665F-26AB-4A91-B329-FB417C23D976}">
      <dgm:prSet/>
      <dgm:spPr/>
      <dgm:t>
        <a:bodyPr/>
        <a:lstStyle/>
        <a:p>
          <a:endParaRPr lang="zh-TW" altLang="en-US"/>
        </a:p>
      </dgm:t>
    </dgm:pt>
    <dgm:pt modelId="{A570B40C-DE0A-4165-A2C1-DD5F3433CA6B}" type="sibTrans" cxnId="{4D54665F-26AB-4A91-B329-FB417C23D976}">
      <dgm:prSet/>
      <dgm:spPr/>
      <dgm:t>
        <a:bodyPr/>
        <a:lstStyle/>
        <a:p>
          <a:endParaRPr lang="zh-TW" altLang="en-US"/>
        </a:p>
      </dgm:t>
    </dgm:pt>
    <dgm:pt modelId="{1CAEC387-615D-4E88-BD5D-D87A9EFF1BC9}" type="pres">
      <dgm:prSet presAssocID="{12B370C0-1CBE-4BAF-923D-3B8835488243}" presName="linearFlow" presStyleCnt="0">
        <dgm:presLayoutVars>
          <dgm:dir/>
          <dgm:animLvl val="lvl"/>
          <dgm:resizeHandles val="exact"/>
        </dgm:presLayoutVars>
      </dgm:prSet>
      <dgm:spPr/>
    </dgm:pt>
    <dgm:pt modelId="{F830B357-D871-4905-B30D-0B42A9F6115D}" type="pres">
      <dgm:prSet presAssocID="{CDD471D9-7FF9-4460-8795-5993826B794D}" presName="composite" presStyleCnt="0"/>
      <dgm:spPr/>
    </dgm:pt>
    <dgm:pt modelId="{6FAE88CE-1C8F-4A09-9F7C-F66F3C9D5ADB}" type="pres">
      <dgm:prSet presAssocID="{CDD471D9-7FF9-4460-8795-5993826B794D}" presName="parentText" presStyleLbl="alignNode1" presStyleIdx="0" presStyleCnt="4">
        <dgm:presLayoutVars>
          <dgm:chMax val="1"/>
          <dgm:bulletEnabled val="1"/>
        </dgm:presLayoutVars>
      </dgm:prSet>
      <dgm:spPr/>
    </dgm:pt>
    <dgm:pt modelId="{2594F87B-06C5-4877-AE12-1170ACBEDF70}" type="pres">
      <dgm:prSet presAssocID="{CDD471D9-7FF9-4460-8795-5993826B794D}" presName="descendantText" presStyleLbl="alignAcc1" presStyleIdx="0" presStyleCnt="4">
        <dgm:presLayoutVars>
          <dgm:bulletEnabled val="1"/>
        </dgm:presLayoutVars>
      </dgm:prSet>
      <dgm:spPr/>
    </dgm:pt>
    <dgm:pt modelId="{0CE7089C-635E-4202-AB08-9D8239AFA830}" type="pres">
      <dgm:prSet presAssocID="{7B3209EC-9C27-4427-B41E-FEB9237E21D7}" presName="sp" presStyleCnt="0"/>
      <dgm:spPr/>
    </dgm:pt>
    <dgm:pt modelId="{28A9CC30-0D94-43DB-A4C1-45DAEAAE7627}" type="pres">
      <dgm:prSet presAssocID="{27968939-704C-4FC7-9F5B-47547DFD114C}" presName="composite" presStyleCnt="0"/>
      <dgm:spPr/>
    </dgm:pt>
    <dgm:pt modelId="{617CF79B-DE98-43BF-B4BE-AF03C9B218D6}" type="pres">
      <dgm:prSet presAssocID="{27968939-704C-4FC7-9F5B-47547DFD114C}" presName="parentText" presStyleLbl="alignNode1" presStyleIdx="1" presStyleCnt="4">
        <dgm:presLayoutVars>
          <dgm:chMax val="1"/>
          <dgm:bulletEnabled val="1"/>
        </dgm:presLayoutVars>
      </dgm:prSet>
      <dgm:spPr/>
    </dgm:pt>
    <dgm:pt modelId="{B5338A0D-C86E-4704-B400-BF8B2251ECFC}" type="pres">
      <dgm:prSet presAssocID="{27968939-704C-4FC7-9F5B-47547DFD114C}" presName="descendantText" presStyleLbl="alignAcc1" presStyleIdx="1" presStyleCnt="4" custLinFactNeighborY="0">
        <dgm:presLayoutVars>
          <dgm:bulletEnabled val="1"/>
        </dgm:presLayoutVars>
      </dgm:prSet>
      <dgm:spPr/>
    </dgm:pt>
    <dgm:pt modelId="{E45A913D-5239-4F63-B52A-5089B8639A61}" type="pres">
      <dgm:prSet presAssocID="{02326337-F493-4A9B-AC26-1240D7B0BB60}" presName="sp" presStyleCnt="0"/>
      <dgm:spPr/>
    </dgm:pt>
    <dgm:pt modelId="{A5301C43-4D95-466A-987E-E20E5DBF89DB}" type="pres">
      <dgm:prSet presAssocID="{B5C6B3D4-C598-4EEC-A49F-09500742DE04}" presName="composite" presStyleCnt="0"/>
      <dgm:spPr/>
    </dgm:pt>
    <dgm:pt modelId="{B0F8E19C-4ED4-4A8E-BC65-C4920E32AA57}" type="pres">
      <dgm:prSet presAssocID="{B5C6B3D4-C598-4EEC-A49F-09500742DE04}" presName="parentText" presStyleLbl="alignNode1" presStyleIdx="2" presStyleCnt="4">
        <dgm:presLayoutVars>
          <dgm:chMax val="1"/>
          <dgm:bulletEnabled val="1"/>
        </dgm:presLayoutVars>
      </dgm:prSet>
      <dgm:spPr/>
    </dgm:pt>
    <dgm:pt modelId="{E6B05A32-B175-4199-AD6F-7D3C116D05F1}" type="pres">
      <dgm:prSet presAssocID="{B5C6B3D4-C598-4EEC-A49F-09500742DE04}" presName="descendantText" presStyleLbl="alignAcc1" presStyleIdx="2" presStyleCnt="4">
        <dgm:presLayoutVars>
          <dgm:bulletEnabled val="1"/>
        </dgm:presLayoutVars>
      </dgm:prSet>
      <dgm:spPr/>
    </dgm:pt>
    <dgm:pt modelId="{B07E7914-F7E1-451E-B6C0-BA47A33332DD}" type="pres">
      <dgm:prSet presAssocID="{77F7726F-080B-4B19-9EB0-1F09802FFA31}" presName="sp" presStyleCnt="0"/>
      <dgm:spPr/>
    </dgm:pt>
    <dgm:pt modelId="{E8270F52-415B-4612-B6B6-97AFB01F2AA0}" type="pres">
      <dgm:prSet presAssocID="{5B6F2622-6EE8-43BB-93BF-42EAE6159624}" presName="composite" presStyleCnt="0"/>
      <dgm:spPr/>
    </dgm:pt>
    <dgm:pt modelId="{E1C2831A-CBD4-4BAB-9E88-19138B9E134E}" type="pres">
      <dgm:prSet presAssocID="{5B6F2622-6EE8-43BB-93BF-42EAE6159624}" presName="parentText" presStyleLbl="alignNode1" presStyleIdx="3" presStyleCnt="4">
        <dgm:presLayoutVars>
          <dgm:chMax val="1"/>
          <dgm:bulletEnabled val="1"/>
        </dgm:presLayoutVars>
      </dgm:prSet>
      <dgm:spPr/>
    </dgm:pt>
    <dgm:pt modelId="{164D4262-E931-497C-9B32-BFE1C4E57337}" type="pres">
      <dgm:prSet presAssocID="{5B6F2622-6EE8-43BB-93BF-42EAE6159624}" presName="descendantText" presStyleLbl="alignAcc1" presStyleIdx="3" presStyleCnt="4">
        <dgm:presLayoutVars>
          <dgm:bulletEnabled val="1"/>
        </dgm:presLayoutVars>
      </dgm:prSet>
      <dgm:spPr/>
    </dgm:pt>
  </dgm:ptLst>
  <dgm:cxnLst>
    <dgm:cxn modelId="{CD414804-5709-48FF-8AF9-AE78E98ED84D}" type="presOf" srcId="{88A3B30E-BC81-432D-8F39-8A263D44E34C}" destId="{2594F87B-06C5-4877-AE12-1170ACBEDF70}" srcOrd="0" destOrd="0" presId="urn:microsoft.com/office/officeart/2005/8/layout/chevron2"/>
    <dgm:cxn modelId="{0AB0FC0A-253B-4C0B-A71C-E8E6FDAAD3E4}" type="presOf" srcId="{65BB9C87-FF80-4B8C-8026-44E69E4EDE1C}" destId="{2594F87B-06C5-4877-AE12-1170ACBEDF70}" srcOrd="0" destOrd="1" presId="urn:microsoft.com/office/officeart/2005/8/layout/chevron2"/>
    <dgm:cxn modelId="{26E5CE11-FF45-4297-8C89-7716401E0EE2}" type="presOf" srcId="{74959315-2285-477B-992F-72F22C935CCF}" destId="{B5338A0D-C86E-4704-B400-BF8B2251ECFC}" srcOrd="0" destOrd="1" presId="urn:microsoft.com/office/officeart/2005/8/layout/chevron2"/>
    <dgm:cxn modelId="{FB4A7014-ADDF-45BB-8F42-C2B685C2F2DB}" srcId="{12B370C0-1CBE-4BAF-923D-3B8835488243}" destId="{5B6F2622-6EE8-43BB-93BF-42EAE6159624}" srcOrd="3" destOrd="0" parTransId="{A9DB5C53-8DF2-4A41-BDB5-1BE495502E43}" sibTransId="{CAAF17A1-7CE9-427C-85AD-681DF2015D61}"/>
    <dgm:cxn modelId="{8C284A30-527F-4882-87EE-E1ADB4A0EDE5}" srcId="{27968939-704C-4FC7-9F5B-47547DFD114C}" destId="{74959315-2285-477B-992F-72F22C935CCF}" srcOrd="1" destOrd="0" parTransId="{627BC266-9B70-46CB-9D02-E8B9FF175BDF}" sibTransId="{D709B62D-281A-4A4A-B9F1-C6966B0A9B43}"/>
    <dgm:cxn modelId="{DC9F4B34-E1EF-4794-ADFE-9B34526DC1C1}" srcId="{12B370C0-1CBE-4BAF-923D-3B8835488243}" destId="{27968939-704C-4FC7-9F5B-47547DFD114C}" srcOrd="1" destOrd="0" parTransId="{4F43DB0A-A863-4356-9020-D277FFA66956}" sibTransId="{02326337-F493-4A9B-AC26-1240D7B0BB60}"/>
    <dgm:cxn modelId="{125E043A-FEFB-405B-8265-2BCDFB775A0C}" type="presOf" srcId="{5B6F2622-6EE8-43BB-93BF-42EAE6159624}" destId="{E1C2831A-CBD4-4BAB-9E88-19138B9E134E}" srcOrd="0" destOrd="0" presId="urn:microsoft.com/office/officeart/2005/8/layout/chevron2"/>
    <dgm:cxn modelId="{4D54665F-26AB-4A91-B329-FB417C23D976}" srcId="{B5C6B3D4-C598-4EEC-A49F-09500742DE04}" destId="{A97B0C43-A015-425D-A655-B7AE43B0AE9D}" srcOrd="1" destOrd="0" parTransId="{FAE8BB95-1F1F-4081-8934-ABD990DB6368}" sibTransId="{A570B40C-DE0A-4165-A2C1-DD5F3433CA6B}"/>
    <dgm:cxn modelId="{E875545F-3BA5-4F79-AE1E-F5009D6C5715}" type="presOf" srcId="{CDD471D9-7FF9-4460-8795-5993826B794D}" destId="{6FAE88CE-1C8F-4A09-9F7C-F66F3C9D5ADB}" srcOrd="0" destOrd="0" presId="urn:microsoft.com/office/officeart/2005/8/layout/chevron2"/>
    <dgm:cxn modelId="{8BE76145-ADC9-49DD-A888-D67DE2114C43}" type="presOf" srcId="{B5C6B3D4-C598-4EEC-A49F-09500742DE04}" destId="{B0F8E19C-4ED4-4A8E-BC65-C4920E32AA57}" srcOrd="0" destOrd="0" presId="urn:microsoft.com/office/officeart/2005/8/layout/chevron2"/>
    <dgm:cxn modelId="{74682C68-4349-473B-8AEC-2372442674A2}" srcId="{27968939-704C-4FC7-9F5B-47547DFD114C}" destId="{B49C42C4-4F8D-4D0A-BB1E-CC5AC7462AFC}" srcOrd="0" destOrd="0" parTransId="{B4AE4D80-64D6-4429-96F9-151076502AF7}" sibTransId="{4F59220D-6064-4F46-BDA8-6E4B4EB620D4}"/>
    <dgm:cxn modelId="{9FD97475-5E77-4A04-8573-62D55FD0DB10}" srcId="{CDD471D9-7FF9-4460-8795-5993826B794D}" destId="{88A3B30E-BC81-432D-8F39-8A263D44E34C}" srcOrd="0" destOrd="0" parTransId="{FE1D3070-234A-4FAF-86C5-3FD4CB239B53}" sibTransId="{93929E39-7A63-4DCB-81D9-066FCC7D92C5}"/>
    <dgm:cxn modelId="{1985E65A-C243-4A83-BED5-668E711AD9E0}" srcId="{12B370C0-1CBE-4BAF-923D-3B8835488243}" destId="{CDD471D9-7FF9-4460-8795-5993826B794D}" srcOrd="0" destOrd="0" parTransId="{5C48556E-91C1-4242-9AC3-10A602A74B65}" sibTransId="{7B3209EC-9C27-4427-B41E-FEB9237E21D7}"/>
    <dgm:cxn modelId="{0177FE89-92AB-4204-B2F4-9B2961E7DC65}" srcId="{CDD471D9-7FF9-4460-8795-5993826B794D}" destId="{65BB9C87-FF80-4B8C-8026-44E69E4EDE1C}" srcOrd="1" destOrd="0" parTransId="{F451755F-78F2-437C-A5D0-DB6D0CB3219D}" sibTransId="{F7AA9126-A7F5-420D-8139-BC24949D5DF2}"/>
    <dgm:cxn modelId="{466E2390-61F0-433E-BAFF-DB3D2EC7D957}" srcId="{5B6F2622-6EE8-43BB-93BF-42EAE6159624}" destId="{BBEF32DC-95A5-4934-A570-1C8A3A1DCAD7}" srcOrd="0" destOrd="0" parTransId="{A1B500E2-099E-4247-8084-9D3B016D6472}" sibTransId="{E1B68986-F7AC-4283-8765-643A962A8229}"/>
    <dgm:cxn modelId="{E532E6AF-579C-4AC5-9167-5E2F71DBB166}" type="presOf" srcId="{A97B0C43-A015-425D-A655-B7AE43B0AE9D}" destId="{E6B05A32-B175-4199-AD6F-7D3C116D05F1}" srcOrd="0" destOrd="1" presId="urn:microsoft.com/office/officeart/2005/8/layout/chevron2"/>
    <dgm:cxn modelId="{F6649FC7-2103-4554-BA4F-A3E380AA9139}" srcId="{B5C6B3D4-C598-4EEC-A49F-09500742DE04}" destId="{D898DBF5-0550-4F45-8B2B-48583AF5FB40}" srcOrd="0" destOrd="0" parTransId="{158FC438-4DD3-4C84-A33D-9E129143F6D6}" sibTransId="{18CDB012-6DB6-44F2-8647-E90B3C525638}"/>
    <dgm:cxn modelId="{964C82CD-31CC-4EAE-8C3F-C4F03FE153EB}" type="presOf" srcId="{12B370C0-1CBE-4BAF-923D-3B8835488243}" destId="{1CAEC387-615D-4E88-BD5D-D87A9EFF1BC9}" srcOrd="0" destOrd="0" presId="urn:microsoft.com/office/officeart/2005/8/layout/chevron2"/>
    <dgm:cxn modelId="{FF7492E0-0EC4-48D7-A1CB-ED5E6EE0FD8D}" type="presOf" srcId="{B49C42C4-4F8D-4D0A-BB1E-CC5AC7462AFC}" destId="{B5338A0D-C86E-4704-B400-BF8B2251ECFC}" srcOrd="0" destOrd="0" presId="urn:microsoft.com/office/officeart/2005/8/layout/chevron2"/>
    <dgm:cxn modelId="{DEC6D2E0-CF26-447C-9FF2-545775A12FE7}" type="presOf" srcId="{27968939-704C-4FC7-9F5B-47547DFD114C}" destId="{617CF79B-DE98-43BF-B4BE-AF03C9B218D6}" srcOrd="0" destOrd="0" presId="urn:microsoft.com/office/officeart/2005/8/layout/chevron2"/>
    <dgm:cxn modelId="{9A5461E5-93CC-4C3A-81CE-AF0BDF9B3BBF}" srcId="{12B370C0-1CBE-4BAF-923D-3B8835488243}" destId="{B5C6B3D4-C598-4EEC-A49F-09500742DE04}" srcOrd="2" destOrd="0" parTransId="{767E8E61-EC77-4BA6-BD9A-2A15B1D6BED4}" sibTransId="{77F7726F-080B-4B19-9EB0-1F09802FFA31}"/>
    <dgm:cxn modelId="{3ABD09EB-C810-43CD-8EB1-E3DBF0D77FEC}" type="presOf" srcId="{D898DBF5-0550-4F45-8B2B-48583AF5FB40}" destId="{E6B05A32-B175-4199-AD6F-7D3C116D05F1}" srcOrd="0" destOrd="0" presId="urn:microsoft.com/office/officeart/2005/8/layout/chevron2"/>
    <dgm:cxn modelId="{A32014EF-315F-48D3-A463-278F062A8F28}" type="presOf" srcId="{BBEF32DC-95A5-4934-A570-1C8A3A1DCAD7}" destId="{164D4262-E931-497C-9B32-BFE1C4E57337}" srcOrd="0" destOrd="0" presId="urn:microsoft.com/office/officeart/2005/8/layout/chevron2"/>
    <dgm:cxn modelId="{060BB5A4-FD78-46AF-B476-0B87C606C710}" type="presParOf" srcId="{1CAEC387-615D-4E88-BD5D-D87A9EFF1BC9}" destId="{F830B357-D871-4905-B30D-0B42A9F6115D}" srcOrd="0" destOrd="0" presId="urn:microsoft.com/office/officeart/2005/8/layout/chevron2"/>
    <dgm:cxn modelId="{006794C4-0C99-4DAA-9E2B-A22A83CA5611}" type="presParOf" srcId="{F830B357-D871-4905-B30D-0B42A9F6115D}" destId="{6FAE88CE-1C8F-4A09-9F7C-F66F3C9D5ADB}" srcOrd="0" destOrd="0" presId="urn:microsoft.com/office/officeart/2005/8/layout/chevron2"/>
    <dgm:cxn modelId="{C726B646-1720-4F1E-B860-E84C91D63E4A}" type="presParOf" srcId="{F830B357-D871-4905-B30D-0B42A9F6115D}" destId="{2594F87B-06C5-4877-AE12-1170ACBEDF70}" srcOrd="1" destOrd="0" presId="urn:microsoft.com/office/officeart/2005/8/layout/chevron2"/>
    <dgm:cxn modelId="{36F9D854-773C-456B-AA5B-D850AD7E24D9}" type="presParOf" srcId="{1CAEC387-615D-4E88-BD5D-D87A9EFF1BC9}" destId="{0CE7089C-635E-4202-AB08-9D8239AFA830}" srcOrd="1" destOrd="0" presId="urn:microsoft.com/office/officeart/2005/8/layout/chevron2"/>
    <dgm:cxn modelId="{C3484C62-73E2-4F03-B90F-1B97C3DA797B}" type="presParOf" srcId="{1CAEC387-615D-4E88-BD5D-D87A9EFF1BC9}" destId="{28A9CC30-0D94-43DB-A4C1-45DAEAAE7627}" srcOrd="2" destOrd="0" presId="urn:microsoft.com/office/officeart/2005/8/layout/chevron2"/>
    <dgm:cxn modelId="{B0EC37C8-039E-4320-8ADE-BFCA78912ED2}" type="presParOf" srcId="{28A9CC30-0D94-43DB-A4C1-45DAEAAE7627}" destId="{617CF79B-DE98-43BF-B4BE-AF03C9B218D6}" srcOrd="0" destOrd="0" presId="urn:microsoft.com/office/officeart/2005/8/layout/chevron2"/>
    <dgm:cxn modelId="{A050374C-2978-4748-8056-376FD64C68A7}" type="presParOf" srcId="{28A9CC30-0D94-43DB-A4C1-45DAEAAE7627}" destId="{B5338A0D-C86E-4704-B400-BF8B2251ECFC}" srcOrd="1" destOrd="0" presId="urn:microsoft.com/office/officeart/2005/8/layout/chevron2"/>
    <dgm:cxn modelId="{69BA3FBC-C260-45D3-A6A6-21CCECF2DAB1}" type="presParOf" srcId="{1CAEC387-615D-4E88-BD5D-D87A9EFF1BC9}" destId="{E45A913D-5239-4F63-B52A-5089B8639A61}" srcOrd="3" destOrd="0" presId="urn:microsoft.com/office/officeart/2005/8/layout/chevron2"/>
    <dgm:cxn modelId="{DA418740-8163-454B-9EB8-2006473D52C4}" type="presParOf" srcId="{1CAEC387-615D-4E88-BD5D-D87A9EFF1BC9}" destId="{A5301C43-4D95-466A-987E-E20E5DBF89DB}" srcOrd="4" destOrd="0" presId="urn:microsoft.com/office/officeart/2005/8/layout/chevron2"/>
    <dgm:cxn modelId="{AACEF0D4-0D71-43DC-8D3C-5D6549A8DB72}" type="presParOf" srcId="{A5301C43-4D95-466A-987E-E20E5DBF89DB}" destId="{B0F8E19C-4ED4-4A8E-BC65-C4920E32AA57}" srcOrd="0" destOrd="0" presId="urn:microsoft.com/office/officeart/2005/8/layout/chevron2"/>
    <dgm:cxn modelId="{F9C00171-E230-4307-97C8-9EA0B1F9CB67}" type="presParOf" srcId="{A5301C43-4D95-466A-987E-E20E5DBF89DB}" destId="{E6B05A32-B175-4199-AD6F-7D3C116D05F1}" srcOrd="1" destOrd="0" presId="urn:microsoft.com/office/officeart/2005/8/layout/chevron2"/>
    <dgm:cxn modelId="{558B9F29-9B02-4175-8CCB-F46965D29835}" type="presParOf" srcId="{1CAEC387-615D-4E88-BD5D-D87A9EFF1BC9}" destId="{B07E7914-F7E1-451E-B6C0-BA47A33332DD}" srcOrd="5" destOrd="0" presId="urn:microsoft.com/office/officeart/2005/8/layout/chevron2"/>
    <dgm:cxn modelId="{93302355-CE4F-4404-BA1C-BE1C4949637C}" type="presParOf" srcId="{1CAEC387-615D-4E88-BD5D-D87A9EFF1BC9}" destId="{E8270F52-415B-4612-B6B6-97AFB01F2AA0}" srcOrd="6" destOrd="0" presId="urn:microsoft.com/office/officeart/2005/8/layout/chevron2"/>
    <dgm:cxn modelId="{231768E0-6A83-4351-8132-F658F7ED6CDF}" type="presParOf" srcId="{E8270F52-415B-4612-B6B6-97AFB01F2AA0}" destId="{E1C2831A-CBD4-4BAB-9E88-19138B9E134E}" srcOrd="0" destOrd="0" presId="urn:microsoft.com/office/officeart/2005/8/layout/chevron2"/>
    <dgm:cxn modelId="{D8C8CAC5-CE1E-4247-8963-BBA922EE8CDA}" type="presParOf" srcId="{E8270F52-415B-4612-B6B6-97AFB01F2AA0}" destId="{164D4262-E931-497C-9B32-BFE1C4E57337}" srcOrd="1" destOrd="0" presId="urn:microsoft.com/office/officeart/2005/8/layout/chevron2"/>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9F54A57-E1D7-470C-B334-506B0F024239}" type="doc">
      <dgm:prSet loTypeId="urn:microsoft.com/office/officeart/2005/8/layout/chevron1" loCatId="process" qsTypeId="urn:microsoft.com/office/officeart/2005/8/quickstyle/simple1" qsCatId="simple" csTypeId="urn:microsoft.com/office/officeart/2005/8/colors/accent1_2" csCatId="accent1" phldr="1"/>
      <dgm:spPr/>
    </dgm:pt>
    <dgm:pt modelId="{D194007E-C487-4985-A5C4-8DB0F4BFC126}">
      <dgm:prSet phldrT="[文字]" custT="1">
        <dgm:style>
          <a:lnRef idx="2">
            <a:schemeClr val="accent5"/>
          </a:lnRef>
          <a:fillRef idx="1">
            <a:schemeClr val="lt1"/>
          </a:fillRef>
          <a:effectRef idx="0">
            <a:schemeClr val="accent5"/>
          </a:effectRef>
          <a:fontRef idx="minor">
            <a:schemeClr val="dk1"/>
          </a:fontRef>
        </dgm:style>
      </dgm:prSet>
      <dgm:spPr>
        <a:noFill/>
        <a:ln w="19050">
          <a:prstDash val="sysDash"/>
        </a:ln>
      </dgm:spPr>
      <dgm:t>
        <a:bodyPr/>
        <a:lstStyle/>
        <a:p>
          <a:r>
            <a:rPr lang="zh-TW" altLang="en-US" sz="2000" b="1" dirty="0">
              <a:solidFill>
                <a:srgbClr val="54667E"/>
              </a:solidFill>
              <a:latin typeface="微軟正黑體" panose="020B0604030504040204" pitchFamily="34" charset="-120"/>
              <a:ea typeface="微軟正黑體" panose="020B0604030504040204" pitchFamily="34" charset="-120"/>
            </a:rPr>
            <a:t>步驟</a:t>
          </a:r>
          <a:r>
            <a:rPr lang="en-US" altLang="en-US" sz="2000" b="1" dirty="0">
              <a:solidFill>
                <a:srgbClr val="54667E"/>
              </a:solidFill>
              <a:latin typeface="微軟正黑體" panose="020B0604030504040204" pitchFamily="34" charset="-120"/>
              <a:ea typeface="微軟正黑體" panose="020B0604030504040204" pitchFamily="34" charset="-120"/>
            </a:rPr>
            <a:t>3</a:t>
          </a:r>
          <a:r>
            <a:rPr lang="en-US" altLang="en-US" sz="2000" b="1" dirty="0">
              <a:latin typeface="微軟正黑體" panose="020B0604030504040204" pitchFamily="34" charset="-120"/>
              <a:ea typeface="微軟正黑體" panose="020B0604030504040204" pitchFamily="34" charset="-120"/>
            </a:rPr>
            <a:t>   </a:t>
          </a:r>
          <a:r>
            <a:rPr lang="zh-TW" altLang="en-US" sz="2000" b="1" dirty="0">
              <a:latin typeface="微軟正黑體" panose="020B0604030504040204" pitchFamily="34" charset="-120"/>
              <a:ea typeface="微軟正黑體" panose="020B0604030504040204" pitchFamily="34" charset="-120"/>
            </a:rPr>
            <a:t>防偽和防盜  之私有鏈模式</a:t>
          </a:r>
        </a:p>
      </dgm:t>
    </dgm:pt>
    <dgm:pt modelId="{0EB10A51-AA97-46B6-AB93-F929458212CD}" type="parTrans" cxnId="{98CB40C3-3BC4-49F8-BFF1-68002960DF02}">
      <dgm:prSet/>
      <dgm:spPr/>
      <dgm:t>
        <a:bodyPr/>
        <a:lstStyle/>
        <a:p>
          <a:endParaRPr lang="zh-TW" altLang="en-US"/>
        </a:p>
      </dgm:t>
    </dgm:pt>
    <dgm:pt modelId="{BCBC2974-D0CA-48EB-80B0-983241E9335D}" type="sibTrans" cxnId="{98CB40C3-3BC4-49F8-BFF1-68002960DF02}">
      <dgm:prSet/>
      <dgm:spPr/>
      <dgm:t>
        <a:bodyPr/>
        <a:lstStyle/>
        <a:p>
          <a:endParaRPr lang="zh-TW" altLang="en-US"/>
        </a:p>
      </dgm:t>
    </dgm:pt>
    <dgm:pt modelId="{54972BF3-8023-4960-B8A5-FADB47668C97}">
      <dgm:prSet phldrT="[文字]" custT="1">
        <dgm:style>
          <a:lnRef idx="2">
            <a:schemeClr val="accent5"/>
          </a:lnRef>
          <a:fillRef idx="1">
            <a:schemeClr val="lt1"/>
          </a:fillRef>
          <a:effectRef idx="0">
            <a:schemeClr val="accent5"/>
          </a:effectRef>
          <a:fontRef idx="minor">
            <a:schemeClr val="dk1"/>
          </a:fontRef>
        </dgm:style>
      </dgm:prSet>
      <dgm:spPr>
        <a:noFill/>
        <a:ln w="19050">
          <a:prstDash val="sysDash"/>
        </a:ln>
      </dgm:spPr>
      <dgm:t>
        <a:bodyPr/>
        <a:lstStyle/>
        <a:p>
          <a:r>
            <a:rPr lang="zh-TW" altLang="en-US" sz="2000" b="1" dirty="0">
              <a:solidFill>
                <a:srgbClr val="54667E"/>
              </a:solidFill>
              <a:latin typeface="微軟正黑體" panose="020B0604030504040204" pitchFamily="34" charset="-120"/>
              <a:ea typeface="微軟正黑體" panose="020B0604030504040204" pitchFamily="34" charset="-120"/>
            </a:rPr>
            <a:t>步驟</a:t>
          </a:r>
          <a:r>
            <a:rPr lang="en-US" altLang="en-US" sz="2000" b="1" dirty="0">
              <a:solidFill>
                <a:srgbClr val="54667E"/>
              </a:solidFill>
              <a:latin typeface="微軟正黑體" panose="020B0604030504040204" pitchFamily="34" charset="-120"/>
              <a:ea typeface="微軟正黑體" panose="020B0604030504040204" pitchFamily="34" charset="-120"/>
            </a:rPr>
            <a:t>2</a:t>
          </a:r>
          <a:r>
            <a:rPr lang="en-US" altLang="en-US" sz="2000" b="1" dirty="0">
              <a:latin typeface="微軟正黑體" panose="020B0604030504040204" pitchFamily="34" charset="-120"/>
              <a:ea typeface="微軟正黑體" panose="020B0604030504040204" pitchFamily="34" charset="-120"/>
            </a:rPr>
            <a:t>  </a:t>
          </a:r>
          <a:r>
            <a:rPr lang="zh-TW" altLang="en-US" sz="2000" b="1" dirty="0">
              <a:latin typeface="微軟正黑體" panose="020B0604030504040204" pitchFamily="34" charset="-120"/>
              <a:ea typeface="微軟正黑體" panose="020B0604030504040204" pitchFamily="34" charset="-120"/>
            </a:rPr>
            <a:t>信任與安全性</a:t>
          </a:r>
        </a:p>
      </dgm:t>
    </dgm:pt>
    <dgm:pt modelId="{12C22030-367C-4362-922A-3674BD018D74}" type="sibTrans" cxnId="{B1D2C7D2-5DC1-4658-B8EF-051BB806756F}">
      <dgm:prSet/>
      <dgm:spPr/>
      <dgm:t>
        <a:bodyPr/>
        <a:lstStyle/>
        <a:p>
          <a:endParaRPr lang="zh-TW" altLang="en-US"/>
        </a:p>
      </dgm:t>
    </dgm:pt>
    <dgm:pt modelId="{035148F1-8ABA-49BE-8A98-330390DC191B}" type="parTrans" cxnId="{B1D2C7D2-5DC1-4658-B8EF-051BB806756F}">
      <dgm:prSet/>
      <dgm:spPr/>
      <dgm:t>
        <a:bodyPr/>
        <a:lstStyle/>
        <a:p>
          <a:endParaRPr lang="zh-TW" altLang="en-US"/>
        </a:p>
      </dgm:t>
    </dgm:pt>
    <dgm:pt modelId="{C0211761-1E6C-4B4E-B178-99CCBCD62EC0}">
      <dgm:prSet phldrT="[文字]" custT="1">
        <dgm:style>
          <a:lnRef idx="2">
            <a:schemeClr val="accent5"/>
          </a:lnRef>
          <a:fillRef idx="1">
            <a:schemeClr val="lt1"/>
          </a:fillRef>
          <a:effectRef idx="0">
            <a:schemeClr val="accent5"/>
          </a:effectRef>
          <a:fontRef idx="minor">
            <a:schemeClr val="dk1"/>
          </a:fontRef>
        </dgm:style>
      </dgm:prSet>
      <dgm:spPr>
        <a:noFill/>
        <a:ln w="19050">
          <a:prstDash val="sysDash"/>
        </a:ln>
      </dgm:spPr>
      <dgm:t>
        <a:bodyPr/>
        <a:lstStyle/>
        <a:p>
          <a:r>
            <a:rPr lang="zh-TW" altLang="en-US" sz="2000" b="1" dirty="0">
              <a:solidFill>
                <a:srgbClr val="54667E"/>
              </a:solidFill>
              <a:latin typeface="微軟正黑體" panose="020B0604030504040204" pitchFamily="34" charset="-120"/>
              <a:ea typeface="微軟正黑體" panose="020B0604030504040204" pitchFamily="34" charset="-120"/>
            </a:rPr>
            <a:t>步驟</a:t>
          </a:r>
          <a:r>
            <a:rPr lang="en-US" altLang="en-US" sz="2000" b="1" dirty="0">
              <a:solidFill>
                <a:srgbClr val="54667E"/>
              </a:solidFill>
              <a:latin typeface="微軟正黑體" panose="020B0604030504040204" pitchFamily="34" charset="-120"/>
              <a:ea typeface="微軟正黑體" panose="020B0604030504040204" pitchFamily="34" charset="-120"/>
            </a:rPr>
            <a:t>1</a:t>
          </a:r>
          <a:r>
            <a:rPr lang="zh-TW" altLang="en-US" sz="2000" b="1" dirty="0">
              <a:solidFill>
                <a:srgbClr val="54667E"/>
              </a:solidFill>
              <a:latin typeface="微軟正黑體" panose="020B0604030504040204" pitchFamily="34" charset="-120"/>
              <a:ea typeface="微軟正黑體" panose="020B0604030504040204" pitchFamily="34" charset="-120"/>
            </a:rPr>
            <a:t>  </a:t>
          </a:r>
          <a:r>
            <a:rPr lang="zh-TW" altLang="en-US" sz="2000" b="1" dirty="0">
              <a:latin typeface="微軟正黑體" panose="020B0604030504040204" pitchFamily="34" charset="-120"/>
              <a:ea typeface="微軟正黑體" panose="020B0604030504040204" pitchFamily="34" charset="-120"/>
            </a:rPr>
            <a:t>貨幣概念發行</a:t>
          </a:r>
        </a:p>
      </dgm:t>
    </dgm:pt>
    <dgm:pt modelId="{DA2FB945-D312-4423-AB80-AE2FA0731D1B}" type="sibTrans" cxnId="{2BF15BDD-7BC4-4141-80AD-E67EA7463140}">
      <dgm:prSet/>
      <dgm:spPr/>
      <dgm:t>
        <a:bodyPr/>
        <a:lstStyle/>
        <a:p>
          <a:endParaRPr lang="zh-TW" altLang="en-US"/>
        </a:p>
      </dgm:t>
    </dgm:pt>
    <dgm:pt modelId="{EEDA97AC-38AC-4012-A4E4-AED3E61886E9}" type="parTrans" cxnId="{2BF15BDD-7BC4-4141-80AD-E67EA7463140}">
      <dgm:prSet/>
      <dgm:spPr/>
      <dgm:t>
        <a:bodyPr/>
        <a:lstStyle/>
        <a:p>
          <a:endParaRPr lang="zh-TW" altLang="en-US"/>
        </a:p>
      </dgm:t>
    </dgm:pt>
    <dgm:pt modelId="{8FF92B6F-06E2-4B1C-8AA0-D08090C8CB5A}" type="pres">
      <dgm:prSet presAssocID="{C9F54A57-E1D7-470C-B334-506B0F024239}" presName="Name0" presStyleCnt="0">
        <dgm:presLayoutVars>
          <dgm:dir/>
          <dgm:animLvl val="lvl"/>
          <dgm:resizeHandles val="exact"/>
        </dgm:presLayoutVars>
      </dgm:prSet>
      <dgm:spPr/>
    </dgm:pt>
    <dgm:pt modelId="{4481BBF2-C31B-4C55-82EA-495C968F4FC1}" type="pres">
      <dgm:prSet presAssocID="{C0211761-1E6C-4B4E-B178-99CCBCD62EC0}" presName="parTxOnly" presStyleLbl="node1" presStyleIdx="0" presStyleCnt="3">
        <dgm:presLayoutVars>
          <dgm:chMax val="0"/>
          <dgm:chPref val="0"/>
          <dgm:bulletEnabled val="1"/>
        </dgm:presLayoutVars>
      </dgm:prSet>
      <dgm:spPr/>
    </dgm:pt>
    <dgm:pt modelId="{2A62546E-AB04-4414-92EF-E2ED9F24D0F9}" type="pres">
      <dgm:prSet presAssocID="{DA2FB945-D312-4423-AB80-AE2FA0731D1B}" presName="parTxOnlySpace" presStyleCnt="0"/>
      <dgm:spPr/>
    </dgm:pt>
    <dgm:pt modelId="{287A21A1-6283-4CA3-975A-72B71D051295}" type="pres">
      <dgm:prSet presAssocID="{54972BF3-8023-4960-B8A5-FADB47668C97}" presName="parTxOnly" presStyleLbl="node1" presStyleIdx="1" presStyleCnt="3">
        <dgm:presLayoutVars>
          <dgm:chMax val="0"/>
          <dgm:chPref val="0"/>
          <dgm:bulletEnabled val="1"/>
        </dgm:presLayoutVars>
      </dgm:prSet>
      <dgm:spPr/>
    </dgm:pt>
    <dgm:pt modelId="{9A78C138-5BA9-4AAE-961F-785CB7B0589C}" type="pres">
      <dgm:prSet presAssocID="{12C22030-367C-4362-922A-3674BD018D74}" presName="parTxOnlySpace" presStyleCnt="0"/>
      <dgm:spPr/>
    </dgm:pt>
    <dgm:pt modelId="{DCA8044C-16C8-4B57-A9C6-0BB42D0ED2FB}" type="pres">
      <dgm:prSet presAssocID="{D194007E-C487-4985-A5C4-8DB0F4BFC126}" presName="parTxOnly" presStyleLbl="node1" presStyleIdx="2" presStyleCnt="3">
        <dgm:presLayoutVars>
          <dgm:chMax val="0"/>
          <dgm:chPref val="0"/>
          <dgm:bulletEnabled val="1"/>
        </dgm:presLayoutVars>
      </dgm:prSet>
      <dgm:spPr/>
    </dgm:pt>
  </dgm:ptLst>
  <dgm:cxnLst>
    <dgm:cxn modelId="{F2B79B2B-9723-4047-83DE-C7250B4E94D0}" type="presOf" srcId="{D194007E-C487-4985-A5C4-8DB0F4BFC126}" destId="{DCA8044C-16C8-4B57-A9C6-0BB42D0ED2FB}" srcOrd="0" destOrd="0" presId="urn:microsoft.com/office/officeart/2005/8/layout/chevron1"/>
    <dgm:cxn modelId="{BE814A8B-31FF-4C83-9CD9-7F063ECEBB7C}" type="presOf" srcId="{C0211761-1E6C-4B4E-B178-99CCBCD62EC0}" destId="{4481BBF2-C31B-4C55-82EA-495C968F4FC1}" srcOrd="0" destOrd="0" presId="urn:microsoft.com/office/officeart/2005/8/layout/chevron1"/>
    <dgm:cxn modelId="{3F833F8F-625A-4785-A9EB-F69DA6F35DA6}" type="presOf" srcId="{C9F54A57-E1D7-470C-B334-506B0F024239}" destId="{8FF92B6F-06E2-4B1C-8AA0-D08090C8CB5A}" srcOrd="0" destOrd="0" presId="urn:microsoft.com/office/officeart/2005/8/layout/chevron1"/>
    <dgm:cxn modelId="{98CB40C3-3BC4-49F8-BFF1-68002960DF02}" srcId="{C9F54A57-E1D7-470C-B334-506B0F024239}" destId="{D194007E-C487-4985-A5C4-8DB0F4BFC126}" srcOrd="2" destOrd="0" parTransId="{0EB10A51-AA97-46B6-AB93-F929458212CD}" sibTransId="{BCBC2974-D0CA-48EB-80B0-983241E9335D}"/>
    <dgm:cxn modelId="{B1D2C7D2-5DC1-4658-B8EF-051BB806756F}" srcId="{C9F54A57-E1D7-470C-B334-506B0F024239}" destId="{54972BF3-8023-4960-B8A5-FADB47668C97}" srcOrd="1" destOrd="0" parTransId="{035148F1-8ABA-49BE-8A98-330390DC191B}" sibTransId="{12C22030-367C-4362-922A-3674BD018D74}"/>
    <dgm:cxn modelId="{2BF15BDD-7BC4-4141-80AD-E67EA7463140}" srcId="{C9F54A57-E1D7-470C-B334-506B0F024239}" destId="{C0211761-1E6C-4B4E-B178-99CCBCD62EC0}" srcOrd="0" destOrd="0" parTransId="{EEDA97AC-38AC-4012-A4E4-AED3E61886E9}" sibTransId="{DA2FB945-D312-4423-AB80-AE2FA0731D1B}"/>
    <dgm:cxn modelId="{B531C6FE-FAB4-4AB1-A037-B7FAFE82FA89}" type="presOf" srcId="{54972BF3-8023-4960-B8A5-FADB47668C97}" destId="{287A21A1-6283-4CA3-975A-72B71D051295}" srcOrd="0" destOrd="0" presId="urn:microsoft.com/office/officeart/2005/8/layout/chevron1"/>
    <dgm:cxn modelId="{9AD963D6-2A89-4E03-B0A7-368B2E4E6E53}" type="presParOf" srcId="{8FF92B6F-06E2-4B1C-8AA0-D08090C8CB5A}" destId="{4481BBF2-C31B-4C55-82EA-495C968F4FC1}" srcOrd="0" destOrd="0" presId="urn:microsoft.com/office/officeart/2005/8/layout/chevron1"/>
    <dgm:cxn modelId="{783B0578-2E2A-42DD-B923-458577B8F4B9}" type="presParOf" srcId="{8FF92B6F-06E2-4B1C-8AA0-D08090C8CB5A}" destId="{2A62546E-AB04-4414-92EF-E2ED9F24D0F9}" srcOrd="1" destOrd="0" presId="urn:microsoft.com/office/officeart/2005/8/layout/chevron1"/>
    <dgm:cxn modelId="{C2DD1F7F-2149-44C5-9A52-680BE7122713}" type="presParOf" srcId="{8FF92B6F-06E2-4B1C-8AA0-D08090C8CB5A}" destId="{287A21A1-6283-4CA3-975A-72B71D051295}" srcOrd="2" destOrd="0" presId="urn:microsoft.com/office/officeart/2005/8/layout/chevron1"/>
    <dgm:cxn modelId="{4D7E56A1-96A5-4BB1-BE39-C860DEA0995D}" type="presParOf" srcId="{8FF92B6F-06E2-4B1C-8AA0-D08090C8CB5A}" destId="{9A78C138-5BA9-4AAE-961F-785CB7B0589C}" srcOrd="3" destOrd="0" presId="urn:microsoft.com/office/officeart/2005/8/layout/chevron1"/>
    <dgm:cxn modelId="{C5912B93-9BFD-4D74-B7B8-2BE1040BDE4C}" type="presParOf" srcId="{8FF92B6F-06E2-4B1C-8AA0-D08090C8CB5A}" destId="{DCA8044C-16C8-4B57-A9C6-0BB42D0ED2FB}" srcOrd="4" destOrd="0" presId="urn:microsoft.com/office/officeart/2005/8/layout/chevro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9F54A57-E1D7-470C-B334-506B0F024239}" type="doc">
      <dgm:prSet loTypeId="urn:microsoft.com/office/officeart/2005/8/layout/chevron1" loCatId="process" qsTypeId="urn:microsoft.com/office/officeart/2005/8/quickstyle/simple1" qsCatId="simple" csTypeId="urn:microsoft.com/office/officeart/2005/8/colors/accent1_2" csCatId="accent1" phldr="1"/>
      <dgm:spPr/>
    </dgm:pt>
    <dgm:pt modelId="{D194007E-C487-4985-A5C4-8DB0F4BFC126}">
      <dgm:prSet phldrT="[文字]" custT="1">
        <dgm:style>
          <a:lnRef idx="2">
            <a:schemeClr val="accent5"/>
          </a:lnRef>
          <a:fillRef idx="1">
            <a:schemeClr val="lt1"/>
          </a:fillRef>
          <a:effectRef idx="0">
            <a:schemeClr val="accent5"/>
          </a:effectRef>
          <a:fontRef idx="minor">
            <a:schemeClr val="dk1"/>
          </a:fontRef>
        </dgm:style>
      </dgm:prSet>
      <dgm:spPr>
        <a:noFill/>
        <a:ln w="19050">
          <a:prstDash val="sysDash"/>
        </a:ln>
      </dgm:spPr>
      <dgm:t>
        <a:bodyPr/>
        <a:lstStyle/>
        <a:p>
          <a:r>
            <a:rPr lang="zh-TW" altLang="en-US" sz="2000" b="1" dirty="0">
              <a:solidFill>
                <a:srgbClr val="54667E"/>
              </a:solidFill>
              <a:latin typeface="微軟正黑體" panose="020B0604030504040204" pitchFamily="34" charset="-120"/>
              <a:ea typeface="微軟正黑體" panose="020B0604030504040204" pitchFamily="34" charset="-120"/>
            </a:rPr>
            <a:t>步驟</a:t>
          </a:r>
          <a:r>
            <a:rPr lang="en-US" altLang="en-US" sz="2000" b="1" dirty="0">
              <a:solidFill>
                <a:srgbClr val="54667E"/>
              </a:solidFill>
              <a:latin typeface="微軟正黑體" panose="020B0604030504040204" pitchFamily="34" charset="-120"/>
              <a:ea typeface="微軟正黑體" panose="020B0604030504040204" pitchFamily="34" charset="-120"/>
            </a:rPr>
            <a:t>3</a:t>
          </a:r>
          <a:r>
            <a:rPr lang="zh-TW" altLang="en-US" sz="2000" b="1" dirty="0">
              <a:solidFill>
                <a:srgbClr val="54667E"/>
              </a:solidFill>
              <a:latin typeface="微軟正黑體" panose="020B0604030504040204" pitchFamily="34" charset="-120"/>
              <a:ea typeface="微軟正黑體" panose="020B0604030504040204" pitchFamily="34" charset="-120"/>
            </a:rPr>
            <a:t>  </a:t>
          </a:r>
          <a:r>
            <a:rPr lang="zh-TW" altLang="en-US" sz="2000" b="1" dirty="0">
              <a:latin typeface="微軟正黑體" panose="020B0604030504040204" pitchFamily="34" charset="-120"/>
              <a:ea typeface="微軟正黑體" panose="020B0604030504040204" pitchFamily="34" charset="-120"/>
            </a:rPr>
            <a:t>多元化交易選擇</a:t>
          </a:r>
        </a:p>
      </dgm:t>
    </dgm:pt>
    <dgm:pt modelId="{0EB10A51-AA97-46B6-AB93-F929458212CD}" type="parTrans" cxnId="{98CB40C3-3BC4-49F8-BFF1-68002960DF02}">
      <dgm:prSet/>
      <dgm:spPr/>
      <dgm:t>
        <a:bodyPr/>
        <a:lstStyle/>
        <a:p>
          <a:endParaRPr lang="zh-TW" altLang="en-US"/>
        </a:p>
      </dgm:t>
    </dgm:pt>
    <dgm:pt modelId="{BCBC2974-D0CA-48EB-80B0-983241E9335D}" type="sibTrans" cxnId="{98CB40C3-3BC4-49F8-BFF1-68002960DF02}">
      <dgm:prSet/>
      <dgm:spPr/>
      <dgm:t>
        <a:bodyPr/>
        <a:lstStyle/>
        <a:p>
          <a:endParaRPr lang="zh-TW" altLang="en-US"/>
        </a:p>
      </dgm:t>
    </dgm:pt>
    <dgm:pt modelId="{54972BF3-8023-4960-B8A5-FADB47668C97}">
      <dgm:prSet phldrT="[文字]" custT="1">
        <dgm:style>
          <a:lnRef idx="2">
            <a:schemeClr val="accent5"/>
          </a:lnRef>
          <a:fillRef idx="1">
            <a:schemeClr val="lt1"/>
          </a:fillRef>
          <a:effectRef idx="0">
            <a:schemeClr val="accent5"/>
          </a:effectRef>
          <a:fontRef idx="minor">
            <a:schemeClr val="dk1"/>
          </a:fontRef>
        </dgm:style>
      </dgm:prSet>
      <dgm:spPr>
        <a:noFill/>
        <a:ln w="19050">
          <a:prstDash val="sysDash"/>
        </a:ln>
      </dgm:spPr>
      <dgm:t>
        <a:bodyPr/>
        <a:lstStyle/>
        <a:p>
          <a:r>
            <a:rPr lang="zh-TW" altLang="en-US" sz="2000" b="1" dirty="0">
              <a:solidFill>
                <a:srgbClr val="54667E"/>
              </a:solidFill>
              <a:latin typeface="微軟正黑體" panose="020B0604030504040204" pitchFamily="34" charset="-120"/>
              <a:ea typeface="微軟正黑體" panose="020B0604030504040204" pitchFamily="34" charset="-120"/>
            </a:rPr>
            <a:t>步驟</a:t>
          </a:r>
          <a:r>
            <a:rPr lang="en-US" altLang="en-US" sz="2000" b="1" dirty="0">
              <a:solidFill>
                <a:srgbClr val="54667E"/>
              </a:solidFill>
              <a:latin typeface="微軟正黑體" panose="020B0604030504040204" pitchFamily="34" charset="-120"/>
              <a:ea typeface="微軟正黑體" panose="020B0604030504040204" pitchFamily="34" charset="-120"/>
            </a:rPr>
            <a:t>2</a:t>
          </a:r>
          <a:r>
            <a:rPr lang="en-US" altLang="en-US" sz="2000" b="1" dirty="0">
              <a:latin typeface="微軟正黑體" panose="020B0604030504040204" pitchFamily="34" charset="-120"/>
              <a:ea typeface="微軟正黑體" panose="020B0604030504040204" pitchFamily="34" charset="-120"/>
            </a:rPr>
            <a:t>  </a:t>
          </a:r>
          <a:r>
            <a:rPr lang="zh-TW" altLang="en-US" sz="2000" b="1" dirty="0">
              <a:latin typeface="微軟正黑體" panose="020B0604030504040204" pitchFamily="34" charset="-120"/>
              <a:ea typeface="微軟正黑體" panose="020B0604030504040204" pitchFamily="34" charset="-120"/>
            </a:rPr>
            <a:t>交易資訊防護</a:t>
          </a:r>
        </a:p>
      </dgm:t>
    </dgm:pt>
    <dgm:pt modelId="{12C22030-367C-4362-922A-3674BD018D74}" type="sibTrans" cxnId="{B1D2C7D2-5DC1-4658-B8EF-051BB806756F}">
      <dgm:prSet/>
      <dgm:spPr/>
      <dgm:t>
        <a:bodyPr/>
        <a:lstStyle/>
        <a:p>
          <a:endParaRPr lang="zh-TW" altLang="en-US"/>
        </a:p>
      </dgm:t>
    </dgm:pt>
    <dgm:pt modelId="{035148F1-8ABA-49BE-8A98-330390DC191B}" type="parTrans" cxnId="{B1D2C7D2-5DC1-4658-B8EF-051BB806756F}">
      <dgm:prSet/>
      <dgm:spPr/>
      <dgm:t>
        <a:bodyPr/>
        <a:lstStyle/>
        <a:p>
          <a:endParaRPr lang="zh-TW" altLang="en-US"/>
        </a:p>
      </dgm:t>
    </dgm:pt>
    <dgm:pt modelId="{C0211761-1E6C-4B4E-B178-99CCBCD62EC0}">
      <dgm:prSet phldrT="[文字]" custT="1">
        <dgm:style>
          <a:lnRef idx="2">
            <a:schemeClr val="accent5"/>
          </a:lnRef>
          <a:fillRef idx="1">
            <a:schemeClr val="lt1"/>
          </a:fillRef>
          <a:effectRef idx="0">
            <a:schemeClr val="accent5"/>
          </a:effectRef>
          <a:fontRef idx="minor">
            <a:schemeClr val="dk1"/>
          </a:fontRef>
        </dgm:style>
      </dgm:prSet>
      <dgm:spPr>
        <a:noFill/>
        <a:ln w="19050">
          <a:prstDash val="sysDash"/>
        </a:ln>
      </dgm:spPr>
      <dgm:t>
        <a:bodyPr/>
        <a:lstStyle/>
        <a:p>
          <a:r>
            <a:rPr lang="zh-TW" altLang="en-US" sz="2000" b="1" dirty="0">
              <a:solidFill>
                <a:srgbClr val="54667E"/>
              </a:solidFill>
              <a:latin typeface="微軟正黑體" panose="020B0604030504040204" pitchFamily="34" charset="-120"/>
              <a:ea typeface="微軟正黑體" panose="020B0604030504040204" pitchFamily="34" charset="-120"/>
            </a:rPr>
            <a:t>步驟</a:t>
          </a:r>
          <a:r>
            <a:rPr lang="en-US" altLang="en-US" sz="2000" b="1" dirty="0">
              <a:solidFill>
                <a:srgbClr val="54667E"/>
              </a:solidFill>
              <a:latin typeface="微軟正黑體" panose="020B0604030504040204" pitchFamily="34" charset="-120"/>
              <a:ea typeface="微軟正黑體" panose="020B0604030504040204" pitchFamily="34" charset="-120"/>
            </a:rPr>
            <a:t>1</a:t>
          </a:r>
          <a:r>
            <a:rPr lang="zh-TW" altLang="en-US" sz="2000" b="1" dirty="0">
              <a:solidFill>
                <a:srgbClr val="54667E"/>
              </a:solidFill>
              <a:latin typeface="微軟正黑體" panose="020B0604030504040204" pitchFamily="34" charset="-120"/>
              <a:ea typeface="微軟正黑體" panose="020B0604030504040204" pitchFamily="34" charset="-120"/>
            </a:rPr>
            <a:t>  </a:t>
          </a:r>
          <a:r>
            <a:rPr lang="zh-TW" altLang="en-US" sz="2000" b="1" dirty="0">
              <a:latin typeface="微軟正黑體" panose="020B0604030504040204" pitchFamily="34" charset="-120"/>
              <a:ea typeface="微軟正黑體" panose="020B0604030504040204" pitchFamily="34" charset="-120"/>
            </a:rPr>
            <a:t>消費行為確認</a:t>
          </a:r>
        </a:p>
      </dgm:t>
    </dgm:pt>
    <dgm:pt modelId="{DA2FB945-D312-4423-AB80-AE2FA0731D1B}" type="sibTrans" cxnId="{2BF15BDD-7BC4-4141-80AD-E67EA7463140}">
      <dgm:prSet/>
      <dgm:spPr/>
      <dgm:t>
        <a:bodyPr/>
        <a:lstStyle/>
        <a:p>
          <a:endParaRPr lang="zh-TW" altLang="en-US"/>
        </a:p>
      </dgm:t>
    </dgm:pt>
    <dgm:pt modelId="{EEDA97AC-38AC-4012-A4E4-AED3E61886E9}" type="parTrans" cxnId="{2BF15BDD-7BC4-4141-80AD-E67EA7463140}">
      <dgm:prSet/>
      <dgm:spPr/>
      <dgm:t>
        <a:bodyPr/>
        <a:lstStyle/>
        <a:p>
          <a:endParaRPr lang="zh-TW" altLang="en-US"/>
        </a:p>
      </dgm:t>
    </dgm:pt>
    <dgm:pt modelId="{8FF92B6F-06E2-4B1C-8AA0-D08090C8CB5A}" type="pres">
      <dgm:prSet presAssocID="{C9F54A57-E1D7-470C-B334-506B0F024239}" presName="Name0" presStyleCnt="0">
        <dgm:presLayoutVars>
          <dgm:dir/>
          <dgm:animLvl val="lvl"/>
          <dgm:resizeHandles val="exact"/>
        </dgm:presLayoutVars>
      </dgm:prSet>
      <dgm:spPr/>
    </dgm:pt>
    <dgm:pt modelId="{4481BBF2-C31B-4C55-82EA-495C968F4FC1}" type="pres">
      <dgm:prSet presAssocID="{C0211761-1E6C-4B4E-B178-99CCBCD62EC0}" presName="parTxOnly" presStyleLbl="node1" presStyleIdx="0" presStyleCnt="3">
        <dgm:presLayoutVars>
          <dgm:chMax val="0"/>
          <dgm:chPref val="0"/>
          <dgm:bulletEnabled val="1"/>
        </dgm:presLayoutVars>
      </dgm:prSet>
      <dgm:spPr/>
    </dgm:pt>
    <dgm:pt modelId="{2A62546E-AB04-4414-92EF-E2ED9F24D0F9}" type="pres">
      <dgm:prSet presAssocID="{DA2FB945-D312-4423-AB80-AE2FA0731D1B}" presName="parTxOnlySpace" presStyleCnt="0"/>
      <dgm:spPr/>
    </dgm:pt>
    <dgm:pt modelId="{287A21A1-6283-4CA3-975A-72B71D051295}" type="pres">
      <dgm:prSet presAssocID="{54972BF3-8023-4960-B8A5-FADB47668C97}" presName="parTxOnly" presStyleLbl="node1" presStyleIdx="1" presStyleCnt="3">
        <dgm:presLayoutVars>
          <dgm:chMax val="0"/>
          <dgm:chPref val="0"/>
          <dgm:bulletEnabled val="1"/>
        </dgm:presLayoutVars>
      </dgm:prSet>
      <dgm:spPr/>
    </dgm:pt>
    <dgm:pt modelId="{9A78C138-5BA9-4AAE-961F-785CB7B0589C}" type="pres">
      <dgm:prSet presAssocID="{12C22030-367C-4362-922A-3674BD018D74}" presName="parTxOnlySpace" presStyleCnt="0"/>
      <dgm:spPr/>
    </dgm:pt>
    <dgm:pt modelId="{DCA8044C-16C8-4B57-A9C6-0BB42D0ED2FB}" type="pres">
      <dgm:prSet presAssocID="{D194007E-C487-4985-A5C4-8DB0F4BFC126}" presName="parTxOnly" presStyleLbl="node1" presStyleIdx="2" presStyleCnt="3">
        <dgm:presLayoutVars>
          <dgm:chMax val="0"/>
          <dgm:chPref val="0"/>
          <dgm:bulletEnabled val="1"/>
        </dgm:presLayoutVars>
      </dgm:prSet>
      <dgm:spPr/>
    </dgm:pt>
  </dgm:ptLst>
  <dgm:cxnLst>
    <dgm:cxn modelId="{F2B79B2B-9723-4047-83DE-C7250B4E94D0}" type="presOf" srcId="{D194007E-C487-4985-A5C4-8DB0F4BFC126}" destId="{DCA8044C-16C8-4B57-A9C6-0BB42D0ED2FB}" srcOrd="0" destOrd="0" presId="urn:microsoft.com/office/officeart/2005/8/layout/chevron1"/>
    <dgm:cxn modelId="{BE814A8B-31FF-4C83-9CD9-7F063ECEBB7C}" type="presOf" srcId="{C0211761-1E6C-4B4E-B178-99CCBCD62EC0}" destId="{4481BBF2-C31B-4C55-82EA-495C968F4FC1}" srcOrd="0" destOrd="0" presId="urn:microsoft.com/office/officeart/2005/8/layout/chevron1"/>
    <dgm:cxn modelId="{3F833F8F-625A-4785-A9EB-F69DA6F35DA6}" type="presOf" srcId="{C9F54A57-E1D7-470C-B334-506B0F024239}" destId="{8FF92B6F-06E2-4B1C-8AA0-D08090C8CB5A}" srcOrd="0" destOrd="0" presId="urn:microsoft.com/office/officeart/2005/8/layout/chevron1"/>
    <dgm:cxn modelId="{98CB40C3-3BC4-49F8-BFF1-68002960DF02}" srcId="{C9F54A57-E1D7-470C-B334-506B0F024239}" destId="{D194007E-C487-4985-A5C4-8DB0F4BFC126}" srcOrd="2" destOrd="0" parTransId="{0EB10A51-AA97-46B6-AB93-F929458212CD}" sibTransId="{BCBC2974-D0CA-48EB-80B0-983241E9335D}"/>
    <dgm:cxn modelId="{B1D2C7D2-5DC1-4658-B8EF-051BB806756F}" srcId="{C9F54A57-E1D7-470C-B334-506B0F024239}" destId="{54972BF3-8023-4960-B8A5-FADB47668C97}" srcOrd="1" destOrd="0" parTransId="{035148F1-8ABA-49BE-8A98-330390DC191B}" sibTransId="{12C22030-367C-4362-922A-3674BD018D74}"/>
    <dgm:cxn modelId="{2BF15BDD-7BC4-4141-80AD-E67EA7463140}" srcId="{C9F54A57-E1D7-470C-B334-506B0F024239}" destId="{C0211761-1E6C-4B4E-B178-99CCBCD62EC0}" srcOrd="0" destOrd="0" parTransId="{EEDA97AC-38AC-4012-A4E4-AED3E61886E9}" sibTransId="{DA2FB945-D312-4423-AB80-AE2FA0731D1B}"/>
    <dgm:cxn modelId="{B531C6FE-FAB4-4AB1-A037-B7FAFE82FA89}" type="presOf" srcId="{54972BF3-8023-4960-B8A5-FADB47668C97}" destId="{287A21A1-6283-4CA3-975A-72B71D051295}" srcOrd="0" destOrd="0" presId="urn:microsoft.com/office/officeart/2005/8/layout/chevron1"/>
    <dgm:cxn modelId="{9AD963D6-2A89-4E03-B0A7-368B2E4E6E53}" type="presParOf" srcId="{8FF92B6F-06E2-4B1C-8AA0-D08090C8CB5A}" destId="{4481BBF2-C31B-4C55-82EA-495C968F4FC1}" srcOrd="0" destOrd="0" presId="urn:microsoft.com/office/officeart/2005/8/layout/chevron1"/>
    <dgm:cxn modelId="{783B0578-2E2A-42DD-B923-458577B8F4B9}" type="presParOf" srcId="{8FF92B6F-06E2-4B1C-8AA0-D08090C8CB5A}" destId="{2A62546E-AB04-4414-92EF-E2ED9F24D0F9}" srcOrd="1" destOrd="0" presId="urn:microsoft.com/office/officeart/2005/8/layout/chevron1"/>
    <dgm:cxn modelId="{C2DD1F7F-2149-44C5-9A52-680BE7122713}" type="presParOf" srcId="{8FF92B6F-06E2-4B1C-8AA0-D08090C8CB5A}" destId="{287A21A1-6283-4CA3-975A-72B71D051295}" srcOrd="2" destOrd="0" presId="urn:microsoft.com/office/officeart/2005/8/layout/chevron1"/>
    <dgm:cxn modelId="{4D7E56A1-96A5-4BB1-BE39-C860DEA0995D}" type="presParOf" srcId="{8FF92B6F-06E2-4B1C-8AA0-D08090C8CB5A}" destId="{9A78C138-5BA9-4AAE-961F-785CB7B0589C}" srcOrd="3" destOrd="0" presId="urn:microsoft.com/office/officeart/2005/8/layout/chevron1"/>
    <dgm:cxn modelId="{C5912B93-9BFD-4D74-B7B8-2BE1040BDE4C}" type="presParOf" srcId="{8FF92B6F-06E2-4B1C-8AA0-D08090C8CB5A}" destId="{DCA8044C-16C8-4B57-A9C6-0BB42D0ED2FB}" srcOrd="4"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97468D1-8B77-450D-ACE3-E97BA3A99FD4}" type="doc">
      <dgm:prSet loTypeId="urn:microsoft.com/office/officeart/2005/8/layout/chevron1" loCatId="process" qsTypeId="urn:microsoft.com/office/officeart/2005/8/quickstyle/simple1" qsCatId="simple" csTypeId="urn:microsoft.com/office/officeart/2005/8/colors/accent1_2" csCatId="accent1" phldr="1"/>
      <dgm:spPr/>
    </dgm:pt>
    <dgm:pt modelId="{30136093-F619-460B-9960-218E57ED0FCB}">
      <dgm:prSet phldrT="[文字]" custT="1">
        <dgm:style>
          <a:lnRef idx="0">
            <a:scrgbClr r="0" g="0" b="0"/>
          </a:lnRef>
          <a:fillRef idx="0">
            <a:scrgbClr r="0" g="0" b="0"/>
          </a:fillRef>
          <a:effectRef idx="0">
            <a:scrgbClr r="0" g="0" b="0"/>
          </a:effectRef>
          <a:fontRef idx="minor">
            <a:schemeClr val="accent5"/>
          </a:fontRef>
        </dgm:style>
      </dgm:prSet>
      <dgm:spPr>
        <a:noFill/>
        <a:ln w="19050" cap="flat" cmpd="sng" algn="ctr">
          <a:solidFill>
            <a:srgbClr val="C00000"/>
          </a:solidFill>
          <a:prstDash val="sysDash"/>
          <a:round/>
          <a:headEnd type="none" w="med" len="med"/>
          <a:tailEnd type="none" w="med" len="med"/>
        </a:ln>
      </dgm:spPr>
      <dgm:t>
        <a:bodyPr/>
        <a:lstStyle/>
        <a:p>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店家登入平台購買票券（儲值點數）</a:t>
          </a:r>
        </a:p>
      </dgm:t>
    </dgm:pt>
    <dgm:pt modelId="{D3F162FD-0797-4557-A10C-8102FF420F22}" type="parTrans" cxnId="{DCB1C309-5563-48AE-9FF8-C57A5B3AB98A}">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82C16A62-18D6-43E4-8456-8D5AF52A93E9}" type="sibTrans" cxnId="{DCB1C309-5563-48AE-9FF8-C57A5B3AB98A}">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EFB52BA1-D7F0-4994-BA38-0F0FB6E16390}">
      <dgm:prSet phldrT="[文字]" custT="1">
        <dgm:style>
          <a:lnRef idx="0">
            <a:scrgbClr r="0" g="0" b="0"/>
          </a:lnRef>
          <a:fillRef idx="0">
            <a:scrgbClr r="0" g="0" b="0"/>
          </a:fillRef>
          <a:effectRef idx="0">
            <a:scrgbClr r="0" g="0" b="0"/>
          </a:effectRef>
          <a:fontRef idx="minor">
            <a:schemeClr val="accent5"/>
          </a:fontRef>
        </dgm:style>
      </dgm:prSet>
      <dgm:spPr>
        <a:noFill/>
        <a:ln w="19050" cap="flat" cmpd="sng" algn="ctr">
          <a:solidFill>
            <a:srgbClr val="C00000"/>
          </a:solidFill>
          <a:prstDash val="sysDash"/>
          <a:round/>
          <a:headEnd type="none" w="med" len="med"/>
          <a:tailEnd type="none" w="med" len="med"/>
        </a:ln>
      </dgm:spPr>
      <dgm:t>
        <a:bodyPr/>
        <a:lstStyle/>
        <a:p>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平台支付點數給店家</a:t>
          </a:r>
        </a:p>
      </dgm:t>
    </dgm:pt>
    <dgm:pt modelId="{275F0F44-4D65-4B0C-B848-C763D28D1752}" type="parTrans" cxnId="{C24B07F4-573D-41FE-AECE-6EA5ADECA40B}">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C1660AF5-F907-4E3E-801E-2FBC88163514}" type="sibTrans" cxnId="{C24B07F4-573D-41FE-AECE-6EA5ADECA40B}">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C74F3803-1229-4906-B717-21F4D9A8F00C}">
      <dgm:prSet phldrT="[文字]" custT="1">
        <dgm:style>
          <a:lnRef idx="0">
            <a:scrgbClr r="0" g="0" b="0"/>
          </a:lnRef>
          <a:fillRef idx="0">
            <a:scrgbClr r="0" g="0" b="0"/>
          </a:fillRef>
          <a:effectRef idx="0">
            <a:scrgbClr r="0" g="0" b="0"/>
          </a:effectRef>
          <a:fontRef idx="minor">
            <a:schemeClr val="accent5"/>
          </a:fontRef>
        </dgm:style>
      </dgm:prSet>
      <dgm:spPr>
        <a:noFill/>
        <a:ln w="19050" cap="flat" cmpd="sng" algn="ctr">
          <a:solidFill>
            <a:srgbClr val="308071"/>
          </a:solidFill>
          <a:prstDash val="sysDash"/>
          <a:round/>
          <a:headEnd type="none" w="med" len="med"/>
          <a:tailEnd type="none" w="med" len="med"/>
        </a:ln>
      </dgm:spPr>
      <dgm:t>
        <a:bodyPr/>
        <a:lstStyle/>
        <a:p>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消費者至平台註冊帳號取得權限</a:t>
          </a:r>
        </a:p>
      </dgm:t>
    </dgm:pt>
    <dgm:pt modelId="{DBFD3FA4-000C-45D1-A415-E85B100780C1}" type="parTrans" cxnId="{13947619-CB3D-4334-8ABE-479AE1335852}">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5B1AC9A3-294F-498D-8C05-1D899BF9EB9C}" type="sibTrans" cxnId="{13947619-CB3D-4334-8ABE-479AE1335852}">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BE42F163-D9CB-435F-91BF-50198299CC18}">
      <dgm:prSet phldrT="[文字]" custT="1">
        <dgm:style>
          <a:lnRef idx="0">
            <a:scrgbClr r="0" g="0" b="0"/>
          </a:lnRef>
          <a:fillRef idx="0">
            <a:scrgbClr r="0" g="0" b="0"/>
          </a:fillRef>
          <a:effectRef idx="0">
            <a:scrgbClr r="0" g="0" b="0"/>
          </a:effectRef>
          <a:fontRef idx="minor">
            <a:schemeClr val="accent5"/>
          </a:fontRef>
        </dgm:style>
      </dgm:prSet>
      <dgm:spPr>
        <a:noFill/>
        <a:ln w="19050" cap="flat" cmpd="sng" algn="ctr">
          <a:solidFill>
            <a:schemeClr val="accent6">
              <a:lumMod val="50000"/>
            </a:schemeClr>
          </a:solidFill>
          <a:prstDash val="sysDash"/>
          <a:round/>
          <a:headEnd type="none" w="med" len="med"/>
          <a:tailEnd type="none" w="med" len="med"/>
        </a:ln>
      </dgm:spPr>
      <dgm:t>
        <a:bodyPr/>
        <a:lstStyle/>
        <a:p>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消費者至店家消費</a:t>
          </a:r>
        </a:p>
      </dgm:t>
    </dgm:pt>
    <dgm:pt modelId="{52E783E6-0E6A-4987-8BF7-74B1771C088D}" type="parTrans" cxnId="{8D8CC258-523E-45F2-B367-E9588F64E520}">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5052BA4D-CC9F-45BF-9949-FB6568E98050}" type="sibTrans" cxnId="{8D8CC258-523E-45F2-B367-E9588F64E520}">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CB9CA1AA-836B-431E-BE64-6DEF33CD7913}" type="pres">
      <dgm:prSet presAssocID="{297468D1-8B77-450D-ACE3-E97BA3A99FD4}" presName="Name0" presStyleCnt="0">
        <dgm:presLayoutVars>
          <dgm:dir/>
          <dgm:animLvl val="lvl"/>
          <dgm:resizeHandles val="exact"/>
        </dgm:presLayoutVars>
      </dgm:prSet>
      <dgm:spPr/>
    </dgm:pt>
    <dgm:pt modelId="{7C2CC348-FE2B-46AA-BED4-B7FF37BAF1D6}" type="pres">
      <dgm:prSet presAssocID="{30136093-F619-460B-9960-218E57ED0FCB}" presName="parTxOnly" presStyleLbl="node1" presStyleIdx="0" presStyleCnt="4">
        <dgm:presLayoutVars>
          <dgm:chMax val="0"/>
          <dgm:chPref val="0"/>
          <dgm:bulletEnabled val="1"/>
        </dgm:presLayoutVars>
      </dgm:prSet>
      <dgm:spPr/>
    </dgm:pt>
    <dgm:pt modelId="{43C2E9B6-4C48-44B0-9AA4-14211F89BB32}" type="pres">
      <dgm:prSet presAssocID="{82C16A62-18D6-43E4-8456-8D5AF52A93E9}" presName="parTxOnlySpace" presStyleCnt="0"/>
      <dgm:spPr/>
    </dgm:pt>
    <dgm:pt modelId="{CAFC41C5-DE59-4A1D-84C0-F9E1A408CC1C}" type="pres">
      <dgm:prSet presAssocID="{EFB52BA1-D7F0-4994-BA38-0F0FB6E16390}" presName="parTxOnly" presStyleLbl="node1" presStyleIdx="1" presStyleCnt="4" custScaleX="105674">
        <dgm:presLayoutVars>
          <dgm:chMax val="0"/>
          <dgm:chPref val="0"/>
          <dgm:bulletEnabled val="1"/>
        </dgm:presLayoutVars>
      </dgm:prSet>
      <dgm:spPr/>
    </dgm:pt>
    <dgm:pt modelId="{31F1E9D3-C753-4814-95A9-53FBCC0DF54D}" type="pres">
      <dgm:prSet presAssocID="{C1660AF5-F907-4E3E-801E-2FBC88163514}" presName="parTxOnlySpace" presStyleCnt="0"/>
      <dgm:spPr/>
    </dgm:pt>
    <dgm:pt modelId="{7673D555-E35F-4434-8187-F94C8832E94D}" type="pres">
      <dgm:prSet presAssocID="{C74F3803-1229-4906-B717-21F4D9A8F00C}" presName="parTxOnly" presStyleLbl="node1" presStyleIdx="2" presStyleCnt="4">
        <dgm:presLayoutVars>
          <dgm:chMax val="0"/>
          <dgm:chPref val="0"/>
          <dgm:bulletEnabled val="1"/>
        </dgm:presLayoutVars>
      </dgm:prSet>
      <dgm:spPr/>
    </dgm:pt>
    <dgm:pt modelId="{DD02015D-A5C2-4967-8E64-7D20A1160D75}" type="pres">
      <dgm:prSet presAssocID="{5B1AC9A3-294F-498D-8C05-1D899BF9EB9C}" presName="parTxOnlySpace" presStyleCnt="0"/>
      <dgm:spPr/>
    </dgm:pt>
    <dgm:pt modelId="{F66F5D67-3A5F-466B-A377-9E2E0A12D675}" type="pres">
      <dgm:prSet presAssocID="{BE42F163-D9CB-435F-91BF-50198299CC18}" presName="parTxOnly" presStyleLbl="node1" presStyleIdx="3" presStyleCnt="4">
        <dgm:presLayoutVars>
          <dgm:chMax val="0"/>
          <dgm:chPref val="0"/>
          <dgm:bulletEnabled val="1"/>
        </dgm:presLayoutVars>
      </dgm:prSet>
      <dgm:spPr/>
    </dgm:pt>
  </dgm:ptLst>
  <dgm:cxnLst>
    <dgm:cxn modelId="{E94E2009-9750-4945-AAFA-373B6E6346F9}" type="presOf" srcId="{BE42F163-D9CB-435F-91BF-50198299CC18}" destId="{F66F5D67-3A5F-466B-A377-9E2E0A12D675}" srcOrd="0" destOrd="0" presId="urn:microsoft.com/office/officeart/2005/8/layout/chevron1"/>
    <dgm:cxn modelId="{DCB1C309-5563-48AE-9FF8-C57A5B3AB98A}" srcId="{297468D1-8B77-450D-ACE3-E97BA3A99FD4}" destId="{30136093-F619-460B-9960-218E57ED0FCB}" srcOrd="0" destOrd="0" parTransId="{D3F162FD-0797-4557-A10C-8102FF420F22}" sibTransId="{82C16A62-18D6-43E4-8456-8D5AF52A93E9}"/>
    <dgm:cxn modelId="{13947619-CB3D-4334-8ABE-479AE1335852}" srcId="{297468D1-8B77-450D-ACE3-E97BA3A99FD4}" destId="{C74F3803-1229-4906-B717-21F4D9A8F00C}" srcOrd="2" destOrd="0" parTransId="{DBFD3FA4-000C-45D1-A415-E85B100780C1}" sibTransId="{5B1AC9A3-294F-498D-8C05-1D899BF9EB9C}"/>
    <dgm:cxn modelId="{E2DC096A-764A-4FCB-BA31-53254F35985F}" type="presOf" srcId="{EFB52BA1-D7F0-4994-BA38-0F0FB6E16390}" destId="{CAFC41C5-DE59-4A1D-84C0-F9E1A408CC1C}" srcOrd="0" destOrd="0" presId="urn:microsoft.com/office/officeart/2005/8/layout/chevron1"/>
    <dgm:cxn modelId="{8D8CC258-523E-45F2-B367-E9588F64E520}" srcId="{297468D1-8B77-450D-ACE3-E97BA3A99FD4}" destId="{BE42F163-D9CB-435F-91BF-50198299CC18}" srcOrd="3" destOrd="0" parTransId="{52E783E6-0E6A-4987-8BF7-74B1771C088D}" sibTransId="{5052BA4D-CC9F-45BF-9949-FB6568E98050}"/>
    <dgm:cxn modelId="{13C1BC93-C757-40B5-B80C-87EA0427D09A}" type="presOf" srcId="{30136093-F619-460B-9960-218E57ED0FCB}" destId="{7C2CC348-FE2B-46AA-BED4-B7FF37BAF1D6}" srcOrd="0" destOrd="0" presId="urn:microsoft.com/office/officeart/2005/8/layout/chevron1"/>
    <dgm:cxn modelId="{0488BDB1-76C3-43BA-995E-0F8B1EFC7DD2}" type="presOf" srcId="{C74F3803-1229-4906-B717-21F4D9A8F00C}" destId="{7673D555-E35F-4434-8187-F94C8832E94D}" srcOrd="0" destOrd="0" presId="urn:microsoft.com/office/officeart/2005/8/layout/chevron1"/>
    <dgm:cxn modelId="{190432BC-7007-438F-AF32-BD0215A8BA75}" type="presOf" srcId="{297468D1-8B77-450D-ACE3-E97BA3A99FD4}" destId="{CB9CA1AA-836B-431E-BE64-6DEF33CD7913}" srcOrd="0" destOrd="0" presId="urn:microsoft.com/office/officeart/2005/8/layout/chevron1"/>
    <dgm:cxn modelId="{C24B07F4-573D-41FE-AECE-6EA5ADECA40B}" srcId="{297468D1-8B77-450D-ACE3-E97BA3A99FD4}" destId="{EFB52BA1-D7F0-4994-BA38-0F0FB6E16390}" srcOrd="1" destOrd="0" parTransId="{275F0F44-4D65-4B0C-B848-C763D28D1752}" sibTransId="{C1660AF5-F907-4E3E-801E-2FBC88163514}"/>
    <dgm:cxn modelId="{B556C09B-2986-4480-ABBE-F5DF4D3FF319}" type="presParOf" srcId="{CB9CA1AA-836B-431E-BE64-6DEF33CD7913}" destId="{7C2CC348-FE2B-46AA-BED4-B7FF37BAF1D6}" srcOrd="0" destOrd="0" presId="urn:microsoft.com/office/officeart/2005/8/layout/chevron1"/>
    <dgm:cxn modelId="{0D04A849-82E3-47D2-9199-082EE47B3528}" type="presParOf" srcId="{CB9CA1AA-836B-431E-BE64-6DEF33CD7913}" destId="{43C2E9B6-4C48-44B0-9AA4-14211F89BB32}" srcOrd="1" destOrd="0" presId="urn:microsoft.com/office/officeart/2005/8/layout/chevron1"/>
    <dgm:cxn modelId="{710F7A72-3561-4E20-9589-0A0BC028BBCB}" type="presParOf" srcId="{CB9CA1AA-836B-431E-BE64-6DEF33CD7913}" destId="{CAFC41C5-DE59-4A1D-84C0-F9E1A408CC1C}" srcOrd="2" destOrd="0" presId="urn:microsoft.com/office/officeart/2005/8/layout/chevron1"/>
    <dgm:cxn modelId="{F45F9DC2-D791-4057-844C-C8ACA2CD7DBD}" type="presParOf" srcId="{CB9CA1AA-836B-431E-BE64-6DEF33CD7913}" destId="{31F1E9D3-C753-4814-95A9-53FBCC0DF54D}" srcOrd="3" destOrd="0" presId="urn:microsoft.com/office/officeart/2005/8/layout/chevron1"/>
    <dgm:cxn modelId="{5BEE9950-C6EA-4F67-9DA2-0172CFD4A22B}" type="presParOf" srcId="{CB9CA1AA-836B-431E-BE64-6DEF33CD7913}" destId="{7673D555-E35F-4434-8187-F94C8832E94D}" srcOrd="4" destOrd="0" presId="urn:microsoft.com/office/officeart/2005/8/layout/chevron1"/>
    <dgm:cxn modelId="{E9FEBFBD-A61D-452A-BB51-6404B95B9992}" type="presParOf" srcId="{CB9CA1AA-836B-431E-BE64-6DEF33CD7913}" destId="{DD02015D-A5C2-4967-8E64-7D20A1160D75}" srcOrd="5" destOrd="0" presId="urn:microsoft.com/office/officeart/2005/8/layout/chevron1"/>
    <dgm:cxn modelId="{EC7E7347-0806-4B3A-A84C-51EFD56ACAEC}" type="presParOf" srcId="{CB9CA1AA-836B-431E-BE64-6DEF33CD7913}" destId="{F66F5D67-3A5F-466B-A377-9E2E0A12D675}" srcOrd="6"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97468D1-8B77-450D-ACE3-E97BA3A99FD4}" type="doc">
      <dgm:prSet loTypeId="urn:microsoft.com/office/officeart/2005/8/layout/chevron1" loCatId="process" qsTypeId="urn:microsoft.com/office/officeart/2005/8/quickstyle/simple1" qsCatId="simple" csTypeId="urn:microsoft.com/office/officeart/2005/8/colors/accent1_2" csCatId="accent1" phldr="1"/>
      <dgm:spPr/>
    </dgm:pt>
    <dgm:pt modelId="{30136093-F619-460B-9960-218E57ED0FCB}">
      <dgm:prSet phldrT="[文字]" custT="1">
        <dgm:style>
          <a:lnRef idx="0">
            <a:scrgbClr r="0" g="0" b="0"/>
          </a:lnRef>
          <a:fillRef idx="0">
            <a:scrgbClr r="0" g="0" b="0"/>
          </a:fillRef>
          <a:effectRef idx="0">
            <a:scrgbClr r="0" g="0" b="0"/>
          </a:effectRef>
          <a:fontRef idx="minor">
            <a:schemeClr val="accent5"/>
          </a:fontRef>
        </dgm:style>
      </dgm:prSet>
      <dgm:spPr>
        <a:noFill/>
        <a:ln w="19050" cap="flat" cmpd="sng" algn="ctr">
          <a:solidFill>
            <a:schemeClr val="accent6">
              <a:lumMod val="50000"/>
            </a:schemeClr>
          </a:solidFill>
          <a:prstDash val="sysDash"/>
          <a:round/>
          <a:headEnd type="none" w="med" len="med"/>
          <a:tailEnd type="none" w="med" len="med"/>
        </a:ln>
      </dgm:spPr>
      <dgm:t>
        <a:bodyPr/>
        <a:lstStyle/>
        <a:p>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消費額度滿足促銷活動，店家支付點數或票卷給消費者</a:t>
          </a:r>
        </a:p>
      </dgm:t>
    </dgm:pt>
    <dgm:pt modelId="{D3F162FD-0797-4557-A10C-8102FF420F22}" type="parTrans" cxnId="{DCB1C309-5563-48AE-9FF8-C57A5B3AB98A}">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82C16A62-18D6-43E4-8456-8D5AF52A93E9}" type="sibTrans" cxnId="{DCB1C309-5563-48AE-9FF8-C57A5B3AB98A}">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EFB52BA1-D7F0-4994-BA38-0F0FB6E16390}">
      <dgm:prSet phldrT="[文字]" custT="1">
        <dgm:style>
          <a:lnRef idx="0">
            <a:scrgbClr r="0" g="0" b="0"/>
          </a:lnRef>
          <a:fillRef idx="0">
            <a:scrgbClr r="0" g="0" b="0"/>
          </a:fillRef>
          <a:effectRef idx="0">
            <a:scrgbClr r="0" g="0" b="0"/>
          </a:effectRef>
          <a:fontRef idx="minor">
            <a:schemeClr val="accent5"/>
          </a:fontRef>
        </dgm:style>
      </dgm:prSet>
      <dgm:spPr>
        <a:noFill/>
        <a:ln w="19050" cap="flat" cmpd="sng" algn="ctr">
          <a:solidFill>
            <a:schemeClr val="accent6">
              <a:lumMod val="50000"/>
            </a:schemeClr>
          </a:solidFill>
          <a:prstDash val="sysDash"/>
          <a:round/>
          <a:headEnd type="none" w="med" len="med"/>
          <a:tailEnd type="none" w="med" len="med"/>
        </a:ln>
      </dgm:spPr>
      <dgm:t>
        <a:bodyPr/>
        <a:lstStyle/>
        <a:p>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消費者的點數或票券累積到一定數量，向店家進行兌換</a:t>
          </a:r>
        </a:p>
      </dgm:t>
    </dgm:pt>
    <dgm:pt modelId="{275F0F44-4D65-4B0C-B848-C763D28D1752}" type="parTrans" cxnId="{C24B07F4-573D-41FE-AECE-6EA5ADECA40B}">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C1660AF5-F907-4E3E-801E-2FBC88163514}" type="sibTrans" cxnId="{C24B07F4-573D-41FE-AECE-6EA5ADECA40B}">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46275208-D44F-4BD8-A46E-2471509DFEF9}">
      <dgm:prSet phldrT="[文字]" custT="1">
        <dgm:style>
          <a:lnRef idx="0">
            <a:scrgbClr r="0" g="0" b="0"/>
          </a:lnRef>
          <a:fillRef idx="0">
            <a:scrgbClr r="0" g="0" b="0"/>
          </a:fillRef>
          <a:effectRef idx="0">
            <a:scrgbClr r="0" g="0" b="0"/>
          </a:effectRef>
          <a:fontRef idx="minor">
            <a:schemeClr val="accent5"/>
          </a:fontRef>
        </dgm:style>
      </dgm:prSet>
      <dgm:spPr>
        <a:noFill/>
        <a:ln w="19050" cap="flat" cmpd="sng" algn="ctr">
          <a:solidFill>
            <a:schemeClr val="accent6">
              <a:lumMod val="50000"/>
            </a:schemeClr>
          </a:solidFill>
          <a:prstDash val="sysDash"/>
          <a:round/>
          <a:headEnd type="none" w="med" len="med"/>
          <a:tailEnd type="none" w="med" len="med"/>
        </a:ln>
      </dgm:spPr>
      <dgm:t>
        <a:bodyPr/>
        <a:lstStyle/>
        <a:p>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店家運送兌換物品給消費者</a:t>
          </a:r>
          <a:endPar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B51FDF94-50BF-4373-9F46-96A632F133E1}" type="parTrans" cxnId="{04D3916B-AD24-4122-81E5-90EFBDC151D1}">
      <dgm:prSet/>
      <dgm:spPr/>
      <dgm:t>
        <a:bodyPr/>
        <a:lstStyle/>
        <a:p>
          <a:endParaRPr lang="zh-TW" altLang="en-US"/>
        </a:p>
      </dgm:t>
    </dgm:pt>
    <dgm:pt modelId="{1A21F62F-E492-4EBA-93D8-0F4553F21568}" type="sibTrans" cxnId="{04D3916B-AD24-4122-81E5-90EFBDC151D1}">
      <dgm:prSet/>
      <dgm:spPr/>
      <dgm:t>
        <a:bodyPr/>
        <a:lstStyle/>
        <a:p>
          <a:endParaRPr lang="zh-TW" altLang="en-US"/>
        </a:p>
      </dgm:t>
    </dgm:pt>
    <dgm:pt modelId="{78E6BDE7-75E7-43CE-8EF9-2C0BEA1DD4C7}">
      <dgm:prSet phldrT="[文字]" custT="1">
        <dgm:style>
          <a:lnRef idx="0">
            <a:scrgbClr r="0" g="0" b="0"/>
          </a:lnRef>
          <a:fillRef idx="0">
            <a:scrgbClr r="0" g="0" b="0"/>
          </a:fillRef>
          <a:effectRef idx="0">
            <a:scrgbClr r="0" g="0" b="0"/>
          </a:effectRef>
          <a:fontRef idx="minor">
            <a:schemeClr val="accent5"/>
          </a:fontRef>
        </dgm:style>
      </dgm:prSet>
      <dgm:spPr>
        <a:noFill/>
        <a:ln w="19050" cap="flat" cmpd="sng" algn="ctr">
          <a:solidFill>
            <a:srgbClr val="308071"/>
          </a:solidFill>
          <a:prstDash val="sysDash"/>
          <a:round/>
          <a:headEnd type="none" w="med" len="med"/>
          <a:tailEnd type="none" w="med" len="med"/>
        </a:ln>
      </dgm:spPr>
      <dgm:t>
        <a:bodyPr/>
        <a:lstStyle/>
        <a:p>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消費者可經由平台將點數或票券轉讓給其他消費者</a:t>
          </a:r>
        </a:p>
      </dgm:t>
    </dgm:pt>
    <dgm:pt modelId="{B31882C4-E67B-4B72-8E65-9C350AAF320D}" type="parTrans" cxnId="{0EC18A64-31B8-48C5-9794-E324187ED4D4}">
      <dgm:prSet/>
      <dgm:spPr/>
      <dgm:t>
        <a:bodyPr/>
        <a:lstStyle/>
        <a:p>
          <a:endParaRPr lang="zh-TW" altLang="en-US"/>
        </a:p>
      </dgm:t>
    </dgm:pt>
    <dgm:pt modelId="{7193F94A-B48A-4058-B8B7-0452C84EAC14}" type="sibTrans" cxnId="{0EC18A64-31B8-48C5-9794-E324187ED4D4}">
      <dgm:prSet/>
      <dgm:spPr/>
      <dgm:t>
        <a:bodyPr/>
        <a:lstStyle/>
        <a:p>
          <a:endParaRPr lang="zh-TW" altLang="en-US"/>
        </a:p>
      </dgm:t>
    </dgm:pt>
    <dgm:pt modelId="{CB9CA1AA-836B-431E-BE64-6DEF33CD7913}" type="pres">
      <dgm:prSet presAssocID="{297468D1-8B77-450D-ACE3-E97BA3A99FD4}" presName="Name0" presStyleCnt="0">
        <dgm:presLayoutVars>
          <dgm:dir/>
          <dgm:animLvl val="lvl"/>
          <dgm:resizeHandles val="exact"/>
        </dgm:presLayoutVars>
      </dgm:prSet>
      <dgm:spPr/>
    </dgm:pt>
    <dgm:pt modelId="{7C2CC348-FE2B-46AA-BED4-B7FF37BAF1D6}" type="pres">
      <dgm:prSet presAssocID="{30136093-F619-460B-9960-218E57ED0FCB}" presName="parTxOnly" presStyleLbl="node1" presStyleIdx="0" presStyleCnt="4">
        <dgm:presLayoutVars>
          <dgm:chMax val="0"/>
          <dgm:chPref val="0"/>
          <dgm:bulletEnabled val="1"/>
        </dgm:presLayoutVars>
      </dgm:prSet>
      <dgm:spPr/>
    </dgm:pt>
    <dgm:pt modelId="{43C2E9B6-4C48-44B0-9AA4-14211F89BB32}" type="pres">
      <dgm:prSet presAssocID="{82C16A62-18D6-43E4-8456-8D5AF52A93E9}" presName="parTxOnlySpace" presStyleCnt="0"/>
      <dgm:spPr/>
    </dgm:pt>
    <dgm:pt modelId="{CAFC41C5-DE59-4A1D-84C0-F9E1A408CC1C}" type="pres">
      <dgm:prSet presAssocID="{EFB52BA1-D7F0-4994-BA38-0F0FB6E16390}" presName="parTxOnly" presStyleLbl="node1" presStyleIdx="1" presStyleCnt="4">
        <dgm:presLayoutVars>
          <dgm:chMax val="0"/>
          <dgm:chPref val="0"/>
          <dgm:bulletEnabled val="1"/>
        </dgm:presLayoutVars>
      </dgm:prSet>
      <dgm:spPr/>
    </dgm:pt>
    <dgm:pt modelId="{0F0C6C43-2ADF-475C-8290-286027B4F8FF}" type="pres">
      <dgm:prSet presAssocID="{C1660AF5-F907-4E3E-801E-2FBC88163514}" presName="parTxOnlySpace" presStyleCnt="0"/>
      <dgm:spPr/>
    </dgm:pt>
    <dgm:pt modelId="{05B1E3D4-3146-4D41-9466-4A8BA4E05830}" type="pres">
      <dgm:prSet presAssocID="{46275208-D44F-4BD8-A46E-2471509DFEF9}" presName="parTxOnly" presStyleLbl="node1" presStyleIdx="2" presStyleCnt="4">
        <dgm:presLayoutVars>
          <dgm:chMax val="0"/>
          <dgm:chPref val="0"/>
          <dgm:bulletEnabled val="1"/>
        </dgm:presLayoutVars>
      </dgm:prSet>
      <dgm:spPr/>
    </dgm:pt>
    <dgm:pt modelId="{AA9D30ED-A37F-444A-A756-C29D2B109868}" type="pres">
      <dgm:prSet presAssocID="{1A21F62F-E492-4EBA-93D8-0F4553F21568}" presName="parTxOnlySpace" presStyleCnt="0"/>
      <dgm:spPr/>
    </dgm:pt>
    <dgm:pt modelId="{8ECCE2DC-F0E0-4824-973D-823880FF7785}" type="pres">
      <dgm:prSet presAssocID="{78E6BDE7-75E7-43CE-8EF9-2C0BEA1DD4C7}" presName="parTxOnly" presStyleLbl="node1" presStyleIdx="3" presStyleCnt="4">
        <dgm:presLayoutVars>
          <dgm:chMax val="0"/>
          <dgm:chPref val="0"/>
          <dgm:bulletEnabled val="1"/>
        </dgm:presLayoutVars>
      </dgm:prSet>
      <dgm:spPr/>
    </dgm:pt>
  </dgm:ptLst>
  <dgm:cxnLst>
    <dgm:cxn modelId="{DCB1C309-5563-48AE-9FF8-C57A5B3AB98A}" srcId="{297468D1-8B77-450D-ACE3-E97BA3A99FD4}" destId="{30136093-F619-460B-9960-218E57ED0FCB}" srcOrd="0" destOrd="0" parTransId="{D3F162FD-0797-4557-A10C-8102FF420F22}" sibTransId="{82C16A62-18D6-43E4-8456-8D5AF52A93E9}"/>
    <dgm:cxn modelId="{0EC18A64-31B8-48C5-9794-E324187ED4D4}" srcId="{297468D1-8B77-450D-ACE3-E97BA3A99FD4}" destId="{78E6BDE7-75E7-43CE-8EF9-2C0BEA1DD4C7}" srcOrd="3" destOrd="0" parTransId="{B31882C4-E67B-4B72-8E65-9C350AAF320D}" sibTransId="{7193F94A-B48A-4058-B8B7-0452C84EAC14}"/>
    <dgm:cxn modelId="{E2DC096A-764A-4FCB-BA31-53254F35985F}" type="presOf" srcId="{EFB52BA1-D7F0-4994-BA38-0F0FB6E16390}" destId="{CAFC41C5-DE59-4A1D-84C0-F9E1A408CC1C}" srcOrd="0" destOrd="0" presId="urn:microsoft.com/office/officeart/2005/8/layout/chevron1"/>
    <dgm:cxn modelId="{04D3916B-AD24-4122-81E5-90EFBDC151D1}" srcId="{297468D1-8B77-450D-ACE3-E97BA3A99FD4}" destId="{46275208-D44F-4BD8-A46E-2471509DFEF9}" srcOrd="2" destOrd="0" parTransId="{B51FDF94-50BF-4373-9F46-96A632F133E1}" sibTransId="{1A21F62F-E492-4EBA-93D8-0F4553F21568}"/>
    <dgm:cxn modelId="{13C1BC93-C757-40B5-B80C-87EA0427D09A}" type="presOf" srcId="{30136093-F619-460B-9960-218E57ED0FCB}" destId="{7C2CC348-FE2B-46AA-BED4-B7FF37BAF1D6}" srcOrd="0" destOrd="0" presId="urn:microsoft.com/office/officeart/2005/8/layout/chevron1"/>
    <dgm:cxn modelId="{190432BC-7007-438F-AF32-BD0215A8BA75}" type="presOf" srcId="{297468D1-8B77-450D-ACE3-E97BA3A99FD4}" destId="{CB9CA1AA-836B-431E-BE64-6DEF33CD7913}" srcOrd="0" destOrd="0" presId="urn:microsoft.com/office/officeart/2005/8/layout/chevron1"/>
    <dgm:cxn modelId="{E9DB4DBC-0220-4B62-AF7C-295A28CB5E80}" type="presOf" srcId="{78E6BDE7-75E7-43CE-8EF9-2C0BEA1DD4C7}" destId="{8ECCE2DC-F0E0-4824-973D-823880FF7785}" srcOrd="0" destOrd="0" presId="urn:microsoft.com/office/officeart/2005/8/layout/chevron1"/>
    <dgm:cxn modelId="{F7C657E1-D1ED-42E4-BEAB-9BE10C89D172}" type="presOf" srcId="{46275208-D44F-4BD8-A46E-2471509DFEF9}" destId="{05B1E3D4-3146-4D41-9466-4A8BA4E05830}" srcOrd="0" destOrd="0" presId="urn:microsoft.com/office/officeart/2005/8/layout/chevron1"/>
    <dgm:cxn modelId="{C24B07F4-573D-41FE-AECE-6EA5ADECA40B}" srcId="{297468D1-8B77-450D-ACE3-E97BA3A99FD4}" destId="{EFB52BA1-D7F0-4994-BA38-0F0FB6E16390}" srcOrd="1" destOrd="0" parTransId="{275F0F44-4D65-4B0C-B848-C763D28D1752}" sibTransId="{C1660AF5-F907-4E3E-801E-2FBC88163514}"/>
    <dgm:cxn modelId="{B556C09B-2986-4480-ABBE-F5DF4D3FF319}" type="presParOf" srcId="{CB9CA1AA-836B-431E-BE64-6DEF33CD7913}" destId="{7C2CC348-FE2B-46AA-BED4-B7FF37BAF1D6}" srcOrd="0" destOrd="0" presId="urn:microsoft.com/office/officeart/2005/8/layout/chevron1"/>
    <dgm:cxn modelId="{0D04A849-82E3-47D2-9199-082EE47B3528}" type="presParOf" srcId="{CB9CA1AA-836B-431E-BE64-6DEF33CD7913}" destId="{43C2E9B6-4C48-44B0-9AA4-14211F89BB32}" srcOrd="1" destOrd="0" presId="urn:microsoft.com/office/officeart/2005/8/layout/chevron1"/>
    <dgm:cxn modelId="{710F7A72-3561-4E20-9589-0A0BC028BBCB}" type="presParOf" srcId="{CB9CA1AA-836B-431E-BE64-6DEF33CD7913}" destId="{CAFC41C5-DE59-4A1D-84C0-F9E1A408CC1C}" srcOrd="2" destOrd="0" presId="urn:microsoft.com/office/officeart/2005/8/layout/chevron1"/>
    <dgm:cxn modelId="{E8B1C068-CC40-46B4-8C62-DA2520400270}" type="presParOf" srcId="{CB9CA1AA-836B-431E-BE64-6DEF33CD7913}" destId="{0F0C6C43-2ADF-475C-8290-286027B4F8FF}" srcOrd="3" destOrd="0" presId="urn:microsoft.com/office/officeart/2005/8/layout/chevron1"/>
    <dgm:cxn modelId="{2A2F45AE-7109-4F9C-B14D-9BC715603630}" type="presParOf" srcId="{CB9CA1AA-836B-431E-BE64-6DEF33CD7913}" destId="{05B1E3D4-3146-4D41-9466-4A8BA4E05830}" srcOrd="4" destOrd="0" presId="urn:microsoft.com/office/officeart/2005/8/layout/chevron1"/>
    <dgm:cxn modelId="{0A0187E0-1C02-4DD0-8ADB-1A6C23FDF477}" type="presParOf" srcId="{CB9CA1AA-836B-431E-BE64-6DEF33CD7913}" destId="{AA9D30ED-A37F-444A-A756-C29D2B109868}" srcOrd="5" destOrd="0" presId="urn:microsoft.com/office/officeart/2005/8/layout/chevron1"/>
    <dgm:cxn modelId="{C960D862-BE63-48C4-BBB6-4633165A86FA}" type="presParOf" srcId="{CB9CA1AA-836B-431E-BE64-6DEF33CD7913}" destId="{8ECCE2DC-F0E0-4824-973D-823880FF7785}" srcOrd="6" destOrd="0" presId="urn:microsoft.com/office/officeart/2005/8/layout/chevron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41F99C3-BDB1-4C9A-B949-5F6100E5CE27}" type="doc">
      <dgm:prSet loTypeId="urn:microsoft.com/office/officeart/2009/3/layout/IncreasingArrowsProcess" loCatId="process" qsTypeId="urn:microsoft.com/office/officeart/2005/8/quickstyle/simple1" qsCatId="simple" csTypeId="urn:microsoft.com/office/officeart/2005/8/colors/colorful5" csCatId="colorful" phldr="1"/>
      <dgm:spPr/>
      <dgm:t>
        <a:bodyPr/>
        <a:lstStyle/>
        <a:p>
          <a:endParaRPr lang="zh-TW" altLang="en-US"/>
        </a:p>
      </dgm:t>
    </dgm:pt>
    <dgm:pt modelId="{F9065BB2-13DF-4479-B8C6-04BF45BDBE15}">
      <dgm:prSet phldrT="[文字]" custT="1"/>
      <dgm:spPr>
        <a:xfrm>
          <a:off x="0" y="734852"/>
          <a:ext cx="8128000" cy="1183746"/>
        </a:xfrm>
        <a:prstGeom prst="rightArrow">
          <a:avLst>
            <a:gd name="adj1" fmla="val 50000"/>
            <a:gd name="adj2" fmla="val 50000"/>
          </a:avLst>
        </a:prstGeom>
        <a:solidFill>
          <a:srgbClr val="4B5B71"/>
        </a:solidFill>
        <a:ln w="12700" cap="flat" cmpd="sng" algn="ctr">
          <a:solidFill>
            <a:sysClr val="window" lastClr="FFFFFF">
              <a:hueOff val="0"/>
              <a:satOff val="0"/>
              <a:lumOff val="0"/>
              <a:alphaOff val="0"/>
            </a:sysClr>
          </a:solidFill>
          <a:prstDash val="solid"/>
          <a:miter lim="800000"/>
        </a:ln>
        <a:effectLst/>
      </dgm:spPr>
      <dgm:t>
        <a:bodyPr/>
        <a:lstStyle/>
        <a:p>
          <a:pPr>
            <a:buNone/>
          </a:pPr>
          <a:r>
            <a:rPr lang="zh-TW" altLang="en-US" sz="2000" b="1" dirty="0">
              <a:solidFill>
                <a:sysClr val="window" lastClr="FFFFFF"/>
              </a:solidFill>
              <a:latin typeface="微軟正黑體" panose="020B0604030504040204" pitchFamily="34" charset="-120"/>
              <a:ea typeface="微軟正黑體" panose="020B0604030504040204" pitchFamily="34" charset="-120"/>
              <a:cs typeface="+mn-cs"/>
            </a:rPr>
            <a:t>短期</a:t>
          </a:r>
        </a:p>
      </dgm:t>
    </dgm:pt>
    <dgm:pt modelId="{BAB4762C-FEC8-4175-A937-1967C3381B46}" type="parTrans" cxnId="{FC5913E1-F87C-43A1-87AF-D279C5EC87D3}">
      <dgm:prSet/>
      <dgm:spPr/>
      <dgm:t>
        <a:bodyPr/>
        <a:lstStyle/>
        <a:p>
          <a:endParaRPr lang="zh-TW" altLang="en-US">
            <a:latin typeface="微軟正黑體" panose="020B0604030504040204" pitchFamily="34" charset="-120"/>
            <a:ea typeface="微軟正黑體" panose="020B0604030504040204" pitchFamily="34" charset="-120"/>
          </a:endParaRPr>
        </a:p>
      </dgm:t>
    </dgm:pt>
    <dgm:pt modelId="{C07CDAB4-A697-49FF-A35D-CED241DFB10E}" type="sibTrans" cxnId="{FC5913E1-F87C-43A1-87AF-D279C5EC87D3}">
      <dgm:prSet/>
      <dgm:spPr/>
      <dgm:t>
        <a:bodyPr/>
        <a:lstStyle/>
        <a:p>
          <a:endParaRPr lang="zh-TW" altLang="en-US">
            <a:latin typeface="微軟正黑體" panose="020B0604030504040204" pitchFamily="34" charset="-120"/>
            <a:ea typeface="微軟正黑體" panose="020B0604030504040204" pitchFamily="34" charset="-120"/>
          </a:endParaRPr>
        </a:p>
      </dgm:t>
    </dgm:pt>
    <dgm:pt modelId="{0DB18B52-E7EE-4DFC-9493-605823AF8CCC}">
      <dgm:prSet phldrT="[文字]" custT="1"/>
      <dgm:spPr>
        <a:xfrm>
          <a:off x="0" y="1647691"/>
          <a:ext cx="2503424" cy="2280331"/>
        </a:xfrm>
        <a:prstGeom prst="rect">
          <a:avLst/>
        </a:prstGeom>
        <a:noFill/>
        <a:ln w="12700" cap="flat" cmpd="sng" algn="ctr">
          <a:noFill/>
          <a:prstDash val="solid"/>
          <a:miter lim="800000"/>
        </a:ln>
        <a:effectLst/>
      </dgm:spPr>
      <dgm:t>
        <a:bodyPr/>
        <a:lstStyle/>
        <a:p>
          <a:pPr marL="177800" indent="-177800">
            <a:buNone/>
          </a:pPr>
          <a:r>
            <a:rPr lang="en-US" altLang="zh-TW" sz="1800" b="1" dirty="0">
              <a:solidFill>
                <a:schemeClr val="tx2"/>
              </a:solidFill>
              <a:latin typeface="微軟正黑體" panose="020B0604030504040204" pitchFamily="34" charset="-120"/>
              <a:ea typeface="微軟正黑體" panose="020B0604030504040204" pitchFamily="34" charset="-120"/>
              <a:cs typeface="+mn-cs"/>
            </a:rPr>
            <a:t>1.</a:t>
          </a:r>
          <a:r>
            <a:rPr lang="zh-TW" altLang="en-US" sz="1800" b="1" dirty="0">
              <a:solidFill>
                <a:schemeClr val="tx2"/>
              </a:solidFill>
              <a:latin typeface="微軟正黑體" panose="020B0604030504040204" pitchFamily="34" charset="-120"/>
              <a:ea typeface="微軟正黑體" panose="020B0604030504040204" pitchFamily="34" charset="-120"/>
              <a:cs typeface="+mn-cs"/>
            </a:rPr>
            <a:t>發展第三階段混合商業聚落與商業聚落之間的相互交易</a:t>
          </a:r>
          <a:r>
            <a:rPr lang="en-US" altLang="zh-TW" sz="1800" b="1" dirty="0">
              <a:solidFill>
                <a:schemeClr val="tx2"/>
              </a:solidFill>
              <a:latin typeface="微軟正黑體" panose="020B0604030504040204" pitchFamily="34" charset="-120"/>
              <a:ea typeface="微軟正黑體" panose="020B0604030504040204" pitchFamily="34" charset="-120"/>
              <a:cs typeface="+mn-cs"/>
            </a:rPr>
            <a:t>Coupon</a:t>
          </a:r>
        </a:p>
        <a:p>
          <a:pPr marL="177800" indent="-177800">
            <a:buNone/>
          </a:pPr>
          <a:r>
            <a:rPr lang="en-US" altLang="zh-TW" sz="1800" b="1" dirty="0">
              <a:solidFill>
                <a:schemeClr val="tx2"/>
              </a:solidFill>
              <a:latin typeface="微軟正黑體" panose="020B0604030504040204" pitchFamily="34" charset="-120"/>
              <a:ea typeface="微軟正黑體" panose="020B0604030504040204" pitchFamily="34" charset="-120"/>
              <a:cs typeface="+mn-cs"/>
            </a:rPr>
            <a:t>2.</a:t>
          </a:r>
          <a:r>
            <a:rPr lang="zh-TW" altLang="en-US" sz="1800" b="1" dirty="0">
              <a:solidFill>
                <a:schemeClr val="tx2"/>
              </a:solidFill>
              <a:latin typeface="微軟正黑體" panose="020B0604030504040204" pitchFamily="34" charset="-120"/>
              <a:ea typeface="微軟正黑體" panose="020B0604030504040204" pitchFamily="34" charset="-120"/>
              <a:cs typeface="+mn-cs"/>
            </a:rPr>
            <a:t>優化使用者介面及系統架構</a:t>
          </a:r>
          <a:endParaRPr lang="en-US" altLang="zh-TW" sz="1800" b="1" dirty="0">
            <a:solidFill>
              <a:schemeClr val="tx2"/>
            </a:solidFill>
            <a:latin typeface="微軟正黑體" panose="020B0604030504040204" pitchFamily="34" charset="-120"/>
            <a:ea typeface="微軟正黑體" panose="020B0604030504040204" pitchFamily="34" charset="-120"/>
            <a:cs typeface="+mn-cs"/>
          </a:endParaRPr>
        </a:p>
        <a:p>
          <a:pPr marL="177800" indent="-177800">
            <a:buNone/>
          </a:pPr>
          <a:r>
            <a:rPr lang="en-US" altLang="zh-TW" sz="1800" b="1" dirty="0">
              <a:solidFill>
                <a:schemeClr val="tx2"/>
              </a:solidFill>
              <a:latin typeface="微軟正黑體" panose="020B0604030504040204" pitchFamily="34" charset="-120"/>
              <a:ea typeface="微軟正黑體" panose="020B0604030504040204" pitchFamily="34" charset="-120"/>
              <a:cs typeface="+mn-cs"/>
            </a:rPr>
            <a:t>3.</a:t>
          </a:r>
          <a:r>
            <a:rPr lang="zh-TW" altLang="en-US" sz="1800" b="1" dirty="0">
              <a:solidFill>
                <a:schemeClr val="tx2"/>
              </a:solidFill>
              <a:latin typeface="微軟正黑體" panose="020B0604030504040204" pitchFamily="34" charset="-120"/>
              <a:ea typeface="微軟正黑體" panose="020B0604030504040204" pitchFamily="34" charset="-120"/>
              <a:cs typeface="+mn-cs"/>
            </a:rPr>
            <a:t>開發其他載具的使用介面</a:t>
          </a:r>
          <a:endParaRPr lang="en-US" altLang="zh-TW" sz="1800" b="1" dirty="0">
            <a:solidFill>
              <a:schemeClr val="tx2"/>
            </a:solidFill>
            <a:latin typeface="微軟正黑體" panose="020B0604030504040204" pitchFamily="34" charset="-120"/>
            <a:ea typeface="微軟正黑體" panose="020B0604030504040204" pitchFamily="34" charset="-120"/>
            <a:cs typeface="+mn-cs"/>
          </a:endParaRPr>
        </a:p>
        <a:p>
          <a:pPr>
            <a:buNone/>
          </a:pPr>
          <a:endParaRPr lang="zh-TW" altLang="en-US" sz="1600" dirty="0">
            <a:solidFill>
              <a:schemeClr val="tx2"/>
            </a:solidFill>
            <a:latin typeface="微軟正黑體" panose="020B0604030504040204" pitchFamily="34" charset="-120"/>
            <a:ea typeface="微軟正黑體" panose="020B0604030504040204" pitchFamily="34" charset="-120"/>
            <a:cs typeface="+mn-cs"/>
          </a:endParaRPr>
        </a:p>
      </dgm:t>
    </dgm:pt>
    <dgm:pt modelId="{DC9C6117-E583-4B62-92E8-38A809965B40}" type="parTrans" cxnId="{47F0CD51-0EC3-4B91-BB95-B369046A78DB}">
      <dgm:prSet/>
      <dgm:spPr/>
      <dgm:t>
        <a:bodyPr/>
        <a:lstStyle/>
        <a:p>
          <a:endParaRPr lang="zh-TW" altLang="en-US">
            <a:latin typeface="微軟正黑體" panose="020B0604030504040204" pitchFamily="34" charset="-120"/>
            <a:ea typeface="微軟正黑體" panose="020B0604030504040204" pitchFamily="34" charset="-120"/>
          </a:endParaRPr>
        </a:p>
      </dgm:t>
    </dgm:pt>
    <dgm:pt modelId="{B5E5C7C6-BA2D-423A-BAC7-2CD239E16544}" type="sibTrans" cxnId="{47F0CD51-0EC3-4B91-BB95-B369046A78DB}">
      <dgm:prSet/>
      <dgm:spPr/>
      <dgm:t>
        <a:bodyPr/>
        <a:lstStyle/>
        <a:p>
          <a:endParaRPr lang="zh-TW" altLang="en-US">
            <a:latin typeface="微軟正黑體" panose="020B0604030504040204" pitchFamily="34" charset="-120"/>
            <a:ea typeface="微軟正黑體" panose="020B0604030504040204" pitchFamily="34" charset="-120"/>
          </a:endParaRPr>
        </a:p>
      </dgm:t>
    </dgm:pt>
    <dgm:pt modelId="{B536F8D1-4D9A-45AA-9BB3-C0A7D43175B7}">
      <dgm:prSet phldrT="[文字]" custT="1"/>
      <dgm:spPr>
        <a:xfrm>
          <a:off x="2503423" y="1129434"/>
          <a:ext cx="5624576" cy="1183746"/>
        </a:xfrm>
        <a:prstGeom prst="rightArrow">
          <a:avLst>
            <a:gd name="adj1" fmla="val 50000"/>
            <a:gd name="adj2" fmla="val 50000"/>
          </a:avLst>
        </a:prstGeom>
        <a:solidFill>
          <a:srgbClr val="DEA900"/>
        </a:solidFill>
        <a:ln w="12700" cap="flat" cmpd="sng" algn="ctr">
          <a:solidFill>
            <a:sysClr val="window" lastClr="FFFFFF">
              <a:hueOff val="0"/>
              <a:satOff val="0"/>
              <a:lumOff val="0"/>
              <a:alphaOff val="0"/>
            </a:sysClr>
          </a:solidFill>
          <a:prstDash val="solid"/>
          <a:miter lim="800000"/>
        </a:ln>
        <a:effectLst/>
      </dgm:spPr>
      <dgm:t>
        <a:bodyPr/>
        <a:lstStyle/>
        <a:p>
          <a:pPr>
            <a:buNone/>
          </a:pPr>
          <a:r>
            <a:rPr lang="zh-TW" altLang="en-US" sz="2000" b="1" dirty="0">
              <a:solidFill>
                <a:sysClr val="window" lastClr="FFFFFF"/>
              </a:solidFill>
              <a:latin typeface="微軟正黑體" panose="020B0604030504040204" pitchFamily="34" charset="-120"/>
              <a:ea typeface="微軟正黑體" panose="020B0604030504040204" pitchFamily="34" charset="-120"/>
              <a:cs typeface="+mn-cs"/>
            </a:rPr>
            <a:t>中期</a:t>
          </a:r>
        </a:p>
      </dgm:t>
    </dgm:pt>
    <dgm:pt modelId="{DE9C2246-D18B-4146-8402-2185F8E79C30}" type="parTrans" cxnId="{4BB834E8-31A6-4AD4-993F-4B26BBE85867}">
      <dgm:prSet/>
      <dgm:spPr/>
      <dgm:t>
        <a:bodyPr/>
        <a:lstStyle/>
        <a:p>
          <a:endParaRPr lang="zh-TW" altLang="en-US">
            <a:latin typeface="微軟正黑體" panose="020B0604030504040204" pitchFamily="34" charset="-120"/>
            <a:ea typeface="微軟正黑體" panose="020B0604030504040204" pitchFamily="34" charset="-120"/>
          </a:endParaRPr>
        </a:p>
      </dgm:t>
    </dgm:pt>
    <dgm:pt modelId="{D94D7FCF-31C1-49F7-B3F4-B38E6ED2670D}" type="sibTrans" cxnId="{4BB834E8-31A6-4AD4-993F-4B26BBE85867}">
      <dgm:prSet/>
      <dgm:spPr/>
      <dgm:t>
        <a:bodyPr/>
        <a:lstStyle/>
        <a:p>
          <a:endParaRPr lang="zh-TW" altLang="en-US">
            <a:latin typeface="微軟正黑體" panose="020B0604030504040204" pitchFamily="34" charset="-120"/>
            <a:ea typeface="微軟正黑體" panose="020B0604030504040204" pitchFamily="34" charset="-120"/>
          </a:endParaRPr>
        </a:p>
      </dgm:t>
    </dgm:pt>
    <dgm:pt modelId="{CB80A27F-EC61-4DDA-8A3A-CC051E14133B}">
      <dgm:prSet phldrT="[文字]" custT="1"/>
      <dgm:spPr>
        <a:xfrm>
          <a:off x="2503423" y="2042273"/>
          <a:ext cx="2503424" cy="2280331"/>
        </a:xfrm>
        <a:prstGeom prst="rect">
          <a:avLst/>
        </a:prstGeom>
        <a:noFill/>
        <a:ln w="12700" cap="flat" cmpd="sng" algn="ctr">
          <a:noFill/>
          <a:prstDash val="solid"/>
          <a:miter lim="800000"/>
        </a:ln>
        <a:effectLst/>
      </dgm:spPr>
      <dgm:t>
        <a:bodyPr/>
        <a:lstStyle/>
        <a:p>
          <a:pPr marL="177800" indent="-177800">
            <a:buNone/>
          </a:pPr>
          <a:r>
            <a:rPr lang="en-US" altLang="zh-TW" sz="1800" b="1" dirty="0">
              <a:solidFill>
                <a:srgbClr val="FFC000">
                  <a:lumMod val="50000"/>
                </a:srgbClr>
              </a:solidFill>
              <a:latin typeface="微軟正黑體" panose="020B0604030504040204" pitchFamily="34" charset="-120"/>
              <a:ea typeface="微軟正黑體" panose="020B0604030504040204" pitchFamily="34" charset="-120"/>
              <a:cs typeface="+mn-cs"/>
            </a:rPr>
            <a:t>1.</a:t>
          </a:r>
          <a:r>
            <a:rPr lang="zh-TW" altLang="en-US" sz="1800" b="1" dirty="0">
              <a:solidFill>
                <a:srgbClr val="FFC000">
                  <a:lumMod val="50000"/>
                </a:srgbClr>
              </a:solidFill>
              <a:latin typeface="微軟正黑體" panose="020B0604030504040204" pitchFamily="34" charset="-120"/>
              <a:ea typeface="微軟正黑體" panose="020B0604030504040204" pitchFamily="34" charset="-120"/>
              <a:cs typeface="+mn-cs"/>
            </a:rPr>
            <a:t>發展其他加值型系統</a:t>
          </a:r>
        </a:p>
      </dgm:t>
    </dgm:pt>
    <dgm:pt modelId="{0C5ED2EE-E633-4FD7-B3CC-78EB5B8F8802}" type="parTrans" cxnId="{C59128B7-7299-4B0D-BD00-F0A7199F817C}">
      <dgm:prSet/>
      <dgm:spPr/>
      <dgm:t>
        <a:bodyPr/>
        <a:lstStyle/>
        <a:p>
          <a:endParaRPr lang="zh-TW" altLang="en-US">
            <a:latin typeface="微軟正黑體" panose="020B0604030504040204" pitchFamily="34" charset="-120"/>
            <a:ea typeface="微軟正黑體" panose="020B0604030504040204" pitchFamily="34" charset="-120"/>
          </a:endParaRPr>
        </a:p>
      </dgm:t>
    </dgm:pt>
    <dgm:pt modelId="{0F2D18F6-F797-4D1E-9478-87C0C3631E2E}" type="sibTrans" cxnId="{C59128B7-7299-4B0D-BD00-F0A7199F817C}">
      <dgm:prSet/>
      <dgm:spPr/>
      <dgm:t>
        <a:bodyPr/>
        <a:lstStyle/>
        <a:p>
          <a:endParaRPr lang="zh-TW" altLang="en-US">
            <a:latin typeface="微軟正黑體" panose="020B0604030504040204" pitchFamily="34" charset="-120"/>
            <a:ea typeface="微軟正黑體" panose="020B0604030504040204" pitchFamily="34" charset="-120"/>
          </a:endParaRPr>
        </a:p>
      </dgm:t>
    </dgm:pt>
    <dgm:pt modelId="{E2063EC5-C59D-4D29-AE72-43003E0B6D07}">
      <dgm:prSet phldrT="[文字]" custT="1"/>
      <dgm:spPr>
        <a:xfrm>
          <a:off x="5006848" y="1524016"/>
          <a:ext cx="3121152" cy="1183746"/>
        </a:xfrm>
        <a:prstGeom prst="rightArrow">
          <a:avLst>
            <a:gd name="adj1" fmla="val 50000"/>
            <a:gd name="adj2" fmla="val 50000"/>
          </a:avLst>
        </a:prstGeom>
        <a:solidFill>
          <a:srgbClr val="70AD47">
            <a:lumMod val="7500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zh-TW" altLang="en-US" sz="2000" b="1" dirty="0">
              <a:solidFill>
                <a:sysClr val="window" lastClr="FFFFFF"/>
              </a:solidFill>
              <a:latin typeface="微軟正黑體" panose="020B0604030504040204" pitchFamily="34" charset="-120"/>
              <a:ea typeface="微軟正黑體" panose="020B0604030504040204" pitchFamily="34" charset="-120"/>
              <a:cs typeface="+mn-cs"/>
            </a:rPr>
            <a:t>長期</a:t>
          </a:r>
        </a:p>
      </dgm:t>
    </dgm:pt>
    <dgm:pt modelId="{0EDDE976-F2A1-43CA-8522-D1A4A9489968}" type="parTrans" cxnId="{24FCB0CF-1824-45B0-A7B8-467F76ACD724}">
      <dgm:prSet/>
      <dgm:spPr/>
      <dgm:t>
        <a:bodyPr/>
        <a:lstStyle/>
        <a:p>
          <a:endParaRPr lang="zh-TW" altLang="en-US">
            <a:latin typeface="微軟正黑體" panose="020B0604030504040204" pitchFamily="34" charset="-120"/>
            <a:ea typeface="微軟正黑體" panose="020B0604030504040204" pitchFamily="34" charset="-120"/>
          </a:endParaRPr>
        </a:p>
      </dgm:t>
    </dgm:pt>
    <dgm:pt modelId="{20F287AE-0C77-4EF7-A6FB-5621AA1D235B}" type="sibTrans" cxnId="{24FCB0CF-1824-45B0-A7B8-467F76ACD724}">
      <dgm:prSet/>
      <dgm:spPr/>
      <dgm:t>
        <a:bodyPr/>
        <a:lstStyle/>
        <a:p>
          <a:endParaRPr lang="zh-TW" altLang="en-US">
            <a:latin typeface="微軟正黑體" panose="020B0604030504040204" pitchFamily="34" charset="-120"/>
            <a:ea typeface="微軟正黑體" panose="020B0604030504040204" pitchFamily="34" charset="-120"/>
          </a:endParaRPr>
        </a:p>
      </dgm:t>
    </dgm:pt>
    <dgm:pt modelId="{5FD24C6C-6019-4298-AD64-1E60D5722AE0}">
      <dgm:prSet phldrT="[文字]" custT="1"/>
      <dgm:spPr>
        <a:xfrm>
          <a:off x="5006848" y="2436855"/>
          <a:ext cx="2503424" cy="2246958"/>
        </a:xfrm>
        <a:prstGeom prst="rect">
          <a:avLst/>
        </a:prstGeom>
        <a:noFill/>
        <a:ln w="12700" cap="flat" cmpd="sng" algn="ctr">
          <a:noFill/>
          <a:prstDash val="solid"/>
          <a:miter lim="800000"/>
        </a:ln>
        <a:effectLst/>
      </dgm:spPr>
      <dgm:t>
        <a:bodyPr/>
        <a:lstStyle/>
        <a:p>
          <a:pPr>
            <a:buNone/>
          </a:pPr>
          <a:r>
            <a:rPr lang="en-US" altLang="zh-TW" sz="1800" b="1" dirty="0">
              <a:solidFill>
                <a:srgbClr val="70AD47">
                  <a:lumMod val="50000"/>
                </a:srgbClr>
              </a:solidFill>
              <a:latin typeface="微軟正黑體" panose="020B0604030504040204" pitchFamily="34" charset="-120"/>
              <a:ea typeface="微軟正黑體" panose="020B0604030504040204" pitchFamily="34" charset="-120"/>
              <a:cs typeface="+mn-cs"/>
            </a:rPr>
            <a:t>1.</a:t>
          </a:r>
          <a:r>
            <a:rPr lang="zh-TW" altLang="en-US" sz="1800" b="1" dirty="0">
              <a:solidFill>
                <a:srgbClr val="70AD47">
                  <a:lumMod val="50000"/>
                </a:srgbClr>
              </a:solidFill>
              <a:latin typeface="微軟正黑體" panose="020B0604030504040204" pitchFamily="34" charset="-120"/>
              <a:ea typeface="微軟正黑體" panose="020B0604030504040204" pitchFamily="34" charset="-120"/>
              <a:cs typeface="+mn-cs"/>
            </a:rPr>
            <a:t>提高市場占有率</a:t>
          </a:r>
        </a:p>
      </dgm:t>
    </dgm:pt>
    <dgm:pt modelId="{0807486E-BAFE-49E6-B806-D9CF41F929AA}" type="parTrans" cxnId="{BD9B37B0-2EAE-49AE-A301-E1086AFE47CB}">
      <dgm:prSet/>
      <dgm:spPr/>
      <dgm:t>
        <a:bodyPr/>
        <a:lstStyle/>
        <a:p>
          <a:endParaRPr lang="zh-TW" altLang="en-US">
            <a:latin typeface="微軟正黑體" panose="020B0604030504040204" pitchFamily="34" charset="-120"/>
            <a:ea typeface="微軟正黑體" panose="020B0604030504040204" pitchFamily="34" charset="-120"/>
          </a:endParaRPr>
        </a:p>
      </dgm:t>
    </dgm:pt>
    <dgm:pt modelId="{598B4BE4-5377-41DD-B4F1-87379B7DDDF9}" type="sibTrans" cxnId="{BD9B37B0-2EAE-49AE-A301-E1086AFE47CB}">
      <dgm:prSet/>
      <dgm:spPr/>
      <dgm:t>
        <a:bodyPr/>
        <a:lstStyle/>
        <a:p>
          <a:endParaRPr lang="zh-TW" altLang="en-US">
            <a:latin typeface="微軟正黑體" panose="020B0604030504040204" pitchFamily="34" charset="-120"/>
            <a:ea typeface="微軟正黑體" panose="020B0604030504040204" pitchFamily="34" charset="-120"/>
          </a:endParaRPr>
        </a:p>
      </dgm:t>
    </dgm:pt>
    <dgm:pt modelId="{618BAB9E-0E50-47CB-9D58-3B884C6211F9}">
      <dgm:prSet custT="1"/>
      <dgm:spPr>
        <a:xfrm>
          <a:off x="2503423" y="2042273"/>
          <a:ext cx="2503424" cy="2280331"/>
        </a:xfrm>
        <a:prstGeom prst="rect">
          <a:avLst/>
        </a:prstGeom>
        <a:noFill/>
        <a:ln w="12700" cap="flat" cmpd="sng" algn="ctr">
          <a:noFill/>
          <a:prstDash val="solid"/>
          <a:miter lim="800000"/>
        </a:ln>
        <a:effectLst/>
      </dgm:spPr>
      <dgm:t>
        <a:bodyPr/>
        <a:lstStyle/>
        <a:p>
          <a:pPr marL="177800" indent="-177800">
            <a:buNone/>
          </a:pPr>
          <a:r>
            <a:rPr lang="en-US" altLang="zh-TW" sz="1800" b="1" dirty="0">
              <a:solidFill>
                <a:srgbClr val="FFC000">
                  <a:lumMod val="50000"/>
                </a:srgbClr>
              </a:solidFill>
              <a:latin typeface="微軟正黑體" panose="020B0604030504040204" pitchFamily="34" charset="-120"/>
              <a:ea typeface="微軟正黑體" panose="020B0604030504040204" pitchFamily="34" charset="-120"/>
              <a:cs typeface="+mn-cs"/>
            </a:rPr>
            <a:t>2.</a:t>
          </a:r>
          <a:r>
            <a:rPr lang="zh-TW" altLang="en-US" sz="1800" b="1" dirty="0">
              <a:solidFill>
                <a:srgbClr val="FFC000">
                  <a:lumMod val="50000"/>
                </a:srgbClr>
              </a:solidFill>
              <a:latin typeface="微軟正黑體" panose="020B0604030504040204" pitchFamily="34" charset="-120"/>
              <a:ea typeface="微軟正黑體" panose="020B0604030504040204" pitchFamily="34" charset="-120"/>
              <a:cs typeface="+mn-cs"/>
            </a:rPr>
            <a:t>研究商業獲利模式</a:t>
          </a:r>
          <a:endParaRPr lang="en-US" altLang="zh-TW" sz="1800" b="1" dirty="0">
            <a:solidFill>
              <a:srgbClr val="FFC000">
                <a:lumMod val="50000"/>
              </a:srgbClr>
            </a:solidFill>
            <a:latin typeface="微軟正黑體" panose="020B0604030504040204" pitchFamily="34" charset="-120"/>
            <a:ea typeface="微軟正黑體" panose="020B0604030504040204" pitchFamily="34" charset="-120"/>
            <a:cs typeface="+mn-cs"/>
          </a:endParaRPr>
        </a:p>
      </dgm:t>
    </dgm:pt>
    <dgm:pt modelId="{783693A2-00F8-4DD9-B959-E691BA31C8C4}" type="parTrans" cxnId="{C8E39327-FBD3-44E9-87FE-270258997E9A}">
      <dgm:prSet/>
      <dgm:spPr/>
      <dgm:t>
        <a:bodyPr/>
        <a:lstStyle/>
        <a:p>
          <a:endParaRPr lang="zh-TW" altLang="en-US">
            <a:latin typeface="微軟正黑體" panose="020B0604030504040204" pitchFamily="34" charset="-120"/>
            <a:ea typeface="微軟正黑體" panose="020B0604030504040204" pitchFamily="34" charset="-120"/>
          </a:endParaRPr>
        </a:p>
      </dgm:t>
    </dgm:pt>
    <dgm:pt modelId="{AF18548F-98C9-4711-ABE7-A0CFBCDCF581}" type="sibTrans" cxnId="{C8E39327-FBD3-44E9-87FE-270258997E9A}">
      <dgm:prSet/>
      <dgm:spPr/>
      <dgm:t>
        <a:bodyPr/>
        <a:lstStyle/>
        <a:p>
          <a:endParaRPr lang="zh-TW" altLang="en-US">
            <a:latin typeface="微軟正黑體" panose="020B0604030504040204" pitchFamily="34" charset="-120"/>
            <a:ea typeface="微軟正黑體" panose="020B0604030504040204" pitchFamily="34" charset="-120"/>
          </a:endParaRPr>
        </a:p>
      </dgm:t>
    </dgm:pt>
    <dgm:pt modelId="{E26468F1-B699-4E7E-B4ED-1EEE96CD4BF9}">
      <dgm:prSet custT="1"/>
      <dgm:spPr>
        <a:xfrm>
          <a:off x="2503423" y="2042273"/>
          <a:ext cx="2503424" cy="2280331"/>
        </a:xfrm>
        <a:prstGeom prst="rect">
          <a:avLst/>
        </a:prstGeom>
        <a:noFill/>
        <a:ln w="12700" cap="flat" cmpd="sng" algn="ctr">
          <a:noFill/>
          <a:prstDash val="solid"/>
          <a:miter lim="800000"/>
        </a:ln>
        <a:effectLst/>
      </dgm:spPr>
      <dgm:t>
        <a:bodyPr/>
        <a:lstStyle/>
        <a:p>
          <a:pPr marL="177800" indent="-177800">
            <a:buNone/>
          </a:pPr>
          <a:r>
            <a:rPr lang="en-US" altLang="zh-TW" sz="1800" b="1" dirty="0">
              <a:solidFill>
                <a:srgbClr val="FFC000">
                  <a:lumMod val="50000"/>
                </a:srgbClr>
              </a:solidFill>
              <a:latin typeface="微軟正黑體" panose="020B0604030504040204" pitchFamily="34" charset="-120"/>
              <a:ea typeface="微軟正黑體" panose="020B0604030504040204" pitchFamily="34" charset="-120"/>
              <a:cs typeface="+mn-cs"/>
            </a:rPr>
            <a:t>3.</a:t>
          </a:r>
          <a:r>
            <a:rPr lang="zh-TW" altLang="en-US" sz="1800" b="1" dirty="0">
              <a:solidFill>
                <a:srgbClr val="FFC000">
                  <a:lumMod val="50000"/>
                </a:srgbClr>
              </a:solidFill>
              <a:latin typeface="微軟正黑體" panose="020B0604030504040204" pitchFamily="34" charset="-120"/>
              <a:ea typeface="微軟正黑體" panose="020B0604030504040204" pitchFamily="34" charset="-120"/>
              <a:cs typeface="+mn-cs"/>
            </a:rPr>
            <a:t>持續推廣系統</a:t>
          </a:r>
          <a:endParaRPr lang="en-US" altLang="zh-TW" sz="1800" b="1" dirty="0">
            <a:solidFill>
              <a:srgbClr val="FFC000">
                <a:lumMod val="50000"/>
              </a:srgbClr>
            </a:solidFill>
            <a:latin typeface="微軟正黑體" panose="020B0604030504040204" pitchFamily="34" charset="-120"/>
            <a:ea typeface="微軟正黑體" panose="020B0604030504040204" pitchFamily="34" charset="-120"/>
            <a:cs typeface="+mn-cs"/>
          </a:endParaRPr>
        </a:p>
        <a:p>
          <a:pPr marL="177800" indent="-177800">
            <a:buNone/>
          </a:pPr>
          <a:r>
            <a:rPr lang="en-US" altLang="zh-TW" sz="1800" b="1" dirty="0">
              <a:solidFill>
                <a:srgbClr val="FFC000">
                  <a:lumMod val="50000"/>
                </a:srgbClr>
              </a:solidFill>
              <a:latin typeface="微軟正黑體" panose="020B0604030504040204" pitchFamily="34" charset="-120"/>
              <a:ea typeface="微軟正黑體" panose="020B0604030504040204" pitchFamily="34" charset="-120"/>
              <a:cs typeface="+mn-cs"/>
            </a:rPr>
            <a:t>4.</a:t>
          </a:r>
          <a:r>
            <a:rPr lang="zh-TW" altLang="en-US" sz="1800" b="1" dirty="0">
              <a:solidFill>
                <a:srgbClr val="FFC000">
                  <a:lumMod val="50000"/>
                </a:srgbClr>
              </a:solidFill>
              <a:latin typeface="微軟正黑體" panose="020B0604030504040204" pitchFamily="34" charset="-120"/>
              <a:ea typeface="微軟正黑體" panose="020B0604030504040204" pitchFamily="34" charset="-120"/>
              <a:cs typeface="+mn-cs"/>
            </a:rPr>
            <a:t>擴大服務範圍，加盟其他商家</a:t>
          </a:r>
          <a:endParaRPr lang="en-US" altLang="zh-TW" sz="1800" dirty="0">
            <a:solidFill>
              <a:sysClr val="windowText" lastClr="000000">
                <a:hueOff val="0"/>
                <a:satOff val="0"/>
                <a:lumOff val="0"/>
                <a:alphaOff val="0"/>
              </a:sysClr>
            </a:solidFill>
            <a:latin typeface="微軟正黑體" panose="020B0604030504040204" pitchFamily="34" charset="-120"/>
            <a:ea typeface="微軟正黑體" panose="020B0604030504040204" pitchFamily="34" charset="-120"/>
            <a:cs typeface="+mn-cs"/>
          </a:endParaRPr>
        </a:p>
      </dgm:t>
    </dgm:pt>
    <dgm:pt modelId="{003F49F5-104E-4D55-9DF7-2741EF37F399}" type="parTrans" cxnId="{39BFADCC-825A-4166-94FF-C07041154002}">
      <dgm:prSet/>
      <dgm:spPr/>
      <dgm:t>
        <a:bodyPr/>
        <a:lstStyle/>
        <a:p>
          <a:endParaRPr lang="zh-TW" altLang="en-US">
            <a:latin typeface="微軟正黑體" panose="020B0604030504040204" pitchFamily="34" charset="-120"/>
            <a:ea typeface="微軟正黑體" panose="020B0604030504040204" pitchFamily="34" charset="-120"/>
          </a:endParaRPr>
        </a:p>
      </dgm:t>
    </dgm:pt>
    <dgm:pt modelId="{1D76B5F9-33FC-4FA2-96AF-4AE414138ABD}" type="sibTrans" cxnId="{39BFADCC-825A-4166-94FF-C07041154002}">
      <dgm:prSet/>
      <dgm:spPr/>
      <dgm:t>
        <a:bodyPr/>
        <a:lstStyle/>
        <a:p>
          <a:endParaRPr lang="zh-TW" altLang="en-US">
            <a:latin typeface="微軟正黑體" panose="020B0604030504040204" pitchFamily="34" charset="-120"/>
            <a:ea typeface="微軟正黑體" panose="020B0604030504040204" pitchFamily="34" charset="-120"/>
          </a:endParaRPr>
        </a:p>
      </dgm:t>
    </dgm:pt>
    <dgm:pt modelId="{390C60E4-7DC8-4623-9A00-22FCFCC00933}">
      <dgm:prSet custT="1"/>
      <dgm:spPr>
        <a:xfrm>
          <a:off x="5006848" y="2436855"/>
          <a:ext cx="2503424" cy="2246958"/>
        </a:xfrm>
        <a:prstGeom prst="rect">
          <a:avLst/>
        </a:prstGeom>
        <a:noFill/>
        <a:ln w="12700" cap="flat" cmpd="sng" algn="ctr">
          <a:noFill/>
          <a:prstDash val="solid"/>
          <a:miter lim="800000"/>
        </a:ln>
        <a:effectLst/>
      </dgm:spPr>
      <dgm:t>
        <a:bodyPr/>
        <a:lstStyle/>
        <a:p>
          <a:pPr>
            <a:buNone/>
          </a:pPr>
          <a:r>
            <a:rPr lang="en-US" altLang="zh-TW" sz="1800" b="1" dirty="0">
              <a:solidFill>
                <a:srgbClr val="70AD47">
                  <a:lumMod val="50000"/>
                </a:srgbClr>
              </a:solidFill>
              <a:latin typeface="微軟正黑體" panose="020B0604030504040204" pitchFamily="34" charset="-120"/>
              <a:ea typeface="微軟正黑體" panose="020B0604030504040204" pitchFamily="34" charset="-120"/>
              <a:cs typeface="+mn-cs"/>
            </a:rPr>
            <a:t>2.</a:t>
          </a:r>
          <a:r>
            <a:rPr lang="zh-TW" altLang="en-US" sz="1800" b="1" dirty="0">
              <a:solidFill>
                <a:srgbClr val="70AD47">
                  <a:lumMod val="50000"/>
                </a:srgbClr>
              </a:solidFill>
              <a:latin typeface="微軟正黑體" panose="020B0604030504040204" pitchFamily="34" charset="-120"/>
              <a:ea typeface="微軟正黑體" panose="020B0604030504040204" pitchFamily="34" charset="-120"/>
              <a:cs typeface="+mn-cs"/>
            </a:rPr>
            <a:t>降低市場紙張票券的流通</a:t>
          </a:r>
          <a:endParaRPr lang="en-US" altLang="zh-TW" sz="1800" b="1" dirty="0">
            <a:solidFill>
              <a:srgbClr val="70AD47">
                <a:lumMod val="50000"/>
              </a:srgbClr>
            </a:solidFill>
            <a:latin typeface="微軟正黑體" panose="020B0604030504040204" pitchFamily="34" charset="-120"/>
            <a:ea typeface="微軟正黑體" panose="020B0604030504040204" pitchFamily="34" charset="-120"/>
            <a:cs typeface="+mn-cs"/>
          </a:endParaRPr>
        </a:p>
      </dgm:t>
    </dgm:pt>
    <dgm:pt modelId="{77ACDF9F-F1C0-4AF8-9359-903F8677CB79}" type="parTrans" cxnId="{B57BA6D7-47F1-4256-9E62-567DB2F1FFE7}">
      <dgm:prSet/>
      <dgm:spPr/>
      <dgm:t>
        <a:bodyPr/>
        <a:lstStyle/>
        <a:p>
          <a:endParaRPr lang="zh-TW" altLang="en-US">
            <a:latin typeface="微軟正黑體" panose="020B0604030504040204" pitchFamily="34" charset="-120"/>
            <a:ea typeface="微軟正黑體" panose="020B0604030504040204" pitchFamily="34" charset="-120"/>
          </a:endParaRPr>
        </a:p>
      </dgm:t>
    </dgm:pt>
    <dgm:pt modelId="{EC7AF21B-598A-4C20-88F8-624451E9B888}" type="sibTrans" cxnId="{B57BA6D7-47F1-4256-9E62-567DB2F1FFE7}">
      <dgm:prSet/>
      <dgm:spPr/>
      <dgm:t>
        <a:bodyPr/>
        <a:lstStyle/>
        <a:p>
          <a:endParaRPr lang="zh-TW" altLang="en-US">
            <a:latin typeface="微軟正黑體" panose="020B0604030504040204" pitchFamily="34" charset="-120"/>
            <a:ea typeface="微軟正黑體" panose="020B0604030504040204" pitchFamily="34" charset="-120"/>
          </a:endParaRPr>
        </a:p>
      </dgm:t>
    </dgm:pt>
    <dgm:pt modelId="{C4729C2F-DCDD-404D-85E9-905849F239C7}">
      <dgm:prSet custT="1"/>
      <dgm:spPr>
        <a:xfrm>
          <a:off x="5006848" y="2436855"/>
          <a:ext cx="2503424" cy="2246958"/>
        </a:xfrm>
        <a:prstGeom prst="rect">
          <a:avLst/>
        </a:prstGeom>
        <a:noFill/>
        <a:ln w="12700" cap="flat" cmpd="sng" algn="ctr">
          <a:noFill/>
          <a:prstDash val="solid"/>
          <a:miter lim="800000"/>
        </a:ln>
        <a:effectLst/>
      </dgm:spPr>
      <dgm:t>
        <a:bodyPr/>
        <a:lstStyle/>
        <a:p>
          <a:pPr>
            <a:buNone/>
          </a:pPr>
          <a:r>
            <a:rPr lang="en-US" altLang="zh-TW" sz="1800" b="1" dirty="0">
              <a:solidFill>
                <a:srgbClr val="70AD47">
                  <a:lumMod val="50000"/>
                </a:srgbClr>
              </a:solidFill>
              <a:latin typeface="微軟正黑體" panose="020B0604030504040204" pitchFamily="34" charset="-120"/>
              <a:ea typeface="微軟正黑體" panose="020B0604030504040204" pitchFamily="34" charset="-120"/>
              <a:cs typeface="+mn-cs"/>
            </a:rPr>
            <a:t>3.</a:t>
          </a:r>
          <a:r>
            <a:rPr lang="zh-TW" altLang="en-US" sz="1800" b="1" dirty="0">
              <a:solidFill>
                <a:srgbClr val="70AD47">
                  <a:lumMod val="50000"/>
                </a:srgbClr>
              </a:solidFill>
              <a:latin typeface="微軟正黑體" panose="020B0604030504040204" pitchFamily="34" charset="-120"/>
              <a:ea typeface="微軟正黑體" panose="020B0604030504040204" pitchFamily="34" charset="-120"/>
              <a:cs typeface="+mn-cs"/>
            </a:rPr>
            <a:t>跨足多領域的票券應用</a:t>
          </a:r>
          <a:endParaRPr lang="en-US" altLang="zh-TW" sz="1800" b="1" dirty="0">
            <a:solidFill>
              <a:srgbClr val="70AD47">
                <a:lumMod val="50000"/>
              </a:srgbClr>
            </a:solidFill>
            <a:latin typeface="微軟正黑體" panose="020B0604030504040204" pitchFamily="34" charset="-120"/>
            <a:ea typeface="微軟正黑體" panose="020B0604030504040204" pitchFamily="34" charset="-120"/>
            <a:cs typeface="+mn-cs"/>
          </a:endParaRPr>
        </a:p>
      </dgm:t>
    </dgm:pt>
    <dgm:pt modelId="{134C966B-4D98-45D2-9697-D7E84176CCCB}" type="parTrans" cxnId="{6A2DE076-0346-445D-B1D0-9282811DE47B}">
      <dgm:prSet/>
      <dgm:spPr/>
      <dgm:t>
        <a:bodyPr/>
        <a:lstStyle/>
        <a:p>
          <a:endParaRPr lang="zh-TW" altLang="en-US">
            <a:latin typeface="微軟正黑體" panose="020B0604030504040204" pitchFamily="34" charset="-120"/>
            <a:ea typeface="微軟正黑體" panose="020B0604030504040204" pitchFamily="34" charset="-120"/>
          </a:endParaRPr>
        </a:p>
      </dgm:t>
    </dgm:pt>
    <dgm:pt modelId="{2DD8A8DC-4572-423A-AC20-5F9FFEC3F0EE}" type="sibTrans" cxnId="{6A2DE076-0346-445D-B1D0-9282811DE47B}">
      <dgm:prSet/>
      <dgm:spPr/>
      <dgm:t>
        <a:bodyPr/>
        <a:lstStyle/>
        <a:p>
          <a:endParaRPr lang="zh-TW" altLang="en-US">
            <a:latin typeface="微軟正黑體" panose="020B0604030504040204" pitchFamily="34" charset="-120"/>
            <a:ea typeface="微軟正黑體" panose="020B0604030504040204" pitchFamily="34" charset="-120"/>
          </a:endParaRPr>
        </a:p>
      </dgm:t>
    </dgm:pt>
    <dgm:pt modelId="{6BC9D1FD-7B78-46A9-8AAD-356E025E9F6D}">
      <dgm:prSet/>
      <dgm:spPr>
        <a:xfrm>
          <a:off x="5006848" y="2436855"/>
          <a:ext cx="2503424" cy="2246958"/>
        </a:xfrm>
        <a:prstGeom prst="rect">
          <a:avLst/>
        </a:prstGeom>
        <a:noFill/>
        <a:ln w="12700" cap="flat" cmpd="sng" algn="ctr">
          <a:noFill/>
          <a:prstDash val="solid"/>
          <a:miter lim="800000"/>
        </a:ln>
        <a:effectLst/>
      </dgm:spPr>
      <dgm:t>
        <a:bodyPr/>
        <a:lstStyle/>
        <a:p>
          <a:pPr>
            <a:buNone/>
          </a:pPr>
          <a:endParaRPr lang="en-US" altLang="zh-TW" sz="1600" dirty="0">
            <a:solidFill>
              <a:sysClr val="windowText" lastClr="000000">
                <a:hueOff val="0"/>
                <a:satOff val="0"/>
                <a:lumOff val="0"/>
                <a:alphaOff val="0"/>
              </a:sysClr>
            </a:solidFill>
            <a:latin typeface="微軟正黑體" panose="020B0604030504040204" pitchFamily="34" charset="-120"/>
            <a:ea typeface="微軟正黑體" panose="020B0604030504040204" pitchFamily="34" charset="-120"/>
            <a:cs typeface="+mn-cs"/>
          </a:endParaRPr>
        </a:p>
      </dgm:t>
    </dgm:pt>
    <dgm:pt modelId="{2BCE54AF-7879-4893-9EAC-2DDFB00704A2}" type="parTrans" cxnId="{E65240A6-B7D5-4D37-9BB9-D43C60204057}">
      <dgm:prSet/>
      <dgm:spPr/>
      <dgm:t>
        <a:bodyPr/>
        <a:lstStyle/>
        <a:p>
          <a:endParaRPr lang="zh-TW" altLang="en-US">
            <a:latin typeface="微軟正黑體" panose="020B0604030504040204" pitchFamily="34" charset="-120"/>
            <a:ea typeface="微軟正黑體" panose="020B0604030504040204" pitchFamily="34" charset="-120"/>
          </a:endParaRPr>
        </a:p>
      </dgm:t>
    </dgm:pt>
    <dgm:pt modelId="{CE1810B2-FD73-4541-85E2-446EEEF0C45B}" type="sibTrans" cxnId="{E65240A6-B7D5-4D37-9BB9-D43C60204057}">
      <dgm:prSet/>
      <dgm:spPr/>
      <dgm:t>
        <a:bodyPr/>
        <a:lstStyle/>
        <a:p>
          <a:endParaRPr lang="zh-TW" altLang="en-US">
            <a:latin typeface="微軟正黑體" panose="020B0604030504040204" pitchFamily="34" charset="-120"/>
            <a:ea typeface="微軟正黑體" panose="020B0604030504040204" pitchFamily="34" charset="-120"/>
          </a:endParaRPr>
        </a:p>
      </dgm:t>
    </dgm:pt>
    <dgm:pt modelId="{9B8E68FD-CB1A-4A9E-A88C-639D48D04F15}" type="pres">
      <dgm:prSet presAssocID="{941F99C3-BDB1-4C9A-B949-5F6100E5CE27}" presName="Name0" presStyleCnt="0">
        <dgm:presLayoutVars>
          <dgm:chMax val="5"/>
          <dgm:chPref val="5"/>
          <dgm:dir/>
          <dgm:animLvl val="lvl"/>
        </dgm:presLayoutVars>
      </dgm:prSet>
      <dgm:spPr/>
    </dgm:pt>
    <dgm:pt modelId="{55D2E0BE-9DEC-4F2C-B1DC-CB10331A9EE2}" type="pres">
      <dgm:prSet presAssocID="{F9065BB2-13DF-4479-B8C6-04BF45BDBE15}" presName="parentText1" presStyleLbl="node1" presStyleIdx="0" presStyleCnt="3" custScaleX="100580" custLinFactNeighborX="-1900">
        <dgm:presLayoutVars>
          <dgm:chMax/>
          <dgm:chPref val="3"/>
          <dgm:bulletEnabled val="1"/>
        </dgm:presLayoutVars>
      </dgm:prSet>
      <dgm:spPr/>
    </dgm:pt>
    <dgm:pt modelId="{66D84170-3811-445D-970F-FA9DDB8B22EA}" type="pres">
      <dgm:prSet presAssocID="{F9065BB2-13DF-4479-B8C6-04BF45BDBE15}" presName="childText1" presStyleLbl="solidAlignAcc1" presStyleIdx="0" presStyleCnt="3" custScaleX="100386" custScaleY="100301" custLinFactNeighborX="-1624" custLinFactNeighborY="3602">
        <dgm:presLayoutVars>
          <dgm:chMax val="0"/>
          <dgm:chPref val="0"/>
          <dgm:bulletEnabled val="1"/>
        </dgm:presLayoutVars>
      </dgm:prSet>
      <dgm:spPr/>
    </dgm:pt>
    <dgm:pt modelId="{B605A1A3-E8BD-4F2E-B866-B1E0644DF433}" type="pres">
      <dgm:prSet presAssocID="{B536F8D1-4D9A-45AA-9BB3-C0A7D43175B7}" presName="parentText2" presStyleLbl="node1" presStyleIdx="1" presStyleCnt="3">
        <dgm:presLayoutVars>
          <dgm:chMax/>
          <dgm:chPref val="3"/>
          <dgm:bulletEnabled val="1"/>
        </dgm:presLayoutVars>
      </dgm:prSet>
      <dgm:spPr/>
    </dgm:pt>
    <dgm:pt modelId="{447D8689-6705-4E09-B9B7-97E65B59057F}" type="pres">
      <dgm:prSet presAssocID="{B536F8D1-4D9A-45AA-9BB3-C0A7D43175B7}" presName="childText2" presStyleLbl="solidAlignAcc1" presStyleIdx="1" presStyleCnt="3" custScaleX="88516" custLinFactNeighborX="2980" custLinFactNeighborY="4991">
        <dgm:presLayoutVars>
          <dgm:chMax val="0"/>
          <dgm:chPref val="0"/>
          <dgm:bulletEnabled val="1"/>
        </dgm:presLayoutVars>
      </dgm:prSet>
      <dgm:spPr/>
    </dgm:pt>
    <dgm:pt modelId="{0979A3D9-DE2E-47C4-8C25-703C9857E0E9}" type="pres">
      <dgm:prSet presAssocID="{E2063EC5-C59D-4D29-AE72-43003E0B6D07}" presName="parentText3" presStyleLbl="node1" presStyleIdx="2" presStyleCnt="3">
        <dgm:presLayoutVars>
          <dgm:chMax/>
          <dgm:chPref val="3"/>
          <dgm:bulletEnabled val="1"/>
        </dgm:presLayoutVars>
      </dgm:prSet>
      <dgm:spPr/>
    </dgm:pt>
    <dgm:pt modelId="{B9997BDA-8EB2-4882-89BC-26E48B4BCF41}" type="pres">
      <dgm:prSet presAssocID="{E2063EC5-C59D-4D29-AE72-43003E0B6D07}" presName="childText3" presStyleLbl="solidAlignAcc1" presStyleIdx="2" presStyleCnt="3" custScaleX="102371" custLinFactNeighborX="7798" custLinFactNeighborY="5790">
        <dgm:presLayoutVars>
          <dgm:chMax val="0"/>
          <dgm:chPref val="0"/>
          <dgm:bulletEnabled val="1"/>
        </dgm:presLayoutVars>
      </dgm:prSet>
      <dgm:spPr/>
    </dgm:pt>
  </dgm:ptLst>
  <dgm:cxnLst>
    <dgm:cxn modelId="{C8E39327-FBD3-44E9-87FE-270258997E9A}" srcId="{B536F8D1-4D9A-45AA-9BB3-C0A7D43175B7}" destId="{618BAB9E-0E50-47CB-9D58-3B884C6211F9}" srcOrd="1" destOrd="0" parTransId="{783693A2-00F8-4DD9-B959-E691BA31C8C4}" sibTransId="{AF18548F-98C9-4711-ABE7-A0CFBCDCF581}"/>
    <dgm:cxn modelId="{A710802C-1796-4B85-8B34-15E7D216E0EE}" type="presOf" srcId="{B536F8D1-4D9A-45AA-9BB3-C0A7D43175B7}" destId="{B605A1A3-E8BD-4F2E-B866-B1E0644DF433}" srcOrd="0" destOrd="0" presId="urn:microsoft.com/office/officeart/2009/3/layout/IncreasingArrowsProcess"/>
    <dgm:cxn modelId="{E116BE2C-2418-4C95-822C-08636CCBE049}" type="presOf" srcId="{F9065BB2-13DF-4479-B8C6-04BF45BDBE15}" destId="{55D2E0BE-9DEC-4F2C-B1DC-CB10331A9EE2}" srcOrd="0" destOrd="0" presId="urn:microsoft.com/office/officeart/2009/3/layout/IncreasingArrowsProcess"/>
    <dgm:cxn modelId="{ED540B42-4823-459D-8916-B53F02A6B811}" type="presOf" srcId="{5FD24C6C-6019-4298-AD64-1E60D5722AE0}" destId="{B9997BDA-8EB2-4882-89BC-26E48B4BCF41}" srcOrd="0" destOrd="0" presId="urn:microsoft.com/office/officeart/2009/3/layout/IncreasingArrowsProcess"/>
    <dgm:cxn modelId="{C176B764-A928-4785-A7C7-2C810EFD3C90}" type="presOf" srcId="{6BC9D1FD-7B78-46A9-8AAD-356E025E9F6D}" destId="{B9997BDA-8EB2-4882-89BC-26E48B4BCF41}" srcOrd="0" destOrd="3" presId="urn:microsoft.com/office/officeart/2009/3/layout/IncreasingArrowsProcess"/>
    <dgm:cxn modelId="{47F0CD51-0EC3-4B91-BB95-B369046A78DB}" srcId="{F9065BB2-13DF-4479-B8C6-04BF45BDBE15}" destId="{0DB18B52-E7EE-4DFC-9493-605823AF8CCC}" srcOrd="0" destOrd="0" parTransId="{DC9C6117-E583-4B62-92E8-38A809965B40}" sibTransId="{B5E5C7C6-BA2D-423A-BAC7-2CD239E16544}"/>
    <dgm:cxn modelId="{8D4AEE53-D0F3-4947-8171-64AAB33A1977}" type="presOf" srcId="{618BAB9E-0E50-47CB-9D58-3B884C6211F9}" destId="{447D8689-6705-4E09-B9B7-97E65B59057F}" srcOrd="0" destOrd="1" presId="urn:microsoft.com/office/officeart/2009/3/layout/IncreasingArrowsProcess"/>
    <dgm:cxn modelId="{6A2DE076-0346-445D-B1D0-9282811DE47B}" srcId="{E2063EC5-C59D-4D29-AE72-43003E0B6D07}" destId="{C4729C2F-DCDD-404D-85E9-905849F239C7}" srcOrd="2" destOrd="0" parTransId="{134C966B-4D98-45D2-9697-D7E84176CCCB}" sibTransId="{2DD8A8DC-4572-423A-AC20-5F9FFEC3F0EE}"/>
    <dgm:cxn modelId="{62778A88-37DA-4593-9E96-D6484E1A6F21}" type="presOf" srcId="{E2063EC5-C59D-4D29-AE72-43003E0B6D07}" destId="{0979A3D9-DE2E-47C4-8C25-703C9857E0E9}" srcOrd="0" destOrd="0" presId="urn:microsoft.com/office/officeart/2009/3/layout/IncreasingArrowsProcess"/>
    <dgm:cxn modelId="{E65240A6-B7D5-4D37-9BB9-D43C60204057}" srcId="{E2063EC5-C59D-4D29-AE72-43003E0B6D07}" destId="{6BC9D1FD-7B78-46A9-8AAD-356E025E9F6D}" srcOrd="3" destOrd="0" parTransId="{2BCE54AF-7879-4893-9EAC-2DDFB00704A2}" sibTransId="{CE1810B2-FD73-4541-85E2-446EEEF0C45B}"/>
    <dgm:cxn modelId="{BD9B37B0-2EAE-49AE-A301-E1086AFE47CB}" srcId="{E2063EC5-C59D-4D29-AE72-43003E0B6D07}" destId="{5FD24C6C-6019-4298-AD64-1E60D5722AE0}" srcOrd="0" destOrd="0" parTransId="{0807486E-BAFE-49E6-B806-D9CF41F929AA}" sibTransId="{598B4BE4-5377-41DD-B4F1-87379B7DDDF9}"/>
    <dgm:cxn modelId="{C59128B7-7299-4B0D-BD00-F0A7199F817C}" srcId="{B536F8D1-4D9A-45AA-9BB3-C0A7D43175B7}" destId="{CB80A27F-EC61-4DDA-8A3A-CC051E14133B}" srcOrd="0" destOrd="0" parTransId="{0C5ED2EE-E633-4FD7-B3CC-78EB5B8F8802}" sibTransId="{0F2D18F6-F797-4D1E-9478-87C0C3631E2E}"/>
    <dgm:cxn modelId="{475910BF-C512-48CD-85F1-E73D0E881BB3}" type="presOf" srcId="{CB80A27F-EC61-4DDA-8A3A-CC051E14133B}" destId="{447D8689-6705-4E09-B9B7-97E65B59057F}" srcOrd="0" destOrd="0" presId="urn:microsoft.com/office/officeart/2009/3/layout/IncreasingArrowsProcess"/>
    <dgm:cxn modelId="{D6AECFC2-0578-4B12-A3B4-DDCD1B0549BF}" type="presOf" srcId="{0DB18B52-E7EE-4DFC-9493-605823AF8CCC}" destId="{66D84170-3811-445D-970F-FA9DDB8B22EA}" srcOrd="0" destOrd="0" presId="urn:microsoft.com/office/officeart/2009/3/layout/IncreasingArrowsProcess"/>
    <dgm:cxn modelId="{37825EC5-758E-4781-96C3-B6DEF3AFBD30}" type="presOf" srcId="{C4729C2F-DCDD-404D-85E9-905849F239C7}" destId="{B9997BDA-8EB2-4882-89BC-26E48B4BCF41}" srcOrd="0" destOrd="2" presId="urn:microsoft.com/office/officeart/2009/3/layout/IncreasingArrowsProcess"/>
    <dgm:cxn modelId="{39BFADCC-825A-4166-94FF-C07041154002}" srcId="{B536F8D1-4D9A-45AA-9BB3-C0A7D43175B7}" destId="{E26468F1-B699-4E7E-B4ED-1EEE96CD4BF9}" srcOrd="2" destOrd="0" parTransId="{003F49F5-104E-4D55-9DF7-2741EF37F399}" sibTransId="{1D76B5F9-33FC-4FA2-96AF-4AE414138ABD}"/>
    <dgm:cxn modelId="{24FCB0CF-1824-45B0-A7B8-467F76ACD724}" srcId="{941F99C3-BDB1-4C9A-B949-5F6100E5CE27}" destId="{E2063EC5-C59D-4D29-AE72-43003E0B6D07}" srcOrd="2" destOrd="0" parTransId="{0EDDE976-F2A1-43CA-8522-D1A4A9489968}" sibTransId="{20F287AE-0C77-4EF7-A6FB-5621AA1D235B}"/>
    <dgm:cxn modelId="{C76D83D4-837F-440C-91A2-69569F5CF4AF}" type="presOf" srcId="{E26468F1-B699-4E7E-B4ED-1EEE96CD4BF9}" destId="{447D8689-6705-4E09-B9B7-97E65B59057F}" srcOrd="0" destOrd="2" presId="urn:microsoft.com/office/officeart/2009/3/layout/IncreasingArrowsProcess"/>
    <dgm:cxn modelId="{B57BA6D7-47F1-4256-9E62-567DB2F1FFE7}" srcId="{E2063EC5-C59D-4D29-AE72-43003E0B6D07}" destId="{390C60E4-7DC8-4623-9A00-22FCFCC00933}" srcOrd="1" destOrd="0" parTransId="{77ACDF9F-F1C0-4AF8-9359-903F8677CB79}" sibTransId="{EC7AF21B-598A-4C20-88F8-624451E9B888}"/>
    <dgm:cxn modelId="{FB8803D9-1E94-43B7-BA7A-613BE0850240}" type="presOf" srcId="{390C60E4-7DC8-4623-9A00-22FCFCC00933}" destId="{B9997BDA-8EB2-4882-89BC-26E48B4BCF41}" srcOrd="0" destOrd="1" presId="urn:microsoft.com/office/officeart/2009/3/layout/IncreasingArrowsProcess"/>
    <dgm:cxn modelId="{FC5913E1-F87C-43A1-87AF-D279C5EC87D3}" srcId="{941F99C3-BDB1-4C9A-B949-5F6100E5CE27}" destId="{F9065BB2-13DF-4479-B8C6-04BF45BDBE15}" srcOrd="0" destOrd="0" parTransId="{BAB4762C-FEC8-4175-A937-1967C3381B46}" sibTransId="{C07CDAB4-A697-49FF-A35D-CED241DFB10E}"/>
    <dgm:cxn modelId="{DE78A4E1-CEA2-4646-B4E3-723ACF05EA0F}" type="presOf" srcId="{941F99C3-BDB1-4C9A-B949-5F6100E5CE27}" destId="{9B8E68FD-CB1A-4A9E-A88C-639D48D04F15}" srcOrd="0" destOrd="0" presId="urn:microsoft.com/office/officeart/2009/3/layout/IncreasingArrowsProcess"/>
    <dgm:cxn modelId="{4BB834E8-31A6-4AD4-993F-4B26BBE85867}" srcId="{941F99C3-BDB1-4C9A-B949-5F6100E5CE27}" destId="{B536F8D1-4D9A-45AA-9BB3-C0A7D43175B7}" srcOrd="1" destOrd="0" parTransId="{DE9C2246-D18B-4146-8402-2185F8E79C30}" sibTransId="{D94D7FCF-31C1-49F7-B3F4-B38E6ED2670D}"/>
    <dgm:cxn modelId="{80D23677-EFBB-495F-9814-02299DB72AA3}" type="presParOf" srcId="{9B8E68FD-CB1A-4A9E-A88C-639D48D04F15}" destId="{55D2E0BE-9DEC-4F2C-B1DC-CB10331A9EE2}" srcOrd="0" destOrd="0" presId="urn:microsoft.com/office/officeart/2009/3/layout/IncreasingArrowsProcess"/>
    <dgm:cxn modelId="{57355AE9-EF21-4C41-8071-869DC9F031A0}" type="presParOf" srcId="{9B8E68FD-CB1A-4A9E-A88C-639D48D04F15}" destId="{66D84170-3811-445D-970F-FA9DDB8B22EA}" srcOrd="1" destOrd="0" presId="urn:microsoft.com/office/officeart/2009/3/layout/IncreasingArrowsProcess"/>
    <dgm:cxn modelId="{3D16E3F6-C123-42E6-9D59-D2E2C3EAAAD5}" type="presParOf" srcId="{9B8E68FD-CB1A-4A9E-A88C-639D48D04F15}" destId="{B605A1A3-E8BD-4F2E-B866-B1E0644DF433}" srcOrd="2" destOrd="0" presId="urn:microsoft.com/office/officeart/2009/3/layout/IncreasingArrowsProcess"/>
    <dgm:cxn modelId="{6A114CB1-4029-4997-A3DD-D5202AA626A6}" type="presParOf" srcId="{9B8E68FD-CB1A-4A9E-A88C-639D48D04F15}" destId="{447D8689-6705-4E09-B9B7-97E65B59057F}" srcOrd="3" destOrd="0" presId="urn:microsoft.com/office/officeart/2009/3/layout/IncreasingArrowsProcess"/>
    <dgm:cxn modelId="{8613C19C-64A0-4FD5-AD92-0A1CE09A1339}" type="presParOf" srcId="{9B8E68FD-CB1A-4A9E-A88C-639D48D04F15}" destId="{0979A3D9-DE2E-47C4-8C25-703C9857E0E9}" srcOrd="4" destOrd="0" presId="urn:microsoft.com/office/officeart/2009/3/layout/IncreasingArrowsProcess"/>
    <dgm:cxn modelId="{FC2B1DAA-A16C-4E1A-A617-BFEB1FF009A0}" type="presParOf" srcId="{9B8E68FD-CB1A-4A9E-A88C-639D48D04F15}" destId="{B9997BDA-8EB2-4882-89BC-26E48B4BCF41}" srcOrd="5" destOrd="0" presId="urn:microsoft.com/office/officeart/2009/3/layout/IncreasingArrows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4EE2999-3D72-466F-AAFF-ABD521419AF4}" type="doc">
      <dgm:prSet loTypeId="urn:microsoft.com/office/officeart/2005/8/layout/process1" loCatId="process" qsTypeId="urn:microsoft.com/office/officeart/2005/8/quickstyle/simple1" qsCatId="simple" csTypeId="urn:microsoft.com/office/officeart/2005/8/colors/accent1_2" csCatId="accent1" phldr="1"/>
      <dgm:spPr/>
    </dgm:pt>
    <dgm:pt modelId="{EE2F9CAE-89A0-462F-AACC-4257F59BC86B}">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消費者依網路商店提供的商品，進行挑選採購</a:t>
          </a:r>
        </a:p>
      </dgm:t>
    </dgm:pt>
    <dgm:pt modelId="{069FFF7D-C35C-443E-A41F-23E4D1C3CC6F}" type="parTrans" cxnId="{67B4C63B-4380-4F2A-B2C6-192ABCDA27DA}">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2D99A123-1700-4CEF-82DF-80DE0F747FD9}" type="sibTrans" cxnId="{67B4C63B-4380-4F2A-B2C6-192ABCDA27DA}">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7C64B389-C5D8-489E-AAB4-77F692715005}">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消費者先下單，預撥款項至第三方支付業者的帳戶平台，由其存放於銀行</a:t>
          </a:r>
        </a:p>
      </dgm:t>
    </dgm:pt>
    <dgm:pt modelId="{78BE9579-DA6B-488F-95A0-ADE78FD623FD}" type="parTrans" cxnId="{CB60B0EF-2B3C-4435-ACE6-473B9E2E817B}">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3EDA05E0-AC3E-49ED-A064-3A2358509516}" type="sibTrans" cxnId="{CB60B0EF-2B3C-4435-ACE6-473B9E2E817B}">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51D4A37C-5AFF-4226-AE57-893DDC191CC7}">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網路商店透過物流，將商品寄送至消費者指定地址</a:t>
          </a:r>
        </a:p>
      </dgm:t>
    </dgm:pt>
    <dgm:pt modelId="{0CDCE4B6-FCBB-4FB4-83CC-6A721BE01A9F}" type="parTrans" cxnId="{E253AA29-AF13-46F9-AB45-C7BFA61ABF31}">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55CBCB46-886D-4824-A4F5-DD7151CDE21A}" type="sibTrans" cxnId="{E253AA29-AF13-46F9-AB45-C7BFA61ABF31}">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874B6FC2-14CC-415E-AC6D-164A81338B77}" type="pres">
      <dgm:prSet presAssocID="{04EE2999-3D72-466F-AAFF-ABD521419AF4}" presName="Name0" presStyleCnt="0">
        <dgm:presLayoutVars>
          <dgm:dir/>
          <dgm:resizeHandles val="exact"/>
        </dgm:presLayoutVars>
      </dgm:prSet>
      <dgm:spPr/>
    </dgm:pt>
    <dgm:pt modelId="{CBB419AB-295B-4AC9-BB13-2985EA21FE65}" type="pres">
      <dgm:prSet presAssocID="{EE2F9CAE-89A0-462F-AACC-4257F59BC86B}" presName="node" presStyleLbl="node1" presStyleIdx="0" presStyleCnt="3">
        <dgm:presLayoutVars>
          <dgm:bulletEnabled val="1"/>
        </dgm:presLayoutVars>
      </dgm:prSet>
      <dgm:spPr/>
    </dgm:pt>
    <dgm:pt modelId="{6DC3DB55-2E6D-4E9C-86C0-CF22949AE499}" type="pres">
      <dgm:prSet presAssocID="{2D99A123-1700-4CEF-82DF-80DE0F747FD9}" presName="sibTrans" presStyleLbl="sibTrans2D1" presStyleIdx="0" presStyleCnt="2"/>
      <dgm:spPr/>
    </dgm:pt>
    <dgm:pt modelId="{11CEBE87-7503-4820-9EF7-D0DB06996F9A}" type="pres">
      <dgm:prSet presAssocID="{2D99A123-1700-4CEF-82DF-80DE0F747FD9}" presName="connectorText" presStyleLbl="sibTrans2D1" presStyleIdx="0" presStyleCnt="2"/>
      <dgm:spPr/>
    </dgm:pt>
    <dgm:pt modelId="{D5000E0A-0118-4238-8E7F-E7E525C926DF}" type="pres">
      <dgm:prSet presAssocID="{7C64B389-C5D8-489E-AAB4-77F692715005}" presName="node" presStyleLbl="node1" presStyleIdx="1" presStyleCnt="3">
        <dgm:presLayoutVars>
          <dgm:bulletEnabled val="1"/>
        </dgm:presLayoutVars>
      </dgm:prSet>
      <dgm:spPr/>
    </dgm:pt>
    <dgm:pt modelId="{4EA4A8F4-7403-46B2-8305-1C366D8F8FD8}" type="pres">
      <dgm:prSet presAssocID="{3EDA05E0-AC3E-49ED-A064-3A2358509516}" presName="sibTrans" presStyleLbl="sibTrans2D1" presStyleIdx="1" presStyleCnt="2"/>
      <dgm:spPr/>
    </dgm:pt>
    <dgm:pt modelId="{7744CDE2-EDD2-46DA-8DEB-03988FE363F3}" type="pres">
      <dgm:prSet presAssocID="{3EDA05E0-AC3E-49ED-A064-3A2358509516}" presName="connectorText" presStyleLbl="sibTrans2D1" presStyleIdx="1" presStyleCnt="2"/>
      <dgm:spPr/>
    </dgm:pt>
    <dgm:pt modelId="{9C0B906D-E1BA-47D7-B0E0-826A08F6593B}" type="pres">
      <dgm:prSet presAssocID="{51D4A37C-5AFF-4226-AE57-893DDC191CC7}" presName="node" presStyleLbl="node1" presStyleIdx="2" presStyleCnt="3">
        <dgm:presLayoutVars>
          <dgm:bulletEnabled val="1"/>
        </dgm:presLayoutVars>
      </dgm:prSet>
      <dgm:spPr/>
    </dgm:pt>
  </dgm:ptLst>
  <dgm:cxnLst>
    <dgm:cxn modelId="{FA01B215-EB53-473C-87A4-9722BB39D70E}" type="presOf" srcId="{3EDA05E0-AC3E-49ED-A064-3A2358509516}" destId="{4EA4A8F4-7403-46B2-8305-1C366D8F8FD8}" srcOrd="0" destOrd="0" presId="urn:microsoft.com/office/officeart/2005/8/layout/process1"/>
    <dgm:cxn modelId="{81363816-BE2C-4F24-898C-418DF73E4ECF}" type="presOf" srcId="{51D4A37C-5AFF-4226-AE57-893DDC191CC7}" destId="{9C0B906D-E1BA-47D7-B0E0-826A08F6593B}" srcOrd="0" destOrd="0" presId="urn:microsoft.com/office/officeart/2005/8/layout/process1"/>
    <dgm:cxn modelId="{961F4F18-5561-4D5F-BB0B-B9EB0DEBD7D9}" type="presOf" srcId="{EE2F9CAE-89A0-462F-AACC-4257F59BC86B}" destId="{CBB419AB-295B-4AC9-BB13-2985EA21FE65}" srcOrd="0" destOrd="0" presId="urn:microsoft.com/office/officeart/2005/8/layout/process1"/>
    <dgm:cxn modelId="{E253AA29-AF13-46F9-AB45-C7BFA61ABF31}" srcId="{04EE2999-3D72-466F-AAFF-ABD521419AF4}" destId="{51D4A37C-5AFF-4226-AE57-893DDC191CC7}" srcOrd="2" destOrd="0" parTransId="{0CDCE4B6-FCBB-4FB4-83CC-6A721BE01A9F}" sibTransId="{55CBCB46-886D-4824-A4F5-DD7151CDE21A}"/>
    <dgm:cxn modelId="{CEF7022E-58EC-4D11-BD7A-F6198C3BD027}" type="presOf" srcId="{04EE2999-3D72-466F-AAFF-ABD521419AF4}" destId="{874B6FC2-14CC-415E-AC6D-164A81338B77}" srcOrd="0" destOrd="0" presId="urn:microsoft.com/office/officeart/2005/8/layout/process1"/>
    <dgm:cxn modelId="{67B4C63B-4380-4F2A-B2C6-192ABCDA27DA}" srcId="{04EE2999-3D72-466F-AAFF-ABD521419AF4}" destId="{EE2F9CAE-89A0-462F-AACC-4257F59BC86B}" srcOrd="0" destOrd="0" parTransId="{069FFF7D-C35C-443E-A41F-23E4D1C3CC6F}" sibTransId="{2D99A123-1700-4CEF-82DF-80DE0F747FD9}"/>
    <dgm:cxn modelId="{A5702F4E-FA13-429C-810A-EB6ED31F0BE8}" type="presOf" srcId="{3EDA05E0-AC3E-49ED-A064-3A2358509516}" destId="{7744CDE2-EDD2-46DA-8DEB-03988FE363F3}" srcOrd="1" destOrd="0" presId="urn:microsoft.com/office/officeart/2005/8/layout/process1"/>
    <dgm:cxn modelId="{49A1B975-73E7-4E7B-910C-0085D099AA21}" type="presOf" srcId="{2D99A123-1700-4CEF-82DF-80DE0F747FD9}" destId="{6DC3DB55-2E6D-4E9C-86C0-CF22949AE499}" srcOrd="0" destOrd="0" presId="urn:microsoft.com/office/officeart/2005/8/layout/process1"/>
    <dgm:cxn modelId="{2019549F-D4D2-4296-B515-E80916D1FEF9}" type="presOf" srcId="{7C64B389-C5D8-489E-AAB4-77F692715005}" destId="{D5000E0A-0118-4238-8E7F-E7E525C926DF}" srcOrd="0" destOrd="0" presId="urn:microsoft.com/office/officeart/2005/8/layout/process1"/>
    <dgm:cxn modelId="{CB60B0EF-2B3C-4435-ACE6-473B9E2E817B}" srcId="{04EE2999-3D72-466F-AAFF-ABD521419AF4}" destId="{7C64B389-C5D8-489E-AAB4-77F692715005}" srcOrd="1" destOrd="0" parTransId="{78BE9579-DA6B-488F-95A0-ADE78FD623FD}" sibTransId="{3EDA05E0-AC3E-49ED-A064-3A2358509516}"/>
    <dgm:cxn modelId="{3518C7FD-F5EC-485A-B896-244620B21B69}" type="presOf" srcId="{2D99A123-1700-4CEF-82DF-80DE0F747FD9}" destId="{11CEBE87-7503-4820-9EF7-D0DB06996F9A}" srcOrd="1" destOrd="0" presId="urn:microsoft.com/office/officeart/2005/8/layout/process1"/>
    <dgm:cxn modelId="{1B4E6486-8AED-4BBF-8F2E-7750D77B384B}" type="presParOf" srcId="{874B6FC2-14CC-415E-AC6D-164A81338B77}" destId="{CBB419AB-295B-4AC9-BB13-2985EA21FE65}" srcOrd="0" destOrd="0" presId="urn:microsoft.com/office/officeart/2005/8/layout/process1"/>
    <dgm:cxn modelId="{0F86FA35-11F0-40A3-A1AF-9E619A288179}" type="presParOf" srcId="{874B6FC2-14CC-415E-AC6D-164A81338B77}" destId="{6DC3DB55-2E6D-4E9C-86C0-CF22949AE499}" srcOrd="1" destOrd="0" presId="urn:microsoft.com/office/officeart/2005/8/layout/process1"/>
    <dgm:cxn modelId="{28003500-28C7-4ABF-A876-B53457E33BAB}" type="presParOf" srcId="{6DC3DB55-2E6D-4E9C-86C0-CF22949AE499}" destId="{11CEBE87-7503-4820-9EF7-D0DB06996F9A}" srcOrd="0" destOrd="0" presId="urn:microsoft.com/office/officeart/2005/8/layout/process1"/>
    <dgm:cxn modelId="{843D56F9-8C7B-4BC3-95C3-A9BA89F6ACB4}" type="presParOf" srcId="{874B6FC2-14CC-415E-AC6D-164A81338B77}" destId="{D5000E0A-0118-4238-8E7F-E7E525C926DF}" srcOrd="2" destOrd="0" presId="urn:microsoft.com/office/officeart/2005/8/layout/process1"/>
    <dgm:cxn modelId="{D9F21761-C90B-4C87-B26C-EE8160E0654F}" type="presParOf" srcId="{874B6FC2-14CC-415E-AC6D-164A81338B77}" destId="{4EA4A8F4-7403-46B2-8305-1C366D8F8FD8}" srcOrd="3" destOrd="0" presId="urn:microsoft.com/office/officeart/2005/8/layout/process1"/>
    <dgm:cxn modelId="{56949463-7B52-4408-AB43-1F1BA875E30F}" type="presParOf" srcId="{4EA4A8F4-7403-46B2-8305-1C366D8F8FD8}" destId="{7744CDE2-EDD2-46DA-8DEB-03988FE363F3}" srcOrd="0" destOrd="0" presId="urn:microsoft.com/office/officeart/2005/8/layout/process1"/>
    <dgm:cxn modelId="{B4BE8AED-8152-410C-91DD-DBED42ECE0E0}" type="presParOf" srcId="{874B6FC2-14CC-415E-AC6D-164A81338B77}" destId="{9C0B906D-E1BA-47D7-B0E0-826A08F6593B}" srcOrd="4"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4EE2999-3D72-466F-AAFF-ABD521419AF4}" type="doc">
      <dgm:prSet loTypeId="urn:microsoft.com/office/officeart/2005/8/layout/process1" loCatId="process" qsTypeId="urn:microsoft.com/office/officeart/2005/8/quickstyle/simple1" qsCatId="simple" csTypeId="urn:microsoft.com/office/officeart/2005/8/colors/accent1_2" csCatId="accent1" phldr="1"/>
      <dgm:spPr/>
    </dgm:pt>
    <dgm:pt modelId="{EE2F9CAE-89A0-462F-AACC-4257F59BC86B}">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消費者在收到商品時，必須向第三方支付業者發出撥款的訊息</a:t>
          </a:r>
        </a:p>
      </dgm:t>
    </dgm:pt>
    <dgm:pt modelId="{069FFF7D-C35C-443E-A41F-23E4D1C3CC6F}" type="parTrans" cxnId="{67B4C63B-4380-4F2A-B2C6-192ABCDA27DA}">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2D99A123-1700-4CEF-82DF-80DE0F747FD9}" type="sibTrans" cxnId="{67B4C63B-4380-4F2A-B2C6-192ABCDA27DA}">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7C64B389-C5D8-489E-AAB4-77F692715005}">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收到撥款通知時，由第三方支付業者進行款項撥付</a:t>
          </a:r>
        </a:p>
      </dgm:t>
    </dgm:pt>
    <dgm:pt modelId="{78BE9579-DA6B-488F-95A0-ADE78FD623FD}" type="parTrans" cxnId="{CB60B0EF-2B3C-4435-ACE6-473B9E2E817B}">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3EDA05E0-AC3E-49ED-A064-3A2358509516}" type="sibTrans" cxnId="{CB60B0EF-2B3C-4435-ACE6-473B9E2E817B}">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51D4A37C-5AFF-4226-AE57-893DDC191CC7}">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網路商店確認款項金額後，支付交易手續費給第三方支付業者</a:t>
          </a:r>
        </a:p>
      </dgm:t>
    </dgm:pt>
    <dgm:pt modelId="{0CDCE4B6-FCBB-4FB4-83CC-6A721BE01A9F}" type="parTrans" cxnId="{E253AA29-AF13-46F9-AB45-C7BFA61ABF31}">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55CBCB46-886D-4824-A4F5-DD7151CDE21A}" type="sibTrans" cxnId="{E253AA29-AF13-46F9-AB45-C7BFA61ABF31}">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874B6FC2-14CC-415E-AC6D-164A81338B77}" type="pres">
      <dgm:prSet presAssocID="{04EE2999-3D72-466F-AAFF-ABD521419AF4}" presName="Name0" presStyleCnt="0">
        <dgm:presLayoutVars>
          <dgm:dir/>
          <dgm:resizeHandles val="exact"/>
        </dgm:presLayoutVars>
      </dgm:prSet>
      <dgm:spPr/>
    </dgm:pt>
    <dgm:pt modelId="{CBB419AB-295B-4AC9-BB13-2985EA21FE65}" type="pres">
      <dgm:prSet presAssocID="{EE2F9CAE-89A0-462F-AACC-4257F59BC86B}" presName="node" presStyleLbl="node1" presStyleIdx="0" presStyleCnt="3">
        <dgm:presLayoutVars>
          <dgm:bulletEnabled val="1"/>
        </dgm:presLayoutVars>
      </dgm:prSet>
      <dgm:spPr/>
    </dgm:pt>
    <dgm:pt modelId="{6DC3DB55-2E6D-4E9C-86C0-CF22949AE499}" type="pres">
      <dgm:prSet presAssocID="{2D99A123-1700-4CEF-82DF-80DE0F747FD9}" presName="sibTrans" presStyleLbl="sibTrans2D1" presStyleIdx="0" presStyleCnt="2"/>
      <dgm:spPr/>
    </dgm:pt>
    <dgm:pt modelId="{11CEBE87-7503-4820-9EF7-D0DB06996F9A}" type="pres">
      <dgm:prSet presAssocID="{2D99A123-1700-4CEF-82DF-80DE0F747FD9}" presName="connectorText" presStyleLbl="sibTrans2D1" presStyleIdx="0" presStyleCnt="2"/>
      <dgm:spPr/>
    </dgm:pt>
    <dgm:pt modelId="{D5000E0A-0118-4238-8E7F-E7E525C926DF}" type="pres">
      <dgm:prSet presAssocID="{7C64B389-C5D8-489E-AAB4-77F692715005}" presName="node" presStyleLbl="node1" presStyleIdx="1" presStyleCnt="3">
        <dgm:presLayoutVars>
          <dgm:bulletEnabled val="1"/>
        </dgm:presLayoutVars>
      </dgm:prSet>
      <dgm:spPr/>
    </dgm:pt>
    <dgm:pt modelId="{4EA4A8F4-7403-46B2-8305-1C366D8F8FD8}" type="pres">
      <dgm:prSet presAssocID="{3EDA05E0-AC3E-49ED-A064-3A2358509516}" presName="sibTrans" presStyleLbl="sibTrans2D1" presStyleIdx="1" presStyleCnt="2"/>
      <dgm:spPr/>
    </dgm:pt>
    <dgm:pt modelId="{7744CDE2-EDD2-46DA-8DEB-03988FE363F3}" type="pres">
      <dgm:prSet presAssocID="{3EDA05E0-AC3E-49ED-A064-3A2358509516}" presName="connectorText" presStyleLbl="sibTrans2D1" presStyleIdx="1" presStyleCnt="2"/>
      <dgm:spPr/>
    </dgm:pt>
    <dgm:pt modelId="{9C0B906D-E1BA-47D7-B0E0-826A08F6593B}" type="pres">
      <dgm:prSet presAssocID="{51D4A37C-5AFF-4226-AE57-893DDC191CC7}" presName="node" presStyleLbl="node1" presStyleIdx="2" presStyleCnt="3">
        <dgm:presLayoutVars>
          <dgm:bulletEnabled val="1"/>
        </dgm:presLayoutVars>
      </dgm:prSet>
      <dgm:spPr/>
    </dgm:pt>
  </dgm:ptLst>
  <dgm:cxnLst>
    <dgm:cxn modelId="{FA01B215-EB53-473C-87A4-9722BB39D70E}" type="presOf" srcId="{3EDA05E0-AC3E-49ED-A064-3A2358509516}" destId="{4EA4A8F4-7403-46B2-8305-1C366D8F8FD8}" srcOrd="0" destOrd="0" presId="urn:microsoft.com/office/officeart/2005/8/layout/process1"/>
    <dgm:cxn modelId="{81363816-BE2C-4F24-898C-418DF73E4ECF}" type="presOf" srcId="{51D4A37C-5AFF-4226-AE57-893DDC191CC7}" destId="{9C0B906D-E1BA-47D7-B0E0-826A08F6593B}" srcOrd="0" destOrd="0" presId="urn:microsoft.com/office/officeart/2005/8/layout/process1"/>
    <dgm:cxn modelId="{961F4F18-5561-4D5F-BB0B-B9EB0DEBD7D9}" type="presOf" srcId="{EE2F9CAE-89A0-462F-AACC-4257F59BC86B}" destId="{CBB419AB-295B-4AC9-BB13-2985EA21FE65}" srcOrd="0" destOrd="0" presId="urn:microsoft.com/office/officeart/2005/8/layout/process1"/>
    <dgm:cxn modelId="{E253AA29-AF13-46F9-AB45-C7BFA61ABF31}" srcId="{04EE2999-3D72-466F-AAFF-ABD521419AF4}" destId="{51D4A37C-5AFF-4226-AE57-893DDC191CC7}" srcOrd="2" destOrd="0" parTransId="{0CDCE4B6-FCBB-4FB4-83CC-6A721BE01A9F}" sibTransId="{55CBCB46-886D-4824-A4F5-DD7151CDE21A}"/>
    <dgm:cxn modelId="{CEF7022E-58EC-4D11-BD7A-F6198C3BD027}" type="presOf" srcId="{04EE2999-3D72-466F-AAFF-ABD521419AF4}" destId="{874B6FC2-14CC-415E-AC6D-164A81338B77}" srcOrd="0" destOrd="0" presId="urn:microsoft.com/office/officeart/2005/8/layout/process1"/>
    <dgm:cxn modelId="{67B4C63B-4380-4F2A-B2C6-192ABCDA27DA}" srcId="{04EE2999-3D72-466F-AAFF-ABD521419AF4}" destId="{EE2F9CAE-89A0-462F-AACC-4257F59BC86B}" srcOrd="0" destOrd="0" parTransId="{069FFF7D-C35C-443E-A41F-23E4D1C3CC6F}" sibTransId="{2D99A123-1700-4CEF-82DF-80DE0F747FD9}"/>
    <dgm:cxn modelId="{A5702F4E-FA13-429C-810A-EB6ED31F0BE8}" type="presOf" srcId="{3EDA05E0-AC3E-49ED-A064-3A2358509516}" destId="{7744CDE2-EDD2-46DA-8DEB-03988FE363F3}" srcOrd="1" destOrd="0" presId="urn:microsoft.com/office/officeart/2005/8/layout/process1"/>
    <dgm:cxn modelId="{49A1B975-73E7-4E7B-910C-0085D099AA21}" type="presOf" srcId="{2D99A123-1700-4CEF-82DF-80DE0F747FD9}" destId="{6DC3DB55-2E6D-4E9C-86C0-CF22949AE499}" srcOrd="0" destOrd="0" presId="urn:microsoft.com/office/officeart/2005/8/layout/process1"/>
    <dgm:cxn modelId="{2019549F-D4D2-4296-B515-E80916D1FEF9}" type="presOf" srcId="{7C64B389-C5D8-489E-AAB4-77F692715005}" destId="{D5000E0A-0118-4238-8E7F-E7E525C926DF}" srcOrd="0" destOrd="0" presId="urn:microsoft.com/office/officeart/2005/8/layout/process1"/>
    <dgm:cxn modelId="{CB60B0EF-2B3C-4435-ACE6-473B9E2E817B}" srcId="{04EE2999-3D72-466F-AAFF-ABD521419AF4}" destId="{7C64B389-C5D8-489E-AAB4-77F692715005}" srcOrd="1" destOrd="0" parTransId="{78BE9579-DA6B-488F-95A0-ADE78FD623FD}" sibTransId="{3EDA05E0-AC3E-49ED-A064-3A2358509516}"/>
    <dgm:cxn modelId="{3518C7FD-F5EC-485A-B896-244620B21B69}" type="presOf" srcId="{2D99A123-1700-4CEF-82DF-80DE0F747FD9}" destId="{11CEBE87-7503-4820-9EF7-D0DB06996F9A}" srcOrd="1" destOrd="0" presId="urn:microsoft.com/office/officeart/2005/8/layout/process1"/>
    <dgm:cxn modelId="{1B4E6486-8AED-4BBF-8F2E-7750D77B384B}" type="presParOf" srcId="{874B6FC2-14CC-415E-AC6D-164A81338B77}" destId="{CBB419AB-295B-4AC9-BB13-2985EA21FE65}" srcOrd="0" destOrd="0" presId="urn:microsoft.com/office/officeart/2005/8/layout/process1"/>
    <dgm:cxn modelId="{0F86FA35-11F0-40A3-A1AF-9E619A288179}" type="presParOf" srcId="{874B6FC2-14CC-415E-AC6D-164A81338B77}" destId="{6DC3DB55-2E6D-4E9C-86C0-CF22949AE499}" srcOrd="1" destOrd="0" presId="urn:microsoft.com/office/officeart/2005/8/layout/process1"/>
    <dgm:cxn modelId="{28003500-28C7-4ABF-A876-B53457E33BAB}" type="presParOf" srcId="{6DC3DB55-2E6D-4E9C-86C0-CF22949AE499}" destId="{11CEBE87-7503-4820-9EF7-D0DB06996F9A}" srcOrd="0" destOrd="0" presId="urn:microsoft.com/office/officeart/2005/8/layout/process1"/>
    <dgm:cxn modelId="{843D56F9-8C7B-4BC3-95C3-A9BA89F6ACB4}" type="presParOf" srcId="{874B6FC2-14CC-415E-AC6D-164A81338B77}" destId="{D5000E0A-0118-4238-8E7F-E7E525C926DF}" srcOrd="2" destOrd="0" presId="urn:microsoft.com/office/officeart/2005/8/layout/process1"/>
    <dgm:cxn modelId="{D9F21761-C90B-4C87-B26C-EE8160E0654F}" type="presParOf" srcId="{874B6FC2-14CC-415E-AC6D-164A81338B77}" destId="{4EA4A8F4-7403-46B2-8305-1C366D8F8FD8}" srcOrd="3" destOrd="0" presId="urn:microsoft.com/office/officeart/2005/8/layout/process1"/>
    <dgm:cxn modelId="{56949463-7B52-4408-AB43-1F1BA875E30F}" type="presParOf" srcId="{4EA4A8F4-7403-46B2-8305-1C366D8F8FD8}" destId="{7744CDE2-EDD2-46DA-8DEB-03988FE363F3}" srcOrd="0" destOrd="0" presId="urn:microsoft.com/office/officeart/2005/8/layout/process1"/>
    <dgm:cxn modelId="{B4BE8AED-8152-410C-91DD-DBED42ECE0E0}" type="presParOf" srcId="{874B6FC2-14CC-415E-AC6D-164A81338B77}" destId="{9C0B906D-E1BA-47D7-B0E0-826A08F6593B}" srcOrd="4" destOrd="0" presId="urn:microsoft.com/office/officeart/2005/8/layout/process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4EE2999-3D72-466F-AAFF-ABD521419AF4}" type="doc">
      <dgm:prSet loTypeId="urn:microsoft.com/office/officeart/2005/8/layout/process1" loCatId="process" qsTypeId="urn:microsoft.com/office/officeart/2005/8/quickstyle/simple1" qsCatId="simple" csTypeId="urn:microsoft.com/office/officeart/2005/8/colors/accent1_2" csCatId="accent1" phldr="1"/>
      <dgm:spPr/>
    </dgm:pt>
    <dgm:pt modelId="{EE2F9CAE-89A0-462F-AACC-4257F59BC86B}">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捐款人向受捐款機構或公益團體提出有意捐款動作，包含發訊息、提出申請等</a:t>
          </a:r>
        </a:p>
      </dgm:t>
    </dgm:pt>
    <dgm:pt modelId="{069FFF7D-C35C-443E-A41F-23E4D1C3CC6F}" type="parTrans" cxnId="{67B4C63B-4380-4F2A-B2C6-192ABCDA27DA}">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2D99A123-1700-4CEF-82DF-80DE0F747FD9}" type="sibTrans" cxnId="{67B4C63B-4380-4F2A-B2C6-192ABCDA27DA}">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7C64B389-C5D8-489E-AAB4-77F692715005}">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當捐款人確定捐款，可以逕向支付寶或第三方支付平台預撥要捐贈的款項</a:t>
          </a:r>
        </a:p>
      </dgm:t>
    </dgm:pt>
    <dgm:pt modelId="{78BE9579-DA6B-488F-95A0-ADE78FD623FD}" type="parTrans" cxnId="{CB60B0EF-2B3C-4435-ACE6-473B9E2E817B}">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3EDA05E0-AC3E-49ED-A064-3A2358509516}" type="sibTrans" cxnId="{CB60B0EF-2B3C-4435-ACE6-473B9E2E817B}">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51D4A37C-5AFF-4226-AE57-893DDC191CC7}">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支付平台收到捐款人的預撥款項，即轉撥付至受捐款機構或公益團體</a:t>
          </a:r>
        </a:p>
      </dgm:t>
    </dgm:pt>
    <dgm:pt modelId="{0CDCE4B6-FCBB-4FB4-83CC-6A721BE01A9F}" type="parTrans" cxnId="{E253AA29-AF13-46F9-AB45-C7BFA61ABF31}">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55CBCB46-886D-4824-A4F5-DD7151CDE21A}" type="sibTrans" cxnId="{E253AA29-AF13-46F9-AB45-C7BFA61ABF31}">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874B6FC2-14CC-415E-AC6D-164A81338B77}" type="pres">
      <dgm:prSet presAssocID="{04EE2999-3D72-466F-AAFF-ABD521419AF4}" presName="Name0" presStyleCnt="0">
        <dgm:presLayoutVars>
          <dgm:dir/>
          <dgm:resizeHandles val="exact"/>
        </dgm:presLayoutVars>
      </dgm:prSet>
      <dgm:spPr/>
    </dgm:pt>
    <dgm:pt modelId="{CBB419AB-295B-4AC9-BB13-2985EA21FE65}" type="pres">
      <dgm:prSet presAssocID="{EE2F9CAE-89A0-462F-AACC-4257F59BC86B}" presName="node" presStyleLbl="node1" presStyleIdx="0" presStyleCnt="3">
        <dgm:presLayoutVars>
          <dgm:bulletEnabled val="1"/>
        </dgm:presLayoutVars>
      </dgm:prSet>
      <dgm:spPr/>
    </dgm:pt>
    <dgm:pt modelId="{6DC3DB55-2E6D-4E9C-86C0-CF22949AE499}" type="pres">
      <dgm:prSet presAssocID="{2D99A123-1700-4CEF-82DF-80DE0F747FD9}" presName="sibTrans" presStyleLbl="sibTrans2D1" presStyleIdx="0" presStyleCnt="2"/>
      <dgm:spPr/>
    </dgm:pt>
    <dgm:pt modelId="{11CEBE87-7503-4820-9EF7-D0DB06996F9A}" type="pres">
      <dgm:prSet presAssocID="{2D99A123-1700-4CEF-82DF-80DE0F747FD9}" presName="connectorText" presStyleLbl="sibTrans2D1" presStyleIdx="0" presStyleCnt="2"/>
      <dgm:spPr/>
    </dgm:pt>
    <dgm:pt modelId="{D5000E0A-0118-4238-8E7F-E7E525C926DF}" type="pres">
      <dgm:prSet presAssocID="{7C64B389-C5D8-489E-AAB4-77F692715005}" presName="node" presStyleLbl="node1" presStyleIdx="1" presStyleCnt="3">
        <dgm:presLayoutVars>
          <dgm:bulletEnabled val="1"/>
        </dgm:presLayoutVars>
      </dgm:prSet>
      <dgm:spPr/>
    </dgm:pt>
    <dgm:pt modelId="{4EA4A8F4-7403-46B2-8305-1C366D8F8FD8}" type="pres">
      <dgm:prSet presAssocID="{3EDA05E0-AC3E-49ED-A064-3A2358509516}" presName="sibTrans" presStyleLbl="sibTrans2D1" presStyleIdx="1" presStyleCnt="2"/>
      <dgm:spPr/>
    </dgm:pt>
    <dgm:pt modelId="{7744CDE2-EDD2-46DA-8DEB-03988FE363F3}" type="pres">
      <dgm:prSet presAssocID="{3EDA05E0-AC3E-49ED-A064-3A2358509516}" presName="connectorText" presStyleLbl="sibTrans2D1" presStyleIdx="1" presStyleCnt="2"/>
      <dgm:spPr/>
    </dgm:pt>
    <dgm:pt modelId="{9C0B906D-E1BA-47D7-B0E0-826A08F6593B}" type="pres">
      <dgm:prSet presAssocID="{51D4A37C-5AFF-4226-AE57-893DDC191CC7}" presName="node" presStyleLbl="node1" presStyleIdx="2" presStyleCnt="3">
        <dgm:presLayoutVars>
          <dgm:bulletEnabled val="1"/>
        </dgm:presLayoutVars>
      </dgm:prSet>
      <dgm:spPr/>
    </dgm:pt>
  </dgm:ptLst>
  <dgm:cxnLst>
    <dgm:cxn modelId="{FA01B215-EB53-473C-87A4-9722BB39D70E}" type="presOf" srcId="{3EDA05E0-AC3E-49ED-A064-3A2358509516}" destId="{4EA4A8F4-7403-46B2-8305-1C366D8F8FD8}" srcOrd="0" destOrd="0" presId="urn:microsoft.com/office/officeart/2005/8/layout/process1"/>
    <dgm:cxn modelId="{81363816-BE2C-4F24-898C-418DF73E4ECF}" type="presOf" srcId="{51D4A37C-5AFF-4226-AE57-893DDC191CC7}" destId="{9C0B906D-E1BA-47D7-B0E0-826A08F6593B}" srcOrd="0" destOrd="0" presId="urn:microsoft.com/office/officeart/2005/8/layout/process1"/>
    <dgm:cxn modelId="{961F4F18-5561-4D5F-BB0B-B9EB0DEBD7D9}" type="presOf" srcId="{EE2F9CAE-89A0-462F-AACC-4257F59BC86B}" destId="{CBB419AB-295B-4AC9-BB13-2985EA21FE65}" srcOrd="0" destOrd="0" presId="urn:microsoft.com/office/officeart/2005/8/layout/process1"/>
    <dgm:cxn modelId="{E253AA29-AF13-46F9-AB45-C7BFA61ABF31}" srcId="{04EE2999-3D72-466F-AAFF-ABD521419AF4}" destId="{51D4A37C-5AFF-4226-AE57-893DDC191CC7}" srcOrd="2" destOrd="0" parTransId="{0CDCE4B6-FCBB-4FB4-83CC-6A721BE01A9F}" sibTransId="{55CBCB46-886D-4824-A4F5-DD7151CDE21A}"/>
    <dgm:cxn modelId="{CEF7022E-58EC-4D11-BD7A-F6198C3BD027}" type="presOf" srcId="{04EE2999-3D72-466F-AAFF-ABD521419AF4}" destId="{874B6FC2-14CC-415E-AC6D-164A81338B77}" srcOrd="0" destOrd="0" presId="urn:microsoft.com/office/officeart/2005/8/layout/process1"/>
    <dgm:cxn modelId="{67B4C63B-4380-4F2A-B2C6-192ABCDA27DA}" srcId="{04EE2999-3D72-466F-AAFF-ABD521419AF4}" destId="{EE2F9CAE-89A0-462F-AACC-4257F59BC86B}" srcOrd="0" destOrd="0" parTransId="{069FFF7D-C35C-443E-A41F-23E4D1C3CC6F}" sibTransId="{2D99A123-1700-4CEF-82DF-80DE0F747FD9}"/>
    <dgm:cxn modelId="{A5702F4E-FA13-429C-810A-EB6ED31F0BE8}" type="presOf" srcId="{3EDA05E0-AC3E-49ED-A064-3A2358509516}" destId="{7744CDE2-EDD2-46DA-8DEB-03988FE363F3}" srcOrd="1" destOrd="0" presId="urn:microsoft.com/office/officeart/2005/8/layout/process1"/>
    <dgm:cxn modelId="{49A1B975-73E7-4E7B-910C-0085D099AA21}" type="presOf" srcId="{2D99A123-1700-4CEF-82DF-80DE0F747FD9}" destId="{6DC3DB55-2E6D-4E9C-86C0-CF22949AE499}" srcOrd="0" destOrd="0" presId="urn:microsoft.com/office/officeart/2005/8/layout/process1"/>
    <dgm:cxn modelId="{2019549F-D4D2-4296-B515-E80916D1FEF9}" type="presOf" srcId="{7C64B389-C5D8-489E-AAB4-77F692715005}" destId="{D5000E0A-0118-4238-8E7F-E7E525C926DF}" srcOrd="0" destOrd="0" presId="urn:microsoft.com/office/officeart/2005/8/layout/process1"/>
    <dgm:cxn modelId="{CB60B0EF-2B3C-4435-ACE6-473B9E2E817B}" srcId="{04EE2999-3D72-466F-AAFF-ABD521419AF4}" destId="{7C64B389-C5D8-489E-AAB4-77F692715005}" srcOrd="1" destOrd="0" parTransId="{78BE9579-DA6B-488F-95A0-ADE78FD623FD}" sibTransId="{3EDA05E0-AC3E-49ED-A064-3A2358509516}"/>
    <dgm:cxn modelId="{3518C7FD-F5EC-485A-B896-244620B21B69}" type="presOf" srcId="{2D99A123-1700-4CEF-82DF-80DE0F747FD9}" destId="{11CEBE87-7503-4820-9EF7-D0DB06996F9A}" srcOrd="1" destOrd="0" presId="urn:microsoft.com/office/officeart/2005/8/layout/process1"/>
    <dgm:cxn modelId="{1B4E6486-8AED-4BBF-8F2E-7750D77B384B}" type="presParOf" srcId="{874B6FC2-14CC-415E-AC6D-164A81338B77}" destId="{CBB419AB-295B-4AC9-BB13-2985EA21FE65}" srcOrd="0" destOrd="0" presId="urn:microsoft.com/office/officeart/2005/8/layout/process1"/>
    <dgm:cxn modelId="{0F86FA35-11F0-40A3-A1AF-9E619A288179}" type="presParOf" srcId="{874B6FC2-14CC-415E-AC6D-164A81338B77}" destId="{6DC3DB55-2E6D-4E9C-86C0-CF22949AE499}" srcOrd="1" destOrd="0" presId="urn:microsoft.com/office/officeart/2005/8/layout/process1"/>
    <dgm:cxn modelId="{28003500-28C7-4ABF-A876-B53457E33BAB}" type="presParOf" srcId="{6DC3DB55-2E6D-4E9C-86C0-CF22949AE499}" destId="{11CEBE87-7503-4820-9EF7-D0DB06996F9A}" srcOrd="0" destOrd="0" presId="urn:microsoft.com/office/officeart/2005/8/layout/process1"/>
    <dgm:cxn modelId="{843D56F9-8C7B-4BC3-95C3-A9BA89F6ACB4}" type="presParOf" srcId="{874B6FC2-14CC-415E-AC6D-164A81338B77}" destId="{D5000E0A-0118-4238-8E7F-E7E525C926DF}" srcOrd="2" destOrd="0" presId="urn:microsoft.com/office/officeart/2005/8/layout/process1"/>
    <dgm:cxn modelId="{D9F21761-C90B-4C87-B26C-EE8160E0654F}" type="presParOf" srcId="{874B6FC2-14CC-415E-AC6D-164A81338B77}" destId="{4EA4A8F4-7403-46B2-8305-1C366D8F8FD8}" srcOrd="3" destOrd="0" presId="urn:microsoft.com/office/officeart/2005/8/layout/process1"/>
    <dgm:cxn modelId="{56949463-7B52-4408-AB43-1F1BA875E30F}" type="presParOf" srcId="{4EA4A8F4-7403-46B2-8305-1C366D8F8FD8}" destId="{7744CDE2-EDD2-46DA-8DEB-03988FE363F3}" srcOrd="0" destOrd="0" presId="urn:microsoft.com/office/officeart/2005/8/layout/process1"/>
    <dgm:cxn modelId="{B4BE8AED-8152-410C-91DD-DBED42ECE0E0}" type="presParOf" srcId="{874B6FC2-14CC-415E-AC6D-164A81338B77}" destId="{9C0B906D-E1BA-47D7-B0E0-826A08F6593B}" srcOrd="4"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4EE2999-3D72-466F-AAFF-ABD521419AF4}" type="doc">
      <dgm:prSet loTypeId="urn:microsoft.com/office/officeart/2005/8/layout/process1" loCatId="process" qsTypeId="urn:microsoft.com/office/officeart/2005/8/quickstyle/simple1" qsCatId="simple" csTypeId="urn:microsoft.com/office/officeart/2005/8/colors/accent1_2" csCatId="accent1" phldr="1"/>
      <dgm:spPr/>
    </dgm:pt>
    <dgm:pt modelId="{EE2F9CAE-89A0-462F-AACC-4257F59BC86B}">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受捐款機構或公益團體收到款項時，寄發捐款成功的證明文件給捐款人</a:t>
          </a:r>
        </a:p>
      </dgm:t>
    </dgm:pt>
    <dgm:pt modelId="{069FFF7D-C35C-443E-A41F-23E4D1C3CC6F}" type="parTrans" cxnId="{67B4C63B-4380-4F2A-B2C6-192ABCDA27DA}">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2D99A123-1700-4CEF-82DF-80DE0F747FD9}" type="sibTrans" cxnId="{67B4C63B-4380-4F2A-B2C6-192ABCDA27DA}">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7C64B389-C5D8-489E-AAB4-77F692715005}">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當款項未撥付給受捐款機構或公益團體前，會先放至螞蟻金服進行保管</a:t>
          </a:r>
        </a:p>
      </dgm:t>
    </dgm:pt>
    <dgm:pt modelId="{78BE9579-DA6B-488F-95A0-ADE78FD623FD}" type="parTrans" cxnId="{CB60B0EF-2B3C-4435-ACE6-473B9E2E817B}">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3EDA05E0-AC3E-49ED-A064-3A2358509516}" type="sibTrans" cxnId="{CB60B0EF-2B3C-4435-ACE6-473B9E2E817B}">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51D4A37C-5AFF-4226-AE57-893DDC191CC7}">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受捐款機構或公益團體將善款轉付給受捐人</a:t>
          </a:r>
        </a:p>
      </dgm:t>
    </dgm:pt>
    <dgm:pt modelId="{0CDCE4B6-FCBB-4FB4-83CC-6A721BE01A9F}" type="parTrans" cxnId="{E253AA29-AF13-46F9-AB45-C7BFA61ABF31}">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55CBCB46-886D-4824-A4F5-DD7151CDE21A}" type="sibTrans" cxnId="{E253AA29-AF13-46F9-AB45-C7BFA61ABF31}">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874B6FC2-14CC-415E-AC6D-164A81338B77}" type="pres">
      <dgm:prSet presAssocID="{04EE2999-3D72-466F-AAFF-ABD521419AF4}" presName="Name0" presStyleCnt="0">
        <dgm:presLayoutVars>
          <dgm:dir/>
          <dgm:resizeHandles val="exact"/>
        </dgm:presLayoutVars>
      </dgm:prSet>
      <dgm:spPr/>
    </dgm:pt>
    <dgm:pt modelId="{CBB419AB-295B-4AC9-BB13-2985EA21FE65}" type="pres">
      <dgm:prSet presAssocID="{EE2F9CAE-89A0-462F-AACC-4257F59BC86B}" presName="node" presStyleLbl="node1" presStyleIdx="0" presStyleCnt="3">
        <dgm:presLayoutVars>
          <dgm:bulletEnabled val="1"/>
        </dgm:presLayoutVars>
      </dgm:prSet>
      <dgm:spPr/>
    </dgm:pt>
    <dgm:pt modelId="{6DC3DB55-2E6D-4E9C-86C0-CF22949AE499}" type="pres">
      <dgm:prSet presAssocID="{2D99A123-1700-4CEF-82DF-80DE0F747FD9}" presName="sibTrans" presStyleLbl="sibTrans2D1" presStyleIdx="0" presStyleCnt="2"/>
      <dgm:spPr/>
    </dgm:pt>
    <dgm:pt modelId="{11CEBE87-7503-4820-9EF7-D0DB06996F9A}" type="pres">
      <dgm:prSet presAssocID="{2D99A123-1700-4CEF-82DF-80DE0F747FD9}" presName="connectorText" presStyleLbl="sibTrans2D1" presStyleIdx="0" presStyleCnt="2"/>
      <dgm:spPr/>
    </dgm:pt>
    <dgm:pt modelId="{D5000E0A-0118-4238-8E7F-E7E525C926DF}" type="pres">
      <dgm:prSet presAssocID="{7C64B389-C5D8-489E-AAB4-77F692715005}" presName="node" presStyleLbl="node1" presStyleIdx="1" presStyleCnt="3">
        <dgm:presLayoutVars>
          <dgm:bulletEnabled val="1"/>
        </dgm:presLayoutVars>
      </dgm:prSet>
      <dgm:spPr/>
    </dgm:pt>
    <dgm:pt modelId="{4EA4A8F4-7403-46B2-8305-1C366D8F8FD8}" type="pres">
      <dgm:prSet presAssocID="{3EDA05E0-AC3E-49ED-A064-3A2358509516}" presName="sibTrans" presStyleLbl="sibTrans2D1" presStyleIdx="1" presStyleCnt="2"/>
      <dgm:spPr/>
    </dgm:pt>
    <dgm:pt modelId="{7744CDE2-EDD2-46DA-8DEB-03988FE363F3}" type="pres">
      <dgm:prSet presAssocID="{3EDA05E0-AC3E-49ED-A064-3A2358509516}" presName="connectorText" presStyleLbl="sibTrans2D1" presStyleIdx="1" presStyleCnt="2"/>
      <dgm:spPr/>
    </dgm:pt>
    <dgm:pt modelId="{9C0B906D-E1BA-47D7-B0E0-826A08F6593B}" type="pres">
      <dgm:prSet presAssocID="{51D4A37C-5AFF-4226-AE57-893DDC191CC7}" presName="node" presStyleLbl="node1" presStyleIdx="2" presStyleCnt="3">
        <dgm:presLayoutVars>
          <dgm:bulletEnabled val="1"/>
        </dgm:presLayoutVars>
      </dgm:prSet>
      <dgm:spPr/>
    </dgm:pt>
  </dgm:ptLst>
  <dgm:cxnLst>
    <dgm:cxn modelId="{FA01B215-EB53-473C-87A4-9722BB39D70E}" type="presOf" srcId="{3EDA05E0-AC3E-49ED-A064-3A2358509516}" destId="{4EA4A8F4-7403-46B2-8305-1C366D8F8FD8}" srcOrd="0" destOrd="0" presId="urn:microsoft.com/office/officeart/2005/8/layout/process1"/>
    <dgm:cxn modelId="{81363816-BE2C-4F24-898C-418DF73E4ECF}" type="presOf" srcId="{51D4A37C-5AFF-4226-AE57-893DDC191CC7}" destId="{9C0B906D-E1BA-47D7-B0E0-826A08F6593B}" srcOrd="0" destOrd="0" presId="urn:microsoft.com/office/officeart/2005/8/layout/process1"/>
    <dgm:cxn modelId="{961F4F18-5561-4D5F-BB0B-B9EB0DEBD7D9}" type="presOf" srcId="{EE2F9CAE-89A0-462F-AACC-4257F59BC86B}" destId="{CBB419AB-295B-4AC9-BB13-2985EA21FE65}" srcOrd="0" destOrd="0" presId="urn:microsoft.com/office/officeart/2005/8/layout/process1"/>
    <dgm:cxn modelId="{E253AA29-AF13-46F9-AB45-C7BFA61ABF31}" srcId="{04EE2999-3D72-466F-AAFF-ABD521419AF4}" destId="{51D4A37C-5AFF-4226-AE57-893DDC191CC7}" srcOrd="2" destOrd="0" parTransId="{0CDCE4B6-FCBB-4FB4-83CC-6A721BE01A9F}" sibTransId="{55CBCB46-886D-4824-A4F5-DD7151CDE21A}"/>
    <dgm:cxn modelId="{CEF7022E-58EC-4D11-BD7A-F6198C3BD027}" type="presOf" srcId="{04EE2999-3D72-466F-AAFF-ABD521419AF4}" destId="{874B6FC2-14CC-415E-AC6D-164A81338B77}" srcOrd="0" destOrd="0" presId="urn:microsoft.com/office/officeart/2005/8/layout/process1"/>
    <dgm:cxn modelId="{67B4C63B-4380-4F2A-B2C6-192ABCDA27DA}" srcId="{04EE2999-3D72-466F-AAFF-ABD521419AF4}" destId="{EE2F9CAE-89A0-462F-AACC-4257F59BC86B}" srcOrd="0" destOrd="0" parTransId="{069FFF7D-C35C-443E-A41F-23E4D1C3CC6F}" sibTransId="{2D99A123-1700-4CEF-82DF-80DE0F747FD9}"/>
    <dgm:cxn modelId="{A5702F4E-FA13-429C-810A-EB6ED31F0BE8}" type="presOf" srcId="{3EDA05E0-AC3E-49ED-A064-3A2358509516}" destId="{7744CDE2-EDD2-46DA-8DEB-03988FE363F3}" srcOrd="1" destOrd="0" presId="urn:microsoft.com/office/officeart/2005/8/layout/process1"/>
    <dgm:cxn modelId="{49A1B975-73E7-4E7B-910C-0085D099AA21}" type="presOf" srcId="{2D99A123-1700-4CEF-82DF-80DE0F747FD9}" destId="{6DC3DB55-2E6D-4E9C-86C0-CF22949AE499}" srcOrd="0" destOrd="0" presId="urn:microsoft.com/office/officeart/2005/8/layout/process1"/>
    <dgm:cxn modelId="{2019549F-D4D2-4296-B515-E80916D1FEF9}" type="presOf" srcId="{7C64B389-C5D8-489E-AAB4-77F692715005}" destId="{D5000E0A-0118-4238-8E7F-E7E525C926DF}" srcOrd="0" destOrd="0" presId="urn:microsoft.com/office/officeart/2005/8/layout/process1"/>
    <dgm:cxn modelId="{CB60B0EF-2B3C-4435-ACE6-473B9E2E817B}" srcId="{04EE2999-3D72-466F-AAFF-ABD521419AF4}" destId="{7C64B389-C5D8-489E-AAB4-77F692715005}" srcOrd="1" destOrd="0" parTransId="{78BE9579-DA6B-488F-95A0-ADE78FD623FD}" sibTransId="{3EDA05E0-AC3E-49ED-A064-3A2358509516}"/>
    <dgm:cxn modelId="{3518C7FD-F5EC-485A-B896-244620B21B69}" type="presOf" srcId="{2D99A123-1700-4CEF-82DF-80DE0F747FD9}" destId="{11CEBE87-7503-4820-9EF7-D0DB06996F9A}" srcOrd="1" destOrd="0" presId="urn:microsoft.com/office/officeart/2005/8/layout/process1"/>
    <dgm:cxn modelId="{1B4E6486-8AED-4BBF-8F2E-7750D77B384B}" type="presParOf" srcId="{874B6FC2-14CC-415E-AC6D-164A81338B77}" destId="{CBB419AB-295B-4AC9-BB13-2985EA21FE65}" srcOrd="0" destOrd="0" presId="urn:microsoft.com/office/officeart/2005/8/layout/process1"/>
    <dgm:cxn modelId="{0F86FA35-11F0-40A3-A1AF-9E619A288179}" type="presParOf" srcId="{874B6FC2-14CC-415E-AC6D-164A81338B77}" destId="{6DC3DB55-2E6D-4E9C-86C0-CF22949AE499}" srcOrd="1" destOrd="0" presId="urn:microsoft.com/office/officeart/2005/8/layout/process1"/>
    <dgm:cxn modelId="{28003500-28C7-4ABF-A876-B53457E33BAB}" type="presParOf" srcId="{6DC3DB55-2E6D-4E9C-86C0-CF22949AE499}" destId="{11CEBE87-7503-4820-9EF7-D0DB06996F9A}" srcOrd="0" destOrd="0" presId="urn:microsoft.com/office/officeart/2005/8/layout/process1"/>
    <dgm:cxn modelId="{843D56F9-8C7B-4BC3-95C3-A9BA89F6ACB4}" type="presParOf" srcId="{874B6FC2-14CC-415E-AC6D-164A81338B77}" destId="{D5000E0A-0118-4238-8E7F-E7E525C926DF}" srcOrd="2" destOrd="0" presId="urn:microsoft.com/office/officeart/2005/8/layout/process1"/>
    <dgm:cxn modelId="{D9F21761-C90B-4C87-B26C-EE8160E0654F}" type="presParOf" srcId="{874B6FC2-14CC-415E-AC6D-164A81338B77}" destId="{4EA4A8F4-7403-46B2-8305-1C366D8F8FD8}" srcOrd="3" destOrd="0" presId="urn:microsoft.com/office/officeart/2005/8/layout/process1"/>
    <dgm:cxn modelId="{56949463-7B52-4408-AB43-1F1BA875E30F}" type="presParOf" srcId="{4EA4A8F4-7403-46B2-8305-1C366D8F8FD8}" destId="{7744CDE2-EDD2-46DA-8DEB-03988FE363F3}" srcOrd="0" destOrd="0" presId="urn:microsoft.com/office/officeart/2005/8/layout/process1"/>
    <dgm:cxn modelId="{B4BE8AED-8152-410C-91DD-DBED42ECE0E0}" type="presParOf" srcId="{874B6FC2-14CC-415E-AC6D-164A81338B77}" destId="{9C0B906D-E1BA-47D7-B0E0-826A08F6593B}" srcOrd="4" destOrd="0" presId="urn:microsoft.com/office/officeart/2005/8/layout/process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4EE2999-3D72-466F-AAFF-ABD521419AF4}" type="doc">
      <dgm:prSet loTypeId="urn:microsoft.com/office/officeart/2005/8/layout/process1" loCatId="process" qsTypeId="urn:microsoft.com/office/officeart/2005/8/quickstyle/simple1" qsCatId="simple" csTypeId="urn:microsoft.com/office/officeart/2005/8/colors/accent1_2" csCatId="accent1" phldr="1"/>
      <dgm:spPr/>
    </dgm:pt>
    <dgm:pt modelId="{EE2F9CAE-89A0-462F-AACC-4257F59BC86B}">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捐款人直接向受捐款人提出有意捐款的訊息</a:t>
          </a:r>
        </a:p>
      </dgm:t>
    </dgm:pt>
    <dgm:pt modelId="{069FFF7D-C35C-443E-A41F-23E4D1C3CC6F}" type="parTrans" cxnId="{67B4C63B-4380-4F2A-B2C6-192ABCDA27DA}">
      <dgm:prSet/>
      <dgm:spPr/>
      <dgm:t>
        <a:bodyPr/>
        <a:lstStyle/>
        <a:p>
          <a:endParaRPr lang="zh-TW" altLang="en-US" sz="1800" b="1">
            <a:latin typeface="微軟正黑體" panose="020B0604030504040204" pitchFamily="34" charset="-120"/>
            <a:ea typeface="微軟正黑體" panose="020B0604030504040204" pitchFamily="34" charset="-120"/>
          </a:endParaRPr>
        </a:p>
      </dgm:t>
    </dgm:pt>
    <dgm:pt modelId="{2D99A123-1700-4CEF-82DF-80DE0F747FD9}" type="sibTrans" cxnId="{67B4C63B-4380-4F2A-B2C6-192ABCDA27DA}">
      <dgm:prSet custT="1"/>
      <dgm:spPr/>
      <dgm:t>
        <a:bodyPr/>
        <a:lstStyle/>
        <a:p>
          <a:endParaRPr lang="zh-TW" altLang="en-US" sz="1800" b="1">
            <a:latin typeface="微軟正黑體" panose="020B0604030504040204" pitchFamily="34" charset="-120"/>
            <a:ea typeface="微軟正黑體" panose="020B0604030504040204" pitchFamily="34" charset="-120"/>
          </a:endParaRPr>
        </a:p>
      </dgm:t>
    </dgm:pt>
    <dgm:pt modelId="{7C64B389-C5D8-489E-AAB4-77F692715005}">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捐款人可以逕向螞蟻金服支付寶愛心捐贈平台預撥要捐贈的金額</a:t>
          </a:r>
        </a:p>
      </dgm:t>
    </dgm:pt>
    <dgm:pt modelId="{78BE9579-DA6B-488F-95A0-ADE78FD623FD}" type="parTrans" cxnId="{CB60B0EF-2B3C-4435-ACE6-473B9E2E817B}">
      <dgm:prSet/>
      <dgm:spPr/>
      <dgm:t>
        <a:bodyPr/>
        <a:lstStyle/>
        <a:p>
          <a:endParaRPr lang="zh-TW" altLang="en-US" sz="1800" b="1">
            <a:latin typeface="微軟正黑體" panose="020B0604030504040204" pitchFamily="34" charset="-120"/>
            <a:ea typeface="微軟正黑體" panose="020B0604030504040204" pitchFamily="34" charset="-120"/>
          </a:endParaRPr>
        </a:p>
      </dgm:t>
    </dgm:pt>
    <dgm:pt modelId="{3EDA05E0-AC3E-49ED-A064-3A2358509516}" type="sibTrans" cxnId="{CB60B0EF-2B3C-4435-ACE6-473B9E2E817B}">
      <dgm:prSet custT="1"/>
      <dgm:spPr/>
      <dgm:t>
        <a:bodyPr/>
        <a:lstStyle/>
        <a:p>
          <a:endParaRPr lang="zh-TW" altLang="en-US" sz="1800" b="1">
            <a:latin typeface="微軟正黑體" panose="020B0604030504040204" pitchFamily="34" charset="-120"/>
            <a:ea typeface="微軟正黑體" panose="020B0604030504040204" pitchFamily="34" charset="-120"/>
          </a:endParaRPr>
        </a:p>
      </dgm:t>
    </dgm:pt>
    <dgm:pt modelId="{874B6FC2-14CC-415E-AC6D-164A81338B77}" type="pres">
      <dgm:prSet presAssocID="{04EE2999-3D72-466F-AAFF-ABD521419AF4}" presName="Name0" presStyleCnt="0">
        <dgm:presLayoutVars>
          <dgm:dir/>
          <dgm:resizeHandles val="exact"/>
        </dgm:presLayoutVars>
      </dgm:prSet>
      <dgm:spPr/>
    </dgm:pt>
    <dgm:pt modelId="{CBB419AB-295B-4AC9-BB13-2985EA21FE65}" type="pres">
      <dgm:prSet presAssocID="{EE2F9CAE-89A0-462F-AACC-4257F59BC86B}" presName="node" presStyleLbl="node1" presStyleIdx="0" presStyleCnt="2">
        <dgm:presLayoutVars>
          <dgm:bulletEnabled val="1"/>
        </dgm:presLayoutVars>
      </dgm:prSet>
      <dgm:spPr/>
    </dgm:pt>
    <dgm:pt modelId="{6DC3DB55-2E6D-4E9C-86C0-CF22949AE499}" type="pres">
      <dgm:prSet presAssocID="{2D99A123-1700-4CEF-82DF-80DE0F747FD9}" presName="sibTrans" presStyleLbl="sibTrans2D1" presStyleIdx="0" presStyleCnt="1"/>
      <dgm:spPr/>
    </dgm:pt>
    <dgm:pt modelId="{11CEBE87-7503-4820-9EF7-D0DB06996F9A}" type="pres">
      <dgm:prSet presAssocID="{2D99A123-1700-4CEF-82DF-80DE0F747FD9}" presName="connectorText" presStyleLbl="sibTrans2D1" presStyleIdx="0" presStyleCnt="1"/>
      <dgm:spPr/>
    </dgm:pt>
    <dgm:pt modelId="{D5000E0A-0118-4238-8E7F-E7E525C926DF}" type="pres">
      <dgm:prSet presAssocID="{7C64B389-C5D8-489E-AAB4-77F692715005}" presName="node" presStyleLbl="node1" presStyleIdx="1" presStyleCnt="2">
        <dgm:presLayoutVars>
          <dgm:bulletEnabled val="1"/>
        </dgm:presLayoutVars>
      </dgm:prSet>
      <dgm:spPr/>
    </dgm:pt>
  </dgm:ptLst>
  <dgm:cxnLst>
    <dgm:cxn modelId="{961F4F18-5561-4D5F-BB0B-B9EB0DEBD7D9}" type="presOf" srcId="{EE2F9CAE-89A0-462F-AACC-4257F59BC86B}" destId="{CBB419AB-295B-4AC9-BB13-2985EA21FE65}" srcOrd="0" destOrd="0" presId="urn:microsoft.com/office/officeart/2005/8/layout/process1"/>
    <dgm:cxn modelId="{CEF7022E-58EC-4D11-BD7A-F6198C3BD027}" type="presOf" srcId="{04EE2999-3D72-466F-AAFF-ABD521419AF4}" destId="{874B6FC2-14CC-415E-AC6D-164A81338B77}" srcOrd="0" destOrd="0" presId="urn:microsoft.com/office/officeart/2005/8/layout/process1"/>
    <dgm:cxn modelId="{67B4C63B-4380-4F2A-B2C6-192ABCDA27DA}" srcId="{04EE2999-3D72-466F-AAFF-ABD521419AF4}" destId="{EE2F9CAE-89A0-462F-AACC-4257F59BC86B}" srcOrd="0" destOrd="0" parTransId="{069FFF7D-C35C-443E-A41F-23E4D1C3CC6F}" sibTransId="{2D99A123-1700-4CEF-82DF-80DE0F747FD9}"/>
    <dgm:cxn modelId="{49A1B975-73E7-4E7B-910C-0085D099AA21}" type="presOf" srcId="{2D99A123-1700-4CEF-82DF-80DE0F747FD9}" destId="{6DC3DB55-2E6D-4E9C-86C0-CF22949AE499}" srcOrd="0" destOrd="0" presId="urn:microsoft.com/office/officeart/2005/8/layout/process1"/>
    <dgm:cxn modelId="{2019549F-D4D2-4296-B515-E80916D1FEF9}" type="presOf" srcId="{7C64B389-C5D8-489E-AAB4-77F692715005}" destId="{D5000E0A-0118-4238-8E7F-E7E525C926DF}" srcOrd="0" destOrd="0" presId="urn:microsoft.com/office/officeart/2005/8/layout/process1"/>
    <dgm:cxn modelId="{CB60B0EF-2B3C-4435-ACE6-473B9E2E817B}" srcId="{04EE2999-3D72-466F-AAFF-ABD521419AF4}" destId="{7C64B389-C5D8-489E-AAB4-77F692715005}" srcOrd="1" destOrd="0" parTransId="{78BE9579-DA6B-488F-95A0-ADE78FD623FD}" sibTransId="{3EDA05E0-AC3E-49ED-A064-3A2358509516}"/>
    <dgm:cxn modelId="{3518C7FD-F5EC-485A-B896-244620B21B69}" type="presOf" srcId="{2D99A123-1700-4CEF-82DF-80DE0F747FD9}" destId="{11CEBE87-7503-4820-9EF7-D0DB06996F9A}" srcOrd="1" destOrd="0" presId="urn:microsoft.com/office/officeart/2005/8/layout/process1"/>
    <dgm:cxn modelId="{1B4E6486-8AED-4BBF-8F2E-7750D77B384B}" type="presParOf" srcId="{874B6FC2-14CC-415E-AC6D-164A81338B77}" destId="{CBB419AB-295B-4AC9-BB13-2985EA21FE65}" srcOrd="0" destOrd="0" presId="urn:microsoft.com/office/officeart/2005/8/layout/process1"/>
    <dgm:cxn modelId="{0F86FA35-11F0-40A3-A1AF-9E619A288179}" type="presParOf" srcId="{874B6FC2-14CC-415E-AC6D-164A81338B77}" destId="{6DC3DB55-2E6D-4E9C-86C0-CF22949AE499}" srcOrd="1" destOrd="0" presId="urn:microsoft.com/office/officeart/2005/8/layout/process1"/>
    <dgm:cxn modelId="{28003500-28C7-4ABF-A876-B53457E33BAB}" type="presParOf" srcId="{6DC3DB55-2E6D-4E9C-86C0-CF22949AE499}" destId="{11CEBE87-7503-4820-9EF7-D0DB06996F9A}" srcOrd="0" destOrd="0" presId="urn:microsoft.com/office/officeart/2005/8/layout/process1"/>
    <dgm:cxn modelId="{843D56F9-8C7B-4BC3-95C3-A9BA89F6ACB4}" type="presParOf" srcId="{874B6FC2-14CC-415E-AC6D-164A81338B77}" destId="{D5000E0A-0118-4238-8E7F-E7E525C926DF}" srcOrd="2"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4EE2999-3D72-466F-AAFF-ABD521419AF4}" type="doc">
      <dgm:prSet loTypeId="urn:microsoft.com/office/officeart/2005/8/layout/process1" loCatId="process" qsTypeId="urn:microsoft.com/office/officeart/2005/8/quickstyle/simple1" qsCatId="simple" csTypeId="urn:microsoft.com/office/officeart/2005/8/colors/accent1_2" csCatId="accent1" phldr="1"/>
      <dgm:spPr/>
    </dgm:pt>
    <dgm:pt modelId="{EE2F9CAE-89A0-462F-AACC-4257F59BC86B}">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捐贈平台收到捐款人預撥的款項，將款項金額轉撥至受捐款人</a:t>
          </a:r>
        </a:p>
      </dgm:t>
    </dgm:pt>
    <dgm:pt modelId="{069FFF7D-C35C-443E-A41F-23E4D1C3CC6F}" type="parTrans" cxnId="{67B4C63B-4380-4F2A-B2C6-192ABCDA27DA}">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2D99A123-1700-4CEF-82DF-80DE0F747FD9}" type="sibTrans" cxnId="{67B4C63B-4380-4F2A-B2C6-192ABCDA27DA}">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7C64B389-C5D8-489E-AAB4-77F692715005}">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受捐款人收到所轉付的捐款，寄發捐款成功的證明文件給捐款人</a:t>
          </a:r>
        </a:p>
      </dgm:t>
    </dgm:pt>
    <dgm:pt modelId="{78BE9579-DA6B-488F-95A0-ADE78FD623FD}" type="parTrans" cxnId="{CB60B0EF-2B3C-4435-ACE6-473B9E2E817B}">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3EDA05E0-AC3E-49ED-A064-3A2358509516}" type="sibTrans" cxnId="{CB60B0EF-2B3C-4435-ACE6-473B9E2E817B}">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874B6FC2-14CC-415E-AC6D-164A81338B77}" type="pres">
      <dgm:prSet presAssocID="{04EE2999-3D72-466F-AAFF-ABD521419AF4}" presName="Name0" presStyleCnt="0">
        <dgm:presLayoutVars>
          <dgm:dir/>
          <dgm:resizeHandles val="exact"/>
        </dgm:presLayoutVars>
      </dgm:prSet>
      <dgm:spPr/>
    </dgm:pt>
    <dgm:pt modelId="{CBB419AB-295B-4AC9-BB13-2985EA21FE65}" type="pres">
      <dgm:prSet presAssocID="{EE2F9CAE-89A0-462F-AACC-4257F59BC86B}" presName="node" presStyleLbl="node1" presStyleIdx="0" presStyleCnt="2">
        <dgm:presLayoutVars>
          <dgm:bulletEnabled val="1"/>
        </dgm:presLayoutVars>
      </dgm:prSet>
      <dgm:spPr/>
    </dgm:pt>
    <dgm:pt modelId="{6DC3DB55-2E6D-4E9C-86C0-CF22949AE499}" type="pres">
      <dgm:prSet presAssocID="{2D99A123-1700-4CEF-82DF-80DE0F747FD9}" presName="sibTrans" presStyleLbl="sibTrans2D1" presStyleIdx="0" presStyleCnt="1"/>
      <dgm:spPr/>
    </dgm:pt>
    <dgm:pt modelId="{11CEBE87-7503-4820-9EF7-D0DB06996F9A}" type="pres">
      <dgm:prSet presAssocID="{2D99A123-1700-4CEF-82DF-80DE0F747FD9}" presName="connectorText" presStyleLbl="sibTrans2D1" presStyleIdx="0" presStyleCnt="1"/>
      <dgm:spPr/>
    </dgm:pt>
    <dgm:pt modelId="{D5000E0A-0118-4238-8E7F-E7E525C926DF}" type="pres">
      <dgm:prSet presAssocID="{7C64B389-C5D8-489E-AAB4-77F692715005}" presName="node" presStyleLbl="node1" presStyleIdx="1" presStyleCnt="2">
        <dgm:presLayoutVars>
          <dgm:bulletEnabled val="1"/>
        </dgm:presLayoutVars>
      </dgm:prSet>
      <dgm:spPr/>
    </dgm:pt>
  </dgm:ptLst>
  <dgm:cxnLst>
    <dgm:cxn modelId="{961F4F18-5561-4D5F-BB0B-B9EB0DEBD7D9}" type="presOf" srcId="{EE2F9CAE-89A0-462F-AACC-4257F59BC86B}" destId="{CBB419AB-295B-4AC9-BB13-2985EA21FE65}" srcOrd="0" destOrd="0" presId="urn:microsoft.com/office/officeart/2005/8/layout/process1"/>
    <dgm:cxn modelId="{CEF7022E-58EC-4D11-BD7A-F6198C3BD027}" type="presOf" srcId="{04EE2999-3D72-466F-AAFF-ABD521419AF4}" destId="{874B6FC2-14CC-415E-AC6D-164A81338B77}" srcOrd="0" destOrd="0" presId="urn:microsoft.com/office/officeart/2005/8/layout/process1"/>
    <dgm:cxn modelId="{67B4C63B-4380-4F2A-B2C6-192ABCDA27DA}" srcId="{04EE2999-3D72-466F-AAFF-ABD521419AF4}" destId="{EE2F9CAE-89A0-462F-AACC-4257F59BC86B}" srcOrd="0" destOrd="0" parTransId="{069FFF7D-C35C-443E-A41F-23E4D1C3CC6F}" sibTransId="{2D99A123-1700-4CEF-82DF-80DE0F747FD9}"/>
    <dgm:cxn modelId="{49A1B975-73E7-4E7B-910C-0085D099AA21}" type="presOf" srcId="{2D99A123-1700-4CEF-82DF-80DE0F747FD9}" destId="{6DC3DB55-2E6D-4E9C-86C0-CF22949AE499}" srcOrd="0" destOrd="0" presId="urn:microsoft.com/office/officeart/2005/8/layout/process1"/>
    <dgm:cxn modelId="{2019549F-D4D2-4296-B515-E80916D1FEF9}" type="presOf" srcId="{7C64B389-C5D8-489E-AAB4-77F692715005}" destId="{D5000E0A-0118-4238-8E7F-E7E525C926DF}" srcOrd="0" destOrd="0" presId="urn:microsoft.com/office/officeart/2005/8/layout/process1"/>
    <dgm:cxn modelId="{CB60B0EF-2B3C-4435-ACE6-473B9E2E817B}" srcId="{04EE2999-3D72-466F-AAFF-ABD521419AF4}" destId="{7C64B389-C5D8-489E-AAB4-77F692715005}" srcOrd="1" destOrd="0" parTransId="{78BE9579-DA6B-488F-95A0-ADE78FD623FD}" sibTransId="{3EDA05E0-AC3E-49ED-A064-3A2358509516}"/>
    <dgm:cxn modelId="{3518C7FD-F5EC-485A-B896-244620B21B69}" type="presOf" srcId="{2D99A123-1700-4CEF-82DF-80DE0F747FD9}" destId="{11CEBE87-7503-4820-9EF7-D0DB06996F9A}" srcOrd="1" destOrd="0" presId="urn:microsoft.com/office/officeart/2005/8/layout/process1"/>
    <dgm:cxn modelId="{1B4E6486-8AED-4BBF-8F2E-7750D77B384B}" type="presParOf" srcId="{874B6FC2-14CC-415E-AC6D-164A81338B77}" destId="{CBB419AB-295B-4AC9-BB13-2985EA21FE65}" srcOrd="0" destOrd="0" presId="urn:microsoft.com/office/officeart/2005/8/layout/process1"/>
    <dgm:cxn modelId="{0F86FA35-11F0-40A3-A1AF-9E619A288179}" type="presParOf" srcId="{874B6FC2-14CC-415E-AC6D-164A81338B77}" destId="{6DC3DB55-2E6D-4E9C-86C0-CF22949AE499}" srcOrd="1" destOrd="0" presId="urn:microsoft.com/office/officeart/2005/8/layout/process1"/>
    <dgm:cxn modelId="{28003500-28C7-4ABF-A876-B53457E33BAB}" type="presParOf" srcId="{6DC3DB55-2E6D-4E9C-86C0-CF22949AE499}" destId="{11CEBE87-7503-4820-9EF7-D0DB06996F9A}" srcOrd="0" destOrd="0" presId="urn:microsoft.com/office/officeart/2005/8/layout/process1"/>
    <dgm:cxn modelId="{843D56F9-8C7B-4BC3-95C3-A9BA89F6ACB4}" type="presParOf" srcId="{874B6FC2-14CC-415E-AC6D-164A81338B77}" destId="{D5000E0A-0118-4238-8E7F-E7E525C926DF}" srcOrd="2" destOrd="0" presId="urn:microsoft.com/office/officeart/2005/8/layout/process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4EE2999-3D72-466F-AAFF-ABD521419AF4}" type="doc">
      <dgm:prSet loTypeId="urn:microsoft.com/office/officeart/2005/8/layout/process1" loCatId="process" qsTypeId="urn:microsoft.com/office/officeart/2005/8/quickstyle/simple1" qsCatId="simple" csTypeId="urn:microsoft.com/office/officeart/2005/8/colors/accent1_2" csCatId="accent1" phldr="1"/>
      <dgm:spPr/>
    </dgm:pt>
    <dgm:pt modelId="{EE2F9CAE-89A0-462F-AACC-4257F59BC86B}">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捐款人向受捐機構或公益團體提出有意捐款的訊息</a:t>
          </a:r>
        </a:p>
      </dgm:t>
    </dgm:pt>
    <dgm:pt modelId="{069FFF7D-C35C-443E-A41F-23E4D1C3CC6F}" type="parTrans" cxnId="{67B4C63B-4380-4F2A-B2C6-192ABCDA27DA}">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2D99A123-1700-4CEF-82DF-80DE0F747FD9}" type="sibTrans" cxnId="{67B4C63B-4380-4F2A-B2C6-192ABCDA27DA}">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7C64B389-C5D8-489E-AAB4-77F692715005}">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捐款人將所要捐款的金額轉付至支付寶的交易平台</a:t>
          </a:r>
        </a:p>
      </dgm:t>
    </dgm:pt>
    <dgm:pt modelId="{78BE9579-DA6B-488F-95A0-ADE78FD623FD}" type="parTrans" cxnId="{CB60B0EF-2B3C-4435-ACE6-473B9E2E817B}">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3EDA05E0-AC3E-49ED-A064-3A2358509516}" type="sibTrans" cxnId="{CB60B0EF-2B3C-4435-ACE6-473B9E2E817B}">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51D4A37C-5AFF-4226-AE57-893DDC191CC7}">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當支付寶愛心捐贈平台收到捐款人的款項金額後， 即將款項金額轉付給捐款機構或公益團體</a:t>
          </a:r>
        </a:p>
      </dgm:t>
    </dgm:pt>
    <dgm:pt modelId="{0CDCE4B6-FCBB-4FB4-83CC-6A721BE01A9F}" type="parTrans" cxnId="{E253AA29-AF13-46F9-AB45-C7BFA61ABF31}">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55CBCB46-886D-4824-A4F5-DD7151CDE21A}" type="sibTrans" cxnId="{E253AA29-AF13-46F9-AB45-C7BFA61ABF31}">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874B6FC2-14CC-415E-AC6D-164A81338B77}" type="pres">
      <dgm:prSet presAssocID="{04EE2999-3D72-466F-AAFF-ABD521419AF4}" presName="Name0" presStyleCnt="0">
        <dgm:presLayoutVars>
          <dgm:dir/>
          <dgm:resizeHandles val="exact"/>
        </dgm:presLayoutVars>
      </dgm:prSet>
      <dgm:spPr/>
    </dgm:pt>
    <dgm:pt modelId="{CBB419AB-295B-4AC9-BB13-2985EA21FE65}" type="pres">
      <dgm:prSet presAssocID="{EE2F9CAE-89A0-462F-AACC-4257F59BC86B}" presName="node" presStyleLbl="node1" presStyleIdx="0" presStyleCnt="3">
        <dgm:presLayoutVars>
          <dgm:bulletEnabled val="1"/>
        </dgm:presLayoutVars>
      </dgm:prSet>
      <dgm:spPr/>
    </dgm:pt>
    <dgm:pt modelId="{6DC3DB55-2E6D-4E9C-86C0-CF22949AE499}" type="pres">
      <dgm:prSet presAssocID="{2D99A123-1700-4CEF-82DF-80DE0F747FD9}" presName="sibTrans" presStyleLbl="sibTrans2D1" presStyleIdx="0" presStyleCnt="2"/>
      <dgm:spPr/>
    </dgm:pt>
    <dgm:pt modelId="{11CEBE87-7503-4820-9EF7-D0DB06996F9A}" type="pres">
      <dgm:prSet presAssocID="{2D99A123-1700-4CEF-82DF-80DE0F747FD9}" presName="connectorText" presStyleLbl="sibTrans2D1" presStyleIdx="0" presStyleCnt="2"/>
      <dgm:spPr/>
    </dgm:pt>
    <dgm:pt modelId="{D5000E0A-0118-4238-8E7F-E7E525C926DF}" type="pres">
      <dgm:prSet presAssocID="{7C64B389-C5D8-489E-AAB4-77F692715005}" presName="node" presStyleLbl="node1" presStyleIdx="1" presStyleCnt="3">
        <dgm:presLayoutVars>
          <dgm:bulletEnabled val="1"/>
        </dgm:presLayoutVars>
      </dgm:prSet>
      <dgm:spPr/>
    </dgm:pt>
    <dgm:pt modelId="{4EA4A8F4-7403-46B2-8305-1C366D8F8FD8}" type="pres">
      <dgm:prSet presAssocID="{3EDA05E0-AC3E-49ED-A064-3A2358509516}" presName="sibTrans" presStyleLbl="sibTrans2D1" presStyleIdx="1" presStyleCnt="2"/>
      <dgm:spPr/>
    </dgm:pt>
    <dgm:pt modelId="{7744CDE2-EDD2-46DA-8DEB-03988FE363F3}" type="pres">
      <dgm:prSet presAssocID="{3EDA05E0-AC3E-49ED-A064-3A2358509516}" presName="connectorText" presStyleLbl="sibTrans2D1" presStyleIdx="1" presStyleCnt="2"/>
      <dgm:spPr/>
    </dgm:pt>
    <dgm:pt modelId="{9C0B906D-E1BA-47D7-B0E0-826A08F6593B}" type="pres">
      <dgm:prSet presAssocID="{51D4A37C-5AFF-4226-AE57-893DDC191CC7}" presName="node" presStyleLbl="node1" presStyleIdx="2" presStyleCnt="3">
        <dgm:presLayoutVars>
          <dgm:bulletEnabled val="1"/>
        </dgm:presLayoutVars>
      </dgm:prSet>
      <dgm:spPr/>
    </dgm:pt>
  </dgm:ptLst>
  <dgm:cxnLst>
    <dgm:cxn modelId="{FA01B215-EB53-473C-87A4-9722BB39D70E}" type="presOf" srcId="{3EDA05E0-AC3E-49ED-A064-3A2358509516}" destId="{4EA4A8F4-7403-46B2-8305-1C366D8F8FD8}" srcOrd="0" destOrd="0" presId="urn:microsoft.com/office/officeart/2005/8/layout/process1"/>
    <dgm:cxn modelId="{81363816-BE2C-4F24-898C-418DF73E4ECF}" type="presOf" srcId="{51D4A37C-5AFF-4226-AE57-893DDC191CC7}" destId="{9C0B906D-E1BA-47D7-B0E0-826A08F6593B}" srcOrd="0" destOrd="0" presId="urn:microsoft.com/office/officeart/2005/8/layout/process1"/>
    <dgm:cxn modelId="{961F4F18-5561-4D5F-BB0B-B9EB0DEBD7D9}" type="presOf" srcId="{EE2F9CAE-89A0-462F-AACC-4257F59BC86B}" destId="{CBB419AB-295B-4AC9-BB13-2985EA21FE65}" srcOrd="0" destOrd="0" presId="urn:microsoft.com/office/officeart/2005/8/layout/process1"/>
    <dgm:cxn modelId="{E253AA29-AF13-46F9-AB45-C7BFA61ABF31}" srcId="{04EE2999-3D72-466F-AAFF-ABD521419AF4}" destId="{51D4A37C-5AFF-4226-AE57-893DDC191CC7}" srcOrd="2" destOrd="0" parTransId="{0CDCE4B6-FCBB-4FB4-83CC-6A721BE01A9F}" sibTransId="{55CBCB46-886D-4824-A4F5-DD7151CDE21A}"/>
    <dgm:cxn modelId="{CEF7022E-58EC-4D11-BD7A-F6198C3BD027}" type="presOf" srcId="{04EE2999-3D72-466F-AAFF-ABD521419AF4}" destId="{874B6FC2-14CC-415E-AC6D-164A81338B77}" srcOrd="0" destOrd="0" presId="urn:microsoft.com/office/officeart/2005/8/layout/process1"/>
    <dgm:cxn modelId="{67B4C63B-4380-4F2A-B2C6-192ABCDA27DA}" srcId="{04EE2999-3D72-466F-AAFF-ABD521419AF4}" destId="{EE2F9CAE-89A0-462F-AACC-4257F59BC86B}" srcOrd="0" destOrd="0" parTransId="{069FFF7D-C35C-443E-A41F-23E4D1C3CC6F}" sibTransId="{2D99A123-1700-4CEF-82DF-80DE0F747FD9}"/>
    <dgm:cxn modelId="{A5702F4E-FA13-429C-810A-EB6ED31F0BE8}" type="presOf" srcId="{3EDA05E0-AC3E-49ED-A064-3A2358509516}" destId="{7744CDE2-EDD2-46DA-8DEB-03988FE363F3}" srcOrd="1" destOrd="0" presId="urn:microsoft.com/office/officeart/2005/8/layout/process1"/>
    <dgm:cxn modelId="{49A1B975-73E7-4E7B-910C-0085D099AA21}" type="presOf" srcId="{2D99A123-1700-4CEF-82DF-80DE0F747FD9}" destId="{6DC3DB55-2E6D-4E9C-86C0-CF22949AE499}" srcOrd="0" destOrd="0" presId="urn:microsoft.com/office/officeart/2005/8/layout/process1"/>
    <dgm:cxn modelId="{2019549F-D4D2-4296-B515-E80916D1FEF9}" type="presOf" srcId="{7C64B389-C5D8-489E-AAB4-77F692715005}" destId="{D5000E0A-0118-4238-8E7F-E7E525C926DF}" srcOrd="0" destOrd="0" presId="urn:microsoft.com/office/officeart/2005/8/layout/process1"/>
    <dgm:cxn modelId="{CB60B0EF-2B3C-4435-ACE6-473B9E2E817B}" srcId="{04EE2999-3D72-466F-AAFF-ABD521419AF4}" destId="{7C64B389-C5D8-489E-AAB4-77F692715005}" srcOrd="1" destOrd="0" parTransId="{78BE9579-DA6B-488F-95A0-ADE78FD623FD}" sibTransId="{3EDA05E0-AC3E-49ED-A064-3A2358509516}"/>
    <dgm:cxn modelId="{3518C7FD-F5EC-485A-B896-244620B21B69}" type="presOf" srcId="{2D99A123-1700-4CEF-82DF-80DE0F747FD9}" destId="{11CEBE87-7503-4820-9EF7-D0DB06996F9A}" srcOrd="1" destOrd="0" presId="urn:microsoft.com/office/officeart/2005/8/layout/process1"/>
    <dgm:cxn modelId="{1B4E6486-8AED-4BBF-8F2E-7750D77B384B}" type="presParOf" srcId="{874B6FC2-14CC-415E-AC6D-164A81338B77}" destId="{CBB419AB-295B-4AC9-BB13-2985EA21FE65}" srcOrd="0" destOrd="0" presId="urn:microsoft.com/office/officeart/2005/8/layout/process1"/>
    <dgm:cxn modelId="{0F86FA35-11F0-40A3-A1AF-9E619A288179}" type="presParOf" srcId="{874B6FC2-14CC-415E-AC6D-164A81338B77}" destId="{6DC3DB55-2E6D-4E9C-86C0-CF22949AE499}" srcOrd="1" destOrd="0" presId="urn:microsoft.com/office/officeart/2005/8/layout/process1"/>
    <dgm:cxn modelId="{28003500-28C7-4ABF-A876-B53457E33BAB}" type="presParOf" srcId="{6DC3DB55-2E6D-4E9C-86C0-CF22949AE499}" destId="{11CEBE87-7503-4820-9EF7-D0DB06996F9A}" srcOrd="0" destOrd="0" presId="urn:microsoft.com/office/officeart/2005/8/layout/process1"/>
    <dgm:cxn modelId="{843D56F9-8C7B-4BC3-95C3-A9BA89F6ACB4}" type="presParOf" srcId="{874B6FC2-14CC-415E-AC6D-164A81338B77}" destId="{D5000E0A-0118-4238-8E7F-E7E525C926DF}" srcOrd="2" destOrd="0" presId="urn:microsoft.com/office/officeart/2005/8/layout/process1"/>
    <dgm:cxn modelId="{D9F21761-C90B-4C87-B26C-EE8160E0654F}" type="presParOf" srcId="{874B6FC2-14CC-415E-AC6D-164A81338B77}" destId="{4EA4A8F4-7403-46B2-8305-1C366D8F8FD8}" srcOrd="3" destOrd="0" presId="urn:microsoft.com/office/officeart/2005/8/layout/process1"/>
    <dgm:cxn modelId="{56949463-7B52-4408-AB43-1F1BA875E30F}" type="presParOf" srcId="{4EA4A8F4-7403-46B2-8305-1C366D8F8FD8}" destId="{7744CDE2-EDD2-46DA-8DEB-03988FE363F3}" srcOrd="0" destOrd="0" presId="urn:microsoft.com/office/officeart/2005/8/layout/process1"/>
    <dgm:cxn modelId="{B4BE8AED-8152-410C-91DD-DBED42ECE0E0}" type="presParOf" srcId="{874B6FC2-14CC-415E-AC6D-164A81338B77}" destId="{9C0B906D-E1BA-47D7-B0E0-826A08F6593B}" srcOrd="4"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4EE2999-3D72-466F-AAFF-ABD521419AF4}" type="doc">
      <dgm:prSet loTypeId="urn:microsoft.com/office/officeart/2005/8/layout/process1" loCatId="process" qsTypeId="urn:microsoft.com/office/officeart/2005/8/quickstyle/simple1" qsCatId="simple" csTypeId="urn:microsoft.com/office/officeart/2005/8/colors/accent1_2" csCatId="accent1" phldr="1"/>
      <dgm:spPr/>
    </dgm:pt>
    <dgm:pt modelId="{EE2F9CAE-89A0-462F-AACC-4257F59BC86B}">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捐款機構或公益團體在收到支付寶的款項後，將收到的捐款成功等證明文件，寄給捐款人</a:t>
          </a:r>
        </a:p>
      </dgm:t>
    </dgm:pt>
    <dgm:pt modelId="{069FFF7D-C35C-443E-A41F-23E4D1C3CC6F}" type="parTrans" cxnId="{67B4C63B-4380-4F2A-B2C6-192ABCDA27DA}">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2D99A123-1700-4CEF-82DF-80DE0F747FD9}" type="sibTrans" cxnId="{67B4C63B-4380-4F2A-B2C6-192ABCDA27DA}">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7C64B389-C5D8-489E-AAB4-77F692715005}">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捐款人的預撥至支付寶的資金，支付寶會將資金全數轉至螞蟻金服的帳戶內進行保管作業</a:t>
          </a:r>
        </a:p>
      </dgm:t>
    </dgm:pt>
    <dgm:pt modelId="{78BE9579-DA6B-488F-95A0-ADE78FD623FD}" type="parTrans" cxnId="{CB60B0EF-2B3C-4435-ACE6-473B9E2E817B}">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3EDA05E0-AC3E-49ED-A064-3A2358509516}" type="sibTrans" cxnId="{CB60B0EF-2B3C-4435-ACE6-473B9E2E817B}">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51D4A37C-5AFF-4226-AE57-893DDC191CC7}">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捐款機構或公益團體收到支付寶的款項後， 將收到的款項轉付給受捐款人</a:t>
          </a:r>
        </a:p>
      </dgm:t>
    </dgm:pt>
    <dgm:pt modelId="{0CDCE4B6-FCBB-4FB4-83CC-6A721BE01A9F}" type="parTrans" cxnId="{E253AA29-AF13-46F9-AB45-C7BFA61ABF31}">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55CBCB46-886D-4824-A4F5-DD7151CDE21A}" type="sibTrans" cxnId="{E253AA29-AF13-46F9-AB45-C7BFA61ABF31}">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874B6FC2-14CC-415E-AC6D-164A81338B77}" type="pres">
      <dgm:prSet presAssocID="{04EE2999-3D72-466F-AAFF-ABD521419AF4}" presName="Name0" presStyleCnt="0">
        <dgm:presLayoutVars>
          <dgm:dir/>
          <dgm:resizeHandles val="exact"/>
        </dgm:presLayoutVars>
      </dgm:prSet>
      <dgm:spPr/>
    </dgm:pt>
    <dgm:pt modelId="{CBB419AB-295B-4AC9-BB13-2985EA21FE65}" type="pres">
      <dgm:prSet presAssocID="{EE2F9CAE-89A0-462F-AACC-4257F59BC86B}" presName="node" presStyleLbl="node1" presStyleIdx="0" presStyleCnt="3">
        <dgm:presLayoutVars>
          <dgm:bulletEnabled val="1"/>
        </dgm:presLayoutVars>
      </dgm:prSet>
      <dgm:spPr/>
    </dgm:pt>
    <dgm:pt modelId="{6DC3DB55-2E6D-4E9C-86C0-CF22949AE499}" type="pres">
      <dgm:prSet presAssocID="{2D99A123-1700-4CEF-82DF-80DE0F747FD9}" presName="sibTrans" presStyleLbl="sibTrans2D1" presStyleIdx="0" presStyleCnt="2"/>
      <dgm:spPr/>
    </dgm:pt>
    <dgm:pt modelId="{11CEBE87-7503-4820-9EF7-D0DB06996F9A}" type="pres">
      <dgm:prSet presAssocID="{2D99A123-1700-4CEF-82DF-80DE0F747FD9}" presName="connectorText" presStyleLbl="sibTrans2D1" presStyleIdx="0" presStyleCnt="2"/>
      <dgm:spPr/>
    </dgm:pt>
    <dgm:pt modelId="{D5000E0A-0118-4238-8E7F-E7E525C926DF}" type="pres">
      <dgm:prSet presAssocID="{7C64B389-C5D8-489E-AAB4-77F692715005}" presName="node" presStyleLbl="node1" presStyleIdx="1" presStyleCnt="3">
        <dgm:presLayoutVars>
          <dgm:bulletEnabled val="1"/>
        </dgm:presLayoutVars>
      </dgm:prSet>
      <dgm:spPr/>
    </dgm:pt>
    <dgm:pt modelId="{4EA4A8F4-7403-46B2-8305-1C366D8F8FD8}" type="pres">
      <dgm:prSet presAssocID="{3EDA05E0-AC3E-49ED-A064-3A2358509516}" presName="sibTrans" presStyleLbl="sibTrans2D1" presStyleIdx="1" presStyleCnt="2"/>
      <dgm:spPr/>
    </dgm:pt>
    <dgm:pt modelId="{7744CDE2-EDD2-46DA-8DEB-03988FE363F3}" type="pres">
      <dgm:prSet presAssocID="{3EDA05E0-AC3E-49ED-A064-3A2358509516}" presName="connectorText" presStyleLbl="sibTrans2D1" presStyleIdx="1" presStyleCnt="2"/>
      <dgm:spPr/>
    </dgm:pt>
    <dgm:pt modelId="{9C0B906D-E1BA-47D7-B0E0-826A08F6593B}" type="pres">
      <dgm:prSet presAssocID="{51D4A37C-5AFF-4226-AE57-893DDC191CC7}" presName="node" presStyleLbl="node1" presStyleIdx="2" presStyleCnt="3">
        <dgm:presLayoutVars>
          <dgm:bulletEnabled val="1"/>
        </dgm:presLayoutVars>
      </dgm:prSet>
      <dgm:spPr/>
    </dgm:pt>
  </dgm:ptLst>
  <dgm:cxnLst>
    <dgm:cxn modelId="{FA01B215-EB53-473C-87A4-9722BB39D70E}" type="presOf" srcId="{3EDA05E0-AC3E-49ED-A064-3A2358509516}" destId="{4EA4A8F4-7403-46B2-8305-1C366D8F8FD8}" srcOrd="0" destOrd="0" presId="urn:microsoft.com/office/officeart/2005/8/layout/process1"/>
    <dgm:cxn modelId="{81363816-BE2C-4F24-898C-418DF73E4ECF}" type="presOf" srcId="{51D4A37C-5AFF-4226-AE57-893DDC191CC7}" destId="{9C0B906D-E1BA-47D7-B0E0-826A08F6593B}" srcOrd="0" destOrd="0" presId="urn:microsoft.com/office/officeart/2005/8/layout/process1"/>
    <dgm:cxn modelId="{961F4F18-5561-4D5F-BB0B-B9EB0DEBD7D9}" type="presOf" srcId="{EE2F9CAE-89A0-462F-AACC-4257F59BC86B}" destId="{CBB419AB-295B-4AC9-BB13-2985EA21FE65}" srcOrd="0" destOrd="0" presId="urn:microsoft.com/office/officeart/2005/8/layout/process1"/>
    <dgm:cxn modelId="{E253AA29-AF13-46F9-AB45-C7BFA61ABF31}" srcId="{04EE2999-3D72-466F-AAFF-ABD521419AF4}" destId="{51D4A37C-5AFF-4226-AE57-893DDC191CC7}" srcOrd="2" destOrd="0" parTransId="{0CDCE4B6-FCBB-4FB4-83CC-6A721BE01A9F}" sibTransId="{55CBCB46-886D-4824-A4F5-DD7151CDE21A}"/>
    <dgm:cxn modelId="{CEF7022E-58EC-4D11-BD7A-F6198C3BD027}" type="presOf" srcId="{04EE2999-3D72-466F-AAFF-ABD521419AF4}" destId="{874B6FC2-14CC-415E-AC6D-164A81338B77}" srcOrd="0" destOrd="0" presId="urn:microsoft.com/office/officeart/2005/8/layout/process1"/>
    <dgm:cxn modelId="{67B4C63B-4380-4F2A-B2C6-192ABCDA27DA}" srcId="{04EE2999-3D72-466F-AAFF-ABD521419AF4}" destId="{EE2F9CAE-89A0-462F-AACC-4257F59BC86B}" srcOrd="0" destOrd="0" parTransId="{069FFF7D-C35C-443E-A41F-23E4D1C3CC6F}" sibTransId="{2D99A123-1700-4CEF-82DF-80DE0F747FD9}"/>
    <dgm:cxn modelId="{A5702F4E-FA13-429C-810A-EB6ED31F0BE8}" type="presOf" srcId="{3EDA05E0-AC3E-49ED-A064-3A2358509516}" destId="{7744CDE2-EDD2-46DA-8DEB-03988FE363F3}" srcOrd="1" destOrd="0" presId="urn:microsoft.com/office/officeart/2005/8/layout/process1"/>
    <dgm:cxn modelId="{49A1B975-73E7-4E7B-910C-0085D099AA21}" type="presOf" srcId="{2D99A123-1700-4CEF-82DF-80DE0F747FD9}" destId="{6DC3DB55-2E6D-4E9C-86C0-CF22949AE499}" srcOrd="0" destOrd="0" presId="urn:microsoft.com/office/officeart/2005/8/layout/process1"/>
    <dgm:cxn modelId="{2019549F-D4D2-4296-B515-E80916D1FEF9}" type="presOf" srcId="{7C64B389-C5D8-489E-AAB4-77F692715005}" destId="{D5000E0A-0118-4238-8E7F-E7E525C926DF}" srcOrd="0" destOrd="0" presId="urn:microsoft.com/office/officeart/2005/8/layout/process1"/>
    <dgm:cxn modelId="{CB60B0EF-2B3C-4435-ACE6-473B9E2E817B}" srcId="{04EE2999-3D72-466F-AAFF-ABD521419AF4}" destId="{7C64B389-C5D8-489E-AAB4-77F692715005}" srcOrd="1" destOrd="0" parTransId="{78BE9579-DA6B-488F-95A0-ADE78FD623FD}" sibTransId="{3EDA05E0-AC3E-49ED-A064-3A2358509516}"/>
    <dgm:cxn modelId="{3518C7FD-F5EC-485A-B896-244620B21B69}" type="presOf" srcId="{2D99A123-1700-4CEF-82DF-80DE0F747FD9}" destId="{11CEBE87-7503-4820-9EF7-D0DB06996F9A}" srcOrd="1" destOrd="0" presId="urn:microsoft.com/office/officeart/2005/8/layout/process1"/>
    <dgm:cxn modelId="{1B4E6486-8AED-4BBF-8F2E-7750D77B384B}" type="presParOf" srcId="{874B6FC2-14CC-415E-AC6D-164A81338B77}" destId="{CBB419AB-295B-4AC9-BB13-2985EA21FE65}" srcOrd="0" destOrd="0" presId="urn:microsoft.com/office/officeart/2005/8/layout/process1"/>
    <dgm:cxn modelId="{0F86FA35-11F0-40A3-A1AF-9E619A288179}" type="presParOf" srcId="{874B6FC2-14CC-415E-AC6D-164A81338B77}" destId="{6DC3DB55-2E6D-4E9C-86C0-CF22949AE499}" srcOrd="1" destOrd="0" presId="urn:microsoft.com/office/officeart/2005/8/layout/process1"/>
    <dgm:cxn modelId="{28003500-28C7-4ABF-A876-B53457E33BAB}" type="presParOf" srcId="{6DC3DB55-2E6D-4E9C-86C0-CF22949AE499}" destId="{11CEBE87-7503-4820-9EF7-D0DB06996F9A}" srcOrd="0" destOrd="0" presId="urn:microsoft.com/office/officeart/2005/8/layout/process1"/>
    <dgm:cxn modelId="{843D56F9-8C7B-4BC3-95C3-A9BA89F6ACB4}" type="presParOf" srcId="{874B6FC2-14CC-415E-AC6D-164A81338B77}" destId="{D5000E0A-0118-4238-8E7F-E7E525C926DF}" srcOrd="2" destOrd="0" presId="urn:microsoft.com/office/officeart/2005/8/layout/process1"/>
    <dgm:cxn modelId="{D9F21761-C90B-4C87-B26C-EE8160E0654F}" type="presParOf" srcId="{874B6FC2-14CC-415E-AC6D-164A81338B77}" destId="{4EA4A8F4-7403-46B2-8305-1C366D8F8FD8}" srcOrd="3" destOrd="0" presId="urn:microsoft.com/office/officeart/2005/8/layout/process1"/>
    <dgm:cxn modelId="{56949463-7B52-4408-AB43-1F1BA875E30F}" type="presParOf" srcId="{4EA4A8F4-7403-46B2-8305-1C366D8F8FD8}" destId="{7744CDE2-EDD2-46DA-8DEB-03988FE363F3}" srcOrd="0" destOrd="0" presId="urn:microsoft.com/office/officeart/2005/8/layout/process1"/>
    <dgm:cxn modelId="{B4BE8AED-8152-410C-91DD-DBED42ECE0E0}" type="presParOf" srcId="{874B6FC2-14CC-415E-AC6D-164A81338B77}" destId="{9C0B906D-E1BA-47D7-B0E0-826A08F6593B}" srcOrd="4" destOrd="0" presId="urn:microsoft.com/office/officeart/2005/8/layout/process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04EE2999-3D72-466F-AAFF-ABD521419AF4}" type="doc">
      <dgm:prSet loTypeId="urn:microsoft.com/office/officeart/2005/8/layout/process1" loCatId="process" qsTypeId="urn:microsoft.com/office/officeart/2005/8/quickstyle/simple1" qsCatId="simple" csTypeId="urn:microsoft.com/office/officeart/2005/8/colors/accent1_2" csCatId="accent1" phldr="1"/>
      <dgm:spPr/>
    </dgm:pt>
    <dgm:pt modelId="{EE2F9CAE-89A0-462F-AACC-4257F59BC86B}">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捐款人向受捐款人</a:t>
          </a:r>
          <a:r>
            <a:rPr lang="zh-TW" altLang="en-US" sz="1800" b="1" dirty="0">
              <a:solidFill>
                <a:srgbClr val="5C708A"/>
              </a:solidFill>
              <a:latin typeface="微軟正黑體" panose="020B0604030504040204" pitchFamily="34" charset="-120"/>
              <a:ea typeface="微軟正黑體" panose="020B0604030504040204" pitchFamily="34" charset="-120"/>
            </a:rPr>
            <a:t>提出有意捐款</a:t>
          </a:r>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的訊息，且捐款人可以在交易平台查看捐款紀錄及受捐款人的資料</a:t>
          </a:r>
        </a:p>
      </dgm:t>
    </dgm:pt>
    <dgm:pt modelId="{069FFF7D-C35C-443E-A41F-23E4D1C3CC6F}" type="parTrans" cxnId="{67B4C63B-4380-4F2A-B2C6-192ABCDA27DA}">
      <dgm:prSet/>
      <dgm:spPr/>
      <dgm:t>
        <a:bodyPr/>
        <a:lstStyle/>
        <a:p>
          <a:endParaRPr lang="zh-TW" altLang="en-US" sz="1800" b="1">
            <a:latin typeface="微軟正黑體" panose="020B0604030504040204" pitchFamily="34" charset="-120"/>
            <a:ea typeface="微軟正黑體" panose="020B0604030504040204" pitchFamily="34" charset="-120"/>
          </a:endParaRPr>
        </a:p>
      </dgm:t>
    </dgm:pt>
    <dgm:pt modelId="{2D99A123-1700-4CEF-82DF-80DE0F747FD9}" type="sibTrans" cxnId="{67B4C63B-4380-4F2A-B2C6-192ABCDA27DA}">
      <dgm:prSet custT="1"/>
      <dgm:spPr/>
      <dgm:t>
        <a:bodyPr/>
        <a:lstStyle/>
        <a:p>
          <a:endParaRPr lang="zh-TW" altLang="en-US" sz="1800" b="1">
            <a:latin typeface="微軟正黑體" panose="020B0604030504040204" pitchFamily="34" charset="-120"/>
            <a:ea typeface="微軟正黑體" panose="020B0604030504040204" pitchFamily="34" charset="-120"/>
          </a:endParaRPr>
        </a:p>
      </dgm:t>
    </dgm:pt>
    <dgm:pt modelId="{7C64B389-C5D8-489E-AAB4-77F692715005}">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當捐款人確定資訊後，即可</a:t>
          </a:r>
          <a:r>
            <a:rPr lang="zh-TW" altLang="en-US" sz="1800" b="1" dirty="0">
              <a:solidFill>
                <a:srgbClr val="5C708A"/>
              </a:solidFill>
              <a:latin typeface="微軟正黑體" panose="020B0604030504040204" pitchFamily="34" charset="-120"/>
              <a:ea typeface="微軟正黑體" panose="020B0604030504040204" pitchFamily="34" charset="-120"/>
            </a:rPr>
            <a:t>將捐款轉付</a:t>
          </a:r>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至螞蟻金服支付寶愛心捐贈區塊鏈交易平台</a:t>
          </a:r>
        </a:p>
      </dgm:t>
    </dgm:pt>
    <dgm:pt modelId="{78BE9579-DA6B-488F-95A0-ADE78FD623FD}" type="parTrans" cxnId="{CB60B0EF-2B3C-4435-ACE6-473B9E2E817B}">
      <dgm:prSet/>
      <dgm:spPr/>
      <dgm:t>
        <a:bodyPr/>
        <a:lstStyle/>
        <a:p>
          <a:endParaRPr lang="zh-TW" altLang="en-US" sz="1800" b="1">
            <a:latin typeface="微軟正黑體" panose="020B0604030504040204" pitchFamily="34" charset="-120"/>
            <a:ea typeface="微軟正黑體" panose="020B0604030504040204" pitchFamily="34" charset="-120"/>
          </a:endParaRPr>
        </a:p>
      </dgm:t>
    </dgm:pt>
    <dgm:pt modelId="{3EDA05E0-AC3E-49ED-A064-3A2358509516}" type="sibTrans" cxnId="{CB60B0EF-2B3C-4435-ACE6-473B9E2E817B}">
      <dgm:prSet custT="1"/>
      <dgm:spPr/>
      <dgm:t>
        <a:bodyPr/>
        <a:lstStyle/>
        <a:p>
          <a:endParaRPr lang="zh-TW" altLang="en-US" sz="1800" b="1">
            <a:latin typeface="微軟正黑體" panose="020B0604030504040204" pitchFamily="34" charset="-120"/>
            <a:ea typeface="微軟正黑體" panose="020B0604030504040204" pitchFamily="34" charset="-120"/>
          </a:endParaRPr>
        </a:p>
      </dgm:t>
    </dgm:pt>
    <dgm:pt modelId="{874B6FC2-14CC-415E-AC6D-164A81338B77}" type="pres">
      <dgm:prSet presAssocID="{04EE2999-3D72-466F-AAFF-ABD521419AF4}" presName="Name0" presStyleCnt="0">
        <dgm:presLayoutVars>
          <dgm:dir/>
          <dgm:resizeHandles val="exact"/>
        </dgm:presLayoutVars>
      </dgm:prSet>
      <dgm:spPr/>
    </dgm:pt>
    <dgm:pt modelId="{CBB419AB-295B-4AC9-BB13-2985EA21FE65}" type="pres">
      <dgm:prSet presAssocID="{EE2F9CAE-89A0-462F-AACC-4257F59BC86B}" presName="node" presStyleLbl="node1" presStyleIdx="0" presStyleCnt="2">
        <dgm:presLayoutVars>
          <dgm:bulletEnabled val="1"/>
        </dgm:presLayoutVars>
      </dgm:prSet>
      <dgm:spPr/>
    </dgm:pt>
    <dgm:pt modelId="{6DC3DB55-2E6D-4E9C-86C0-CF22949AE499}" type="pres">
      <dgm:prSet presAssocID="{2D99A123-1700-4CEF-82DF-80DE0F747FD9}" presName="sibTrans" presStyleLbl="sibTrans2D1" presStyleIdx="0" presStyleCnt="1"/>
      <dgm:spPr/>
    </dgm:pt>
    <dgm:pt modelId="{11CEBE87-7503-4820-9EF7-D0DB06996F9A}" type="pres">
      <dgm:prSet presAssocID="{2D99A123-1700-4CEF-82DF-80DE0F747FD9}" presName="connectorText" presStyleLbl="sibTrans2D1" presStyleIdx="0" presStyleCnt="1"/>
      <dgm:spPr/>
    </dgm:pt>
    <dgm:pt modelId="{D5000E0A-0118-4238-8E7F-E7E525C926DF}" type="pres">
      <dgm:prSet presAssocID="{7C64B389-C5D8-489E-AAB4-77F692715005}" presName="node" presStyleLbl="node1" presStyleIdx="1" presStyleCnt="2">
        <dgm:presLayoutVars>
          <dgm:bulletEnabled val="1"/>
        </dgm:presLayoutVars>
      </dgm:prSet>
      <dgm:spPr/>
    </dgm:pt>
  </dgm:ptLst>
  <dgm:cxnLst>
    <dgm:cxn modelId="{961F4F18-5561-4D5F-BB0B-B9EB0DEBD7D9}" type="presOf" srcId="{EE2F9CAE-89A0-462F-AACC-4257F59BC86B}" destId="{CBB419AB-295B-4AC9-BB13-2985EA21FE65}" srcOrd="0" destOrd="0" presId="urn:microsoft.com/office/officeart/2005/8/layout/process1"/>
    <dgm:cxn modelId="{CEF7022E-58EC-4D11-BD7A-F6198C3BD027}" type="presOf" srcId="{04EE2999-3D72-466F-AAFF-ABD521419AF4}" destId="{874B6FC2-14CC-415E-AC6D-164A81338B77}" srcOrd="0" destOrd="0" presId="urn:microsoft.com/office/officeart/2005/8/layout/process1"/>
    <dgm:cxn modelId="{67B4C63B-4380-4F2A-B2C6-192ABCDA27DA}" srcId="{04EE2999-3D72-466F-AAFF-ABD521419AF4}" destId="{EE2F9CAE-89A0-462F-AACC-4257F59BC86B}" srcOrd="0" destOrd="0" parTransId="{069FFF7D-C35C-443E-A41F-23E4D1C3CC6F}" sibTransId="{2D99A123-1700-4CEF-82DF-80DE0F747FD9}"/>
    <dgm:cxn modelId="{49A1B975-73E7-4E7B-910C-0085D099AA21}" type="presOf" srcId="{2D99A123-1700-4CEF-82DF-80DE0F747FD9}" destId="{6DC3DB55-2E6D-4E9C-86C0-CF22949AE499}" srcOrd="0" destOrd="0" presId="urn:microsoft.com/office/officeart/2005/8/layout/process1"/>
    <dgm:cxn modelId="{2019549F-D4D2-4296-B515-E80916D1FEF9}" type="presOf" srcId="{7C64B389-C5D8-489E-AAB4-77F692715005}" destId="{D5000E0A-0118-4238-8E7F-E7E525C926DF}" srcOrd="0" destOrd="0" presId="urn:microsoft.com/office/officeart/2005/8/layout/process1"/>
    <dgm:cxn modelId="{CB60B0EF-2B3C-4435-ACE6-473B9E2E817B}" srcId="{04EE2999-3D72-466F-AAFF-ABD521419AF4}" destId="{7C64B389-C5D8-489E-AAB4-77F692715005}" srcOrd="1" destOrd="0" parTransId="{78BE9579-DA6B-488F-95A0-ADE78FD623FD}" sibTransId="{3EDA05E0-AC3E-49ED-A064-3A2358509516}"/>
    <dgm:cxn modelId="{3518C7FD-F5EC-485A-B896-244620B21B69}" type="presOf" srcId="{2D99A123-1700-4CEF-82DF-80DE0F747FD9}" destId="{11CEBE87-7503-4820-9EF7-D0DB06996F9A}" srcOrd="1" destOrd="0" presId="urn:microsoft.com/office/officeart/2005/8/layout/process1"/>
    <dgm:cxn modelId="{1B4E6486-8AED-4BBF-8F2E-7750D77B384B}" type="presParOf" srcId="{874B6FC2-14CC-415E-AC6D-164A81338B77}" destId="{CBB419AB-295B-4AC9-BB13-2985EA21FE65}" srcOrd="0" destOrd="0" presId="urn:microsoft.com/office/officeart/2005/8/layout/process1"/>
    <dgm:cxn modelId="{0F86FA35-11F0-40A3-A1AF-9E619A288179}" type="presParOf" srcId="{874B6FC2-14CC-415E-AC6D-164A81338B77}" destId="{6DC3DB55-2E6D-4E9C-86C0-CF22949AE499}" srcOrd="1" destOrd="0" presId="urn:microsoft.com/office/officeart/2005/8/layout/process1"/>
    <dgm:cxn modelId="{28003500-28C7-4ABF-A876-B53457E33BAB}" type="presParOf" srcId="{6DC3DB55-2E6D-4E9C-86C0-CF22949AE499}" destId="{11CEBE87-7503-4820-9EF7-D0DB06996F9A}" srcOrd="0" destOrd="0" presId="urn:microsoft.com/office/officeart/2005/8/layout/process1"/>
    <dgm:cxn modelId="{843D56F9-8C7B-4BC3-95C3-A9BA89F6ACB4}" type="presParOf" srcId="{874B6FC2-14CC-415E-AC6D-164A81338B77}" destId="{D5000E0A-0118-4238-8E7F-E7E525C926DF}" srcOrd="2"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4EE2999-3D72-466F-AAFF-ABD521419AF4}" type="doc">
      <dgm:prSet loTypeId="urn:microsoft.com/office/officeart/2005/8/layout/process1" loCatId="process" qsTypeId="urn:microsoft.com/office/officeart/2005/8/quickstyle/simple1" qsCatId="simple" csTypeId="urn:microsoft.com/office/officeart/2005/8/colors/accent1_2" csCatId="accent1" phldr="1"/>
      <dgm:spPr/>
    </dgm:pt>
    <dgm:pt modelId="{EE2F9CAE-89A0-462F-AACC-4257F59BC86B}">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螞蟻金服支付寶愛心捐贈區塊鏈交易平台在收到捐款人的款項金額後，即</a:t>
          </a:r>
          <a:r>
            <a:rPr lang="zh-TW" altLang="en-US" sz="1800" b="1" dirty="0">
              <a:solidFill>
                <a:srgbClr val="5C708A"/>
              </a:solidFill>
              <a:latin typeface="微軟正黑體" panose="020B0604030504040204" pitchFamily="34" charset="-120"/>
              <a:ea typeface="微軟正黑體" panose="020B0604030504040204" pitchFamily="34" charset="-120"/>
            </a:rPr>
            <a:t>將款項轉付給受捐款人</a:t>
          </a:r>
        </a:p>
      </dgm:t>
    </dgm:pt>
    <dgm:pt modelId="{069FFF7D-C35C-443E-A41F-23E4D1C3CC6F}" type="parTrans" cxnId="{67B4C63B-4380-4F2A-B2C6-192ABCDA27DA}">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2D99A123-1700-4CEF-82DF-80DE0F747FD9}" type="sibTrans" cxnId="{67B4C63B-4380-4F2A-B2C6-192ABCDA27DA}">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7C64B389-C5D8-489E-AAB4-77F692715005}">
      <dgm:prSet phldrT="[文字]" custT="1">
        <dgm:style>
          <a:lnRef idx="0">
            <a:scrgbClr r="0" g="0" b="0"/>
          </a:lnRef>
          <a:fillRef idx="0">
            <a:scrgbClr r="0" g="0" b="0"/>
          </a:fillRef>
          <a:effectRef idx="0">
            <a:scrgbClr r="0" g="0" b="0"/>
          </a:effectRef>
          <a:fontRef idx="minor">
            <a:schemeClr val="accent4"/>
          </a:fontRef>
        </dgm:style>
      </dgm:prSet>
      <dgm:spPr>
        <a:noFill/>
        <a:ln w="19050" cap="flat" cmpd="sng" algn="ctr">
          <a:solidFill>
            <a:schemeClr val="accent4"/>
          </a:solidFill>
          <a:prstDash val="sysDash"/>
          <a:round/>
          <a:headEnd type="none" w="med" len="med"/>
          <a:tailEnd type="none" w="med" len="med"/>
        </a:ln>
      </dgm:spPr>
      <dgm:t>
        <a:bodyPr/>
        <a:lstStyle/>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受捐款人收到螞蟻金服支付寶愛心捐贈區塊鏈交易平台的款項後，</a:t>
          </a:r>
          <a:r>
            <a:rPr lang="zh-TW" altLang="en-US" sz="1800" b="1" dirty="0">
              <a:solidFill>
                <a:srgbClr val="5C708A"/>
              </a:solidFill>
              <a:latin typeface="微軟正黑體" panose="020B0604030504040204" pitchFamily="34" charset="-120"/>
              <a:ea typeface="微軟正黑體" panose="020B0604030504040204" pitchFamily="34" charset="-120"/>
            </a:rPr>
            <a:t>將收到的捐款成功等證明文件，寄給捐款人</a:t>
          </a:r>
        </a:p>
      </dgm:t>
    </dgm:pt>
    <dgm:pt modelId="{78BE9579-DA6B-488F-95A0-ADE78FD623FD}" type="parTrans" cxnId="{CB60B0EF-2B3C-4435-ACE6-473B9E2E817B}">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3EDA05E0-AC3E-49ED-A064-3A2358509516}" type="sibTrans" cxnId="{CB60B0EF-2B3C-4435-ACE6-473B9E2E817B}">
      <dgm:prSet/>
      <dgm:spPr/>
      <dgm:t>
        <a:bodyPr/>
        <a:lstStyle/>
        <a:p>
          <a:endParaRPr lang="zh-TW" altLang="en-US" b="1">
            <a:solidFill>
              <a:schemeClr val="tx1">
                <a:lumMod val="75000"/>
                <a:lumOff val="25000"/>
              </a:schemeClr>
            </a:solidFill>
            <a:latin typeface="微軟正黑體" panose="020B0604030504040204" pitchFamily="34" charset="-120"/>
            <a:ea typeface="微軟正黑體" panose="020B0604030504040204" pitchFamily="34" charset="-120"/>
          </a:endParaRPr>
        </a:p>
      </dgm:t>
    </dgm:pt>
    <dgm:pt modelId="{874B6FC2-14CC-415E-AC6D-164A81338B77}" type="pres">
      <dgm:prSet presAssocID="{04EE2999-3D72-466F-AAFF-ABD521419AF4}" presName="Name0" presStyleCnt="0">
        <dgm:presLayoutVars>
          <dgm:dir/>
          <dgm:resizeHandles val="exact"/>
        </dgm:presLayoutVars>
      </dgm:prSet>
      <dgm:spPr/>
    </dgm:pt>
    <dgm:pt modelId="{CBB419AB-295B-4AC9-BB13-2985EA21FE65}" type="pres">
      <dgm:prSet presAssocID="{EE2F9CAE-89A0-462F-AACC-4257F59BC86B}" presName="node" presStyleLbl="node1" presStyleIdx="0" presStyleCnt="2">
        <dgm:presLayoutVars>
          <dgm:bulletEnabled val="1"/>
        </dgm:presLayoutVars>
      </dgm:prSet>
      <dgm:spPr/>
    </dgm:pt>
    <dgm:pt modelId="{6DC3DB55-2E6D-4E9C-86C0-CF22949AE499}" type="pres">
      <dgm:prSet presAssocID="{2D99A123-1700-4CEF-82DF-80DE0F747FD9}" presName="sibTrans" presStyleLbl="sibTrans2D1" presStyleIdx="0" presStyleCnt="1"/>
      <dgm:spPr/>
    </dgm:pt>
    <dgm:pt modelId="{11CEBE87-7503-4820-9EF7-D0DB06996F9A}" type="pres">
      <dgm:prSet presAssocID="{2D99A123-1700-4CEF-82DF-80DE0F747FD9}" presName="connectorText" presStyleLbl="sibTrans2D1" presStyleIdx="0" presStyleCnt="1"/>
      <dgm:spPr/>
    </dgm:pt>
    <dgm:pt modelId="{D5000E0A-0118-4238-8E7F-E7E525C926DF}" type="pres">
      <dgm:prSet presAssocID="{7C64B389-C5D8-489E-AAB4-77F692715005}" presName="node" presStyleLbl="node1" presStyleIdx="1" presStyleCnt="2">
        <dgm:presLayoutVars>
          <dgm:bulletEnabled val="1"/>
        </dgm:presLayoutVars>
      </dgm:prSet>
      <dgm:spPr/>
    </dgm:pt>
  </dgm:ptLst>
  <dgm:cxnLst>
    <dgm:cxn modelId="{961F4F18-5561-4D5F-BB0B-B9EB0DEBD7D9}" type="presOf" srcId="{EE2F9CAE-89A0-462F-AACC-4257F59BC86B}" destId="{CBB419AB-295B-4AC9-BB13-2985EA21FE65}" srcOrd="0" destOrd="0" presId="urn:microsoft.com/office/officeart/2005/8/layout/process1"/>
    <dgm:cxn modelId="{CEF7022E-58EC-4D11-BD7A-F6198C3BD027}" type="presOf" srcId="{04EE2999-3D72-466F-AAFF-ABD521419AF4}" destId="{874B6FC2-14CC-415E-AC6D-164A81338B77}" srcOrd="0" destOrd="0" presId="urn:microsoft.com/office/officeart/2005/8/layout/process1"/>
    <dgm:cxn modelId="{67B4C63B-4380-4F2A-B2C6-192ABCDA27DA}" srcId="{04EE2999-3D72-466F-AAFF-ABD521419AF4}" destId="{EE2F9CAE-89A0-462F-AACC-4257F59BC86B}" srcOrd="0" destOrd="0" parTransId="{069FFF7D-C35C-443E-A41F-23E4D1C3CC6F}" sibTransId="{2D99A123-1700-4CEF-82DF-80DE0F747FD9}"/>
    <dgm:cxn modelId="{49A1B975-73E7-4E7B-910C-0085D099AA21}" type="presOf" srcId="{2D99A123-1700-4CEF-82DF-80DE0F747FD9}" destId="{6DC3DB55-2E6D-4E9C-86C0-CF22949AE499}" srcOrd="0" destOrd="0" presId="urn:microsoft.com/office/officeart/2005/8/layout/process1"/>
    <dgm:cxn modelId="{2019549F-D4D2-4296-B515-E80916D1FEF9}" type="presOf" srcId="{7C64B389-C5D8-489E-AAB4-77F692715005}" destId="{D5000E0A-0118-4238-8E7F-E7E525C926DF}" srcOrd="0" destOrd="0" presId="urn:microsoft.com/office/officeart/2005/8/layout/process1"/>
    <dgm:cxn modelId="{CB60B0EF-2B3C-4435-ACE6-473B9E2E817B}" srcId="{04EE2999-3D72-466F-AAFF-ABD521419AF4}" destId="{7C64B389-C5D8-489E-AAB4-77F692715005}" srcOrd="1" destOrd="0" parTransId="{78BE9579-DA6B-488F-95A0-ADE78FD623FD}" sibTransId="{3EDA05E0-AC3E-49ED-A064-3A2358509516}"/>
    <dgm:cxn modelId="{3518C7FD-F5EC-485A-B896-244620B21B69}" type="presOf" srcId="{2D99A123-1700-4CEF-82DF-80DE0F747FD9}" destId="{11CEBE87-7503-4820-9EF7-D0DB06996F9A}" srcOrd="1" destOrd="0" presId="urn:microsoft.com/office/officeart/2005/8/layout/process1"/>
    <dgm:cxn modelId="{1B4E6486-8AED-4BBF-8F2E-7750D77B384B}" type="presParOf" srcId="{874B6FC2-14CC-415E-AC6D-164A81338B77}" destId="{CBB419AB-295B-4AC9-BB13-2985EA21FE65}" srcOrd="0" destOrd="0" presId="urn:microsoft.com/office/officeart/2005/8/layout/process1"/>
    <dgm:cxn modelId="{0F86FA35-11F0-40A3-A1AF-9E619A288179}" type="presParOf" srcId="{874B6FC2-14CC-415E-AC6D-164A81338B77}" destId="{6DC3DB55-2E6D-4E9C-86C0-CF22949AE499}" srcOrd="1" destOrd="0" presId="urn:microsoft.com/office/officeart/2005/8/layout/process1"/>
    <dgm:cxn modelId="{28003500-28C7-4ABF-A876-B53457E33BAB}" type="presParOf" srcId="{6DC3DB55-2E6D-4E9C-86C0-CF22949AE499}" destId="{11CEBE87-7503-4820-9EF7-D0DB06996F9A}" srcOrd="0" destOrd="0" presId="urn:microsoft.com/office/officeart/2005/8/layout/process1"/>
    <dgm:cxn modelId="{843D56F9-8C7B-4BC3-95C3-A9BA89F6ACB4}" type="presParOf" srcId="{874B6FC2-14CC-415E-AC6D-164A81338B77}" destId="{D5000E0A-0118-4238-8E7F-E7E525C926DF}" srcOrd="2" destOrd="0" presId="urn:microsoft.com/office/officeart/2005/8/layout/process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AE88CE-1C8F-4A09-9F7C-F66F3C9D5ADB}">
      <dsp:nvSpPr>
        <dsp:cNvPr id="0" name=""/>
        <dsp:cNvSpPr/>
      </dsp:nvSpPr>
      <dsp:spPr>
        <a:xfrm rot="5400000">
          <a:off x="-200870" y="203028"/>
          <a:ext cx="1339134" cy="937394"/>
        </a:xfrm>
        <a:prstGeom prst="chevron">
          <a:avLst/>
        </a:prstGeom>
        <a:solidFill>
          <a:srgbClr val="F9F9F9"/>
        </a:solidFill>
        <a:ln w="19050" cap="flat" cmpd="sng" algn="ctr">
          <a:solidFill>
            <a:srgbClr val="54667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altLang="zh-TW" sz="1800" kern="1200" dirty="0">
              <a:latin typeface="Eras Medium ITC" panose="020B0602030504020804" pitchFamily="34" charset="0"/>
            </a:rPr>
            <a:t>STEP</a:t>
          </a:r>
          <a:r>
            <a:rPr lang="zh-TW" altLang="en-US" sz="1800" kern="1200" dirty="0">
              <a:latin typeface="Eras Medium ITC" panose="020B0602030504020804" pitchFamily="34" charset="0"/>
            </a:rPr>
            <a:t> </a:t>
          </a:r>
          <a:r>
            <a:rPr lang="en-US" altLang="zh-TW" sz="1800" kern="1200" dirty="0">
              <a:latin typeface="Eras Medium ITC" panose="020B0602030504020804" pitchFamily="34" charset="0"/>
            </a:rPr>
            <a:t>1</a:t>
          </a:r>
          <a:endParaRPr lang="zh-TW" altLang="en-US" sz="1800" kern="1200" dirty="0">
            <a:latin typeface="Eras Medium ITC" panose="020B0602030504020804" pitchFamily="34" charset="0"/>
          </a:endParaRPr>
        </a:p>
      </dsp:txBody>
      <dsp:txXfrm rot="-5400000">
        <a:off x="0" y="470855"/>
        <a:ext cx="937394" cy="401740"/>
      </dsp:txXfrm>
    </dsp:sp>
    <dsp:sp modelId="{2594F87B-06C5-4877-AE12-1170ACBEDF70}">
      <dsp:nvSpPr>
        <dsp:cNvPr id="0" name=""/>
        <dsp:cNvSpPr/>
      </dsp:nvSpPr>
      <dsp:spPr>
        <a:xfrm rot="5400000">
          <a:off x="4288314" y="-3348762"/>
          <a:ext cx="870437" cy="7572278"/>
        </a:xfrm>
        <a:prstGeom prst="round2SameRect">
          <a:avLst/>
        </a:prstGeom>
        <a:solidFill>
          <a:srgbClr val="F9F9F9"/>
        </a:solidFill>
        <a:ln w="19050" cap="flat" cmpd="sng" algn="ctr">
          <a:solidFill>
            <a:srgbClr val="54667E"/>
          </a:solidFill>
          <a:prstDash val="sysDash"/>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None/>
          </a:pPr>
          <a:r>
            <a:rPr lang="zh-TW" altLang="en-US" sz="1600" b="1" kern="1200" dirty="0">
              <a:solidFill>
                <a:schemeClr val="tx1">
                  <a:lumMod val="85000"/>
                  <a:lumOff val="15000"/>
                </a:schemeClr>
              </a:solidFill>
              <a:latin typeface="微軟正黑體" panose="020B0604030504040204" pitchFamily="34" charset="-120"/>
              <a:ea typeface="微軟正黑體" panose="020B0604030504040204" pitchFamily="34" charset="-120"/>
            </a:rPr>
            <a:t>消費者透過客戶服務專線的撥打或登入票券兌換平台，在登入或撥打後，</a:t>
          </a:r>
        </a:p>
        <a:p>
          <a:pPr marL="171450" lvl="1" indent="-171450" algn="l" defTabSz="711200">
            <a:lnSpc>
              <a:spcPct val="90000"/>
            </a:lnSpc>
            <a:spcBef>
              <a:spcPct val="0"/>
            </a:spcBef>
            <a:spcAft>
              <a:spcPct val="15000"/>
            </a:spcAft>
            <a:buNone/>
          </a:pPr>
          <a:r>
            <a:rPr lang="zh-TW" altLang="en-US" sz="1600" b="1" kern="1200" dirty="0">
              <a:solidFill>
                <a:schemeClr val="tx1">
                  <a:lumMod val="85000"/>
                  <a:lumOff val="15000"/>
                </a:schemeClr>
              </a:solidFill>
              <a:latin typeface="微軟正黑體" panose="020B0604030504040204" pitchFamily="34" charset="-120"/>
              <a:ea typeface="微軟正黑體" panose="020B0604030504040204" pitchFamily="34" charset="-120"/>
            </a:rPr>
            <a:t>即是會員身分驗證，確保來電或登入的消費者是當事人本人</a:t>
          </a:r>
        </a:p>
      </dsp:txBody>
      <dsp:txXfrm rot="-5400000">
        <a:off x="937394" y="44649"/>
        <a:ext cx="7529787" cy="785455"/>
      </dsp:txXfrm>
    </dsp:sp>
    <dsp:sp modelId="{617CF79B-DE98-43BF-B4BE-AF03C9B218D6}">
      <dsp:nvSpPr>
        <dsp:cNvPr id="0" name=""/>
        <dsp:cNvSpPr/>
      </dsp:nvSpPr>
      <dsp:spPr>
        <a:xfrm rot="5400000">
          <a:off x="-200870" y="1396473"/>
          <a:ext cx="1339134" cy="937394"/>
        </a:xfrm>
        <a:prstGeom prst="chevron">
          <a:avLst/>
        </a:prstGeom>
        <a:solidFill>
          <a:srgbClr val="F9F9F9"/>
        </a:solidFill>
        <a:ln w="19050" cap="flat" cmpd="sng" algn="ctr">
          <a:solidFill>
            <a:srgbClr val="54667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altLang="zh-TW" sz="1800" kern="1200" dirty="0">
              <a:latin typeface="Eras Medium ITC" panose="020B0602030504020804" pitchFamily="34" charset="0"/>
            </a:rPr>
            <a:t>STEP</a:t>
          </a:r>
          <a:r>
            <a:rPr lang="zh-TW" altLang="en-US" sz="1800" kern="1200" dirty="0">
              <a:latin typeface="Eras Medium ITC" panose="020B0602030504020804" pitchFamily="34" charset="0"/>
            </a:rPr>
            <a:t> </a:t>
          </a:r>
          <a:r>
            <a:rPr lang="en-US" altLang="zh-TW" sz="1800" kern="1200" dirty="0">
              <a:latin typeface="Eras Medium ITC" panose="020B0602030504020804" pitchFamily="34" charset="0"/>
            </a:rPr>
            <a:t>2</a:t>
          </a:r>
          <a:endParaRPr lang="zh-TW" altLang="en-US" sz="1800" kern="1200" dirty="0">
            <a:latin typeface="Eras Medium ITC" panose="020B0602030504020804" pitchFamily="34" charset="0"/>
          </a:endParaRPr>
        </a:p>
      </dsp:txBody>
      <dsp:txXfrm rot="-5400000">
        <a:off x="0" y="1664300"/>
        <a:ext cx="937394" cy="401740"/>
      </dsp:txXfrm>
    </dsp:sp>
    <dsp:sp modelId="{B5338A0D-C86E-4704-B400-BF8B2251ECFC}">
      <dsp:nvSpPr>
        <dsp:cNvPr id="0" name=""/>
        <dsp:cNvSpPr/>
      </dsp:nvSpPr>
      <dsp:spPr>
        <a:xfrm rot="5400000">
          <a:off x="4288314" y="-2155317"/>
          <a:ext cx="870437" cy="7572278"/>
        </a:xfrm>
        <a:prstGeom prst="round2SameRect">
          <a:avLst/>
        </a:prstGeom>
        <a:solidFill>
          <a:srgbClr val="F9F9F9"/>
        </a:solidFill>
        <a:ln w="19050" cap="flat" cmpd="sng" algn="ctr">
          <a:solidFill>
            <a:srgbClr val="54667E"/>
          </a:solidFill>
          <a:prstDash val="sysDash"/>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None/>
          </a:pPr>
          <a:r>
            <a:rPr lang="zh-TW" altLang="en-US" sz="1600" b="1" kern="1200" dirty="0">
              <a:solidFill>
                <a:schemeClr val="tx1">
                  <a:lumMod val="85000"/>
                  <a:lumOff val="15000"/>
                </a:schemeClr>
              </a:solidFill>
              <a:latin typeface="微軟正黑體" panose="020B0604030504040204" pitchFamily="34" charset="-120"/>
              <a:ea typeface="微軟正黑體" panose="020B0604030504040204" pitchFamily="34" charset="-120"/>
            </a:rPr>
            <a:t>確認身分，在消費者提供身分證號或會員號碼後，實施雙重身分驗證作業，</a:t>
          </a:r>
        </a:p>
        <a:p>
          <a:pPr marL="171450" lvl="1" indent="-171450" algn="l" defTabSz="711200">
            <a:lnSpc>
              <a:spcPct val="90000"/>
            </a:lnSpc>
            <a:spcBef>
              <a:spcPct val="0"/>
            </a:spcBef>
            <a:spcAft>
              <a:spcPct val="15000"/>
            </a:spcAft>
            <a:buNone/>
          </a:pPr>
          <a:r>
            <a:rPr lang="zh-TW" altLang="en-US" sz="1600" b="1" kern="1200" dirty="0">
              <a:solidFill>
                <a:schemeClr val="tx1">
                  <a:lumMod val="85000"/>
                  <a:lumOff val="15000"/>
                </a:schemeClr>
              </a:solidFill>
              <a:latin typeface="微軟正黑體" panose="020B0604030504040204" pitchFamily="34" charset="-120"/>
              <a:ea typeface="微軟正黑體" panose="020B0604030504040204" pitchFamily="34" charset="-120"/>
            </a:rPr>
            <a:t>以確保來電者是消費者本人</a:t>
          </a:r>
        </a:p>
      </dsp:txBody>
      <dsp:txXfrm rot="-5400000">
        <a:off x="937394" y="1238094"/>
        <a:ext cx="7529787" cy="785455"/>
      </dsp:txXfrm>
    </dsp:sp>
    <dsp:sp modelId="{B0F8E19C-4ED4-4A8E-BC65-C4920E32AA57}">
      <dsp:nvSpPr>
        <dsp:cNvPr id="0" name=""/>
        <dsp:cNvSpPr/>
      </dsp:nvSpPr>
      <dsp:spPr>
        <a:xfrm rot="5400000">
          <a:off x="-200870" y="2589917"/>
          <a:ext cx="1339134" cy="937394"/>
        </a:xfrm>
        <a:prstGeom prst="chevron">
          <a:avLst/>
        </a:prstGeom>
        <a:solidFill>
          <a:srgbClr val="F9F9F9"/>
        </a:solidFill>
        <a:ln w="19050" cap="flat" cmpd="sng" algn="ctr">
          <a:solidFill>
            <a:srgbClr val="54667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altLang="zh-TW" sz="1800" kern="1200" dirty="0">
              <a:latin typeface="Eras Medium ITC" panose="020B0602030504020804" pitchFamily="34" charset="0"/>
            </a:rPr>
            <a:t>STEP</a:t>
          </a:r>
          <a:r>
            <a:rPr lang="zh-TW" altLang="en-US" sz="1800" kern="1200" dirty="0">
              <a:latin typeface="Eras Medium ITC" panose="020B0602030504020804" pitchFamily="34" charset="0"/>
            </a:rPr>
            <a:t> </a:t>
          </a:r>
          <a:r>
            <a:rPr lang="en-US" altLang="zh-TW" sz="1800" kern="1200" dirty="0">
              <a:latin typeface="Eras Medium ITC" panose="020B0602030504020804" pitchFamily="34" charset="0"/>
            </a:rPr>
            <a:t>3</a:t>
          </a:r>
          <a:endParaRPr lang="zh-TW" altLang="en-US" sz="1800" kern="1200" dirty="0">
            <a:latin typeface="Eras Medium ITC" panose="020B0602030504020804" pitchFamily="34" charset="0"/>
          </a:endParaRPr>
        </a:p>
      </dsp:txBody>
      <dsp:txXfrm rot="-5400000">
        <a:off x="0" y="2857744"/>
        <a:ext cx="937394" cy="401740"/>
      </dsp:txXfrm>
    </dsp:sp>
    <dsp:sp modelId="{E6B05A32-B175-4199-AD6F-7D3C116D05F1}">
      <dsp:nvSpPr>
        <dsp:cNvPr id="0" name=""/>
        <dsp:cNvSpPr/>
      </dsp:nvSpPr>
      <dsp:spPr>
        <a:xfrm rot="5400000">
          <a:off x="4288314" y="-961873"/>
          <a:ext cx="870437" cy="7572278"/>
        </a:xfrm>
        <a:prstGeom prst="round2SameRect">
          <a:avLst/>
        </a:prstGeom>
        <a:solidFill>
          <a:srgbClr val="F9F9F9"/>
        </a:solidFill>
        <a:ln w="19050" cap="flat" cmpd="sng" algn="ctr">
          <a:solidFill>
            <a:srgbClr val="54667E"/>
          </a:solidFill>
          <a:prstDash val="sysDash"/>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None/>
          </a:pPr>
          <a:r>
            <a:rPr lang="zh-TW" altLang="en-US" sz="1600" b="1" kern="1200" dirty="0">
              <a:solidFill>
                <a:schemeClr val="tx1">
                  <a:lumMod val="85000"/>
                  <a:lumOff val="15000"/>
                </a:schemeClr>
              </a:solidFill>
              <a:latin typeface="微軟正黑體" panose="020B0604030504040204" pitchFamily="34" charset="-120"/>
              <a:ea typeface="微軟正黑體" panose="020B0604030504040204" pitchFamily="34" charset="-120"/>
            </a:rPr>
            <a:t>當消費者未能通過身分驗證程序時，一般會有重新核對或輸入的緩衝次數，</a:t>
          </a:r>
        </a:p>
        <a:p>
          <a:pPr marL="171450" lvl="1" indent="-171450" algn="l" defTabSz="711200">
            <a:lnSpc>
              <a:spcPct val="90000"/>
            </a:lnSpc>
            <a:spcBef>
              <a:spcPct val="0"/>
            </a:spcBef>
            <a:spcAft>
              <a:spcPct val="15000"/>
            </a:spcAft>
            <a:buNone/>
          </a:pPr>
          <a:r>
            <a:rPr lang="zh-TW" altLang="en-US" sz="1600" b="1" kern="1200" dirty="0">
              <a:solidFill>
                <a:schemeClr val="tx1">
                  <a:lumMod val="85000"/>
                  <a:lumOff val="15000"/>
                </a:schemeClr>
              </a:solidFill>
              <a:latin typeface="微軟正黑體" panose="020B0604030504040204" pitchFamily="34" charset="-120"/>
              <a:ea typeface="微軟正黑體" panose="020B0604030504040204" pitchFamily="34" charset="-120"/>
            </a:rPr>
            <a:t>如果一直未能通過，系統或客服將無法受理票券兌換</a:t>
          </a:r>
        </a:p>
      </dsp:txBody>
      <dsp:txXfrm rot="-5400000">
        <a:off x="937394" y="2431538"/>
        <a:ext cx="7529787" cy="785455"/>
      </dsp:txXfrm>
    </dsp:sp>
    <dsp:sp modelId="{E1C2831A-CBD4-4BAB-9E88-19138B9E134E}">
      <dsp:nvSpPr>
        <dsp:cNvPr id="0" name=""/>
        <dsp:cNvSpPr/>
      </dsp:nvSpPr>
      <dsp:spPr>
        <a:xfrm rot="5400000">
          <a:off x="-200870" y="3783362"/>
          <a:ext cx="1339134" cy="937394"/>
        </a:xfrm>
        <a:prstGeom prst="chevron">
          <a:avLst/>
        </a:prstGeom>
        <a:solidFill>
          <a:srgbClr val="F9F9F9"/>
        </a:solidFill>
        <a:ln w="19050" cap="flat" cmpd="sng" algn="ctr">
          <a:solidFill>
            <a:srgbClr val="54667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altLang="zh-TW" sz="1800" kern="1200" dirty="0">
              <a:latin typeface="Eras Medium ITC" panose="020B0602030504020804" pitchFamily="34" charset="0"/>
            </a:rPr>
            <a:t>STEP</a:t>
          </a:r>
          <a:r>
            <a:rPr lang="zh-TW" altLang="en-US" sz="1800" kern="1200" dirty="0">
              <a:latin typeface="Eras Medium ITC" panose="020B0602030504020804" pitchFamily="34" charset="0"/>
            </a:rPr>
            <a:t> </a:t>
          </a:r>
          <a:r>
            <a:rPr lang="en-US" altLang="zh-TW" sz="1800" kern="1200" dirty="0">
              <a:latin typeface="Eras Medium ITC" panose="020B0602030504020804" pitchFamily="34" charset="0"/>
            </a:rPr>
            <a:t>4</a:t>
          </a:r>
          <a:endParaRPr lang="zh-TW" altLang="en-US" sz="1800" kern="1200" dirty="0">
            <a:latin typeface="Eras Medium ITC" panose="020B0602030504020804" pitchFamily="34" charset="0"/>
          </a:endParaRPr>
        </a:p>
      </dsp:txBody>
      <dsp:txXfrm rot="-5400000">
        <a:off x="0" y="4051189"/>
        <a:ext cx="937394" cy="401740"/>
      </dsp:txXfrm>
    </dsp:sp>
    <dsp:sp modelId="{164D4262-E931-497C-9B32-BFE1C4E57337}">
      <dsp:nvSpPr>
        <dsp:cNvPr id="0" name=""/>
        <dsp:cNvSpPr/>
      </dsp:nvSpPr>
      <dsp:spPr>
        <a:xfrm rot="5400000">
          <a:off x="4288314" y="231571"/>
          <a:ext cx="870437" cy="7572278"/>
        </a:xfrm>
        <a:prstGeom prst="round2SameRect">
          <a:avLst/>
        </a:prstGeom>
        <a:solidFill>
          <a:srgbClr val="F9F9F9"/>
        </a:solidFill>
        <a:ln w="19050" cap="flat" cmpd="sng" algn="ctr">
          <a:solidFill>
            <a:srgbClr val="54667E"/>
          </a:solidFill>
          <a:prstDash val="sysDash"/>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None/>
          </a:pPr>
          <a:r>
            <a:rPr lang="zh-TW" altLang="en-US" sz="1600" b="1" kern="1200" dirty="0">
              <a:solidFill>
                <a:schemeClr val="tx1">
                  <a:lumMod val="85000"/>
                  <a:lumOff val="15000"/>
                </a:schemeClr>
              </a:solidFill>
              <a:latin typeface="微軟正黑體" panose="020B0604030504040204" pitchFamily="34" charset="-120"/>
              <a:ea typeface="微軟正黑體" panose="020B0604030504040204" pitchFamily="34" charset="-120"/>
            </a:rPr>
            <a:t>當消費者已通過身分驗證程序時，則會進入票券兌換中心，進行票券的兌換作業</a:t>
          </a:r>
        </a:p>
      </dsp:txBody>
      <dsp:txXfrm rot="-5400000">
        <a:off x="937394" y="3624983"/>
        <a:ext cx="7529787" cy="7854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81BBF2-C31B-4C55-82EA-495C968F4FC1}">
      <dsp:nvSpPr>
        <dsp:cNvPr id="0" name=""/>
        <dsp:cNvSpPr/>
      </dsp:nvSpPr>
      <dsp:spPr>
        <a:xfrm>
          <a:off x="2888" y="0"/>
          <a:ext cx="3519218" cy="923368"/>
        </a:xfrm>
        <a:prstGeom prst="chevron">
          <a:avLst/>
        </a:prstGeom>
        <a:noFill/>
        <a:ln w="19050" cap="flat" cmpd="sng" algn="ctr">
          <a:solidFill>
            <a:schemeClr val="accent5"/>
          </a:solidFill>
          <a:prstDash val="sysDash"/>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solidFill>
                <a:srgbClr val="54667E"/>
              </a:solidFill>
              <a:latin typeface="微軟正黑體" panose="020B0604030504040204" pitchFamily="34" charset="-120"/>
              <a:ea typeface="微軟正黑體" panose="020B0604030504040204" pitchFamily="34" charset="-120"/>
            </a:rPr>
            <a:t>步驟</a:t>
          </a:r>
          <a:r>
            <a:rPr lang="en-US" altLang="en-US" sz="2000" b="1" kern="1200" dirty="0">
              <a:solidFill>
                <a:srgbClr val="54667E"/>
              </a:solidFill>
              <a:latin typeface="微軟正黑體" panose="020B0604030504040204" pitchFamily="34" charset="-120"/>
              <a:ea typeface="微軟正黑體" panose="020B0604030504040204" pitchFamily="34" charset="-120"/>
            </a:rPr>
            <a:t>1</a:t>
          </a:r>
          <a:r>
            <a:rPr lang="zh-TW" altLang="en-US" sz="2000" b="1" kern="1200" dirty="0">
              <a:solidFill>
                <a:srgbClr val="54667E"/>
              </a:solidFill>
              <a:latin typeface="微軟正黑體" panose="020B0604030504040204" pitchFamily="34" charset="-120"/>
              <a:ea typeface="微軟正黑體" panose="020B0604030504040204" pitchFamily="34" charset="-120"/>
            </a:rPr>
            <a:t>  </a:t>
          </a:r>
          <a:r>
            <a:rPr lang="zh-TW" altLang="en-US" sz="2000" b="1" kern="1200" dirty="0">
              <a:latin typeface="微軟正黑體" panose="020B0604030504040204" pitchFamily="34" charset="-120"/>
              <a:ea typeface="微軟正黑體" panose="020B0604030504040204" pitchFamily="34" charset="-120"/>
            </a:rPr>
            <a:t>貨幣概念發行</a:t>
          </a:r>
        </a:p>
      </dsp:txBody>
      <dsp:txXfrm>
        <a:off x="464572" y="0"/>
        <a:ext cx="2595850" cy="923368"/>
      </dsp:txXfrm>
    </dsp:sp>
    <dsp:sp modelId="{287A21A1-6283-4CA3-975A-72B71D051295}">
      <dsp:nvSpPr>
        <dsp:cNvPr id="0" name=""/>
        <dsp:cNvSpPr/>
      </dsp:nvSpPr>
      <dsp:spPr>
        <a:xfrm>
          <a:off x="3170184" y="0"/>
          <a:ext cx="3519218" cy="923368"/>
        </a:xfrm>
        <a:prstGeom prst="chevron">
          <a:avLst/>
        </a:prstGeom>
        <a:noFill/>
        <a:ln w="19050" cap="flat" cmpd="sng" algn="ctr">
          <a:solidFill>
            <a:schemeClr val="accent5"/>
          </a:solidFill>
          <a:prstDash val="sysDash"/>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solidFill>
                <a:srgbClr val="54667E"/>
              </a:solidFill>
              <a:latin typeface="微軟正黑體" panose="020B0604030504040204" pitchFamily="34" charset="-120"/>
              <a:ea typeface="微軟正黑體" panose="020B0604030504040204" pitchFamily="34" charset="-120"/>
            </a:rPr>
            <a:t>步驟</a:t>
          </a:r>
          <a:r>
            <a:rPr lang="en-US" altLang="en-US" sz="2000" b="1" kern="1200" dirty="0">
              <a:solidFill>
                <a:srgbClr val="54667E"/>
              </a:solidFill>
              <a:latin typeface="微軟正黑體" panose="020B0604030504040204" pitchFamily="34" charset="-120"/>
              <a:ea typeface="微軟正黑體" panose="020B0604030504040204" pitchFamily="34" charset="-120"/>
            </a:rPr>
            <a:t>2</a:t>
          </a:r>
          <a:r>
            <a:rPr lang="en-US" altLang="en-US" sz="2000" b="1" kern="1200" dirty="0">
              <a:latin typeface="微軟正黑體" panose="020B0604030504040204" pitchFamily="34" charset="-120"/>
              <a:ea typeface="微軟正黑體" panose="020B0604030504040204" pitchFamily="34" charset="-120"/>
            </a:rPr>
            <a:t>  </a:t>
          </a:r>
          <a:r>
            <a:rPr lang="zh-TW" altLang="en-US" sz="2000" b="1" kern="1200" dirty="0">
              <a:latin typeface="微軟正黑體" panose="020B0604030504040204" pitchFamily="34" charset="-120"/>
              <a:ea typeface="微軟正黑體" panose="020B0604030504040204" pitchFamily="34" charset="-120"/>
            </a:rPr>
            <a:t>信任與安全性</a:t>
          </a:r>
        </a:p>
      </dsp:txBody>
      <dsp:txXfrm>
        <a:off x="3631868" y="0"/>
        <a:ext cx="2595850" cy="923368"/>
      </dsp:txXfrm>
    </dsp:sp>
    <dsp:sp modelId="{DCA8044C-16C8-4B57-A9C6-0BB42D0ED2FB}">
      <dsp:nvSpPr>
        <dsp:cNvPr id="0" name=""/>
        <dsp:cNvSpPr/>
      </dsp:nvSpPr>
      <dsp:spPr>
        <a:xfrm>
          <a:off x="6337481" y="0"/>
          <a:ext cx="3519218" cy="923368"/>
        </a:xfrm>
        <a:prstGeom prst="chevron">
          <a:avLst/>
        </a:prstGeom>
        <a:noFill/>
        <a:ln w="19050" cap="flat" cmpd="sng" algn="ctr">
          <a:solidFill>
            <a:schemeClr val="accent5"/>
          </a:solidFill>
          <a:prstDash val="sysDash"/>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solidFill>
                <a:srgbClr val="54667E"/>
              </a:solidFill>
              <a:latin typeface="微軟正黑體" panose="020B0604030504040204" pitchFamily="34" charset="-120"/>
              <a:ea typeface="微軟正黑體" panose="020B0604030504040204" pitchFamily="34" charset="-120"/>
            </a:rPr>
            <a:t>步驟</a:t>
          </a:r>
          <a:r>
            <a:rPr lang="en-US" altLang="en-US" sz="2000" b="1" kern="1200" dirty="0">
              <a:solidFill>
                <a:srgbClr val="54667E"/>
              </a:solidFill>
              <a:latin typeface="微軟正黑體" panose="020B0604030504040204" pitchFamily="34" charset="-120"/>
              <a:ea typeface="微軟正黑體" panose="020B0604030504040204" pitchFamily="34" charset="-120"/>
            </a:rPr>
            <a:t>3</a:t>
          </a:r>
          <a:r>
            <a:rPr lang="en-US" altLang="en-US" sz="2000" b="1" kern="1200" dirty="0">
              <a:latin typeface="微軟正黑體" panose="020B0604030504040204" pitchFamily="34" charset="-120"/>
              <a:ea typeface="微軟正黑體" panose="020B0604030504040204" pitchFamily="34" charset="-120"/>
            </a:rPr>
            <a:t>   </a:t>
          </a:r>
          <a:r>
            <a:rPr lang="zh-TW" altLang="en-US" sz="2000" b="1" kern="1200" dirty="0">
              <a:latin typeface="微軟正黑體" panose="020B0604030504040204" pitchFamily="34" charset="-120"/>
              <a:ea typeface="微軟正黑體" panose="020B0604030504040204" pitchFamily="34" charset="-120"/>
            </a:rPr>
            <a:t>防偽和防盜  之私有鏈模式</a:t>
          </a:r>
        </a:p>
      </dsp:txBody>
      <dsp:txXfrm>
        <a:off x="6799165" y="0"/>
        <a:ext cx="2595850" cy="9233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81BBF2-C31B-4C55-82EA-495C968F4FC1}">
      <dsp:nvSpPr>
        <dsp:cNvPr id="0" name=""/>
        <dsp:cNvSpPr/>
      </dsp:nvSpPr>
      <dsp:spPr>
        <a:xfrm>
          <a:off x="2967" y="0"/>
          <a:ext cx="3615294" cy="923368"/>
        </a:xfrm>
        <a:prstGeom prst="chevron">
          <a:avLst/>
        </a:prstGeom>
        <a:noFill/>
        <a:ln w="19050" cap="flat" cmpd="sng" algn="ctr">
          <a:solidFill>
            <a:schemeClr val="accent5"/>
          </a:solidFill>
          <a:prstDash val="sysDash"/>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solidFill>
                <a:srgbClr val="54667E"/>
              </a:solidFill>
              <a:latin typeface="微軟正黑體" panose="020B0604030504040204" pitchFamily="34" charset="-120"/>
              <a:ea typeface="微軟正黑體" panose="020B0604030504040204" pitchFamily="34" charset="-120"/>
            </a:rPr>
            <a:t>步驟</a:t>
          </a:r>
          <a:r>
            <a:rPr lang="en-US" altLang="en-US" sz="2000" b="1" kern="1200" dirty="0">
              <a:solidFill>
                <a:srgbClr val="54667E"/>
              </a:solidFill>
              <a:latin typeface="微軟正黑體" panose="020B0604030504040204" pitchFamily="34" charset="-120"/>
              <a:ea typeface="微軟正黑體" panose="020B0604030504040204" pitchFamily="34" charset="-120"/>
            </a:rPr>
            <a:t>1</a:t>
          </a:r>
          <a:r>
            <a:rPr lang="zh-TW" altLang="en-US" sz="2000" b="1" kern="1200" dirty="0">
              <a:solidFill>
                <a:srgbClr val="54667E"/>
              </a:solidFill>
              <a:latin typeface="微軟正黑體" panose="020B0604030504040204" pitchFamily="34" charset="-120"/>
              <a:ea typeface="微軟正黑體" panose="020B0604030504040204" pitchFamily="34" charset="-120"/>
            </a:rPr>
            <a:t>  </a:t>
          </a:r>
          <a:r>
            <a:rPr lang="zh-TW" altLang="en-US" sz="2000" b="1" kern="1200" dirty="0">
              <a:latin typeface="微軟正黑體" panose="020B0604030504040204" pitchFamily="34" charset="-120"/>
              <a:ea typeface="微軟正黑體" panose="020B0604030504040204" pitchFamily="34" charset="-120"/>
            </a:rPr>
            <a:t>消費行為確認</a:t>
          </a:r>
        </a:p>
      </dsp:txBody>
      <dsp:txXfrm>
        <a:off x="464651" y="0"/>
        <a:ext cx="2691926" cy="923368"/>
      </dsp:txXfrm>
    </dsp:sp>
    <dsp:sp modelId="{287A21A1-6283-4CA3-975A-72B71D051295}">
      <dsp:nvSpPr>
        <dsp:cNvPr id="0" name=""/>
        <dsp:cNvSpPr/>
      </dsp:nvSpPr>
      <dsp:spPr>
        <a:xfrm>
          <a:off x="3256732" y="0"/>
          <a:ext cx="3615294" cy="923368"/>
        </a:xfrm>
        <a:prstGeom prst="chevron">
          <a:avLst/>
        </a:prstGeom>
        <a:noFill/>
        <a:ln w="19050" cap="flat" cmpd="sng" algn="ctr">
          <a:solidFill>
            <a:schemeClr val="accent5"/>
          </a:solidFill>
          <a:prstDash val="sysDash"/>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solidFill>
                <a:srgbClr val="54667E"/>
              </a:solidFill>
              <a:latin typeface="微軟正黑體" panose="020B0604030504040204" pitchFamily="34" charset="-120"/>
              <a:ea typeface="微軟正黑體" panose="020B0604030504040204" pitchFamily="34" charset="-120"/>
            </a:rPr>
            <a:t>步驟</a:t>
          </a:r>
          <a:r>
            <a:rPr lang="en-US" altLang="en-US" sz="2000" b="1" kern="1200" dirty="0">
              <a:solidFill>
                <a:srgbClr val="54667E"/>
              </a:solidFill>
              <a:latin typeface="微軟正黑體" panose="020B0604030504040204" pitchFamily="34" charset="-120"/>
              <a:ea typeface="微軟正黑體" panose="020B0604030504040204" pitchFamily="34" charset="-120"/>
            </a:rPr>
            <a:t>2</a:t>
          </a:r>
          <a:r>
            <a:rPr lang="en-US" altLang="en-US" sz="2000" b="1" kern="1200" dirty="0">
              <a:latin typeface="微軟正黑體" panose="020B0604030504040204" pitchFamily="34" charset="-120"/>
              <a:ea typeface="微軟正黑體" panose="020B0604030504040204" pitchFamily="34" charset="-120"/>
            </a:rPr>
            <a:t>  </a:t>
          </a:r>
          <a:r>
            <a:rPr lang="zh-TW" altLang="en-US" sz="2000" b="1" kern="1200" dirty="0">
              <a:latin typeface="微軟正黑體" panose="020B0604030504040204" pitchFamily="34" charset="-120"/>
              <a:ea typeface="微軟正黑體" panose="020B0604030504040204" pitchFamily="34" charset="-120"/>
            </a:rPr>
            <a:t>交易資訊防護</a:t>
          </a:r>
        </a:p>
      </dsp:txBody>
      <dsp:txXfrm>
        <a:off x="3718416" y="0"/>
        <a:ext cx="2691926" cy="923368"/>
      </dsp:txXfrm>
    </dsp:sp>
    <dsp:sp modelId="{DCA8044C-16C8-4B57-A9C6-0BB42D0ED2FB}">
      <dsp:nvSpPr>
        <dsp:cNvPr id="0" name=""/>
        <dsp:cNvSpPr/>
      </dsp:nvSpPr>
      <dsp:spPr>
        <a:xfrm>
          <a:off x="6510497" y="0"/>
          <a:ext cx="3615294" cy="923368"/>
        </a:xfrm>
        <a:prstGeom prst="chevron">
          <a:avLst/>
        </a:prstGeom>
        <a:noFill/>
        <a:ln w="19050" cap="flat" cmpd="sng" algn="ctr">
          <a:solidFill>
            <a:schemeClr val="accent5"/>
          </a:solidFill>
          <a:prstDash val="sysDash"/>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solidFill>
                <a:srgbClr val="54667E"/>
              </a:solidFill>
              <a:latin typeface="微軟正黑體" panose="020B0604030504040204" pitchFamily="34" charset="-120"/>
              <a:ea typeface="微軟正黑體" panose="020B0604030504040204" pitchFamily="34" charset="-120"/>
            </a:rPr>
            <a:t>步驟</a:t>
          </a:r>
          <a:r>
            <a:rPr lang="en-US" altLang="en-US" sz="2000" b="1" kern="1200" dirty="0">
              <a:solidFill>
                <a:srgbClr val="54667E"/>
              </a:solidFill>
              <a:latin typeface="微軟正黑體" panose="020B0604030504040204" pitchFamily="34" charset="-120"/>
              <a:ea typeface="微軟正黑體" panose="020B0604030504040204" pitchFamily="34" charset="-120"/>
            </a:rPr>
            <a:t>3</a:t>
          </a:r>
          <a:r>
            <a:rPr lang="zh-TW" altLang="en-US" sz="2000" b="1" kern="1200" dirty="0">
              <a:solidFill>
                <a:srgbClr val="54667E"/>
              </a:solidFill>
              <a:latin typeface="微軟正黑體" panose="020B0604030504040204" pitchFamily="34" charset="-120"/>
              <a:ea typeface="微軟正黑體" panose="020B0604030504040204" pitchFamily="34" charset="-120"/>
            </a:rPr>
            <a:t>  </a:t>
          </a:r>
          <a:r>
            <a:rPr lang="zh-TW" altLang="en-US" sz="2000" b="1" kern="1200" dirty="0">
              <a:latin typeface="微軟正黑體" panose="020B0604030504040204" pitchFamily="34" charset="-120"/>
              <a:ea typeface="微軟正黑體" panose="020B0604030504040204" pitchFamily="34" charset="-120"/>
            </a:rPr>
            <a:t>多元化交易選擇</a:t>
          </a:r>
        </a:p>
      </dsp:txBody>
      <dsp:txXfrm>
        <a:off x="6972181" y="0"/>
        <a:ext cx="2691926" cy="92336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2CC348-FE2B-46AA-BED4-B7FF37BAF1D6}">
      <dsp:nvSpPr>
        <dsp:cNvPr id="0" name=""/>
        <dsp:cNvSpPr/>
      </dsp:nvSpPr>
      <dsp:spPr>
        <a:xfrm>
          <a:off x="1603" y="0"/>
          <a:ext cx="3031198" cy="899440"/>
        </a:xfrm>
        <a:prstGeom prst="chevron">
          <a:avLst/>
        </a:prstGeom>
        <a:noFill/>
        <a:ln w="19050" cap="flat" cmpd="sng" algn="ctr">
          <a:solidFill>
            <a:srgbClr val="C00000"/>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5"/>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zh-TW" altLang="en-US" sz="1600" b="1" kern="1200" dirty="0">
              <a:solidFill>
                <a:schemeClr val="tx1">
                  <a:lumMod val="75000"/>
                  <a:lumOff val="25000"/>
                </a:schemeClr>
              </a:solidFill>
              <a:latin typeface="微軟正黑體" panose="020B0604030504040204" pitchFamily="34" charset="-120"/>
              <a:ea typeface="微軟正黑體" panose="020B0604030504040204" pitchFamily="34" charset="-120"/>
            </a:rPr>
            <a:t>店家登入平台購買票券（儲值點數）</a:t>
          </a:r>
        </a:p>
      </dsp:txBody>
      <dsp:txXfrm>
        <a:off x="451323" y="0"/>
        <a:ext cx="2131758" cy="899440"/>
      </dsp:txXfrm>
    </dsp:sp>
    <dsp:sp modelId="{CAFC41C5-DE59-4A1D-84C0-F9E1A408CC1C}">
      <dsp:nvSpPr>
        <dsp:cNvPr id="0" name=""/>
        <dsp:cNvSpPr/>
      </dsp:nvSpPr>
      <dsp:spPr>
        <a:xfrm>
          <a:off x="2729682" y="0"/>
          <a:ext cx="3203188" cy="899440"/>
        </a:xfrm>
        <a:prstGeom prst="chevron">
          <a:avLst/>
        </a:prstGeom>
        <a:noFill/>
        <a:ln w="19050" cap="flat" cmpd="sng" algn="ctr">
          <a:solidFill>
            <a:srgbClr val="C00000"/>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5"/>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zh-TW" altLang="en-US" sz="1600" b="1" kern="1200" dirty="0">
              <a:solidFill>
                <a:schemeClr val="tx1">
                  <a:lumMod val="75000"/>
                  <a:lumOff val="25000"/>
                </a:schemeClr>
              </a:solidFill>
              <a:latin typeface="微軟正黑體" panose="020B0604030504040204" pitchFamily="34" charset="-120"/>
              <a:ea typeface="微軟正黑體" panose="020B0604030504040204" pitchFamily="34" charset="-120"/>
            </a:rPr>
            <a:t>平台支付點數給店家</a:t>
          </a:r>
        </a:p>
      </dsp:txBody>
      <dsp:txXfrm>
        <a:off x="3179402" y="0"/>
        <a:ext cx="2303748" cy="899440"/>
      </dsp:txXfrm>
    </dsp:sp>
    <dsp:sp modelId="{7673D555-E35F-4434-8187-F94C8832E94D}">
      <dsp:nvSpPr>
        <dsp:cNvPr id="0" name=""/>
        <dsp:cNvSpPr/>
      </dsp:nvSpPr>
      <dsp:spPr>
        <a:xfrm>
          <a:off x="5629751" y="0"/>
          <a:ext cx="3031198" cy="899440"/>
        </a:xfrm>
        <a:prstGeom prst="chevron">
          <a:avLst/>
        </a:prstGeom>
        <a:noFill/>
        <a:ln w="19050" cap="flat" cmpd="sng" algn="ctr">
          <a:solidFill>
            <a:srgbClr val="308071"/>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5"/>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zh-TW" altLang="en-US" sz="1600" b="1" kern="1200" dirty="0">
              <a:solidFill>
                <a:schemeClr val="tx1">
                  <a:lumMod val="75000"/>
                  <a:lumOff val="25000"/>
                </a:schemeClr>
              </a:solidFill>
              <a:latin typeface="微軟正黑體" panose="020B0604030504040204" pitchFamily="34" charset="-120"/>
              <a:ea typeface="微軟正黑體" panose="020B0604030504040204" pitchFamily="34" charset="-120"/>
            </a:rPr>
            <a:t>消費者至平台註冊帳號取得權限</a:t>
          </a:r>
        </a:p>
      </dsp:txBody>
      <dsp:txXfrm>
        <a:off x="6079471" y="0"/>
        <a:ext cx="2131758" cy="899440"/>
      </dsp:txXfrm>
    </dsp:sp>
    <dsp:sp modelId="{F66F5D67-3A5F-466B-A377-9E2E0A12D675}">
      <dsp:nvSpPr>
        <dsp:cNvPr id="0" name=""/>
        <dsp:cNvSpPr/>
      </dsp:nvSpPr>
      <dsp:spPr>
        <a:xfrm>
          <a:off x="8357829" y="0"/>
          <a:ext cx="3031198" cy="899440"/>
        </a:xfrm>
        <a:prstGeom prst="chevron">
          <a:avLst/>
        </a:prstGeom>
        <a:noFill/>
        <a:ln w="19050" cap="flat" cmpd="sng" algn="ctr">
          <a:solidFill>
            <a:schemeClr val="accent6">
              <a:lumMod val="50000"/>
            </a:schemeClr>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5"/>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zh-TW" altLang="en-US" sz="1600" b="1" kern="1200" dirty="0">
              <a:solidFill>
                <a:schemeClr val="tx1">
                  <a:lumMod val="75000"/>
                  <a:lumOff val="25000"/>
                </a:schemeClr>
              </a:solidFill>
              <a:latin typeface="微軟正黑體" panose="020B0604030504040204" pitchFamily="34" charset="-120"/>
              <a:ea typeface="微軟正黑體" panose="020B0604030504040204" pitchFamily="34" charset="-120"/>
            </a:rPr>
            <a:t>消費者至店家消費</a:t>
          </a:r>
        </a:p>
      </dsp:txBody>
      <dsp:txXfrm>
        <a:off x="8807549" y="0"/>
        <a:ext cx="2131758" cy="8994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2CC348-FE2B-46AA-BED4-B7FF37BAF1D6}">
      <dsp:nvSpPr>
        <dsp:cNvPr id="0" name=""/>
        <dsp:cNvSpPr/>
      </dsp:nvSpPr>
      <dsp:spPr>
        <a:xfrm>
          <a:off x="5298" y="0"/>
          <a:ext cx="3084482" cy="1052934"/>
        </a:xfrm>
        <a:prstGeom prst="chevron">
          <a:avLst/>
        </a:prstGeom>
        <a:noFill/>
        <a:ln w="19050" cap="flat" cmpd="sng" algn="ctr">
          <a:solidFill>
            <a:schemeClr val="accent6">
              <a:lumMod val="50000"/>
            </a:schemeClr>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5"/>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zh-TW" altLang="en-US" sz="1600" b="1" kern="1200" dirty="0">
              <a:solidFill>
                <a:schemeClr val="tx1">
                  <a:lumMod val="75000"/>
                  <a:lumOff val="25000"/>
                </a:schemeClr>
              </a:solidFill>
              <a:latin typeface="微軟正黑體" panose="020B0604030504040204" pitchFamily="34" charset="-120"/>
              <a:ea typeface="微軟正黑體" panose="020B0604030504040204" pitchFamily="34" charset="-120"/>
            </a:rPr>
            <a:t>消費額度滿足促銷活動，店家支付點數或票卷給消費者</a:t>
          </a:r>
        </a:p>
      </dsp:txBody>
      <dsp:txXfrm>
        <a:off x="531765" y="0"/>
        <a:ext cx="2031548" cy="1052934"/>
      </dsp:txXfrm>
    </dsp:sp>
    <dsp:sp modelId="{CAFC41C5-DE59-4A1D-84C0-F9E1A408CC1C}">
      <dsp:nvSpPr>
        <dsp:cNvPr id="0" name=""/>
        <dsp:cNvSpPr/>
      </dsp:nvSpPr>
      <dsp:spPr>
        <a:xfrm>
          <a:off x="2781332" y="0"/>
          <a:ext cx="3084482" cy="1052934"/>
        </a:xfrm>
        <a:prstGeom prst="chevron">
          <a:avLst/>
        </a:prstGeom>
        <a:noFill/>
        <a:ln w="19050" cap="flat" cmpd="sng" algn="ctr">
          <a:solidFill>
            <a:schemeClr val="accent6">
              <a:lumMod val="50000"/>
            </a:schemeClr>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5"/>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zh-TW" altLang="en-US" sz="1600" b="1" kern="1200" dirty="0">
              <a:solidFill>
                <a:schemeClr val="tx1">
                  <a:lumMod val="75000"/>
                  <a:lumOff val="25000"/>
                </a:schemeClr>
              </a:solidFill>
              <a:latin typeface="微軟正黑體" panose="020B0604030504040204" pitchFamily="34" charset="-120"/>
              <a:ea typeface="微軟正黑體" panose="020B0604030504040204" pitchFamily="34" charset="-120"/>
            </a:rPr>
            <a:t>消費者的點數或票券累積到一定數量，向店家進行兌換</a:t>
          </a:r>
        </a:p>
      </dsp:txBody>
      <dsp:txXfrm>
        <a:off x="3307799" y="0"/>
        <a:ext cx="2031548" cy="1052934"/>
      </dsp:txXfrm>
    </dsp:sp>
    <dsp:sp modelId="{05B1E3D4-3146-4D41-9466-4A8BA4E05830}">
      <dsp:nvSpPr>
        <dsp:cNvPr id="0" name=""/>
        <dsp:cNvSpPr/>
      </dsp:nvSpPr>
      <dsp:spPr>
        <a:xfrm>
          <a:off x="5557366" y="0"/>
          <a:ext cx="3084482" cy="1052934"/>
        </a:xfrm>
        <a:prstGeom prst="chevron">
          <a:avLst/>
        </a:prstGeom>
        <a:noFill/>
        <a:ln w="19050" cap="flat" cmpd="sng" algn="ctr">
          <a:solidFill>
            <a:schemeClr val="accent6">
              <a:lumMod val="50000"/>
            </a:schemeClr>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5"/>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zh-TW" altLang="en-US" sz="1600" b="1" kern="1200" dirty="0">
              <a:solidFill>
                <a:schemeClr val="tx1">
                  <a:lumMod val="75000"/>
                  <a:lumOff val="25000"/>
                </a:schemeClr>
              </a:solidFill>
              <a:latin typeface="微軟正黑體" panose="020B0604030504040204" pitchFamily="34" charset="-120"/>
              <a:ea typeface="微軟正黑體" panose="020B0604030504040204" pitchFamily="34" charset="-120"/>
            </a:rPr>
            <a:t>店家運送兌換物品給消費者</a:t>
          </a:r>
          <a:endPar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endParaRPr>
        </a:p>
      </dsp:txBody>
      <dsp:txXfrm>
        <a:off x="6083833" y="0"/>
        <a:ext cx="2031548" cy="1052934"/>
      </dsp:txXfrm>
    </dsp:sp>
    <dsp:sp modelId="{8ECCE2DC-F0E0-4824-973D-823880FF7785}">
      <dsp:nvSpPr>
        <dsp:cNvPr id="0" name=""/>
        <dsp:cNvSpPr/>
      </dsp:nvSpPr>
      <dsp:spPr>
        <a:xfrm>
          <a:off x="8333400" y="0"/>
          <a:ext cx="3084482" cy="1052934"/>
        </a:xfrm>
        <a:prstGeom prst="chevron">
          <a:avLst/>
        </a:prstGeom>
        <a:noFill/>
        <a:ln w="19050" cap="flat" cmpd="sng" algn="ctr">
          <a:solidFill>
            <a:srgbClr val="308071"/>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5"/>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zh-TW" altLang="en-US" sz="1600" b="1" kern="1200" dirty="0">
              <a:solidFill>
                <a:schemeClr val="tx1">
                  <a:lumMod val="75000"/>
                  <a:lumOff val="25000"/>
                </a:schemeClr>
              </a:solidFill>
              <a:latin typeface="微軟正黑體" panose="020B0604030504040204" pitchFamily="34" charset="-120"/>
              <a:ea typeface="微軟正黑體" panose="020B0604030504040204" pitchFamily="34" charset="-120"/>
            </a:rPr>
            <a:t>消費者可經由平台將點數或票券轉讓給其他消費者</a:t>
          </a:r>
        </a:p>
      </dsp:txBody>
      <dsp:txXfrm>
        <a:off x="8859867" y="0"/>
        <a:ext cx="2031548" cy="105293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D2E0BE-9DEC-4F2C-B1DC-CB10331A9EE2}">
      <dsp:nvSpPr>
        <dsp:cNvPr id="0" name=""/>
        <dsp:cNvSpPr/>
      </dsp:nvSpPr>
      <dsp:spPr>
        <a:xfrm>
          <a:off x="0" y="234173"/>
          <a:ext cx="9284730" cy="1344412"/>
        </a:xfrm>
        <a:prstGeom prst="rightArrow">
          <a:avLst>
            <a:gd name="adj1" fmla="val 50000"/>
            <a:gd name="adj2" fmla="val 50000"/>
          </a:avLst>
        </a:prstGeom>
        <a:solidFill>
          <a:srgbClr val="4B5B71"/>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254000" bIns="213426" numCol="1" spcCol="1270" anchor="ctr" anchorCtr="0">
          <a:noAutofit/>
        </a:bodyPr>
        <a:lstStyle/>
        <a:p>
          <a:pPr marL="0" lvl="0" indent="0" algn="l" defTabSz="889000">
            <a:lnSpc>
              <a:spcPct val="90000"/>
            </a:lnSpc>
            <a:spcBef>
              <a:spcPct val="0"/>
            </a:spcBef>
            <a:spcAft>
              <a:spcPct val="35000"/>
            </a:spcAft>
            <a:buNone/>
          </a:pPr>
          <a:r>
            <a:rPr lang="zh-TW" altLang="en-US" sz="2000" b="1" kern="1200" dirty="0">
              <a:solidFill>
                <a:sysClr val="window" lastClr="FFFFFF"/>
              </a:solidFill>
              <a:latin typeface="微軟正黑體" panose="020B0604030504040204" pitchFamily="34" charset="-120"/>
              <a:ea typeface="微軟正黑體" panose="020B0604030504040204" pitchFamily="34" charset="-120"/>
              <a:cs typeface="+mn-cs"/>
            </a:rPr>
            <a:t>短期</a:t>
          </a:r>
        </a:p>
      </dsp:txBody>
      <dsp:txXfrm>
        <a:off x="0" y="570276"/>
        <a:ext cx="8948627" cy="672206"/>
      </dsp:txXfrm>
    </dsp:sp>
    <dsp:sp modelId="{66D84170-3811-445D-970F-FA9DDB8B22EA}">
      <dsp:nvSpPr>
        <dsp:cNvPr id="0" name=""/>
        <dsp:cNvSpPr/>
      </dsp:nvSpPr>
      <dsp:spPr>
        <a:xfrm>
          <a:off x="0" y="1360298"/>
          <a:ext cx="2854181" cy="2597629"/>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7800" lvl="0" indent="-177800" algn="l" defTabSz="800100">
            <a:lnSpc>
              <a:spcPct val="90000"/>
            </a:lnSpc>
            <a:spcBef>
              <a:spcPct val="0"/>
            </a:spcBef>
            <a:spcAft>
              <a:spcPct val="35000"/>
            </a:spcAft>
            <a:buNone/>
          </a:pPr>
          <a:r>
            <a:rPr lang="en-US" altLang="zh-TW" sz="1800" b="1" kern="1200" dirty="0">
              <a:solidFill>
                <a:schemeClr val="tx2"/>
              </a:solidFill>
              <a:latin typeface="微軟正黑體" panose="020B0604030504040204" pitchFamily="34" charset="-120"/>
              <a:ea typeface="微軟正黑體" panose="020B0604030504040204" pitchFamily="34" charset="-120"/>
              <a:cs typeface="+mn-cs"/>
            </a:rPr>
            <a:t>1.</a:t>
          </a:r>
          <a:r>
            <a:rPr lang="zh-TW" altLang="en-US" sz="1800" b="1" kern="1200" dirty="0">
              <a:solidFill>
                <a:schemeClr val="tx2"/>
              </a:solidFill>
              <a:latin typeface="微軟正黑體" panose="020B0604030504040204" pitchFamily="34" charset="-120"/>
              <a:ea typeface="微軟正黑體" panose="020B0604030504040204" pitchFamily="34" charset="-120"/>
              <a:cs typeface="+mn-cs"/>
            </a:rPr>
            <a:t>發展第三階段混合商業聚落與商業聚落之間的相互交易</a:t>
          </a:r>
          <a:r>
            <a:rPr lang="en-US" altLang="zh-TW" sz="1800" b="1" kern="1200" dirty="0">
              <a:solidFill>
                <a:schemeClr val="tx2"/>
              </a:solidFill>
              <a:latin typeface="微軟正黑體" panose="020B0604030504040204" pitchFamily="34" charset="-120"/>
              <a:ea typeface="微軟正黑體" panose="020B0604030504040204" pitchFamily="34" charset="-120"/>
              <a:cs typeface="+mn-cs"/>
            </a:rPr>
            <a:t>Coupon</a:t>
          </a:r>
        </a:p>
        <a:p>
          <a:pPr marL="177800" lvl="0" indent="-177800" algn="l" defTabSz="800100">
            <a:lnSpc>
              <a:spcPct val="90000"/>
            </a:lnSpc>
            <a:spcBef>
              <a:spcPct val="0"/>
            </a:spcBef>
            <a:spcAft>
              <a:spcPct val="35000"/>
            </a:spcAft>
            <a:buNone/>
          </a:pPr>
          <a:r>
            <a:rPr lang="en-US" altLang="zh-TW" sz="1800" b="1" kern="1200" dirty="0">
              <a:solidFill>
                <a:schemeClr val="tx2"/>
              </a:solidFill>
              <a:latin typeface="微軟正黑體" panose="020B0604030504040204" pitchFamily="34" charset="-120"/>
              <a:ea typeface="微軟正黑體" panose="020B0604030504040204" pitchFamily="34" charset="-120"/>
              <a:cs typeface="+mn-cs"/>
            </a:rPr>
            <a:t>2.</a:t>
          </a:r>
          <a:r>
            <a:rPr lang="zh-TW" altLang="en-US" sz="1800" b="1" kern="1200" dirty="0">
              <a:solidFill>
                <a:schemeClr val="tx2"/>
              </a:solidFill>
              <a:latin typeface="微軟正黑體" panose="020B0604030504040204" pitchFamily="34" charset="-120"/>
              <a:ea typeface="微軟正黑體" panose="020B0604030504040204" pitchFamily="34" charset="-120"/>
              <a:cs typeface="+mn-cs"/>
            </a:rPr>
            <a:t>優化使用者介面及系統架構</a:t>
          </a:r>
          <a:endParaRPr lang="en-US" altLang="zh-TW" sz="1800" b="1" kern="1200" dirty="0">
            <a:solidFill>
              <a:schemeClr val="tx2"/>
            </a:solidFill>
            <a:latin typeface="微軟正黑體" panose="020B0604030504040204" pitchFamily="34" charset="-120"/>
            <a:ea typeface="微軟正黑體" panose="020B0604030504040204" pitchFamily="34" charset="-120"/>
            <a:cs typeface="+mn-cs"/>
          </a:endParaRPr>
        </a:p>
        <a:p>
          <a:pPr marL="177800" lvl="0" indent="-177800" algn="l" defTabSz="800100">
            <a:lnSpc>
              <a:spcPct val="90000"/>
            </a:lnSpc>
            <a:spcBef>
              <a:spcPct val="0"/>
            </a:spcBef>
            <a:spcAft>
              <a:spcPct val="35000"/>
            </a:spcAft>
            <a:buNone/>
          </a:pPr>
          <a:r>
            <a:rPr lang="en-US" altLang="zh-TW" sz="1800" b="1" kern="1200" dirty="0">
              <a:solidFill>
                <a:schemeClr val="tx2"/>
              </a:solidFill>
              <a:latin typeface="微軟正黑體" panose="020B0604030504040204" pitchFamily="34" charset="-120"/>
              <a:ea typeface="微軟正黑體" panose="020B0604030504040204" pitchFamily="34" charset="-120"/>
              <a:cs typeface="+mn-cs"/>
            </a:rPr>
            <a:t>3.</a:t>
          </a:r>
          <a:r>
            <a:rPr lang="zh-TW" altLang="en-US" sz="1800" b="1" kern="1200" dirty="0">
              <a:solidFill>
                <a:schemeClr val="tx2"/>
              </a:solidFill>
              <a:latin typeface="微軟正黑體" panose="020B0604030504040204" pitchFamily="34" charset="-120"/>
              <a:ea typeface="微軟正黑體" panose="020B0604030504040204" pitchFamily="34" charset="-120"/>
              <a:cs typeface="+mn-cs"/>
            </a:rPr>
            <a:t>開發其他載具的使用介面</a:t>
          </a:r>
          <a:endParaRPr lang="en-US" altLang="zh-TW" sz="1800" b="1" kern="1200" dirty="0">
            <a:solidFill>
              <a:schemeClr val="tx2"/>
            </a:solidFill>
            <a:latin typeface="微軟正黑體" panose="020B0604030504040204" pitchFamily="34" charset="-120"/>
            <a:ea typeface="微軟正黑體" panose="020B0604030504040204" pitchFamily="34" charset="-120"/>
            <a:cs typeface="+mn-cs"/>
          </a:endParaRPr>
        </a:p>
        <a:p>
          <a:pPr lvl="0" algn="l" defTabSz="800100">
            <a:lnSpc>
              <a:spcPct val="90000"/>
            </a:lnSpc>
            <a:spcBef>
              <a:spcPct val="0"/>
            </a:spcBef>
            <a:spcAft>
              <a:spcPct val="35000"/>
            </a:spcAft>
            <a:buNone/>
          </a:pPr>
          <a:endParaRPr lang="zh-TW" altLang="en-US" sz="1600" kern="1200" dirty="0">
            <a:solidFill>
              <a:schemeClr val="tx2"/>
            </a:solidFill>
            <a:latin typeface="微軟正黑體" panose="020B0604030504040204" pitchFamily="34" charset="-120"/>
            <a:ea typeface="微軟正黑體" panose="020B0604030504040204" pitchFamily="34" charset="-120"/>
            <a:cs typeface="+mn-cs"/>
          </a:endParaRPr>
        </a:p>
      </dsp:txBody>
      <dsp:txXfrm>
        <a:off x="0" y="1360298"/>
        <a:ext cx="2854181" cy="2597629"/>
      </dsp:txXfrm>
    </dsp:sp>
    <dsp:sp modelId="{B605A1A3-E8BD-4F2E-B866-B1E0644DF433}">
      <dsp:nvSpPr>
        <dsp:cNvPr id="0" name=""/>
        <dsp:cNvSpPr/>
      </dsp:nvSpPr>
      <dsp:spPr>
        <a:xfrm>
          <a:off x="2869976" y="682311"/>
          <a:ext cx="6387982" cy="1344412"/>
        </a:xfrm>
        <a:prstGeom prst="rightArrow">
          <a:avLst>
            <a:gd name="adj1" fmla="val 50000"/>
            <a:gd name="adj2" fmla="val 50000"/>
          </a:avLst>
        </a:prstGeom>
        <a:solidFill>
          <a:srgbClr val="DEA90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254000" bIns="213426" numCol="1" spcCol="1270" anchor="ctr" anchorCtr="0">
          <a:noAutofit/>
        </a:bodyPr>
        <a:lstStyle/>
        <a:p>
          <a:pPr marL="0" lvl="0" indent="0" algn="l" defTabSz="889000">
            <a:lnSpc>
              <a:spcPct val="90000"/>
            </a:lnSpc>
            <a:spcBef>
              <a:spcPct val="0"/>
            </a:spcBef>
            <a:spcAft>
              <a:spcPct val="35000"/>
            </a:spcAft>
            <a:buNone/>
          </a:pPr>
          <a:r>
            <a:rPr lang="zh-TW" altLang="en-US" sz="2000" b="1" kern="1200" dirty="0">
              <a:solidFill>
                <a:sysClr val="window" lastClr="FFFFFF"/>
              </a:solidFill>
              <a:latin typeface="微軟正黑體" panose="020B0604030504040204" pitchFamily="34" charset="-120"/>
              <a:ea typeface="微軟正黑體" panose="020B0604030504040204" pitchFamily="34" charset="-120"/>
              <a:cs typeface="+mn-cs"/>
            </a:rPr>
            <a:t>中期</a:t>
          </a:r>
        </a:p>
      </dsp:txBody>
      <dsp:txXfrm>
        <a:off x="2869976" y="1018414"/>
        <a:ext cx="6051879" cy="672206"/>
      </dsp:txXfrm>
    </dsp:sp>
    <dsp:sp modelId="{447D8689-6705-4E09-B9B7-97E65B59057F}">
      <dsp:nvSpPr>
        <dsp:cNvPr id="0" name=""/>
        <dsp:cNvSpPr/>
      </dsp:nvSpPr>
      <dsp:spPr>
        <a:xfrm>
          <a:off x="3117961" y="1848306"/>
          <a:ext cx="2516692" cy="2589834"/>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7800" lvl="0" indent="-177800" algn="l" defTabSz="800100">
            <a:lnSpc>
              <a:spcPct val="90000"/>
            </a:lnSpc>
            <a:spcBef>
              <a:spcPct val="0"/>
            </a:spcBef>
            <a:spcAft>
              <a:spcPct val="35000"/>
            </a:spcAft>
            <a:buNone/>
          </a:pPr>
          <a:r>
            <a:rPr lang="en-US" altLang="zh-TW" sz="1800" b="1" kern="1200" dirty="0">
              <a:solidFill>
                <a:srgbClr val="FFC000">
                  <a:lumMod val="50000"/>
                </a:srgbClr>
              </a:solidFill>
              <a:latin typeface="微軟正黑體" panose="020B0604030504040204" pitchFamily="34" charset="-120"/>
              <a:ea typeface="微軟正黑體" panose="020B0604030504040204" pitchFamily="34" charset="-120"/>
              <a:cs typeface="+mn-cs"/>
            </a:rPr>
            <a:t>1.</a:t>
          </a:r>
          <a:r>
            <a:rPr lang="zh-TW" altLang="en-US" sz="1800" b="1" kern="1200" dirty="0">
              <a:solidFill>
                <a:srgbClr val="FFC000">
                  <a:lumMod val="50000"/>
                </a:srgbClr>
              </a:solidFill>
              <a:latin typeface="微軟正黑體" panose="020B0604030504040204" pitchFamily="34" charset="-120"/>
              <a:ea typeface="微軟正黑體" panose="020B0604030504040204" pitchFamily="34" charset="-120"/>
              <a:cs typeface="+mn-cs"/>
            </a:rPr>
            <a:t>發展其他加值型系統</a:t>
          </a:r>
        </a:p>
        <a:p>
          <a:pPr marL="177800" lvl="0" indent="-177800" algn="l" defTabSz="800100">
            <a:lnSpc>
              <a:spcPct val="90000"/>
            </a:lnSpc>
            <a:spcBef>
              <a:spcPct val="0"/>
            </a:spcBef>
            <a:spcAft>
              <a:spcPct val="35000"/>
            </a:spcAft>
            <a:buNone/>
          </a:pPr>
          <a:r>
            <a:rPr lang="en-US" altLang="zh-TW" sz="1800" b="1" kern="1200" dirty="0">
              <a:solidFill>
                <a:srgbClr val="FFC000">
                  <a:lumMod val="50000"/>
                </a:srgbClr>
              </a:solidFill>
              <a:latin typeface="微軟正黑體" panose="020B0604030504040204" pitchFamily="34" charset="-120"/>
              <a:ea typeface="微軟正黑體" panose="020B0604030504040204" pitchFamily="34" charset="-120"/>
              <a:cs typeface="+mn-cs"/>
            </a:rPr>
            <a:t>2.</a:t>
          </a:r>
          <a:r>
            <a:rPr lang="zh-TW" altLang="en-US" sz="1800" b="1" kern="1200" dirty="0">
              <a:solidFill>
                <a:srgbClr val="FFC000">
                  <a:lumMod val="50000"/>
                </a:srgbClr>
              </a:solidFill>
              <a:latin typeface="微軟正黑體" panose="020B0604030504040204" pitchFamily="34" charset="-120"/>
              <a:ea typeface="微軟正黑體" panose="020B0604030504040204" pitchFamily="34" charset="-120"/>
              <a:cs typeface="+mn-cs"/>
            </a:rPr>
            <a:t>研究商業獲利模式</a:t>
          </a:r>
          <a:endParaRPr lang="en-US" altLang="zh-TW" sz="1800" b="1" kern="1200" dirty="0">
            <a:solidFill>
              <a:srgbClr val="FFC000">
                <a:lumMod val="50000"/>
              </a:srgbClr>
            </a:solidFill>
            <a:latin typeface="微軟正黑體" panose="020B0604030504040204" pitchFamily="34" charset="-120"/>
            <a:ea typeface="微軟正黑體" panose="020B0604030504040204" pitchFamily="34" charset="-120"/>
            <a:cs typeface="+mn-cs"/>
          </a:endParaRPr>
        </a:p>
        <a:p>
          <a:pPr marL="177800" lvl="0" indent="-177800" algn="l" defTabSz="800100">
            <a:lnSpc>
              <a:spcPct val="90000"/>
            </a:lnSpc>
            <a:spcBef>
              <a:spcPct val="0"/>
            </a:spcBef>
            <a:spcAft>
              <a:spcPct val="35000"/>
            </a:spcAft>
            <a:buNone/>
          </a:pPr>
          <a:r>
            <a:rPr lang="en-US" altLang="zh-TW" sz="1800" b="1" kern="1200" dirty="0">
              <a:solidFill>
                <a:srgbClr val="FFC000">
                  <a:lumMod val="50000"/>
                </a:srgbClr>
              </a:solidFill>
              <a:latin typeface="微軟正黑體" panose="020B0604030504040204" pitchFamily="34" charset="-120"/>
              <a:ea typeface="微軟正黑體" panose="020B0604030504040204" pitchFamily="34" charset="-120"/>
              <a:cs typeface="+mn-cs"/>
            </a:rPr>
            <a:t>3.</a:t>
          </a:r>
          <a:r>
            <a:rPr lang="zh-TW" altLang="en-US" sz="1800" b="1" kern="1200" dirty="0">
              <a:solidFill>
                <a:srgbClr val="FFC000">
                  <a:lumMod val="50000"/>
                </a:srgbClr>
              </a:solidFill>
              <a:latin typeface="微軟正黑體" panose="020B0604030504040204" pitchFamily="34" charset="-120"/>
              <a:ea typeface="微軟正黑體" panose="020B0604030504040204" pitchFamily="34" charset="-120"/>
              <a:cs typeface="+mn-cs"/>
            </a:rPr>
            <a:t>持續推廣系統</a:t>
          </a:r>
          <a:endParaRPr lang="en-US" altLang="zh-TW" sz="1800" b="1" kern="1200" dirty="0">
            <a:solidFill>
              <a:srgbClr val="FFC000">
                <a:lumMod val="50000"/>
              </a:srgbClr>
            </a:solidFill>
            <a:latin typeface="微軟正黑體" panose="020B0604030504040204" pitchFamily="34" charset="-120"/>
            <a:ea typeface="微軟正黑體" panose="020B0604030504040204" pitchFamily="34" charset="-120"/>
            <a:cs typeface="+mn-cs"/>
          </a:endParaRPr>
        </a:p>
        <a:p>
          <a:pPr marL="177800" lvl="0" indent="-177800" algn="l" defTabSz="800100">
            <a:lnSpc>
              <a:spcPct val="90000"/>
            </a:lnSpc>
            <a:spcBef>
              <a:spcPct val="0"/>
            </a:spcBef>
            <a:spcAft>
              <a:spcPct val="35000"/>
            </a:spcAft>
            <a:buNone/>
          </a:pPr>
          <a:r>
            <a:rPr lang="en-US" altLang="zh-TW" sz="1800" b="1" kern="1200" dirty="0">
              <a:solidFill>
                <a:srgbClr val="FFC000">
                  <a:lumMod val="50000"/>
                </a:srgbClr>
              </a:solidFill>
              <a:latin typeface="微軟正黑體" panose="020B0604030504040204" pitchFamily="34" charset="-120"/>
              <a:ea typeface="微軟正黑體" panose="020B0604030504040204" pitchFamily="34" charset="-120"/>
              <a:cs typeface="+mn-cs"/>
            </a:rPr>
            <a:t>4.</a:t>
          </a:r>
          <a:r>
            <a:rPr lang="zh-TW" altLang="en-US" sz="1800" b="1" kern="1200" dirty="0">
              <a:solidFill>
                <a:srgbClr val="FFC000">
                  <a:lumMod val="50000"/>
                </a:srgbClr>
              </a:solidFill>
              <a:latin typeface="微軟正黑體" panose="020B0604030504040204" pitchFamily="34" charset="-120"/>
              <a:ea typeface="微軟正黑體" panose="020B0604030504040204" pitchFamily="34" charset="-120"/>
              <a:cs typeface="+mn-cs"/>
            </a:rPr>
            <a:t>擴大服務範圍，加盟其他商家</a:t>
          </a:r>
          <a:endParaRPr lang="en-US" altLang="zh-TW" sz="1800" kern="1200" dirty="0">
            <a:solidFill>
              <a:sysClr val="windowText" lastClr="000000">
                <a:hueOff val="0"/>
                <a:satOff val="0"/>
                <a:lumOff val="0"/>
                <a:alphaOff val="0"/>
              </a:sysClr>
            </a:solidFill>
            <a:latin typeface="微軟正黑體" panose="020B0604030504040204" pitchFamily="34" charset="-120"/>
            <a:ea typeface="微軟正黑體" panose="020B0604030504040204" pitchFamily="34" charset="-120"/>
            <a:cs typeface="+mn-cs"/>
          </a:endParaRPr>
        </a:p>
      </dsp:txBody>
      <dsp:txXfrm>
        <a:off x="3117961" y="1848306"/>
        <a:ext cx="2516692" cy="2589834"/>
      </dsp:txXfrm>
    </dsp:sp>
    <dsp:sp modelId="{0979A3D9-DE2E-47C4-8C25-703C9857E0E9}">
      <dsp:nvSpPr>
        <dsp:cNvPr id="0" name=""/>
        <dsp:cNvSpPr/>
      </dsp:nvSpPr>
      <dsp:spPr>
        <a:xfrm>
          <a:off x="5713182" y="1130449"/>
          <a:ext cx="3544776" cy="1344412"/>
        </a:xfrm>
        <a:prstGeom prst="rightArrow">
          <a:avLst>
            <a:gd name="adj1" fmla="val 50000"/>
            <a:gd name="adj2" fmla="val 50000"/>
          </a:avLst>
        </a:prstGeom>
        <a:solidFill>
          <a:srgbClr val="70AD47">
            <a:lumMod val="7500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254000" bIns="213426" numCol="1" spcCol="1270" anchor="ctr" anchorCtr="0">
          <a:noAutofit/>
        </a:bodyPr>
        <a:lstStyle/>
        <a:p>
          <a:pPr marL="0" lvl="0" indent="0" algn="l" defTabSz="889000">
            <a:lnSpc>
              <a:spcPct val="90000"/>
            </a:lnSpc>
            <a:spcBef>
              <a:spcPct val="0"/>
            </a:spcBef>
            <a:spcAft>
              <a:spcPct val="35000"/>
            </a:spcAft>
            <a:buNone/>
          </a:pPr>
          <a:r>
            <a:rPr lang="zh-TW" altLang="en-US" sz="2000" b="1" kern="1200" dirty="0">
              <a:solidFill>
                <a:sysClr val="window" lastClr="FFFFFF"/>
              </a:solidFill>
              <a:latin typeface="微軟正黑體" panose="020B0604030504040204" pitchFamily="34" charset="-120"/>
              <a:ea typeface="微軟正黑體" panose="020B0604030504040204" pitchFamily="34" charset="-120"/>
              <a:cs typeface="+mn-cs"/>
            </a:rPr>
            <a:t>長期</a:t>
          </a:r>
        </a:p>
      </dsp:txBody>
      <dsp:txXfrm>
        <a:off x="5713182" y="1466552"/>
        <a:ext cx="3208673" cy="672206"/>
      </dsp:txXfrm>
    </dsp:sp>
    <dsp:sp modelId="{B9997BDA-8EB2-4882-89BC-26E48B4BCF41}">
      <dsp:nvSpPr>
        <dsp:cNvPr id="0" name=""/>
        <dsp:cNvSpPr/>
      </dsp:nvSpPr>
      <dsp:spPr>
        <a:xfrm>
          <a:off x="5901189" y="2314942"/>
          <a:ext cx="2910618" cy="2551931"/>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altLang="zh-TW" sz="1800" b="1" kern="1200" dirty="0">
              <a:solidFill>
                <a:srgbClr val="70AD47">
                  <a:lumMod val="50000"/>
                </a:srgbClr>
              </a:solidFill>
              <a:latin typeface="微軟正黑體" panose="020B0604030504040204" pitchFamily="34" charset="-120"/>
              <a:ea typeface="微軟正黑體" panose="020B0604030504040204" pitchFamily="34" charset="-120"/>
              <a:cs typeface="+mn-cs"/>
            </a:rPr>
            <a:t>1.</a:t>
          </a:r>
          <a:r>
            <a:rPr lang="zh-TW" altLang="en-US" sz="1800" b="1" kern="1200" dirty="0">
              <a:solidFill>
                <a:srgbClr val="70AD47">
                  <a:lumMod val="50000"/>
                </a:srgbClr>
              </a:solidFill>
              <a:latin typeface="微軟正黑體" panose="020B0604030504040204" pitchFamily="34" charset="-120"/>
              <a:ea typeface="微軟正黑體" panose="020B0604030504040204" pitchFamily="34" charset="-120"/>
              <a:cs typeface="+mn-cs"/>
            </a:rPr>
            <a:t>提高市場占有率</a:t>
          </a:r>
        </a:p>
        <a:p>
          <a:pPr marL="0" lvl="0" indent="0" algn="l" defTabSz="800100">
            <a:lnSpc>
              <a:spcPct val="90000"/>
            </a:lnSpc>
            <a:spcBef>
              <a:spcPct val="0"/>
            </a:spcBef>
            <a:spcAft>
              <a:spcPct val="35000"/>
            </a:spcAft>
            <a:buNone/>
          </a:pPr>
          <a:r>
            <a:rPr lang="en-US" altLang="zh-TW" sz="1800" b="1" kern="1200" dirty="0">
              <a:solidFill>
                <a:srgbClr val="70AD47">
                  <a:lumMod val="50000"/>
                </a:srgbClr>
              </a:solidFill>
              <a:latin typeface="微軟正黑體" panose="020B0604030504040204" pitchFamily="34" charset="-120"/>
              <a:ea typeface="微軟正黑體" panose="020B0604030504040204" pitchFamily="34" charset="-120"/>
              <a:cs typeface="+mn-cs"/>
            </a:rPr>
            <a:t>2.</a:t>
          </a:r>
          <a:r>
            <a:rPr lang="zh-TW" altLang="en-US" sz="1800" b="1" kern="1200" dirty="0">
              <a:solidFill>
                <a:srgbClr val="70AD47">
                  <a:lumMod val="50000"/>
                </a:srgbClr>
              </a:solidFill>
              <a:latin typeface="微軟正黑體" panose="020B0604030504040204" pitchFamily="34" charset="-120"/>
              <a:ea typeface="微軟正黑體" panose="020B0604030504040204" pitchFamily="34" charset="-120"/>
              <a:cs typeface="+mn-cs"/>
            </a:rPr>
            <a:t>降低市場紙張票券的流通</a:t>
          </a:r>
          <a:endParaRPr lang="en-US" altLang="zh-TW" sz="1800" b="1" kern="1200" dirty="0">
            <a:solidFill>
              <a:srgbClr val="70AD47">
                <a:lumMod val="50000"/>
              </a:srgbClr>
            </a:solidFill>
            <a:latin typeface="微軟正黑體" panose="020B0604030504040204" pitchFamily="34" charset="-120"/>
            <a:ea typeface="微軟正黑體" panose="020B0604030504040204" pitchFamily="34" charset="-120"/>
            <a:cs typeface="+mn-cs"/>
          </a:endParaRPr>
        </a:p>
        <a:p>
          <a:pPr marL="0" lvl="0" indent="0" algn="l" defTabSz="800100">
            <a:lnSpc>
              <a:spcPct val="90000"/>
            </a:lnSpc>
            <a:spcBef>
              <a:spcPct val="0"/>
            </a:spcBef>
            <a:spcAft>
              <a:spcPct val="35000"/>
            </a:spcAft>
            <a:buNone/>
          </a:pPr>
          <a:r>
            <a:rPr lang="en-US" altLang="zh-TW" sz="1800" b="1" kern="1200" dirty="0">
              <a:solidFill>
                <a:srgbClr val="70AD47">
                  <a:lumMod val="50000"/>
                </a:srgbClr>
              </a:solidFill>
              <a:latin typeface="微軟正黑體" panose="020B0604030504040204" pitchFamily="34" charset="-120"/>
              <a:ea typeface="微軟正黑體" panose="020B0604030504040204" pitchFamily="34" charset="-120"/>
              <a:cs typeface="+mn-cs"/>
            </a:rPr>
            <a:t>3.</a:t>
          </a:r>
          <a:r>
            <a:rPr lang="zh-TW" altLang="en-US" sz="1800" b="1" kern="1200" dirty="0">
              <a:solidFill>
                <a:srgbClr val="70AD47">
                  <a:lumMod val="50000"/>
                </a:srgbClr>
              </a:solidFill>
              <a:latin typeface="微軟正黑體" panose="020B0604030504040204" pitchFamily="34" charset="-120"/>
              <a:ea typeface="微軟正黑體" panose="020B0604030504040204" pitchFamily="34" charset="-120"/>
              <a:cs typeface="+mn-cs"/>
            </a:rPr>
            <a:t>跨足多領域的票券應用</a:t>
          </a:r>
          <a:endParaRPr lang="en-US" altLang="zh-TW" sz="1800" b="1" kern="1200" dirty="0">
            <a:solidFill>
              <a:srgbClr val="70AD47">
                <a:lumMod val="50000"/>
              </a:srgbClr>
            </a:solidFill>
            <a:latin typeface="微軟正黑體" panose="020B0604030504040204" pitchFamily="34" charset="-120"/>
            <a:ea typeface="微軟正黑體" panose="020B0604030504040204" pitchFamily="34" charset="-120"/>
            <a:cs typeface="+mn-cs"/>
          </a:endParaRPr>
        </a:p>
        <a:p>
          <a:pPr marL="0" lvl="0" indent="0" algn="l" defTabSz="711200">
            <a:lnSpc>
              <a:spcPct val="90000"/>
            </a:lnSpc>
            <a:spcBef>
              <a:spcPct val="0"/>
            </a:spcBef>
            <a:spcAft>
              <a:spcPct val="35000"/>
            </a:spcAft>
            <a:buNone/>
          </a:pPr>
          <a:endParaRPr lang="en-US" altLang="zh-TW" sz="1600" kern="1200" dirty="0">
            <a:solidFill>
              <a:sysClr val="windowText" lastClr="000000">
                <a:hueOff val="0"/>
                <a:satOff val="0"/>
                <a:lumOff val="0"/>
                <a:alphaOff val="0"/>
              </a:sysClr>
            </a:solidFill>
            <a:latin typeface="微軟正黑體" panose="020B0604030504040204" pitchFamily="34" charset="-120"/>
            <a:ea typeface="微軟正黑體" panose="020B0604030504040204" pitchFamily="34" charset="-120"/>
            <a:cs typeface="+mn-cs"/>
          </a:endParaRPr>
        </a:p>
      </dsp:txBody>
      <dsp:txXfrm>
        <a:off x="5901189" y="2314942"/>
        <a:ext cx="2910618" cy="255193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419AB-295B-4AC9-BB13-2985EA21FE65}">
      <dsp:nvSpPr>
        <dsp:cNvPr id="0" name=""/>
        <dsp:cNvSpPr/>
      </dsp:nvSpPr>
      <dsp:spPr>
        <a:xfrm>
          <a:off x="9307" y="0"/>
          <a:ext cx="2781809" cy="1540183"/>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消費者依網路商店提供的商品，進行挑選採購</a:t>
          </a:r>
        </a:p>
      </dsp:txBody>
      <dsp:txXfrm>
        <a:off x="54417" y="45110"/>
        <a:ext cx="2691589" cy="1449963"/>
      </dsp:txXfrm>
    </dsp:sp>
    <dsp:sp modelId="{6DC3DB55-2E6D-4E9C-86C0-CF22949AE499}">
      <dsp:nvSpPr>
        <dsp:cNvPr id="0" name=""/>
        <dsp:cNvSpPr/>
      </dsp:nvSpPr>
      <dsp:spPr>
        <a:xfrm>
          <a:off x="3069297" y="425147"/>
          <a:ext cx="589743" cy="6898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zh-TW" altLang="en-US" sz="2000" b="1" kern="1200">
            <a:latin typeface="微軟正黑體" panose="020B0604030504040204" pitchFamily="34" charset="-120"/>
            <a:ea typeface="微軟正黑體" panose="020B0604030504040204" pitchFamily="34" charset="-120"/>
          </a:endParaRPr>
        </a:p>
      </dsp:txBody>
      <dsp:txXfrm>
        <a:off x="3069297" y="563125"/>
        <a:ext cx="412820" cy="413932"/>
      </dsp:txXfrm>
    </dsp:sp>
    <dsp:sp modelId="{D5000E0A-0118-4238-8E7F-E7E525C926DF}">
      <dsp:nvSpPr>
        <dsp:cNvPr id="0" name=""/>
        <dsp:cNvSpPr/>
      </dsp:nvSpPr>
      <dsp:spPr>
        <a:xfrm>
          <a:off x="3903840" y="0"/>
          <a:ext cx="2781809" cy="1540183"/>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消費者先下單，預撥款項至第三方支付業者的帳戶平台，由其存放於銀行</a:t>
          </a:r>
        </a:p>
      </dsp:txBody>
      <dsp:txXfrm>
        <a:off x="3948950" y="45110"/>
        <a:ext cx="2691589" cy="1449963"/>
      </dsp:txXfrm>
    </dsp:sp>
    <dsp:sp modelId="{4EA4A8F4-7403-46B2-8305-1C366D8F8FD8}">
      <dsp:nvSpPr>
        <dsp:cNvPr id="0" name=""/>
        <dsp:cNvSpPr/>
      </dsp:nvSpPr>
      <dsp:spPr>
        <a:xfrm>
          <a:off x="6963831" y="425147"/>
          <a:ext cx="589743" cy="6898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zh-TW" altLang="en-US" sz="2000" b="1" kern="1200">
            <a:latin typeface="微軟正黑體" panose="020B0604030504040204" pitchFamily="34" charset="-120"/>
            <a:ea typeface="微軟正黑體" panose="020B0604030504040204" pitchFamily="34" charset="-120"/>
          </a:endParaRPr>
        </a:p>
      </dsp:txBody>
      <dsp:txXfrm>
        <a:off x="6963831" y="563125"/>
        <a:ext cx="412820" cy="413932"/>
      </dsp:txXfrm>
    </dsp:sp>
    <dsp:sp modelId="{9C0B906D-E1BA-47D7-B0E0-826A08F6593B}">
      <dsp:nvSpPr>
        <dsp:cNvPr id="0" name=""/>
        <dsp:cNvSpPr/>
      </dsp:nvSpPr>
      <dsp:spPr>
        <a:xfrm>
          <a:off x="7798374" y="0"/>
          <a:ext cx="2781809" cy="1540183"/>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網路商店透過物流，將商品寄送至消費者指定地址</a:t>
          </a:r>
        </a:p>
      </dsp:txBody>
      <dsp:txXfrm>
        <a:off x="7843484" y="45110"/>
        <a:ext cx="2691589" cy="144996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419AB-295B-4AC9-BB13-2985EA21FE65}">
      <dsp:nvSpPr>
        <dsp:cNvPr id="0" name=""/>
        <dsp:cNvSpPr/>
      </dsp:nvSpPr>
      <dsp:spPr>
        <a:xfrm>
          <a:off x="9307" y="0"/>
          <a:ext cx="2781809" cy="1618653"/>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消費者在收到商品時，必須向第三方支付業者發出撥款的訊息</a:t>
          </a:r>
        </a:p>
      </dsp:txBody>
      <dsp:txXfrm>
        <a:off x="56716" y="47409"/>
        <a:ext cx="2686991" cy="1523835"/>
      </dsp:txXfrm>
    </dsp:sp>
    <dsp:sp modelId="{6DC3DB55-2E6D-4E9C-86C0-CF22949AE499}">
      <dsp:nvSpPr>
        <dsp:cNvPr id="0" name=""/>
        <dsp:cNvSpPr/>
      </dsp:nvSpPr>
      <dsp:spPr>
        <a:xfrm>
          <a:off x="3069297" y="464382"/>
          <a:ext cx="589743" cy="6898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zh-TW" altLang="en-US" sz="2000" b="1" kern="1200">
            <a:solidFill>
              <a:schemeClr val="tx1">
                <a:lumMod val="75000"/>
                <a:lumOff val="25000"/>
              </a:schemeClr>
            </a:solidFill>
            <a:latin typeface="微軟正黑體" panose="020B0604030504040204" pitchFamily="34" charset="-120"/>
            <a:ea typeface="微軟正黑體" panose="020B0604030504040204" pitchFamily="34" charset="-120"/>
          </a:endParaRPr>
        </a:p>
      </dsp:txBody>
      <dsp:txXfrm>
        <a:off x="3069297" y="602360"/>
        <a:ext cx="412820" cy="413932"/>
      </dsp:txXfrm>
    </dsp:sp>
    <dsp:sp modelId="{D5000E0A-0118-4238-8E7F-E7E525C926DF}">
      <dsp:nvSpPr>
        <dsp:cNvPr id="0" name=""/>
        <dsp:cNvSpPr/>
      </dsp:nvSpPr>
      <dsp:spPr>
        <a:xfrm>
          <a:off x="3903840" y="0"/>
          <a:ext cx="2781809" cy="1618653"/>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收到撥款通知時，由第三方支付業者進行款項撥付</a:t>
          </a:r>
        </a:p>
      </dsp:txBody>
      <dsp:txXfrm>
        <a:off x="3951249" y="47409"/>
        <a:ext cx="2686991" cy="1523835"/>
      </dsp:txXfrm>
    </dsp:sp>
    <dsp:sp modelId="{4EA4A8F4-7403-46B2-8305-1C366D8F8FD8}">
      <dsp:nvSpPr>
        <dsp:cNvPr id="0" name=""/>
        <dsp:cNvSpPr/>
      </dsp:nvSpPr>
      <dsp:spPr>
        <a:xfrm>
          <a:off x="6963831" y="464382"/>
          <a:ext cx="589743" cy="6898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zh-TW" altLang="en-US" sz="2000" b="1" kern="1200">
            <a:solidFill>
              <a:schemeClr val="tx1">
                <a:lumMod val="75000"/>
                <a:lumOff val="25000"/>
              </a:schemeClr>
            </a:solidFill>
            <a:latin typeface="微軟正黑體" panose="020B0604030504040204" pitchFamily="34" charset="-120"/>
            <a:ea typeface="微軟正黑體" panose="020B0604030504040204" pitchFamily="34" charset="-120"/>
          </a:endParaRPr>
        </a:p>
      </dsp:txBody>
      <dsp:txXfrm>
        <a:off x="6963831" y="602360"/>
        <a:ext cx="412820" cy="413932"/>
      </dsp:txXfrm>
    </dsp:sp>
    <dsp:sp modelId="{9C0B906D-E1BA-47D7-B0E0-826A08F6593B}">
      <dsp:nvSpPr>
        <dsp:cNvPr id="0" name=""/>
        <dsp:cNvSpPr/>
      </dsp:nvSpPr>
      <dsp:spPr>
        <a:xfrm>
          <a:off x="7798374" y="0"/>
          <a:ext cx="2781809" cy="1618653"/>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網路商店確認款項金額後，支付交易手續費給第三方支付業者</a:t>
          </a:r>
        </a:p>
      </dsp:txBody>
      <dsp:txXfrm>
        <a:off x="7845783" y="47409"/>
        <a:ext cx="2686991" cy="152383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419AB-295B-4AC9-BB13-2985EA21FE65}">
      <dsp:nvSpPr>
        <dsp:cNvPr id="0" name=""/>
        <dsp:cNvSpPr/>
      </dsp:nvSpPr>
      <dsp:spPr>
        <a:xfrm>
          <a:off x="9307" y="0"/>
          <a:ext cx="2781809" cy="1540183"/>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捐款人向受捐款機構或公益團體提出有意捐款動作，包含發訊息、提出申請等</a:t>
          </a:r>
        </a:p>
      </dsp:txBody>
      <dsp:txXfrm>
        <a:off x="54417" y="45110"/>
        <a:ext cx="2691589" cy="1449963"/>
      </dsp:txXfrm>
    </dsp:sp>
    <dsp:sp modelId="{6DC3DB55-2E6D-4E9C-86C0-CF22949AE499}">
      <dsp:nvSpPr>
        <dsp:cNvPr id="0" name=""/>
        <dsp:cNvSpPr/>
      </dsp:nvSpPr>
      <dsp:spPr>
        <a:xfrm>
          <a:off x="3069297" y="425147"/>
          <a:ext cx="589743" cy="6898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zh-TW" altLang="en-US" sz="2000" b="1" kern="1200">
            <a:latin typeface="微軟正黑體" panose="020B0604030504040204" pitchFamily="34" charset="-120"/>
            <a:ea typeface="微軟正黑體" panose="020B0604030504040204" pitchFamily="34" charset="-120"/>
          </a:endParaRPr>
        </a:p>
      </dsp:txBody>
      <dsp:txXfrm>
        <a:off x="3069297" y="563125"/>
        <a:ext cx="412820" cy="413932"/>
      </dsp:txXfrm>
    </dsp:sp>
    <dsp:sp modelId="{D5000E0A-0118-4238-8E7F-E7E525C926DF}">
      <dsp:nvSpPr>
        <dsp:cNvPr id="0" name=""/>
        <dsp:cNvSpPr/>
      </dsp:nvSpPr>
      <dsp:spPr>
        <a:xfrm>
          <a:off x="3903840" y="0"/>
          <a:ext cx="2781809" cy="1540183"/>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當捐款人確定捐款，可以逕向支付寶或第三方支付平台預撥要捐贈的款項</a:t>
          </a:r>
        </a:p>
      </dsp:txBody>
      <dsp:txXfrm>
        <a:off x="3948950" y="45110"/>
        <a:ext cx="2691589" cy="1449963"/>
      </dsp:txXfrm>
    </dsp:sp>
    <dsp:sp modelId="{4EA4A8F4-7403-46B2-8305-1C366D8F8FD8}">
      <dsp:nvSpPr>
        <dsp:cNvPr id="0" name=""/>
        <dsp:cNvSpPr/>
      </dsp:nvSpPr>
      <dsp:spPr>
        <a:xfrm>
          <a:off x="6963831" y="425147"/>
          <a:ext cx="589743" cy="6898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zh-TW" altLang="en-US" sz="2000" b="1" kern="1200">
            <a:latin typeface="微軟正黑體" panose="020B0604030504040204" pitchFamily="34" charset="-120"/>
            <a:ea typeface="微軟正黑體" panose="020B0604030504040204" pitchFamily="34" charset="-120"/>
          </a:endParaRPr>
        </a:p>
      </dsp:txBody>
      <dsp:txXfrm>
        <a:off x="6963831" y="563125"/>
        <a:ext cx="412820" cy="413932"/>
      </dsp:txXfrm>
    </dsp:sp>
    <dsp:sp modelId="{9C0B906D-E1BA-47D7-B0E0-826A08F6593B}">
      <dsp:nvSpPr>
        <dsp:cNvPr id="0" name=""/>
        <dsp:cNvSpPr/>
      </dsp:nvSpPr>
      <dsp:spPr>
        <a:xfrm>
          <a:off x="7798374" y="0"/>
          <a:ext cx="2781809" cy="1540183"/>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支付平台收到捐款人的預撥款項，即轉撥付至受捐款機構或公益團體</a:t>
          </a:r>
        </a:p>
      </dsp:txBody>
      <dsp:txXfrm>
        <a:off x="7843484" y="45110"/>
        <a:ext cx="2691589" cy="144996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419AB-295B-4AC9-BB13-2985EA21FE65}">
      <dsp:nvSpPr>
        <dsp:cNvPr id="0" name=""/>
        <dsp:cNvSpPr/>
      </dsp:nvSpPr>
      <dsp:spPr>
        <a:xfrm>
          <a:off x="9307" y="0"/>
          <a:ext cx="2781809" cy="1618653"/>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受捐款機構或公益團體收到款項時，寄發捐款成功的證明文件給捐款人</a:t>
          </a:r>
        </a:p>
      </dsp:txBody>
      <dsp:txXfrm>
        <a:off x="56716" y="47409"/>
        <a:ext cx="2686991" cy="1523835"/>
      </dsp:txXfrm>
    </dsp:sp>
    <dsp:sp modelId="{6DC3DB55-2E6D-4E9C-86C0-CF22949AE499}">
      <dsp:nvSpPr>
        <dsp:cNvPr id="0" name=""/>
        <dsp:cNvSpPr/>
      </dsp:nvSpPr>
      <dsp:spPr>
        <a:xfrm>
          <a:off x="3069297" y="464382"/>
          <a:ext cx="589743" cy="6898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zh-TW" altLang="en-US" sz="2000" b="1" kern="1200">
            <a:solidFill>
              <a:schemeClr val="tx1">
                <a:lumMod val="75000"/>
                <a:lumOff val="25000"/>
              </a:schemeClr>
            </a:solidFill>
            <a:latin typeface="微軟正黑體" panose="020B0604030504040204" pitchFamily="34" charset="-120"/>
            <a:ea typeface="微軟正黑體" panose="020B0604030504040204" pitchFamily="34" charset="-120"/>
          </a:endParaRPr>
        </a:p>
      </dsp:txBody>
      <dsp:txXfrm>
        <a:off x="3069297" y="602360"/>
        <a:ext cx="412820" cy="413932"/>
      </dsp:txXfrm>
    </dsp:sp>
    <dsp:sp modelId="{D5000E0A-0118-4238-8E7F-E7E525C926DF}">
      <dsp:nvSpPr>
        <dsp:cNvPr id="0" name=""/>
        <dsp:cNvSpPr/>
      </dsp:nvSpPr>
      <dsp:spPr>
        <a:xfrm>
          <a:off x="3903840" y="0"/>
          <a:ext cx="2781809" cy="1618653"/>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當款項未撥付給受捐款機構或公益團體前，會先放至螞蟻金服進行保管</a:t>
          </a:r>
        </a:p>
      </dsp:txBody>
      <dsp:txXfrm>
        <a:off x="3951249" y="47409"/>
        <a:ext cx="2686991" cy="1523835"/>
      </dsp:txXfrm>
    </dsp:sp>
    <dsp:sp modelId="{4EA4A8F4-7403-46B2-8305-1C366D8F8FD8}">
      <dsp:nvSpPr>
        <dsp:cNvPr id="0" name=""/>
        <dsp:cNvSpPr/>
      </dsp:nvSpPr>
      <dsp:spPr>
        <a:xfrm>
          <a:off x="6963831" y="464382"/>
          <a:ext cx="589743" cy="6898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zh-TW" altLang="en-US" sz="2000" b="1" kern="1200">
            <a:solidFill>
              <a:schemeClr val="tx1">
                <a:lumMod val="75000"/>
                <a:lumOff val="25000"/>
              </a:schemeClr>
            </a:solidFill>
            <a:latin typeface="微軟正黑體" panose="020B0604030504040204" pitchFamily="34" charset="-120"/>
            <a:ea typeface="微軟正黑體" panose="020B0604030504040204" pitchFamily="34" charset="-120"/>
          </a:endParaRPr>
        </a:p>
      </dsp:txBody>
      <dsp:txXfrm>
        <a:off x="6963831" y="602360"/>
        <a:ext cx="412820" cy="413932"/>
      </dsp:txXfrm>
    </dsp:sp>
    <dsp:sp modelId="{9C0B906D-E1BA-47D7-B0E0-826A08F6593B}">
      <dsp:nvSpPr>
        <dsp:cNvPr id="0" name=""/>
        <dsp:cNvSpPr/>
      </dsp:nvSpPr>
      <dsp:spPr>
        <a:xfrm>
          <a:off x="7798374" y="0"/>
          <a:ext cx="2781809" cy="1618653"/>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受捐款機構或公益團體將善款轉付給受捐人</a:t>
          </a:r>
        </a:p>
      </dsp:txBody>
      <dsp:txXfrm>
        <a:off x="7845783" y="47409"/>
        <a:ext cx="2686991" cy="152383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419AB-295B-4AC9-BB13-2985EA21FE65}">
      <dsp:nvSpPr>
        <dsp:cNvPr id="0" name=""/>
        <dsp:cNvSpPr/>
      </dsp:nvSpPr>
      <dsp:spPr>
        <a:xfrm>
          <a:off x="1488" y="0"/>
          <a:ext cx="3173712" cy="1721241"/>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捐款人直接向受捐款人提出有意捐款的訊息</a:t>
          </a:r>
        </a:p>
      </dsp:txBody>
      <dsp:txXfrm>
        <a:off x="51901" y="50413"/>
        <a:ext cx="3072886" cy="1620415"/>
      </dsp:txXfrm>
    </dsp:sp>
    <dsp:sp modelId="{6DC3DB55-2E6D-4E9C-86C0-CF22949AE499}">
      <dsp:nvSpPr>
        <dsp:cNvPr id="0" name=""/>
        <dsp:cNvSpPr/>
      </dsp:nvSpPr>
      <dsp:spPr>
        <a:xfrm>
          <a:off x="3492571" y="467080"/>
          <a:ext cx="672827" cy="78708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TW" altLang="en-US" sz="1800" b="1" kern="1200">
            <a:latin typeface="微軟正黑體" panose="020B0604030504040204" pitchFamily="34" charset="-120"/>
            <a:ea typeface="微軟正黑體" panose="020B0604030504040204" pitchFamily="34" charset="-120"/>
          </a:endParaRPr>
        </a:p>
      </dsp:txBody>
      <dsp:txXfrm>
        <a:off x="3492571" y="624496"/>
        <a:ext cx="470979" cy="472248"/>
      </dsp:txXfrm>
    </dsp:sp>
    <dsp:sp modelId="{D5000E0A-0118-4238-8E7F-E7E525C926DF}">
      <dsp:nvSpPr>
        <dsp:cNvPr id="0" name=""/>
        <dsp:cNvSpPr/>
      </dsp:nvSpPr>
      <dsp:spPr>
        <a:xfrm>
          <a:off x="4444685" y="0"/>
          <a:ext cx="3173712" cy="1721241"/>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捐款人可以逕向螞蟻金服支付寶愛心捐贈平台預撥要捐贈的金額</a:t>
          </a:r>
        </a:p>
      </dsp:txBody>
      <dsp:txXfrm>
        <a:off x="4495098" y="50413"/>
        <a:ext cx="3072886" cy="162041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419AB-295B-4AC9-BB13-2985EA21FE65}">
      <dsp:nvSpPr>
        <dsp:cNvPr id="0" name=""/>
        <dsp:cNvSpPr/>
      </dsp:nvSpPr>
      <dsp:spPr>
        <a:xfrm>
          <a:off x="1488" y="0"/>
          <a:ext cx="3173712" cy="1721240"/>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捐贈平台收到捐款人預撥的款項，將款項金額轉撥至受捐款人</a:t>
          </a:r>
        </a:p>
      </dsp:txBody>
      <dsp:txXfrm>
        <a:off x="51901" y="50413"/>
        <a:ext cx="3072886" cy="1620414"/>
      </dsp:txXfrm>
    </dsp:sp>
    <dsp:sp modelId="{6DC3DB55-2E6D-4E9C-86C0-CF22949AE499}">
      <dsp:nvSpPr>
        <dsp:cNvPr id="0" name=""/>
        <dsp:cNvSpPr/>
      </dsp:nvSpPr>
      <dsp:spPr>
        <a:xfrm>
          <a:off x="3492571" y="467079"/>
          <a:ext cx="672827" cy="78708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zh-TW" altLang="en-US" sz="2300" b="1" kern="1200">
            <a:solidFill>
              <a:schemeClr val="tx1">
                <a:lumMod val="75000"/>
                <a:lumOff val="25000"/>
              </a:schemeClr>
            </a:solidFill>
            <a:latin typeface="微軟正黑體" panose="020B0604030504040204" pitchFamily="34" charset="-120"/>
            <a:ea typeface="微軟正黑體" panose="020B0604030504040204" pitchFamily="34" charset="-120"/>
          </a:endParaRPr>
        </a:p>
      </dsp:txBody>
      <dsp:txXfrm>
        <a:off x="3492571" y="624495"/>
        <a:ext cx="470979" cy="472248"/>
      </dsp:txXfrm>
    </dsp:sp>
    <dsp:sp modelId="{D5000E0A-0118-4238-8E7F-E7E525C926DF}">
      <dsp:nvSpPr>
        <dsp:cNvPr id="0" name=""/>
        <dsp:cNvSpPr/>
      </dsp:nvSpPr>
      <dsp:spPr>
        <a:xfrm>
          <a:off x="4444685" y="0"/>
          <a:ext cx="3173712" cy="1721240"/>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受捐款人收到所轉付的捐款，寄發捐款成功的證明文件給捐款人</a:t>
          </a:r>
        </a:p>
      </dsp:txBody>
      <dsp:txXfrm>
        <a:off x="4495098" y="50413"/>
        <a:ext cx="3072886" cy="162041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419AB-295B-4AC9-BB13-2985EA21FE65}">
      <dsp:nvSpPr>
        <dsp:cNvPr id="0" name=""/>
        <dsp:cNvSpPr/>
      </dsp:nvSpPr>
      <dsp:spPr>
        <a:xfrm>
          <a:off x="14468" y="0"/>
          <a:ext cx="2779093" cy="1540183"/>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捐款人向受捐機構或公益團體提出有意捐款的訊息</a:t>
          </a:r>
        </a:p>
      </dsp:txBody>
      <dsp:txXfrm>
        <a:off x="59578" y="45110"/>
        <a:ext cx="2688873" cy="1449963"/>
      </dsp:txXfrm>
    </dsp:sp>
    <dsp:sp modelId="{6DC3DB55-2E6D-4E9C-86C0-CF22949AE499}">
      <dsp:nvSpPr>
        <dsp:cNvPr id="0" name=""/>
        <dsp:cNvSpPr/>
      </dsp:nvSpPr>
      <dsp:spPr>
        <a:xfrm>
          <a:off x="3071471" y="425483"/>
          <a:ext cx="589167" cy="68921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zh-TW" altLang="en-US" sz="2000" b="1" kern="1200">
            <a:latin typeface="微軟正黑體" panose="020B0604030504040204" pitchFamily="34" charset="-120"/>
            <a:ea typeface="微軟正黑體" panose="020B0604030504040204" pitchFamily="34" charset="-120"/>
          </a:endParaRPr>
        </a:p>
      </dsp:txBody>
      <dsp:txXfrm>
        <a:off x="3071471" y="563326"/>
        <a:ext cx="412417" cy="413529"/>
      </dsp:txXfrm>
    </dsp:sp>
    <dsp:sp modelId="{D5000E0A-0118-4238-8E7F-E7E525C926DF}">
      <dsp:nvSpPr>
        <dsp:cNvPr id="0" name=""/>
        <dsp:cNvSpPr/>
      </dsp:nvSpPr>
      <dsp:spPr>
        <a:xfrm>
          <a:off x="3905198" y="0"/>
          <a:ext cx="2779093" cy="1540183"/>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捐款人將所要捐款的金額轉付至支付寶的交易平台</a:t>
          </a:r>
        </a:p>
      </dsp:txBody>
      <dsp:txXfrm>
        <a:off x="3950308" y="45110"/>
        <a:ext cx="2688873" cy="1449963"/>
      </dsp:txXfrm>
    </dsp:sp>
    <dsp:sp modelId="{4EA4A8F4-7403-46B2-8305-1C366D8F8FD8}">
      <dsp:nvSpPr>
        <dsp:cNvPr id="0" name=""/>
        <dsp:cNvSpPr/>
      </dsp:nvSpPr>
      <dsp:spPr>
        <a:xfrm>
          <a:off x="6962201" y="425483"/>
          <a:ext cx="589167" cy="68921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zh-TW" altLang="en-US" sz="2000" b="1" kern="1200">
            <a:latin typeface="微軟正黑體" panose="020B0604030504040204" pitchFamily="34" charset="-120"/>
            <a:ea typeface="微軟正黑體" panose="020B0604030504040204" pitchFamily="34" charset="-120"/>
          </a:endParaRPr>
        </a:p>
      </dsp:txBody>
      <dsp:txXfrm>
        <a:off x="6962201" y="563326"/>
        <a:ext cx="412417" cy="413529"/>
      </dsp:txXfrm>
    </dsp:sp>
    <dsp:sp modelId="{9C0B906D-E1BA-47D7-B0E0-826A08F6593B}">
      <dsp:nvSpPr>
        <dsp:cNvPr id="0" name=""/>
        <dsp:cNvSpPr/>
      </dsp:nvSpPr>
      <dsp:spPr>
        <a:xfrm>
          <a:off x="7795929" y="0"/>
          <a:ext cx="2779093" cy="1540183"/>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當支付寶愛心捐贈平台收到捐款人的款項金額後， 即將款項金額轉付給捐款機構或公益團體</a:t>
          </a:r>
        </a:p>
      </dsp:txBody>
      <dsp:txXfrm>
        <a:off x="7841039" y="45110"/>
        <a:ext cx="2688873" cy="144996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419AB-295B-4AC9-BB13-2985EA21FE65}">
      <dsp:nvSpPr>
        <dsp:cNvPr id="0" name=""/>
        <dsp:cNvSpPr/>
      </dsp:nvSpPr>
      <dsp:spPr>
        <a:xfrm>
          <a:off x="14468" y="0"/>
          <a:ext cx="2779093" cy="1618653"/>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捐款機構或公益團體在收到支付寶的款項後，將收到的捐款成功等證明文件，寄給捐款人</a:t>
          </a:r>
        </a:p>
      </dsp:txBody>
      <dsp:txXfrm>
        <a:off x="61877" y="47409"/>
        <a:ext cx="2684275" cy="1523835"/>
      </dsp:txXfrm>
    </dsp:sp>
    <dsp:sp modelId="{6DC3DB55-2E6D-4E9C-86C0-CF22949AE499}">
      <dsp:nvSpPr>
        <dsp:cNvPr id="0" name=""/>
        <dsp:cNvSpPr/>
      </dsp:nvSpPr>
      <dsp:spPr>
        <a:xfrm>
          <a:off x="3071471" y="464718"/>
          <a:ext cx="589167" cy="68921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zh-TW" altLang="en-US" sz="2000" b="1" kern="1200">
            <a:solidFill>
              <a:schemeClr val="tx1">
                <a:lumMod val="75000"/>
                <a:lumOff val="25000"/>
              </a:schemeClr>
            </a:solidFill>
            <a:latin typeface="微軟正黑體" panose="020B0604030504040204" pitchFamily="34" charset="-120"/>
            <a:ea typeface="微軟正黑體" panose="020B0604030504040204" pitchFamily="34" charset="-120"/>
          </a:endParaRPr>
        </a:p>
      </dsp:txBody>
      <dsp:txXfrm>
        <a:off x="3071471" y="602561"/>
        <a:ext cx="412417" cy="413529"/>
      </dsp:txXfrm>
    </dsp:sp>
    <dsp:sp modelId="{D5000E0A-0118-4238-8E7F-E7E525C926DF}">
      <dsp:nvSpPr>
        <dsp:cNvPr id="0" name=""/>
        <dsp:cNvSpPr/>
      </dsp:nvSpPr>
      <dsp:spPr>
        <a:xfrm>
          <a:off x="3905198" y="0"/>
          <a:ext cx="2779093" cy="1618653"/>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捐款人的預撥至支付寶的資金，支付寶會將資金全數轉至螞蟻金服的帳戶內進行保管作業</a:t>
          </a:r>
        </a:p>
      </dsp:txBody>
      <dsp:txXfrm>
        <a:off x="3952607" y="47409"/>
        <a:ext cx="2684275" cy="1523835"/>
      </dsp:txXfrm>
    </dsp:sp>
    <dsp:sp modelId="{4EA4A8F4-7403-46B2-8305-1C366D8F8FD8}">
      <dsp:nvSpPr>
        <dsp:cNvPr id="0" name=""/>
        <dsp:cNvSpPr/>
      </dsp:nvSpPr>
      <dsp:spPr>
        <a:xfrm>
          <a:off x="6962201" y="464718"/>
          <a:ext cx="589167" cy="68921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zh-TW" altLang="en-US" sz="2000" b="1" kern="1200">
            <a:solidFill>
              <a:schemeClr val="tx1">
                <a:lumMod val="75000"/>
                <a:lumOff val="25000"/>
              </a:schemeClr>
            </a:solidFill>
            <a:latin typeface="微軟正黑體" panose="020B0604030504040204" pitchFamily="34" charset="-120"/>
            <a:ea typeface="微軟正黑體" panose="020B0604030504040204" pitchFamily="34" charset="-120"/>
          </a:endParaRPr>
        </a:p>
      </dsp:txBody>
      <dsp:txXfrm>
        <a:off x="6962201" y="602561"/>
        <a:ext cx="412417" cy="413529"/>
      </dsp:txXfrm>
    </dsp:sp>
    <dsp:sp modelId="{9C0B906D-E1BA-47D7-B0E0-826A08F6593B}">
      <dsp:nvSpPr>
        <dsp:cNvPr id="0" name=""/>
        <dsp:cNvSpPr/>
      </dsp:nvSpPr>
      <dsp:spPr>
        <a:xfrm>
          <a:off x="7795929" y="0"/>
          <a:ext cx="2779093" cy="1618653"/>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捐款機構或公益團體收到支付寶的款項後， 將收到的款項轉付給受捐款人</a:t>
          </a:r>
        </a:p>
      </dsp:txBody>
      <dsp:txXfrm>
        <a:off x="7843338" y="47409"/>
        <a:ext cx="2684275" cy="152383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419AB-295B-4AC9-BB13-2985EA21FE65}">
      <dsp:nvSpPr>
        <dsp:cNvPr id="0" name=""/>
        <dsp:cNvSpPr/>
      </dsp:nvSpPr>
      <dsp:spPr>
        <a:xfrm>
          <a:off x="1488" y="0"/>
          <a:ext cx="3173712" cy="1721241"/>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捐款人向受捐款人</a:t>
          </a:r>
          <a:r>
            <a:rPr lang="zh-TW" altLang="en-US" sz="1800" b="1" kern="1200" dirty="0">
              <a:solidFill>
                <a:srgbClr val="5C708A"/>
              </a:solidFill>
              <a:latin typeface="微軟正黑體" panose="020B0604030504040204" pitchFamily="34" charset="-120"/>
              <a:ea typeface="微軟正黑體" panose="020B0604030504040204" pitchFamily="34" charset="-120"/>
            </a:rPr>
            <a:t>提出有意捐款</a:t>
          </a: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的訊息，且捐款人可以在交易平台查看捐款紀錄及受捐款人的資料</a:t>
          </a:r>
        </a:p>
      </dsp:txBody>
      <dsp:txXfrm>
        <a:off x="51901" y="50413"/>
        <a:ext cx="3072886" cy="1620415"/>
      </dsp:txXfrm>
    </dsp:sp>
    <dsp:sp modelId="{6DC3DB55-2E6D-4E9C-86C0-CF22949AE499}">
      <dsp:nvSpPr>
        <dsp:cNvPr id="0" name=""/>
        <dsp:cNvSpPr/>
      </dsp:nvSpPr>
      <dsp:spPr>
        <a:xfrm>
          <a:off x="3492571" y="467080"/>
          <a:ext cx="672827" cy="78708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TW" altLang="en-US" sz="1800" b="1" kern="1200">
            <a:latin typeface="微軟正黑體" panose="020B0604030504040204" pitchFamily="34" charset="-120"/>
            <a:ea typeface="微軟正黑體" panose="020B0604030504040204" pitchFamily="34" charset="-120"/>
          </a:endParaRPr>
        </a:p>
      </dsp:txBody>
      <dsp:txXfrm>
        <a:off x="3492571" y="624496"/>
        <a:ext cx="470979" cy="472248"/>
      </dsp:txXfrm>
    </dsp:sp>
    <dsp:sp modelId="{D5000E0A-0118-4238-8E7F-E7E525C926DF}">
      <dsp:nvSpPr>
        <dsp:cNvPr id="0" name=""/>
        <dsp:cNvSpPr/>
      </dsp:nvSpPr>
      <dsp:spPr>
        <a:xfrm>
          <a:off x="4444685" y="0"/>
          <a:ext cx="3173712" cy="1721241"/>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當捐款人確定資訊後，即可</a:t>
          </a:r>
          <a:r>
            <a:rPr lang="zh-TW" altLang="en-US" sz="1800" b="1" kern="1200" dirty="0">
              <a:solidFill>
                <a:srgbClr val="5C708A"/>
              </a:solidFill>
              <a:latin typeface="微軟正黑體" panose="020B0604030504040204" pitchFamily="34" charset="-120"/>
              <a:ea typeface="微軟正黑體" panose="020B0604030504040204" pitchFamily="34" charset="-120"/>
            </a:rPr>
            <a:t>將捐款轉付</a:t>
          </a: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至螞蟻金服支付寶愛心捐贈區塊鏈交易平台</a:t>
          </a:r>
        </a:p>
      </dsp:txBody>
      <dsp:txXfrm>
        <a:off x="4495098" y="50413"/>
        <a:ext cx="3072886" cy="1620415"/>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419AB-295B-4AC9-BB13-2985EA21FE65}">
      <dsp:nvSpPr>
        <dsp:cNvPr id="0" name=""/>
        <dsp:cNvSpPr/>
      </dsp:nvSpPr>
      <dsp:spPr>
        <a:xfrm>
          <a:off x="1488" y="0"/>
          <a:ext cx="3173712" cy="1721240"/>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螞蟻金服支付寶愛心捐贈區塊鏈交易平台在收到捐款人的款項金額後，即</a:t>
          </a:r>
          <a:r>
            <a:rPr lang="zh-TW" altLang="en-US" sz="1800" b="1" kern="1200" dirty="0">
              <a:solidFill>
                <a:srgbClr val="5C708A"/>
              </a:solidFill>
              <a:latin typeface="微軟正黑體" panose="020B0604030504040204" pitchFamily="34" charset="-120"/>
              <a:ea typeface="微軟正黑體" panose="020B0604030504040204" pitchFamily="34" charset="-120"/>
            </a:rPr>
            <a:t>將款項轉付給受捐款人</a:t>
          </a:r>
        </a:p>
      </dsp:txBody>
      <dsp:txXfrm>
        <a:off x="51901" y="50413"/>
        <a:ext cx="3072886" cy="1620414"/>
      </dsp:txXfrm>
    </dsp:sp>
    <dsp:sp modelId="{6DC3DB55-2E6D-4E9C-86C0-CF22949AE499}">
      <dsp:nvSpPr>
        <dsp:cNvPr id="0" name=""/>
        <dsp:cNvSpPr/>
      </dsp:nvSpPr>
      <dsp:spPr>
        <a:xfrm>
          <a:off x="3492571" y="467079"/>
          <a:ext cx="672827" cy="78708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zh-TW" altLang="en-US" sz="2300" b="1" kern="1200">
            <a:solidFill>
              <a:schemeClr val="tx1">
                <a:lumMod val="75000"/>
                <a:lumOff val="25000"/>
              </a:schemeClr>
            </a:solidFill>
            <a:latin typeface="微軟正黑體" panose="020B0604030504040204" pitchFamily="34" charset="-120"/>
            <a:ea typeface="微軟正黑體" panose="020B0604030504040204" pitchFamily="34" charset="-120"/>
          </a:endParaRPr>
        </a:p>
      </dsp:txBody>
      <dsp:txXfrm>
        <a:off x="3492571" y="624495"/>
        <a:ext cx="470979" cy="472248"/>
      </dsp:txXfrm>
    </dsp:sp>
    <dsp:sp modelId="{D5000E0A-0118-4238-8E7F-E7E525C926DF}">
      <dsp:nvSpPr>
        <dsp:cNvPr id="0" name=""/>
        <dsp:cNvSpPr/>
      </dsp:nvSpPr>
      <dsp:spPr>
        <a:xfrm>
          <a:off x="4444685" y="0"/>
          <a:ext cx="3173712" cy="1721240"/>
        </a:xfrm>
        <a:prstGeom prst="roundRect">
          <a:avLst>
            <a:gd name="adj" fmla="val 10000"/>
          </a:avLst>
        </a:prstGeom>
        <a:noFill/>
        <a:ln w="19050" cap="flat" cmpd="sng" algn="ctr">
          <a:solidFill>
            <a:schemeClr val="accent4"/>
          </a:solidFill>
          <a:prstDash val="sysDash"/>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lumMod val="75000"/>
                  <a:lumOff val="25000"/>
                </a:schemeClr>
              </a:solidFill>
              <a:latin typeface="微軟正黑體" panose="020B0604030504040204" pitchFamily="34" charset="-120"/>
              <a:ea typeface="微軟正黑體" panose="020B0604030504040204" pitchFamily="34" charset="-120"/>
            </a:rPr>
            <a:t>受捐款人收到螞蟻金服支付寶愛心捐贈區塊鏈交易平台的款項後，</a:t>
          </a:r>
          <a:r>
            <a:rPr lang="zh-TW" altLang="en-US" sz="1800" b="1" kern="1200" dirty="0">
              <a:solidFill>
                <a:srgbClr val="5C708A"/>
              </a:solidFill>
              <a:latin typeface="微軟正黑體" panose="020B0604030504040204" pitchFamily="34" charset="-120"/>
              <a:ea typeface="微軟正黑體" panose="020B0604030504040204" pitchFamily="34" charset="-120"/>
            </a:rPr>
            <a:t>將收到的捐款成功等證明文件，寄給捐款人</a:t>
          </a:r>
        </a:p>
      </dsp:txBody>
      <dsp:txXfrm>
        <a:off x="4495098" y="50413"/>
        <a:ext cx="3072886" cy="1620414"/>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E56F87-A81A-4EDE-81AE-3C76F245D5E1}" type="datetimeFigureOut">
              <a:rPr lang="zh-CN" altLang="en-US" smtClean="0"/>
              <a:t>2018/7/26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4DC7B0-EBAC-4569-9993-246641655C40}" type="slidenum">
              <a:rPr lang="zh-CN" altLang="en-US" smtClean="0"/>
              <a:t>‹#›</a:t>
            </a:fld>
            <a:endParaRPr lang="zh-CN" altLang="en-US"/>
          </a:p>
        </p:txBody>
      </p:sp>
    </p:spTree>
    <p:extLst>
      <p:ext uri="{BB962C8B-B14F-4D97-AF65-F5344CB8AC3E}">
        <p14:creationId xmlns:p14="http://schemas.microsoft.com/office/powerpoint/2010/main" val="2416002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4DC7B0-EBAC-4569-9993-246641655C40}" type="slidenum">
              <a:rPr lang="zh-CN" altLang="en-US" smtClean="0"/>
              <a:t>1</a:t>
            </a:fld>
            <a:endParaRPr lang="zh-CN" altLang="en-US"/>
          </a:p>
        </p:txBody>
      </p:sp>
    </p:spTree>
    <p:extLst>
      <p:ext uri="{BB962C8B-B14F-4D97-AF65-F5344CB8AC3E}">
        <p14:creationId xmlns:p14="http://schemas.microsoft.com/office/powerpoint/2010/main" val="1141127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4DC7B0-EBAC-4569-9993-246641655C40}" type="slidenum">
              <a:rPr lang="zh-CN" altLang="en-US" smtClean="0"/>
              <a:t>2</a:t>
            </a:fld>
            <a:endParaRPr lang="zh-CN" altLang="en-US"/>
          </a:p>
        </p:txBody>
      </p:sp>
    </p:spTree>
    <p:extLst>
      <p:ext uri="{BB962C8B-B14F-4D97-AF65-F5344CB8AC3E}">
        <p14:creationId xmlns:p14="http://schemas.microsoft.com/office/powerpoint/2010/main" val="2419616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7</a:t>
            </a:fld>
            <a:endParaRPr lang="zh-CN" altLang="en-US"/>
          </a:p>
        </p:txBody>
      </p:sp>
    </p:spTree>
    <p:extLst>
      <p:ext uri="{BB962C8B-B14F-4D97-AF65-F5344CB8AC3E}">
        <p14:creationId xmlns:p14="http://schemas.microsoft.com/office/powerpoint/2010/main" val="6500138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2842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1107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26"/>
            <a:ext cx="10363200" cy="1470025"/>
          </a:xfrm>
        </p:spPr>
        <p:txBody>
          <a:bodyPr/>
          <a:lstStyle/>
          <a:p>
            <a:r>
              <a:rPr lang="zh-TW" altLang="en-US"/>
              <a:t>按一下以編輯母片標題樣式</a:t>
            </a:r>
          </a:p>
        </p:txBody>
      </p:sp>
      <p:sp>
        <p:nvSpPr>
          <p:cNvPr id="3" name="副標題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56EB3881-3AD9-4248-89BF-3585ADFDE6D3}" type="datetime1">
              <a:rPr lang="zh-TW" altLang="en-US" smtClean="0"/>
              <a:t>2018/7/26</a:t>
            </a:fld>
            <a:endParaRPr lang="zh-TW" altLang="en-US"/>
          </a:p>
        </p:txBody>
      </p:sp>
      <p:sp>
        <p:nvSpPr>
          <p:cNvPr id="5" name="頁尾版面配置區 4"/>
          <p:cNvSpPr>
            <a:spLocks noGrp="1"/>
          </p:cNvSpPr>
          <p:nvPr>
            <p:ph type="ftr" sz="quarter" idx="11"/>
          </p:nvPr>
        </p:nvSpPr>
        <p:spPr/>
        <p:txBody>
          <a:bodyPr/>
          <a:lstStyle/>
          <a:p>
            <a:r>
              <a:rPr lang="zh-TW" altLang="en-US"/>
              <a:t>區塊鏈商業應用概論 實例與分析／許孟祥 編著／新陸書局股份有限公司 發行</a:t>
            </a:r>
          </a:p>
        </p:txBody>
      </p:sp>
      <p:sp>
        <p:nvSpPr>
          <p:cNvPr id="6" name="投影片編號版面配置區 5"/>
          <p:cNvSpPr>
            <a:spLocks noGrp="1"/>
          </p:cNvSpPr>
          <p:nvPr>
            <p:ph type="sldNum" sz="quarter" idx="12"/>
          </p:nvPr>
        </p:nvSpPr>
        <p:spPr/>
        <p:txBody>
          <a:bodyPr/>
          <a:lstStyle/>
          <a:p>
            <a:fld id="{9F98A096-46F7-4F4A-8106-40B5A13C16D3}" type="slidenum">
              <a:rPr lang="zh-TW" altLang="en-US" smtClean="0"/>
              <a:t>‹#›</a:t>
            </a:fld>
            <a:endParaRPr lang="zh-TW" altLang="en-US"/>
          </a:p>
        </p:txBody>
      </p:sp>
    </p:spTree>
    <p:extLst>
      <p:ext uri="{BB962C8B-B14F-4D97-AF65-F5344CB8AC3E}">
        <p14:creationId xmlns:p14="http://schemas.microsoft.com/office/powerpoint/2010/main" val="42474287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05873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0" r:id="rId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image" Target="../media/image8.png"/><Relationship Id="rId5" Type="http://schemas.microsoft.com/office/2007/relationships/hdphoto" Target="../media/hdphoto1.wdp"/><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4.png"/><Relationship Id="rId7" Type="http://schemas.openxmlformats.org/officeDocument/2006/relationships/diagramQuickStyle" Target="../diagrams/quickStyle2.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Layout" Target="../diagrams/layout2.xml"/><Relationship Id="rId11" Type="http://schemas.openxmlformats.org/officeDocument/2006/relationships/image" Target="../media/image13.png"/><Relationship Id="rId5" Type="http://schemas.openxmlformats.org/officeDocument/2006/relationships/diagramData" Target="../diagrams/data2.xml"/><Relationship Id="rId10" Type="http://schemas.openxmlformats.org/officeDocument/2006/relationships/image" Target="../media/image5.png"/><Relationship Id="rId4" Type="http://schemas.openxmlformats.org/officeDocument/2006/relationships/image" Target="../media/image2.png"/><Relationship Id="rId9" Type="http://schemas.microsoft.com/office/2007/relationships/diagramDrawing" Target="../diagrams/drawing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diagramColors" Target="../diagrams/colors3.xml"/><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microsoft.com/office/2007/relationships/diagramDrawing" Target="../diagrams/drawing4.xml"/><Relationship Id="rId13" Type="http://schemas.microsoft.com/office/2007/relationships/diagramDrawing" Target="../diagrams/drawing5.xml"/><Relationship Id="rId3" Type="http://schemas.openxmlformats.org/officeDocument/2006/relationships/image" Target="../media/image2.png"/><Relationship Id="rId7" Type="http://schemas.openxmlformats.org/officeDocument/2006/relationships/diagramColors" Target="../diagrams/colors4.xml"/><Relationship Id="rId12" Type="http://schemas.openxmlformats.org/officeDocument/2006/relationships/diagramColors" Target="../diagrams/colors5.xml"/><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diagramQuickStyle" Target="../diagrams/quickStyle4.xml"/><Relationship Id="rId11" Type="http://schemas.openxmlformats.org/officeDocument/2006/relationships/diagramQuickStyle" Target="../diagrams/quickStyle5.xml"/><Relationship Id="rId5" Type="http://schemas.openxmlformats.org/officeDocument/2006/relationships/diagramLayout" Target="../diagrams/layout4.xml"/><Relationship Id="rId10" Type="http://schemas.openxmlformats.org/officeDocument/2006/relationships/diagramLayout" Target="../diagrams/layout5.xml"/><Relationship Id="rId4" Type="http://schemas.openxmlformats.org/officeDocument/2006/relationships/diagramData" Target="../diagrams/data4.xml"/><Relationship Id="rId9" Type="http://schemas.openxmlformats.org/officeDocument/2006/relationships/diagramData" Target="../diagrams/data5.xml"/><Relationship Id="rId1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png"/><Relationship Id="rId7" Type="http://schemas.openxmlformats.org/officeDocument/2006/relationships/diagramColors" Target="../diagrams/colors6.xml"/><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slideLayout" Target="../slideLayouts/slideLayout3.xml"/><Relationship Id="rId6" Type="http://schemas.microsoft.com/office/2007/relationships/hdphoto" Target="../media/hdphoto2.wdp"/><Relationship Id="rId5" Type="http://schemas.openxmlformats.org/officeDocument/2006/relationships/image" Target="../media/image22.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jpe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8" Type="http://schemas.microsoft.com/office/2007/relationships/diagramDrawing" Target="../diagrams/drawing7.xml"/><Relationship Id="rId13" Type="http://schemas.microsoft.com/office/2007/relationships/diagramDrawing" Target="../diagrams/drawing8.xml"/><Relationship Id="rId3" Type="http://schemas.openxmlformats.org/officeDocument/2006/relationships/image" Target="../media/image2.png"/><Relationship Id="rId7" Type="http://schemas.openxmlformats.org/officeDocument/2006/relationships/diagramColors" Target="../diagrams/colors7.xml"/><Relationship Id="rId12" Type="http://schemas.openxmlformats.org/officeDocument/2006/relationships/diagramColors" Target="../diagrams/colors8.xml"/><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diagramQuickStyle" Target="../diagrams/quickStyle7.xml"/><Relationship Id="rId11" Type="http://schemas.openxmlformats.org/officeDocument/2006/relationships/diagramQuickStyle" Target="../diagrams/quickStyle8.xml"/><Relationship Id="rId5" Type="http://schemas.openxmlformats.org/officeDocument/2006/relationships/diagramLayout" Target="../diagrams/layout7.xml"/><Relationship Id="rId15" Type="http://schemas.openxmlformats.org/officeDocument/2006/relationships/image" Target="../media/image29.png"/><Relationship Id="rId10" Type="http://schemas.openxmlformats.org/officeDocument/2006/relationships/diagramLayout" Target="../diagrams/layout8.xml"/><Relationship Id="rId4" Type="http://schemas.openxmlformats.org/officeDocument/2006/relationships/diagramData" Target="../diagrams/data7.xml"/><Relationship Id="rId9" Type="http://schemas.openxmlformats.org/officeDocument/2006/relationships/diagramData" Target="../diagrams/data8.xml"/><Relationship Id="rId1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8" Type="http://schemas.microsoft.com/office/2007/relationships/diagramDrawing" Target="../diagrams/drawing9.xml"/><Relationship Id="rId13" Type="http://schemas.microsoft.com/office/2007/relationships/diagramDrawing" Target="../diagrams/drawing10.xml"/><Relationship Id="rId3" Type="http://schemas.openxmlformats.org/officeDocument/2006/relationships/image" Target="../media/image2.png"/><Relationship Id="rId7" Type="http://schemas.openxmlformats.org/officeDocument/2006/relationships/diagramColors" Target="../diagrams/colors9.xml"/><Relationship Id="rId12" Type="http://schemas.openxmlformats.org/officeDocument/2006/relationships/diagramColors" Target="../diagrams/colors10.xml"/><Relationship Id="rId2" Type="http://schemas.openxmlformats.org/officeDocument/2006/relationships/image" Target="../media/image4.png"/><Relationship Id="rId16" Type="http://schemas.openxmlformats.org/officeDocument/2006/relationships/image" Target="../media/image33.png"/><Relationship Id="rId1" Type="http://schemas.openxmlformats.org/officeDocument/2006/relationships/slideLayout" Target="../slideLayouts/slideLayout3.xml"/><Relationship Id="rId6" Type="http://schemas.openxmlformats.org/officeDocument/2006/relationships/diagramQuickStyle" Target="../diagrams/quickStyle9.xml"/><Relationship Id="rId11" Type="http://schemas.openxmlformats.org/officeDocument/2006/relationships/diagramQuickStyle" Target="../diagrams/quickStyle10.xml"/><Relationship Id="rId5" Type="http://schemas.openxmlformats.org/officeDocument/2006/relationships/diagramLayout" Target="../diagrams/layout9.xml"/><Relationship Id="rId15" Type="http://schemas.openxmlformats.org/officeDocument/2006/relationships/image" Target="../media/image5.png"/><Relationship Id="rId10" Type="http://schemas.openxmlformats.org/officeDocument/2006/relationships/diagramLayout" Target="../diagrams/layout10.xml"/><Relationship Id="rId4" Type="http://schemas.openxmlformats.org/officeDocument/2006/relationships/diagramData" Target="../diagrams/data9.xml"/><Relationship Id="rId9" Type="http://schemas.openxmlformats.org/officeDocument/2006/relationships/diagramData" Target="../diagrams/data10.xml"/><Relationship Id="rId14" Type="http://schemas.openxmlformats.org/officeDocument/2006/relationships/image" Target="../media/image28.png"/></Relationships>
</file>

<file path=ppt/slides/_rels/slide1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png"/><Relationship Id="rId7" Type="http://schemas.openxmlformats.org/officeDocument/2006/relationships/image" Target="../media/image37.svg"/><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sv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svg"/></Relationships>
</file>

<file path=ppt/slides/_rels/slide20.xml.rels><?xml version="1.0" encoding="UTF-8" standalone="yes"?>
<Relationships xmlns="http://schemas.openxmlformats.org/package/2006/relationships"><Relationship Id="rId8" Type="http://schemas.microsoft.com/office/2007/relationships/diagramDrawing" Target="../diagrams/drawing11.xml"/><Relationship Id="rId13" Type="http://schemas.microsoft.com/office/2007/relationships/diagramDrawing" Target="../diagrams/drawing12.xml"/><Relationship Id="rId3" Type="http://schemas.openxmlformats.org/officeDocument/2006/relationships/image" Target="../media/image2.png"/><Relationship Id="rId7" Type="http://schemas.openxmlformats.org/officeDocument/2006/relationships/diagramColors" Target="../diagrams/colors11.xml"/><Relationship Id="rId12" Type="http://schemas.openxmlformats.org/officeDocument/2006/relationships/diagramColors" Target="../diagrams/colors12.xml"/><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diagramQuickStyle" Target="../diagrams/quickStyle11.xml"/><Relationship Id="rId11" Type="http://schemas.openxmlformats.org/officeDocument/2006/relationships/diagramQuickStyle" Target="../diagrams/quickStyle12.xml"/><Relationship Id="rId5" Type="http://schemas.openxmlformats.org/officeDocument/2006/relationships/diagramLayout" Target="../diagrams/layout11.xml"/><Relationship Id="rId15" Type="http://schemas.openxmlformats.org/officeDocument/2006/relationships/image" Target="../media/image43.png"/><Relationship Id="rId10" Type="http://schemas.openxmlformats.org/officeDocument/2006/relationships/diagramLayout" Target="../diagrams/layout12.xml"/><Relationship Id="rId4" Type="http://schemas.openxmlformats.org/officeDocument/2006/relationships/diagramData" Target="../diagrams/data11.xml"/><Relationship Id="rId9" Type="http://schemas.openxmlformats.org/officeDocument/2006/relationships/diagramData" Target="../diagrams/data12.xml"/><Relationship Id="rId1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44.JPG"/></Relationships>
</file>

<file path=ppt/slides/_rels/slide22.xml.rels><?xml version="1.0" encoding="UTF-8" standalone="yes"?>
<Relationships xmlns="http://schemas.openxmlformats.org/package/2006/relationships"><Relationship Id="rId8" Type="http://schemas.microsoft.com/office/2007/relationships/diagramDrawing" Target="../diagrams/drawing13.xml"/><Relationship Id="rId13" Type="http://schemas.microsoft.com/office/2007/relationships/diagramDrawing" Target="../diagrams/drawing14.xml"/><Relationship Id="rId3" Type="http://schemas.openxmlformats.org/officeDocument/2006/relationships/image" Target="../media/image2.png"/><Relationship Id="rId7" Type="http://schemas.openxmlformats.org/officeDocument/2006/relationships/diagramColors" Target="../diagrams/colors13.xml"/><Relationship Id="rId12" Type="http://schemas.openxmlformats.org/officeDocument/2006/relationships/diagramColors" Target="../diagrams/colors14.xml"/><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diagramQuickStyle" Target="../diagrams/quickStyle13.xml"/><Relationship Id="rId11" Type="http://schemas.openxmlformats.org/officeDocument/2006/relationships/diagramQuickStyle" Target="../diagrams/quickStyle14.xml"/><Relationship Id="rId5" Type="http://schemas.openxmlformats.org/officeDocument/2006/relationships/diagramLayout" Target="../diagrams/layout13.xml"/><Relationship Id="rId15" Type="http://schemas.openxmlformats.org/officeDocument/2006/relationships/image" Target="../media/image5.png"/><Relationship Id="rId10" Type="http://schemas.openxmlformats.org/officeDocument/2006/relationships/diagramLayout" Target="../diagrams/layout14.xml"/><Relationship Id="rId4" Type="http://schemas.openxmlformats.org/officeDocument/2006/relationships/diagramData" Target="../diagrams/data13.xml"/><Relationship Id="rId9" Type="http://schemas.openxmlformats.org/officeDocument/2006/relationships/diagramData" Target="../diagrams/data14.xml"/><Relationship Id="rId1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47.png"/><Relationship Id="rId4" Type="http://schemas.openxmlformats.org/officeDocument/2006/relationships/image" Target="../media/image46.JPG"/></Relationships>
</file>

<file path=ppt/slides/_rels/slide24.xml.rels><?xml version="1.0" encoding="UTF-8" standalone="yes"?>
<Relationships xmlns="http://schemas.openxmlformats.org/package/2006/relationships"><Relationship Id="rId8" Type="http://schemas.microsoft.com/office/2007/relationships/diagramDrawing" Target="../diagrams/drawing15.xml"/><Relationship Id="rId13" Type="http://schemas.microsoft.com/office/2007/relationships/diagramDrawing" Target="../diagrams/drawing16.xml"/><Relationship Id="rId3" Type="http://schemas.openxmlformats.org/officeDocument/2006/relationships/image" Target="../media/image2.png"/><Relationship Id="rId7" Type="http://schemas.openxmlformats.org/officeDocument/2006/relationships/diagramColors" Target="../diagrams/colors15.xml"/><Relationship Id="rId12" Type="http://schemas.openxmlformats.org/officeDocument/2006/relationships/diagramColors" Target="../diagrams/colors16.xml"/><Relationship Id="rId2" Type="http://schemas.openxmlformats.org/officeDocument/2006/relationships/image" Target="../media/image4.png"/><Relationship Id="rId16" Type="http://schemas.openxmlformats.org/officeDocument/2006/relationships/image" Target="../media/image49.png"/><Relationship Id="rId1" Type="http://schemas.openxmlformats.org/officeDocument/2006/relationships/slideLayout" Target="../slideLayouts/slideLayout3.xml"/><Relationship Id="rId6" Type="http://schemas.openxmlformats.org/officeDocument/2006/relationships/diagramQuickStyle" Target="../diagrams/quickStyle15.xml"/><Relationship Id="rId11" Type="http://schemas.openxmlformats.org/officeDocument/2006/relationships/diagramQuickStyle" Target="../diagrams/quickStyle16.xml"/><Relationship Id="rId5" Type="http://schemas.openxmlformats.org/officeDocument/2006/relationships/diagramLayout" Target="../diagrams/layout15.xml"/><Relationship Id="rId15" Type="http://schemas.openxmlformats.org/officeDocument/2006/relationships/image" Target="../media/image48.png"/><Relationship Id="rId10" Type="http://schemas.openxmlformats.org/officeDocument/2006/relationships/diagramLayout" Target="../diagrams/layout16.xml"/><Relationship Id="rId4" Type="http://schemas.openxmlformats.org/officeDocument/2006/relationships/diagramData" Target="../diagrams/data15.xml"/><Relationship Id="rId9" Type="http://schemas.openxmlformats.org/officeDocument/2006/relationships/diagramData" Target="../diagrams/data16.xml"/><Relationship Id="rId1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3" cstate="print">
            <a:extLst>
              <a:ext uri="{28A0092B-C50C-407E-A947-70E740481C1C}">
                <a14:useLocalDpi xmlns:a14="http://schemas.microsoft.com/office/drawing/2010/main" val="0"/>
              </a:ext>
            </a:extLst>
          </a:blip>
          <a:srcRect l="3675" r="8038"/>
          <a:stretch/>
        </p:blipFill>
        <p:spPr>
          <a:xfrm>
            <a:off x="0" y="0"/>
            <a:ext cx="12192000" cy="6858000"/>
          </a:xfrm>
          <a:prstGeom prst="rect">
            <a:avLst/>
          </a:prstGeom>
        </p:spPr>
      </p:pic>
      <p:sp>
        <p:nvSpPr>
          <p:cNvPr id="7" name="文本框 6"/>
          <p:cNvSpPr txBox="1"/>
          <p:nvPr/>
        </p:nvSpPr>
        <p:spPr>
          <a:xfrm>
            <a:off x="2876355" y="2280980"/>
            <a:ext cx="5032147" cy="923330"/>
          </a:xfrm>
          <a:prstGeom prst="rect">
            <a:avLst/>
          </a:prstGeom>
          <a:noFill/>
        </p:spPr>
        <p:txBody>
          <a:bodyPr wrap="none" rtlCol="0">
            <a:spAutoFit/>
            <a:scene3d>
              <a:camera prst="orthographicFront"/>
              <a:lightRig rig="threePt" dir="t"/>
            </a:scene3d>
            <a:sp3d contourW="12700"/>
          </a:bodyPr>
          <a:lstStyle/>
          <a:p>
            <a:r>
              <a:rPr lang="zh-TW" altLang="en-US" sz="5400" b="1" dirty="0">
                <a:solidFill>
                  <a:schemeClr val="accent1"/>
                </a:solidFill>
              </a:rPr>
              <a:t>流通區塊鏈實務</a:t>
            </a:r>
          </a:p>
        </p:txBody>
      </p:sp>
      <p:sp>
        <p:nvSpPr>
          <p:cNvPr id="9" name="矩形 8"/>
          <p:cNvSpPr/>
          <p:nvPr/>
        </p:nvSpPr>
        <p:spPr>
          <a:xfrm>
            <a:off x="2876355" y="1678466"/>
            <a:ext cx="2220480" cy="523220"/>
          </a:xfrm>
          <a:prstGeom prst="rect">
            <a:avLst/>
          </a:prstGeom>
        </p:spPr>
        <p:txBody>
          <a:bodyPr wrap="none">
            <a:spAutoFit/>
            <a:scene3d>
              <a:camera prst="orthographicFront"/>
              <a:lightRig rig="threePt" dir="t"/>
            </a:scene3d>
            <a:sp3d contourW="12700"/>
          </a:bodyPr>
          <a:lstStyle/>
          <a:p>
            <a:r>
              <a:rPr lang="en-US" altLang="zh-CN" sz="2800" b="1" dirty="0">
                <a:solidFill>
                  <a:srgbClr val="4A5A6F"/>
                </a:solidFill>
              </a:rPr>
              <a:t>CHAPTER </a:t>
            </a:r>
            <a:r>
              <a:rPr lang="en-US" altLang="zh-TW" sz="2800" b="1" dirty="0">
                <a:solidFill>
                  <a:srgbClr val="4A5A6F"/>
                </a:solidFill>
              </a:rPr>
              <a:t>8</a:t>
            </a:r>
            <a:endParaRPr lang="zh-CN" altLang="en-US" sz="2800" b="1" dirty="0">
              <a:solidFill>
                <a:srgbClr val="4A5A6F"/>
              </a:solidFill>
            </a:endParaRPr>
          </a:p>
        </p:txBody>
      </p:sp>
      <p:sp>
        <p:nvSpPr>
          <p:cNvPr id="46" name="矩形 23"/>
          <p:cNvSpPr/>
          <p:nvPr/>
        </p:nvSpPr>
        <p:spPr>
          <a:xfrm>
            <a:off x="3329969" y="5032201"/>
            <a:ext cx="189597" cy="242711"/>
          </a:xfrm>
          <a:custGeom>
            <a:avLst/>
            <a:gdLst>
              <a:gd name="connsiteX0" fmla="*/ 11784 w 473070"/>
              <a:gd name="connsiteY0" fmla="*/ 563888 h 605592"/>
              <a:gd name="connsiteX1" fmla="*/ 461073 w 473070"/>
              <a:gd name="connsiteY1" fmla="*/ 563888 h 605592"/>
              <a:gd name="connsiteX2" fmla="*/ 461073 w 473070"/>
              <a:gd name="connsiteY2" fmla="*/ 605592 h 605592"/>
              <a:gd name="connsiteX3" fmla="*/ 11784 w 473070"/>
              <a:gd name="connsiteY3" fmla="*/ 605592 h 605592"/>
              <a:gd name="connsiteX4" fmla="*/ 11784 w 473070"/>
              <a:gd name="connsiteY4" fmla="*/ 500661 h 605592"/>
              <a:gd name="connsiteX5" fmla="*/ 461073 w 473070"/>
              <a:gd name="connsiteY5" fmla="*/ 500661 h 605592"/>
              <a:gd name="connsiteX6" fmla="*/ 461073 w 473070"/>
              <a:gd name="connsiteY6" fmla="*/ 542506 h 605592"/>
              <a:gd name="connsiteX7" fmla="*/ 11784 w 473070"/>
              <a:gd name="connsiteY7" fmla="*/ 542506 h 605592"/>
              <a:gd name="connsiteX8" fmla="*/ 365246 w 473070"/>
              <a:gd name="connsiteY8" fmla="*/ 196807 h 605592"/>
              <a:gd name="connsiteX9" fmla="*/ 407162 w 473070"/>
              <a:gd name="connsiteY9" fmla="*/ 196807 h 605592"/>
              <a:gd name="connsiteX10" fmla="*/ 407162 w 473070"/>
              <a:gd name="connsiteY10" fmla="*/ 467496 h 605592"/>
              <a:gd name="connsiteX11" fmla="*/ 365246 w 473070"/>
              <a:gd name="connsiteY11" fmla="*/ 467496 h 605592"/>
              <a:gd name="connsiteX12" fmla="*/ 215507 w 473070"/>
              <a:gd name="connsiteY12" fmla="*/ 196807 h 605592"/>
              <a:gd name="connsiteX13" fmla="*/ 257352 w 473070"/>
              <a:gd name="connsiteY13" fmla="*/ 196807 h 605592"/>
              <a:gd name="connsiteX14" fmla="*/ 257352 w 473070"/>
              <a:gd name="connsiteY14" fmla="*/ 467496 h 605592"/>
              <a:gd name="connsiteX15" fmla="*/ 215507 w 473070"/>
              <a:gd name="connsiteY15" fmla="*/ 467496 h 605592"/>
              <a:gd name="connsiteX16" fmla="*/ 65767 w 473070"/>
              <a:gd name="connsiteY16" fmla="*/ 196807 h 605592"/>
              <a:gd name="connsiteX17" fmla="*/ 107612 w 473070"/>
              <a:gd name="connsiteY17" fmla="*/ 196807 h 605592"/>
              <a:gd name="connsiteX18" fmla="*/ 107612 w 473070"/>
              <a:gd name="connsiteY18" fmla="*/ 467496 h 605592"/>
              <a:gd name="connsiteX19" fmla="*/ 65767 w 473070"/>
              <a:gd name="connsiteY19" fmla="*/ 467496 h 605592"/>
              <a:gd name="connsiteX20" fmla="*/ 236581 w 473070"/>
              <a:gd name="connsiteY20" fmla="*/ 0 h 605592"/>
              <a:gd name="connsiteX21" fmla="*/ 473070 w 473070"/>
              <a:gd name="connsiteY21" fmla="*/ 164833 h 605592"/>
              <a:gd name="connsiteX22" fmla="*/ 449115 w 473070"/>
              <a:gd name="connsiteY22" fmla="*/ 199135 h 605592"/>
              <a:gd name="connsiteX23" fmla="*/ 236303 w 473070"/>
              <a:gd name="connsiteY23" fmla="*/ 50711 h 605592"/>
              <a:gd name="connsiteX24" fmla="*/ 23491 w 473070"/>
              <a:gd name="connsiteY24" fmla="*/ 194963 h 605592"/>
              <a:gd name="connsiteX25" fmla="*/ 0 w 473070"/>
              <a:gd name="connsiteY25" fmla="*/ 160383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73070" h="605592">
                <a:moveTo>
                  <a:pt x="11784" y="563888"/>
                </a:moveTo>
                <a:lnTo>
                  <a:pt x="461073" y="563888"/>
                </a:lnTo>
                <a:lnTo>
                  <a:pt x="461073" y="605592"/>
                </a:lnTo>
                <a:lnTo>
                  <a:pt x="11784" y="605592"/>
                </a:lnTo>
                <a:close/>
                <a:moveTo>
                  <a:pt x="11784" y="500661"/>
                </a:moveTo>
                <a:lnTo>
                  <a:pt x="461073" y="500661"/>
                </a:lnTo>
                <a:lnTo>
                  <a:pt x="461073" y="542506"/>
                </a:lnTo>
                <a:lnTo>
                  <a:pt x="11784" y="542506"/>
                </a:lnTo>
                <a:close/>
                <a:moveTo>
                  <a:pt x="365246" y="196807"/>
                </a:moveTo>
                <a:lnTo>
                  <a:pt x="407162" y="196807"/>
                </a:lnTo>
                <a:lnTo>
                  <a:pt x="407162" y="467496"/>
                </a:lnTo>
                <a:lnTo>
                  <a:pt x="365246" y="467496"/>
                </a:lnTo>
                <a:close/>
                <a:moveTo>
                  <a:pt x="215507" y="196807"/>
                </a:moveTo>
                <a:lnTo>
                  <a:pt x="257352" y="196807"/>
                </a:lnTo>
                <a:lnTo>
                  <a:pt x="257352" y="467496"/>
                </a:lnTo>
                <a:lnTo>
                  <a:pt x="215507" y="467496"/>
                </a:lnTo>
                <a:close/>
                <a:moveTo>
                  <a:pt x="65767" y="196807"/>
                </a:moveTo>
                <a:lnTo>
                  <a:pt x="107612" y="196807"/>
                </a:lnTo>
                <a:lnTo>
                  <a:pt x="107612" y="467496"/>
                </a:lnTo>
                <a:lnTo>
                  <a:pt x="65767" y="467496"/>
                </a:lnTo>
                <a:close/>
                <a:moveTo>
                  <a:pt x="236581" y="0"/>
                </a:moveTo>
                <a:lnTo>
                  <a:pt x="473070" y="164833"/>
                </a:lnTo>
                <a:lnTo>
                  <a:pt x="449115" y="199135"/>
                </a:lnTo>
                <a:lnTo>
                  <a:pt x="236303" y="50711"/>
                </a:lnTo>
                <a:lnTo>
                  <a:pt x="23491" y="194963"/>
                </a:lnTo>
                <a:lnTo>
                  <a:pt x="0" y="16038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7" name="矩形 35"/>
          <p:cNvSpPr/>
          <p:nvPr/>
        </p:nvSpPr>
        <p:spPr>
          <a:xfrm>
            <a:off x="4863869" y="5032384"/>
            <a:ext cx="242711" cy="242344"/>
          </a:xfrm>
          <a:custGeom>
            <a:avLst/>
            <a:gdLst>
              <a:gd name="connsiteX0" fmla="*/ 303775 w 607639"/>
              <a:gd name="connsiteY0" fmla="*/ 525007 h 606722"/>
              <a:gd name="connsiteX1" fmla="*/ 315710 w 607639"/>
              <a:gd name="connsiteY1" fmla="*/ 536902 h 606722"/>
              <a:gd name="connsiteX2" fmla="*/ 315710 w 607639"/>
              <a:gd name="connsiteY2" fmla="*/ 552347 h 606722"/>
              <a:gd name="connsiteX3" fmla="*/ 303775 w 607639"/>
              <a:gd name="connsiteY3" fmla="*/ 564241 h 606722"/>
              <a:gd name="connsiteX4" fmla="*/ 291929 w 607639"/>
              <a:gd name="connsiteY4" fmla="*/ 552347 h 606722"/>
              <a:gd name="connsiteX5" fmla="*/ 291929 w 607639"/>
              <a:gd name="connsiteY5" fmla="*/ 536902 h 606722"/>
              <a:gd name="connsiteX6" fmla="*/ 303775 w 607639"/>
              <a:gd name="connsiteY6" fmla="*/ 525007 h 606722"/>
              <a:gd name="connsiteX7" fmla="*/ 429885 w 607639"/>
              <a:gd name="connsiteY7" fmla="*/ 509483 h 606722"/>
              <a:gd name="connsiteX8" fmla="*/ 441811 w 607639"/>
              <a:gd name="connsiteY8" fmla="*/ 521409 h 606722"/>
              <a:gd name="connsiteX9" fmla="*/ 429885 w 607639"/>
              <a:gd name="connsiteY9" fmla="*/ 533335 h 606722"/>
              <a:gd name="connsiteX10" fmla="*/ 417959 w 607639"/>
              <a:gd name="connsiteY10" fmla="*/ 521409 h 606722"/>
              <a:gd name="connsiteX11" fmla="*/ 429885 w 607639"/>
              <a:gd name="connsiteY11" fmla="*/ 509483 h 606722"/>
              <a:gd name="connsiteX12" fmla="*/ 177720 w 607639"/>
              <a:gd name="connsiteY12" fmla="*/ 509483 h 606722"/>
              <a:gd name="connsiteX13" fmla="*/ 189611 w 607639"/>
              <a:gd name="connsiteY13" fmla="*/ 521409 h 606722"/>
              <a:gd name="connsiteX14" fmla="*/ 177720 w 607639"/>
              <a:gd name="connsiteY14" fmla="*/ 533335 h 606722"/>
              <a:gd name="connsiteX15" fmla="*/ 165829 w 607639"/>
              <a:gd name="connsiteY15" fmla="*/ 521409 h 606722"/>
              <a:gd name="connsiteX16" fmla="*/ 177720 w 607639"/>
              <a:gd name="connsiteY16" fmla="*/ 509483 h 606722"/>
              <a:gd name="connsiteX17" fmla="*/ 522185 w 607639"/>
              <a:gd name="connsiteY17" fmla="*/ 417324 h 606722"/>
              <a:gd name="connsiteX18" fmla="*/ 534111 w 607639"/>
              <a:gd name="connsiteY18" fmla="*/ 429250 h 606722"/>
              <a:gd name="connsiteX19" fmla="*/ 522185 w 607639"/>
              <a:gd name="connsiteY19" fmla="*/ 441176 h 606722"/>
              <a:gd name="connsiteX20" fmla="*/ 510259 w 607639"/>
              <a:gd name="connsiteY20" fmla="*/ 429250 h 606722"/>
              <a:gd name="connsiteX21" fmla="*/ 522185 w 607639"/>
              <a:gd name="connsiteY21" fmla="*/ 417324 h 606722"/>
              <a:gd name="connsiteX22" fmla="*/ 85420 w 607639"/>
              <a:gd name="connsiteY22" fmla="*/ 417324 h 606722"/>
              <a:gd name="connsiteX23" fmla="*/ 97311 w 607639"/>
              <a:gd name="connsiteY23" fmla="*/ 429250 h 606722"/>
              <a:gd name="connsiteX24" fmla="*/ 85420 w 607639"/>
              <a:gd name="connsiteY24" fmla="*/ 441176 h 606722"/>
              <a:gd name="connsiteX25" fmla="*/ 73529 w 607639"/>
              <a:gd name="connsiteY25" fmla="*/ 429250 h 606722"/>
              <a:gd name="connsiteX26" fmla="*/ 85420 w 607639"/>
              <a:gd name="connsiteY26" fmla="*/ 417324 h 606722"/>
              <a:gd name="connsiteX27" fmla="*/ 537643 w 607639"/>
              <a:gd name="connsiteY27" fmla="*/ 291506 h 606722"/>
              <a:gd name="connsiteX28" fmla="*/ 555628 w 607639"/>
              <a:gd name="connsiteY28" fmla="*/ 291506 h 606722"/>
              <a:gd name="connsiteX29" fmla="*/ 567558 w 607639"/>
              <a:gd name="connsiteY29" fmla="*/ 303316 h 606722"/>
              <a:gd name="connsiteX30" fmla="*/ 555628 w 607639"/>
              <a:gd name="connsiteY30" fmla="*/ 315216 h 606722"/>
              <a:gd name="connsiteX31" fmla="*/ 537643 w 607639"/>
              <a:gd name="connsiteY31" fmla="*/ 315216 h 606722"/>
              <a:gd name="connsiteX32" fmla="*/ 525713 w 607639"/>
              <a:gd name="connsiteY32" fmla="*/ 303316 h 606722"/>
              <a:gd name="connsiteX33" fmla="*/ 537643 w 607639"/>
              <a:gd name="connsiteY33" fmla="*/ 291506 h 606722"/>
              <a:gd name="connsiteX34" fmla="*/ 51991 w 607639"/>
              <a:gd name="connsiteY34" fmla="*/ 291506 h 606722"/>
              <a:gd name="connsiteX35" fmla="*/ 69946 w 607639"/>
              <a:gd name="connsiteY35" fmla="*/ 291506 h 606722"/>
              <a:gd name="connsiteX36" fmla="*/ 81856 w 607639"/>
              <a:gd name="connsiteY36" fmla="*/ 303316 h 606722"/>
              <a:gd name="connsiteX37" fmla="*/ 69946 w 607639"/>
              <a:gd name="connsiteY37" fmla="*/ 315216 h 606722"/>
              <a:gd name="connsiteX38" fmla="*/ 51991 w 607639"/>
              <a:gd name="connsiteY38" fmla="*/ 315216 h 606722"/>
              <a:gd name="connsiteX39" fmla="*/ 40081 w 607639"/>
              <a:gd name="connsiteY39" fmla="*/ 303316 h 606722"/>
              <a:gd name="connsiteX40" fmla="*/ 51991 w 607639"/>
              <a:gd name="connsiteY40" fmla="*/ 291506 h 606722"/>
              <a:gd name="connsiteX41" fmla="*/ 412608 w 607639"/>
              <a:gd name="connsiteY41" fmla="*/ 222096 h 606722"/>
              <a:gd name="connsiteX42" fmla="*/ 345491 w 607639"/>
              <a:gd name="connsiteY42" fmla="*/ 334245 h 606722"/>
              <a:gd name="connsiteX43" fmla="*/ 412608 w 607639"/>
              <a:gd name="connsiteY43" fmla="*/ 334245 h 606722"/>
              <a:gd name="connsiteX44" fmla="*/ 427651 w 607639"/>
              <a:gd name="connsiteY44" fmla="*/ 167533 h 606722"/>
              <a:gd name="connsiteX45" fmla="*/ 436375 w 607639"/>
              <a:gd name="connsiteY45" fmla="*/ 178996 h 606722"/>
              <a:gd name="connsiteX46" fmla="*/ 436375 w 607639"/>
              <a:gd name="connsiteY46" fmla="*/ 334245 h 606722"/>
              <a:gd name="connsiteX47" fmla="*/ 469399 w 607639"/>
              <a:gd name="connsiteY47" fmla="*/ 334245 h 606722"/>
              <a:gd name="connsiteX48" fmla="*/ 481327 w 607639"/>
              <a:gd name="connsiteY48" fmla="*/ 346153 h 606722"/>
              <a:gd name="connsiteX49" fmla="*/ 469399 w 607639"/>
              <a:gd name="connsiteY49" fmla="*/ 357973 h 606722"/>
              <a:gd name="connsiteX50" fmla="*/ 436375 w 607639"/>
              <a:gd name="connsiteY50" fmla="*/ 357973 h 606722"/>
              <a:gd name="connsiteX51" fmla="*/ 436375 w 607639"/>
              <a:gd name="connsiteY51" fmla="*/ 427733 h 606722"/>
              <a:gd name="connsiteX52" fmla="*/ 424536 w 607639"/>
              <a:gd name="connsiteY52" fmla="*/ 439552 h 606722"/>
              <a:gd name="connsiteX53" fmla="*/ 412608 w 607639"/>
              <a:gd name="connsiteY53" fmla="*/ 427733 h 606722"/>
              <a:gd name="connsiteX54" fmla="*/ 412608 w 607639"/>
              <a:gd name="connsiteY54" fmla="*/ 357973 h 606722"/>
              <a:gd name="connsiteX55" fmla="*/ 324573 w 607639"/>
              <a:gd name="connsiteY55" fmla="*/ 357973 h 606722"/>
              <a:gd name="connsiteX56" fmla="*/ 314158 w 607639"/>
              <a:gd name="connsiteY56" fmla="*/ 352019 h 606722"/>
              <a:gd name="connsiteX57" fmla="*/ 314336 w 607639"/>
              <a:gd name="connsiteY57" fmla="*/ 340022 h 606722"/>
              <a:gd name="connsiteX58" fmla="*/ 414299 w 607639"/>
              <a:gd name="connsiteY58" fmla="*/ 172953 h 606722"/>
              <a:gd name="connsiteX59" fmla="*/ 427651 w 607639"/>
              <a:gd name="connsiteY59" fmla="*/ 167533 h 606722"/>
              <a:gd name="connsiteX60" fmla="*/ 216270 w 607639"/>
              <a:gd name="connsiteY60" fmla="*/ 167099 h 606722"/>
              <a:gd name="connsiteX61" fmla="*/ 290518 w 607639"/>
              <a:gd name="connsiteY61" fmla="*/ 241210 h 606722"/>
              <a:gd name="connsiteX62" fmla="*/ 242978 w 607639"/>
              <a:gd name="connsiteY62" fmla="*/ 355754 h 606722"/>
              <a:gd name="connsiteX63" fmla="*/ 182707 w 607639"/>
              <a:gd name="connsiteY63" fmla="*/ 415825 h 606722"/>
              <a:gd name="connsiteX64" fmla="*/ 278588 w 607639"/>
              <a:gd name="connsiteY64" fmla="*/ 415825 h 606722"/>
              <a:gd name="connsiteX65" fmla="*/ 290518 w 607639"/>
              <a:gd name="connsiteY65" fmla="*/ 427734 h 606722"/>
              <a:gd name="connsiteX66" fmla="*/ 278588 w 607639"/>
              <a:gd name="connsiteY66" fmla="*/ 439552 h 606722"/>
              <a:gd name="connsiteX67" fmla="*/ 154040 w 607639"/>
              <a:gd name="connsiteY67" fmla="*/ 439552 h 606722"/>
              <a:gd name="connsiteX68" fmla="*/ 143001 w 607639"/>
              <a:gd name="connsiteY68" fmla="*/ 432265 h 606722"/>
              <a:gd name="connsiteX69" fmla="*/ 145582 w 607639"/>
              <a:gd name="connsiteY69" fmla="*/ 419292 h 606722"/>
              <a:gd name="connsiteX70" fmla="*/ 226152 w 607639"/>
              <a:gd name="connsiteY70" fmla="*/ 338959 h 606722"/>
              <a:gd name="connsiteX71" fmla="*/ 266659 w 607639"/>
              <a:gd name="connsiteY71" fmla="*/ 241210 h 606722"/>
              <a:gd name="connsiteX72" fmla="*/ 216270 w 607639"/>
              <a:gd name="connsiteY72" fmla="*/ 190914 h 606722"/>
              <a:gd name="connsiteX73" fmla="*/ 165880 w 607639"/>
              <a:gd name="connsiteY73" fmla="*/ 241210 h 606722"/>
              <a:gd name="connsiteX74" fmla="*/ 154040 w 607639"/>
              <a:gd name="connsiteY74" fmla="*/ 253029 h 606722"/>
              <a:gd name="connsiteX75" fmla="*/ 142110 w 607639"/>
              <a:gd name="connsiteY75" fmla="*/ 241210 h 606722"/>
              <a:gd name="connsiteX76" fmla="*/ 216270 w 607639"/>
              <a:gd name="connsiteY76" fmla="*/ 167099 h 606722"/>
              <a:gd name="connsiteX77" fmla="*/ 522185 w 607639"/>
              <a:gd name="connsiteY77" fmla="*/ 165547 h 606722"/>
              <a:gd name="connsiteX78" fmla="*/ 534111 w 607639"/>
              <a:gd name="connsiteY78" fmla="*/ 177438 h 606722"/>
              <a:gd name="connsiteX79" fmla="*/ 522185 w 607639"/>
              <a:gd name="connsiteY79" fmla="*/ 189329 h 606722"/>
              <a:gd name="connsiteX80" fmla="*/ 510259 w 607639"/>
              <a:gd name="connsiteY80" fmla="*/ 177438 h 606722"/>
              <a:gd name="connsiteX81" fmla="*/ 522185 w 607639"/>
              <a:gd name="connsiteY81" fmla="*/ 165547 h 606722"/>
              <a:gd name="connsiteX82" fmla="*/ 85420 w 607639"/>
              <a:gd name="connsiteY82" fmla="*/ 165547 h 606722"/>
              <a:gd name="connsiteX83" fmla="*/ 97311 w 607639"/>
              <a:gd name="connsiteY83" fmla="*/ 177438 h 606722"/>
              <a:gd name="connsiteX84" fmla="*/ 85420 w 607639"/>
              <a:gd name="connsiteY84" fmla="*/ 189329 h 606722"/>
              <a:gd name="connsiteX85" fmla="*/ 73529 w 607639"/>
              <a:gd name="connsiteY85" fmla="*/ 177438 h 606722"/>
              <a:gd name="connsiteX86" fmla="*/ 85420 w 607639"/>
              <a:gd name="connsiteY86" fmla="*/ 165547 h 606722"/>
              <a:gd name="connsiteX87" fmla="*/ 429885 w 607639"/>
              <a:gd name="connsiteY87" fmla="*/ 73388 h 606722"/>
              <a:gd name="connsiteX88" fmla="*/ 441811 w 607639"/>
              <a:gd name="connsiteY88" fmla="*/ 85279 h 606722"/>
              <a:gd name="connsiteX89" fmla="*/ 429885 w 607639"/>
              <a:gd name="connsiteY89" fmla="*/ 97170 h 606722"/>
              <a:gd name="connsiteX90" fmla="*/ 417959 w 607639"/>
              <a:gd name="connsiteY90" fmla="*/ 85279 h 606722"/>
              <a:gd name="connsiteX91" fmla="*/ 429885 w 607639"/>
              <a:gd name="connsiteY91" fmla="*/ 73388 h 606722"/>
              <a:gd name="connsiteX92" fmla="*/ 177720 w 607639"/>
              <a:gd name="connsiteY92" fmla="*/ 73388 h 606722"/>
              <a:gd name="connsiteX93" fmla="*/ 189611 w 607639"/>
              <a:gd name="connsiteY93" fmla="*/ 85279 h 606722"/>
              <a:gd name="connsiteX94" fmla="*/ 177720 w 607639"/>
              <a:gd name="connsiteY94" fmla="*/ 97170 h 606722"/>
              <a:gd name="connsiteX95" fmla="*/ 165829 w 607639"/>
              <a:gd name="connsiteY95" fmla="*/ 85279 h 606722"/>
              <a:gd name="connsiteX96" fmla="*/ 177720 w 607639"/>
              <a:gd name="connsiteY96" fmla="*/ 73388 h 606722"/>
              <a:gd name="connsiteX97" fmla="*/ 303775 w 607639"/>
              <a:gd name="connsiteY97" fmla="*/ 42480 h 606722"/>
              <a:gd name="connsiteX98" fmla="*/ 315710 w 607639"/>
              <a:gd name="connsiteY98" fmla="*/ 54396 h 606722"/>
              <a:gd name="connsiteX99" fmla="*/ 315710 w 607639"/>
              <a:gd name="connsiteY99" fmla="*/ 69869 h 606722"/>
              <a:gd name="connsiteX100" fmla="*/ 303775 w 607639"/>
              <a:gd name="connsiteY100" fmla="*/ 81785 h 606722"/>
              <a:gd name="connsiteX101" fmla="*/ 291929 w 607639"/>
              <a:gd name="connsiteY101" fmla="*/ 69869 h 606722"/>
              <a:gd name="connsiteX102" fmla="*/ 291929 w 607639"/>
              <a:gd name="connsiteY102" fmla="*/ 54396 h 606722"/>
              <a:gd name="connsiteX103" fmla="*/ 303775 w 607639"/>
              <a:gd name="connsiteY103" fmla="*/ 42480 h 606722"/>
              <a:gd name="connsiteX104" fmla="*/ 303775 w 607639"/>
              <a:gd name="connsiteY104" fmla="*/ 0 h 606722"/>
              <a:gd name="connsiteX105" fmla="*/ 537058 w 607639"/>
              <a:gd name="connsiteY105" fmla="*/ 108956 h 606722"/>
              <a:gd name="connsiteX106" fmla="*/ 537058 w 607639"/>
              <a:gd name="connsiteY106" fmla="*/ 93048 h 606722"/>
              <a:gd name="connsiteX107" fmla="*/ 548895 w 607639"/>
              <a:gd name="connsiteY107" fmla="*/ 81139 h 606722"/>
              <a:gd name="connsiteX108" fmla="*/ 560822 w 607639"/>
              <a:gd name="connsiteY108" fmla="*/ 93048 h 606722"/>
              <a:gd name="connsiteX109" fmla="*/ 560822 w 607639"/>
              <a:gd name="connsiteY109" fmla="*/ 138994 h 606722"/>
              <a:gd name="connsiteX110" fmla="*/ 548895 w 607639"/>
              <a:gd name="connsiteY110" fmla="*/ 150903 h 606722"/>
              <a:gd name="connsiteX111" fmla="*/ 502880 w 607639"/>
              <a:gd name="connsiteY111" fmla="*/ 150903 h 606722"/>
              <a:gd name="connsiteX112" fmla="*/ 490953 w 607639"/>
              <a:gd name="connsiteY112" fmla="*/ 138994 h 606722"/>
              <a:gd name="connsiteX113" fmla="*/ 502880 w 607639"/>
              <a:gd name="connsiteY113" fmla="*/ 127174 h 606722"/>
              <a:gd name="connsiteX114" fmla="*/ 521126 w 607639"/>
              <a:gd name="connsiteY114" fmla="*/ 127174 h 606722"/>
              <a:gd name="connsiteX115" fmla="*/ 303775 w 607639"/>
              <a:gd name="connsiteY115" fmla="*/ 23728 h 606722"/>
              <a:gd name="connsiteX116" fmla="*/ 23764 w 607639"/>
              <a:gd name="connsiteY116" fmla="*/ 303316 h 606722"/>
              <a:gd name="connsiteX117" fmla="*/ 303775 w 607639"/>
              <a:gd name="connsiteY117" fmla="*/ 582905 h 606722"/>
              <a:gd name="connsiteX118" fmla="*/ 583786 w 607639"/>
              <a:gd name="connsiteY118" fmla="*/ 303316 h 606722"/>
              <a:gd name="connsiteX119" fmla="*/ 573906 w 607639"/>
              <a:gd name="connsiteY119" fmla="*/ 229376 h 606722"/>
              <a:gd name="connsiteX120" fmla="*/ 582273 w 607639"/>
              <a:gd name="connsiteY120" fmla="*/ 214801 h 606722"/>
              <a:gd name="connsiteX121" fmla="*/ 596869 w 607639"/>
              <a:gd name="connsiteY121" fmla="*/ 223066 h 606722"/>
              <a:gd name="connsiteX122" fmla="*/ 607639 w 607639"/>
              <a:gd name="connsiteY122" fmla="*/ 303316 h 606722"/>
              <a:gd name="connsiteX123" fmla="*/ 303775 w 607639"/>
              <a:gd name="connsiteY123" fmla="*/ 606722 h 606722"/>
              <a:gd name="connsiteX124" fmla="*/ 0 w 607639"/>
              <a:gd name="connsiteY124" fmla="*/ 303316 h 606722"/>
              <a:gd name="connsiteX125" fmla="*/ 303775 w 607639"/>
              <a:gd name="connsiteY125"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607639" h="606722">
                <a:moveTo>
                  <a:pt x="303775" y="525007"/>
                </a:moveTo>
                <a:cubicBezTo>
                  <a:pt x="310366" y="525007"/>
                  <a:pt x="315710" y="530333"/>
                  <a:pt x="315710" y="536902"/>
                </a:cubicBezTo>
                <a:lnTo>
                  <a:pt x="315710" y="552347"/>
                </a:lnTo>
                <a:cubicBezTo>
                  <a:pt x="315710" y="558915"/>
                  <a:pt x="310366" y="564241"/>
                  <a:pt x="303775" y="564241"/>
                </a:cubicBezTo>
                <a:cubicBezTo>
                  <a:pt x="297184" y="564241"/>
                  <a:pt x="291929" y="558915"/>
                  <a:pt x="291929" y="552347"/>
                </a:cubicBezTo>
                <a:lnTo>
                  <a:pt x="291929" y="536902"/>
                </a:lnTo>
                <a:cubicBezTo>
                  <a:pt x="291929" y="530333"/>
                  <a:pt x="297184" y="525007"/>
                  <a:pt x="303775" y="525007"/>
                </a:cubicBezTo>
                <a:close/>
                <a:moveTo>
                  <a:pt x="429885" y="509483"/>
                </a:moveTo>
                <a:cubicBezTo>
                  <a:pt x="436472" y="509483"/>
                  <a:pt x="441811" y="514822"/>
                  <a:pt x="441811" y="521409"/>
                </a:cubicBezTo>
                <a:cubicBezTo>
                  <a:pt x="441811" y="527996"/>
                  <a:pt x="436472" y="533335"/>
                  <a:pt x="429885" y="533335"/>
                </a:cubicBezTo>
                <a:cubicBezTo>
                  <a:pt x="423298" y="533335"/>
                  <a:pt x="417959" y="527996"/>
                  <a:pt x="417959" y="521409"/>
                </a:cubicBezTo>
                <a:cubicBezTo>
                  <a:pt x="417959" y="514822"/>
                  <a:pt x="423298" y="509483"/>
                  <a:pt x="429885" y="509483"/>
                </a:cubicBezTo>
                <a:close/>
                <a:moveTo>
                  <a:pt x="177720" y="509483"/>
                </a:moveTo>
                <a:cubicBezTo>
                  <a:pt x="184287" y="509483"/>
                  <a:pt x="189611" y="514822"/>
                  <a:pt x="189611" y="521409"/>
                </a:cubicBezTo>
                <a:cubicBezTo>
                  <a:pt x="189611" y="527996"/>
                  <a:pt x="184287" y="533335"/>
                  <a:pt x="177720" y="533335"/>
                </a:cubicBezTo>
                <a:cubicBezTo>
                  <a:pt x="171153" y="533335"/>
                  <a:pt x="165829" y="527996"/>
                  <a:pt x="165829" y="521409"/>
                </a:cubicBezTo>
                <a:cubicBezTo>
                  <a:pt x="165829" y="514822"/>
                  <a:pt x="171153" y="509483"/>
                  <a:pt x="177720" y="509483"/>
                </a:cubicBezTo>
                <a:close/>
                <a:moveTo>
                  <a:pt x="522185" y="417324"/>
                </a:moveTo>
                <a:cubicBezTo>
                  <a:pt x="528772" y="417324"/>
                  <a:pt x="534111" y="422663"/>
                  <a:pt x="534111" y="429250"/>
                </a:cubicBezTo>
                <a:cubicBezTo>
                  <a:pt x="534111" y="435837"/>
                  <a:pt x="528772" y="441176"/>
                  <a:pt x="522185" y="441176"/>
                </a:cubicBezTo>
                <a:cubicBezTo>
                  <a:pt x="515598" y="441176"/>
                  <a:pt x="510259" y="435837"/>
                  <a:pt x="510259" y="429250"/>
                </a:cubicBezTo>
                <a:cubicBezTo>
                  <a:pt x="510259" y="422663"/>
                  <a:pt x="515598" y="417324"/>
                  <a:pt x="522185" y="417324"/>
                </a:cubicBezTo>
                <a:close/>
                <a:moveTo>
                  <a:pt x="85420" y="417324"/>
                </a:moveTo>
                <a:cubicBezTo>
                  <a:pt x="91987" y="417324"/>
                  <a:pt x="97311" y="422663"/>
                  <a:pt x="97311" y="429250"/>
                </a:cubicBezTo>
                <a:cubicBezTo>
                  <a:pt x="97311" y="435837"/>
                  <a:pt x="91987" y="441176"/>
                  <a:pt x="85420" y="441176"/>
                </a:cubicBezTo>
                <a:cubicBezTo>
                  <a:pt x="78853" y="441176"/>
                  <a:pt x="73529" y="435837"/>
                  <a:pt x="73529" y="429250"/>
                </a:cubicBezTo>
                <a:cubicBezTo>
                  <a:pt x="73529" y="422663"/>
                  <a:pt x="78853" y="417324"/>
                  <a:pt x="85420" y="417324"/>
                </a:cubicBezTo>
                <a:close/>
                <a:moveTo>
                  <a:pt x="537643" y="291506"/>
                </a:moveTo>
                <a:lnTo>
                  <a:pt x="555628" y="291506"/>
                </a:lnTo>
                <a:cubicBezTo>
                  <a:pt x="562216" y="291506"/>
                  <a:pt x="567558" y="296745"/>
                  <a:pt x="567558" y="303316"/>
                </a:cubicBezTo>
                <a:cubicBezTo>
                  <a:pt x="567558" y="309888"/>
                  <a:pt x="562216" y="315216"/>
                  <a:pt x="555628" y="315216"/>
                </a:cubicBezTo>
                <a:lnTo>
                  <a:pt x="537643" y="315216"/>
                </a:lnTo>
                <a:cubicBezTo>
                  <a:pt x="531055" y="315216"/>
                  <a:pt x="525713" y="309888"/>
                  <a:pt x="525713" y="303316"/>
                </a:cubicBezTo>
                <a:cubicBezTo>
                  <a:pt x="525713" y="296745"/>
                  <a:pt x="531055" y="291506"/>
                  <a:pt x="537643" y="291506"/>
                </a:cubicBezTo>
                <a:close/>
                <a:moveTo>
                  <a:pt x="51991" y="291506"/>
                </a:moveTo>
                <a:lnTo>
                  <a:pt x="69946" y="291506"/>
                </a:lnTo>
                <a:cubicBezTo>
                  <a:pt x="76523" y="291506"/>
                  <a:pt x="81856" y="296745"/>
                  <a:pt x="81856" y="303316"/>
                </a:cubicBezTo>
                <a:cubicBezTo>
                  <a:pt x="81856" y="309888"/>
                  <a:pt x="76523" y="315216"/>
                  <a:pt x="69946" y="315216"/>
                </a:cubicBezTo>
                <a:lnTo>
                  <a:pt x="51991" y="315216"/>
                </a:lnTo>
                <a:cubicBezTo>
                  <a:pt x="45414" y="315216"/>
                  <a:pt x="40081" y="309888"/>
                  <a:pt x="40081" y="303316"/>
                </a:cubicBezTo>
                <a:cubicBezTo>
                  <a:pt x="40081" y="296745"/>
                  <a:pt x="45414" y="291506"/>
                  <a:pt x="51991" y="291506"/>
                </a:cubicBezTo>
                <a:close/>
                <a:moveTo>
                  <a:pt x="412608" y="222096"/>
                </a:moveTo>
                <a:lnTo>
                  <a:pt x="345491" y="334245"/>
                </a:lnTo>
                <a:lnTo>
                  <a:pt x="412608" y="334245"/>
                </a:lnTo>
                <a:close/>
                <a:moveTo>
                  <a:pt x="427651" y="167533"/>
                </a:moveTo>
                <a:cubicBezTo>
                  <a:pt x="432814" y="168954"/>
                  <a:pt x="436375" y="173664"/>
                  <a:pt x="436375" y="178996"/>
                </a:cubicBezTo>
                <a:lnTo>
                  <a:pt x="436375" y="334245"/>
                </a:lnTo>
                <a:lnTo>
                  <a:pt x="469399" y="334245"/>
                </a:lnTo>
                <a:cubicBezTo>
                  <a:pt x="475986" y="334245"/>
                  <a:pt x="481327" y="339577"/>
                  <a:pt x="481327" y="346153"/>
                </a:cubicBezTo>
                <a:cubicBezTo>
                  <a:pt x="481327" y="352641"/>
                  <a:pt x="475986" y="357973"/>
                  <a:pt x="469399" y="357973"/>
                </a:cubicBezTo>
                <a:lnTo>
                  <a:pt x="436375" y="357973"/>
                </a:lnTo>
                <a:lnTo>
                  <a:pt x="436375" y="427733"/>
                </a:lnTo>
                <a:cubicBezTo>
                  <a:pt x="436375" y="434220"/>
                  <a:pt x="431123" y="439552"/>
                  <a:pt x="424536" y="439552"/>
                </a:cubicBezTo>
                <a:cubicBezTo>
                  <a:pt x="417949" y="439552"/>
                  <a:pt x="412608" y="434220"/>
                  <a:pt x="412608" y="427733"/>
                </a:cubicBezTo>
                <a:lnTo>
                  <a:pt x="412608" y="357973"/>
                </a:lnTo>
                <a:lnTo>
                  <a:pt x="324573" y="357973"/>
                </a:lnTo>
                <a:cubicBezTo>
                  <a:pt x="320300" y="357973"/>
                  <a:pt x="316295" y="355662"/>
                  <a:pt x="314158" y="352019"/>
                </a:cubicBezTo>
                <a:cubicBezTo>
                  <a:pt x="312111" y="348286"/>
                  <a:pt x="312111" y="343665"/>
                  <a:pt x="314336" y="340022"/>
                </a:cubicBezTo>
                <a:lnTo>
                  <a:pt x="414299" y="172953"/>
                </a:lnTo>
                <a:cubicBezTo>
                  <a:pt x="417059" y="168332"/>
                  <a:pt x="422489" y="166111"/>
                  <a:pt x="427651" y="167533"/>
                </a:cubicBezTo>
                <a:close/>
                <a:moveTo>
                  <a:pt x="216270" y="167099"/>
                </a:moveTo>
                <a:cubicBezTo>
                  <a:pt x="257222" y="167099"/>
                  <a:pt x="290518" y="200333"/>
                  <a:pt x="290518" y="241210"/>
                </a:cubicBezTo>
                <a:cubicBezTo>
                  <a:pt x="290518" y="284486"/>
                  <a:pt x="273603" y="325097"/>
                  <a:pt x="242978" y="355754"/>
                </a:cubicBezTo>
                <a:lnTo>
                  <a:pt x="182707" y="415825"/>
                </a:lnTo>
                <a:lnTo>
                  <a:pt x="278588" y="415825"/>
                </a:lnTo>
                <a:cubicBezTo>
                  <a:pt x="285176" y="415825"/>
                  <a:pt x="290518" y="421158"/>
                  <a:pt x="290518" y="427734"/>
                </a:cubicBezTo>
                <a:cubicBezTo>
                  <a:pt x="290518" y="434220"/>
                  <a:pt x="285176" y="439552"/>
                  <a:pt x="278588" y="439552"/>
                </a:cubicBezTo>
                <a:lnTo>
                  <a:pt x="154040" y="439552"/>
                </a:lnTo>
                <a:cubicBezTo>
                  <a:pt x="149232" y="439552"/>
                  <a:pt x="144870" y="436709"/>
                  <a:pt x="143001" y="432265"/>
                </a:cubicBezTo>
                <a:cubicBezTo>
                  <a:pt x="141131" y="427822"/>
                  <a:pt x="142199" y="422668"/>
                  <a:pt x="145582" y="419292"/>
                </a:cubicBezTo>
                <a:lnTo>
                  <a:pt x="226152" y="338959"/>
                </a:lnTo>
                <a:cubicBezTo>
                  <a:pt x="252236" y="312834"/>
                  <a:pt x="266659" y="278088"/>
                  <a:pt x="266659" y="241210"/>
                </a:cubicBezTo>
                <a:cubicBezTo>
                  <a:pt x="266659" y="213485"/>
                  <a:pt x="244046" y="190914"/>
                  <a:pt x="216270" y="190914"/>
                </a:cubicBezTo>
                <a:cubicBezTo>
                  <a:pt x="188493" y="190914"/>
                  <a:pt x="165880" y="213485"/>
                  <a:pt x="165880" y="241210"/>
                </a:cubicBezTo>
                <a:cubicBezTo>
                  <a:pt x="165880" y="247786"/>
                  <a:pt x="160539" y="253029"/>
                  <a:pt x="154040" y="253029"/>
                </a:cubicBezTo>
                <a:cubicBezTo>
                  <a:pt x="147452" y="253029"/>
                  <a:pt x="142110" y="247786"/>
                  <a:pt x="142110" y="241210"/>
                </a:cubicBezTo>
                <a:cubicBezTo>
                  <a:pt x="142110" y="200333"/>
                  <a:pt x="175406" y="167099"/>
                  <a:pt x="216270" y="167099"/>
                </a:cubicBezTo>
                <a:close/>
                <a:moveTo>
                  <a:pt x="522185" y="165547"/>
                </a:moveTo>
                <a:cubicBezTo>
                  <a:pt x="528772" y="165547"/>
                  <a:pt x="534111" y="170871"/>
                  <a:pt x="534111" y="177438"/>
                </a:cubicBezTo>
                <a:cubicBezTo>
                  <a:pt x="534111" y="184005"/>
                  <a:pt x="528772" y="189329"/>
                  <a:pt x="522185" y="189329"/>
                </a:cubicBezTo>
                <a:cubicBezTo>
                  <a:pt x="515598" y="189329"/>
                  <a:pt x="510259" y="184005"/>
                  <a:pt x="510259" y="177438"/>
                </a:cubicBezTo>
                <a:cubicBezTo>
                  <a:pt x="510259" y="170871"/>
                  <a:pt x="515598" y="165547"/>
                  <a:pt x="522185" y="165547"/>
                </a:cubicBezTo>
                <a:close/>
                <a:moveTo>
                  <a:pt x="85420" y="165547"/>
                </a:moveTo>
                <a:cubicBezTo>
                  <a:pt x="91987" y="165547"/>
                  <a:pt x="97311" y="170871"/>
                  <a:pt x="97311" y="177438"/>
                </a:cubicBezTo>
                <a:cubicBezTo>
                  <a:pt x="97311" y="184005"/>
                  <a:pt x="91987" y="189329"/>
                  <a:pt x="85420" y="189329"/>
                </a:cubicBezTo>
                <a:cubicBezTo>
                  <a:pt x="78853" y="189329"/>
                  <a:pt x="73529" y="184005"/>
                  <a:pt x="73529" y="177438"/>
                </a:cubicBezTo>
                <a:cubicBezTo>
                  <a:pt x="73529" y="170871"/>
                  <a:pt x="78853" y="165547"/>
                  <a:pt x="85420" y="165547"/>
                </a:cubicBezTo>
                <a:close/>
                <a:moveTo>
                  <a:pt x="429885" y="73388"/>
                </a:moveTo>
                <a:cubicBezTo>
                  <a:pt x="436472" y="73388"/>
                  <a:pt x="441811" y="78712"/>
                  <a:pt x="441811" y="85279"/>
                </a:cubicBezTo>
                <a:cubicBezTo>
                  <a:pt x="441811" y="91846"/>
                  <a:pt x="436472" y="97170"/>
                  <a:pt x="429885" y="97170"/>
                </a:cubicBezTo>
                <a:cubicBezTo>
                  <a:pt x="423298" y="97170"/>
                  <a:pt x="417959" y="91846"/>
                  <a:pt x="417959" y="85279"/>
                </a:cubicBezTo>
                <a:cubicBezTo>
                  <a:pt x="417959" y="78712"/>
                  <a:pt x="423298" y="73388"/>
                  <a:pt x="429885" y="73388"/>
                </a:cubicBezTo>
                <a:close/>
                <a:moveTo>
                  <a:pt x="177720" y="73388"/>
                </a:moveTo>
                <a:cubicBezTo>
                  <a:pt x="184287" y="73388"/>
                  <a:pt x="189611" y="78712"/>
                  <a:pt x="189611" y="85279"/>
                </a:cubicBezTo>
                <a:cubicBezTo>
                  <a:pt x="189611" y="91846"/>
                  <a:pt x="184287" y="97170"/>
                  <a:pt x="177720" y="97170"/>
                </a:cubicBezTo>
                <a:cubicBezTo>
                  <a:pt x="171153" y="97170"/>
                  <a:pt x="165829" y="91846"/>
                  <a:pt x="165829" y="85279"/>
                </a:cubicBezTo>
                <a:cubicBezTo>
                  <a:pt x="165829" y="78712"/>
                  <a:pt x="171153" y="73388"/>
                  <a:pt x="177720" y="73388"/>
                </a:cubicBezTo>
                <a:close/>
                <a:moveTo>
                  <a:pt x="303775" y="42480"/>
                </a:moveTo>
                <a:cubicBezTo>
                  <a:pt x="310366" y="42480"/>
                  <a:pt x="315710" y="47815"/>
                  <a:pt x="315710" y="54396"/>
                </a:cubicBezTo>
                <a:lnTo>
                  <a:pt x="315710" y="69869"/>
                </a:lnTo>
                <a:cubicBezTo>
                  <a:pt x="315710" y="76449"/>
                  <a:pt x="310366" y="81785"/>
                  <a:pt x="303775" y="81785"/>
                </a:cubicBezTo>
                <a:cubicBezTo>
                  <a:pt x="297184" y="81785"/>
                  <a:pt x="291929" y="76449"/>
                  <a:pt x="291929" y="69869"/>
                </a:cubicBezTo>
                <a:lnTo>
                  <a:pt x="291929" y="54396"/>
                </a:lnTo>
                <a:cubicBezTo>
                  <a:pt x="291929" y="47815"/>
                  <a:pt x="297184" y="42480"/>
                  <a:pt x="303775" y="42480"/>
                </a:cubicBezTo>
                <a:close/>
                <a:moveTo>
                  <a:pt x="303775" y="0"/>
                </a:moveTo>
                <a:cubicBezTo>
                  <a:pt x="394204" y="0"/>
                  <a:pt x="479560" y="40347"/>
                  <a:pt x="537058" y="108956"/>
                </a:cubicBezTo>
                <a:lnTo>
                  <a:pt x="537058" y="93048"/>
                </a:lnTo>
                <a:cubicBezTo>
                  <a:pt x="537058" y="86471"/>
                  <a:pt x="542309" y="81139"/>
                  <a:pt x="548895" y="81139"/>
                </a:cubicBezTo>
                <a:cubicBezTo>
                  <a:pt x="555482" y="81139"/>
                  <a:pt x="560822" y="86471"/>
                  <a:pt x="560822" y="93048"/>
                </a:cubicBezTo>
                <a:lnTo>
                  <a:pt x="560822" y="138994"/>
                </a:lnTo>
                <a:cubicBezTo>
                  <a:pt x="560822" y="145570"/>
                  <a:pt x="555482" y="150903"/>
                  <a:pt x="548895" y="150903"/>
                </a:cubicBezTo>
                <a:lnTo>
                  <a:pt x="502880" y="150903"/>
                </a:lnTo>
                <a:cubicBezTo>
                  <a:pt x="496293" y="150903"/>
                  <a:pt x="490953" y="145570"/>
                  <a:pt x="490953" y="138994"/>
                </a:cubicBezTo>
                <a:cubicBezTo>
                  <a:pt x="490953" y="132417"/>
                  <a:pt x="496293" y="127174"/>
                  <a:pt x="502880" y="127174"/>
                </a:cubicBezTo>
                <a:lnTo>
                  <a:pt x="521126" y="127174"/>
                </a:lnTo>
                <a:cubicBezTo>
                  <a:pt x="468168" y="62032"/>
                  <a:pt x="388419" y="23728"/>
                  <a:pt x="303775" y="23728"/>
                </a:cubicBezTo>
                <a:cubicBezTo>
                  <a:pt x="149440" y="23728"/>
                  <a:pt x="23764" y="149214"/>
                  <a:pt x="23764" y="303316"/>
                </a:cubicBezTo>
                <a:cubicBezTo>
                  <a:pt x="23764" y="457508"/>
                  <a:pt x="149440" y="582905"/>
                  <a:pt x="303775" y="582905"/>
                </a:cubicBezTo>
                <a:cubicBezTo>
                  <a:pt x="458199" y="582905"/>
                  <a:pt x="583786" y="457508"/>
                  <a:pt x="583786" y="303316"/>
                </a:cubicBezTo>
                <a:cubicBezTo>
                  <a:pt x="583786" y="278255"/>
                  <a:pt x="580492" y="253371"/>
                  <a:pt x="573906" y="229376"/>
                </a:cubicBezTo>
                <a:cubicBezTo>
                  <a:pt x="572126" y="223066"/>
                  <a:pt x="575864" y="216489"/>
                  <a:pt x="582273" y="214801"/>
                </a:cubicBezTo>
                <a:cubicBezTo>
                  <a:pt x="588592" y="213023"/>
                  <a:pt x="595089" y="216756"/>
                  <a:pt x="596869" y="223066"/>
                </a:cubicBezTo>
                <a:cubicBezTo>
                  <a:pt x="603990" y="249194"/>
                  <a:pt x="607639" y="276122"/>
                  <a:pt x="607639" y="303316"/>
                </a:cubicBezTo>
                <a:cubicBezTo>
                  <a:pt x="607639" y="470572"/>
                  <a:pt x="471283" y="606722"/>
                  <a:pt x="303775" y="606722"/>
                </a:cubicBezTo>
                <a:cubicBezTo>
                  <a:pt x="136267" y="606722"/>
                  <a:pt x="0" y="470572"/>
                  <a:pt x="0" y="303316"/>
                </a:cubicBezTo>
                <a:cubicBezTo>
                  <a:pt x="0" y="136061"/>
                  <a:pt x="136267" y="0"/>
                  <a:pt x="3037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文字方塊 9">
            <a:extLst>
              <a:ext uri="{FF2B5EF4-FFF2-40B4-BE49-F238E27FC236}">
                <a16:creationId xmlns:a16="http://schemas.microsoft.com/office/drawing/2014/main" id="{5EB95789-1338-4013-A515-04F0F93F710E}"/>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Tree>
    <p:extLst>
      <p:ext uri="{BB962C8B-B14F-4D97-AF65-F5344CB8AC3E}">
        <p14:creationId xmlns:p14="http://schemas.microsoft.com/office/powerpoint/2010/main" val="326388290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ppt_x</p:attrName>
                                        </p:attrNameLst>
                                      </p:cBhvr>
                                      <p:tavLst>
                                        <p:tav tm="0">
                                          <p:val>
                                            <p:strVal val="#ppt_x-#ppt_w*1.125000"/>
                                          </p:val>
                                        </p:tav>
                                        <p:tav tm="100000">
                                          <p:val>
                                            <p:strVal val="#ppt_x"/>
                                          </p:val>
                                        </p:tav>
                                      </p:tavLst>
                                    </p:anim>
                                    <p:animEffect transition="in" filter="wipe(right)">
                                      <p:cBhvr>
                                        <p:cTn id="8" dur="500"/>
                                        <p:tgtEl>
                                          <p:spTgt spid="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p:tgtEl>
                                          <p:spTgt spid="9"/>
                                        </p:tgtEl>
                                        <p:attrNameLst>
                                          <p:attrName>ppt_y</p:attrName>
                                        </p:attrNameLst>
                                      </p:cBhvr>
                                      <p:tavLst>
                                        <p:tav tm="0">
                                          <p:val>
                                            <p:strVal val="#ppt_y+#ppt_h*1.125000"/>
                                          </p:val>
                                        </p:tav>
                                        <p:tav tm="100000">
                                          <p:val>
                                            <p:strVal val="#ppt_y"/>
                                          </p:val>
                                        </p:tav>
                                      </p:tavLst>
                                    </p:anim>
                                    <p:animEffect transition="in" filter="wipe(up)">
                                      <p:cBhvr>
                                        <p:cTn id="12" dur="500"/>
                                        <p:tgtEl>
                                          <p:spTgt spid="9"/>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p:cTn id="15" dur="500" fill="hold"/>
                                        <p:tgtEl>
                                          <p:spTgt spid="46"/>
                                        </p:tgtEl>
                                        <p:attrNameLst>
                                          <p:attrName>ppt_w</p:attrName>
                                        </p:attrNameLst>
                                      </p:cBhvr>
                                      <p:tavLst>
                                        <p:tav tm="0">
                                          <p:val>
                                            <p:fltVal val="0"/>
                                          </p:val>
                                        </p:tav>
                                        <p:tav tm="100000">
                                          <p:val>
                                            <p:strVal val="#ppt_w"/>
                                          </p:val>
                                        </p:tav>
                                      </p:tavLst>
                                    </p:anim>
                                    <p:anim calcmode="lin" valueType="num">
                                      <p:cBhvr>
                                        <p:cTn id="16" dur="500" fill="hold"/>
                                        <p:tgtEl>
                                          <p:spTgt spid="46"/>
                                        </p:tgtEl>
                                        <p:attrNameLst>
                                          <p:attrName>ppt_h</p:attrName>
                                        </p:attrNameLst>
                                      </p:cBhvr>
                                      <p:tavLst>
                                        <p:tav tm="0">
                                          <p:val>
                                            <p:fltVal val="0"/>
                                          </p:val>
                                        </p:tav>
                                        <p:tav tm="100000">
                                          <p:val>
                                            <p:strVal val="#ppt_h"/>
                                          </p:val>
                                        </p:tav>
                                      </p:tavLst>
                                    </p:anim>
                                    <p:animEffect transition="in" filter="fade">
                                      <p:cBhvr>
                                        <p:cTn id="17" dur="500"/>
                                        <p:tgtEl>
                                          <p:spTgt spid="46"/>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47"/>
                                        </p:tgtEl>
                                        <p:attrNameLst>
                                          <p:attrName>style.visibility</p:attrName>
                                        </p:attrNameLst>
                                      </p:cBhvr>
                                      <p:to>
                                        <p:strVal val="visible"/>
                                      </p:to>
                                    </p:set>
                                    <p:anim calcmode="lin" valueType="num">
                                      <p:cBhvr>
                                        <p:cTn id="20" dur="500" fill="hold"/>
                                        <p:tgtEl>
                                          <p:spTgt spid="47"/>
                                        </p:tgtEl>
                                        <p:attrNameLst>
                                          <p:attrName>ppt_w</p:attrName>
                                        </p:attrNameLst>
                                      </p:cBhvr>
                                      <p:tavLst>
                                        <p:tav tm="0">
                                          <p:val>
                                            <p:fltVal val="0"/>
                                          </p:val>
                                        </p:tav>
                                        <p:tav tm="100000">
                                          <p:val>
                                            <p:strVal val="#ppt_w"/>
                                          </p:val>
                                        </p:tav>
                                      </p:tavLst>
                                    </p:anim>
                                    <p:anim calcmode="lin" valueType="num">
                                      <p:cBhvr>
                                        <p:cTn id="21" dur="500" fill="hold"/>
                                        <p:tgtEl>
                                          <p:spTgt spid="47"/>
                                        </p:tgtEl>
                                        <p:attrNameLst>
                                          <p:attrName>ppt_h</p:attrName>
                                        </p:attrNameLst>
                                      </p:cBhvr>
                                      <p:tavLst>
                                        <p:tav tm="0">
                                          <p:val>
                                            <p:fltVal val="0"/>
                                          </p:val>
                                        </p:tav>
                                        <p:tav tm="100000">
                                          <p:val>
                                            <p:strVal val="#ppt_h"/>
                                          </p:val>
                                        </p:tav>
                                      </p:tavLst>
                                    </p:anim>
                                    <p:animEffect transition="in" filter="fade">
                                      <p:cBhvr>
                                        <p:cTn id="2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46" grpId="0" animBg="1"/>
      <p:bldP spid="4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flipH="1">
            <a:off x="8244230" y="0"/>
            <a:ext cx="3947770" cy="4851400"/>
          </a:xfrm>
          <a:prstGeom prst="rect">
            <a:avLst/>
          </a:prstGeom>
        </p:spPr>
      </p:pic>
      <p:sp>
        <p:nvSpPr>
          <p:cNvPr id="5" name="矩形 4"/>
          <p:cNvSpPr/>
          <p:nvPr/>
        </p:nvSpPr>
        <p:spPr>
          <a:xfrm>
            <a:off x="1271069" y="1351226"/>
            <a:ext cx="5009705" cy="523220"/>
          </a:xfrm>
          <a:prstGeom prst="rect">
            <a:avLst/>
          </a:prstGeom>
        </p:spPr>
        <p:txBody>
          <a:bodyPr wrap="none">
            <a:spAutoFit/>
            <a:scene3d>
              <a:camera prst="orthographicFront"/>
              <a:lightRig rig="threePt" dir="t"/>
            </a:scene3d>
            <a:sp3d contourW="12700"/>
          </a:bodyPr>
          <a:lstStyle/>
          <a:p>
            <a:pPr algn="ctr"/>
            <a:r>
              <a:rPr lang="en-US" altLang="zh-TW" sz="2800" b="1" dirty="0">
                <a:solidFill>
                  <a:schemeClr val="accent6"/>
                </a:solidFill>
              </a:rPr>
              <a:t>8-1 </a:t>
            </a:r>
            <a:r>
              <a:rPr lang="zh-TW" altLang="en-US" sz="2800" b="1" dirty="0">
                <a:solidFill>
                  <a:schemeClr val="accent6"/>
                </a:solidFill>
              </a:rPr>
              <a:t>區塊鏈實務案例─票卷交易</a:t>
            </a:r>
          </a:p>
        </p:txBody>
      </p:sp>
      <p:sp>
        <p:nvSpPr>
          <p:cNvPr id="47" name="矩形 46"/>
          <p:cNvSpPr/>
          <p:nvPr/>
        </p:nvSpPr>
        <p:spPr>
          <a:xfrm>
            <a:off x="1317941" y="2230883"/>
            <a:ext cx="3932488" cy="523220"/>
          </a:xfrm>
          <a:prstGeom prst="rect">
            <a:avLst/>
          </a:prstGeom>
        </p:spPr>
        <p:txBody>
          <a:bodyPr wrap="none">
            <a:spAutoFit/>
            <a:scene3d>
              <a:camera prst="orthographicFront"/>
              <a:lightRig rig="threePt" dir="t"/>
            </a:scene3d>
            <a:sp3d contourW="12700"/>
          </a:bodyPr>
          <a:lstStyle/>
          <a:p>
            <a:pPr algn="ctr"/>
            <a:r>
              <a:rPr lang="en-US" altLang="zh-TW" sz="2800" b="1" dirty="0">
                <a:solidFill>
                  <a:schemeClr val="accent6"/>
                </a:solidFill>
              </a:rPr>
              <a:t>8-2</a:t>
            </a:r>
            <a:r>
              <a:rPr lang="zh-TW" altLang="en-US" sz="2800" b="1" dirty="0">
                <a:solidFill>
                  <a:schemeClr val="accent6"/>
                </a:solidFill>
              </a:rPr>
              <a:t> 實務案例─募款交易</a:t>
            </a:r>
          </a:p>
        </p:txBody>
      </p:sp>
      <p:sp>
        <p:nvSpPr>
          <p:cNvPr id="65" name="文本框 64"/>
          <p:cNvSpPr txBox="1"/>
          <p:nvPr/>
        </p:nvSpPr>
        <p:spPr>
          <a:xfrm rot="5400000">
            <a:off x="5416355" y="2443872"/>
            <a:ext cx="3531736" cy="923330"/>
          </a:xfrm>
          <a:prstGeom prst="rect">
            <a:avLst/>
          </a:prstGeom>
          <a:noFill/>
        </p:spPr>
        <p:txBody>
          <a:bodyPr wrap="none" rtlCol="0">
            <a:spAutoFit/>
            <a:scene3d>
              <a:camera prst="orthographicFront"/>
              <a:lightRig rig="threePt" dir="t"/>
            </a:scene3d>
            <a:sp3d contourW="12700"/>
          </a:bodyPr>
          <a:lstStyle/>
          <a:p>
            <a:r>
              <a:rPr lang="en-US" altLang="zh-CN" sz="5400" b="1" dirty="0">
                <a:solidFill>
                  <a:schemeClr val="accent1"/>
                </a:solidFill>
              </a:rPr>
              <a:t>CONTENT</a:t>
            </a:r>
            <a:endParaRPr lang="zh-CN" altLang="en-US" sz="5400" b="1" dirty="0">
              <a:solidFill>
                <a:schemeClr val="accent1"/>
              </a:solidFill>
            </a:endParaRPr>
          </a:p>
        </p:txBody>
      </p:sp>
      <p:sp>
        <p:nvSpPr>
          <p:cNvPr id="8" name="文字方塊 7">
            <a:extLst>
              <a:ext uri="{FF2B5EF4-FFF2-40B4-BE49-F238E27FC236}">
                <a16:creationId xmlns:a16="http://schemas.microsoft.com/office/drawing/2014/main" id="{AD9A2B78-0D0D-4B36-A4E1-F03D659AB278}"/>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Tree>
    <p:extLst>
      <p:ext uri="{BB962C8B-B14F-4D97-AF65-F5344CB8AC3E}">
        <p14:creationId xmlns:p14="http://schemas.microsoft.com/office/powerpoint/2010/main" val="383953671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47" presetClass="entr" presetSubtype="0" fill="hold" grpId="0" nodeType="after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fade">
                                      <p:cBhvr>
                                        <p:cTn id="12" dur="1000"/>
                                        <p:tgtEl>
                                          <p:spTgt spid="65"/>
                                        </p:tgtEl>
                                      </p:cBhvr>
                                    </p:animEffect>
                                    <p:anim calcmode="lin" valueType="num">
                                      <p:cBhvr>
                                        <p:cTn id="13" dur="1000" fill="hold"/>
                                        <p:tgtEl>
                                          <p:spTgt spid="65"/>
                                        </p:tgtEl>
                                        <p:attrNameLst>
                                          <p:attrName>ppt_x</p:attrName>
                                        </p:attrNameLst>
                                      </p:cBhvr>
                                      <p:tavLst>
                                        <p:tav tm="0">
                                          <p:val>
                                            <p:strVal val="#ppt_x"/>
                                          </p:val>
                                        </p:tav>
                                        <p:tav tm="100000">
                                          <p:val>
                                            <p:strVal val="#ppt_x"/>
                                          </p:val>
                                        </p:tav>
                                      </p:tavLst>
                                    </p:anim>
                                    <p:anim calcmode="lin" valueType="num">
                                      <p:cBhvr>
                                        <p:cTn id="14" dur="1000" fill="hold"/>
                                        <p:tgtEl>
                                          <p:spTgt spid="65"/>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16" presetClass="entr" presetSubtype="21"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arn(inVertical)">
                                      <p:cBhvr>
                                        <p:cTn id="18" dur="500"/>
                                        <p:tgtEl>
                                          <p:spTgt spid="5"/>
                                        </p:tgtEl>
                                      </p:cBhvr>
                                    </p:animEffect>
                                  </p:childTnLst>
                                </p:cTn>
                              </p:par>
                            </p:childTnLst>
                          </p:cTn>
                        </p:par>
                        <p:par>
                          <p:cTn id="19" fill="hold">
                            <p:stCondLst>
                              <p:cond delay="2000"/>
                            </p:stCondLst>
                            <p:childTnLst>
                              <p:par>
                                <p:cTn id="20" presetID="16" presetClass="entr" presetSubtype="21" fill="hold" grpId="0" nodeType="after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barn(inVertical)">
                                      <p:cBhvr>
                                        <p:cTn id="2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7" grpId="0"/>
      <p:bldP spid="6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425923"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8-1 </a:t>
            </a:r>
            <a:r>
              <a:rPr lang="zh-TW" altLang="en-US" sz="2400" b="1" dirty="0">
                <a:solidFill>
                  <a:srgbClr val="E06741"/>
                </a:solidFill>
              </a:rPr>
              <a:t>區塊鏈實務案例─票卷交易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425923" y="1005194"/>
            <a:ext cx="9553921" cy="5172057"/>
          </a:xfrm>
          <a:prstGeom prst="rect">
            <a:avLst/>
          </a:prstGeom>
        </p:spPr>
        <p:txBody>
          <a:bodyPr wrap="square">
            <a:spAutoFit/>
          </a:bodyPr>
          <a:lstStyle/>
          <a:p>
            <a:pPr marL="342900" indent="-342900">
              <a:lnSpc>
                <a:spcPct val="150000"/>
              </a:lnSpc>
              <a:buSzPct val="200000"/>
              <a:buBlip>
                <a:blip r:embed="rId2"/>
              </a:buBlip>
            </a:pPr>
            <a:r>
              <a:rPr lang="zh-TW" altLang="en-US" sz="2400" b="1" dirty="0">
                <a:solidFill>
                  <a:srgbClr val="3DA18E"/>
                </a:solidFill>
                <a:latin typeface="微軟正黑體" panose="020B0604030504040204" pitchFamily="34" charset="-120"/>
                <a:ea typeface="微軟正黑體" panose="020B0604030504040204" pitchFamily="34" charset="-120"/>
              </a:rPr>
              <a:t>「票券」：</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泛指企業所發行的折抵消費金額之</a:t>
            </a:r>
            <a:r>
              <a:rPr lang="zh-TW" altLang="en-US" sz="2400" b="1" dirty="0">
                <a:solidFill>
                  <a:srgbClr val="54667E"/>
                </a:solidFill>
                <a:latin typeface="微軟正黑體" panose="020B0604030504040204" pitchFamily="34" charset="-120"/>
                <a:ea typeface="微軟正黑體" panose="020B0604030504040204" pitchFamily="34" charset="-120"/>
              </a:rPr>
              <a:t>折價券</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或消費取得之</a:t>
            </a:r>
            <a:r>
              <a:rPr lang="zh-TW" altLang="en-US" sz="2400" b="1" dirty="0">
                <a:solidFill>
                  <a:srgbClr val="54667E"/>
                </a:solidFill>
                <a:latin typeface="微軟正黑體" panose="020B0604030504040204" pitchFamily="34" charset="-120"/>
                <a:ea typeface="微軟正黑體" panose="020B0604030504040204" pitchFamily="34" charset="-120"/>
              </a:rPr>
              <a:t>集點券</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，再經集點以折抵消費等票卷</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種類概區分為折價券、商品券、禮卷、集點券、紅利積點等</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目的在於促進消費者回流消費或是提高信任機制</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endParaRPr lang="en-US" altLang="zh-TW" sz="7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914400" lvl="1" indent="-4572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管理成本高、未被充分利用、不便攜帶、折扣誘因不足</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914400" lvl="1" indent="-4572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票卷往往有使用期限且不找零</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914400" lvl="1" indent="-4572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基於發行企業獨立性，一般票券無法相互流通</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      僅企業的相關品牌或子公司所經營的商店可以流通使用</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5"/>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7E3A6309-1716-4781-857E-D6FC371966D7}"/>
              </a:ext>
            </a:extLst>
          </p:cNvPr>
          <p:cNvSpPr txBox="1"/>
          <p:nvPr/>
        </p:nvSpPr>
        <p:spPr>
          <a:xfrm>
            <a:off x="5881931" y="449166"/>
            <a:ext cx="153760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案例介紹</a:t>
            </a:r>
          </a:p>
        </p:txBody>
      </p:sp>
      <p:pic>
        <p:nvPicPr>
          <p:cNvPr id="6" name="圖片 5" descr="一張含有 文字, 向量圖形 的圖片&#10;&#10;描述是以高可信度產生">
            <a:extLst>
              <a:ext uri="{FF2B5EF4-FFF2-40B4-BE49-F238E27FC236}">
                <a16:creationId xmlns:a16="http://schemas.microsoft.com/office/drawing/2014/main" id="{BE663678-D984-45FD-8C48-75D9FB5E73F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03577" y="4493492"/>
            <a:ext cx="2364508" cy="2364508"/>
          </a:xfrm>
          <a:prstGeom prst="rect">
            <a:avLst/>
          </a:prstGeom>
        </p:spPr>
      </p:pic>
      <p:cxnSp>
        <p:nvCxnSpPr>
          <p:cNvPr id="10" name="直接连接符 33">
            <a:extLst>
              <a:ext uri="{FF2B5EF4-FFF2-40B4-BE49-F238E27FC236}">
                <a16:creationId xmlns:a16="http://schemas.microsoft.com/office/drawing/2014/main" id="{5C4D461E-01C8-4838-A9B1-1DDC10D1F154}"/>
              </a:ext>
            </a:extLst>
          </p:cNvPr>
          <p:cNvCxnSpPr/>
          <p:nvPr/>
        </p:nvCxnSpPr>
        <p:spPr>
          <a:xfrm>
            <a:off x="1177167" y="100056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970006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Vertical)">
                                      <p:cBhvr>
                                        <p:cTn id="11" dur="500"/>
                                        <p:tgtEl>
                                          <p:spTgt spid="3"/>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8" fill="hold" nodeType="afterEffect">
                                  <p:stCondLst>
                                    <p:cond delay="0"/>
                                  </p:stCondLst>
                                  <p:childTnLst>
                                    <p:set>
                                      <p:cBhvr>
                                        <p:cTn id="19" dur="1" fill="hold">
                                          <p:stCondLst>
                                            <p:cond delay="0"/>
                                          </p:stCondLst>
                                        </p:cTn>
                                        <p:tgtEl>
                                          <p:spTgt spid="2">
                                            <p:txEl>
                                              <p:pRg st="0" end="0"/>
                                            </p:txEl>
                                          </p:spTgt>
                                        </p:tgtEl>
                                        <p:attrNameLst>
                                          <p:attrName>style.visibility</p:attrName>
                                        </p:attrNameLst>
                                      </p:cBhvr>
                                      <p:to>
                                        <p:strVal val="visible"/>
                                      </p:to>
                                    </p:set>
                                    <p:anim calcmode="lin" valueType="num">
                                      <p:cBhvr additive="base">
                                        <p:cTn id="20"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21"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animEffect transition="in" filter="barn(inVertical)">
                                      <p:cBhvr>
                                        <p:cTn id="25" dur="500"/>
                                        <p:tgtEl>
                                          <p:spTgt spid="2">
                                            <p:txEl>
                                              <p:pRg st="1" end="1"/>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2">
                                            <p:txEl>
                                              <p:pRg st="2" end="2"/>
                                            </p:txEl>
                                          </p:spTgt>
                                        </p:tgtEl>
                                        <p:attrNameLst>
                                          <p:attrName>style.visibility</p:attrName>
                                        </p:attrNameLst>
                                      </p:cBhvr>
                                      <p:to>
                                        <p:strVal val="visible"/>
                                      </p:to>
                                    </p:set>
                                    <p:animEffect transition="in" filter="barn(inVertical)">
                                      <p:cBhvr>
                                        <p:cTn id="29" dur="500"/>
                                        <p:tgtEl>
                                          <p:spTgt spid="2">
                                            <p:txEl>
                                              <p:pRg st="2" end="2"/>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2">
                                            <p:txEl>
                                              <p:pRg st="3" end="3"/>
                                            </p:txEl>
                                          </p:spTgt>
                                        </p:tgtEl>
                                        <p:attrNameLst>
                                          <p:attrName>style.visibility</p:attrName>
                                        </p:attrNameLst>
                                      </p:cBhvr>
                                      <p:to>
                                        <p:strVal val="visible"/>
                                      </p:to>
                                    </p:set>
                                    <p:animEffect transition="in" filter="barn(inVertical)">
                                      <p:cBhvr>
                                        <p:cTn id="33" dur="500"/>
                                        <p:tgtEl>
                                          <p:spTgt spid="2">
                                            <p:txEl>
                                              <p:pRg st="3" end="3"/>
                                            </p:txEl>
                                          </p:spTgt>
                                        </p:tgtEl>
                                      </p:cBhvr>
                                    </p:animEffect>
                                  </p:childTnLst>
                                </p:cTn>
                              </p:par>
                            </p:childTnLst>
                          </p:cTn>
                        </p:par>
                        <p:par>
                          <p:cTn id="34" fill="hold">
                            <p:stCondLst>
                              <p:cond delay="5000"/>
                            </p:stCondLst>
                            <p:childTnLst>
                              <p:par>
                                <p:cTn id="35" presetID="16" presetClass="entr" presetSubtype="21" fill="hold" nodeType="after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barn(inVertical)">
                                      <p:cBhvr>
                                        <p:cTn id="37" dur="500"/>
                                        <p:tgtEl>
                                          <p:spTgt spid="2">
                                            <p:txEl>
                                              <p:pRg st="5" end="5"/>
                                            </p:txEl>
                                          </p:spTgt>
                                        </p:tgtEl>
                                      </p:cBhvr>
                                    </p:animEffect>
                                  </p:childTnLst>
                                </p:cTn>
                              </p:par>
                            </p:childTnLst>
                          </p:cTn>
                        </p:par>
                        <p:par>
                          <p:cTn id="38" fill="hold">
                            <p:stCondLst>
                              <p:cond delay="5500"/>
                            </p:stCondLst>
                            <p:childTnLst>
                              <p:par>
                                <p:cTn id="39" presetID="16" presetClass="entr" presetSubtype="21" fill="hold" nodeType="afterEffect">
                                  <p:stCondLst>
                                    <p:cond delay="0"/>
                                  </p:stCondLst>
                                  <p:childTnLst>
                                    <p:set>
                                      <p:cBhvr>
                                        <p:cTn id="40" dur="1" fill="hold">
                                          <p:stCondLst>
                                            <p:cond delay="0"/>
                                          </p:stCondLst>
                                        </p:cTn>
                                        <p:tgtEl>
                                          <p:spTgt spid="2">
                                            <p:txEl>
                                              <p:pRg st="6" end="6"/>
                                            </p:txEl>
                                          </p:spTgt>
                                        </p:tgtEl>
                                        <p:attrNameLst>
                                          <p:attrName>style.visibility</p:attrName>
                                        </p:attrNameLst>
                                      </p:cBhvr>
                                      <p:to>
                                        <p:strVal val="visible"/>
                                      </p:to>
                                    </p:set>
                                    <p:animEffect transition="in" filter="barn(inVertical)">
                                      <p:cBhvr>
                                        <p:cTn id="41" dur="500"/>
                                        <p:tgtEl>
                                          <p:spTgt spid="2">
                                            <p:txEl>
                                              <p:pRg st="6" end="6"/>
                                            </p:txEl>
                                          </p:spTgt>
                                        </p:tgtEl>
                                      </p:cBhvr>
                                    </p:animEffect>
                                  </p:childTnLst>
                                </p:cTn>
                              </p:par>
                            </p:childTnLst>
                          </p:cTn>
                        </p:par>
                        <p:par>
                          <p:cTn id="42" fill="hold">
                            <p:stCondLst>
                              <p:cond delay="6000"/>
                            </p:stCondLst>
                            <p:childTnLst>
                              <p:par>
                                <p:cTn id="43" presetID="16" presetClass="entr" presetSubtype="21" fill="hold" nodeType="afterEffect">
                                  <p:stCondLst>
                                    <p:cond delay="0"/>
                                  </p:stCondLst>
                                  <p:childTnLst>
                                    <p:set>
                                      <p:cBhvr>
                                        <p:cTn id="44" dur="1" fill="hold">
                                          <p:stCondLst>
                                            <p:cond delay="0"/>
                                          </p:stCondLst>
                                        </p:cTn>
                                        <p:tgtEl>
                                          <p:spTgt spid="2">
                                            <p:txEl>
                                              <p:pRg st="7" end="7"/>
                                            </p:txEl>
                                          </p:spTgt>
                                        </p:tgtEl>
                                        <p:attrNameLst>
                                          <p:attrName>style.visibility</p:attrName>
                                        </p:attrNameLst>
                                      </p:cBhvr>
                                      <p:to>
                                        <p:strVal val="visible"/>
                                      </p:to>
                                    </p:set>
                                    <p:animEffect transition="in" filter="barn(inVertical)">
                                      <p:cBhvr>
                                        <p:cTn id="45" dur="500"/>
                                        <p:tgtEl>
                                          <p:spTgt spid="2">
                                            <p:txEl>
                                              <p:pRg st="7" end="7"/>
                                            </p:txEl>
                                          </p:spTgt>
                                        </p:tgtEl>
                                      </p:cBhvr>
                                    </p:animEffect>
                                  </p:childTnLst>
                                </p:cTn>
                              </p:par>
                            </p:childTnLst>
                          </p:cTn>
                        </p:par>
                        <p:par>
                          <p:cTn id="46" fill="hold">
                            <p:stCondLst>
                              <p:cond delay="6500"/>
                            </p:stCondLst>
                            <p:childTnLst>
                              <p:par>
                                <p:cTn id="47" presetID="16" presetClass="entr" presetSubtype="21" fill="hold" nodeType="afterEffect">
                                  <p:stCondLst>
                                    <p:cond delay="0"/>
                                  </p:stCondLst>
                                  <p:childTnLst>
                                    <p:set>
                                      <p:cBhvr>
                                        <p:cTn id="48" dur="1" fill="hold">
                                          <p:stCondLst>
                                            <p:cond delay="0"/>
                                          </p:stCondLst>
                                        </p:cTn>
                                        <p:tgtEl>
                                          <p:spTgt spid="2">
                                            <p:txEl>
                                              <p:pRg st="8" end="8"/>
                                            </p:txEl>
                                          </p:spTgt>
                                        </p:tgtEl>
                                        <p:attrNameLst>
                                          <p:attrName>style.visibility</p:attrName>
                                        </p:attrNameLst>
                                      </p:cBhvr>
                                      <p:to>
                                        <p:strVal val="visible"/>
                                      </p:to>
                                    </p:set>
                                    <p:animEffect transition="in" filter="barn(inVertical)">
                                      <p:cBhvr>
                                        <p:cTn id="49" dur="500"/>
                                        <p:tgtEl>
                                          <p:spTgt spid="2">
                                            <p:txEl>
                                              <p:pRg st="8" end="8"/>
                                            </p:txEl>
                                          </p:spTgt>
                                        </p:tgtEl>
                                      </p:cBhvr>
                                    </p:animEffect>
                                  </p:childTnLst>
                                </p:cTn>
                              </p:par>
                            </p:childTnLst>
                          </p:cTn>
                        </p:par>
                        <p:par>
                          <p:cTn id="50" fill="hold">
                            <p:stCondLst>
                              <p:cond delay="7000"/>
                            </p:stCondLst>
                            <p:childTnLst>
                              <p:par>
                                <p:cTn id="51" presetID="53" presetClass="entr" presetSubtype="16" fill="hold" nodeType="afterEffect">
                                  <p:stCondLst>
                                    <p:cond delay="0"/>
                                  </p:stCondLst>
                                  <p:childTnLst>
                                    <p:set>
                                      <p:cBhvr>
                                        <p:cTn id="52" dur="1" fill="hold">
                                          <p:stCondLst>
                                            <p:cond delay="0"/>
                                          </p:stCondLst>
                                        </p:cTn>
                                        <p:tgtEl>
                                          <p:spTgt spid="6"/>
                                        </p:tgtEl>
                                        <p:attrNameLst>
                                          <p:attrName>style.visibility</p:attrName>
                                        </p:attrNameLst>
                                      </p:cBhvr>
                                      <p:to>
                                        <p:strVal val="visible"/>
                                      </p:to>
                                    </p:set>
                                    <p:anim calcmode="lin" valueType="num">
                                      <p:cBhvr>
                                        <p:cTn id="53" dur="500" fill="hold"/>
                                        <p:tgtEl>
                                          <p:spTgt spid="6"/>
                                        </p:tgtEl>
                                        <p:attrNameLst>
                                          <p:attrName>ppt_w</p:attrName>
                                        </p:attrNameLst>
                                      </p:cBhvr>
                                      <p:tavLst>
                                        <p:tav tm="0">
                                          <p:val>
                                            <p:fltVal val="0"/>
                                          </p:val>
                                        </p:tav>
                                        <p:tav tm="100000">
                                          <p:val>
                                            <p:strVal val="#ppt_w"/>
                                          </p:val>
                                        </p:tav>
                                      </p:tavLst>
                                    </p:anim>
                                    <p:anim calcmode="lin" valueType="num">
                                      <p:cBhvr>
                                        <p:cTn id="54" dur="500" fill="hold"/>
                                        <p:tgtEl>
                                          <p:spTgt spid="6"/>
                                        </p:tgtEl>
                                        <p:attrNameLst>
                                          <p:attrName>ppt_h</p:attrName>
                                        </p:attrNameLst>
                                      </p:cBhvr>
                                      <p:tavLst>
                                        <p:tav tm="0">
                                          <p:val>
                                            <p:fltVal val="0"/>
                                          </p:val>
                                        </p:tav>
                                        <p:tav tm="100000">
                                          <p:val>
                                            <p:strVal val="#ppt_h"/>
                                          </p:val>
                                        </p:tav>
                                      </p:tavLst>
                                    </p:anim>
                                    <p:animEffect transition="in" filter="fade">
                                      <p:cBhvr>
                                        <p:cTn id="5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425923"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8-1 </a:t>
            </a:r>
            <a:r>
              <a:rPr lang="zh-TW" altLang="en-US" sz="2400" b="1" dirty="0">
                <a:solidFill>
                  <a:srgbClr val="E06741"/>
                </a:solidFill>
              </a:rPr>
              <a:t>區塊鏈實務案例─票卷交易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118588" y="1016698"/>
            <a:ext cx="9315968" cy="537968"/>
          </a:xfrm>
          <a:prstGeom prst="rect">
            <a:avLst/>
          </a:prstGeom>
        </p:spPr>
        <p:txBody>
          <a:bodyPr wrap="square">
            <a:spAutoFit/>
          </a:bodyPr>
          <a:lstStyle/>
          <a:p>
            <a:pPr marL="914400" lvl="1" indent="-457200">
              <a:lnSpc>
                <a:spcPct val="150000"/>
              </a:lnSpc>
              <a:buBlip>
                <a:blip r:embed="rId2"/>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導入區塊鏈技術之票券交易</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grpSp>
        <p:nvGrpSpPr>
          <p:cNvPr id="3" name="群組 2">
            <a:extLst>
              <a:ext uri="{FF2B5EF4-FFF2-40B4-BE49-F238E27FC236}">
                <a16:creationId xmlns:a16="http://schemas.microsoft.com/office/drawing/2014/main" id="{018DD4CA-6B28-4279-9FEA-83F8B0565399}"/>
              </a:ext>
            </a:extLst>
          </p:cNvPr>
          <p:cNvGrpSpPr/>
          <p:nvPr/>
        </p:nvGrpSpPr>
        <p:grpSpPr>
          <a:xfrm>
            <a:off x="1516274" y="2052966"/>
            <a:ext cx="9676700" cy="4814270"/>
            <a:chOff x="1516274" y="2052966"/>
            <a:chExt cx="9676700" cy="4814270"/>
          </a:xfrm>
        </p:grpSpPr>
        <p:grpSp>
          <p:nvGrpSpPr>
            <p:cNvPr id="4" name="群組 3">
              <a:extLst>
                <a:ext uri="{FF2B5EF4-FFF2-40B4-BE49-F238E27FC236}">
                  <a16:creationId xmlns:a16="http://schemas.microsoft.com/office/drawing/2014/main" id="{18CFF75F-10AD-4E9C-8D99-EC17FA7B3054}"/>
                </a:ext>
              </a:extLst>
            </p:cNvPr>
            <p:cNvGrpSpPr/>
            <p:nvPr/>
          </p:nvGrpSpPr>
          <p:grpSpPr>
            <a:xfrm>
              <a:off x="1516274" y="2052966"/>
              <a:ext cx="9676700" cy="4814270"/>
              <a:chOff x="2616149" y="2981468"/>
              <a:chExt cx="7864866" cy="3912863"/>
            </a:xfrm>
          </p:grpSpPr>
          <p:sp>
            <p:nvSpPr>
              <p:cNvPr id="10" name="Freeform 8">
                <a:extLst>
                  <a:ext uri="{FF2B5EF4-FFF2-40B4-BE49-F238E27FC236}">
                    <a16:creationId xmlns:a16="http://schemas.microsoft.com/office/drawing/2014/main" id="{5081BB8D-0AEE-4BA9-A17C-B990378E92E1}"/>
                  </a:ext>
                </a:extLst>
              </p:cNvPr>
              <p:cNvSpPr>
                <a:spLocks noChangeArrowheads="1"/>
              </p:cNvSpPr>
              <p:nvPr/>
            </p:nvSpPr>
            <p:spPr bwMode="auto">
              <a:xfrm>
                <a:off x="5651620" y="3373754"/>
                <a:ext cx="1764614" cy="1758334"/>
              </a:xfrm>
              <a:custGeom>
                <a:avLst/>
                <a:gdLst>
                  <a:gd name="T0" fmla="*/ 1049 w 2098"/>
                  <a:gd name="T1" fmla="*/ 0 h 2093"/>
                  <a:gd name="T2" fmla="*/ 1165 w 2098"/>
                  <a:gd name="T3" fmla="*/ 125 h 2093"/>
                  <a:gd name="T4" fmla="*/ 1314 w 2098"/>
                  <a:gd name="T5" fmla="*/ 31 h 2093"/>
                  <a:gd name="T6" fmla="*/ 1391 w 2098"/>
                  <a:gd name="T7" fmla="*/ 185 h 2093"/>
                  <a:gd name="T8" fmla="*/ 1554 w 2098"/>
                  <a:gd name="T9" fmla="*/ 130 h 2093"/>
                  <a:gd name="T10" fmla="*/ 1597 w 2098"/>
                  <a:gd name="T11" fmla="*/ 296 h 2093"/>
                  <a:gd name="T12" fmla="*/ 1767 w 2098"/>
                  <a:gd name="T13" fmla="*/ 284 h 2093"/>
                  <a:gd name="T14" fmla="*/ 1767 w 2098"/>
                  <a:gd name="T15" fmla="*/ 459 h 2093"/>
                  <a:gd name="T16" fmla="*/ 1935 w 2098"/>
                  <a:gd name="T17" fmla="*/ 489 h 2093"/>
                  <a:gd name="T18" fmla="*/ 1892 w 2098"/>
                  <a:gd name="T19" fmla="*/ 652 h 2093"/>
                  <a:gd name="T20" fmla="*/ 2050 w 2098"/>
                  <a:gd name="T21" fmla="*/ 728 h 2093"/>
                  <a:gd name="T22" fmla="*/ 1965 w 2098"/>
                  <a:gd name="T23" fmla="*/ 874 h 2093"/>
                  <a:gd name="T24" fmla="*/ 2098 w 2098"/>
                  <a:gd name="T25" fmla="*/ 985 h 2093"/>
                  <a:gd name="T26" fmla="*/ 1977 w 2098"/>
                  <a:gd name="T27" fmla="*/ 1106 h 2093"/>
                  <a:gd name="T28" fmla="*/ 2081 w 2098"/>
                  <a:gd name="T29" fmla="*/ 1250 h 2093"/>
                  <a:gd name="T30" fmla="*/ 1935 w 2098"/>
                  <a:gd name="T31" fmla="*/ 1340 h 2093"/>
                  <a:gd name="T32" fmla="*/ 1999 w 2098"/>
                  <a:gd name="T33" fmla="*/ 1496 h 2093"/>
                  <a:gd name="T34" fmla="*/ 1836 w 2098"/>
                  <a:gd name="T35" fmla="*/ 1550 h 2093"/>
                  <a:gd name="T36" fmla="*/ 1862 w 2098"/>
                  <a:gd name="T37" fmla="*/ 1718 h 2093"/>
                  <a:gd name="T38" fmla="*/ 1687 w 2098"/>
                  <a:gd name="T39" fmla="*/ 1729 h 2093"/>
                  <a:gd name="T40" fmla="*/ 1665 w 2098"/>
                  <a:gd name="T41" fmla="*/ 1897 h 2093"/>
                  <a:gd name="T42" fmla="*/ 1498 w 2098"/>
                  <a:gd name="T43" fmla="*/ 1866 h 2093"/>
                  <a:gd name="T44" fmla="*/ 1434 w 2098"/>
                  <a:gd name="T45" fmla="*/ 2029 h 2093"/>
                  <a:gd name="T46" fmla="*/ 1280 w 2098"/>
                  <a:gd name="T47" fmla="*/ 1949 h 2093"/>
                  <a:gd name="T48" fmla="*/ 1181 w 2098"/>
                  <a:gd name="T49" fmla="*/ 2093 h 2093"/>
                  <a:gd name="T50" fmla="*/ 1049 w 2098"/>
                  <a:gd name="T51" fmla="*/ 1982 h 2093"/>
                  <a:gd name="T52" fmla="*/ 917 w 2098"/>
                  <a:gd name="T53" fmla="*/ 2093 h 2093"/>
                  <a:gd name="T54" fmla="*/ 817 w 2098"/>
                  <a:gd name="T55" fmla="*/ 1949 h 2093"/>
                  <a:gd name="T56" fmla="*/ 664 w 2098"/>
                  <a:gd name="T57" fmla="*/ 2029 h 2093"/>
                  <a:gd name="T58" fmla="*/ 600 w 2098"/>
                  <a:gd name="T59" fmla="*/ 1866 h 2093"/>
                  <a:gd name="T60" fmla="*/ 432 w 2098"/>
                  <a:gd name="T61" fmla="*/ 1897 h 2093"/>
                  <a:gd name="T62" fmla="*/ 411 w 2098"/>
                  <a:gd name="T63" fmla="*/ 1729 h 2093"/>
                  <a:gd name="T64" fmla="*/ 236 w 2098"/>
                  <a:gd name="T65" fmla="*/ 1718 h 2093"/>
                  <a:gd name="T66" fmla="*/ 262 w 2098"/>
                  <a:gd name="T67" fmla="*/ 1550 h 2093"/>
                  <a:gd name="T68" fmla="*/ 99 w 2098"/>
                  <a:gd name="T69" fmla="*/ 1496 h 2093"/>
                  <a:gd name="T70" fmla="*/ 163 w 2098"/>
                  <a:gd name="T71" fmla="*/ 1340 h 2093"/>
                  <a:gd name="T72" fmla="*/ 17 w 2098"/>
                  <a:gd name="T73" fmla="*/ 1250 h 2093"/>
                  <a:gd name="T74" fmla="*/ 121 w 2098"/>
                  <a:gd name="T75" fmla="*/ 1106 h 2093"/>
                  <a:gd name="T76" fmla="*/ 0 w 2098"/>
                  <a:gd name="T77" fmla="*/ 985 h 2093"/>
                  <a:gd name="T78" fmla="*/ 132 w 2098"/>
                  <a:gd name="T79" fmla="*/ 874 h 2093"/>
                  <a:gd name="T80" fmla="*/ 47 w 2098"/>
                  <a:gd name="T81" fmla="*/ 728 h 2093"/>
                  <a:gd name="T82" fmla="*/ 206 w 2098"/>
                  <a:gd name="T83" fmla="*/ 652 h 2093"/>
                  <a:gd name="T84" fmla="*/ 163 w 2098"/>
                  <a:gd name="T85" fmla="*/ 489 h 2093"/>
                  <a:gd name="T86" fmla="*/ 331 w 2098"/>
                  <a:gd name="T87" fmla="*/ 459 h 2093"/>
                  <a:gd name="T88" fmla="*/ 331 w 2098"/>
                  <a:gd name="T89" fmla="*/ 284 h 2093"/>
                  <a:gd name="T90" fmla="*/ 501 w 2098"/>
                  <a:gd name="T91" fmla="*/ 296 h 2093"/>
                  <a:gd name="T92" fmla="*/ 543 w 2098"/>
                  <a:gd name="T93" fmla="*/ 130 h 2093"/>
                  <a:gd name="T94" fmla="*/ 706 w 2098"/>
                  <a:gd name="T95" fmla="*/ 185 h 2093"/>
                  <a:gd name="T96" fmla="*/ 784 w 2098"/>
                  <a:gd name="T97" fmla="*/ 31 h 2093"/>
                  <a:gd name="T98" fmla="*/ 933 w 2098"/>
                  <a:gd name="T99" fmla="*/ 125 h 2093"/>
                  <a:gd name="T100" fmla="*/ 1049 w 2098"/>
                  <a:gd name="T101" fmla="*/ 0 h 209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098"/>
                  <a:gd name="T154" fmla="*/ 0 h 2093"/>
                  <a:gd name="T155" fmla="*/ 2098 w 2098"/>
                  <a:gd name="T156" fmla="*/ 2093 h 209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098" h="2093">
                    <a:moveTo>
                      <a:pt x="1049" y="0"/>
                    </a:moveTo>
                    <a:lnTo>
                      <a:pt x="1165" y="125"/>
                    </a:lnTo>
                    <a:lnTo>
                      <a:pt x="1314" y="31"/>
                    </a:lnTo>
                    <a:lnTo>
                      <a:pt x="1391" y="185"/>
                    </a:lnTo>
                    <a:lnTo>
                      <a:pt x="1554" y="130"/>
                    </a:lnTo>
                    <a:lnTo>
                      <a:pt x="1597" y="296"/>
                    </a:lnTo>
                    <a:lnTo>
                      <a:pt x="1767" y="284"/>
                    </a:lnTo>
                    <a:lnTo>
                      <a:pt x="1767" y="459"/>
                    </a:lnTo>
                    <a:lnTo>
                      <a:pt x="1935" y="489"/>
                    </a:lnTo>
                    <a:lnTo>
                      <a:pt x="1892" y="652"/>
                    </a:lnTo>
                    <a:lnTo>
                      <a:pt x="2050" y="728"/>
                    </a:lnTo>
                    <a:lnTo>
                      <a:pt x="1965" y="874"/>
                    </a:lnTo>
                    <a:lnTo>
                      <a:pt x="2098" y="985"/>
                    </a:lnTo>
                    <a:lnTo>
                      <a:pt x="1977" y="1106"/>
                    </a:lnTo>
                    <a:lnTo>
                      <a:pt x="2081" y="1250"/>
                    </a:lnTo>
                    <a:lnTo>
                      <a:pt x="1935" y="1340"/>
                    </a:lnTo>
                    <a:lnTo>
                      <a:pt x="1999" y="1496"/>
                    </a:lnTo>
                    <a:lnTo>
                      <a:pt x="1836" y="1550"/>
                    </a:lnTo>
                    <a:lnTo>
                      <a:pt x="1862" y="1718"/>
                    </a:lnTo>
                    <a:lnTo>
                      <a:pt x="1687" y="1729"/>
                    </a:lnTo>
                    <a:lnTo>
                      <a:pt x="1665" y="1897"/>
                    </a:lnTo>
                    <a:lnTo>
                      <a:pt x="1498" y="1866"/>
                    </a:lnTo>
                    <a:lnTo>
                      <a:pt x="1434" y="2029"/>
                    </a:lnTo>
                    <a:lnTo>
                      <a:pt x="1280" y="1949"/>
                    </a:lnTo>
                    <a:lnTo>
                      <a:pt x="1181" y="2093"/>
                    </a:lnTo>
                    <a:lnTo>
                      <a:pt x="1049" y="1982"/>
                    </a:lnTo>
                    <a:lnTo>
                      <a:pt x="917" y="2093"/>
                    </a:lnTo>
                    <a:lnTo>
                      <a:pt x="817" y="1949"/>
                    </a:lnTo>
                    <a:lnTo>
                      <a:pt x="664" y="2029"/>
                    </a:lnTo>
                    <a:lnTo>
                      <a:pt x="600" y="1866"/>
                    </a:lnTo>
                    <a:lnTo>
                      <a:pt x="432" y="1897"/>
                    </a:lnTo>
                    <a:lnTo>
                      <a:pt x="411" y="1729"/>
                    </a:lnTo>
                    <a:lnTo>
                      <a:pt x="236" y="1718"/>
                    </a:lnTo>
                    <a:lnTo>
                      <a:pt x="262" y="1550"/>
                    </a:lnTo>
                    <a:lnTo>
                      <a:pt x="99" y="1496"/>
                    </a:lnTo>
                    <a:lnTo>
                      <a:pt x="163" y="1340"/>
                    </a:lnTo>
                    <a:lnTo>
                      <a:pt x="17" y="1250"/>
                    </a:lnTo>
                    <a:lnTo>
                      <a:pt x="121" y="1106"/>
                    </a:lnTo>
                    <a:lnTo>
                      <a:pt x="0" y="985"/>
                    </a:lnTo>
                    <a:lnTo>
                      <a:pt x="132" y="874"/>
                    </a:lnTo>
                    <a:lnTo>
                      <a:pt x="47" y="728"/>
                    </a:lnTo>
                    <a:lnTo>
                      <a:pt x="206" y="652"/>
                    </a:lnTo>
                    <a:lnTo>
                      <a:pt x="163" y="489"/>
                    </a:lnTo>
                    <a:lnTo>
                      <a:pt x="331" y="459"/>
                    </a:lnTo>
                    <a:lnTo>
                      <a:pt x="331" y="284"/>
                    </a:lnTo>
                    <a:lnTo>
                      <a:pt x="501" y="296"/>
                    </a:lnTo>
                    <a:lnTo>
                      <a:pt x="543" y="130"/>
                    </a:lnTo>
                    <a:lnTo>
                      <a:pt x="706" y="185"/>
                    </a:lnTo>
                    <a:lnTo>
                      <a:pt x="784" y="31"/>
                    </a:lnTo>
                    <a:lnTo>
                      <a:pt x="933" y="125"/>
                    </a:lnTo>
                    <a:lnTo>
                      <a:pt x="1049" y="0"/>
                    </a:lnTo>
                    <a:close/>
                  </a:path>
                </a:pathLst>
              </a:custGeom>
              <a:solidFill>
                <a:srgbClr val="9ABC4D"/>
              </a:solidFill>
              <a:ln>
                <a:noFill/>
              </a:ln>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12" name="Freeform 39">
                <a:extLst>
                  <a:ext uri="{FF2B5EF4-FFF2-40B4-BE49-F238E27FC236}">
                    <a16:creationId xmlns:a16="http://schemas.microsoft.com/office/drawing/2014/main" id="{F04C6E61-BEE0-4296-9C45-42E9CD860021}"/>
                  </a:ext>
                </a:extLst>
              </p:cNvPr>
              <p:cNvSpPr>
                <a:spLocks noEditPoints="1" noChangeArrowheads="1"/>
              </p:cNvSpPr>
              <p:nvPr/>
            </p:nvSpPr>
            <p:spPr bwMode="auto">
              <a:xfrm>
                <a:off x="4946781" y="4388780"/>
                <a:ext cx="525408" cy="523314"/>
              </a:xfrm>
              <a:custGeom>
                <a:avLst/>
                <a:gdLst>
                  <a:gd name="T0" fmla="*/ 242 w 264"/>
                  <a:gd name="T1" fmla="*/ 145 h 264"/>
                  <a:gd name="T2" fmla="*/ 239 w 264"/>
                  <a:gd name="T3" fmla="*/ 104 h 264"/>
                  <a:gd name="T4" fmla="*/ 262 w 264"/>
                  <a:gd name="T5" fmla="*/ 84 h 264"/>
                  <a:gd name="T6" fmla="*/ 240 w 264"/>
                  <a:gd name="T7" fmla="*/ 51 h 264"/>
                  <a:gd name="T8" fmla="*/ 213 w 264"/>
                  <a:gd name="T9" fmla="*/ 56 h 264"/>
                  <a:gd name="T10" fmla="*/ 178 w 264"/>
                  <a:gd name="T11" fmla="*/ 33 h 264"/>
                  <a:gd name="T12" fmla="*/ 177 w 264"/>
                  <a:gd name="T13" fmla="*/ 4 h 264"/>
                  <a:gd name="T14" fmla="*/ 137 w 264"/>
                  <a:gd name="T15" fmla="*/ 0 h 264"/>
                  <a:gd name="T16" fmla="*/ 124 w 264"/>
                  <a:gd name="T17" fmla="*/ 24 h 264"/>
                  <a:gd name="T18" fmla="*/ 85 w 264"/>
                  <a:gd name="T19" fmla="*/ 36 h 264"/>
                  <a:gd name="T20" fmla="*/ 60 w 264"/>
                  <a:gd name="T21" fmla="*/ 19 h 264"/>
                  <a:gd name="T22" fmla="*/ 32 w 264"/>
                  <a:gd name="T23" fmla="*/ 48 h 264"/>
                  <a:gd name="T24" fmla="*/ 44 w 264"/>
                  <a:gd name="T25" fmla="*/ 72 h 264"/>
                  <a:gd name="T26" fmla="*/ 29 w 264"/>
                  <a:gd name="T27" fmla="*/ 111 h 264"/>
                  <a:gd name="T28" fmla="*/ 0 w 264"/>
                  <a:gd name="T29" fmla="*/ 119 h 264"/>
                  <a:gd name="T30" fmla="*/ 5 w 264"/>
                  <a:gd name="T31" fmla="*/ 158 h 264"/>
                  <a:gd name="T32" fmla="*/ 32 w 264"/>
                  <a:gd name="T33" fmla="*/ 165 h 264"/>
                  <a:gd name="T34" fmla="*/ 53 w 264"/>
                  <a:gd name="T35" fmla="*/ 201 h 264"/>
                  <a:gd name="T36" fmla="*/ 41 w 264"/>
                  <a:gd name="T37" fmla="*/ 228 h 264"/>
                  <a:gd name="T38" fmla="*/ 75 w 264"/>
                  <a:gd name="T39" fmla="*/ 249 h 264"/>
                  <a:gd name="T40" fmla="*/ 97 w 264"/>
                  <a:gd name="T41" fmla="*/ 232 h 264"/>
                  <a:gd name="T42" fmla="*/ 138 w 264"/>
                  <a:gd name="T43" fmla="*/ 238 h 264"/>
                  <a:gd name="T44" fmla="*/ 153 w 264"/>
                  <a:gd name="T45" fmla="*/ 264 h 264"/>
                  <a:gd name="T46" fmla="*/ 191 w 264"/>
                  <a:gd name="T47" fmla="*/ 251 h 264"/>
                  <a:gd name="T48" fmla="*/ 191 w 264"/>
                  <a:gd name="T49" fmla="*/ 223 h 264"/>
                  <a:gd name="T50" fmla="*/ 221 w 264"/>
                  <a:gd name="T51" fmla="*/ 195 h 264"/>
                  <a:gd name="T52" fmla="*/ 251 w 264"/>
                  <a:gd name="T53" fmla="*/ 200 h 264"/>
                  <a:gd name="T54" fmla="*/ 264 w 264"/>
                  <a:gd name="T55" fmla="*/ 162 h 264"/>
                  <a:gd name="T56" fmla="*/ 242 w 264"/>
                  <a:gd name="T57" fmla="*/ 145 h 264"/>
                  <a:gd name="T58" fmla="*/ 132 w 264"/>
                  <a:gd name="T59" fmla="*/ 217 h 264"/>
                  <a:gd name="T60" fmla="*/ 46 w 264"/>
                  <a:gd name="T61" fmla="*/ 132 h 264"/>
                  <a:gd name="T62" fmla="*/ 132 w 264"/>
                  <a:gd name="T63" fmla="*/ 46 h 264"/>
                  <a:gd name="T64" fmla="*/ 217 w 264"/>
                  <a:gd name="T65" fmla="*/ 132 h 264"/>
                  <a:gd name="T66" fmla="*/ 132 w 264"/>
                  <a:gd name="T67" fmla="*/ 217 h 26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4"/>
                  <a:gd name="T103" fmla="*/ 0 h 264"/>
                  <a:gd name="T104" fmla="*/ 264 w 264"/>
                  <a:gd name="T105" fmla="*/ 264 h 26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4" h="264">
                    <a:moveTo>
                      <a:pt x="242" y="145"/>
                    </a:moveTo>
                    <a:cubicBezTo>
                      <a:pt x="239" y="104"/>
                      <a:pt x="239" y="104"/>
                      <a:pt x="239" y="104"/>
                    </a:cubicBezTo>
                    <a:cubicBezTo>
                      <a:pt x="262" y="84"/>
                      <a:pt x="262" y="84"/>
                      <a:pt x="262" y="84"/>
                    </a:cubicBezTo>
                    <a:cubicBezTo>
                      <a:pt x="240" y="51"/>
                      <a:pt x="240" y="51"/>
                      <a:pt x="240" y="51"/>
                    </a:cubicBezTo>
                    <a:cubicBezTo>
                      <a:pt x="213" y="56"/>
                      <a:pt x="213" y="56"/>
                      <a:pt x="213" y="56"/>
                    </a:cubicBezTo>
                    <a:cubicBezTo>
                      <a:pt x="178" y="33"/>
                      <a:pt x="178" y="33"/>
                      <a:pt x="178" y="33"/>
                    </a:cubicBezTo>
                    <a:cubicBezTo>
                      <a:pt x="177" y="4"/>
                      <a:pt x="177" y="4"/>
                      <a:pt x="177" y="4"/>
                    </a:cubicBezTo>
                    <a:cubicBezTo>
                      <a:pt x="137" y="0"/>
                      <a:pt x="137" y="0"/>
                      <a:pt x="137" y="0"/>
                    </a:cubicBezTo>
                    <a:cubicBezTo>
                      <a:pt x="124" y="24"/>
                      <a:pt x="124" y="24"/>
                      <a:pt x="124" y="24"/>
                    </a:cubicBezTo>
                    <a:cubicBezTo>
                      <a:pt x="85" y="36"/>
                      <a:pt x="85" y="36"/>
                      <a:pt x="85" y="36"/>
                    </a:cubicBezTo>
                    <a:cubicBezTo>
                      <a:pt x="60" y="19"/>
                      <a:pt x="60" y="19"/>
                      <a:pt x="60" y="19"/>
                    </a:cubicBezTo>
                    <a:cubicBezTo>
                      <a:pt x="32" y="48"/>
                      <a:pt x="32" y="48"/>
                      <a:pt x="32" y="48"/>
                    </a:cubicBezTo>
                    <a:cubicBezTo>
                      <a:pt x="44" y="72"/>
                      <a:pt x="44" y="72"/>
                      <a:pt x="44" y="72"/>
                    </a:cubicBezTo>
                    <a:cubicBezTo>
                      <a:pt x="29" y="111"/>
                      <a:pt x="29" y="111"/>
                      <a:pt x="29" y="111"/>
                    </a:cubicBezTo>
                    <a:cubicBezTo>
                      <a:pt x="0" y="119"/>
                      <a:pt x="0" y="119"/>
                      <a:pt x="0" y="119"/>
                    </a:cubicBezTo>
                    <a:cubicBezTo>
                      <a:pt x="5" y="158"/>
                      <a:pt x="5" y="158"/>
                      <a:pt x="5" y="158"/>
                    </a:cubicBezTo>
                    <a:cubicBezTo>
                      <a:pt x="32" y="165"/>
                      <a:pt x="32" y="165"/>
                      <a:pt x="32" y="165"/>
                    </a:cubicBezTo>
                    <a:cubicBezTo>
                      <a:pt x="53" y="201"/>
                      <a:pt x="53" y="201"/>
                      <a:pt x="53" y="201"/>
                    </a:cubicBezTo>
                    <a:cubicBezTo>
                      <a:pt x="41" y="228"/>
                      <a:pt x="41" y="228"/>
                      <a:pt x="41" y="228"/>
                    </a:cubicBezTo>
                    <a:cubicBezTo>
                      <a:pt x="75" y="249"/>
                      <a:pt x="75" y="249"/>
                      <a:pt x="75" y="249"/>
                    </a:cubicBezTo>
                    <a:cubicBezTo>
                      <a:pt x="97" y="232"/>
                      <a:pt x="97" y="232"/>
                      <a:pt x="97" y="232"/>
                    </a:cubicBezTo>
                    <a:cubicBezTo>
                      <a:pt x="138" y="238"/>
                      <a:pt x="138" y="238"/>
                      <a:pt x="138" y="238"/>
                    </a:cubicBezTo>
                    <a:cubicBezTo>
                      <a:pt x="153" y="264"/>
                      <a:pt x="153" y="264"/>
                      <a:pt x="153" y="264"/>
                    </a:cubicBezTo>
                    <a:cubicBezTo>
                      <a:pt x="191" y="251"/>
                      <a:pt x="191" y="251"/>
                      <a:pt x="191" y="251"/>
                    </a:cubicBezTo>
                    <a:cubicBezTo>
                      <a:pt x="191" y="223"/>
                      <a:pt x="191" y="223"/>
                      <a:pt x="191" y="223"/>
                    </a:cubicBezTo>
                    <a:cubicBezTo>
                      <a:pt x="221" y="195"/>
                      <a:pt x="221" y="195"/>
                      <a:pt x="221" y="195"/>
                    </a:cubicBezTo>
                    <a:cubicBezTo>
                      <a:pt x="251" y="200"/>
                      <a:pt x="251" y="200"/>
                      <a:pt x="251" y="200"/>
                    </a:cubicBezTo>
                    <a:cubicBezTo>
                      <a:pt x="264" y="162"/>
                      <a:pt x="264" y="162"/>
                      <a:pt x="264" y="162"/>
                    </a:cubicBezTo>
                    <a:lnTo>
                      <a:pt x="242" y="145"/>
                    </a:lnTo>
                    <a:close/>
                    <a:moveTo>
                      <a:pt x="132" y="217"/>
                    </a:moveTo>
                    <a:cubicBezTo>
                      <a:pt x="85" y="217"/>
                      <a:pt x="46" y="179"/>
                      <a:pt x="46" y="132"/>
                    </a:cubicBezTo>
                    <a:cubicBezTo>
                      <a:pt x="46" y="85"/>
                      <a:pt x="85" y="46"/>
                      <a:pt x="132" y="46"/>
                    </a:cubicBezTo>
                    <a:cubicBezTo>
                      <a:pt x="179" y="46"/>
                      <a:pt x="217" y="85"/>
                      <a:pt x="217" y="132"/>
                    </a:cubicBezTo>
                    <a:cubicBezTo>
                      <a:pt x="217" y="179"/>
                      <a:pt x="179" y="217"/>
                      <a:pt x="132" y="217"/>
                    </a:cubicBezTo>
                    <a:close/>
                  </a:path>
                </a:pathLst>
              </a:custGeom>
              <a:solidFill>
                <a:srgbClr val="ECF0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13" name="Freeform 42">
                <a:extLst>
                  <a:ext uri="{FF2B5EF4-FFF2-40B4-BE49-F238E27FC236}">
                    <a16:creationId xmlns:a16="http://schemas.microsoft.com/office/drawing/2014/main" id="{EF525997-2337-446B-8E63-3B98FEF9E215}"/>
                  </a:ext>
                </a:extLst>
              </p:cNvPr>
              <p:cNvSpPr>
                <a:spLocks noEditPoints="1" noChangeArrowheads="1"/>
              </p:cNvSpPr>
              <p:nvPr/>
            </p:nvSpPr>
            <p:spPr bwMode="auto">
              <a:xfrm>
                <a:off x="7354774" y="3280096"/>
                <a:ext cx="510756" cy="383066"/>
              </a:xfrm>
              <a:custGeom>
                <a:avLst/>
                <a:gdLst>
                  <a:gd name="T0" fmla="*/ 225 w 257"/>
                  <a:gd name="T1" fmla="*/ 0 h 193"/>
                  <a:gd name="T2" fmla="*/ 32 w 257"/>
                  <a:gd name="T3" fmla="*/ 0 h 193"/>
                  <a:gd name="T4" fmla="*/ 0 w 257"/>
                  <a:gd name="T5" fmla="*/ 32 h 193"/>
                  <a:gd name="T6" fmla="*/ 0 w 257"/>
                  <a:gd name="T7" fmla="*/ 160 h 193"/>
                  <a:gd name="T8" fmla="*/ 32 w 257"/>
                  <a:gd name="T9" fmla="*/ 193 h 193"/>
                  <a:gd name="T10" fmla="*/ 225 w 257"/>
                  <a:gd name="T11" fmla="*/ 193 h 193"/>
                  <a:gd name="T12" fmla="*/ 257 w 257"/>
                  <a:gd name="T13" fmla="*/ 160 h 193"/>
                  <a:gd name="T14" fmla="*/ 257 w 257"/>
                  <a:gd name="T15" fmla="*/ 32 h 193"/>
                  <a:gd name="T16" fmla="*/ 225 w 257"/>
                  <a:gd name="T17" fmla="*/ 0 h 193"/>
                  <a:gd name="T18" fmla="*/ 209 w 257"/>
                  <a:gd name="T19" fmla="*/ 16 h 193"/>
                  <a:gd name="T20" fmla="*/ 225 w 257"/>
                  <a:gd name="T21" fmla="*/ 16 h 193"/>
                  <a:gd name="T22" fmla="*/ 225 w 257"/>
                  <a:gd name="T23" fmla="*/ 32 h 193"/>
                  <a:gd name="T24" fmla="*/ 209 w 257"/>
                  <a:gd name="T25" fmla="*/ 32 h 193"/>
                  <a:gd name="T26" fmla="*/ 209 w 257"/>
                  <a:gd name="T27" fmla="*/ 16 h 193"/>
                  <a:gd name="T28" fmla="*/ 176 w 257"/>
                  <a:gd name="T29" fmla="*/ 16 h 193"/>
                  <a:gd name="T30" fmla="*/ 193 w 257"/>
                  <a:gd name="T31" fmla="*/ 16 h 193"/>
                  <a:gd name="T32" fmla="*/ 193 w 257"/>
                  <a:gd name="T33" fmla="*/ 32 h 193"/>
                  <a:gd name="T34" fmla="*/ 176 w 257"/>
                  <a:gd name="T35" fmla="*/ 32 h 193"/>
                  <a:gd name="T36" fmla="*/ 176 w 257"/>
                  <a:gd name="T37" fmla="*/ 16 h 193"/>
                  <a:gd name="T38" fmla="*/ 144 w 257"/>
                  <a:gd name="T39" fmla="*/ 16 h 193"/>
                  <a:gd name="T40" fmla="*/ 160 w 257"/>
                  <a:gd name="T41" fmla="*/ 16 h 193"/>
                  <a:gd name="T42" fmla="*/ 160 w 257"/>
                  <a:gd name="T43" fmla="*/ 32 h 193"/>
                  <a:gd name="T44" fmla="*/ 144 w 257"/>
                  <a:gd name="T45" fmla="*/ 32 h 193"/>
                  <a:gd name="T46" fmla="*/ 144 w 257"/>
                  <a:gd name="T47" fmla="*/ 16 h 193"/>
                  <a:gd name="T48" fmla="*/ 241 w 257"/>
                  <a:gd name="T49" fmla="*/ 176 h 193"/>
                  <a:gd name="T50" fmla="*/ 16 w 257"/>
                  <a:gd name="T51" fmla="*/ 176 h 193"/>
                  <a:gd name="T52" fmla="*/ 16 w 257"/>
                  <a:gd name="T53" fmla="*/ 48 h 193"/>
                  <a:gd name="T54" fmla="*/ 241 w 257"/>
                  <a:gd name="T55" fmla="*/ 48 h 193"/>
                  <a:gd name="T56" fmla="*/ 241 w 257"/>
                  <a:gd name="T57" fmla="*/ 176 h 19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7"/>
                  <a:gd name="T88" fmla="*/ 0 h 193"/>
                  <a:gd name="T89" fmla="*/ 257 w 257"/>
                  <a:gd name="T90" fmla="*/ 193 h 19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7" h="193">
                    <a:moveTo>
                      <a:pt x="225" y="0"/>
                    </a:moveTo>
                    <a:cubicBezTo>
                      <a:pt x="32" y="0"/>
                      <a:pt x="32" y="0"/>
                      <a:pt x="32" y="0"/>
                    </a:cubicBezTo>
                    <a:cubicBezTo>
                      <a:pt x="14" y="0"/>
                      <a:pt x="0" y="14"/>
                      <a:pt x="0" y="32"/>
                    </a:cubicBezTo>
                    <a:cubicBezTo>
                      <a:pt x="0" y="160"/>
                      <a:pt x="0" y="160"/>
                      <a:pt x="0" y="160"/>
                    </a:cubicBezTo>
                    <a:cubicBezTo>
                      <a:pt x="0" y="178"/>
                      <a:pt x="14" y="193"/>
                      <a:pt x="32" y="193"/>
                    </a:cubicBezTo>
                    <a:cubicBezTo>
                      <a:pt x="225" y="193"/>
                      <a:pt x="225" y="193"/>
                      <a:pt x="225" y="193"/>
                    </a:cubicBezTo>
                    <a:cubicBezTo>
                      <a:pt x="242" y="193"/>
                      <a:pt x="257" y="178"/>
                      <a:pt x="257" y="160"/>
                    </a:cubicBezTo>
                    <a:cubicBezTo>
                      <a:pt x="257" y="32"/>
                      <a:pt x="257" y="32"/>
                      <a:pt x="257" y="32"/>
                    </a:cubicBezTo>
                    <a:cubicBezTo>
                      <a:pt x="257" y="14"/>
                      <a:pt x="242" y="0"/>
                      <a:pt x="225" y="0"/>
                    </a:cubicBezTo>
                    <a:close/>
                    <a:moveTo>
                      <a:pt x="209" y="16"/>
                    </a:moveTo>
                    <a:cubicBezTo>
                      <a:pt x="225" y="16"/>
                      <a:pt x="225" y="16"/>
                      <a:pt x="225" y="16"/>
                    </a:cubicBezTo>
                    <a:cubicBezTo>
                      <a:pt x="225" y="32"/>
                      <a:pt x="225" y="32"/>
                      <a:pt x="225" y="32"/>
                    </a:cubicBezTo>
                    <a:cubicBezTo>
                      <a:pt x="209" y="32"/>
                      <a:pt x="209" y="32"/>
                      <a:pt x="209" y="32"/>
                    </a:cubicBezTo>
                    <a:lnTo>
                      <a:pt x="209" y="16"/>
                    </a:lnTo>
                    <a:close/>
                    <a:moveTo>
                      <a:pt x="176" y="16"/>
                    </a:moveTo>
                    <a:cubicBezTo>
                      <a:pt x="193" y="16"/>
                      <a:pt x="193" y="16"/>
                      <a:pt x="193" y="16"/>
                    </a:cubicBezTo>
                    <a:cubicBezTo>
                      <a:pt x="193" y="32"/>
                      <a:pt x="193" y="32"/>
                      <a:pt x="193" y="32"/>
                    </a:cubicBezTo>
                    <a:cubicBezTo>
                      <a:pt x="176" y="32"/>
                      <a:pt x="176" y="32"/>
                      <a:pt x="176" y="32"/>
                    </a:cubicBezTo>
                    <a:lnTo>
                      <a:pt x="176" y="16"/>
                    </a:lnTo>
                    <a:close/>
                    <a:moveTo>
                      <a:pt x="144" y="16"/>
                    </a:moveTo>
                    <a:cubicBezTo>
                      <a:pt x="160" y="16"/>
                      <a:pt x="160" y="16"/>
                      <a:pt x="160" y="16"/>
                    </a:cubicBezTo>
                    <a:cubicBezTo>
                      <a:pt x="160" y="32"/>
                      <a:pt x="160" y="32"/>
                      <a:pt x="160" y="32"/>
                    </a:cubicBezTo>
                    <a:cubicBezTo>
                      <a:pt x="144" y="32"/>
                      <a:pt x="144" y="32"/>
                      <a:pt x="144" y="32"/>
                    </a:cubicBezTo>
                    <a:lnTo>
                      <a:pt x="144" y="16"/>
                    </a:lnTo>
                    <a:close/>
                    <a:moveTo>
                      <a:pt x="241" y="176"/>
                    </a:moveTo>
                    <a:cubicBezTo>
                      <a:pt x="16" y="176"/>
                      <a:pt x="16" y="176"/>
                      <a:pt x="16" y="176"/>
                    </a:cubicBezTo>
                    <a:cubicBezTo>
                      <a:pt x="16" y="48"/>
                      <a:pt x="16" y="48"/>
                      <a:pt x="16" y="48"/>
                    </a:cubicBezTo>
                    <a:cubicBezTo>
                      <a:pt x="241" y="48"/>
                      <a:pt x="241" y="48"/>
                      <a:pt x="241" y="48"/>
                    </a:cubicBezTo>
                    <a:lnTo>
                      <a:pt x="241" y="176"/>
                    </a:lnTo>
                    <a:close/>
                  </a:path>
                </a:pathLst>
              </a:custGeom>
              <a:solidFill>
                <a:srgbClr val="ECF0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15" name="Freeform 47">
                <a:extLst>
                  <a:ext uri="{FF2B5EF4-FFF2-40B4-BE49-F238E27FC236}">
                    <a16:creationId xmlns:a16="http://schemas.microsoft.com/office/drawing/2014/main" id="{31CF6DBA-82DF-4AED-895D-01CDCBAE16D3}"/>
                  </a:ext>
                </a:extLst>
              </p:cNvPr>
              <p:cNvSpPr>
                <a:spLocks noChangeArrowheads="1"/>
              </p:cNvSpPr>
              <p:nvPr/>
            </p:nvSpPr>
            <p:spPr bwMode="auto">
              <a:xfrm>
                <a:off x="5996163" y="5528704"/>
                <a:ext cx="295150" cy="221886"/>
              </a:xfrm>
              <a:custGeom>
                <a:avLst/>
                <a:gdLst>
                  <a:gd name="T0" fmla="*/ 352 w 352"/>
                  <a:gd name="T1" fmla="*/ 185 h 265"/>
                  <a:gd name="T2" fmla="*/ 0 w 352"/>
                  <a:gd name="T3" fmla="*/ 0 h 265"/>
                  <a:gd name="T4" fmla="*/ 333 w 352"/>
                  <a:gd name="T5" fmla="*/ 265 h 265"/>
                  <a:gd name="T6" fmla="*/ 352 w 352"/>
                  <a:gd name="T7" fmla="*/ 185 h 265"/>
                  <a:gd name="T8" fmla="*/ 0 60000 65536"/>
                  <a:gd name="T9" fmla="*/ 0 60000 65536"/>
                  <a:gd name="T10" fmla="*/ 0 60000 65536"/>
                  <a:gd name="T11" fmla="*/ 0 60000 65536"/>
                  <a:gd name="T12" fmla="*/ 0 w 352"/>
                  <a:gd name="T13" fmla="*/ 0 h 265"/>
                  <a:gd name="T14" fmla="*/ 352 w 352"/>
                  <a:gd name="T15" fmla="*/ 265 h 265"/>
                </a:gdLst>
                <a:ahLst/>
                <a:cxnLst>
                  <a:cxn ang="T8">
                    <a:pos x="T0" y="T1"/>
                  </a:cxn>
                  <a:cxn ang="T9">
                    <a:pos x="T2" y="T3"/>
                  </a:cxn>
                  <a:cxn ang="T10">
                    <a:pos x="T4" y="T5"/>
                  </a:cxn>
                  <a:cxn ang="T11">
                    <a:pos x="T6" y="T7"/>
                  </a:cxn>
                </a:cxnLst>
                <a:rect l="T12" t="T13" r="T14" b="T15"/>
                <a:pathLst>
                  <a:path w="352" h="265">
                    <a:moveTo>
                      <a:pt x="352" y="185"/>
                    </a:moveTo>
                    <a:lnTo>
                      <a:pt x="0" y="0"/>
                    </a:lnTo>
                    <a:lnTo>
                      <a:pt x="333" y="265"/>
                    </a:lnTo>
                    <a:lnTo>
                      <a:pt x="352" y="185"/>
                    </a:lnTo>
                    <a:close/>
                  </a:path>
                </a:pathLst>
              </a:custGeom>
              <a:solidFill>
                <a:srgbClr val="EFAD8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16" name="Freeform 49">
                <a:extLst>
                  <a:ext uri="{FF2B5EF4-FFF2-40B4-BE49-F238E27FC236}">
                    <a16:creationId xmlns:a16="http://schemas.microsoft.com/office/drawing/2014/main" id="{CF7C924C-A1B1-4A26-9251-AB4CE35EB3B6}"/>
                  </a:ext>
                </a:extLst>
              </p:cNvPr>
              <p:cNvSpPr>
                <a:spLocks noChangeArrowheads="1"/>
              </p:cNvSpPr>
              <p:nvPr/>
            </p:nvSpPr>
            <p:spPr bwMode="auto">
              <a:xfrm>
                <a:off x="6346198" y="5934351"/>
                <a:ext cx="45720" cy="218450"/>
              </a:xfrm>
              <a:custGeom>
                <a:avLst/>
                <a:gdLst>
                  <a:gd name="T0" fmla="*/ 8 w 10"/>
                  <a:gd name="T1" fmla="*/ 0 h 45"/>
                  <a:gd name="T2" fmla="*/ 10 w 10"/>
                  <a:gd name="T3" fmla="*/ 2 h 45"/>
                  <a:gd name="T4" fmla="*/ 4 w 10"/>
                  <a:gd name="T5" fmla="*/ 42 h 45"/>
                  <a:gd name="T6" fmla="*/ 2 w 10"/>
                  <a:gd name="T7" fmla="*/ 44 h 45"/>
                  <a:gd name="T8" fmla="*/ 2 w 10"/>
                  <a:gd name="T9" fmla="*/ 44 h 45"/>
                  <a:gd name="T10" fmla="*/ 0 w 10"/>
                  <a:gd name="T11" fmla="*/ 42 h 45"/>
                  <a:gd name="T12" fmla="*/ 5 w 10"/>
                  <a:gd name="T13" fmla="*/ 2 h 45"/>
                  <a:gd name="T14" fmla="*/ 8 w 10"/>
                  <a:gd name="T15" fmla="*/ 0 h 45"/>
                  <a:gd name="T16" fmla="*/ 0 60000 65536"/>
                  <a:gd name="T17" fmla="*/ 0 60000 65536"/>
                  <a:gd name="T18" fmla="*/ 0 60000 65536"/>
                  <a:gd name="T19" fmla="*/ 0 60000 65536"/>
                  <a:gd name="T20" fmla="*/ 0 60000 65536"/>
                  <a:gd name="T21" fmla="*/ 0 60000 65536"/>
                  <a:gd name="T22" fmla="*/ 0 60000 65536"/>
                  <a:gd name="T23" fmla="*/ 0 60000 65536"/>
                  <a:gd name="T24" fmla="*/ 0 w 10"/>
                  <a:gd name="T25" fmla="*/ 0 h 45"/>
                  <a:gd name="T26" fmla="*/ 10 w 10"/>
                  <a:gd name="T27" fmla="*/ 45 h 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 h="45">
                    <a:moveTo>
                      <a:pt x="8" y="0"/>
                    </a:moveTo>
                    <a:cubicBezTo>
                      <a:pt x="9" y="0"/>
                      <a:pt x="10" y="1"/>
                      <a:pt x="10" y="2"/>
                    </a:cubicBezTo>
                    <a:cubicBezTo>
                      <a:pt x="4" y="42"/>
                      <a:pt x="4" y="42"/>
                      <a:pt x="4" y="42"/>
                    </a:cubicBezTo>
                    <a:cubicBezTo>
                      <a:pt x="4" y="44"/>
                      <a:pt x="3" y="45"/>
                      <a:pt x="2" y="44"/>
                    </a:cubicBezTo>
                    <a:cubicBezTo>
                      <a:pt x="2" y="44"/>
                      <a:pt x="2" y="44"/>
                      <a:pt x="2" y="44"/>
                    </a:cubicBezTo>
                    <a:cubicBezTo>
                      <a:pt x="0" y="44"/>
                      <a:pt x="0" y="43"/>
                      <a:pt x="0" y="42"/>
                    </a:cubicBezTo>
                    <a:cubicBezTo>
                      <a:pt x="5" y="2"/>
                      <a:pt x="5" y="2"/>
                      <a:pt x="5" y="2"/>
                    </a:cubicBezTo>
                    <a:cubicBezTo>
                      <a:pt x="5" y="1"/>
                      <a:pt x="7" y="0"/>
                      <a:pt x="8" y="0"/>
                    </a:cubicBezTo>
                    <a:close/>
                  </a:path>
                </a:pathLst>
              </a:custGeom>
              <a:solidFill>
                <a:srgbClr val="EFAD8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17" name="Freeform 50">
                <a:extLst>
                  <a:ext uri="{FF2B5EF4-FFF2-40B4-BE49-F238E27FC236}">
                    <a16:creationId xmlns:a16="http://schemas.microsoft.com/office/drawing/2014/main" id="{4D12BA8A-19C5-4093-9DC8-CE741A25FC3F}"/>
                  </a:ext>
                </a:extLst>
              </p:cNvPr>
              <p:cNvSpPr>
                <a:spLocks noChangeArrowheads="1"/>
              </p:cNvSpPr>
              <p:nvPr/>
            </p:nvSpPr>
            <p:spPr bwMode="auto">
              <a:xfrm>
                <a:off x="6366350" y="5974484"/>
                <a:ext cx="45720" cy="143678"/>
              </a:xfrm>
              <a:custGeom>
                <a:avLst/>
                <a:gdLst>
                  <a:gd name="T0" fmla="*/ 5 w 7"/>
                  <a:gd name="T1" fmla="*/ 0 h 24"/>
                  <a:gd name="T2" fmla="*/ 7 w 7"/>
                  <a:gd name="T3" fmla="*/ 2 h 24"/>
                  <a:gd name="T4" fmla="*/ 4 w 7"/>
                  <a:gd name="T5" fmla="*/ 22 h 24"/>
                  <a:gd name="T6" fmla="*/ 2 w 7"/>
                  <a:gd name="T7" fmla="*/ 23 h 24"/>
                  <a:gd name="T8" fmla="*/ 2 w 7"/>
                  <a:gd name="T9" fmla="*/ 23 h 24"/>
                  <a:gd name="T10" fmla="*/ 0 w 7"/>
                  <a:gd name="T11" fmla="*/ 21 h 24"/>
                  <a:gd name="T12" fmla="*/ 3 w 7"/>
                  <a:gd name="T13" fmla="*/ 1 h 24"/>
                  <a:gd name="T14" fmla="*/ 5 w 7"/>
                  <a:gd name="T15" fmla="*/ 0 h 24"/>
                  <a:gd name="T16" fmla="*/ 0 60000 65536"/>
                  <a:gd name="T17" fmla="*/ 0 60000 65536"/>
                  <a:gd name="T18" fmla="*/ 0 60000 65536"/>
                  <a:gd name="T19" fmla="*/ 0 60000 65536"/>
                  <a:gd name="T20" fmla="*/ 0 60000 65536"/>
                  <a:gd name="T21" fmla="*/ 0 60000 65536"/>
                  <a:gd name="T22" fmla="*/ 0 60000 65536"/>
                  <a:gd name="T23" fmla="*/ 0 60000 65536"/>
                  <a:gd name="T24" fmla="*/ 0 w 7"/>
                  <a:gd name="T25" fmla="*/ 0 h 24"/>
                  <a:gd name="T26" fmla="*/ 7 w 7"/>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 h="24">
                    <a:moveTo>
                      <a:pt x="5" y="0"/>
                    </a:moveTo>
                    <a:cubicBezTo>
                      <a:pt x="6" y="0"/>
                      <a:pt x="7" y="1"/>
                      <a:pt x="7" y="2"/>
                    </a:cubicBezTo>
                    <a:cubicBezTo>
                      <a:pt x="4" y="22"/>
                      <a:pt x="4" y="22"/>
                      <a:pt x="4" y="22"/>
                    </a:cubicBezTo>
                    <a:cubicBezTo>
                      <a:pt x="4" y="23"/>
                      <a:pt x="3" y="24"/>
                      <a:pt x="2" y="23"/>
                    </a:cubicBezTo>
                    <a:cubicBezTo>
                      <a:pt x="2" y="23"/>
                      <a:pt x="2" y="23"/>
                      <a:pt x="2" y="23"/>
                    </a:cubicBezTo>
                    <a:cubicBezTo>
                      <a:pt x="1" y="23"/>
                      <a:pt x="0" y="22"/>
                      <a:pt x="0" y="21"/>
                    </a:cubicBezTo>
                    <a:cubicBezTo>
                      <a:pt x="3" y="1"/>
                      <a:pt x="3" y="1"/>
                      <a:pt x="3" y="1"/>
                    </a:cubicBezTo>
                    <a:cubicBezTo>
                      <a:pt x="3" y="0"/>
                      <a:pt x="4" y="0"/>
                      <a:pt x="5" y="0"/>
                    </a:cubicBezTo>
                    <a:close/>
                  </a:path>
                </a:pathLst>
              </a:custGeom>
              <a:solidFill>
                <a:srgbClr val="EFAD8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18" name="Freeform 51">
                <a:extLst>
                  <a:ext uri="{FF2B5EF4-FFF2-40B4-BE49-F238E27FC236}">
                    <a16:creationId xmlns:a16="http://schemas.microsoft.com/office/drawing/2014/main" id="{4E9D9408-BC1F-4CFF-9456-39C514027119}"/>
                  </a:ext>
                </a:extLst>
              </p:cNvPr>
              <p:cNvSpPr>
                <a:spLocks noChangeArrowheads="1"/>
              </p:cNvSpPr>
              <p:nvPr/>
            </p:nvSpPr>
            <p:spPr bwMode="auto">
              <a:xfrm>
                <a:off x="6396575" y="5806487"/>
                <a:ext cx="45720" cy="104138"/>
              </a:xfrm>
              <a:custGeom>
                <a:avLst/>
                <a:gdLst>
                  <a:gd name="T0" fmla="*/ 17 w 19"/>
                  <a:gd name="T1" fmla="*/ 1 h 44"/>
                  <a:gd name="T2" fmla="*/ 19 w 19"/>
                  <a:gd name="T3" fmla="*/ 4 h 44"/>
                  <a:gd name="T4" fmla="*/ 5 w 19"/>
                  <a:gd name="T5" fmla="*/ 42 h 44"/>
                  <a:gd name="T6" fmla="*/ 2 w 19"/>
                  <a:gd name="T7" fmla="*/ 43 h 44"/>
                  <a:gd name="T8" fmla="*/ 2 w 19"/>
                  <a:gd name="T9" fmla="*/ 43 h 44"/>
                  <a:gd name="T10" fmla="*/ 1 w 19"/>
                  <a:gd name="T11" fmla="*/ 40 h 44"/>
                  <a:gd name="T12" fmla="*/ 14 w 19"/>
                  <a:gd name="T13" fmla="*/ 2 h 44"/>
                  <a:gd name="T14" fmla="*/ 17 w 19"/>
                  <a:gd name="T15" fmla="*/ 1 h 44"/>
                  <a:gd name="T16" fmla="*/ 0 60000 65536"/>
                  <a:gd name="T17" fmla="*/ 0 60000 65536"/>
                  <a:gd name="T18" fmla="*/ 0 60000 65536"/>
                  <a:gd name="T19" fmla="*/ 0 60000 65536"/>
                  <a:gd name="T20" fmla="*/ 0 60000 65536"/>
                  <a:gd name="T21" fmla="*/ 0 60000 65536"/>
                  <a:gd name="T22" fmla="*/ 0 60000 65536"/>
                  <a:gd name="T23" fmla="*/ 0 60000 65536"/>
                  <a:gd name="T24" fmla="*/ 0 w 19"/>
                  <a:gd name="T25" fmla="*/ 0 h 44"/>
                  <a:gd name="T26" fmla="*/ 19 w 19"/>
                  <a:gd name="T27" fmla="*/ 44 h 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 h="44">
                    <a:moveTo>
                      <a:pt x="17" y="1"/>
                    </a:moveTo>
                    <a:cubicBezTo>
                      <a:pt x="19" y="1"/>
                      <a:pt x="19" y="2"/>
                      <a:pt x="19" y="4"/>
                    </a:cubicBezTo>
                    <a:cubicBezTo>
                      <a:pt x="5" y="42"/>
                      <a:pt x="5" y="42"/>
                      <a:pt x="5" y="42"/>
                    </a:cubicBezTo>
                    <a:cubicBezTo>
                      <a:pt x="5" y="43"/>
                      <a:pt x="3" y="44"/>
                      <a:pt x="2" y="43"/>
                    </a:cubicBezTo>
                    <a:cubicBezTo>
                      <a:pt x="2" y="43"/>
                      <a:pt x="2" y="43"/>
                      <a:pt x="2" y="43"/>
                    </a:cubicBezTo>
                    <a:cubicBezTo>
                      <a:pt x="1" y="43"/>
                      <a:pt x="0" y="41"/>
                      <a:pt x="1" y="40"/>
                    </a:cubicBezTo>
                    <a:cubicBezTo>
                      <a:pt x="14" y="2"/>
                      <a:pt x="14" y="2"/>
                      <a:pt x="14" y="2"/>
                    </a:cubicBezTo>
                    <a:cubicBezTo>
                      <a:pt x="15" y="1"/>
                      <a:pt x="16" y="0"/>
                      <a:pt x="17" y="1"/>
                    </a:cubicBezTo>
                    <a:close/>
                  </a:path>
                </a:pathLst>
              </a:custGeom>
              <a:solidFill>
                <a:srgbClr val="EFAD8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22" name="Freeform 57">
                <a:extLst>
                  <a:ext uri="{FF2B5EF4-FFF2-40B4-BE49-F238E27FC236}">
                    <a16:creationId xmlns:a16="http://schemas.microsoft.com/office/drawing/2014/main" id="{2D3B33B9-7954-4D6A-8D92-E2379273BEE3}"/>
                  </a:ext>
                </a:extLst>
              </p:cNvPr>
              <p:cNvSpPr>
                <a:spLocks noChangeArrowheads="1"/>
              </p:cNvSpPr>
              <p:nvPr/>
            </p:nvSpPr>
            <p:spPr bwMode="auto">
              <a:xfrm>
                <a:off x="6286140" y="5061973"/>
                <a:ext cx="521220" cy="244910"/>
              </a:xfrm>
              <a:custGeom>
                <a:avLst/>
                <a:gdLst>
                  <a:gd name="T0" fmla="*/ 314 w 621"/>
                  <a:gd name="T1" fmla="*/ 0 h 293"/>
                  <a:gd name="T2" fmla="*/ 309 w 621"/>
                  <a:gd name="T3" fmla="*/ 0 h 293"/>
                  <a:gd name="T4" fmla="*/ 0 w 621"/>
                  <a:gd name="T5" fmla="*/ 0 h 293"/>
                  <a:gd name="T6" fmla="*/ 59 w 621"/>
                  <a:gd name="T7" fmla="*/ 293 h 293"/>
                  <a:gd name="T8" fmla="*/ 309 w 621"/>
                  <a:gd name="T9" fmla="*/ 293 h 293"/>
                  <a:gd name="T10" fmla="*/ 314 w 621"/>
                  <a:gd name="T11" fmla="*/ 293 h 293"/>
                  <a:gd name="T12" fmla="*/ 565 w 621"/>
                  <a:gd name="T13" fmla="*/ 293 h 293"/>
                  <a:gd name="T14" fmla="*/ 621 w 621"/>
                  <a:gd name="T15" fmla="*/ 0 h 293"/>
                  <a:gd name="T16" fmla="*/ 314 w 621"/>
                  <a:gd name="T17" fmla="*/ 0 h 29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21"/>
                  <a:gd name="T28" fmla="*/ 0 h 293"/>
                  <a:gd name="T29" fmla="*/ 621 w 621"/>
                  <a:gd name="T30" fmla="*/ 293 h 29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21" h="293">
                    <a:moveTo>
                      <a:pt x="314" y="0"/>
                    </a:moveTo>
                    <a:lnTo>
                      <a:pt x="309" y="0"/>
                    </a:lnTo>
                    <a:lnTo>
                      <a:pt x="0" y="0"/>
                    </a:lnTo>
                    <a:lnTo>
                      <a:pt x="59" y="293"/>
                    </a:lnTo>
                    <a:lnTo>
                      <a:pt x="309" y="293"/>
                    </a:lnTo>
                    <a:lnTo>
                      <a:pt x="314" y="293"/>
                    </a:lnTo>
                    <a:lnTo>
                      <a:pt x="565" y="293"/>
                    </a:lnTo>
                    <a:lnTo>
                      <a:pt x="621" y="0"/>
                    </a:lnTo>
                    <a:lnTo>
                      <a:pt x="314" y="0"/>
                    </a:lnTo>
                    <a:close/>
                  </a:path>
                </a:pathLst>
              </a:custGeom>
              <a:solidFill>
                <a:srgbClr val="65368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23" name="Freeform 59">
                <a:extLst>
                  <a:ext uri="{FF2B5EF4-FFF2-40B4-BE49-F238E27FC236}">
                    <a16:creationId xmlns:a16="http://schemas.microsoft.com/office/drawing/2014/main" id="{FFEC5F17-F911-4CDD-AF57-4791AAC9B40A}"/>
                  </a:ext>
                </a:extLst>
              </p:cNvPr>
              <p:cNvSpPr>
                <a:spLocks noEditPoints="1" noChangeArrowheads="1"/>
              </p:cNvSpPr>
              <p:nvPr/>
            </p:nvSpPr>
            <p:spPr bwMode="auto">
              <a:xfrm>
                <a:off x="5879917" y="3543060"/>
                <a:ext cx="1335498" cy="1599246"/>
              </a:xfrm>
              <a:custGeom>
                <a:avLst/>
                <a:gdLst>
                  <a:gd name="T0" fmla="*/ 336 w 672"/>
                  <a:gd name="T1" fmla="*/ 0 h 806"/>
                  <a:gd name="T2" fmla="*/ 0 w 672"/>
                  <a:gd name="T3" fmla="*/ 322 h 806"/>
                  <a:gd name="T4" fmla="*/ 11 w 672"/>
                  <a:gd name="T5" fmla="*/ 395 h 806"/>
                  <a:gd name="T6" fmla="*/ 44 w 672"/>
                  <a:gd name="T7" fmla="*/ 483 h 806"/>
                  <a:gd name="T8" fmla="*/ 210 w 672"/>
                  <a:gd name="T9" fmla="*/ 806 h 806"/>
                  <a:gd name="T10" fmla="*/ 315 w 672"/>
                  <a:gd name="T11" fmla="*/ 806 h 806"/>
                  <a:gd name="T12" fmla="*/ 322 w 672"/>
                  <a:gd name="T13" fmla="*/ 806 h 806"/>
                  <a:gd name="T14" fmla="*/ 448 w 672"/>
                  <a:gd name="T15" fmla="*/ 806 h 806"/>
                  <a:gd name="T16" fmla="*/ 495 w 672"/>
                  <a:gd name="T17" fmla="*/ 633 h 806"/>
                  <a:gd name="T18" fmla="*/ 582 w 672"/>
                  <a:gd name="T19" fmla="*/ 541 h 806"/>
                  <a:gd name="T20" fmla="*/ 672 w 672"/>
                  <a:gd name="T21" fmla="*/ 322 h 806"/>
                  <a:gd name="T22" fmla="*/ 336 w 672"/>
                  <a:gd name="T23" fmla="*/ 0 h 806"/>
                  <a:gd name="T24" fmla="*/ 542 w 672"/>
                  <a:gd name="T25" fmla="*/ 515 h 806"/>
                  <a:gd name="T26" fmla="*/ 454 w 672"/>
                  <a:gd name="T27" fmla="*/ 610 h 806"/>
                  <a:gd name="T28" fmla="*/ 395 w 672"/>
                  <a:gd name="T29" fmla="*/ 759 h 806"/>
                  <a:gd name="T30" fmla="*/ 340 w 672"/>
                  <a:gd name="T31" fmla="*/ 759 h 806"/>
                  <a:gd name="T32" fmla="*/ 340 w 672"/>
                  <a:gd name="T33" fmla="*/ 759 h 806"/>
                  <a:gd name="T34" fmla="*/ 306 w 672"/>
                  <a:gd name="T35" fmla="*/ 759 h 806"/>
                  <a:gd name="T36" fmla="*/ 306 w 672"/>
                  <a:gd name="T37" fmla="*/ 759 h 806"/>
                  <a:gd name="T38" fmla="*/ 263 w 672"/>
                  <a:gd name="T39" fmla="*/ 759 h 806"/>
                  <a:gd name="T40" fmla="*/ 131 w 672"/>
                  <a:gd name="T41" fmla="*/ 519 h 806"/>
                  <a:gd name="T42" fmla="*/ 69 w 672"/>
                  <a:gd name="T43" fmla="*/ 427 h 806"/>
                  <a:gd name="T44" fmla="*/ 48 w 672"/>
                  <a:gd name="T45" fmla="*/ 322 h 806"/>
                  <a:gd name="T46" fmla="*/ 336 w 672"/>
                  <a:gd name="T47" fmla="*/ 46 h 806"/>
                  <a:gd name="T48" fmla="*/ 624 w 672"/>
                  <a:gd name="T49" fmla="*/ 322 h 806"/>
                  <a:gd name="T50" fmla="*/ 542 w 672"/>
                  <a:gd name="T51" fmla="*/ 515 h 80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72"/>
                  <a:gd name="T79" fmla="*/ 0 h 806"/>
                  <a:gd name="T80" fmla="*/ 672 w 672"/>
                  <a:gd name="T81" fmla="*/ 806 h 80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72" h="806">
                    <a:moveTo>
                      <a:pt x="336" y="0"/>
                    </a:moveTo>
                    <a:cubicBezTo>
                      <a:pt x="150" y="0"/>
                      <a:pt x="0" y="144"/>
                      <a:pt x="0" y="322"/>
                    </a:cubicBezTo>
                    <a:cubicBezTo>
                      <a:pt x="0" y="343"/>
                      <a:pt x="5" y="371"/>
                      <a:pt x="11" y="395"/>
                    </a:cubicBezTo>
                    <a:cubicBezTo>
                      <a:pt x="17" y="421"/>
                      <a:pt x="31" y="465"/>
                      <a:pt x="44" y="483"/>
                    </a:cubicBezTo>
                    <a:cubicBezTo>
                      <a:pt x="104" y="564"/>
                      <a:pt x="245" y="686"/>
                      <a:pt x="210" y="806"/>
                    </a:cubicBezTo>
                    <a:cubicBezTo>
                      <a:pt x="315" y="806"/>
                      <a:pt x="315" y="806"/>
                      <a:pt x="315" y="806"/>
                    </a:cubicBezTo>
                    <a:cubicBezTo>
                      <a:pt x="322" y="806"/>
                      <a:pt x="322" y="806"/>
                      <a:pt x="322" y="806"/>
                    </a:cubicBezTo>
                    <a:cubicBezTo>
                      <a:pt x="448" y="806"/>
                      <a:pt x="448" y="806"/>
                      <a:pt x="448" y="806"/>
                    </a:cubicBezTo>
                    <a:cubicBezTo>
                      <a:pt x="431" y="747"/>
                      <a:pt x="457" y="688"/>
                      <a:pt x="495" y="633"/>
                    </a:cubicBezTo>
                    <a:cubicBezTo>
                      <a:pt x="508" y="615"/>
                      <a:pt x="568" y="555"/>
                      <a:pt x="582" y="541"/>
                    </a:cubicBezTo>
                    <a:cubicBezTo>
                      <a:pt x="638" y="483"/>
                      <a:pt x="672" y="407"/>
                      <a:pt x="672" y="322"/>
                    </a:cubicBezTo>
                    <a:cubicBezTo>
                      <a:pt x="672" y="144"/>
                      <a:pt x="521" y="0"/>
                      <a:pt x="336" y="0"/>
                    </a:cubicBezTo>
                    <a:close/>
                    <a:moveTo>
                      <a:pt x="542" y="515"/>
                    </a:moveTo>
                    <a:cubicBezTo>
                      <a:pt x="531" y="525"/>
                      <a:pt x="468" y="590"/>
                      <a:pt x="454" y="610"/>
                    </a:cubicBezTo>
                    <a:cubicBezTo>
                      <a:pt x="422" y="656"/>
                      <a:pt x="397" y="707"/>
                      <a:pt x="395" y="759"/>
                    </a:cubicBezTo>
                    <a:cubicBezTo>
                      <a:pt x="340" y="759"/>
                      <a:pt x="340" y="759"/>
                      <a:pt x="340" y="759"/>
                    </a:cubicBezTo>
                    <a:cubicBezTo>
                      <a:pt x="340" y="759"/>
                      <a:pt x="340" y="759"/>
                      <a:pt x="340" y="759"/>
                    </a:cubicBezTo>
                    <a:cubicBezTo>
                      <a:pt x="306" y="759"/>
                      <a:pt x="306" y="759"/>
                      <a:pt x="306" y="759"/>
                    </a:cubicBezTo>
                    <a:cubicBezTo>
                      <a:pt x="306" y="759"/>
                      <a:pt x="306" y="759"/>
                      <a:pt x="306" y="759"/>
                    </a:cubicBezTo>
                    <a:cubicBezTo>
                      <a:pt x="263" y="759"/>
                      <a:pt x="263" y="759"/>
                      <a:pt x="263" y="759"/>
                    </a:cubicBezTo>
                    <a:cubicBezTo>
                      <a:pt x="260" y="669"/>
                      <a:pt x="190" y="587"/>
                      <a:pt x="131" y="519"/>
                    </a:cubicBezTo>
                    <a:cubicBezTo>
                      <a:pt x="86" y="475"/>
                      <a:pt x="69" y="427"/>
                      <a:pt x="69" y="427"/>
                    </a:cubicBezTo>
                    <a:cubicBezTo>
                      <a:pt x="55" y="393"/>
                      <a:pt x="48" y="358"/>
                      <a:pt x="48" y="322"/>
                    </a:cubicBezTo>
                    <a:cubicBezTo>
                      <a:pt x="48" y="170"/>
                      <a:pt x="177" y="46"/>
                      <a:pt x="336" y="46"/>
                    </a:cubicBezTo>
                    <a:cubicBezTo>
                      <a:pt x="495" y="46"/>
                      <a:pt x="624" y="170"/>
                      <a:pt x="624" y="322"/>
                    </a:cubicBezTo>
                    <a:cubicBezTo>
                      <a:pt x="624" y="395"/>
                      <a:pt x="594" y="464"/>
                      <a:pt x="542" y="515"/>
                    </a:cubicBezTo>
                    <a:close/>
                  </a:path>
                </a:pathLst>
              </a:custGeom>
              <a:solidFill>
                <a:srgbClr val="EFB6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24" name="直接连接符 42">
                <a:extLst>
                  <a:ext uri="{FF2B5EF4-FFF2-40B4-BE49-F238E27FC236}">
                    <a16:creationId xmlns:a16="http://schemas.microsoft.com/office/drawing/2014/main" id="{63F63F42-FF6B-422B-8995-9AE53FAB90E7}"/>
                  </a:ext>
                </a:extLst>
              </p:cNvPr>
              <p:cNvSpPr>
                <a:spLocks noChangeShapeType="1"/>
              </p:cNvSpPr>
              <p:nvPr/>
            </p:nvSpPr>
            <p:spPr bwMode="auto">
              <a:xfrm>
                <a:off x="2633923" y="4661299"/>
                <a:ext cx="2419804" cy="2092"/>
              </a:xfrm>
              <a:prstGeom prst="line">
                <a:avLst/>
              </a:prstGeom>
              <a:noFill/>
              <a:ln w="28575" cap="flat" cmpd="sng">
                <a:solidFill>
                  <a:srgbClr val="B93C28"/>
                </a:solidFill>
                <a:prstDash val="sysDot"/>
                <a:miter lim="800000"/>
                <a:headEnd type="oval" w="med" len="me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微軟正黑體" panose="020B0604030504040204" pitchFamily="34" charset="-120"/>
                  <a:ea typeface="微軟正黑體" panose="020B0604030504040204" pitchFamily="34" charset="-120"/>
                </a:endParaRPr>
              </a:p>
            </p:txBody>
          </p:sp>
          <p:sp>
            <p:nvSpPr>
              <p:cNvPr id="25" name="直接连接符 48">
                <a:extLst>
                  <a:ext uri="{FF2B5EF4-FFF2-40B4-BE49-F238E27FC236}">
                    <a16:creationId xmlns:a16="http://schemas.microsoft.com/office/drawing/2014/main" id="{1717AFB3-30A9-4BA4-B6BE-17F943488057}"/>
                  </a:ext>
                </a:extLst>
              </p:cNvPr>
              <p:cNvSpPr>
                <a:spLocks noChangeShapeType="1"/>
              </p:cNvSpPr>
              <p:nvPr/>
            </p:nvSpPr>
            <p:spPr bwMode="auto">
              <a:xfrm>
                <a:off x="2616149" y="3439439"/>
                <a:ext cx="2704486" cy="2094"/>
              </a:xfrm>
              <a:prstGeom prst="line">
                <a:avLst/>
              </a:prstGeom>
              <a:noFill/>
              <a:ln w="28575" cap="flat" cmpd="sng">
                <a:solidFill>
                  <a:srgbClr val="169D83"/>
                </a:solidFill>
                <a:prstDash val="sysDot"/>
                <a:miter lim="800000"/>
                <a:headEnd type="oval" w="med" len="me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微軟正黑體" panose="020B0604030504040204" pitchFamily="34" charset="-120"/>
                  <a:ea typeface="微軟正黑體" panose="020B0604030504040204" pitchFamily="34" charset="-120"/>
                </a:endParaRPr>
              </a:p>
            </p:txBody>
          </p:sp>
          <p:sp>
            <p:nvSpPr>
              <p:cNvPr id="26" name="直接连接符 56">
                <a:extLst>
                  <a:ext uri="{FF2B5EF4-FFF2-40B4-BE49-F238E27FC236}">
                    <a16:creationId xmlns:a16="http://schemas.microsoft.com/office/drawing/2014/main" id="{F76428B1-14EA-444A-83C6-22DA4E33C245}"/>
                  </a:ext>
                </a:extLst>
              </p:cNvPr>
              <p:cNvSpPr>
                <a:spLocks noChangeShapeType="1"/>
              </p:cNvSpPr>
              <p:nvPr/>
            </p:nvSpPr>
            <p:spPr bwMode="auto">
              <a:xfrm flipH="1">
                <a:off x="7776529" y="3439439"/>
                <a:ext cx="2704486" cy="2094"/>
              </a:xfrm>
              <a:prstGeom prst="line">
                <a:avLst/>
              </a:prstGeom>
              <a:noFill/>
              <a:ln w="28575" cap="flat" cmpd="sng">
                <a:solidFill>
                  <a:srgbClr val="257FBA"/>
                </a:solidFill>
                <a:prstDash val="sysDot"/>
                <a:miter lim="800000"/>
                <a:headEnd type="oval" w="med" len="me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微軟正黑體" panose="020B0604030504040204" pitchFamily="34" charset="-120"/>
                  <a:ea typeface="微軟正黑體" panose="020B0604030504040204" pitchFamily="34" charset="-120"/>
                </a:endParaRPr>
              </a:p>
            </p:txBody>
          </p:sp>
          <p:sp>
            <p:nvSpPr>
              <p:cNvPr id="27" name="直接连接符 60">
                <a:extLst>
                  <a:ext uri="{FF2B5EF4-FFF2-40B4-BE49-F238E27FC236}">
                    <a16:creationId xmlns:a16="http://schemas.microsoft.com/office/drawing/2014/main" id="{34A8606E-2E86-405C-8906-D5FF02F5BA6B}"/>
                  </a:ext>
                </a:extLst>
              </p:cNvPr>
              <p:cNvSpPr>
                <a:spLocks noChangeShapeType="1"/>
              </p:cNvSpPr>
              <p:nvPr/>
            </p:nvSpPr>
            <p:spPr bwMode="auto">
              <a:xfrm flipH="1">
                <a:off x="8043438" y="4661299"/>
                <a:ext cx="2419802" cy="2092"/>
              </a:xfrm>
              <a:prstGeom prst="line">
                <a:avLst/>
              </a:prstGeom>
              <a:noFill/>
              <a:ln w="28575" cap="flat" cmpd="sng">
                <a:solidFill>
                  <a:srgbClr val="9ABC4D"/>
                </a:solidFill>
                <a:prstDash val="sysDot"/>
                <a:miter lim="800000"/>
                <a:headEnd type="oval" w="med" len="me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Text" lastClr="000000"/>
                  </a:solidFill>
                  <a:effectLst/>
                  <a:uLnTx/>
                  <a:uFillTx/>
                  <a:latin typeface="微軟正黑體" panose="020B0604030504040204" pitchFamily="34" charset="-120"/>
                  <a:ea typeface="微軟正黑體" panose="020B0604030504040204" pitchFamily="34" charset="-120"/>
                </a:endParaRPr>
              </a:p>
            </p:txBody>
          </p:sp>
          <p:grpSp>
            <p:nvGrpSpPr>
              <p:cNvPr id="29" name="组合 128">
                <a:extLst>
                  <a:ext uri="{FF2B5EF4-FFF2-40B4-BE49-F238E27FC236}">
                    <a16:creationId xmlns:a16="http://schemas.microsoft.com/office/drawing/2014/main" id="{8225D46D-15F1-4BE3-8812-7C959C316B8A}"/>
                  </a:ext>
                </a:extLst>
              </p:cNvPr>
              <p:cNvGrpSpPr/>
              <p:nvPr/>
            </p:nvGrpSpPr>
            <p:grpSpPr>
              <a:xfrm>
                <a:off x="2831827" y="2981468"/>
                <a:ext cx="7432090" cy="3912863"/>
                <a:chOff x="2844593" y="2525015"/>
                <a:chExt cx="6504044" cy="3424265"/>
              </a:xfrm>
            </p:grpSpPr>
            <p:sp>
              <p:nvSpPr>
                <p:cNvPr id="30" name="Freeform 43">
                  <a:extLst>
                    <a:ext uri="{FF2B5EF4-FFF2-40B4-BE49-F238E27FC236}">
                      <a16:creationId xmlns:a16="http://schemas.microsoft.com/office/drawing/2014/main" id="{6214C441-60BD-46E5-BAB0-BA596C0797C7}"/>
                    </a:ext>
                  </a:extLst>
                </p:cNvPr>
                <p:cNvSpPr>
                  <a:spLocks noChangeArrowheads="1"/>
                </p:cNvSpPr>
                <p:nvPr/>
              </p:nvSpPr>
              <p:spPr bwMode="auto">
                <a:xfrm>
                  <a:off x="5408132" y="5189054"/>
                  <a:ext cx="1494807" cy="679624"/>
                </a:xfrm>
                <a:custGeom>
                  <a:avLst/>
                  <a:gdLst>
                    <a:gd name="T0" fmla="*/ 730 w 860"/>
                    <a:gd name="T1" fmla="*/ 369 h 391"/>
                    <a:gd name="T2" fmla="*/ 585 w 860"/>
                    <a:gd name="T3" fmla="*/ 346 h 391"/>
                    <a:gd name="T4" fmla="*/ 346 w 860"/>
                    <a:gd name="T5" fmla="*/ 232 h 391"/>
                    <a:gd name="T6" fmla="*/ 167 w 860"/>
                    <a:gd name="T7" fmla="*/ 286 h 391"/>
                    <a:gd name="T8" fmla="*/ 59 w 860"/>
                    <a:gd name="T9" fmla="*/ 249 h 391"/>
                    <a:gd name="T10" fmla="*/ 0 w 860"/>
                    <a:gd name="T11" fmla="*/ 169 h 391"/>
                    <a:gd name="T12" fmla="*/ 56 w 860"/>
                    <a:gd name="T13" fmla="*/ 167 h 391"/>
                    <a:gd name="T14" fmla="*/ 103 w 860"/>
                    <a:gd name="T15" fmla="*/ 194 h 391"/>
                    <a:gd name="T16" fmla="*/ 164 w 860"/>
                    <a:gd name="T17" fmla="*/ 197 h 391"/>
                    <a:gd name="T18" fmla="*/ 261 w 860"/>
                    <a:gd name="T19" fmla="*/ 145 h 391"/>
                    <a:gd name="T20" fmla="*/ 548 w 860"/>
                    <a:gd name="T21" fmla="*/ 0 h 391"/>
                    <a:gd name="T22" fmla="*/ 860 w 860"/>
                    <a:gd name="T23" fmla="*/ 236 h 391"/>
                    <a:gd name="T24" fmla="*/ 730 w 860"/>
                    <a:gd name="T25" fmla="*/ 369 h 39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0"/>
                    <a:gd name="T40" fmla="*/ 0 h 391"/>
                    <a:gd name="T41" fmla="*/ 860 w 860"/>
                    <a:gd name="T42" fmla="*/ 391 h 39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0" h="391">
                      <a:moveTo>
                        <a:pt x="730" y="369"/>
                      </a:moveTo>
                      <a:cubicBezTo>
                        <a:pt x="671" y="391"/>
                        <a:pt x="585" y="346"/>
                        <a:pt x="585" y="346"/>
                      </a:cubicBezTo>
                      <a:cubicBezTo>
                        <a:pt x="346" y="232"/>
                        <a:pt x="346" y="232"/>
                        <a:pt x="346" y="232"/>
                      </a:cubicBezTo>
                      <a:cubicBezTo>
                        <a:pt x="167" y="286"/>
                        <a:pt x="167" y="286"/>
                        <a:pt x="167" y="286"/>
                      </a:cubicBezTo>
                      <a:cubicBezTo>
                        <a:pt x="59" y="249"/>
                        <a:pt x="59" y="249"/>
                        <a:pt x="59" y="249"/>
                      </a:cubicBezTo>
                      <a:cubicBezTo>
                        <a:pt x="0" y="169"/>
                        <a:pt x="0" y="169"/>
                        <a:pt x="0" y="169"/>
                      </a:cubicBezTo>
                      <a:cubicBezTo>
                        <a:pt x="0" y="169"/>
                        <a:pt x="21" y="149"/>
                        <a:pt x="56" y="167"/>
                      </a:cubicBezTo>
                      <a:cubicBezTo>
                        <a:pt x="91" y="186"/>
                        <a:pt x="103" y="194"/>
                        <a:pt x="103" y="194"/>
                      </a:cubicBezTo>
                      <a:cubicBezTo>
                        <a:pt x="164" y="197"/>
                        <a:pt x="164" y="197"/>
                        <a:pt x="164" y="197"/>
                      </a:cubicBezTo>
                      <a:cubicBezTo>
                        <a:pt x="261" y="145"/>
                        <a:pt x="261" y="145"/>
                        <a:pt x="261" y="145"/>
                      </a:cubicBezTo>
                      <a:cubicBezTo>
                        <a:pt x="548" y="0"/>
                        <a:pt x="548" y="0"/>
                        <a:pt x="548" y="0"/>
                      </a:cubicBezTo>
                      <a:cubicBezTo>
                        <a:pt x="860" y="236"/>
                        <a:pt x="860" y="236"/>
                        <a:pt x="860" y="236"/>
                      </a:cubicBezTo>
                      <a:cubicBezTo>
                        <a:pt x="860" y="236"/>
                        <a:pt x="776" y="353"/>
                        <a:pt x="730" y="369"/>
                      </a:cubicBezTo>
                      <a:close/>
                    </a:path>
                  </a:pathLst>
                </a:custGeom>
                <a:solidFill>
                  <a:srgbClr val="EFAD8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31" name="Freeform 44">
                  <a:extLst>
                    <a:ext uri="{FF2B5EF4-FFF2-40B4-BE49-F238E27FC236}">
                      <a16:creationId xmlns:a16="http://schemas.microsoft.com/office/drawing/2014/main" id="{8EA920D8-8FA0-4DEE-8E73-DF79B085B1ED}"/>
                    </a:ext>
                  </a:extLst>
                </p:cNvPr>
                <p:cNvSpPr>
                  <a:spLocks noChangeArrowheads="1"/>
                </p:cNvSpPr>
                <p:nvPr/>
              </p:nvSpPr>
              <p:spPr bwMode="auto">
                <a:xfrm>
                  <a:off x="5131520" y="4952742"/>
                  <a:ext cx="1760428" cy="800528"/>
                </a:xfrm>
                <a:custGeom>
                  <a:avLst/>
                  <a:gdLst>
                    <a:gd name="T0" fmla="*/ 910 w 1014"/>
                    <a:gd name="T1" fmla="*/ 461 h 461"/>
                    <a:gd name="T2" fmla="*/ 434 w 1014"/>
                    <a:gd name="T3" fmla="*/ 299 h 461"/>
                    <a:gd name="T4" fmla="*/ 172 w 1014"/>
                    <a:gd name="T5" fmla="*/ 253 h 461"/>
                    <a:gd name="T6" fmla="*/ 65 w 1014"/>
                    <a:gd name="T7" fmla="*/ 146 h 461"/>
                    <a:gd name="T8" fmla="*/ 0 w 1014"/>
                    <a:gd name="T9" fmla="*/ 30 h 461"/>
                    <a:gd name="T10" fmla="*/ 58 w 1014"/>
                    <a:gd name="T11" fmla="*/ 20 h 461"/>
                    <a:gd name="T12" fmla="*/ 141 w 1014"/>
                    <a:gd name="T13" fmla="*/ 105 h 461"/>
                    <a:gd name="T14" fmla="*/ 221 w 1014"/>
                    <a:gd name="T15" fmla="*/ 151 h 461"/>
                    <a:gd name="T16" fmla="*/ 379 w 1014"/>
                    <a:gd name="T17" fmla="*/ 155 h 461"/>
                    <a:gd name="T18" fmla="*/ 1014 w 1014"/>
                    <a:gd name="T19" fmla="*/ 349 h 461"/>
                    <a:gd name="T20" fmla="*/ 910 w 1014"/>
                    <a:gd name="T21" fmla="*/ 461 h 4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14"/>
                    <a:gd name="T34" fmla="*/ 0 h 461"/>
                    <a:gd name="T35" fmla="*/ 1014 w 1014"/>
                    <a:gd name="T36" fmla="*/ 461 h 4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14" h="461">
                      <a:moveTo>
                        <a:pt x="910" y="461"/>
                      </a:moveTo>
                      <a:cubicBezTo>
                        <a:pt x="434" y="299"/>
                        <a:pt x="434" y="299"/>
                        <a:pt x="434" y="299"/>
                      </a:cubicBezTo>
                      <a:cubicBezTo>
                        <a:pt x="172" y="253"/>
                        <a:pt x="172" y="253"/>
                        <a:pt x="172" y="253"/>
                      </a:cubicBezTo>
                      <a:cubicBezTo>
                        <a:pt x="65" y="146"/>
                        <a:pt x="65" y="146"/>
                        <a:pt x="65" y="146"/>
                      </a:cubicBezTo>
                      <a:cubicBezTo>
                        <a:pt x="0" y="30"/>
                        <a:pt x="0" y="30"/>
                        <a:pt x="0" y="30"/>
                      </a:cubicBezTo>
                      <a:cubicBezTo>
                        <a:pt x="0" y="30"/>
                        <a:pt x="18" y="0"/>
                        <a:pt x="58" y="20"/>
                      </a:cubicBezTo>
                      <a:cubicBezTo>
                        <a:pt x="126" y="53"/>
                        <a:pt x="141" y="105"/>
                        <a:pt x="141" y="105"/>
                      </a:cubicBezTo>
                      <a:cubicBezTo>
                        <a:pt x="221" y="151"/>
                        <a:pt x="221" y="151"/>
                        <a:pt x="221" y="151"/>
                      </a:cubicBezTo>
                      <a:cubicBezTo>
                        <a:pt x="379" y="155"/>
                        <a:pt x="379" y="155"/>
                        <a:pt x="379" y="155"/>
                      </a:cubicBezTo>
                      <a:cubicBezTo>
                        <a:pt x="1014" y="349"/>
                        <a:pt x="1014" y="349"/>
                        <a:pt x="1014" y="349"/>
                      </a:cubicBezTo>
                      <a:lnTo>
                        <a:pt x="910" y="461"/>
                      </a:lnTo>
                      <a:close/>
                    </a:path>
                  </a:pathLst>
                </a:custGeom>
                <a:solidFill>
                  <a:srgbClr val="FFC19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32" name="Freeform 55">
                  <a:extLst>
                    <a:ext uri="{FF2B5EF4-FFF2-40B4-BE49-F238E27FC236}">
                      <a16:creationId xmlns:a16="http://schemas.microsoft.com/office/drawing/2014/main" id="{7E669828-172F-4351-A6FA-847B2779A4B4}"/>
                    </a:ext>
                  </a:extLst>
                </p:cNvPr>
                <p:cNvSpPr>
                  <a:spLocks noChangeArrowheads="1"/>
                </p:cNvSpPr>
                <p:nvPr/>
              </p:nvSpPr>
              <p:spPr bwMode="auto">
                <a:xfrm>
                  <a:off x="6303918" y="5474826"/>
                  <a:ext cx="747403" cy="474454"/>
                </a:xfrm>
                <a:custGeom>
                  <a:avLst/>
                  <a:gdLst>
                    <a:gd name="T0" fmla="*/ 1016 w 1016"/>
                    <a:gd name="T1" fmla="*/ 645 h 645"/>
                    <a:gd name="T2" fmla="*/ 879 w 1016"/>
                    <a:gd name="T3" fmla="*/ 0 h 645"/>
                    <a:gd name="T4" fmla="*/ 59 w 1016"/>
                    <a:gd name="T5" fmla="*/ 411 h 645"/>
                    <a:gd name="T6" fmla="*/ 0 w 1016"/>
                    <a:gd name="T7" fmla="*/ 645 h 645"/>
                    <a:gd name="T8" fmla="*/ 1016 w 1016"/>
                    <a:gd name="T9" fmla="*/ 645 h 645"/>
                    <a:gd name="T10" fmla="*/ 0 60000 65536"/>
                    <a:gd name="T11" fmla="*/ 0 60000 65536"/>
                    <a:gd name="T12" fmla="*/ 0 60000 65536"/>
                    <a:gd name="T13" fmla="*/ 0 60000 65536"/>
                    <a:gd name="T14" fmla="*/ 0 60000 65536"/>
                    <a:gd name="T15" fmla="*/ 0 w 1016"/>
                    <a:gd name="T16" fmla="*/ 0 h 645"/>
                    <a:gd name="T17" fmla="*/ 1016 w 1016"/>
                    <a:gd name="T18" fmla="*/ 645 h 645"/>
                  </a:gdLst>
                  <a:ahLst/>
                  <a:cxnLst>
                    <a:cxn ang="T10">
                      <a:pos x="T0" y="T1"/>
                    </a:cxn>
                    <a:cxn ang="T11">
                      <a:pos x="T2" y="T3"/>
                    </a:cxn>
                    <a:cxn ang="T12">
                      <a:pos x="T4" y="T5"/>
                    </a:cxn>
                    <a:cxn ang="T13">
                      <a:pos x="T6" y="T7"/>
                    </a:cxn>
                    <a:cxn ang="T14">
                      <a:pos x="T8" y="T9"/>
                    </a:cxn>
                  </a:cxnLst>
                  <a:rect l="T15" t="T16" r="T17" b="T18"/>
                  <a:pathLst>
                    <a:path w="1016" h="645">
                      <a:moveTo>
                        <a:pt x="1016" y="645"/>
                      </a:moveTo>
                      <a:lnTo>
                        <a:pt x="879" y="0"/>
                      </a:lnTo>
                      <a:lnTo>
                        <a:pt x="59" y="411"/>
                      </a:lnTo>
                      <a:lnTo>
                        <a:pt x="0" y="645"/>
                      </a:lnTo>
                      <a:lnTo>
                        <a:pt x="1016" y="645"/>
                      </a:lnTo>
                      <a:close/>
                    </a:path>
                  </a:pathLst>
                </a:custGeom>
                <a:solidFill>
                  <a:srgbClr val="64605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grpSp>
              <p:nvGrpSpPr>
                <p:cNvPr id="33" name="组合 132">
                  <a:extLst>
                    <a:ext uri="{FF2B5EF4-FFF2-40B4-BE49-F238E27FC236}">
                      <a16:creationId xmlns:a16="http://schemas.microsoft.com/office/drawing/2014/main" id="{E73F473F-B83D-4B01-8980-2D6CDBE11080}"/>
                    </a:ext>
                  </a:extLst>
                </p:cNvPr>
                <p:cNvGrpSpPr/>
                <p:nvPr/>
              </p:nvGrpSpPr>
              <p:grpSpPr>
                <a:xfrm>
                  <a:off x="2844593" y="2525015"/>
                  <a:ext cx="6504044" cy="3280249"/>
                  <a:chOff x="2844593" y="2474853"/>
                  <a:chExt cx="6504044" cy="3280249"/>
                </a:xfrm>
              </p:grpSpPr>
              <p:sp>
                <p:nvSpPr>
                  <p:cNvPr id="34" name="Oval 28">
                    <a:extLst>
                      <a:ext uri="{FF2B5EF4-FFF2-40B4-BE49-F238E27FC236}">
                        <a16:creationId xmlns:a16="http://schemas.microsoft.com/office/drawing/2014/main" id="{9E6E0741-B63A-4D2B-AA52-C5DBD6A3EC4D}"/>
                      </a:ext>
                    </a:extLst>
                  </p:cNvPr>
                  <p:cNvSpPr>
                    <a:spLocks noChangeArrowheads="1"/>
                  </p:cNvSpPr>
                  <p:nvPr/>
                </p:nvSpPr>
                <p:spPr bwMode="auto">
                  <a:xfrm>
                    <a:off x="4429913" y="3677760"/>
                    <a:ext cx="838997" cy="655810"/>
                  </a:xfrm>
                  <a:custGeom>
                    <a:avLst/>
                    <a:gdLst>
                      <a:gd name="T0" fmla="*/ 0 w 728651"/>
                      <a:gd name="T1" fmla="*/ 0 h 568004"/>
                      <a:gd name="T2" fmla="*/ 728651 w 728651"/>
                      <a:gd name="T3" fmla="*/ 568004 h 568004"/>
                    </a:gdLst>
                    <a:ahLst/>
                    <a:cxnLst/>
                    <a:rect l="T0" t="T1" r="T2" b="T3"/>
                    <a:pathLst>
                      <a:path w="728651" h="568004">
                        <a:moveTo>
                          <a:pt x="283683" y="0"/>
                        </a:moveTo>
                        <a:cubicBezTo>
                          <a:pt x="426790" y="0"/>
                          <a:pt x="545147" y="106084"/>
                          <a:pt x="563354" y="244158"/>
                        </a:cubicBezTo>
                        <a:lnTo>
                          <a:pt x="728651" y="244158"/>
                        </a:lnTo>
                        <a:lnTo>
                          <a:pt x="560075" y="346167"/>
                        </a:lnTo>
                        <a:cubicBezTo>
                          <a:pt x="532174" y="473167"/>
                          <a:pt x="418991" y="568004"/>
                          <a:pt x="283683" y="568004"/>
                        </a:cubicBezTo>
                        <a:cubicBezTo>
                          <a:pt x="127009" y="568004"/>
                          <a:pt x="0" y="440852"/>
                          <a:pt x="0" y="284002"/>
                        </a:cubicBezTo>
                        <a:cubicBezTo>
                          <a:pt x="0" y="127152"/>
                          <a:pt x="127009" y="0"/>
                          <a:pt x="283683" y="0"/>
                        </a:cubicBezTo>
                        <a:close/>
                      </a:path>
                    </a:pathLst>
                  </a:custGeom>
                  <a:solidFill>
                    <a:srgbClr val="B93C28"/>
                  </a:solidFill>
                  <a:ln>
                    <a:noFill/>
                  </a:ln>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36" name="Freeform 32">
                    <a:extLst>
                      <a:ext uri="{FF2B5EF4-FFF2-40B4-BE49-F238E27FC236}">
                        <a16:creationId xmlns:a16="http://schemas.microsoft.com/office/drawing/2014/main" id="{ECD8193F-366D-42CE-9F23-64DEA3F99449}"/>
                      </a:ext>
                    </a:extLst>
                  </p:cNvPr>
                  <p:cNvSpPr>
                    <a:spLocks noChangeArrowheads="1"/>
                  </p:cNvSpPr>
                  <p:nvPr/>
                </p:nvSpPr>
                <p:spPr bwMode="auto">
                  <a:xfrm>
                    <a:off x="4728350" y="2474853"/>
                    <a:ext cx="626500" cy="655810"/>
                  </a:xfrm>
                  <a:custGeom>
                    <a:avLst/>
                    <a:gdLst>
                      <a:gd name="T0" fmla="*/ 0 w 542623"/>
                      <a:gd name="T1" fmla="*/ 0 h 568558"/>
                      <a:gd name="T2" fmla="*/ 542623 w 542623"/>
                      <a:gd name="T3" fmla="*/ 568558 h 568558"/>
                    </a:gdLst>
                    <a:ahLst/>
                    <a:cxnLst/>
                    <a:rect l="T0" t="T1" r="T2" b="T3"/>
                    <a:pathLst>
                      <a:path w="542623" h="568558">
                        <a:moveTo>
                          <a:pt x="200292" y="0"/>
                        </a:moveTo>
                        <a:cubicBezTo>
                          <a:pt x="272954" y="0"/>
                          <a:pt x="345616" y="27494"/>
                          <a:pt x="400584" y="82482"/>
                        </a:cubicBezTo>
                        <a:cubicBezTo>
                          <a:pt x="502176" y="184112"/>
                          <a:pt x="511154" y="342083"/>
                          <a:pt x="426560" y="452953"/>
                        </a:cubicBezTo>
                        <a:lnTo>
                          <a:pt x="542623" y="568558"/>
                        </a:lnTo>
                        <a:lnTo>
                          <a:pt x="354644" y="521682"/>
                        </a:lnTo>
                        <a:cubicBezTo>
                          <a:pt x="245142" y="592861"/>
                          <a:pt x="95733" y="580490"/>
                          <a:pt x="0" y="484721"/>
                        </a:cubicBezTo>
                        <a:cubicBezTo>
                          <a:pt x="-111441" y="373239"/>
                          <a:pt x="-111441" y="193964"/>
                          <a:pt x="0" y="82482"/>
                        </a:cubicBezTo>
                        <a:cubicBezTo>
                          <a:pt x="54967" y="27494"/>
                          <a:pt x="127629" y="0"/>
                          <a:pt x="200292" y="0"/>
                        </a:cubicBezTo>
                        <a:close/>
                      </a:path>
                    </a:pathLst>
                  </a:cu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37" name="Freeform 33">
                    <a:extLst>
                      <a:ext uri="{FF2B5EF4-FFF2-40B4-BE49-F238E27FC236}">
                        <a16:creationId xmlns:a16="http://schemas.microsoft.com/office/drawing/2014/main" id="{F12AE3BC-1581-4F06-95C0-7565F95643C7}"/>
                      </a:ext>
                    </a:extLst>
                  </p:cNvPr>
                  <p:cNvSpPr>
                    <a:spLocks noChangeArrowheads="1"/>
                  </p:cNvSpPr>
                  <p:nvPr/>
                </p:nvSpPr>
                <p:spPr bwMode="auto">
                  <a:xfrm>
                    <a:off x="6913930" y="3677760"/>
                    <a:ext cx="838997" cy="655810"/>
                  </a:xfrm>
                  <a:custGeom>
                    <a:avLst/>
                    <a:gdLst>
                      <a:gd name="T0" fmla="*/ 0 w 727376"/>
                      <a:gd name="T1" fmla="*/ 0 h 568004"/>
                      <a:gd name="T2" fmla="*/ 727376 w 727376"/>
                      <a:gd name="T3" fmla="*/ 568004 h 568004"/>
                    </a:gdLst>
                    <a:ahLst/>
                    <a:cxnLst/>
                    <a:rect l="T0" t="T1" r="T2" b="T3"/>
                    <a:pathLst>
                      <a:path w="727376" h="568004">
                        <a:moveTo>
                          <a:pt x="443693" y="0"/>
                        </a:moveTo>
                        <a:cubicBezTo>
                          <a:pt x="600367" y="0"/>
                          <a:pt x="727376" y="127152"/>
                          <a:pt x="727376" y="284002"/>
                        </a:cubicBezTo>
                        <a:cubicBezTo>
                          <a:pt x="727376" y="440852"/>
                          <a:pt x="600367" y="568004"/>
                          <a:pt x="443693" y="568004"/>
                        </a:cubicBezTo>
                        <a:cubicBezTo>
                          <a:pt x="308041" y="568004"/>
                          <a:pt x="194627" y="472684"/>
                          <a:pt x="167007" y="345217"/>
                        </a:cubicBezTo>
                        <a:lnTo>
                          <a:pt x="0" y="244158"/>
                        </a:lnTo>
                        <a:lnTo>
                          <a:pt x="164022" y="244158"/>
                        </a:lnTo>
                        <a:cubicBezTo>
                          <a:pt x="182229" y="106084"/>
                          <a:pt x="300586" y="0"/>
                          <a:pt x="443693" y="0"/>
                        </a:cubicBezTo>
                        <a:close/>
                      </a:path>
                    </a:pathLst>
                  </a:custGeom>
                  <a:solidFill>
                    <a:srgbClr val="9ABC4D"/>
                  </a:solidFill>
                  <a:ln>
                    <a:noFill/>
                  </a:ln>
                  <a:extLst/>
                </p:spPr>
                <p:txBody>
                  <a:bodyPr anchor="ctr"/>
                  <a:lstStyle/>
                  <a:p>
                    <a:pPr algn="ctr"/>
                    <a:endParaRPr lang="zh-CN" altLang="zh-CN" b="1">
                      <a:solidFill>
                        <a:srgbClr val="BEA58B"/>
                      </a:solidFill>
                      <a:latin typeface="微軟正黑體" panose="020B0604030504040204" pitchFamily="34" charset="-120"/>
                      <a:ea typeface="微軟正黑體" panose="020B0604030504040204" pitchFamily="34" charset="-120"/>
                      <a:sym typeface="宋体" pitchFamily="2" charset="-122"/>
                    </a:endParaRPr>
                  </a:p>
                </p:txBody>
              </p:sp>
              <p:sp>
                <p:nvSpPr>
                  <p:cNvPr id="38" name="Freeform 35">
                    <a:extLst>
                      <a:ext uri="{FF2B5EF4-FFF2-40B4-BE49-F238E27FC236}">
                        <a16:creationId xmlns:a16="http://schemas.microsoft.com/office/drawing/2014/main" id="{CB31E009-189C-4888-B822-5B1C28CF3203}"/>
                      </a:ext>
                    </a:extLst>
                  </p:cNvPr>
                  <p:cNvSpPr>
                    <a:spLocks noChangeArrowheads="1"/>
                  </p:cNvSpPr>
                  <p:nvPr/>
                </p:nvSpPr>
                <p:spPr bwMode="auto">
                  <a:xfrm>
                    <a:off x="6763717" y="2505363"/>
                    <a:ext cx="626500" cy="655810"/>
                  </a:xfrm>
                  <a:custGeom>
                    <a:avLst/>
                    <a:gdLst>
                      <a:gd name="T0" fmla="*/ 0 w 543564"/>
                      <a:gd name="T1" fmla="*/ 0 h 568558"/>
                      <a:gd name="T2" fmla="*/ 543564 w 543564"/>
                      <a:gd name="T3" fmla="*/ 568558 h 568558"/>
                    </a:gdLst>
                    <a:ahLst/>
                    <a:cxnLst/>
                    <a:rect l="T0" t="T1" r="T2" b="T3"/>
                    <a:pathLst>
                      <a:path w="543564" h="568558">
                        <a:moveTo>
                          <a:pt x="342650" y="0"/>
                        </a:moveTo>
                        <a:cubicBezTo>
                          <a:pt x="415265" y="0"/>
                          <a:pt x="487880" y="27494"/>
                          <a:pt x="543564" y="82481"/>
                        </a:cubicBezTo>
                        <a:cubicBezTo>
                          <a:pt x="653426" y="193963"/>
                          <a:pt x="653426" y="373238"/>
                          <a:pt x="543564" y="484721"/>
                        </a:cubicBezTo>
                        <a:cubicBezTo>
                          <a:pt x="446656" y="580417"/>
                          <a:pt x="298471" y="592842"/>
                          <a:pt x="188359" y="521823"/>
                        </a:cubicBezTo>
                        <a:lnTo>
                          <a:pt x="0" y="568558"/>
                        </a:lnTo>
                        <a:lnTo>
                          <a:pt x="116507" y="453422"/>
                        </a:lnTo>
                        <a:cubicBezTo>
                          <a:pt x="32707" y="342529"/>
                          <a:pt x="41441" y="184255"/>
                          <a:pt x="141737" y="82481"/>
                        </a:cubicBezTo>
                        <a:cubicBezTo>
                          <a:pt x="197421" y="27494"/>
                          <a:pt x="270035" y="0"/>
                          <a:pt x="342650" y="0"/>
                        </a:cubicBezTo>
                        <a:close/>
                      </a:path>
                    </a:pathLst>
                  </a:custGeom>
                  <a:solidFill>
                    <a:srgbClr val="257FBA"/>
                  </a:solidFill>
                  <a:ln>
                    <a:noFill/>
                  </a:ln>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39" name="Freeform 40">
                    <a:extLst>
                      <a:ext uri="{FF2B5EF4-FFF2-40B4-BE49-F238E27FC236}">
                        <a16:creationId xmlns:a16="http://schemas.microsoft.com/office/drawing/2014/main" id="{276DE597-2386-4910-ABF4-89BB5C805A30}"/>
                      </a:ext>
                    </a:extLst>
                  </p:cNvPr>
                  <p:cNvSpPr>
                    <a:spLocks noEditPoints="1" noChangeArrowheads="1"/>
                  </p:cNvSpPr>
                  <p:nvPr/>
                </p:nvSpPr>
                <p:spPr bwMode="auto">
                  <a:xfrm>
                    <a:off x="4583832" y="3810886"/>
                    <a:ext cx="360000" cy="360000"/>
                  </a:xfrm>
                  <a:custGeom>
                    <a:avLst/>
                    <a:gdLst>
                      <a:gd name="T0" fmla="*/ 70 w 140"/>
                      <a:gd name="T1" fmla="*/ 0 h 140"/>
                      <a:gd name="T2" fmla="*/ 0 w 140"/>
                      <a:gd name="T3" fmla="*/ 70 h 140"/>
                      <a:gd name="T4" fmla="*/ 70 w 140"/>
                      <a:gd name="T5" fmla="*/ 140 h 140"/>
                      <a:gd name="T6" fmla="*/ 140 w 140"/>
                      <a:gd name="T7" fmla="*/ 70 h 140"/>
                      <a:gd name="T8" fmla="*/ 70 w 140"/>
                      <a:gd name="T9" fmla="*/ 0 h 140"/>
                      <a:gd name="T10" fmla="*/ 70 w 140"/>
                      <a:gd name="T11" fmla="*/ 118 h 140"/>
                      <a:gd name="T12" fmla="*/ 57 w 140"/>
                      <a:gd name="T13" fmla="*/ 102 h 140"/>
                      <a:gd name="T14" fmla="*/ 83 w 140"/>
                      <a:gd name="T15" fmla="*/ 102 h 140"/>
                      <a:gd name="T16" fmla="*/ 70 w 140"/>
                      <a:gd name="T17" fmla="*/ 118 h 140"/>
                      <a:gd name="T18" fmla="*/ 52 w 140"/>
                      <a:gd name="T19" fmla="*/ 93 h 140"/>
                      <a:gd name="T20" fmla="*/ 47 w 140"/>
                      <a:gd name="T21" fmla="*/ 74 h 140"/>
                      <a:gd name="T22" fmla="*/ 93 w 140"/>
                      <a:gd name="T23" fmla="*/ 74 h 140"/>
                      <a:gd name="T24" fmla="*/ 88 w 140"/>
                      <a:gd name="T25" fmla="*/ 93 h 140"/>
                      <a:gd name="T26" fmla="*/ 52 w 140"/>
                      <a:gd name="T27" fmla="*/ 93 h 140"/>
                      <a:gd name="T28" fmla="*/ 122 w 140"/>
                      <a:gd name="T29" fmla="*/ 65 h 140"/>
                      <a:gd name="T30" fmla="*/ 102 w 140"/>
                      <a:gd name="T31" fmla="*/ 65 h 140"/>
                      <a:gd name="T32" fmla="*/ 100 w 140"/>
                      <a:gd name="T33" fmla="*/ 46 h 140"/>
                      <a:gd name="T34" fmla="*/ 117 w 140"/>
                      <a:gd name="T35" fmla="*/ 46 h 140"/>
                      <a:gd name="T36" fmla="*/ 122 w 140"/>
                      <a:gd name="T37" fmla="*/ 65 h 140"/>
                      <a:gd name="T38" fmla="*/ 93 w 140"/>
                      <a:gd name="T39" fmla="*/ 65 h 140"/>
                      <a:gd name="T40" fmla="*/ 47 w 140"/>
                      <a:gd name="T41" fmla="*/ 65 h 140"/>
                      <a:gd name="T42" fmla="*/ 49 w 140"/>
                      <a:gd name="T43" fmla="*/ 46 h 140"/>
                      <a:gd name="T44" fmla="*/ 91 w 140"/>
                      <a:gd name="T45" fmla="*/ 46 h 140"/>
                      <a:gd name="T46" fmla="*/ 93 w 140"/>
                      <a:gd name="T47" fmla="*/ 65 h 140"/>
                      <a:gd name="T48" fmla="*/ 37 w 140"/>
                      <a:gd name="T49" fmla="*/ 65 h 140"/>
                      <a:gd name="T50" fmla="*/ 18 w 140"/>
                      <a:gd name="T51" fmla="*/ 65 h 140"/>
                      <a:gd name="T52" fmla="*/ 23 w 140"/>
                      <a:gd name="T53" fmla="*/ 46 h 140"/>
                      <a:gd name="T54" fmla="*/ 39 w 140"/>
                      <a:gd name="T55" fmla="*/ 46 h 140"/>
                      <a:gd name="T56" fmla="*/ 37 w 140"/>
                      <a:gd name="T57" fmla="*/ 65 h 140"/>
                      <a:gd name="T58" fmla="*/ 38 w 140"/>
                      <a:gd name="T59" fmla="*/ 74 h 140"/>
                      <a:gd name="T60" fmla="*/ 42 w 140"/>
                      <a:gd name="T61" fmla="*/ 93 h 140"/>
                      <a:gd name="T62" fmla="*/ 23 w 140"/>
                      <a:gd name="T63" fmla="*/ 93 h 140"/>
                      <a:gd name="T64" fmla="*/ 18 w 140"/>
                      <a:gd name="T65" fmla="*/ 74 h 140"/>
                      <a:gd name="T66" fmla="*/ 38 w 140"/>
                      <a:gd name="T67" fmla="*/ 74 h 140"/>
                      <a:gd name="T68" fmla="*/ 102 w 140"/>
                      <a:gd name="T69" fmla="*/ 74 h 140"/>
                      <a:gd name="T70" fmla="*/ 122 w 140"/>
                      <a:gd name="T71" fmla="*/ 74 h 140"/>
                      <a:gd name="T72" fmla="*/ 117 w 140"/>
                      <a:gd name="T73" fmla="*/ 93 h 140"/>
                      <a:gd name="T74" fmla="*/ 98 w 140"/>
                      <a:gd name="T75" fmla="*/ 93 h 140"/>
                      <a:gd name="T76" fmla="*/ 102 w 140"/>
                      <a:gd name="T77" fmla="*/ 74 h 140"/>
                      <a:gd name="T78" fmla="*/ 111 w 140"/>
                      <a:gd name="T79" fmla="*/ 37 h 140"/>
                      <a:gd name="T80" fmla="*/ 98 w 140"/>
                      <a:gd name="T81" fmla="*/ 37 h 140"/>
                      <a:gd name="T82" fmla="*/ 90 w 140"/>
                      <a:gd name="T83" fmla="*/ 21 h 140"/>
                      <a:gd name="T84" fmla="*/ 111 w 140"/>
                      <a:gd name="T85" fmla="*/ 37 h 140"/>
                      <a:gd name="T86" fmla="*/ 75 w 140"/>
                      <a:gd name="T87" fmla="*/ 18 h 140"/>
                      <a:gd name="T88" fmla="*/ 88 w 140"/>
                      <a:gd name="T89" fmla="*/ 37 h 140"/>
                      <a:gd name="T90" fmla="*/ 52 w 140"/>
                      <a:gd name="T91" fmla="*/ 37 h 140"/>
                      <a:gd name="T92" fmla="*/ 64 w 140"/>
                      <a:gd name="T93" fmla="*/ 18 h 140"/>
                      <a:gd name="T94" fmla="*/ 70 w 140"/>
                      <a:gd name="T95" fmla="*/ 17 h 140"/>
                      <a:gd name="T96" fmla="*/ 75 w 140"/>
                      <a:gd name="T97" fmla="*/ 18 h 140"/>
                      <a:gd name="T98" fmla="*/ 50 w 140"/>
                      <a:gd name="T99" fmla="*/ 21 h 140"/>
                      <a:gd name="T100" fmla="*/ 42 w 140"/>
                      <a:gd name="T101" fmla="*/ 37 h 140"/>
                      <a:gd name="T102" fmla="*/ 29 w 140"/>
                      <a:gd name="T103" fmla="*/ 37 h 140"/>
                      <a:gd name="T104" fmla="*/ 50 w 140"/>
                      <a:gd name="T105" fmla="*/ 21 h 140"/>
                      <a:gd name="T106" fmla="*/ 29 w 140"/>
                      <a:gd name="T107" fmla="*/ 102 h 140"/>
                      <a:gd name="T108" fmla="*/ 46 w 140"/>
                      <a:gd name="T109" fmla="*/ 102 h 140"/>
                      <a:gd name="T110" fmla="*/ 60 w 140"/>
                      <a:gd name="T111" fmla="*/ 121 h 140"/>
                      <a:gd name="T112" fmla="*/ 29 w 140"/>
                      <a:gd name="T113" fmla="*/ 102 h 140"/>
                      <a:gd name="T114" fmla="*/ 80 w 140"/>
                      <a:gd name="T115" fmla="*/ 121 h 140"/>
                      <a:gd name="T116" fmla="*/ 94 w 140"/>
                      <a:gd name="T117" fmla="*/ 102 h 140"/>
                      <a:gd name="T118" fmla="*/ 111 w 140"/>
                      <a:gd name="T119" fmla="*/ 102 h 140"/>
                      <a:gd name="T120" fmla="*/ 80 w 140"/>
                      <a:gd name="T121" fmla="*/ 121 h 14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40"/>
                      <a:gd name="T184" fmla="*/ 0 h 140"/>
                      <a:gd name="T185" fmla="*/ 140 w 140"/>
                      <a:gd name="T186" fmla="*/ 140 h 14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40" h="140">
                        <a:moveTo>
                          <a:pt x="70" y="0"/>
                        </a:moveTo>
                        <a:cubicBezTo>
                          <a:pt x="31" y="0"/>
                          <a:pt x="0" y="31"/>
                          <a:pt x="0" y="70"/>
                        </a:cubicBezTo>
                        <a:cubicBezTo>
                          <a:pt x="0" y="108"/>
                          <a:pt x="31" y="140"/>
                          <a:pt x="70" y="140"/>
                        </a:cubicBezTo>
                        <a:cubicBezTo>
                          <a:pt x="108" y="140"/>
                          <a:pt x="140" y="108"/>
                          <a:pt x="140" y="70"/>
                        </a:cubicBezTo>
                        <a:cubicBezTo>
                          <a:pt x="140" y="31"/>
                          <a:pt x="108" y="0"/>
                          <a:pt x="70" y="0"/>
                        </a:cubicBezTo>
                        <a:close/>
                        <a:moveTo>
                          <a:pt x="70" y="118"/>
                        </a:moveTo>
                        <a:cubicBezTo>
                          <a:pt x="65" y="114"/>
                          <a:pt x="60" y="108"/>
                          <a:pt x="57" y="102"/>
                        </a:cubicBezTo>
                        <a:cubicBezTo>
                          <a:pt x="83" y="102"/>
                          <a:pt x="83" y="102"/>
                          <a:pt x="83" y="102"/>
                        </a:cubicBezTo>
                        <a:cubicBezTo>
                          <a:pt x="79" y="108"/>
                          <a:pt x="75" y="114"/>
                          <a:pt x="70" y="118"/>
                        </a:cubicBezTo>
                        <a:close/>
                        <a:moveTo>
                          <a:pt x="52" y="93"/>
                        </a:moveTo>
                        <a:cubicBezTo>
                          <a:pt x="50" y="87"/>
                          <a:pt x="48" y="81"/>
                          <a:pt x="47" y="74"/>
                        </a:cubicBezTo>
                        <a:cubicBezTo>
                          <a:pt x="93" y="74"/>
                          <a:pt x="93" y="74"/>
                          <a:pt x="93" y="74"/>
                        </a:cubicBezTo>
                        <a:cubicBezTo>
                          <a:pt x="92" y="81"/>
                          <a:pt x="90" y="87"/>
                          <a:pt x="88" y="93"/>
                        </a:cubicBezTo>
                        <a:lnTo>
                          <a:pt x="52" y="93"/>
                        </a:lnTo>
                        <a:close/>
                        <a:moveTo>
                          <a:pt x="122" y="65"/>
                        </a:moveTo>
                        <a:cubicBezTo>
                          <a:pt x="102" y="65"/>
                          <a:pt x="102" y="65"/>
                          <a:pt x="102" y="65"/>
                        </a:cubicBezTo>
                        <a:cubicBezTo>
                          <a:pt x="102" y="59"/>
                          <a:pt x="102" y="52"/>
                          <a:pt x="100" y="46"/>
                        </a:cubicBezTo>
                        <a:cubicBezTo>
                          <a:pt x="117" y="46"/>
                          <a:pt x="117" y="46"/>
                          <a:pt x="117" y="46"/>
                        </a:cubicBezTo>
                        <a:cubicBezTo>
                          <a:pt x="120" y="52"/>
                          <a:pt x="121" y="59"/>
                          <a:pt x="122" y="65"/>
                        </a:cubicBezTo>
                        <a:close/>
                        <a:moveTo>
                          <a:pt x="93" y="65"/>
                        </a:moveTo>
                        <a:cubicBezTo>
                          <a:pt x="47" y="65"/>
                          <a:pt x="47" y="65"/>
                          <a:pt x="47" y="65"/>
                        </a:cubicBezTo>
                        <a:cubicBezTo>
                          <a:pt x="47" y="59"/>
                          <a:pt x="47" y="52"/>
                          <a:pt x="49" y="46"/>
                        </a:cubicBezTo>
                        <a:cubicBezTo>
                          <a:pt x="91" y="46"/>
                          <a:pt x="91" y="46"/>
                          <a:pt x="91" y="46"/>
                        </a:cubicBezTo>
                        <a:cubicBezTo>
                          <a:pt x="92" y="52"/>
                          <a:pt x="93" y="59"/>
                          <a:pt x="93" y="65"/>
                        </a:cubicBezTo>
                        <a:close/>
                        <a:moveTo>
                          <a:pt x="37" y="65"/>
                        </a:moveTo>
                        <a:cubicBezTo>
                          <a:pt x="18" y="65"/>
                          <a:pt x="18" y="65"/>
                          <a:pt x="18" y="65"/>
                        </a:cubicBezTo>
                        <a:cubicBezTo>
                          <a:pt x="18" y="59"/>
                          <a:pt x="20" y="52"/>
                          <a:pt x="23" y="46"/>
                        </a:cubicBezTo>
                        <a:cubicBezTo>
                          <a:pt x="39" y="46"/>
                          <a:pt x="39" y="46"/>
                          <a:pt x="39" y="46"/>
                        </a:cubicBezTo>
                        <a:cubicBezTo>
                          <a:pt x="38" y="52"/>
                          <a:pt x="37" y="59"/>
                          <a:pt x="37" y="65"/>
                        </a:cubicBezTo>
                        <a:close/>
                        <a:moveTo>
                          <a:pt x="38" y="74"/>
                        </a:moveTo>
                        <a:cubicBezTo>
                          <a:pt x="38" y="81"/>
                          <a:pt x="40" y="87"/>
                          <a:pt x="42" y="93"/>
                        </a:cubicBezTo>
                        <a:cubicBezTo>
                          <a:pt x="23" y="93"/>
                          <a:pt x="23" y="93"/>
                          <a:pt x="23" y="93"/>
                        </a:cubicBezTo>
                        <a:cubicBezTo>
                          <a:pt x="20" y="87"/>
                          <a:pt x="18" y="81"/>
                          <a:pt x="18" y="74"/>
                        </a:cubicBezTo>
                        <a:lnTo>
                          <a:pt x="38" y="74"/>
                        </a:lnTo>
                        <a:close/>
                        <a:moveTo>
                          <a:pt x="102" y="74"/>
                        </a:moveTo>
                        <a:cubicBezTo>
                          <a:pt x="122" y="74"/>
                          <a:pt x="122" y="74"/>
                          <a:pt x="122" y="74"/>
                        </a:cubicBezTo>
                        <a:cubicBezTo>
                          <a:pt x="121" y="81"/>
                          <a:pt x="120" y="87"/>
                          <a:pt x="117" y="93"/>
                        </a:cubicBezTo>
                        <a:cubicBezTo>
                          <a:pt x="98" y="93"/>
                          <a:pt x="98" y="93"/>
                          <a:pt x="98" y="93"/>
                        </a:cubicBezTo>
                        <a:cubicBezTo>
                          <a:pt x="100" y="87"/>
                          <a:pt x="101" y="81"/>
                          <a:pt x="102" y="74"/>
                        </a:cubicBezTo>
                        <a:close/>
                        <a:moveTo>
                          <a:pt x="111" y="37"/>
                        </a:moveTo>
                        <a:cubicBezTo>
                          <a:pt x="98" y="37"/>
                          <a:pt x="98" y="37"/>
                          <a:pt x="98" y="37"/>
                        </a:cubicBezTo>
                        <a:cubicBezTo>
                          <a:pt x="96" y="31"/>
                          <a:pt x="93" y="26"/>
                          <a:pt x="90" y="21"/>
                        </a:cubicBezTo>
                        <a:cubicBezTo>
                          <a:pt x="98" y="25"/>
                          <a:pt x="105" y="30"/>
                          <a:pt x="111" y="37"/>
                        </a:cubicBezTo>
                        <a:close/>
                        <a:moveTo>
                          <a:pt x="75" y="18"/>
                        </a:moveTo>
                        <a:cubicBezTo>
                          <a:pt x="80" y="23"/>
                          <a:pt x="85" y="30"/>
                          <a:pt x="88" y="37"/>
                        </a:cubicBezTo>
                        <a:cubicBezTo>
                          <a:pt x="52" y="37"/>
                          <a:pt x="52" y="37"/>
                          <a:pt x="52" y="37"/>
                        </a:cubicBezTo>
                        <a:cubicBezTo>
                          <a:pt x="55" y="30"/>
                          <a:pt x="59" y="23"/>
                          <a:pt x="64" y="18"/>
                        </a:cubicBezTo>
                        <a:cubicBezTo>
                          <a:pt x="66" y="17"/>
                          <a:pt x="68" y="17"/>
                          <a:pt x="70" y="17"/>
                        </a:cubicBezTo>
                        <a:cubicBezTo>
                          <a:pt x="72" y="17"/>
                          <a:pt x="74" y="17"/>
                          <a:pt x="75" y="18"/>
                        </a:cubicBezTo>
                        <a:close/>
                        <a:moveTo>
                          <a:pt x="50" y="21"/>
                        </a:moveTo>
                        <a:cubicBezTo>
                          <a:pt x="47" y="26"/>
                          <a:pt x="44" y="31"/>
                          <a:pt x="42" y="37"/>
                        </a:cubicBezTo>
                        <a:cubicBezTo>
                          <a:pt x="29" y="37"/>
                          <a:pt x="29" y="37"/>
                          <a:pt x="29" y="37"/>
                        </a:cubicBezTo>
                        <a:cubicBezTo>
                          <a:pt x="34" y="30"/>
                          <a:pt x="42" y="25"/>
                          <a:pt x="50" y="21"/>
                        </a:cubicBezTo>
                        <a:close/>
                        <a:moveTo>
                          <a:pt x="29" y="102"/>
                        </a:moveTo>
                        <a:cubicBezTo>
                          <a:pt x="46" y="102"/>
                          <a:pt x="46" y="102"/>
                          <a:pt x="46" y="102"/>
                        </a:cubicBezTo>
                        <a:cubicBezTo>
                          <a:pt x="50" y="110"/>
                          <a:pt x="54" y="116"/>
                          <a:pt x="60" y="121"/>
                        </a:cubicBezTo>
                        <a:cubicBezTo>
                          <a:pt x="47" y="119"/>
                          <a:pt x="36" y="112"/>
                          <a:pt x="29" y="102"/>
                        </a:cubicBezTo>
                        <a:close/>
                        <a:moveTo>
                          <a:pt x="80" y="121"/>
                        </a:moveTo>
                        <a:cubicBezTo>
                          <a:pt x="85" y="116"/>
                          <a:pt x="90" y="110"/>
                          <a:pt x="94" y="102"/>
                        </a:cubicBezTo>
                        <a:cubicBezTo>
                          <a:pt x="111" y="102"/>
                          <a:pt x="111" y="102"/>
                          <a:pt x="111" y="102"/>
                        </a:cubicBezTo>
                        <a:cubicBezTo>
                          <a:pt x="103" y="112"/>
                          <a:pt x="92" y="119"/>
                          <a:pt x="80" y="121"/>
                        </a:cubicBezTo>
                        <a:close/>
                      </a:path>
                    </a:pathLst>
                  </a:custGeom>
                  <a:solidFill>
                    <a:srgbClr val="ECF0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40" name="Freeform 46">
                    <a:extLst>
                      <a:ext uri="{FF2B5EF4-FFF2-40B4-BE49-F238E27FC236}">
                        <a16:creationId xmlns:a16="http://schemas.microsoft.com/office/drawing/2014/main" id="{CD2B9CF1-5105-42D9-9B5B-590B335C1DD1}"/>
                      </a:ext>
                    </a:extLst>
                  </p:cNvPr>
                  <p:cNvSpPr>
                    <a:spLocks noChangeArrowheads="1"/>
                  </p:cNvSpPr>
                  <p:nvPr/>
                </p:nvSpPr>
                <p:spPr bwMode="auto">
                  <a:xfrm>
                    <a:off x="5232272" y="4602855"/>
                    <a:ext cx="663137" cy="699775"/>
                  </a:xfrm>
                  <a:custGeom>
                    <a:avLst/>
                    <a:gdLst>
                      <a:gd name="T0" fmla="*/ 357 w 381"/>
                      <a:gd name="T1" fmla="*/ 402 h 402"/>
                      <a:gd name="T2" fmla="*/ 89 w 381"/>
                      <a:gd name="T3" fmla="*/ 254 h 402"/>
                      <a:gd name="T4" fmla="*/ 0 w 381"/>
                      <a:gd name="T5" fmla="*/ 20 h 402"/>
                      <a:gd name="T6" fmla="*/ 67 w 381"/>
                      <a:gd name="T7" fmla="*/ 24 h 402"/>
                      <a:gd name="T8" fmla="*/ 117 w 381"/>
                      <a:gd name="T9" fmla="*/ 101 h 402"/>
                      <a:gd name="T10" fmla="*/ 159 w 381"/>
                      <a:gd name="T11" fmla="*/ 162 h 402"/>
                      <a:gd name="T12" fmla="*/ 381 w 381"/>
                      <a:gd name="T13" fmla="*/ 279 h 402"/>
                      <a:gd name="T14" fmla="*/ 357 w 381"/>
                      <a:gd name="T15" fmla="*/ 402 h 402"/>
                      <a:gd name="T16" fmla="*/ 0 60000 65536"/>
                      <a:gd name="T17" fmla="*/ 0 60000 65536"/>
                      <a:gd name="T18" fmla="*/ 0 60000 65536"/>
                      <a:gd name="T19" fmla="*/ 0 60000 65536"/>
                      <a:gd name="T20" fmla="*/ 0 60000 65536"/>
                      <a:gd name="T21" fmla="*/ 0 60000 65536"/>
                      <a:gd name="T22" fmla="*/ 0 60000 65536"/>
                      <a:gd name="T23" fmla="*/ 0 60000 65536"/>
                      <a:gd name="T24" fmla="*/ 0 w 381"/>
                      <a:gd name="T25" fmla="*/ 0 h 402"/>
                      <a:gd name="T26" fmla="*/ 381 w 381"/>
                      <a:gd name="T27" fmla="*/ 402 h 4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 h="402">
                        <a:moveTo>
                          <a:pt x="357" y="402"/>
                        </a:moveTo>
                        <a:cubicBezTo>
                          <a:pt x="89" y="254"/>
                          <a:pt x="89" y="254"/>
                          <a:pt x="89" y="254"/>
                        </a:cubicBezTo>
                        <a:cubicBezTo>
                          <a:pt x="0" y="20"/>
                          <a:pt x="0" y="20"/>
                          <a:pt x="0" y="20"/>
                        </a:cubicBezTo>
                        <a:cubicBezTo>
                          <a:pt x="0" y="20"/>
                          <a:pt x="33" y="0"/>
                          <a:pt x="67" y="24"/>
                        </a:cubicBezTo>
                        <a:cubicBezTo>
                          <a:pt x="105" y="50"/>
                          <a:pt x="117" y="101"/>
                          <a:pt x="117" y="101"/>
                        </a:cubicBezTo>
                        <a:cubicBezTo>
                          <a:pt x="159" y="162"/>
                          <a:pt x="159" y="162"/>
                          <a:pt x="159" y="162"/>
                        </a:cubicBezTo>
                        <a:cubicBezTo>
                          <a:pt x="381" y="279"/>
                          <a:pt x="381" y="279"/>
                          <a:pt x="381" y="279"/>
                        </a:cubicBezTo>
                        <a:lnTo>
                          <a:pt x="357" y="402"/>
                        </a:lnTo>
                        <a:close/>
                      </a:path>
                    </a:pathLst>
                  </a:custGeom>
                  <a:solidFill>
                    <a:srgbClr val="FFC19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41" name="Freeform 48">
                    <a:extLst>
                      <a:ext uri="{FF2B5EF4-FFF2-40B4-BE49-F238E27FC236}">
                        <a16:creationId xmlns:a16="http://schemas.microsoft.com/office/drawing/2014/main" id="{BB7F6F8C-F3F0-440C-BCEA-9095E2544D85}"/>
                      </a:ext>
                    </a:extLst>
                  </p:cNvPr>
                  <p:cNvSpPr>
                    <a:spLocks noChangeArrowheads="1"/>
                  </p:cNvSpPr>
                  <p:nvPr/>
                </p:nvSpPr>
                <p:spPr bwMode="auto">
                  <a:xfrm>
                    <a:off x="5640780" y="4397686"/>
                    <a:ext cx="1313451" cy="1357416"/>
                  </a:xfrm>
                  <a:custGeom>
                    <a:avLst/>
                    <a:gdLst>
                      <a:gd name="T0" fmla="*/ 391 w 756"/>
                      <a:gd name="T1" fmla="*/ 52 h 781"/>
                      <a:gd name="T2" fmla="*/ 405 w 756"/>
                      <a:gd name="T3" fmla="*/ 226 h 781"/>
                      <a:gd name="T4" fmla="*/ 406 w 756"/>
                      <a:gd name="T5" fmla="*/ 270 h 781"/>
                      <a:gd name="T6" fmla="*/ 316 w 756"/>
                      <a:gd name="T7" fmla="*/ 322 h 781"/>
                      <a:gd name="T8" fmla="*/ 174 w 756"/>
                      <a:gd name="T9" fmla="*/ 267 h 781"/>
                      <a:gd name="T10" fmla="*/ 103 w 756"/>
                      <a:gd name="T11" fmla="*/ 152 h 781"/>
                      <a:gd name="T12" fmla="*/ 108 w 756"/>
                      <a:gd name="T13" fmla="*/ 103 h 781"/>
                      <a:gd name="T14" fmla="*/ 122 w 756"/>
                      <a:gd name="T15" fmla="*/ 38 h 781"/>
                      <a:gd name="T16" fmla="*/ 103 w 756"/>
                      <a:gd name="T17" fmla="*/ 5 h 781"/>
                      <a:gd name="T18" fmla="*/ 49 w 756"/>
                      <a:gd name="T19" fmla="*/ 53 h 781"/>
                      <a:gd name="T20" fmla="*/ 0 w 756"/>
                      <a:gd name="T21" fmla="*/ 178 h 781"/>
                      <a:gd name="T22" fmla="*/ 118 w 756"/>
                      <a:gd name="T23" fmla="*/ 440 h 781"/>
                      <a:gd name="T24" fmla="*/ 94 w 756"/>
                      <a:gd name="T25" fmla="*/ 572 h 781"/>
                      <a:gd name="T26" fmla="*/ 265 w 756"/>
                      <a:gd name="T27" fmla="*/ 621 h 781"/>
                      <a:gd name="T28" fmla="*/ 287 w 756"/>
                      <a:gd name="T29" fmla="*/ 563 h 781"/>
                      <a:gd name="T30" fmla="*/ 379 w 756"/>
                      <a:gd name="T31" fmla="*/ 591 h 781"/>
                      <a:gd name="T32" fmla="*/ 620 w 756"/>
                      <a:gd name="T33" fmla="*/ 781 h 781"/>
                      <a:gd name="T34" fmla="*/ 750 w 756"/>
                      <a:gd name="T35" fmla="*/ 680 h 781"/>
                      <a:gd name="T36" fmla="*/ 681 w 756"/>
                      <a:gd name="T37" fmla="*/ 486 h 781"/>
                      <a:gd name="T38" fmla="*/ 595 w 756"/>
                      <a:gd name="T39" fmla="*/ 289 h 781"/>
                      <a:gd name="T40" fmla="*/ 473 w 756"/>
                      <a:gd name="T41" fmla="*/ 117 h 781"/>
                      <a:gd name="T42" fmla="*/ 438 w 756"/>
                      <a:gd name="T43" fmla="*/ 0 h 781"/>
                      <a:gd name="T44" fmla="*/ 391 w 756"/>
                      <a:gd name="T45" fmla="*/ 52 h 78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56"/>
                      <a:gd name="T70" fmla="*/ 0 h 781"/>
                      <a:gd name="T71" fmla="*/ 756 w 756"/>
                      <a:gd name="T72" fmla="*/ 781 h 78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56" h="781">
                        <a:moveTo>
                          <a:pt x="391" y="52"/>
                        </a:moveTo>
                        <a:cubicBezTo>
                          <a:pt x="360" y="129"/>
                          <a:pt x="405" y="226"/>
                          <a:pt x="405" y="226"/>
                        </a:cubicBezTo>
                        <a:cubicBezTo>
                          <a:pt x="405" y="226"/>
                          <a:pt x="413" y="254"/>
                          <a:pt x="406" y="270"/>
                        </a:cubicBezTo>
                        <a:cubicBezTo>
                          <a:pt x="396" y="292"/>
                          <a:pt x="381" y="319"/>
                          <a:pt x="316" y="322"/>
                        </a:cubicBezTo>
                        <a:cubicBezTo>
                          <a:pt x="227" y="326"/>
                          <a:pt x="174" y="267"/>
                          <a:pt x="174" y="267"/>
                        </a:cubicBezTo>
                        <a:cubicBezTo>
                          <a:pt x="103" y="152"/>
                          <a:pt x="103" y="152"/>
                          <a:pt x="103" y="152"/>
                        </a:cubicBezTo>
                        <a:cubicBezTo>
                          <a:pt x="108" y="103"/>
                          <a:pt x="108" y="103"/>
                          <a:pt x="108" y="103"/>
                        </a:cubicBezTo>
                        <a:cubicBezTo>
                          <a:pt x="108" y="103"/>
                          <a:pt x="124" y="70"/>
                          <a:pt x="122" y="38"/>
                        </a:cubicBezTo>
                        <a:cubicBezTo>
                          <a:pt x="120" y="7"/>
                          <a:pt x="103" y="5"/>
                          <a:pt x="103" y="5"/>
                        </a:cubicBezTo>
                        <a:cubicBezTo>
                          <a:pt x="49" y="53"/>
                          <a:pt x="49" y="53"/>
                          <a:pt x="49" y="53"/>
                        </a:cubicBezTo>
                        <a:cubicBezTo>
                          <a:pt x="0" y="178"/>
                          <a:pt x="0" y="178"/>
                          <a:pt x="0" y="178"/>
                        </a:cubicBezTo>
                        <a:cubicBezTo>
                          <a:pt x="118" y="440"/>
                          <a:pt x="118" y="440"/>
                          <a:pt x="118" y="440"/>
                        </a:cubicBezTo>
                        <a:cubicBezTo>
                          <a:pt x="94" y="572"/>
                          <a:pt x="94" y="572"/>
                          <a:pt x="94" y="572"/>
                        </a:cubicBezTo>
                        <a:cubicBezTo>
                          <a:pt x="265" y="621"/>
                          <a:pt x="265" y="621"/>
                          <a:pt x="265" y="621"/>
                        </a:cubicBezTo>
                        <a:cubicBezTo>
                          <a:pt x="287" y="563"/>
                          <a:pt x="287" y="563"/>
                          <a:pt x="287" y="563"/>
                        </a:cubicBezTo>
                        <a:cubicBezTo>
                          <a:pt x="379" y="591"/>
                          <a:pt x="379" y="591"/>
                          <a:pt x="379" y="591"/>
                        </a:cubicBezTo>
                        <a:cubicBezTo>
                          <a:pt x="620" y="781"/>
                          <a:pt x="620" y="781"/>
                          <a:pt x="620" y="781"/>
                        </a:cubicBezTo>
                        <a:cubicBezTo>
                          <a:pt x="620" y="781"/>
                          <a:pt x="740" y="760"/>
                          <a:pt x="750" y="680"/>
                        </a:cubicBezTo>
                        <a:cubicBezTo>
                          <a:pt x="756" y="632"/>
                          <a:pt x="692" y="506"/>
                          <a:pt x="681" y="486"/>
                        </a:cubicBezTo>
                        <a:cubicBezTo>
                          <a:pt x="670" y="466"/>
                          <a:pt x="595" y="289"/>
                          <a:pt x="595" y="289"/>
                        </a:cubicBezTo>
                        <a:cubicBezTo>
                          <a:pt x="473" y="117"/>
                          <a:pt x="473" y="117"/>
                          <a:pt x="473" y="117"/>
                        </a:cubicBezTo>
                        <a:cubicBezTo>
                          <a:pt x="438" y="0"/>
                          <a:pt x="438" y="0"/>
                          <a:pt x="438" y="0"/>
                        </a:cubicBezTo>
                        <a:cubicBezTo>
                          <a:pt x="438" y="0"/>
                          <a:pt x="401" y="27"/>
                          <a:pt x="391" y="52"/>
                        </a:cubicBezTo>
                        <a:close/>
                      </a:path>
                    </a:pathLst>
                  </a:custGeom>
                  <a:solidFill>
                    <a:srgbClr val="FFC19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42" name="Freeform 56">
                    <a:extLst>
                      <a:ext uri="{FF2B5EF4-FFF2-40B4-BE49-F238E27FC236}">
                        <a16:creationId xmlns:a16="http://schemas.microsoft.com/office/drawing/2014/main" id="{E66382FA-F909-4624-A926-E6CE82D660AA}"/>
                      </a:ext>
                    </a:extLst>
                  </p:cNvPr>
                  <p:cNvSpPr>
                    <a:spLocks noChangeArrowheads="1"/>
                  </p:cNvSpPr>
                  <p:nvPr/>
                </p:nvSpPr>
                <p:spPr bwMode="auto">
                  <a:xfrm>
                    <a:off x="5510717" y="2946790"/>
                    <a:ext cx="1168734" cy="1399549"/>
                  </a:xfrm>
                  <a:custGeom>
                    <a:avLst/>
                    <a:gdLst>
                      <a:gd name="T0" fmla="*/ 336 w 672"/>
                      <a:gd name="T1" fmla="*/ 0 h 806"/>
                      <a:gd name="T2" fmla="*/ 0 w 672"/>
                      <a:gd name="T3" fmla="*/ 322 h 806"/>
                      <a:gd name="T4" fmla="*/ 11 w 672"/>
                      <a:gd name="T5" fmla="*/ 395 h 806"/>
                      <a:gd name="T6" fmla="*/ 44 w 672"/>
                      <a:gd name="T7" fmla="*/ 483 h 806"/>
                      <a:gd name="T8" fmla="*/ 210 w 672"/>
                      <a:gd name="T9" fmla="*/ 806 h 806"/>
                      <a:gd name="T10" fmla="*/ 315 w 672"/>
                      <a:gd name="T11" fmla="*/ 806 h 806"/>
                      <a:gd name="T12" fmla="*/ 322 w 672"/>
                      <a:gd name="T13" fmla="*/ 806 h 806"/>
                      <a:gd name="T14" fmla="*/ 448 w 672"/>
                      <a:gd name="T15" fmla="*/ 806 h 806"/>
                      <a:gd name="T16" fmla="*/ 495 w 672"/>
                      <a:gd name="T17" fmla="*/ 633 h 806"/>
                      <a:gd name="T18" fmla="*/ 582 w 672"/>
                      <a:gd name="T19" fmla="*/ 541 h 806"/>
                      <a:gd name="T20" fmla="*/ 672 w 672"/>
                      <a:gd name="T21" fmla="*/ 322 h 806"/>
                      <a:gd name="T22" fmla="*/ 336 w 672"/>
                      <a:gd name="T23" fmla="*/ 0 h 80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72"/>
                      <a:gd name="T37" fmla="*/ 0 h 806"/>
                      <a:gd name="T38" fmla="*/ 672 w 672"/>
                      <a:gd name="T39" fmla="*/ 806 h 80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72" h="806">
                        <a:moveTo>
                          <a:pt x="336" y="0"/>
                        </a:moveTo>
                        <a:cubicBezTo>
                          <a:pt x="150" y="0"/>
                          <a:pt x="0" y="144"/>
                          <a:pt x="0" y="322"/>
                        </a:cubicBezTo>
                        <a:cubicBezTo>
                          <a:pt x="0" y="343"/>
                          <a:pt x="5" y="371"/>
                          <a:pt x="11" y="395"/>
                        </a:cubicBezTo>
                        <a:cubicBezTo>
                          <a:pt x="17" y="421"/>
                          <a:pt x="31" y="465"/>
                          <a:pt x="44" y="483"/>
                        </a:cubicBezTo>
                        <a:cubicBezTo>
                          <a:pt x="104" y="564"/>
                          <a:pt x="245" y="686"/>
                          <a:pt x="210" y="806"/>
                        </a:cubicBezTo>
                        <a:cubicBezTo>
                          <a:pt x="315" y="806"/>
                          <a:pt x="315" y="806"/>
                          <a:pt x="315" y="806"/>
                        </a:cubicBezTo>
                        <a:cubicBezTo>
                          <a:pt x="322" y="806"/>
                          <a:pt x="322" y="806"/>
                          <a:pt x="322" y="806"/>
                        </a:cubicBezTo>
                        <a:cubicBezTo>
                          <a:pt x="448" y="806"/>
                          <a:pt x="448" y="806"/>
                          <a:pt x="448" y="806"/>
                        </a:cubicBezTo>
                        <a:cubicBezTo>
                          <a:pt x="431" y="747"/>
                          <a:pt x="457" y="688"/>
                          <a:pt x="495" y="633"/>
                        </a:cubicBezTo>
                        <a:cubicBezTo>
                          <a:pt x="508" y="615"/>
                          <a:pt x="568" y="555"/>
                          <a:pt x="582" y="541"/>
                        </a:cubicBezTo>
                        <a:cubicBezTo>
                          <a:pt x="638" y="483"/>
                          <a:pt x="672" y="407"/>
                          <a:pt x="672" y="322"/>
                        </a:cubicBezTo>
                        <a:cubicBezTo>
                          <a:pt x="672" y="144"/>
                          <a:pt x="521" y="0"/>
                          <a:pt x="336" y="0"/>
                        </a:cubicBezTo>
                        <a:close/>
                      </a:path>
                    </a:pathLst>
                  </a:custGeom>
                  <a:solidFill>
                    <a:srgbClr val="FFD44A">
                      <a:alpha val="89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43" name="Freeform 58">
                    <a:extLst>
                      <a:ext uri="{FF2B5EF4-FFF2-40B4-BE49-F238E27FC236}">
                        <a16:creationId xmlns:a16="http://schemas.microsoft.com/office/drawing/2014/main" id="{4348537D-553D-4F3A-AD23-377CD4E44751}"/>
                      </a:ext>
                    </a:extLst>
                  </p:cNvPr>
                  <p:cNvSpPr>
                    <a:spLocks noChangeArrowheads="1"/>
                  </p:cNvSpPr>
                  <p:nvPr/>
                </p:nvSpPr>
                <p:spPr bwMode="auto">
                  <a:xfrm>
                    <a:off x="5844117" y="4403181"/>
                    <a:ext cx="501933" cy="320578"/>
                  </a:xfrm>
                  <a:custGeom>
                    <a:avLst/>
                    <a:gdLst>
                      <a:gd name="T0" fmla="*/ 259 w 288"/>
                      <a:gd name="T1" fmla="*/ 46 h 184"/>
                      <a:gd name="T2" fmla="*/ 288 w 288"/>
                      <a:gd name="T3" fmla="*/ 23 h 184"/>
                      <a:gd name="T4" fmla="*/ 259 w 288"/>
                      <a:gd name="T5" fmla="*/ 0 h 184"/>
                      <a:gd name="T6" fmla="*/ 29 w 288"/>
                      <a:gd name="T7" fmla="*/ 0 h 184"/>
                      <a:gd name="T8" fmla="*/ 0 w 288"/>
                      <a:gd name="T9" fmla="*/ 23 h 184"/>
                      <a:gd name="T10" fmla="*/ 25 w 288"/>
                      <a:gd name="T11" fmla="*/ 46 h 184"/>
                      <a:gd name="T12" fmla="*/ 24 w 288"/>
                      <a:gd name="T13" fmla="*/ 46 h 184"/>
                      <a:gd name="T14" fmla="*/ 60 w 288"/>
                      <a:gd name="T15" fmla="*/ 69 h 184"/>
                      <a:gd name="T16" fmla="*/ 29 w 288"/>
                      <a:gd name="T17" fmla="*/ 69 h 184"/>
                      <a:gd name="T18" fmla="*/ 0 w 288"/>
                      <a:gd name="T19" fmla="*/ 92 h 184"/>
                      <a:gd name="T20" fmla="*/ 29 w 288"/>
                      <a:gd name="T21" fmla="*/ 115 h 184"/>
                      <a:gd name="T22" fmla="*/ 48 w 288"/>
                      <a:gd name="T23" fmla="*/ 115 h 184"/>
                      <a:gd name="T24" fmla="*/ 84 w 288"/>
                      <a:gd name="T25" fmla="*/ 138 h 184"/>
                      <a:gd name="T26" fmla="*/ 48 w 288"/>
                      <a:gd name="T27" fmla="*/ 138 h 184"/>
                      <a:gd name="T28" fmla="*/ 24 w 288"/>
                      <a:gd name="T29" fmla="*/ 161 h 184"/>
                      <a:gd name="T30" fmla="*/ 48 w 288"/>
                      <a:gd name="T31" fmla="*/ 184 h 184"/>
                      <a:gd name="T32" fmla="*/ 240 w 288"/>
                      <a:gd name="T33" fmla="*/ 184 h 184"/>
                      <a:gd name="T34" fmla="*/ 264 w 288"/>
                      <a:gd name="T35" fmla="*/ 161 h 184"/>
                      <a:gd name="T36" fmla="*/ 240 w 288"/>
                      <a:gd name="T37" fmla="*/ 138 h 184"/>
                      <a:gd name="T38" fmla="*/ 144 w 288"/>
                      <a:gd name="T39" fmla="*/ 138 h 184"/>
                      <a:gd name="T40" fmla="*/ 120 w 288"/>
                      <a:gd name="T41" fmla="*/ 115 h 184"/>
                      <a:gd name="T42" fmla="*/ 259 w 288"/>
                      <a:gd name="T43" fmla="*/ 115 h 184"/>
                      <a:gd name="T44" fmla="*/ 288 w 288"/>
                      <a:gd name="T45" fmla="*/ 92 h 184"/>
                      <a:gd name="T46" fmla="*/ 259 w 288"/>
                      <a:gd name="T47" fmla="*/ 69 h 184"/>
                      <a:gd name="T48" fmla="*/ 120 w 288"/>
                      <a:gd name="T49" fmla="*/ 69 h 184"/>
                      <a:gd name="T50" fmla="*/ 96 w 288"/>
                      <a:gd name="T51" fmla="*/ 46 h 184"/>
                      <a:gd name="T52" fmla="*/ 259 w 288"/>
                      <a:gd name="T53" fmla="*/ 46 h 18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88"/>
                      <a:gd name="T82" fmla="*/ 0 h 184"/>
                      <a:gd name="T83" fmla="*/ 288 w 288"/>
                      <a:gd name="T84" fmla="*/ 184 h 18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88" h="184">
                        <a:moveTo>
                          <a:pt x="259" y="46"/>
                        </a:moveTo>
                        <a:cubicBezTo>
                          <a:pt x="275" y="46"/>
                          <a:pt x="288" y="36"/>
                          <a:pt x="288" y="23"/>
                        </a:cubicBezTo>
                        <a:cubicBezTo>
                          <a:pt x="288" y="10"/>
                          <a:pt x="275" y="0"/>
                          <a:pt x="259" y="0"/>
                        </a:cubicBezTo>
                        <a:cubicBezTo>
                          <a:pt x="29" y="0"/>
                          <a:pt x="29" y="0"/>
                          <a:pt x="29" y="0"/>
                        </a:cubicBezTo>
                        <a:cubicBezTo>
                          <a:pt x="13" y="0"/>
                          <a:pt x="0" y="10"/>
                          <a:pt x="0" y="23"/>
                        </a:cubicBezTo>
                        <a:cubicBezTo>
                          <a:pt x="0" y="35"/>
                          <a:pt x="11" y="44"/>
                          <a:pt x="25" y="46"/>
                        </a:cubicBezTo>
                        <a:cubicBezTo>
                          <a:pt x="24" y="46"/>
                          <a:pt x="24" y="46"/>
                          <a:pt x="24" y="46"/>
                        </a:cubicBezTo>
                        <a:cubicBezTo>
                          <a:pt x="60" y="69"/>
                          <a:pt x="60" y="69"/>
                          <a:pt x="60" y="69"/>
                        </a:cubicBezTo>
                        <a:cubicBezTo>
                          <a:pt x="29" y="69"/>
                          <a:pt x="29" y="69"/>
                          <a:pt x="29" y="69"/>
                        </a:cubicBezTo>
                        <a:cubicBezTo>
                          <a:pt x="13" y="69"/>
                          <a:pt x="0" y="79"/>
                          <a:pt x="0" y="92"/>
                        </a:cubicBezTo>
                        <a:cubicBezTo>
                          <a:pt x="0" y="105"/>
                          <a:pt x="13" y="115"/>
                          <a:pt x="29" y="115"/>
                        </a:cubicBezTo>
                        <a:cubicBezTo>
                          <a:pt x="48" y="115"/>
                          <a:pt x="48" y="115"/>
                          <a:pt x="48" y="115"/>
                        </a:cubicBezTo>
                        <a:cubicBezTo>
                          <a:pt x="84" y="138"/>
                          <a:pt x="84" y="138"/>
                          <a:pt x="84" y="138"/>
                        </a:cubicBezTo>
                        <a:cubicBezTo>
                          <a:pt x="48" y="138"/>
                          <a:pt x="48" y="138"/>
                          <a:pt x="48" y="138"/>
                        </a:cubicBezTo>
                        <a:cubicBezTo>
                          <a:pt x="34" y="138"/>
                          <a:pt x="24" y="148"/>
                          <a:pt x="24" y="161"/>
                        </a:cubicBezTo>
                        <a:cubicBezTo>
                          <a:pt x="24" y="174"/>
                          <a:pt x="34" y="184"/>
                          <a:pt x="48" y="184"/>
                        </a:cubicBezTo>
                        <a:cubicBezTo>
                          <a:pt x="240" y="184"/>
                          <a:pt x="240" y="184"/>
                          <a:pt x="240" y="184"/>
                        </a:cubicBezTo>
                        <a:cubicBezTo>
                          <a:pt x="253" y="184"/>
                          <a:pt x="264" y="174"/>
                          <a:pt x="264" y="161"/>
                        </a:cubicBezTo>
                        <a:cubicBezTo>
                          <a:pt x="264" y="148"/>
                          <a:pt x="253" y="138"/>
                          <a:pt x="240" y="138"/>
                        </a:cubicBezTo>
                        <a:cubicBezTo>
                          <a:pt x="144" y="138"/>
                          <a:pt x="144" y="138"/>
                          <a:pt x="144" y="138"/>
                        </a:cubicBezTo>
                        <a:cubicBezTo>
                          <a:pt x="120" y="115"/>
                          <a:pt x="120" y="115"/>
                          <a:pt x="120" y="115"/>
                        </a:cubicBezTo>
                        <a:cubicBezTo>
                          <a:pt x="259" y="115"/>
                          <a:pt x="259" y="115"/>
                          <a:pt x="259" y="115"/>
                        </a:cubicBezTo>
                        <a:cubicBezTo>
                          <a:pt x="275" y="115"/>
                          <a:pt x="288" y="105"/>
                          <a:pt x="288" y="92"/>
                        </a:cubicBezTo>
                        <a:cubicBezTo>
                          <a:pt x="288" y="79"/>
                          <a:pt x="275" y="69"/>
                          <a:pt x="259" y="69"/>
                        </a:cubicBezTo>
                        <a:cubicBezTo>
                          <a:pt x="120" y="69"/>
                          <a:pt x="120" y="69"/>
                          <a:pt x="120" y="69"/>
                        </a:cubicBezTo>
                        <a:cubicBezTo>
                          <a:pt x="96" y="46"/>
                          <a:pt x="96" y="46"/>
                          <a:pt x="96" y="46"/>
                        </a:cubicBezTo>
                        <a:lnTo>
                          <a:pt x="259" y="46"/>
                        </a:lnTo>
                        <a:close/>
                      </a:path>
                    </a:pathLst>
                  </a:custGeom>
                  <a:solidFill>
                    <a:srgbClr val="50256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44" name="Freeform 60">
                    <a:extLst>
                      <a:ext uri="{FF2B5EF4-FFF2-40B4-BE49-F238E27FC236}">
                        <a16:creationId xmlns:a16="http://schemas.microsoft.com/office/drawing/2014/main" id="{CB244C32-D3BF-468A-8A78-E8062C3B75A2}"/>
                      </a:ext>
                    </a:extLst>
                  </p:cNvPr>
                  <p:cNvSpPr>
                    <a:spLocks noChangeArrowheads="1"/>
                  </p:cNvSpPr>
                  <p:nvPr/>
                </p:nvSpPr>
                <p:spPr bwMode="auto">
                  <a:xfrm>
                    <a:off x="5928666" y="3824446"/>
                    <a:ext cx="298651" cy="536535"/>
                  </a:xfrm>
                  <a:custGeom>
                    <a:avLst/>
                    <a:gdLst>
                      <a:gd name="T0" fmla="*/ 216 w 244"/>
                      <a:gd name="T1" fmla="*/ 134 h 437"/>
                      <a:gd name="T2" fmla="*/ 193 w 244"/>
                      <a:gd name="T3" fmla="*/ 137 h 437"/>
                      <a:gd name="T4" fmla="*/ 133 w 244"/>
                      <a:gd name="T5" fmla="*/ 388 h 437"/>
                      <a:gd name="T6" fmla="*/ 52 w 244"/>
                      <a:gd name="T7" fmla="*/ 115 h 437"/>
                      <a:gd name="T8" fmla="*/ 124 w 244"/>
                      <a:gd name="T9" fmla="*/ 138 h 437"/>
                      <a:gd name="T10" fmla="*/ 104 w 244"/>
                      <a:gd name="T11" fmla="*/ 65 h 437"/>
                      <a:gd name="T12" fmla="*/ 232 w 244"/>
                      <a:gd name="T13" fmla="*/ 94 h 437"/>
                      <a:gd name="T14" fmla="*/ 244 w 244"/>
                      <a:gd name="T15" fmla="*/ 0 h 437"/>
                      <a:gd name="T16" fmla="*/ 197 w 244"/>
                      <a:gd name="T17" fmla="*/ 64 h 437"/>
                      <a:gd name="T18" fmla="*/ 71 w 244"/>
                      <a:gd name="T19" fmla="*/ 21 h 437"/>
                      <a:gd name="T20" fmla="*/ 86 w 244"/>
                      <a:gd name="T21" fmla="*/ 99 h 437"/>
                      <a:gd name="T22" fmla="*/ 0 w 244"/>
                      <a:gd name="T23" fmla="*/ 77 h 437"/>
                      <a:gd name="T24" fmla="*/ 118 w 244"/>
                      <a:gd name="T25" fmla="*/ 437 h 437"/>
                      <a:gd name="T26" fmla="*/ 152 w 244"/>
                      <a:gd name="T27" fmla="*/ 437 h 437"/>
                      <a:gd name="T28" fmla="*/ 216 w 244"/>
                      <a:gd name="T29" fmla="*/ 134 h 4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44"/>
                      <a:gd name="T46" fmla="*/ 0 h 437"/>
                      <a:gd name="T47" fmla="*/ 244 w 244"/>
                      <a:gd name="T48" fmla="*/ 437 h 43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44" h="437">
                        <a:moveTo>
                          <a:pt x="216" y="134"/>
                        </a:moveTo>
                        <a:cubicBezTo>
                          <a:pt x="193" y="137"/>
                          <a:pt x="193" y="137"/>
                          <a:pt x="193" y="137"/>
                        </a:cubicBezTo>
                        <a:cubicBezTo>
                          <a:pt x="133" y="388"/>
                          <a:pt x="133" y="388"/>
                          <a:pt x="133" y="388"/>
                        </a:cubicBezTo>
                        <a:cubicBezTo>
                          <a:pt x="52" y="115"/>
                          <a:pt x="52" y="115"/>
                          <a:pt x="52" y="115"/>
                        </a:cubicBezTo>
                        <a:cubicBezTo>
                          <a:pt x="124" y="138"/>
                          <a:pt x="124" y="138"/>
                          <a:pt x="124" y="138"/>
                        </a:cubicBezTo>
                        <a:cubicBezTo>
                          <a:pt x="104" y="65"/>
                          <a:pt x="104" y="65"/>
                          <a:pt x="104" y="65"/>
                        </a:cubicBezTo>
                        <a:cubicBezTo>
                          <a:pt x="232" y="94"/>
                          <a:pt x="232" y="94"/>
                          <a:pt x="232" y="94"/>
                        </a:cubicBezTo>
                        <a:cubicBezTo>
                          <a:pt x="244" y="0"/>
                          <a:pt x="244" y="0"/>
                          <a:pt x="244" y="0"/>
                        </a:cubicBezTo>
                        <a:cubicBezTo>
                          <a:pt x="197" y="64"/>
                          <a:pt x="197" y="64"/>
                          <a:pt x="197" y="64"/>
                        </a:cubicBezTo>
                        <a:cubicBezTo>
                          <a:pt x="71" y="21"/>
                          <a:pt x="71" y="21"/>
                          <a:pt x="71" y="21"/>
                        </a:cubicBezTo>
                        <a:cubicBezTo>
                          <a:pt x="86" y="99"/>
                          <a:pt x="86" y="99"/>
                          <a:pt x="86" y="99"/>
                        </a:cubicBezTo>
                        <a:cubicBezTo>
                          <a:pt x="0" y="77"/>
                          <a:pt x="0" y="77"/>
                          <a:pt x="0" y="77"/>
                        </a:cubicBezTo>
                        <a:cubicBezTo>
                          <a:pt x="0" y="77"/>
                          <a:pt x="100" y="369"/>
                          <a:pt x="118" y="437"/>
                        </a:cubicBezTo>
                        <a:cubicBezTo>
                          <a:pt x="152" y="437"/>
                          <a:pt x="152" y="437"/>
                          <a:pt x="152" y="437"/>
                        </a:cubicBezTo>
                        <a:cubicBezTo>
                          <a:pt x="162" y="384"/>
                          <a:pt x="216" y="134"/>
                          <a:pt x="216" y="134"/>
                        </a:cubicBezTo>
                        <a:close/>
                      </a:path>
                    </a:pathLst>
                  </a:custGeom>
                  <a:solidFill>
                    <a:srgbClr val="FFEE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46" name="Rectangle 62">
                    <a:extLst>
                      <a:ext uri="{FF2B5EF4-FFF2-40B4-BE49-F238E27FC236}">
                        <a16:creationId xmlns:a16="http://schemas.microsoft.com/office/drawing/2014/main" id="{4930EEF1-0CFF-496A-89A5-DF10F32BD61E}"/>
                      </a:ext>
                    </a:extLst>
                  </p:cNvPr>
                  <p:cNvSpPr>
                    <a:spLocks noChangeArrowheads="1"/>
                  </p:cNvSpPr>
                  <p:nvPr/>
                </p:nvSpPr>
                <p:spPr bwMode="auto">
                  <a:xfrm>
                    <a:off x="7371898" y="3822478"/>
                    <a:ext cx="120903" cy="375533"/>
                  </a:xfrm>
                  <a:prstGeom prst="rect">
                    <a:avLst/>
                  </a:prstGeom>
                  <a:solidFill>
                    <a:srgbClr val="ECF0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47" name="Rectangle 63">
                    <a:extLst>
                      <a:ext uri="{FF2B5EF4-FFF2-40B4-BE49-F238E27FC236}">
                        <a16:creationId xmlns:a16="http://schemas.microsoft.com/office/drawing/2014/main" id="{3FEF0F58-C037-41A4-980F-E2561F9565D6}"/>
                      </a:ext>
                    </a:extLst>
                  </p:cNvPr>
                  <p:cNvSpPr>
                    <a:spLocks noChangeArrowheads="1"/>
                  </p:cNvSpPr>
                  <p:nvPr/>
                </p:nvSpPr>
                <p:spPr bwMode="auto">
                  <a:xfrm>
                    <a:off x="7245499" y="3950709"/>
                    <a:ext cx="373702" cy="119071"/>
                  </a:xfrm>
                  <a:prstGeom prst="rect">
                    <a:avLst/>
                  </a:prstGeom>
                  <a:solidFill>
                    <a:srgbClr val="ECF0F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1">
                      <a:solidFill>
                        <a:srgbClr val="000000"/>
                      </a:solidFill>
                      <a:latin typeface="微軟正黑體" panose="020B0604030504040204" pitchFamily="34" charset="-120"/>
                      <a:ea typeface="微軟正黑體" panose="020B0604030504040204" pitchFamily="34" charset="-120"/>
                      <a:sym typeface="宋体" pitchFamily="2" charset="-122"/>
                    </a:endParaRPr>
                  </a:p>
                </p:txBody>
              </p:sp>
              <p:sp>
                <p:nvSpPr>
                  <p:cNvPr id="54" name="文本框 58">
                    <a:extLst>
                      <a:ext uri="{FF2B5EF4-FFF2-40B4-BE49-F238E27FC236}">
                        <a16:creationId xmlns:a16="http://schemas.microsoft.com/office/drawing/2014/main" id="{BE7E340B-16A0-459D-B09E-A41F57390107}"/>
                      </a:ext>
                    </a:extLst>
                  </p:cNvPr>
                  <p:cNvSpPr txBox="1"/>
                  <p:nvPr/>
                </p:nvSpPr>
                <p:spPr>
                  <a:xfrm>
                    <a:off x="2844593" y="2532697"/>
                    <a:ext cx="1595569" cy="350148"/>
                  </a:xfrm>
                  <a:prstGeom prst="rect">
                    <a:avLst/>
                  </a:prstGeom>
                  <a:noFill/>
                </p:spPr>
                <p:txBody>
                  <a:bodyPr wrap="square" rtlCol="0">
                    <a:spAutoFit/>
                  </a:bodyPr>
                  <a:lstStyle/>
                  <a:p>
                    <a:pPr algn="ctr"/>
                    <a:r>
                      <a:rPr lang="zh-TW" altLang="en-US" sz="2000" b="1" dirty="0">
                        <a:solidFill>
                          <a:schemeClr val="tx1">
                            <a:lumMod val="85000"/>
                            <a:lumOff val="15000"/>
                          </a:schemeClr>
                        </a:solidFill>
                        <a:latin typeface="微軟正黑體" panose="020B0604030504040204" pitchFamily="34" charset="-120"/>
                        <a:ea typeface="微軟正黑體" panose="020B0604030504040204" pitchFamily="34" charset="-120"/>
                      </a:rPr>
                      <a:t>簡化作業流程</a:t>
                    </a:r>
                    <a:endParaRPr lang="zh-CN" altLang="en-US" sz="2000" b="1" dirty="0">
                      <a:solidFill>
                        <a:schemeClr val="tx1">
                          <a:lumMod val="85000"/>
                          <a:lumOff val="15000"/>
                        </a:schemeClr>
                      </a:solidFill>
                      <a:latin typeface="微軟正黑體" panose="020B0604030504040204" pitchFamily="34" charset="-120"/>
                      <a:ea typeface="微軟正黑體" panose="020B0604030504040204" pitchFamily="34" charset="-120"/>
                    </a:endParaRPr>
                  </a:p>
                </p:txBody>
              </p:sp>
              <p:sp>
                <p:nvSpPr>
                  <p:cNvPr id="55" name="文本框 154">
                    <a:extLst>
                      <a:ext uri="{FF2B5EF4-FFF2-40B4-BE49-F238E27FC236}">
                        <a16:creationId xmlns:a16="http://schemas.microsoft.com/office/drawing/2014/main" id="{233BCEA1-5EBC-4145-A9EB-2A84BFFBC614}"/>
                      </a:ext>
                    </a:extLst>
                  </p:cNvPr>
                  <p:cNvSpPr txBox="1"/>
                  <p:nvPr/>
                </p:nvSpPr>
                <p:spPr>
                  <a:xfrm>
                    <a:off x="3152228" y="3635811"/>
                    <a:ext cx="914608" cy="350148"/>
                  </a:xfrm>
                  <a:prstGeom prst="rect">
                    <a:avLst/>
                  </a:prstGeom>
                  <a:noFill/>
                </p:spPr>
                <p:txBody>
                  <a:bodyPr wrap="square" rtlCol="0">
                    <a:spAutoFit/>
                  </a:bodyPr>
                  <a:lstStyle/>
                  <a:p>
                    <a:pPr algn="ctr"/>
                    <a:r>
                      <a:rPr lang="zh-CN" altLang="en-US" sz="2000" b="1" dirty="0">
                        <a:solidFill>
                          <a:schemeClr val="tx1">
                            <a:lumMod val="85000"/>
                            <a:lumOff val="15000"/>
                          </a:schemeClr>
                        </a:solidFill>
                        <a:latin typeface="微軟正黑體" panose="020B0604030504040204" pitchFamily="34" charset="-120"/>
                        <a:ea typeface="微軟正黑體" panose="020B0604030504040204" pitchFamily="34" charset="-120"/>
                      </a:rPr>
                      <a:t>便利性</a:t>
                    </a:r>
                  </a:p>
                </p:txBody>
              </p:sp>
              <p:sp>
                <p:nvSpPr>
                  <p:cNvPr id="56" name="文本框 58">
                    <a:extLst>
                      <a:ext uri="{FF2B5EF4-FFF2-40B4-BE49-F238E27FC236}">
                        <a16:creationId xmlns:a16="http://schemas.microsoft.com/office/drawing/2014/main" id="{6B76A694-CA4E-496E-9F5B-C36187865181}"/>
                      </a:ext>
                    </a:extLst>
                  </p:cNvPr>
                  <p:cNvSpPr txBox="1"/>
                  <p:nvPr/>
                </p:nvSpPr>
                <p:spPr>
                  <a:xfrm>
                    <a:off x="7712206" y="2532697"/>
                    <a:ext cx="1504087" cy="350148"/>
                  </a:xfrm>
                  <a:prstGeom prst="rect">
                    <a:avLst/>
                  </a:prstGeom>
                  <a:noFill/>
                </p:spPr>
                <p:txBody>
                  <a:bodyPr wrap="square" rtlCol="0">
                    <a:spAutoFit/>
                  </a:bodyPr>
                  <a:lstStyle/>
                  <a:p>
                    <a:pPr algn="ctr"/>
                    <a:r>
                      <a:rPr lang="zh-TW" altLang="en-US" sz="2000" b="1" dirty="0">
                        <a:solidFill>
                          <a:schemeClr val="tx1">
                            <a:lumMod val="85000"/>
                            <a:lumOff val="15000"/>
                          </a:schemeClr>
                        </a:solidFill>
                        <a:latin typeface="微軟正黑體" panose="020B0604030504040204" pitchFamily="34" charset="-120"/>
                        <a:ea typeface="微軟正黑體" panose="020B0604030504040204" pitchFamily="34" charset="-120"/>
                      </a:rPr>
                      <a:t>公平與安全性</a:t>
                    </a:r>
                  </a:p>
                </p:txBody>
              </p:sp>
              <p:sp>
                <p:nvSpPr>
                  <p:cNvPr id="57" name="文本框 58">
                    <a:extLst>
                      <a:ext uri="{FF2B5EF4-FFF2-40B4-BE49-F238E27FC236}">
                        <a16:creationId xmlns:a16="http://schemas.microsoft.com/office/drawing/2014/main" id="{6EC5C2A6-5814-474E-9648-3F3D20AA2737}"/>
                      </a:ext>
                    </a:extLst>
                  </p:cNvPr>
                  <p:cNvSpPr txBox="1"/>
                  <p:nvPr/>
                </p:nvSpPr>
                <p:spPr>
                  <a:xfrm>
                    <a:off x="7844550" y="3635811"/>
                    <a:ext cx="1504087" cy="350148"/>
                  </a:xfrm>
                  <a:prstGeom prst="rect">
                    <a:avLst/>
                  </a:prstGeom>
                  <a:noFill/>
                </p:spPr>
                <p:txBody>
                  <a:bodyPr wrap="square" rtlCol="0">
                    <a:spAutoFit/>
                  </a:bodyPr>
                  <a:lstStyle/>
                  <a:p>
                    <a:pPr algn="ctr"/>
                    <a:r>
                      <a:rPr lang="zh-CN" altLang="en-US" sz="2000" b="1" dirty="0">
                        <a:solidFill>
                          <a:schemeClr val="tx1">
                            <a:lumMod val="85000"/>
                            <a:lumOff val="15000"/>
                          </a:schemeClr>
                        </a:solidFill>
                        <a:latin typeface="微軟正黑體" panose="020B0604030504040204" pitchFamily="34" charset="-120"/>
                        <a:ea typeface="微軟正黑體" panose="020B0604030504040204" pitchFamily="34" charset="-120"/>
                      </a:rPr>
                      <a:t>充分使用性</a:t>
                    </a:r>
                  </a:p>
                </p:txBody>
              </p:sp>
            </p:grpSp>
          </p:grpSp>
          <p:pic>
            <p:nvPicPr>
              <p:cNvPr id="59" name="Picture 67">
                <a:extLst>
                  <a:ext uri="{FF2B5EF4-FFF2-40B4-BE49-F238E27FC236}">
                    <a16:creationId xmlns:a16="http://schemas.microsoft.com/office/drawing/2014/main" id="{02D4312F-6F42-4479-8903-B070C3280E5B}"/>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5008850" y="3153579"/>
                <a:ext cx="477278" cy="474890"/>
              </a:xfrm>
              <a:prstGeom prst="rect">
                <a:avLst/>
              </a:prstGeom>
              <a:noFill/>
              <a:ln>
                <a:noFill/>
              </a:ln>
            </p:spPr>
          </p:pic>
          <p:pic>
            <p:nvPicPr>
              <p:cNvPr id="60" name="圖片 59">
                <a:extLst>
                  <a:ext uri="{FF2B5EF4-FFF2-40B4-BE49-F238E27FC236}">
                    <a16:creationId xmlns:a16="http://schemas.microsoft.com/office/drawing/2014/main" id="{27A5AB1B-AD6D-4EAE-A3C4-200D3ECD49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45662" y="3614534"/>
                <a:ext cx="961860" cy="961858"/>
              </a:xfrm>
              <a:prstGeom prst="rect">
                <a:avLst/>
              </a:prstGeom>
            </p:spPr>
          </p:pic>
        </p:grpSp>
        <p:pic>
          <p:nvPicPr>
            <p:cNvPr id="6" name="圖形 5" descr="鎖">
              <a:extLst>
                <a:ext uri="{FF2B5EF4-FFF2-40B4-BE49-F238E27FC236}">
                  <a16:creationId xmlns:a16="http://schemas.microsoft.com/office/drawing/2014/main" id="{92063770-F35A-478A-8C41-BCD41BB5AEE4}"/>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400364" y="2073693"/>
              <a:ext cx="914400" cy="914400"/>
            </a:xfrm>
            <a:prstGeom prst="rect">
              <a:avLst/>
            </a:prstGeom>
          </p:spPr>
        </p:pic>
      </p:grpSp>
      <p:sp>
        <p:nvSpPr>
          <p:cNvPr id="61" name="文字方塊 60">
            <a:extLst>
              <a:ext uri="{FF2B5EF4-FFF2-40B4-BE49-F238E27FC236}">
                <a16:creationId xmlns:a16="http://schemas.microsoft.com/office/drawing/2014/main" id="{7F947079-80D4-4812-807F-A7671C6EF4C1}"/>
              </a:ext>
            </a:extLst>
          </p:cNvPr>
          <p:cNvSpPr txBox="1"/>
          <p:nvPr/>
        </p:nvSpPr>
        <p:spPr>
          <a:xfrm>
            <a:off x="588193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案例區塊鏈應用</a:t>
            </a:r>
          </a:p>
        </p:txBody>
      </p:sp>
      <p:cxnSp>
        <p:nvCxnSpPr>
          <p:cNvPr id="49" name="直接连接符 33">
            <a:extLst>
              <a:ext uri="{FF2B5EF4-FFF2-40B4-BE49-F238E27FC236}">
                <a16:creationId xmlns:a16="http://schemas.microsoft.com/office/drawing/2014/main" id="{AE96C6F2-21F5-4DC9-A20C-D8903A81FE94}"/>
              </a:ext>
            </a:extLst>
          </p:cNvPr>
          <p:cNvCxnSpPr/>
          <p:nvPr/>
        </p:nvCxnSpPr>
        <p:spPr>
          <a:xfrm>
            <a:off x="1177167" y="100056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360753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61">
                                            <p:txEl>
                                              <p:pRg st="0" end="0"/>
                                            </p:txEl>
                                          </p:spTgt>
                                        </p:tgtEl>
                                        <p:attrNameLst>
                                          <p:attrName>style.visibility</p:attrName>
                                        </p:attrNameLst>
                                      </p:cBhvr>
                                      <p:to>
                                        <p:strVal val="visible"/>
                                      </p:to>
                                    </p:set>
                                    <p:animEffect transition="in" filter="barn(inVertical)">
                                      <p:cBhvr>
                                        <p:cTn id="11" dur="500"/>
                                        <p:tgtEl>
                                          <p:spTgt spid="61">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49"/>
                                        </p:tgtEl>
                                        <p:attrNameLst>
                                          <p:attrName>style.visibility</p:attrName>
                                        </p:attrNameLst>
                                      </p:cBhvr>
                                      <p:to>
                                        <p:strVal val="visible"/>
                                      </p:to>
                                    </p:set>
                                    <p:anim calcmode="lin" valueType="num">
                                      <p:cBhvr additive="base">
                                        <p:cTn id="15" dur="500" fill="hold"/>
                                        <p:tgtEl>
                                          <p:spTgt spid="49"/>
                                        </p:tgtEl>
                                        <p:attrNameLst>
                                          <p:attrName>ppt_x</p:attrName>
                                        </p:attrNameLst>
                                      </p:cBhvr>
                                      <p:tavLst>
                                        <p:tav tm="0">
                                          <p:val>
                                            <p:strVal val="0-#ppt_w/2"/>
                                          </p:val>
                                        </p:tav>
                                        <p:tav tm="100000">
                                          <p:val>
                                            <p:strVal val="#ppt_x"/>
                                          </p:val>
                                        </p:tav>
                                      </p:tavLst>
                                    </p:anim>
                                    <p:anim calcmode="lin" valueType="num">
                                      <p:cBhvr additive="base">
                                        <p:cTn id="16" dur="500" fill="hold"/>
                                        <p:tgtEl>
                                          <p:spTgt spid="49"/>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8"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0-#ppt_w/2"/>
                                          </p:val>
                                        </p:tav>
                                        <p:tav tm="100000">
                                          <p:val>
                                            <p:strVal val="#ppt_x"/>
                                          </p:val>
                                        </p:tav>
                                      </p:tavLst>
                                    </p:anim>
                                    <p:anim calcmode="lin" valueType="num">
                                      <p:cBhvr additive="base">
                                        <p:cTn id="21"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500" fill="hold"/>
                                        <p:tgtEl>
                                          <p:spTgt spid="3"/>
                                        </p:tgtEl>
                                        <p:attrNameLst>
                                          <p:attrName>ppt_w</p:attrName>
                                        </p:attrNameLst>
                                      </p:cBhvr>
                                      <p:tavLst>
                                        <p:tav tm="0">
                                          <p:val>
                                            <p:fltVal val="0"/>
                                          </p:val>
                                        </p:tav>
                                        <p:tav tm="100000">
                                          <p:val>
                                            <p:strVal val="#ppt_w"/>
                                          </p:val>
                                        </p:tav>
                                      </p:tavLst>
                                    </p:anim>
                                    <p:anim calcmode="lin" valueType="num">
                                      <p:cBhvr>
                                        <p:cTn id="27" dur="500" fill="hold"/>
                                        <p:tgtEl>
                                          <p:spTgt spid="3"/>
                                        </p:tgtEl>
                                        <p:attrNameLst>
                                          <p:attrName>ppt_h</p:attrName>
                                        </p:attrNameLst>
                                      </p:cBhvr>
                                      <p:tavLst>
                                        <p:tav tm="0">
                                          <p:val>
                                            <p:fltVal val="0"/>
                                          </p:val>
                                        </p:tav>
                                        <p:tav tm="100000">
                                          <p:val>
                                            <p:strVal val="#ppt_h"/>
                                          </p:val>
                                        </p:tav>
                                      </p:tavLst>
                                    </p:anim>
                                    <p:animEffect transition="in" filter="fade">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425923"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8-1 </a:t>
            </a:r>
            <a:r>
              <a:rPr lang="zh-TW" altLang="en-US" sz="2400" b="1" dirty="0">
                <a:solidFill>
                  <a:srgbClr val="E06741"/>
                </a:solidFill>
              </a:rPr>
              <a:t>區塊鏈實務案例─票卷交易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717113" y="1166591"/>
            <a:ext cx="5439230" cy="497444"/>
          </a:xfrm>
          <a:prstGeom prst="rect">
            <a:avLst/>
          </a:prstGeom>
        </p:spPr>
        <p:txBody>
          <a:bodyPr wrap="square">
            <a:spAutoFit/>
          </a:bodyPr>
          <a:lstStyle/>
          <a:p>
            <a:pPr marL="342900" indent="-342900">
              <a:lnSpc>
                <a:spcPct val="150000"/>
              </a:lnSpc>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傳統票券平台交易流程</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7E3A6309-1716-4781-857E-D6FC371966D7}"/>
              </a:ext>
            </a:extLst>
          </p:cNvPr>
          <p:cNvSpPr txBox="1"/>
          <p:nvPr/>
        </p:nvSpPr>
        <p:spPr>
          <a:xfrm>
            <a:off x="588193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案例區塊鏈應用</a:t>
            </a:r>
          </a:p>
        </p:txBody>
      </p:sp>
      <p:grpSp>
        <p:nvGrpSpPr>
          <p:cNvPr id="10" name="群組 9">
            <a:extLst>
              <a:ext uri="{FF2B5EF4-FFF2-40B4-BE49-F238E27FC236}">
                <a16:creationId xmlns:a16="http://schemas.microsoft.com/office/drawing/2014/main" id="{32D6FDA7-FBE1-4B54-B1F4-0E8286767F1C}"/>
              </a:ext>
            </a:extLst>
          </p:cNvPr>
          <p:cNvGrpSpPr/>
          <p:nvPr/>
        </p:nvGrpSpPr>
        <p:grpSpPr>
          <a:xfrm>
            <a:off x="5199611" y="1177519"/>
            <a:ext cx="5275276" cy="5217438"/>
            <a:chOff x="4493822" y="560732"/>
            <a:chExt cx="5739506" cy="5676580"/>
          </a:xfrm>
        </p:grpSpPr>
        <p:sp>
          <p:nvSpPr>
            <p:cNvPr id="11" name="圓角矩形 1">
              <a:extLst>
                <a:ext uri="{FF2B5EF4-FFF2-40B4-BE49-F238E27FC236}">
                  <a16:creationId xmlns:a16="http://schemas.microsoft.com/office/drawing/2014/main" id="{32F5426F-E4FF-4059-823C-D4B265D60301}"/>
                </a:ext>
              </a:extLst>
            </p:cNvPr>
            <p:cNvSpPr/>
            <p:nvPr/>
          </p:nvSpPr>
          <p:spPr>
            <a:xfrm>
              <a:off x="4594498" y="560732"/>
              <a:ext cx="2304256" cy="576064"/>
            </a:xfrm>
            <a:prstGeom prst="roundRect">
              <a:avLst/>
            </a:prstGeom>
            <a:solidFill>
              <a:srgbClr val="F6F5DD"/>
            </a:solidFill>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rtlCol="0" anchor="ctr"/>
            <a:lstStyle/>
            <a:p>
              <a:pPr algn="ctr"/>
              <a:r>
                <a:rPr lang="zh-TW" altLang="en-US" sz="1600" b="1" dirty="0">
                  <a:latin typeface="微軟正黑體" panose="020B0604030504040204" pitchFamily="34" charset="-120"/>
                  <a:ea typeface="微軟正黑體" panose="020B0604030504040204" pitchFamily="34" charset="-120"/>
                </a:rPr>
                <a:t>撥打客戶服務專線</a:t>
              </a:r>
              <a:endParaRPr lang="en-US" altLang="zh-TW" sz="1600" b="1" dirty="0">
                <a:latin typeface="微軟正黑體" panose="020B0604030504040204" pitchFamily="34" charset="-120"/>
                <a:ea typeface="微軟正黑體" panose="020B0604030504040204" pitchFamily="34" charset="-120"/>
              </a:endParaRPr>
            </a:p>
            <a:p>
              <a:pPr algn="ctr"/>
              <a:r>
                <a:rPr lang="zh-TW" altLang="en-US" sz="1600" b="1" dirty="0">
                  <a:latin typeface="微軟正黑體" panose="020B0604030504040204" pitchFamily="34" charset="-120"/>
                  <a:ea typeface="微軟正黑體" panose="020B0604030504040204" pitchFamily="34" charset="-120"/>
                </a:rPr>
                <a:t>登入兌換平台</a:t>
              </a:r>
            </a:p>
          </p:txBody>
        </p:sp>
        <p:cxnSp>
          <p:nvCxnSpPr>
            <p:cNvPr id="12" name="直線單箭頭接點 11">
              <a:extLst>
                <a:ext uri="{FF2B5EF4-FFF2-40B4-BE49-F238E27FC236}">
                  <a16:creationId xmlns:a16="http://schemas.microsoft.com/office/drawing/2014/main" id="{91CFC372-F246-4DE0-A810-C4CD4F8E10C2}"/>
                </a:ext>
              </a:extLst>
            </p:cNvPr>
            <p:cNvCxnSpPr>
              <a:stCxn id="11" idx="2"/>
            </p:cNvCxnSpPr>
            <p:nvPr/>
          </p:nvCxnSpPr>
          <p:spPr>
            <a:xfrm>
              <a:off x="5746626" y="1136796"/>
              <a:ext cx="0" cy="648000"/>
            </a:xfrm>
            <a:prstGeom prst="straightConnector1">
              <a:avLst/>
            </a:prstGeom>
            <a:ln w="28575">
              <a:solidFill>
                <a:schemeClr val="tx1">
                  <a:lumMod val="65000"/>
                  <a:lumOff val="35000"/>
                </a:schemeClr>
              </a:solidFill>
              <a:tailEnd type="triangle"/>
            </a:ln>
          </p:spPr>
          <p:style>
            <a:lnRef idx="3">
              <a:schemeClr val="dk1"/>
            </a:lnRef>
            <a:fillRef idx="0">
              <a:schemeClr val="dk1"/>
            </a:fillRef>
            <a:effectRef idx="2">
              <a:schemeClr val="dk1"/>
            </a:effectRef>
            <a:fontRef idx="minor">
              <a:schemeClr val="tx1"/>
            </a:fontRef>
          </p:style>
        </p:cxnSp>
        <p:sp>
          <p:nvSpPr>
            <p:cNvPr id="13" name="圓角矩形 34">
              <a:extLst>
                <a:ext uri="{FF2B5EF4-FFF2-40B4-BE49-F238E27FC236}">
                  <a16:creationId xmlns:a16="http://schemas.microsoft.com/office/drawing/2014/main" id="{4EFDC171-1005-4ED8-AE09-1DCE16379C8B}"/>
                </a:ext>
              </a:extLst>
            </p:cNvPr>
            <p:cNvSpPr/>
            <p:nvPr/>
          </p:nvSpPr>
          <p:spPr>
            <a:xfrm>
              <a:off x="4594498" y="1820872"/>
              <a:ext cx="2304256" cy="576064"/>
            </a:xfrm>
            <a:prstGeom prst="roundRect">
              <a:avLst/>
            </a:prstGeom>
            <a:solidFill>
              <a:srgbClr val="C9EFEA"/>
            </a:solidFill>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rtlCol="0" anchor="ctr"/>
            <a:lstStyle/>
            <a:p>
              <a:pPr algn="ctr"/>
              <a:r>
                <a:rPr lang="zh-TW" altLang="en-US" sz="1600" b="1" dirty="0">
                  <a:latin typeface="微軟正黑體" panose="020B0604030504040204" pitchFamily="34" charset="-120"/>
                  <a:ea typeface="微軟正黑體" panose="020B0604030504040204" pitchFamily="34" charset="-120"/>
                </a:rPr>
                <a:t>會員身份驗證</a:t>
              </a:r>
            </a:p>
          </p:txBody>
        </p:sp>
        <p:sp>
          <p:nvSpPr>
            <p:cNvPr id="14" name="圓角矩形 41">
              <a:extLst>
                <a:ext uri="{FF2B5EF4-FFF2-40B4-BE49-F238E27FC236}">
                  <a16:creationId xmlns:a16="http://schemas.microsoft.com/office/drawing/2014/main" id="{77F953A5-27A2-49EC-9CDC-8E4863B3E1AD}"/>
                </a:ext>
              </a:extLst>
            </p:cNvPr>
            <p:cNvSpPr/>
            <p:nvPr/>
          </p:nvSpPr>
          <p:spPr>
            <a:xfrm>
              <a:off x="4583832" y="5661248"/>
              <a:ext cx="2304256" cy="576064"/>
            </a:xfrm>
            <a:prstGeom prst="roundRect">
              <a:avLst/>
            </a:prstGeom>
            <a:solidFill>
              <a:schemeClr val="accent2">
                <a:lumMod val="20000"/>
                <a:lumOff val="80000"/>
              </a:schemeClr>
            </a:solidFill>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rtlCol="0" anchor="ctr"/>
            <a:lstStyle/>
            <a:p>
              <a:pPr algn="ctr"/>
              <a:r>
                <a:rPr lang="zh-TW" altLang="en-US" sz="1600" b="1" dirty="0">
                  <a:latin typeface="微軟正黑體" panose="020B0604030504040204" pitchFamily="34" charset="-120"/>
                  <a:ea typeface="微軟正黑體" panose="020B0604030504040204" pitchFamily="34" charset="-120"/>
                </a:rPr>
                <a:t>兌換中心</a:t>
              </a:r>
            </a:p>
          </p:txBody>
        </p:sp>
        <p:cxnSp>
          <p:nvCxnSpPr>
            <p:cNvPr id="15" name="直線單箭頭接點 14">
              <a:extLst>
                <a:ext uri="{FF2B5EF4-FFF2-40B4-BE49-F238E27FC236}">
                  <a16:creationId xmlns:a16="http://schemas.microsoft.com/office/drawing/2014/main" id="{F52079D1-64B3-4415-9D5D-F01D326DC368}"/>
                </a:ext>
              </a:extLst>
            </p:cNvPr>
            <p:cNvCxnSpPr/>
            <p:nvPr/>
          </p:nvCxnSpPr>
          <p:spPr>
            <a:xfrm>
              <a:off x="5735960" y="2396936"/>
              <a:ext cx="0" cy="612000"/>
            </a:xfrm>
            <a:prstGeom prst="straightConnector1">
              <a:avLst/>
            </a:prstGeom>
            <a:ln w="28575">
              <a:solidFill>
                <a:schemeClr val="tx1">
                  <a:lumMod val="65000"/>
                  <a:lumOff val="35000"/>
                </a:schemeClr>
              </a:solidFill>
              <a:tailEnd type="triangle"/>
            </a:ln>
          </p:spPr>
          <p:style>
            <a:lnRef idx="3">
              <a:schemeClr val="dk1"/>
            </a:lnRef>
            <a:fillRef idx="0">
              <a:schemeClr val="dk1"/>
            </a:fillRef>
            <a:effectRef idx="2">
              <a:schemeClr val="dk1"/>
            </a:effectRef>
            <a:fontRef idx="minor">
              <a:schemeClr val="tx1"/>
            </a:fontRef>
          </p:style>
        </p:cxnSp>
        <p:sp>
          <p:nvSpPr>
            <p:cNvPr id="16" name="菱形 15">
              <a:extLst>
                <a:ext uri="{FF2B5EF4-FFF2-40B4-BE49-F238E27FC236}">
                  <a16:creationId xmlns:a16="http://schemas.microsoft.com/office/drawing/2014/main" id="{A175B2EB-843B-4950-A951-E761119B03D5}"/>
                </a:ext>
              </a:extLst>
            </p:cNvPr>
            <p:cNvSpPr/>
            <p:nvPr/>
          </p:nvSpPr>
          <p:spPr>
            <a:xfrm>
              <a:off x="4493822" y="2996952"/>
              <a:ext cx="2484276" cy="1368152"/>
            </a:xfrm>
            <a:prstGeom prst="diamond">
              <a:avLst/>
            </a:prstGeom>
            <a:ln>
              <a:solidFill>
                <a:schemeClr val="accent1">
                  <a:lumMod val="40000"/>
                  <a:lumOff val="60000"/>
                </a:schemeClr>
              </a:solid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zh-TW" altLang="en-US" sz="1600" b="1" dirty="0">
                  <a:solidFill>
                    <a:schemeClr val="bg1"/>
                  </a:solidFill>
                  <a:effectLst/>
                  <a:latin typeface="微軟正黑體" panose="020B0604030504040204" pitchFamily="34" charset="-120"/>
                  <a:ea typeface="微軟正黑體" panose="020B0604030504040204" pitchFamily="34" charset="-120"/>
                </a:rPr>
                <a:t>請輸入會員卡號或身份證號</a:t>
              </a:r>
            </a:p>
          </p:txBody>
        </p:sp>
        <p:cxnSp>
          <p:nvCxnSpPr>
            <p:cNvPr id="17" name="直線單箭頭接點 16">
              <a:extLst>
                <a:ext uri="{FF2B5EF4-FFF2-40B4-BE49-F238E27FC236}">
                  <a16:creationId xmlns:a16="http://schemas.microsoft.com/office/drawing/2014/main" id="{357CA593-24A9-4A93-91D1-79FA04752BF6}"/>
                </a:ext>
              </a:extLst>
            </p:cNvPr>
            <p:cNvCxnSpPr/>
            <p:nvPr/>
          </p:nvCxnSpPr>
          <p:spPr>
            <a:xfrm>
              <a:off x="5735960" y="4365104"/>
              <a:ext cx="0" cy="1260000"/>
            </a:xfrm>
            <a:prstGeom prst="straightConnector1">
              <a:avLst/>
            </a:prstGeom>
            <a:ln w="28575">
              <a:solidFill>
                <a:schemeClr val="tx1">
                  <a:lumMod val="65000"/>
                  <a:lumOff val="35000"/>
                </a:schemeClr>
              </a:solidFill>
              <a:tailEnd type="triangle"/>
            </a:ln>
          </p:spPr>
          <p:style>
            <a:lnRef idx="3">
              <a:schemeClr val="dk1"/>
            </a:lnRef>
            <a:fillRef idx="0">
              <a:schemeClr val="dk1"/>
            </a:fillRef>
            <a:effectRef idx="2">
              <a:schemeClr val="dk1"/>
            </a:effectRef>
            <a:fontRef idx="minor">
              <a:schemeClr val="tx1"/>
            </a:fontRef>
          </p:style>
        </p:cxnSp>
        <p:cxnSp>
          <p:nvCxnSpPr>
            <p:cNvPr id="18" name="肘形接點 15">
              <a:extLst>
                <a:ext uri="{FF2B5EF4-FFF2-40B4-BE49-F238E27FC236}">
                  <a16:creationId xmlns:a16="http://schemas.microsoft.com/office/drawing/2014/main" id="{A10882EE-DDCA-48F4-9D24-5F54A0EBCC6E}"/>
                </a:ext>
              </a:extLst>
            </p:cNvPr>
            <p:cNvCxnSpPr>
              <a:stCxn id="16" idx="3"/>
            </p:cNvCxnSpPr>
            <p:nvPr/>
          </p:nvCxnSpPr>
          <p:spPr>
            <a:xfrm>
              <a:off x="6978098" y="3681028"/>
              <a:ext cx="2088000" cy="576000"/>
            </a:xfrm>
            <a:prstGeom prst="bentConnector2">
              <a:avLst/>
            </a:prstGeom>
            <a:ln w="28575">
              <a:solidFill>
                <a:schemeClr val="tx1">
                  <a:lumMod val="65000"/>
                  <a:lumOff val="35000"/>
                </a:schemeClr>
              </a:solidFill>
              <a:tailEnd type="triangle"/>
            </a:ln>
          </p:spPr>
          <p:style>
            <a:lnRef idx="3">
              <a:schemeClr val="dk1"/>
            </a:lnRef>
            <a:fillRef idx="0">
              <a:schemeClr val="dk1"/>
            </a:fillRef>
            <a:effectRef idx="2">
              <a:schemeClr val="dk1"/>
            </a:effectRef>
            <a:fontRef idx="minor">
              <a:schemeClr val="tx1"/>
            </a:fontRef>
          </p:style>
        </p:cxnSp>
        <p:sp>
          <p:nvSpPr>
            <p:cNvPr id="19" name="文字方塊 18">
              <a:extLst>
                <a:ext uri="{FF2B5EF4-FFF2-40B4-BE49-F238E27FC236}">
                  <a16:creationId xmlns:a16="http://schemas.microsoft.com/office/drawing/2014/main" id="{697B9E24-DA20-4D8A-A380-AA13DB0F340A}"/>
                </a:ext>
              </a:extLst>
            </p:cNvPr>
            <p:cNvSpPr txBox="1"/>
            <p:nvPr/>
          </p:nvSpPr>
          <p:spPr>
            <a:xfrm>
              <a:off x="4898366" y="4483278"/>
              <a:ext cx="823196" cy="1080120"/>
            </a:xfrm>
            <a:prstGeom prst="rect">
              <a:avLst/>
            </a:prstGeom>
            <a:noFill/>
          </p:spPr>
          <p:txBody>
            <a:bodyPr vert="eaVert" wrap="square" rtlCol="0">
              <a:spAutoFit/>
            </a:bodyPr>
            <a:lstStyle/>
            <a:p>
              <a:r>
                <a:rPr lang="zh-TW" altLang="en-US" sz="1600" b="1" dirty="0">
                  <a:latin typeface="微軟正黑體" panose="020B0604030504040204" pitchFamily="34" charset="-120"/>
                  <a:ea typeface="微軟正黑體" panose="020B0604030504040204" pitchFamily="34" charset="-120"/>
                </a:rPr>
                <a:t>驗證正確</a:t>
              </a:r>
            </a:p>
          </p:txBody>
        </p:sp>
        <p:sp>
          <p:nvSpPr>
            <p:cNvPr id="20" name="文字方塊 19">
              <a:extLst>
                <a:ext uri="{FF2B5EF4-FFF2-40B4-BE49-F238E27FC236}">
                  <a16:creationId xmlns:a16="http://schemas.microsoft.com/office/drawing/2014/main" id="{55CBD5EB-9B2F-4B13-8FEC-CC10C90BD9F6}"/>
                </a:ext>
              </a:extLst>
            </p:cNvPr>
            <p:cNvSpPr txBox="1"/>
            <p:nvPr/>
          </p:nvSpPr>
          <p:spPr>
            <a:xfrm>
              <a:off x="7317004" y="3170049"/>
              <a:ext cx="1224136" cy="411597"/>
            </a:xfrm>
            <a:prstGeom prst="rect">
              <a:avLst/>
            </a:prstGeom>
            <a:noFill/>
          </p:spPr>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驗證失敗</a:t>
              </a:r>
            </a:p>
          </p:txBody>
        </p:sp>
        <p:sp>
          <p:nvSpPr>
            <p:cNvPr id="21" name="菱形 20">
              <a:extLst>
                <a:ext uri="{FF2B5EF4-FFF2-40B4-BE49-F238E27FC236}">
                  <a16:creationId xmlns:a16="http://schemas.microsoft.com/office/drawing/2014/main" id="{02AFE7A8-2289-4501-A1B5-5FB5EC54CF44}"/>
                </a:ext>
              </a:extLst>
            </p:cNvPr>
            <p:cNvSpPr/>
            <p:nvPr/>
          </p:nvSpPr>
          <p:spPr>
            <a:xfrm>
              <a:off x="8004096" y="4258799"/>
              <a:ext cx="2124004" cy="792088"/>
            </a:xfrm>
            <a:prstGeom prst="diamond">
              <a:avLst/>
            </a:prstGeom>
            <a:ln>
              <a:solidFill>
                <a:schemeClr val="accent1">
                  <a:lumMod val="40000"/>
                  <a:lumOff val="60000"/>
                </a:schemeClr>
              </a:solidFill>
            </a:ln>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zh-TW" altLang="en-US" sz="1600" b="1" dirty="0">
                  <a:solidFill>
                    <a:schemeClr val="bg1"/>
                  </a:solidFill>
                  <a:effectLst/>
                  <a:latin typeface="微軟正黑體" panose="020B0604030504040204" pitchFamily="34" charset="-120"/>
                  <a:ea typeface="微軟正黑體" panose="020B0604030504040204" pitchFamily="34" charset="-120"/>
                </a:rPr>
                <a:t>請重新輸入</a:t>
              </a:r>
            </a:p>
          </p:txBody>
        </p:sp>
        <p:sp>
          <p:nvSpPr>
            <p:cNvPr id="22" name="文字方塊 21">
              <a:extLst>
                <a:ext uri="{FF2B5EF4-FFF2-40B4-BE49-F238E27FC236}">
                  <a16:creationId xmlns:a16="http://schemas.microsoft.com/office/drawing/2014/main" id="{0729246F-8B0C-4252-80DC-6F41DA02E050}"/>
                </a:ext>
              </a:extLst>
            </p:cNvPr>
            <p:cNvSpPr txBox="1"/>
            <p:nvPr/>
          </p:nvSpPr>
          <p:spPr>
            <a:xfrm>
              <a:off x="6535483" y="4163369"/>
              <a:ext cx="1224136" cy="411597"/>
            </a:xfrm>
            <a:prstGeom prst="rect">
              <a:avLst/>
            </a:prstGeom>
            <a:noFill/>
          </p:spPr>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驗證正確</a:t>
              </a:r>
            </a:p>
          </p:txBody>
        </p:sp>
        <p:cxnSp>
          <p:nvCxnSpPr>
            <p:cNvPr id="23" name="直線單箭頭接點 22">
              <a:extLst>
                <a:ext uri="{FF2B5EF4-FFF2-40B4-BE49-F238E27FC236}">
                  <a16:creationId xmlns:a16="http://schemas.microsoft.com/office/drawing/2014/main" id="{257D2881-4FCF-4062-9085-EA3F4CB7D4A7}"/>
                </a:ext>
              </a:extLst>
            </p:cNvPr>
            <p:cNvCxnSpPr/>
            <p:nvPr/>
          </p:nvCxnSpPr>
          <p:spPr>
            <a:xfrm>
              <a:off x="9066098" y="5049248"/>
              <a:ext cx="0" cy="612000"/>
            </a:xfrm>
            <a:prstGeom prst="straightConnector1">
              <a:avLst/>
            </a:prstGeom>
            <a:ln w="28575">
              <a:solidFill>
                <a:schemeClr val="tx1">
                  <a:lumMod val="65000"/>
                  <a:lumOff val="35000"/>
                </a:schemeClr>
              </a:solidFill>
              <a:tailEnd type="triangle"/>
            </a:ln>
          </p:spPr>
          <p:style>
            <a:lnRef idx="3">
              <a:schemeClr val="dk1"/>
            </a:lnRef>
            <a:fillRef idx="0">
              <a:schemeClr val="dk1"/>
            </a:fillRef>
            <a:effectRef idx="2">
              <a:schemeClr val="dk1"/>
            </a:effectRef>
            <a:fontRef idx="minor">
              <a:schemeClr val="tx1"/>
            </a:fontRef>
          </p:style>
        </p:cxnSp>
        <p:cxnSp>
          <p:nvCxnSpPr>
            <p:cNvPr id="24" name="直線單箭頭接點 23">
              <a:extLst>
                <a:ext uri="{FF2B5EF4-FFF2-40B4-BE49-F238E27FC236}">
                  <a16:creationId xmlns:a16="http://schemas.microsoft.com/office/drawing/2014/main" id="{F1189D0D-36A8-41F6-8210-1BEAF9C8561F}"/>
                </a:ext>
              </a:extLst>
            </p:cNvPr>
            <p:cNvCxnSpPr/>
            <p:nvPr/>
          </p:nvCxnSpPr>
          <p:spPr>
            <a:xfrm rot="5400000">
              <a:off x="6898754" y="3526282"/>
              <a:ext cx="0" cy="2268000"/>
            </a:xfrm>
            <a:prstGeom prst="straightConnector1">
              <a:avLst/>
            </a:prstGeom>
            <a:ln w="28575">
              <a:solidFill>
                <a:schemeClr val="tx1">
                  <a:lumMod val="65000"/>
                  <a:lumOff val="35000"/>
                </a:schemeClr>
              </a:solidFill>
              <a:tailEnd type="triangle"/>
            </a:ln>
          </p:spPr>
          <p:style>
            <a:lnRef idx="3">
              <a:schemeClr val="dk1"/>
            </a:lnRef>
            <a:fillRef idx="0">
              <a:schemeClr val="dk1"/>
            </a:fillRef>
            <a:effectRef idx="2">
              <a:schemeClr val="dk1"/>
            </a:effectRef>
            <a:fontRef idx="minor">
              <a:schemeClr val="tx1"/>
            </a:fontRef>
          </p:style>
        </p:cxnSp>
        <p:sp>
          <p:nvSpPr>
            <p:cNvPr id="25" name="圓角矩形 61">
              <a:extLst>
                <a:ext uri="{FF2B5EF4-FFF2-40B4-BE49-F238E27FC236}">
                  <a16:creationId xmlns:a16="http://schemas.microsoft.com/office/drawing/2014/main" id="{2F91234E-8CB7-42CE-ADDE-BC94F73C85EB}"/>
                </a:ext>
              </a:extLst>
            </p:cNvPr>
            <p:cNvSpPr/>
            <p:nvPr/>
          </p:nvSpPr>
          <p:spPr>
            <a:xfrm>
              <a:off x="7929072" y="5661248"/>
              <a:ext cx="2304256" cy="576064"/>
            </a:xfrm>
            <a:prstGeom prst="roundRect">
              <a:avLst/>
            </a:prstGeom>
            <a:solidFill>
              <a:srgbClr val="FEC3C2"/>
            </a:solidFill>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rtlCol="0" anchor="ctr"/>
            <a:lstStyle/>
            <a:p>
              <a:pPr algn="ctr"/>
              <a:r>
                <a:rPr lang="zh-TW" altLang="en-US" sz="1600" b="1" dirty="0">
                  <a:latin typeface="微軟正黑體" panose="020B0604030504040204" pitchFamily="34" charset="-120"/>
                  <a:ea typeface="微軟正黑體" panose="020B0604030504040204" pitchFamily="34" charset="-120"/>
                </a:rPr>
                <a:t>請重新撥打或登入</a:t>
              </a:r>
            </a:p>
          </p:txBody>
        </p:sp>
        <p:sp>
          <p:nvSpPr>
            <p:cNvPr id="26" name="文字方塊 25">
              <a:extLst>
                <a:ext uri="{FF2B5EF4-FFF2-40B4-BE49-F238E27FC236}">
                  <a16:creationId xmlns:a16="http://schemas.microsoft.com/office/drawing/2014/main" id="{E8C49ABC-8F7F-40E5-AE4E-AB161CEC94C3}"/>
                </a:ext>
              </a:extLst>
            </p:cNvPr>
            <p:cNvSpPr txBox="1"/>
            <p:nvPr/>
          </p:nvSpPr>
          <p:spPr>
            <a:xfrm>
              <a:off x="9142914" y="5047477"/>
              <a:ext cx="771595" cy="710941"/>
            </a:xfrm>
            <a:prstGeom prst="rect">
              <a:avLst/>
            </a:prstGeom>
            <a:noFill/>
          </p:spPr>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驗證失敗</a:t>
              </a:r>
            </a:p>
          </p:txBody>
        </p:sp>
      </p:grpSp>
      <p:pic>
        <p:nvPicPr>
          <p:cNvPr id="36" name="圖片 35" descr="一張含有 向量圖形 的圖片&#10;&#10;描述是以高可信度產生">
            <a:extLst>
              <a:ext uri="{FF2B5EF4-FFF2-40B4-BE49-F238E27FC236}">
                <a16:creationId xmlns:a16="http://schemas.microsoft.com/office/drawing/2014/main" id="{8015B6C0-A096-40DE-8429-5DA4BEF653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12868" y="1460366"/>
            <a:ext cx="1533754" cy="1533754"/>
          </a:xfrm>
          <a:prstGeom prst="rect">
            <a:avLst/>
          </a:prstGeom>
        </p:spPr>
      </p:pic>
      <p:pic>
        <p:nvPicPr>
          <p:cNvPr id="29" name="圖片 28" descr="一張含有 向量圖形 的圖片&#10;&#10;描述是以非常高的可信度產生">
            <a:extLst>
              <a:ext uri="{FF2B5EF4-FFF2-40B4-BE49-F238E27FC236}">
                <a16:creationId xmlns:a16="http://schemas.microsoft.com/office/drawing/2014/main" id="{75E2ACCE-4F47-478F-92D3-2591A5C945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80417" y="4026644"/>
            <a:ext cx="2441193" cy="2441191"/>
          </a:xfrm>
          <a:prstGeom prst="rect">
            <a:avLst/>
          </a:prstGeom>
        </p:spPr>
      </p:pic>
      <p:cxnSp>
        <p:nvCxnSpPr>
          <p:cNvPr id="28" name="直接连接符 33">
            <a:extLst>
              <a:ext uri="{FF2B5EF4-FFF2-40B4-BE49-F238E27FC236}">
                <a16:creationId xmlns:a16="http://schemas.microsoft.com/office/drawing/2014/main" id="{542C3009-89AE-4905-8A46-08C15F99B9A5}"/>
              </a:ext>
            </a:extLst>
          </p:cNvPr>
          <p:cNvCxnSpPr/>
          <p:nvPr/>
        </p:nvCxnSpPr>
        <p:spPr>
          <a:xfrm>
            <a:off x="1177167" y="100056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38101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arn(inVertical)">
                                      <p:cBhvr>
                                        <p:cTn id="11" dur="500"/>
                                        <p:tgtEl>
                                          <p:spTgt spid="3">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fill="hold"/>
                                        <p:tgtEl>
                                          <p:spTgt spid="28"/>
                                        </p:tgtEl>
                                        <p:attrNameLst>
                                          <p:attrName>ppt_x</p:attrName>
                                        </p:attrNameLst>
                                      </p:cBhvr>
                                      <p:tavLst>
                                        <p:tav tm="0">
                                          <p:val>
                                            <p:strVal val="0-#ppt_w/2"/>
                                          </p:val>
                                        </p:tav>
                                        <p:tav tm="100000">
                                          <p:val>
                                            <p:strVal val="#ppt_x"/>
                                          </p:val>
                                        </p:tav>
                                      </p:tavLst>
                                    </p:anim>
                                    <p:anim calcmode="lin" valueType="num">
                                      <p:cBhvr additive="base">
                                        <p:cTn id="16" dur="500" fill="hold"/>
                                        <p:tgtEl>
                                          <p:spTgt spid="28"/>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
                                            <p:txEl>
                                              <p:pRg st="0" end="0"/>
                                            </p:txEl>
                                          </p:spTgt>
                                        </p:tgtEl>
                                        <p:attrNameLst>
                                          <p:attrName>style.visibility</p:attrName>
                                        </p:attrNameLst>
                                      </p:cBhvr>
                                      <p:to>
                                        <p:strVal val="visible"/>
                                      </p:to>
                                    </p:set>
                                    <p:anim calcmode="lin" valueType="num">
                                      <p:cBhvr additive="base">
                                        <p:cTn id="20"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42"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arn(outHorizontal)">
                                      <p:cBhvr>
                                        <p:cTn id="25" dur="500"/>
                                        <p:tgtEl>
                                          <p:spTgt spid="10"/>
                                        </p:tgtEl>
                                      </p:cBhvr>
                                    </p:animEffect>
                                  </p:childTnLst>
                                </p:cTn>
                              </p:par>
                              <p:par>
                                <p:cTn id="26" presetID="53" presetClass="entr" presetSubtype="16" fill="hold" nodeType="withEffect">
                                  <p:stCondLst>
                                    <p:cond delay="0"/>
                                  </p:stCondLst>
                                  <p:childTnLst>
                                    <p:set>
                                      <p:cBhvr>
                                        <p:cTn id="27" dur="1" fill="hold">
                                          <p:stCondLst>
                                            <p:cond delay="0"/>
                                          </p:stCondLst>
                                        </p:cTn>
                                        <p:tgtEl>
                                          <p:spTgt spid="36"/>
                                        </p:tgtEl>
                                        <p:attrNameLst>
                                          <p:attrName>style.visibility</p:attrName>
                                        </p:attrNameLst>
                                      </p:cBhvr>
                                      <p:to>
                                        <p:strVal val="visible"/>
                                      </p:to>
                                    </p:set>
                                    <p:anim calcmode="lin" valueType="num">
                                      <p:cBhvr>
                                        <p:cTn id="28" dur="500" fill="hold"/>
                                        <p:tgtEl>
                                          <p:spTgt spid="36"/>
                                        </p:tgtEl>
                                        <p:attrNameLst>
                                          <p:attrName>ppt_w</p:attrName>
                                        </p:attrNameLst>
                                      </p:cBhvr>
                                      <p:tavLst>
                                        <p:tav tm="0">
                                          <p:val>
                                            <p:fltVal val="0"/>
                                          </p:val>
                                        </p:tav>
                                        <p:tav tm="100000">
                                          <p:val>
                                            <p:strVal val="#ppt_w"/>
                                          </p:val>
                                        </p:tav>
                                      </p:tavLst>
                                    </p:anim>
                                    <p:anim calcmode="lin" valueType="num">
                                      <p:cBhvr>
                                        <p:cTn id="29" dur="500" fill="hold"/>
                                        <p:tgtEl>
                                          <p:spTgt spid="36"/>
                                        </p:tgtEl>
                                        <p:attrNameLst>
                                          <p:attrName>ppt_h</p:attrName>
                                        </p:attrNameLst>
                                      </p:cBhvr>
                                      <p:tavLst>
                                        <p:tav tm="0">
                                          <p:val>
                                            <p:fltVal val="0"/>
                                          </p:val>
                                        </p:tav>
                                        <p:tav tm="100000">
                                          <p:val>
                                            <p:strVal val="#ppt_h"/>
                                          </p:val>
                                        </p:tav>
                                      </p:tavLst>
                                    </p:anim>
                                    <p:animEffect transition="in" filter="fade">
                                      <p:cBhvr>
                                        <p:cTn id="30" dur="500"/>
                                        <p:tgtEl>
                                          <p:spTgt spid="36"/>
                                        </p:tgtEl>
                                      </p:cBhvr>
                                    </p:animEffect>
                                  </p:childTnLst>
                                </p:cTn>
                              </p:par>
                              <p:par>
                                <p:cTn id="31" presetID="53" presetClass="entr" presetSubtype="16"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p:cTn id="33" dur="500" fill="hold"/>
                                        <p:tgtEl>
                                          <p:spTgt spid="29"/>
                                        </p:tgtEl>
                                        <p:attrNameLst>
                                          <p:attrName>ppt_w</p:attrName>
                                        </p:attrNameLst>
                                      </p:cBhvr>
                                      <p:tavLst>
                                        <p:tav tm="0">
                                          <p:val>
                                            <p:fltVal val="0"/>
                                          </p:val>
                                        </p:tav>
                                        <p:tav tm="100000">
                                          <p:val>
                                            <p:strVal val="#ppt_w"/>
                                          </p:val>
                                        </p:tav>
                                      </p:tavLst>
                                    </p:anim>
                                    <p:anim calcmode="lin" valueType="num">
                                      <p:cBhvr>
                                        <p:cTn id="34" dur="500" fill="hold"/>
                                        <p:tgtEl>
                                          <p:spTgt spid="29"/>
                                        </p:tgtEl>
                                        <p:attrNameLst>
                                          <p:attrName>ppt_h</p:attrName>
                                        </p:attrNameLst>
                                      </p:cBhvr>
                                      <p:tavLst>
                                        <p:tav tm="0">
                                          <p:val>
                                            <p:fltVal val="0"/>
                                          </p:val>
                                        </p:tav>
                                        <p:tav tm="100000">
                                          <p:val>
                                            <p:strVal val="#ppt_h"/>
                                          </p:val>
                                        </p:tav>
                                      </p:tavLst>
                                    </p:anim>
                                    <p:animEffect transition="in" filter="fade">
                                      <p:cBhvr>
                                        <p:cTn id="3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425923"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8-1 </a:t>
            </a:r>
            <a:r>
              <a:rPr lang="zh-TW" altLang="en-US" sz="2400" b="1" dirty="0">
                <a:solidFill>
                  <a:srgbClr val="E06741"/>
                </a:solidFill>
              </a:rPr>
              <a:t>區塊鏈實務案例─票卷交易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470149" y="967881"/>
            <a:ext cx="8612846" cy="497444"/>
          </a:xfrm>
          <a:prstGeom prst="rect">
            <a:avLst/>
          </a:prstGeom>
        </p:spPr>
        <p:txBody>
          <a:bodyPr wrap="square">
            <a:spAutoFit/>
          </a:bodyPr>
          <a:lstStyle/>
          <a:p>
            <a:pPr marL="342900" indent="-342900">
              <a:lnSpc>
                <a:spcPct val="150000"/>
              </a:lnSpc>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以信用卡的紅利點數平台交易的流程為例，其兌換流程分以下</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4 </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個步驟：</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7E3A6309-1716-4781-857E-D6FC371966D7}"/>
              </a:ext>
            </a:extLst>
          </p:cNvPr>
          <p:cNvSpPr txBox="1"/>
          <p:nvPr/>
        </p:nvSpPr>
        <p:spPr>
          <a:xfrm>
            <a:off x="588193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案例區塊鏈應用</a:t>
            </a:r>
          </a:p>
        </p:txBody>
      </p:sp>
      <p:graphicFrame>
        <p:nvGraphicFramePr>
          <p:cNvPr id="4" name="資料庫圖表 3">
            <a:extLst>
              <a:ext uri="{FF2B5EF4-FFF2-40B4-BE49-F238E27FC236}">
                <a16:creationId xmlns:a16="http://schemas.microsoft.com/office/drawing/2014/main" id="{ABB44BC3-0239-47E2-9E10-A4A2C8836F07}"/>
              </a:ext>
            </a:extLst>
          </p:cNvPr>
          <p:cNvGraphicFramePr/>
          <p:nvPr>
            <p:extLst>
              <p:ext uri="{D42A27DB-BD31-4B8C-83A1-F6EECF244321}">
                <p14:modId xmlns:p14="http://schemas.microsoft.com/office/powerpoint/2010/main" val="3273403827"/>
              </p:ext>
            </p:extLst>
          </p:nvPr>
        </p:nvGraphicFramePr>
        <p:xfrm>
          <a:off x="1908945" y="1662235"/>
          <a:ext cx="8509673" cy="492378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11" name="直接连接符 33">
            <a:extLst>
              <a:ext uri="{FF2B5EF4-FFF2-40B4-BE49-F238E27FC236}">
                <a16:creationId xmlns:a16="http://schemas.microsoft.com/office/drawing/2014/main" id="{7C050F59-304F-4AF6-92A5-9C5AC9421839}"/>
              </a:ext>
            </a:extLst>
          </p:cNvPr>
          <p:cNvCxnSpPr/>
          <p:nvPr/>
        </p:nvCxnSpPr>
        <p:spPr>
          <a:xfrm>
            <a:off x="1177167" y="100056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893499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arn(inVertical)">
                                      <p:cBhvr>
                                        <p:cTn id="11" dur="500"/>
                                        <p:tgtEl>
                                          <p:spTgt spid="3">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
                                            <p:txEl>
                                              <p:pRg st="0" end="0"/>
                                            </p:txEl>
                                          </p:spTgt>
                                        </p:tgtEl>
                                        <p:attrNameLst>
                                          <p:attrName>style.visibility</p:attrName>
                                        </p:attrNameLst>
                                      </p:cBhvr>
                                      <p:to>
                                        <p:strVal val="visible"/>
                                      </p:to>
                                    </p:set>
                                    <p:anim calcmode="lin" valueType="num">
                                      <p:cBhvr additive="base">
                                        <p:cTn id="20"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42" fill="hold" grpId="0"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barn(outHorizontal)">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Graphic spid="4"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425923"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8-1 </a:t>
            </a:r>
            <a:r>
              <a:rPr lang="zh-TW" altLang="en-US" sz="2400" b="1" dirty="0">
                <a:solidFill>
                  <a:srgbClr val="E06741"/>
                </a:solidFill>
              </a:rPr>
              <a:t>區塊鏈實務案例─票卷交易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356633" y="1198650"/>
            <a:ext cx="11739418" cy="497444"/>
          </a:xfrm>
          <a:prstGeom prst="rect">
            <a:avLst/>
          </a:prstGeom>
        </p:spPr>
        <p:txBody>
          <a:bodyPr wrap="square">
            <a:spAutoFit/>
          </a:bodyPr>
          <a:lstStyle/>
          <a:p>
            <a:pPr marL="342900" indent="-342900">
              <a:lnSpc>
                <a:spcPct val="150000"/>
              </a:lnSpc>
              <a:buBlip>
                <a:blip r:embed="rId3"/>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應用區塊鏈技術於票券交易的三步驟</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4"/>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7E3A6309-1716-4781-857E-D6FC371966D7}"/>
              </a:ext>
            </a:extLst>
          </p:cNvPr>
          <p:cNvSpPr txBox="1"/>
          <p:nvPr/>
        </p:nvSpPr>
        <p:spPr>
          <a:xfrm>
            <a:off x="588193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案例區塊鏈應用</a:t>
            </a:r>
          </a:p>
        </p:txBody>
      </p:sp>
      <p:graphicFrame>
        <p:nvGraphicFramePr>
          <p:cNvPr id="5" name="資料庫圖表 4">
            <a:extLst>
              <a:ext uri="{FF2B5EF4-FFF2-40B4-BE49-F238E27FC236}">
                <a16:creationId xmlns:a16="http://schemas.microsoft.com/office/drawing/2014/main" id="{98F9F93E-501C-498A-A462-0D8B848CC16B}"/>
              </a:ext>
            </a:extLst>
          </p:cNvPr>
          <p:cNvGraphicFramePr/>
          <p:nvPr>
            <p:extLst>
              <p:ext uri="{D42A27DB-BD31-4B8C-83A1-F6EECF244321}">
                <p14:modId xmlns:p14="http://schemas.microsoft.com/office/powerpoint/2010/main" val="2649505027"/>
              </p:ext>
            </p:extLst>
          </p:nvPr>
        </p:nvGraphicFramePr>
        <p:xfrm>
          <a:off x="1278146" y="1969924"/>
          <a:ext cx="9859588" cy="92336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8" name="文字方塊 27">
            <a:extLst>
              <a:ext uri="{FF2B5EF4-FFF2-40B4-BE49-F238E27FC236}">
                <a16:creationId xmlns:a16="http://schemas.microsoft.com/office/drawing/2014/main" id="{32B0E597-DCBC-4F73-829C-C5AE0BE8ABC4}"/>
              </a:ext>
            </a:extLst>
          </p:cNvPr>
          <p:cNvSpPr txBox="1"/>
          <p:nvPr/>
        </p:nvSpPr>
        <p:spPr>
          <a:xfrm>
            <a:off x="1356633" y="3092288"/>
            <a:ext cx="2969482" cy="1882438"/>
          </a:xfrm>
          <a:prstGeom prst="rect">
            <a:avLst/>
          </a:prstGeom>
          <a:noFill/>
        </p:spPr>
        <p:txBody>
          <a:bodyPr wrap="square" rtlCol="0">
            <a:spAutoFit/>
          </a:bodyPr>
          <a:lstStyle/>
          <a:p>
            <a:pPr lvl="0">
              <a:lnSpc>
                <a:spcPct val="150000"/>
              </a:lnSpc>
              <a:buFontTx/>
              <a:buBlip>
                <a:blip r:embed="rId10"/>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目前票券使用彈性受限</a:t>
            </a:r>
          </a:p>
          <a:p>
            <a:pPr marL="342900" lvl="0" indent="-342900">
              <a:lnSpc>
                <a:spcPct val="150000"/>
              </a:lnSpc>
              <a:buBlip>
                <a:blip r:embed="rId3"/>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將票券以貨幣發行，採</a:t>
            </a:r>
            <a:r>
              <a:rPr lang="en-US"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1</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1 </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為兌換標準，便可跨商家使用</a:t>
            </a:r>
          </a:p>
        </p:txBody>
      </p:sp>
      <p:sp>
        <p:nvSpPr>
          <p:cNvPr id="30" name="文字方塊 29">
            <a:extLst>
              <a:ext uri="{FF2B5EF4-FFF2-40B4-BE49-F238E27FC236}">
                <a16:creationId xmlns:a16="http://schemas.microsoft.com/office/drawing/2014/main" id="{ADA20590-A56F-4B44-8A9D-12E28BE99080}"/>
              </a:ext>
            </a:extLst>
          </p:cNvPr>
          <p:cNvSpPr txBox="1"/>
          <p:nvPr/>
        </p:nvSpPr>
        <p:spPr>
          <a:xfrm>
            <a:off x="4756350" y="3092288"/>
            <a:ext cx="2534668" cy="1420774"/>
          </a:xfrm>
          <a:prstGeom prst="rect">
            <a:avLst/>
          </a:prstGeom>
          <a:noFill/>
        </p:spPr>
        <p:txBody>
          <a:bodyPr wrap="square" rtlCol="0">
            <a:spAutoFit/>
          </a:bodyPr>
          <a:lstStyle/>
          <a:p>
            <a:pPr marL="342900" lvl="0" indent="-342900">
              <a:lnSpc>
                <a:spcPct val="150000"/>
              </a:lnSpc>
              <a:buBlip>
                <a:blip r:embed="rId3"/>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建立一個具信任機制與安全性的網絡交易平台</a:t>
            </a:r>
          </a:p>
        </p:txBody>
      </p:sp>
      <p:sp>
        <p:nvSpPr>
          <p:cNvPr id="31" name="文字方塊 30">
            <a:extLst>
              <a:ext uri="{FF2B5EF4-FFF2-40B4-BE49-F238E27FC236}">
                <a16:creationId xmlns:a16="http://schemas.microsoft.com/office/drawing/2014/main" id="{1E0C198B-1720-4C6C-9917-A06113F9BD4F}"/>
              </a:ext>
            </a:extLst>
          </p:cNvPr>
          <p:cNvSpPr txBox="1"/>
          <p:nvPr/>
        </p:nvSpPr>
        <p:spPr>
          <a:xfrm>
            <a:off x="8068905" y="3092288"/>
            <a:ext cx="2524106" cy="2344103"/>
          </a:xfrm>
          <a:prstGeom prst="rect">
            <a:avLst/>
          </a:prstGeom>
          <a:noFill/>
        </p:spPr>
        <p:txBody>
          <a:bodyPr wrap="square" rtlCol="0">
            <a:spAutoFit/>
          </a:bodyPr>
          <a:lstStyle/>
          <a:p>
            <a:pPr marL="342900" lvl="0" indent="-342900">
              <a:lnSpc>
                <a:spcPct val="150000"/>
              </a:lnSpc>
              <a:buBlip>
                <a:blip r:embed="rId3"/>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避免票券被複製與重複兌換</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lvl="0" indent="-342900">
              <a:lnSpc>
                <a:spcPct val="150000"/>
              </a:lnSpc>
              <a:buBlip>
                <a:blip r:embed="rId3"/>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採私有鏈，保障特定消費者權益，鼓勵會員回購</a:t>
            </a:r>
          </a:p>
        </p:txBody>
      </p:sp>
      <p:cxnSp>
        <p:nvCxnSpPr>
          <p:cNvPr id="33" name="直線接點 32">
            <a:extLst>
              <a:ext uri="{FF2B5EF4-FFF2-40B4-BE49-F238E27FC236}">
                <a16:creationId xmlns:a16="http://schemas.microsoft.com/office/drawing/2014/main" id="{4C91EEFD-B681-43E4-B9CE-8FE4EA00DA3F}"/>
              </a:ext>
            </a:extLst>
          </p:cNvPr>
          <p:cNvCxnSpPr>
            <a:cxnSpLocks/>
          </p:cNvCxnSpPr>
          <p:nvPr/>
        </p:nvCxnSpPr>
        <p:spPr>
          <a:xfrm flipV="1">
            <a:off x="4476123" y="2926179"/>
            <a:ext cx="0" cy="2193522"/>
          </a:xfrm>
          <a:prstGeom prst="line">
            <a:avLst/>
          </a:prstGeom>
          <a:ln w="95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91181887-6D4D-4AF2-9B5D-6DC9FD0506F8}"/>
              </a:ext>
            </a:extLst>
          </p:cNvPr>
          <p:cNvCxnSpPr>
            <a:cxnSpLocks/>
          </p:cNvCxnSpPr>
          <p:nvPr/>
        </p:nvCxnSpPr>
        <p:spPr>
          <a:xfrm flipV="1">
            <a:off x="7621105" y="2926179"/>
            <a:ext cx="0" cy="2193522"/>
          </a:xfrm>
          <a:prstGeom prst="line">
            <a:avLst/>
          </a:prstGeom>
          <a:ln w="95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pic>
        <p:nvPicPr>
          <p:cNvPr id="40" name="圖片 39">
            <a:extLst>
              <a:ext uri="{FF2B5EF4-FFF2-40B4-BE49-F238E27FC236}">
                <a16:creationId xmlns:a16="http://schemas.microsoft.com/office/drawing/2014/main" id="{8FDF61DA-06D3-4E8B-BE93-3FDCFFB2BFD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296132" y="4962132"/>
            <a:ext cx="1895868" cy="1895868"/>
          </a:xfrm>
          <a:prstGeom prst="rect">
            <a:avLst/>
          </a:prstGeom>
        </p:spPr>
      </p:pic>
      <p:cxnSp>
        <p:nvCxnSpPr>
          <p:cNvPr id="14" name="直接连接符 33">
            <a:extLst>
              <a:ext uri="{FF2B5EF4-FFF2-40B4-BE49-F238E27FC236}">
                <a16:creationId xmlns:a16="http://schemas.microsoft.com/office/drawing/2014/main" id="{B3C37778-9B7B-4227-B94B-FCC182AE47F7}"/>
              </a:ext>
            </a:extLst>
          </p:cNvPr>
          <p:cNvCxnSpPr/>
          <p:nvPr/>
        </p:nvCxnSpPr>
        <p:spPr>
          <a:xfrm>
            <a:off x="1177167" y="100056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177800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arn(inVertical)">
                                      <p:cBhvr>
                                        <p:cTn id="11" dur="500"/>
                                        <p:tgtEl>
                                          <p:spTgt spid="3">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0-#ppt_w/2"/>
                                          </p:val>
                                        </p:tav>
                                        <p:tav tm="100000">
                                          <p:val>
                                            <p:strVal val="#ppt_x"/>
                                          </p:val>
                                        </p:tav>
                                      </p:tavLst>
                                    </p:anim>
                                    <p:anim calcmode="lin" valueType="num">
                                      <p:cBhvr additive="base">
                                        <p:cTn id="16" dur="500" fill="hold"/>
                                        <p:tgtEl>
                                          <p:spTgt spid="14"/>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2" presetClass="entr" presetSubtype="8"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0-#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cTn>
                              </p:par>
                            </p:childTnLst>
                          </p:cTn>
                        </p:par>
                        <p:par>
                          <p:cTn id="27" fill="hold">
                            <p:stCondLst>
                              <p:cond delay="4000"/>
                            </p:stCondLst>
                            <p:childTnLst>
                              <p:par>
                                <p:cTn id="28" presetID="16" presetClass="entr" presetSubtype="21" fill="hold" grpId="0" nodeType="after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barn(inVertical)">
                                      <p:cBhvr>
                                        <p:cTn id="30" dur="500"/>
                                        <p:tgtEl>
                                          <p:spTgt spid="28"/>
                                        </p:tgtEl>
                                      </p:cBhvr>
                                    </p:animEffect>
                                  </p:childTnLst>
                                </p:cTn>
                              </p:par>
                              <p:par>
                                <p:cTn id="31" presetID="2" presetClass="entr" presetSubtype="4"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anim calcmode="lin" valueType="num">
                                      <p:cBhvr additive="base">
                                        <p:cTn id="33" dur="500" fill="hold"/>
                                        <p:tgtEl>
                                          <p:spTgt spid="33"/>
                                        </p:tgtEl>
                                        <p:attrNameLst>
                                          <p:attrName>ppt_x</p:attrName>
                                        </p:attrNameLst>
                                      </p:cBhvr>
                                      <p:tavLst>
                                        <p:tav tm="0">
                                          <p:val>
                                            <p:strVal val="#ppt_x"/>
                                          </p:val>
                                        </p:tav>
                                        <p:tav tm="100000">
                                          <p:val>
                                            <p:strVal val="#ppt_x"/>
                                          </p:val>
                                        </p:tav>
                                      </p:tavLst>
                                    </p:anim>
                                    <p:anim calcmode="lin" valueType="num">
                                      <p:cBhvr additive="base">
                                        <p:cTn id="34" dur="500" fill="hold"/>
                                        <p:tgtEl>
                                          <p:spTgt spid="33"/>
                                        </p:tgtEl>
                                        <p:attrNameLst>
                                          <p:attrName>ppt_y</p:attrName>
                                        </p:attrNameLst>
                                      </p:cBhvr>
                                      <p:tavLst>
                                        <p:tav tm="0">
                                          <p:val>
                                            <p:strVal val="1+#ppt_h/2"/>
                                          </p:val>
                                        </p:tav>
                                        <p:tav tm="100000">
                                          <p:val>
                                            <p:strVal val="#ppt_y"/>
                                          </p:val>
                                        </p:tav>
                                      </p:tavLst>
                                    </p:anim>
                                  </p:childTnLst>
                                </p:cTn>
                              </p:par>
                            </p:childTnLst>
                          </p:cTn>
                        </p:par>
                        <p:par>
                          <p:cTn id="35" fill="hold">
                            <p:stCondLst>
                              <p:cond delay="4500"/>
                            </p:stCondLst>
                            <p:childTnLst>
                              <p:par>
                                <p:cTn id="36" presetID="16" presetClass="entr" presetSubtype="21" fill="hold" nodeType="afterEffect">
                                  <p:stCondLst>
                                    <p:cond delay="0"/>
                                  </p:stCondLst>
                                  <p:childTnLst>
                                    <p:set>
                                      <p:cBhvr>
                                        <p:cTn id="37" dur="1" fill="hold">
                                          <p:stCondLst>
                                            <p:cond delay="0"/>
                                          </p:stCondLst>
                                        </p:cTn>
                                        <p:tgtEl>
                                          <p:spTgt spid="30">
                                            <p:txEl>
                                              <p:pRg st="0" end="0"/>
                                            </p:txEl>
                                          </p:spTgt>
                                        </p:tgtEl>
                                        <p:attrNameLst>
                                          <p:attrName>style.visibility</p:attrName>
                                        </p:attrNameLst>
                                      </p:cBhvr>
                                      <p:to>
                                        <p:strVal val="visible"/>
                                      </p:to>
                                    </p:set>
                                    <p:animEffect transition="in" filter="barn(inVertical)">
                                      <p:cBhvr>
                                        <p:cTn id="38" dur="500"/>
                                        <p:tgtEl>
                                          <p:spTgt spid="30">
                                            <p:txEl>
                                              <p:pRg st="0" end="0"/>
                                            </p:txEl>
                                          </p:spTgt>
                                        </p:tgtEl>
                                      </p:cBhvr>
                                    </p:animEffect>
                                  </p:childTnLst>
                                </p:cTn>
                              </p:par>
                              <p:par>
                                <p:cTn id="39" presetID="2" presetClass="entr" presetSubtype="4" fill="hold" nodeType="withEffect">
                                  <p:stCondLst>
                                    <p:cond delay="0"/>
                                  </p:stCondLst>
                                  <p:childTnLst>
                                    <p:set>
                                      <p:cBhvr>
                                        <p:cTn id="40" dur="1" fill="hold">
                                          <p:stCondLst>
                                            <p:cond delay="0"/>
                                          </p:stCondLst>
                                        </p:cTn>
                                        <p:tgtEl>
                                          <p:spTgt spid="36"/>
                                        </p:tgtEl>
                                        <p:attrNameLst>
                                          <p:attrName>style.visibility</p:attrName>
                                        </p:attrNameLst>
                                      </p:cBhvr>
                                      <p:to>
                                        <p:strVal val="visible"/>
                                      </p:to>
                                    </p:set>
                                    <p:anim calcmode="lin" valueType="num">
                                      <p:cBhvr additive="base">
                                        <p:cTn id="41" dur="500" fill="hold"/>
                                        <p:tgtEl>
                                          <p:spTgt spid="36"/>
                                        </p:tgtEl>
                                        <p:attrNameLst>
                                          <p:attrName>ppt_x</p:attrName>
                                        </p:attrNameLst>
                                      </p:cBhvr>
                                      <p:tavLst>
                                        <p:tav tm="0">
                                          <p:val>
                                            <p:strVal val="#ppt_x"/>
                                          </p:val>
                                        </p:tav>
                                        <p:tav tm="100000">
                                          <p:val>
                                            <p:strVal val="#ppt_x"/>
                                          </p:val>
                                        </p:tav>
                                      </p:tavLst>
                                    </p:anim>
                                    <p:anim calcmode="lin" valueType="num">
                                      <p:cBhvr additive="base">
                                        <p:cTn id="42" dur="500" fill="hold"/>
                                        <p:tgtEl>
                                          <p:spTgt spid="36"/>
                                        </p:tgtEl>
                                        <p:attrNameLst>
                                          <p:attrName>ppt_y</p:attrName>
                                        </p:attrNameLst>
                                      </p:cBhvr>
                                      <p:tavLst>
                                        <p:tav tm="0">
                                          <p:val>
                                            <p:strVal val="1+#ppt_h/2"/>
                                          </p:val>
                                        </p:tav>
                                        <p:tav tm="100000">
                                          <p:val>
                                            <p:strVal val="#ppt_y"/>
                                          </p:val>
                                        </p:tav>
                                      </p:tavLst>
                                    </p:anim>
                                  </p:childTnLst>
                                </p:cTn>
                              </p:par>
                            </p:childTnLst>
                          </p:cTn>
                        </p:par>
                        <p:par>
                          <p:cTn id="43" fill="hold">
                            <p:stCondLst>
                              <p:cond delay="5000"/>
                            </p:stCondLst>
                            <p:childTnLst>
                              <p:par>
                                <p:cTn id="44" presetID="16" presetClass="entr" presetSubtype="21" fill="hold" grpId="0" nodeType="after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barn(inVertical)">
                                      <p:cBhvr>
                                        <p:cTn id="46" dur="500"/>
                                        <p:tgtEl>
                                          <p:spTgt spid="31"/>
                                        </p:tgtEl>
                                      </p:cBhvr>
                                    </p:animEffect>
                                  </p:childTnLst>
                                </p:cTn>
                              </p:par>
                            </p:childTnLst>
                          </p:cTn>
                        </p:par>
                        <p:par>
                          <p:cTn id="47" fill="hold">
                            <p:stCondLst>
                              <p:cond delay="5500"/>
                            </p:stCondLst>
                            <p:childTnLst>
                              <p:par>
                                <p:cTn id="48" presetID="53" presetClass="entr" presetSubtype="16" fill="hold" nodeType="afterEffect">
                                  <p:stCondLst>
                                    <p:cond delay="0"/>
                                  </p:stCondLst>
                                  <p:childTnLst>
                                    <p:set>
                                      <p:cBhvr>
                                        <p:cTn id="49" dur="1" fill="hold">
                                          <p:stCondLst>
                                            <p:cond delay="0"/>
                                          </p:stCondLst>
                                        </p:cTn>
                                        <p:tgtEl>
                                          <p:spTgt spid="40"/>
                                        </p:tgtEl>
                                        <p:attrNameLst>
                                          <p:attrName>style.visibility</p:attrName>
                                        </p:attrNameLst>
                                      </p:cBhvr>
                                      <p:to>
                                        <p:strVal val="visible"/>
                                      </p:to>
                                    </p:set>
                                    <p:anim calcmode="lin" valueType="num">
                                      <p:cBhvr>
                                        <p:cTn id="50" dur="500" fill="hold"/>
                                        <p:tgtEl>
                                          <p:spTgt spid="40"/>
                                        </p:tgtEl>
                                        <p:attrNameLst>
                                          <p:attrName>ppt_w</p:attrName>
                                        </p:attrNameLst>
                                      </p:cBhvr>
                                      <p:tavLst>
                                        <p:tav tm="0">
                                          <p:val>
                                            <p:fltVal val="0"/>
                                          </p:val>
                                        </p:tav>
                                        <p:tav tm="100000">
                                          <p:val>
                                            <p:strVal val="#ppt_w"/>
                                          </p:val>
                                        </p:tav>
                                      </p:tavLst>
                                    </p:anim>
                                    <p:anim calcmode="lin" valueType="num">
                                      <p:cBhvr>
                                        <p:cTn id="51" dur="500" fill="hold"/>
                                        <p:tgtEl>
                                          <p:spTgt spid="40"/>
                                        </p:tgtEl>
                                        <p:attrNameLst>
                                          <p:attrName>ppt_h</p:attrName>
                                        </p:attrNameLst>
                                      </p:cBhvr>
                                      <p:tavLst>
                                        <p:tav tm="0">
                                          <p:val>
                                            <p:fltVal val="0"/>
                                          </p:val>
                                        </p:tav>
                                        <p:tav tm="100000">
                                          <p:val>
                                            <p:strVal val="#ppt_h"/>
                                          </p:val>
                                        </p:tav>
                                      </p:tavLst>
                                    </p:anim>
                                    <p:animEffect transition="in" filter="fade">
                                      <p:cBhvr>
                                        <p:cTn id="5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Graphic spid="5" grpId="0">
        <p:bldAsOne/>
      </p:bldGraphic>
      <p:bldP spid="28"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425923"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8-1 </a:t>
            </a:r>
            <a:r>
              <a:rPr lang="zh-TW" altLang="en-US" sz="2400" b="1" dirty="0">
                <a:solidFill>
                  <a:srgbClr val="E06741"/>
                </a:solidFill>
              </a:rPr>
              <a:t>區塊鏈實務案例─票卷交易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516503" y="980541"/>
            <a:ext cx="9003715" cy="497444"/>
          </a:xfrm>
          <a:prstGeom prst="rect">
            <a:avLst/>
          </a:prstGeom>
        </p:spPr>
        <p:txBody>
          <a:bodyPr wrap="square">
            <a:spAutoFit/>
          </a:bodyPr>
          <a:lstStyle/>
          <a:p>
            <a:pPr marL="342900" indent="-342900">
              <a:lnSpc>
                <a:spcPct val="150000"/>
              </a:lnSpc>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區塊鏈支付平台交易生態流程</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7E3A6309-1716-4781-857E-D6FC371966D7}"/>
              </a:ext>
            </a:extLst>
          </p:cNvPr>
          <p:cNvSpPr txBox="1"/>
          <p:nvPr/>
        </p:nvSpPr>
        <p:spPr>
          <a:xfrm>
            <a:off x="588193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案例區塊鏈應用</a:t>
            </a:r>
          </a:p>
        </p:txBody>
      </p:sp>
      <p:pic>
        <p:nvPicPr>
          <p:cNvPr id="14" name="圖片 13">
            <a:extLst>
              <a:ext uri="{FF2B5EF4-FFF2-40B4-BE49-F238E27FC236}">
                <a16:creationId xmlns:a16="http://schemas.microsoft.com/office/drawing/2014/main" id="{80E8F8F2-DF5A-4C7F-9D7F-413608E98654}"/>
              </a:ext>
            </a:extLst>
          </p:cNvPr>
          <p:cNvPicPr/>
          <p:nvPr/>
        </p:nvPicPr>
        <p:blipFill>
          <a:blip r:embed="rId4">
            <a:clrChange>
              <a:clrFrom>
                <a:srgbClr val="FFFFFF"/>
              </a:clrFrom>
              <a:clrTo>
                <a:srgbClr val="FFFFFF">
                  <a:alpha val="0"/>
                </a:srgbClr>
              </a:clrTo>
            </a:clrChange>
          </a:blip>
          <a:stretch>
            <a:fillRect/>
          </a:stretch>
        </p:blipFill>
        <p:spPr>
          <a:xfrm>
            <a:off x="1671782" y="1284884"/>
            <a:ext cx="9166972" cy="5573116"/>
          </a:xfrm>
          <a:prstGeom prst="rect">
            <a:avLst/>
          </a:prstGeom>
        </p:spPr>
      </p:pic>
      <p:cxnSp>
        <p:nvCxnSpPr>
          <p:cNvPr id="10" name="直接连接符 33">
            <a:extLst>
              <a:ext uri="{FF2B5EF4-FFF2-40B4-BE49-F238E27FC236}">
                <a16:creationId xmlns:a16="http://schemas.microsoft.com/office/drawing/2014/main" id="{4E68CA4D-CBB7-48E3-AE72-3D750E42E2B8}"/>
              </a:ext>
            </a:extLst>
          </p:cNvPr>
          <p:cNvCxnSpPr/>
          <p:nvPr/>
        </p:nvCxnSpPr>
        <p:spPr>
          <a:xfrm>
            <a:off x="1177167" y="100056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022815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arn(inVertical)">
                                      <p:cBhvr>
                                        <p:cTn id="11" dur="500"/>
                                        <p:tgtEl>
                                          <p:spTgt spid="3">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53" presetClass="entr" presetSubtype="16" fill="hold" nodeType="after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p:cTn id="25" dur="500" fill="hold"/>
                                        <p:tgtEl>
                                          <p:spTgt spid="14"/>
                                        </p:tgtEl>
                                        <p:attrNameLst>
                                          <p:attrName>ppt_w</p:attrName>
                                        </p:attrNameLst>
                                      </p:cBhvr>
                                      <p:tavLst>
                                        <p:tav tm="0">
                                          <p:val>
                                            <p:fltVal val="0"/>
                                          </p:val>
                                        </p:tav>
                                        <p:tav tm="100000">
                                          <p:val>
                                            <p:strVal val="#ppt_w"/>
                                          </p:val>
                                        </p:tav>
                                      </p:tavLst>
                                    </p:anim>
                                    <p:anim calcmode="lin" valueType="num">
                                      <p:cBhvr>
                                        <p:cTn id="26" dur="500" fill="hold"/>
                                        <p:tgtEl>
                                          <p:spTgt spid="14"/>
                                        </p:tgtEl>
                                        <p:attrNameLst>
                                          <p:attrName>ppt_h</p:attrName>
                                        </p:attrNameLst>
                                      </p:cBhvr>
                                      <p:tavLst>
                                        <p:tav tm="0">
                                          <p:val>
                                            <p:fltVal val="0"/>
                                          </p:val>
                                        </p:tav>
                                        <p:tav tm="100000">
                                          <p:val>
                                            <p:strVal val="#ppt_h"/>
                                          </p:val>
                                        </p:tav>
                                      </p:tavLst>
                                    </p:anim>
                                    <p:animEffect transition="in" filter="fade">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425923"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8-1 </a:t>
            </a:r>
            <a:r>
              <a:rPr lang="zh-TW" altLang="en-US" sz="2400" b="1" dirty="0">
                <a:solidFill>
                  <a:srgbClr val="E06741"/>
                </a:solidFill>
              </a:rPr>
              <a:t>區塊鏈實務案例─票卷交易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356633" y="1198650"/>
            <a:ext cx="8711003" cy="497444"/>
          </a:xfrm>
          <a:prstGeom prst="rect">
            <a:avLst/>
          </a:prstGeom>
        </p:spPr>
        <p:txBody>
          <a:bodyPr wrap="square">
            <a:spAutoFit/>
          </a:bodyPr>
          <a:lstStyle/>
          <a:p>
            <a:pPr marL="342900" indent="-342900">
              <a:lnSpc>
                <a:spcPct val="150000"/>
              </a:lnSpc>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規劃區塊鏈支付平台交易的生態流程</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7E3A6309-1716-4781-857E-D6FC371966D7}"/>
              </a:ext>
            </a:extLst>
          </p:cNvPr>
          <p:cNvSpPr txBox="1"/>
          <p:nvPr/>
        </p:nvSpPr>
        <p:spPr>
          <a:xfrm>
            <a:off x="588193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案例區塊鏈應用</a:t>
            </a:r>
          </a:p>
        </p:txBody>
      </p:sp>
      <p:graphicFrame>
        <p:nvGraphicFramePr>
          <p:cNvPr id="5" name="資料庫圖表 4">
            <a:extLst>
              <a:ext uri="{FF2B5EF4-FFF2-40B4-BE49-F238E27FC236}">
                <a16:creationId xmlns:a16="http://schemas.microsoft.com/office/drawing/2014/main" id="{98F9F93E-501C-498A-A462-0D8B848CC16B}"/>
              </a:ext>
            </a:extLst>
          </p:cNvPr>
          <p:cNvGraphicFramePr/>
          <p:nvPr>
            <p:extLst>
              <p:ext uri="{D42A27DB-BD31-4B8C-83A1-F6EECF244321}">
                <p14:modId xmlns:p14="http://schemas.microsoft.com/office/powerpoint/2010/main" val="825055837"/>
              </p:ext>
            </p:extLst>
          </p:nvPr>
        </p:nvGraphicFramePr>
        <p:xfrm>
          <a:off x="1342794" y="1969924"/>
          <a:ext cx="10128759" cy="92336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8" name="文字方塊 27">
            <a:extLst>
              <a:ext uri="{FF2B5EF4-FFF2-40B4-BE49-F238E27FC236}">
                <a16:creationId xmlns:a16="http://schemas.microsoft.com/office/drawing/2014/main" id="{32B0E597-DCBC-4F73-829C-C5AE0BE8ABC4}"/>
              </a:ext>
            </a:extLst>
          </p:cNvPr>
          <p:cNvSpPr txBox="1"/>
          <p:nvPr/>
        </p:nvSpPr>
        <p:spPr>
          <a:xfrm>
            <a:off x="1884174" y="3017945"/>
            <a:ext cx="2455759" cy="2805768"/>
          </a:xfrm>
          <a:prstGeom prst="rect">
            <a:avLst/>
          </a:prstGeom>
          <a:noFill/>
        </p:spPr>
        <p:txBody>
          <a:bodyPr wrap="square" rtlCol="0">
            <a:spAutoFit/>
          </a:bodyPr>
          <a:lstStyle/>
          <a:p>
            <a:pPr lvl="0">
              <a:lnSpc>
                <a:spcPct val="150000"/>
              </a:lnSpc>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區塊鏈將交易資訊傳送至平台，若消費滿足規定，平台將代幣發送至消費者的電子錢包，可與其他消費者轉讓</a:t>
            </a:r>
          </a:p>
        </p:txBody>
      </p:sp>
      <p:sp>
        <p:nvSpPr>
          <p:cNvPr id="30" name="文字方塊 29">
            <a:extLst>
              <a:ext uri="{FF2B5EF4-FFF2-40B4-BE49-F238E27FC236}">
                <a16:creationId xmlns:a16="http://schemas.microsoft.com/office/drawing/2014/main" id="{ADA20590-A56F-4B44-8A9D-12E28BE99080}"/>
              </a:ext>
            </a:extLst>
          </p:cNvPr>
          <p:cNvSpPr txBox="1"/>
          <p:nvPr/>
        </p:nvSpPr>
        <p:spPr>
          <a:xfrm>
            <a:off x="5164126" y="3017945"/>
            <a:ext cx="2386139" cy="1882438"/>
          </a:xfrm>
          <a:prstGeom prst="rect">
            <a:avLst/>
          </a:prstGeom>
          <a:noFill/>
        </p:spPr>
        <p:txBody>
          <a:bodyPr wrap="square" rtlCol="0">
            <a:spAutoFit/>
          </a:bodyPr>
          <a:lstStyle/>
          <a:p>
            <a:pPr marL="342900" lvl="0" indent="-342900">
              <a:lnSpc>
                <a:spcPct val="150000"/>
              </a:lnSpc>
              <a:buBlip>
                <a:blip r:embed="rId2">
                  <a:extLst/>
                </a:blip>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交易完成時自動建立金鑰</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lvl="0" indent="-342900">
              <a:lnSpc>
                <a:spcPct val="150000"/>
              </a:lnSpc>
              <a:buFont typeface="微軟正黑體" panose="020B0604030504040204" pitchFamily="34" charset="-120"/>
              <a:buChar char="→"/>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維護交易安全性</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lvl="0" indent="-342900">
              <a:lnSpc>
                <a:spcPct val="150000"/>
              </a:lnSpc>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更新交易紀錄</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31" name="文字方塊 30">
            <a:extLst>
              <a:ext uri="{FF2B5EF4-FFF2-40B4-BE49-F238E27FC236}">
                <a16:creationId xmlns:a16="http://schemas.microsoft.com/office/drawing/2014/main" id="{1E0C198B-1720-4C6C-9917-A06113F9BD4F}"/>
              </a:ext>
            </a:extLst>
          </p:cNvPr>
          <p:cNvSpPr txBox="1"/>
          <p:nvPr/>
        </p:nvSpPr>
        <p:spPr>
          <a:xfrm>
            <a:off x="8253623" y="3035834"/>
            <a:ext cx="2910286" cy="3267433"/>
          </a:xfrm>
          <a:prstGeom prst="rect">
            <a:avLst/>
          </a:prstGeom>
          <a:noFill/>
        </p:spPr>
        <p:txBody>
          <a:bodyPr wrap="square" rtlCol="0">
            <a:spAutoFit/>
          </a:bodyPr>
          <a:lstStyle/>
          <a:p>
            <a:pPr marL="342900" indent="-342900">
              <a:lnSpc>
                <a:spcPct val="150000"/>
              </a:lnSpc>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票券採</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1:1</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兌換</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Font typeface="微軟正黑體" panose="020B0604030504040204" pitchFamily="34" charset="-120"/>
              <a:buChar char="→"/>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商家不同在區塊鏈上的交易不會差異太大</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商家間透過平台進行資訊交流</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不同商家的票券交易價值相等，多元選擇</a:t>
            </a:r>
          </a:p>
        </p:txBody>
      </p:sp>
      <p:cxnSp>
        <p:nvCxnSpPr>
          <p:cNvPr id="33" name="直線接點 32">
            <a:extLst>
              <a:ext uri="{FF2B5EF4-FFF2-40B4-BE49-F238E27FC236}">
                <a16:creationId xmlns:a16="http://schemas.microsoft.com/office/drawing/2014/main" id="{4C91EEFD-B681-43E4-B9CE-8FE4EA00DA3F}"/>
              </a:ext>
            </a:extLst>
          </p:cNvPr>
          <p:cNvCxnSpPr>
            <a:cxnSpLocks/>
          </p:cNvCxnSpPr>
          <p:nvPr/>
        </p:nvCxnSpPr>
        <p:spPr>
          <a:xfrm flipV="1">
            <a:off x="4614664" y="2893292"/>
            <a:ext cx="0" cy="3703098"/>
          </a:xfrm>
          <a:prstGeom prst="line">
            <a:avLst/>
          </a:prstGeom>
          <a:ln w="95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91181887-6D4D-4AF2-9B5D-6DC9FD0506F8}"/>
              </a:ext>
            </a:extLst>
          </p:cNvPr>
          <p:cNvCxnSpPr>
            <a:cxnSpLocks/>
          </p:cNvCxnSpPr>
          <p:nvPr/>
        </p:nvCxnSpPr>
        <p:spPr>
          <a:xfrm flipH="1" flipV="1">
            <a:off x="7842775" y="2926180"/>
            <a:ext cx="36054" cy="3670210"/>
          </a:xfrm>
          <a:prstGeom prst="line">
            <a:avLst/>
          </a:prstGeom>
          <a:ln w="95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9" name="圖片 18" descr="一張含有 文字 的圖片&#10;&#10;描述是以非常高的可信度產生">
            <a:extLst>
              <a:ext uri="{FF2B5EF4-FFF2-40B4-BE49-F238E27FC236}">
                <a16:creationId xmlns:a16="http://schemas.microsoft.com/office/drawing/2014/main" id="{7CD7E3D8-B288-47F1-A9BA-0BCA5A590A49}"/>
              </a:ext>
            </a:extLst>
          </p:cNvPr>
          <p:cNvPicPr>
            <a:picLocks noChangeAspect="1"/>
          </p:cNvPicPr>
          <p:nvPr/>
        </p:nvPicPr>
        <p:blipFill rotWithShape="1">
          <a:blip r:embed="rId9">
            <a:extLst>
              <a:ext uri="{28A0092B-C50C-407E-A947-70E740481C1C}">
                <a14:useLocalDpi xmlns:a14="http://schemas.microsoft.com/office/drawing/2010/main" val="0"/>
              </a:ext>
            </a:extLst>
          </a:blip>
          <a:srcRect l="18710" b="18837"/>
          <a:stretch/>
        </p:blipFill>
        <p:spPr>
          <a:xfrm>
            <a:off x="-27709" y="5066631"/>
            <a:ext cx="1794172" cy="1791369"/>
          </a:xfrm>
          <a:prstGeom prst="rect">
            <a:avLst/>
          </a:prstGeom>
        </p:spPr>
      </p:pic>
      <p:cxnSp>
        <p:nvCxnSpPr>
          <p:cNvPr id="14" name="直接连接符 33">
            <a:extLst>
              <a:ext uri="{FF2B5EF4-FFF2-40B4-BE49-F238E27FC236}">
                <a16:creationId xmlns:a16="http://schemas.microsoft.com/office/drawing/2014/main" id="{114A4EA6-1E5F-4CF8-B2E9-F930ED09C3C0}"/>
              </a:ext>
            </a:extLst>
          </p:cNvPr>
          <p:cNvCxnSpPr/>
          <p:nvPr/>
        </p:nvCxnSpPr>
        <p:spPr>
          <a:xfrm>
            <a:off x="1177167" y="100056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6373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arn(inVertical)">
                                      <p:cBhvr>
                                        <p:cTn id="11" dur="500"/>
                                        <p:tgtEl>
                                          <p:spTgt spid="3">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0-#ppt_w/2"/>
                                          </p:val>
                                        </p:tav>
                                        <p:tav tm="100000">
                                          <p:val>
                                            <p:strVal val="#ppt_x"/>
                                          </p:val>
                                        </p:tav>
                                      </p:tavLst>
                                    </p:anim>
                                    <p:anim calcmode="lin" valueType="num">
                                      <p:cBhvr additive="base">
                                        <p:cTn id="16" dur="500" fill="hold"/>
                                        <p:tgtEl>
                                          <p:spTgt spid="14"/>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
                                            <p:txEl>
                                              <p:pRg st="0" end="0"/>
                                            </p:txEl>
                                          </p:spTgt>
                                        </p:tgtEl>
                                        <p:attrNameLst>
                                          <p:attrName>style.visibility</p:attrName>
                                        </p:attrNameLst>
                                      </p:cBhvr>
                                      <p:to>
                                        <p:strVal val="visible"/>
                                      </p:to>
                                    </p:set>
                                    <p:anim calcmode="lin" valueType="num">
                                      <p:cBhvr additive="base">
                                        <p:cTn id="20"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2" presetClass="entr" presetSubtype="8"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0-#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cTn>
                              </p:par>
                            </p:childTnLst>
                          </p:cTn>
                        </p:par>
                        <p:par>
                          <p:cTn id="27" fill="hold">
                            <p:stCondLst>
                              <p:cond delay="4000"/>
                            </p:stCondLst>
                            <p:childTnLst>
                              <p:par>
                                <p:cTn id="28" presetID="16" presetClass="entr" presetSubtype="21" fill="hold" grpId="0" nodeType="after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barn(inVertical)">
                                      <p:cBhvr>
                                        <p:cTn id="30" dur="500"/>
                                        <p:tgtEl>
                                          <p:spTgt spid="28"/>
                                        </p:tgtEl>
                                      </p:cBhvr>
                                    </p:animEffect>
                                  </p:childTnLst>
                                </p:cTn>
                              </p:par>
                              <p:par>
                                <p:cTn id="31" presetID="2" presetClass="entr" presetSubtype="4"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anim calcmode="lin" valueType="num">
                                      <p:cBhvr additive="base">
                                        <p:cTn id="33" dur="500" fill="hold"/>
                                        <p:tgtEl>
                                          <p:spTgt spid="33"/>
                                        </p:tgtEl>
                                        <p:attrNameLst>
                                          <p:attrName>ppt_x</p:attrName>
                                        </p:attrNameLst>
                                      </p:cBhvr>
                                      <p:tavLst>
                                        <p:tav tm="0">
                                          <p:val>
                                            <p:strVal val="#ppt_x"/>
                                          </p:val>
                                        </p:tav>
                                        <p:tav tm="100000">
                                          <p:val>
                                            <p:strVal val="#ppt_x"/>
                                          </p:val>
                                        </p:tav>
                                      </p:tavLst>
                                    </p:anim>
                                    <p:anim calcmode="lin" valueType="num">
                                      <p:cBhvr additive="base">
                                        <p:cTn id="34" dur="500" fill="hold"/>
                                        <p:tgtEl>
                                          <p:spTgt spid="33"/>
                                        </p:tgtEl>
                                        <p:attrNameLst>
                                          <p:attrName>ppt_y</p:attrName>
                                        </p:attrNameLst>
                                      </p:cBhvr>
                                      <p:tavLst>
                                        <p:tav tm="0">
                                          <p:val>
                                            <p:strVal val="1+#ppt_h/2"/>
                                          </p:val>
                                        </p:tav>
                                        <p:tav tm="100000">
                                          <p:val>
                                            <p:strVal val="#ppt_y"/>
                                          </p:val>
                                        </p:tav>
                                      </p:tavLst>
                                    </p:anim>
                                  </p:childTnLst>
                                </p:cTn>
                              </p:par>
                            </p:childTnLst>
                          </p:cTn>
                        </p:par>
                        <p:par>
                          <p:cTn id="35" fill="hold">
                            <p:stCondLst>
                              <p:cond delay="4500"/>
                            </p:stCondLst>
                            <p:childTnLst>
                              <p:par>
                                <p:cTn id="36" presetID="16" presetClass="entr" presetSubtype="21" fill="hold" grpId="0" nodeType="after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barn(inVertical)">
                                      <p:cBhvr>
                                        <p:cTn id="38" dur="500"/>
                                        <p:tgtEl>
                                          <p:spTgt spid="30"/>
                                        </p:tgtEl>
                                      </p:cBhvr>
                                    </p:animEffect>
                                  </p:childTnLst>
                                </p:cTn>
                              </p:par>
                              <p:par>
                                <p:cTn id="39" presetID="2" presetClass="entr" presetSubtype="4" fill="hold" nodeType="withEffect">
                                  <p:stCondLst>
                                    <p:cond delay="0"/>
                                  </p:stCondLst>
                                  <p:childTnLst>
                                    <p:set>
                                      <p:cBhvr>
                                        <p:cTn id="40" dur="1" fill="hold">
                                          <p:stCondLst>
                                            <p:cond delay="0"/>
                                          </p:stCondLst>
                                        </p:cTn>
                                        <p:tgtEl>
                                          <p:spTgt spid="36"/>
                                        </p:tgtEl>
                                        <p:attrNameLst>
                                          <p:attrName>style.visibility</p:attrName>
                                        </p:attrNameLst>
                                      </p:cBhvr>
                                      <p:to>
                                        <p:strVal val="visible"/>
                                      </p:to>
                                    </p:set>
                                    <p:anim calcmode="lin" valueType="num">
                                      <p:cBhvr additive="base">
                                        <p:cTn id="41" dur="500" fill="hold"/>
                                        <p:tgtEl>
                                          <p:spTgt spid="36"/>
                                        </p:tgtEl>
                                        <p:attrNameLst>
                                          <p:attrName>ppt_x</p:attrName>
                                        </p:attrNameLst>
                                      </p:cBhvr>
                                      <p:tavLst>
                                        <p:tav tm="0">
                                          <p:val>
                                            <p:strVal val="#ppt_x"/>
                                          </p:val>
                                        </p:tav>
                                        <p:tav tm="100000">
                                          <p:val>
                                            <p:strVal val="#ppt_x"/>
                                          </p:val>
                                        </p:tav>
                                      </p:tavLst>
                                    </p:anim>
                                    <p:anim calcmode="lin" valueType="num">
                                      <p:cBhvr additive="base">
                                        <p:cTn id="42" dur="500" fill="hold"/>
                                        <p:tgtEl>
                                          <p:spTgt spid="36"/>
                                        </p:tgtEl>
                                        <p:attrNameLst>
                                          <p:attrName>ppt_y</p:attrName>
                                        </p:attrNameLst>
                                      </p:cBhvr>
                                      <p:tavLst>
                                        <p:tav tm="0">
                                          <p:val>
                                            <p:strVal val="1+#ppt_h/2"/>
                                          </p:val>
                                        </p:tav>
                                        <p:tav tm="100000">
                                          <p:val>
                                            <p:strVal val="#ppt_y"/>
                                          </p:val>
                                        </p:tav>
                                      </p:tavLst>
                                    </p:anim>
                                  </p:childTnLst>
                                </p:cTn>
                              </p:par>
                            </p:childTnLst>
                          </p:cTn>
                        </p:par>
                        <p:par>
                          <p:cTn id="43" fill="hold">
                            <p:stCondLst>
                              <p:cond delay="5000"/>
                            </p:stCondLst>
                            <p:childTnLst>
                              <p:par>
                                <p:cTn id="44" presetID="16" presetClass="entr" presetSubtype="21" fill="hold" grpId="0" nodeType="after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barn(inVertical)">
                                      <p:cBhvr>
                                        <p:cTn id="46" dur="500"/>
                                        <p:tgtEl>
                                          <p:spTgt spid="31"/>
                                        </p:tgtEl>
                                      </p:cBhvr>
                                    </p:animEffect>
                                  </p:childTnLst>
                                </p:cTn>
                              </p:par>
                            </p:childTnLst>
                          </p:cTn>
                        </p:par>
                        <p:par>
                          <p:cTn id="47" fill="hold">
                            <p:stCondLst>
                              <p:cond delay="5500"/>
                            </p:stCondLst>
                            <p:childTnLst>
                              <p:par>
                                <p:cTn id="48" presetID="2" presetClass="entr" presetSubtype="12" fill="hold" nodeType="after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fill="hold"/>
                                        <p:tgtEl>
                                          <p:spTgt spid="19"/>
                                        </p:tgtEl>
                                        <p:attrNameLst>
                                          <p:attrName>ppt_x</p:attrName>
                                        </p:attrNameLst>
                                      </p:cBhvr>
                                      <p:tavLst>
                                        <p:tav tm="0">
                                          <p:val>
                                            <p:strVal val="0-#ppt_w/2"/>
                                          </p:val>
                                        </p:tav>
                                        <p:tav tm="100000">
                                          <p:val>
                                            <p:strVal val="#ppt_x"/>
                                          </p:val>
                                        </p:tav>
                                      </p:tavLst>
                                    </p:anim>
                                    <p:anim calcmode="lin" valueType="num">
                                      <p:cBhvr additive="base">
                                        <p:cTn id="51"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Graphic spid="5" grpId="0">
        <p:bldAsOne/>
      </p:bldGraphic>
      <p:bldP spid="28" grpId="0"/>
      <p:bldP spid="30" grpId="0"/>
      <p:bldP spid="3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425923"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8-1 </a:t>
            </a:r>
            <a:r>
              <a:rPr lang="zh-TW" altLang="en-US" sz="2400" b="1" dirty="0">
                <a:solidFill>
                  <a:srgbClr val="E06741"/>
                </a:solidFill>
              </a:rPr>
              <a:t>區塊鏈實務案例─票卷交易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751986" y="1136868"/>
            <a:ext cx="8519050" cy="497444"/>
          </a:xfrm>
          <a:prstGeom prst="rect">
            <a:avLst/>
          </a:prstGeom>
        </p:spPr>
        <p:txBody>
          <a:bodyPr wrap="square">
            <a:spAutoFit/>
          </a:bodyPr>
          <a:lstStyle/>
          <a:p>
            <a:pPr marL="342900" indent="-342900">
              <a:lnSpc>
                <a:spcPct val="150000"/>
              </a:lnSpc>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票券平台交易流程</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7E3A6309-1716-4781-857E-D6FC371966D7}"/>
              </a:ext>
            </a:extLst>
          </p:cNvPr>
          <p:cNvSpPr txBox="1"/>
          <p:nvPr/>
        </p:nvSpPr>
        <p:spPr>
          <a:xfrm>
            <a:off x="588193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案例區塊鏈應用</a:t>
            </a:r>
          </a:p>
        </p:txBody>
      </p:sp>
      <p:grpSp>
        <p:nvGrpSpPr>
          <p:cNvPr id="10" name="群組 9">
            <a:extLst>
              <a:ext uri="{FF2B5EF4-FFF2-40B4-BE49-F238E27FC236}">
                <a16:creationId xmlns:a16="http://schemas.microsoft.com/office/drawing/2014/main" id="{99CCC91D-A311-465F-ADCA-F0FB936EDDB8}"/>
              </a:ext>
            </a:extLst>
          </p:cNvPr>
          <p:cNvGrpSpPr/>
          <p:nvPr/>
        </p:nvGrpSpPr>
        <p:grpSpPr>
          <a:xfrm>
            <a:off x="2124599" y="1677749"/>
            <a:ext cx="8581662" cy="4875204"/>
            <a:chOff x="3431704" y="450949"/>
            <a:chExt cx="7533431" cy="4279711"/>
          </a:xfrm>
        </p:grpSpPr>
        <p:pic>
          <p:nvPicPr>
            <p:cNvPr id="11" name="圖片 10">
              <a:extLst>
                <a:ext uri="{FF2B5EF4-FFF2-40B4-BE49-F238E27FC236}">
                  <a16:creationId xmlns:a16="http://schemas.microsoft.com/office/drawing/2014/main" id="{3515E049-59C6-49C3-AEA8-E2C49B2C0DA9}"/>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9336360" y="2564904"/>
              <a:ext cx="1628775" cy="1819275"/>
            </a:xfrm>
            <a:prstGeom prst="rect">
              <a:avLst/>
            </a:prstGeom>
          </p:spPr>
        </p:pic>
        <p:pic>
          <p:nvPicPr>
            <p:cNvPr id="12" name="圖片 11">
              <a:extLst>
                <a:ext uri="{FF2B5EF4-FFF2-40B4-BE49-F238E27FC236}">
                  <a16:creationId xmlns:a16="http://schemas.microsoft.com/office/drawing/2014/main" id="{3954289D-63D3-42E8-99CD-0B8A31524DA8}"/>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8976320" y="450949"/>
              <a:ext cx="1988815" cy="1905000"/>
            </a:xfrm>
            <a:prstGeom prst="rect">
              <a:avLst/>
            </a:prstGeom>
          </p:spPr>
        </p:pic>
        <p:sp>
          <p:nvSpPr>
            <p:cNvPr id="13" name="文字方塊 12">
              <a:extLst>
                <a:ext uri="{FF2B5EF4-FFF2-40B4-BE49-F238E27FC236}">
                  <a16:creationId xmlns:a16="http://schemas.microsoft.com/office/drawing/2014/main" id="{97837516-6676-4F32-B416-9B96D346E3D7}"/>
                </a:ext>
              </a:extLst>
            </p:cNvPr>
            <p:cNvSpPr txBox="1"/>
            <p:nvPr/>
          </p:nvSpPr>
          <p:spPr>
            <a:xfrm>
              <a:off x="9768407" y="2206485"/>
              <a:ext cx="488593" cy="343966"/>
            </a:xfrm>
            <a:prstGeom prst="rect">
              <a:avLst/>
            </a:prstGeom>
            <a:noFill/>
          </p:spPr>
          <p:txBody>
            <a:bodyPr wrap="square" rtlCol="0">
              <a:spAutoFit/>
            </a:bodyPr>
            <a:lstStyle/>
            <a:p>
              <a:r>
                <a:rPr lang="en-US" altLang="zh-TW" b="1" dirty="0" err="1">
                  <a:latin typeface="微軟正黑體" panose="020B0604030504040204" pitchFamily="34" charset="-120"/>
                  <a:ea typeface="微軟正黑體" panose="020B0604030504040204" pitchFamily="34" charset="-120"/>
                </a:rPr>
                <a:t>B1</a:t>
              </a:r>
              <a:endParaRPr lang="zh-TW" altLang="en-US" b="1" dirty="0">
                <a:latin typeface="微軟正黑體" panose="020B0604030504040204" pitchFamily="34" charset="-120"/>
                <a:ea typeface="微軟正黑體" panose="020B0604030504040204" pitchFamily="34" charset="-120"/>
              </a:endParaRPr>
            </a:p>
          </p:txBody>
        </p:sp>
        <p:sp>
          <p:nvSpPr>
            <p:cNvPr id="15" name="文字方塊 14">
              <a:extLst>
                <a:ext uri="{FF2B5EF4-FFF2-40B4-BE49-F238E27FC236}">
                  <a16:creationId xmlns:a16="http://schemas.microsoft.com/office/drawing/2014/main" id="{F6B528DD-2606-4A91-B541-201DB3CB6128}"/>
                </a:ext>
              </a:extLst>
            </p:cNvPr>
            <p:cNvSpPr txBox="1"/>
            <p:nvPr/>
          </p:nvSpPr>
          <p:spPr>
            <a:xfrm>
              <a:off x="9862715" y="4386694"/>
              <a:ext cx="481757" cy="343966"/>
            </a:xfrm>
            <a:prstGeom prst="rect">
              <a:avLst/>
            </a:prstGeom>
            <a:noFill/>
          </p:spPr>
          <p:txBody>
            <a:bodyPr wrap="square" rtlCol="0">
              <a:spAutoFit/>
            </a:bodyPr>
            <a:lstStyle/>
            <a:p>
              <a:r>
                <a:rPr lang="en-US" altLang="zh-TW" b="1" dirty="0" err="1">
                  <a:latin typeface="微軟正黑體" panose="020B0604030504040204" pitchFamily="34" charset="-120"/>
                  <a:ea typeface="微軟正黑體" panose="020B0604030504040204" pitchFamily="34" charset="-120"/>
                </a:rPr>
                <a:t>B2</a:t>
              </a:r>
              <a:endParaRPr lang="zh-TW" altLang="en-US" b="1" dirty="0">
                <a:latin typeface="微軟正黑體" panose="020B0604030504040204" pitchFamily="34" charset="-120"/>
                <a:ea typeface="微軟正黑體" panose="020B0604030504040204" pitchFamily="34" charset="-120"/>
              </a:endParaRPr>
            </a:p>
          </p:txBody>
        </p:sp>
        <p:pic>
          <p:nvPicPr>
            <p:cNvPr id="16" name="圖片 15">
              <a:extLst>
                <a:ext uri="{FF2B5EF4-FFF2-40B4-BE49-F238E27FC236}">
                  <a16:creationId xmlns:a16="http://schemas.microsoft.com/office/drawing/2014/main" id="{A779772E-9C9F-4614-874E-615EF8BAEB0B}"/>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6404724" y="1414838"/>
              <a:ext cx="866775" cy="1952625"/>
            </a:xfrm>
            <a:prstGeom prst="rect">
              <a:avLst/>
            </a:prstGeom>
          </p:spPr>
        </p:pic>
        <p:cxnSp>
          <p:nvCxnSpPr>
            <p:cNvPr id="17" name="直線單箭頭接點 16">
              <a:extLst>
                <a:ext uri="{FF2B5EF4-FFF2-40B4-BE49-F238E27FC236}">
                  <a16:creationId xmlns:a16="http://schemas.microsoft.com/office/drawing/2014/main" id="{79E901E5-CE55-4033-98B7-9F6AC39E43D6}"/>
                </a:ext>
              </a:extLst>
            </p:cNvPr>
            <p:cNvCxnSpPr/>
            <p:nvPr/>
          </p:nvCxnSpPr>
          <p:spPr>
            <a:xfrm flipH="1">
              <a:off x="7250667" y="1153601"/>
              <a:ext cx="1704820" cy="671084"/>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690C81A1-BCBB-4D7C-975C-E366AE9567C3}"/>
                </a:ext>
              </a:extLst>
            </p:cNvPr>
            <p:cNvCxnSpPr/>
            <p:nvPr/>
          </p:nvCxnSpPr>
          <p:spPr>
            <a:xfrm flipH="1">
              <a:off x="7575870" y="1959361"/>
              <a:ext cx="1648984" cy="677551"/>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02C9B859-35E1-4B47-9494-83568598E680}"/>
                </a:ext>
              </a:extLst>
            </p:cNvPr>
            <p:cNvCxnSpPr/>
            <p:nvPr/>
          </p:nvCxnSpPr>
          <p:spPr>
            <a:xfrm flipV="1">
              <a:off x="7464152" y="1532294"/>
              <a:ext cx="1640062" cy="661935"/>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a:extLst>
                <a:ext uri="{FF2B5EF4-FFF2-40B4-BE49-F238E27FC236}">
                  <a16:creationId xmlns:a16="http://schemas.microsoft.com/office/drawing/2014/main" id="{271F36EB-C506-4BBE-9136-6C1BB68BC65C}"/>
                </a:ext>
              </a:extLst>
            </p:cNvPr>
            <p:cNvCxnSpPr/>
            <p:nvPr/>
          </p:nvCxnSpPr>
          <p:spPr>
            <a:xfrm>
              <a:off x="7575870" y="2856391"/>
              <a:ext cx="1648984" cy="58090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2AD126CC-E93B-4788-8AD5-BE37CE65B7EE}"/>
                </a:ext>
              </a:extLst>
            </p:cNvPr>
            <p:cNvSpPr txBox="1"/>
            <p:nvPr/>
          </p:nvSpPr>
          <p:spPr>
            <a:xfrm rot="20310005">
              <a:off x="7270157" y="1217787"/>
              <a:ext cx="1462063" cy="343966"/>
            </a:xfrm>
            <a:prstGeom prst="rect">
              <a:avLst/>
            </a:prstGeom>
            <a:noFill/>
          </p:spPr>
          <p:txBody>
            <a:bodyPr wrap="square" rtlCol="0">
              <a:spAutoFit/>
            </a:bodyPr>
            <a:lstStyle/>
            <a:p>
              <a:r>
                <a:rPr lang="en-US" altLang="zh-TW" b="1" dirty="0">
                  <a:solidFill>
                    <a:srgbClr val="C00000"/>
                  </a:solidFill>
                  <a:latin typeface="微軟正黑體" panose="020B0604030504040204" pitchFamily="34" charset="-120"/>
                  <a:ea typeface="微軟正黑體" panose="020B0604030504040204" pitchFamily="34" charset="-120"/>
                </a:rPr>
                <a:t>5</a:t>
              </a:r>
              <a:r>
                <a:rPr lang="zh-TW" altLang="en-US" b="1" dirty="0">
                  <a:solidFill>
                    <a:srgbClr val="C00000"/>
                  </a:solidFill>
                  <a:latin typeface="微軟正黑體" panose="020B0604030504040204" pitchFamily="34" charset="-120"/>
                  <a:ea typeface="微軟正黑體" panose="020B0604030504040204" pitchFamily="34" charset="-120"/>
                </a:rPr>
                <a:t>：獲得點數</a:t>
              </a:r>
            </a:p>
          </p:txBody>
        </p:sp>
        <p:sp>
          <p:nvSpPr>
            <p:cNvPr id="22" name="文字方塊 21">
              <a:extLst>
                <a:ext uri="{FF2B5EF4-FFF2-40B4-BE49-F238E27FC236}">
                  <a16:creationId xmlns:a16="http://schemas.microsoft.com/office/drawing/2014/main" id="{3506F42A-590D-4332-AE65-4F40C176571E}"/>
                </a:ext>
              </a:extLst>
            </p:cNvPr>
            <p:cNvSpPr txBox="1"/>
            <p:nvPr/>
          </p:nvSpPr>
          <p:spPr>
            <a:xfrm rot="20310005">
              <a:off x="7410609" y="1594762"/>
              <a:ext cx="1462063" cy="343966"/>
            </a:xfrm>
            <a:prstGeom prst="rect">
              <a:avLst/>
            </a:prstGeom>
            <a:noFill/>
          </p:spPr>
          <p:txBody>
            <a:bodyPr wrap="square" rtlCol="0">
              <a:spAutoFit/>
            </a:bodyPr>
            <a:lstStyle/>
            <a:p>
              <a:r>
                <a:rPr lang="en-US" altLang="zh-TW" b="1" dirty="0">
                  <a:solidFill>
                    <a:srgbClr val="C00000"/>
                  </a:solidFill>
                  <a:latin typeface="微軟正黑體" panose="020B0604030504040204" pitchFamily="34" charset="-120"/>
                  <a:ea typeface="微軟正黑體" panose="020B0604030504040204" pitchFamily="34" charset="-120"/>
                </a:rPr>
                <a:t>2</a:t>
              </a:r>
              <a:r>
                <a:rPr lang="zh-TW" altLang="en-US" b="1" dirty="0">
                  <a:solidFill>
                    <a:srgbClr val="C00000"/>
                  </a:solidFill>
                  <a:latin typeface="微軟正黑體" panose="020B0604030504040204" pitchFamily="34" charset="-120"/>
                  <a:ea typeface="微軟正黑體" panose="020B0604030504040204" pitchFamily="34" charset="-120"/>
                </a:rPr>
                <a:t>：支付點數</a:t>
              </a:r>
            </a:p>
          </p:txBody>
        </p:sp>
        <p:sp>
          <p:nvSpPr>
            <p:cNvPr id="23" name="文字方塊 22">
              <a:extLst>
                <a:ext uri="{FF2B5EF4-FFF2-40B4-BE49-F238E27FC236}">
                  <a16:creationId xmlns:a16="http://schemas.microsoft.com/office/drawing/2014/main" id="{0C5D2BB8-6D80-438F-A182-8F88379DDD2C}"/>
                </a:ext>
              </a:extLst>
            </p:cNvPr>
            <p:cNvSpPr txBox="1"/>
            <p:nvPr/>
          </p:nvSpPr>
          <p:spPr>
            <a:xfrm rot="1180615">
              <a:off x="7823988" y="2845279"/>
              <a:ext cx="1462063" cy="343966"/>
            </a:xfrm>
            <a:prstGeom prst="rect">
              <a:avLst/>
            </a:prstGeom>
            <a:noFill/>
          </p:spPr>
          <p:txBody>
            <a:bodyPr wrap="square" rtlCol="0">
              <a:spAutoFit/>
            </a:bodyPr>
            <a:lstStyle/>
            <a:p>
              <a:r>
                <a:rPr lang="en-US" altLang="zh-TW" b="1" dirty="0">
                  <a:solidFill>
                    <a:srgbClr val="C00000"/>
                  </a:solidFill>
                  <a:latin typeface="微軟正黑體" panose="020B0604030504040204" pitchFamily="34" charset="-120"/>
                  <a:ea typeface="微軟正黑體" panose="020B0604030504040204" pitchFamily="34" charset="-120"/>
                </a:rPr>
                <a:t>6</a:t>
              </a:r>
              <a:r>
                <a:rPr lang="zh-TW" altLang="en-US" b="1" dirty="0">
                  <a:solidFill>
                    <a:srgbClr val="C00000"/>
                  </a:solidFill>
                  <a:latin typeface="微軟正黑體" panose="020B0604030504040204" pitchFamily="34" charset="-120"/>
                  <a:ea typeface="微軟正黑體" panose="020B0604030504040204" pitchFamily="34" charset="-120"/>
                </a:rPr>
                <a:t>：兌換點數</a:t>
              </a:r>
            </a:p>
          </p:txBody>
        </p:sp>
        <p:sp>
          <p:nvSpPr>
            <p:cNvPr id="24" name="文字方塊 23">
              <a:extLst>
                <a:ext uri="{FF2B5EF4-FFF2-40B4-BE49-F238E27FC236}">
                  <a16:creationId xmlns:a16="http://schemas.microsoft.com/office/drawing/2014/main" id="{114FB93A-F174-48E6-B2D7-3817DCADF1DA}"/>
                </a:ext>
              </a:extLst>
            </p:cNvPr>
            <p:cNvSpPr txBox="1"/>
            <p:nvPr/>
          </p:nvSpPr>
          <p:spPr>
            <a:xfrm rot="20310005">
              <a:off x="7613598" y="1985839"/>
              <a:ext cx="1462063" cy="343966"/>
            </a:xfrm>
            <a:prstGeom prst="rect">
              <a:avLst/>
            </a:prstGeom>
            <a:noFill/>
          </p:spPr>
          <p:txBody>
            <a:bodyPr wrap="square" rtlCol="0">
              <a:spAutoFit/>
            </a:bodyPr>
            <a:lstStyle/>
            <a:p>
              <a:r>
                <a:rPr lang="en-US" altLang="zh-TW" b="1" dirty="0">
                  <a:solidFill>
                    <a:srgbClr val="C00000"/>
                  </a:solidFill>
                  <a:latin typeface="微軟正黑體" panose="020B0604030504040204" pitchFamily="34" charset="-120"/>
                  <a:ea typeface="微軟正黑體" panose="020B0604030504040204" pitchFamily="34" charset="-120"/>
                </a:rPr>
                <a:t>1</a:t>
              </a:r>
              <a:r>
                <a:rPr lang="zh-TW" altLang="en-US" b="1" dirty="0">
                  <a:solidFill>
                    <a:srgbClr val="C00000"/>
                  </a:solidFill>
                  <a:latin typeface="微軟正黑體" panose="020B0604030504040204" pitchFamily="34" charset="-120"/>
                  <a:ea typeface="微軟正黑體" panose="020B0604030504040204" pitchFamily="34" charset="-120"/>
                </a:rPr>
                <a:t>：儲值</a:t>
              </a:r>
            </a:p>
          </p:txBody>
        </p:sp>
        <p:grpSp>
          <p:nvGrpSpPr>
            <p:cNvPr id="25" name="群組 24">
              <a:extLst>
                <a:ext uri="{FF2B5EF4-FFF2-40B4-BE49-F238E27FC236}">
                  <a16:creationId xmlns:a16="http://schemas.microsoft.com/office/drawing/2014/main" id="{ECB32A0A-B395-48D1-B244-F092DD50027F}"/>
                </a:ext>
              </a:extLst>
            </p:cNvPr>
            <p:cNvGrpSpPr/>
            <p:nvPr/>
          </p:nvGrpSpPr>
          <p:grpSpPr>
            <a:xfrm>
              <a:off x="3433908" y="836712"/>
              <a:ext cx="876300" cy="1477441"/>
              <a:chOff x="3433908" y="1124744"/>
              <a:chExt cx="876300" cy="1477441"/>
            </a:xfrm>
          </p:grpSpPr>
          <p:pic>
            <p:nvPicPr>
              <p:cNvPr id="39" name="圖片 38">
                <a:extLst>
                  <a:ext uri="{FF2B5EF4-FFF2-40B4-BE49-F238E27FC236}">
                    <a16:creationId xmlns:a16="http://schemas.microsoft.com/office/drawing/2014/main" id="{131A5F77-BB93-47BE-9DB3-B86B5DFD7475}"/>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3433908" y="1124744"/>
                <a:ext cx="876300" cy="1133475"/>
              </a:xfrm>
              <a:prstGeom prst="rect">
                <a:avLst/>
              </a:prstGeom>
            </p:spPr>
          </p:pic>
          <p:sp>
            <p:nvSpPr>
              <p:cNvPr id="40" name="文字方塊 39">
                <a:extLst>
                  <a:ext uri="{FF2B5EF4-FFF2-40B4-BE49-F238E27FC236}">
                    <a16:creationId xmlns:a16="http://schemas.microsoft.com/office/drawing/2014/main" id="{F4404226-9E75-4F8B-9440-1BE39C1F4723}"/>
                  </a:ext>
                </a:extLst>
              </p:cNvPr>
              <p:cNvSpPr txBox="1"/>
              <p:nvPr/>
            </p:nvSpPr>
            <p:spPr>
              <a:xfrm>
                <a:off x="3628975" y="2258219"/>
                <a:ext cx="481757" cy="343966"/>
              </a:xfrm>
              <a:prstGeom prst="rect">
                <a:avLst/>
              </a:prstGeom>
              <a:noFill/>
            </p:spPr>
            <p:txBody>
              <a:bodyPr wrap="square" rtlCol="0">
                <a:spAutoFit/>
              </a:bodyPr>
              <a:lstStyle/>
              <a:p>
                <a:r>
                  <a:rPr lang="en-US" altLang="zh-TW" b="1" dirty="0" err="1">
                    <a:latin typeface="微軟正黑體" panose="020B0604030504040204" pitchFamily="34" charset="-120"/>
                    <a:ea typeface="微軟正黑體" panose="020B0604030504040204" pitchFamily="34" charset="-120"/>
                  </a:rPr>
                  <a:t>P1</a:t>
                </a:r>
                <a:endParaRPr lang="zh-TW" altLang="en-US" b="1" dirty="0">
                  <a:latin typeface="微軟正黑體" panose="020B0604030504040204" pitchFamily="34" charset="-120"/>
                  <a:ea typeface="微軟正黑體" panose="020B0604030504040204" pitchFamily="34" charset="-120"/>
                </a:endParaRPr>
              </a:p>
            </p:txBody>
          </p:sp>
        </p:grpSp>
        <p:grpSp>
          <p:nvGrpSpPr>
            <p:cNvPr id="26" name="群組 25">
              <a:extLst>
                <a:ext uri="{FF2B5EF4-FFF2-40B4-BE49-F238E27FC236}">
                  <a16:creationId xmlns:a16="http://schemas.microsoft.com/office/drawing/2014/main" id="{440E88C5-104A-43B5-92DC-789D8AA32395}"/>
                </a:ext>
              </a:extLst>
            </p:cNvPr>
            <p:cNvGrpSpPr/>
            <p:nvPr/>
          </p:nvGrpSpPr>
          <p:grpSpPr>
            <a:xfrm>
              <a:off x="3431704" y="3078321"/>
              <a:ext cx="876300" cy="1477441"/>
              <a:chOff x="3431704" y="2780928"/>
              <a:chExt cx="876300" cy="1477441"/>
            </a:xfrm>
          </p:grpSpPr>
          <p:pic>
            <p:nvPicPr>
              <p:cNvPr id="37" name="圖片 36">
                <a:extLst>
                  <a:ext uri="{FF2B5EF4-FFF2-40B4-BE49-F238E27FC236}">
                    <a16:creationId xmlns:a16="http://schemas.microsoft.com/office/drawing/2014/main" id="{A53F87DD-D372-438F-86C5-F20070D46E4B}"/>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3431704" y="2780928"/>
                <a:ext cx="876300" cy="1133475"/>
              </a:xfrm>
              <a:prstGeom prst="rect">
                <a:avLst/>
              </a:prstGeom>
            </p:spPr>
          </p:pic>
          <p:sp>
            <p:nvSpPr>
              <p:cNvPr id="38" name="文字方塊 37">
                <a:extLst>
                  <a:ext uri="{FF2B5EF4-FFF2-40B4-BE49-F238E27FC236}">
                    <a16:creationId xmlns:a16="http://schemas.microsoft.com/office/drawing/2014/main" id="{723AEDBF-F94B-47FA-AFB3-748E1A6408B3}"/>
                  </a:ext>
                </a:extLst>
              </p:cNvPr>
              <p:cNvSpPr txBox="1"/>
              <p:nvPr/>
            </p:nvSpPr>
            <p:spPr>
              <a:xfrm>
                <a:off x="3628974" y="3914403"/>
                <a:ext cx="481757" cy="343966"/>
              </a:xfrm>
              <a:prstGeom prst="rect">
                <a:avLst/>
              </a:prstGeom>
              <a:noFill/>
            </p:spPr>
            <p:txBody>
              <a:bodyPr wrap="square" rtlCol="0">
                <a:spAutoFit/>
              </a:bodyPr>
              <a:lstStyle/>
              <a:p>
                <a:r>
                  <a:rPr lang="en-US" altLang="zh-TW" b="1" dirty="0" err="1">
                    <a:latin typeface="微軟正黑體" panose="020B0604030504040204" pitchFamily="34" charset="-120"/>
                    <a:ea typeface="微軟正黑體" panose="020B0604030504040204" pitchFamily="34" charset="-120"/>
                  </a:rPr>
                  <a:t>P2</a:t>
                </a:r>
                <a:endParaRPr lang="zh-TW" altLang="en-US" b="1" dirty="0">
                  <a:latin typeface="微軟正黑體" panose="020B0604030504040204" pitchFamily="34" charset="-120"/>
                  <a:ea typeface="微軟正黑體" panose="020B0604030504040204" pitchFamily="34" charset="-120"/>
                </a:endParaRPr>
              </a:p>
            </p:txBody>
          </p:sp>
        </p:grpSp>
        <p:cxnSp>
          <p:nvCxnSpPr>
            <p:cNvPr id="27" name="直線單箭頭接點 26">
              <a:extLst>
                <a:ext uri="{FF2B5EF4-FFF2-40B4-BE49-F238E27FC236}">
                  <a16:creationId xmlns:a16="http://schemas.microsoft.com/office/drawing/2014/main" id="{547C5BB8-2314-4ABD-B864-BEE62EA447DC}"/>
                </a:ext>
              </a:extLst>
            </p:cNvPr>
            <p:cNvCxnSpPr/>
            <p:nvPr/>
          </p:nvCxnSpPr>
          <p:spPr>
            <a:xfrm>
              <a:off x="4402046" y="1879287"/>
              <a:ext cx="1819737" cy="464206"/>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a:extLst>
                <a:ext uri="{FF2B5EF4-FFF2-40B4-BE49-F238E27FC236}">
                  <a16:creationId xmlns:a16="http://schemas.microsoft.com/office/drawing/2014/main" id="{4413490F-9903-4C5B-96FE-7084F5927096}"/>
                </a:ext>
              </a:extLst>
            </p:cNvPr>
            <p:cNvCxnSpPr/>
            <p:nvPr/>
          </p:nvCxnSpPr>
          <p:spPr>
            <a:xfrm flipH="1">
              <a:off x="4474484" y="2973937"/>
              <a:ext cx="1756084" cy="711169"/>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C56CE8D6-75A3-431E-AD20-A80C04383C6C}"/>
                </a:ext>
              </a:extLst>
            </p:cNvPr>
            <p:cNvSpPr txBox="1"/>
            <p:nvPr/>
          </p:nvSpPr>
          <p:spPr>
            <a:xfrm>
              <a:off x="4447113" y="2474049"/>
              <a:ext cx="1462063" cy="343966"/>
            </a:xfrm>
            <a:prstGeom prst="rect">
              <a:avLst/>
            </a:prstGeom>
            <a:noFill/>
          </p:spPr>
          <p:txBody>
            <a:bodyPr wrap="square" rtlCol="0">
              <a:spAutoFit/>
            </a:bodyPr>
            <a:lstStyle/>
            <a:p>
              <a:r>
                <a:rPr lang="en-US" altLang="zh-TW" b="1" dirty="0">
                  <a:solidFill>
                    <a:schemeClr val="accent6">
                      <a:lumMod val="50000"/>
                    </a:schemeClr>
                  </a:solidFill>
                  <a:latin typeface="微軟正黑體" panose="020B0604030504040204" pitchFamily="34" charset="-120"/>
                  <a:ea typeface="微軟正黑體" panose="020B0604030504040204" pitchFamily="34" charset="-120"/>
                </a:rPr>
                <a:t>8</a:t>
              </a:r>
              <a:r>
                <a:rPr lang="zh-TW" altLang="en-US" b="1" dirty="0">
                  <a:solidFill>
                    <a:schemeClr val="accent6">
                      <a:lumMod val="50000"/>
                    </a:schemeClr>
                  </a:solidFill>
                  <a:latin typeface="微軟正黑體" panose="020B0604030504040204" pitchFamily="34" charset="-120"/>
                  <a:ea typeface="微軟正黑體" panose="020B0604030504040204" pitchFamily="34" charset="-120"/>
                </a:rPr>
                <a:t>：轉讓點數</a:t>
              </a:r>
            </a:p>
          </p:txBody>
        </p:sp>
        <p:sp>
          <p:nvSpPr>
            <p:cNvPr id="30" name="文字方塊 29">
              <a:extLst>
                <a:ext uri="{FF2B5EF4-FFF2-40B4-BE49-F238E27FC236}">
                  <a16:creationId xmlns:a16="http://schemas.microsoft.com/office/drawing/2014/main" id="{FF55BD06-6E4A-457E-B793-581936BB6D43}"/>
                </a:ext>
              </a:extLst>
            </p:cNvPr>
            <p:cNvSpPr txBox="1"/>
            <p:nvPr/>
          </p:nvSpPr>
          <p:spPr>
            <a:xfrm>
              <a:off x="5733620" y="611396"/>
              <a:ext cx="1462063" cy="343966"/>
            </a:xfrm>
            <a:prstGeom prst="rect">
              <a:avLst/>
            </a:prstGeom>
            <a:noFill/>
          </p:spPr>
          <p:txBody>
            <a:bodyPr wrap="square" rtlCol="0">
              <a:spAutoFit/>
            </a:bodyPr>
            <a:lstStyle/>
            <a:p>
              <a:r>
                <a:rPr lang="en-US" altLang="zh-TW" b="1" dirty="0">
                  <a:latin typeface="微軟正黑體" panose="020B0604030504040204" pitchFamily="34" charset="-120"/>
                  <a:ea typeface="微軟正黑體" panose="020B0604030504040204" pitchFamily="34" charset="-120"/>
                </a:rPr>
                <a:t>4</a:t>
              </a:r>
              <a:r>
                <a:rPr lang="zh-TW" altLang="en-US" b="1" dirty="0">
                  <a:latin typeface="微軟正黑體" panose="020B0604030504040204" pitchFamily="34" charset="-120"/>
                  <a:ea typeface="微軟正黑體" panose="020B0604030504040204" pitchFamily="34" charset="-120"/>
                </a:rPr>
                <a:t>：消費</a:t>
              </a:r>
            </a:p>
          </p:txBody>
        </p:sp>
        <p:cxnSp>
          <p:nvCxnSpPr>
            <p:cNvPr id="31" name="直線單箭頭接點 30">
              <a:extLst>
                <a:ext uri="{FF2B5EF4-FFF2-40B4-BE49-F238E27FC236}">
                  <a16:creationId xmlns:a16="http://schemas.microsoft.com/office/drawing/2014/main" id="{AEE7C4E2-138C-44E9-ACE6-03B0FCF70BE1}"/>
                </a:ext>
              </a:extLst>
            </p:cNvPr>
            <p:cNvCxnSpPr/>
            <p:nvPr/>
          </p:nvCxnSpPr>
          <p:spPr>
            <a:xfrm>
              <a:off x="4421309" y="1494350"/>
              <a:ext cx="1819737" cy="464206"/>
            </a:xfrm>
            <a:prstGeom prst="straightConnector1">
              <a:avLst/>
            </a:prstGeom>
            <a:ln w="285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677D4FFF-FF11-4B64-9F9C-05AA18CAB4FD}"/>
                </a:ext>
              </a:extLst>
            </p:cNvPr>
            <p:cNvCxnSpPr/>
            <p:nvPr/>
          </p:nvCxnSpPr>
          <p:spPr>
            <a:xfrm flipV="1">
              <a:off x="4472080" y="947025"/>
              <a:ext cx="4417406" cy="82314"/>
            </a:xfrm>
            <a:prstGeom prst="straightConnector1">
              <a:avLst/>
            </a:prstGeom>
            <a:ln w="285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a:extLst>
                <a:ext uri="{FF2B5EF4-FFF2-40B4-BE49-F238E27FC236}">
                  <a16:creationId xmlns:a16="http://schemas.microsoft.com/office/drawing/2014/main" id="{F7CB41F3-8CCD-4174-8801-8A24CED9648C}"/>
                </a:ext>
              </a:extLst>
            </p:cNvPr>
            <p:cNvCxnSpPr/>
            <p:nvPr/>
          </p:nvCxnSpPr>
          <p:spPr>
            <a:xfrm flipH="1" flipV="1">
              <a:off x="4635136" y="3997907"/>
              <a:ext cx="4417406" cy="0"/>
            </a:xfrm>
            <a:prstGeom prst="straightConnector1">
              <a:avLst/>
            </a:prstGeom>
            <a:ln w="285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文字方塊 33">
              <a:extLst>
                <a:ext uri="{FF2B5EF4-FFF2-40B4-BE49-F238E27FC236}">
                  <a16:creationId xmlns:a16="http://schemas.microsoft.com/office/drawing/2014/main" id="{E23F83EF-DD0F-4712-9B2A-EF1850795824}"/>
                </a:ext>
              </a:extLst>
            </p:cNvPr>
            <p:cNvSpPr txBox="1"/>
            <p:nvPr/>
          </p:nvSpPr>
          <p:spPr>
            <a:xfrm rot="858750">
              <a:off x="4956282" y="1462939"/>
              <a:ext cx="1462063" cy="343966"/>
            </a:xfrm>
            <a:prstGeom prst="rect">
              <a:avLst/>
            </a:prstGeom>
            <a:noFill/>
          </p:spPr>
          <p:txBody>
            <a:bodyPr wrap="square" rtlCol="0">
              <a:spAutoFit/>
            </a:bodyPr>
            <a:lstStyle/>
            <a:p>
              <a:r>
                <a:rPr lang="en-US" altLang="zh-TW" b="1" dirty="0">
                  <a:latin typeface="微軟正黑體" panose="020B0604030504040204" pitchFamily="34" charset="-120"/>
                  <a:ea typeface="微軟正黑體" panose="020B0604030504040204" pitchFamily="34" charset="-120"/>
                </a:rPr>
                <a:t>3</a:t>
              </a:r>
              <a:r>
                <a:rPr lang="zh-TW" altLang="en-US" b="1" dirty="0">
                  <a:latin typeface="微軟正黑體" panose="020B0604030504040204" pitchFamily="34" charset="-120"/>
                  <a:ea typeface="微軟正黑體" panose="020B0604030504040204" pitchFamily="34" charset="-120"/>
                </a:rPr>
                <a:t>：登入</a:t>
              </a:r>
            </a:p>
          </p:txBody>
        </p:sp>
        <p:sp>
          <p:nvSpPr>
            <p:cNvPr id="35" name="文字方塊 34">
              <a:extLst>
                <a:ext uri="{FF2B5EF4-FFF2-40B4-BE49-F238E27FC236}">
                  <a16:creationId xmlns:a16="http://schemas.microsoft.com/office/drawing/2014/main" id="{385B3D23-39C3-4E0C-A649-A8F18DE687E2}"/>
                </a:ext>
              </a:extLst>
            </p:cNvPr>
            <p:cNvSpPr txBox="1"/>
            <p:nvPr/>
          </p:nvSpPr>
          <p:spPr>
            <a:xfrm>
              <a:off x="5733619" y="3591830"/>
              <a:ext cx="1462063" cy="343966"/>
            </a:xfrm>
            <a:prstGeom prst="rect">
              <a:avLst/>
            </a:prstGeom>
            <a:noFill/>
          </p:spPr>
          <p:txBody>
            <a:bodyPr wrap="square" rtlCol="0">
              <a:spAutoFit/>
            </a:bodyPr>
            <a:lstStyle/>
            <a:p>
              <a:r>
                <a:rPr lang="en-US" altLang="zh-TW" b="1" dirty="0">
                  <a:latin typeface="微軟正黑體" panose="020B0604030504040204" pitchFamily="34" charset="-120"/>
                  <a:ea typeface="微軟正黑體" panose="020B0604030504040204" pitchFamily="34" charset="-120"/>
                </a:rPr>
                <a:t>7</a:t>
              </a:r>
              <a:r>
                <a:rPr lang="zh-TW" altLang="en-US" b="1" dirty="0">
                  <a:latin typeface="微軟正黑體" panose="020B0604030504040204" pitchFamily="34" charset="-120"/>
                  <a:ea typeface="微軟正黑體" panose="020B0604030504040204" pitchFamily="34" charset="-120"/>
                </a:rPr>
                <a:t>：獲得物品</a:t>
              </a:r>
            </a:p>
          </p:txBody>
        </p:sp>
        <p:sp>
          <p:nvSpPr>
            <p:cNvPr id="36" name="文字方塊 35">
              <a:extLst>
                <a:ext uri="{FF2B5EF4-FFF2-40B4-BE49-F238E27FC236}">
                  <a16:creationId xmlns:a16="http://schemas.microsoft.com/office/drawing/2014/main" id="{51F2AAED-4E43-4EDD-9DBC-1EB3762A7982}"/>
                </a:ext>
              </a:extLst>
            </p:cNvPr>
            <p:cNvSpPr txBox="1"/>
            <p:nvPr/>
          </p:nvSpPr>
          <p:spPr>
            <a:xfrm>
              <a:off x="6711326" y="3104197"/>
              <a:ext cx="481757" cy="343966"/>
            </a:xfrm>
            <a:prstGeom prst="rect">
              <a:avLst/>
            </a:prstGeom>
            <a:noFill/>
          </p:spPr>
          <p:txBody>
            <a:bodyPr wrap="square" rtlCol="0">
              <a:spAutoFit/>
            </a:bodyPr>
            <a:lstStyle/>
            <a:p>
              <a:r>
                <a:rPr lang="en-US" altLang="zh-TW" b="1" dirty="0" err="1">
                  <a:latin typeface="微軟正黑體" panose="020B0604030504040204" pitchFamily="34" charset="-120"/>
                  <a:ea typeface="微軟正黑體" panose="020B0604030504040204" pitchFamily="34" charset="-120"/>
                </a:rPr>
                <a:t>C1</a:t>
              </a:r>
              <a:endParaRPr lang="zh-TW" altLang="en-US" b="1" dirty="0">
                <a:latin typeface="微軟正黑體" panose="020B0604030504040204" pitchFamily="34" charset="-120"/>
                <a:ea typeface="微軟正黑體" panose="020B0604030504040204" pitchFamily="34" charset="-120"/>
              </a:endParaRPr>
            </a:p>
          </p:txBody>
        </p:sp>
      </p:grpSp>
      <p:cxnSp>
        <p:nvCxnSpPr>
          <p:cNvPr id="41" name="直接连接符 33">
            <a:extLst>
              <a:ext uri="{FF2B5EF4-FFF2-40B4-BE49-F238E27FC236}">
                <a16:creationId xmlns:a16="http://schemas.microsoft.com/office/drawing/2014/main" id="{3CAF5AD8-96CA-4F61-9ACE-292C1A4BDAD8}"/>
              </a:ext>
            </a:extLst>
          </p:cNvPr>
          <p:cNvCxnSpPr/>
          <p:nvPr/>
        </p:nvCxnSpPr>
        <p:spPr>
          <a:xfrm>
            <a:off x="1177167" y="100056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865712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arn(inVertical)">
                                      <p:cBhvr>
                                        <p:cTn id="11" dur="500"/>
                                        <p:tgtEl>
                                          <p:spTgt spid="3">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
                                            <p:txEl>
                                              <p:pRg st="0" end="0"/>
                                            </p:txEl>
                                          </p:spTgt>
                                        </p:tgtEl>
                                        <p:attrNameLst>
                                          <p:attrName>style.visibility</p:attrName>
                                        </p:attrNameLst>
                                      </p:cBhvr>
                                      <p:to>
                                        <p:strVal val="visible"/>
                                      </p:to>
                                    </p:set>
                                    <p:anim calcmode="lin" valueType="num">
                                      <p:cBhvr additive="base">
                                        <p:cTn id="20"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53" presetClass="entr" presetSubtype="16"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500" fill="hold"/>
                                        <p:tgtEl>
                                          <p:spTgt spid="10"/>
                                        </p:tgtEl>
                                        <p:attrNameLst>
                                          <p:attrName>ppt_w</p:attrName>
                                        </p:attrNameLst>
                                      </p:cBhvr>
                                      <p:tavLst>
                                        <p:tav tm="0">
                                          <p:val>
                                            <p:fltVal val="0"/>
                                          </p:val>
                                        </p:tav>
                                        <p:tav tm="100000">
                                          <p:val>
                                            <p:strVal val="#ppt_w"/>
                                          </p:val>
                                        </p:tav>
                                      </p:tavLst>
                                    </p:anim>
                                    <p:anim calcmode="lin" valueType="num">
                                      <p:cBhvr>
                                        <p:cTn id="26" dur="500" fill="hold"/>
                                        <p:tgtEl>
                                          <p:spTgt spid="10"/>
                                        </p:tgtEl>
                                        <p:attrNameLst>
                                          <p:attrName>ppt_h</p:attrName>
                                        </p:attrNameLst>
                                      </p:cBhvr>
                                      <p:tavLst>
                                        <p:tav tm="0">
                                          <p:val>
                                            <p:fltVal val="0"/>
                                          </p:val>
                                        </p:tav>
                                        <p:tav tm="100000">
                                          <p:val>
                                            <p:strVal val="#ppt_h"/>
                                          </p:val>
                                        </p:tav>
                                      </p:tavLst>
                                    </p:anim>
                                    <p:animEffect transition="in" filter="fad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425923"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8-1 </a:t>
            </a:r>
            <a:r>
              <a:rPr lang="zh-TW" altLang="en-US" sz="2400" b="1" dirty="0">
                <a:solidFill>
                  <a:srgbClr val="E06741"/>
                </a:solidFill>
              </a:rPr>
              <a:t>區塊鏈實務案例─票卷交易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243666" y="1012215"/>
            <a:ext cx="8519050" cy="497444"/>
          </a:xfrm>
          <a:prstGeom prst="rect">
            <a:avLst/>
          </a:prstGeom>
        </p:spPr>
        <p:txBody>
          <a:bodyPr wrap="square">
            <a:spAutoFit/>
          </a:bodyPr>
          <a:lstStyle/>
          <a:p>
            <a:pPr marL="342900" indent="-342900">
              <a:lnSpc>
                <a:spcPct val="150000"/>
              </a:lnSpc>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區塊鏈交易平台所提供的交易服務項目概區分為三部分</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graphicFrame>
        <p:nvGraphicFramePr>
          <p:cNvPr id="4" name="資料庫圖表 3">
            <a:extLst>
              <a:ext uri="{FF2B5EF4-FFF2-40B4-BE49-F238E27FC236}">
                <a16:creationId xmlns:a16="http://schemas.microsoft.com/office/drawing/2014/main" id="{DEA9537B-5393-46DB-BE05-7E9CA072639A}"/>
              </a:ext>
            </a:extLst>
          </p:cNvPr>
          <p:cNvGraphicFramePr/>
          <p:nvPr>
            <p:extLst>
              <p:ext uri="{D42A27DB-BD31-4B8C-83A1-F6EECF244321}">
                <p14:modId xmlns:p14="http://schemas.microsoft.com/office/powerpoint/2010/main" val="1008549806"/>
              </p:ext>
            </p:extLst>
          </p:nvPr>
        </p:nvGraphicFramePr>
        <p:xfrm>
          <a:off x="547145" y="2938398"/>
          <a:ext cx="11390632" cy="89944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41" name="資料庫圖表 40">
            <a:extLst>
              <a:ext uri="{FF2B5EF4-FFF2-40B4-BE49-F238E27FC236}">
                <a16:creationId xmlns:a16="http://schemas.microsoft.com/office/drawing/2014/main" id="{65FD9645-AC7A-4EE1-A9BA-D3D8BFA10FA0}"/>
              </a:ext>
            </a:extLst>
          </p:cNvPr>
          <p:cNvGraphicFramePr/>
          <p:nvPr>
            <p:extLst>
              <p:ext uri="{D42A27DB-BD31-4B8C-83A1-F6EECF244321}">
                <p14:modId xmlns:p14="http://schemas.microsoft.com/office/powerpoint/2010/main" val="3119843733"/>
              </p:ext>
            </p:extLst>
          </p:nvPr>
        </p:nvGraphicFramePr>
        <p:xfrm>
          <a:off x="547145" y="5246247"/>
          <a:ext cx="11423182" cy="1052934"/>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5" name="文字方塊 4">
            <a:extLst>
              <a:ext uri="{FF2B5EF4-FFF2-40B4-BE49-F238E27FC236}">
                <a16:creationId xmlns:a16="http://schemas.microsoft.com/office/drawing/2014/main" id="{A20CC3EA-C196-49ED-87B2-1F3C75996FFE}"/>
              </a:ext>
            </a:extLst>
          </p:cNvPr>
          <p:cNvSpPr txBox="1"/>
          <p:nvPr/>
        </p:nvSpPr>
        <p:spPr>
          <a:xfrm>
            <a:off x="1096652" y="2537018"/>
            <a:ext cx="912429" cy="369332"/>
          </a:xfrm>
          <a:prstGeom prst="rect">
            <a:avLst/>
          </a:prstGeom>
          <a:noFill/>
        </p:spPr>
        <p:txBody>
          <a:bodyPr wrap="none" rtlCol="0">
            <a:spAutoFit/>
          </a:bodyPr>
          <a:lstStyle/>
          <a:p>
            <a:r>
              <a:rPr lang="en-US" altLang="zh-TW" dirty="0">
                <a:solidFill>
                  <a:schemeClr val="tx2"/>
                </a:solidFill>
                <a:latin typeface="Eras Demi ITC" panose="020B0805030504020804" pitchFamily="34" charset="0"/>
              </a:rPr>
              <a:t>STEP 1</a:t>
            </a:r>
          </a:p>
        </p:txBody>
      </p:sp>
      <p:sp>
        <p:nvSpPr>
          <p:cNvPr id="42" name="文字方塊 41">
            <a:extLst>
              <a:ext uri="{FF2B5EF4-FFF2-40B4-BE49-F238E27FC236}">
                <a16:creationId xmlns:a16="http://schemas.microsoft.com/office/drawing/2014/main" id="{F3569FB1-5B01-400A-BB57-44E9860342EF}"/>
              </a:ext>
            </a:extLst>
          </p:cNvPr>
          <p:cNvSpPr txBox="1"/>
          <p:nvPr/>
        </p:nvSpPr>
        <p:spPr>
          <a:xfrm>
            <a:off x="6431458" y="2535178"/>
            <a:ext cx="912429" cy="369332"/>
          </a:xfrm>
          <a:prstGeom prst="rect">
            <a:avLst/>
          </a:prstGeom>
          <a:noFill/>
        </p:spPr>
        <p:txBody>
          <a:bodyPr wrap="none" rtlCol="0">
            <a:spAutoFit/>
          </a:bodyPr>
          <a:lstStyle/>
          <a:p>
            <a:r>
              <a:rPr lang="en-US" altLang="zh-TW" dirty="0">
                <a:solidFill>
                  <a:schemeClr val="tx2"/>
                </a:solidFill>
                <a:latin typeface="Eras Demi ITC" panose="020B0805030504020804" pitchFamily="34" charset="0"/>
              </a:rPr>
              <a:t>STEP 3</a:t>
            </a:r>
          </a:p>
        </p:txBody>
      </p:sp>
      <p:sp>
        <p:nvSpPr>
          <p:cNvPr id="43" name="文字方塊 42">
            <a:extLst>
              <a:ext uri="{FF2B5EF4-FFF2-40B4-BE49-F238E27FC236}">
                <a16:creationId xmlns:a16="http://schemas.microsoft.com/office/drawing/2014/main" id="{DA655AE6-014E-41B4-B4F1-AA5A6259DC65}"/>
              </a:ext>
            </a:extLst>
          </p:cNvPr>
          <p:cNvSpPr txBox="1"/>
          <p:nvPr/>
        </p:nvSpPr>
        <p:spPr>
          <a:xfrm>
            <a:off x="9135140" y="2535178"/>
            <a:ext cx="912429" cy="369332"/>
          </a:xfrm>
          <a:prstGeom prst="rect">
            <a:avLst/>
          </a:prstGeom>
          <a:noFill/>
        </p:spPr>
        <p:txBody>
          <a:bodyPr wrap="none" rtlCol="0">
            <a:spAutoFit/>
          </a:bodyPr>
          <a:lstStyle/>
          <a:p>
            <a:r>
              <a:rPr lang="en-US" altLang="zh-TW" dirty="0">
                <a:solidFill>
                  <a:schemeClr val="tx2"/>
                </a:solidFill>
                <a:latin typeface="Eras Demi ITC" panose="020B0805030504020804" pitchFamily="34" charset="0"/>
              </a:rPr>
              <a:t>STEP 4</a:t>
            </a:r>
          </a:p>
        </p:txBody>
      </p:sp>
      <p:sp>
        <p:nvSpPr>
          <p:cNvPr id="44" name="文字方塊 43">
            <a:extLst>
              <a:ext uri="{FF2B5EF4-FFF2-40B4-BE49-F238E27FC236}">
                <a16:creationId xmlns:a16="http://schemas.microsoft.com/office/drawing/2014/main" id="{6629F15B-6C69-4FAD-A89D-1989B423219F}"/>
              </a:ext>
            </a:extLst>
          </p:cNvPr>
          <p:cNvSpPr txBox="1"/>
          <p:nvPr/>
        </p:nvSpPr>
        <p:spPr>
          <a:xfrm>
            <a:off x="6431457" y="4876594"/>
            <a:ext cx="912429" cy="369332"/>
          </a:xfrm>
          <a:prstGeom prst="rect">
            <a:avLst/>
          </a:prstGeom>
          <a:noFill/>
        </p:spPr>
        <p:txBody>
          <a:bodyPr wrap="none" rtlCol="0">
            <a:spAutoFit/>
          </a:bodyPr>
          <a:lstStyle/>
          <a:p>
            <a:r>
              <a:rPr lang="en-US" altLang="zh-TW" dirty="0">
                <a:solidFill>
                  <a:schemeClr val="tx2"/>
                </a:solidFill>
                <a:latin typeface="Eras Demi ITC" panose="020B0805030504020804" pitchFamily="34" charset="0"/>
              </a:rPr>
              <a:t>STEP 7</a:t>
            </a:r>
          </a:p>
        </p:txBody>
      </p:sp>
      <p:sp>
        <p:nvSpPr>
          <p:cNvPr id="45" name="文字方塊 44">
            <a:extLst>
              <a:ext uri="{FF2B5EF4-FFF2-40B4-BE49-F238E27FC236}">
                <a16:creationId xmlns:a16="http://schemas.microsoft.com/office/drawing/2014/main" id="{4B22F0F9-D739-4029-AA66-80E21FD9A0E4}"/>
              </a:ext>
            </a:extLst>
          </p:cNvPr>
          <p:cNvSpPr txBox="1"/>
          <p:nvPr/>
        </p:nvSpPr>
        <p:spPr>
          <a:xfrm>
            <a:off x="3688778" y="4876594"/>
            <a:ext cx="912429" cy="369332"/>
          </a:xfrm>
          <a:prstGeom prst="rect">
            <a:avLst/>
          </a:prstGeom>
          <a:noFill/>
        </p:spPr>
        <p:txBody>
          <a:bodyPr wrap="none" rtlCol="0">
            <a:spAutoFit/>
          </a:bodyPr>
          <a:lstStyle/>
          <a:p>
            <a:r>
              <a:rPr lang="en-US" altLang="zh-TW" dirty="0">
                <a:solidFill>
                  <a:schemeClr val="tx2"/>
                </a:solidFill>
                <a:latin typeface="Eras Demi ITC" panose="020B0805030504020804" pitchFamily="34" charset="0"/>
              </a:rPr>
              <a:t>STEP 6</a:t>
            </a:r>
          </a:p>
        </p:txBody>
      </p:sp>
      <p:sp>
        <p:nvSpPr>
          <p:cNvPr id="46" name="文字方塊 45">
            <a:extLst>
              <a:ext uri="{FF2B5EF4-FFF2-40B4-BE49-F238E27FC236}">
                <a16:creationId xmlns:a16="http://schemas.microsoft.com/office/drawing/2014/main" id="{0EB89443-BAC3-4275-A51C-4E046D0EF483}"/>
              </a:ext>
            </a:extLst>
          </p:cNvPr>
          <p:cNvSpPr txBox="1"/>
          <p:nvPr/>
        </p:nvSpPr>
        <p:spPr>
          <a:xfrm>
            <a:off x="1102536" y="4881399"/>
            <a:ext cx="912429" cy="369332"/>
          </a:xfrm>
          <a:prstGeom prst="rect">
            <a:avLst/>
          </a:prstGeom>
          <a:noFill/>
        </p:spPr>
        <p:txBody>
          <a:bodyPr wrap="none" rtlCol="0">
            <a:spAutoFit/>
          </a:bodyPr>
          <a:lstStyle/>
          <a:p>
            <a:r>
              <a:rPr lang="en-US" altLang="zh-TW" dirty="0">
                <a:solidFill>
                  <a:schemeClr val="tx2"/>
                </a:solidFill>
                <a:latin typeface="Eras Demi ITC" panose="020B0805030504020804" pitchFamily="34" charset="0"/>
              </a:rPr>
              <a:t>STEP 5</a:t>
            </a:r>
          </a:p>
        </p:txBody>
      </p:sp>
      <p:sp>
        <p:nvSpPr>
          <p:cNvPr id="47" name="文字方塊 46">
            <a:extLst>
              <a:ext uri="{FF2B5EF4-FFF2-40B4-BE49-F238E27FC236}">
                <a16:creationId xmlns:a16="http://schemas.microsoft.com/office/drawing/2014/main" id="{BCC09A72-7197-4F67-803F-07FF3D96EAB5}"/>
              </a:ext>
            </a:extLst>
          </p:cNvPr>
          <p:cNvSpPr txBox="1"/>
          <p:nvPr/>
        </p:nvSpPr>
        <p:spPr>
          <a:xfrm>
            <a:off x="3688779" y="2535178"/>
            <a:ext cx="912429" cy="369332"/>
          </a:xfrm>
          <a:prstGeom prst="rect">
            <a:avLst/>
          </a:prstGeom>
          <a:noFill/>
        </p:spPr>
        <p:txBody>
          <a:bodyPr wrap="none" rtlCol="0">
            <a:spAutoFit/>
          </a:bodyPr>
          <a:lstStyle/>
          <a:p>
            <a:r>
              <a:rPr lang="en-US" altLang="zh-TW" dirty="0">
                <a:solidFill>
                  <a:schemeClr val="tx2"/>
                </a:solidFill>
                <a:latin typeface="Eras Demi ITC" panose="020B0805030504020804" pitchFamily="34" charset="0"/>
              </a:rPr>
              <a:t>STEP 2</a:t>
            </a:r>
          </a:p>
        </p:txBody>
      </p:sp>
      <p:sp>
        <p:nvSpPr>
          <p:cNvPr id="48" name="文字方塊 47">
            <a:extLst>
              <a:ext uri="{FF2B5EF4-FFF2-40B4-BE49-F238E27FC236}">
                <a16:creationId xmlns:a16="http://schemas.microsoft.com/office/drawing/2014/main" id="{D66E603E-410A-406E-BA39-6226781116E8}"/>
              </a:ext>
            </a:extLst>
          </p:cNvPr>
          <p:cNvSpPr txBox="1"/>
          <p:nvPr/>
        </p:nvSpPr>
        <p:spPr>
          <a:xfrm>
            <a:off x="9135140" y="4876594"/>
            <a:ext cx="912429" cy="369332"/>
          </a:xfrm>
          <a:prstGeom prst="rect">
            <a:avLst/>
          </a:prstGeom>
          <a:noFill/>
        </p:spPr>
        <p:txBody>
          <a:bodyPr wrap="none" rtlCol="0">
            <a:spAutoFit/>
          </a:bodyPr>
          <a:lstStyle/>
          <a:p>
            <a:r>
              <a:rPr lang="en-US" altLang="zh-TW" dirty="0">
                <a:solidFill>
                  <a:schemeClr val="tx2"/>
                </a:solidFill>
                <a:latin typeface="Eras Demi ITC" panose="020B0805030504020804" pitchFamily="34" charset="0"/>
              </a:rPr>
              <a:t>STEP 8</a:t>
            </a:r>
          </a:p>
        </p:txBody>
      </p:sp>
      <p:sp>
        <p:nvSpPr>
          <p:cNvPr id="55" name="文字方塊 54">
            <a:extLst>
              <a:ext uri="{FF2B5EF4-FFF2-40B4-BE49-F238E27FC236}">
                <a16:creationId xmlns:a16="http://schemas.microsoft.com/office/drawing/2014/main" id="{93C707AA-86D8-4F0B-9F14-FD1609C2E959}"/>
              </a:ext>
            </a:extLst>
          </p:cNvPr>
          <p:cNvSpPr txBox="1"/>
          <p:nvPr/>
        </p:nvSpPr>
        <p:spPr>
          <a:xfrm>
            <a:off x="7166510" y="1761175"/>
            <a:ext cx="3005951" cy="400110"/>
          </a:xfrm>
          <a:prstGeom prst="rect">
            <a:avLst/>
          </a:prstGeom>
          <a:noFill/>
          <a:ln w="19050">
            <a:noFill/>
          </a:ln>
        </p:spPr>
        <p:txBody>
          <a:bodyPr wrap="none" rtlCol="0">
            <a:spAutoFit/>
          </a:bodyPr>
          <a:lstStyle/>
          <a:p>
            <a:r>
              <a:rPr lang="zh-TW" altLang="en-US" sz="2000" b="1" dirty="0">
                <a:solidFill>
                  <a:srgbClr val="308071"/>
                </a:solidFill>
                <a:latin typeface="微軟正黑體" panose="020B0604030504040204" pitchFamily="34" charset="-120"/>
                <a:ea typeface="微軟正黑體" panose="020B0604030504040204" pitchFamily="34" charset="-120"/>
              </a:rPr>
              <a:t>消費者與平台之交易資訊</a:t>
            </a:r>
          </a:p>
        </p:txBody>
      </p:sp>
      <p:sp>
        <p:nvSpPr>
          <p:cNvPr id="56" name="文字方塊 55">
            <a:extLst>
              <a:ext uri="{FF2B5EF4-FFF2-40B4-BE49-F238E27FC236}">
                <a16:creationId xmlns:a16="http://schemas.microsoft.com/office/drawing/2014/main" id="{339E61CD-B561-4845-ACA6-AC558AD3BC7C}"/>
              </a:ext>
            </a:extLst>
          </p:cNvPr>
          <p:cNvSpPr txBox="1"/>
          <p:nvPr/>
        </p:nvSpPr>
        <p:spPr>
          <a:xfrm>
            <a:off x="4203425" y="4028334"/>
            <a:ext cx="3005951" cy="400110"/>
          </a:xfrm>
          <a:prstGeom prst="rect">
            <a:avLst/>
          </a:prstGeom>
          <a:noFill/>
          <a:ln w="19050">
            <a:noFill/>
          </a:ln>
        </p:spPr>
        <p:txBody>
          <a:bodyPr wrap="none" rtlCol="0">
            <a:spAutoFit/>
          </a:bodyPr>
          <a:lstStyle/>
          <a:p>
            <a:r>
              <a:rPr lang="zh-TW" altLang="en-US" sz="2000" b="1" dirty="0">
                <a:solidFill>
                  <a:schemeClr val="accent6">
                    <a:lumMod val="50000"/>
                  </a:schemeClr>
                </a:solidFill>
                <a:latin typeface="微軟正黑體" panose="020B0604030504040204" pitchFamily="34" charset="-120"/>
                <a:ea typeface="微軟正黑體" panose="020B0604030504040204" pitchFamily="34" charset="-120"/>
              </a:rPr>
              <a:t>消費者與店家之交易資訊</a:t>
            </a:r>
          </a:p>
        </p:txBody>
      </p:sp>
      <p:sp>
        <p:nvSpPr>
          <p:cNvPr id="72" name="文字方塊 71">
            <a:extLst>
              <a:ext uri="{FF2B5EF4-FFF2-40B4-BE49-F238E27FC236}">
                <a16:creationId xmlns:a16="http://schemas.microsoft.com/office/drawing/2014/main" id="{B7F23DC2-1C61-4E2D-961F-017DDEDC5B78}"/>
              </a:ext>
            </a:extLst>
          </p:cNvPr>
          <p:cNvSpPr txBox="1"/>
          <p:nvPr/>
        </p:nvSpPr>
        <p:spPr>
          <a:xfrm>
            <a:off x="1547190" y="1735713"/>
            <a:ext cx="2749471" cy="400110"/>
          </a:xfrm>
          <a:prstGeom prst="rect">
            <a:avLst/>
          </a:prstGeom>
          <a:noFill/>
          <a:ln w="19050">
            <a:noFill/>
          </a:ln>
        </p:spPr>
        <p:txBody>
          <a:bodyPr wrap="none" rtlCol="0">
            <a:spAutoFit/>
          </a:bodyPr>
          <a:lstStyle/>
          <a:p>
            <a:r>
              <a:rPr lang="zh-TW" altLang="en-US" sz="2000" b="1" dirty="0">
                <a:solidFill>
                  <a:srgbClr val="C00000"/>
                </a:solidFill>
                <a:latin typeface="微軟正黑體" panose="020B0604030504040204" pitchFamily="34" charset="-120"/>
                <a:ea typeface="微軟正黑體" panose="020B0604030504040204" pitchFamily="34" charset="-120"/>
              </a:rPr>
              <a:t>店家與平台之交易資訊</a:t>
            </a:r>
          </a:p>
        </p:txBody>
      </p:sp>
      <p:grpSp>
        <p:nvGrpSpPr>
          <p:cNvPr id="75" name="群組 74">
            <a:extLst>
              <a:ext uri="{FF2B5EF4-FFF2-40B4-BE49-F238E27FC236}">
                <a16:creationId xmlns:a16="http://schemas.microsoft.com/office/drawing/2014/main" id="{B54526BD-DB55-4ADB-9A6A-6E51C06067B6}"/>
              </a:ext>
            </a:extLst>
          </p:cNvPr>
          <p:cNvGrpSpPr/>
          <p:nvPr/>
        </p:nvGrpSpPr>
        <p:grpSpPr>
          <a:xfrm>
            <a:off x="2321264" y="2141064"/>
            <a:ext cx="0" cy="768380"/>
            <a:chOff x="2321264" y="2288849"/>
            <a:chExt cx="0" cy="768380"/>
          </a:xfrm>
        </p:grpSpPr>
        <p:cxnSp>
          <p:nvCxnSpPr>
            <p:cNvPr id="70" name="直線單箭頭接點 69">
              <a:extLst>
                <a:ext uri="{FF2B5EF4-FFF2-40B4-BE49-F238E27FC236}">
                  <a16:creationId xmlns:a16="http://schemas.microsoft.com/office/drawing/2014/main" id="{6DC8EABE-F20A-433E-983E-794546EDFB07}"/>
                </a:ext>
              </a:extLst>
            </p:cNvPr>
            <p:cNvCxnSpPr>
              <a:cxnSpLocks/>
            </p:cNvCxnSpPr>
            <p:nvPr/>
          </p:nvCxnSpPr>
          <p:spPr>
            <a:xfrm flipV="1">
              <a:off x="2321264" y="2288849"/>
              <a:ext cx="0" cy="314052"/>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接點 73">
              <a:extLst>
                <a:ext uri="{FF2B5EF4-FFF2-40B4-BE49-F238E27FC236}">
                  <a16:creationId xmlns:a16="http://schemas.microsoft.com/office/drawing/2014/main" id="{D9BFADE8-0B9E-41FB-B1CA-05B77BC8D459}"/>
                </a:ext>
              </a:extLst>
            </p:cNvPr>
            <p:cNvCxnSpPr>
              <a:cxnSpLocks/>
            </p:cNvCxnSpPr>
            <p:nvPr/>
          </p:nvCxnSpPr>
          <p:spPr>
            <a:xfrm>
              <a:off x="2321264" y="2556636"/>
              <a:ext cx="0" cy="500593"/>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93" name="直線單箭頭接點 92">
            <a:extLst>
              <a:ext uri="{FF2B5EF4-FFF2-40B4-BE49-F238E27FC236}">
                <a16:creationId xmlns:a16="http://schemas.microsoft.com/office/drawing/2014/main" id="{928D2AE2-454C-42EB-A421-925B9DFB3EC6}"/>
              </a:ext>
            </a:extLst>
          </p:cNvPr>
          <p:cNvCxnSpPr>
            <a:cxnSpLocks/>
          </p:cNvCxnSpPr>
          <p:nvPr/>
        </p:nvCxnSpPr>
        <p:spPr>
          <a:xfrm flipH="1">
            <a:off x="10195349" y="2024426"/>
            <a:ext cx="1742428" cy="4449"/>
          </a:xfrm>
          <a:prstGeom prst="straightConnector1">
            <a:avLst/>
          </a:prstGeom>
          <a:ln w="19050">
            <a:solidFill>
              <a:srgbClr val="3DA18E"/>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接點 96">
            <a:extLst>
              <a:ext uri="{FF2B5EF4-FFF2-40B4-BE49-F238E27FC236}">
                <a16:creationId xmlns:a16="http://schemas.microsoft.com/office/drawing/2014/main" id="{5FA42AF4-30E9-4013-87B9-EA5097D2D128}"/>
              </a:ext>
            </a:extLst>
          </p:cNvPr>
          <p:cNvCxnSpPr>
            <a:cxnSpLocks/>
          </p:cNvCxnSpPr>
          <p:nvPr/>
        </p:nvCxnSpPr>
        <p:spPr>
          <a:xfrm>
            <a:off x="3679543" y="2530753"/>
            <a:ext cx="0" cy="40046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4" name="直線接點 103">
            <a:extLst>
              <a:ext uri="{FF2B5EF4-FFF2-40B4-BE49-F238E27FC236}">
                <a16:creationId xmlns:a16="http://schemas.microsoft.com/office/drawing/2014/main" id="{2C0943D1-6E71-49EB-B520-392421CB8FCD}"/>
              </a:ext>
            </a:extLst>
          </p:cNvPr>
          <p:cNvCxnSpPr>
            <a:cxnSpLocks/>
          </p:cNvCxnSpPr>
          <p:nvPr/>
        </p:nvCxnSpPr>
        <p:spPr>
          <a:xfrm flipV="1">
            <a:off x="2321264" y="2539989"/>
            <a:ext cx="1346397" cy="1"/>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3" name="直線單箭頭接點 112">
            <a:extLst>
              <a:ext uri="{FF2B5EF4-FFF2-40B4-BE49-F238E27FC236}">
                <a16:creationId xmlns:a16="http://schemas.microsoft.com/office/drawing/2014/main" id="{B791529F-B91E-42C3-8A36-81EE660D1E60}"/>
              </a:ext>
            </a:extLst>
          </p:cNvPr>
          <p:cNvCxnSpPr>
            <a:cxnSpLocks/>
          </p:cNvCxnSpPr>
          <p:nvPr/>
        </p:nvCxnSpPr>
        <p:spPr>
          <a:xfrm flipV="1">
            <a:off x="8353928" y="2149406"/>
            <a:ext cx="0" cy="778510"/>
          </a:xfrm>
          <a:prstGeom prst="straightConnector1">
            <a:avLst/>
          </a:prstGeom>
          <a:ln w="19050">
            <a:solidFill>
              <a:srgbClr val="3DA18E"/>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直線接點 120">
            <a:extLst>
              <a:ext uri="{FF2B5EF4-FFF2-40B4-BE49-F238E27FC236}">
                <a16:creationId xmlns:a16="http://schemas.microsoft.com/office/drawing/2014/main" id="{BDD60644-F00D-4D1E-9CE9-F17225E7337C}"/>
              </a:ext>
            </a:extLst>
          </p:cNvPr>
          <p:cNvCxnSpPr>
            <a:cxnSpLocks/>
          </p:cNvCxnSpPr>
          <p:nvPr/>
        </p:nvCxnSpPr>
        <p:spPr>
          <a:xfrm flipH="1" flipV="1">
            <a:off x="11933382" y="2013520"/>
            <a:ext cx="27709" cy="3697511"/>
          </a:xfrm>
          <a:prstGeom prst="line">
            <a:avLst/>
          </a:prstGeom>
          <a:ln w="19050">
            <a:solidFill>
              <a:srgbClr val="3DA18E"/>
            </a:solidFill>
          </a:ln>
        </p:spPr>
        <p:style>
          <a:lnRef idx="1">
            <a:schemeClr val="accent1"/>
          </a:lnRef>
          <a:fillRef idx="0">
            <a:schemeClr val="accent1"/>
          </a:fillRef>
          <a:effectRef idx="0">
            <a:schemeClr val="accent1"/>
          </a:effectRef>
          <a:fontRef idx="minor">
            <a:schemeClr val="tx1"/>
          </a:fontRef>
        </p:style>
      </p:cxnSp>
      <p:cxnSp>
        <p:nvCxnSpPr>
          <p:cNvPr id="124" name="直線接點 123">
            <a:extLst>
              <a:ext uri="{FF2B5EF4-FFF2-40B4-BE49-F238E27FC236}">
                <a16:creationId xmlns:a16="http://schemas.microsoft.com/office/drawing/2014/main" id="{8791618C-F56F-401A-A06B-7E322CF69EAD}"/>
              </a:ext>
            </a:extLst>
          </p:cNvPr>
          <p:cNvCxnSpPr>
            <a:cxnSpLocks/>
          </p:cNvCxnSpPr>
          <p:nvPr/>
        </p:nvCxnSpPr>
        <p:spPr>
          <a:xfrm>
            <a:off x="7979071" y="4747290"/>
            <a:ext cx="0" cy="498957"/>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直線接點 125">
            <a:extLst>
              <a:ext uri="{FF2B5EF4-FFF2-40B4-BE49-F238E27FC236}">
                <a16:creationId xmlns:a16="http://schemas.microsoft.com/office/drawing/2014/main" id="{1B0A01D0-1083-4C60-B3C9-D518CDFCB348}"/>
              </a:ext>
            </a:extLst>
          </p:cNvPr>
          <p:cNvCxnSpPr>
            <a:cxnSpLocks/>
          </p:cNvCxnSpPr>
          <p:nvPr/>
        </p:nvCxnSpPr>
        <p:spPr>
          <a:xfrm>
            <a:off x="2640452" y="4747290"/>
            <a:ext cx="0" cy="498957"/>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直線接點 126">
            <a:extLst>
              <a:ext uri="{FF2B5EF4-FFF2-40B4-BE49-F238E27FC236}">
                <a16:creationId xmlns:a16="http://schemas.microsoft.com/office/drawing/2014/main" id="{8E5F22CF-727C-4A7E-92D9-63E1B89A2B71}"/>
              </a:ext>
            </a:extLst>
          </p:cNvPr>
          <p:cNvCxnSpPr>
            <a:cxnSpLocks/>
          </p:cNvCxnSpPr>
          <p:nvPr/>
        </p:nvCxnSpPr>
        <p:spPr>
          <a:xfrm flipV="1">
            <a:off x="2640452" y="4755083"/>
            <a:ext cx="5338619" cy="1"/>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nvGrpSpPr>
          <p:cNvPr id="129" name="群組 128">
            <a:extLst>
              <a:ext uri="{FF2B5EF4-FFF2-40B4-BE49-F238E27FC236}">
                <a16:creationId xmlns:a16="http://schemas.microsoft.com/office/drawing/2014/main" id="{09253A82-C6E5-476C-898E-C59D94F7D563}"/>
              </a:ext>
            </a:extLst>
          </p:cNvPr>
          <p:cNvGrpSpPr/>
          <p:nvPr/>
        </p:nvGrpSpPr>
        <p:grpSpPr>
          <a:xfrm>
            <a:off x="5503191" y="4477867"/>
            <a:ext cx="0" cy="768380"/>
            <a:chOff x="2321264" y="2288849"/>
            <a:chExt cx="0" cy="768380"/>
          </a:xfrm>
        </p:grpSpPr>
        <p:cxnSp>
          <p:nvCxnSpPr>
            <p:cNvPr id="130" name="直線單箭頭接點 129">
              <a:extLst>
                <a:ext uri="{FF2B5EF4-FFF2-40B4-BE49-F238E27FC236}">
                  <a16:creationId xmlns:a16="http://schemas.microsoft.com/office/drawing/2014/main" id="{97CAA90D-AD1C-4184-AA91-6A71C751594E}"/>
                </a:ext>
              </a:extLst>
            </p:cNvPr>
            <p:cNvCxnSpPr>
              <a:cxnSpLocks/>
            </p:cNvCxnSpPr>
            <p:nvPr/>
          </p:nvCxnSpPr>
          <p:spPr>
            <a:xfrm flipV="1">
              <a:off x="2321264" y="2288849"/>
              <a:ext cx="0" cy="314052"/>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直線接點 130">
              <a:extLst>
                <a:ext uri="{FF2B5EF4-FFF2-40B4-BE49-F238E27FC236}">
                  <a16:creationId xmlns:a16="http://schemas.microsoft.com/office/drawing/2014/main" id="{634C0721-89A2-4744-A74F-1E58501D54D1}"/>
                </a:ext>
              </a:extLst>
            </p:cNvPr>
            <p:cNvCxnSpPr>
              <a:cxnSpLocks/>
            </p:cNvCxnSpPr>
            <p:nvPr/>
          </p:nvCxnSpPr>
          <p:spPr>
            <a:xfrm>
              <a:off x="2321264" y="2556636"/>
              <a:ext cx="0" cy="500593"/>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cxnSp>
        <p:nvCxnSpPr>
          <p:cNvPr id="135" name="直線接點 134">
            <a:extLst>
              <a:ext uri="{FF2B5EF4-FFF2-40B4-BE49-F238E27FC236}">
                <a16:creationId xmlns:a16="http://schemas.microsoft.com/office/drawing/2014/main" id="{15B2DA9D-AE81-4578-9868-A9E0510C8C7A}"/>
              </a:ext>
            </a:extLst>
          </p:cNvPr>
          <p:cNvCxnSpPr>
            <a:cxnSpLocks/>
          </p:cNvCxnSpPr>
          <p:nvPr/>
        </p:nvCxnSpPr>
        <p:spPr>
          <a:xfrm>
            <a:off x="9969508" y="3862275"/>
            <a:ext cx="0" cy="370191"/>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nvGrpSpPr>
          <p:cNvPr id="137" name="群組 136">
            <a:extLst>
              <a:ext uri="{FF2B5EF4-FFF2-40B4-BE49-F238E27FC236}">
                <a16:creationId xmlns:a16="http://schemas.microsoft.com/office/drawing/2014/main" id="{27CDF981-C7FF-4060-9AE5-993F1DA909AF}"/>
              </a:ext>
            </a:extLst>
          </p:cNvPr>
          <p:cNvGrpSpPr/>
          <p:nvPr/>
        </p:nvGrpSpPr>
        <p:grpSpPr>
          <a:xfrm rot="16200000">
            <a:off x="8521658" y="2779421"/>
            <a:ext cx="129754" cy="2784390"/>
            <a:chOff x="2321264" y="2288849"/>
            <a:chExt cx="0" cy="768380"/>
          </a:xfrm>
        </p:grpSpPr>
        <p:cxnSp>
          <p:nvCxnSpPr>
            <p:cNvPr id="138" name="直線單箭頭接點 137">
              <a:extLst>
                <a:ext uri="{FF2B5EF4-FFF2-40B4-BE49-F238E27FC236}">
                  <a16:creationId xmlns:a16="http://schemas.microsoft.com/office/drawing/2014/main" id="{D21E6462-039A-48B0-837A-7F6E9A1A0C41}"/>
                </a:ext>
              </a:extLst>
            </p:cNvPr>
            <p:cNvCxnSpPr>
              <a:cxnSpLocks/>
            </p:cNvCxnSpPr>
            <p:nvPr/>
          </p:nvCxnSpPr>
          <p:spPr>
            <a:xfrm flipV="1">
              <a:off x="2321264" y="2288849"/>
              <a:ext cx="0" cy="314052"/>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直線接點 138">
              <a:extLst>
                <a:ext uri="{FF2B5EF4-FFF2-40B4-BE49-F238E27FC236}">
                  <a16:creationId xmlns:a16="http://schemas.microsoft.com/office/drawing/2014/main" id="{24336ADF-AFA6-4269-AF37-874F3DC769DF}"/>
                </a:ext>
              </a:extLst>
            </p:cNvPr>
            <p:cNvCxnSpPr>
              <a:cxnSpLocks/>
            </p:cNvCxnSpPr>
            <p:nvPr/>
          </p:nvCxnSpPr>
          <p:spPr>
            <a:xfrm>
              <a:off x="2321264" y="2556636"/>
              <a:ext cx="0" cy="500593"/>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8" name="文字方塊 37">
            <a:extLst>
              <a:ext uri="{FF2B5EF4-FFF2-40B4-BE49-F238E27FC236}">
                <a16:creationId xmlns:a16="http://schemas.microsoft.com/office/drawing/2014/main" id="{F4B9AB67-7EE8-4DDF-A2F4-4D01F18252D1}"/>
              </a:ext>
            </a:extLst>
          </p:cNvPr>
          <p:cNvSpPr txBox="1"/>
          <p:nvPr/>
        </p:nvSpPr>
        <p:spPr>
          <a:xfrm>
            <a:off x="588193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案例區塊鏈應用</a:t>
            </a:r>
          </a:p>
        </p:txBody>
      </p:sp>
      <p:pic>
        <p:nvPicPr>
          <p:cNvPr id="49" name="圖片 48">
            <a:extLst>
              <a:ext uri="{FF2B5EF4-FFF2-40B4-BE49-F238E27FC236}">
                <a16:creationId xmlns:a16="http://schemas.microsoft.com/office/drawing/2014/main" id="{3EA2BBA5-B9E8-43C2-882D-4C55A3EC3662}"/>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950636" y="-239436"/>
            <a:ext cx="2241364" cy="2241364"/>
          </a:xfrm>
          <a:prstGeom prst="rect">
            <a:avLst/>
          </a:prstGeom>
        </p:spPr>
      </p:pic>
      <p:cxnSp>
        <p:nvCxnSpPr>
          <p:cNvPr id="39" name="直接连接符 33">
            <a:extLst>
              <a:ext uri="{FF2B5EF4-FFF2-40B4-BE49-F238E27FC236}">
                <a16:creationId xmlns:a16="http://schemas.microsoft.com/office/drawing/2014/main" id="{319E99F3-4B8F-4D65-A2BC-E609C1A6ADC1}"/>
              </a:ext>
            </a:extLst>
          </p:cNvPr>
          <p:cNvCxnSpPr>
            <a:cxnSpLocks/>
          </p:cNvCxnSpPr>
          <p:nvPr/>
        </p:nvCxnSpPr>
        <p:spPr>
          <a:xfrm>
            <a:off x="1177167" y="1000566"/>
            <a:ext cx="849330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8601521"/>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8">
                                            <p:txEl>
                                              <p:pRg st="0" end="0"/>
                                            </p:txEl>
                                          </p:spTgt>
                                        </p:tgtEl>
                                        <p:attrNameLst>
                                          <p:attrName>style.visibility</p:attrName>
                                        </p:attrNameLst>
                                      </p:cBhvr>
                                      <p:to>
                                        <p:strVal val="visible"/>
                                      </p:to>
                                    </p:set>
                                    <p:animEffect transition="in" filter="barn(inVertical)">
                                      <p:cBhvr>
                                        <p:cTn id="11" dur="500"/>
                                        <p:tgtEl>
                                          <p:spTgt spid="38">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 calcmode="lin" valueType="num">
                                      <p:cBhvr additive="base">
                                        <p:cTn id="15" dur="500" fill="hold"/>
                                        <p:tgtEl>
                                          <p:spTgt spid="39"/>
                                        </p:tgtEl>
                                        <p:attrNameLst>
                                          <p:attrName>ppt_x</p:attrName>
                                        </p:attrNameLst>
                                      </p:cBhvr>
                                      <p:tavLst>
                                        <p:tav tm="0">
                                          <p:val>
                                            <p:strVal val="0-#ppt_w/2"/>
                                          </p:val>
                                        </p:tav>
                                        <p:tav tm="100000">
                                          <p:val>
                                            <p:strVal val="#ppt_x"/>
                                          </p:val>
                                        </p:tav>
                                      </p:tavLst>
                                    </p:anim>
                                    <p:anim calcmode="lin" valueType="num">
                                      <p:cBhvr additive="base">
                                        <p:cTn id="16" dur="500" fill="hold"/>
                                        <p:tgtEl>
                                          <p:spTgt spid="39"/>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grpId="0"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barn(inVertical)">
                                      <p:cBhvr>
                                        <p:cTn id="25" dur="500"/>
                                        <p:tgtEl>
                                          <p:spTgt spid="4"/>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barn(inVertical)">
                                      <p:cBhvr>
                                        <p:cTn id="28" dur="500"/>
                                        <p:tgtEl>
                                          <p:spTgt spid="5"/>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barn(inVertical)">
                                      <p:cBhvr>
                                        <p:cTn id="31" dur="500"/>
                                        <p:tgtEl>
                                          <p:spTgt spid="47"/>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42"/>
                                        </p:tgtEl>
                                        <p:attrNameLst>
                                          <p:attrName>style.visibility</p:attrName>
                                        </p:attrNameLst>
                                      </p:cBhvr>
                                      <p:to>
                                        <p:strVal val="visible"/>
                                      </p:to>
                                    </p:set>
                                    <p:animEffect transition="in" filter="barn(inVertical)">
                                      <p:cBhvr>
                                        <p:cTn id="34" dur="500"/>
                                        <p:tgtEl>
                                          <p:spTgt spid="42"/>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barn(inVertical)">
                                      <p:cBhvr>
                                        <p:cTn id="37" dur="500"/>
                                        <p:tgtEl>
                                          <p:spTgt spid="43"/>
                                        </p:tgtEl>
                                      </p:cBhvr>
                                    </p:animEffect>
                                  </p:childTnLst>
                                </p:cTn>
                              </p:par>
                            </p:childTnLst>
                          </p:cTn>
                        </p:par>
                        <p:par>
                          <p:cTn id="38" fill="hold">
                            <p:stCondLst>
                              <p:cond delay="4000"/>
                            </p:stCondLst>
                            <p:childTnLst>
                              <p:par>
                                <p:cTn id="39" presetID="16" presetClass="entr" presetSubtype="21" fill="hold" grpId="0" nodeType="after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barn(inVertical)">
                                      <p:cBhvr>
                                        <p:cTn id="41" dur="500"/>
                                        <p:tgtEl>
                                          <p:spTgt spid="41"/>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barn(inVertical)">
                                      <p:cBhvr>
                                        <p:cTn id="44" dur="500"/>
                                        <p:tgtEl>
                                          <p:spTgt spid="46"/>
                                        </p:tgtEl>
                                      </p:cBhvr>
                                    </p:animEffect>
                                  </p:childTnLst>
                                </p:cTn>
                              </p:par>
                              <p:par>
                                <p:cTn id="45" presetID="16" presetClass="entr" presetSubtype="21"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barn(inVertical)">
                                      <p:cBhvr>
                                        <p:cTn id="47" dur="500"/>
                                        <p:tgtEl>
                                          <p:spTgt spid="45"/>
                                        </p:tgtEl>
                                      </p:cBhvr>
                                    </p:animEffect>
                                  </p:childTnLst>
                                </p:cTn>
                              </p:par>
                              <p:par>
                                <p:cTn id="48" presetID="16" presetClass="entr" presetSubtype="21" fill="hold" grpId="0"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barn(inVertical)">
                                      <p:cBhvr>
                                        <p:cTn id="50" dur="500"/>
                                        <p:tgtEl>
                                          <p:spTgt spid="44"/>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48"/>
                                        </p:tgtEl>
                                        <p:attrNameLst>
                                          <p:attrName>style.visibility</p:attrName>
                                        </p:attrNameLst>
                                      </p:cBhvr>
                                      <p:to>
                                        <p:strVal val="visible"/>
                                      </p:to>
                                    </p:set>
                                    <p:animEffect transition="in" filter="barn(inVertical)">
                                      <p:cBhvr>
                                        <p:cTn id="53" dur="500"/>
                                        <p:tgtEl>
                                          <p:spTgt spid="48"/>
                                        </p:tgtEl>
                                      </p:cBhvr>
                                    </p:animEffect>
                                  </p:childTnLst>
                                </p:cTn>
                              </p:par>
                            </p:childTnLst>
                          </p:cTn>
                        </p:par>
                        <p:par>
                          <p:cTn id="54" fill="hold">
                            <p:stCondLst>
                              <p:cond delay="4500"/>
                            </p:stCondLst>
                            <p:childTnLst>
                              <p:par>
                                <p:cTn id="55" presetID="22" presetClass="entr" presetSubtype="4" fill="hold" nodeType="afterEffect">
                                  <p:stCondLst>
                                    <p:cond delay="0"/>
                                  </p:stCondLst>
                                  <p:childTnLst>
                                    <p:set>
                                      <p:cBhvr>
                                        <p:cTn id="56" dur="1" fill="hold">
                                          <p:stCondLst>
                                            <p:cond delay="0"/>
                                          </p:stCondLst>
                                        </p:cTn>
                                        <p:tgtEl>
                                          <p:spTgt spid="75"/>
                                        </p:tgtEl>
                                        <p:attrNameLst>
                                          <p:attrName>style.visibility</p:attrName>
                                        </p:attrNameLst>
                                      </p:cBhvr>
                                      <p:to>
                                        <p:strVal val="visible"/>
                                      </p:to>
                                    </p:set>
                                    <p:animEffect transition="in" filter="wipe(down)">
                                      <p:cBhvr>
                                        <p:cTn id="57" dur="500"/>
                                        <p:tgtEl>
                                          <p:spTgt spid="75"/>
                                        </p:tgtEl>
                                      </p:cBhvr>
                                    </p:animEffect>
                                  </p:childTnLst>
                                </p:cTn>
                              </p:par>
                              <p:par>
                                <p:cTn id="58" presetID="22" presetClass="entr" presetSubtype="4" fill="hold" nodeType="withEffect">
                                  <p:stCondLst>
                                    <p:cond delay="0"/>
                                  </p:stCondLst>
                                  <p:childTnLst>
                                    <p:set>
                                      <p:cBhvr>
                                        <p:cTn id="59" dur="1" fill="hold">
                                          <p:stCondLst>
                                            <p:cond delay="0"/>
                                          </p:stCondLst>
                                        </p:cTn>
                                        <p:tgtEl>
                                          <p:spTgt spid="104"/>
                                        </p:tgtEl>
                                        <p:attrNameLst>
                                          <p:attrName>style.visibility</p:attrName>
                                        </p:attrNameLst>
                                      </p:cBhvr>
                                      <p:to>
                                        <p:strVal val="visible"/>
                                      </p:to>
                                    </p:set>
                                    <p:animEffect transition="in" filter="wipe(down)">
                                      <p:cBhvr>
                                        <p:cTn id="60" dur="500"/>
                                        <p:tgtEl>
                                          <p:spTgt spid="104"/>
                                        </p:tgtEl>
                                      </p:cBhvr>
                                    </p:animEffect>
                                  </p:childTnLst>
                                </p:cTn>
                              </p:par>
                              <p:par>
                                <p:cTn id="61" presetID="22" presetClass="entr" presetSubtype="4" fill="hold" nodeType="withEffect">
                                  <p:stCondLst>
                                    <p:cond delay="0"/>
                                  </p:stCondLst>
                                  <p:childTnLst>
                                    <p:set>
                                      <p:cBhvr>
                                        <p:cTn id="62" dur="1" fill="hold">
                                          <p:stCondLst>
                                            <p:cond delay="0"/>
                                          </p:stCondLst>
                                        </p:cTn>
                                        <p:tgtEl>
                                          <p:spTgt spid="97"/>
                                        </p:tgtEl>
                                        <p:attrNameLst>
                                          <p:attrName>style.visibility</p:attrName>
                                        </p:attrNameLst>
                                      </p:cBhvr>
                                      <p:to>
                                        <p:strVal val="visible"/>
                                      </p:to>
                                    </p:set>
                                    <p:animEffect transition="in" filter="wipe(down)">
                                      <p:cBhvr>
                                        <p:cTn id="63" dur="500"/>
                                        <p:tgtEl>
                                          <p:spTgt spid="97"/>
                                        </p:tgtEl>
                                      </p:cBhvr>
                                    </p:animEffect>
                                  </p:childTnLst>
                                </p:cTn>
                              </p:par>
                            </p:childTnLst>
                          </p:cTn>
                        </p:par>
                        <p:par>
                          <p:cTn id="64" fill="hold">
                            <p:stCondLst>
                              <p:cond delay="5000"/>
                            </p:stCondLst>
                            <p:childTnLst>
                              <p:par>
                                <p:cTn id="65" presetID="16" presetClass="entr" presetSubtype="37" fill="hold" grpId="0" nodeType="afterEffect">
                                  <p:stCondLst>
                                    <p:cond delay="0"/>
                                  </p:stCondLst>
                                  <p:childTnLst>
                                    <p:set>
                                      <p:cBhvr>
                                        <p:cTn id="66" dur="1" fill="hold">
                                          <p:stCondLst>
                                            <p:cond delay="0"/>
                                          </p:stCondLst>
                                        </p:cTn>
                                        <p:tgtEl>
                                          <p:spTgt spid="72"/>
                                        </p:tgtEl>
                                        <p:attrNameLst>
                                          <p:attrName>style.visibility</p:attrName>
                                        </p:attrNameLst>
                                      </p:cBhvr>
                                      <p:to>
                                        <p:strVal val="visible"/>
                                      </p:to>
                                    </p:set>
                                    <p:animEffect transition="in" filter="barn(outVertical)">
                                      <p:cBhvr>
                                        <p:cTn id="67" dur="500"/>
                                        <p:tgtEl>
                                          <p:spTgt spid="72"/>
                                        </p:tgtEl>
                                      </p:cBhvr>
                                    </p:animEffect>
                                  </p:childTnLst>
                                </p:cTn>
                              </p:par>
                            </p:childTnLst>
                          </p:cTn>
                        </p:par>
                        <p:par>
                          <p:cTn id="68" fill="hold">
                            <p:stCondLst>
                              <p:cond delay="5500"/>
                            </p:stCondLst>
                            <p:childTnLst>
                              <p:par>
                                <p:cTn id="69" presetID="22" presetClass="entr" presetSubtype="4" fill="hold" nodeType="afterEffect">
                                  <p:stCondLst>
                                    <p:cond delay="0"/>
                                  </p:stCondLst>
                                  <p:childTnLst>
                                    <p:set>
                                      <p:cBhvr>
                                        <p:cTn id="70" dur="1" fill="hold">
                                          <p:stCondLst>
                                            <p:cond delay="0"/>
                                          </p:stCondLst>
                                        </p:cTn>
                                        <p:tgtEl>
                                          <p:spTgt spid="113"/>
                                        </p:tgtEl>
                                        <p:attrNameLst>
                                          <p:attrName>style.visibility</p:attrName>
                                        </p:attrNameLst>
                                      </p:cBhvr>
                                      <p:to>
                                        <p:strVal val="visible"/>
                                      </p:to>
                                    </p:set>
                                    <p:animEffect transition="in" filter="wipe(down)">
                                      <p:cBhvr>
                                        <p:cTn id="71" dur="500"/>
                                        <p:tgtEl>
                                          <p:spTgt spid="113"/>
                                        </p:tgtEl>
                                      </p:cBhvr>
                                    </p:animEffect>
                                  </p:childTnLst>
                                </p:cTn>
                              </p:par>
                              <p:par>
                                <p:cTn id="72" presetID="22" presetClass="entr" presetSubtype="4" fill="hold" nodeType="withEffect">
                                  <p:stCondLst>
                                    <p:cond delay="0"/>
                                  </p:stCondLst>
                                  <p:childTnLst>
                                    <p:set>
                                      <p:cBhvr>
                                        <p:cTn id="73" dur="1" fill="hold">
                                          <p:stCondLst>
                                            <p:cond delay="0"/>
                                          </p:stCondLst>
                                        </p:cTn>
                                        <p:tgtEl>
                                          <p:spTgt spid="121"/>
                                        </p:tgtEl>
                                        <p:attrNameLst>
                                          <p:attrName>style.visibility</p:attrName>
                                        </p:attrNameLst>
                                      </p:cBhvr>
                                      <p:to>
                                        <p:strVal val="visible"/>
                                      </p:to>
                                    </p:set>
                                    <p:animEffect transition="in" filter="wipe(down)">
                                      <p:cBhvr>
                                        <p:cTn id="74" dur="500"/>
                                        <p:tgtEl>
                                          <p:spTgt spid="121"/>
                                        </p:tgtEl>
                                      </p:cBhvr>
                                    </p:animEffect>
                                  </p:childTnLst>
                                </p:cTn>
                              </p:par>
                            </p:childTnLst>
                          </p:cTn>
                        </p:par>
                        <p:par>
                          <p:cTn id="75" fill="hold">
                            <p:stCondLst>
                              <p:cond delay="6000"/>
                            </p:stCondLst>
                            <p:childTnLst>
                              <p:par>
                                <p:cTn id="76" presetID="16" presetClass="entr" presetSubtype="21" fill="hold" nodeType="afterEffect">
                                  <p:stCondLst>
                                    <p:cond delay="0"/>
                                  </p:stCondLst>
                                  <p:childTnLst>
                                    <p:set>
                                      <p:cBhvr>
                                        <p:cTn id="77" dur="1" fill="hold">
                                          <p:stCondLst>
                                            <p:cond delay="0"/>
                                          </p:stCondLst>
                                        </p:cTn>
                                        <p:tgtEl>
                                          <p:spTgt spid="93"/>
                                        </p:tgtEl>
                                        <p:attrNameLst>
                                          <p:attrName>style.visibility</p:attrName>
                                        </p:attrNameLst>
                                      </p:cBhvr>
                                      <p:to>
                                        <p:strVal val="visible"/>
                                      </p:to>
                                    </p:set>
                                    <p:animEffect transition="in" filter="barn(inVertical)">
                                      <p:cBhvr>
                                        <p:cTn id="78" dur="500"/>
                                        <p:tgtEl>
                                          <p:spTgt spid="93"/>
                                        </p:tgtEl>
                                      </p:cBhvr>
                                    </p:animEffect>
                                  </p:childTnLst>
                                </p:cTn>
                              </p:par>
                            </p:childTnLst>
                          </p:cTn>
                        </p:par>
                        <p:par>
                          <p:cTn id="79" fill="hold">
                            <p:stCondLst>
                              <p:cond delay="6500"/>
                            </p:stCondLst>
                            <p:childTnLst>
                              <p:par>
                                <p:cTn id="80" presetID="16" presetClass="entr" presetSubtype="37" fill="hold" grpId="0" nodeType="afterEffect">
                                  <p:stCondLst>
                                    <p:cond delay="0"/>
                                  </p:stCondLst>
                                  <p:childTnLst>
                                    <p:set>
                                      <p:cBhvr>
                                        <p:cTn id="81" dur="1" fill="hold">
                                          <p:stCondLst>
                                            <p:cond delay="0"/>
                                          </p:stCondLst>
                                        </p:cTn>
                                        <p:tgtEl>
                                          <p:spTgt spid="55"/>
                                        </p:tgtEl>
                                        <p:attrNameLst>
                                          <p:attrName>style.visibility</p:attrName>
                                        </p:attrNameLst>
                                      </p:cBhvr>
                                      <p:to>
                                        <p:strVal val="visible"/>
                                      </p:to>
                                    </p:set>
                                    <p:animEffect transition="in" filter="barn(outVertical)">
                                      <p:cBhvr>
                                        <p:cTn id="82" dur="500"/>
                                        <p:tgtEl>
                                          <p:spTgt spid="55"/>
                                        </p:tgtEl>
                                      </p:cBhvr>
                                    </p:animEffect>
                                  </p:childTnLst>
                                </p:cTn>
                              </p:par>
                            </p:childTnLst>
                          </p:cTn>
                        </p:par>
                        <p:par>
                          <p:cTn id="83" fill="hold">
                            <p:stCondLst>
                              <p:cond delay="7000"/>
                            </p:stCondLst>
                            <p:childTnLst>
                              <p:par>
                                <p:cTn id="84" presetID="16" presetClass="entr" presetSubtype="21" fill="hold" nodeType="afterEffect">
                                  <p:stCondLst>
                                    <p:cond delay="0"/>
                                  </p:stCondLst>
                                  <p:childTnLst>
                                    <p:set>
                                      <p:cBhvr>
                                        <p:cTn id="85" dur="1" fill="hold">
                                          <p:stCondLst>
                                            <p:cond delay="0"/>
                                          </p:stCondLst>
                                        </p:cTn>
                                        <p:tgtEl>
                                          <p:spTgt spid="135"/>
                                        </p:tgtEl>
                                        <p:attrNameLst>
                                          <p:attrName>style.visibility</p:attrName>
                                        </p:attrNameLst>
                                      </p:cBhvr>
                                      <p:to>
                                        <p:strVal val="visible"/>
                                      </p:to>
                                    </p:set>
                                    <p:animEffect transition="in" filter="barn(inVertical)">
                                      <p:cBhvr>
                                        <p:cTn id="86" dur="500"/>
                                        <p:tgtEl>
                                          <p:spTgt spid="135"/>
                                        </p:tgtEl>
                                      </p:cBhvr>
                                    </p:animEffect>
                                  </p:childTnLst>
                                </p:cTn>
                              </p:par>
                              <p:par>
                                <p:cTn id="87" presetID="22" presetClass="entr" presetSubtype="4" fill="hold" nodeType="withEffect">
                                  <p:stCondLst>
                                    <p:cond delay="0"/>
                                  </p:stCondLst>
                                  <p:childTnLst>
                                    <p:set>
                                      <p:cBhvr>
                                        <p:cTn id="88" dur="1" fill="hold">
                                          <p:stCondLst>
                                            <p:cond delay="0"/>
                                          </p:stCondLst>
                                        </p:cTn>
                                        <p:tgtEl>
                                          <p:spTgt spid="137"/>
                                        </p:tgtEl>
                                        <p:attrNameLst>
                                          <p:attrName>style.visibility</p:attrName>
                                        </p:attrNameLst>
                                      </p:cBhvr>
                                      <p:to>
                                        <p:strVal val="visible"/>
                                      </p:to>
                                    </p:set>
                                    <p:animEffect transition="in" filter="wipe(down)">
                                      <p:cBhvr>
                                        <p:cTn id="89" dur="500"/>
                                        <p:tgtEl>
                                          <p:spTgt spid="137"/>
                                        </p:tgtEl>
                                      </p:cBhvr>
                                    </p:animEffect>
                                  </p:childTnLst>
                                </p:cTn>
                              </p:par>
                            </p:childTnLst>
                          </p:cTn>
                        </p:par>
                        <p:par>
                          <p:cTn id="90" fill="hold">
                            <p:stCondLst>
                              <p:cond delay="7500"/>
                            </p:stCondLst>
                            <p:childTnLst>
                              <p:par>
                                <p:cTn id="91" presetID="22" presetClass="entr" presetSubtype="4" fill="hold" nodeType="afterEffect">
                                  <p:stCondLst>
                                    <p:cond delay="0"/>
                                  </p:stCondLst>
                                  <p:childTnLst>
                                    <p:set>
                                      <p:cBhvr>
                                        <p:cTn id="92" dur="1" fill="hold">
                                          <p:stCondLst>
                                            <p:cond delay="0"/>
                                          </p:stCondLst>
                                        </p:cTn>
                                        <p:tgtEl>
                                          <p:spTgt spid="127"/>
                                        </p:tgtEl>
                                        <p:attrNameLst>
                                          <p:attrName>style.visibility</p:attrName>
                                        </p:attrNameLst>
                                      </p:cBhvr>
                                      <p:to>
                                        <p:strVal val="visible"/>
                                      </p:to>
                                    </p:set>
                                    <p:animEffect transition="in" filter="wipe(down)">
                                      <p:cBhvr>
                                        <p:cTn id="93" dur="500"/>
                                        <p:tgtEl>
                                          <p:spTgt spid="127"/>
                                        </p:tgtEl>
                                      </p:cBhvr>
                                    </p:animEffect>
                                  </p:childTnLst>
                                </p:cTn>
                              </p:par>
                              <p:par>
                                <p:cTn id="94" presetID="22" presetClass="entr" presetSubtype="4" fill="hold" nodeType="withEffect">
                                  <p:stCondLst>
                                    <p:cond delay="0"/>
                                  </p:stCondLst>
                                  <p:childTnLst>
                                    <p:set>
                                      <p:cBhvr>
                                        <p:cTn id="95" dur="1" fill="hold">
                                          <p:stCondLst>
                                            <p:cond delay="0"/>
                                          </p:stCondLst>
                                        </p:cTn>
                                        <p:tgtEl>
                                          <p:spTgt spid="126"/>
                                        </p:tgtEl>
                                        <p:attrNameLst>
                                          <p:attrName>style.visibility</p:attrName>
                                        </p:attrNameLst>
                                      </p:cBhvr>
                                      <p:to>
                                        <p:strVal val="visible"/>
                                      </p:to>
                                    </p:set>
                                    <p:animEffect transition="in" filter="wipe(down)">
                                      <p:cBhvr>
                                        <p:cTn id="96" dur="500"/>
                                        <p:tgtEl>
                                          <p:spTgt spid="126"/>
                                        </p:tgtEl>
                                      </p:cBhvr>
                                    </p:animEffect>
                                  </p:childTnLst>
                                </p:cTn>
                              </p:par>
                              <p:par>
                                <p:cTn id="97" presetID="22" presetClass="entr" presetSubtype="4" fill="hold" nodeType="withEffect">
                                  <p:stCondLst>
                                    <p:cond delay="0"/>
                                  </p:stCondLst>
                                  <p:childTnLst>
                                    <p:set>
                                      <p:cBhvr>
                                        <p:cTn id="98" dur="1" fill="hold">
                                          <p:stCondLst>
                                            <p:cond delay="0"/>
                                          </p:stCondLst>
                                        </p:cTn>
                                        <p:tgtEl>
                                          <p:spTgt spid="124"/>
                                        </p:tgtEl>
                                        <p:attrNameLst>
                                          <p:attrName>style.visibility</p:attrName>
                                        </p:attrNameLst>
                                      </p:cBhvr>
                                      <p:to>
                                        <p:strVal val="visible"/>
                                      </p:to>
                                    </p:set>
                                    <p:animEffect transition="in" filter="wipe(down)">
                                      <p:cBhvr>
                                        <p:cTn id="99" dur="500"/>
                                        <p:tgtEl>
                                          <p:spTgt spid="124"/>
                                        </p:tgtEl>
                                      </p:cBhvr>
                                    </p:animEffect>
                                  </p:childTnLst>
                                </p:cTn>
                              </p:par>
                              <p:par>
                                <p:cTn id="100" presetID="22" presetClass="entr" presetSubtype="4" fill="hold" nodeType="withEffect">
                                  <p:stCondLst>
                                    <p:cond delay="0"/>
                                  </p:stCondLst>
                                  <p:childTnLst>
                                    <p:set>
                                      <p:cBhvr>
                                        <p:cTn id="101" dur="1" fill="hold">
                                          <p:stCondLst>
                                            <p:cond delay="0"/>
                                          </p:stCondLst>
                                        </p:cTn>
                                        <p:tgtEl>
                                          <p:spTgt spid="129"/>
                                        </p:tgtEl>
                                        <p:attrNameLst>
                                          <p:attrName>style.visibility</p:attrName>
                                        </p:attrNameLst>
                                      </p:cBhvr>
                                      <p:to>
                                        <p:strVal val="visible"/>
                                      </p:to>
                                    </p:set>
                                    <p:animEffect transition="in" filter="wipe(down)">
                                      <p:cBhvr>
                                        <p:cTn id="102" dur="500"/>
                                        <p:tgtEl>
                                          <p:spTgt spid="129"/>
                                        </p:tgtEl>
                                      </p:cBhvr>
                                    </p:animEffect>
                                  </p:childTnLst>
                                </p:cTn>
                              </p:par>
                            </p:childTnLst>
                          </p:cTn>
                        </p:par>
                        <p:par>
                          <p:cTn id="103" fill="hold">
                            <p:stCondLst>
                              <p:cond delay="8000"/>
                            </p:stCondLst>
                            <p:childTnLst>
                              <p:par>
                                <p:cTn id="104" presetID="16" presetClass="entr" presetSubtype="37" fill="hold" grpId="0" nodeType="afterEffect">
                                  <p:stCondLst>
                                    <p:cond delay="0"/>
                                  </p:stCondLst>
                                  <p:childTnLst>
                                    <p:set>
                                      <p:cBhvr>
                                        <p:cTn id="105" dur="1" fill="hold">
                                          <p:stCondLst>
                                            <p:cond delay="0"/>
                                          </p:stCondLst>
                                        </p:cTn>
                                        <p:tgtEl>
                                          <p:spTgt spid="56"/>
                                        </p:tgtEl>
                                        <p:attrNameLst>
                                          <p:attrName>style.visibility</p:attrName>
                                        </p:attrNameLst>
                                      </p:cBhvr>
                                      <p:to>
                                        <p:strVal val="visible"/>
                                      </p:to>
                                    </p:set>
                                    <p:animEffect transition="in" filter="barn(outVertical)">
                                      <p:cBhvr>
                                        <p:cTn id="106" dur="500"/>
                                        <p:tgtEl>
                                          <p:spTgt spid="56"/>
                                        </p:tgtEl>
                                      </p:cBhvr>
                                    </p:animEffect>
                                  </p:childTnLst>
                                </p:cTn>
                              </p:par>
                            </p:childTnLst>
                          </p:cTn>
                        </p:par>
                        <p:par>
                          <p:cTn id="107" fill="hold">
                            <p:stCondLst>
                              <p:cond delay="8500"/>
                            </p:stCondLst>
                            <p:childTnLst>
                              <p:par>
                                <p:cTn id="108" presetID="53" presetClass="entr" presetSubtype="16" fill="hold" nodeType="afterEffect">
                                  <p:stCondLst>
                                    <p:cond delay="0"/>
                                  </p:stCondLst>
                                  <p:childTnLst>
                                    <p:set>
                                      <p:cBhvr>
                                        <p:cTn id="109" dur="1" fill="hold">
                                          <p:stCondLst>
                                            <p:cond delay="0"/>
                                          </p:stCondLst>
                                        </p:cTn>
                                        <p:tgtEl>
                                          <p:spTgt spid="49"/>
                                        </p:tgtEl>
                                        <p:attrNameLst>
                                          <p:attrName>style.visibility</p:attrName>
                                        </p:attrNameLst>
                                      </p:cBhvr>
                                      <p:to>
                                        <p:strVal val="visible"/>
                                      </p:to>
                                    </p:set>
                                    <p:anim calcmode="lin" valueType="num">
                                      <p:cBhvr>
                                        <p:cTn id="110" dur="500" fill="hold"/>
                                        <p:tgtEl>
                                          <p:spTgt spid="49"/>
                                        </p:tgtEl>
                                        <p:attrNameLst>
                                          <p:attrName>ppt_w</p:attrName>
                                        </p:attrNameLst>
                                      </p:cBhvr>
                                      <p:tavLst>
                                        <p:tav tm="0">
                                          <p:val>
                                            <p:fltVal val="0"/>
                                          </p:val>
                                        </p:tav>
                                        <p:tav tm="100000">
                                          <p:val>
                                            <p:strVal val="#ppt_w"/>
                                          </p:val>
                                        </p:tav>
                                      </p:tavLst>
                                    </p:anim>
                                    <p:anim calcmode="lin" valueType="num">
                                      <p:cBhvr>
                                        <p:cTn id="111" dur="500" fill="hold"/>
                                        <p:tgtEl>
                                          <p:spTgt spid="49"/>
                                        </p:tgtEl>
                                        <p:attrNameLst>
                                          <p:attrName>ppt_h</p:attrName>
                                        </p:attrNameLst>
                                      </p:cBhvr>
                                      <p:tavLst>
                                        <p:tav tm="0">
                                          <p:val>
                                            <p:fltVal val="0"/>
                                          </p:val>
                                        </p:tav>
                                        <p:tav tm="100000">
                                          <p:val>
                                            <p:strVal val="#ppt_h"/>
                                          </p:val>
                                        </p:tav>
                                      </p:tavLst>
                                    </p:anim>
                                    <p:animEffect transition="in" filter="fade">
                                      <p:cBhvr>
                                        <p:cTn id="112"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Graphic spid="4" grpId="0">
        <p:bldAsOne/>
      </p:bldGraphic>
      <p:bldGraphic spid="41" grpId="0">
        <p:bldAsOne/>
      </p:bldGraphic>
      <p:bldP spid="5" grpId="0"/>
      <p:bldP spid="42" grpId="0"/>
      <p:bldP spid="43" grpId="0"/>
      <p:bldP spid="44" grpId="0"/>
      <p:bldP spid="45" grpId="0"/>
      <p:bldP spid="46" grpId="0"/>
      <p:bldP spid="47" grpId="0"/>
      <p:bldP spid="48" grpId="0"/>
      <p:bldP spid="55" grpId="0"/>
      <p:bldP spid="56" grpId="0"/>
      <p:bldP spid="7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425923"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8-1 </a:t>
            </a:r>
            <a:r>
              <a:rPr lang="zh-TW" altLang="en-US" sz="2400" b="1" dirty="0">
                <a:solidFill>
                  <a:srgbClr val="E06741"/>
                </a:solidFill>
              </a:rPr>
              <a:t>區塊鏈實務案例─票卷交易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481347" y="1075039"/>
            <a:ext cx="8519050" cy="497444"/>
          </a:xfrm>
          <a:prstGeom prst="rect">
            <a:avLst/>
          </a:prstGeom>
        </p:spPr>
        <p:txBody>
          <a:bodyPr wrap="square">
            <a:spAutoFit/>
          </a:bodyPr>
          <a:lstStyle/>
          <a:p>
            <a:pPr marL="342900" indent="-342900">
              <a:lnSpc>
                <a:spcPct val="150000"/>
              </a:lnSpc>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票券流通的短期、中期、長期展望</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7E3A6309-1716-4781-857E-D6FC371966D7}"/>
              </a:ext>
            </a:extLst>
          </p:cNvPr>
          <p:cNvSpPr txBox="1"/>
          <p:nvPr/>
        </p:nvSpPr>
        <p:spPr>
          <a:xfrm>
            <a:off x="5881931" y="449166"/>
            <a:ext cx="108876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-3</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結論 </a:t>
            </a:r>
          </a:p>
        </p:txBody>
      </p:sp>
      <p:graphicFrame>
        <p:nvGraphicFramePr>
          <p:cNvPr id="38" name="資料庫圖表 37">
            <a:extLst>
              <a:ext uri="{FF2B5EF4-FFF2-40B4-BE49-F238E27FC236}">
                <a16:creationId xmlns:a16="http://schemas.microsoft.com/office/drawing/2014/main" id="{C1D4E14F-2D87-416B-BEFC-ED2287F5A83F}"/>
              </a:ext>
            </a:extLst>
          </p:cNvPr>
          <p:cNvGraphicFramePr/>
          <p:nvPr>
            <p:extLst>
              <p:ext uri="{D42A27DB-BD31-4B8C-83A1-F6EECF244321}">
                <p14:modId xmlns:p14="http://schemas.microsoft.com/office/powerpoint/2010/main" val="2984530372"/>
              </p:ext>
            </p:extLst>
          </p:nvPr>
        </p:nvGraphicFramePr>
        <p:xfrm>
          <a:off x="1481347" y="1152043"/>
          <a:ext cx="9284730" cy="495329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圖片 9" descr="一張含有 向量圖形 的圖片&#10;&#10;描述是以非常高的可信度產生">
            <a:extLst>
              <a:ext uri="{FF2B5EF4-FFF2-40B4-BE49-F238E27FC236}">
                <a16:creationId xmlns:a16="http://schemas.microsoft.com/office/drawing/2014/main" id="{0A21A3AE-6680-4FB2-8086-E92FE8EDE06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807024" y="4786898"/>
            <a:ext cx="2121290" cy="2121290"/>
          </a:xfrm>
          <a:prstGeom prst="rect">
            <a:avLst/>
          </a:prstGeom>
        </p:spPr>
      </p:pic>
      <p:cxnSp>
        <p:nvCxnSpPr>
          <p:cNvPr id="11" name="直接连接符 33">
            <a:extLst>
              <a:ext uri="{FF2B5EF4-FFF2-40B4-BE49-F238E27FC236}">
                <a16:creationId xmlns:a16="http://schemas.microsoft.com/office/drawing/2014/main" id="{114A1799-9DB2-4711-A6BB-58308F640F29}"/>
              </a:ext>
            </a:extLst>
          </p:cNvPr>
          <p:cNvCxnSpPr/>
          <p:nvPr/>
        </p:nvCxnSpPr>
        <p:spPr>
          <a:xfrm>
            <a:off x="1177167" y="100056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317534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arn(inVertical)">
                                      <p:cBhvr>
                                        <p:cTn id="11" dur="500"/>
                                        <p:tgtEl>
                                          <p:spTgt spid="3">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2" presetClass="entr" presetSubtype="8" fill="hold" grpId="0" nodeType="afterEffect">
                                  <p:stCondLst>
                                    <p:cond delay="0"/>
                                  </p:stCondLst>
                                  <p:childTnLst>
                                    <p:set>
                                      <p:cBhvr>
                                        <p:cTn id="24" dur="1" fill="hold">
                                          <p:stCondLst>
                                            <p:cond delay="0"/>
                                          </p:stCondLst>
                                        </p:cTn>
                                        <p:tgtEl>
                                          <p:spTgt spid="38"/>
                                        </p:tgtEl>
                                        <p:attrNameLst>
                                          <p:attrName>style.visibility</p:attrName>
                                        </p:attrNameLst>
                                      </p:cBhvr>
                                      <p:to>
                                        <p:strVal val="visible"/>
                                      </p:to>
                                    </p:set>
                                    <p:anim calcmode="lin" valueType="num">
                                      <p:cBhvr additive="base">
                                        <p:cTn id="25" dur="500" fill="hold"/>
                                        <p:tgtEl>
                                          <p:spTgt spid="38"/>
                                        </p:tgtEl>
                                        <p:attrNameLst>
                                          <p:attrName>ppt_x</p:attrName>
                                        </p:attrNameLst>
                                      </p:cBhvr>
                                      <p:tavLst>
                                        <p:tav tm="0">
                                          <p:val>
                                            <p:strVal val="0-#ppt_w/2"/>
                                          </p:val>
                                        </p:tav>
                                        <p:tav tm="100000">
                                          <p:val>
                                            <p:strVal val="#ppt_x"/>
                                          </p:val>
                                        </p:tav>
                                      </p:tavLst>
                                    </p:anim>
                                    <p:anim calcmode="lin" valueType="num">
                                      <p:cBhvr additive="base">
                                        <p:cTn id="26" dur="500" fill="hold"/>
                                        <p:tgtEl>
                                          <p:spTgt spid="38"/>
                                        </p:tgtEl>
                                        <p:attrNameLst>
                                          <p:attrName>ppt_y</p:attrName>
                                        </p:attrNameLst>
                                      </p:cBhvr>
                                      <p:tavLst>
                                        <p:tav tm="0">
                                          <p:val>
                                            <p:strVal val="#ppt_y"/>
                                          </p:val>
                                        </p:tav>
                                        <p:tav tm="100000">
                                          <p:val>
                                            <p:strVal val="#ppt_y"/>
                                          </p:val>
                                        </p:tav>
                                      </p:tavLst>
                                    </p:anim>
                                  </p:childTnLst>
                                </p:cTn>
                              </p:par>
                            </p:childTnLst>
                          </p:cTn>
                        </p:par>
                        <p:par>
                          <p:cTn id="27" fill="hold">
                            <p:stCondLst>
                              <p:cond delay="4000"/>
                            </p:stCondLst>
                            <p:childTnLst>
                              <p:par>
                                <p:cTn id="28" presetID="53" presetClass="entr" presetSubtype="16" fill="hold" nodeType="after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p:cTn id="30" dur="500" fill="hold"/>
                                        <p:tgtEl>
                                          <p:spTgt spid="10"/>
                                        </p:tgtEl>
                                        <p:attrNameLst>
                                          <p:attrName>ppt_w</p:attrName>
                                        </p:attrNameLst>
                                      </p:cBhvr>
                                      <p:tavLst>
                                        <p:tav tm="0">
                                          <p:val>
                                            <p:fltVal val="0"/>
                                          </p:val>
                                        </p:tav>
                                        <p:tav tm="100000">
                                          <p:val>
                                            <p:strVal val="#ppt_w"/>
                                          </p:val>
                                        </p:tav>
                                      </p:tavLst>
                                    </p:anim>
                                    <p:anim calcmode="lin" valueType="num">
                                      <p:cBhvr>
                                        <p:cTn id="31" dur="500" fill="hold"/>
                                        <p:tgtEl>
                                          <p:spTgt spid="10"/>
                                        </p:tgtEl>
                                        <p:attrNameLst>
                                          <p:attrName>ppt_h</p:attrName>
                                        </p:attrNameLst>
                                      </p:cBhvr>
                                      <p:tavLst>
                                        <p:tav tm="0">
                                          <p:val>
                                            <p:fltVal val="0"/>
                                          </p:val>
                                        </p:tav>
                                        <p:tav tm="100000">
                                          <p:val>
                                            <p:strVal val="#ppt_h"/>
                                          </p:val>
                                        </p:tav>
                                      </p:tavLst>
                                    </p:anim>
                                    <p:animEffect transition="in" filter="fad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Graphic spid="38"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945641"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8-2 </a:t>
            </a:r>
            <a:r>
              <a:rPr lang="zh-TW" altLang="en-US" sz="2400" b="1" dirty="0">
                <a:solidFill>
                  <a:srgbClr val="E06741"/>
                </a:solidFill>
              </a:rPr>
              <a:t>實務案例─募款交易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558751" y="1437634"/>
            <a:ext cx="9703486" cy="2979149"/>
          </a:xfrm>
          <a:prstGeom prst="rect">
            <a:avLst/>
          </a:prstGeom>
        </p:spPr>
        <p:txBody>
          <a:bodyPr wrap="square">
            <a:spAutoFit/>
          </a:bodyPr>
          <a:lstStyle/>
          <a:p>
            <a:pPr marL="342900" indent="-342900">
              <a:lnSpc>
                <a:spcPct val="150000"/>
              </a:lnSpc>
              <a:buBlip>
                <a:blip r:embed="rId2"/>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過去愛心捐款方式，多數經由勸募活動，有些透過捐贈平台勸募</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捐款進入公益團體帳戶後無法追蹤</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不肖人士假借勸募之名，行斂財之實</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Font typeface="微軟正黑體" panose="020B0604030504040204" pitchFamily="34" charset="-120"/>
              <a:buChar char="→"/>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公益團體的名聲損傷，善心人士對公益團體的信心下降</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Font typeface="微軟正黑體" panose="020B0604030504040204" pitchFamily="34" charset="-120"/>
              <a:buChar char="→"/>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勸募的工作更難推行</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4"/>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7E3A6309-1716-4781-857E-D6FC371966D7}"/>
              </a:ext>
            </a:extLst>
          </p:cNvPr>
          <p:cNvSpPr txBox="1"/>
          <p:nvPr/>
        </p:nvSpPr>
        <p:spPr>
          <a:xfrm>
            <a:off x="5013711" y="449166"/>
            <a:ext cx="153760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案例介紹</a:t>
            </a:r>
          </a:p>
        </p:txBody>
      </p:sp>
      <p:pic>
        <p:nvPicPr>
          <p:cNvPr id="11" name="圖片 10">
            <a:extLst>
              <a:ext uri="{FF2B5EF4-FFF2-40B4-BE49-F238E27FC236}">
                <a16:creationId xmlns:a16="http://schemas.microsoft.com/office/drawing/2014/main" id="{B09D814A-E211-4B41-883E-ACDED9392285}"/>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391" b="99219" l="0" r="98828">
                        <a14:foregroundMark x1="8594" y1="38281" x2="8594" y2="38281"/>
                        <a14:foregroundMark x1="16406" y1="39844" x2="16406" y2="39844"/>
                        <a14:foregroundMark x1="22656" y1="48047" x2="22656" y2="48047"/>
                        <a14:foregroundMark x1="35938" y1="51563" x2="35938" y2="51563"/>
                        <a14:foregroundMark x1="37891" y1="60156" x2="37891" y2="60156"/>
                        <a14:foregroundMark x1="36719" y1="70703" x2="13672" y2="47656"/>
                        <a14:foregroundMark x1="13672" y1="47656" x2="6641" y2="30078"/>
                        <a14:foregroundMark x1="6641" y1="30078" x2="18750" y2="44531"/>
                        <a14:foregroundMark x1="18750" y1="44531" x2="781" y2="30859"/>
                        <a14:foregroundMark x1="781" y1="30859" x2="1563" y2="12109"/>
                        <a14:foregroundMark x1="1563" y1="12109" x2="21484" y2="12891"/>
                        <a14:foregroundMark x1="21484" y1="12891" x2="26172" y2="31250"/>
                        <a14:foregroundMark x1="26172" y1="31250" x2="39844" y2="42578"/>
                        <a14:foregroundMark x1="40625" y1="44141" x2="48828" y2="82422"/>
                        <a14:foregroundMark x1="48828" y1="82422" x2="16797" y2="98438"/>
                        <a14:foregroundMark x1="16797" y1="98438" x2="3516" y2="63281"/>
                        <a14:foregroundMark x1="3516" y1="63281" x2="0" y2="60156"/>
                        <a14:foregroundMark x1="14844" y1="7031" x2="391" y2="10547"/>
                        <a14:foregroundMark x1="23438" y1="40625" x2="8984" y2="26172"/>
                        <a14:foregroundMark x1="8984" y1="26172" x2="12109" y2="7813"/>
                        <a14:foregroundMark x1="12109" y1="7813" x2="26563" y2="20313"/>
                        <a14:foregroundMark x1="26563" y1="20313" x2="23047" y2="39453"/>
                        <a14:foregroundMark x1="23047" y1="39453" x2="8594" y2="39063"/>
                        <a14:foregroundMark x1="14844" y1="39844" x2="11719" y2="21094"/>
                        <a14:foregroundMark x1="11719" y1="21094" x2="28125" y2="31250"/>
                        <a14:foregroundMark x1="28125" y1="31250" x2="11328" y2="18750"/>
                        <a14:foregroundMark x1="11328" y1="18750" x2="28125" y2="28125"/>
                        <a14:foregroundMark x1="28125" y1="28125" x2="10938" y2="24219"/>
                        <a14:foregroundMark x1="18359" y1="98828" x2="33203" y2="85938"/>
                        <a14:foregroundMark x1="33203" y1="85938" x2="51563" y2="89844"/>
                        <a14:foregroundMark x1="51563" y1="89844" x2="28125" y2="99219"/>
                        <a14:foregroundMark x1="28125" y1="99219" x2="16797" y2="98047"/>
                        <a14:foregroundMark x1="7813" y1="7422" x2="0" y2="391"/>
                        <a14:foregroundMark x1="51953" y1="56250" x2="72266" y2="21875"/>
                        <a14:foregroundMark x1="72266" y1="21875" x2="90234" y2="16406"/>
                        <a14:foregroundMark x1="90234" y1="16406" x2="95703" y2="53125"/>
                        <a14:foregroundMark x1="95703" y1="53125" x2="88281" y2="91797"/>
                        <a14:foregroundMark x1="88281" y1="91797" x2="67578" y2="99219"/>
                        <a14:foregroundMark x1="67578" y1="99219" x2="50391" y2="92188"/>
                        <a14:foregroundMark x1="50391" y1="92188" x2="51953" y2="55859"/>
                        <a14:foregroundMark x1="82031" y1="48828" x2="77734" y2="30469"/>
                        <a14:foregroundMark x1="77734" y1="30469" x2="87109" y2="13281"/>
                        <a14:foregroundMark x1="87109" y1="13281" x2="98828" y2="34766"/>
                        <a14:foregroundMark x1="98828" y1="34766" x2="80078" y2="42969"/>
                        <a14:foregroundMark x1="80078" y1="42969" x2="78516" y2="42969"/>
                        <a14:backgroundMark x1="36328" y1="12891" x2="36328" y2="12891"/>
                        <a14:backgroundMark x1="53516" y1="14063" x2="53516" y2="14063"/>
                        <a14:backgroundMark x1="43750" y1="16016" x2="43750" y2="16016"/>
                        <a14:backgroundMark x1="54297" y1="20313" x2="54297" y2="20313"/>
                        <a14:backgroundMark x1="54297" y1="20313" x2="54297" y2="20313"/>
                        <a14:backgroundMark x1="40625" y1="20703" x2="36328" y2="20703"/>
                        <a14:backgroundMark x1="64063" y1="20313" x2="64063" y2="20313"/>
                        <a14:backgroundMark x1="59375" y1="17969" x2="59375" y2="17969"/>
                      </a14:backgroundRemoval>
                    </a14:imgEffect>
                  </a14:imgLayer>
                </a14:imgProps>
              </a:ext>
              <a:ext uri="{28A0092B-C50C-407E-A947-70E740481C1C}">
                <a14:useLocalDpi xmlns:a14="http://schemas.microsoft.com/office/drawing/2010/main" val="0"/>
              </a:ext>
            </a:extLst>
          </a:blip>
          <a:stretch>
            <a:fillRect/>
          </a:stretch>
        </p:blipFill>
        <p:spPr>
          <a:xfrm>
            <a:off x="8570631" y="4695976"/>
            <a:ext cx="2162024" cy="2162024"/>
          </a:xfrm>
          <a:prstGeom prst="rect">
            <a:avLst/>
          </a:prstGeom>
        </p:spPr>
      </p:pic>
      <p:pic>
        <p:nvPicPr>
          <p:cNvPr id="13" name="圖片 12">
            <a:extLst>
              <a:ext uri="{FF2B5EF4-FFF2-40B4-BE49-F238E27FC236}">
                <a16:creationId xmlns:a16="http://schemas.microsoft.com/office/drawing/2014/main" id="{A4B4872D-E7E5-472F-802C-D872AE5C4FA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217177" y="4326519"/>
            <a:ext cx="868932" cy="868932"/>
          </a:xfrm>
          <a:prstGeom prst="rect">
            <a:avLst/>
          </a:prstGeom>
        </p:spPr>
      </p:pic>
      <p:cxnSp>
        <p:nvCxnSpPr>
          <p:cNvPr id="10" name="直接连接符 33">
            <a:extLst>
              <a:ext uri="{FF2B5EF4-FFF2-40B4-BE49-F238E27FC236}">
                <a16:creationId xmlns:a16="http://schemas.microsoft.com/office/drawing/2014/main" id="{D951778B-3C5D-4C16-BC37-C8C0C7A2546D}"/>
              </a:ext>
            </a:extLst>
          </p:cNvPr>
          <p:cNvCxnSpPr/>
          <p:nvPr/>
        </p:nvCxnSpPr>
        <p:spPr>
          <a:xfrm>
            <a:off x="1177167" y="100056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78451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arn(inVertical)">
                                      <p:cBhvr>
                                        <p:cTn id="11" dur="500"/>
                                        <p:tgtEl>
                                          <p:spTgt spid="3">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
                                            <p:txEl>
                                              <p:pRg st="0" end="0"/>
                                            </p:txEl>
                                          </p:spTgt>
                                        </p:tgtEl>
                                        <p:attrNameLst>
                                          <p:attrName>style.visibility</p:attrName>
                                        </p:attrNameLst>
                                      </p:cBhvr>
                                      <p:to>
                                        <p:strVal val="visible"/>
                                      </p:to>
                                    </p:set>
                                    <p:anim calcmode="lin" valueType="num">
                                      <p:cBhvr additive="base">
                                        <p:cTn id="20"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animEffect transition="in" filter="barn(inVertical)">
                                      <p:cBhvr>
                                        <p:cTn id="25" dur="500"/>
                                        <p:tgtEl>
                                          <p:spTgt spid="2">
                                            <p:txEl>
                                              <p:pRg st="1" end="1"/>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2">
                                            <p:txEl>
                                              <p:pRg st="2" end="2"/>
                                            </p:txEl>
                                          </p:spTgt>
                                        </p:tgtEl>
                                        <p:attrNameLst>
                                          <p:attrName>style.visibility</p:attrName>
                                        </p:attrNameLst>
                                      </p:cBhvr>
                                      <p:to>
                                        <p:strVal val="visible"/>
                                      </p:to>
                                    </p:set>
                                    <p:animEffect transition="in" filter="barn(inVertical)">
                                      <p:cBhvr>
                                        <p:cTn id="29" dur="500"/>
                                        <p:tgtEl>
                                          <p:spTgt spid="2">
                                            <p:txEl>
                                              <p:pRg st="2" end="2"/>
                                            </p:txEl>
                                          </p:spTgt>
                                        </p:tgtEl>
                                      </p:cBhvr>
                                    </p:animEffect>
                                  </p:childTnLst>
                                </p:cTn>
                              </p:par>
                            </p:childTnLst>
                          </p:cTn>
                        </p:par>
                        <p:par>
                          <p:cTn id="30" fill="hold">
                            <p:stCondLst>
                              <p:cond delay="4500"/>
                            </p:stCondLst>
                            <p:childTnLst>
                              <p:par>
                                <p:cTn id="31" presetID="2" presetClass="entr" presetSubtype="8" fill="hold" nodeType="after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anim calcmode="lin" valueType="num">
                                      <p:cBhvr additive="base">
                                        <p:cTn id="33" dur="500" fill="hold"/>
                                        <p:tgtEl>
                                          <p:spTgt spid="2">
                                            <p:txEl>
                                              <p:pRg st="4" end="4"/>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2">
                                            <p:txEl>
                                              <p:pRg st="4" end="4"/>
                                            </p:txEl>
                                          </p:spTgt>
                                        </p:tgtEl>
                                        <p:attrNameLst>
                                          <p:attrName>ppt_y</p:attrName>
                                        </p:attrNameLst>
                                      </p:cBhvr>
                                      <p:tavLst>
                                        <p:tav tm="0">
                                          <p:val>
                                            <p:strVal val="#ppt_y"/>
                                          </p:val>
                                        </p:tav>
                                        <p:tav tm="100000">
                                          <p:val>
                                            <p:strVal val="#ppt_y"/>
                                          </p:val>
                                        </p:tav>
                                      </p:tavLst>
                                    </p:anim>
                                  </p:childTnLst>
                                </p:cTn>
                              </p:par>
                            </p:childTnLst>
                          </p:cTn>
                        </p:par>
                        <p:par>
                          <p:cTn id="35" fill="hold">
                            <p:stCondLst>
                              <p:cond delay="5000"/>
                            </p:stCondLst>
                            <p:childTnLst>
                              <p:par>
                                <p:cTn id="36" presetID="2" presetClass="entr" presetSubtype="8" fill="hold" nodeType="afterEffect">
                                  <p:stCondLst>
                                    <p:cond delay="0"/>
                                  </p:stCondLst>
                                  <p:childTnLst>
                                    <p:set>
                                      <p:cBhvr>
                                        <p:cTn id="37" dur="1" fill="hold">
                                          <p:stCondLst>
                                            <p:cond delay="0"/>
                                          </p:stCondLst>
                                        </p:cTn>
                                        <p:tgtEl>
                                          <p:spTgt spid="2">
                                            <p:txEl>
                                              <p:pRg st="5" end="5"/>
                                            </p:txEl>
                                          </p:spTgt>
                                        </p:tgtEl>
                                        <p:attrNameLst>
                                          <p:attrName>style.visibility</p:attrName>
                                        </p:attrNameLst>
                                      </p:cBhvr>
                                      <p:to>
                                        <p:strVal val="visible"/>
                                      </p:to>
                                    </p:set>
                                    <p:anim calcmode="lin" valueType="num">
                                      <p:cBhvr additive="base">
                                        <p:cTn id="38" dur="500" fill="hold"/>
                                        <p:tgtEl>
                                          <p:spTgt spid="2">
                                            <p:txEl>
                                              <p:pRg st="5" end="5"/>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2">
                                            <p:txEl>
                                              <p:pRg st="5" end="5"/>
                                            </p:txEl>
                                          </p:spTgt>
                                        </p:tgtEl>
                                        <p:attrNameLst>
                                          <p:attrName>ppt_y</p:attrName>
                                        </p:attrNameLst>
                                      </p:cBhvr>
                                      <p:tavLst>
                                        <p:tav tm="0">
                                          <p:val>
                                            <p:strVal val="#ppt_y"/>
                                          </p:val>
                                        </p:tav>
                                        <p:tav tm="100000">
                                          <p:val>
                                            <p:strVal val="#ppt_y"/>
                                          </p:val>
                                        </p:tav>
                                      </p:tavLst>
                                    </p:anim>
                                  </p:childTnLst>
                                </p:cTn>
                              </p:par>
                            </p:childTnLst>
                          </p:cTn>
                        </p:par>
                        <p:par>
                          <p:cTn id="40" fill="hold">
                            <p:stCondLst>
                              <p:cond delay="5500"/>
                            </p:stCondLst>
                            <p:childTnLst>
                              <p:par>
                                <p:cTn id="41" presetID="2" presetClass="entr" presetSubtype="4" fill="hold" nodeType="after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childTnLst>
                          </p:cTn>
                        </p:par>
                        <p:par>
                          <p:cTn id="45" fill="hold">
                            <p:stCondLst>
                              <p:cond delay="6000"/>
                            </p:stCondLst>
                            <p:childTnLst>
                              <p:par>
                                <p:cTn id="46" presetID="53" presetClass="entr" presetSubtype="16" fill="hold" nodeType="afterEffect">
                                  <p:stCondLst>
                                    <p:cond delay="0"/>
                                  </p:stCondLst>
                                  <p:childTnLst>
                                    <p:set>
                                      <p:cBhvr>
                                        <p:cTn id="47" dur="1" fill="hold">
                                          <p:stCondLst>
                                            <p:cond delay="0"/>
                                          </p:stCondLst>
                                        </p:cTn>
                                        <p:tgtEl>
                                          <p:spTgt spid="13"/>
                                        </p:tgtEl>
                                        <p:attrNameLst>
                                          <p:attrName>style.visibility</p:attrName>
                                        </p:attrNameLst>
                                      </p:cBhvr>
                                      <p:to>
                                        <p:strVal val="visible"/>
                                      </p:to>
                                    </p:set>
                                    <p:anim calcmode="lin" valueType="num">
                                      <p:cBhvr>
                                        <p:cTn id="48" dur="500" fill="hold"/>
                                        <p:tgtEl>
                                          <p:spTgt spid="13"/>
                                        </p:tgtEl>
                                        <p:attrNameLst>
                                          <p:attrName>ppt_w</p:attrName>
                                        </p:attrNameLst>
                                      </p:cBhvr>
                                      <p:tavLst>
                                        <p:tav tm="0">
                                          <p:val>
                                            <p:fltVal val="0"/>
                                          </p:val>
                                        </p:tav>
                                        <p:tav tm="100000">
                                          <p:val>
                                            <p:strVal val="#ppt_w"/>
                                          </p:val>
                                        </p:tav>
                                      </p:tavLst>
                                    </p:anim>
                                    <p:anim calcmode="lin" valueType="num">
                                      <p:cBhvr>
                                        <p:cTn id="49" dur="500" fill="hold"/>
                                        <p:tgtEl>
                                          <p:spTgt spid="13"/>
                                        </p:tgtEl>
                                        <p:attrNameLst>
                                          <p:attrName>ppt_h</p:attrName>
                                        </p:attrNameLst>
                                      </p:cBhvr>
                                      <p:tavLst>
                                        <p:tav tm="0">
                                          <p:val>
                                            <p:fltVal val="0"/>
                                          </p:val>
                                        </p:tav>
                                        <p:tav tm="100000">
                                          <p:val>
                                            <p:strVal val="#ppt_h"/>
                                          </p:val>
                                        </p:tav>
                                      </p:tavLst>
                                    </p:anim>
                                    <p:animEffect transition="in" filter="fade">
                                      <p:cBhvr>
                                        <p:cTn id="5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945641"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8-2 </a:t>
            </a:r>
            <a:r>
              <a:rPr lang="zh-TW" altLang="en-US" sz="2400" b="1" dirty="0">
                <a:solidFill>
                  <a:srgbClr val="E06741"/>
                </a:solidFill>
              </a:rPr>
              <a:t>實務案例─募款交易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5305743" y="827392"/>
            <a:ext cx="5839015" cy="4456476"/>
          </a:xfrm>
          <a:prstGeom prst="rect">
            <a:avLst/>
          </a:prstGeom>
        </p:spPr>
        <p:txBody>
          <a:bodyPr wrap="square">
            <a:spAutoFit/>
          </a:bodyPr>
          <a:lstStyle/>
          <a:p>
            <a:pPr>
              <a:lnSpc>
                <a:spcPct val="150000"/>
              </a:lnSpc>
            </a:pPr>
            <a:endParaRPr lang="en-US" altLang="zh-TW" sz="2400" b="1" dirty="0">
              <a:solidFill>
                <a:srgbClr val="089685"/>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2"/>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成立於</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2014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年</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2"/>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著重服務微小企業與普通消費者的網際網路金融服務公司</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2"/>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應用區塊鏈於支付寶愛心捐贈平台</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Blip>
                <a:blip r:embed="rId2"/>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離散式帳本的技術</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Blip>
                <a:blip r:embed="rId2"/>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捐款者可以全程追蹤善款流向</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Blip>
                <a:blip r:embed="rId2"/>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讓捐款更信任、開放透明</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7E3A6309-1716-4781-857E-D6FC371966D7}"/>
              </a:ext>
            </a:extLst>
          </p:cNvPr>
          <p:cNvSpPr txBox="1"/>
          <p:nvPr/>
        </p:nvSpPr>
        <p:spPr>
          <a:xfrm>
            <a:off x="5013711" y="449166"/>
            <a:ext cx="153760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案例介紹</a:t>
            </a:r>
          </a:p>
        </p:txBody>
      </p:sp>
      <p:pic>
        <p:nvPicPr>
          <p:cNvPr id="5" name="圖片 4">
            <a:extLst>
              <a:ext uri="{FF2B5EF4-FFF2-40B4-BE49-F238E27FC236}">
                <a16:creationId xmlns:a16="http://schemas.microsoft.com/office/drawing/2014/main" id="{4F03220D-15E7-49E2-B533-1EF2B8D3F6E4}"/>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27950" y="1323831"/>
            <a:ext cx="6380026" cy="3956364"/>
          </a:xfrm>
          <a:prstGeom prst="rect">
            <a:avLst/>
          </a:prstGeom>
        </p:spPr>
      </p:pic>
      <p:pic>
        <p:nvPicPr>
          <p:cNvPr id="10" name="圖片 9">
            <a:extLst>
              <a:ext uri="{FF2B5EF4-FFF2-40B4-BE49-F238E27FC236}">
                <a16:creationId xmlns:a16="http://schemas.microsoft.com/office/drawing/2014/main" id="{815D83A6-6D20-441C-8378-55D7AC3D18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10346622" y="4843867"/>
            <a:ext cx="1845378" cy="1845378"/>
          </a:xfrm>
          <a:prstGeom prst="rect">
            <a:avLst/>
          </a:prstGeom>
        </p:spPr>
      </p:pic>
      <p:cxnSp>
        <p:nvCxnSpPr>
          <p:cNvPr id="11" name="直接连接符 33">
            <a:extLst>
              <a:ext uri="{FF2B5EF4-FFF2-40B4-BE49-F238E27FC236}">
                <a16:creationId xmlns:a16="http://schemas.microsoft.com/office/drawing/2014/main" id="{7D44D4D1-2E7C-4DBA-B3B7-2020D34A9D77}"/>
              </a:ext>
            </a:extLst>
          </p:cNvPr>
          <p:cNvCxnSpPr/>
          <p:nvPr/>
        </p:nvCxnSpPr>
        <p:spPr>
          <a:xfrm>
            <a:off x="1177167" y="100056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31119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arn(inVertical)">
                                      <p:cBhvr>
                                        <p:cTn id="11" dur="500"/>
                                        <p:tgtEl>
                                          <p:spTgt spid="3">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53" presetClass="entr" presetSubtype="16"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500" fill="hold"/>
                                        <p:tgtEl>
                                          <p:spTgt spid="5"/>
                                        </p:tgtEl>
                                        <p:attrNameLst>
                                          <p:attrName>ppt_w</p:attrName>
                                        </p:attrNameLst>
                                      </p:cBhvr>
                                      <p:tavLst>
                                        <p:tav tm="0">
                                          <p:val>
                                            <p:fltVal val="0"/>
                                          </p:val>
                                        </p:tav>
                                        <p:tav tm="100000">
                                          <p:val>
                                            <p:strVal val="#ppt_w"/>
                                          </p:val>
                                        </p:tav>
                                      </p:tavLst>
                                    </p:anim>
                                    <p:anim calcmode="lin" valueType="num">
                                      <p:cBhvr>
                                        <p:cTn id="21" dur="500" fill="hold"/>
                                        <p:tgtEl>
                                          <p:spTgt spid="5"/>
                                        </p:tgtEl>
                                        <p:attrNameLst>
                                          <p:attrName>ppt_h</p:attrName>
                                        </p:attrNameLst>
                                      </p:cBhvr>
                                      <p:tavLst>
                                        <p:tav tm="0">
                                          <p:val>
                                            <p:fltVal val="0"/>
                                          </p:val>
                                        </p:tav>
                                        <p:tav tm="100000">
                                          <p:val>
                                            <p:strVal val="#ppt_h"/>
                                          </p:val>
                                        </p:tav>
                                      </p:tavLst>
                                    </p:anim>
                                    <p:animEffect transition="in" filter="fade">
                                      <p:cBhvr>
                                        <p:cTn id="22" dur="500"/>
                                        <p:tgtEl>
                                          <p:spTgt spid="5"/>
                                        </p:tgtEl>
                                      </p:cBhvr>
                                    </p:animEffect>
                                  </p:childTnLst>
                                </p:cTn>
                              </p:par>
                            </p:childTnLst>
                          </p:cTn>
                        </p:par>
                        <p:par>
                          <p:cTn id="23" fill="hold">
                            <p:stCondLst>
                              <p:cond delay="3500"/>
                            </p:stCondLst>
                            <p:childTnLst>
                              <p:par>
                                <p:cTn id="24" presetID="16" presetClass="entr" presetSubtype="37" fill="hold" grpId="0" nodeType="after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arn(outVertical)">
                                      <p:cBhvr>
                                        <p:cTn id="26" dur="500"/>
                                        <p:tgtEl>
                                          <p:spTgt spid="2"/>
                                        </p:tgtEl>
                                      </p:cBhvr>
                                    </p:animEffect>
                                  </p:childTnLst>
                                </p:cTn>
                              </p:par>
                            </p:childTnLst>
                          </p:cTn>
                        </p:par>
                        <p:par>
                          <p:cTn id="27" fill="hold">
                            <p:stCondLst>
                              <p:cond delay="4000"/>
                            </p:stCondLst>
                            <p:childTnLst>
                              <p:par>
                                <p:cTn id="28" presetID="2" presetClass="entr" presetSubtype="2" fill="hold" nodeType="after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1+#ppt_w/2"/>
                                          </p:val>
                                        </p:tav>
                                        <p:tav tm="100000">
                                          <p:val>
                                            <p:strVal val="#ppt_x"/>
                                          </p:val>
                                        </p:tav>
                                      </p:tavLst>
                                    </p:anim>
                                    <p:anim calcmode="lin" valueType="num">
                                      <p:cBhvr additive="base">
                                        <p:cTn id="31"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945641"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8-2 </a:t>
            </a:r>
            <a:r>
              <a:rPr lang="zh-TW" altLang="en-US" sz="2400" b="1" dirty="0">
                <a:solidFill>
                  <a:srgbClr val="E06741"/>
                </a:solidFill>
              </a:rPr>
              <a:t>實務案例─募款交易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568916" y="952805"/>
            <a:ext cx="8519051" cy="497444"/>
          </a:xfrm>
          <a:prstGeom prst="rect">
            <a:avLst/>
          </a:prstGeom>
        </p:spPr>
        <p:txBody>
          <a:bodyPr wrap="square">
            <a:spAutoFit/>
          </a:bodyPr>
          <a:lstStyle/>
          <a:p>
            <a:pPr marL="342900" indent="-342900">
              <a:lnSpc>
                <a:spcPct val="150000"/>
              </a:lnSpc>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傳統支付寶愛心捐贈平台的作業流程與第三方支付相似</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7E3A6309-1716-4781-857E-D6FC371966D7}"/>
              </a:ext>
            </a:extLst>
          </p:cNvPr>
          <p:cNvSpPr txBox="1"/>
          <p:nvPr/>
        </p:nvSpPr>
        <p:spPr>
          <a:xfrm>
            <a:off x="501371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pic>
        <p:nvPicPr>
          <p:cNvPr id="5" name="圖片 4" descr="一張含有 地圖, 螢幕擷取畫面 的圖片&#10;&#10;描述是以高可信度產生">
            <a:extLst>
              <a:ext uri="{FF2B5EF4-FFF2-40B4-BE49-F238E27FC236}">
                <a16:creationId xmlns:a16="http://schemas.microsoft.com/office/drawing/2014/main" id="{4BE575E9-88B2-48CE-AC29-8AD4221BCA0D}"/>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360651" y="1450249"/>
            <a:ext cx="8296654" cy="4883898"/>
          </a:xfrm>
          <a:prstGeom prst="rect">
            <a:avLst/>
          </a:prstGeom>
        </p:spPr>
      </p:pic>
      <p:sp>
        <p:nvSpPr>
          <p:cNvPr id="4" name="文字方塊 3">
            <a:extLst>
              <a:ext uri="{FF2B5EF4-FFF2-40B4-BE49-F238E27FC236}">
                <a16:creationId xmlns:a16="http://schemas.microsoft.com/office/drawing/2014/main" id="{9C7B755F-D514-4948-BB9C-0042287D7923}"/>
              </a:ext>
            </a:extLst>
          </p:cNvPr>
          <p:cNvSpPr txBox="1"/>
          <p:nvPr/>
        </p:nvSpPr>
        <p:spPr>
          <a:xfrm>
            <a:off x="7860145" y="6381075"/>
            <a:ext cx="3070071" cy="369332"/>
          </a:xfrm>
          <a:prstGeom prst="rect">
            <a:avLst/>
          </a:prstGeom>
          <a:noFill/>
        </p:spPr>
        <p:txBody>
          <a:bodyPr wrap="none" rtlCol="0">
            <a:spAutoFit/>
          </a:bodyPr>
          <a:lstStyle/>
          <a:p>
            <a:pPr marL="342900" indent="-342900">
              <a:buFont typeface="微軟正黑體" panose="020B0604030504040204" pitchFamily="34" charset="-120"/>
              <a:buChar char="▲"/>
            </a:pPr>
            <a:r>
              <a:rPr lang="zh-TW" altLang="en-US" b="1" dirty="0">
                <a:solidFill>
                  <a:prstClr val="black">
                    <a:lumMod val="75000"/>
                    <a:lumOff val="25000"/>
                  </a:prstClr>
                </a:solidFill>
                <a:latin typeface="微軟正黑體" panose="020B0604030504040204" pitchFamily="34" charset="-120"/>
                <a:ea typeface="微軟正黑體" panose="020B0604030504040204" pitchFamily="34" charset="-120"/>
              </a:rPr>
              <a:t>第三方支付之生態流程圖</a:t>
            </a:r>
            <a:endParaRPr lang="zh-TW" altLang="en-US" sz="1600" dirty="0"/>
          </a:p>
        </p:txBody>
      </p:sp>
      <p:pic>
        <p:nvPicPr>
          <p:cNvPr id="13" name="圖片 12">
            <a:extLst>
              <a:ext uri="{FF2B5EF4-FFF2-40B4-BE49-F238E27FC236}">
                <a16:creationId xmlns:a16="http://schemas.microsoft.com/office/drawing/2014/main" id="{99A5BDE9-6CBE-4D11-8E06-86B0790BB8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3540407"/>
            <a:ext cx="1741056" cy="1741056"/>
          </a:xfrm>
          <a:prstGeom prst="rect">
            <a:avLst/>
          </a:prstGeom>
        </p:spPr>
      </p:pic>
      <p:cxnSp>
        <p:nvCxnSpPr>
          <p:cNvPr id="10" name="直接连接符 33">
            <a:extLst>
              <a:ext uri="{FF2B5EF4-FFF2-40B4-BE49-F238E27FC236}">
                <a16:creationId xmlns:a16="http://schemas.microsoft.com/office/drawing/2014/main" id="{3414F4A7-2C9A-4BC6-A93C-D83DE1873FBB}"/>
              </a:ext>
            </a:extLst>
          </p:cNvPr>
          <p:cNvCxnSpPr/>
          <p:nvPr/>
        </p:nvCxnSpPr>
        <p:spPr>
          <a:xfrm>
            <a:off x="1177167" y="100056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402470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arn(inVertical)">
                                      <p:cBhvr>
                                        <p:cTn id="11" dur="500"/>
                                        <p:tgtEl>
                                          <p:spTgt spid="3">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53" presetClass="entr" presetSubtype="16"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500" fill="hold"/>
                                        <p:tgtEl>
                                          <p:spTgt spid="5"/>
                                        </p:tgtEl>
                                        <p:attrNameLst>
                                          <p:attrName>ppt_w</p:attrName>
                                        </p:attrNameLst>
                                      </p:cBhvr>
                                      <p:tavLst>
                                        <p:tav tm="0">
                                          <p:val>
                                            <p:fltVal val="0"/>
                                          </p:val>
                                        </p:tav>
                                        <p:tav tm="100000">
                                          <p:val>
                                            <p:strVal val="#ppt_w"/>
                                          </p:val>
                                        </p:tav>
                                      </p:tavLst>
                                    </p:anim>
                                    <p:anim calcmode="lin" valueType="num">
                                      <p:cBhvr>
                                        <p:cTn id="26" dur="500" fill="hold"/>
                                        <p:tgtEl>
                                          <p:spTgt spid="5"/>
                                        </p:tgtEl>
                                        <p:attrNameLst>
                                          <p:attrName>ppt_h</p:attrName>
                                        </p:attrNameLst>
                                      </p:cBhvr>
                                      <p:tavLst>
                                        <p:tav tm="0">
                                          <p:val>
                                            <p:fltVal val="0"/>
                                          </p:val>
                                        </p:tav>
                                        <p:tav tm="100000">
                                          <p:val>
                                            <p:strVal val="#ppt_h"/>
                                          </p:val>
                                        </p:tav>
                                      </p:tavLst>
                                    </p:anim>
                                    <p:animEffect transition="in" filter="fade">
                                      <p:cBhvr>
                                        <p:cTn id="27" dur="500"/>
                                        <p:tgtEl>
                                          <p:spTgt spid="5"/>
                                        </p:tgtEl>
                                      </p:cBhvr>
                                    </p:animEffect>
                                  </p:childTnLst>
                                </p:cTn>
                              </p:par>
                            </p:childTnLst>
                          </p:cTn>
                        </p:par>
                        <p:par>
                          <p:cTn id="28" fill="hold">
                            <p:stCondLst>
                              <p:cond delay="4000"/>
                            </p:stCondLst>
                            <p:childTnLst>
                              <p:par>
                                <p:cTn id="29" presetID="2" presetClass="entr" presetSubtype="4" fill="hold" nodeType="after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 calcmode="lin" valueType="num">
                                      <p:cBhvr additive="base">
                                        <p:cTn id="3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par>
                          <p:cTn id="33" fill="hold">
                            <p:stCondLst>
                              <p:cond delay="4500"/>
                            </p:stCondLst>
                            <p:childTnLst>
                              <p:par>
                                <p:cTn id="34" presetID="2" presetClass="entr" presetSubtype="8" fill="hold" nodeType="after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additive="base">
                                        <p:cTn id="36" dur="500" fill="hold"/>
                                        <p:tgtEl>
                                          <p:spTgt spid="13"/>
                                        </p:tgtEl>
                                        <p:attrNameLst>
                                          <p:attrName>ppt_x</p:attrName>
                                        </p:attrNameLst>
                                      </p:cBhvr>
                                      <p:tavLst>
                                        <p:tav tm="0">
                                          <p:val>
                                            <p:strVal val="0-#ppt_w/2"/>
                                          </p:val>
                                        </p:tav>
                                        <p:tav tm="100000">
                                          <p:val>
                                            <p:strVal val="#ppt_x"/>
                                          </p:val>
                                        </p:tav>
                                      </p:tavLst>
                                    </p:anim>
                                    <p:anim calcmode="lin" valueType="num">
                                      <p:cBhvr additive="base">
                                        <p:cTn id="37"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945641"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8-2 </a:t>
            </a:r>
            <a:r>
              <a:rPr lang="zh-TW" altLang="en-US" sz="2400" b="1" dirty="0">
                <a:solidFill>
                  <a:srgbClr val="E06741"/>
                </a:solidFill>
              </a:rPr>
              <a:t>實務案例─募款交易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267254" y="1131099"/>
            <a:ext cx="8519050" cy="497444"/>
          </a:xfrm>
          <a:prstGeom prst="rect">
            <a:avLst/>
          </a:prstGeom>
        </p:spPr>
        <p:txBody>
          <a:bodyPr wrap="square">
            <a:spAutoFit/>
          </a:bodyPr>
          <a:lstStyle/>
          <a:p>
            <a:pPr marL="342900" indent="-342900">
              <a:lnSpc>
                <a:spcPct val="150000"/>
              </a:lnSpc>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第三方支付之生態流程的內容及程序</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7E3A6309-1716-4781-857E-D6FC371966D7}"/>
              </a:ext>
            </a:extLst>
          </p:cNvPr>
          <p:cNvSpPr txBox="1"/>
          <p:nvPr/>
        </p:nvSpPr>
        <p:spPr>
          <a:xfrm>
            <a:off x="501371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graphicFrame>
        <p:nvGraphicFramePr>
          <p:cNvPr id="4" name="資料庫圖表 3">
            <a:extLst>
              <a:ext uri="{FF2B5EF4-FFF2-40B4-BE49-F238E27FC236}">
                <a16:creationId xmlns:a16="http://schemas.microsoft.com/office/drawing/2014/main" id="{C1D2738F-7B3B-4FDD-8155-889CCCB4C02B}"/>
              </a:ext>
            </a:extLst>
          </p:cNvPr>
          <p:cNvGraphicFramePr/>
          <p:nvPr>
            <p:extLst>
              <p:ext uri="{D42A27DB-BD31-4B8C-83A1-F6EECF244321}">
                <p14:modId xmlns:p14="http://schemas.microsoft.com/office/powerpoint/2010/main" val="1705002848"/>
              </p:ext>
            </p:extLst>
          </p:nvPr>
        </p:nvGraphicFramePr>
        <p:xfrm>
          <a:off x="1084185" y="2336802"/>
          <a:ext cx="10589491" cy="154018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0" name="資料庫圖表 9">
            <a:extLst>
              <a:ext uri="{FF2B5EF4-FFF2-40B4-BE49-F238E27FC236}">
                <a16:creationId xmlns:a16="http://schemas.microsoft.com/office/drawing/2014/main" id="{0C7EB414-D1FB-4E9F-BC07-6665B2D80D12}"/>
              </a:ext>
            </a:extLst>
          </p:cNvPr>
          <p:cNvGraphicFramePr/>
          <p:nvPr>
            <p:extLst>
              <p:ext uri="{D42A27DB-BD31-4B8C-83A1-F6EECF244321}">
                <p14:modId xmlns:p14="http://schemas.microsoft.com/office/powerpoint/2010/main" val="2866346609"/>
              </p:ext>
            </p:extLst>
          </p:nvPr>
        </p:nvGraphicFramePr>
        <p:xfrm>
          <a:off x="1093417" y="4447192"/>
          <a:ext cx="10589491" cy="1618653"/>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6" name="圖片 5">
            <a:extLst>
              <a:ext uri="{FF2B5EF4-FFF2-40B4-BE49-F238E27FC236}">
                <a16:creationId xmlns:a16="http://schemas.microsoft.com/office/drawing/2014/main" id="{69AFB42A-8B5B-4744-B353-9A11CFD8E184}"/>
              </a:ext>
            </a:extLst>
          </p:cNvPr>
          <p:cNvPicPr>
            <a:picLocks noChangeAspect="1"/>
          </p:cNvPicPr>
          <p:nvPr/>
        </p:nvPicPr>
        <p:blipFill>
          <a:blip r:embed="rId14"/>
          <a:stretch>
            <a:fillRect/>
          </a:stretch>
        </p:blipFill>
        <p:spPr>
          <a:xfrm>
            <a:off x="335788" y="4909016"/>
            <a:ext cx="591363" cy="695004"/>
          </a:xfrm>
          <a:prstGeom prst="rect">
            <a:avLst/>
          </a:prstGeom>
        </p:spPr>
      </p:pic>
      <p:sp>
        <p:nvSpPr>
          <p:cNvPr id="11" name="文字方塊 10">
            <a:extLst>
              <a:ext uri="{FF2B5EF4-FFF2-40B4-BE49-F238E27FC236}">
                <a16:creationId xmlns:a16="http://schemas.microsoft.com/office/drawing/2014/main" id="{B9D2151C-E643-494A-9503-EE21E1A8E0BE}"/>
              </a:ext>
            </a:extLst>
          </p:cNvPr>
          <p:cNvSpPr txBox="1"/>
          <p:nvPr/>
        </p:nvSpPr>
        <p:spPr>
          <a:xfrm>
            <a:off x="1148716" y="1914572"/>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1</a:t>
            </a:r>
          </a:p>
        </p:txBody>
      </p:sp>
      <p:sp>
        <p:nvSpPr>
          <p:cNvPr id="12" name="文字方塊 11">
            <a:extLst>
              <a:ext uri="{FF2B5EF4-FFF2-40B4-BE49-F238E27FC236}">
                <a16:creationId xmlns:a16="http://schemas.microsoft.com/office/drawing/2014/main" id="{5B226E83-9F15-4037-AD35-01897DB759B7}"/>
              </a:ext>
            </a:extLst>
          </p:cNvPr>
          <p:cNvSpPr txBox="1"/>
          <p:nvPr/>
        </p:nvSpPr>
        <p:spPr>
          <a:xfrm>
            <a:off x="5070565" y="4027407"/>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5</a:t>
            </a:r>
          </a:p>
        </p:txBody>
      </p:sp>
      <p:sp>
        <p:nvSpPr>
          <p:cNvPr id="13" name="文字方塊 12">
            <a:extLst>
              <a:ext uri="{FF2B5EF4-FFF2-40B4-BE49-F238E27FC236}">
                <a16:creationId xmlns:a16="http://schemas.microsoft.com/office/drawing/2014/main" id="{0403EDCE-D36C-4164-A6E0-172D4DBE5164}"/>
              </a:ext>
            </a:extLst>
          </p:cNvPr>
          <p:cNvSpPr txBox="1"/>
          <p:nvPr/>
        </p:nvSpPr>
        <p:spPr>
          <a:xfrm>
            <a:off x="1148716" y="4059871"/>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4</a:t>
            </a:r>
          </a:p>
        </p:txBody>
      </p:sp>
      <p:sp>
        <p:nvSpPr>
          <p:cNvPr id="14" name="文字方塊 13">
            <a:extLst>
              <a:ext uri="{FF2B5EF4-FFF2-40B4-BE49-F238E27FC236}">
                <a16:creationId xmlns:a16="http://schemas.microsoft.com/office/drawing/2014/main" id="{8102116A-8914-456C-99CC-FFB6CE5B31B3}"/>
              </a:ext>
            </a:extLst>
          </p:cNvPr>
          <p:cNvSpPr txBox="1"/>
          <p:nvPr/>
        </p:nvSpPr>
        <p:spPr>
          <a:xfrm>
            <a:off x="9078134" y="1915929"/>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3</a:t>
            </a:r>
          </a:p>
        </p:txBody>
      </p:sp>
      <p:sp>
        <p:nvSpPr>
          <p:cNvPr id="15" name="文字方塊 14">
            <a:extLst>
              <a:ext uri="{FF2B5EF4-FFF2-40B4-BE49-F238E27FC236}">
                <a16:creationId xmlns:a16="http://schemas.microsoft.com/office/drawing/2014/main" id="{49A6520A-3442-46DF-A568-8B5FB7CF0215}"/>
              </a:ext>
            </a:extLst>
          </p:cNvPr>
          <p:cNvSpPr txBox="1"/>
          <p:nvPr/>
        </p:nvSpPr>
        <p:spPr>
          <a:xfrm>
            <a:off x="5059891" y="1914572"/>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2</a:t>
            </a:r>
          </a:p>
        </p:txBody>
      </p:sp>
      <p:sp>
        <p:nvSpPr>
          <p:cNvPr id="16" name="文字方塊 15">
            <a:extLst>
              <a:ext uri="{FF2B5EF4-FFF2-40B4-BE49-F238E27FC236}">
                <a16:creationId xmlns:a16="http://schemas.microsoft.com/office/drawing/2014/main" id="{E65EC2F9-8F48-4CFB-A87A-49E1DF4E7EF8}"/>
              </a:ext>
            </a:extLst>
          </p:cNvPr>
          <p:cNvSpPr txBox="1"/>
          <p:nvPr/>
        </p:nvSpPr>
        <p:spPr>
          <a:xfrm>
            <a:off x="9078133" y="4027407"/>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6</a:t>
            </a:r>
          </a:p>
        </p:txBody>
      </p:sp>
      <p:pic>
        <p:nvPicPr>
          <p:cNvPr id="18" name="圖片 17" descr="一張含有 向量圖形 的圖片&#10;&#10;描述是以非常高的可信度產生">
            <a:extLst>
              <a:ext uri="{FF2B5EF4-FFF2-40B4-BE49-F238E27FC236}">
                <a16:creationId xmlns:a16="http://schemas.microsoft.com/office/drawing/2014/main" id="{43D96B79-1EAB-4436-817E-9397988FC6C0}"/>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0120225" y="424562"/>
            <a:ext cx="1609042" cy="1609042"/>
          </a:xfrm>
          <a:prstGeom prst="rect">
            <a:avLst/>
          </a:prstGeom>
        </p:spPr>
      </p:pic>
      <p:cxnSp>
        <p:nvCxnSpPr>
          <p:cNvPr id="17" name="直接连接符 33">
            <a:extLst>
              <a:ext uri="{FF2B5EF4-FFF2-40B4-BE49-F238E27FC236}">
                <a16:creationId xmlns:a16="http://schemas.microsoft.com/office/drawing/2014/main" id="{6327C514-B1CD-4F51-A672-D68FDBEDFB2D}"/>
              </a:ext>
            </a:extLst>
          </p:cNvPr>
          <p:cNvCxnSpPr>
            <a:cxnSpLocks/>
          </p:cNvCxnSpPr>
          <p:nvPr/>
        </p:nvCxnSpPr>
        <p:spPr>
          <a:xfrm>
            <a:off x="1177167" y="1000566"/>
            <a:ext cx="8419415"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713843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Vertical)">
                                      <p:cBhvr>
                                        <p:cTn id="11" dur="500"/>
                                        <p:tgtEl>
                                          <p:spTgt spid="3"/>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0-#ppt_w/2"/>
                                          </p:val>
                                        </p:tav>
                                        <p:tav tm="100000">
                                          <p:val>
                                            <p:strVal val="#ppt_x"/>
                                          </p:val>
                                        </p:tav>
                                      </p:tavLst>
                                    </p:anim>
                                    <p:anim calcmode="lin" valueType="num">
                                      <p:cBhvr additive="base">
                                        <p:cTn id="16" dur="500" fill="hold"/>
                                        <p:tgtEl>
                                          <p:spTgt spid="17"/>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2" presetClass="entr" presetSubtype="8" fill="hold" grpId="0" nodeType="after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0-#ppt_w/2"/>
                                          </p:val>
                                        </p:tav>
                                        <p:tav tm="100000">
                                          <p:val>
                                            <p:strVal val="#ppt_x"/>
                                          </p:val>
                                        </p:tav>
                                      </p:tavLst>
                                    </p:anim>
                                    <p:anim calcmode="lin" valueType="num">
                                      <p:cBhvr additive="base">
                                        <p:cTn id="26" dur="500" fill="hold"/>
                                        <p:tgtEl>
                                          <p:spTgt spid="4"/>
                                        </p:tgtEl>
                                        <p:attrNameLst>
                                          <p:attrName>ppt_y</p:attrName>
                                        </p:attrNameLst>
                                      </p:cBhvr>
                                      <p:tavLst>
                                        <p:tav tm="0">
                                          <p:val>
                                            <p:strVal val="#ppt_y"/>
                                          </p:val>
                                        </p:tav>
                                        <p:tav tm="100000">
                                          <p:val>
                                            <p:strVal val="#ppt_y"/>
                                          </p:val>
                                        </p:tav>
                                      </p:tavLst>
                                    </p:anim>
                                  </p:childTnLst>
                                </p:cTn>
                              </p:par>
                              <p:par>
                                <p:cTn id="27" presetID="16" presetClass="entr" presetSubtype="21"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arn(inVertical)">
                                      <p:cBhvr>
                                        <p:cTn id="29" dur="500"/>
                                        <p:tgtEl>
                                          <p:spTgt spid="11"/>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arn(inVertical)">
                                      <p:cBhvr>
                                        <p:cTn id="32" dur="500"/>
                                        <p:tgtEl>
                                          <p:spTgt spid="15"/>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barn(inVertical)">
                                      <p:cBhvr>
                                        <p:cTn id="35" dur="500"/>
                                        <p:tgtEl>
                                          <p:spTgt spid="14"/>
                                        </p:tgtEl>
                                      </p:cBhvr>
                                    </p:animEffect>
                                  </p:childTnLst>
                                </p:cTn>
                              </p:par>
                            </p:childTnLst>
                          </p:cTn>
                        </p:par>
                        <p:par>
                          <p:cTn id="36" fill="hold">
                            <p:stCondLst>
                              <p:cond delay="4000"/>
                            </p:stCondLst>
                            <p:childTnLst>
                              <p:par>
                                <p:cTn id="37" presetID="2" presetClass="entr" presetSubtype="8" fill="hold" nodeType="after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additive="base">
                                        <p:cTn id="39" dur="500" fill="hold"/>
                                        <p:tgtEl>
                                          <p:spTgt spid="6"/>
                                        </p:tgtEl>
                                        <p:attrNameLst>
                                          <p:attrName>ppt_x</p:attrName>
                                        </p:attrNameLst>
                                      </p:cBhvr>
                                      <p:tavLst>
                                        <p:tav tm="0">
                                          <p:val>
                                            <p:strVal val="0-#ppt_w/2"/>
                                          </p:val>
                                        </p:tav>
                                        <p:tav tm="100000">
                                          <p:val>
                                            <p:strVal val="#ppt_x"/>
                                          </p:val>
                                        </p:tav>
                                      </p:tavLst>
                                    </p:anim>
                                    <p:anim calcmode="lin" valueType="num">
                                      <p:cBhvr additive="base">
                                        <p:cTn id="40" dur="500" fill="hold"/>
                                        <p:tgtEl>
                                          <p:spTgt spid="6"/>
                                        </p:tgtEl>
                                        <p:attrNameLst>
                                          <p:attrName>ppt_y</p:attrName>
                                        </p:attrNameLst>
                                      </p:cBhvr>
                                      <p:tavLst>
                                        <p:tav tm="0">
                                          <p:val>
                                            <p:strVal val="#ppt_y"/>
                                          </p:val>
                                        </p:tav>
                                        <p:tav tm="100000">
                                          <p:val>
                                            <p:strVal val="#ppt_y"/>
                                          </p:val>
                                        </p:tav>
                                      </p:tavLst>
                                    </p:anim>
                                  </p:childTnLst>
                                </p:cTn>
                              </p:par>
                            </p:childTnLst>
                          </p:cTn>
                        </p:par>
                        <p:par>
                          <p:cTn id="41" fill="hold">
                            <p:stCondLst>
                              <p:cond delay="4500"/>
                            </p:stCondLst>
                            <p:childTnLst>
                              <p:par>
                                <p:cTn id="42" presetID="2" presetClass="entr" presetSubtype="8" fill="hold" grpId="0" nodeType="after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additive="base">
                                        <p:cTn id="44" dur="500" fill="hold"/>
                                        <p:tgtEl>
                                          <p:spTgt spid="10"/>
                                        </p:tgtEl>
                                        <p:attrNameLst>
                                          <p:attrName>ppt_x</p:attrName>
                                        </p:attrNameLst>
                                      </p:cBhvr>
                                      <p:tavLst>
                                        <p:tav tm="0">
                                          <p:val>
                                            <p:strVal val="0-#ppt_w/2"/>
                                          </p:val>
                                        </p:tav>
                                        <p:tav tm="100000">
                                          <p:val>
                                            <p:strVal val="#ppt_x"/>
                                          </p:val>
                                        </p:tav>
                                      </p:tavLst>
                                    </p:anim>
                                    <p:anim calcmode="lin" valueType="num">
                                      <p:cBhvr additive="base">
                                        <p:cTn id="45" dur="500" fill="hold"/>
                                        <p:tgtEl>
                                          <p:spTgt spid="10"/>
                                        </p:tgtEl>
                                        <p:attrNameLst>
                                          <p:attrName>ppt_y</p:attrName>
                                        </p:attrNameLst>
                                      </p:cBhvr>
                                      <p:tavLst>
                                        <p:tav tm="0">
                                          <p:val>
                                            <p:strVal val="#ppt_y"/>
                                          </p:val>
                                        </p:tav>
                                        <p:tav tm="100000">
                                          <p:val>
                                            <p:strVal val="#ppt_y"/>
                                          </p:val>
                                        </p:tav>
                                      </p:tavLst>
                                    </p:anim>
                                  </p:childTnLst>
                                </p:cTn>
                              </p:par>
                              <p:par>
                                <p:cTn id="46" presetID="16" presetClass="entr" presetSubtype="21"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barn(inVertical)">
                                      <p:cBhvr>
                                        <p:cTn id="48" dur="500"/>
                                        <p:tgtEl>
                                          <p:spTgt spid="13"/>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barn(inVertical)">
                                      <p:cBhvr>
                                        <p:cTn id="51" dur="500"/>
                                        <p:tgtEl>
                                          <p:spTgt spid="12"/>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barn(inVertical)">
                                      <p:cBhvr>
                                        <p:cTn id="54" dur="500"/>
                                        <p:tgtEl>
                                          <p:spTgt spid="16"/>
                                        </p:tgtEl>
                                      </p:cBhvr>
                                    </p:animEffect>
                                  </p:childTnLst>
                                </p:cTn>
                              </p:par>
                            </p:childTnLst>
                          </p:cTn>
                        </p:par>
                        <p:par>
                          <p:cTn id="55" fill="hold">
                            <p:stCondLst>
                              <p:cond delay="5000"/>
                            </p:stCondLst>
                            <p:childTnLst>
                              <p:par>
                                <p:cTn id="56" presetID="53" presetClass="entr" presetSubtype="16" fill="hold" nodeType="afterEffect">
                                  <p:stCondLst>
                                    <p:cond delay="0"/>
                                  </p:stCondLst>
                                  <p:childTnLst>
                                    <p:set>
                                      <p:cBhvr>
                                        <p:cTn id="57" dur="1" fill="hold">
                                          <p:stCondLst>
                                            <p:cond delay="0"/>
                                          </p:stCondLst>
                                        </p:cTn>
                                        <p:tgtEl>
                                          <p:spTgt spid="18"/>
                                        </p:tgtEl>
                                        <p:attrNameLst>
                                          <p:attrName>style.visibility</p:attrName>
                                        </p:attrNameLst>
                                      </p:cBhvr>
                                      <p:to>
                                        <p:strVal val="visible"/>
                                      </p:to>
                                    </p:set>
                                    <p:anim calcmode="lin" valueType="num">
                                      <p:cBhvr>
                                        <p:cTn id="58" dur="500" fill="hold"/>
                                        <p:tgtEl>
                                          <p:spTgt spid="18"/>
                                        </p:tgtEl>
                                        <p:attrNameLst>
                                          <p:attrName>ppt_w</p:attrName>
                                        </p:attrNameLst>
                                      </p:cBhvr>
                                      <p:tavLst>
                                        <p:tav tm="0">
                                          <p:val>
                                            <p:fltVal val="0"/>
                                          </p:val>
                                        </p:tav>
                                        <p:tav tm="100000">
                                          <p:val>
                                            <p:strVal val="#ppt_w"/>
                                          </p:val>
                                        </p:tav>
                                      </p:tavLst>
                                    </p:anim>
                                    <p:anim calcmode="lin" valueType="num">
                                      <p:cBhvr>
                                        <p:cTn id="59" dur="500" fill="hold"/>
                                        <p:tgtEl>
                                          <p:spTgt spid="18"/>
                                        </p:tgtEl>
                                        <p:attrNameLst>
                                          <p:attrName>ppt_h</p:attrName>
                                        </p:attrNameLst>
                                      </p:cBhvr>
                                      <p:tavLst>
                                        <p:tav tm="0">
                                          <p:val>
                                            <p:fltVal val="0"/>
                                          </p:val>
                                        </p:tav>
                                        <p:tav tm="100000">
                                          <p:val>
                                            <p:strVal val="#ppt_h"/>
                                          </p:val>
                                        </p:tav>
                                      </p:tavLst>
                                    </p:anim>
                                    <p:animEffect transition="in" filter="fade">
                                      <p:cBhvr>
                                        <p:cTn id="6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Graphic spid="4" grpId="0">
        <p:bldAsOne/>
      </p:bldGraphic>
      <p:bldGraphic spid="10" grpId="0">
        <p:bldAsOne/>
      </p:bldGraphic>
      <p:bldP spid="11" grpId="0"/>
      <p:bldP spid="12" grpId="0"/>
      <p:bldP spid="13" grpId="0"/>
      <p:bldP spid="14" grpId="0"/>
      <p:bldP spid="15"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945641"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8-2 </a:t>
            </a:r>
            <a:r>
              <a:rPr lang="zh-TW" altLang="en-US" sz="2400" b="1" dirty="0">
                <a:solidFill>
                  <a:srgbClr val="E06741"/>
                </a:solidFill>
              </a:rPr>
              <a:t>實務案例─募款交易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586483" y="1008709"/>
            <a:ext cx="8519050" cy="497444"/>
          </a:xfrm>
          <a:prstGeom prst="rect">
            <a:avLst/>
          </a:prstGeom>
        </p:spPr>
        <p:txBody>
          <a:bodyPr wrap="square">
            <a:spAutoFit/>
          </a:bodyPr>
          <a:lstStyle/>
          <a:p>
            <a:pPr marL="342900" indent="-342900">
              <a:lnSpc>
                <a:spcPct val="150000"/>
              </a:lnSpc>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螞蟻金服傳統支付寶愛心捐贈流程圖</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7E3A6309-1716-4781-857E-D6FC371966D7}"/>
              </a:ext>
            </a:extLst>
          </p:cNvPr>
          <p:cNvSpPr txBox="1"/>
          <p:nvPr/>
        </p:nvSpPr>
        <p:spPr>
          <a:xfrm>
            <a:off x="501371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pic>
        <p:nvPicPr>
          <p:cNvPr id="6" name="圖片 5" descr="一張含有 螢幕擷取畫面 的圖片&#10;&#10;描述是以非常高的可信度產生">
            <a:extLst>
              <a:ext uri="{FF2B5EF4-FFF2-40B4-BE49-F238E27FC236}">
                <a16:creationId xmlns:a16="http://schemas.microsoft.com/office/drawing/2014/main" id="{632ED898-8724-4461-848F-4207A2BBD85D}"/>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209042" y="1348730"/>
            <a:ext cx="8800704" cy="5509270"/>
          </a:xfrm>
          <a:prstGeom prst="rect">
            <a:avLst/>
          </a:prstGeom>
        </p:spPr>
      </p:pic>
      <p:pic>
        <p:nvPicPr>
          <p:cNvPr id="12" name="圖片 11" descr="一張含有 向量圖形 的圖片&#10;&#10;描述是以高可信度產生">
            <a:extLst>
              <a:ext uri="{FF2B5EF4-FFF2-40B4-BE49-F238E27FC236}">
                <a16:creationId xmlns:a16="http://schemas.microsoft.com/office/drawing/2014/main" id="{44D34425-3C4F-449B-967A-81916FA349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206864"/>
            <a:ext cx="1651136" cy="1651136"/>
          </a:xfrm>
          <a:prstGeom prst="rect">
            <a:avLst/>
          </a:prstGeom>
        </p:spPr>
      </p:pic>
      <p:pic>
        <p:nvPicPr>
          <p:cNvPr id="13" name="圖片 12">
            <a:extLst>
              <a:ext uri="{FF2B5EF4-FFF2-40B4-BE49-F238E27FC236}">
                <a16:creationId xmlns:a16="http://schemas.microsoft.com/office/drawing/2014/main" id="{A3FEA3D5-6FEE-42A4-AE74-7850EDE6C6E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635477" y="832380"/>
            <a:ext cx="375520" cy="375520"/>
          </a:xfrm>
          <a:prstGeom prst="rect">
            <a:avLst/>
          </a:prstGeom>
        </p:spPr>
      </p:pic>
      <p:pic>
        <p:nvPicPr>
          <p:cNvPr id="14" name="圖片 13">
            <a:extLst>
              <a:ext uri="{FF2B5EF4-FFF2-40B4-BE49-F238E27FC236}">
                <a16:creationId xmlns:a16="http://schemas.microsoft.com/office/drawing/2014/main" id="{E203CBD9-77CF-4DAE-B230-500A9A09B10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071513" y="337204"/>
            <a:ext cx="394526" cy="394526"/>
          </a:xfrm>
          <a:prstGeom prst="rect">
            <a:avLst/>
          </a:prstGeom>
        </p:spPr>
      </p:pic>
      <p:pic>
        <p:nvPicPr>
          <p:cNvPr id="16" name="圖片 15">
            <a:extLst>
              <a:ext uri="{FF2B5EF4-FFF2-40B4-BE49-F238E27FC236}">
                <a16:creationId xmlns:a16="http://schemas.microsoft.com/office/drawing/2014/main" id="{A24D03F9-935B-4455-A554-B904665B256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35338" y="1452556"/>
            <a:ext cx="340156" cy="340156"/>
          </a:xfrm>
          <a:prstGeom prst="rect">
            <a:avLst/>
          </a:prstGeom>
        </p:spPr>
      </p:pic>
      <p:pic>
        <p:nvPicPr>
          <p:cNvPr id="17" name="圖片 16">
            <a:extLst>
              <a:ext uri="{FF2B5EF4-FFF2-40B4-BE49-F238E27FC236}">
                <a16:creationId xmlns:a16="http://schemas.microsoft.com/office/drawing/2014/main" id="{51229407-E6D9-4182-91DF-461EA043DF2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91613" y="1990837"/>
            <a:ext cx="285968" cy="285968"/>
          </a:xfrm>
          <a:prstGeom prst="rect">
            <a:avLst/>
          </a:prstGeom>
        </p:spPr>
      </p:pic>
      <p:pic>
        <p:nvPicPr>
          <p:cNvPr id="18" name="圖片 17">
            <a:extLst>
              <a:ext uri="{FF2B5EF4-FFF2-40B4-BE49-F238E27FC236}">
                <a16:creationId xmlns:a16="http://schemas.microsoft.com/office/drawing/2014/main" id="{6A87C531-9349-4C2A-905D-3E8A07DE82D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260230" y="93478"/>
            <a:ext cx="285968" cy="285968"/>
          </a:xfrm>
          <a:prstGeom prst="rect">
            <a:avLst/>
          </a:prstGeom>
        </p:spPr>
      </p:pic>
      <p:pic>
        <p:nvPicPr>
          <p:cNvPr id="19" name="圖片 18">
            <a:extLst>
              <a:ext uri="{FF2B5EF4-FFF2-40B4-BE49-F238E27FC236}">
                <a16:creationId xmlns:a16="http://schemas.microsoft.com/office/drawing/2014/main" id="{AF505746-C9FC-4EAA-8B84-18F2617834D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830779" y="649221"/>
            <a:ext cx="285968" cy="285968"/>
          </a:xfrm>
          <a:prstGeom prst="rect">
            <a:avLst/>
          </a:prstGeom>
        </p:spPr>
      </p:pic>
      <p:cxnSp>
        <p:nvCxnSpPr>
          <p:cNvPr id="15" name="直接连接符 33">
            <a:extLst>
              <a:ext uri="{FF2B5EF4-FFF2-40B4-BE49-F238E27FC236}">
                <a16:creationId xmlns:a16="http://schemas.microsoft.com/office/drawing/2014/main" id="{7B31AA2A-3723-4BB6-8E65-E2ADF1B25DDA}"/>
              </a:ext>
            </a:extLst>
          </p:cNvPr>
          <p:cNvCxnSpPr>
            <a:cxnSpLocks/>
          </p:cNvCxnSpPr>
          <p:nvPr/>
        </p:nvCxnSpPr>
        <p:spPr>
          <a:xfrm>
            <a:off x="1177167" y="1000566"/>
            <a:ext cx="8641088" cy="814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8894066"/>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arn(inVertical)">
                                      <p:cBhvr>
                                        <p:cTn id="11" dur="500"/>
                                        <p:tgtEl>
                                          <p:spTgt spid="3">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53" presetClass="entr" presetSubtype="16"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fltVal val="0"/>
                                          </p:val>
                                        </p:tav>
                                        <p:tav tm="100000">
                                          <p:val>
                                            <p:strVal val="#ppt_h"/>
                                          </p:val>
                                        </p:tav>
                                      </p:tavLst>
                                    </p:anim>
                                    <p:animEffect transition="in" filter="fade">
                                      <p:cBhvr>
                                        <p:cTn id="27" dur="500"/>
                                        <p:tgtEl>
                                          <p:spTgt spid="6"/>
                                        </p:tgtEl>
                                      </p:cBhvr>
                                    </p:animEffect>
                                  </p:childTnLst>
                                </p:cTn>
                              </p:par>
                            </p:childTnLst>
                          </p:cTn>
                        </p:par>
                        <p:par>
                          <p:cTn id="28" fill="hold">
                            <p:stCondLst>
                              <p:cond delay="4000"/>
                            </p:stCondLst>
                            <p:childTnLst>
                              <p:par>
                                <p:cTn id="29" presetID="2" presetClass="entr" presetSubtype="4" fill="hold" nodeType="after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par>
                          <p:cTn id="33" fill="hold">
                            <p:stCondLst>
                              <p:cond delay="4500"/>
                            </p:stCondLst>
                            <p:childTnLst>
                              <p:par>
                                <p:cTn id="34" presetID="53" presetClass="entr" presetSubtype="16" fill="hold" nodeType="after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p:cTn id="36" dur="500" fill="hold"/>
                                        <p:tgtEl>
                                          <p:spTgt spid="17"/>
                                        </p:tgtEl>
                                        <p:attrNameLst>
                                          <p:attrName>ppt_w</p:attrName>
                                        </p:attrNameLst>
                                      </p:cBhvr>
                                      <p:tavLst>
                                        <p:tav tm="0">
                                          <p:val>
                                            <p:fltVal val="0"/>
                                          </p:val>
                                        </p:tav>
                                        <p:tav tm="100000">
                                          <p:val>
                                            <p:strVal val="#ppt_w"/>
                                          </p:val>
                                        </p:tav>
                                      </p:tavLst>
                                    </p:anim>
                                    <p:anim calcmode="lin" valueType="num">
                                      <p:cBhvr>
                                        <p:cTn id="37" dur="500" fill="hold"/>
                                        <p:tgtEl>
                                          <p:spTgt spid="17"/>
                                        </p:tgtEl>
                                        <p:attrNameLst>
                                          <p:attrName>ppt_h</p:attrName>
                                        </p:attrNameLst>
                                      </p:cBhvr>
                                      <p:tavLst>
                                        <p:tav tm="0">
                                          <p:val>
                                            <p:fltVal val="0"/>
                                          </p:val>
                                        </p:tav>
                                        <p:tav tm="100000">
                                          <p:val>
                                            <p:strVal val="#ppt_h"/>
                                          </p:val>
                                        </p:tav>
                                      </p:tavLst>
                                    </p:anim>
                                    <p:animEffect transition="in" filter="fade">
                                      <p:cBhvr>
                                        <p:cTn id="38" dur="500"/>
                                        <p:tgtEl>
                                          <p:spTgt spid="17"/>
                                        </p:tgtEl>
                                      </p:cBhvr>
                                    </p:animEffect>
                                  </p:childTnLst>
                                </p:cTn>
                              </p:par>
                            </p:childTnLst>
                          </p:cTn>
                        </p:par>
                        <p:par>
                          <p:cTn id="39" fill="hold">
                            <p:stCondLst>
                              <p:cond delay="5000"/>
                            </p:stCondLst>
                            <p:childTnLst>
                              <p:par>
                                <p:cTn id="40" presetID="53" presetClass="entr" presetSubtype="16" fill="hold" nodeType="after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p:cTn id="42" dur="500" fill="hold"/>
                                        <p:tgtEl>
                                          <p:spTgt spid="16"/>
                                        </p:tgtEl>
                                        <p:attrNameLst>
                                          <p:attrName>ppt_w</p:attrName>
                                        </p:attrNameLst>
                                      </p:cBhvr>
                                      <p:tavLst>
                                        <p:tav tm="0">
                                          <p:val>
                                            <p:fltVal val="0"/>
                                          </p:val>
                                        </p:tav>
                                        <p:tav tm="100000">
                                          <p:val>
                                            <p:strVal val="#ppt_w"/>
                                          </p:val>
                                        </p:tav>
                                      </p:tavLst>
                                    </p:anim>
                                    <p:anim calcmode="lin" valueType="num">
                                      <p:cBhvr>
                                        <p:cTn id="43" dur="500" fill="hold"/>
                                        <p:tgtEl>
                                          <p:spTgt spid="16"/>
                                        </p:tgtEl>
                                        <p:attrNameLst>
                                          <p:attrName>ppt_h</p:attrName>
                                        </p:attrNameLst>
                                      </p:cBhvr>
                                      <p:tavLst>
                                        <p:tav tm="0">
                                          <p:val>
                                            <p:fltVal val="0"/>
                                          </p:val>
                                        </p:tav>
                                        <p:tav tm="100000">
                                          <p:val>
                                            <p:strVal val="#ppt_h"/>
                                          </p:val>
                                        </p:tav>
                                      </p:tavLst>
                                    </p:anim>
                                    <p:animEffect transition="in" filter="fade">
                                      <p:cBhvr>
                                        <p:cTn id="44" dur="500"/>
                                        <p:tgtEl>
                                          <p:spTgt spid="16"/>
                                        </p:tgtEl>
                                      </p:cBhvr>
                                    </p:animEffect>
                                  </p:childTnLst>
                                </p:cTn>
                              </p:par>
                            </p:childTnLst>
                          </p:cTn>
                        </p:par>
                        <p:par>
                          <p:cTn id="45" fill="hold">
                            <p:stCondLst>
                              <p:cond delay="5500"/>
                            </p:stCondLst>
                            <p:childTnLst>
                              <p:par>
                                <p:cTn id="46" presetID="53" presetClass="entr" presetSubtype="16" fill="hold" nodeType="afterEffect">
                                  <p:stCondLst>
                                    <p:cond delay="0"/>
                                  </p:stCondLst>
                                  <p:childTnLst>
                                    <p:set>
                                      <p:cBhvr>
                                        <p:cTn id="47" dur="1" fill="hold">
                                          <p:stCondLst>
                                            <p:cond delay="0"/>
                                          </p:stCondLst>
                                        </p:cTn>
                                        <p:tgtEl>
                                          <p:spTgt spid="13"/>
                                        </p:tgtEl>
                                        <p:attrNameLst>
                                          <p:attrName>style.visibility</p:attrName>
                                        </p:attrNameLst>
                                      </p:cBhvr>
                                      <p:to>
                                        <p:strVal val="visible"/>
                                      </p:to>
                                    </p:set>
                                    <p:anim calcmode="lin" valueType="num">
                                      <p:cBhvr>
                                        <p:cTn id="48" dur="500" fill="hold"/>
                                        <p:tgtEl>
                                          <p:spTgt spid="13"/>
                                        </p:tgtEl>
                                        <p:attrNameLst>
                                          <p:attrName>ppt_w</p:attrName>
                                        </p:attrNameLst>
                                      </p:cBhvr>
                                      <p:tavLst>
                                        <p:tav tm="0">
                                          <p:val>
                                            <p:fltVal val="0"/>
                                          </p:val>
                                        </p:tav>
                                        <p:tav tm="100000">
                                          <p:val>
                                            <p:strVal val="#ppt_w"/>
                                          </p:val>
                                        </p:tav>
                                      </p:tavLst>
                                    </p:anim>
                                    <p:anim calcmode="lin" valueType="num">
                                      <p:cBhvr>
                                        <p:cTn id="49" dur="500" fill="hold"/>
                                        <p:tgtEl>
                                          <p:spTgt spid="13"/>
                                        </p:tgtEl>
                                        <p:attrNameLst>
                                          <p:attrName>ppt_h</p:attrName>
                                        </p:attrNameLst>
                                      </p:cBhvr>
                                      <p:tavLst>
                                        <p:tav tm="0">
                                          <p:val>
                                            <p:fltVal val="0"/>
                                          </p:val>
                                        </p:tav>
                                        <p:tav tm="100000">
                                          <p:val>
                                            <p:strVal val="#ppt_h"/>
                                          </p:val>
                                        </p:tav>
                                      </p:tavLst>
                                    </p:anim>
                                    <p:animEffect transition="in" filter="fade">
                                      <p:cBhvr>
                                        <p:cTn id="50" dur="500"/>
                                        <p:tgtEl>
                                          <p:spTgt spid="13"/>
                                        </p:tgtEl>
                                      </p:cBhvr>
                                    </p:animEffect>
                                  </p:childTnLst>
                                </p:cTn>
                              </p:par>
                            </p:childTnLst>
                          </p:cTn>
                        </p:par>
                        <p:par>
                          <p:cTn id="51" fill="hold">
                            <p:stCondLst>
                              <p:cond delay="6000"/>
                            </p:stCondLst>
                            <p:childTnLst>
                              <p:par>
                                <p:cTn id="52" presetID="53" presetClass="entr" presetSubtype="16" fill="hold" nodeType="after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p:cTn id="54" dur="500" fill="hold"/>
                                        <p:tgtEl>
                                          <p:spTgt spid="19"/>
                                        </p:tgtEl>
                                        <p:attrNameLst>
                                          <p:attrName>ppt_w</p:attrName>
                                        </p:attrNameLst>
                                      </p:cBhvr>
                                      <p:tavLst>
                                        <p:tav tm="0">
                                          <p:val>
                                            <p:fltVal val="0"/>
                                          </p:val>
                                        </p:tav>
                                        <p:tav tm="100000">
                                          <p:val>
                                            <p:strVal val="#ppt_w"/>
                                          </p:val>
                                        </p:tav>
                                      </p:tavLst>
                                    </p:anim>
                                    <p:anim calcmode="lin" valueType="num">
                                      <p:cBhvr>
                                        <p:cTn id="55" dur="500" fill="hold"/>
                                        <p:tgtEl>
                                          <p:spTgt spid="19"/>
                                        </p:tgtEl>
                                        <p:attrNameLst>
                                          <p:attrName>ppt_h</p:attrName>
                                        </p:attrNameLst>
                                      </p:cBhvr>
                                      <p:tavLst>
                                        <p:tav tm="0">
                                          <p:val>
                                            <p:fltVal val="0"/>
                                          </p:val>
                                        </p:tav>
                                        <p:tav tm="100000">
                                          <p:val>
                                            <p:strVal val="#ppt_h"/>
                                          </p:val>
                                        </p:tav>
                                      </p:tavLst>
                                    </p:anim>
                                    <p:animEffect transition="in" filter="fade">
                                      <p:cBhvr>
                                        <p:cTn id="56" dur="500"/>
                                        <p:tgtEl>
                                          <p:spTgt spid="19"/>
                                        </p:tgtEl>
                                      </p:cBhvr>
                                    </p:animEffect>
                                  </p:childTnLst>
                                </p:cTn>
                              </p:par>
                            </p:childTnLst>
                          </p:cTn>
                        </p:par>
                        <p:par>
                          <p:cTn id="57" fill="hold">
                            <p:stCondLst>
                              <p:cond delay="6500"/>
                            </p:stCondLst>
                            <p:childTnLst>
                              <p:par>
                                <p:cTn id="58" presetID="53" presetClass="entr" presetSubtype="16" fill="hold" nodeType="afterEffect">
                                  <p:stCondLst>
                                    <p:cond delay="0"/>
                                  </p:stCondLst>
                                  <p:childTnLst>
                                    <p:set>
                                      <p:cBhvr>
                                        <p:cTn id="59" dur="1" fill="hold">
                                          <p:stCondLst>
                                            <p:cond delay="0"/>
                                          </p:stCondLst>
                                        </p:cTn>
                                        <p:tgtEl>
                                          <p:spTgt spid="14"/>
                                        </p:tgtEl>
                                        <p:attrNameLst>
                                          <p:attrName>style.visibility</p:attrName>
                                        </p:attrNameLst>
                                      </p:cBhvr>
                                      <p:to>
                                        <p:strVal val="visible"/>
                                      </p:to>
                                    </p:set>
                                    <p:anim calcmode="lin" valueType="num">
                                      <p:cBhvr>
                                        <p:cTn id="60" dur="500" fill="hold"/>
                                        <p:tgtEl>
                                          <p:spTgt spid="14"/>
                                        </p:tgtEl>
                                        <p:attrNameLst>
                                          <p:attrName>ppt_w</p:attrName>
                                        </p:attrNameLst>
                                      </p:cBhvr>
                                      <p:tavLst>
                                        <p:tav tm="0">
                                          <p:val>
                                            <p:fltVal val="0"/>
                                          </p:val>
                                        </p:tav>
                                        <p:tav tm="100000">
                                          <p:val>
                                            <p:strVal val="#ppt_w"/>
                                          </p:val>
                                        </p:tav>
                                      </p:tavLst>
                                    </p:anim>
                                    <p:anim calcmode="lin" valueType="num">
                                      <p:cBhvr>
                                        <p:cTn id="61" dur="500" fill="hold"/>
                                        <p:tgtEl>
                                          <p:spTgt spid="14"/>
                                        </p:tgtEl>
                                        <p:attrNameLst>
                                          <p:attrName>ppt_h</p:attrName>
                                        </p:attrNameLst>
                                      </p:cBhvr>
                                      <p:tavLst>
                                        <p:tav tm="0">
                                          <p:val>
                                            <p:fltVal val="0"/>
                                          </p:val>
                                        </p:tav>
                                        <p:tav tm="100000">
                                          <p:val>
                                            <p:strVal val="#ppt_h"/>
                                          </p:val>
                                        </p:tav>
                                      </p:tavLst>
                                    </p:anim>
                                    <p:animEffect transition="in" filter="fade">
                                      <p:cBhvr>
                                        <p:cTn id="62" dur="500"/>
                                        <p:tgtEl>
                                          <p:spTgt spid="14"/>
                                        </p:tgtEl>
                                      </p:cBhvr>
                                    </p:animEffect>
                                  </p:childTnLst>
                                </p:cTn>
                              </p:par>
                            </p:childTnLst>
                          </p:cTn>
                        </p:par>
                        <p:par>
                          <p:cTn id="63" fill="hold">
                            <p:stCondLst>
                              <p:cond delay="7000"/>
                            </p:stCondLst>
                            <p:childTnLst>
                              <p:par>
                                <p:cTn id="64" presetID="53" presetClass="entr" presetSubtype="16" fill="hold" nodeType="afterEffect">
                                  <p:stCondLst>
                                    <p:cond delay="0"/>
                                  </p:stCondLst>
                                  <p:childTnLst>
                                    <p:set>
                                      <p:cBhvr>
                                        <p:cTn id="65" dur="1" fill="hold">
                                          <p:stCondLst>
                                            <p:cond delay="0"/>
                                          </p:stCondLst>
                                        </p:cTn>
                                        <p:tgtEl>
                                          <p:spTgt spid="18"/>
                                        </p:tgtEl>
                                        <p:attrNameLst>
                                          <p:attrName>style.visibility</p:attrName>
                                        </p:attrNameLst>
                                      </p:cBhvr>
                                      <p:to>
                                        <p:strVal val="visible"/>
                                      </p:to>
                                    </p:set>
                                    <p:anim calcmode="lin" valueType="num">
                                      <p:cBhvr>
                                        <p:cTn id="66" dur="500" fill="hold"/>
                                        <p:tgtEl>
                                          <p:spTgt spid="18"/>
                                        </p:tgtEl>
                                        <p:attrNameLst>
                                          <p:attrName>ppt_w</p:attrName>
                                        </p:attrNameLst>
                                      </p:cBhvr>
                                      <p:tavLst>
                                        <p:tav tm="0">
                                          <p:val>
                                            <p:fltVal val="0"/>
                                          </p:val>
                                        </p:tav>
                                        <p:tav tm="100000">
                                          <p:val>
                                            <p:strVal val="#ppt_w"/>
                                          </p:val>
                                        </p:tav>
                                      </p:tavLst>
                                    </p:anim>
                                    <p:anim calcmode="lin" valueType="num">
                                      <p:cBhvr>
                                        <p:cTn id="67" dur="500" fill="hold"/>
                                        <p:tgtEl>
                                          <p:spTgt spid="18"/>
                                        </p:tgtEl>
                                        <p:attrNameLst>
                                          <p:attrName>ppt_h</p:attrName>
                                        </p:attrNameLst>
                                      </p:cBhvr>
                                      <p:tavLst>
                                        <p:tav tm="0">
                                          <p:val>
                                            <p:fltVal val="0"/>
                                          </p:val>
                                        </p:tav>
                                        <p:tav tm="100000">
                                          <p:val>
                                            <p:strVal val="#ppt_h"/>
                                          </p:val>
                                        </p:tav>
                                      </p:tavLst>
                                    </p:anim>
                                    <p:animEffect transition="in" filter="fade">
                                      <p:cBhvr>
                                        <p:cTn id="6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945641"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8-2 </a:t>
            </a:r>
            <a:r>
              <a:rPr lang="zh-TW" altLang="en-US" sz="2400" b="1" dirty="0">
                <a:solidFill>
                  <a:srgbClr val="E06741"/>
                </a:solidFill>
              </a:rPr>
              <a:t>實務案例─募款交易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267254" y="1131099"/>
            <a:ext cx="8519050" cy="497444"/>
          </a:xfrm>
          <a:prstGeom prst="rect">
            <a:avLst/>
          </a:prstGeom>
        </p:spPr>
        <p:txBody>
          <a:bodyPr wrap="square">
            <a:spAutoFit/>
          </a:bodyPr>
          <a:lstStyle/>
          <a:p>
            <a:pPr marL="342900" indent="-342900">
              <a:lnSpc>
                <a:spcPct val="150000"/>
              </a:lnSpc>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在螞蟻金服的傳統支付寶愛心捐贈流程的作業步驟</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7E3A6309-1716-4781-857E-D6FC371966D7}"/>
              </a:ext>
            </a:extLst>
          </p:cNvPr>
          <p:cNvSpPr txBox="1"/>
          <p:nvPr/>
        </p:nvSpPr>
        <p:spPr>
          <a:xfrm>
            <a:off x="501371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graphicFrame>
        <p:nvGraphicFramePr>
          <p:cNvPr id="4" name="資料庫圖表 3">
            <a:extLst>
              <a:ext uri="{FF2B5EF4-FFF2-40B4-BE49-F238E27FC236}">
                <a16:creationId xmlns:a16="http://schemas.microsoft.com/office/drawing/2014/main" id="{C1D2738F-7B3B-4FDD-8155-889CCCB4C02B}"/>
              </a:ext>
            </a:extLst>
          </p:cNvPr>
          <p:cNvGraphicFramePr/>
          <p:nvPr>
            <p:extLst>
              <p:ext uri="{D42A27DB-BD31-4B8C-83A1-F6EECF244321}">
                <p14:modId xmlns:p14="http://schemas.microsoft.com/office/powerpoint/2010/main" val="2496247685"/>
              </p:ext>
            </p:extLst>
          </p:nvPr>
        </p:nvGraphicFramePr>
        <p:xfrm>
          <a:off x="1084185" y="2336802"/>
          <a:ext cx="10589491" cy="154018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0" name="資料庫圖表 9">
            <a:extLst>
              <a:ext uri="{FF2B5EF4-FFF2-40B4-BE49-F238E27FC236}">
                <a16:creationId xmlns:a16="http://schemas.microsoft.com/office/drawing/2014/main" id="{0C7EB414-D1FB-4E9F-BC07-6665B2D80D12}"/>
              </a:ext>
            </a:extLst>
          </p:cNvPr>
          <p:cNvGraphicFramePr/>
          <p:nvPr>
            <p:extLst>
              <p:ext uri="{D42A27DB-BD31-4B8C-83A1-F6EECF244321}">
                <p14:modId xmlns:p14="http://schemas.microsoft.com/office/powerpoint/2010/main" val="1972553817"/>
              </p:ext>
            </p:extLst>
          </p:nvPr>
        </p:nvGraphicFramePr>
        <p:xfrm>
          <a:off x="1093417" y="4447192"/>
          <a:ext cx="10589491" cy="1618653"/>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6" name="圖片 5">
            <a:extLst>
              <a:ext uri="{FF2B5EF4-FFF2-40B4-BE49-F238E27FC236}">
                <a16:creationId xmlns:a16="http://schemas.microsoft.com/office/drawing/2014/main" id="{69AFB42A-8B5B-4744-B353-9A11CFD8E184}"/>
              </a:ext>
            </a:extLst>
          </p:cNvPr>
          <p:cNvPicPr>
            <a:picLocks noChangeAspect="1"/>
          </p:cNvPicPr>
          <p:nvPr/>
        </p:nvPicPr>
        <p:blipFill>
          <a:blip r:embed="rId14"/>
          <a:stretch>
            <a:fillRect/>
          </a:stretch>
        </p:blipFill>
        <p:spPr>
          <a:xfrm>
            <a:off x="335788" y="4909016"/>
            <a:ext cx="591363" cy="695004"/>
          </a:xfrm>
          <a:prstGeom prst="rect">
            <a:avLst/>
          </a:prstGeom>
        </p:spPr>
      </p:pic>
      <p:sp>
        <p:nvSpPr>
          <p:cNvPr id="11" name="文字方塊 10">
            <a:extLst>
              <a:ext uri="{FF2B5EF4-FFF2-40B4-BE49-F238E27FC236}">
                <a16:creationId xmlns:a16="http://schemas.microsoft.com/office/drawing/2014/main" id="{B9D2151C-E643-494A-9503-EE21E1A8E0BE}"/>
              </a:ext>
            </a:extLst>
          </p:cNvPr>
          <p:cNvSpPr txBox="1"/>
          <p:nvPr/>
        </p:nvSpPr>
        <p:spPr>
          <a:xfrm>
            <a:off x="1148716" y="1914572"/>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1</a:t>
            </a:r>
          </a:p>
        </p:txBody>
      </p:sp>
      <p:sp>
        <p:nvSpPr>
          <p:cNvPr id="12" name="文字方塊 11">
            <a:extLst>
              <a:ext uri="{FF2B5EF4-FFF2-40B4-BE49-F238E27FC236}">
                <a16:creationId xmlns:a16="http://schemas.microsoft.com/office/drawing/2014/main" id="{5B226E83-9F15-4037-AD35-01897DB759B7}"/>
              </a:ext>
            </a:extLst>
          </p:cNvPr>
          <p:cNvSpPr txBox="1"/>
          <p:nvPr/>
        </p:nvSpPr>
        <p:spPr>
          <a:xfrm>
            <a:off x="5070565" y="4027407"/>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5</a:t>
            </a:r>
          </a:p>
        </p:txBody>
      </p:sp>
      <p:sp>
        <p:nvSpPr>
          <p:cNvPr id="13" name="文字方塊 12">
            <a:extLst>
              <a:ext uri="{FF2B5EF4-FFF2-40B4-BE49-F238E27FC236}">
                <a16:creationId xmlns:a16="http://schemas.microsoft.com/office/drawing/2014/main" id="{0403EDCE-D36C-4164-A6E0-172D4DBE5164}"/>
              </a:ext>
            </a:extLst>
          </p:cNvPr>
          <p:cNvSpPr txBox="1"/>
          <p:nvPr/>
        </p:nvSpPr>
        <p:spPr>
          <a:xfrm>
            <a:off x="1148716" y="4059871"/>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4</a:t>
            </a:r>
          </a:p>
        </p:txBody>
      </p:sp>
      <p:sp>
        <p:nvSpPr>
          <p:cNvPr id="14" name="文字方塊 13">
            <a:extLst>
              <a:ext uri="{FF2B5EF4-FFF2-40B4-BE49-F238E27FC236}">
                <a16:creationId xmlns:a16="http://schemas.microsoft.com/office/drawing/2014/main" id="{8102116A-8914-456C-99CC-FFB6CE5B31B3}"/>
              </a:ext>
            </a:extLst>
          </p:cNvPr>
          <p:cNvSpPr txBox="1"/>
          <p:nvPr/>
        </p:nvSpPr>
        <p:spPr>
          <a:xfrm>
            <a:off x="9078134" y="1915929"/>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3</a:t>
            </a:r>
          </a:p>
        </p:txBody>
      </p:sp>
      <p:sp>
        <p:nvSpPr>
          <p:cNvPr id="15" name="文字方塊 14">
            <a:extLst>
              <a:ext uri="{FF2B5EF4-FFF2-40B4-BE49-F238E27FC236}">
                <a16:creationId xmlns:a16="http://schemas.microsoft.com/office/drawing/2014/main" id="{49A6520A-3442-46DF-A568-8B5FB7CF0215}"/>
              </a:ext>
            </a:extLst>
          </p:cNvPr>
          <p:cNvSpPr txBox="1"/>
          <p:nvPr/>
        </p:nvSpPr>
        <p:spPr>
          <a:xfrm>
            <a:off x="5059891" y="1914572"/>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2</a:t>
            </a:r>
          </a:p>
        </p:txBody>
      </p:sp>
      <p:sp>
        <p:nvSpPr>
          <p:cNvPr id="16" name="文字方塊 15">
            <a:extLst>
              <a:ext uri="{FF2B5EF4-FFF2-40B4-BE49-F238E27FC236}">
                <a16:creationId xmlns:a16="http://schemas.microsoft.com/office/drawing/2014/main" id="{E65EC2F9-8F48-4CFB-A87A-49E1DF4E7EF8}"/>
              </a:ext>
            </a:extLst>
          </p:cNvPr>
          <p:cNvSpPr txBox="1"/>
          <p:nvPr/>
        </p:nvSpPr>
        <p:spPr>
          <a:xfrm>
            <a:off x="9078133" y="4027407"/>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6</a:t>
            </a:r>
          </a:p>
        </p:txBody>
      </p:sp>
      <p:sp>
        <p:nvSpPr>
          <p:cNvPr id="5" name="文字方塊 4">
            <a:extLst>
              <a:ext uri="{FF2B5EF4-FFF2-40B4-BE49-F238E27FC236}">
                <a16:creationId xmlns:a16="http://schemas.microsoft.com/office/drawing/2014/main" id="{AE4AFFE9-51E9-436D-8912-F043351CE0F0}"/>
              </a:ext>
            </a:extLst>
          </p:cNvPr>
          <p:cNvSpPr txBox="1"/>
          <p:nvPr/>
        </p:nvSpPr>
        <p:spPr>
          <a:xfrm>
            <a:off x="7965632" y="600554"/>
            <a:ext cx="2525050" cy="707886"/>
          </a:xfrm>
          <a:prstGeom prst="rect">
            <a:avLst/>
          </a:prstGeom>
          <a:noFill/>
        </p:spPr>
        <p:txBody>
          <a:bodyPr wrap="none" rtlCol="0">
            <a:spAutoFit/>
          </a:bodyPr>
          <a:lstStyle/>
          <a:p>
            <a:pPr marL="285750" indent="-285750">
              <a:buBlip>
                <a:blip r:embed="rId15"/>
              </a:buBlip>
            </a:pPr>
            <a:r>
              <a:rPr lang="zh-TW" altLang="en-US" sz="2000" b="1" dirty="0">
                <a:solidFill>
                  <a:srgbClr val="C00000"/>
                </a:solidFill>
                <a:latin typeface="微軟正黑體" panose="020B0604030504040204" pitchFamily="34" charset="-120"/>
                <a:ea typeface="微軟正黑體" panose="020B0604030504040204" pitchFamily="34" charset="-120"/>
              </a:rPr>
              <a:t>作業繁瑣</a:t>
            </a:r>
            <a:endParaRPr lang="en-US" altLang="zh-TW" sz="2000" b="1" dirty="0">
              <a:solidFill>
                <a:srgbClr val="C00000"/>
              </a:solidFill>
              <a:latin typeface="微軟正黑體" panose="020B0604030504040204" pitchFamily="34" charset="-120"/>
              <a:ea typeface="微軟正黑體" panose="020B0604030504040204" pitchFamily="34" charset="-120"/>
            </a:endParaRPr>
          </a:p>
          <a:p>
            <a:pPr marL="285750" indent="-285750">
              <a:buBlip>
                <a:blip r:embed="rId15"/>
              </a:buBlip>
            </a:pPr>
            <a:r>
              <a:rPr lang="zh-TW" altLang="en-US" sz="2000" b="1" dirty="0">
                <a:solidFill>
                  <a:srgbClr val="C00000"/>
                </a:solidFill>
                <a:latin typeface="微軟正黑體" panose="020B0604030504040204" pitchFamily="34" charset="-120"/>
                <a:ea typeface="微軟正黑體" panose="020B0604030504040204" pitchFamily="34" charset="-120"/>
              </a:rPr>
              <a:t>時效冗長，效率低</a:t>
            </a:r>
            <a:endParaRPr lang="en-US" altLang="zh-TW" sz="2000" b="1" dirty="0">
              <a:solidFill>
                <a:srgbClr val="C00000"/>
              </a:solidFill>
              <a:latin typeface="微軟正黑體" panose="020B0604030504040204" pitchFamily="34" charset="-120"/>
              <a:ea typeface="微軟正黑體" panose="020B0604030504040204" pitchFamily="34" charset="-120"/>
            </a:endParaRPr>
          </a:p>
        </p:txBody>
      </p:sp>
      <p:sp>
        <p:nvSpPr>
          <p:cNvPr id="17" name="文字方塊 16">
            <a:extLst>
              <a:ext uri="{FF2B5EF4-FFF2-40B4-BE49-F238E27FC236}">
                <a16:creationId xmlns:a16="http://schemas.microsoft.com/office/drawing/2014/main" id="{04052DAB-E6F3-4CD9-A475-FE9AFDE3B9FB}"/>
              </a:ext>
            </a:extLst>
          </p:cNvPr>
          <p:cNvSpPr txBox="1"/>
          <p:nvPr/>
        </p:nvSpPr>
        <p:spPr>
          <a:xfrm>
            <a:off x="7965632" y="1338562"/>
            <a:ext cx="3294492" cy="400110"/>
          </a:xfrm>
          <a:prstGeom prst="rect">
            <a:avLst/>
          </a:prstGeom>
          <a:noFill/>
        </p:spPr>
        <p:txBody>
          <a:bodyPr wrap="none" rtlCol="0">
            <a:spAutoFit/>
          </a:bodyPr>
          <a:lstStyle/>
          <a:p>
            <a:pPr marL="285750" lvl="0" indent="-285750">
              <a:buFont typeface="微軟正黑體" panose="020B0604030504040204" pitchFamily="34" charset="-120"/>
              <a:buChar char="→"/>
            </a:pPr>
            <a:r>
              <a:rPr lang="zh-TW" altLang="en-US" sz="2000" b="1" dirty="0">
                <a:solidFill>
                  <a:schemeClr val="accent1"/>
                </a:solidFill>
                <a:latin typeface="微軟正黑體" panose="020B0604030504040204" pitchFamily="34" charset="-120"/>
                <a:ea typeface="微軟正黑體" panose="020B0604030504040204" pitchFamily="34" charset="-120"/>
              </a:rPr>
              <a:t>開創愛心捐贈區塊鏈系統</a:t>
            </a:r>
          </a:p>
        </p:txBody>
      </p:sp>
      <p:pic>
        <p:nvPicPr>
          <p:cNvPr id="19" name="圖片 18">
            <a:extLst>
              <a:ext uri="{FF2B5EF4-FFF2-40B4-BE49-F238E27FC236}">
                <a16:creationId xmlns:a16="http://schemas.microsoft.com/office/drawing/2014/main" id="{89091A98-C47A-48AD-A750-DAA2EAA69265}"/>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135562" y="-84343"/>
            <a:ext cx="1215442" cy="1215442"/>
          </a:xfrm>
          <a:prstGeom prst="rect">
            <a:avLst/>
          </a:prstGeom>
        </p:spPr>
      </p:pic>
      <p:sp>
        <p:nvSpPr>
          <p:cNvPr id="20" name="文字方塊 19">
            <a:extLst>
              <a:ext uri="{FF2B5EF4-FFF2-40B4-BE49-F238E27FC236}">
                <a16:creationId xmlns:a16="http://schemas.microsoft.com/office/drawing/2014/main" id="{644B14FA-793B-4462-8B50-CB3FFFB106FC}"/>
              </a:ext>
            </a:extLst>
          </p:cNvPr>
          <p:cNvSpPr txBox="1"/>
          <p:nvPr/>
        </p:nvSpPr>
        <p:spPr>
          <a:xfrm>
            <a:off x="2328124" y="1928838"/>
            <a:ext cx="1027845" cy="369332"/>
          </a:xfrm>
          <a:prstGeom prst="rect">
            <a:avLst/>
          </a:prstGeom>
          <a:noFill/>
        </p:spPr>
        <p:txBody>
          <a:bodyPr wrap="none" rtlCol="0">
            <a:spAutoFit/>
          </a:bodyPr>
          <a:lstStyle/>
          <a:p>
            <a:r>
              <a:rPr lang="en-US" altLang="zh-TW" dirty="0">
                <a:solidFill>
                  <a:schemeClr val="accent5"/>
                </a:solidFill>
                <a:latin typeface="Eras Demi ITC" panose="020B0805030504020804" pitchFamily="34" charset="0"/>
              </a:rPr>
              <a:t>P1</a:t>
            </a:r>
            <a:r>
              <a:rPr lang="en-US" altLang="zh-TW" dirty="0">
                <a:solidFill>
                  <a:schemeClr val="accent5"/>
                </a:solidFill>
                <a:latin typeface="微軟正黑體" panose="020B0604030504040204" pitchFamily="34" charset="-120"/>
                <a:ea typeface="微軟正黑體" panose="020B0604030504040204" pitchFamily="34" charset="-120"/>
              </a:rPr>
              <a:t>→</a:t>
            </a:r>
            <a:r>
              <a:rPr lang="en-US" altLang="zh-TW" dirty="0">
                <a:solidFill>
                  <a:schemeClr val="accent5"/>
                </a:solidFill>
                <a:latin typeface="Eras Demi ITC" panose="020B0805030504020804" pitchFamily="34" charset="0"/>
              </a:rPr>
              <a:t> P3</a:t>
            </a:r>
          </a:p>
        </p:txBody>
      </p:sp>
      <p:sp>
        <p:nvSpPr>
          <p:cNvPr id="21" name="文字方塊 20">
            <a:extLst>
              <a:ext uri="{FF2B5EF4-FFF2-40B4-BE49-F238E27FC236}">
                <a16:creationId xmlns:a16="http://schemas.microsoft.com/office/drawing/2014/main" id="{CE1D4C3A-278E-4BF4-BC5D-F384DB7A707F}"/>
              </a:ext>
            </a:extLst>
          </p:cNvPr>
          <p:cNvSpPr txBox="1"/>
          <p:nvPr/>
        </p:nvSpPr>
        <p:spPr>
          <a:xfrm>
            <a:off x="6354715" y="1910366"/>
            <a:ext cx="1027845" cy="369332"/>
          </a:xfrm>
          <a:prstGeom prst="rect">
            <a:avLst/>
          </a:prstGeom>
          <a:noFill/>
        </p:spPr>
        <p:txBody>
          <a:bodyPr wrap="none" rtlCol="0">
            <a:spAutoFit/>
          </a:bodyPr>
          <a:lstStyle/>
          <a:p>
            <a:r>
              <a:rPr lang="en-US" altLang="zh-TW" dirty="0">
                <a:solidFill>
                  <a:schemeClr val="accent5"/>
                </a:solidFill>
                <a:latin typeface="Eras Demi ITC" panose="020B0805030504020804" pitchFamily="34" charset="0"/>
              </a:rPr>
              <a:t>P1</a:t>
            </a:r>
            <a:r>
              <a:rPr lang="en-US" altLang="zh-TW" dirty="0">
                <a:solidFill>
                  <a:schemeClr val="accent5"/>
                </a:solidFill>
                <a:latin typeface="微軟正黑體" panose="020B0604030504040204" pitchFamily="34" charset="-120"/>
                <a:ea typeface="微軟正黑體" panose="020B0604030504040204" pitchFamily="34" charset="-120"/>
              </a:rPr>
              <a:t>→</a:t>
            </a:r>
            <a:r>
              <a:rPr lang="en-US" altLang="zh-TW" dirty="0">
                <a:solidFill>
                  <a:schemeClr val="accent5"/>
                </a:solidFill>
                <a:latin typeface="Eras Demi ITC" panose="020B0805030504020804" pitchFamily="34" charset="0"/>
              </a:rPr>
              <a:t> P2</a:t>
            </a:r>
          </a:p>
        </p:txBody>
      </p:sp>
      <p:sp>
        <p:nvSpPr>
          <p:cNvPr id="22" name="文字方塊 21">
            <a:extLst>
              <a:ext uri="{FF2B5EF4-FFF2-40B4-BE49-F238E27FC236}">
                <a16:creationId xmlns:a16="http://schemas.microsoft.com/office/drawing/2014/main" id="{43EFDE2E-389B-4CA9-A6B3-A585334A3106}"/>
              </a:ext>
            </a:extLst>
          </p:cNvPr>
          <p:cNvSpPr txBox="1"/>
          <p:nvPr/>
        </p:nvSpPr>
        <p:spPr>
          <a:xfrm>
            <a:off x="10232279" y="1914572"/>
            <a:ext cx="1027845" cy="369332"/>
          </a:xfrm>
          <a:prstGeom prst="rect">
            <a:avLst/>
          </a:prstGeom>
          <a:noFill/>
        </p:spPr>
        <p:txBody>
          <a:bodyPr wrap="none" rtlCol="0">
            <a:spAutoFit/>
          </a:bodyPr>
          <a:lstStyle/>
          <a:p>
            <a:r>
              <a:rPr lang="en-US" altLang="zh-TW" dirty="0">
                <a:solidFill>
                  <a:schemeClr val="accent5"/>
                </a:solidFill>
                <a:latin typeface="Eras Demi ITC" panose="020B0805030504020804" pitchFamily="34" charset="0"/>
              </a:rPr>
              <a:t>P2</a:t>
            </a:r>
            <a:r>
              <a:rPr lang="en-US" altLang="zh-TW" dirty="0">
                <a:solidFill>
                  <a:schemeClr val="accent5"/>
                </a:solidFill>
                <a:latin typeface="微軟正黑體" panose="020B0604030504040204" pitchFamily="34" charset="-120"/>
                <a:ea typeface="微軟正黑體" panose="020B0604030504040204" pitchFamily="34" charset="-120"/>
              </a:rPr>
              <a:t>→</a:t>
            </a:r>
            <a:r>
              <a:rPr lang="en-US" altLang="zh-TW" dirty="0">
                <a:solidFill>
                  <a:schemeClr val="accent5"/>
                </a:solidFill>
                <a:latin typeface="Eras Demi ITC" panose="020B0805030504020804" pitchFamily="34" charset="0"/>
              </a:rPr>
              <a:t> P3</a:t>
            </a:r>
          </a:p>
        </p:txBody>
      </p:sp>
      <p:sp>
        <p:nvSpPr>
          <p:cNvPr id="23" name="文字方塊 22">
            <a:extLst>
              <a:ext uri="{FF2B5EF4-FFF2-40B4-BE49-F238E27FC236}">
                <a16:creationId xmlns:a16="http://schemas.microsoft.com/office/drawing/2014/main" id="{126093A8-974B-4FDF-A8B4-E109B72DA41D}"/>
              </a:ext>
            </a:extLst>
          </p:cNvPr>
          <p:cNvSpPr txBox="1"/>
          <p:nvPr/>
        </p:nvSpPr>
        <p:spPr>
          <a:xfrm>
            <a:off x="2328124" y="4027407"/>
            <a:ext cx="1027845" cy="369332"/>
          </a:xfrm>
          <a:prstGeom prst="rect">
            <a:avLst/>
          </a:prstGeom>
          <a:noFill/>
        </p:spPr>
        <p:txBody>
          <a:bodyPr wrap="none" rtlCol="0">
            <a:spAutoFit/>
          </a:bodyPr>
          <a:lstStyle/>
          <a:p>
            <a:r>
              <a:rPr lang="en-US" altLang="zh-TW" dirty="0">
                <a:solidFill>
                  <a:schemeClr val="accent5"/>
                </a:solidFill>
                <a:latin typeface="Eras Demi ITC" panose="020B0805030504020804" pitchFamily="34" charset="0"/>
              </a:rPr>
              <a:t>P3</a:t>
            </a:r>
            <a:r>
              <a:rPr lang="en-US" altLang="zh-TW" dirty="0">
                <a:solidFill>
                  <a:schemeClr val="accent5"/>
                </a:solidFill>
                <a:latin typeface="微軟正黑體" panose="020B0604030504040204" pitchFamily="34" charset="-120"/>
                <a:ea typeface="微軟正黑體" panose="020B0604030504040204" pitchFamily="34" charset="-120"/>
              </a:rPr>
              <a:t>→</a:t>
            </a:r>
            <a:r>
              <a:rPr lang="en-US" altLang="zh-TW" dirty="0">
                <a:solidFill>
                  <a:schemeClr val="accent5"/>
                </a:solidFill>
                <a:latin typeface="Eras Demi ITC" panose="020B0805030504020804" pitchFamily="34" charset="0"/>
              </a:rPr>
              <a:t> P1</a:t>
            </a:r>
          </a:p>
        </p:txBody>
      </p:sp>
      <p:sp>
        <p:nvSpPr>
          <p:cNvPr id="24" name="文字方塊 23">
            <a:extLst>
              <a:ext uri="{FF2B5EF4-FFF2-40B4-BE49-F238E27FC236}">
                <a16:creationId xmlns:a16="http://schemas.microsoft.com/office/drawing/2014/main" id="{32DE8984-EBA1-467A-9526-A1E156270A68}"/>
              </a:ext>
            </a:extLst>
          </p:cNvPr>
          <p:cNvSpPr txBox="1"/>
          <p:nvPr/>
        </p:nvSpPr>
        <p:spPr>
          <a:xfrm>
            <a:off x="6354714" y="4027407"/>
            <a:ext cx="1027845" cy="369332"/>
          </a:xfrm>
          <a:prstGeom prst="rect">
            <a:avLst/>
          </a:prstGeom>
          <a:noFill/>
        </p:spPr>
        <p:txBody>
          <a:bodyPr wrap="none" rtlCol="0">
            <a:spAutoFit/>
          </a:bodyPr>
          <a:lstStyle/>
          <a:p>
            <a:r>
              <a:rPr lang="en-US" altLang="zh-TW" dirty="0">
                <a:solidFill>
                  <a:schemeClr val="accent5"/>
                </a:solidFill>
                <a:latin typeface="Eras Demi ITC" panose="020B0805030504020804" pitchFamily="34" charset="0"/>
              </a:rPr>
              <a:t>P2</a:t>
            </a:r>
            <a:r>
              <a:rPr lang="en-US" altLang="zh-TW" dirty="0">
                <a:solidFill>
                  <a:schemeClr val="accent5"/>
                </a:solidFill>
                <a:latin typeface="微軟正黑體" panose="020B0604030504040204" pitchFamily="34" charset="-120"/>
                <a:ea typeface="微軟正黑體" panose="020B0604030504040204" pitchFamily="34" charset="-120"/>
              </a:rPr>
              <a:t>→</a:t>
            </a:r>
            <a:r>
              <a:rPr lang="en-US" altLang="zh-TW" dirty="0">
                <a:solidFill>
                  <a:schemeClr val="accent5"/>
                </a:solidFill>
                <a:latin typeface="Eras Demi ITC" panose="020B0805030504020804" pitchFamily="34" charset="0"/>
              </a:rPr>
              <a:t> P4</a:t>
            </a:r>
          </a:p>
        </p:txBody>
      </p:sp>
      <p:sp>
        <p:nvSpPr>
          <p:cNvPr id="25" name="文字方塊 24">
            <a:extLst>
              <a:ext uri="{FF2B5EF4-FFF2-40B4-BE49-F238E27FC236}">
                <a16:creationId xmlns:a16="http://schemas.microsoft.com/office/drawing/2014/main" id="{98999A2A-733F-4EF0-AD01-0FC26F3C7860}"/>
              </a:ext>
            </a:extLst>
          </p:cNvPr>
          <p:cNvSpPr txBox="1"/>
          <p:nvPr/>
        </p:nvSpPr>
        <p:spPr>
          <a:xfrm>
            <a:off x="10232279" y="4027407"/>
            <a:ext cx="1027845" cy="369332"/>
          </a:xfrm>
          <a:prstGeom prst="rect">
            <a:avLst/>
          </a:prstGeom>
          <a:noFill/>
        </p:spPr>
        <p:txBody>
          <a:bodyPr wrap="none" rtlCol="0">
            <a:spAutoFit/>
          </a:bodyPr>
          <a:lstStyle/>
          <a:p>
            <a:r>
              <a:rPr lang="en-US" altLang="zh-TW" dirty="0">
                <a:solidFill>
                  <a:schemeClr val="accent5"/>
                </a:solidFill>
                <a:latin typeface="Eras Demi ITC" panose="020B0805030504020804" pitchFamily="34" charset="0"/>
              </a:rPr>
              <a:t>P3</a:t>
            </a:r>
            <a:r>
              <a:rPr lang="en-US" altLang="zh-TW" dirty="0">
                <a:solidFill>
                  <a:schemeClr val="accent5"/>
                </a:solidFill>
                <a:latin typeface="微軟正黑體" panose="020B0604030504040204" pitchFamily="34" charset="-120"/>
                <a:ea typeface="微軟正黑體" panose="020B0604030504040204" pitchFamily="34" charset="-120"/>
              </a:rPr>
              <a:t>→</a:t>
            </a:r>
            <a:r>
              <a:rPr lang="en-US" altLang="zh-TW" dirty="0">
                <a:solidFill>
                  <a:schemeClr val="accent5"/>
                </a:solidFill>
                <a:latin typeface="Eras Demi ITC" panose="020B0805030504020804" pitchFamily="34" charset="0"/>
              </a:rPr>
              <a:t> P5</a:t>
            </a:r>
          </a:p>
        </p:txBody>
      </p:sp>
      <p:cxnSp>
        <p:nvCxnSpPr>
          <p:cNvPr id="26" name="直接连接符 33">
            <a:extLst>
              <a:ext uri="{FF2B5EF4-FFF2-40B4-BE49-F238E27FC236}">
                <a16:creationId xmlns:a16="http://schemas.microsoft.com/office/drawing/2014/main" id="{37273B0B-3132-45A2-8E01-2112DC7AE94A}"/>
              </a:ext>
            </a:extLst>
          </p:cNvPr>
          <p:cNvCxnSpPr>
            <a:cxnSpLocks/>
          </p:cNvCxnSpPr>
          <p:nvPr/>
        </p:nvCxnSpPr>
        <p:spPr>
          <a:xfrm>
            <a:off x="1177167" y="1000566"/>
            <a:ext cx="6378178"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8244077"/>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arn(inVertical)">
                                      <p:cBhvr>
                                        <p:cTn id="11" dur="500"/>
                                        <p:tgtEl>
                                          <p:spTgt spid="3">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2" presetClass="entr" presetSubtype="8" fill="hold" grpId="0" nodeType="after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0-#ppt_w/2"/>
                                          </p:val>
                                        </p:tav>
                                        <p:tav tm="100000">
                                          <p:val>
                                            <p:strVal val="#ppt_x"/>
                                          </p:val>
                                        </p:tav>
                                      </p:tavLst>
                                    </p:anim>
                                    <p:anim calcmode="lin" valueType="num">
                                      <p:cBhvr additive="base">
                                        <p:cTn id="26" dur="500" fill="hold"/>
                                        <p:tgtEl>
                                          <p:spTgt spid="4"/>
                                        </p:tgtEl>
                                        <p:attrNameLst>
                                          <p:attrName>ppt_y</p:attrName>
                                        </p:attrNameLst>
                                      </p:cBhvr>
                                      <p:tavLst>
                                        <p:tav tm="0">
                                          <p:val>
                                            <p:strVal val="#ppt_y"/>
                                          </p:val>
                                        </p:tav>
                                        <p:tav tm="100000">
                                          <p:val>
                                            <p:strVal val="#ppt_y"/>
                                          </p:val>
                                        </p:tav>
                                      </p:tavLst>
                                    </p:anim>
                                  </p:childTnLst>
                                </p:cTn>
                              </p:par>
                              <p:par>
                                <p:cTn id="27" presetID="16" presetClass="entr" presetSubtype="21"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arn(inVertical)">
                                      <p:cBhvr>
                                        <p:cTn id="29" dur="500"/>
                                        <p:tgtEl>
                                          <p:spTgt spid="11"/>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arn(inVertical)">
                                      <p:cBhvr>
                                        <p:cTn id="32" dur="500"/>
                                        <p:tgtEl>
                                          <p:spTgt spid="15"/>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barn(inVertical)">
                                      <p:cBhvr>
                                        <p:cTn id="35" dur="500"/>
                                        <p:tgtEl>
                                          <p:spTgt spid="14"/>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 calcmode="lin" valueType="num">
                                      <p:cBhvr>
                                        <p:cTn id="38" dur="500" fill="hold"/>
                                        <p:tgtEl>
                                          <p:spTgt spid="20"/>
                                        </p:tgtEl>
                                        <p:attrNameLst>
                                          <p:attrName>ppt_w</p:attrName>
                                        </p:attrNameLst>
                                      </p:cBhvr>
                                      <p:tavLst>
                                        <p:tav tm="0">
                                          <p:val>
                                            <p:fltVal val="0"/>
                                          </p:val>
                                        </p:tav>
                                        <p:tav tm="100000">
                                          <p:val>
                                            <p:strVal val="#ppt_w"/>
                                          </p:val>
                                        </p:tav>
                                      </p:tavLst>
                                    </p:anim>
                                    <p:anim calcmode="lin" valueType="num">
                                      <p:cBhvr>
                                        <p:cTn id="39" dur="500" fill="hold"/>
                                        <p:tgtEl>
                                          <p:spTgt spid="20"/>
                                        </p:tgtEl>
                                        <p:attrNameLst>
                                          <p:attrName>ppt_h</p:attrName>
                                        </p:attrNameLst>
                                      </p:cBhvr>
                                      <p:tavLst>
                                        <p:tav tm="0">
                                          <p:val>
                                            <p:fltVal val="0"/>
                                          </p:val>
                                        </p:tav>
                                        <p:tav tm="100000">
                                          <p:val>
                                            <p:strVal val="#ppt_h"/>
                                          </p:val>
                                        </p:tav>
                                      </p:tavLst>
                                    </p:anim>
                                    <p:animEffect transition="in" filter="fade">
                                      <p:cBhvr>
                                        <p:cTn id="40" dur="500"/>
                                        <p:tgtEl>
                                          <p:spTgt spid="20"/>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p:cTn id="43" dur="500" fill="hold"/>
                                        <p:tgtEl>
                                          <p:spTgt spid="21"/>
                                        </p:tgtEl>
                                        <p:attrNameLst>
                                          <p:attrName>ppt_w</p:attrName>
                                        </p:attrNameLst>
                                      </p:cBhvr>
                                      <p:tavLst>
                                        <p:tav tm="0">
                                          <p:val>
                                            <p:fltVal val="0"/>
                                          </p:val>
                                        </p:tav>
                                        <p:tav tm="100000">
                                          <p:val>
                                            <p:strVal val="#ppt_w"/>
                                          </p:val>
                                        </p:tav>
                                      </p:tavLst>
                                    </p:anim>
                                    <p:anim calcmode="lin" valueType="num">
                                      <p:cBhvr>
                                        <p:cTn id="44" dur="500" fill="hold"/>
                                        <p:tgtEl>
                                          <p:spTgt spid="21"/>
                                        </p:tgtEl>
                                        <p:attrNameLst>
                                          <p:attrName>ppt_h</p:attrName>
                                        </p:attrNameLst>
                                      </p:cBhvr>
                                      <p:tavLst>
                                        <p:tav tm="0">
                                          <p:val>
                                            <p:fltVal val="0"/>
                                          </p:val>
                                        </p:tav>
                                        <p:tav tm="100000">
                                          <p:val>
                                            <p:strVal val="#ppt_h"/>
                                          </p:val>
                                        </p:tav>
                                      </p:tavLst>
                                    </p:anim>
                                    <p:animEffect transition="in" filter="fade">
                                      <p:cBhvr>
                                        <p:cTn id="45" dur="500"/>
                                        <p:tgtEl>
                                          <p:spTgt spid="21"/>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 calcmode="lin" valueType="num">
                                      <p:cBhvr>
                                        <p:cTn id="48" dur="500" fill="hold"/>
                                        <p:tgtEl>
                                          <p:spTgt spid="22"/>
                                        </p:tgtEl>
                                        <p:attrNameLst>
                                          <p:attrName>ppt_w</p:attrName>
                                        </p:attrNameLst>
                                      </p:cBhvr>
                                      <p:tavLst>
                                        <p:tav tm="0">
                                          <p:val>
                                            <p:fltVal val="0"/>
                                          </p:val>
                                        </p:tav>
                                        <p:tav tm="100000">
                                          <p:val>
                                            <p:strVal val="#ppt_w"/>
                                          </p:val>
                                        </p:tav>
                                      </p:tavLst>
                                    </p:anim>
                                    <p:anim calcmode="lin" valueType="num">
                                      <p:cBhvr>
                                        <p:cTn id="49" dur="500" fill="hold"/>
                                        <p:tgtEl>
                                          <p:spTgt spid="22"/>
                                        </p:tgtEl>
                                        <p:attrNameLst>
                                          <p:attrName>ppt_h</p:attrName>
                                        </p:attrNameLst>
                                      </p:cBhvr>
                                      <p:tavLst>
                                        <p:tav tm="0">
                                          <p:val>
                                            <p:fltVal val="0"/>
                                          </p:val>
                                        </p:tav>
                                        <p:tav tm="100000">
                                          <p:val>
                                            <p:strVal val="#ppt_h"/>
                                          </p:val>
                                        </p:tav>
                                      </p:tavLst>
                                    </p:anim>
                                    <p:animEffect transition="in" filter="fade">
                                      <p:cBhvr>
                                        <p:cTn id="50" dur="500"/>
                                        <p:tgtEl>
                                          <p:spTgt spid="22"/>
                                        </p:tgtEl>
                                      </p:cBhvr>
                                    </p:animEffect>
                                  </p:childTnLst>
                                </p:cTn>
                              </p:par>
                            </p:childTnLst>
                          </p:cTn>
                        </p:par>
                        <p:par>
                          <p:cTn id="51" fill="hold">
                            <p:stCondLst>
                              <p:cond delay="4000"/>
                            </p:stCondLst>
                            <p:childTnLst>
                              <p:par>
                                <p:cTn id="52" presetID="2" presetClass="entr" presetSubtype="8" fill="hold" nodeType="afterEffect">
                                  <p:stCondLst>
                                    <p:cond delay="0"/>
                                  </p:stCondLst>
                                  <p:childTnLst>
                                    <p:set>
                                      <p:cBhvr>
                                        <p:cTn id="53" dur="1" fill="hold">
                                          <p:stCondLst>
                                            <p:cond delay="0"/>
                                          </p:stCondLst>
                                        </p:cTn>
                                        <p:tgtEl>
                                          <p:spTgt spid="6"/>
                                        </p:tgtEl>
                                        <p:attrNameLst>
                                          <p:attrName>style.visibility</p:attrName>
                                        </p:attrNameLst>
                                      </p:cBhvr>
                                      <p:to>
                                        <p:strVal val="visible"/>
                                      </p:to>
                                    </p:set>
                                    <p:anim calcmode="lin" valueType="num">
                                      <p:cBhvr additive="base">
                                        <p:cTn id="54" dur="500" fill="hold"/>
                                        <p:tgtEl>
                                          <p:spTgt spid="6"/>
                                        </p:tgtEl>
                                        <p:attrNameLst>
                                          <p:attrName>ppt_x</p:attrName>
                                        </p:attrNameLst>
                                      </p:cBhvr>
                                      <p:tavLst>
                                        <p:tav tm="0">
                                          <p:val>
                                            <p:strVal val="0-#ppt_w/2"/>
                                          </p:val>
                                        </p:tav>
                                        <p:tav tm="100000">
                                          <p:val>
                                            <p:strVal val="#ppt_x"/>
                                          </p:val>
                                        </p:tav>
                                      </p:tavLst>
                                    </p:anim>
                                    <p:anim calcmode="lin" valueType="num">
                                      <p:cBhvr additive="base">
                                        <p:cTn id="55" dur="500" fill="hold"/>
                                        <p:tgtEl>
                                          <p:spTgt spid="6"/>
                                        </p:tgtEl>
                                        <p:attrNameLst>
                                          <p:attrName>ppt_y</p:attrName>
                                        </p:attrNameLst>
                                      </p:cBhvr>
                                      <p:tavLst>
                                        <p:tav tm="0">
                                          <p:val>
                                            <p:strVal val="#ppt_y"/>
                                          </p:val>
                                        </p:tav>
                                        <p:tav tm="100000">
                                          <p:val>
                                            <p:strVal val="#ppt_y"/>
                                          </p:val>
                                        </p:tav>
                                      </p:tavLst>
                                    </p:anim>
                                  </p:childTnLst>
                                </p:cTn>
                              </p:par>
                            </p:childTnLst>
                          </p:cTn>
                        </p:par>
                        <p:par>
                          <p:cTn id="56" fill="hold">
                            <p:stCondLst>
                              <p:cond delay="4500"/>
                            </p:stCondLst>
                            <p:childTnLst>
                              <p:par>
                                <p:cTn id="57" presetID="2" presetClass="entr" presetSubtype="8" fill="hold" grpId="0" nodeType="afterEffect">
                                  <p:stCondLst>
                                    <p:cond delay="0"/>
                                  </p:stCondLst>
                                  <p:childTnLst>
                                    <p:set>
                                      <p:cBhvr>
                                        <p:cTn id="58" dur="1" fill="hold">
                                          <p:stCondLst>
                                            <p:cond delay="0"/>
                                          </p:stCondLst>
                                        </p:cTn>
                                        <p:tgtEl>
                                          <p:spTgt spid="10"/>
                                        </p:tgtEl>
                                        <p:attrNameLst>
                                          <p:attrName>style.visibility</p:attrName>
                                        </p:attrNameLst>
                                      </p:cBhvr>
                                      <p:to>
                                        <p:strVal val="visible"/>
                                      </p:to>
                                    </p:set>
                                    <p:anim calcmode="lin" valueType="num">
                                      <p:cBhvr additive="base">
                                        <p:cTn id="59" dur="500" fill="hold"/>
                                        <p:tgtEl>
                                          <p:spTgt spid="10"/>
                                        </p:tgtEl>
                                        <p:attrNameLst>
                                          <p:attrName>ppt_x</p:attrName>
                                        </p:attrNameLst>
                                      </p:cBhvr>
                                      <p:tavLst>
                                        <p:tav tm="0">
                                          <p:val>
                                            <p:strVal val="0-#ppt_w/2"/>
                                          </p:val>
                                        </p:tav>
                                        <p:tav tm="100000">
                                          <p:val>
                                            <p:strVal val="#ppt_x"/>
                                          </p:val>
                                        </p:tav>
                                      </p:tavLst>
                                    </p:anim>
                                    <p:anim calcmode="lin" valueType="num">
                                      <p:cBhvr additive="base">
                                        <p:cTn id="60" dur="500" fill="hold"/>
                                        <p:tgtEl>
                                          <p:spTgt spid="10"/>
                                        </p:tgtEl>
                                        <p:attrNameLst>
                                          <p:attrName>ppt_y</p:attrName>
                                        </p:attrNameLst>
                                      </p:cBhvr>
                                      <p:tavLst>
                                        <p:tav tm="0">
                                          <p:val>
                                            <p:strVal val="#ppt_y"/>
                                          </p:val>
                                        </p:tav>
                                        <p:tav tm="100000">
                                          <p:val>
                                            <p:strVal val="#ppt_y"/>
                                          </p:val>
                                        </p:tav>
                                      </p:tavLst>
                                    </p:anim>
                                  </p:childTnLst>
                                </p:cTn>
                              </p:par>
                              <p:par>
                                <p:cTn id="61" presetID="16" presetClass="entr" presetSubtype="21" fill="hold" grpId="0" nodeType="with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barn(inVertical)">
                                      <p:cBhvr>
                                        <p:cTn id="63" dur="500"/>
                                        <p:tgtEl>
                                          <p:spTgt spid="13"/>
                                        </p:tgtEl>
                                      </p:cBhvr>
                                    </p:animEffect>
                                  </p:childTnLst>
                                </p:cTn>
                              </p:par>
                              <p:par>
                                <p:cTn id="64" presetID="16" presetClass="entr" presetSubtype="21" fill="hold" grpId="0" nodeType="with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barn(inVertical)">
                                      <p:cBhvr>
                                        <p:cTn id="66" dur="500"/>
                                        <p:tgtEl>
                                          <p:spTgt spid="12"/>
                                        </p:tgtEl>
                                      </p:cBhvr>
                                    </p:animEffect>
                                  </p:childTnLst>
                                </p:cTn>
                              </p:par>
                              <p:par>
                                <p:cTn id="67" presetID="16" presetClass="entr" presetSubtype="21"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barn(inVertical)">
                                      <p:cBhvr>
                                        <p:cTn id="69" dur="500"/>
                                        <p:tgtEl>
                                          <p:spTgt spid="16"/>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 calcmode="lin" valueType="num">
                                      <p:cBhvr>
                                        <p:cTn id="72" dur="500" fill="hold"/>
                                        <p:tgtEl>
                                          <p:spTgt spid="23"/>
                                        </p:tgtEl>
                                        <p:attrNameLst>
                                          <p:attrName>ppt_w</p:attrName>
                                        </p:attrNameLst>
                                      </p:cBhvr>
                                      <p:tavLst>
                                        <p:tav tm="0">
                                          <p:val>
                                            <p:fltVal val="0"/>
                                          </p:val>
                                        </p:tav>
                                        <p:tav tm="100000">
                                          <p:val>
                                            <p:strVal val="#ppt_w"/>
                                          </p:val>
                                        </p:tav>
                                      </p:tavLst>
                                    </p:anim>
                                    <p:anim calcmode="lin" valueType="num">
                                      <p:cBhvr>
                                        <p:cTn id="73" dur="500" fill="hold"/>
                                        <p:tgtEl>
                                          <p:spTgt spid="23"/>
                                        </p:tgtEl>
                                        <p:attrNameLst>
                                          <p:attrName>ppt_h</p:attrName>
                                        </p:attrNameLst>
                                      </p:cBhvr>
                                      <p:tavLst>
                                        <p:tav tm="0">
                                          <p:val>
                                            <p:fltVal val="0"/>
                                          </p:val>
                                        </p:tav>
                                        <p:tav tm="100000">
                                          <p:val>
                                            <p:strVal val="#ppt_h"/>
                                          </p:val>
                                        </p:tav>
                                      </p:tavLst>
                                    </p:anim>
                                    <p:animEffect transition="in" filter="fade">
                                      <p:cBhvr>
                                        <p:cTn id="74" dur="500"/>
                                        <p:tgtEl>
                                          <p:spTgt spid="23"/>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 calcmode="lin" valueType="num">
                                      <p:cBhvr>
                                        <p:cTn id="77" dur="500" fill="hold"/>
                                        <p:tgtEl>
                                          <p:spTgt spid="24"/>
                                        </p:tgtEl>
                                        <p:attrNameLst>
                                          <p:attrName>ppt_w</p:attrName>
                                        </p:attrNameLst>
                                      </p:cBhvr>
                                      <p:tavLst>
                                        <p:tav tm="0">
                                          <p:val>
                                            <p:fltVal val="0"/>
                                          </p:val>
                                        </p:tav>
                                        <p:tav tm="100000">
                                          <p:val>
                                            <p:strVal val="#ppt_w"/>
                                          </p:val>
                                        </p:tav>
                                      </p:tavLst>
                                    </p:anim>
                                    <p:anim calcmode="lin" valueType="num">
                                      <p:cBhvr>
                                        <p:cTn id="78" dur="500" fill="hold"/>
                                        <p:tgtEl>
                                          <p:spTgt spid="24"/>
                                        </p:tgtEl>
                                        <p:attrNameLst>
                                          <p:attrName>ppt_h</p:attrName>
                                        </p:attrNameLst>
                                      </p:cBhvr>
                                      <p:tavLst>
                                        <p:tav tm="0">
                                          <p:val>
                                            <p:fltVal val="0"/>
                                          </p:val>
                                        </p:tav>
                                        <p:tav tm="100000">
                                          <p:val>
                                            <p:strVal val="#ppt_h"/>
                                          </p:val>
                                        </p:tav>
                                      </p:tavLst>
                                    </p:anim>
                                    <p:animEffect transition="in" filter="fade">
                                      <p:cBhvr>
                                        <p:cTn id="79" dur="500"/>
                                        <p:tgtEl>
                                          <p:spTgt spid="24"/>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anim calcmode="lin" valueType="num">
                                      <p:cBhvr>
                                        <p:cTn id="82" dur="500" fill="hold"/>
                                        <p:tgtEl>
                                          <p:spTgt spid="25"/>
                                        </p:tgtEl>
                                        <p:attrNameLst>
                                          <p:attrName>ppt_w</p:attrName>
                                        </p:attrNameLst>
                                      </p:cBhvr>
                                      <p:tavLst>
                                        <p:tav tm="0">
                                          <p:val>
                                            <p:fltVal val="0"/>
                                          </p:val>
                                        </p:tav>
                                        <p:tav tm="100000">
                                          <p:val>
                                            <p:strVal val="#ppt_w"/>
                                          </p:val>
                                        </p:tav>
                                      </p:tavLst>
                                    </p:anim>
                                    <p:anim calcmode="lin" valueType="num">
                                      <p:cBhvr>
                                        <p:cTn id="83" dur="500" fill="hold"/>
                                        <p:tgtEl>
                                          <p:spTgt spid="25"/>
                                        </p:tgtEl>
                                        <p:attrNameLst>
                                          <p:attrName>ppt_h</p:attrName>
                                        </p:attrNameLst>
                                      </p:cBhvr>
                                      <p:tavLst>
                                        <p:tav tm="0">
                                          <p:val>
                                            <p:fltVal val="0"/>
                                          </p:val>
                                        </p:tav>
                                        <p:tav tm="100000">
                                          <p:val>
                                            <p:strVal val="#ppt_h"/>
                                          </p:val>
                                        </p:tav>
                                      </p:tavLst>
                                    </p:anim>
                                    <p:animEffect transition="in" filter="fade">
                                      <p:cBhvr>
                                        <p:cTn id="84" dur="500"/>
                                        <p:tgtEl>
                                          <p:spTgt spid="25"/>
                                        </p:tgtEl>
                                      </p:cBhvr>
                                    </p:animEffect>
                                  </p:childTnLst>
                                </p:cTn>
                              </p:par>
                            </p:childTnLst>
                          </p:cTn>
                        </p:par>
                        <p:par>
                          <p:cTn id="85" fill="hold">
                            <p:stCondLst>
                              <p:cond delay="5000"/>
                            </p:stCondLst>
                            <p:childTnLst>
                              <p:par>
                                <p:cTn id="86" presetID="2" presetClass="entr" presetSubtype="3" fill="hold" nodeType="afterEffect">
                                  <p:stCondLst>
                                    <p:cond delay="0"/>
                                  </p:stCondLst>
                                  <p:childTnLst>
                                    <p:set>
                                      <p:cBhvr>
                                        <p:cTn id="87" dur="1" fill="hold">
                                          <p:stCondLst>
                                            <p:cond delay="0"/>
                                          </p:stCondLst>
                                        </p:cTn>
                                        <p:tgtEl>
                                          <p:spTgt spid="19"/>
                                        </p:tgtEl>
                                        <p:attrNameLst>
                                          <p:attrName>style.visibility</p:attrName>
                                        </p:attrNameLst>
                                      </p:cBhvr>
                                      <p:to>
                                        <p:strVal val="visible"/>
                                      </p:to>
                                    </p:set>
                                    <p:anim calcmode="lin" valueType="num">
                                      <p:cBhvr additive="base">
                                        <p:cTn id="88" dur="500" fill="hold"/>
                                        <p:tgtEl>
                                          <p:spTgt spid="19"/>
                                        </p:tgtEl>
                                        <p:attrNameLst>
                                          <p:attrName>ppt_x</p:attrName>
                                        </p:attrNameLst>
                                      </p:cBhvr>
                                      <p:tavLst>
                                        <p:tav tm="0">
                                          <p:val>
                                            <p:strVal val="1+#ppt_w/2"/>
                                          </p:val>
                                        </p:tav>
                                        <p:tav tm="100000">
                                          <p:val>
                                            <p:strVal val="#ppt_x"/>
                                          </p:val>
                                        </p:tav>
                                      </p:tavLst>
                                    </p:anim>
                                    <p:anim calcmode="lin" valueType="num">
                                      <p:cBhvr additive="base">
                                        <p:cTn id="89" dur="500" fill="hold"/>
                                        <p:tgtEl>
                                          <p:spTgt spid="19"/>
                                        </p:tgtEl>
                                        <p:attrNameLst>
                                          <p:attrName>ppt_y</p:attrName>
                                        </p:attrNameLst>
                                      </p:cBhvr>
                                      <p:tavLst>
                                        <p:tav tm="0">
                                          <p:val>
                                            <p:strVal val="0-#ppt_h/2"/>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16" presetClass="entr" presetSubtype="21" fill="hold" nodeType="clickEffect">
                                  <p:stCondLst>
                                    <p:cond delay="0"/>
                                  </p:stCondLst>
                                  <p:childTnLst>
                                    <p:set>
                                      <p:cBhvr>
                                        <p:cTn id="93" dur="1" fill="hold">
                                          <p:stCondLst>
                                            <p:cond delay="0"/>
                                          </p:stCondLst>
                                        </p:cTn>
                                        <p:tgtEl>
                                          <p:spTgt spid="5">
                                            <p:txEl>
                                              <p:pRg st="0" end="0"/>
                                            </p:txEl>
                                          </p:spTgt>
                                        </p:tgtEl>
                                        <p:attrNameLst>
                                          <p:attrName>style.visibility</p:attrName>
                                        </p:attrNameLst>
                                      </p:cBhvr>
                                      <p:to>
                                        <p:strVal val="visible"/>
                                      </p:to>
                                    </p:set>
                                    <p:animEffect transition="in" filter="barn(inVertical)">
                                      <p:cBhvr>
                                        <p:cTn id="94" dur="500"/>
                                        <p:tgtEl>
                                          <p:spTgt spid="5">
                                            <p:txEl>
                                              <p:pRg st="0" end="0"/>
                                            </p:txEl>
                                          </p:spTgt>
                                        </p:tgtEl>
                                      </p:cBhvr>
                                    </p:animEffect>
                                  </p:childTnLst>
                                </p:cTn>
                              </p:par>
                            </p:childTnLst>
                          </p:cTn>
                        </p:par>
                        <p:par>
                          <p:cTn id="95" fill="hold">
                            <p:stCondLst>
                              <p:cond delay="500"/>
                            </p:stCondLst>
                            <p:childTnLst>
                              <p:par>
                                <p:cTn id="96" presetID="16" presetClass="entr" presetSubtype="21" fill="hold" nodeType="afterEffect">
                                  <p:stCondLst>
                                    <p:cond delay="0"/>
                                  </p:stCondLst>
                                  <p:childTnLst>
                                    <p:set>
                                      <p:cBhvr>
                                        <p:cTn id="97" dur="1" fill="hold">
                                          <p:stCondLst>
                                            <p:cond delay="0"/>
                                          </p:stCondLst>
                                        </p:cTn>
                                        <p:tgtEl>
                                          <p:spTgt spid="5">
                                            <p:txEl>
                                              <p:pRg st="1" end="1"/>
                                            </p:txEl>
                                          </p:spTgt>
                                        </p:tgtEl>
                                        <p:attrNameLst>
                                          <p:attrName>style.visibility</p:attrName>
                                        </p:attrNameLst>
                                      </p:cBhvr>
                                      <p:to>
                                        <p:strVal val="visible"/>
                                      </p:to>
                                    </p:set>
                                    <p:animEffect transition="in" filter="barn(inVertical)">
                                      <p:cBhvr>
                                        <p:cTn id="98" dur="500"/>
                                        <p:tgtEl>
                                          <p:spTgt spid="5">
                                            <p:txEl>
                                              <p:pRg st="1" end="1"/>
                                            </p:txEl>
                                          </p:spTgt>
                                        </p:tgtEl>
                                      </p:cBhvr>
                                    </p:animEffect>
                                  </p:childTnLst>
                                </p:cTn>
                              </p:par>
                            </p:childTnLst>
                          </p:cTn>
                        </p:par>
                        <p:par>
                          <p:cTn id="99" fill="hold">
                            <p:stCondLst>
                              <p:cond delay="1000"/>
                            </p:stCondLst>
                            <p:childTnLst>
                              <p:par>
                                <p:cTn id="100" presetID="2" presetClass="entr" presetSubtype="8" fill="hold" nodeType="afterEffect">
                                  <p:stCondLst>
                                    <p:cond delay="0"/>
                                  </p:stCondLst>
                                  <p:childTnLst>
                                    <p:set>
                                      <p:cBhvr>
                                        <p:cTn id="101" dur="1" fill="hold">
                                          <p:stCondLst>
                                            <p:cond delay="0"/>
                                          </p:stCondLst>
                                        </p:cTn>
                                        <p:tgtEl>
                                          <p:spTgt spid="17">
                                            <p:txEl>
                                              <p:pRg st="0" end="0"/>
                                            </p:txEl>
                                          </p:spTgt>
                                        </p:tgtEl>
                                        <p:attrNameLst>
                                          <p:attrName>style.visibility</p:attrName>
                                        </p:attrNameLst>
                                      </p:cBhvr>
                                      <p:to>
                                        <p:strVal val="visible"/>
                                      </p:to>
                                    </p:set>
                                    <p:anim calcmode="lin" valueType="num">
                                      <p:cBhvr additive="base">
                                        <p:cTn id="102" dur="500" fill="hold"/>
                                        <p:tgtEl>
                                          <p:spTgt spid="17">
                                            <p:txEl>
                                              <p:pRg st="0" end="0"/>
                                            </p:txEl>
                                          </p:spTgt>
                                        </p:tgtEl>
                                        <p:attrNameLst>
                                          <p:attrName>ppt_x</p:attrName>
                                        </p:attrNameLst>
                                      </p:cBhvr>
                                      <p:tavLst>
                                        <p:tav tm="0">
                                          <p:val>
                                            <p:strVal val="0-#ppt_w/2"/>
                                          </p:val>
                                        </p:tav>
                                        <p:tav tm="100000">
                                          <p:val>
                                            <p:strVal val="#ppt_x"/>
                                          </p:val>
                                        </p:tav>
                                      </p:tavLst>
                                    </p:anim>
                                    <p:anim calcmode="lin" valueType="num">
                                      <p:cBhvr additive="base">
                                        <p:cTn id="103" dur="500" fill="hold"/>
                                        <p:tgtEl>
                                          <p:spTgt spid="1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Graphic spid="4" grpId="0">
        <p:bldAsOne/>
      </p:bldGraphic>
      <p:bldGraphic spid="10" grpId="0">
        <p:bldAsOne/>
      </p:bldGraphic>
      <p:bldP spid="11" grpId="0"/>
      <p:bldP spid="12" grpId="0"/>
      <p:bldP spid="13" grpId="0"/>
      <p:bldP spid="14" grpId="0"/>
      <p:bldP spid="15" grpId="0"/>
      <p:bldP spid="16" grpId="0"/>
      <p:bldP spid="20" grpId="0"/>
      <p:bldP spid="21" grpId="0"/>
      <p:bldP spid="22" grpId="0"/>
      <p:bldP spid="23" grpId="0"/>
      <p:bldP spid="24" grpId="0"/>
      <p:bldP spid="2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945641"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8-2 </a:t>
            </a:r>
            <a:r>
              <a:rPr lang="zh-TW" altLang="en-US" sz="2400" b="1" dirty="0">
                <a:solidFill>
                  <a:srgbClr val="E06741"/>
                </a:solidFill>
              </a:rPr>
              <a:t>實務案例─募款交易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558751" y="1164868"/>
            <a:ext cx="8519050" cy="497444"/>
          </a:xfrm>
          <a:prstGeom prst="rect">
            <a:avLst/>
          </a:prstGeom>
        </p:spPr>
        <p:txBody>
          <a:bodyPr wrap="square">
            <a:spAutoFit/>
          </a:bodyPr>
          <a:lstStyle/>
          <a:p>
            <a:pPr marL="342900" indent="-342900">
              <a:lnSpc>
                <a:spcPct val="150000"/>
              </a:lnSpc>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螞蟻金服支付寶愛心捐贈區塊鏈流程</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7E3A6309-1716-4781-857E-D6FC371966D7}"/>
              </a:ext>
            </a:extLst>
          </p:cNvPr>
          <p:cNvSpPr txBox="1"/>
          <p:nvPr/>
        </p:nvSpPr>
        <p:spPr>
          <a:xfrm>
            <a:off x="501371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pic>
        <p:nvPicPr>
          <p:cNvPr id="5" name="圖片 4" descr="一張含有 螢幕擷取畫面 的圖片&#10;&#10;描述是以非常高的可信度產生">
            <a:extLst>
              <a:ext uri="{FF2B5EF4-FFF2-40B4-BE49-F238E27FC236}">
                <a16:creationId xmlns:a16="http://schemas.microsoft.com/office/drawing/2014/main" id="{45816699-1279-4A80-9E7D-133A35504C13}"/>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138926" y="2039463"/>
            <a:ext cx="8653706" cy="3784554"/>
          </a:xfrm>
          <a:prstGeom prst="rect">
            <a:avLst/>
          </a:prstGeom>
        </p:spPr>
      </p:pic>
      <p:pic>
        <p:nvPicPr>
          <p:cNvPr id="10" name="圖片 9">
            <a:extLst>
              <a:ext uri="{FF2B5EF4-FFF2-40B4-BE49-F238E27FC236}">
                <a16:creationId xmlns:a16="http://schemas.microsoft.com/office/drawing/2014/main" id="{705F6DBF-519D-4C72-BFD9-429CCE8420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10454" y="4795418"/>
            <a:ext cx="1800972" cy="1800972"/>
          </a:xfrm>
          <a:prstGeom prst="rect">
            <a:avLst/>
          </a:prstGeom>
        </p:spPr>
      </p:pic>
      <p:pic>
        <p:nvPicPr>
          <p:cNvPr id="6" name="圖形 5" descr="男人">
            <a:extLst>
              <a:ext uri="{FF2B5EF4-FFF2-40B4-BE49-F238E27FC236}">
                <a16:creationId xmlns:a16="http://schemas.microsoft.com/office/drawing/2014/main" id="{9B1FEAAF-8A35-4474-A5C5-0874B7624B6E}"/>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20132" y="2215966"/>
            <a:ext cx="939280" cy="939280"/>
          </a:xfrm>
          <a:prstGeom prst="rect">
            <a:avLst/>
          </a:prstGeom>
        </p:spPr>
      </p:pic>
      <p:pic>
        <p:nvPicPr>
          <p:cNvPr id="12" name="圖形 11" descr="硬幣">
            <a:extLst>
              <a:ext uri="{FF2B5EF4-FFF2-40B4-BE49-F238E27FC236}">
                <a16:creationId xmlns:a16="http://schemas.microsoft.com/office/drawing/2014/main" id="{9C4AB25C-53AD-4E4A-9860-8120BD2DC393}"/>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822473" y="2609863"/>
            <a:ext cx="632906" cy="632906"/>
          </a:xfrm>
          <a:prstGeom prst="rect">
            <a:avLst/>
          </a:prstGeom>
        </p:spPr>
      </p:pic>
      <p:pic>
        <p:nvPicPr>
          <p:cNvPr id="14" name="圖形 13" descr="團隊">
            <a:extLst>
              <a:ext uri="{FF2B5EF4-FFF2-40B4-BE49-F238E27FC236}">
                <a16:creationId xmlns:a16="http://schemas.microsoft.com/office/drawing/2014/main" id="{B102583A-FBB3-4C91-B165-ACDCA0A0B6EF}"/>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426922" y="2065354"/>
            <a:ext cx="1089892" cy="1089892"/>
          </a:xfrm>
          <a:prstGeom prst="rect">
            <a:avLst/>
          </a:prstGeom>
        </p:spPr>
      </p:pic>
      <p:cxnSp>
        <p:nvCxnSpPr>
          <p:cNvPr id="13" name="直接连接符 33">
            <a:extLst>
              <a:ext uri="{FF2B5EF4-FFF2-40B4-BE49-F238E27FC236}">
                <a16:creationId xmlns:a16="http://schemas.microsoft.com/office/drawing/2014/main" id="{260CDDFA-E2F3-4A84-99A7-324B6B2756BA}"/>
              </a:ext>
            </a:extLst>
          </p:cNvPr>
          <p:cNvCxnSpPr/>
          <p:nvPr/>
        </p:nvCxnSpPr>
        <p:spPr>
          <a:xfrm>
            <a:off x="1177167" y="100056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73954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arn(inVertical)">
                                      <p:cBhvr>
                                        <p:cTn id="11" dur="500"/>
                                        <p:tgtEl>
                                          <p:spTgt spid="3">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0-#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53" presetClass="entr" presetSubtype="16"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500" fill="hold"/>
                                        <p:tgtEl>
                                          <p:spTgt spid="5"/>
                                        </p:tgtEl>
                                        <p:attrNameLst>
                                          <p:attrName>ppt_w</p:attrName>
                                        </p:attrNameLst>
                                      </p:cBhvr>
                                      <p:tavLst>
                                        <p:tav tm="0">
                                          <p:val>
                                            <p:fltVal val="0"/>
                                          </p:val>
                                        </p:tav>
                                        <p:tav tm="100000">
                                          <p:val>
                                            <p:strVal val="#ppt_w"/>
                                          </p:val>
                                        </p:tav>
                                      </p:tavLst>
                                    </p:anim>
                                    <p:anim calcmode="lin" valueType="num">
                                      <p:cBhvr>
                                        <p:cTn id="26" dur="500" fill="hold"/>
                                        <p:tgtEl>
                                          <p:spTgt spid="5"/>
                                        </p:tgtEl>
                                        <p:attrNameLst>
                                          <p:attrName>ppt_h</p:attrName>
                                        </p:attrNameLst>
                                      </p:cBhvr>
                                      <p:tavLst>
                                        <p:tav tm="0">
                                          <p:val>
                                            <p:fltVal val="0"/>
                                          </p:val>
                                        </p:tav>
                                        <p:tav tm="100000">
                                          <p:val>
                                            <p:strVal val="#ppt_h"/>
                                          </p:val>
                                        </p:tav>
                                      </p:tavLst>
                                    </p:anim>
                                    <p:animEffect transition="in" filter="fade">
                                      <p:cBhvr>
                                        <p:cTn id="27" dur="500"/>
                                        <p:tgtEl>
                                          <p:spTgt spid="5"/>
                                        </p:tgtEl>
                                      </p:cBhvr>
                                    </p:animEffect>
                                  </p:childTnLst>
                                </p:cTn>
                              </p:par>
                              <p:par>
                                <p:cTn id="28" presetID="42"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1000"/>
                                        <p:tgtEl>
                                          <p:spTgt spid="12"/>
                                        </p:tgtEl>
                                      </p:cBhvr>
                                    </p:animEffect>
                                    <p:anim calcmode="lin" valueType="num">
                                      <p:cBhvr>
                                        <p:cTn id="31" dur="1000" fill="hold"/>
                                        <p:tgtEl>
                                          <p:spTgt spid="12"/>
                                        </p:tgtEl>
                                        <p:attrNameLst>
                                          <p:attrName>ppt_x</p:attrName>
                                        </p:attrNameLst>
                                      </p:cBhvr>
                                      <p:tavLst>
                                        <p:tav tm="0">
                                          <p:val>
                                            <p:strVal val="#ppt_x"/>
                                          </p:val>
                                        </p:tav>
                                        <p:tav tm="100000">
                                          <p:val>
                                            <p:strVal val="#ppt_x"/>
                                          </p:val>
                                        </p:tav>
                                      </p:tavLst>
                                    </p:anim>
                                    <p:anim calcmode="lin" valueType="num">
                                      <p:cBhvr>
                                        <p:cTn id="32" dur="1000" fill="hold"/>
                                        <p:tgtEl>
                                          <p:spTgt spid="12"/>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anim calcmode="lin" valueType="num">
                                      <p:cBhvr>
                                        <p:cTn id="36" dur="1000" fill="hold"/>
                                        <p:tgtEl>
                                          <p:spTgt spid="6"/>
                                        </p:tgtEl>
                                        <p:attrNameLst>
                                          <p:attrName>ppt_x</p:attrName>
                                        </p:attrNameLst>
                                      </p:cBhvr>
                                      <p:tavLst>
                                        <p:tav tm="0">
                                          <p:val>
                                            <p:strVal val="#ppt_x"/>
                                          </p:val>
                                        </p:tav>
                                        <p:tav tm="100000">
                                          <p:val>
                                            <p:strVal val="#ppt_x"/>
                                          </p:val>
                                        </p:tav>
                                      </p:tavLst>
                                    </p:anim>
                                    <p:anim calcmode="lin" valueType="num">
                                      <p:cBhvr>
                                        <p:cTn id="37" dur="1000" fill="hold"/>
                                        <p:tgtEl>
                                          <p:spTgt spid="6"/>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1000"/>
                                        <p:tgtEl>
                                          <p:spTgt spid="14"/>
                                        </p:tgtEl>
                                      </p:cBhvr>
                                    </p:animEffect>
                                    <p:anim calcmode="lin" valueType="num">
                                      <p:cBhvr>
                                        <p:cTn id="41" dur="1000" fill="hold"/>
                                        <p:tgtEl>
                                          <p:spTgt spid="14"/>
                                        </p:tgtEl>
                                        <p:attrNameLst>
                                          <p:attrName>ppt_x</p:attrName>
                                        </p:attrNameLst>
                                      </p:cBhvr>
                                      <p:tavLst>
                                        <p:tav tm="0">
                                          <p:val>
                                            <p:strVal val="#ppt_x"/>
                                          </p:val>
                                        </p:tav>
                                        <p:tav tm="100000">
                                          <p:val>
                                            <p:strVal val="#ppt_x"/>
                                          </p:val>
                                        </p:tav>
                                      </p:tavLst>
                                    </p:anim>
                                    <p:anim calcmode="lin" valueType="num">
                                      <p:cBhvr>
                                        <p:cTn id="42" dur="1000" fill="hold"/>
                                        <p:tgtEl>
                                          <p:spTgt spid="14"/>
                                        </p:tgtEl>
                                        <p:attrNameLst>
                                          <p:attrName>ppt_y</p:attrName>
                                        </p:attrNameLst>
                                      </p:cBhvr>
                                      <p:tavLst>
                                        <p:tav tm="0">
                                          <p:val>
                                            <p:strVal val="#ppt_y+.1"/>
                                          </p:val>
                                        </p:tav>
                                        <p:tav tm="100000">
                                          <p:val>
                                            <p:strVal val="#ppt_y"/>
                                          </p:val>
                                        </p:tav>
                                      </p:tavLst>
                                    </p:anim>
                                  </p:childTnLst>
                                </p:cTn>
                              </p:par>
                            </p:childTnLst>
                          </p:cTn>
                        </p:par>
                        <p:par>
                          <p:cTn id="43" fill="hold">
                            <p:stCondLst>
                              <p:cond delay="4500"/>
                            </p:stCondLst>
                            <p:childTnLst>
                              <p:par>
                                <p:cTn id="44" presetID="53" presetClass="entr" presetSubtype="16" fill="hold" nodeType="afterEffect">
                                  <p:stCondLst>
                                    <p:cond delay="0"/>
                                  </p:stCondLst>
                                  <p:childTnLst>
                                    <p:set>
                                      <p:cBhvr>
                                        <p:cTn id="45" dur="1" fill="hold">
                                          <p:stCondLst>
                                            <p:cond delay="0"/>
                                          </p:stCondLst>
                                        </p:cTn>
                                        <p:tgtEl>
                                          <p:spTgt spid="10"/>
                                        </p:tgtEl>
                                        <p:attrNameLst>
                                          <p:attrName>style.visibility</p:attrName>
                                        </p:attrNameLst>
                                      </p:cBhvr>
                                      <p:to>
                                        <p:strVal val="visible"/>
                                      </p:to>
                                    </p:set>
                                    <p:anim calcmode="lin" valueType="num">
                                      <p:cBhvr>
                                        <p:cTn id="46" dur="500" fill="hold"/>
                                        <p:tgtEl>
                                          <p:spTgt spid="10"/>
                                        </p:tgtEl>
                                        <p:attrNameLst>
                                          <p:attrName>ppt_w</p:attrName>
                                        </p:attrNameLst>
                                      </p:cBhvr>
                                      <p:tavLst>
                                        <p:tav tm="0">
                                          <p:val>
                                            <p:fltVal val="0"/>
                                          </p:val>
                                        </p:tav>
                                        <p:tav tm="100000">
                                          <p:val>
                                            <p:strVal val="#ppt_w"/>
                                          </p:val>
                                        </p:tav>
                                      </p:tavLst>
                                    </p:anim>
                                    <p:anim calcmode="lin" valueType="num">
                                      <p:cBhvr>
                                        <p:cTn id="47" dur="500" fill="hold"/>
                                        <p:tgtEl>
                                          <p:spTgt spid="10"/>
                                        </p:tgtEl>
                                        <p:attrNameLst>
                                          <p:attrName>ppt_h</p:attrName>
                                        </p:attrNameLst>
                                      </p:cBhvr>
                                      <p:tavLst>
                                        <p:tav tm="0">
                                          <p:val>
                                            <p:fltVal val="0"/>
                                          </p:val>
                                        </p:tav>
                                        <p:tav tm="100000">
                                          <p:val>
                                            <p:strVal val="#ppt_h"/>
                                          </p:val>
                                        </p:tav>
                                      </p:tavLst>
                                    </p:anim>
                                    <p:animEffect transition="in" filter="fade">
                                      <p:cBhvr>
                                        <p:cTn id="4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945641"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8-2 </a:t>
            </a:r>
            <a:r>
              <a:rPr lang="zh-TW" altLang="en-US" sz="2400" b="1" dirty="0">
                <a:solidFill>
                  <a:srgbClr val="E06741"/>
                </a:solidFill>
              </a:rPr>
              <a:t>實務案例─募款交易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558751" y="1092248"/>
            <a:ext cx="8519050" cy="497444"/>
          </a:xfrm>
          <a:prstGeom prst="rect">
            <a:avLst/>
          </a:prstGeom>
        </p:spPr>
        <p:txBody>
          <a:bodyPr wrap="square">
            <a:spAutoFit/>
          </a:bodyPr>
          <a:lstStyle/>
          <a:p>
            <a:pPr marL="342900" indent="-342900">
              <a:lnSpc>
                <a:spcPct val="150000"/>
              </a:lnSpc>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螞蟻金服支付寶愛捐贈區塊鏈流程概區分為 </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4</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 個步驟</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7E3A6309-1716-4781-857E-D6FC371966D7}"/>
              </a:ext>
            </a:extLst>
          </p:cNvPr>
          <p:cNvSpPr txBox="1"/>
          <p:nvPr/>
        </p:nvSpPr>
        <p:spPr>
          <a:xfrm>
            <a:off x="501371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graphicFrame>
        <p:nvGraphicFramePr>
          <p:cNvPr id="4" name="資料庫圖表 3">
            <a:extLst>
              <a:ext uri="{FF2B5EF4-FFF2-40B4-BE49-F238E27FC236}">
                <a16:creationId xmlns:a16="http://schemas.microsoft.com/office/drawing/2014/main" id="{C1D2738F-7B3B-4FDD-8155-889CCCB4C02B}"/>
              </a:ext>
            </a:extLst>
          </p:cNvPr>
          <p:cNvGraphicFramePr/>
          <p:nvPr>
            <p:extLst>
              <p:ext uri="{D42A27DB-BD31-4B8C-83A1-F6EECF244321}">
                <p14:modId xmlns:p14="http://schemas.microsoft.com/office/powerpoint/2010/main" val="1904552005"/>
              </p:ext>
            </p:extLst>
          </p:nvPr>
        </p:nvGraphicFramePr>
        <p:xfrm>
          <a:off x="2512289" y="2189142"/>
          <a:ext cx="7619886" cy="17212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文字方塊 10">
            <a:extLst>
              <a:ext uri="{FF2B5EF4-FFF2-40B4-BE49-F238E27FC236}">
                <a16:creationId xmlns:a16="http://schemas.microsoft.com/office/drawing/2014/main" id="{B9D2151C-E643-494A-9503-EE21E1A8E0BE}"/>
              </a:ext>
            </a:extLst>
          </p:cNvPr>
          <p:cNvSpPr txBox="1"/>
          <p:nvPr/>
        </p:nvSpPr>
        <p:spPr>
          <a:xfrm>
            <a:off x="2613776" y="1764139"/>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1</a:t>
            </a:r>
          </a:p>
        </p:txBody>
      </p:sp>
      <p:sp>
        <p:nvSpPr>
          <p:cNvPr id="13" name="文字方塊 12">
            <a:extLst>
              <a:ext uri="{FF2B5EF4-FFF2-40B4-BE49-F238E27FC236}">
                <a16:creationId xmlns:a16="http://schemas.microsoft.com/office/drawing/2014/main" id="{0403EDCE-D36C-4164-A6E0-172D4DBE5164}"/>
              </a:ext>
            </a:extLst>
          </p:cNvPr>
          <p:cNvSpPr txBox="1"/>
          <p:nvPr/>
        </p:nvSpPr>
        <p:spPr>
          <a:xfrm>
            <a:off x="7130807" y="4077398"/>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4</a:t>
            </a:r>
          </a:p>
        </p:txBody>
      </p:sp>
      <p:sp>
        <p:nvSpPr>
          <p:cNvPr id="14" name="文字方塊 13">
            <a:extLst>
              <a:ext uri="{FF2B5EF4-FFF2-40B4-BE49-F238E27FC236}">
                <a16:creationId xmlns:a16="http://schemas.microsoft.com/office/drawing/2014/main" id="{8102116A-8914-456C-99CC-FFB6CE5B31B3}"/>
              </a:ext>
            </a:extLst>
          </p:cNvPr>
          <p:cNvSpPr txBox="1"/>
          <p:nvPr/>
        </p:nvSpPr>
        <p:spPr>
          <a:xfrm>
            <a:off x="2613776" y="4077398"/>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3</a:t>
            </a:r>
          </a:p>
        </p:txBody>
      </p:sp>
      <p:sp>
        <p:nvSpPr>
          <p:cNvPr id="15" name="文字方塊 14">
            <a:extLst>
              <a:ext uri="{FF2B5EF4-FFF2-40B4-BE49-F238E27FC236}">
                <a16:creationId xmlns:a16="http://schemas.microsoft.com/office/drawing/2014/main" id="{49A6520A-3442-46DF-A568-8B5FB7CF0215}"/>
              </a:ext>
            </a:extLst>
          </p:cNvPr>
          <p:cNvSpPr txBox="1"/>
          <p:nvPr/>
        </p:nvSpPr>
        <p:spPr>
          <a:xfrm>
            <a:off x="7130806" y="1764139"/>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2</a:t>
            </a:r>
          </a:p>
        </p:txBody>
      </p:sp>
      <p:graphicFrame>
        <p:nvGraphicFramePr>
          <p:cNvPr id="17" name="資料庫圖表 16">
            <a:extLst>
              <a:ext uri="{FF2B5EF4-FFF2-40B4-BE49-F238E27FC236}">
                <a16:creationId xmlns:a16="http://schemas.microsoft.com/office/drawing/2014/main" id="{533422C6-158B-4B9B-AFAA-BA62AB88F410}"/>
              </a:ext>
            </a:extLst>
          </p:cNvPr>
          <p:cNvGraphicFramePr/>
          <p:nvPr>
            <p:extLst>
              <p:ext uri="{D42A27DB-BD31-4B8C-83A1-F6EECF244321}">
                <p14:modId xmlns:p14="http://schemas.microsoft.com/office/powerpoint/2010/main" val="4142925238"/>
              </p:ext>
            </p:extLst>
          </p:nvPr>
        </p:nvGraphicFramePr>
        <p:xfrm>
          <a:off x="2512289" y="4502401"/>
          <a:ext cx="7619886" cy="172124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5" name="圖片 4">
            <a:extLst>
              <a:ext uri="{FF2B5EF4-FFF2-40B4-BE49-F238E27FC236}">
                <a16:creationId xmlns:a16="http://schemas.microsoft.com/office/drawing/2014/main" id="{ECD670FB-A93E-4736-ADB9-127B61EC9D1C}"/>
              </a:ext>
            </a:extLst>
          </p:cNvPr>
          <p:cNvPicPr>
            <a:picLocks noChangeAspect="1"/>
          </p:cNvPicPr>
          <p:nvPr/>
        </p:nvPicPr>
        <p:blipFill>
          <a:blip r:embed="rId14"/>
          <a:stretch>
            <a:fillRect/>
          </a:stretch>
        </p:blipFill>
        <p:spPr>
          <a:xfrm>
            <a:off x="1599081" y="4966746"/>
            <a:ext cx="676715" cy="792549"/>
          </a:xfrm>
          <a:prstGeom prst="rect">
            <a:avLst/>
          </a:prstGeom>
        </p:spPr>
      </p:pic>
      <p:pic>
        <p:nvPicPr>
          <p:cNvPr id="16" name="圖片 15">
            <a:extLst>
              <a:ext uri="{FF2B5EF4-FFF2-40B4-BE49-F238E27FC236}">
                <a16:creationId xmlns:a16="http://schemas.microsoft.com/office/drawing/2014/main" id="{C788FFFE-0F88-4F52-BDE6-8799905B5B9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rot="19848387">
            <a:off x="10035682" y="448799"/>
            <a:ext cx="1684180" cy="1684180"/>
          </a:xfrm>
          <a:prstGeom prst="rect">
            <a:avLst/>
          </a:prstGeom>
        </p:spPr>
      </p:pic>
      <p:sp>
        <p:nvSpPr>
          <p:cNvPr id="22" name="文字方塊 21">
            <a:extLst>
              <a:ext uri="{FF2B5EF4-FFF2-40B4-BE49-F238E27FC236}">
                <a16:creationId xmlns:a16="http://schemas.microsoft.com/office/drawing/2014/main" id="{13098E0A-8156-4DB4-B6CD-53218BFACE76}"/>
              </a:ext>
            </a:extLst>
          </p:cNvPr>
          <p:cNvSpPr txBox="1"/>
          <p:nvPr/>
        </p:nvSpPr>
        <p:spPr>
          <a:xfrm>
            <a:off x="3879837" y="1751632"/>
            <a:ext cx="1027845" cy="369332"/>
          </a:xfrm>
          <a:prstGeom prst="rect">
            <a:avLst/>
          </a:prstGeom>
          <a:noFill/>
        </p:spPr>
        <p:txBody>
          <a:bodyPr wrap="none" rtlCol="0">
            <a:spAutoFit/>
          </a:bodyPr>
          <a:lstStyle/>
          <a:p>
            <a:r>
              <a:rPr lang="en-US" altLang="zh-TW" dirty="0">
                <a:solidFill>
                  <a:schemeClr val="accent5"/>
                </a:solidFill>
                <a:latin typeface="Eras Demi ITC" panose="020B0805030504020804" pitchFamily="34" charset="0"/>
              </a:rPr>
              <a:t>P1</a:t>
            </a:r>
            <a:r>
              <a:rPr lang="en-US" altLang="zh-TW" dirty="0">
                <a:solidFill>
                  <a:schemeClr val="accent5"/>
                </a:solidFill>
                <a:latin typeface="微軟正黑體" panose="020B0604030504040204" pitchFamily="34" charset="-120"/>
                <a:ea typeface="微軟正黑體" panose="020B0604030504040204" pitchFamily="34" charset="-120"/>
              </a:rPr>
              <a:t>→</a:t>
            </a:r>
            <a:r>
              <a:rPr lang="en-US" altLang="zh-TW" dirty="0">
                <a:solidFill>
                  <a:schemeClr val="accent5"/>
                </a:solidFill>
                <a:latin typeface="Eras Demi ITC" panose="020B0805030504020804" pitchFamily="34" charset="0"/>
              </a:rPr>
              <a:t> P3</a:t>
            </a:r>
          </a:p>
        </p:txBody>
      </p:sp>
      <p:sp>
        <p:nvSpPr>
          <p:cNvPr id="23" name="文字方塊 22">
            <a:extLst>
              <a:ext uri="{FF2B5EF4-FFF2-40B4-BE49-F238E27FC236}">
                <a16:creationId xmlns:a16="http://schemas.microsoft.com/office/drawing/2014/main" id="{69FC1966-8605-458A-8742-B97103F11D72}"/>
              </a:ext>
            </a:extLst>
          </p:cNvPr>
          <p:cNvSpPr txBox="1"/>
          <p:nvPr/>
        </p:nvSpPr>
        <p:spPr>
          <a:xfrm>
            <a:off x="8795176" y="4077398"/>
            <a:ext cx="1027845" cy="369332"/>
          </a:xfrm>
          <a:prstGeom prst="rect">
            <a:avLst/>
          </a:prstGeom>
          <a:noFill/>
        </p:spPr>
        <p:txBody>
          <a:bodyPr wrap="none" rtlCol="0">
            <a:spAutoFit/>
          </a:bodyPr>
          <a:lstStyle/>
          <a:p>
            <a:r>
              <a:rPr lang="en-US" altLang="zh-TW" dirty="0">
                <a:solidFill>
                  <a:schemeClr val="accent5"/>
                </a:solidFill>
                <a:latin typeface="Eras Demi ITC" panose="020B0805030504020804" pitchFamily="34" charset="0"/>
              </a:rPr>
              <a:t>P3</a:t>
            </a:r>
            <a:r>
              <a:rPr lang="en-US" altLang="zh-TW" dirty="0">
                <a:solidFill>
                  <a:schemeClr val="accent5"/>
                </a:solidFill>
                <a:latin typeface="微軟正黑體" panose="020B0604030504040204" pitchFamily="34" charset="-120"/>
                <a:ea typeface="微軟正黑體" panose="020B0604030504040204" pitchFamily="34" charset="-120"/>
              </a:rPr>
              <a:t>→</a:t>
            </a:r>
            <a:r>
              <a:rPr lang="en-US" altLang="zh-TW" dirty="0">
                <a:solidFill>
                  <a:schemeClr val="accent5"/>
                </a:solidFill>
                <a:latin typeface="Eras Demi ITC" panose="020B0805030504020804" pitchFamily="34" charset="0"/>
              </a:rPr>
              <a:t> P1</a:t>
            </a:r>
          </a:p>
        </p:txBody>
      </p:sp>
      <p:sp>
        <p:nvSpPr>
          <p:cNvPr id="24" name="文字方塊 23">
            <a:extLst>
              <a:ext uri="{FF2B5EF4-FFF2-40B4-BE49-F238E27FC236}">
                <a16:creationId xmlns:a16="http://schemas.microsoft.com/office/drawing/2014/main" id="{6E71D19A-0519-4AF9-A3DE-704F7786C4F7}"/>
              </a:ext>
            </a:extLst>
          </p:cNvPr>
          <p:cNvSpPr txBox="1"/>
          <p:nvPr/>
        </p:nvSpPr>
        <p:spPr>
          <a:xfrm>
            <a:off x="3879837" y="4077398"/>
            <a:ext cx="1027845" cy="369332"/>
          </a:xfrm>
          <a:prstGeom prst="rect">
            <a:avLst/>
          </a:prstGeom>
          <a:noFill/>
        </p:spPr>
        <p:txBody>
          <a:bodyPr wrap="none" rtlCol="0">
            <a:spAutoFit/>
          </a:bodyPr>
          <a:lstStyle/>
          <a:p>
            <a:r>
              <a:rPr lang="en-US" altLang="zh-TW" dirty="0">
                <a:solidFill>
                  <a:schemeClr val="accent5"/>
                </a:solidFill>
                <a:latin typeface="Eras Demi ITC" panose="020B0805030504020804" pitchFamily="34" charset="0"/>
              </a:rPr>
              <a:t>P2</a:t>
            </a:r>
            <a:r>
              <a:rPr lang="en-US" altLang="zh-TW" dirty="0">
                <a:solidFill>
                  <a:schemeClr val="accent5"/>
                </a:solidFill>
                <a:latin typeface="微軟正黑體" panose="020B0604030504040204" pitchFamily="34" charset="-120"/>
                <a:ea typeface="微軟正黑體" panose="020B0604030504040204" pitchFamily="34" charset="-120"/>
              </a:rPr>
              <a:t>→</a:t>
            </a:r>
            <a:r>
              <a:rPr lang="en-US" altLang="zh-TW" dirty="0">
                <a:solidFill>
                  <a:schemeClr val="accent5"/>
                </a:solidFill>
                <a:latin typeface="Eras Demi ITC" panose="020B0805030504020804" pitchFamily="34" charset="0"/>
              </a:rPr>
              <a:t> P3</a:t>
            </a:r>
          </a:p>
        </p:txBody>
      </p:sp>
      <p:sp>
        <p:nvSpPr>
          <p:cNvPr id="25" name="文字方塊 24">
            <a:extLst>
              <a:ext uri="{FF2B5EF4-FFF2-40B4-BE49-F238E27FC236}">
                <a16:creationId xmlns:a16="http://schemas.microsoft.com/office/drawing/2014/main" id="{5CA5EC77-F635-497E-9BD4-11FDED01A7DD}"/>
              </a:ext>
            </a:extLst>
          </p:cNvPr>
          <p:cNvSpPr txBox="1"/>
          <p:nvPr/>
        </p:nvSpPr>
        <p:spPr>
          <a:xfrm>
            <a:off x="8795176" y="1751632"/>
            <a:ext cx="1027845" cy="369332"/>
          </a:xfrm>
          <a:prstGeom prst="rect">
            <a:avLst/>
          </a:prstGeom>
          <a:noFill/>
        </p:spPr>
        <p:txBody>
          <a:bodyPr wrap="none" rtlCol="0">
            <a:spAutoFit/>
          </a:bodyPr>
          <a:lstStyle/>
          <a:p>
            <a:r>
              <a:rPr lang="en-US" altLang="zh-TW" dirty="0">
                <a:solidFill>
                  <a:schemeClr val="accent5"/>
                </a:solidFill>
                <a:latin typeface="Eras Demi ITC" panose="020B0805030504020804" pitchFamily="34" charset="0"/>
              </a:rPr>
              <a:t>P1</a:t>
            </a:r>
            <a:r>
              <a:rPr lang="en-US" altLang="zh-TW" dirty="0">
                <a:solidFill>
                  <a:schemeClr val="accent5"/>
                </a:solidFill>
                <a:latin typeface="微軟正黑體" panose="020B0604030504040204" pitchFamily="34" charset="-120"/>
                <a:ea typeface="微軟正黑體" panose="020B0604030504040204" pitchFamily="34" charset="-120"/>
              </a:rPr>
              <a:t>→</a:t>
            </a:r>
            <a:r>
              <a:rPr lang="en-US" altLang="zh-TW" dirty="0">
                <a:solidFill>
                  <a:schemeClr val="accent5"/>
                </a:solidFill>
                <a:latin typeface="Eras Demi ITC" panose="020B0805030504020804" pitchFamily="34" charset="0"/>
              </a:rPr>
              <a:t> P2</a:t>
            </a:r>
          </a:p>
        </p:txBody>
      </p:sp>
      <p:cxnSp>
        <p:nvCxnSpPr>
          <p:cNvPr id="19" name="直接连接符 33">
            <a:extLst>
              <a:ext uri="{FF2B5EF4-FFF2-40B4-BE49-F238E27FC236}">
                <a16:creationId xmlns:a16="http://schemas.microsoft.com/office/drawing/2014/main" id="{B7E028A5-D19A-434E-A2FC-5BA18C86F2D6}"/>
              </a:ext>
            </a:extLst>
          </p:cNvPr>
          <p:cNvCxnSpPr>
            <a:cxnSpLocks/>
          </p:cNvCxnSpPr>
          <p:nvPr/>
        </p:nvCxnSpPr>
        <p:spPr>
          <a:xfrm>
            <a:off x="1177167" y="1000566"/>
            <a:ext cx="8645854"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158177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arn(inVertical)">
                                      <p:cBhvr>
                                        <p:cTn id="11" dur="500"/>
                                        <p:tgtEl>
                                          <p:spTgt spid="3">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500" fill="hold"/>
                                        <p:tgtEl>
                                          <p:spTgt spid="19"/>
                                        </p:tgtEl>
                                        <p:attrNameLst>
                                          <p:attrName>ppt_x</p:attrName>
                                        </p:attrNameLst>
                                      </p:cBhvr>
                                      <p:tavLst>
                                        <p:tav tm="0">
                                          <p:val>
                                            <p:strVal val="0-#ppt_w/2"/>
                                          </p:val>
                                        </p:tav>
                                        <p:tav tm="100000">
                                          <p:val>
                                            <p:strVal val="#ppt_x"/>
                                          </p:val>
                                        </p:tav>
                                      </p:tavLst>
                                    </p:anim>
                                    <p:anim calcmode="lin" valueType="num">
                                      <p:cBhvr additive="base">
                                        <p:cTn id="16" dur="500" fill="hold"/>
                                        <p:tgtEl>
                                          <p:spTgt spid="19"/>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2" presetClass="entr" presetSubtype="8" fill="hold" grpId="0" nodeType="after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0-#ppt_w/2"/>
                                          </p:val>
                                        </p:tav>
                                        <p:tav tm="100000">
                                          <p:val>
                                            <p:strVal val="#ppt_x"/>
                                          </p:val>
                                        </p:tav>
                                      </p:tavLst>
                                    </p:anim>
                                    <p:anim calcmode="lin" valueType="num">
                                      <p:cBhvr additive="base">
                                        <p:cTn id="26" dur="500" fill="hold"/>
                                        <p:tgtEl>
                                          <p:spTgt spid="4"/>
                                        </p:tgtEl>
                                        <p:attrNameLst>
                                          <p:attrName>ppt_y</p:attrName>
                                        </p:attrNameLst>
                                      </p:cBhvr>
                                      <p:tavLst>
                                        <p:tav tm="0">
                                          <p:val>
                                            <p:strVal val="#ppt_y"/>
                                          </p:val>
                                        </p:tav>
                                        <p:tav tm="100000">
                                          <p:val>
                                            <p:strVal val="#ppt_y"/>
                                          </p:val>
                                        </p:tav>
                                      </p:tavLst>
                                    </p:anim>
                                  </p:childTnLst>
                                </p:cTn>
                              </p:par>
                              <p:par>
                                <p:cTn id="27" presetID="16" presetClass="entr" presetSubtype="21"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arn(inVertical)">
                                      <p:cBhvr>
                                        <p:cTn id="29" dur="500"/>
                                        <p:tgtEl>
                                          <p:spTgt spid="11"/>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arn(inVertical)">
                                      <p:cBhvr>
                                        <p:cTn id="32" dur="500"/>
                                        <p:tgtEl>
                                          <p:spTgt spid="15"/>
                                        </p:tgtEl>
                                      </p:cBhvr>
                                    </p:animEffect>
                                  </p:childTnLst>
                                </p:cTn>
                              </p:par>
                              <p:par>
                                <p:cTn id="33" presetID="2" presetClass="entr" presetSubtype="8" fill="hold" nodeType="withEffect">
                                  <p:stCondLst>
                                    <p:cond delay="0"/>
                                  </p:stCondLst>
                                  <p:childTnLst>
                                    <p:set>
                                      <p:cBhvr>
                                        <p:cTn id="34" dur="1" fill="hold">
                                          <p:stCondLst>
                                            <p:cond delay="0"/>
                                          </p:stCondLst>
                                        </p:cTn>
                                        <p:tgtEl>
                                          <p:spTgt spid="22">
                                            <p:txEl>
                                              <p:pRg st="0" end="0"/>
                                            </p:txEl>
                                          </p:spTgt>
                                        </p:tgtEl>
                                        <p:attrNameLst>
                                          <p:attrName>style.visibility</p:attrName>
                                        </p:attrNameLst>
                                      </p:cBhvr>
                                      <p:to>
                                        <p:strVal val="visible"/>
                                      </p:to>
                                    </p:set>
                                    <p:anim calcmode="lin" valueType="num">
                                      <p:cBhvr additive="base">
                                        <p:cTn id="35" dur="500" fill="hold"/>
                                        <p:tgtEl>
                                          <p:spTgt spid="22">
                                            <p:txEl>
                                              <p:pRg st="0" end="0"/>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22">
                                            <p:txEl>
                                              <p:pRg st="0" end="0"/>
                                            </p:tx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additive="base">
                                        <p:cTn id="39" dur="500" fill="hold"/>
                                        <p:tgtEl>
                                          <p:spTgt spid="25"/>
                                        </p:tgtEl>
                                        <p:attrNameLst>
                                          <p:attrName>ppt_x</p:attrName>
                                        </p:attrNameLst>
                                      </p:cBhvr>
                                      <p:tavLst>
                                        <p:tav tm="0">
                                          <p:val>
                                            <p:strVal val="0-#ppt_w/2"/>
                                          </p:val>
                                        </p:tav>
                                        <p:tav tm="100000">
                                          <p:val>
                                            <p:strVal val="#ppt_x"/>
                                          </p:val>
                                        </p:tav>
                                      </p:tavLst>
                                    </p:anim>
                                    <p:anim calcmode="lin" valueType="num">
                                      <p:cBhvr additive="base">
                                        <p:cTn id="40" dur="500" fill="hold"/>
                                        <p:tgtEl>
                                          <p:spTgt spid="25"/>
                                        </p:tgtEl>
                                        <p:attrNameLst>
                                          <p:attrName>ppt_y</p:attrName>
                                        </p:attrNameLst>
                                      </p:cBhvr>
                                      <p:tavLst>
                                        <p:tav tm="0">
                                          <p:val>
                                            <p:strVal val="#ppt_y"/>
                                          </p:val>
                                        </p:tav>
                                        <p:tav tm="100000">
                                          <p:val>
                                            <p:strVal val="#ppt_y"/>
                                          </p:val>
                                        </p:tav>
                                      </p:tavLst>
                                    </p:anim>
                                  </p:childTnLst>
                                </p:cTn>
                              </p:par>
                            </p:childTnLst>
                          </p:cTn>
                        </p:par>
                        <p:par>
                          <p:cTn id="41" fill="hold">
                            <p:stCondLst>
                              <p:cond delay="4000"/>
                            </p:stCondLst>
                            <p:childTnLst>
                              <p:par>
                                <p:cTn id="42" presetID="2" presetClass="entr" presetSubtype="8" fill="hold" nodeType="afterEffect">
                                  <p:stCondLst>
                                    <p:cond delay="0"/>
                                  </p:stCondLst>
                                  <p:childTnLst>
                                    <p:set>
                                      <p:cBhvr>
                                        <p:cTn id="43" dur="1" fill="hold">
                                          <p:stCondLst>
                                            <p:cond delay="0"/>
                                          </p:stCondLst>
                                        </p:cTn>
                                        <p:tgtEl>
                                          <p:spTgt spid="5"/>
                                        </p:tgtEl>
                                        <p:attrNameLst>
                                          <p:attrName>style.visibility</p:attrName>
                                        </p:attrNameLst>
                                      </p:cBhvr>
                                      <p:to>
                                        <p:strVal val="visible"/>
                                      </p:to>
                                    </p:set>
                                    <p:anim calcmode="lin" valueType="num">
                                      <p:cBhvr additive="base">
                                        <p:cTn id="44" dur="500" fill="hold"/>
                                        <p:tgtEl>
                                          <p:spTgt spid="5"/>
                                        </p:tgtEl>
                                        <p:attrNameLst>
                                          <p:attrName>ppt_x</p:attrName>
                                        </p:attrNameLst>
                                      </p:cBhvr>
                                      <p:tavLst>
                                        <p:tav tm="0">
                                          <p:val>
                                            <p:strVal val="0-#ppt_w/2"/>
                                          </p:val>
                                        </p:tav>
                                        <p:tav tm="100000">
                                          <p:val>
                                            <p:strVal val="#ppt_x"/>
                                          </p:val>
                                        </p:tav>
                                      </p:tavLst>
                                    </p:anim>
                                    <p:anim calcmode="lin" valueType="num">
                                      <p:cBhvr additive="base">
                                        <p:cTn id="45" dur="500" fill="hold"/>
                                        <p:tgtEl>
                                          <p:spTgt spid="5"/>
                                        </p:tgtEl>
                                        <p:attrNameLst>
                                          <p:attrName>ppt_y</p:attrName>
                                        </p:attrNameLst>
                                      </p:cBhvr>
                                      <p:tavLst>
                                        <p:tav tm="0">
                                          <p:val>
                                            <p:strVal val="#ppt_y"/>
                                          </p:val>
                                        </p:tav>
                                        <p:tav tm="100000">
                                          <p:val>
                                            <p:strVal val="#ppt_y"/>
                                          </p:val>
                                        </p:tav>
                                      </p:tavLst>
                                    </p:anim>
                                  </p:childTnLst>
                                </p:cTn>
                              </p:par>
                            </p:childTnLst>
                          </p:cTn>
                        </p:par>
                        <p:par>
                          <p:cTn id="46" fill="hold">
                            <p:stCondLst>
                              <p:cond delay="4500"/>
                            </p:stCondLst>
                            <p:childTnLst>
                              <p:par>
                                <p:cTn id="47" presetID="2" presetClass="entr" presetSubtype="8"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0-#ppt_w/2"/>
                                          </p:val>
                                        </p:tav>
                                        <p:tav tm="100000">
                                          <p:val>
                                            <p:strVal val="#ppt_x"/>
                                          </p:val>
                                        </p:tav>
                                      </p:tavLst>
                                    </p:anim>
                                    <p:anim calcmode="lin" valueType="num">
                                      <p:cBhvr additive="base">
                                        <p:cTn id="50" dur="500" fill="hold"/>
                                        <p:tgtEl>
                                          <p:spTgt spid="17"/>
                                        </p:tgtEl>
                                        <p:attrNameLst>
                                          <p:attrName>ppt_y</p:attrName>
                                        </p:attrNameLst>
                                      </p:cBhvr>
                                      <p:tavLst>
                                        <p:tav tm="0">
                                          <p:val>
                                            <p:strVal val="#ppt_y"/>
                                          </p:val>
                                        </p:tav>
                                        <p:tav tm="100000">
                                          <p:val>
                                            <p:strVal val="#ppt_y"/>
                                          </p:val>
                                        </p:tav>
                                      </p:tavLst>
                                    </p:anim>
                                  </p:childTnLst>
                                </p:cTn>
                              </p:par>
                              <p:par>
                                <p:cTn id="51" presetID="16" presetClass="entr" presetSubtype="21"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barn(inVertical)">
                                      <p:cBhvr>
                                        <p:cTn id="53" dur="500"/>
                                        <p:tgtEl>
                                          <p:spTgt spid="14"/>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barn(inVertical)">
                                      <p:cBhvr>
                                        <p:cTn id="56" dur="500"/>
                                        <p:tgtEl>
                                          <p:spTgt spid="13"/>
                                        </p:tgtEl>
                                      </p:cBhvr>
                                    </p:animEffect>
                                  </p:childTnLst>
                                </p:cTn>
                              </p:par>
                              <p:par>
                                <p:cTn id="57" presetID="2" presetClass="entr" presetSubtype="8"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 calcmode="lin" valueType="num">
                                      <p:cBhvr additive="base">
                                        <p:cTn id="59" dur="500" fill="hold"/>
                                        <p:tgtEl>
                                          <p:spTgt spid="24"/>
                                        </p:tgtEl>
                                        <p:attrNameLst>
                                          <p:attrName>ppt_x</p:attrName>
                                        </p:attrNameLst>
                                      </p:cBhvr>
                                      <p:tavLst>
                                        <p:tav tm="0">
                                          <p:val>
                                            <p:strVal val="0-#ppt_w/2"/>
                                          </p:val>
                                        </p:tav>
                                        <p:tav tm="100000">
                                          <p:val>
                                            <p:strVal val="#ppt_x"/>
                                          </p:val>
                                        </p:tav>
                                      </p:tavLst>
                                    </p:anim>
                                    <p:anim calcmode="lin" valueType="num">
                                      <p:cBhvr additive="base">
                                        <p:cTn id="60" dur="500" fill="hold"/>
                                        <p:tgtEl>
                                          <p:spTgt spid="24"/>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 calcmode="lin" valueType="num">
                                      <p:cBhvr additive="base">
                                        <p:cTn id="63" dur="500" fill="hold"/>
                                        <p:tgtEl>
                                          <p:spTgt spid="23"/>
                                        </p:tgtEl>
                                        <p:attrNameLst>
                                          <p:attrName>ppt_x</p:attrName>
                                        </p:attrNameLst>
                                      </p:cBhvr>
                                      <p:tavLst>
                                        <p:tav tm="0">
                                          <p:val>
                                            <p:strVal val="0-#ppt_w/2"/>
                                          </p:val>
                                        </p:tav>
                                        <p:tav tm="100000">
                                          <p:val>
                                            <p:strVal val="#ppt_x"/>
                                          </p:val>
                                        </p:tav>
                                      </p:tavLst>
                                    </p:anim>
                                    <p:anim calcmode="lin" valueType="num">
                                      <p:cBhvr additive="base">
                                        <p:cTn id="64" dur="500" fill="hold"/>
                                        <p:tgtEl>
                                          <p:spTgt spid="23"/>
                                        </p:tgtEl>
                                        <p:attrNameLst>
                                          <p:attrName>ppt_y</p:attrName>
                                        </p:attrNameLst>
                                      </p:cBhvr>
                                      <p:tavLst>
                                        <p:tav tm="0">
                                          <p:val>
                                            <p:strVal val="#ppt_y"/>
                                          </p:val>
                                        </p:tav>
                                        <p:tav tm="100000">
                                          <p:val>
                                            <p:strVal val="#ppt_y"/>
                                          </p:val>
                                        </p:tav>
                                      </p:tavLst>
                                    </p:anim>
                                  </p:childTnLst>
                                </p:cTn>
                              </p:par>
                            </p:childTnLst>
                          </p:cTn>
                        </p:par>
                        <p:par>
                          <p:cTn id="65" fill="hold">
                            <p:stCondLst>
                              <p:cond delay="5000"/>
                            </p:stCondLst>
                            <p:childTnLst>
                              <p:par>
                                <p:cTn id="66" presetID="53" presetClass="entr" presetSubtype="16" fill="hold" nodeType="afterEffect">
                                  <p:stCondLst>
                                    <p:cond delay="0"/>
                                  </p:stCondLst>
                                  <p:childTnLst>
                                    <p:set>
                                      <p:cBhvr>
                                        <p:cTn id="67" dur="1" fill="hold">
                                          <p:stCondLst>
                                            <p:cond delay="0"/>
                                          </p:stCondLst>
                                        </p:cTn>
                                        <p:tgtEl>
                                          <p:spTgt spid="16"/>
                                        </p:tgtEl>
                                        <p:attrNameLst>
                                          <p:attrName>style.visibility</p:attrName>
                                        </p:attrNameLst>
                                      </p:cBhvr>
                                      <p:to>
                                        <p:strVal val="visible"/>
                                      </p:to>
                                    </p:set>
                                    <p:anim calcmode="lin" valueType="num">
                                      <p:cBhvr>
                                        <p:cTn id="68" dur="500" fill="hold"/>
                                        <p:tgtEl>
                                          <p:spTgt spid="16"/>
                                        </p:tgtEl>
                                        <p:attrNameLst>
                                          <p:attrName>ppt_w</p:attrName>
                                        </p:attrNameLst>
                                      </p:cBhvr>
                                      <p:tavLst>
                                        <p:tav tm="0">
                                          <p:val>
                                            <p:fltVal val="0"/>
                                          </p:val>
                                        </p:tav>
                                        <p:tav tm="100000">
                                          <p:val>
                                            <p:strVal val="#ppt_w"/>
                                          </p:val>
                                        </p:tav>
                                      </p:tavLst>
                                    </p:anim>
                                    <p:anim calcmode="lin" valueType="num">
                                      <p:cBhvr>
                                        <p:cTn id="69" dur="500" fill="hold"/>
                                        <p:tgtEl>
                                          <p:spTgt spid="16"/>
                                        </p:tgtEl>
                                        <p:attrNameLst>
                                          <p:attrName>ppt_h</p:attrName>
                                        </p:attrNameLst>
                                      </p:cBhvr>
                                      <p:tavLst>
                                        <p:tav tm="0">
                                          <p:val>
                                            <p:fltVal val="0"/>
                                          </p:val>
                                        </p:tav>
                                        <p:tav tm="100000">
                                          <p:val>
                                            <p:strVal val="#ppt_h"/>
                                          </p:val>
                                        </p:tav>
                                      </p:tavLst>
                                    </p:anim>
                                    <p:animEffect transition="in" filter="fade">
                                      <p:cBhvr>
                                        <p:cTn id="7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Graphic spid="4" grpId="0">
        <p:bldAsOne/>
      </p:bldGraphic>
      <p:bldP spid="11" grpId="0"/>
      <p:bldP spid="13" grpId="0"/>
      <p:bldP spid="14" grpId="0"/>
      <p:bldP spid="15" grpId="0"/>
      <p:bldGraphic spid="17" grpId="0">
        <p:bldAsOne/>
      </p:bldGraphic>
      <p:bldP spid="23" grpId="0"/>
      <p:bldP spid="24" grpId="0"/>
      <p:bldP spid="2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945641"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8-2 </a:t>
            </a:r>
            <a:r>
              <a:rPr lang="zh-TW" altLang="en-US" sz="2400" b="1" dirty="0">
                <a:solidFill>
                  <a:srgbClr val="E06741"/>
                </a:solidFill>
              </a:rPr>
              <a:t>實務案例─募款交易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517047" y="1133939"/>
            <a:ext cx="8519050" cy="497444"/>
          </a:xfrm>
          <a:prstGeom prst="rect">
            <a:avLst/>
          </a:prstGeom>
        </p:spPr>
        <p:txBody>
          <a:bodyPr wrap="square">
            <a:spAutoFit/>
          </a:bodyPr>
          <a:lstStyle/>
          <a:p>
            <a:pPr marL="342900" indent="-342900">
              <a:lnSpc>
                <a:spcPct val="150000"/>
              </a:lnSpc>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螞蟻金服傳統支付寶愛心捐贈交易模擬流程</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7E3A6309-1716-4781-857E-D6FC371966D7}"/>
              </a:ext>
            </a:extLst>
          </p:cNvPr>
          <p:cNvSpPr txBox="1"/>
          <p:nvPr/>
        </p:nvSpPr>
        <p:spPr>
          <a:xfrm>
            <a:off x="501371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pic>
        <p:nvPicPr>
          <p:cNvPr id="10" name="圖片 9">
            <a:extLst>
              <a:ext uri="{FF2B5EF4-FFF2-40B4-BE49-F238E27FC236}">
                <a16:creationId xmlns:a16="http://schemas.microsoft.com/office/drawing/2014/main" id="{23A63AC0-28C5-4A96-8AED-33BF6BB20DBD}"/>
              </a:ext>
            </a:extLst>
          </p:cNvPr>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t="12446" b="25926"/>
          <a:stretch/>
        </p:blipFill>
        <p:spPr bwMode="auto">
          <a:xfrm>
            <a:off x="1200953" y="1662235"/>
            <a:ext cx="9520692" cy="4400770"/>
          </a:xfrm>
          <a:prstGeom prst="rect">
            <a:avLst/>
          </a:prstGeom>
          <a:ln>
            <a:noFill/>
          </a:ln>
          <a:extLst>
            <a:ext uri="{53640926-AAD7-44D8-BBD7-CCE9431645EC}">
              <a14:shadowObscured xmlns:a14="http://schemas.microsoft.com/office/drawing/2010/main"/>
            </a:ext>
          </a:extLst>
        </p:spPr>
      </p:pic>
      <p:pic>
        <p:nvPicPr>
          <p:cNvPr id="11" name="圖片 10">
            <a:extLst>
              <a:ext uri="{FF2B5EF4-FFF2-40B4-BE49-F238E27FC236}">
                <a16:creationId xmlns:a16="http://schemas.microsoft.com/office/drawing/2014/main" id="{C5BAA71F-6E1A-4CAE-A5C5-9A20A31308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52836" y="4948634"/>
            <a:ext cx="1909366" cy="1909366"/>
          </a:xfrm>
          <a:prstGeom prst="rect">
            <a:avLst/>
          </a:prstGeom>
        </p:spPr>
      </p:pic>
      <p:cxnSp>
        <p:nvCxnSpPr>
          <p:cNvPr id="12" name="直接连接符 33">
            <a:extLst>
              <a:ext uri="{FF2B5EF4-FFF2-40B4-BE49-F238E27FC236}">
                <a16:creationId xmlns:a16="http://schemas.microsoft.com/office/drawing/2014/main" id="{7A9D9044-B0FF-4E6F-8A46-F641B5AC7BCC}"/>
              </a:ext>
            </a:extLst>
          </p:cNvPr>
          <p:cNvCxnSpPr/>
          <p:nvPr/>
        </p:nvCxnSpPr>
        <p:spPr>
          <a:xfrm>
            <a:off x="1177167" y="100056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664480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arn(inVertical)">
                                      <p:cBhvr>
                                        <p:cTn id="11" dur="500"/>
                                        <p:tgtEl>
                                          <p:spTgt spid="3">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53" presetClass="entr" presetSubtype="16"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500" fill="hold"/>
                                        <p:tgtEl>
                                          <p:spTgt spid="10"/>
                                        </p:tgtEl>
                                        <p:attrNameLst>
                                          <p:attrName>ppt_w</p:attrName>
                                        </p:attrNameLst>
                                      </p:cBhvr>
                                      <p:tavLst>
                                        <p:tav tm="0">
                                          <p:val>
                                            <p:fltVal val="0"/>
                                          </p:val>
                                        </p:tav>
                                        <p:tav tm="100000">
                                          <p:val>
                                            <p:strVal val="#ppt_w"/>
                                          </p:val>
                                        </p:tav>
                                      </p:tavLst>
                                    </p:anim>
                                    <p:anim calcmode="lin" valueType="num">
                                      <p:cBhvr>
                                        <p:cTn id="26" dur="500" fill="hold"/>
                                        <p:tgtEl>
                                          <p:spTgt spid="10"/>
                                        </p:tgtEl>
                                        <p:attrNameLst>
                                          <p:attrName>ppt_h</p:attrName>
                                        </p:attrNameLst>
                                      </p:cBhvr>
                                      <p:tavLst>
                                        <p:tav tm="0">
                                          <p:val>
                                            <p:fltVal val="0"/>
                                          </p:val>
                                        </p:tav>
                                        <p:tav tm="100000">
                                          <p:val>
                                            <p:strVal val="#ppt_h"/>
                                          </p:val>
                                        </p:tav>
                                      </p:tavLst>
                                    </p:anim>
                                    <p:animEffect transition="in" filter="fade">
                                      <p:cBhvr>
                                        <p:cTn id="27" dur="500"/>
                                        <p:tgtEl>
                                          <p:spTgt spid="10"/>
                                        </p:tgtEl>
                                      </p:cBhvr>
                                    </p:animEffect>
                                  </p:childTnLst>
                                </p:cTn>
                              </p:par>
                            </p:childTnLst>
                          </p:cTn>
                        </p:par>
                        <p:par>
                          <p:cTn id="28" fill="hold">
                            <p:stCondLst>
                              <p:cond delay="4000"/>
                            </p:stCondLst>
                            <p:childTnLst>
                              <p:par>
                                <p:cTn id="29" presetID="2" presetClass="entr" presetSubtype="4"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945641"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8-2 </a:t>
            </a:r>
            <a:r>
              <a:rPr lang="zh-TW" altLang="en-US" sz="2400" b="1" dirty="0">
                <a:solidFill>
                  <a:srgbClr val="E06741"/>
                </a:solidFill>
              </a:rPr>
              <a:t>實務案例─募款交易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267254" y="1131099"/>
            <a:ext cx="8519050" cy="497444"/>
          </a:xfrm>
          <a:prstGeom prst="rect">
            <a:avLst/>
          </a:prstGeom>
        </p:spPr>
        <p:txBody>
          <a:bodyPr wrap="square">
            <a:spAutoFit/>
          </a:bodyPr>
          <a:lstStyle/>
          <a:p>
            <a:pPr marL="342900" indent="-342900">
              <a:lnSpc>
                <a:spcPct val="150000"/>
              </a:lnSpc>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傳統愛心捐贈平台交易模擬流程概述</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7E3A6309-1716-4781-857E-D6FC371966D7}"/>
              </a:ext>
            </a:extLst>
          </p:cNvPr>
          <p:cNvSpPr txBox="1"/>
          <p:nvPr/>
        </p:nvSpPr>
        <p:spPr>
          <a:xfrm>
            <a:off x="501371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graphicFrame>
        <p:nvGraphicFramePr>
          <p:cNvPr id="4" name="資料庫圖表 3">
            <a:extLst>
              <a:ext uri="{FF2B5EF4-FFF2-40B4-BE49-F238E27FC236}">
                <a16:creationId xmlns:a16="http://schemas.microsoft.com/office/drawing/2014/main" id="{C1D2738F-7B3B-4FDD-8155-889CCCB4C02B}"/>
              </a:ext>
            </a:extLst>
          </p:cNvPr>
          <p:cNvGraphicFramePr/>
          <p:nvPr>
            <p:extLst>
              <p:ext uri="{D42A27DB-BD31-4B8C-83A1-F6EECF244321}">
                <p14:modId xmlns:p14="http://schemas.microsoft.com/office/powerpoint/2010/main" val="2689447968"/>
              </p:ext>
            </p:extLst>
          </p:nvPr>
        </p:nvGraphicFramePr>
        <p:xfrm>
          <a:off x="1084185" y="2355274"/>
          <a:ext cx="10589491" cy="154018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0" name="資料庫圖表 9">
            <a:extLst>
              <a:ext uri="{FF2B5EF4-FFF2-40B4-BE49-F238E27FC236}">
                <a16:creationId xmlns:a16="http://schemas.microsoft.com/office/drawing/2014/main" id="{0C7EB414-D1FB-4E9F-BC07-6665B2D80D12}"/>
              </a:ext>
            </a:extLst>
          </p:cNvPr>
          <p:cNvGraphicFramePr/>
          <p:nvPr>
            <p:extLst>
              <p:ext uri="{D42A27DB-BD31-4B8C-83A1-F6EECF244321}">
                <p14:modId xmlns:p14="http://schemas.microsoft.com/office/powerpoint/2010/main" val="3654885968"/>
              </p:ext>
            </p:extLst>
          </p:nvPr>
        </p:nvGraphicFramePr>
        <p:xfrm>
          <a:off x="1093417" y="4465664"/>
          <a:ext cx="10589491" cy="1618653"/>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6" name="圖片 5">
            <a:extLst>
              <a:ext uri="{FF2B5EF4-FFF2-40B4-BE49-F238E27FC236}">
                <a16:creationId xmlns:a16="http://schemas.microsoft.com/office/drawing/2014/main" id="{69AFB42A-8B5B-4744-B353-9A11CFD8E184}"/>
              </a:ext>
            </a:extLst>
          </p:cNvPr>
          <p:cNvPicPr>
            <a:picLocks noChangeAspect="1"/>
          </p:cNvPicPr>
          <p:nvPr/>
        </p:nvPicPr>
        <p:blipFill>
          <a:blip r:embed="rId14"/>
          <a:stretch>
            <a:fillRect/>
          </a:stretch>
        </p:blipFill>
        <p:spPr>
          <a:xfrm>
            <a:off x="335788" y="4927488"/>
            <a:ext cx="591363" cy="695004"/>
          </a:xfrm>
          <a:prstGeom prst="rect">
            <a:avLst/>
          </a:prstGeom>
        </p:spPr>
      </p:pic>
      <p:sp>
        <p:nvSpPr>
          <p:cNvPr id="11" name="文字方塊 10">
            <a:extLst>
              <a:ext uri="{FF2B5EF4-FFF2-40B4-BE49-F238E27FC236}">
                <a16:creationId xmlns:a16="http://schemas.microsoft.com/office/drawing/2014/main" id="{B9D2151C-E643-494A-9503-EE21E1A8E0BE}"/>
              </a:ext>
            </a:extLst>
          </p:cNvPr>
          <p:cNvSpPr txBox="1"/>
          <p:nvPr/>
        </p:nvSpPr>
        <p:spPr>
          <a:xfrm>
            <a:off x="1148716" y="1933044"/>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1</a:t>
            </a:r>
          </a:p>
        </p:txBody>
      </p:sp>
      <p:sp>
        <p:nvSpPr>
          <p:cNvPr id="12" name="文字方塊 11">
            <a:extLst>
              <a:ext uri="{FF2B5EF4-FFF2-40B4-BE49-F238E27FC236}">
                <a16:creationId xmlns:a16="http://schemas.microsoft.com/office/drawing/2014/main" id="{5B226E83-9F15-4037-AD35-01897DB759B7}"/>
              </a:ext>
            </a:extLst>
          </p:cNvPr>
          <p:cNvSpPr txBox="1"/>
          <p:nvPr/>
        </p:nvSpPr>
        <p:spPr>
          <a:xfrm>
            <a:off x="5070565" y="4045879"/>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5</a:t>
            </a:r>
          </a:p>
        </p:txBody>
      </p:sp>
      <p:sp>
        <p:nvSpPr>
          <p:cNvPr id="13" name="文字方塊 12">
            <a:extLst>
              <a:ext uri="{FF2B5EF4-FFF2-40B4-BE49-F238E27FC236}">
                <a16:creationId xmlns:a16="http://schemas.microsoft.com/office/drawing/2014/main" id="{0403EDCE-D36C-4164-A6E0-172D4DBE5164}"/>
              </a:ext>
            </a:extLst>
          </p:cNvPr>
          <p:cNvSpPr txBox="1"/>
          <p:nvPr/>
        </p:nvSpPr>
        <p:spPr>
          <a:xfrm>
            <a:off x="1148716" y="4045879"/>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4</a:t>
            </a:r>
          </a:p>
        </p:txBody>
      </p:sp>
      <p:sp>
        <p:nvSpPr>
          <p:cNvPr id="14" name="文字方塊 13">
            <a:extLst>
              <a:ext uri="{FF2B5EF4-FFF2-40B4-BE49-F238E27FC236}">
                <a16:creationId xmlns:a16="http://schemas.microsoft.com/office/drawing/2014/main" id="{8102116A-8914-456C-99CC-FFB6CE5B31B3}"/>
              </a:ext>
            </a:extLst>
          </p:cNvPr>
          <p:cNvSpPr txBox="1"/>
          <p:nvPr/>
        </p:nvSpPr>
        <p:spPr>
          <a:xfrm>
            <a:off x="9078134" y="1934401"/>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3</a:t>
            </a:r>
          </a:p>
        </p:txBody>
      </p:sp>
      <p:sp>
        <p:nvSpPr>
          <p:cNvPr id="15" name="文字方塊 14">
            <a:extLst>
              <a:ext uri="{FF2B5EF4-FFF2-40B4-BE49-F238E27FC236}">
                <a16:creationId xmlns:a16="http://schemas.microsoft.com/office/drawing/2014/main" id="{49A6520A-3442-46DF-A568-8B5FB7CF0215}"/>
              </a:ext>
            </a:extLst>
          </p:cNvPr>
          <p:cNvSpPr txBox="1"/>
          <p:nvPr/>
        </p:nvSpPr>
        <p:spPr>
          <a:xfrm>
            <a:off x="5059891" y="1933044"/>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2</a:t>
            </a:r>
          </a:p>
        </p:txBody>
      </p:sp>
      <p:sp>
        <p:nvSpPr>
          <p:cNvPr id="16" name="文字方塊 15">
            <a:extLst>
              <a:ext uri="{FF2B5EF4-FFF2-40B4-BE49-F238E27FC236}">
                <a16:creationId xmlns:a16="http://schemas.microsoft.com/office/drawing/2014/main" id="{E65EC2F9-8F48-4CFB-A87A-49E1DF4E7EF8}"/>
              </a:ext>
            </a:extLst>
          </p:cNvPr>
          <p:cNvSpPr txBox="1"/>
          <p:nvPr/>
        </p:nvSpPr>
        <p:spPr>
          <a:xfrm>
            <a:off x="9078133" y="4045879"/>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6</a:t>
            </a:r>
          </a:p>
        </p:txBody>
      </p:sp>
      <p:sp>
        <p:nvSpPr>
          <p:cNvPr id="17" name="文字方塊 16">
            <a:extLst>
              <a:ext uri="{FF2B5EF4-FFF2-40B4-BE49-F238E27FC236}">
                <a16:creationId xmlns:a16="http://schemas.microsoft.com/office/drawing/2014/main" id="{BF7CF818-B30B-44F7-A6F9-EC4AA2C983BD}"/>
              </a:ext>
            </a:extLst>
          </p:cNvPr>
          <p:cNvSpPr txBox="1"/>
          <p:nvPr/>
        </p:nvSpPr>
        <p:spPr>
          <a:xfrm>
            <a:off x="2328124" y="1928838"/>
            <a:ext cx="1027845" cy="369332"/>
          </a:xfrm>
          <a:prstGeom prst="rect">
            <a:avLst/>
          </a:prstGeom>
          <a:noFill/>
        </p:spPr>
        <p:txBody>
          <a:bodyPr wrap="none" rtlCol="0">
            <a:spAutoFit/>
          </a:bodyPr>
          <a:lstStyle/>
          <a:p>
            <a:r>
              <a:rPr lang="en-US" altLang="zh-TW" dirty="0">
                <a:solidFill>
                  <a:schemeClr val="accent5"/>
                </a:solidFill>
                <a:latin typeface="Eras Demi ITC" panose="020B0805030504020804" pitchFamily="34" charset="0"/>
              </a:rPr>
              <a:t>P1</a:t>
            </a:r>
            <a:r>
              <a:rPr lang="en-US" altLang="zh-TW" dirty="0">
                <a:solidFill>
                  <a:schemeClr val="accent5"/>
                </a:solidFill>
                <a:latin typeface="微軟正黑體" panose="020B0604030504040204" pitchFamily="34" charset="-120"/>
                <a:ea typeface="微軟正黑體" panose="020B0604030504040204" pitchFamily="34" charset="-120"/>
              </a:rPr>
              <a:t>→</a:t>
            </a:r>
            <a:r>
              <a:rPr lang="en-US" altLang="zh-TW" dirty="0">
                <a:solidFill>
                  <a:schemeClr val="accent5"/>
                </a:solidFill>
                <a:latin typeface="Eras Demi ITC" panose="020B0805030504020804" pitchFamily="34" charset="0"/>
              </a:rPr>
              <a:t> P3</a:t>
            </a:r>
          </a:p>
        </p:txBody>
      </p:sp>
      <p:sp>
        <p:nvSpPr>
          <p:cNvPr id="18" name="文字方塊 17">
            <a:extLst>
              <a:ext uri="{FF2B5EF4-FFF2-40B4-BE49-F238E27FC236}">
                <a16:creationId xmlns:a16="http://schemas.microsoft.com/office/drawing/2014/main" id="{13B31FD0-F7D9-499D-8CE7-11CCEBEF3F6F}"/>
              </a:ext>
            </a:extLst>
          </p:cNvPr>
          <p:cNvSpPr txBox="1"/>
          <p:nvPr/>
        </p:nvSpPr>
        <p:spPr>
          <a:xfrm>
            <a:off x="6378930" y="1928838"/>
            <a:ext cx="1027845" cy="369332"/>
          </a:xfrm>
          <a:prstGeom prst="rect">
            <a:avLst/>
          </a:prstGeom>
          <a:noFill/>
        </p:spPr>
        <p:txBody>
          <a:bodyPr wrap="none" rtlCol="0">
            <a:spAutoFit/>
          </a:bodyPr>
          <a:lstStyle/>
          <a:p>
            <a:r>
              <a:rPr lang="en-US" altLang="zh-TW" dirty="0">
                <a:solidFill>
                  <a:schemeClr val="accent5"/>
                </a:solidFill>
                <a:latin typeface="Eras Demi ITC" panose="020B0805030504020804" pitchFamily="34" charset="0"/>
              </a:rPr>
              <a:t>P1</a:t>
            </a:r>
            <a:r>
              <a:rPr lang="en-US" altLang="zh-TW" dirty="0">
                <a:solidFill>
                  <a:schemeClr val="accent5"/>
                </a:solidFill>
                <a:latin typeface="微軟正黑體" panose="020B0604030504040204" pitchFamily="34" charset="-120"/>
                <a:ea typeface="微軟正黑體" panose="020B0604030504040204" pitchFamily="34" charset="-120"/>
              </a:rPr>
              <a:t>→</a:t>
            </a:r>
            <a:r>
              <a:rPr lang="en-US" altLang="zh-TW" dirty="0">
                <a:solidFill>
                  <a:schemeClr val="accent5"/>
                </a:solidFill>
                <a:latin typeface="Eras Demi ITC" panose="020B0805030504020804" pitchFamily="34" charset="0"/>
              </a:rPr>
              <a:t> P2</a:t>
            </a:r>
          </a:p>
        </p:txBody>
      </p:sp>
      <p:sp>
        <p:nvSpPr>
          <p:cNvPr id="19" name="文字方塊 18">
            <a:extLst>
              <a:ext uri="{FF2B5EF4-FFF2-40B4-BE49-F238E27FC236}">
                <a16:creationId xmlns:a16="http://schemas.microsoft.com/office/drawing/2014/main" id="{415BBD04-12B4-42B8-809E-1B57A97A9659}"/>
              </a:ext>
            </a:extLst>
          </p:cNvPr>
          <p:cNvSpPr txBox="1"/>
          <p:nvPr/>
        </p:nvSpPr>
        <p:spPr>
          <a:xfrm>
            <a:off x="10372958" y="1928838"/>
            <a:ext cx="1027845" cy="369332"/>
          </a:xfrm>
          <a:prstGeom prst="rect">
            <a:avLst/>
          </a:prstGeom>
          <a:noFill/>
        </p:spPr>
        <p:txBody>
          <a:bodyPr wrap="none" rtlCol="0">
            <a:spAutoFit/>
          </a:bodyPr>
          <a:lstStyle/>
          <a:p>
            <a:r>
              <a:rPr lang="en-US" altLang="zh-TW" dirty="0">
                <a:solidFill>
                  <a:schemeClr val="accent5"/>
                </a:solidFill>
                <a:latin typeface="Eras Demi ITC" panose="020B0805030504020804" pitchFamily="34" charset="0"/>
              </a:rPr>
              <a:t>P2</a:t>
            </a:r>
            <a:r>
              <a:rPr lang="en-US" altLang="zh-TW" dirty="0">
                <a:solidFill>
                  <a:schemeClr val="accent5"/>
                </a:solidFill>
                <a:latin typeface="微軟正黑體" panose="020B0604030504040204" pitchFamily="34" charset="-120"/>
                <a:ea typeface="微軟正黑體" panose="020B0604030504040204" pitchFamily="34" charset="-120"/>
              </a:rPr>
              <a:t>→</a:t>
            </a:r>
            <a:r>
              <a:rPr lang="en-US" altLang="zh-TW" dirty="0">
                <a:solidFill>
                  <a:schemeClr val="accent5"/>
                </a:solidFill>
                <a:latin typeface="Eras Demi ITC" panose="020B0805030504020804" pitchFamily="34" charset="0"/>
              </a:rPr>
              <a:t> P3</a:t>
            </a:r>
          </a:p>
        </p:txBody>
      </p:sp>
      <p:sp>
        <p:nvSpPr>
          <p:cNvPr id="20" name="文字方塊 19">
            <a:extLst>
              <a:ext uri="{FF2B5EF4-FFF2-40B4-BE49-F238E27FC236}">
                <a16:creationId xmlns:a16="http://schemas.microsoft.com/office/drawing/2014/main" id="{ED7E6918-F97B-4E77-8953-014D9D36CD5E}"/>
              </a:ext>
            </a:extLst>
          </p:cNvPr>
          <p:cNvSpPr txBox="1"/>
          <p:nvPr/>
        </p:nvSpPr>
        <p:spPr>
          <a:xfrm>
            <a:off x="2328123" y="4045879"/>
            <a:ext cx="1027845" cy="369332"/>
          </a:xfrm>
          <a:prstGeom prst="rect">
            <a:avLst/>
          </a:prstGeom>
          <a:noFill/>
        </p:spPr>
        <p:txBody>
          <a:bodyPr wrap="none" rtlCol="0">
            <a:spAutoFit/>
          </a:bodyPr>
          <a:lstStyle/>
          <a:p>
            <a:r>
              <a:rPr lang="en-US" altLang="zh-TW" dirty="0">
                <a:solidFill>
                  <a:schemeClr val="accent5"/>
                </a:solidFill>
                <a:latin typeface="Eras Demi ITC" panose="020B0805030504020804" pitchFamily="34" charset="0"/>
              </a:rPr>
              <a:t>P3</a:t>
            </a:r>
            <a:r>
              <a:rPr lang="en-US" altLang="zh-TW" dirty="0">
                <a:solidFill>
                  <a:schemeClr val="accent5"/>
                </a:solidFill>
                <a:latin typeface="微軟正黑體" panose="020B0604030504040204" pitchFamily="34" charset="-120"/>
                <a:ea typeface="微軟正黑體" panose="020B0604030504040204" pitchFamily="34" charset="-120"/>
              </a:rPr>
              <a:t>→</a:t>
            </a:r>
            <a:r>
              <a:rPr lang="en-US" altLang="zh-TW" dirty="0">
                <a:solidFill>
                  <a:schemeClr val="accent5"/>
                </a:solidFill>
                <a:latin typeface="Eras Demi ITC" panose="020B0805030504020804" pitchFamily="34" charset="0"/>
              </a:rPr>
              <a:t> P1</a:t>
            </a:r>
          </a:p>
        </p:txBody>
      </p:sp>
      <p:sp>
        <p:nvSpPr>
          <p:cNvPr id="21" name="文字方塊 20">
            <a:extLst>
              <a:ext uri="{FF2B5EF4-FFF2-40B4-BE49-F238E27FC236}">
                <a16:creationId xmlns:a16="http://schemas.microsoft.com/office/drawing/2014/main" id="{55D3B07F-F93E-4BE8-9A21-BC4B27F74624}"/>
              </a:ext>
            </a:extLst>
          </p:cNvPr>
          <p:cNvSpPr txBox="1"/>
          <p:nvPr/>
        </p:nvSpPr>
        <p:spPr>
          <a:xfrm>
            <a:off x="6378929" y="4045879"/>
            <a:ext cx="1027845" cy="369332"/>
          </a:xfrm>
          <a:prstGeom prst="rect">
            <a:avLst/>
          </a:prstGeom>
          <a:noFill/>
        </p:spPr>
        <p:txBody>
          <a:bodyPr wrap="none" rtlCol="0">
            <a:spAutoFit/>
          </a:bodyPr>
          <a:lstStyle/>
          <a:p>
            <a:r>
              <a:rPr lang="en-US" altLang="zh-TW" dirty="0">
                <a:solidFill>
                  <a:schemeClr val="accent5"/>
                </a:solidFill>
                <a:latin typeface="Eras Demi ITC" panose="020B0805030504020804" pitchFamily="34" charset="0"/>
              </a:rPr>
              <a:t>P2</a:t>
            </a:r>
            <a:r>
              <a:rPr lang="en-US" altLang="zh-TW" dirty="0">
                <a:solidFill>
                  <a:schemeClr val="accent5"/>
                </a:solidFill>
                <a:latin typeface="微軟正黑體" panose="020B0604030504040204" pitchFamily="34" charset="-120"/>
                <a:ea typeface="微軟正黑體" panose="020B0604030504040204" pitchFamily="34" charset="-120"/>
              </a:rPr>
              <a:t>→</a:t>
            </a:r>
            <a:r>
              <a:rPr lang="en-US" altLang="zh-TW" dirty="0">
                <a:solidFill>
                  <a:schemeClr val="accent5"/>
                </a:solidFill>
                <a:latin typeface="Eras Demi ITC" panose="020B0805030504020804" pitchFamily="34" charset="0"/>
              </a:rPr>
              <a:t> P4</a:t>
            </a:r>
          </a:p>
        </p:txBody>
      </p:sp>
      <p:sp>
        <p:nvSpPr>
          <p:cNvPr id="22" name="文字方塊 21">
            <a:extLst>
              <a:ext uri="{FF2B5EF4-FFF2-40B4-BE49-F238E27FC236}">
                <a16:creationId xmlns:a16="http://schemas.microsoft.com/office/drawing/2014/main" id="{232EA2FD-AF60-4D72-A5D4-82AF720618FB}"/>
              </a:ext>
            </a:extLst>
          </p:cNvPr>
          <p:cNvSpPr txBox="1"/>
          <p:nvPr/>
        </p:nvSpPr>
        <p:spPr>
          <a:xfrm>
            <a:off x="10372958" y="4045879"/>
            <a:ext cx="1027845" cy="369332"/>
          </a:xfrm>
          <a:prstGeom prst="rect">
            <a:avLst/>
          </a:prstGeom>
          <a:noFill/>
        </p:spPr>
        <p:txBody>
          <a:bodyPr wrap="none" rtlCol="0">
            <a:spAutoFit/>
          </a:bodyPr>
          <a:lstStyle/>
          <a:p>
            <a:r>
              <a:rPr lang="en-US" altLang="zh-TW" dirty="0">
                <a:solidFill>
                  <a:schemeClr val="accent5"/>
                </a:solidFill>
                <a:latin typeface="Eras Demi ITC" panose="020B0805030504020804" pitchFamily="34" charset="0"/>
              </a:rPr>
              <a:t>P3</a:t>
            </a:r>
            <a:r>
              <a:rPr lang="en-US" altLang="zh-TW" dirty="0">
                <a:solidFill>
                  <a:schemeClr val="accent5"/>
                </a:solidFill>
                <a:latin typeface="微軟正黑體" panose="020B0604030504040204" pitchFamily="34" charset="-120"/>
                <a:ea typeface="微軟正黑體" panose="020B0604030504040204" pitchFamily="34" charset="-120"/>
              </a:rPr>
              <a:t>→</a:t>
            </a:r>
            <a:r>
              <a:rPr lang="en-US" altLang="zh-TW" dirty="0">
                <a:solidFill>
                  <a:schemeClr val="accent5"/>
                </a:solidFill>
                <a:latin typeface="Eras Demi ITC" panose="020B0805030504020804" pitchFamily="34" charset="0"/>
              </a:rPr>
              <a:t> P5</a:t>
            </a:r>
          </a:p>
        </p:txBody>
      </p:sp>
      <p:sp>
        <p:nvSpPr>
          <p:cNvPr id="5" name="文字方塊 4">
            <a:extLst>
              <a:ext uri="{FF2B5EF4-FFF2-40B4-BE49-F238E27FC236}">
                <a16:creationId xmlns:a16="http://schemas.microsoft.com/office/drawing/2014/main" id="{864615D0-2FBF-4297-B8A6-7E2976170FE6}"/>
              </a:ext>
            </a:extLst>
          </p:cNvPr>
          <p:cNvSpPr txBox="1"/>
          <p:nvPr/>
        </p:nvSpPr>
        <p:spPr>
          <a:xfrm>
            <a:off x="8874791" y="773683"/>
            <a:ext cx="2012089" cy="707886"/>
          </a:xfrm>
          <a:prstGeom prst="rect">
            <a:avLst/>
          </a:prstGeom>
          <a:noFill/>
        </p:spPr>
        <p:txBody>
          <a:bodyPr wrap="none" rtlCol="0">
            <a:spAutoFit/>
          </a:bodyPr>
          <a:lstStyle/>
          <a:p>
            <a:pPr marL="285750" indent="-285750">
              <a:buBlip>
                <a:blip r:embed="rId15"/>
              </a:buBlip>
            </a:pPr>
            <a:r>
              <a:rPr lang="zh-TW" altLang="en-US" sz="2000" b="1" dirty="0">
                <a:solidFill>
                  <a:srgbClr val="C00000"/>
                </a:solidFill>
                <a:latin typeface="微軟正黑體" panose="020B0604030504040204" pitchFamily="34" charset="-120"/>
                <a:ea typeface="微軟正黑體" panose="020B0604030504040204" pitchFamily="34" charset="-120"/>
              </a:rPr>
              <a:t>費時費力</a:t>
            </a:r>
            <a:endParaRPr lang="en-US" altLang="zh-TW" sz="2000" b="1" dirty="0">
              <a:solidFill>
                <a:srgbClr val="C00000"/>
              </a:solidFill>
              <a:latin typeface="微軟正黑體" panose="020B0604030504040204" pitchFamily="34" charset="-120"/>
              <a:ea typeface="微軟正黑體" panose="020B0604030504040204" pitchFamily="34" charset="-120"/>
            </a:endParaRPr>
          </a:p>
          <a:p>
            <a:pPr marL="285750" indent="-285750">
              <a:buBlip>
                <a:blip r:embed="rId15"/>
              </a:buBlip>
            </a:pPr>
            <a:r>
              <a:rPr lang="zh-TW" altLang="en-US" sz="2000" b="1" dirty="0">
                <a:solidFill>
                  <a:srgbClr val="C00000"/>
                </a:solidFill>
                <a:latin typeface="微軟正黑體" panose="020B0604030504040204" pitchFamily="34" charset="-120"/>
                <a:ea typeface="微軟正黑體" panose="020B0604030504040204" pitchFamily="34" charset="-120"/>
              </a:rPr>
              <a:t>效益不如預期</a:t>
            </a:r>
          </a:p>
        </p:txBody>
      </p:sp>
      <p:cxnSp>
        <p:nvCxnSpPr>
          <p:cNvPr id="23" name="直接连接符 33">
            <a:extLst>
              <a:ext uri="{FF2B5EF4-FFF2-40B4-BE49-F238E27FC236}">
                <a16:creationId xmlns:a16="http://schemas.microsoft.com/office/drawing/2014/main" id="{360FBD2F-0E01-4803-9015-8BAAF6248C35}"/>
              </a:ext>
            </a:extLst>
          </p:cNvPr>
          <p:cNvCxnSpPr>
            <a:cxnSpLocks/>
          </p:cNvCxnSpPr>
          <p:nvPr/>
        </p:nvCxnSpPr>
        <p:spPr>
          <a:xfrm>
            <a:off x="1177167" y="1000566"/>
            <a:ext cx="7431124"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621526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Vertical)">
                                      <p:cBhvr>
                                        <p:cTn id="11" dur="500"/>
                                        <p:tgtEl>
                                          <p:spTgt spid="3"/>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500" fill="hold"/>
                                        <p:tgtEl>
                                          <p:spTgt spid="23"/>
                                        </p:tgtEl>
                                        <p:attrNameLst>
                                          <p:attrName>ppt_x</p:attrName>
                                        </p:attrNameLst>
                                      </p:cBhvr>
                                      <p:tavLst>
                                        <p:tav tm="0">
                                          <p:val>
                                            <p:strVal val="0-#ppt_w/2"/>
                                          </p:val>
                                        </p:tav>
                                        <p:tav tm="100000">
                                          <p:val>
                                            <p:strVal val="#ppt_x"/>
                                          </p:val>
                                        </p:tav>
                                      </p:tavLst>
                                    </p:anim>
                                    <p:anim calcmode="lin" valueType="num">
                                      <p:cBhvr additive="base">
                                        <p:cTn id="16" dur="500" fill="hold"/>
                                        <p:tgtEl>
                                          <p:spTgt spid="2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2" presetClass="entr" presetSubtype="8" fill="hold" grpId="0" nodeType="after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0-#ppt_w/2"/>
                                          </p:val>
                                        </p:tav>
                                        <p:tav tm="100000">
                                          <p:val>
                                            <p:strVal val="#ppt_x"/>
                                          </p:val>
                                        </p:tav>
                                      </p:tavLst>
                                    </p:anim>
                                    <p:anim calcmode="lin" valueType="num">
                                      <p:cBhvr additive="base">
                                        <p:cTn id="26" dur="500" fill="hold"/>
                                        <p:tgtEl>
                                          <p:spTgt spid="4"/>
                                        </p:tgtEl>
                                        <p:attrNameLst>
                                          <p:attrName>ppt_y</p:attrName>
                                        </p:attrNameLst>
                                      </p:cBhvr>
                                      <p:tavLst>
                                        <p:tav tm="0">
                                          <p:val>
                                            <p:strVal val="#ppt_y"/>
                                          </p:val>
                                        </p:tav>
                                        <p:tav tm="100000">
                                          <p:val>
                                            <p:strVal val="#ppt_y"/>
                                          </p:val>
                                        </p:tav>
                                      </p:tavLst>
                                    </p:anim>
                                  </p:childTnLst>
                                </p:cTn>
                              </p:par>
                              <p:par>
                                <p:cTn id="27" presetID="16" presetClass="entr" presetSubtype="21"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arn(inVertical)">
                                      <p:cBhvr>
                                        <p:cTn id="29" dur="500"/>
                                        <p:tgtEl>
                                          <p:spTgt spid="11"/>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arn(inVertical)">
                                      <p:cBhvr>
                                        <p:cTn id="32" dur="500"/>
                                        <p:tgtEl>
                                          <p:spTgt spid="15"/>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barn(inVertical)">
                                      <p:cBhvr>
                                        <p:cTn id="35" dur="500"/>
                                        <p:tgtEl>
                                          <p:spTgt spid="14"/>
                                        </p:tgtEl>
                                      </p:cBhvr>
                                    </p:animEffect>
                                  </p:childTnLst>
                                </p:cTn>
                              </p:par>
                              <p:par>
                                <p:cTn id="36" presetID="2" presetClass="entr" presetSubtype="8"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0-#ppt_w/2"/>
                                          </p:val>
                                        </p:tav>
                                        <p:tav tm="100000">
                                          <p:val>
                                            <p:strVal val="#ppt_x"/>
                                          </p:val>
                                        </p:tav>
                                      </p:tavLst>
                                    </p:anim>
                                    <p:anim calcmode="lin" valueType="num">
                                      <p:cBhvr additive="base">
                                        <p:cTn id="39" dur="500" fill="hold"/>
                                        <p:tgtEl>
                                          <p:spTgt spid="17"/>
                                        </p:tgtEl>
                                        <p:attrNameLst>
                                          <p:attrName>ppt_y</p:attrName>
                                        </p:attrNameLst>
                                      </p:cBhvr>
                                      <p:tavLst>
                                        <p:tav tm="0">
                                          <p:val>
                                            <p:strVal val="#ppt_y"/>
                                          </p:val>
                                        </p:tav>
                                        <p:tav tm="100000">
                                          <p:val>
                                            <p:strVal val="#ppt_y"/>
                                          </p:val>
                                        </p:tav>
                                      </p:tavLst>
                                    </p:anim>
                                  </p:childTnLst>
                                </p:cTn>
                              </p:par>
                              <p:par>
                                <p:cTn id="40" presetID="2" presetClass="entr" presetSubtype="8" fill="hold" nodeType="withEffect">
                                  <p:stCondLst>
                                    <p:cond delay="0"/>
                                  </p:stCondLst>
                                  <p:childTnLst>
                                    <p:set>
                                      <p:cBhvr>
                                        <p:cTn id="41" dur="1" fill="hold">
                                          <p:stCondLst>
                                            <p:cond delay="0"/>
                                          </p:stCondLst>
                                        </p:cTn>
                                        <p:tgtEl>
                                          <p:spTgt spid="18">
                                            <p:txEl>
                                              <p:pRg st="0" end="0"/>
                                            </p:txEl>
                                          </p:spTgt>
                                        </p:tgtEl>
                                        <p:attrNameLst>
                                          <p:attrName>style.visibility</p:attrName>
                                        </p:attrNameLst>
                                      </p:cBhvr>
                                      <p:to>
                                        <p:strVal val="visible"/>
                                      </p:to>
                                    </p:set>
                                    <p:anim calcmode="lin" valueType="num">
                                      <p:cBhvr additive="base">
                                        <p:cTn id="42"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18">
                                            <p:txEl>
                                              <p:pRg st="0" end="0"/>
                                            </p:txEl>
                                          </p:spTgt>
                                        </p:tgtEl>
                                        <p:attrNameLst>
                                          <p:attrName>ppt_y</p:attrName>
                                        </p:attrNameLst>
                                      </p:cBhvr>
                                      <p:tavLst>
                                        <p:tav tm="0">
                                          <p:val>
                                            <p:strVal val="#ppt_y"/>
                                          </p:val>
                                        </p:tav>
                                        <p:tav tm="100000">
                                          <p:val>
                                            <p:strVal val="#ppt_y"/>
                                          </p:val>
                                        </p:tav>
                                      </p:tavLst>
                                    </p:anim>
                                  </p:childTnLst>
                                </p:cTn>
                              </p:par>
                              <p:par>
                                <p:cTn id="44" presetID="2" presetClass="entr" presetSubtype="8"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0-#ppt_w/2"/>
                                          </p:val>
                                        </p:tav>
                                        <p:tav tm="100000">
                                          <p:val>
                                            <p:strVal val="#ppt_x"/>
                                          </p:val>
                                        </p:tav>
                                      </p:tavLst>
                                    </p:anim>
                                    <p:anim calcmode="lin" valueType="num">
                                      <p:cBhvr additive="base">
                                        <p:cTn id="47" dur="500" fill="hold"/>
                                        <p:tgtEl>
                                          <p:spTgt spid="19"/>
                                        </p:tgtEl>
                                        <p:attrNameLst>
                                          <p:attrName>ppt_y</p:attrName>
                                        </p:attrNameLst>
                                      </p:cBhvr>
                                      <p:tavLst>
                                        <p:tav tm="0">
                                          <p:val>
                                            <p:strVal val="#ppt_y"/>
                                          </p:val>
                                        </p:tav>
                                        <p:tav tm="100000">
                                          <p:val>
                                            <p:strVal val="#ppt_y"/>
                                          </p:val>
                                        </p:tav>
                                      </p:tavLst>
                                    </p:anim>
                                  </p:childTnLst>
                                </p:cTn>
                              </p:par>
                            </p:childTnLst>
                          </p:cTn>
                        </p:par>
                        <p:par>
                          <p:cTn id="48" fill="hold">
                            <p:stCondLst>
                              <p:cond delay="4000"/>
                            </p:stCondLst>
                            <p:childTnLst>
                              <p:par>
                                <p:cTn id="49" presetID="2" presetClass="entr" presetSubtype="8" fill="hold" nodeType="afterEffect">
                                  <p:stCondLst>
                                    <p:cond delay="0"/>
                                  </p:stCondLst>
                                  <p:childTnLst>
                                    <p:set>
                                      <p:cBhvr>
                                        <p:cTn id="50" dur="1" fill="hold">
                                          <p:stCondLst>
                                            <p:cond delay="0"/>
                                          </p:stCondLst>
                                        </p:cTn>
                                        <p:tgtEl>
                                          <p:spTgt spid="6"/>
                                        </p:tgtEl>
                                        <p:attrNameLst>
                                          <p:attrName>style.visibility</p:attrName>
                                        </p:attrNameLst>
                                      </p:cBhvr>
                                      <p:to>
                                        <p:strVal val="visible"/>
                                      </p:to>
                                    </p:set>
                                    <p:anim calcmode="lin" valueType="num">
                                      <p:cBhvr additive="base">
                                        <p:cTn id="51" dur="500" fill="hold"/>
                                        <p:tgtEl>
                                          <p:spTgt spid="6"/>
                                        </p:tgtEl>
                                        <p:attrNameLst>
                                          <p:attrName>ppt_x</p:attrName>
                                        </p:attrNameLst>
                                      </p:cBhvr>
                                      <p:tavLst>
                                        <p:tav tm="0">
                                          <p:val>
                                            <p:strVal val="0-#ppt_w/2"/>
                                          </p:val>
                                        </p:tav>
                                        <p:tav tm="100000">
                                          <p:val>
                                            <p:strVal val="#ppt_x"/>
                                          </p:val>
                                        </p:tav>
                                      </p:tavLst>
                                    </p:anim>
                                    <p:anim calcmode="lin" valueType="num">
                                      <p:cBhvr additive="base">
                                        <p:cTn id="52" dur="500" fill="hold"/>
                                        <p:tgtEl>
                                          <p:spTgt spid="6"/>
                                        </p:tgtEl>
                                        <p:attrNameLst>
                                          <p:attrName>ppt_y</p:attrName>
                                        </p:attrNameLst>
                                      </p:cBhvr>
                                      <p:tavLst>
                                        <p:tav tm="0">
                                          <p:val>
                                            <p:strVal val="#ppt_y"/>
                                          </p:val>
                                        </p:tav>
                                        <p:tav tm="100000">
                                          <p:val>
                                            <p:strVal val="#ppt_y"/>
                                          </p:val>
                                        </p:tav>
                                      </p:tavLst>
                                    </p:anim>
                                  </p:childTnLst>
                                </p:cTn>
                              </p:par>
                            </p:childTnLst>
                          </p:cTn>
                        </p:par>
                        <p:par>
                          <p:cTn id="53" fill="hold">
                            <p:stCondLst>
                              <p:cond delay="4500"/>
                            </p:stCondLst>
                            <p:childTnLst>
                              <p:par>
                                <p:cTn id="54" presetID="2" presetClass="entr" presetSubtype="8" fill="hold" grpId="0" nodeType="afterEffect">
                                  <p:stCondLst>
                                    <p:cond delay="0"/>
                                  </p:stCondLst>
                                  <p:childTnLst>
                                    <p:set>
                                      <p:cBhvr>
                                        <p:cTn id="55" dur="1" fill="hold">
                                          <p:stCondLst>
                                            <p:cond delay="0"/>
                                          </p:stCondLst>
                                        </p:cTn>
                                        <p:tgtEl>
                                          <p:spTgt spid="10"/>
                                        </p:tgtEl>
                                        <p:attrNameLst>
                                          <p:attrName>style.visibility</p:attrName>
                                        </p:attrNameLst>
                                      </p:cBhvr>
                                      <p:to>
                                        <p:strVal val="visible"/>
                                      </p:to>
                                    </p:set>
                                    <p:anim calcmode="lin" valueType="num">
                                      <p:cBhvr additive="base">
                                        <p:cTn id="56" dur="500" fill="hold"/>
                                        <p:tgtEl>
                                          <p:spTgt spid="10"/>
                                        </p:tgtEl>
                                        <p:attrNameLst>
                                          <p:attrName>ppt_x</p:attrName>
                                        </p:attrNameLst>
                                      </p:cBhvr>
                                      <p:tavLst>
                                        <p:tav tm="0">
                                          <p:val>
                                            <p:strVal val="0-#ppt_w/2"/>
                                          </p:val>
                                        </p:tav>
                                        <p:tav tm="100000">
                                          <p:val>
                                            <p:strVal val="#ppt_x"/>
                                          </p:val>
                                        </p:tav>
                                      </p:tavLst>
                                    </p:anim>
                                    <p:anim calcmode="lin" valueType="num">
                                      <p:cBhvr additive="base">
                                        <p:cTn id="57" dur="500" fill="hold"/>
                                        <p:tgtEl>
                                          <p:spTgt spid="10"/>
                                        </p:tgtEl>
                                        <p:attrNameLst>
                                          <p:attrName>ppt_y</p:attrName>
                                        </p:attrNameLst>
                                      </p:cBhvr>
                                      <p:tavLst>
                                        <p:tav tm="0">
                                          <p:val>
                                            <p:strVal val="#ppt_y"/>
                                          </p:val>
                                        </p:tav>
                                        <p:tav tm="100000">
                                          <p:val>
                                            <p:strVal val="#ppt_y"/>
                                          </p:val>
                                        </p:tav>
                                      </p:tavLst>
                                    </p:anim>
                                  </p:childTnLst>
                                </p:cTn>
                              </p:par>
                              <p:par>
                                <p:cTn id="58" presetID="16" presetClass="entr" presetSubtype="21" fill="hold" grpId="0"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barn(inVertical)">
                                      <p:cBhvr>
                                        <p:cTn id="60" dur="500"/>
                                        <p:tgtEl>
                                          <p:spTgt spid="13"/>
                                        </p:tgtEl>
                                      </p:cBhvr>
                                    </p:animEffect>
                                  </p:childTnLst>
                                </p:cTn>
                              </p:par>
                              <p:par>
                                <p:cTn id="61" presetID="16" presetClass="entr" presetSubtype="21"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barn(inVertical)">
                                      <p:cBhvr>
                                        <p:cTn id="63" dur="500"/>
                                        <p:tgtEl>
                                          <p:spTgt spid="12"/>
                                        </p:tgtEl>
                                      </p:cBhvr>
                                    </p:animEffect>
                                  </p:childTnLst>
                                </p:cTn>
                              </p:par>
                              <p:par>
                                <p:cTn id="64" presetID="16" presetClass="entr" presetSubtype="21"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barn(inVertical)">
                                      <p:cBhvr>
                                        <p:cTn id="66" dur="500"/>
                                        <p:tgtEl>
                                          <p:spTgt spid="16"/>
                                        </p:tgtEl>
                                      </p:cBhvr>
                                    </p:animEffect>
                                  </p:childTnLst>
                                </p:cTn>
                              </p:par>
                              <p:par>
                                <p:cTn id="67" presetID="2" presetClass="entr" presetSubtype="8" fill="hold" grpId="0" nodeType="withEffect">
                                  <p:stCondLst>
                                    <p:cond delay="0"/>
                                  </p:stCondLst>
                                  <p:childTnLst>
                                    <p:set>
                                      <p:cBhvr>
                                        <p:cTn id="68" dur="1" fill="hold">
                                          <p:stCondLst>
                                            <p:cond delay="0"/>
                                          </p:stCondLst>
                                        </p:cTn>
                                        <p:tgtEl>
                                          <p:spTgt spid="20"/>
                                        </p:tgtEl>
                                        <p:attrNameLst>
                                          <p:attrName>style.visibility</p:attrName>
                                        </p:attrNameLst>
                                      </p:cBhvr>
                                      <p:to>
                                        <p:strVal val="visible"/>
                                      </p:to>
                                    </p:set>
                                    <p:anim calcmode="lin" valueType="num">
                                      <p:cBhvr additive="base">
                                        <p:cTn id="69" dur="500" fill="hold"/>
                                        <p:tgtEl>
                                          <p:spTgt spid="20"/>
                                        </p:tgtEl>
                                        <p:attrNameLst>
                                          <p:attrName>ppt_x</p:attrName>
                                        </p:attrNameLst>
                                      </p:cBhvr>
                                      <p:tavLst>
                                        <p:tav tm="0">
                                          <p:val>
                                            <p:strVal val="0-#ppt_w/2"/>
                                          </p:val>
                                        </p:tav>
                                        <p:tav tm="100000">
                                          <p:val>
                                            <p:strVal val="#ppt_x"/>
                                          </p:val>
                                        </p:tav>
                                      </p:tavLst>
                                    </p:anim>
                                    <p:anim calcmode="lin" valueType="num">
                                      <p:cBhvr additive="base">
                                        <p:cTn id="70" dur="500" fill="hold"/>
                                        <p:tgtEl>
                                          <p:spTgt spid="20"/>
                                        </p:tgtEl>
                                        <p:attrNameLst>
                                          <p:attrName>ppt_y</p:attrName>
                                        </p:attrNameLst>
                                      </p:cBhvr>
                                      <p:tavLst>
                                        <p:tav tm="0">
                                          <p:val>
                                            <p:strVal val="#ppt_y"/>
                                          </p:val>
                                        </p:tav>
                                        <p:tav tm="100000">
                                          <p:val>
                                            <p:strVal val="#ppt_y"/>
                                          </p:val>
                                        </p:tav>
                                      </p:tavLst>
                                    </p:anim>
                                  </p:childTnLst>
                                </p:cTn>
                              </p:par>
                              <p:par>
                                <p:cTn id="71" presetID="2" presetClass="entr" presetSubtype="8" fill="hold" grpId="0" nodeType="withEffect">
                                  <p:stCondLst>
                                    <p:cond delay="0"/>
                                  </p:stCondLst>
                                  <p:childTnLst>
                                    <p:set>
                                      <p:cBhvr>
                                        <p:cTn id="72" dur="1" fill="hold">
                                          <p:stCondLst>
                                            <p:cond delay="0"/>
                                          </p:stCondLst>
                                        </p:cTn>
                                        <p:tgtEl>
                                          <p:spTgt spid="21"/>
                                        </p:tgtEl>
                                        <p:attrNameLst>
                                          <p:attrName>style.visibility</p:attrName>
                                        </p:attrNameLst>
                                      </p:cBhvr>
                                      <p:to>
                                        <p:strVal val="visible"/>
                                      </p:to>
                                    </p:set>
                                    <p:anim calcmode="lin" valueType="num">
                                      <p:cBhvr additive="base">
                                        <p:cTn id="73" dur="500" fill="hold"/>
                                        <p:tgtEl>
                                          <p:spTgt spid="21"/>
                                        </p:tgtEl>
                                        <p:attrNameLst>
                                          <p:attrName>ppt_x</p:attrName>
                                        </p:attrNameLst>
                                      </p:cBhvr>
                                      <p:tavLst>
                                        <p:tav tm="0">
                                          <p:val>
                                            <p:strVal val="0-#ppt_w/2"/>
                                          </p:val>
                                        </p:tav>
                                        <p:tav tm="100000">
                                          <p:val>
                                            <p:strVal val="#ppt_x"/>
                                          </p:val>
                                        </p:tav>
                                      </p:tavLst>
                                    </p:anim>
                                    <p:anim calcmode="lin" valueType="num">
                                      <p:cBhvr additive="base">
                                        <p:cTn id="74" dur="500" fill="hold"/>
                                        <p:tgtEl>
                                          <p:spTgt spid="21"/>
                                        </p:tgtEl>
                                        <p:attrNameLst>
                                          <p:attrName>ppt_y</p:attrName>
                                        </p:attrNameLst>
                                      </p:cBhvr>
                                      <p:tavLst>
                                        <p:tav tm="0">
                                          <p:val>
                                            <p:strVal val="#ppt_y"/>
                                          </p:val>
                                        </p:tav>
                                        <p:tav tm="100000">
                                          <p:val>
                                            <p:strVal val="#ppt_y"/>
                                          </p:val>
                                        </p:tav>
                                      </p:tavLst>
                                    </p:anim>
                                  </p:childTnLst>
                                </p:cTn>
                              </p:par>
                              <p:par>
                                <p:cTn id="75" presetID="2" presetClass="entr" presetSubtype="8"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0-#ppt_w/2"/>
                                          </p:val>
                                        </p:tav>
                                        <p:tav tm="100000">
                                          <p:val>
                                            <p:strVal val="#ppt_x"/>
                                          </p:val>
                                        </p:tav>
                                      </p:tavLst>
                                    </p:anim>
                                    <p:anim calcmode="lin" valueType="num">
                                      <p:cBhvr additive="base">
                                        <p:cTn id="78"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16" presetClass="entr" presetSubtype="37" fill="hold" grpId="0" nodeType="clickEffect">
                                  <p:stCondLst>
                                    <p:cond delay="0"/>
                                  </p:stCondLst>
                                  <p:childTnLst>
                                    <p:set>
                                      <p:cBhvr>
                                        <p:cTn id="82" dur="1" fill="hold">
                                          <p:stCondLst>
                                            <p:cond delay="0"/>
                                          </p:stCondLst>
                                        </p:cTn>
                                        <p:tgtEl>
                                          <p:spTgt spid="5"/>
                                        </p:tgtEl>
                                        <p:attrNameLst>
                                          <p:attrName>style.visibility</p:attrName>
                                        </p:attrNameLst>
                                      </p:cBhvr>
                                      <p:to>
                                        <p:strVal val="visible"/>
                                      </p:to>
                                    </p:set>
                                    <p:animEffect transition="in" filter="barn(outVertical)">
                                      <p:cBhvr>
                                        <p:cTn id="8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Graphic spid="4" grpId="0">
        <p:bldAsOne/>
      </p:bldGraphic>
      <p:bldGraphic spid="10" grpId="0">
        <p:bldAsOne/>
      </p:bldGraphic>
      <p:bldP spid="11" grpId="0"/>
      <p:bldP spid="12" grpId="0"/>
      <p:bldP spid="13" grpId="0"/>
      <p:bldP spid="14" grpId="0"/>
      <p:bldP spid="15" grpId="0"/>
      <p:bldP spid="16" grpId="0"/>
      <p:bldP spid="17" grpId="0"/>
      <p:bldP spid="19" grpId="0"/>
      <p:bldP spid="20" grpId="0"/>
      <p:bldP spid="21" grpId="0"/>
      <p:bldP spid="22" grpId="0"/>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945641"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8-2 </a:t>
            </a:r>
            <a:r>
              <a:rPr lang="zh-TW" altLang="en-US" sz="2400" b="1" dirty="0">
                <a:solidFill>
                  <a:srgbClr val="E06741"/>
                </a:solidFill>
              </a:rPr>
              <a:t>實務案例─募款交易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558751" y="1019693"/>
            <a:ext cx="8519050" cy="497444"/>
          </a:xfrm>
          <a:prstGeom prst="rect">
            <a:avLst/>
          </a:prstGeom>
        </p:spPr>
        <p:txBody>
          <a:bodyPr wrap="square">
            <a:spAutoFit/>
          </a:bodyPr>
          <a:lstStyle/>
          <a:p>
            <a:pPr marL="342900" indent="-342900">
              <a:lnSpc>
                <a:spcPct val="150000"/>
              </a:lnSpc>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螞蟻金服支付寶愛心捐贈</a:t>
            </a:r>
            <a:r>
              <a:rPr lang="zh-TW" altLang="en-US" sz="2000" b="1" dirty="0">
                <a:solidFill>
                  <a:srgbClr val="5C708A"/>
                </a:solidFill>
                <a:latin typeface="微軟正黑體" panose="020B0604030504040204" pitchFamily="34" charset="-120"/>
                <a:ea typeface="微軟正黑體" panose="020B0604030504040204" pitchFamily="34" charset="-120"/>
              </a:rPr>
              <a:t>區塊鏈</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交易模擬流程</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7E3A6309-1716-4781-857E-D6FC371966D7}"/>
              </a:ext>
            </a:extLst>
          </p:cNvPr>
          <p:cNvSpPr txBox="1"/>
          <p:nvPr/>
        </p:nvSpPr>
        <p:spPr>
          <a:xfrm>
            <a:off x="501371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pic>
        <p:nvPicPr>
          <p:cNvPr id="11" name="圖片 10">
            <a:extLst>
              <a:ext uri="{FF2B5EF4-FFF2-40B4-BE49-F238E27FC236}">
                <a16:creationId xmlns:a16="http://schemas.microsoft.com/office/drawing/2014/main" id="{FEC56B81-4CCA-463A-9465-F4C198445354}"/>
              </a:ext>
            </a:extLst>
          </p:cNvPr>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t="14661"/>
          <a:stretch/>
        </p:blipFill>
        <p:spPr>
          <a:xfrm>
            <a:off x="1829359" y="1475149"/>
            <a:ext cx="8774546" cy="5191658"/>
          </a:xfrm>
          <a:prstGeom prst="rect">
            <a:avLst/>
          </a:prstGeom>
        </p:spPr>
      </p:pic>
      <p:pic>
        <p:nvPicPr>
          <p:cNvPr id="14" name="圖片 13">
            <a:extLst>
              <a:ext uri="{FF2B5EF4-FFF2-40B4-BE49-F238E27FC236}">
                <a16:creationId xmlns:a16="http://schemas.microsoft.com/office/drawing/2014/main" id="{B264188C-881D-4B33-B7D1-8B0F9F4B3C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42089" y="831117"/>
            <a:ext cx="1856150" cy="1856150"/>
          </a:xfrm>
          <a:prstGeom prst="rect">
            <a:avLst/>
          </a:prstGeom>
        </p:spPr>
      </p:pic>
      <p:cxnSp>
        <p:nvCxnSpPr>
          <p:cNvPr id="10" name="直接连接符 33">
            <a:extLst>
              <a:ext uri="{FF2B5EF4-FFF2-40B4-BE49-F238E27FC236}">
                <a16:creationId xmlns:a16="http://schemas.microsoft.com/office/drawing/2014/main" id="{0B2F054D-88B2-4272-B086-160B0318BF2E}"/>
              </a:ext>
            </a:extLst>
          </p:cNvPr>
          <p:cNvCxnSpPr>
            <a:cxnSpLocks/>
          </p:cNvCxnSpPr>
          <p:nvPr/>
        </p:nvCxnSpPr>
        <p:spPr>
          <a:xfrm>
            <a:off x="1177167" y="1000566"/>
            <a:ext cx="7837524"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954148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arn(inVertical)">
                                      <p:cBhvr>
                                        <p:cTn id="11" dur="500"/>
                                        <p:tgtEl>
                                          <p:spTgt spid="3">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53" presetClass="entr" presetSubtype="16" fill="hold" nodeType="after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fltVal val="0"/>
                                          </p:val>
                                        </p:tav>
                                        <p:tav tm="100000">
                                          <p:val>
                                            <p:strVal val="#ppt_h"/>
                                          </p:val>
                                        </p:tav>
                                      </p:tavLst>
                                    </p:anim>
                                    <p:animEffect transition="in" filter="fade">
                                      <p:cBhvr>
                                        <p:cTn id="27" dur="500"/>
                                        <p:tgtEl>
                                          <p:spTgt spid="11"/>
                                        </p:tgtEl>
                                      </p:cBhvr>
                                    </p:animEffect>
                                  </p:childTnLst>
                                </p:cTn>
                              </p:par>
                            </p:childTnLst>
                          </p:cTn>
                        </p:par>
                        <p:par>
                          <p:cTn id="28" fill="hold">
                            <p:stCondLst>
                              <p:cond delay="4000"/>
                            </p:stCondLst>
                            <p:childTnLst>
                              <p:par>
                                <p:cTn id="29" presetID="16" presetClass="entr" presetSubtype="37" fill="hold"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arn(outVertical)">
                                      <p:cBhvr>
                                        <p:cTn id="3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945641" y="393820"/>
            <a:ext cx="4697789"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8-2 </a:t>
            </a:r>
            <a:r>
              <a:rPr lang="zh-TW" altLang="en-US" sz="2400" b="1" dirty="0">
                <a:solidFill>
                  <a:srgbClr val="E06741"/>
                </a:solidFill>
              </a:rPr>
              <a:t>實務案例─募款交易</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558751" y="1007596"/>
            <a:ext cx="8519050" cy="497444"/>
          </a:xfrm>
          <a:prstGeom prst="rect">
            <a:avLst/>
          </a:prstGeom>
        </p:spPr>
        <p:txBody>
          <a:bodyPr wrap="square">
            <a:spAutoFit/>
          </a:bodyPr>
          <a:lstStyle/>
          <a:p>
            <a:pPr marL="342900" indent="-342900">
              <a:lnSpc>
                <a:spcPct val="150000"/>
              </a:lnSpc>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螞蟻金服支付寶愛心捐贈區塊鏈交易模擬流程概述</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7E3A6309-1716-4781-857E-D6FC371966D7}"/>
              </a:ext>
            </a:extLst>
          </p:cNvPr>
          <p:cNvSpPr txBox="1"/>
          <p:nvPr/>
        </p:nvSpPr>
        <p:spPr>
          <a:xfrm>
            <a:off x="501371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graphicFrame>
        <p:nvGraphicFramePr>
          <p:cNvPr id="4" name="資料庫圖表 3">
            <a:extLst>
              <a:ext uri="{FF2B5EF4-FFF2-40B4-BE49-F238E27FC236}">
                <a16:creationId xmlns:a16="http://schemas.microsoft.com/office/drawing/2014/main" id="{C1D2738F-7B3B-4FDD-8155-889CCCB4C02B}"/>
              </a:ext>
            </a:extLst>
          </p:cNvPr>
          <p:cNvGraphicFramePr/>
          <p:nvPr>
            <p:extLst>
              <p:ext uri="{D42A27DB-BD31-4B8C-83A1-F6EECF244321}">
                <p14:modId xmlns:p14="http://schemas.microsoft.com/office/powerpoint/2010/main" val="320939650"/>
              </p:ext>
            </p:extLst>
          </p:nvPr>
        </p:nvGraphicFramePr>
        <p:xfrm>
          <a:off x="2290620" y="2189142"/>
          <a:ext cx="7619886" cy="17212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文字方塊 10">
            <a:extLst>
              <a:ext uri="{FF2B5EF4-FFF2-40B4-BE49-F238E27FC236}">
                <a16:creationId xmlns:a16="http://schemas.microsoft.com/office/drawing/2014/main" id="{B9D2151C-E643-494A-9503-EE21E1A8E0BE}"/>
              </a:ext>
            </a:extLst>
          </p:cNvPr>
          <p:cNvSpPr txBox="1"/>
          <p:nvPr/>
        </p:nvSpPr>
        <p:spPr>
          <a:xfrm>
            <a:off x="2392107" y="1764139"/>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1</a:t>
            </a:r>
          </a:p>
        </p:txBody>
      </p:sp>
      <p:sp>
        <p:nvSpPr>
          <p:cNvPr id="13" name="文字方塊 12">
            <a:extLst>
              <a:ext uri="{FF2B5EF4-FFF2-40B4-BE49-F238E27FC236}">
                <a16:creationId xmlns:a16="http://schemas.microsoft.com/office/drawing/2014/main" id="{0403EDCE-D36C-4164-A6E0-172D4DBE5164}"/>
              </a:ext>
            </a:extLst>
          </p:cNvPr>
          <p:cNvSpPr txBox="1"/>
          <p:nvPr/>
        </p:nvSpPr>
        <p:spPr>
          <a:xfrm>
            <a:off x="6909138" y="4077398"/>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4</a:t>
            </a:r>
          </a:p>
        </p:txBody>
      </p:sp>
      <p:sp>
        <p:nvSpPr>
          <p:cNvPr id="14" name="文字方塊 13">
            <a:extLst>
              <a:ext uri="{FF2B5EF4-FFF2-40B4-BE49-F238E27FC236}">
                <a16:creationId xmlns:a16="http://schemas.microsoft.com/office/drawing/2014/main" id="{8102116A-8914-456C-99CC-FFB6CE5B31B3}"/>
              </a:ext>
            </a:extLst>
          </p:cNvPr>
          <p:cNvSpPr txBox="1"/>
          <p:nvPr/>
        </p:nvSpPr>
        <p:spPr>
          <a:xfrm>
            <a:off x="2392107" y="4077398"/>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3</a:t>
            </a:r>
          </a:p>
        </p:txBody>
      </p:sp>
      <p:sp>
        <p:nvSpPr>
          <p:cNvPr id="15" name="文字方塊 14">
            <a:extLst>
              <a:ext uri="{FF2B5EF4-FFF2-40B4-BE49-F238E27FC236}">
                <a16:creationId xmlns:a16="http://schemas.microsoft.com/office/drawing/2014/main" id="{49A6520A-3442-46DF-A568-8B5FB7CF0215}"/>
              </a:ext>
            </a:extLst>
          </p:cNvPr>
          <p:cNvSpPr txBox="1"/>
          <p:nvPr/>
        </p:nvSpPr>
        <p:spPr>
          <a:xfrm>
            <a:off x="6909137" y="1764139"/>
            <a:ext cx="912429" cy="369332"/>
          </a:xfrm>
          <a:prstGeom prst="rect">
            <a:avLst/>
          </a:prstGeom>
          <a:noFill/>
        </p:spPr>
        <p:txBody>
          <a:bodyPr wrap="none" rtlCol="0">
            <a:spAutoFit/>
          </a:bodyPr>
          <a:lstStyle/>
          <a:p>
            <a:r>
              <a:rPr lang="en-US" altLang="zh-TW" dirty="0">
                <a:solidFill>
                  <a:schemeClr val="accent4">
                    <a:lumMod val="75000"/>
                  </a:schemeClr>
                </a:solidFill>
                <a:latin typeface="Eras Demi ITC" panose="020B0805030504020804" pitchFamily="34" charset="0"/>
              </a:rPr>
              <a:t>STEP 2</a:t>
            </a:r>
          </a:p>
        </p:txBody>
      </p:sp>
      <p:graphicFrame>
        <p:nvGraphicFramePr>
          <p:cNvPr id="17" name="資料庫圖表 16">
            <a:extLst>
              <a:ext uri="{FF2B5EF4-FFF2-40B4-BE49-F238E27FC236}">
                <a16:creationId xmlns:a16="http://schemas.microsoft.com/office/drawing/2014/main" id="{533422C6-158B-4B9B-AFAA-BA62AB88F410}"/>
              </a:ext>
            </a:extLst>
          </p:cNvPr>
          <p:cNvGraphicFramePr/>
          <p:nvPr>
            <p:extLst>
              <p:ext uri="{D42A27DB-BD31-4B8C-83A1-F6EECF244321}">
                <p14:modId xmlns:p14="http://schemas.microsoft.com/office/powerpoint/2010/main" val="888661974"/>
              </p:ext>
            </p:extLst>
          </p:nvPr>
        </p:nvGraphicFramePr>
        <p:xfrm>
          <a:off x="2290620" y="4502401"/>
          <a:ext cx="7619886" cy="172124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5" name="圖片 4">
            <a:extLst>
              <a:ext uri="{FF2B5EF4-FFF2-40B4-BE49-F238E27FC236}">
                <a16:creationId xmlns:a16="http://schemas.microsoft.com/office/drawing/2014/main" id="{ECD670FB-A93E-4736-ADB9-127B61EC9D1C}"/>
              </a:ext>
            </a:extLst>
          </p:cNvPr>
          <p:cNvPicPr>
            <a:picLocks noChangeAspect="1"/>
          </p:cNvPicPr>
          <p:nvPr/>
        </p:nvPicPr>
        <p:blipFill>
          <a:blip r:embed="rId14"/>
          <a:stretch>
            <a:fillRect/>
          </a:stretch>
        </p:blipFill>
        <p:spPr>
          <a:xfrm>
            <a:off x="1377412" y="4966746"/>
            <a:ext cx="676715" cy="792549"/>
          </a:xfrm>
          <a:prstGeom prst="rect">
            <a:avLst/>
          </a:prstGeom>
        </p:spPr>
      </p:pic>
      <p:sp>
        <p:nvSpPr>
          <p:cNvPr id="16" name="文字方塊 15">
            <a:extLst>
              <a:ext uri="{FF2B5EF4-FFF2-40B4-BE49-F238E27FC236}">
                <a16:creationId xmlns:a16="http://schemas.microsoft.com/office/drawing/2014/main" id="{E27750F5-897E-41D1-B668-B85BF6624412}"/>
              </a:ext>
            </a:extLst>
          </p:cNvPr>
          <p:cNvSpPr txBox="1"/>
          <p:nvPr/>
        </p:nvSpPr>
        <p:spPr>
          <a:xfrm>
            <a:off x="3879837" y="1751632"/>
            <a:ext cx="1027845" cy="369332"/>
          </a:xfrm>
          <a:prstGeom prst="rect">
            <a:avLst/>
          </a:prstGeom>
          <a:noFill/>
        </p:spPr>
        <p:txBody>
          <a:bodyPr wrap="none" rtlCol="0">
            <a:spAutoFit/>
          </a:bodyPr>
          <a:lstStyle/>
          <a:p>
            <a:r>
              <a:rPr lang="en-US" altLang="zh-TW" dirty="0">
                <a:solidFill>
                  <a:schemeClr val="accent5"/>
                </a:solidFill>
                <a:latin typeface="Eras Demi ITC" panose="020B0805030504020804" pitchFamily="34" charset="0"/>
              </a:rPr>
              <a:t>P1</a:t>
            </a:r>
            <a:r>
              <a:rPr lang="en-US" altLang="zh-TW" dirty="0">
                <a:solidFill>
                  <a:schemeClr val="accent5"/>
                </a:solidFill>
                <a:latin typeface="微軟正黑體" panose="020B0604030504040204" pitchFamily="34" charset="-120"/>
                <a:ea typeface="微軟正黑體" panose="020B0604030504040204" pitchFamily="34" charset="-120"/>
              </a:rPr>
              <a:t>→</a:t>
            </a:r>
            <a:r>
              <a:rPr lang="en-US" altLang="zh-TW" dirty="0">
                <a:solidFill>
                  <a:schemeClr val="accent5"/>
                </a:solidFill>
                <a:latin typeface="Eras Demi ITC" panose="020B0805030504020804" pitchFamily="34" charset="0"/>
              </a:rPr>
              <a:t> P3</a:t>
            </a:r>
          </a:p>
        </p:txBody>
      </p:sp>
      <p:sp>
        <p:nvSpPr>
          <p:cNvPr id="18" name="文字方塊 17">
            <a:extLst>
              <a:ext uri="{FF2B5EF4-FFF2-40B4-BE49-F238E27FC236}">
                <a16:creationId xmlns:a16="http://schemas.microsoft.com/office/drawing/2014/main" id="{D0AD36EF-2C65-4B2D-A7D8-F00B3ADC1E97}"/>
              </a:ext>
            </a:extLst>
          </p:cNvPr>
          <p:cNvSpPr txBox="1"/>
          <p:nvPr/>
        </p:nvSpPr>
        <p:spPr>
          <a:xfrm>
            <a:off x="8795176" y="4077398"/>
            <a:ext cx="1027845" cy="369332"/>
          </a:xfrm>
          <a:prstGeom prst="rect">
            <a:avLst/>
          </a:prstGeom>
          <a:noFill/>
        </p:spPr>
        <p:txBody>
          <a:bodyPr wrap="none" rtlCol="0">
            <a:spAutoFit/>
          </a:bodyPr>
          <a:lstStyle/>
          <a:p>
            <a:r>
              <a:rPr lang="en-US" altLang="zh-TW" dirty="0">
                <a:solidFill>
                  <a:schemeClr val="accent5"/>
                </a:solidFill>
                <a:latin typeface="Eras Demi ITC" panose="020B0805030504020804" pitchFamily="34" charset="0"/>
              </a:rPr>
              <a:t>P3</a:t>
            </a:r>
            <a:r>
              <a:rPr lang="en-US" altLang="zh-TW" dirty="0">
                <a:solidFill>
                  <a:schemeClr val="accent5"/>
                </a:solidFill>
                <a:latin typeface="微軟正黑體" panose="020B0604030504040204" pitchFamily="34" charset="-120"/>
                <a:ea typeface="微軟正黑體" panose="020B0604030504040204" pitchFamily="34" charset="-120"/>
              </a:rPr>
              <a:t>→</a:t>
            </a:r>
            <a:r>
              <a:rPr lang="en-US" altLang="zh-TW" dirty="0">
                <a:solidFill>
                  <a:schemeClr val="accent5"/>
                </a:solidFill>
                <a:latin typeface="Eras Demi ITC" panose="020B0805030504020804" pitchFamily="34" charset="0"/>
              </a:rPr>
              <a:t> P1</a:t>
            </a:r>
          </a:p>
        </p:txBody>
      </p:sp>
      <p:sp>
        <p:nvSpPr>
          <p:cNvPr id="19" name="文字方塊 18">
            <a:extLst>
              <a:ext uri="{FF2B5EF4-FFF2-40B4-BE49-F238E27FC236}">
                <a16:creationId xmlns:a16="http://schemas.microsoft.com/office/drawing/2014/main" id="{85D2A922-DC9A-4F9A-BBB4-FE399F4D389C}"/>
              </a:ext>
            </a:extLst>
          </p:cNvPr>
          <p:cNvSpPr txBox="1"/>
          <p:nvPr/>
        </p:nvSpPr>
        <p:spPr>
          <a:xfrm>
            <a:off x="3879837" y="4077398"/>
            <a:ext cx="1027845" cy="369332"/>
          </a:xfrm>
          <a:prstGeom prst="rect">
            <a:avLst/>
          </a:prstGeom>
          <a:noFill/>
        </p:spPr>
        <p:txBody>
          <a:bodyPr wrap="none" rtlCol="0">
            <a:spAutoFit/>
          </a:bodyPr>
          <a:lstStyle/>
          <a:p>
            <a:r>
              <a:rPr lang="en-US" altLang="zh-TW" dirty="0">
                <a:solidFill>
                  <a:schemeClr val="accent5"/>
                </a:solidFill>
                <a:latin typeface="Eras Demi ITC" panose="020B0805030504020804" pitchFamily="34" charset="0"/>
              </a:rPr>
              <a:t>P2</a:t>
            </a:r>
            <a:r>
              <a:rPr lang="en-US" altLang="zh-TW" dirty="0">
                <a:solidFill>
                  <a:schemeClr val="accent5"/>
                </a:solidFill>
                <a:latin typeface="微軟正黑體" panose="020B0604030504040204" pitchFamily="34" charset="-120"/>
                <a:ea typeface="微軟正黑體" panose="020B0604030504040204" pitchFamily="34" charset="-120"/>
              </a:rPr>
              <a:t>→</a:t>
            </a:r>
            <a:r>
              <a:rPr lang="en-US" altLang="zh-TW" dirty="0">
                <a:solidFill>
                  <a:schemeClr val="accent5"/>
                </a:solidFill>
                <a:latin typeface="Eras Demi ITC" panose="020B0805030504020804" pitchFamily="34" charset="0"/>
              </a:rPr>
              <a:t> P3</a:t>
            </a:r>
          </a:p>
        </p:txBody>
      </p:sp>
      <p:sp>
        <p:nvSpPr>
          <p:cNvPr id="20" name="文字方塊 19">
            <a:extLst>
              <a:ext uri="{FF2B5EF4-FFF2-40B4-BE49-F238E27FC236}">
                <a16:creationId xmlns:a16="http://schemas.microsoft.com/office/drawing/2014/main" id="{FF1F4B5B-4FFD-4026-A8B8-0EEAD187CB52}"/>
              </a:ext>
            </a:extLst>
          </p:cNvPr>
          <p:cNvSpPr txBox="1"/>
          <p:nvPr/>
        </p:nvSpPr>
        <p:spPr>
          <a:xfrm>
            <a:off x="8795176" y="1751632"/>
            <a:ext cx="1027845" cy="369332"/>
          </a:xfrm>
          <a:prstGeom prst="rect">
            <a:avLst/>
          </a:prstGeom>
          <a:noFill/>
        </p:spPr>
        <p:txBody>
          <a:bodyPr wrap="none" rtlCol="0">
            <a:spAutoFit/>
          </a:bodyPr>
          <a:lstStyle/>
          <a:p>
            <a:r>
              <a:rPr lang="en-US" altLang="zh-TW" dirty="0">
                <a:solidFill>
                  <a:schemeClr val="accent5"/>
                </a:solidFill>
                <a:latin typeface="Eras Demi ITC" panose="020B0805030504020804" pitchFamily="34" charset="0"/>
              </a:rPr>
              <a:t>P1</a:t>
            </a:r>
            <a:r>
              <a:rPr lang="en-US" altLang="zh-TW" dirty="0">
                <a:solidFill>
                  <a:schemeClr val="accent5"/>
                </a:solidFill>
                <a:latin typeface="微軟正黑體" panose="020B0604030504040204" pitchFamily="34" charset="-120"/>
                <a:ea typeface="微軟正黑體" panose="020B0604030504040204" pitchFamily="34" charset="-120"/>
              </a:rPr>
              <a:t>→</a:t>
            </a:r>
            <a:r>
              <a:rPr lang="en-US" altLang="zh-TW" dirty="0">
                <a:solidFill>
                  <a:schemeClr val="accent5"/>
                </a:solidFill>
                <a:latin typeface="Eras Demi ITC" panose="020B0805030504020804" pitchFamily="34" charset="0"/>
              </a:rPr>
              <a:t> P2</a:t>
            </a:r>
          </a:p>
        </p:txBody>
      </p:sp>
      <p:sp>
        <p:nvSpPr>
          <p:cNvPr id="6" name="文字方塊 5">
            <a:extLst>
              <a:ext uri="{FF2B5EF4-FFF2-40B4-BE49-F238E27FC236}">
                <a16:creationId xmlns:a16="http://schemas.microsoft.com/office/drawing/2014/main" id="{AA0E1FA0-6C3E-4DFA-AA21-65A743F1A0AE}"/>
              </a:ext>
            </a:extLst>
          </p:cNvPr>
          <p:cNvSpPr txBox="1"/>
          <p:nvPr/>
        </p:nvSpPr>
        <p:spPr>
          <a:xfrm>
            <a:off x="8904461" y="1009471"/>
            <a:ext cx="2012089" cy="400110"/>
          </a:xfrm>
          <a:prstGeom prst="rect">
            <a:avLst/>
          </a:prstGeom>
          <a:noFill/>
        </p:spPr>
        <p:txBody>
          <a:bodyPr wrap="none" rtlCol="0">
            <a:spAutoFit/>
          </a:bodyPr>
          <a:lstStyle/>
          <a:p>
            <a:pPr marL="285750" indent="-285750">
              <a:buSzPct val="125000"/>
              <a:buBlip>
                <a:blip r:embed="rId15"/>
              </a:buBlip>
            </a:pPr>
            <a:r>
              <a:rPr lang="zh-TW" altLang="en-US" sz="2000" b="1" dirty="0">
                <a:solidFill>
                  <a:srgbClr val="308071"/>
                </a:solidFill>
                <a:latin typeface="微軟正黑體" panose="020B0604030504040204" pitchFamily="34" charset="-120"/>
                <a:ea typeface="微軟正黑體" panose="020B0604030504040204" pitchFamily="34" charset="-120"/>
              </a:rPr>
              <a:t>縮短作業時效</a:t>
            </a:r>
          </a:p>
        </p:txBody>
      </p:sp>
      <p:pic>
        <p:nvPicPr>
          <p:cNvPr id="21" name="圖片 20" descr="一張含有 向量圖形 的圖片&#10;&#10;描述是以非常高的可信度產生">
            <a:extLst>
              <a:ext uri="{FF2B5EF4-FFF2-40B4-BE49-F238E27FC236}">
                <a16:creationId xmlns:a16="http://schemas.microsoft.com/office/drawing/2014/main" id="{66B21BDB-D6C1-46F4-A040-1E33D5740FF0}"/>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0170164" y="5084698"/>
            <a:ext cx="1773302" cy="1773302"/>
          </a:xfrm>
          <a:prstGeom prst="rect">
            <a:avLst/>
          </a:prstGeom>
        </p:spPr>
      </p:pic>
      <p:cxnSp>
        <p:nvCxnSpPr>
          <p:cNvPr id="22" name="直接连接符 33">
            <a:extLst>
              <a:ext uri="{FF2B5EF4-FFF2-40B4-BE49-F238E27FC236}">
                <a16:creationId xmlns:a16="http://schemas.microsoft.com/office/drawing/2014/main" id="{D7CFAE15-3D04-4005-8741-B119921B0012}"/>
              </a:ext>
            </a:extLst>
          </p:cNvPr>
          <p:cNvCxnSpPr>
            <a:cxnSpLocks/>
          </p:cNvCxnSpPr>
          <p:nvPr/>
        </p:nvCxnSpPr>
        <p:spPr>
          <a:xfrm>
            <a:off x="1177167" y="1000566"/>
            <a:ext cx="7440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471536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arn(inVertical)">
                                      <p:cBhvr>
                                        <p:cTn id="11" dur="500"/>
                                        <p:tgtEl>
                                          <p:spTgt spid="3">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0-#ppt_w/2"/>
                                          </p:val>
                                        </p:tav>
                                        <p:tav tm="100000">
                                          <p:val>
                                            <p:strVal val="#ppt_x"/>
                                          </p:val>
                                        </p:tav>
                                      </p:tavLst>
                                    </p:anim>
                                    <p:anim calcmode="lin" valueType="num">
                                      <p:cBhvr additive="base">
                                        <p:cTn id="16" dur="500" fill="hold"/>
                                        <p:tgtEl>
                                          <p:spTgt spid="2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2" presetClass="entr" presetSubtype="8" fill="hold" grpId="0" nodeType="after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0-#ppt_w/2"/>
                                          </p:val>
                                        </p:tav>
                                        <p:tav tm="100000">
                                          <p:val>
                                            <p:strVal val="#ppt_x"/>
                                          </p:val>
                                        </p:tav>
                                      </p:tavLst>
                                    </p:anim>
                                    <p:anim calcmode="lin" valueType="num">
                                      <p:cBhvr additive="base">
                                        <p:cTn id="26" dur="500" fill="hold"/>
                                        <p:tgtEl>
                                          <p:spTgt spid="4"/>
                                        </p:tgtEl>
                                        <p:attrNameLst>
                                          <p:attrName>ppt_y</p:attrName>
                                        </p:attrNameLst>
                                      </p:cBhvr>
                                      <p:tavLst>
                                        <p:tav tm="0">
                                          <p:val>
                                            <p:strVal val="#ppt_y"/>
                                          </p:val>
                                        </p:tav>
                                        <p:tav tm="100000">
                                          <p:val>
                                            <p:strVal val="#ppt_y"/>
                                          </p:val>
                                        </p:tav>
                                      </p:tavLst>
                                    </p:anim>
                                  </p:childTnLst>
                                </p:cTn>
                              </p:par>
                              <p:par>
                                <p:cTn id="27" presetID="16" presetClass="entr" presetSubtype="21"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arn(inVertical)">
                                      <p:cBhvr>
                                        <p:cTn id="29" dur="500"/>
                                        <p:tgtEl>
                                          <p:spTgt spid="11"/>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arn(inVertical)">
                                      <p:cBhvr>
                                        <p:cTn id="32" dur="500"/>
                                        <p:tgtEl>
                                          <p:spTgt spid="15"/>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down)">
                                      <p:cBhvr>
                                        <p:cTn id="35" dur="500"/>
                                        <p:tgtEl>
                                          <p:spTgt spid="16"/>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wipe(down)">
                                      <p:cBhvr>
                                        <p:cTn id="38" dur="500"/>
                                        <p:tgtEl>
                                          <p:spTgt spid="20"/>
                                        </p:tgtEl>
                                      </p:cBhvr>
                                    </p:animEffect>
                                  </p:childTnLst>
                                </p:cTn>
                              </p:par>
                            </p:childTnLst>
                          </p:cTn>
                        </p:par>
                        <p:par>
                          <p:cTn id="39" fill="hold">
                            <p:stCondLst>
                              <p:cond delay="4000"/>
                            </p:stCondLst>
                            <p:childTnLst>
                              <p:par>
                                <p:cTn id="40" presetID="2" presetClass="entr" presetSubtype="4" fill="hold" nodeType="afterEffect">
                                  <p:stCondLst>
                                    <p:cond delay="0"/>
                                  </p:stCondLst>
                                  <p:childTnLst>
                                    <p:set>
                                      <p:cBhvr>
                                        <p:cTn id="41" dur="1" fill="hold">
                                          <p:stCondLst>
                                            <p:cond delay="0"/>
                                          </p:stCondLst>
                                        </p:cTn>
                                        <p:tgtEl>
                                          <p:spTgt spid="5"/>
                                        </p:tgtEl>
                                        <p:attrNameLst>
                                          <p:attrName>style.visibility</p:attrName>
                                        </p:attrNameLst>
                                      </p:cBhvr>
                                      <p:to>
                                        <p:strVal val="visible"/>
                                      </p:to>
                                    </p:set>
                                    <p:anim calcmode="lin" valueType="num">
                                      <p:cBhvr additive="base">
                                        <p:cTn id="42" dur="500" fill="hold"/>
                                        <p:tgtEl>
                                          <p:spTgt spid="5"/>
                                        </p:tgtEl>
                                        <p:attrNameLst>
                                          <p:attrName>ppt_x</p:attrName>
                                        </p:attrNameLst>
                                      </p:cBhvr>
                                      <p:tavLst>
                                        <p:tav tm="0">
                                          <p:val>
                                            <p:strVal val="#ppt_x"/>
                                          </p:val>
                                        </p:tav>
                                        <p:tav tm="100000">
                                          <p:val>
                                            <p:strVal val="#ppt_x"/>
                                          </p:val>
                                        </p:tav>
                                      </p:tavLst>
                                    </p:anim>
                                    <p:anim calcmode="lin" valueType="num">
                                      <p:cBhvr additive="base">
                                        <p:cTn id="43" dur="500" fill="hold"/>
                                        <p:tgtEl>
                                          <p:spTgt spid="5"/>
                                        </p:tgtEl>
                                        <p:attrNameLst>
                                          <p:attrName>ppt_y</p:attrName>
                                        </p:attrNameLst>
                                      </p:cBhvr>
                                      <p:tavLst>
                                        <p:tav tm="0">
                                          <p:val>
                                            <p:strVal val="1+#ppt_h/2"/>
                                          </p:val>
                                        </p:tav>
                                        <p:tav tm="100000">
                                          <p:val>
                                            <p:strVal val="#ppt_y"/>
                                          </p:val>
                                        </p:tav>
                                      </p:tavLst>
                                    </p:anim>
                                  </p:childTnLst>
                                </p:cTn>
                              </p:par>
                            </p:childTnLst>
                          </p:cTn>
                        </p:par>
                        <p:par>
                          <p:cTn id="44" fill="hold">
                            <p:stCondLst>
                              <p:cond delay="4500"/>
                            </p:stCondLst>
                            <p:childTnLst>
                              <p:par>
                                <p:cTn id="45" presetID="2" presetClass="entr" presetSubtype="4" fill="hold" grpId="0" nodeType="after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1+#ppt_h/2"/>
                                          </p:val>
                                        </p:tav>
                                        <p:tav tm="100000">
                                          <p:val>
                                            <p:strVal val="#ppt_y"/>
                                          </p:val>
                                        </p:tav>
                                      </p:tavLst>
                                    </p:anim>
                                  </p:childTnLst>
                                </p:cTn>
                              </p:par>
                              <p:par>
                                <p:cTn id="49" presetID="16" presetClass="entr" presetSubtype="21"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barn(inVertical)">
                                      <p:cBhvr>
                                        <p:cTn id="51" dur="500"/>
                                        <p:tgtEl>
                                          <p:spTgt spid="14"/>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barn(inVertical)">
                                      <p:cBhvr>
                                        <p:cTn id="54" dur="500"/>
                                        <p:tgtEl>
                                          <p:spTgt spid="13"/>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wipe(down)">
                                      <p:cBhvr>
                                        <p:cTn id="57" dur="500"/>
                                        <p:tgtEl>
                                          <p:spTgt spid="19"/>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wipe(down)">
                                      <p:cBhvr>
                                        <p:cTn id="60" dur="500"/>
                                        <p:tgtEl>
                                          <p:spTgt spid="18"/>
                                        </p:tgtEl>
                                      </p:cBhvr>
                                    </p:animEffect>
                                  </p:childTnLst>
                                </p:cTn>
                              </p:par>
                            </p:childTnLst>
                          </p:cTn>
                        </p:par>
                        <p:par>
                          <p:cTn id="61" fill="hold">
                            <p:stCondLst>
                              <p:cond delay="5000"/>
                            </p:stCondLst>
                            <p:childTnLst>
                              <p:par>
                                <p:cTn id="62" presetID="53" presetClass="entr" presetSubtype="16" fill="hold" nodeType="afterEffect">
                                  <p:stCondLst>
                                    <p:cond delay="0"/>
                                  </p:stCondLst>
                                  <p:childTnLst>
                                    <p:set>
                                      <p:cBhvr>
                                        <p:cTn id="63" dur="1" fill="hold">
                                          <p:stCondLst>
                                            <p:cond delay="0"/>
                                          </p:stCondLst>
                                        </p:cTn>
                                        <p:tgtEl>
                                          <p:spTgt spid="21"/>
                                        </p:tgtEl>
                                        <p:attrNameLst>
                                          <p:attrName>style.visibility</p:attrName>
                                        </p:attrNameLst>
                                      </p:cBhvr>
                                      <p:to>
                                        <p:strVal val="visible"/>
                                      </p:to>
                                    </p:set>
                                    <p:anim calcmode="lin" valueType="num">
                                      <p:cBhvr>
                                        <p:cTn id="64" dur="500" fill="hold"/>
                                        <p:tgtEl>
                                          <p:spTgt spid="21"/>
                                        </p:tgtEl>
                                        <p:attrNameLst>
                                          <p:attrName>ppt_w</p:attrName>
                                        </p:attrNameLst>
                                      </p:cBhvr>
                                      <p:tavLst>
                                        <p:tav tm="0">
                                          <p:val>
                                            <p:fltVal val="0"/>
                                          </p:val>
                                        </p:tav>
                                        <p:tav tm="100000">
                                          <p:val>
                                            <p:strVal val="#ppt_w"/>
                                          </p:val>
                                        </p:tav>
                                      </p:tavLst>
                                    </p:anim>
                                    <p:anim calcmode="lin" valueType="num">
                                      <p:cBhvr>
                                        <p:cTn id="65" dur="500" fill="hold"/>
                                        <p:tgtEl>
                                          <p:spTgt spid="21"/>
                                        </p:tgtEl>
                                        <p:attrNameLst>
                                          <p:attrName>ppt_h</p:attrName>
                                        </p:attrNameLst>
                                      </p:cBhvr>
                                      <p:tavLst>
                                        <p:tav tm="0">
                                          <p:val>
                                            <p:fltVal val="0"/>
                                          </p:val>
                                        </p:tav>
                                        <p:tav tm="100000">
                                          <p:val>
                                            <p:strVal val="#ppt_h"/>
                                          </p:val>
                                        </p:tav>
                                      </p:tavLst>
                                    </p:anim>
                                    <p:animEffect transition="in" filter="fade">
                                      <p:cBhvr>
                                        <p:cTn id="66" dur="500"/>
                                        <p:tgtEl>
                                          <p:spTgt spid="21"/>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ntr" presetSubtype="37" fill="hold" nodeType="clickEffect">
                                  <p:stCondLst>
                                    <p:cond delay="0"/>
                                  </p:stCondLst>
                                  <p:childTnLst>
                                    <p:set>
                                      <p:cBhvr>
                                        <p:cTn id="70" dur="1" fill="hold">
                                          <p:stCondLst>
                                            <p:cond delay="0"/>
                                          </p:stCondLst>
                                        </p:cTn>
                                        <p:tgtEl>
                                          <p:spTgt spid="6">
                                            <p:txEl>
                                              <p:pRg st="0" end="0"/>
                                            </p:txEl>
                                          </p:spTgt>
                                        </p:tgtEl>
                                        <p:attrNameLst>
                                          <p:attrName>style.visibility</p:attrName>
                                        </p:attrNameLst>
                                      </p:cBhvr>
                                      <p:to>
                                        <p:strVal val="visible"/>
                                      </p:to>
                                    </p:set>
                                    <p:animEffect transition="in" filter="barn(outVertical)">
                                      <p:cBhvr>
                                        <p:cTn id="7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Graphic spid="4" grpId="0">
        <p:bldAsOne/>
      </p:bldGraphic>
      <p:bldP spid="11" grpId="0"/>
      <p:bldP spid="13" grpId="0"/>
      <p:bldP spid="14" grpId="0"/>
      <p:bldP spid="15" grpId="0"/>
      <p:bldGraphic spid="17" grpId="0">
        <p:bldAsOne/>
      </p:bldGraphic>
      <p:bldP spid="16" grpId="0"/>
      <p:bldP spid="18" grpId="0"/>
      <p:bldP spid="19" grpId="0"/>
      <p:bldP spid="20"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包图主题2">
  <a:themeElements>
    <a:clrScheme name="自定义 154">
      <a:dk1>
        <a:sysClr val="windowText" lastClr="000000"/>
      </a:dk1>
      <a:lt1>
        <a:sysClr val="window" lastClr="FFFFFF"/>
      </a:lt1>
      <a:dk2>
        <a:srgbClr val="44546A"/>
      </a:dk2>
      <a:lt2>
        <a:srgbClr val="E7E6E6"/>
      </a:lt2>
      <a:accent1>
        <a:srgbClr val="4A5A6F"/>
      </a:accent1>
      <a:accent2>
        <a:srgbClr val="E06741"/>
      </a:accent2>
      <a:accent3>
        <a:srgbClr val="4A5A6F"/>
      </a:accent3>
      <a:accent4>
        <a:srgbClr val="E06741"/>
      </a:accent4>
      <a:accent5>
        <a:srgbClr val="4A5A6F"/>
      </a:accent5>
      <a:accent6>
        <a:srgbClr val="E06741"/>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包图主题2" id="{50CFA792-C506-47E4-B272-6A6183483AB3}" vid="{CC1AE437-2F7F-4319-9F22-408F5F8C346F}"/>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1715</TotalTime>
  <Words>2391</Words>
  <Application>Microsoft Office PowerPoint</Application>
  <PresentationFormat>寬螢幕</PresentationFormat>
  <Paragraphs>286</Paragraphs>
  <Slides>24</Slides>
  <Notes>3</Notes>
  <HiddenSlides>0</HiddenSlides>
  <MMClips>0</MMClips>
  <ScaleCrop>false</ScaleCrop>
  <HeadingPairs>
    <vt:vector size="6" baseType="variant">
      <vt:variant>
        <vt:lpstr>使用字型</vt:lpstr>
      </vt:variant>
      <vt:variant>
        <vt:i4>11</vt:i4>
      </vt:variant>
      <vt:variant>
        <vt:lpstr>佈景主題</vt:lpstr>
      </vt:variant>
      <vt:variant>
        <vt:i4>1</vt:i4>
      </vt:variant>
      <vt:variant>
        <vt:lpstr>投影片標題</vt:lpstr>
      </vt:variant>
      <vt:variant>
        <vt:i4>24</vt:i4>
      </vt:variant>
    </vt:vector>
  </HeadingPairs>
  <TitlesOfParts>
    <vt:vector size="36" baseType="lpstr">
      <vt:lpstr>等线</vt:lpstr>
      <vt:lpstr>Microsoft JhengHei Light</vt:lpstr>
      <vt:lpstr>微软雅黑</vt:lpstr>
      <vt:lpstr>宋体</vt:lpstr>
      <vt:lpstr>微軟正黑體</vt:lpstr>
      <vt:lpstr>新細明體</vt:lpstr>
      <vt:lpstr>標楷體</vt:lpstr>
      <vt:lpstr>Arial</vt:lpstr>
      <vt:lpstr>Eras Demi ITC</vt:lpstr>
      <vt:lpstr>Eras Medium ITC</vt:lpstr>
      <vt:lpstr>Times New Roman</vt:lpstr>
      <vt:lpstr>包图主题2</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http://www.ypppt.com/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cp:keywords>http:/www.ypppt.com</cp:keywords>
  <dc:description>http://www.ypppt.com/</dc:description>
  <cp:lastModifiedBy>張景涵</cp:lastModifiedBy>
  <cp:revision>194</cp:revision>
  <dcterms:created xsi:type="dcterms:W3CDTF">2017-09-04T07:53:30Z</dcterms:created>
  <dcterms:modified xsi:type="dcterms:W3CDTF">2018-07-26T06:47:07Z</dcterms:modified>
</cp:coreProperties>
</file>