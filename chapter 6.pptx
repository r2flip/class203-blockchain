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84" r:id="rId2"/>
    <p:sldId id="257" r:id="rId3"/>
    <p:sldId id="285" r:id="rId4"/>
    <p:sldId id="366" r:id="rId5"/>
    <p:sldId id="367" r:id="rId6"/>
    <p:sldId id="368" r:id="rId7"/>
    <p:sldId id="370" r:id="rId8"/>
    <p:sldId id="369" r:id="rId9"/>
    <p:sldId id="371" r:id="rId10"/>
    <p:sldId id="372" r:id="rId11"/>
    <p:sldId id="373" r:id="rId12"/>
    <p:sldId id="389" r:id="rId13"/>
    <p:sldId id="382" r:id="rId14"/>
    <p:sldId id="375" r:id="rId15"/>
    <p:sldId id="378" r:id="rId16"/>
    <p:sldId id="377" r:id="rId17"/>
    <p:sldId id="386" r:id="rId18"/>
    <p:sldId id="381" r:id="rId19"/>
    <p:sldId id="388" r:id="rId20"/>
    <p:sldId id="379" r:id="rId21"/>
    <p:sldId id="384" r:id="rId22"/>
    <p:sldId id="387" r:id="rId23"/>
    <p:sldId id="380" r:id="rId24"/>
    <p:sldId id="385" r:id="rId25"/>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A18E"/>
    <a:srgbClr val="54667E"/>
    <a:srgbClr val="B5BA6C"/>
    <a:srgbClr val="30AC9F"/>
    <a:srgbClr val="7AD8CD"/>
    <a:srgbClr val="38BEAE"/>
    <a:srgbClr val="5DCFC1"/>
    <a:srgbClr val="4A5A6F"/>
    <a:srgbClr val="E06741"/>
    <a:srgbClr val="F9F9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4660"/>
  </p:normalViewPr>
  <p:slideViewPr>
    <p:cSldViewPr snapToGrid="0" showGuides="1">
      <p:cViewPr varScale="1">
        <p:scale>
          <a:sx n="81" d="100"/>
          <a:sy n="81" d="100"/>
        </p:scale>
        <p:origin x="72" y="2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gs" Target="tags/tag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E56F87-A81A-4EDE-81AE-3C76F245D5E1}" type="datetimeFigureOut">
              <a:rPr lang="zh-CN" altLang="en-US" smtClean="0"/>
              <a:t>2018/7/27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4DC7B0-EBAC-4569-9993-246641655C40}" type="slidenum">
              <a:rPr lang="zh-CN" altLang="en-US" smtClean="0"/>
              <a:t>‹#›</a:t>
            </a:fld>
            <a:endParaRPr lang="zh-CN" altLang="en-US"/>
          </a:p>
        </p:txBody>
      </p:sp>
    </p:spTree>
    <p:extLst>
      <p:ext uri="{BB962C8B-B14F-4D97-AF65-F5344CB8AC3E}">
        <p14:creationId xmlns:p14="http://schemas.microsoft.com/office/powerpoint/2010/main" val="24160025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4DC7B0-EBAC-4569-9993-246641655C40}" type="slidenum">
              <a:rPr lang="zh-CN" altLang="en-US" smtClean="0"/>
              <a:t>1</a:t>
            </a:fld>
            <a:endParaRPr lang="zh-CN" altLang="en-US"/>
          </a:p>
        </p:txBody>
      </p:sp>
    </p:spTree>
    <p:extLst>
      <p:ext uri="{BB962C8B-B14F-4D97-AF65-F5344CB8AC3E}">
        <p14:creationId xmlns:p14="http://schemas.microsoft.com/office/powerpoint/2010/main" val="1141127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4DC7B0-EBAC-4569-9993-246641655C40}" type="slidenum">
              <a:rPr lang="zh-CN" altLang="en-US" smtClean="0"/>
              <a:t>2</a:t>
            </a:fld>
            <a:endParaRPr lang="zh-CN" altLang="en-US"/>
          </a:p>
        </p:txBody>
      </p:sp>
    </p:spTree>
    <p:extLst>
      <p:ext uri="{BB962C8B-B14F-4D97-AF65-F5344CB8AC3E}">
        <p14:creationId xmlns:p14="http://schemas.microsoft.com/office/powerpoint/2010/main" val="2419616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2842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1107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26"/>
            <a:ext cx="10363200" cy="1470025"/>
          </a:xfrm>
        </p:spPr>
        <p:txBody>
          <a:bodyPr/>
          <a:lstStyle/>
          <a:p>
            <a:r>
              <a:rPr lang="zh-TW" altLang="en-US"/>
              <a:t>按一下以編輯母片標題樣式</a:t>
            </a:r>
          </a:p>
        </p:txBody>
      </p:sp>
      <p:sp>
        <p:nvSpPr>
          <p:cNvPr id="3" name="副標題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56EB3881-3AD9-4248-89BF-3585ADFDE6D3}" type="datetime1">
              <a:rPr lang="zh-TW" altLang="en-US" smtClean="0"/>
              <a:t>2018/7/27</a:t>
            </a:fld>
            <a:endParaRPr lang="zh-TW" altLang="en-US"/>
          </a:p>
        </p:txBody>
      </p:sp>
      <p:sp>
        <p:nvSpPr>
          <p:cNvPr id="5" name="頁尾版面配置區 4"/>
          <p:cNvSpPr>
            <a:spLocks noGrp="1"/>
          </p:cNvSpPr>
          <p:nvPr>
            <p:ph type="ftr" sz="quarter" idx="11"/>
          </p:nvPr>
        </p:nvSpPr>
        <p:spPr/>
        <p:txBody>
          <a:bodyPr/>
          <a:lstStyle/>
          <a:p>
            <a:r>
              <a:rPr lang="zh-TW" altLang="en-US"/>
              <a:t>區塊鏈商業應用概論 實例與分析／許孟祥 編著／新陸書局股份有限公司 發行</a:t>
            </a:r>
          </a:p>
        </p:txBody>
      </p:sp>
      <p:sp>
        <p:nvSpPr>
          <p:cNvPr id="6" name="投影片編號版面配置區 5"/>
          <p:cNvSpPr>
            <a:spLocks noGrp="1"/>
          </p:cNvSpPr>
          <p:nvPr>
            <p:ph type="sldNum" sz="quarter" idx="12"/>
          </p:nvPr>
        </p:nvSpPr>
        <p:spPr/>
        <p:txBody>
          <a:bodyPr/>
          <a:lstStyle/>
          <a:p>
            <a:fld id="{9F98A096-46F7-4F4A-8106-40B5A13C16D3}" type="slidenum">
              <a:rPr lang="zh-TW" altLang="en-US" smtClean="0"/>
              <a:t>‹#›</a:t>
            </a:fld>
            <a:endParaRPr lang="zh-TW" altLang="en-US"/>
          </a:p>
        </p:txBody>
      </p:sp>
    </p:spTree>
    <p:extLst>
      <p:ext uri="{BB962C8B-B14F-4D97-AF65-F5344CB8AC3E}">
        <p14:creationId xmlns:p14="http://schemas.microsoft.com/office/powerpoint/2010/main" val="42474287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05873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0" r:id="rId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5.jpe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17.jpe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18.jpeg"/><Relationship Id="rId5" Type="http://schemas.openxmlformats.org/officeDocument/2006/relationships/image" Target="../media/image16.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4.png"/><Relationship Id="rId7" Type="http://schemas.openxmlformats.org/officeDocument/2006/relationships/image" Target="../media/image22.jpe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3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jpe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3" cstate="print">
            <a:extLst>
              <a:ext uri="{28A0092B-C50C-407E-A947-70E740481C1C}">
                <a14:useLocalDpi xmlns:a14="http://schemas.microsoft.com/office/drawing/2010/main" val="0"/>
              </a:ext>
            </a:extLst>
          </a:blip>
          <a:srcRect l="3675" r="8038"/>
          <a:stretch/>
        </p:blipFill>
        <p:spPr>
          <a:xfrm>
            <a:off x="0" y="0"/>
            <a:ext cx="12192000" cy="6858000"/>
          </a:xfrm>
          <a:prstGeom prst="rect">
            <a:avLst/>
          </a:prstGeom>
        </p:spPr>
      </p:pic>
      <p:sp>
        <p:nvSpPr>
          <p:cNvPr id="7" name="文本框 6"/>
          <p:cNvSpPr txBox="1"/>
          <p:nvPr/>
        </p:nvSpPr>
        <p:spPr>
          <a:xfrm>
            <a:off x="2876355" y="2280980"/>
            <a:ext cx="5032147" cy="923330"/>
          </a:xfrm>
          <a:prstGeom prst="rect">
            <a:avLst/>
          </a:prstGeom>
          <a:noFill/>
        </p:spPr>
        <p:txBody>
          <a:bodyPr wrap="none" rtlCol="0">
            <a:spAutoFit/>
            <a:scene3d>
              <a:camera prst="orthographicFront"/>
              <a:lightRig rig="threePt" dir="t"/>
            </a:scene3d>
            <a:sp3d contourW="12700"/>
          </a:bodyPr>
          <a:lstStyle/>
          <a:p>
            <a:r>
              <a:rPr lang="zh-TW" altLang="en-US" sz="5400" b="1" dirty="0">
                <a:solidFill>
                  <a:schemeClr val="accent1"/>
                </a:solidFill>
              </a:rPr>
              <a:t>金融區塊鏈實務</a:t>
            </a:r>
          </a:p>
        </p:txBody>
      </p:sp>
      <p:sp>
        <p:nvSpPr>
          <p:cNvPr id="9" name="矩形 8"/>
          <p:cNvSpPr/>
          <p:nvPr/>
        </p:nvSpPr>
        <p:spPr>
          <a:xfrm>
            <a:off x="2876355" y="1678466"/>
            <a:ext cx="2220480" cy="523220"/>
          </a:xfrm>
          <a:prstGeom prst="rect">
            <a:avLst/>
          </a:prstGeom>
        </p:spPr>
        <p:txBody>
          <a:bodyPr wrap="none">
            <a:spAutoFit/>
            <a:scene3d>
              <a:camera prst="orthographicFront"/>
              <a:lightRig rig="threePt" dir="t"/>
            </a:scene3d>
            <a:sp3d contourW="12700"/>
          </a:bodyPr>
          <a:lstStyle/>
          <a:p>
            <a:r>
              <a:rPr lang="en-US" altLang="zh-CN" sz="2800" b="1" dirty="0">
                <a:solidFill>
                  <a:srgbClr val="4A5A6F"/>
                </a:solidFill>
              </a:rPr>
              <a:t>CHAPTER </a:t>
            </a:r>
            <a:r>
              <a:rPr lang="en-US" altLang="zh-TW" sz="2800" b="1" dirty="0">
                <a:solidFill>
                  <a:srgbClr val="4A5A6F"/>
                </a:solidFill>
              </a:rPr>
              <a:t>6</a:t>
            </a:r>
            <a:endParaRPr lang="zh-CN" altLang="en-US" sz="2800" b="1" dirty="0">
              <a:solidFill>
                <a:srgbClr val="4A5A6F"/>
              </a:solidFill>
            </a:endParaRPr>
          </a:p>
        </p:txBody>
      </p:sp>
      <p:sp>
        <p:nvSpPr>
          <p:cNvPr id="46" name="矩形 23"/>
          <p:cNvSpPr/>
          <p:nvPr/>
        </p:nvSpPr>
        <p:spPr>
          <a:xfrm>
            <a:off x="3329969" y="5032201"/>
            <a:ext cx="189597" cy="242711"/>
          </a:xfrm>
          <a:custGeom>
            <a:avLst/>
            <a:gdLst>
              <a:gd name="connsiteX0" fmla="*/ 11784 w 473070"/>
              <a:gd name="connsiteY0" fmla="*/ 563888 h 605592"/>
              <a:gd name="connsiteX1" fmla="*/ 461073 w 473070"/>
              <a:gd name="connsiteY1" fmla="*/ 563888 h 605592"/>
              <a:gd name="connsiteX2" fmla="*/ 461073 w 473070"/>
              <a:gd name="connsiteY2" fmla="*/ 605592 h 605592"/>
              <a:gd name="connsiteX3" fmla="*/ 11784 w 473070"/>
              <a:gd name="connsiteY3" fmla="*/ 605592 h 605592"/>
              <a:gd name="connsiteX4" fmla="*/ 11784 w 473070"/>
              <a:gd name="connsiteY4" fmla="*/ 500661 h 605592"/>
              <a:gd name="connsiteX5" fmla="*/ 461073 w 473070"/>
              <a:gd name="connsiteY5" fmla="*/ 500661 h 605592"/>
              <a:gd name="connsiteX6" fmla="*/ 461073 w 473070"/>
              <a:gd name="connsiteY6" fmla="*/ 542506 h 605592"/>
              <a:gd name="connsiteX7" fmla="*/ 11784 w 473070"/>
              <a:gd name="connsiteY7" fmla="*/ 542506 h 605592"/>
              <a:gd name="connsiteX8" fmla="*/ 365246 w 473070"/>
              <a:gd name="connsiteY8" fmla="*/ 196807 h 605592"/>
              <a:gd name="connsiteX9" fmla="*/ 407162 w 473070"/>
              <a:gd name="connsiteY9" fmla="*/ 196807 h 605592"/>
              <a:gd name="connsiteX10" fmla="*/ 407162 w 473070"/>
              <a:gd name="connsiteY10" fmla="*/ 467496 h 605592"/>
              <a:gd name="connsiteX11" fmla="*/ 365246 w 473070"/>
              <a:gd name="connsiteY11" fmla="*/ 467496 h 605592"/>
              <a:gd name="connsiteX12" fmla="*/ 215507 w 473070"/>
              <a:gd name="connsiteY12" fmla="*/ 196807 h 605592"/>
              <a:gd name="connsiteX13" fmla="*/ 257352 w 473070"/>
              <a:gd name="connsiteY13" fmla="*/ 196807 h 605592"/>
              <a:gd name="connsiteX14" fmla="*/ 257352 w 473070"/>
              <a:gd name="connsiteY14" fmla="*/ 467496 h 605592"/>
              <a:gd name="connsiteX15" fmla="*/ 215507 w 473070"/>
              <a:gd name="connsiteY15" fmla="*/ 467496 h 605592"/>
              <a:gd name="connsiteX16" fmla="*/ 65767 w 473070"/>
              <a:gd name="connsiteY16" fmla="*/ 196807 h 605592"/>
              <a:gd name="connsiteX17" fmla="*/ 107612 w 473070"/>
              <a:gd name="connsiteY17" fmla="*/ 196807 h 605592"/>
              <a:gd name="connsiteX18" fmla="*/ 107612 w 473070"/>
              <a:gd name="connsiteY18" fmla="*/ 467496 h 605592"/>
              <a:gd name="connsiteX19" fmla="*/ 65767 w 473070"/>
              <a:gd name="connsiteY19" fmla="*/ 467496 h 605592"/>
              <a:gd name="connsiteX20" fmla="*/ 236581 w 473070"/>
              <a:gd name="connsiteY20" fmla="*/ 0 h 605592"/>
              <a:gd name="connsiteX21" fmla="*/ 473070 w 473070"/>
              <a:gd name="connsiteY21" fmla="*/ 164833 h 605592"/>
              <a:gd name="connsiteX22" fmla="*/ 449115 w 473070"/>
              <a:gd name="connsiteY22" fmla="*/ 199135 h 605592"/>
              <a:gd name="connsiteX23" fmla="*/ 236303 w 473070"/>
              <a:gd name="connsiteY23" fmla="*/ 50711 h 605592"/>
              <a:gd name="connsiteX24" fmla="*/ 23491 w 473070"/>
              <a:gd name="connsiteY24" fmla="*/ 194963 h 605592"/>
              <a:gd name="connsiteX25" fmla="*/ 0 w 473070"/>
              <a:gd name="connsiteY25" fmla="*/ 160383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73070" h="605592">
                <a:moveTo>
                  <a:pt x="11784" y="563888"/>
                </a:moveTo>
                <a:lnTo>
                  <a:pt x="461073" y="563888"/>
                </a:lnTo>
                <a:lnTo>
                  <a:pt x="461073" y="605592"/>
                </a:lnTo>
                <a:lnTo>
                  <a:pt x="11784" y="605592"/>
                </a:lnTo>
                <a:close/>
                <a:moveTo>
                  <a:pt x="11784" y="500661"/>
                </a:moveTo>
                <a:lnTo>
                  <a:pt x="461073" y="500661"/>
                </a:lnTo>
                <a:lnTo>
                  <a:pt x="461073" y="542506"/>
                </a:lnTo>
                <a:lnTo>
                  <a:pt x="11784" y="542506"/>
                </a:lnTo>
                <a:close/>
                <a:moveTo>
                  <a:pt x="365246" y="196807"/>
                </a:moveTo>
                <a:lnTo>
                  <a:pt x="407162" y="196807"/>
                </a:lnTo>
                <a:lnTo>
                  <a:pt x="407162" y="467496"/>
                </a:lnTo>
                <a:lnTo>
                  <a:pt x="365246" y="467496"/>
                </a:lnTo>
                <a:close/>
                <a:moveTo>
                  <a:pt x="215507" y="196807"/>
                </a:moveTo>
                <a:lnTo>
                  <a:pt x="257352" y="196807"/>
                </a:lnTo>
                <a:lnTo>
                  <a:pt x="257352" y="467496"/>
                </a:lnTo>
                <a:lnTo>
                  <a:pt x="215507" y="467496"/>
                </a:lnTo>
                <a:close/>
                <a:moveTo>
                  <a:pt x="65767" y="196807"/>
                </a:moveTo>
                <a:lnTo>
                  <a:pt x="107612" y="196807"/>
                </a:lnTo>
                <a:lnTo>
                  <a:pt x="107612" y="467496"/>
                </a:lnTo>
                <a:lnTo>
                  <a:pt x="65767" y="467496"/>
                </a:lnTo>
                <a:close/>
                <a:moveTo>
                  <a:pt x="236581" y="0"/>
                </a:moveTo>
                <a:lnTo>
                  <a:pt x="473070" y="164833"/>
                </a:lnTo>
                <a:lnTo>
                  <a:pt x="449115" y="199135"/>
                </a:lnTo>
                <a:lnTo>
                  <a:pt x="236303" y="50711"/>
                </a:lnTo>
                <a:lnTo>
                  <a:pt x="23491" y="194963"/>
                </a:lnTo>
                <a:lnTo>
                  <a:pt x="0" y="16038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7" name="矩形 35"/>
          <p:cNvSpPr/>
          <p:nvPr/>
        </p:nvSpPr>
        <p:spPr>
          <a:xfrm>
            <a:off x="4863869" y="5032384"/>
            <a:ext cx="242711" cy="242344"/>
          </a:xfrm>
          <a:custGeom>
            <a:avLst/>
            <a:gdLst>
              <a:gd name="connsiteX0" fmla="*/ 303775 w 607639"/>
              <a:gd name="connsiteY0" fmla="*/ 525007 h 606722"/>
              <a:gd name="connsiteX1" fmla="*/ 315710 w 607639"/>
              <a:gd name="connsiteY1" fmla="*/ 536902 h 606722"/>
              <a:gd name="connsiteX2" fmla="*/ 315710 w 607639"/>
              <a:gd name="connsiteY2" fmla="*/ 552347 h 606722"/>
              <a:gd name="connsiteX3" fmla="*/ 303775 w 607639"/>
              <a:gd name="connsiteY3" fmla="*/ 564241 h 606722"/>
              <a:gd name="connsiteX4" fmla="*/ 291929 w 607639"/>
              <a:gd name="connsiteY4" fmla="*/ 552347 h 606722"/>
              <a:gd name="connsiteX5" fmla="*/ 291929 w 607639"/>
              <a:gd name="connsiteY5" fmla="*/ 536902 h 606722"/>
              <a:gd name="connsiteX6" fmla="*/ 303775 w 607639"/>
              <a:gd name="connsiteY6" fmla="*/ 525007 h 606722"/>
              <a:gd name="connsiteX7" fmla="*/ 429885 w 607639"/>
              <a:gd name="connsiteY7" fmla="*/ 509483 h 606722"/>
              <a:gd name="connsiteX8" fmla="*/ 441811 w 607639"/>
              <a:gd name="connsiteY8" fmla="*/ 521409 h 606722"/>
              <a:gd name="connsiteX9" fmla="*/ 429885 w 607639"/>
              <a:gd name="connsiteY9" fmla="*/ 533335 h 606722"/>
              <a:gd name="connsiteX10" fmla="*/ 417959 w 607639"/>
              <a:gd name="connsiteY10" fmla="*/ 521409 h 606722"/>
              <a:gd name="connsiteX11" fmla="*/ 429885 w 607639"/>
              <a:gd name="connsiteY11" fmla="*/ 509483 h 606722"/>
              <a:gd name="connsiteX12" fmla="*/ 177720 w 607639"/>
              <a:gd name="connsiteY12" fmla="*/ 509483 h 606722"/>
              <a:gd name="connsiteX13" fmla="*/ 189611 w 607639"/>
              <a:gd name="connsiteY13" fmla="*/ 521409 h 606722"/>
              <a:gd name="connsiteX14" fmla="*/ 177720 w 607639"/>
              <a:gd name="connsiteY14" fmla="*/ 533335 h 606722"/>
              <a:gd name="connsiteX15" fmla="*/ 165829 w 607639"/>
              <a:gd name="connsiteY15" fmla="*/ 521409 h 606722"/>
              <a:gd name="connsiteX16" fmla="*/ 177720 w 607639"/>
              <a:gd name="connsiteY16" fmla="*/ 509483 h 606722"/>
              <a:gd name="connsiteX17" fmla="*/ 522185 w 607639"/>
              <a:gd name="connsiteY17" fmla="*/ 417324 h 606722"/>
              <a:gd name="connsiteX18" fmla="*/ 534111 w 607639"/>
              <a:gd name="connsiteY18" fmla="*/ 429250 h 606722"/>
              <a:gd name="connsiteX19" fmla="*/ 522185 w 607639"/>
              <a:gd name="connsiteY19" fmla="*/ 441176 h 606722"/>
              <a:gd name="connsiteX20" fmla="*/ 510259 w 607639"/>
              <a:gd name="connsiteY20" fmla="*/ 429250 h 606722"/>
              <a:gd name="connsiteX21" fmla="*/ 522185 w 607639"/>
              <a:gd name="connsiteY21" fmla="*/ 417324 h 606722"/>
              <a:gd name="connsiteX22" fmla="*/ 85420 w 607639"/>
              <a:gd name="connsiteY22" fmla="*/ 417324 h 606722"/>
              <a:gd name="connsiteX23" fmla="*/ 97311 w 607639"/>
              <a:gd name="connsiteY23" fmla="*/ 429250 h 606722"/>
              <a:gd name="connsiteX24" fmla="*/ 85420 w 607639"/>
              <a:gd name="connsiteY24" fmla="*/ 441176 h 606722"/>
              <a:gd name="connsiteX25" fmla="*/ 73529 w 607639"/>
              <a:gd name="connsiteY25" fmla="*/ 429250 h 606722"/>
              <a:gd name="connsiteX26" fmla="*/ 85420 w 607639"/>
              <a:gd name="connsiteY26" fmla="*/ 417324 h 606722"/>
              <a:gd name="connsiteX27" fmla="*/ 537643 w 607639"/>
              <a:gd name="connsiteY27" fmla="*/ 291506 h 606722"/>
              <a:gd name="connsiteX28" fmla="*/ 555628 w 607639"/>
              <a:gd name="connsiteY28" fmla="*/ 291506 h 606722"/>
              <a:gd name="connsiteX29" fmla="*/ 567558 w 607639"/>
              <a:gd name="connsiteY29" fmla="*/ 303316 h 606722"/>
              <a:gd name="connsiteX30" fmla="*/ 555628 w 607639"/>
              <a:gd name="connsiteY30" fmla="*/ 315216 h 606722"/>
              <a:gd name="connsiteX31" fmla="*/ 537643 w 607639"/>
              <a:gd name="connsiteY31" fmla="*/ 315216 h 606722"/>
              <a:gd name="connsiteX32" fmla="*/ 525713 w 607639"/>
              <a:gd name="connsiteY32" fmla="*/ 303316 h 606722"/>
              <a:gd name="connsiteX33" fmla="*/ 537643 w 607639"/>
              <a:gd name="connsiteY33" fmla="*/ 291506 h 606722"/>
              <a:gd name="connsiteX34" fmla="*/ 51991 w 607639"/>
              <a:gd name="connsiteY34" fmla="*/ 291506 h 606722"/>
              <a:gd name="connsiteX35" fmla="*/ 69946 w 607639"/>
              <a:gd name="connsiteY35" fmla="*/ 291506 h 606722"/>
              <a:gd name="connsiteX36" fmla="*/ 81856 w 607639"/>
              <a:gd name="connsiteY36" fmla="*/ 303316 h 606722"/>
              <a:gd name="connsiteX37" fmla="*/ 69946 w 607639"/>
              <a:gd name="connsiteY37" fmla="*/ 315216 h 606722"/>
              <a:gd name="connsiteX38" fmla="*/ 51991 w 607639"/>
              <a:gd name="connsiteY38" fmla="*/ 315216 h 606722"/>
              <a:gd name="connsiteX39" fmla="*/ 40081 w 607639"/>
              <a:gd name="connsiteY39" fmla="*/ 303316 h 606722"/>
              <a:gd name="connsiteX40" fmla="*/ 51991 w 607639"/>
              <a:gd name="connsiteY40" fmla="*/ 291506 h 606722"/>
              <a:gd name="connsiteX41" fmla="*/ 412608 w 607639"/>
              <a:gd name="connsiteY41" fmla="*/ 222096 h 606722"/>
              <a:gd name="connsiteX42" fmla="*/ 345491 w 607639"/>
              <a:gd name="connsiteY42" fmla="*/ 334245 h 606722"/>
              <a:gd name="connsiteX43" fmla="*/ 412608 w 607639"/>
              <a:gd name="connsiteY43" fmla="*/ 334245 h 606722"/>
              <a:gd name="connsiteX44" fmla="*/ 427651 w 607639"/>
              <a:gd name="connsiteY44" fmla="*/ 167533 h 606722"/>
              <a:gd name="connsiteX45" fmla="*/ 436375 w 607639"/>
              <a:gd name="connsiteY45" fmla="*/ 178996 h 606722"/>
              <a:gd name="connsiteX46" fmla="*/ 436375 w 607639"/>
              <a:gd name="connsiteY46" fmla="*/ 334245 h 606722"/>
              <a:gd name="connsiteX47" fmla="*/ 469399 w 607639"/>
              <a:gd name="connsiteY47" fmla="*/ 334245 h 606722"/>
              <a:gd name="connsiteX48" fmla="*/ 481327 w 607639"/>
              <a:gd name="connsiteY48" fmla="*/ 346153 h 606722"/>
              <a:gd name="connsiteX49" fmla="*/ 469399 w 607639"/>
              <a:gd name="connsiteY49" fmla="*/ 357973 h 606722"/>
              <a:gd name="connsiteX50" fmla="*/ 436375 w 607639"/>
              <a:gd name="connsiteY50" fmla="*/ 357973 h 606722"/>
              <a:gd name="connsiteX51" fmla="*/ 436375 w 607639"/>
              <a:gd name="connsiteY51" fmla="*/ 427733 h 606722"/>
              <a:gd name="connsiteX52" fmla="*/ 424536 w 607639"/>
              <a:gd name="connsiteY52" fmla="*/ 439552 h 606722"/>
              <a:gd name="connsiteX53" fmla="*/ 412608 w 607639"/>
              <a:gd name="connsiteY53" fmla="*/ 427733 h 606722"/>
              <a:gd name="connsiteX54" fmla="*/ 412608 w 607639"/>
              <a:gd name="connsiteY54" fmla="*/ 357973 h 606722"/>
              <a:gd name="connsiteX55" fmla="*/ 324573 w 607639"/>
              <a:gd name="connsiteY55" fmla="*/ 357973 h 606722"/>
              <a:gd name="connsiteX56" fmla="*/ 314158 w 607639"/>
              <a:gd name="connsiteY56" fmla="*/ 352019 h 606722"/>
              <a:gd name="connsiteX57" fmla="*/ 314336 w 607639"/>
              <a:gd name="connsiteY57" fmla="*/ 340022 h 606722"/>
              <a:gd name="connsiteX58" fmla="*/ 414299 w 607639"/>
              <a:gd name="connsiteY58" fmla="*/ 172953 h 606722"/>
              <a:gd name="connsiteX59" fmla="*/ 427651 w 607639"/>
              <a:gd name="connsiteY59" fmla="*/ 167533 h 606722"/>
              <a:gd name="connsiteX60" fmla="*/ 216270 w 607639"/>
              <a:gd name="connsiteY60" fmla="*/ 167099 h 606722"/>
              <a:gd name="connsiteX61" fmla="*/ 290518 w 607639"/>
              <a:gd name="connsiteY61" fmla="*/ 241210 h 606722"/>
              <a:gd name="connsiteX62" fmla="*/ 242978 w 607639"/>
              <a:gd name="connsiteY62" fmla="*/ 355754 h 606722"/>
              <a:gd name="connsiteX63" fmla="*/ 182707 w 607639"/>
              <a:gd name="connsiteY63" fmla="*/ 415825 h 606722"/>
              <a:gd name="connsiteX64" fmla="*/ 278588 w 607639"/>
              <a:gd name="connsiteY64" fmla="*/ 415825 h 606722"/>
              <a:gd name="connsiteX65" fmla="*/ 290518 w 607639"/>
              <a:gd name="connsiteY65" fmla="*/ 427734 h 606722"/>
              <a:gd name="connsiteX66" fmla="*/ 278588 w 607639"/>
              <a:gd name="connsiteY66" fmla="*/ 439552 h 606722"/>
              <a:gd name="connsiteX67" fmla="*/ 154040 w 607639"/>
              <a:gd name="connsiteY67" fmla="*/ 439552 h 606722"/>
              <a:gd name="connsiteX68" fmla="*/ 143001 w 607639"/>
              <a:gd name="connsiteY68" fmla="*/ 432265 h 606722"/>
              <a:gd name="connsiteX69" fmla="*/ 145582 w 607639"/>
              <a:gd name="connsiteY69" fmla="*/ 419292 h 606722"/>
              <a:gd name="connsiteX70" fmla="*/ 226152 w 607639"/>
              <a:gd name="connsiteY70" fmla="*/ 338959 h 606722"/>
              <a:gd name="connsiteX71" fmla="*/ 266659 w 607639"/>
              <a:gd name="connsiteY71" fmla="*/ 241210 h 606722"/>
              <a:gd name="connsiteX72" fmla="*/ 216270 w 607639"/>
              <a:gd name="connsiteY72" fmla="*/ 190914 h 606722"/>
              <a:gd name="connsiteX73" fmla="*/ 165880 w 607639"/>
              <a:gd name="connsiteY73" fmla="*/ 241210 h 606722"/>
              <a:gd name="connsiteX74" fmla="*/ 154040 w 607639"/>
              <a:gd name="connsiteY74" fmla="*/ 253029 h 606722"/>
              <a:gd name="connsiteX75" fmla="*/ 142110 w 607639"/>
              <a:gd name="connsiteY75" fmla="*/ 241210 h 606722"/>
              <a:gd name="connsiteX76" fmla="*/ 216270 w 607639"/>
              <a:gd name="connsiteY76" fmla="*/ 167099 h 606722"/>
              <a:gd name="connsiteX77" fmla="*/ 522185 w 607639"/>
              <a:gd name="connsiteY77" fmla="*/ 165547 h 606722"/>
              <a:gd name="connsiteX78" fmla="*/ 534111 w 607639"/>
              <a:gd name="connsiteY78" fmla="*/ 177438 h 606722"/>
              <a:gd name="connsiteX79" fmla="*/ 522185 w 607639"/>
              <a:gd name="connsiteY79" fmla="*/ 189329 h 606722"/>
              <a:gd name="connsiteX80" fmla="*/ 510259 w 607639"/>
              <a:gd name="connsiteY80" fmla="*/ 177438 h 606722"/>
              <a:gd name="connsiteX81" fmla="*/ 522185 w 607639"/>
              <a:gd name="connsiteY81" fmla="*/ 165547 h 606722"/>
              <a:gd name="connsiteX82" fmla="*/ 85420 w 607639"/>
              <a:gd name="connsiteY82" fmla="*/ 165547 h 606722"/>
              <a:gd name="connsiteX83" fmla="*/ 97311 w 607639"/>
              <a:gd name="connsiteY83" fmla="*/ 177438 h 606722"/>
              <a:gd name="connsiteX84" fmla="*/ 85420 w 607639"/>
              <a:gd name="connsiteY84" fmla="*/ 189329 h 606722"/>
              <a:gd name="connsiteX85" fmla="*/ 73529 w 607639"/>
              <a:gd name="connsiteY85" fmla="*/ 177438 h 606722"/>
              <a:gd name="connsiteX86" fmla="*/ 85420 w 607639"/>
              <a:gd name="connsiteY86" fmla="*/ 165547 h 606722"/>
              <a:gd name="connsiteX87" fmla="*/ 429885 w 607639"/>
              <a:gd name="connsiteY87" fmla="*/ 73388 h 606722"/>
              <a:gd name="connsiteX88" fmla="*/ 441811 w 607639"/>
              <a:gd name="connsiteY88" fmla="*/ 85279 h 606722"/>
              <a:gd name="connsiteX89" fmla="*/ 429885 w 607639"/>
              <a:gd name="connsiteY89" fmla="*/ 97170 h 606722"/>
              <a:gd name="connsiteX90" fmla="*/ 417959 w 607639"/>
              <a:gd name="connsiteY90" fmla="*/ 85279 h 606722"/>
              <a:gd name="connsiteX91" fmla="*/ 429885 w 607639"/>
              <a:gd name="connsiteY91" fmla="*/ 73388 h 606722"/>
              <a:gd name="connsiteX92" fmla="*/ 177720 w 607639"/>
              <a:gd name="connsiteY92" fmla="*/ 73388 h 606722"/>
              <a:gd name="connsiteX93" fmla="*/ 189611 w 607639"/>
              <a:gd name="connsiteY93" fmla="*/ 85279 h 606722"/>
              <a:gd name="connsiteX94" fmla="*/ 177720 w 607639"/>
              <a:gd name="connsiteY94" fmla="*/ 97170 h 606722"/>
              <a:gd name="connsiteX95" fmla="*/ 165829 w 607639"/>
              <a:gd name="connsiteY95" fmla="*/ 85279 h 606722"/>
              <a:gd name="connsiteX96" fmla="*/ 177720 w 607639"/>
              <a:gd name="connsiteY96" fmla="*/ 73388 h 606722"/>
              <a:gd name="connsiteX97" fmla="*/ 303775 w 607639"/>
              <a:gd name="connsiteY97" fmla="*/ 42480 h 606722"/>
              <a:gd name="connsiteX98" fmla="*/ 315710 w 607639"/>
              <a:gd name="connsiteY98" fmla="*/ 54396 h 606722"/>
              <a:gd name="connsiteX99" fmla="*/ 315710 w 607639"/>
              <a:gd name="connsiteY99" fmla="*/ 69869 h 606722"/>
              <a:gd name="connsiteX100" fmla="*/ 303775 w 607639"/>
              <a:gd name="connsiteY100" fmla="*/ 81785 h 606722"/>
              <a:gd name="connsiteX101" fmla="*/ 291929 w 607639"/>
              <a:gd name="connsiteY101" fmla="*/ 69869 h 606722"/>
              <a:gd name="connsiteX102" fmla="*/ 291929 w 607639"/>
              <a:gd name="connsiteY102" fmla="*/ 54396 h 606722"/>
              <a:gd name="connsiteX103" fmla="*/ 303775 w 607639"/>
              <a:gd name="connsiteY103" fmla="*/ 42480 h 606722"/>
              <a:gd name="connsiteX104" fmla="*/ 303775 w 607639"/>
              <a:gd name="connsiteY104" fmla="*/ 0 h 606722"/>
              <a:gd name="connsiteX105" fmla="*/ 537058 w 607639"/>
              <a:gd name="connsiteY105" fmla="*/ 108956 h 606722"/>
              <a:gd name="connsiteX106" fmla="*/ 537058 w 607639"/>
              <a:gd name="connsiteY106" fmla="*/ 93048 h 606722"/>
              <a:gd name="connsiteX107" fmla="*/ 548895 w 607639"/>
              <a:gd name="connsiteY107" fmla="*/ 81139 h 606722"/>
              <a:gd name="connsiteX108" fmla="*/ 560822 w 607639"/>
              <a:gd name="connsiteY108" fmla="*/ 93048 h 606722"/>
              <a:gd name="connsiteX109" fmla="*/ 560822 w 607639"/>
              <a:gd name="connsiteY109" fmla="*/ 138994 h 606722"/>
              <a:gd name="connsiteX110" fmla="*/ 548895 w 607639"/>
              <a:gd name="connsiteY110" fmla="*/ 150903 h 606722"/>
              <a:gd name="connsiteX111" fmla="*/ 502880 w 607639"/>
              <a:gd name="connsiteY111" fmla="*/ 150903 h 606722"/>
              <a:gd name="connsiteX112" fmla="*/ 490953 w 607639"/>
              <a:gd name="connsiteY112" fmla="*/ 138994 h 606722"/>
              <a:gd name="connsiteX113" fmla="*/ 502880 w 607639"/>
              <a:gd name="connsiteY113" fmla="*/ 127174 h 606722"/>
              <a:gd name="connsiteX114" fmla="*/ 521126 w 607639"/>
              <a:gd name="connsiteY114" fmla="*/ 127174 h 606722"/>
              <a:gd name="connsiteX115" fmla="*/ 303775 w 607639"/>
              <a:gd name="connsiteY115" fmla="*/ 23728 h 606722"/>
              <a:gd name="connsiteX116" fmla="*/ 23764 w 607639"/>
              <a:gd name="connsiteY116" fmla="*/ 303316 h 606722"/>
              <a:gd name="connsiteX117" fmla="*/ 303775 w 607639"/>
              <a:gd name="connsiteY117" fmla="*/ 582905 h 606722"/>
              <a:gd name="connsiteX118" fmla="*/ 583786 w 607639"/>
              <a:gd name="connsiteY118" fmla="*/ 303316 h 606722"/>
              <a:gd name="connsiteX119" fmla="*/ 573906 w 607639"/>
              <a:gd name="connsiteY119" fmla="*/ 229376 h 606722"/>
              <a:gd name="connsiteX120" fmla="*/ 582273 w 607639"/>
              <a:gd name="connsiteY120" fmla="*/ 214801 h 606722"/>
              <a:gd name="connsiteX121" fmla="*/ 596869 w 607639"/>
              <a:gd name="connsiteY121" fmla="*/ 223066 h 606722"/>
              <a:gd name="connsiteX122" fmla="*/ 607639 w 607639"/>
              <a:gd name="connsiteY122" fmla="*/ 303316 h 606722"/>
              <a:gd name="connsiteX123" fmla="*/ 303775 w 607639"/>
              <a:gd name="connsiteY123" fmla="*/ 606722 h 606722"/>
              <a:gd name="connsiteX124" fmla="*/ 0 w 607639"/>
              <a:gd name="connsiteY124" fmla="*/ 303316 h 606722"/>
              <a:gd name="connsiteX125" fmla="*/ 303775 w 607639"/>
              <a:gd name="connsiteY125"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607639" h="606722">
                <a:moveTo>
                  <a:pt x="303775" y="525007"/>
                </a:moveTo>
                <a:cubicBezTo>
                  <a:pt x="310366" y="525007"/>
                  <a:pt x="315710" y="530333"/>
                  <a:pt x="315710" y="536902"/>
                </a:cubicBezTo>
                <a:lnTo>
                  <a:pt x="315710" y="552347"/>
                </a:lnTo>
                <a:cubicBezTo>
                  <a:pt x="315710" y="558915"/>
                  <a:pt x="310366" y="564241"/>
                  <a:pt x="303775" y="564241"/>
                </a:cubicBezTo>
                <a:cubicBezTo>
                  <a:pt x="297184" y="564241"/>
                  <a:pt x="291929" y="558915"/>
                  <a:pt x="291929" y="552347"/>
                </a:cubicBezTo>
                <a:lnTo>
                  <a:pt x="291929" y="536902"/>
                </a:lnTo>
                <a:cubicBezTo>
                  <a:pt x="291929" y="530333"/>
                  <a:pt x="297184" y="525007"/>
                  <a:pt x="303775" y="525007"/>
                </a:cubicBezTo>
                <a:close/>
                <a:moveTo>
                  <a:pt x="429885" y="509483"/>
                </a:moveTo>
                <a:cubicBezTo>
                  <a:pt x="436472" y="509483"/>
                  <a:pt x="441811" y="514822"/>
                  <a:pt x="441811" y="521409"/>
                </a:cubicBezTo>
                <a:cubicBezTo>
                  <a:pt x="441811" y="527996"/>
                  <a:pt x="436472" y="533335"/>
                  <a:pt x="429885" y="533335"/>
                </a:cubicBezTo>
                <a:cubicBezTo>
                  <a:pt x="423298" y="533335"/>
                  <a:pt x="417959" y="527996"/>
                  <a:pt x="417959" y="521409"/>
                </a:cubicBezTo>
                <a:cubicBezTo>
                  <a:pt x="417959" y="514822"/>
                  <a:pt x="423298" y="509483"/>
                  <a:pt x="429885" y="509483"/>
                </a:cubicBezTo>
                <a:close/>
                <a:moveTo>
                  <a:pt x="177720" y="509483"/>
                </a:moveTo>
                <a:cubicBezTo>
                  <a:pt x="184287" y="509483"/>
                  <a:pt x="189611" y="514822"/>
                  <a:pt x="189611" y="521409"/>
                </a:cubicBezTo>
                <a:cubicBezTo>
                  <a:pt x="189611" y="527996"/>
                  <a:pt x="184287" y="533335"/>
                  <a:pt x="177720" y="533335"/>
                </a:cubicBezTo>
                <a:cubicBezTo>
                  <a:pt x="171153" y="533335"/>
                  <a:pt x="165829" y="527996"/>
                  <a:pt x="165829" y="521409"/>
                </a:cubicBezTo>
                <a:cubicBezTo>
                  <a:pt x="165829" y="514822"/>
                  <a:pt x="171153" y="509483"/>
                  <a:pt x="177720" y="509483"/>
                </a:cubicBezTo>
                <a:close/>
                <a:moveTo>
                  <a:pt x="522185" y="417324"/>
                </a:moveTo>
                <a:cubicBezTo>
                  <a:pt x="528772" y="417324"/>
                  <a:pt x="534111" y="422663"/>
                  <a:pt x="534111" y="429250"/>
                </a:cubicBezTo>
                <a:cubicBezTo>
                  <a:pt x="534111" y="435837"/>
                  <a:pt x="528772" y="441176"/>
                  <a:pt x="522185" y="441176"/>
                </a:cubicBezTo>
                <a:cubicBezTo>
                  <a:pt x="515598" y="441176"/>
                  <a:pt x="510259" y="435837"/>
                  <a:pt x="510259" y="429250"/>
                </a:cubicBezTo>
                <a:cubicBezTo>
                  <a:pt x="510259" y="422663"/>
                  <a:pt x="515598" y="417324"/>
                  <a:pt x="522185" y="417324"/>
                </a:cubicBezTo>
                <a:close/>
                <a:moveTo>
                  <a:pt x="85420" y="417324"/>
                </a:moveTo>
                <a:cubicBezTo>
                  <a:pt x="91987" y="417324"/>
                  <a:pt x="97311" y="422663"/>
                  <a:pt x="97311" y="429250"/>
                </a:cubicBezTo>
                <a:cubicBezTo>
                  <a:pt x="97311" y="435837"/>
                  <a:pt x="91987" y="441176"/>
                  <a:pt x="85420" y="441176"/>
                </a:cubicBezTo>
                <a:cubicBezTo>
                  <a:pt x="78853" y="441176"/>
                  <a:pt x="73529" y="435837"/>
                  <a:pt x="73529" y="429250"/>
                </a:cubicBezTo>
                <a:cubicBezTo>
                  <a:pt x="73529" y="422663"/>
                  <a:pt x="78853" y="417324"/>
                  <a:pt x="85420" y="417324"/>
                </a:cubicBezTo>
                <a:close/>
                <a:moveTo>
                  <a:pt x="537643" y="291506"/>
                </a:moveTo>
                <a:lnTo>
                  <a:pt x="555628" y="291506"/>
                </a:lnTo>
                <a:cubicBezTo>
                  <a:pt x="562216" y="291506"/>
                  <a:pt x="567558" y="296745"/>
                  <a:pt x="567558" y="303316"/>
                </a:cubicBezTo>
                <a:cubicBezTo>
                  <a:pt x="567558" y="309888"/>
                  <a:pt x="562216" y="315216"/>
                  <a:pt x="555628" y="315216"/>
                </a:cubicBezTo>
                <a:lnTo>
                  <a:pt x="537643" y="315216"/>
                </a:lnTo>
                <a:cubicBezTo>
                  <a:pt x="531055" y="315216"/>
                  <a:pt x="525713" y="309888"/>
                  <a:pt x="525713" y="303316"/>
                </a:cubicBezTo>
                <a:cubicBezTo>
                  <a:pt x="525713" y="296745"/>
                  <a:pt x="531055" y="291506"/>
                  <a:pt x="537643" y="291506"/>
                </a:cubicBezTo>
                <a:close/>
                <a:moveTo>
                  <a:pt x="51991" y="291506"/>
                </a:moveTo>
                <a:lnTo>
                  <a:pt x="69946" y="291506"/>
                </a:lnTo>
                <a:cubicBezTo>
                  <a:pt x="76523" y="291506"/>
                  <a:pt x="81856" y="296745"/>
                  <a:pt x="81856" y="303316"/>
                </a:cubicBezTo>
                <a:cubicBezTo>
                  <a:pt x="81856" y="309888"/>
                  <a:pt x="76523" y="315216"/>
                  <a:pt x="69946" y="315216"/>
                </a:cubicBezTo>
                <a:lnTo>
                  <a:pt x="51991" y="315216"/>
                </a:lnTo>
                <a:cubicBezTo>
                  <a:pt x="45414" y="315216"/>
                  <a:pt x="40081" y="309888"/>
                  <a:pt x="40081" y="303316"/>
                </a:cubicBezTo>
                <a:cubicBezTo>
                  <a:pt x="40081" y="296745"/>
                  <a:pt x="45414" y="291506"/>
                  <a:pt x="51991" y="291506"/>
                </a:cubicBezTo>
                <a:close/>
                <a:moveTo>
                  <a:pt x="412608" y="222096"/>
                </a:moveTo>
                <a:lnTo>
                  <a:pt x="345491" y="334245"/>
                </a:lnTo>
                <a:lnTo>
                  <a:pt x="412608" y="334245"/>
                </a:lnTo>
                <a:close/>
                <a:moveTo>
                  <a:pt x="427651" y="167533"/>
                </a:moveTo>
                <a:cubicBezTo>
                  <a:pt x="432814" y="168954"/>
                  <a:pt x="436375" y="173664"/>
                  <a:pt x="436375" y="178996"/>
                </a:cubicBezTo>
                <a:lnTo>
                  <a:pt x="436375" y="334245"/>
                </a:lnTo>
                <a:lnTo>
                  <a:pt x="469399" y="334245"/>
                </a:lnTo>
                <a:cubicBezTo>
                  <a:pt x="475986" y="334245"/>
                  <a:pt x="481327" y="339577"/>
                  <a:pt x="481327" y="346153"/>
                </a:cubicBezTo>
                <a:cubicBezTo>
                  <a:pt x="481327" y="352641"/>
                  <a:pt x="475986" y="357973"/>
                  <a:pt x="469399" y="357973"/>
                </a:cubicBezTo>
                <a:lnTo>
                  <a:pt x="436375" y="357973"/>
                </a:lnTo>
                <a:lnTo>
                  <a:pt x="436375" y="427733"/>
                </a:lnTo>
                <a:cubicBezTo>
                  <a:pt x="436375" y="434220"/>
                  <a:pt x="431123" y="439552"/>
                  <a:pt x="424536" y="439552"/>
                </a:cubicBezTo>
                <a:cubicBezTo>
                  <a:pt x="417949" y="439552"/>
                  <a:pt x="412608" y="434220"/>
                  <a:pt x="412608" y="427733"/>
                </a:cubicBezTo>
                <a:lnTo>
                  <a:pt x="412608" y="357973"/>
                </a:lnTo>
                <a:lnTo>
                  <a:pt x="324573" y="357973"/>
                </a:lnTo>
                <a:cubicBezTo>
                  <a:pt x="320300" y="357973"/>
                  <a:pt x="316295" y="355662"/>
                  <a:pt x="314158" y="352019"/>
                </a:cubicBezTo>
                <a:cubicBezTo>
                  <a:pt x="312111" y="348286"/>
                  <a:pt x="312111" y="343665"/>
                  <a:pt x="314336" y="340022"/>
                </a:cubicBezTo>
                <a:lnTo>
                  <a:pt x="414299" y="172953"/>
                </a:lnTo>
                <a:cubicBezTo>
                  <a:pt x="417059" y="168332"/>
                  <a:pt x="422489" y="166111"/>
                  <a:pt x="427651" y="167533"/>
                </a:cubicBezTo>
                <a:close/>
                <a:moveTo>
                  <a:pt x="216270" y="167099"/>
                </a:moveTo>
                <a:cubicBezTo>
                  <a:pt x="257222" y="167099"/>
                  <a:pt x="290518" y="200333"/>
                  <a:pt x="290518" y="241210"/>
                </a:cubicBezTo>
                <a:cubicBezTo>
                  <a:pt x="290518" y="284486"/>
                  <a:pt x="273603" y="325097"/>
                  <a:pt x="242978" y="355754"/>
                </a:cubicBezTo>
                <a:lnTo>
                  <a:pt x="182707" y="415825"/>
                </a:lnTo>
                <a:lnTo>
                  <a:pt x="278588" y="415825"/>
                </a:lnTo>
                <a:cubicBezTo>
                  <a:pt x="285176" y="415825"/>
                  <a:pt x="290518" y="421158"/>
                  <a:pt x="290518" y="427734"/>
                </a:cubicBezTo>
                <a:cubicBezTo>
                  <a:pt x="290518" y="434220"/>
                  <a:pt x="285176" y="439552"/>
                  <a:pt x="278588" y="439552"/>
                </a:cubicBezTo>
                <a:lnTo>
                  <a:pt x="154040" y="439552"/>
                </a:lnTo>
                <a:cubicBezTo>
                  <a:pt x="149232" y="439552"/>
                  <a:pt x="144870" y="436709"/>
                  <a:pt x="143001" y="432265"/>
                </a:cubicBezTo>
                <a:cubicBezTo>
                  <a:pt x="141131" y="427822"/>
                  <a:pt x="142199" y="422668"/>
                  <a:pt x="145582" y="419292"/>
                </a:cubicBezTo>
                <a:lnTo>
                  <a:pt x="226152" y="338959"/>
                </a:lnTo>
                <a:cubicBezTo>
                  <a:pt x="252236" y="312834"/>
                  <a:pt x="266659" y="278088"/>
                  <a:pt x="266659" y="241210"/>
                </a:cubicBezTo>
                <a:cubicBezTo>
                  <a:pt x="266659" y="213485"/>
                  <a:pt x="244046" y="190914"/>
                  <a:pt x="216270" y="190914"/>
                </a:cubicBezTo>
                <a:cubicBezTo>
                  <a:pt x="188493" y="190914"/>
                  <a:pt x="165880" y="213485"/>
                  <a:pt x="165880" y="241210"/>
                </a:cubicBezTo>
                <a:cubicBezTo>
                  <a:pt x="165880" y="247786"/>
                  <a:pt x="160539" y="253029"/>
                  <a:pt x="154040" y="253029"/>
                </a:cubicBezTo>
                <a:cubicBezTo>
                  <a:pt x="147452" y="253029"/>
                  <a:pt x="142110" y="247786"/>
                  <a:pt x="142110" y="241210"/>
                </a:cubicBezTo>
                <a:cubicBezTo>
                  <a:pt x="142110" y="200333"/>
                  <a:pt x="175406" y="167099"/>
                  <a:pt x="216270" y="167099"/>
                </a:cubicBezTo>
                <a:close/>
                <a:moveTo>
                  <a:pt x="522185" y="165547"/>
                </a:moveTo>
                <a:cubicBezTo>
                  <a:pt x="528772" y="165547"/>
                  <a:pt x="534111" y="170871"/>
                  <a:pt x="534111" y="177438"/>
                </a:cubicBezTo>
                <a:cubicBezTo>
                  <a:pt x="534111" y="184005"/>
                  <a:pt x="528772" y="189329"/>
                  <a:pt x="522185" y="189329"/>
                </a:cubicBezTo>
                <a:cubicBezTo>
                  <a:pt x="515598" y="189329"/>
                  <a:pt x="510259" y="184005"/>
                  <a:pt x="510259" y="177438"/>
                </a:cubicBezTo>
                <a:cubicBezTo>
                  <a:pt x="510259" y="170871"/>
                  <a:pt x="515598" y="165547"/>
                  <a:pt x="522185" y="165547"/>
                </a:cubicBezTo>
                <a:close/>
                <a:moveTo>
                  <a:pt x="85420" y="165547"/>
                </a:moveTo>
                <a:cubicBezTo>
                  <a:pt x="91987" y="165547"/>
                  <a:pt x="97311" y="170871"/>
                  <a:pt x="97311" y="177438"/>
                </a:cubicBezTo>
                <a:cubicBezTo>
                  <a:pt x="97311" y="184005"/>
                  <a:pt x="91987" y="189329"/>
                  <a:pt x="85420" y="189329"/>
                </a:cubicBezTo>
                <a:cubicBezTo>
                  <a:pt x="78853" y="189329"/>
                  <a:pt x="73529" y="184005"/>
                  <a:pt x="73529" y="177438"/>
                </a:cubicBezTo>
                <a:cubicBezTo>
                  <a:pt x="73529" y="170871"/>
                  <a:pt x="78853" y="165547"/>
                  <a:pt x="85420" y="165547"/>
                </a:cubicBezTo>
                <a:close/>
                <a:moveTo>
                  <a:pt x="429885" y="73388"/>
                </a:moveTo>
                <a:cubicBezTo>
                  <a:pt x="436472" y="73388"/>
                  <a:pt x="441811" y="78712"/>
                  <a:pt x="441811" y="85279"/>
                </a:cubicBezTo>
                <a:cubicBezTo>
                  <a:pt x="441811" y="91846"/>
                  <a:pt x="436472" y="97170"/>
                  <a:pt x="429885" y="97170"/>
                </a:cubicBezTo>
                <a:cubicBezTo>
                  <a:pt x="423298" y="97170"/>
                  <a:pt x="417959" y="91846"/>
                  <a:pt x="417959" y="85279"/>
                </a:cubicBezTo>
                <a:cubicBezTo>
                  <a:pt x="417959" y="78712"/>
                  <a:pt x="423298" y="73388"/>
                  <a:pt x="429885" y="73388"/>
                </a:cubicBezTo>
                <a:close/>
                <a:moveTo>
                  <a:pt x="177720" y="73388"/>
                </a:moveTo>
                <a:cubicBezTo>
                  <a:pt x="184287" y="73388"/>
                  <a:pt x="189611" y="78712"/>
                  <a:pt x="189611" y="85279"/>
                </a:cubicBezTo>
                <a:cubicBezTo>
                  <a:pt x="189611" y="91846"/>
                  <a:pt x="184287" y="97170"/>
                  <a:pt x="177720" y="97170"/>
                </a:cubicBezTo>
                <a:cubicBezTo>
                  <a:pt x="171153" y="97170"/>
                  <a:pt x="165829" y="91846"/>
                  <a:pt x="165829" y="85279"/>
                </a:cubicBezTo>
                <a:cubicBezTo>
                  <a:pt x="165829" y="78712"/>
                  <a:pt x="171153" y="73388"/>
                  <a:pt x="177720" y="73388"/>
                </a:cubicBezTo>
                <a:close/>
                <a:moveTo>
                  <a:pt x="303775" y="42480"/>
                </a:moveTo>
                <a:cubicBezTo>
                  <a:pt x="310366" y="42480"/>
                  <a:pt x="315710" y="47815"/>
                  <a:pt x="315710" y="54396"/>
                </a:cubicBezTo>
                <a:lnTo>
                  <a:pt x="315710" y="69869"/>
                </a:lnTo>
                <a:cubicBezTo>
                  <a:pt x="315710" y="76449"/>
                  <a:pt x="310366" y="81785"/>
                  <a:pt x="303775" y="81785"/>
                </a:cubicBezTo>
                <a:cubicBezTo>
                  <a:pt x="297184" y="81785"/>
                  <a:pt x="291929" y="76449"/>
                  <a:pt x="291929" y="69869"/>
                </a:cubicBezTo>
                <a:lnTo>
                  <a:pt x="291929" y="54396"/>
                </a:lnTo>
                <a:cubicBezTo>
                  <a:pt x="291929" y="47815"/>
                  <a:pt x="297184" y="42480"/>
                  <a:pt x="303775" y="42480"/>
                </a:cubicBezTo>
                <a:close/>
                <a:moveTo>
                  <a:pt x="303775" y="0"/>
                </a:moveTo>
                <a:cubicBezTo>
                  <a:pt x="394204" y="0"/>
                  <a:pt x="479560" y="40347"/>
                  <a:pt x="537058" y="108956"/>
                </a:cubicBezTo>
                <a:lnTo>
                  <a:pt x="537058" y="93048"/>
                </a:lnTo>
                <a:cubicBezTo>
                  <a:pt x="537058" y="86471"/>
                  <a:pt x="542309" y="81139"/>
                  <a:pt x="548895" y="81139"/>
                </a:cubicBezTo>
                <a:cubicBezTo>
                  <a:pt x="555482" y="81139"/>
                  <a:pt x="560822" y="86471"/>
                  <a:pt x="560822" y="93048"/>
                </a:cubicBezTo>
                <a:lnTo>
                  <a:pt x="560822" y="138994"/>
                </a:lnTo>
                <a:cubicBezTo>
                  <a:pt x="560822" y="145570"/>
                  <a:pt x="555482" y="150903"/>
                  <a:pt x="548895" y="150903"/>
                </a:cubicBezTo>
                <a:lnTo>
                  <a:pt x="502880" y="150903"/>
                </a:lnTo>
                <a:cubicBezTo>
                  <a:pt x="496293" y="150903"/>
                  <a:pt x="490953" y="145570"/>
                  <a:pt x="490953" y="138994"/>
                </a:cubicBezTo>
                <a:cubicBezTo>
                  <a:pt x="490953" y="132417"/>
                  <a:pt x="496293" y="127174"/>
                  <a:pt x="502880" y="127174"/>
                </a:cubicBezTo>
                <a:lnTo>
                  <a:pt x="521126" y="127174"/>
                </a:lnTo>
                <a:cubicBezTo>
                  <a:pt x="468168" y="62032"/>
                  <a:pt x="388419" y="23728"/>
                  <a:pt x="303775" y="23728"/>
                </a:cubicBezTo>
                <a:cubicBezTo>
                  <a:pt x="149440" y="23728"/>
                  <a:pt x="23764" y="149214"/>
                  <a:pt x="23764" y="303316"/>
                </a:cubicBezTo>
                <a:cubicBezTo>
                  <a:pt x="23764" y="457508"/>
                  <a:pt x="149440" y="582905"/>
                  <a:pt x="303775" y="582905"/>
                </a:cubicBezTo>
                <a:cubicBezTo>
                  <a:pt x="458199" y="582905"/>
                  <a:pt x="583786" y="457508"/>
                  <a:pt x="583786" y="303316"/>
                </a:cubicBezTo>
                <a:cubicBezTo>
                  <a:pt x="583786" y="278255"/>
                  <a:pt x="580492" y="253371"/>
                  <a:pt x="573906" y="229376"/>
                </a:cubicBezTo>
                <a:cubicBezTo>
                  <a:pt x="572126" y="223066"/>
                  <a:pt x="575864" y="216489"/>
                  <a:pt x="582273" y="214801"/>
                </a:cubicBezTo>
                <a:cubicBezTo>
                  <a:pt x="588592" y="213023"/>
                  <a:pt x="595089" y="216756"/>
                  <a:pt x="596869" y="223066"/>
                </a:cubicBezTo>
                <a:cubicBezTo>
                  <a:pt x="603990" y="249194"/>
                  <a:pt x="607639" y="276122"/>
                  <a:pt x="607639" y="303316"/>
                </a:cubicBezTo>
                <a:cubicBezTo>
                  <a:pt x="607639" y="470572"/>
                  <a:pt x="471283" y="606722"/>
                  <a:pt x="303775" y="606722"/>
                </a:cubicBezTo>
                <a:cubicBezTo>
                  <a:pt x="136267" y="606722"/>
                  <a:pt x="0" y="470572"/>
                  <a:pt x="0" y="303316"/>
                </a:cubicBezTo>
                <a:cubicBezTo>
                  <a:pt x="0" y="136061"/>
                  <a:pt x="136267" y="0"/>
                  <a:pt x="3037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 name="文字方塊 9">
            <a:extLst>
              <a:ext uri="{FF2B5EF4-FFF2-40B4-BE49-F238E27FC236}">
                <a16:creationId xmlns:a16="http://schemas.microsoft.com/office/drawing/2014/main" id="{5EB95789-1338-4013-A515-04F0F93F710E}"/>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Tree>
    <p:extLst>
      <p:ext uri="{BB962C8B-B14F-4D97-AF65-F5344CB8AC3E}">
        <p14:creationId xmlns:p14="http://schemas.microsoft.com/office/powerpoint/2010/main" val="326388290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p:tgtEl>
                                          <p:spTgt spid="7"/>
                                        </p:tgtEl>
                                        <p:attrNameLst>
                                          <p:attrName>ppt_x</p:attrName>
                                        </p:attrNameLst>
                                      </p:cBhvr>
                                      <p:tavLst>
                                        <p:tav tm="0">
                                          <p:val>
                                            <p:strVal val="#ppt_x-#ppt_w*1.125000"/>
                                          </p:val>
                                        </p:tav>
                                        <p:tav tm="100000">
                                          <p:val>
                                            <p:strVal val="#ppt_x"/>
                                          </p:val>
                                        </p:tav>
                                      </p:tavLst>
                                    </p:anim>
                                    <p:animEffect transition="in" filter="wipe(right)">
                                      <p:cBhvr>
                                        <p:cTn id="8" dur="500"/>
                                        <p:tgtEl>
                                          <p:spTgt spid="7"/>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p:tgtEl>
                                          <p:spTgt spid="9"/>
                                        </p:tgtEl>
                                        <p:attrNameLst>
                                          <p:attrName>ppt_y</p:attrName>
                                        </p:attrNameLst>
                                      </p:cBhvr>
                                      <p:tavLst>
                                        <p:tav tm="0">
                                          <p:val>
                                            <p:strVal val="#ppt_y+#ppt_h*1.125000"/>
                                          </p:val>
                                        </p:tav>
                                        <p:tav tm="100000">
                                          <p:val>
                                            <p:strVal val="#ppt_y"/>
                                          </p:val>
                                        </p:tav>
                                      </p:tavLst>
                                    </p:anim>
                                    <p:animEffect transition="in" filter="wipe(up)">
                                      <p:cBhvr>
                                        <p:cTn id="12" dur="500"/>
                                        <p:tgtEl>
                                          <p:spTgt spid="9"/>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anim calcmode="lin" valueType="num">
                                      <p:cBhvr>
                                        <p:cTn id="15" dur="500" fill="hold"/>
                                        <p:tgtEl>
                                          <p:spTgt spid="46"/>
                                        </p:tgtEl>
                                        <p:attrNameLst>
                                          <p:attrName>ppt_w</p:attrName>
                                        </p:attrNameLst>
                                      </p:cBhvr>
                                      <p:tavLst>
                                        <p:tav tm="0">
                                          <p:val>
                                            <p:fltVal val="0"/>
                                          </p:val>
                                        </p:tav>
                                        <p:tav tm="100000">
                                          <p:val>
                                            <p:strVal val="#ppt_w"/>
                                          </p:val>
                                        </p:tav>
                                      </p:tavLst>
                                    </p:anim>
                                    <p:anim calcmode="lin" valueType="num">
                                      <p:cBhvr>
                                        <p:cTn id="16" dur="500" fill="hold"/>
                                        <p:tgtEl>
                                          <p:spTgt spid="46"/>
                                        </p:tgtEl>
                                        <p:attrNameLst>
                                          <p:attrName>ppt_h</p:attrName>
                                        </p:attrNameLst>
                                      </p:cBhvr>
                                      <p:tavLst>
                                        <p:tav tm="0">
                                          <p:val>
                                            <p:fltVal val="0"/>
                                          </p:val>
                                        </p:tav>
                                        <p:tav tm="100000">
                                          <p:val>
                                            <p:strVal val="#ppt_h"/>
                                          </p:val>
                                        </p:tav>
                                      </p:tavLst>
                                    </p:anim>
                                    <p:animEffect transition="in" filter="fade">
                                      <p:cBhvr>
                                        <p:cTn id="17" dur="500"/>
                                        <p:tgtEl>
                                          <p:spTgt spid="46"/>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47"/>
                                        </p:tgtEl>
                                        <p:attrNameLst>
                                          <p:attrName>style.visibility</p:attrName>
                                        </p:attrNameLst>
                                      </p:cBhvr>
                                      <p:to>
                                        <p:strVal val="visible"/>
                                      </p:to>
                                    </p:set>
                                    <p:anim calcmode="lin" valueType="num">
                                      <p:cBhvr>
                                        <p:cTn id="20" dur="500" fill="hold"/>
                                        <p:tgtEl>
                                          <p:spTgt spid="47"/>
                                        </p:tgtEl>
                                        <p:attrNameLst>
                                          <p:attrName>ppt_w</p:attrName>
                                        </p:attrNameLst>
                                      </p:cBhvr>
                                      <p:tavLst>
                                        <p:tav tm="0">
                                          <p:val>
                                            <p:fltVal val="0"/>
                                          </p:val>
                                        </p:tav>
                                        <p:tav tm="100000">
                                          <p:val>
                                            <p:strVal val="#ppt_w"/>
                                          </p:val>
                                        </p:tav>
                                      </p:tavLst>
                                    </p:anim>
                                    <p:anim calcmode="lin" valueType="num">
                                      <p:cBhvr>
                                        <p:cTn id="21" dur="500" fill="hold"/>
                                        <p:tgtEl>
                                          <p:spTgt spid="47"/>
                                        </p:tgtEl>
                                        <p:attrNameLst>
                                          <p:attrName>ppt_h</p:attrName>
                                        </p:attrNameLst>
                                      </p:cBhvr>
                                      <p:tavLst>
                                        <p:tav tm="0">
                                          <p:val>
                                            <p:fltVal val="0"/>
                                          </p:val>
                                        </p:tav>
                                        <p:tav tm="100000">
                                          <p:val>
                                            <p:strVal val="#ppt_h"/>
                                          </p:val>
                                        </p:tav>
                                      </p:tavLst>
                                    </p:anim>
                                    <p:animEffect transition="in" filter="fade">
                                      <p:cBhvr>
                                        <p:cTn id="2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46" grpId="0" animBg="1"/>
      <p:bldP spid="4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flipH="1">
            <a:off x="8244230" y="0"/>
            <a:ext cx="3947770" cy="4851400"/>
          </a:xfrm>
          <a:prstGeom prst="rect">
            <a:avLst/>
          </a:prstGeom>
        </p:spPr>
      </p:pic>
      <p:sp>
        <p:nvSpPr>
          <p:cNvPr id="5" name="矩形 4"/>
          <p:cNvSpPr/>
          <p:nvPr/>
        </p:nvSpPr>
        <p:spPr>
          <a:xfrm>
            <a:off x="731211" y="1351226"/>
            <a:ext cx="5727850" cy="523220"/>
          </a:xfrm>
          <a:prstGeom prst="rect">
            <a:avLst/>
          </a:prstGeom>
        </p:spPr>
        <p:txBody>
          <a:bodyPr wrap="none">
            <a:spAutoFit/>
            <a:scene3d>
              <a:camera prst="orthographicFront"/>
              <a:lightRig rig="threePt" dir="t"/>
            </a:scene3d>
            <a:sp3d contourW="12700"/>
          </a:bodyPr>
          <a:lstStyle/>
          <a:p>
            <a:pPr algn="ctr"/>
            <a:r>
              <a:rPr lang="en-US" altLang="zh-TW" sz="2800" b="1" dirty="0">
                <a:solidFill>
                  <a:schemeClr val="accent6"/>
                </a:solidFill>
              </a:rPr>
              <a:t>6-1 </a:t>
            </a:r>
            <a:r>
              <a:rPr lang="zh-TW" altLang="en-US" sz="2800" b="1" dirty="0">
                <a:solidFill>
                  <a:schemeClr val="accent6"/>
                </a:solidFill>
              </a:rPr>
              <a:t>實務案例─巴克萊銀行貿易融資</a:t>
            </a:r>
          </a:p>
        </p:txBody>
      </p:sp>
      <p:sp>
        <p:nvSpPr>
          <p:cNvPr id="47" name="矩形 46"/>
          <p:cNvSpPr/>
          <p:nvPr/>
        </p:nvSpPr>
        <p:spPr>
          <a:xfrm>
            <a:off x="734498" y="2230883"/>
            <a:ext cx="4690708" cy="523220"/>
          </a:xfrm>
          <a:prstGeom prst="rect">
            <a:avLst/>
          </a:prstGeom>
        </p:spPr>
        <p:txBody>
          <a:bodyPr wrap="none">
            <a:spAutoFit/>
            <a:scene3d>
              <a:camera prst="orthographicFront"/>
              <a:lightRig rig="threePt" dir="t"/>
            </a:scene3d>
            <a:sp3d contourW="12700"/>
          </a:bodyPr>
          <a:lstStyle/>
          <a:p>
            <a:pPr algn="ctr"/>
            <a:r>
              <a:rPr lang="en-US" altLang="zh-TW" sz="2800" b="1" dirty="0">
                <a:solidFill>
                  <a:schemeClr val="accent6"/>
                </a:solidFill>
              </a:rPr>
              <a:t>6-2</a:t>
            </a:r>
            <a:r>
              <a:rPr lang="zh-TW" altLang="en-US" sz="2800" b="1" dirty="0">
                <a:solidFill>
                  <a:schemeClr val="accent6"/>
                </a:solidFill>
              </a:rPr>
              <a:t> 實務案例─消費金融</a:t>
            </a:r>
            <a:r>
              <a:rPr lang="en-US" altLang="zh-TW" sz="2800" b="1" dirty="0">
                <a:solidFill>
                  <a:schemeClr val="accent6"/>
                </a:solidFill>
              </a:rPr>
              <a:t>ABS</a:t>
            </a:r>
            <a:endParaRPr lang="zh-TW" altLang="en-US" sz="2800" b="1" dirty="0">
              <a:solidFill>
                <a:schemeClr val="accent6"/>
              </a:solidFill>
            </a:endParaRPr>
          </a:p>
        </p:txBody>
      </p:sp>
      <p:sp>
        <p:nvSpPr>
          <p:cNvPr id="65" name="文本框 64"/>
          <p:cNvSpPr txBox="1"/>
          <p:nvPr/>
        </p:nvSpPr>
        <p:spPr>
          <a:xfrm rot="5400000">
            <a:off x="5416355" y="2443872"/>
            <a:ext cx="3531736" cy="923330"/>
          </a:xfrm>
          <a:prstGeom prst="rect">
            <a:avLst/>
          </a:prstGeom>
          <a:noFill/>
        </p:spPr>
        <p:txBody>
          <a:bodyPr wrap="none" rtlCol="0">
            <a:spAutoFit/>
            <a:scene3d>
              <a:camera prst="orthographicFront"/>
              <a:lightRig rig="threePt" dir="t"/>
            </a:scene3d>
            <a:sp3d contourW="12700"/>
          </a:bodyPr>
          <a:lstStyle/>
          <a:p>
            <a:r>
              <a:rPr lang="en-US" altLang="zh-CN" sz="5400" b="1" dirty="0">
                <a:solidFill>
                  <a:schemeClr val="accent1"/>
                </a:solidFill>
              </a:rPr>
              <a:t>CONTENT</a:t>
            </a:r>
            <a:endParaRPr lang="zh-CN" altLang="en-US" sz="5400" b="1" dirty="0">
              <a:solidFill>
                <a:schemeClr val="accent1"/>
              </a:solidFill>
            </a:endParaRPr>
          </a:p>
        </p:txBody>
      </p:sp>
      <p:sp>
        <p:nvSpPr>
          <p:cNvPr id="8" name="文字方塊 7">
            <a:extLst>
              <a:ext uri="{FF2B5EF4-FFF2-40B4-BE49-F238E27FC236}">
                <a16:creationId xmlns:a16="http://schemas.microsoft.com/office/drawing/2014/main" id="{AD9A2B78-0D0D-4B36-A4E1-F03D659AB278}"/>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Tree>
    <p:extLst>
      <p:ext uri="{BB962C8B-B14F-4D97-AF65-F5344CB8AC3E}">
        <p14:creationId xmlns:p14="http://schemas.microsoft.com/office/powerpoint/2010/main" val="3839536719"/>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47" presetClass="entr" presetSubtype="0" fill="hold" grpId="0" nodeType="after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fade">
                                      <p:cBhvr>
                                        <p:cTn id="12" dur="1000"/>
                                        <p:tgtEl>
                                          <p:spTgt spid="65"/>
                                        </p:tgtEl>
                                      </p:cBhvr>
                                    </p:animEffect>
                                    <p:anim calcmode="lin" valueType="num">
                                      <p:cBhvr>
                                        <p:cTn id="13" dur="1000" fill="hold"/>
                                        <p:tgtEl>
                                          <p:spTgt spid="65"/>
                                        </p:tgtEl>
                                        <p:attrNameLst>
                                          <p:attrName>ppt_x</p:attrName>
                                        </p:attrNameLst>
                                      </p:cBhvr>
                                      <p:tavLst>
                                        <p:tav tm="0">
                                          <p:val>
                                            <p:strVal val="#ppt_x"/>
                                          </p:val>
                                        </p:tav>
                                        <p:tav tm="100000">
                                          <p:val>
                                            <p:strVal val="#ppt_x"/>
                                          </p:val>
                                        </p:tav>
                                      </p:tavLst>
                                    </p:anim>
                                    <p:anim calcmode="lin" valueType="num">
                                      <p:cBhvr>
                                        <p:cTn id="14" dur="1000" fill="hold"/>
                                        <p:tgtEl>
                                          <p:spTgt spid="65"/>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16" presetClass="entr" presetSubtype="21"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arn(inVertical)">
                                      <p:cBhvr>
                                        <p:cTn id="18" dur="500"/>
                                        <p:tgtEl>
                                          <p:spTgt spid="5"/>
                                        </p:tgtEl>
                                      </p:cBhvr>
                                    </p:animEffect>
                                  </p:childTnLst>
                                </p:cTn>
                              </p:par>
                            </p:childTnLst>
                          </p:cTn>
                        </p:par>
                        <p:par>
                          <p:cTn id="19" fill="hold">
                            <p:stCondLst>
                              <p:cond delay="2000"/>
                            </p:stCondLst>
                            <p:childTnLst>
                              <p:par>
                                <p:cTn id="20" presetID="16" presetClass="entr" presetSubtype="21" fill="hold" grpId="0" nodeType="afterEffect">
                                  <p:stCondLst>
                                    <p:cond delay="0"/>
                                  </p:stCondLst>
                                  <p:childTnLst>
                                    <p:set>
                                      <p:cBhvr>
                                        <p:cTn id="21" dur="1" fill="hold">
                                          <p:stCondLst>
                                            <p:cond delay="0"/>
                                          </p:stCondLst>
                                        </p:cTn>
                                        <p:tgtEl>
                                          <p:spTgt spid="47"/>
                                        </p:tgtEl>
                                        <p:attrNameLst>
                                          <p:attrName>style.visibility</p:attrName>
                                        </p:attrNameLst>
                                      </p:cBhvr>
                                      <p:to>
                                        <p:strVal val="visible"/>
                                      </p:to>
                                    </p:set>
                                    <p:animEffect transition="in" filter="barn(inVertical)">
                                      <p:cBhvr>
                                        <p:cTn id="2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7" grpId="0"/>
      <p:bldP spid="6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499804" y="393820"/>
            <a:ext cx="508571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6-1 </a:t>
            </a:r>
            <a:r>
              <a:rPr lang="zh-TW" altLang="en-US" sz="2400" b="1" dirty="0">
                <a:solidFill>
                  <a:srgbClr val="E06741"/>
                </a:solidFill>
              </a:rPr>
              <a:t>實務案例─巴克萊銀行貿易融資</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4" name="文字方塊 33">
            <a:extLst>
              <a:ext uri="{FF2B5EF4-FFF2-40B4-BE49-F238E27FC236}">
                <a16:creationId xmlns:a16="http://schemas.microsoft.com/office/drawing/2014/main" id="{73EA10E1-7638-4516-B61E-4B64E154AD56}"/>
              </a:ext>
            </a:extLst>
          </p:cNvPr>
          <p:cNvSpPr txBox="1"/>
          <p:nvPr/>
        </p:nvSpPr>
        <p:spPr>
          <a:xfrm>
            <a:off x="1499804" y="1545547"/>
            <a:ext cx="9482903" cy="3904339"/>
          </a:xfrm>
          <a:prstGeom prst="rect">
            <a:avLst/>
          </a:prstGeom>
          <a:noFill/>
        </p:spPr>
        <p:txBody>
          <a:bodyPr wrap="square" rtlCol="0">
            <a:spAutoFit/>
          </a:bodyPr>
          <a:lstStyle/>
          <a:p>
            <a:pPr marL="342900" indent="-342900">
              <a:lnSpc>
                <a:spcPct val="150000"/>
              </a:lnSpc>
              <a:buSzPct val="150000"/>
              <a:buBlip>
                <a:blip r:embed="rId3"/>
              </a:buBlip>
            </a:pPr>
            <a:r>
              <a:rPr lang="zh-TW" altLang="en-US" sz="2400" b="1" dirty="0">
                <a:solidFill>
                  <a:srgbClr val="3DA18E"/>
                </a:solidFill>
                <a:latin typeface="微軟正黑體" panose="020B0604030504040204" pitchFamily="34" charset="-120"/>
                <a:ea typeface="微軟正黑體" panose="020B0604030504040204" pitchFamily="34" charset="-120"/>
              </a:rPr>
              <a:t>英國巴克萊銀行</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endParaRPr lang="en-US" altLang="zh-TW" sz="800" b="1" dirty="0">
              <a:solidFill>
                <a:srgbClr val="3DA18E"/>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鑑於交易過程的繁複與風險共存的環境，</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改善現行的跨國貿易作法</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pPr>
            <a:endParaRPr lang="en-US" altLang="zh-TW" sz="7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與以色列</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Wave</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合作開發貿易融資的區塊鏈系統</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運用無集中式管理、信用機制與離散式帳本等技術，改善交易過程，降低交易成本，更容易審核，也減少進出口商間的風險</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endParaRPr lang="en-US" altLang="zh-TW" sz="7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26" name="文字方塊 25">
            <a:extLst>
              <a:ext uri="{FF2B5EF4-FFF2-40B4-BE49-F238E27FC236}">
                <a16:creationId xmlns:a16="http://schemas.microsoft.com/office/drawing/2014/main" id="{4395D4FE-2FC0-4BD2-9BD3-55FB3C9BD0BF}"/>
              </a:ext>
            </a:extLst>
          </p:cNvPr>
          <p:cNvSpPr txBox="1"/>
          <p:nvPr/>
        </p:nvSpPr>
        <p:spPr>
          <a:xfrm>
            <a:off x="6574666" y="449166"/>
            <a:ext cx="2050561"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實務案例介紹</a:t>
            </a:r>
          </a:p>
        </p:txBody>
      </p:sp>
      <p:pic>
        <p:nvPicPr>
          <p:cNvPr id="10" name="圖片 9" descr="一張含有 建築物, 室外 的圖片&#10;&#10;描述是以非常高的可信度產生">
            <a:extLst>
              <a:ext uri="{FF2B5EF4-FFF2-40B4-BE49-F238E27FC236}">
                <a16:creationId xmlns:a16="http://schemas.microsoft.com/office/drawing/2014/main" id="{89BDB79F-203E-429F-8D5D-7D255E0733B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62542" y="1476830"/>
            <a:ext cx="3348362" cy="1883454"/>
          </a:xfrm>
          <a:prstGeom prst="rect">
            <a:avLst/>
          </a:prstGeom>
          <a:ln>
            <a:noFill/>
          </a:ln>
          <a:effectLst>
            <a:outerShdw blurRad="190500" algn="tl" rotWithShape="0">
              <a:srgbClr val="000000">
                <a:alpha val="70000"/>
              </a:srgbClr>
            </a:outerShdw>
          </a:effectLst>
        </p:spPr>
      </p:pic>
      <p:cxnSp>
        <p:nvCxnSpPr>
          <p:cNvPr id="11" name="直接连接符 33">
            <a:extLst>
              <a:ext uri="{FF2B5EF4-FFF2-40B4-BE49-F238E27FC236}">
                <a16:creationId xmlns:a16="http://schemas.microsoft.com/office/drawing/2014/main" id="{85D7B04B-93E0-47D8-9DDD-950F5EAE85F4}"/>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970006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26">
                                            <p:txEl>
                                              <p:pRg st="0" end="0"/>
                                            </p:txEl>
                                          </p:spTgt>
                                        </p:tgtEl>
                                        <p:attrNameLst>
                                          <p:attrName>style.visibility</p:attrName>
                                        </p:attrNameLst>
                                      </p:cBhvr>
                                      <p:to>
                                        <p:strVal val="visible"/>
                                      </p:to>
                                    </p:set>
                                    <p:animEffect transition="in" filter="barn(inVertical)">
                                      <p:cBhvr>
                                        <p:cTn id="11" dur="500"/>
                                        <p:tgtEl>
                                          <p:spTgt spid="26">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0-#ppt_w/2"/>
                                          </p:val>
                                        </p:tav>
                                        <p:tav tm="100000">
                                          <p:val>
                                            <p:strVal val="#ppt_x"/>
                                          </p:val>
                                        </p:tav>
                                      </p:tavLst>
                                    </p:anim>
                                    <p:anim calcmode="lin" valueType="num">
                                      <p:cBhvr additive="base">
                                        <p:cTn id="16" dur="500" fill="hold"/>
                                        <p:tgtEl>
                                          <p:spTgt spid="11"/>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8" fill="hold" nodeType="afterEffect">
                                  <p:stCondLst>
                                    <p:cond delay="0"/>
                                  </p:stCondLst>
                                  <p:childTnLst>
                                    <p:set>
                                      <p:cBhvr>
                                        <p:cTn id="19" dur="1" fill="hold">
                                          <p:stCondLst>
                                            <p:cond delay="0"/>
                                          </p:stCondLst>
                                        </p:cTn>
                                        <p:tgtEl>
                                          <p:spTgt spid="34">
                                            <p:txEl>
                                              <p:pRg st="0" end="0"/>
                                            </p:txEl>
                                          </p:spTgt>
                                        </p:tgtEl>
                                        <p:attrNameLst>
                                          <p:attrName>style.visibility</p:attrName>
                                        </p:attrNameLst>
                                      </p:cBhvr>
                                      <p:to>
                                        <p:strVal val="visible"/>
                                      </p:to>
                                    </p:set>
                                    <p:anim calcmode="lin" valueType="num">
                                      <p:cBhvr additive="base">
                                        <p:cTn id="20" dur="500" fill="hold"/>
                                        <p:tgtEl>
                                          <p:spTgt spid="34">
                                            <p:txEl>
                                              <p:pRg st="0" end="0"/>
                                            </p:txEl>
                                          </p:spTgt>
                                        </p:tgtEl>
                                        <p:attrNameLst>
                                          <p:attrName>ppt_x</p:attrName>
                                        </p:attrNameLst>
                                      </p:cBhvr>
                                      <p:tavLst>
                                        <p:tav tm="0">
                                          <p:val>
                                            <p:strVal val="0-#ppt_w/2"/>
                                          </p:val>
                                        </p:tav>
                                        <p:tav tm="100000">
                                          <p:val>
                                            <p:strVal val="#ppt_x"/>
                                          </p:val>
                                        </p:tav>
                                      </p:tavLst>
                                    </p:anim>
                                    <p:anim calcmode="lin" valueType="num">
                                      <p:cBhvr additive="base">
                                        <p:cTn id="21" dur="500" fill="hold"/>
                                        <p:tgtEl>
                                          <p:spTgt spid="34">
                                            <p:txEl>
                                              <p:pRg st="0" end="0"/>
                                            </p:txEl>
                                          </p:spTgt>
                                        </p:tgtEl>
                                        <p:attrNameLst>
                                          <p:attrName>ppt_y</p:attrName>
                                        </p:attrNameLst>
                                      </p:cBhvr>
                                      <p:tavLst>
                                        <p:tav tm="0">
                                          <p:val>
                                            <p:strVal val="#ppt_y"/>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34">
                                            <p:txEl>
                                              <p:pRg st="2" end="2"/>
                                            </p:txEl>
                                          </p:spTgt>
                                        </p:tgtEl>
                                        <p:attrNameLst>
                                          <p:attrName>style.visibility</p:attrName>
                                        </p:attrNameLst>
                                      </p:cBhvr>
                                      <p:to>
                                        <p:strVal val="visible"/>
                                      </p:to>
                                    </p:set>
                                    <p:animEffect transition="in" filter="barn(inVertical)">
                                      <p:cBhvr>
                                        <p:cTn id="25" dur="500"/>
                                        <p:tgtEl>
                                          <p:spTgt spid="34">
                                            <p:txEl>
                                              <p:pRg st="2" end="2"/>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34">
                                            <p:txEl>
                                              <p:pRg st="3" end="3"/>
                                            </p:txEl>
                                          </p:spTgt>
                                        </p:tgtEl>
                                        <p:attrNameLst>
                                          <p:attrName>style.visibility</p:attrName>
                                        </p:attrNameLst>
                                      </p:cBhvr>
                                      <p:to>
                                        <p:strVal val="visible"/>
                                      </p:to>
                                    </p:set>
                                    <p:animEffect transition="in" filter="barn(inVertical)">
                                      <p:cBhvr>
                                        <p:cTn id="29" dur="500"/>
                                        <p:tgtEl>
                                          <p:spTgt spid="34">
                                            <p:txEl>
                                              <p:pRg st="3" end="3"/>
                                            </p:txEl>
                                          </p:spTgt>
                                        </p:tgtEl>
                                      </p:cBhvr>
                                    </p:animEffect>
                                  </p:childTnLst>
                                </p:cTn>
                              </p:par>
                            </p:childTnLst>
                          </p:cTn>
                        </p:par>
                        <p:par>
                          <p:cTn id="30" fill="hold">
                            <p:stCondLst>
                              <p:cond delay="4500"/>
                            </p:stCondLst>
                            <p:childTnLst>
                              <p:par>
                                <p:cTn id="31" presetID="16" presetClass="entr" presetSubtype="21" fill="hold" nodeType="afterEffect">
                                  <p:stCondLst>
                                    <p:cond delay="0"/>
                                  </p:stCondLst>
                                  <p:childTnLst>
                                    <p:set>
                                      <p:cBhvr>
                                        <p:cTn id="32" dur="1" fill="hold">
                                          <p:stCondLst>
                                            <p:cond delay="0"/>
                                          </p:stCondLst>
                                        </p:cTn>
                                        <p:tgtEl>
                                          <p:spTgt spid="34">
                                            <p:txEl>
                                              <p:pRg st="5" end="5"/>
                                            </p:txEl>
                                          </p:spTgt>
                                        </p:tgtEl>
                                        <p:attrNameLst>
                                          <p:attrName>style.visibility</p:attrName>
                                        </p:attrNameLst>
                                      </p:cBhvr>
                                      <p:to>
                                        <p:strVal val="visible"/>
                                      </p:to>
                                    </p:set>
                                    <p:animEffect transition="in" filter="barn(inVertical)">
                                      <p:cBhvr>
                                        <p:cTn id="33" dur="500"/>
                                        <p:tgtEl>
                                          <p:spTgt spid="34">
                                            <p:txEl>
                                              <p:pRg st="5" end="5"/>
                                            </p:txEl>
                                          </p:spTgt>
                                        </p:tgtEl>
                                      </p:cBhvr>
                                    </p:animEffect>
                                  </p:childTnLst>
                                </p:cTn>
                              </p:par>
                            </p:childTnLst>
                          </p:cTn>
                        </p:par>
                        <p:par>
                          <p:cTn id="34" fill="hold">
                            <p:stCondLst>
                              <p:cond delay="5000"/>
                            </p:stCondLst>
                            <p:childTnLst>
                              <p:par>
                                <p:cTn id="35" presetID="16" presetClass="entr" presetSubtype="21" fill="hold" nodeType="afterEffect">
                                  <p:stCondLst>
                                    <p:cond delay="0"/>
                                  </p:stCondLst>
                                  <p:childTnLst>
                                    <p:set>
                                      <p:cBhvr>
                                        <p:cTn id="36" dur="1" fill="hold">
                                          <p:stCondLst>
                                            <p:cond delay="0"/>
                                          </p:stCondLst>
                                        </p:cTn>
                                        <p:tgtEl>
                                          <p:spTgt spid="34">
                                            <p:txEl>
                                              <p:pRg st="6" end="6"/>
                                            </p:txEl>
                                          </p:spTgt>
                                        </p:tgtEl>
                                        <p:attrNameLst>
                                          <p:attrName>style.visibility</p:attrName>
                                        </p:attrNameLst>
                                      </p:cBhvr>
                                      <p:to>
                                        <p:strVal val="visible"/>
                                      </p:to>
                                    </p:set>
                                    <p:animEffect transition="in" filter="barn(inVertical)">
                                      <p:cBhvr>
                                        <p:cTn id="37" dur="500"/>
                                        <p:tgtEl>
                                          <p:spTgt spid="34">
                                            <p:txEl>
                                              <p:pRg st="6" end="6"/>
                                            </p:txEl>
                                          </p:spTgt>
                                        </p:tgtEl>
                                      </p:cBhvr>
                                    </p:animEffect>
                                  </p:childTnLst>
                                </p:cTn>
                              </p:par>
                            </p:childTnLst>
                          </p:cTn>
                        </p:par>
                        <p:par>
                          <p:cTn id="38" fill="hold">
                            <p:stCondLst>
                              <p:cond delay="5500"/>
                            </p:stCondLst>
                            <p:childTnLst>
                              <p:par>
                                <p:cTn id="39" presetID="53" presetClass="entr" presetSubtype="16" fill="hold" nodeType="after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p:cTn id="41" dur="500" fill="hold"/>
                                        <p:tgtEl>
                                          <p:spTgt spid="10"/>
                                        </p:tgtEl>
                                        <p:attrNameLst>
                                          <p:attrName>ppt_w</p:attrName>
                                        </p:attrNameLst>
                                      </p:cBhvr>
                                      <p:tavLst>
                                        <p:tav tm="0">
                                          <p:val>
                                            <p:fltVal val="0"/>
                                          </p:val>
                                        </p:tav>
                                        <p:tav tm="100000">
                                          <p:val>
                                            <p:strVal val="#ppt_w"/>
                                          </p:val>
                                        </p:tav>
                                      </p:tavLst>
                                    </p:anim>
                                    <p:anim calcmode="lin" valueType="num">
                                      <p:cBhvr>
                                        <p:cTn id="42" dur="500" fill="hold"/>
                                        <p:tgtEl>
                                          <p:spTgt spid="10"/>
                                        </p:tgtEl>
                                        <p:attrNameLst>
                                          <p:attrName>ppt_h</p:attrName>
                                        </p:attrNameLst>
                                      </p:cBhvr>
                                      <p:tavLst>
                                        <p:tav tm="0">
                                          <p:val>
                                            <p:fltVal val="0"/>
                                          </p:val>
                                        </p:tav>
                                        <p:tav tm="100000">
                                          <p:val>
                                            <p:strVal val="#ppt_h"/>
                                          </p:val>
                                        </p:tav>
                                      </p:tavLst>
                                    </p:anim>
                                    <p:animEffect transition="in" filter="fade">
                                      <p:cBhvr>
                                        <p:cTn id="4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499804" y="393820"/>
            <a:ext cx="508571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6-1 </a:t>
            </a:r>
            <a:r>
              <a:rPr lang="zh-TW" altLang="en-US" sz="2400" b="1" dirty="0">
                <a:solidFill>
                  <a:srgbClr val="E06741"/>
                </a:solidFill>
              </a:rPr>
              <a:t>實務案例─巴克萊銀行貿易融資</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4" name="文字方塊 33">
            <a:extLst>
              <a:ext uri="{FF2B5EF4-FFF2-40B4-BE49-F238E27FC236}">
                <a16:creationId xmlns:a16="http://schemas.microsoft.com/office/drawing/2014/main" id="{73EA10E1-7638-4516-B61E-4B64E154AD56}"/>
              </a:ext>
            </a:extLst>
          </p:cNvPr>
          <p:cNvSpPr txBox="1"/>
          <p:nvPr/>
        </p:nvSpPr>
        <p:spPr>
          <a:xfrm>
            <a:off x="2009968" y="1029865"/>
            <a:ext cx="9571067" cy="497444"/>
          </a:xfrm>
          <a:prstGeom prst="rect">
            <a:avLst/>
          </a:prstGeom>
          <a:noFill/>
        </p:spPr>
        <p:txBody>
          <a:bodyPr wrap="square" rtlCol="0">
            <a:spAutoFit/>
          </a:bodyPr>
          <a:lstStyle/>
          <a:p>
            <a:pPr marL="342900" indent="-342900">
              <a:lnSpc>
                <a:spcPct val="150000"/>
              </a:lnSpc>
              <a:buBlip>
                <a:blip r:embed="rId3"/>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跨國貿易生態作業流程</a:t>
            </a:r>
          </a:p>
        </p:txBody>
      </p:sp>
      <p:sp>
        <p:nvSpPr>
          <p:cNvPr id="26" name="文字方塊 25">
            <a:extLst>
              <a:ext uri="{FF2B5EF4-FFF2-40B4-BE49-F238E27FC236}">
                <a16:creationId xmlns:a16="http://schemas.microsoft.com/office/drawing/2014/main" id="{4395D4FE-2FC0-4BD2-9BD3-55FB3C9BD0BF}"/>
              </a:ext>
            </a:extLst>
          </p:cNvPr>
          <p:cNvSpPr txBox="1"/>
          <p:nvPr/>
        </p:nvSpPr>
        <p:spPr>
          <a:xfrm>
            <a:off x="6574666"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案例區塊鏈應用</a:t>
            </a:r>
          </a:p>
        </p:txBody>
      </p:sp>
      <p:grpSp>
        <p:nvGrpSpPr>
          <p:cNvPr id="10" name="群組 9">
            <a:extLst>
              <a:ext uri="{FF2B5EF4-FFF2-40B4-BE49-F238E27FC236}">
                <a16:creationId xmlns:a16="http://schemas.microsoft.com/office/drawing/2014/main" id="{12696DEA-6669-4231-8C6E-B5CC34260BCB}"/>
              </a:ext>
            </a:extLst>
          </p:cNvPr>
          <p:cNvGrpSpPr/>
          <p:nvPr/>
        </p:nvGrpSpPr>
        <p:grpSpPr>
          <a:xfrm>
            <a:off x="2312351" y="1662235"/>
            <a:ext cx="8546340" cy="4661294"/>
            <a:chOff x="911425" y="476672"/>
            <a:chExt cx="9241713" cy="5040560"/>
          </a:xfrm>
        </p:grpSpPr>
        <p:sp>
          <p:nvSpPr>
            <p:cNvPr id="11" name="文字方塊 10">
              <a:extLst>
                <a:ext uri="{FF2B5EF4-FFF2-40B4-BE49-F238E27FC236}">
                  <a16:creationId xmlns:a16="http://schemas.microsoft.com/office/drawing/2014/main" id="{D9FF3C12-E66A-448B-8F8F-CA67486ABC70}"/>
                </a:ext>
              </a:extLst>
            </p:cNvPr>
            <p:cNvSpPr txBox="1"/>
            <p:nvPr/>
          </p:nvSpPr>
          <p:spPr>
            <a:xfrm>
              <a:off x="7063856" y="965329"/>
              <a:ext cx="2475820" cy="411394"/>
            </a:xfrm>
            <a:prstGeom prst="rect">
              <a:avLst/>
            </a:prstGeom>
            <a:solidFill>
              <a:schemeClr val="accent2">
                <a:lumMod val="20000"/>
                <a:lumOff val="80000"/>
              </a:schemeClr>
            </a:solidFill>
            <a:ln w="19050"/>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zh-TW" altLang="en-US" sz="1600" b="1" dirty="0">
                  <a:latin typeface="微軟正黑體" panose="020B0604030504040204" pitchFamily="34" charset="-120"/>
                  <a:ea typeface="微軟正黑體" panose="020B0604030504040204" pitchFamily="34" charset="-120"/>
                </a:rPr>
                <a:t>開證銀行</a:t>
              </a:r>
            </a:p>
          </p:txBody>
        </p:sp>
        <p:sp>
          <p:nvSpPr>
            <p:cNvPr id="12" name="文字方塊 11">
              <a:extLst>
                <a:ext uri="{FF2B5EF4-FFF2-40B4-BE49-F238E27FC236}">
                  <a16:creationId xmlns:a16="http://schemas.microsoft.com/office/drawing/2014/main" id="{509BC6A1-9A41-4E2D-A594-582868E83898}"/>
                </a:ext>
              </a:extLst>
            </p:cNvPr>
            <p:cNvSpPr txBox="1"/>
            <p:nvPr/>
          </p:nvSpPr>
          <p:spPr>
            <a:xfrm>
              <a:off x="933181" y="977406"/>
              <a:ext cx="2468997" cy="411394"/>
            </a:xfrm>
            <a:prstGeom prst="rect">
              <a:avLst/>
            </a:prstGeom>
            <a:solidFill>
              <a:schemeClr val="accent2">
                <a:lumMod val="20000"/>
                <a:lumOff val="80000"/>
              </a:schemeClr>
            </a:solidFill>
            <a:ln w="19050"/>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zh-TW" altLang="en-US" sz="1600" b="1" dirty="0">
                  <a:latin typeface="微軟正黑體" panose="020B0604030504040204" pitchFamily="34" charset="-120"/>
                  <a:ea typeface="微軟正黑體" panose="020B0604030504040204" pitchFamily="34" charset="-120"/>
                </a:rPr>
                <a:t>進口商</a:t>
              </a:r>
            </a:p>
          </p:txBody>
        </p:sp>
        <p:sp>
          <p:nvSpPr>
            <p:cNvPr id="13" name="文字方塊 12">
              <a:extLst>
                <a:ext uri="{FF2B5EF4-FFF2-40B4-BE49-F238E27FC236}">
                  <a16:creationId xmlns:a16="http://schemas.microsoft.com/office/drawing/2014/main" id="{997EDEBD-54BF-4F9A-8893-4DDA121173C8}"/>
                </a:ext>
              </a:extLst>
            </p:cNvPr>
            <p:cNvSpPr txBox="1"/>
            <p:nvPr/>
          </p:nvSpPr>
          <p:spPr>
            <a:xfrm>
              <a:off x="3725362" y="1268761"/>
              <a:ext cx="1073676" cy="373995"/>
            </a:xfrm>
            <a:prstGeom prst="rect">
              <a:avLst/>
            </a:prstGeom>
            <a:noFill/>
          </p:spPr>
          <p:txBody>
            <a:bodyPr wrap="none" rtlCol="0">
              <a:spAutoFit/>
            </a:bodyPr>
            <a:lstStyle/>
            <a:p>
              <a:r>
                <a:rPr lang="en-US" altLang="zh-TW" sz="1400" b="1" dirty="0">
                  <a:latin typeface="微軟正黑體" panose="020B0604030504040204" pitchFamily="34" charset="-120"/>
                  <a:ea typeface="微軟正黑體" panose="020B0604030504040204" pitchFamily="34" charset="-120"/>
                </a:rPr>
                <a:t>(11)</a:t>
              </a:r>
              <a:r>
                <a:rPr lang="zh-TW" altLang="en-US" sz="1400" b="1" dirty="0">
                  <a:latin typeface="微軟正黑體" panose="020B0604030504040204" pitchFamily="34" charset="-120"/>
                  <a:ea typeface="微軟正黑體" panose="020B0604030504040204" pitchFamily="34" charset="-120"/>
                </a:rPr>
                <a:t>文件</a:t>
              </a:r>
            </a:p>
          </p:txBody>
        </p:sp>
        <p:sp>
          <p:nvSpPr>
            <p:cNvPr id="14" name="文字方塊 13">
              <a:extLst>
                <a:ext uri="{FF2B5EF4-FFF2-40B4-BE49-F238E27FC236}">
                  <a16:creationId xmlns:a16="http://schemas.microsoft.com/office/drawing/2014/main" id="{CFAE3991-7602-47DB-A001-C1ED43B39903}"/>
                </a:ext>
              </a:extLst>
            </p:cNvPr>
            <p:cNvSpPr txBox="1"/>
            <p:nvPr/>
          </p:nvSpPr>
          <p:spPr>
            <a:xfrm>
              <a:off x="7128803" y="4813121"/>
              <a:ext cx="3024335" cy="411394"/>
            </a:xfrm>
            <a:prstGeom prst="rect">
              <a:avLst/>
            </a:prstGeom>
            <a:solidFill>
              <a:schemeClr val="accent2">
                <a:lumMod val="20000"/>
                <a:lumOff val="80000"/>
              </a:schemeClr>
            </a:solidFill>
            <a:ln w="19050"/>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zh-TW" altLang="en-US" sz="1600" b="1" dirty="0">
                  <a:latin typeface="微軟正黑體" panose="020B0604030504040204" pitchFamily="34" charset="-120"/>
                  <a:ea typeface="微軟正黑體" panose="020B0604030504040204" pitchFamily="34" charset="-120"/>
                </a:rPr>
                <a:t>出口商所在銀行</a:t>
              </a:r>
            </a:p>
          </p:txBody>
        </p:sp>
        <p:sp>
          <p:nvSpPr>
            <p:cNvPr id="15" name="文字方塊 14">
              <a:extLst>
                <a:ext uri="{FF2B5EF4-FFF2-40B4-BE49-F238E27FC236}">
                  <a16:creationId xmlns:a16="http://schemas.microsoft.com/office/drawing/2014/main" id="{BEB9630C-6961-415A-9044-6981EBA1165A}"/>
                </a:ext>
              </a:extLst>
            </p:cNvPr>
            <p:cNvSpPr txBox="1"/>
            <p:nvPr/>
          </p:nvSpPr>
          <p:spPr>
            <a:xfrm>
              <a:off x="911425" y="4791743"/>
              <a:ext cx="2490755" cy="411394"/>
            </a:xfrm>
            <a:prstGeom prst="rect">
              <a:avLst/>
            </a:prstGeom>
            <a:solidFill>
              <a:schemeClr val="accent2">
                <a:lumMod val="20000"/>
                <a:lumOff val="80000"/>
              </a:schemeClr>
            </a:solidFill>
            <a:ln w="19050">
              <a:solidFill>
                <a:srgbClr val="54667E"/>
              </a:solidFill>
            </a:ln>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zh-TW" altLang="en-US" sz="1600" b="1" dirty="0">
                  <a:latin typeface="微軟正黑體" panose="020B0604030504040204" pitchFamily="34" charset="-120"/>
                  <a:ea typeface="微軟正黑體" panose="020B0604030504040204" pitchFamily="34" charset="-120"/>
                </a:rPr>
                <a:t>出口商</a:t>
              </a:r>
            </a:p>
          </p:txBody>
        </p:sp>
        <p:sp>
          <p:nvSpPr>
            <p:cNvPr id="16" name="文字方塊 15">
              <a:extLst>
                <a:ext uri="{FF2B5EF4-FFF2-40B4-BE49-F238E27FC236}">
                  <a16:creationId xmlns:a16="http://schemas.microsoft.com/office/drawing/2014/main" id="{4B480E97-5D5C-4C1C-91EB-0C08ACEFD2BE}"/>
                </a:ext>
              </a:extLst>
            </p:cNvPr>
            <p:cNvSpPr txBox="1"/>
            <p:nvPr/>
          </p:nvSpPr>
          <p:spPr>
            <a:xfrm>
              <a:off x="8972216" y="1783062"/>
              <a:ext cx="506841" cy="373995"/>
            </a:xfrm>
            <a:prstGeom prst="rect">
              <a:avLst/>
            </a:prstGeom>
            <a:noFill/>
          </p:spPr>
          <p:txBody>
            <a:bodyPr wrap="none" rtlCol="0">
              <a:spAutoFit/>
            </a:bodyPr>
            <a:lstStyle/>
            <a:p>
              <a:r>
                <a:rPr lang="en-US" altLang="zh-TW" sz="1400" b="1" dirty="0">
                  <a:latin typeface="微軟正黑體" panose="020B0604030504040204" pitchFamily="34" charset="-120"/>
                  <a:ea typeface="微軟正黑體" panose="020B0604030504040204" pitchFamily="34" charset="-120"/>
                </a:rPr>
                <a:t>(3)</a:t>
              </a:r>
              <a:endParaRPr lang="zh-TW" altLang="en-US" sz="1400" b="1" dirty="0">
                <a:latin typeface="微軟正黑體" panose="020B0604030504040204" pitchFamily="34" charset="-120"/>
                <a:ea typeface="微軟正黑體" panose="020B0604030504040204" pitchFamily="34" charset="-120"/>
              </a:endParaRPr>
            </a:p>
          </p:txBody>
        </p:sp>
        <p:sp>
          <p:nvSpPr>
            <p:cNvPr id="17" name="文字方塊 16">
              <a:extLst>
                <a:ext uri="{FF2B5EF4-FFF2-40B4-BE49-F238E27FC236}">
                  <a16:creationId xmlns:a16="http://schemas.microsoft.com/office/drawing/2014/main" id="{72C3079D-155A-4980-851C-69864B689587}"/>
                </a:ext>
              </a:extLst>
            </p:cNvPr>
            <p:cNvSpPr txBox="1"/>
            <p:nvPr/>
          </p:nvSpPr>
          <p:spPr>
            <a:xfrm>
              <a:off x="7633844" y="1783062"/>
              <a:ext cx="506841" cy="373995"/>
            </a:xfrm>
            <a:prstGeom prst="rect">
              <a:avLst/>
            </a:prstGeom>
            <a:noFill/>
          </p:spPr>
          <p:txBody>
            <a:bodyPr wrap="none" rtlCol="0">
              <a:spAutoFit/>
            </a:bodyPr>
            <a:lstStyle/>
            <a:p>
              <a:r>
                <a:rPr lang="en-US" altLang="zh-TW" sz="1400" b="1" dirty="0">
                  <a:latin typeface="微軟正黑體" panose="020B0604030504040204" pitchFamily="34" charset="-120"/>
                  <a:ea typeface="微軟正黑體" panose="020B0604030504040204" pitchFamily="34" charset="-120"/>
                </a:rPr>
                <a:t>(8)</a:t>
              </a:r>
              <a:endParaRPr lang="zh-TW" altLang="en-US" sz="1400" b="1" dirty="0">
                <a:latin typeface="微軟正黑體" panose="020B0604030504040204" pitchFamily="34" charset="-120"/>
                <a:ea typeface="微軟正黑體" panose="020B0604030504040204" pitchFamily="34" charset="-120"/>
              </a:endParaRPr>
            </a:p>
          </p:txBody>
        </p:sp>
        <p:cxnSp>
          <p:nvCxnSpPr>
            <p:cNvPr id="18" name="直線單箭頭接點 17">
              <a:extLst>
                <a:ext uri="{FF2B5EF4-FFF2-40B4-BE49-F238E27FC236}">
                  <a16:creationId xmlns:a16="http://schemas.microsoft.com/office/drawing/2014/main" id="{7ABF0DF8-35FA-4186-AE84-436E23E59C61}"/>
                </a:ext>
              </a:extLst>
            </p:cNvPr>
            <p:cNvCxnSpPr/>
            <p:nvPr/>
          </p:nvCxnSpPr>
          <p:spPr>
            <a:xfrm>
              <a:off x="3547413" y="1268761"/>
              <a:ext cx="3407594" cy="0"/>
            </a:xfrm>
            <a:prstGeom prst="straightConnector1">
              <a:avLst/>
            </a:prstGeom>
            <a:ln w="28575">
              <a:solidFill>
                <a:schemeClr val="tx1">
                  <a:lumMod val="65000"/>
                  <a:lumOff val="35000"/>
                </a:schemeClr>
              </a:solidFill>
              <a:tailEnd type="arrow"/>
            </a:ln>
          </p:spPr>
          <p:style>
            <a:lnRef idx="1">
              <a:schemeClr val="accent1"/>
            </a:lnRef>
            <a:fillRef idx="0">
              <a:schemeClr val="accent1"/>
            </a:fillRef>
            <a:effectRef idx="0">
              <a:schemeClr val="accent1"/>
            </a:effectRef>
            <a:fontRef idx="minor">
              <a:schemeClr val="tx1"/>
            </a:fontRef>
          </p:style>
        </p:cxnSp>
        <p:sp>
          <p:nvSpPr>
            <p:cNvPr id="19" name="文字方塊 18">
              <a:extLst>
                <a:ext uri="{FF2B5EF4-FFF2-40B4-BE49-F238E27FC236}">
                  <a16:creationId xmlns:a16="http://schemas.microsoft.com/office/drawing/2014/main" id="{EB50565A-9B0C-4232-9FEC-A7D05A6276B9}"/>
                </a:ext>
              </a:extLst>
            </p:cNvPr>
            <p:cNvSpPr txBox="1"/>
            <p:nvPr/>
          </p:nvSpPr>
          <p:spPr>
            <a:xfrm>
              <a:off x="3725362" y="476672"/>
              <a:ext cx="2033986" cy="373995"/>
            </a:xfrm>
            <a:prstGeom prst="rect">
              <a:avLst/>
            </a:prstGeom>
            <a:noFill/>
          </p:spPr>
          <p:txBody>
            <a:bodyPr wrap="none" rtlCol="0">
              <a:spAutoFit/>
            </a:bodyPr>
            <a:lstStyle/>
            <a:p>
              <a:r>
                <a:rPr lang="en-US" altLang="zh-TW" sz="1400" b="1" dirty="0">
                  <a:latin typeface="微軟正黑體" panose="020B0604030504040204" pitchFamily="34" charset="-120"/>
                  <a:ea typeface="微軟正黑體" panose="020B0604030504040204" pitchFamily="34" charset="-120"/>
                </a:rPr>
                <a:t>(2)</a:t>
              </a:r>
              <a:r>
                <a:rPr lang="zh-TW" altLang="en-US" sz="1400" b="1" dirty="0">
                  <a:latin typeface="微軟正黑體" panose="020B0604030504040204" pitchFamily="34" charset="-120"/>
                  <a:ea typeface="微軟正黑體" panose="020B0604030504040204" pitchFamily="34" charset="-120"/>
                </a:rPr>
                <a:t>申請開立信用狀</a:t>
              </a:r>
            </a:p>
          </p:txBody>
        </p:sp>
        <p:sp>
          <p:nvSpPr>
            <p:cNvPr id="20" name="文字方塊 19">
              <a:extLst>
                <a:ext uri="{FF2B5EF4-FFF2-40B4-BE49-F238E27FC236}">
                  <a16:creationId xmlns:a16="http://schemas.microsoft.com/office/drawing/2014/main" id="{48CDD9B5-2380-4DE8-B449-74322CF4DF67}"/>
                </a:ext>
              </a:extLst>
            </p:cNvPr>
            <p:cNvSpPr txBox="1"/>
            <p:nvPr/>
          </p:nvSpPr>
          <p:spPr>
            <a:xfrm>
              <a:off x="8923141" y="2158867"/>
              <a:ext cx="486194" cy="766689"/>
            </a:xfrm>
            <a:prstGeom prst="rect">
              <a:avLst/>
            </a:prstGeom>
            <a:noFill/>
          </p:spPr>
          <p:txBody>
            <a:bodyPr vert="eaVert" wrap="none" rtlCol="0">
              <a:spAutoFit/>
            </a:bodyPr>
            <a:lstStyle/>
            <a:p>
              <a:r>
                <a:rPr lang="zh-TW" altLang="en-US" sz="1400" b="1" dirty="0">
                  <a:latin typeface="微軟正黑體" panose="020B0604030504040204" pitchFamily="34" charset="-120"/>
                  <a:ea typeface="微軟正黑體" panose="020B0604030504040204" pitchFamily="34" charset="-120"/>
                </a:rPr>
                <a:t>信用證</a:t>
              </a:r>
            </a:p>
          </p:txBody>
        </p:sp>
        <p:sp>
          <p:nvSpPr>
            <p:cNvPr id="21" name="文字方塊 20">
              <a:extLst>
                <a:ext uri="{FF2B5EF4-FFF2-40B4-BE49-F238E27FC236}">
                  <a16:creationId xmlns:a16="http://schemas.microsoft.com/office/drawing/2014/main" id="{A1736189-BBC1-4AC3-A23B-14A3E50FC0D7}"/>
                </a:ext>
              </a:extLst>
            </p:cNvPr>
            <p:cNvSpPr txBox="1"/>
            <p:nvPr/>
          </p:nvSpPr>
          <p:spPr>
            <a:xfrm>
              <a:off x="8271209" y="2152395"/>
              <a:ext cx="486194" cy="548526"/>
            </a:xfrm>
            <a:prstGeom prst="rect">
              <a:avLst/>
            </a:prstGeom>
            <a:noFill/>
          </p:spPr>
          <p:txBody>
            <a:bodyPr vert="eaVert" wrap="none" rtlCol="0">
              <a:spAutoFit/>
            </a:bodyPr>
            <a:lstStyle/>
            <a:p>
              <a:r>
                <a:rPr lang="zh-TW" altLang="en-US" sz="1400" b="1" dirty="0">
                  <a:latin typeface="微軟正黑體" panose="020B0604030504040204" pitchFamily="34" charset="-120"/>
                  <a:ea typeface="微軟正黑體" panose="020B0604030504040204" pitchFamily="34" charset="-120"/>
                </a:rPr>
                <a:t>付款</a:t>
              </a:r>
            </a:p>
          </p:txBody>
        </p:sp>
        <p:sp>
          <p:nvSpPr>
            <p:cNvPr id="22" name="文字方塊 21">
              <a:extLst>
                <a:ext uri="{FF2B5EF4-FFF2-40B4-BE49-F238E27FC236}">
                  <a16:creationId xmlns:a16="http://schemas.microsoft.com/office/drawing/2014/main" id="{DAAAD5AF-9C8B-436A-B7F0-ADBD72641B64}"/>
                </a:ext>
              </a:extLst>
            </p:cNvPr>
            <p:cNvSpPr txBox="1"/>
            <p:nvPr/>
          </p:nvSpPr>
          <p:spPr>
            <a:xfrm>
              <a:off x="8301766" y="1785828"/>
              <a:ext cx="506841" cy="373995"/>
            </a:xfrm>
            <a:prstGeom prst="rect">
              <a:avLst/>
            </a:prstGeom>
            <a:noFill/>
          </p:spPr>
          <p:txBody>
            <a:bodyPr wrap="none" rtlCol="0">
              <a:spAutoFit/>
            </a:bodyPr>
            <a:lstStyle/>
            <a:p>
              <a:r>
                <a:rPr lang="en-US" altLang="zh-TW" sz="1400" b="1" dirty="0">
                  <a:latin typeface="微軟正黑體" panose="020B0604030504040204" pitchFamily="34" charset="-120"/>
                  <a:ea typeface="微軟正黑體" panose="020B0604030504040204" pitchFamily="34" charset="-120"/>
                </a:rPr>
                <a:t>(9)</a:t>
              </a:r>
              <a:endParaRPr lang="zh-TW" altLang="en-US" sz="1400" b="1" dirty="0">
                <a:latin typeface="微軟正黑體" panose="020B0604030504040204" pitchFamily="34" charset="-120"/>
                <a:ea typeface="微軟正黑體" panose="020B0604030504040204" pitchFamily="34" charset="-120"/>
              </a:endParaRPr>
            </a:p>
          </p:txBody>
        </p:sp>
        <p:sp>
          <p:nvSpPr>
            <p:cNvPr id="23" name="文字方塊 22">
              <a:extLst>
                <a:ext uri="{FF2B5EF4-FFF2-40B4-BE49-F238E27FC236}">
                  <a16:creationId xmlns:a16="http://schemas.microsoft.com/office/drawing/2014/main" id="{1E63AC92-1996-434F-8902-FEEBB8DEC688}"/>
                </a:ext>
              </a:extLst>
            </p:cNvPr>
            <p:cNvSpPr txBox="1"/>
            <p:nvPr/>
          </p:nvSpPr>
          <p:spPr>
            <a:xfrm>
              <a:off x="7585590" y="2139911"/>
              <a:ext cx="486194" cy="548526"/>
            </a:xfrm>
            <a:prstGeom prst="rect">
              <a:avLst/>
            </a:prstGeom>
            <a:noFill/>
          </p:spPr>
          <p:txBody>
            <a:bodyPr vert="eaVert" wrap="none" rtlCol="0">
              <a:spAutoFit/>
            </a:bodyPr>
            <a:lstStyle/>
            <a:p>
              <a:r>
                <a:rPr lang="zh-TW" altLang="en-US" sz="1400" b="1" dirty="0">
                  <a:latin typeface="微軟正黑體" panose="020B0604030504040204" pitchFamily="34" charset="-120"/>
                  <a:ea typeface="微軟正黑體" panose="020B0604030504040204" pitchFamily="34" charset="-120"/>
                </a:rPr>
                <a:t>文件</a:t>
              </a:r>
            </a:p>
          </p:txBody>
        </p:sp>
        <p:sp>
          <p:nvSpPr>
            <p:cNvPr id="24" name="文字方塊 23">
              <a:extLst>
                <a:ext uri="{FF2B5EF4-FFF2-40B4-BE49-F238E27FC236}">
                  <a16:creationId xmlns:a16="http://schemas.microsoft.com/office/drawing/2014/main" id="{AF925289-06A3-4F47-8467-E346E57898FB}"/>
                </a:ext>
              </a:extLst>
            </p:cNvPr>
            <p:cNvSpPr txBox="1"/>
            <p:nvPr/>
          </p:nvSpPr>
          <p:spPr>
            <a:xfrm>
              <a:off x="3721208" y="5085184"/>
              <a:ext cx="1597660" cy="373995"/>
            </a:xfrm>
            <a:prstGeom prst="rect">
              <a:avLst/>
            </a:prstGeom>
            <a:noFill/>
          </p:spPr>
          <p:txBody>
            <a:bodyPr wrap="none" rtlCol="0">
              <a:spAutoFit/>
            </a:bodyPr>
            <a:lstStyle/>
            <a:p>
              <a:r>
                <a:rPr lang="en-US" altLang="zh-TW" sz="1400" b="1" dirty="0">
                  <a:latin typeface="微軟正黑體" panose="020B0604030504040204" pitchFamily="34" charset="-120"/>
                  <a:ea typeface="微軟正黑體" panose="020B0604030504040204" pitchFamily="34" charset="-120"/>
                </a:rPr>
                <a:t>(4)</a:t>
              </a:r>
              <a:r>
                <a:rPr lang="zh-TW" altLang="en-US" sz="1400" b="1" dirty="0">
                  <a:latin typeface="微軟正黑體" panose="020B0604030504040204" pitchFamily="34" charset="-120"/>
                  <a:ea typeface="微軟正黑體" panose="020B0604030504040204" pitchFamily="34" charset="-120"/>
                </a:rPr>
                <a:t>通知信用證</a:t>
              </a:r>
            </a:p>
          </p:txBody>
        </p:sp>
        <p:sp>
          <p:nvSpPr>
            <p:cNvPr id="25" name="文字方塊 24">
              <a:extLst>
                <a:ext uri="{FF2B5EF4-FFF2-40B4-BE49-F238E27FC236}">
                  <a16:creationId xmlns:a16="http://schemas.microsoft.com/office/drawing/2014/main" id="{A35EEB54-C22E-4200-A9A1-BF4C3627C9D6}"/>
                </a:ext>
              </a:extLst>
            </p:cNvPr>
            <p:cNvSpPr txBox="1"/>
            <p:nvPr/>
          </p:nvSpPr>
          <p:spPr>
            <a:xfrm>
              <a:off x="3721208" y="4653135"/>
              <a:ext cx="1597660" cy="373995"/>
            </a:xfrm>
            <a:prstGeom prst="rect">
              <a:avLst/>
            </a:prstGeom>
            <a:noFill/>
          </p:spPr>
          <p:txBody>
            <a:bodyPr wrap="none" rtlCol="0">
              <a:spAutoFit/>
            </a:bodyPr>
            <a:lstStyle/>
            <a:p>
              <a:r>
                <a:rPr lang="en-US" altLang="zh-TW" sz="1400" b="1" dirty="0">
                  <a:latin typeface="微軟正黑體" panose="020B0604030504040204" pitchFamily="34" charset="-120"/>
                  <a:ea typeface="微軟正黑體" panose="020B0604030504040204" pitchFamily="34" charset="-120"/>
                </a:rPr>
                <a:t>(6)</a:t>
              </a:r>
              <a:r>
                <a:rPr lang="zh-TW" altLang="en-US" sz="1400" b="1" dirty="0">
                  <a:latin typeface="微軟正黑體" panose="020B0604030504040204" pitchFamily="34" charset="-120"/>
                  <a:ea typeface="微軟正黑體" panose="020B0604030504040204" pitchFamily="34" charset="-120"/>
                </a:rPr>
                <a:t>匯票及文件</a:t>
              </a:r>
            </a:p>
          </p:txBody>
        </p:sp>
        <p:sp>
          <p:nvSpPr>
            <p:cNvPr id="27" name="文字方塊 26">
              <a:extLst>
                <a:ext uri="{FF2B5EF4-FFF2-40B4-BE49-F238E27FC236}">
                  <a16:creationId xmlns:a16="http://schemas.microsoft.com/office/drawing/2014/main" id="{F968882E-3701-4ABE-96C2-6041F3809839}"/>
                </a:ext>
              </a:extLst>
            </p:cNvPr>
            <p:cNvSpPr txBox="1"/>
            <p:nvPr/>
          </p:nvSpPr>
          <p:spPr>
            <a:xfrm>
              <a:off x="3721208" y="4221088"/>
              <a:ext cx="943169" cy="373995"/>
            </a:xfrm>
            <a:prstGeom prst="rect">
              <a:avLst/>
            </a:prstGeom>
            <a:noFill/>
          </p:spPr>
          <p:txBody>
            <a:bodyPr wrap="none" rtlCol="0">
              <a:spAutoFit/>
            </a:bodyPr>
            <a:lstStyle/>
            <a:p>
              <a:r>
                <a:rPr lang="en-US" altLang="zh-TW" sz="1400" b="1" dirty="0">
                  <a:latin typeface="微軟正黑體" panose="020B0604030504040204" pitchFamily="34" charset="-120"/>
                  <a:ea typeface="微軟正黑體" panose="020B0604030504040204" pitchFamily="34" charset="-120"/>
                </a:rPr>
                <a:t>(7)</a:t>
              </a:r>
              <a:r>
                <a:rPr lang="zh-TW" altLang="en-US" sz="1400" b="1" dirty="0">
                  <a:latin typeface="微軟正黑體" panose="020B0604030504040204" pitchFamily="34" charset="-120"/>
                  <a:ea typeface="微軟正黑體" panose="020B0604030504040204" pitchFamily="34" charset="-120"/>
                </a:rPr>
                <a:t>付款</a:t>
              </a:r>
            </a:p>
          </p:txBody>
        </p:sp>
        <p:sp>
          <p:nvSpPr>
            <p:cNvPr id="28" name="文字方塊 27">
              <a:extLst>
                <a:ext uri="{FF2B5EF4-FFF2-40B4-BE49-F238E27FC236}">
                  <a16:creationId xmlns:a16="http://schemas.microsoft.com/office/drawing/2014/main" id="{38817D12-2CF9-45F4-BD84-EB68F06F23F0}"/>
                </a:ext>
              </a:extLst>
            </p:cNvPr>
            <p:cNvSpPr txBox="1"/>
            <p:nvPr/>
          </p:nvSpPr>
          <p:spPr>
            <a:xfrm>
              <a:off x="2573232" y="1785828"/>
              <a:ext cx="483338" cy="373995"/>
            </a:xfrm>
            <a:prstGeom prst="rect">
              <a:avLst/>
            </a:prstGeom>
            <a:noFill/>
          </p:spPr>
          <p:txBody>
            <a:bodyPr wrap="square" rtlCol="0">
              <a:spAutoFit/>
            </a:bodyPr>
            <a:lstStyle/>
            <a:p>
              <a:r>
                <a:rPr lang="en-US" altLang="zh-TW" sz="1400" b="1" dirty="0">
                  <a:latin typeface="微軟正黑體" panose="020B0604030504040204" pitchFamily="34" charset="-120"/>
                  <a:ea typeface="微軟正黑體" panose="020B0604030504040204" pitchFamily="34" charset="-120"/>
                </a:rPr>
                <a:t>(5)</a:t>
              </a:r>
              <a:endParaRPr lang="zh-TW" altLang="en-US" sz="1400" b="1" dirty="0">
                <a:latin typeface="微軟正黑體" panose="020B0604030504040204" pitchFamily="34" charset="-120"/>
                <a:ea typeface="微軟正黑體" panose="020B0604030504040204" pitchFamily="34" charset="-120"/>
              </a:endParaRPr>
            </a:p>
          </p:txBody>
        </p:sp>
        <p:sp>
          <p:nvSpPr>
            <p:cNvPr id="29" name="文字方塊 28">
              <a:extLst>
                <a:ext uri="{FF2B5EF4-FFF2-40B4-BE49-F238E27FC236}">
                  <a16:creationId xmlns:a16="http://schemas.microsoft.com/office/drawing/2014/main" id="{1092F372-C930-46DC-9A53-E8CB99F8F96D}"/>
                </a:ext>
              </a:extLst>
            </p:cNvPr>
            <p:cNvSpPr txBox="1"/>
            <p:nvPr/>
          </p:nvSpPr>
          <p:spPr>
            <a:xfrm>
              <a:off x="2539819" y="2139911"/>
              <a:ext cx="486194" cy="548526"/>
            </a:xfrm>
            <a:prstGeom prst="rect">
              <a:avLst/>
            </a:prstGeom>
            <a:noFill/>
          </p:spPr>
          <p:txBody>
            <a:bodyPr vert="eaVert" wrap="none" rtlCol="0">
              <a:spAutoFit/>
            </a:bodyPr>
            <a:lstStyle/>
            <a:p>
              <a:r>
                <a:rPr lang="zh-TW" altLang="en-US" sz="1400" b="1" dirty="0">
                  <a:latin typeface="微軟正黑體" panose="020B0604030504040204" pitchFamily="34" charset="-120"/>
                  <a:ea typeface="微軟正黑體" panose="020B0604030504040204" pitchFamily="34" charset="-120"/>
                </a:rPr>
                <a:t>出貨</a:t>
              </a:r>
            </a:p>
          </p:txBody>
        </p:sp>
        <p:cxnSp>
          <p:nvCxnSpPr>
            <p:cNvPr id="30" name="直線單箭頭接點 29">
              <a:extLst>
                <a:ext uri="{FF2B5EF4-FFF2-40B4-BE49-F238E27FC236}">
                  <a16:creationId xmlns:a16="http://schemas.microsoft.com/office/drawing/2014/main" id="{7FE3906A-E687-40B3-96E5-E2B34B8834B3}"/>
                </a:ext>
              </a:extLst>
            </p:cNvPr>
            <p:cNvCxnSpPr/>
            <p:nvPr/>
          </p:nvCxnSpPr>
          <p:spPr>
            <a:xfrm flipV="1">
              <a:off x="1475491" y="1747689"/>
              <a:ext cx="0" cy="2878852"/>
            </a:xfrm>
            <a:prstGeom prst="straightConnector1">
              <a:avLst/>
            </a:prstGeom>
            <a:ln w="28575">
              <a:solidFill>
                <a:schemeClr val="tx1">
                  <a:lumMod val="65000"/>
                  <a:lumOff val="35000"/>
                </a:schemeClr>
              </a:solidFill>
              <a:tailEnd type="arrow"/>
            </a:ln>
          </p:spPr>
          <p:style>
            <a:lnRef idx="1">
              <a:schemeClr val="accent1"/>
            </a:lnRef>
            <a:fillRef idx="0">
              <a:schemeClr val="accent1"/>
            </a:fillRef>
            <a:effectRef idx="0">
              <a:schemeClr val="accent1"/>
            </a:effectRef>
            <a:fontRef idx="minor">
              <a:schemeClr val="tx1"/>
            </a:fontRef>
          </p:style>
        </p:cxnSp>
        <p:sp>
          <p:nvSpPr>
            <p:cNvPr id="31" name="文字方塊 30">
              <a:extLst>
                <a:ext uri="{FF2B5EF4-FFF2-40B4-BE49-F238E27FC236}">
                  <a16:creationId xmlns:a16="http://schemas.microsoft.com/office/drawing/2014/main" id="{098874E0-4B75-46BF-AFFE-22782CC0B640}"/>
                </a:ext>
              </a:extLst>
            </p:cNvPr>
            <p:cNvSpPr txBox="1"/>
            <p:nvPr/>
          </p:nvSpPr>
          <p:spPr>
            <a:xfrm>
              <a:off x="1422224" y="1789536"/>
              <a:ext cx="506841" cy="373995"/>
            </a:xfrm>
            <a:prstGeom prst="rect">
              <a:avLst/>
            </a:prstGeom>
            <a:noFill/>
          </p:spPr>
          <p:txBody>
            <a:bodyPr wrap="none" rtlCol="0">
              <a:spAutoFit/>
            </a:bodyPr>
            <a:lstStyle/>
            <a:p>
              <a:r>
                <a:rPr lang="en-US" altLang="zh-TW" sz="1400" b="1" dirty="0">
                  <a:latin typeface="微軟正黑體" panose="020B0604030504040204" pitchFamily="34" charset="-120"/>
                  <a:ea typeface="微軟正黑體" panose="020B0604030504040204" pitchFamily="34" charset="-120"/>
                </a:rPr>
                <a:t>(1)</a:t>
              </a:r>
              <a:endParaRPr lang="zh-TW" altLang="en-US" sz="1400" b="1" dirty="0">
                <a:latin typeface="微軟正黑體" panose="020B0604030504040204" pitchFamily="34" charset="-120"/>
                <a:ea typeface="微軟正黑體" panose="020B0604030504040204" pitchFamily="34" charset="-120"/>
              </a:endParaRPr>
            </a:p>
          </p:txBody>
        </p:sp>
        <p:sp>
          <p:nvSpPr>
            <p:cNvPr id="32" name="文字方塊 31">
              <a:extLst>
                <a:ext uri="{FF2B5EF4-FFF2-40B4-BE49-F238E27FC236}">
                  <a16:creationId xmlns:a16="http://schemas.microsoft.com/office/drawing/2014/main" id="{78A4ADCA-B32E-41C0-A97E-ADE3E937E61A}"/>
                </a:ext>
              </a:extLst>
            </p:cNvPr>
            <p:cNvSpPr txBox="1"/>
            <p:nvPr/>
          </p:nvSpPr>
          <p:spPr>
            <a:xfrm>
              <a:off x="1392307" y="2147486"/>
              <a:ext cx="486194" cy="984852"/>
            </a:xfrm>
            <a:prstGeom prst="rect">
              <a:avLst/>
            </a:prstGeom>
            <a:noFill/>
          </p:spPr>
          <p:txBody>
            <a:bodyPr vert="eaVert" wrap="none" rtlCol="0">
              <a:spAutoFit/>
            </a:bodyPr>
            <a:lstStyle/>
            <a:p>
              <a:r>
                <a:rPr lang="zh-TW" altLang="en-US" sz="1400" b="1" dirty="0">
                  <a:latin typeface="微軟正黑體" panose="020B0604030504040204" pitchFamily="34" charset="-120"/>
                  <a:ea typeface="微軟正黑體" panose="020B0604030504040204" pitchFamily="34" charset="-120"/>
                </a:rPr>
                <a:t>合同商談</a:t>
              </a:r>
            </a:p>
          </p:txBody>
        </p:sp>
        <p:cxnSp>
          <p:nvCxnSpPr>
            <p:cNvPr id="33" name="直線單箭頭接點 32">
              <a:extLst>
                <a:ext uri="{FF2B5EF4-FFF2-40B4-BE49-F238E27FC236}">
                  <a16:creationId xmlns:a16="http://schemas.microsoft.com/office/drawing/2014/main" id="{D4CAB689-8480-4D88-81B2-412DEE1808AD}"/>
                </a:ext>
              </a:extLst>
            </p:cNvPr>
            <p:cNvCxnSpPr/>
            <p:nvPr/>
          </p:nvCxnSpPr>
          <p:spPr>
            <a:xfrm>
              <a:off x="2639616" y="1778834"/>
              <a:ext cx="0" cy="2847706"/>
            </a:xfrm>
            <a:prstGeom prst="straightConnector1">
              <a:avLst/>
            </a:prstGeom>
            <a:ln w="28575">
              <a:solidFill>
                <a:schemeClr val="tx1">
                  <a:lumMod val="65000"/>
                  <a:lumOff val="35000"/>
                </a:schemeClr>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5" name="直線單箭頭接點 34">
              <a:extLst>
                <a:ext uri="{FF2B5EF4-FFF2-40B4-BE49-F238E27FC236}">
                  <a16:creationId xmlns:a16="http://schemas.microsoft.com/office/drawing/2014/main" id="{90E72219-0213-4F46-BA3C-4F23ED90B566}"/>
                </a:ext>
              </a:extLst>
            </p:cNvPr>
            <p:cNvCxnSpPr/>
            <p:nvPr/>
          </p:nvCxnSpPr>
          <p:spPr>
            <a:xfrm>
              <a:off x="8972216" y="1720810"/>
              <a:ext cx="12877" cy="2731388"/>
            </a:xfrm>
            <a:prstGeom prst="straightConnector1">
              <a:avLst/>
            </a:prstGeom>
            <a:ln w="28575">
              <a:solidFill>
                <a:schemeClr val="tx1">
                  <a:lumMod val="65000"/>
                  <a:lumOff val="3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6" name="直線單箭頭接點 35">
              <a:extLst>
                <a:ext uri="{FF2B5EF4-FFF2-40B4-BE49-F238E27FC236}">
                  <a16:creationId xmlns:a16="http://schemas.microsoft.com/office/drawing/2014/main" id="{0B901192-AA67-4B8C-8C9E-0156E28DD190}"/>
                </a:ext>
              </a:extLst>
            </p:cNvPr>
            <p:cNvCxnSpPr/>
            <p:nvPr/>
          </p:nvCxnSpPr>
          <p:spPr>
            <a:xfrm flipV="1">
              <a:off x="7582754" y="1678691"/>
              <a:ext cx="0" cy="2773507"/>
            </a:xfrm>
            <a:prstGeom prst="straightConnector1">
              <a:avLst/>
            </a:prstGeom>
            <a:ln w="28575">
              <a:solidFill>
                <a:schemeClr val="tx1">
                  <a:lumMod val="65000"/>
                  <a:lumOff val="3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7" name="直線單箭頭接點 36">
              <a:extLst>
                <a:ext uri="{FF2B5EF4-FFF2-40B4-BE49-F238E27FC236}">
                  <a16:creationId xmlns:a16="http://schemas.microsoft.com/office/drawing/2014/main" id="{2717F787-9E6C-44B1-8FAE-92D7A801F2A0}"/>
                </a:ext>
              </a:extLst>
            </p:cNvPr>
            <p:cNvCxnSpPr/>
            <p:nvPr/>
          </p:nvCxnSpPr>
          <p:spPr>
            <a:xfrm>
              <a:off x="8268030" y="1678423"/>
              <a:ext cx="0" cy="2773774"/>
            </a:xfrm>
            <a:prstGeom prst="straightConnector1">
              <a:avLst/>
            </a:prstGeom>
            <a:ln w="28575">
              <a:solidFill>
                <a:schemeClr val="tx1">
                  <a:lumMod val="65000"/>
                  <a:lumOff val="3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8" name="直線單箭頭接點 37">
              <a:extLst>
                <a:ext uri="{FF2B5EF4-FFF2-40B4-BE49-F238E27FC236}">
                  <a16:creationId xmlns:a16="http://schemas.microsoft.com/office/drawing/2014/main" id="{6244988D-BB25-491D-A930-DA7495A44A52}"/>
                </a:ext>
              </a:extLst>
            </p:cNvPr>
            <p:cNvCxnSpPr/>
            <p:nvPr/>
          </p:nvCxnSpPr>
          <p:spPr>
            <a:xfrm flipV="1">
              <a:off x="3531438" y="836712"/>
              <a:ext cx="3428658" cy="12077"/>
            </a:xfrm>
            <a:prstGeom prst="straightConnector1">
              <a:avLst/>
            </a:prstGeom>
            <a:ln w="28575">
              <a:solidFill>
                <a:schemeClr val="tx1">
                  <a:lumMod val="65000"/>
                  <a:lumOff val="3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9" name="直線單箭頭接點 38">
              <a:extLst>
                <a:ext uri="{FF2B5EF4-FFF2-40B4-BE49-F238E27FC236}">
                  <a16:creationId xmlns:a16="http://schemas.microsoft.com/office/drawing/2014/main" id="{A2918140-9AAE-402B-88C3-31EA0A31DFD9}"/>
                </a:ext>
              </a:extLst>
            </p:cNvPr>
            <p:cNvCxnSpPr/>
            <p:nvPr/>
          </p:nvCxnSpPr>
          <p:spPr>
            <a:xfrm flipH="1">
              <a:off x="3547413" y="1700808"/>
              <a:ext cx="3407593" cy="0"/>
            </a:xfrm>
            <a:prstGeom prst="straightConnector1">
              <a:avLst/>
            </a:prstGeom>
            <a:ln w="28575">
              <a:solidFill>
                <a:schemeClr val="tx1">
                  <a:lumMod val="65000"/>
                  <a:lumOff val="35000"/>
                </a:schemeClr>
              </a:solidFill>
              <a:tailEnd type="arrow"/>
            </a:ln>
          </p:spPr>
          <p:style>
            <a:lnRef idx="1">
              <a:schemeClr val="accent1"/>
            </a:lnRef>
            <a:fillRef idx="0">
              <a:schemeClr val="accent1"/>
            </a:fillRef>
            <a:effectRef idx="0">
              <a:schemeClr val="accent1"/>
            </a:effectRef>
            <a:fontRef idx="minor">
              <a:schemeClr val="tx1"/>
            </a:fontRef>
          </p:style>
        </p:cxnSp>
        <p:sp>
          <p:nvSpPr>
            <p:cNvPr id="40" name="文字方塊 39">
              <a:extLst>
                <a:ext uri="{FF2B5EF4-FFF2-40B4-BE49-F238E27FC236}">
                  <a16:creationId xmlns:a16="http://schemas.microsoft.com/office/drawing/2014/main" id="{5829FA3D-7B4E-43E4-949F-6B0FB7A95E94}"/>
                </a:ext>
              </a:extLst>
            </p:cNvPr>
            <p:cNvSpPr txBox="1"/>
            <p:nvPr/>
          </p:nvSpPr>
          <p:spPr>
            <a:xfrm>
              <a:off x="3725362" y="893662"/>
              <a:ext cx="1073676" cy="373995"/>
            </a:xfrm>
            <a:prstGeom prst="rect">
              <a:avLst/>
            </a:prstGeom>
            <a:noFill/>
          </p:spPr>
          <p:txBody>
            <a:bodyPr wrap="none" rtlCol="0">
              <a:spAutoFit/>
            </a:bodyPr>
            <a:lstStyle/>
            <a:p>
              <a:r>
                <a:rPr lang="en-US" altLang="zh-TW" sz="1400" b="1" dirty="0">
                  <a:latin typeface="微軟正黑體" panose="020B0604030504040204" pitchFamily="34" charset="-120"/>
                  <a:ea typeface="微軟正黑體" panose="020B0604030504040204" pitchFamily="34" charset="-120"/>
                </a:rPr>
                <a:t>(10)</a:t>
              </a:r>
              <a:r>
                <a:rPr lang="zh-TW" altLang="en-US" sz="1400" b="1" dirty="0">
                  <a:latin typeface="微軟正黑體" panose="020B0604030504040204" pitchFamily="34" charset="-120"/>
                  <a:ea typeface="微軟正黑體" panose="020B0604030504040204" pitchFamily="34" charset="-120"/>
                </a:rPr>
                <a:t>付款</a:t>
              </a:r>
            </a:p>
          </p:txBody>
        </p:sp>
        <p:cxnSp>
          <p:nvCxnSpPr>
            <p:cNvPr id="41" name="直線單箭頭接點 40">
              <a:extLst>
                <a:ext uri="{FF2B5EF4-FFF2-40B4-BE49-F238E27FC236}">
                  <a16:creationId xmlns:a16="http://schemas.microsoft.com/office/drawing/2014/main" id="{4540FD96-157E-4258-A54A-885CD0410D0D}"/>
                </a:ext>
              </a:extLst>
            </p:cNvPr>
            <p:cNvCxnSpPr/>
            <p:nvPr/>
          </p:nvCxnSpPr>
          <p:spPr>
            <a:xfrm flipH="1">
              <a:off x="3531437" y="5517232"/>
              <a:ext cx="3407593" cy="0"/>
            </a:xfrm>
            <a:prstGeom prst="straightConnector1">
              <a:avLst/>
            </a:prstGeom>
            <a:ln w="28575">
              <a:solidFill>
                <a:schemeClr val="tx1">
                  <a:lumMod val="65000"/>
                  <a:lumOff val="3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2" name="直線單箭頭接點 41">
              <a:extLst>
                <a:ext uri="{FF2B5EF4-FFF2-40B4-BE49-F238E27FC236}">
                  <a16:creationId xmlns:a16="http://schemas.microsoft.com/office/drawing/2014/main" id="{5E5FE6E9-5A24-49BF-B1D9-85776018E0CF}"/>
                </a:ext>
              </a:extLst>
            </p:cNvPr>
            <p:cNvCxnSpPr/>
            <p:nvPr/>
          </p:nvCxnSpPr>
          <p:spPr>
            <a:xfrm flipH="1">
              <a:off x="3531438" y="4581128"/>
              <a:ext cx="3407593" cy="0"/>
            </a:xfrm>
            <a:prstGeom prst="straightConnector1">
              <a:avLst/>
            </a:prstGeom>
            <a:ln w="28575">
              <a:solidFill>
                <a:schemeClr val="tx1">
                  <a:lumMod val="65000"/>
                  <a:lumOff val="3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3" name="直線單箭頭接點 42">
              <a:extLst>
                <a:ext uri="{FF2B5EF4-FFF2-40B4-BE49-F238E27FC236}">
                  <a16:creationId xmlns:a16="http://schemas.microsoft.com/office/drawing/2014/main" id="{A236A4F6-7723-4CFE-ABB7-44B3B26A9C47}"/>
                </a:ext>
              </a:extLst>
            </p:cNvPr>
            <p:cNvCxnSpPr/>
            <p:nvPr/>
          </p:nvCxnSpPr>
          <p:spPr>
            <a:xfrm>
              <a:off x="3531437" y="5013176"/>
              <a:ext cx="3407594" cy="0"/>
            </a:xfrm>
            <a:prstGeom prst="straightConnector1">
              <a:avLst/>
            </a:prstGeom>
            <a:ln w="28575">
              <a:solidFill>
                <a:schemeClr val="tx1">
                  <a:lumMod val="65000"/>
                  <a:lumOff val="35000"/>
                </a:schemeClr>
              </a:solidFill>
              <a:tailEnd type="arrow"/>
            </a:ln>
          </p:spPr>
          <p:style>
            <a:lnRef idx="1">
              <a:schemeClr val="accent1"/>
            </a:lnRef>
            <a:fillRef idx="0">
              <a:schemeClr val="accent1"/>
            </a:fillRef>
            <a:effectRef idx="0">
              <a:schemeClr val="accent1"/>
            </a:effectRef>
            <a:fontRef idx="minor">
              <a:schemeClr val="tx1"/>
            </a:fontRef>
          </p:style>
        </p:cxnSp>
      </p:grpSp>
      <p:cxnSp>
        <p:nvCxnSpPr>
          <p:cNvPr id="44" name="直接连接符 33">
            <a:extLst>
              <a:ext uri="{FF2B5EF4-FFF2-40B4-BE49-F238E27FC236}">
                <a16:creationId xmlns:a16="http://schemas.microsoft.com/office/drawing/2014/main" id="{E8CC7A2F-BD8E-4E50-8052-08B09B3A928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298592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barn(inVertical)">
                                      <p:cBhvr>
                                        <p:cTn id="11" dur="500"/>
                                        <p:tgtEl>
                                          <p:spTgt spid="26"/>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44"/>
                                        </p:tgtEl>
                                        <p:attrNameLst>
                                          <p:attrName>style.visibility</p:attrName>
                                        </p:attrNameLst>
                                      </p:cBhvr>
                                      <p:to>
                                        <p:strVal val="visible"/>
                                      </p:to>
                                    </p:set>
                                    <p:anim calcmode="lin" valueType="num">
                                      <p:cBhvr additive="base">
                                        <p:cTn id="15" dur="500" fill="hold"/>
                                        <p:tgtEl>
                                          <p:spTgt spid="44"/>
                                        </p:tgtEl>
                                        <p:attrNameLst>
                                          <p:attrName>ppt_x</p:attrName>
                                        </p:attrNameLst>
                                      </p:cBhvr>
                                      <p:tavLst>
                                        <p:tav tm="0">
                                          <p:val>
                                            <p:strVal val="0-#ppt_w/2"/>
                                          </p:val>
                                        </p:tav>
                                        <p:tav tm="100000">
                                          <p:val>
                                            <p:strVal val="#ppt_x"/>
                                          </p:val>
                                        </p:tav>
                                      </p:tavLst>
                                    </p:anim>
                                    <p:anim calcmode="lin" valueType="num">
                                      <p:cBhvr additive="base">
                                        <p:cTn id="16" dur="500" fill="hold"/>
                                        <p:tgtEl>
                                          <p:spTgt spid="44"/>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grpId="0" nodeType="afterEffect">
                                  <p:stCondLst>
                                    <p:cond delay="0"/>
                                  </p:stCondLst>
                                  <p:childTnLst>
                                    <p:set>
                                      <p:cBhvr>
                                        <p:cTn id="19" dur="1" fill="hold">
                                          <p:stCondLst>
                                            <p:cond delay="0"/>
                                          </p:stCondLst>
                                        </p:cTn>
                                        <p:tgtEl>
                                          <p:spTgt spid="34"/>
                                        </p:tgtEl>
                                        <p:attrNameLst>
                                          <p:attrName>style.visibility</p:attrName>
                                        </p:attrNameLst>
                                      </p:cBhvr>
                                      <p:to>
                                        <p:strVal val="visible"/>
                                      </p:to>
                                    </p:set>
                                    <p:anim calcmode="lin" valueType="num">
                                      <p:cBhvr additive="base">
                                        <p:cTn id="20" dur="500" fill="hold"/>
                                        <p:tgtEl>
                                          <p:spTgt spid="34"/>
                                        </p:tgtEl>
                                        <p:attrNameLst>
                                          <p:attrName>ppt_x</p:attrName>
                                        </p:attrNameLst>
                                      </p:cBhvr>
                                      <p:tavLst>
                                        <p:tav tm="0">
                                          <p:val>
                                            <p:strVal val="#ppt_x"/>
                                          </p:val>
                                        </p:tav>
                                        <p:tav tm="100000">
                                          <p:val>
                                            <p:strVal val="#ppt_x"/>
                                          </p:val>
                                        </p:tav>
                                      </p:tavLst>
                                    </p:anim>
                                    <p:anim calcmode="lin" valueType="num">
                                      <p:cBhvr additive="base">
                                        <p:cTn id="21" dur="500" fill="hold"/>
                                        <p:tgtEl>
                                          <p:spTgt spid="34"/>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53" presetClass="entr" presetSubtype="16" fill="hold" nodeType="after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p:cTn id="25" dur="500" fill="hold"/>
                                        <p:tgtEl>
                                          <p:spTgt spid="10"/>
                                        </p:tgtEl>
                                        <p:attrNameLst>
                                          <p:attrName>ppt_w</p:attrName>
                                        </p:attrNameLst>
                                      </p:cBhvr>
                                      <p:tavLst>
                                        <p:tav tm="0">
                                          <p:val>
                                            <p:fltVal val="0"/>
                                          </p:val>
                                        </p:tav>
                                        <p:tav tm="100000">
                                          <p:val>
                                            <p:strVal val="#ppt_w"/>
                                          </p:val>
                                        </p:tav>
                                      </p:tavLst>
                                    </p:anim>
                                    <p:anim calcmode="lin" valueType="num">
                                      <p:cBhvr>
                                        <p:cTn id="26" dur="500" fill="hold"/>
                                        <p:tgtEl>
                                          <p:spTgt spid="10"/>
                                        </p:tgtEl>
                                        <p:attrNameLst>
                                          <p:attrName>ppt_h</p:attrName>
                                        </p:attrNameLst>
                                      </p:cBhvr>
                                      <p:tavLst>
                                        <p:tav tm="0">
                                          <p:val>
                                            <p:fltVal val="0"/>
                                          </p:val>
                                        </p:tav>
                                        <p:tav tm="100000">
                                          <p:val>
                                            <p:strVal val="#ppt_h"/>
                                          </p:val>
                                        </p:tav>
                                      </p:tavLst>
                                    </p:anim>
                                    <p:animEffect transition="in" filter="fade">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4" grpId="0"/>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499804" y="393820"/>
            <a:ext cx="508571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6-1 </a:t>
            </a:r>
            <a:r>
              <a:rPr lang="zh-TW" altLang="en-US" sz="2400" b="1" dirty="0">
                <a:solidFill>
                  <a:srgbClr val="E06741"/>
                </a:solidFill>
              </a:rPr>
              <a:t>實務案例─巴克萊銀行貿易融資</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4" name="文字方塊 33">
            <a:extLst>
              <a:ext uri="{FF2B5EF4-FFF2-40B4-BE49-F238E27FC236}">
                <a16:creationId xmlns:a16="http://schemas.microsoft.com/office/drawing/2014/main" id="{73EA10E1-7638-4516-B61E-4B64E154AD56}"/>
              </a:ext>
            </a:extLst>
          </p:cNvPr>
          <p:cNvSpPr txBox="1"/>
          <p:nvPr/>
        </p:nvSpPr>
        <p:spPr>
          <a:xfrm>
            <a:off x="1740261" y="1015621"/>
            <a:ext cx="9571067" cy="497444"/>
          </a:xfrm>
          <a:prstGeom prst="rect">
            <a:avLst/>
          </a:prstGeom>
          <a:noFill/>
        </p:spPr>
        <p:txBody>
          <a:bodyPr wrap="square" rtlCol="0">
            <a:spAutoFit/>
          </a:bodyPr>
          <a:lstStyle/>
          <a:p>
            <a:pPr marL="342900" indent="-342900">
              <a:lnSpc>
                <a:spcPct val="150000"/>
              </a:lnSpc>
              <a:buBlip>
                <a:blip r:embed="rId3"/>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巴克萊銀行過去跨國貿易融資交易流程</a:t>
            </a:r>
          </a:p>
        </p:txBody>
      </p:sp>
      <p:sp>
        <p:nvSpPr>
          <p:cNvPr id="26" name="文字方塊 25">
            <a:extLst>
              <a:ext uri="{FF2B5EF4-FFF2-40B4-BE49-F238E27FC236}">
                <a16:creationId xmlns:a16="http://schemas.microsoft.com/office/drawing/2014/main" id="{4395D4FE-2FC0-4BD2-9BD3-55FB3C9BD0BF}"/>
              </a:ext>
            </a:extLst>
          </p:cNvPr>
          <p:cNvSpPr txBox="1"/>
          <p:nvPr/>
        </p:nvSpPr>
        <p:spPr>
          <a:xfrm>
            <a:off x="6574666"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案例區塊鏈應用</a:t>
            </a:r>
          </a:p>
        </p:txBody>
      </p:sp>
      <p:grpSp>
        <p:nvGrpSpPr>
          <p:cNvPr id="45" name="群組 44">
            <a:extLst>
              <a:ext uri="{FF2B5EF4-FFF2-40B4-BE49-F238E27FC236}">
                <a16:creationId xmlns:a16="http://schemas.microsoft.com/office/drawing/2014/main" id="{E4535ADD-ED3A-4097-803F-E7361B6D8094}"/>
              </a:ext>
            </a:extLst>
          </p:cNvPr>
          <p:cNvGrpSpPr/>
          <p:nvPr/>
        </p:nvGrpSpPr>
        <p:grpSpPr>
          <a:xfrm>
            <a:off x="1915064" y="1575353"/>
            <a:ext cx="8698782" cy="5009862"/>
            <a:chOff x="982666" y="2172488"/>
            <a:chExt cx="7344816" cy="4316422"/>
          </a:xfrm>
        </p:grpSpPr>
        <p:sp>
          <p:nvSpPr>
            <p:cNvPr id="46" name="文字方塊 45">
              <a:extLst>
                <a:ext uri="{FF2B5EF4-FFF2-40B4-BE49-F238E27FC236}">
                  <a16:creationId xmlns:a16="http://schemas.microsoft.com/office/drawing/2014/main" id="{1C9561BE-1250-4DFF-8FE5-F52ACF230922}"/>
                </a:ext>
              </a:extLst>
            </p:cNvPr>
            <p:cNvSpPr txBox="1"/>
            <p:nvPr/>
          </p:nvSpPr>
          <p:spPr>
            <a:xfrm>
              <a:off x="5963206" y="2427539"/>
              <a:ext cx="2004236" cy="290398"/>
            </a:xfrm>
            <a:prstGeom prst="rect">
              <a:avLst/>
            </a:prstGeom>
            <a:solidFill>
              <a:schemeClr val="accent2">
                <a:lumMod val="20000"/>
                <a:lumOff val="80000"/>
              </a:schemeClr>
            </a:solidFill>
            <a:ln w="19050">
              <a:solidFill>
                <a:schemeClr val="tx2"/>
              </a:solidFill>
            </a:ln>
          </p:spPr>
          <p:txBody>
            <a:bodyPr wrap="square" rtlCol="0">
              <a:spAutoFit/>
            </a:bodyPr>
            <a:lstStyle/>
            <a:p>
              <a:pPr algn="ctr"/>
              <a:r>
                <a:rPr lang="en-US" altLang="zh-TW" sz="1600" b="1" dirty="0">
                  <a:latin typeface="微軟正黑體" panose="020B0604030504040204" pitchFamily="34" charset="-120"/>
                  <a:ea typeface="微軟正黑體" panose="020B0604030504040204" pitchFamily="34" charset="-120"/>
                </a:rPr>
                <a:t>Seychelles(P2)</a:t>
              </a:r>
              <a:r>
                <a:rPr lang="zh-TW" altLang="en-US" sz="1600" b="1" dirty="0">
                  <a:latin typeface="微軟正黑體" panose="020B0604030504040204" pitchFamily="34" charset="-120"/>
                  <a:ea typeface="微軟正黑體" panose="020B0604030504040204" pitchFamily="34" charset="-120"/>
                </a:rPr>
                <a:t>買方</a:t>
              </a:r>
            </a:p>
          </p:txBody>
        </p:sp>
        <p:sp>
          <p:nvSpPr>
            <p:cNvPr id="47" name="文字方塊 46">
              <a:extLst>
                <a:ext uri="{FF2B5EF4-FFF2-40B4-BE49-F238E27FC236}">
                  <a16:creationId xmlns:a16="http://schemas.microsoft.com/office/drawing/2014/main" id="{B15CC723-6F9C-4E09-80D2-1F5D0BAFB9B9}"/>
                </a:ext>
              </a:extLst>
            </p:cNvPr>
            <p:cNvSpPr txBox="1"/>
            <p:nvPr/>
          </p:nvSpPr>
          <p:spPr>
            <a:xfrm>
              <a:off x="1000279" y="2437515"/>
              <a:ext cx="1998712" cy="290398"/>
            </a:xfrm>
            <a:prstGeom prst="rect">
              <a:avLst/>
            </a:prstGeom>
            <a:solidFill>
              <a:schemeClr val="accent2">
                <a:lumMod val="20000"/>
                <a:lumOff val="80000"/>
              </a:schemeClr>
            </a:solidFill>
            <a:ln w="19050">
              <a:solidFill>
                <a:schemeClr val="tx2"/>
              </a:solidFill>
            </a:ln>
          </p:spPr>
          <p:txBody>
            <a:bodyPr wrap="square" rtlCol="0">
              <a:spAutoFit/>
            </a:bodyPr>
            <a:lstStyle/>
            <a:p>
              <a:pPr algn="ctr"/>
              <a:r>
                <a:rPr lang="en-US" altLang="zh-TW" sz="1600" b="1" dirty="0" err="1">
                  <a:latin typeface="微軟正黑體" panose="020B0604030504040204" pitchFamily="34" charset="-120"/>
                  <a:ea typeface="微軟正黑體" panose="020B0604030504040204" pitchFamily="34" charset="-120"/>
                </a:rPr>
                <a:t>Ornua</a:t>
              </a:r>
              <a:r>
                <a:rPr lang="en-US" altLang="zh-TW" sz="1600" b="1" dirty="0">
                  <a:latin typeface="微軟正黑體" panose="020B0604030504040204" pitchFamily="34" charset="-120"/>
                  <a:ea typeface="微軟正黑體" panose="020B0604030504040204" pitchFamily="34" charset="-120"/>
                </a:rPr>
                <a:t>(P1)</a:t>
              </a:r>
              <a:r>
                <a:rPr lang="zh-TW" altLang="en-US" sz="1600" b="1" dirty="0">
                  <a:latin typeface="微軟正黑體" panose="020B0604030504040204" pitchFamily="34" charset="-120"/>
                  <a:ea typeface="微軟正黑體" panose="020B0604030504040204" pitchFamily="34" charset="-120"/>
                </a:rPr>
                <a:t>賣方</a:t>
              </a:r>
            </a:p>
          </p:txBody>
        </p:sp>
        <p:sp>
          <p:nvSpPr>
            <p:cNvPr id="48" name="文字方塊 47">
              <a:extLst>
                <a:ext uri="{FF2B5EF4-FFF2-40B4-BE49-F238E27FC236}">
                  <a16:creationId xmlns:a16="http://schemas.microsoft.com/office/drawing/2014/main" id="{A4297121-9191-4A98-8025-468ECFE138BB}"/>
                </a:ext>
              </a:extLst>
            </p:cNvPr>
            <p:cNvSpPr txBox="1"/>
            <p:nvPr/>
          </p:nvSpPr>
          <p:spPr>
            <a:xfrm>
              <a:off x="3521066" y="2871585"/>
              <a:ext cx="1209688" cy="254239"/>
            </a:xfrm>
            <a:prstGeom prst="rect">
              <a:avLst/>
            </a:prstGeom>
            <a:noFill/>
          </p:spPr>
          <p:txBody>
            <a:bodyPr wrap="none" rtlCol="0">
              <a:spAutoFit/>
            </a:bodyPr>
            <a:lstStyle/>
            <a:p>
              <a:r>
                <a:rPr lang="en-US" altLang="zh-TW" sz="1400" b="1" dirty="0">
                  <a:latin typeface="微軟正黑體" panose="020B0604030504040204" pitchFamily="34" charset="-120"/>
                  <a:ea typeface="微軟正黑體" panose="020B0604030504040204" pitchFamily="34" charset="-120"/>
                </a:rPr>
                <a:t>(1)</a:t>
              </a:r>
              <a:r>
                <a:rPr lang="zh-TW" altLang="en-US" sz="1400" b="1" dirty="0">
                  <a:latin typeface="微軟正黑體" panose="020B0604030504040204" pitchFamily="34" charset="-120"/>
                  <a:ea typeface="微軟正黑體" panose="020B0604030504040204" pitchFamily="34" charset="-120"/>
                </a:rPr>
                <a:t>簽訂買賣契約</a:t>
              </a:r>
            </a:p>
          </p:txBody>
        </p:sp>
        <p:sp>
          <p:nvSpPr>
            <p:cNvPr id="49" name="文字方塊 48">
              <a:extLst>
                <a:ext uri="{FF2B5EF4-FFF2-40B4-BE49-F238E27FC236}">
                  <a16:creationId xmlns:a16="http://schemas.microsoft.com/office/drawing/2014/main" id="{3B63FB97-5087-463F-8F3A-F30398DC6234}"/>
                </a:ext>
              </a:extLst>
            </p:cNvPr>
            <p:cNvSpPr txBox="1"/>
            <p:nvPr/>
          </p:nvSpPr>
          <p:spPr>
            <a:xfrm>
              <a:off x="5879210" y="5523883"/>
              <a:ext cx="2448272" cy="711867"/>
            </a:xfrm>
            <a:prstGeom prst="rect">
              <a:avLst/>
            </a:prstGeom>
            <a:solidFill>
              <a:schemeClr val="accent2">
                <a:lumMod val="20000"/>
                <a:lumOff val="80000"/>
              </a:schemeClr>
            </a:solidFill>
            <a:ln w="19050">
              <a:solidFill>
                <a:schemeClr val="tx2"/>
              </a:solidFill>
            </a:ln>
          </p:spPr>
          <p:txBody>
            <a:bodyPr wrap="square" rtlCol="0">
              <a:spAutoFit/>
            </a:bodyPr>
            <a:lstStyle/>
            <a:p>
              <a:pPr algn="ctr"/>
              <a:r>
                <a:rPr lang="en-US" altLang="zh-TW" sz="1600" b="1" dirty="0">
                  <a:latin typeface="微軟正黑體" panose="020B0604030504040204" pitchFamily="34" charset="-120"/>
                  <a:ea typeface="微軟正黑體" panose="020B0604030504040204" pitchFamily="34" charset="-120"/>
                </a:rPr>
                <a:t>Seychelles(P3)</a:t>
              </a:r>
            </a:p>
            <a:p>
              <a:pPr algn="ctr"/>
              <a:r>
                <a:rPr lang="zh-TW" altLang="en-US" sz="1600" b="1" dirty="0">
                  <a:latin typeface="微軟正黑體" panose="020B0604030504040204" pitchFamily="34" charset="-120"/>
                  <a:ea typeface="微軟正黑體" panose="020B0604030504040204" pitchFamily="34" charset="-120"/>
                </a:rPr>
                <a:t>巴克萊銀行</a:t>
              </a:r>
              <a:endParaRPr lang="en-US" altLang="zh-TW" sz="1600" b="1" dirty="0">
                <a:latin typeface="微軟正黑體" panose="020B0604030504040204" pitchFamily="34" charset="-120"/>
                <a:ea typeface="微軟正黑體" panose="020B0604030504040204" pitchFamily="34" charset="-120"/>
              </a:endParaRPr>
            </a:p>
            <a:p>
              <a:pPr algn="ctr"/>
              <a:r>
                <a:rPr lang="en-US" altLang="zh-TW" sz="1600" b="1" dirty="0">
                  <a:latin typeface="微軟正黑體" panose="020B0604030504040204" pitchFamily="34" charset="-120"/>
                  <a:ea typeface="微軟正黑體" panose="020B0604030504040204" pitchFamily="34" charset="-120"/>
                </a:rPr>
                <a:t>(</a:t>
              </a:r>
              <a:r>
                <a:rPr lang="zh-TW" altLang="en-US" sz="1600" b="1" dirty="0">
                  <a:latin typeface="微軟正黑體" panose="020B0604030504040204" pitchFamily="34" charset="-120"/>
                  <a:ea typeface="微軟正黑體" panose="020B0604030504040204" pitchFamily="34" charset="-120"/>
                </a:rPr>
                <a:t>進出口帳款承購商</a:t>
              </a:r>
              <a:r>
                <a:rPr lang="en-US" altLang="zh-TW" sz="1600" b="1" dirty="0">
                  <a:latin typeface="微軟正黑體" panose="020B0604030504040204" pitchFamily="34" charset="-120"/>
                  <a:ea typeface="微軟正黑體" panose="020B0604030504040204" pitchFamily="34" charset="-120"/>
                </a:rPr>
                <a:t>)</a:t>
              </a:r>
              <a:endParaRPr lang="zh-TW" altLang="en-US" sz="1600" b="1" dirty="0">
                <a:latin typeface="微軟正黑體" panose="020B0604030504040204" pitchFamily="34" charset="-120"/>
                <a:ea typeface="微軟正黑體" panose="020B0604030504040204" pitchFamily="34" charset="-120"/>
              </a:endParaRPr>
            </a:p>
          </p:txBody>
        </p:sp>
        <p:sp>
          <p:nvSpPr>
            <p:cNvPr id="50" name="文字方塊 49">
              <a:extLst>
                <a:ext uri="{FF2B5EF4-FFF2-40B4-BE49-F238E27FC236}">
                  <a16:creationId xmlns:a16="http://schemas.microsoft.com/office/drawing/2014/main" id="{611C402E-6134-4F18-A96B-92343A60DF1E}"/>
                </a:ext>
              </a:extLst>
            </p:cNvPr>
            <p:cNvSpPr txBox="1"/>
            <p:nvPr/>
          </p:nvSpPr>
          <p:spPr>
            <a:xfrm>
              <a:off x="982666" y="5588340"/>
              <a:ext cx="2135348" cy="711867"/>
            </a:xfrm>
            <a:prstGeom prst="rect">
              <a:avLst/>
            </a:prstGeom>
            <a:solidFill>
              <a:schemeClr val="accent2">
                <a:lumMod val="20000"/>
                <a:lumOff val="80000"/>
              </a:schemeClr>
            </a:solidFill>
            <a:ln w="19050">
              <a:solidFill>
                <a:schemeClr val="tx2"/>
              </a:solidFill>
            </a:ln>
          </p:spPr>
          <p:txBody>
            <a:bodyPr wrap="square" rtlCol="0">
              <a:spAutoFit/>
            </a:bodyPr>
            <a:lstStyle/>
            <a:p>
              <a:pPr algn="ctr"/>
              <a:r>
                <a:rPr lang="en-US" altLang="zh-TW" sz="1600" b="1" dirty="0" err="1">
                  <a:latin typeface="微軟正黑體" panose="020B0604030504040204" pitchFamily="34" charset="-120"/>
                  <a:ea typeface="微軟正黑體" panose="020B0604030504040204" pitchFamily="34" charset="-120"/>
                </a:rPr>
                <a:t>Ornua</a:t>
              </a:r>
              <a:r>
                <a:rPr lang="en-US" altLang="zh-TW" sz="1600" b="1" dirty="0">
                  <a:latin typeface="微軟正黑體" panose="020B0604030504040204" pitchFamily="34" charset="-120"/>
                  <a:ea typeface="微軟正黑體" panose="020B0604030504040204" pitchFamily="34" charset="-120"/>
                </a:rPr>
                <a:t>(P4)</a:t>
              </a:r>
            </a:p>
            <a:p>
              <a:pPr algn="ctr"/>
              <a:r>
                <a:rPr lang="zh-TW" altLang="en-US" sz="1600" b="1" dirty="0">
                  <a:latin typeface="微軟正黑體" panose="020B0604030504040204" pitchFamily="34" charset="-120"/>
                  <a:ea typeface="微軟正黑體" panose="020B0604030504040204" pitchFamily="34" charset="-120"/>
                </a:rPr>
                <a:t>巴克萊銀行</a:t>
              </a:r>
              <a:endParaRPr lang="en-US" altLang="zh-TW" sz="1600" b="1" dirty="0">
                <a:latin typeface="微軟正黑體" panose="020B0604030504040204" pitchFamily="34" charset="-120"/>
                <a:ea typeface="微軟正黑體" panose="020B0604030504040204" pitchFamily="34" charset="-120"/>
              </a:endParaRPr>
            </a:p>
            <a:p>
              <a:pPr algn="ctr"/>
              <a:r>
                <a:rPr lang="en-US" altLang="zh-TW" sz="1600" b="1" dirty="0">
                  <a:latin typeface="微軟正黑體" panose="020B0604030504040204" pitchFamily="34" charset="-120"/>
                  <a:ea typeface="微軟正黑體" panose="020B0604030504040204" pitchFamily="34" charset="-120"/>
                </a:rPr>
                <a:t>(</a:t>
              </a:r>
              <a:r>
                <a:rPr lang="zh-TW" altLang="en-US" sz="1600" b="1" dirty="0">
                  <a:latin typeface="微軟正黑體" panose="020B0604030504040204" pitchFamily="34" charset="-120"/>
                  <a:ea typeface="微軟正黑體" panose="020B0604030504040204" pitchFamily="34" charset="-120"/>
                </a:rPr>
                <a:t>出口帳款承購商</a:t>
              </a:r>
              <a:r>
                <a:rPr lang="en-US" altLang="zh-TW" sz="1600" b="1" dirty="0">
                  <a:latin typeface="微軟正黑體" panose="020B0604030504040204" pitchFamily="34" charset="-120"/>
                  <a:ea typeface="微軟正黑體" panose="020B0604030504040204" pitchFamily="34" charset="-120"/>
                </a:rPr>
                <a:t>)</a:t>
              </a:r>
              <a:endParaRPr lang="zh-TW" altLang="en-US" sz="1600" b="1" dirty="0">
                <a:latin typeface="微軟正黑體" panose="020B0604030504040204" pitchFamily="34" charset="-120"/>
                <a:ea typeface="微軟正黑體" panose="020B0604030504040204" pitchFamily="34" charset="-120"/>
              </a:endParaRPr>
            </a:p>
          </p:txBody>
        </p:sp>
        <p:sp>
          <p:nvSpPr>
            <p:cNvPr id="51" name="文字方塊 50">
              <a:extLst>
                <a:ext uri="{FF2B5EF4-FFF2-40B4-BE49-F238E27FC236}">
                  <a16:creationId xmlns:a16="http://schemas.microsoft.com/office/drawing/2014/main" id="{40C4141C-272A-411C-BC3B-5969BF917A89}"/>
                </a:ext>
              </a:extLst>
            </p:cNvPr>
            <p:cNvSpPr txBox="1"/>
            <p:nvPr/>
          </p:nvSpPr>
          <p:spPr>
            <a:xfrm>
              <a:off x="3977867" y="6234671"/>
              <a:ext cx="715275" cy="254239"/>
            </a:xfrm>
            <a:prstGeom prst="rect">
              <a:avLst/>
            </a:prstGeom>
            <a:noFill/>
          </p:spPr>
          <p:txBody>
            <a:bodyPr wrap="none" rtlCol="0">
              <a:spAutoFit/>
            </a:bodyPr>
            <a:lstStyle/>
            <a:p>
              <a:r>
                <a:rPr lang="en-US" altLang="zh-TW" sz="1400" b="1" dirty="0">
                  <a:latin typeface="微軟正黑體" panose="020B0604030504040204" pitchFamily="34" charset="-120"/>
                  <a:ea typeface="微軟正黑體" panose="020B0604030504040204" pitchFamily="34" charset="-120"/>
                </a:rPr>
                <a:t>(14)</a:t>
              </a:r>
              <a:r>
                <a:rPr lang="zh-TW" altLang="en-US" sz="1400" b="1" dirty="0">
                  <a:latin typeface="微軟正黑體" panose="020B0604030504040204" pitchFamily="34" charset="-120"/>
                  <a:ea typeface="微軟正黑體" panose="020B0604030504040204" pitchFamily="34" charset="-120"/>
                </a:rPr>
                <a:t>付款</a:t>
              </a:r>
            </a:p>
          </p:txBody>
        </p:sp>
        <p:sp>
          <p:nvSpPr>
            <p:cNvPr id="52" name="文字方塊 51">
              <a:extLst>
                <a:ext uri="{FF2B5EF4-FFF2-40B4-BE49-F238E27FC236}">
                  <a16:creationId xmlns:a16="http://schemas.microsoft.com/office/drawing/2014/main" id="{26AA5FBF-8EAE-4457-ABF9-8129DD2BB40B}"/>
                </a:ext>
              </a:extLst>
            </p:cNvPr>
            <p:cNvSpPr txBox="1"/>
            <p:nvPr/>
          </p:nvSpPr>
          <p:spPr>
            <a:xfrm>
              <a:off x="7480393" y="3289937"/>
              <a:ext cx="424598" cy="254239"/>
            </a:xfrm>
            <a:prstGeom prst="rect">
              <a:avLst/>
            </a:prstGeom>
            <a:noFill/>
          </p:spPr>
          <p:txBody>
            <a:bodyPr wrap="none" rtlCol="0">
              <a:spAutoFit/>
            </a:bodyPr>
            <a:lstStyle/>
            <a:p>
              <a:r>
                <a:rPr lang="en-US" altLang="zh-TW" sz="1400" b="1" dirty="0">
                  <a:latin typeface="微軟正黑體" panose="020B0604030504040204" pitchFamily="34" charset="-120"/>
                  <a:ea typeface="微軟正黑體" panose="020B0604030504040204" pitchFamily="34" charset="-120"/>
                </a:rPr>
                <a:t>(13)</a:t>
              </a:r>
              <a:endParaRPr lang="zh-TW" altLang="en-US" sz="1400" b="1" dirty="0">
                <a:latin typeface="微軟正黑體" panose="020B0604030504040204" pitchFamily="34" charset="-120"/>
                <a:ea typeface="微軟正黑體" panose="020B0604030504040204" pitchFamily="34" charset="-120"/>
              </a:endParaRPr>
            </a:p>
          </p:txBody>
        </p:sp>
        <p:cxnSp>
          <p:nvCxnSpPr>
            <p:cNvPr id="53" name="直線單箭頭接點 52">
              <a:extLst>
                <a:ext uri="{FF2B5EF4-FFF2-40B4-BE49-F238E27FC236}">
                  <a16:creationId xmlns:a16="http://schemas.microsoft.com/office/drawing/2014/main" id="{B1B3CACF-90C7-4BE0-957A-32BE1B18BFF1}"/>
                </a:ext>
              </a:extLst>
            </p:cNvPr>
            <p:cNvCxnSpPr/>
            <p:nvPr/>
          </p:nvCxnSpPr>
          <p:spPr>
            <a:xfrm>
              <a:off x="3358025" y="6220368"/>
              <a:ext cx="2376225" cy="0"/>
            </a:xfrm>
            <a:prstGeom prst="straightConnector1">
              <a:avLst/>
            </a:prstGeom>
            <a:ln w="28575">
              <a:solidFill>
                <a:schemeClr val="tx1">
                  <a:lumMod val="65000"/>
                  <a:lumOff val="35000"/>
                </a:schemeClr>
              </a:solidFill>
              <a:tailEnd type="arrow"/>
            </a:ln>
          </p:spPr>
          <p:style>
            <a:lnRef idx="1">
              <a:schemeClr val="accent1"/>
            </a:lnRef>
            <a:fillRef idx="0">
              <a:schemeClr val="accent1"/>
            </a:fillRef>
            <a:effectRef idx="0">
              <a:schemeClr val="accent1"/>
            </a:effectRef>
            <a:fontRef idx="minor">
              <a:schemeClr val="tx1"/>
            </a:fontRef>
          </p:style>
        </p:cxnSp>
        <p:sp>
          <p:nvSpPr>
            <p:cNvPr id="54" name="文字方塊 53">
              <a:extLst>
                <a:ext uri="{FF2B5EF4-FFF2-40B4-BE49-F238E27FC236}">
                  <a16:creationId xmlns:a16="http://schemas.microsoft.com/office/drawing/2014/main" id="{F2D7DCAF-CF76-454D-8D81-8AA2E72176BD}"/>
                </a:ext>
              </a:extLst>
            </p:cNvPr>
            <p:cNvSpPr txBox="1"/>
            <p:nvPr/>
          </p:nvSpPr>
          <p:spPr>
            <a:xfrm>
              <a:off x="6424338" y="3302253"/>
              <a:ext cx="337654" cy="254239"/>
            </a:xfrm>
            <a:prstGeom prst="rect">
              <a:avLst/>
            </a:prstGeom>
            <a:noFill/>
          </p:spPr>
          <p:txBody>
            <a:bodyPr wrap="none" rtlCol="0">
              <a:spAutoFit/>
            </a:bodyPr>
            <a:lstStyle/>
            <a:p>
              <a:r>
                <a:rPr lang="en-US" altLang="zh-TW" sz="1400" b="1" dirty="0">
                  <a:latin typeface="微軟正黑體" panose="020B0604030504040204" pitchFamily="34" charset="-120"/>
                  <a:ea typeface="微軟正黑體" panose="020B0604030504040204" pitchFamily="34" charset="-120"/>
                </a:rPr>
                <a:t>(4)</a:t>
              </a:r>
              <a:endParaRPr lang="zh-TW" altLang="en-US" sz="1400" b="1" dirty="0">
                <a:latin typeface="微軟正黑體" panose="020B0604030504040204" pitchFamily="34" charset="-120"/>
                <a:ea typeface="微軟正黑體" panose="020B0604030504040204" pitchFamily="34" charset="-120"/>
              </a:endParaRPr>
            </a:p>
          </p:txBody>
        </p:sp>
        <p:cxnSp>
          <p:nvCxnSpPr>
            <p:cNvPr id="55" name="直線單箭頭接點 54">
              <a:extLst>
                <a:ext uri="{FF2B5EF4-FFF2-40B4-BE49-F238E27FC236}">
                  <a16:creationId xmlns:a16="http://schemas.microsoft.com/office/drawing/2014/main" id="{2335E774-6574-4710-B659-39E864AFC4E5}"/>
                </a:ext>
              </a:extLst>
            </p:cNvPr>
            <p:cNvCxnSpPr/>
            <p:nvPr/>
          </p:nvCxnSpPr>
          <p:spPr>
            <a:xfrm>
              <a:off x="3116562" y="2859587"/>
              <a:ext cx="2758528" cy="0"/>
            </a:xfrm>
            <a:prstGeom prst="straightConnector1">
              <a:avLst/>
            </a:prstGeom>
            <a:ln w="28575">
              <a:solidFill>
                <a:schemeClr val="tx1">
                  <a:lumMod val="65000"/>
                  <a:lumOff val="35000"/>
                </a:schemeClr>
              </a:solidFill>
              <a:tailEnd type="arrow"/>
            </a:ln>
          </p:spPr>
          <p:style>
            <a:lnRef idx="1">
              <a:schemeClr val="accent1"/>
            </a:lnRef>
            <a:fillRef idx="0">
              <a:schemeClr val="accent1"/>
            </a:fillRef>
            <a:effectRef idx="0">
              <a:schemeClr val="accent1"/>
            </a:effectRef>
            <a:fontRef idx="minor">
              <a:schemeClr val="tx1"/>
            </a:fontRef>
          </p:style>
        </p:cxnSp>
        <p:sp>
          <p:nvSpPr>
            <p:cNvPr id="56" name="文字方塊 55">
              <a:extLst>
                <a:ext uri="{FF2B5EF4-FFF2-40B4-BE49-F238E27FC236}">
                  <a16:creationId xmlns:a16="http://schemas.microsoft.com/office/drawing/2014/main" id="{9EC5578A-DCBC-4A7B-805D-AA7C9FD497BB}"/>
                </a:ext>
              </a:extLst>
            </p:cNvPr>
            <p:cNvSpPr txBox="1"/>
            <p:nvPr/>
          </p:nvSpPr>
          <p:spPr>
            <a:xfrm>
              <a:off x="3371829" y="2172488"/>
              <a:ext cx="1645704" cy="254239"/>
            </a:xfrm>
            <a:prstGeom prst="rect">
              <a:avLst/>
            </a:prstGeom>
            <a:noFill/>
          </p:spPr>
          <p:txBody>
            <a:bodyPr wrap="none" rtlCol="0">
              <a:spAutoFit/>
            </a:bodyPr>
            <a:lstStyle/>
            <a:p>
              <a:r>
                <a:rPr lang="en-US" altLang="zh-TW" sz="1400" b="1" dirty="0">
                  <a:latin typeface="微軟正黑體" panose="020B0604030504040204" pitchFamily="34" charset="-120"/>
                  <a:ea typeface="微軟正黑體" panose="020B0604030504040204" pitchFamily="34" charset="-120"/>
                </a:rPr>
                <a:t>(8)</a:t>
              </a:r>
              <a:r>
                <a:rPr lang="zh-TW" altLang="en-US" sz="1400" b="1" dirty="0">
                  <a:latin typeface="微軟正黑體" panose="020B0604030504040204" pitchFamily="34" charset="-120"/>
                  <a:ea typeface="微軟正黑體" panose="020B0604030504040204" pitchFamily="34" charset="-120"/>
                </a:rPr>
                <a:t>出貨及寄送裝船單據</a:t>
              </a:r>
            </a:p>
          </p:txBody>
        </p:sp>
        <p:sp>
          <p:nvSpPr>
            <p:cNvPr id="57" name="文字方塊 56">
              <a:extLst>
                <a:ext uri="{FF2B5EF4-FFF2-40B4-BE49-F238E27FC236}">
                  <a16:creationId xmlns:a16="http://schemas.microsoft.com/office/drawing/2014/main" id="{1932D353-8071-4923-AF9E-F29591CAC711}"/>
                </a:ext>
              </a:extLst>
            </p:cNvPr>
            <p:cNvSpPr txBox="1"/>
            <p:nvPr/>
          </p:nvSpPr>
          <p:spPr>
            <a:xfrm>
              <a:off x="7552140" y="3572573"/>
              <a:ext cx="323899" cy="966105"/>
            </a:xfrm>
            <a:prstGeom prst="rect">
              <a:avLst/>
            </a:prstGeom>
            <a:noFill/>
          </p:spPr>
          <p:txBody>
            <a:bodyPr vert="eaVert" wrap="none" rtlCol="0">
              <a:spAutoFit/>
            </a:bodyPr>
            <a:lstStyle/>
            <a:p>
              <a:r>
                <a:rPr lang="zh-TW" altLang="en-US" sz="1400" b="1" dirty="0">
                  <a:latin typeface="微軟正黑體" panose="020B0604030504040204" pitchFamily="34" charset="-120"/>
                  <a:ea typeface="微軟正黑體" panose="020B0604030504040204" pitchFamily="34" charset="-120"/>
                </a:rPr>
                <a:t>到期支付貨款</a:t>
              </a:r>
            </a:p>
          </p:txBody>
        </p:sp>
        <p:sp>
          <p:nvSpPr>
            <p:cNvPr id="58" name="文字方塊 57">
              <a:extLst>
                <a:ext uri="{FF2B5EF4-FFF2-40B4-BE49-F238E27FC236}">
                  <a16:creationId xmlns:a16="http://schemas.microsoft.com/office/drawing/2014/main" id="{F0D12092-9770-42D3-8986-0C3627F3591D}"/>
                </a:ext>
              </a:extLst>
            </p:cNvPr>
            <p:cNvSpPr txBox="1"/>
            <p:nvPr/>
          </p:nvSpPr>
          <p:spPr>
            <a:xfrm>
              <a:off x="6986405" y="3547886"/>
              <a:ext cx="323899" cy="1114410"/>
            </a:xfrm>
            <a:prstGeom prst="rect">
              <a:avLst/>
            </a:prstGeom>
            <a:noFill/>
          </p:spPr>
          <p:txBody>
            <a:bodyPr vert="eaVert" wrap="none" rtlCol="0">
              <a:spAutoFit/>
            </a:bodyPr>
            <a:lstStyle/>
            <a:p>
              <a:r>
                <a:rPr lang="zh-TW" altLang="en-US" sz="1400" b="1" dirty="0">
                  <a:latin typeface="微軟正黑體" panose="020B0604030504040204" pitchFamily="34" charset="-120"/>
                  <a:ea typeface="微軟正黑體" panose="020B0604030504040204" pitchFamily="34" charset="-120"/>
                </a:rPr>
                <a:t>到期前通知付款</a:t>
              </a:r>
            </a:p>
          </p:txBody>
        </p:sp>
        <p:sp>
          <p:nvSpPr>
            <p:cNvPr id="59" name="文字方塊 58">
              <a:extLst>
                <a:ext uri="{FF2B5EF4-FFF2-40B4-BE49-F238E27FC236}">
                  <a16:creationId xmlns:a16="http://schemas.microsoft.com/office/drawing/2014/main" id="{2EEAC081-295A-4F1F-ACBF-1F4AEA3D6C4C}"/>
                </a:ext>
              </a:extLst>
            </p:cNvPr>
            <p:cNvSpPr txBox="1"/>
            <p:nvPr/>
          </p:nvSpPr>
          <p:spPr>
            <a:xfrm>
              <a:off x="6940342" y="3283114"/>
              <a:ext cx="424598" cy="254239"/>
            </a:xfrm>
            <a:prstGeom prst="rect">
              <a:avLst/>
            </a:prstGeom>
            <a:noFill/>
          </p:spPr>
          <p:txBody>
            <a:bodyPr wrap="none" rtlCol="0">
              <a:spAutoFit/>
            </a:bodyPr>
            <a:lstStyle/>
            <a:p>
              <a:r>
                <a:rPr lang="en-US" altLang="zh-TW" sz="1400" b="1" dirty="0">
                  <a:latin typeface="微軟正黑體" panose="020B0604030504040204" pitchFamily="34" charset="-120"/>
                  <a:ea typeface="微軟正黑體" panose="020B0604030504040204" pitchFamily="34" charset="-120"/>
                </a:rPr>
                <a:t>(12)</a:t>
              </a:r>
              <a:endParaRPr lang="zh-TW" altLang="en-US" sz="1400" b="1" dirty="0">
                <a:latin typeface="微軟正黑體" panose="020B0604030504040204" pitchFamily="34" charset="-120"/>
                <a:ea typeface="微軟正黑體" panose="020B0604030504040204" pitchFamily="34" charset="-120"/>
              </a:endParaRPr>
            </a:p>
          </p:txBody>
        </p:sp>
        <p:sp>
          <p:nvSpPr>
            <p:cNvPr id="60" name="文字方塊 59">
              <a:extLst>
                <a:ext uri="{FF2B5EF4-FFF2-40B4-BE49-F238E27FC236}">
                  <a16:creationId xmlns:a16="http://schemas.microsoft.com/office/drawing/2014/main" id="{3FF8D2E4-6226-467D-A894-FC044111B92D}"/>
                </a:ext>
              </a:extLst>
            </p:cNvPr>
            <p:cNvSpPr txBox="1"/>
            <p:nvPr/>
          </p:nvSpPr>
          <p:spPr>
            <a:xfrm>
              <a:off x="6444026" y="3578035"/>
              <a:ext cx="323899" cy="669494"/>
            </a:xfrm>
            <a:prstGeom prst="rect">
              <a:avLst/>
            </a:prstGeom>
            <a:noFill/>
          </p:spPr>
          <p:txBody>
            <a:bodyPr vert="eaVert" wrap="none" rtlCol="0">
              <a:spAutoFit/>
            </a:bodyPr>
            <a:lstStyle/>
            <a:p>
              <a:r>
                <a:rPr lang="zh-TW" altLang="en-US" sz="1400" b="1" dirty="0">
                  <a:latin typeface="微軟正黑體" panose="020B0604030504040204" pitchFamily="34" charset="-120"/>
                  <a:ea typeface="微軟正黑體" panose="020B0604030504040204" pitchFamily="34" charset="-120"/>
                </a:rPr>
                <a:t>徵信調查</a:t>
              </a:r>
            </a:p>
          </p:txBody>
        </p:sp>
        <p:sp>
          <p:nvSpPr>
            <p:cNvPr id="61" name="文字方塊 60">
              <a:extLst>
                <a:ext uri="{FF2B5EF4-FFF2-40B4-BE49-F238E27FC236}">
                  <a16:creationId xmlns:a16="http://schemas.microsoft.com/office/drawing/2014/main" id="{FFB31A0F-FB1E-4615-A791-CB8BCEE35050}"/>
                </a:ext>
              </a:extLst>
            </p:cNvPr>
            <p:cNvSpPr txBox="1"/>
            <p:nvPr/>
          </p:nvSpPr>
          <p:spPr>
            <a:xfrm>
              <a:off x="3747034" y="5874631"/>
              <a:ext cx="1005953" cy="254239"/>
            </a:xfrm>
            <a:prstGeom prst="rect">
              <a:avLst/>
            </a:prstGeom>
            <a:noFill/>
          </p:spPr>
          <p:txBody>
            <a:bodyPr wrap="none" rtlCol="0">
              <a:spAutoFit/>
            </a:bodyPr>
            <a:lstStyle/>
            <a:p>
              <a:r>
                <a:rPr lang="en-US" altLang="zh-TW" sz="1400" b="1" dirty="0">
                  <a:latin typeface="微軟正黑體" panose="020B0604030504040204" pitchFamily="34" charset="-120"/>
                  <a:ea typeface="微軟正黑體" panose="020B0604030504040204" pitchFamily="34" charset="-120"/>
                </a:rPr>
                <a:t>(11)</a:t>
              </a:r>
              <a:r>
                <a:rPr lang="zh-TW" altLang="en-US" sz="1400" b="1" dirty="0">
                  <a:latin typeface="微軟正黑體" panose="020B0604030504040204" pitchFamily="34" charset="-120"/>
                  <a:ea typeface="微軟正黑體" panose="020B0604030504040204" pitchFamily="34" charset="-120"/>
                </a:rPr>
                <a:t>債權移轉</a:t>
              </a:r>
            </a:p>
          </p:txBody>
        </p:sp>
        <p:sp>
          <p:nvSpPr>
            <p:cNvPr id="62" name="文字方塊 61">
              <a:extLst>
                <a:ext uri="{FF2B5EF4-FFF2-40B4-BE49-F238E27FC236}">
                  <a16:creationId xmlns:a16="http://schemas.microsoft.com/office/drawing/2014/main" id="{09478E78-7EBD-4C8C-B4B1-7211D191EDA4}"/>
                </a:ext>
              </a:extLst>
            </p:cNvPr>
            <p:cNvSpPr txBox="1"/>
            <p:nvPr/>
          </p:nvSpPr>
          <p:spPr>
            <a:xfrm>
              <a:off x="3665068" y="5523883"/>
              <a:ext cx="1209688" cy="254239"/>
            </a:xfrm>
            <a:prstGeom prst="rect">
              <a:avLst/>
            </a:prstGeom>
            <a:noFill/>
          </p:spPr>
          <p:txBody>
            <a:bodyPr wrap="none" rtlCol="0">
              <a:spAutoFit/>
            </a:bodyPr>
            <a:lstStyle/>
            <a:p>
              <a:r>
                <a:rPr lang="en-US" altLang="zh-TW" sz="1400" b="1" dirty="0">
                  <a:latin typeface="微軟正黑體" panose="020B0604030504040204" pitchFamily="34" charset="-120"/>
                  <a:ea typeface="微軟正黑體" panose="020B0604030504040204" pitchFamily="34" charset="-120"/>
                </a:rPr>
                <a:t>(5)</a:t>
              </a:r>
              <a:r>
                <a:rPr lang="zh-TW" altLang="en-US" sz="1400" b="1" dirty="0">
                  <a:latin typeface="微軟正黑體" panose="020B0604030504040204" pitchFamily="34" charset="-120"/>
                  <a:ea typeface="微軟正黑體" panose="020B0604030504040204" pitchFamily="34" charset="-120"/>
                </a:rPr>
                <a:t>審核結果通知</a:t>
              </a:r>
            </a:p>
          </p:txBody>
        </p:sp>
        <p:cxnSp>
          <p:nvCxnSpPr>
            <p:cNvPr id="63" name="直線單箭頭接點 62">
              <a:extLst>
                <a:ext uri="{FF2B5EF4-FFF2-40B4-BE49-F238E27FC236}">
                  <a16:creationId xmlns:a16="http://schemas.microsoft.com/office/drawing/2014/main" id="{84841582-E32D-494D-AA28-3253D2E8B316}"/>
                </a:ext>
              </a:extLst>
            </p:cNvPr>
            <p:cNvCxnSpPr/>
            <p:nvPr/>
          </p:nvCxnSpPr>
          <p:spPr>
            <a:xfrm>
              <a:off x="3357986" y="5523883"/>
              <a:ext cx="2376225" cy="0"/>
            </a:xfrm>
            <a:prstGeom prst="straightConnector1">
              <a:avLst/>
            </a:prstGeom>
            <a:ln w="28575">
              <a:solidFill>
                <a:schemeClr val="tx1">
                  <a:lumMod val="65000"/>
                  <a:lumOff val="3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64" name="直線單箭頭接點 63">
              <a:extLst>
                <a:ext uri="{FF2B5EF4-FFF2-40B4-BE49-F238E27FC236}">
                  <a16:creationId xmlns:a16="http://schemas.microsoft.com/office/drawing/2014/main" id="{9DC0DCB4-8D69-44EF-A3EC-59D1B6EC209E}"/>
                </a:ext>
              </a:extLst>
            </p:cNvPr>
            <p:cNvCxnSpPr/>
            <p:nvPr/>
          </p:nvCxnSpPr>
          <p:spPr>
            <a:xfrm flipH="1">
              <a:off x="3332586" y="5896207"/>
              <a:ext cx="2376225" cy="0"/>
            </a:xfrm>
            <a:prstGeom prst="straightConnector1">
              <a:avLst/>
            </a:prstGeom>
            <a:ln w="28575">
              <a:solidFill>
                <a:schemeClr val="tx1">
                  <a:lumMod val="65000"/>
                  <a:lumOff val="35000"/>
                </a:schemeClr>
              </a:solidFill>
              <a:tailEnd type="arrow"/>
            </a:ln>
          </p:spPr>
          <p:style>
            <a:lnRef idx="1">
              <a:schemeClr val="accent1"/>
            </a:lnRef>
            <a:fillRef idx="0">
              <a:schemeClr val="accent1"/>
            </a:fillRef>
            <a:effectRef idx="0">
              <a:schemeClr val="accent1"/>
            </a:effectRef>
            <a:fontRef idx="minor">
              <a:schemeClr val="tx1"/>
            </a:fontRef>
          </p:style>
        </p:cxnSp>
        <p:sp>
          <p:nvSpPr>
            <p:cNvPr id="65" name="文字方塊 64">
              <a:extLst>
                <a:ext uri="{FF2B5EF4-FFF2-40B4-BE49-F238E27FC236}">
                  <a16:creationId xmlns:a16="http://schemas.microsoft.com/office/drawing/2014/main" id="{ABFC6F97-5794-40BC-9357-60F6A1D61CED}"/>
                </a:ext>
              </a:extLst>
            </p:cNvPr>
            <p:cNvSpPr txBox="1"/>
            <p:nvPr/>
          </p:nvSpPr>
          <p:spPr>
            <a:xfrm>
              <a:off x="3746995" y="5163843"/>
              <a:ext cx="919009" cy="254239"/>
            </a:xfrm>
            <a:prstGeom prst="rect">
              <a:avLst/>
            </a:prstGeom>
            <a:noFill/>
          </p:spPr>
          <p:txBody>
            <a:bodyPr wrap="none" rtlCol="0">
              <a:spAutoFit/>
            </a:bodyPr>
            <a:lstStyle/>
            <a:p>
              <a:r>
                <a:rPr lang="en-US" altLang="zh-TW" sz="1400" b="1" dirty="0">
                  <a:latin typeface="微軟正黑體" panose="020B0604030504040204" pitchFamily="34" charset="-120"/>
                  <a:ea typeface="微軟正黑體" panose="020B0604030504040204" pitchFamily="34" charset="-120"/>
                </a:rPr>
                <a:t>(3)</a:t>
              </a:r>
              <a:r>
                <a:rPr lang="zh-TW" altLang="en-US" sz="1400" b="1" dirty="0">
                  <a:latin typeface="微軟正黑體" panose="020B0604030504040204" pitchFamily="34" charset="-120"/>
                  <a:ea typeface="微軟正黑體" panose="020B0604030504040204" pitchFamily="34" charset="-120"/>
                </a:rPr>
                <a:t>申請額度</a:t>
              </a:r>
            </a:p>
          </p:txBody>
        </p:sp>
        <p:sp>
          <p:nvSpPr>
            <p:cNvPr id="66" name="文字方塊 65">
              <a:extLst>
                <a:ext uri="{FF2B5EF4-FFF2-40B4-BE49-F238E27FC236}">
                  <a16:creationId xmlns:a16="http://schemas.microsoft.com/office/drawing/2014/main" id="{E9789AE5-A9B7-455A-9395-CCAFAF71B4D5}"/>
                </a:ext>
              </a:extLst>
            </p:cNvPr>
            <p:cNvSpPr txBox="1"/>
            <p:nvPr/>
          </p:nvSpPr>
          <p:spPr>
            <a:xfrm>
              <a:off x="2454792" y="3322325"/>
              <a:ext cx="424598" cy="254239"/>
            </a:xfrm>
            <a:prstGeom prst="rect">
              <a:avLst/>
            </a:prstGeom>
            <a:noFill/>
          </p:spPr>
          <p:txBody>
            <a:bodyPr wrap="none" rtlCol="0">
              <a:spAutoFit/>
            </a:bodyPr>
            <a:lstStyle/>
            <a:p>
              <a:r>
                <a:rPr lang="en-US" altLang="zh-TW" sz="1400" b="1" dirty="0">
                  <a:latin typeface="微軟正黑體" panose="020B0604030504040204" pitchFamily="34" charset="-120"/>
                  <a:ea typeface="微軟正黑體" panose="020B0604030504040204" pitchFamily="34" charset="-120"/>
                </a:rPr>
                <a:t>(10)</a:t>
              </a:r>
              <a:endParaRPr lang="zh-TW" altLang="en-US" sz="1400" b="1" dirty="0">
                <a:latin typeface="微軟正黑體" panose="020B0604030504040204" pitchFamily="34" charset="-120"/>
                <a:ea typeface="微軟正黑體" panose="020B0604030504040204" pitchFamily="34" charset="-120"/>
              </a:endParaRPr>
            </a:p>
          </p:txBody>
        </p:sp>
        <p:sp>
          <p:nvSpPr>
            <p:cNvPr id="67" name="文字方塊 66">
              <a:extLst>
                <a:ext uri="{FF2B5EF4-FFF2-40B4-BE49-F238E27FC236}">
                  <a16:creationId xmlns:a16="http://schemas.microsoft.com/office/drawing/2014/main" id="{E0E31806-9B84-4F9E-B685-625AC94D1615}"/>
                </a:ext>
              </a:extLst>
            </p:cNvPr>
            <p:cNvSpPr txBox="1"/>
            <p:nvPr/>
          </p:nvSpPr>
          <p:spPr>
            <a:xfrm>
              <a:off x="2899859" y="3598932"/>
              <a:ext cx="323899" cy="669494"/>
            </a:xfrm>
            <a:prstGeom prst="rect">
              <a:avLst/>
            </a:prstGeom>
            <a:noFill/>
          </p:spPr>
          <p:txBody>
            <a:bodyPr vert="eaVert" wrap="none" rtlCol="0">
              <a:spAutoFit/>
            </a:bodyPr>
            <a:lstStyle/>
            <a:p>
              <a:r>
                <a:rPr lang="zh-TW" altLang="en-US" sz="1400" b="1" dirty="0">
                  <a:latin typeface="微軟正黑體" panose="020B0604030504040204" pitchFamily="34" charset="-120"/>
                  <a:ea typeface="微軟正黑體" panose="020B0604030504040204" pitchFamily="34" charset="-120"/>
                </a:rPr>
                <a:t>支付餘款</a:t>
              </a:r>
            </a:p>
          </p:txBody>
        </p:sp>
        <p:sp>
          <p:nvSpPr>
            <p:cNvPr id="68" name="文字方塊 67">
              <a:extLst>
                <a:ext uri="{FF2B5EF4-FFF2-40B4-BE49-F238E27FC236}">
                  <a16:creationId xmlns:a16="http://schemas.microsoft.com/office/drawing/2014/main" id="{27ED0D55-2DC8-4319-A779-B5FD2404FF50}"/>
                </a:ext>
              </a:extLst>
            </p:cNvPr>
            <p:cNvSpPr txBox="1"/>
            <p:nvPr/>
          </p:nvSpPr>
          <p:spPr>
            <a:xfrm>
              <a:off x="2833386" y="3322325"/>
              <a:ext cx="424598" cy="254239"/>
            </a:xfrm>
            <a:prstGeom prst="rect">
              <a:avLst/>
            </a:prstGeom>
            <a:noFill/>
          </p:spPr>
          <p:txBody>
            <a:bodyPr wrap="none" rtlCol="0">
              <a:spAutoFit/>
            </a:bodyPr>
            <a:lstStyle/>
            <a:p>
              <a:r>
                <a:rPr lang="en-US" altLang="zh-TW" sz="1400" b="1" dirty="0">
                  <a:latin typeface="微軟正黑體" panose="020B0604030504040204" pitchFamily="34" charset="-120"/>
                  <a:ea typeface="微軟正黑體" panose="020B0604030504040204" pitchFamily="34" charset="-120"/>
                </a:rPr>
                <a:t>(15)</a:t>
              </a:r>
              <a:endParaRPr lang="zh-TW" altLang="en-US" sz="1400" b="1" dirty="0">
                <a:latin typeface="微軟正黑體" panose="020B0604030504040204" pitchFamily="34" charset="-120"/>
                <a:ea typeface="微軟正黑體" panose="020B0604030504040204" pitchFamily="34" charset="-120"/>
              </a:endParaRPr>
            </a:p>
          </p:txBody>
        </p:sp>
        <p:sp>
          <p:nvSpPr>
            <p:cNvPr id="69" name="文字方塊 68">
              <a:extLst>
                <a:ext uri="{FF2B5EF4-FFF2-40B4-BE49-F238E27FC236}">
                  <a16:creationId xmlns:a16="http://schemas.microsoft.com/office/drawing/2014/main" id="{D95C6D80-7436-44C3-85A2-2AFBBEC3C39C}"/>
                </a:ext>
              </a:extLst>
            </p:cNvPr>
            <p:cNvSpPr txBox="1"/>
            <p:nvPr/>
          </p:nvSpPr>
          <p:spPr>
            <a:xfrm>
              <a:off x="2518608" y="3593509"/>
              <a:ext cx="323899" cy="669494"/>
            </a:xfrm>
            <a:prstGeom prst="rect">
              <a:avLst/>
            </a:prstGeom>
            <a:noFill/>
          </p:spPr>
          <p:txBody>
            <a:bodyPr vert="eaVert" wrap="none" rtlCol="0">
              <a:spAutoFit/>
            </a:bodyPr>
            <a:lstStyle/>
            <a:p>
              <a:r>
                <a:rPr lang="zh-TW" altLang="en-US" sz="1400" b="1" dirty="0">
                  <a:latin typeface="微軟正黑體" panose="020B0604030504040204" pitchFamily="34" charset="-120"/>
                  <a:ea typeface="微軟正黑體" panose="020B0604030504040204" pitchFamily="34" charset="-120"/>
                </a:rPr>
                <a:t>墊付款項</a:t>
              </a:r>
            </a:p>
          </p:txBody>
        </p:sp>
        <p:sp>
          <p:nvSpPr>
            <p:cNvPr id="70" name="文字方塊 69">
              <a:extLst>
                <a:ext uri="{FF2B5EF4-FFF2-40B4-BE49-F238E27FC236}">
                  <a16:creationId xmlns:a16="http://schemas.microsoft.com/office/drawing/2014/main" id="{315924BF-A602-4259-8248-ECCC6F8A6382}"/>
                </a:ext>
              </a:extLst>
            </p:cNvPr>
            <p:cNvSpPr txBox="1"/>
            <p:nvPr/>
          </p:nvSpPr>
          <p:spPr>
            <a:xfrm>
              <a:off x="2129929" y="3333577"/>
              <a:ext cx="337654" cy="254239"/>
            </a:xfrm>
            <a:prstGeom prst="rect">
              <a:avLst/>
            </a:prstGeom>
            <a:noFill/>
          </p:spPr>
          <p:txBody>
            <a:bodyPr wrap="none" rtlCol="0">
              <a:spAutoFit/>
            </a:bodyPr>
            <a:lstStyle/>
            <a:p>
              <a:r>
                <a:rPr lang="en-US" altLang="zh-TW" sz="1400" b="1" dirty="0">
                  <a:latin typeface="微軟正黑體" panose="020B0604030504040204" pitchFamily="34" charset="-120"/>
                  <a:ea typeface="微軟正黑體" panose="020B0604030504040204" pitchFamily="34" charset="-120"/>
                </a:rPr>
                <a:t>(9)</a:t>
              </a:r>
              <a:endParaRPr lang="zh-TW" altLang="en-US" sz="1400" b="1" dirty="0">
                <a:latin typeface="微軟正黑體" panose="020B0604030504040204" pitchFamily="34" charset="-120"/>
                <a:ea typeface="微軟正黑體" panose="020B0604030504040204" pitchFamily="34" charset="-120"/>
              </a:endParaRPr>
            </a:p>
          </p:txBody>
        </p:sp>
        <p:sp>
          <p:nvSpPr>
            <p:cNvPr id="71" name="文字方塊 70">
              <a:extLst>
                <a:ext uri="{FF2B5EF4-FFF2-40B4-BE49-F238E27FC236}">
                  <a16:creationId xmlns:a16="http://schemas.microsoft.com/office/drawing/2014/main" id="{79EB84D4-DA24-45EC-98DE-B7E341CBBCF7}"/>
                </a:ext>
              </a:extLst>
            </p:cNvPr>
            <p:cNvSpPr txBox="1"/>
            <p:nvPr/>
          </p:nvSpPr>
          <p:spPr>
            <a:xfrm>
              <a:off x="2155639" y="3600102"/>
              <a:ext cx="323899" cy="669494"/>
            </a:xfrm>
            <a:prstGeom prst="rect">
              <a:avLst/>
            </a:prstGeom>
            <a:noFill/>
          </p:spPr>
          <p:txBody>
            <a:bodyPr vert="eaVert" wrap="none" rtlCol="0">
              <a:spAutoFit/>
            </a:bodyPr>
            <a:lstStyle/>
            <a:p>
              <a:r>
                <a:rPr lang="zh-TW" altLang="en-US" sz="1400" b="1" dirty="0">
                  <a:latin typeface="微軟正黑體" panose="020B0604030504040204" pitchFamily="34" charset="-120"/>
                  <a:ea typeface="微軟正黑體" panose="020B0604030504040204" pitchFamily="34" charset="-120"/>
                </a:rPr>
                <a:t>債權移轉</a:t>
              </a:r>
            </a:p>
          </p:txBody>
        </p:sp>
        <p:sp>
          <p:nvSpPr>
            <p:cNvPr id="72" name="文字方塊 71">
              <a:extLst>
                <a:ext uri="{FF2B5EF4-FFF2-40B4-BE49-F238E27FC236}">
                  <a16:creationId xmlns:a16="http://schemas.microsoft.com/office/drawing/2014/main" id="{DE1E0A0E-C023-4CA0-8EB8-F362DF408A13}"/>
                </a:ext>
              </a:extLst>
            </p:cNvPr>
            <p:cNvSpPr txBox="1"/>
            <p:nvPr/>
          </p:nvSpPr>
          <p:spPr>
            <a:xfrm>
              <a:off x="1797770" y="3330888"/>
              <a:ext cx="337654" cy="254239"/>
            </a:xfrm>
            <a:prstGeom prst="rect">
              <a:avLst/>
            </a:prstGeom>
            <a:noFill/>
          </p:spPr>
          <p:txBody>
            <a:bodyPr wrap="none" rtlCol="0">
              <a:spAutoFit/>
            </a:bodyPr>
            <a:lstStyle/>
            <a:p>
              <a:r>
                <a:rPr lang="en-US" altLang="zh-TW" sz="1400" b="1" dirty="0">
                  <a:latin typeface="微軟正黑體" panose="020B0604030504040204" pitchFamily="34" charset="-120"/>
                  <a:ea typeface="微軟正黑體" panose="020B0604030504040204" pitchFamily="34" charset="-120"/>
                </a:rPr>
                <a:t>(7)</a:t>
              </a:r>
              <a:endParaRPr lang="zh-TW" altLang="en-US" sz="1400" b="1" dirty="0">
                <a:latin typeface="微軟正黑體" panose="020B0604030504040204" pitchFamily="34" charset="-120"/>
                <a:ea typeface="微軟正黑體" panose="020B0604030504040204" pitchFamily="34" charset="-120"/>
              </a:endParaRPr>
            </a:p>
          </p:txBody>
        </p:sp>
        <p:sp>
          <p:nvSpPr>
            <p:cNvPr id="73" name="文字方塊 72">
              <a:extLst>
                <a:ext uri="{FF2B5EF4-FFF2-40B4-BE49-F238E27FC236}">
                  <a16:creationId xmlns:a16="http://schemas.microsoft.com/office/drawing/2014/main" id="{E81F0987-C184-419E-95A2-4A18244DAD39}"/>
                </a:ext>
              </a:extLst>
            </p:cNvPr>
            <p:cNvSpPr txBox="1"/>
            <p:nvPr/>
          </p:nvSpPr>
          <p:spPr>
            <a:xfrm>
              <a:off x="1809953" y="3590361"/>
              <a:ext cx="323899" cy="669494"/>
            </a:xfrm>
            <a:prstGeom prst="rect">
              <a:avLst/>
            </a:prstGeom>
            <a:noFill/>
          </p:spPr>
          <p:txBody>
            <a:bodyPr vert="eaVert" wrap="none" rtlCol="0">
              <a:spAutoFit/>
            </a:bodyPr>
            <a:lstStyle/>
            <a:p>
              <a:r>
                <a:rPr lang="zh-TW" altLang="en-US" sz="1400" b="1" dirty="0">
                  <a:latin typeface="微軟正黑體" panose="020B0604030504040204" pitchFamily="34" charset="-120"/>
                  <a:ea typeface="微軟正黑體" panose="020B0604030504040204" pitchFamily="34" charset="-120"/>
                </a:rPr>
                <a:t>簽約對保</a:t>
              </a:r>
            </a:p>
          </p:txBody>
        </p:sp>
        <p:cxnSp>
          <p:nvCxnSpPr>
            <p:cNvPr id="74" name="直線單箭頭接點 73">
              <a:extLst>
                <a:ext uri="{FF2B5EF4-FFF2-40B4-BE49-F238E27FC236}">
                  <a16:creationId xmlns:a16="http://schemas.microsoft.com/office/drawing/2014/main" id="{15DD4B11-01A1-4D7C-AA00-CE7A82B7AC33}"/>
                </a:ext>
              </a:extLst>
            </p:cNvPr>
            <p:cNvCxnSpPr/>
            <p:nvPr/>
          </p:nvCxnSpPr>
          <p:spPr>
            <a:xfrm flipV="1">
              <a:off x="1416000" y="3073806"/>
              <a:ext cx="0" cy="2378069"/>
            </a:xfrm>
            <a:prstGeom prst="straightConnector1">
              <a:avLst/>
            </a:prstGeom>
            <a:ln w="28575">
              <a:solidFill>
                <a:schemeClr val="tx1">
                  <a:lumMod val="65000"/>
                  <a:lumOff val="35000"/>
                </a:schemeClr>
              </a:solidFill>
              <a:tailEnd type="arrow"/>
            </a:ln>
          </p:spPr>
          <p:style>
            <a:lnRef idx="1">
              <a:schemeClr val="accent1"/>
            </a:lnRef>
            <a:fillRef idx="0">
              <a:schemeClr val="accent1"/>
            </a:fillRef>
            <a:effectRef idx="0">
              <a:schemeClr val="accent1"/>
            </a:effectRef>
            <a:fontRef idx="minor">
              <a:schemeClr val="tx1"/>
            </a:fontRef>
          </p:style>
        </p:cxnSp>
        <p:sp>
          <p:nvSpPr>
            <p:cNvPr id="75" name="文字方塊 74">
              <a:extLst>
                <a:ext uri="{FF2B5EF4-FFF2-40B4-BE49-F238E27FC236}">
                  <a16:creationId xmlns:a16="http://schemas.microsoft.com/office/drawing/2014/main" id="{F830504B-C856-49AB-B922-0836F70E89C6}"/>
                </a:ext>
              </a:extLst>
            </p:cNvPr>
            <p:cNvSpPr txBox="1"/>
            <p:nvPr/>
          </p:nvSpPr>
          <p:spPr>
            <a:xfrm>
              <a:off x="1422537" y="3329603"/>
              <a:ext cx="337654" cy="254239"/>
            </a:xfrm>
            <a:prstGeom prst="rect">
              <a:avLst/>
            </a:prstGeom>
            <a:noFill/>
          </p:spPr>
          <p:txBody>
            <a:bodyPr wrap="none" rtlCol="0">
              <a:spAutoFit/>
            </a:bodyPr>
            <a:lstStyle/>
            <a:p>
              <a:r>
                <a:rPr lang="en-US" altLang="zh-TW" sz="1400" b="1" dirty="0">
                  <a:latin typeface="微軟正黑體" panose="020B0604030504040204" pitchFamily="34" charset="-120"/>
                  <a:ea typeface="微軟正黑體" panose="020B0604030504040204" pitchFamily="34" charset="-120"/>
                </a:rPr>
                <a:t>(6)</a:t>
              </a:r>
              <a:endParaRPr lang="zh-TW" altLang="en-US" sz="1400" b="1" dirty="0">
                <a:latin typeface="微軟正黑體" panose="020B0604030504040204" pitchFamily="34" charset="-120"/>
                <a:ea typeface="微軟正黑體" panose="020B0604030504040204" pitchFamily="34" charset="-120"/>
              </a:endParaRPr>
            </a:p>
          </p:txBody>
        </p:sp>
        <p:cxnSp>
          <p:nvCxnSpPr>
            <p:cNvPr id="76" name="直線單箭頭接點 75">
              <a:extLst>
                <a:ext uri="{FF2B5EF4-FFF2-40B4-BE49-F238E27FC236}">
                  <a16:creationId xmlns:a16="http://schemas.microsoft.com/office/drawing/2014/main" id="{C10627E1-6F4D-4342-8169-B001D3AE26B3}"/>
                </a:ext>
              </a:extLst>
            </p:cNvPr>
            <p:cNvCxnSpPr/>
            <p:nvPr/>
          </p:nvCxnSpPr>
          <p:spPr>
            <a:xfrm>
              <a:off x="1011563" y="3134434"/>
              <a:ext cx="0" cy="2317441"/>
            </a:xfrm>
            <a:prstGeom prst="straightConnector1">
              <a:avLst/>
            </a:prstGeom>
            <a:ln w="28575">
              <a:solidFill>
                <a:schemeClr val="tx1">
                  <a:lumMod val="65000"/>
                  <a:lumOff val="35000"/>
                </a:schemeClr>
              </a:solidFill>
              <a:tailEnd type="arrow"/>
            </a:ln>
          </p:spPr>
          <p:style>
            <a:lnRef idx="1">
              <a:schemeClr val="accent1"/>
            </a:lnRef>
            <a:fillRef idx="0">
              <a:schemeClr val="accent1"/>
            </a:fillRef>
            <a:effectRef idx="0">
              <a:schemeClr val="accent1"/>
            </a:effectRef>
            <a:fontRef idx="minor">
              <a:schemeClr val="tx1"/>
            </a:fontRef>
          </p:style>
        </p:cxnSp>
        <p:sp>
          <p:nvSpPr>
            <p:cNvPr id="77" name="文字方塊 76">
              <a:extLst>
                <a:ext uri="{FF2B5EF4-FFF2-40B4-BE49-F238E27FC236}">
                  <a16:creationId xmlns:a16="http://schemas.microsoft.com/office/drawing/2014/main" id="{CD3CD309-E24F-402D-B2D4-9A0C19AD64DF}"/>
                </a:ext>
              </a:extLst>
            </p:cNvPr>
            <p:cNvSpPr txBox="1"/>
            <p:nvPr/>
          </p:nvSpPr>
          <p:spPr>
            <a:xfrm>
              <a:off x="1028594" y="3330888"/>
              <a:ext cx="337654" cy="254239"/>
            </a:xfrm>
            <a:prstGeom prst="rect">
              <a:avLst/>
            </a:prstGeom>
            <a:noFill/>
          </p:spPr>
          <p:txBody>
            <a:bodyPr wrap="none" rtlCol="0">
              <a:spAutoFit/>
            </a:bodyPr>
            <a:lstStyle/>
            <a:p>
              <a:r>
                <a:rPr lang="en-US" altLang="zh-TW" sz="1400" b="1" dirty="0">
                  <a:latin typeface="微軟正黑體" panose="020B0604030504040204" pitchFamily="34" charset="-120"/>
                  <a:ea typeface="微軟正黑體" panose="020B0604030504040204" pitchFamily="34" charset="-120"/>
                </a:rPr>
                <a:t>(2)</a:t>
              </a:r>
              <a:endParaRPr lang="zh-TW" altLang="en-US" sz="1400" b="1" dirty="0">
                <a:latin typeface="微軟正黑體" panose="020B0604030504040204" pitchFamily="34" charset="-120"/>
                <a:ea typeface="微軟正黑體" panose="020B0604030504040204" pitchFamily="34" charset="-120"/>
              </a:endParaRPr>
            </a:p>
          </p:txBody>
        </p:sp>
        <p:sp>
          <p:nvSpPr>
            <p:cNvPr id="78" name="文字方塊 77">
              <a:extLst>
                <a:ext uri="{FF2B5EF4-FFF2-40B4-BE49-F238E27FC236}">
                  <a16:creationId xmlns:a16="http://schemas.microsoft.com/office/drawing/2014/main" id="{9D27F873-B5E1-4455-BBB5-4DAA65D4E4B7}"/>
                </a:ext>
              </a:extLst>
            </p:cNvPr>
            <p:cNvSpPr txBox="1"/>
            <p:nvPr/>
          </p:nvSpPr>
          <p:spPr>
            <a:xfrm>
              <a:off x="1038304" y="3564083"/>
              <a:ext cx="323899" cy="1411022"/>
            </a:xfrm>
            <a:prstGeom prst="rect">
              <a:avLst/>
            </a:prstGeom>
            <a:noFill/>
          </p:spPr>
          <p:txBody>
            <a:bodyPr vert="eaVert" wrap="none" rtlCol="0">
              <a:spAutoFit/>
            </a:bodyPr>
            <a:lstStyle/>
            <a:p>
              <a:r>
                <a:rPr lang="zh-TW" altLang="en-US" sz="1400" b="1" dirty="0">
                  <a:latin typeface="微軟正黑體" panose="020B0604030504040204" pitchFamily="34" charset="-120"/>
                  <a:ea typeface="微軟正黑體" panose="020B0604030504040204" pitchFamily="34" charset="-120"/>
                </a:rPr>
                <a:t>申請買斷行承購額度</a:t>
              </a:r>
            </a:p>
          </p:txBody>
        </p:sp>
        <p:sp>
          <p:nvSpPr>
            <p:cNvPr id="79" name="文字方塊 78">
              <a:extLst>
                <a:ext uri="{FF2B5EF4-FFF2-40B4-BE49-F238E27FC236}">
                  <a16:creationId xmlns:a16="http://schemas.microsoft.com/office/drawing/2014/main" id="{8E10A510-653C-4886-B4B2-0D842162C675}"/>
                </a:ext>
              </a:extLst>
            </p:cNvPr>
            <p:cNvSpPr txBox="1"/>
            <p:nvPr/>
          </p:nvSpPr>
          <p:spPr>
            <a:xfrm>
              <a:off x="1429415" y="3566901"/>
              <a:ext cx="323899" cy="966105"/>
            </a:xfrm>
            <a:prstGeom prst="rect">
              <a:avLst/>
            </a:prstGeom>
            <a:noFill/>
          </p:spPr>
          <p:txBody>
            <a:bodyPr vert="eaVert" wrap="none" rtlCol="0">
              <a:spAutoFit/>
            </a:bodyPr>
            <a:lstStyle/>
            <a:p>
              <a:r>
                <a:rPr lang="zh-TW" altLang="en-US" sz="1400" b="1" dirty="0">
                  <a:latin typeface="微軟正黑體" panose="020B0604030504040204" pitchFamily="34" charset="-120"/>
                  <a:ea typeface="微軟正黑體" panose="020B0604030504040204" pitchFamily="34" charset="-120"/>
                </a:rPr>
                <a:t>審核結果通知</a:t>
              </a:r>
            </a:p>
          </p:txBody>
        </p:sp>
        <p:cxnSp>
          <p:nvCxnSpPr>
            <p:cNvPr id="80" name="直線單箭頭接點 79">
              <a:extLst>
                <a:ext uri="{FF2B5EF4-FFF2-40B4-BE49-F238E27FC236}">
                  <a16:creationId xmlns:a16="http://schemas.microsoft.com/office/drawing/2014/main" id="{DFA6FAEF-DA18-4768-AEE6-881C005C534C}"/>
                </a:ext>
              </a:extLst>
            </p:cNvPr>
            <p:cNvCxnSpPr/>
            <p:nvPr/>
          </p:nvCxnSpPr>
          <p:spPr>
            <a:xfrm flipV="1">
              <a:off x="2506912" y="3077819"/>
              <a:ext cx="0" cy="2339420"/>
            </a:xfrm>
            <a:prstGeom prst="straightConnector1">
              <a:avLst/>
            </a:prstGeom>
            <a:ln w="28575">
              <a:solidFill>
                <a:schemeClr val="tx1">
                  <a:lumMod val="65000"/>
                  <a:lumOff val="3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1" name="直線單箭頭接點 80">
              <a:extLst>
                <a:ext uri="{FF2B5EF4-FFF2-40B4-BE49-F238E27FC236}">
                  <a16:creationId xmlns:a16="http://schemas.microsoft.com/office/drawing/2014/main" id="{DE33F8F5-3F01-480E-A314-3E07B0106074}"/>
                </a:ext>
              </a:extLst>
            </p:cNvPr>
            <p:cNvCxnSpPr/>
            <p:nvPr/>
          </p:nvCxnSpPr>
          <p:spPr>
            <a:xfrm flipV="1">
              <a:off x="2888560" y="3068043"/>
              <a:ext cx="0" cy="2399677"/>
            </a:xfrm>
            <a:prstGeom prst="straightConnector1">
              <a:avLst/>
            </a:prstGeom>
            <a:ln w="28575">
              <a:solidFill>
                <a:schemeClr val="tx1">
                  <a:lumMod val="65000"/>
                  <a:lumOff val="3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2" name="直線單箭頭接點 81">
              <a:extLst>
                <a:ext uri="{FF2B5EF4-FFF2-40B4-BE49-F238E27FC236}">
                  <a16:creationId xmlns:a16="http://schemas.microsoft.com/office/drawing/2014/main" id="{8440A603-468E-4C81-B135-FA5DD2508E93}"/>
                </a:ext>
              </a:extLst>
            </p:cNvPr>
            <p:cNvCxnSpPr/>
            <p:nvPr/>
          </p:nvCxnSpPr>
          <p:spPr>
            <a:xfrm>
              <a:off x="2149735" y="3110436"/>
              <a:ext cx="3209" cy="2352341"/>
            </a:xfrm>
            <a:prstGeom prst="straightConnector1">
              <a:avLst/>
            </a:prstGeom>
            <a:ln w="28575">
              <a:solidFill>
                <a:schemeClr val="tx1">
                  <a:lumMod val="65000"/>
                  <a:lumOff val="3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3" name="直線單箭頭接點 82">
              <a:extLst>
                <a:ext uri="{FF2B5EF4-FFF2-40B4-BE49-F238E27FC236}">
                  <a16:creationId xmlns:a16="http://schemas.microsoft.com/office/drawing/2014/main" id="{0AC839A1-3722-4D1B-8F62-CFA32E9325B2}"/>
                </a:ext>
              </a:extLst>
            </p:cNvPr>
            <p:cNvCxnSpPr/>
            <p:nvPr/>
          </p:nvCxnSpPr>
          <p:spPr>
            <a:xfrm>
              <a:off x="1792977" y="3116984"/>
              <a:ext cx="0" cy="2352341"/>
            </a:xfrm>
            <a:prstGeom prst="straightConnector1">
              <a:avLst/>
            </a:prstGeom>
            <a:ln w="28575">
              <a:solidFill>
                <a:schemeClr val="tx1">
                  <a:lumMod val="65000"/>
                  <a:lumOff val="3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4" name="直線單箭頭接點 83">
              <a:extLst>
                <a:ext uri="{FF2B5EF4-FFF2-40B4-BE49-F238E27FC236}">
                  <a16:creationId xmlns:a16="http://schemas.microsoft.com/office/drawing/2014/main" id="{AB5B3EF4-263E-4BAD-A468-44812A9E963A}"/>
                </a:ext>
              </a:extLst>
            </p:cNvPr>
            <p:cNvCxnSpPr/>
            <p:nvPr/>
          </p:nvCxnSpPr>
          <p:spPr>
            <a:xfrm>
              <a:off x="7508069" y="3051602"/>
              <a:ext cx="10424" cy="2256257"/>
            </a:xfrm>
            <a:prstGeom prst="straightConnector1">
              <a:avLst/>
            </a:prstGeom>
            <a:ln w="28575">
              <a:solidFill>
                <a:schemeClr val="tx1">
                  <a:lumMod val="65000"/>
                  <a:lumOff val="3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5" name="直線單箭頭接點 84">
              <a:extLst>
                <a:ext uri="{FF2B5EF4-FFF2-40B4-BE49-F238E27FC236}">
                  <a16:creationId xmlns:a16="http://schemas.microsoft.com/office/drawing/2014/main" id="{3AD86106-3D81-40E3-BFCC-179DDA1A57F5}"/>
                </a:ext>
              </a:extLst>
            </p:cNvPr>
            <p:cNvCxnSpPr/>
            <p:nvPr/>
          </p:nvCxnSpPr>
          <p:spPr>
            <a:xfrm flipV="1">
              <a:off x="6383266" y="3016810"/>
              <a:ext cx="0" cy="2291049"/>
            </a:xfrm>
            <a:prstGeom prst="straightConnector1">
              <a:avLst/>
            </a:prstGeom>
            <a:ln w="28575">
              <a:solidFill>
                <a:schemeClr val="tx1">
                  <a:lumMod val="65000"/>
                  <a:lumOff val="3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6" name="直線單箭頭接點 85">
              <a:extLst>
                <a:ext uri="{FF2B5EF4-FFF2-40B4-BE49-F238E27FC236}">
                  <a16:creationId xmlns:a16="http://schemas.microsoft.com/office/drawing/2014/main" id="{DD4559E8-594A-4159-83FF-945A3DD4CF36}"/>
                </a:ext>
              </a:extLst>
            </p:cNvPr>
            <p:cNvCxnSpPr/>
            <p:nvPr/>
          </p:nvCxnSpPr>
          <p:spPr>
            <a:xfrm flipV="1">
              <a:off x="6938014" y="3016589"/>
              <a:ext cx="0" cy="2291270"/>
            </a:xfrm>
            <a:prstGeom prst="straightConnector1">
              <a:avLst/>
            </a:prstGeom>
            <a:ln w="28575">
              <a:solidFill>
                <a:schemeClr val="tx1">
                  <a:lumMod val="65000"/>
                  <a:lumOff val="3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7" name="直線單箭頭接點 86">
              <a:extLst>
                <a:ext uri="{FF2B5EF4-FFF2-40B4-BE49-F238E27FC236}">
                  <a16:creationId xmlns:a16="http://schemas.microsoft.com/office/drawing/2014/main" id="{426F59FE-4204-46B7-9A44-1BA7C1472D8F}"/>
                </a:ext>
              </a:extLst>
            </p:cNvPr>
            <p:cNvCxnSpPr/>
            <p:nvPr/>
          </p:nvCxnSpPr>
          <p:spPr>
            <a:xfrm flipV="1">
              <a:off x="3103630" y="2427539"/>
              <a:ext cx="2775580" cy="9976"/>
            </a:xfrm>
            <a:prstGeom prst="straightConnector1">
              <a:avLst/>
            </a:prstGeom>
            <a:ln w="28575">
              <a:solidFill>
                <a:schemeClr val="tx1">
                  <a:lumMod val="65000"/>
                  <a:lumOff val="35000"/>
                </a:schemeClr>
              </a:solidFill>
              <a:headEnd type="arrow"/>
              <a:tailEnd type="arrow"/>
            </a:ln>
          </p:spPr>
          <p:style>
            <a:lnRef idx="1">
              <a:schemeClr val="accent1"/>
            </a:lnRef>
            <a:fillRef idx="0">
              <a:schemeClr val="accent1"/>
            </a:fillRef>
            <a:effectRef idx="0">
              <a:schemeClr val="accent1"/>
            </a:effectRef>
            <a:fontRef idx="minor">
              <a:schemeClr val="tx1"/>
            </a:fontRef>
          </p:style>
        </p:cxnSp>
      </p:grpSp>
      <p:sp>
        <p:nvSpPr>
          <p:cNvPr id="3" name="文字方塊 2">
            <a:extLst>
              <a:ext uri="{FF2B5EF4-FFF2-40B4-BE49-F238E27FC236}">
                <a16:creationId xmlns:a16="http://schemas.microsoft.com/office/drawing/2014/main" id="{0965EEB5-F9D4-41CA-8C1F-4F2D67331B6B}"/>
              </a:ext>
            </a:extLst>
          </p:cNvPr>
          <p:cNvSpPr txBox="1"/>
          <p:nvPr/>
        </p:nvSpPr>
        <p:spPr>
          <a:xfrm>
            <a:off x="10390384" y="1589540"/>
            <a:ext cx="1396536" cy="646331"/>
          </a:xfrm>
          <a:prstGeom prst="rect">
            <a:avLst/>
          </a:prstGeom>
          <a:noFill/>
        </p:spPr>
        <p:txBody>
          <a:bodyPr wrap="none" rtlCol="0">
            <a:spAutoFit/>
          </a:bodyPr>
          <a:lstStyle/>
          <a:p>
            <a:pPr marL="285750" indent="-285750">
              <a:buBlip>
                <a:blip r:embed="rId4">
                  <a:extLst/>
                </a:blip>
              </a:buBlip>
            </a:pPr>
            <a:r>
              <a:rPr lang="zh-TW" altLang="en-US" b="1" dirty="0">
                <a:solidFill>
                  <a:srgbClr val="C00000"/>
                </a:solidFill>
                <a:latin typeface="微軟正黑體" panose="020B0604030504040204" pitchFamily="34" charset="-120"/>
                <a:ea typeface="微軟正黑體" panose="020B0604030504040204" pitchFamily="34" charset="-120"/>
              </a:rPr>
              <a:t>程序繁複</a:t>
            </a:r>
            <a:endParaRPr lang="en-US" altLang="zh-TW" b="1" dirty="0">
              <a:solidFill>
                <a:srgbClr val="C00000"/>
              </a:solidFill>
              <a:latin typeface="微軟正黑體" panose="020B0604030504040204" pitchFamily="34" charset="-120"/>
              <a:ea typeface="微軟正黑體" panose="020B0604030504040204" pitchFamily="34" charset="-120"/>
            </a:endParaRPr>
          </a:p>
          <a:p>
            <a:pPr marL="285750" indent="-285750">
              <a:buBlip>
                <a:blip r:embed="rId4">
                  <a:extLst/>
                </a:blip>
              </a:buBlip>
            </a:pPr>
            <a:r>
              <a:rPr lang="zh-TW" altLang="en-US" b="1" dirty="0">
                <a:solidFill>
                  <a:srgbClr val="C00000"/>
                </a:solidFill>
                <a:latin typeface="微軟正黑體" panose="020B0604030504040204" pitchFamily="34" charset="-120"/>
                <a:ea typeface="微軟正黑體" panose="020B0604030504040204" pitchFamily="34" charset="-120"/>
              </a:rPr>
              <a:t>作業耗時</a:t>
            </a:r>
          </a:p>
        </p:txBody>
      </p:sp>
      <p:cxnSp>
        <p:nvCxnSpPr>
          <p:cNvPr id="88" name="直接连接符 33">
            <a:extLst>
              <a:ext uri="{FF2B5EF4-FFF2-40B4-BE49-F238E27FC236}">
                <a16:creationId xmlns:a16="http://schemas.microsoft.com/office/drawing/2014/main" id="{64A8E70D-B971-4637-BB62-DDC85C4DFE7A}"/>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801149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barn(inVertical)">
                                      <p:cBhvr>
                                        <p:cTn id="11" dur="500"/>
                                        <p:tgtEl>
                                          <p:spTgt spid="26"/>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88"/>
                                        </p:tgtEl>
                                        <p:attrNameLst>
                                          <p:attrName>style.visibility</p:attrName>
                                        </p:attrNameLst>
                                      </p:cBhvr>
                                      <p:to>
                                        <p:strVal val="visible"/>
                                      </p:to>
                                    </p:set>
                                    <p:anim calcmode="lin" valueType="num">
                                      <p:cBhvr additive="base">
                                        <p:cTn id="15" dur="500" fill="hold"/>
                                        <p:tgtEl>
                                          <p:spTgt spid="88"/>
                                        </p:tgtEl>
                                        <p:attrNameLst>
                                          <p:attrName>ppt_x</p:attrName>
                                        </p:attrNameLst>
                                      </p:cBhvr>
                                      <p:tavLst>
                                        <p:tav tm="0">
                                          <p:val>
                                            <p:strVal val="0-#ppt_w/2"/>
                                          </p:val>
                                        </p:tav>
                                        <p:tav tm="100000">
                                          <p:val>
                                            <p:strVal val="#ppt_x"/>
                                          </p:val>
                                        </p:tav>
                                      </p:tavLst>
                                    </p:anim>
                                    <p:anim calcmode="lin" valueType="num">
                                      <p:cBhvr additive="base">
                                        <p:cTn id="16" dur="500" fill="hold"/>
                                        <p:tgtEl>
                                          <p:spTgt spid="88"/>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34">
                                            <p:txEl>
                                              <p:pRg st="0" end="0"/>
                                            </p:txEl>
                                          </p:spTgt>
                                        </p:tgtEl>
                                        <p:attrNameLst>
                                          <p:attrName>style.visibility</p:attrName>
                                        </p:attrNameLst>
                                      </p:cBhvr>
                                      <p:to>
                                        <p:strVal val="visible"/>
                                      </p:to>
                                    </p:set>
                                    <p:anim calcmode="lin" valueType="num">
                                      <p:cBhvr additive="base">
                                        <p:cTn id="20" dur="500" fill="hold"/>
                                        <p:tgtEl>
                                          <p:spTgt spid="34">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4">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53" presetClass="entr" presetSubtype="16" fill="hold" nodeType="afterEffect">
                                  <p:stCondLst>
                                    <p:cond delay="0"/>
                                  </p:stCondLst>
                                  <p:childTnLst>
                                    <p:set>
                                      <p:cBhvr>
                                        <p:cTn id="24" dur="1" fill="hold">
                                          <p:stCondLst>
                                            <p:cond delay="0"/>
                                          </p:stCondLst>
                                        </p:cTn>
                                        <p:tgtEl>
                                          <p:spTgt spid="45"/>
                                        </p:tgtEl>
                                        <p:attrNameLst>
                                          <p:attrName>style.visibility</p:attrName>
                                        </p:attrNameLst>
                                      </p:cBhvr>
                                      <p:to>
                                        <p:strVal val="visible"/>
                                      </p:to>
                                    </p:set>
                                    <p:anim calcmode="lin" valueType="num">
                                      <p:cBhvr>
                                        <p:cTn id="25" dur="500" fill="hold"/>
                                        <p:tgtEl>
                                          <p:spTgt spid="45"/>
                                        </p:tgtEl>
                                        <p:attrNameLst>
                                          <p:attrName>ppt_w</p:attrName>
                                        </p:attrNameLst>
                                      </p:cBhvr>
                                      <p:tavLst>
                                        <p:tav tm="0">
                                          <p:val>
                                            <p:fltVal val="0"/>
                                          </p:val>
                                        </p:tav>
                                        <p:tav tm="100000">
                                          <p:val>
                                            <p:strVal val="#ppt_w"/>
                                          </p:val>
                                        </p:tav>
                                      </p:tavLst>
                                    </p:anim>
                                    <p:anim calcmode="lin" valueType="num">
                                      <p:cBhvr>
                                        <p:cTn id="26" dur="500" fill="hold"/>
                                        <p:tgtEl>
                                          <p:spTgt spid="45"/>
                                        </p:tgtEl>
                                        <p:attrNameLst>
                                          <p:attrName>ppt_h</p:attrName>
                                        </p:attrNameLst>
                                      </p:cBhvr>
                                      <p:tavLst>
                                        <p:tav tm="0">
                                          <p:val>
                                            <p:fltVal val="0"/>
                                          </p:val>
                                        </p:tav>
                                        <p:tav tm="100000">
                                          <p:val>
                                            <p:strVal val="#ppt_h"/>
                                          </p:val>
                                        </p:tav>
                                      </p:tavLst>
                                    </p:anim>
                                    <p:animEffect transition="in" filter="fade">
                                      <p:cBhvr>
                                        <p:cTn id="27" dur="500"/>
                                        <p:tgtEl>
                                          <p:spTgt spid="45"/>
                                        </p:tgtEl>
                                      </p:cBhvr>
                                    </p:animEffect>
                                  </p:childTnLst>
                                </p:cTn>
                              </p:par>
                            </p:childTnLst>
                          </p:cTn>
                        </p:par>
                        <p:par>
                          <p:cTn id="28" fill="hold">
                            <p:stCondLst>
                              <p:cond delay="4000"/>
                            </p:stCondLst>
                            <p:childTnLst>
                              <p:par>
                                <p:cTn id="29" presetID="16" presetClass="entr" presetSubtype="37" fill="hold" grpId="0" nodeType="after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barn(outVertical)">
                                      <p:cBhvr>
                                        <p:cTn id="3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6"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499804" y="393820"/>
            <a:ext cx="508571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6-1 </a:t>
            </a:r>
            <a:r>
              <a:rPr lang="zh-TW" altLang="en-US" sz="2400" b="1" dirty="0">
                <a:solidFill>
                  <a:srgbClr val="E06741"/>
                </a:solidFill>
              </a:rPr>
              <a:t>實務案例─巴克萊銀行貿易融資</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4" name="文字方塊 33">
            <a:extLst>
              <a:ext uri="{FF2B5EF4-FFF2-40B4-BE49-F238E27FC236}">
                <a16:creationId xmlns:a16="http://schemas.microsoft.com/office/drawing/2014/main" id="{73EA10E1-7638-4516-B61E-4B64E154AD56}"/>
              </a:ext>
            </a:extLst>
          </p:cNvPr>
          <p:cNvSpPr txBox="1"/>
          <p:nvPr/>
        </p:nvSpPr>
        <p:spPr>
          <a:xfrm>
            <a:off x="1712407" y="1031914"/>
            <a:ext cx="9571067" cy="497444"/>
          </a:xfrm>
          <a:prstGeom prst="rect">
            <a:avLst/>
          </a:prstGeom>
          <a:noFill/>
        </p:spPr>
        <p:txBody>
          <a:bodyPr wrap="square" rtlCol="0">
            <a:spAutoFit/>
          </a:bodyPr>
          <a:lstStyle/>
          <a:p>
            <a:pPr marL="342900" indent="-342900">
              <a:lnSpc>
                <a:spcPct val="150000"/>
              </a:lnSpc>
              <a:buBlip>
                <a:blip r:embed="rId3"/>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跨國貿易融資</a:t>
            </a:r>
            <a:r>
              <a:rPr lang="zh-TW" altLang="en-US" sz="2000" b="1" dirty="0">
                <a:solidFill>
                  <a:srgbClr val="54667E"/>
                </a:solidFill>
                <a:latin typeface="微軟正黑體" panose="020B0604030504040204" pitchFamily="34" charset="-120"/>
                <a:ea typeface="微軟正黑體" panose="020B0604030504040204" pitchFamily="34" charset="-120"/>
              </a:rPr>
              <a:t>區塊鏈</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之交易流程</a:t>
            </a:r>
          </a:p>
        </p:txBody>
      </p:sp>
      <p:sp>
        <p:nvSpPr>
          <p:cNvPr id="26" name="文字方塊 25">
            <a:extLst>
              <a:ext uri="{FF2B5EF4-FFF2-40B4-BE49-F238E27FC236}">
                <a16:creationId xmlns:a16="http://schemas.microsoft.com/office/drawing/2014/main" id="{4395D4FE-2FC0-4BD2-9BD3-55FB3C9BD0BF}"/>
              </a:ext>
            </a:extLst>
          </p:cNvPr>
          <p:cNvSpPr txBox="1"/>
          <p:nvPr/>
        </p:nvSpPr>
        <p:spPr>
          <a:xfrm>
            <a:off x="6574666"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案例區塊鏈應用</a:t>
            </a:r>
          </a:p>
        </p:txBody>
      </p:sp>
      <p:grpSp>
        <p:nvGrpSpPr>
          <p:cNvPr id="88" name="群組 87">
            <a:extLst>
              <a:ext uri="{FF2B5EF4-FFF2-40B4-BE49-F238E27FC236}">
                <a16:creationId xmlns:a16="http://schemas.microsoft.com/office/drawing/2014/main" id="{FBBAA7C9-558B-4B5E-9E55-7D198F3A513D}"/>
              </a:ext>
            </a:extLst>
          </p:cNvPr>
          <p:cNvGrpSpPr/>
          <p:nvPr/>
        </p:nvGrpSpPr>
        <p:grpSpPr>
          <a:xfrm>
            <a:off x="1268895" y="1860052"/>
            <a:ext cx="8281156" cy="4185188"/>
            <a:chOff x="1585931" y="1484784"/>
            <a:chExt cx="8281156" cy="4185188"/>
          </a:xfrm>
        </p:grpSpPr>
        <p:sp>
          <p:nvSpPr>
            <p:cNvPr id="89" name="文字方塊 88">
              <a:extLst>
                <a:ext uri="{FF2B5EF4-FFF2-40B4-BE49-F238E27FC236}">
                  <a16:creationId xmlns:a16="http://schemas.microsoft.com/office/drawing/2014/main" id="{3FEE3A9C-E443-4400-945F-1FDCCA18846B}"/>
                </a:ext>
              </a:extLst>
            </p:cNvPr>
            <p:cNvSpPr txBox="1"/>
            <p:nvPr/>
          </p:nvSpPr>
          <p:spPr>
            <a:xfrm>
              <a:off x="5284584" y="1490079"/>
              <a:ext cx="1779690" cy="646331"/>
            </a:xfrm>
            <a:prstGeom prst="rect">
              <a:avLst/>
            </a:prstGeom>
            <a:solidFill>
              <a:schemeClr val="accent2">
                <a:lumMod val="20000"/>
                <a:lumOff val="80000"/>
              </a:schemeClr>
            </a:solidFill>
            <a:ln w="19050">
              <a:solidFill>
                <a:schemeClr val="tx2"/>
              </a:solidFill>
            </a:ln>
          </p:spPr>
          <p:txBody>
            <a:bodyPr wrap="square" rtlCol="0">
              <a:spAutoFit/>
            </a:bodyPr>
            <a:lstStyle/>
            <a:p>
              <a:pPr algn="ctr"/>
              <a:r>
                <a:rPr lang="en-US" altLang="zh-TW" b="1" dirty="0">
                  <a:latin typeface="微軟正黑體" panose="020B0604030504040204" pitchFamily="34" charset="-120"/>
                  <a:ea typeface="微軟正黑體" panose="020B0604030504040204" pitchFamily="34" charset="-120"/>
                </a:rPr>
                <a:t>Seychelles(P2)</a:t>
              </a:r>
            </a:p>
            <a:p>
              <a:pPr algn="ctr"/>
              <a:r>
                <a:rPr lang="zh-TW" altLang="en-US" b="1" dirty="0">
                  <a:latin typeface="微軟正黑體" panose="020B0604030504040204" pitchFamily="34" charset="-120"/>
                  <a:ea typeface="微軟正黑體" panose="020B0604030504040204" pitchFamily="34" charset="-120"/>
                </a:rPr>
                <a:t>買方</a:t>
              </a:r>
            </a:p>
          </p:txBody>
        </p:sp>
        <p:sp>
          <p:nvSpPr>
            <p:cNvPr id="90" name="文字方塊 89">
              <a:extLst>
                <a:ext uri="{FF2B5EF4-FFF2-40B4-BE49-F238E27FC236}">
                  <a16:creationId xmlns:a16="http://schemas.microsoft.com/office/drawing/2014/main" id="{912DCF78-6DF0-4FEE-A1EE-5236D06BA49A}"/>
                </a:ext>
              </a:extLst>
            </p:cNvPr>
            <p:cNvSpPr txBox="1"/>
            <p:nvPr/>
          </p:nvSpPr>
          <p:spPr>
            <a:xfrm>
              <a:off x="1585931" y="1497171"/>
              <a:ext cx="1422648" cy="646331"/>
            </a:xfrm>
            <a:prstGeom prst="rect">
              <a:avLst/>
            </a:prstGeom>
            <a:solidFill>
              <a:schemeClr val="accent2">
                <a:lumMod val="20000"/>
                <a:lumOff val="80000"/>
              </a:schemeClr>
            </a:solidFill>
            <a:ln w="19050">
              <a:solidFill>
                <a:schemeClr val="tx2"/>
              </a:solidFill>
            </a:ln>
          </p:spPr>
          <p:txBody>
            <a:bodyPr wrap="square" rtlCol="0">
              <a:spAutoFit/>
            </a:bodyPr>
            <a:lstStyle/>
            <a:p>
              <a:pPr algn="ctr"/>
              <a:r>
                <a:rPr lang="en-US" altLang="zh-TW" b="1" dirty="0" err="1">
                  <a:latin typeface="微軟正黑體" panose="020B0604030504040204" pitchFamily="34" charset="-120"/>
                  <a:ea typeface="微軟正黑體" panose="020B0604030504040204" pitchFamily="34" charset="-120"/>
                </a:rPr>
                <a:t>Ornua</a:t>
              </a:r>
              <a:r>
                <a:rPr lang="zh-TW" altLang="en-US" b="1" dirty="0">
                  <a:latin typeface="微軟正黑體" panose="020B0604030504040204" pitchFamily="34" charset="-120"/>
                  <a:ea typeface="微軟正黑體" panose="020B0604030504040204" pitchFamily="34" charset="-120"/>
                </a:rPr>
                <a:t> </a:t>
              </a:r>
              <a:r>
                <a:rPr lang="en-US" altLang="zh-TW" b="1" dirty="0">
                  <a:latin typeface="微軟正黑體" panose="020B0604030504040204" pitchFamily="34" charset="-120"/>
                  <a:ea typeface="微軟正黑體" panose="020B0604030504040204" pitchFamily="34" charset="-120"/>
                </a:rPr>
                <a:t>(P1)</a:t>
              </a:r>
            </a:p>
            <a:p>
              <a:pPr algn="ctr"/>
              <a:r>
                <a:rPr lang="zh-TW" altLang="en-US" b="1" dirty="0">
                  <a:latin typeface="微軟正黑體" panose="020B0604030504040204" pitchFamily="34" charset="-120"/>
                  <a:ea typeface="微軟正黑體" panose="020B0604030504040204" pitchFamily="34" charset="-120"/>
                </a:rPr>
                <a:t>賣方</a:t>
              </a:r>
            </a:p>
          </p:txBody>
        </p:sp>
        <p:sp>
          <p:nvSpPr>
            <p:cNvPr id="91" name="文字方塊 90">
              <a:extLst>
                <a:ext uri="{FF2B5EF4-FFF2-40B4-BE49-F238E27FC236}">
                  <a16:creationId xmlns:a16="http://schemas.microsoft.com/office/drawing/2014/main" id="{790670ED-78F6-4907-A24C-14CB149C334E}"/>
                </a:ext>
              </a:extLst>
            </p:cNvPr>
            <p:cNvSpPr txBox="1"/>
            <p:nvPr/>
          </p:nvSpPr>
          <p:spPr>
            <a:xfrm>
              <a:off x="2724625" y="5023641"/>
              <a:ext cx="2448272" cy="646331"/>
            </a:xfrm>
            <a:prstGeom prst="rect">
              <a:avLst/>
            </a:prstGeom>
            <a:solidFill>
              <a:schemeClr val="accent2">
                <a:lumMod val="20000"/>
                <a:lumOff val="80000"/>
              </a:schemeClr>
            </a:solidFill>
            <a:ln w="19050">
              <a:solidFill>
                <a:schemeClr val="tx2"/>
              </a:solidFill>
            </a:ln>
          </p:spPr>
          <p:txBody>
            <a:bodyPr wrap="square" rtlCol="0">
              <a:spAutoFit/>
            </a:bodyPr>
            <a:lstStyle/>
            <a:p>
              <a:pPr algn="ctr"/>
              <a:r>
                <a:rPr lang="zh-TW" altLang="en-US" b="1" dirty="0">
                  <a:latin typeface="微軟正黑體" panose="020B0604030504040204" pitchFamily="34" charset="-120"/>
                  <a:ea typeface="微軟正黑體" panose="020B0604030504040204" pitchFamily="34" charset="-120"/>
                </a:rPr>
                <a:t>巴克萊銀行 </a:t>
              </a:r>
              <a:r>
                <a:rPr lang="en-US" altLang="zh-TW" b="1" dirty="0">
                  <a:latin typeface="微軟正黑體" panose="020B0604030504040204" pitchFamily="34" charset="-120"/>
                  <a:ea typeface="微軟正黑體" panose="020B0604030504040204" pitchFamily="34" charset="-120"/>
                </a:rPr>
                <a:t>(P3)</a:t>
              </a:r>
            </a:p>
            <a:p>
              <a:pPr algn="ctr"/>
              <a:r>
                <a:rPr lang="en-US" altLang="zh-TW" b="1" dirty="0">
                  <a:latin typeface="微軟正黑體" panose="020B0604030504040204" pitchFamily="34" charset="-120"/>
                  <a:ea typeface="微軟正黑體" panose="020B0604030504040204" pitchFamily="34" charset="-120"/>
                </a:rPr>
                <a:t>(</a:t>
              </a:r>
              <a:r>
                <a:rPr lang="zh-TW" altLang="en-US" b="1" dirty="0">
                  <a:latin typeface="微軟正黑體" panose="020B0604030504040204" pitchFamily="34" charset="-120"/>
                  <a:ea typeface="微軟正黑體" panose="020B0604030504040204" pitchFamily="34" charset="-120"/>
                </a:rPr>
                <a:t>融資、支付方</a:t>
              </a:r>
              <a:r>
                <a:rPr lang="en-US" altLang="zh-TW" b="1" dirty="0">
                  <a:latin typeface="微軟正黑體" panose="020B0604030504040204" pitchFamily="34" charset="-120"/>
                  <a:ea typeface="微軟正黑體" panose="020B0604030504040204" pitchFamily="34" charset="-120"/>
                </a:rPr>
                <a:t>)</a:t>
              </a:r>
              <a:endParaRPr lang="zh-TW" altLang="en-US" b="1" dirty="0">
                <a:latin typeface="微軟正黑體" panose="020B0604030504040204" pitchFamily="34" charset="-120"/>
                <a:ea typeface="微軟正黑體" panose="020B0604030504040204" pitchFamily="34" charset="-120"/>
              </a:endParaRPr>
            </a:p>
          </p:txBody>
        </p:sp>
        <p:sp>
          <p:nvSpPr>
            <p:cNvPr id="92" name="文字方塊 91">
              <a:extLst>
                <a:ext uri="{FF2B5EF4-FFF2-40B4-BE49-F238E27FC236}">
                  <a16:creationId xmlns:a16="http://schemas.microsoft.com/office/drawing/2014/main" id="{7CE8F525-35CB-4487-BE46-021A2982C375}"/>
                </a:ext>
              </a:extLst>
            </p:cNvPr>
            <p:cNvSpPr txBox="1"/>
            <p:nvPr/>
          </p:nvSpPr>
          <p:spPr>
            <a:xfrm>
              <a:off x="2220569" y="3500847"/>
              <a:ext cx="3456384" cy="369332"/>
            </a:xfrm>
            <a:prstGeom prst="rect">
              <a:avLst/>
            </a:prstGeom>
            <a:solidFill>
              <a:schemeClr val="accent2">
                <a:lumMod val="20000"/>
                <a:lumOff val="80000"/>
              </a:schemeClr>
            </a:solidFill>
            <a:ln w="19050">
              <a:solidFill>
                <a:schemeClr val="tx2"/>
              </a:solidFill>
            </a:ln>
          </p:spPr>
          <p:txBody>
            <a:bodyPr wrap="square" rtlCol="0">
              <a:spAutoFit/>
            </a:bodyPr>
            <a:lstStyle/>
            <a:p>
              <a:pPr algn="ctr"/>
              <a:r>
                <a:rPr lang="en-US" altLang="zh-TW" b="1" dirty="0">
                  <a:latin typeface="微軟正黑體" panose="020B0604030504040204" pitchFamily="34" charset="-120"/>
                  <a:ea typeface="微軟正黑體" panose="020B0604030504040204" pitchFamily="34" charset="-120"/>
                </a:rPr>
                <a:t>Wave(</a:t>
              </a:r>
              <a:r>
                <a:rPr lang="zh-TW" altLang="en-US" b="1" dirty="0">
                  <a:latin typeface="微軟正黑體" panose="020B0604030504040204" pitchFamily="34" charset="-120"/>
                  <a:ea typeface="微軟正黑體" panose="020B0604030504040204" pitchFamily="34" charset="-120"/>
                </a:rPr>
                <a:t>區塊鏈交易平台</a:t>
              </a:r>
              <a:r>
                <a:rPr lang="en-US" altLang="zh-TW" b="1" dirty="0">
                  <a:latin typeface="微軟正黑體" panose="020B0604030504040204" pitchFamily="34" charset="-120"/>
                  <a:ea typeface="微軟正黑體" panose="020B0604030504040204" pitchFamily="34" charset="-120"/>
                </a:rPr>
                <a:t>) (P4)</a:t>
              </a:r>
              <a:r>
                <a:rPr lang="zh-TW" altLang="en-US" b="1" dirty="0">
                  <a:latin typeface="微軟正黑體" panose="020B0604030504040204" pitchFamily="34" charset="-120"/>
                  <a:ea typeface="微軟正黑體" panose="020B0604030504040204" pitchFamily="34" charset="-120"/>
                </a:rPr>
                <a:t> </a:t>
              </a:r>
            </a:p>
          </p:txBody>
        </p:sp>
        <p:cxnSp>
          <p:nvCxnSpPr>
            <p:cNvPr id="93" name="直線單箭頭接點 92">
              <a:extLst>
                <a:ext uri="{FF2B5EF4-FFF2-40B4-BE49-F238E27FC236}">
                  <a16:creationId xmlns:a16="http://schemas.microsoft.com/office/drawing/2014/main" id="{91138F2F-A3C3-4B76-94C3-4942BA94470A}"/>
                </a:ext>
              </a:extLst>
            </p:cNvPr>
            <p:cNvCxnSpPr>
              <a:stCxn id="90" idx="2"/>
            </p:cNvCxnSpPr>
            <p:nvPr/>
          </p:nvCxnSpPr>
          <p:spPr>
            <a:xfrm>
              <a:off x="2297255" y="2143502"/>
              <a:ext cx="944860" cy="1357346"/>
            </a:xfrm>
            <a:prstGeom prst="straightConnector1">
              <a:avLst/>
            </a:prstGeom>
            <a:ln w="28575">
              <a:solidFill>
                <a:schemeClr val="tx1">
                  <a:lumMod val="65000"/>
                  <a:lumOff val="3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4" name="直線單箭頭接點 93">
              <a:extLst>
                <a:ext uri="{FF2B5EF4-FFF2-40B4-BE49-F238E27FC236}">
                  <a16:creationId xmlns:a16="http://schemas.microsoft.com/office/drawing/2014/main" id="{306C3A11-866B-4992-BB54-7F6378CD15FD}"/>
                </a:ext>
              </a:extLst>
            </p:cNvPr>
            <p:cNvCxnSpPr>
              <a:cxnSpLocks/>
              <a:endCxn id="89" idx="2"/>
            </p:cNvCxnSpPr>
            <p:nvPr/>
          </p:nvCxnSpPr>
          <p:spPr>
            <a:xfrm flipV="1">
              <a:off x="4466251" y="2136410"/>
              <a:ext cx="1708178" cy="1364440"/>
            </a:xfrm>
            <a:prstGeom prst="straightConnector1">
              <a:avLst/>
            </a:prstGeom>
            <a:ln w="28575">
              <a:solidFill>
                <a:schemeClr val="tx1">
                  <a:lumMod val="65000"/>
                  <a:lumOff val="3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5" name="直線單箭頭接點 94">
              <a:extLst>
                <a:ext uri="{FF2B5EF4-FFF2-40B4-BE49-F238E27FC236}">
                  <a16:creationId xmlns:a16="http://schemas.microsoft.com/office/drawing/2014/main" id="{0FB74FFD-705C-42AD-B418-4EADD5D71E09}"/>
                </a:ext>
              </a:extLst>
            </p:cNvPr>
            <p:cNvCxnSpPr>
              <a:stCxn id="92" idx="2"/>
              <a:endCxn id="91" idx="0"/>
            </p:cNvCxnSpPr>
            <p:nvPr/>
          </p:nvCxnSpPr>
          <p:spPr>
            <a:xfrm>
              <a:off x="3948761" y="3870179"/>
              <a:ext cx="0" cy="1153462"/>
            </a:xfrm>
            <a:prstGeom prst="straightConnector1">
              <a:avLst/>
            </a:prstGeom>
            <a:ln w="28575">
              <a:solidFill>
                <a:schemeClr val="tx1">
                  <a:lumMod val="65000"/>
                  <a:lumOff val="3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6" name="直線單箭頭接點 95">
              <a:extLst>
                <a:ext uri="{FF2B5EF4-FFF2-40B4-BE49-F238E27FC236}">
                  <a16:creationId xmlns:a16="http://schemas.microsoft.com/office/drawing/2014/main" id="{B6CDCA21-FC2B-4C89-9649-F6A6B24D3302}"/>
                </a:ext>
              </a:extLst>
            </p:cNvPr>
            <p:cNvCxnSpPr>
              <a:cxnSpLocks/>
              <a:stCxn id="90" idx="3"/>
              <a:endCxn id="89" idx="1"/>
            </p:cNvCxnSpPr>
            <p:nvPr/>
          </p:nvCxnSpPr>
          <p:spPr>
            <a:xfrm flipV="1">
              <a:off x="3008579" y="1813245"/>
              <a:ext cx="2276005" cy="7092"/>
            </a:xfrm>
            <a:prstGeom prst="straightConnector1">
              <a:avLst/>
            </a:prstGeom>
            <a:ln w="28575">
              <a:solidFill>
                <a:schemeClr val="tx1">
                  <a:lumMod val="65000"/>
                  <a:lumOff val="3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8" name="矩形 97">
              <a:extLst>
                <a:ext uri="{FF2B5EF4-FFF2-40B4-BE49-F238E27FC236}">
                  <a16:creationId xmlns:a16="http://schemas.microsoft.com/office/drawing/2014/main" id="{42C88D25-21EF-4F9A-973C-963CF4D5CE57}"/>
                </a:ext>
              </a:extLst>
            </p:cNvPr>
            <p:cNvSpPr/>
            <p:nvPr/>
          </p:nvSpPr>
          <p:spPr>
            <a:xfrm>
              <a:off x="5457933" y="2534038"/>
              <a:ext cx="1218603" cy="338554"/>
            </a:xfrm>
            <a:prstGeom prst="rect">
              <a:avLst/>
            </a:prstGeom>
          </p:spPr>
          <p:txBody>
            <a:bodyPr wrap="none">
              <a:spAutoFit/>
            </a:bodyPr>
            <a:lstStyle/>
            <a:p>
              <a:pPr>
                <a:defRPr/>
              </a:pPr>
              <a:r>
                <a:rPr lang="en-US" altLang="zh-TW" sz="1600" b="1" dirty="0">
                  <a:latin typeface="微軟正黑體" panose="020B0604030504040204" pitchFamily="34" charset="-120"/>
                  <a:ea typeface="微軟正黑體" panose="020B0604030504040204" pitchFamily="34" charset="-120"/>
                </a:rPr>
                <a:t>Block #</a:t>
              </a:r>
              <a:r>
                <a:rPr lang="en-US" altLang="zh-TW" sz="1600" b="1" dirty="0">
                  <a:solidFill>
                    <a:srgbClr val="FF0000"/>
                  </a:solidFill>
                  <a:latin typeface="微軟正黑體" panose="020B0604030504040204" pitchFamily="34" charset="-120"/>
                  <a:ea typeface="微軟正黑體" panose="020B0604030504040204" pitchFamily="34" charset="-120"/>
                </a:rPr>
                <a:t>01</a:t>
              </a:r>
              <a:r>
                <a:rPr lang="zh-TW" altLang="en-US" sz="1600" b="1" dirty="0">
                  <a:latin typeface="微軟正黑體" panose="020B0604030504040204" pitchFamily="34" charset="-120"/>
                  <a:ea typeface="微軟正黑體" panose="020B0604030504040204" pitchFamily="34" charset="-120"/>
                </a:rPr>
                <a:t> </a:t>
              </a:r>
            </a:p>
          </p:txBody>
        </p:sp>
        <p:sp>
          <p:nvSpPr>
            <p:cNvPr id="99" name="矩形 98">
              <a:extLst>
                <a:ext uri="{FF2B5EF4-FFF2-40B4-BE49-F238E27FC236}">
                  <a16:creationId xmlns:a16="http://schemas.microsoft.com/office/drawing/2014/main" id="{84A74127-6FF7-4015-BB48-84ED57CEE29F}"/>
                </a:ext>
              </a:extLst>
            </p:cNvPr>
            <p:cNvSpPr/>
            <p:nvPr/>
          </p:nvSpPr>
          <p:spPr>
            <a:xfrm>
              <a:off x="2925297" y="2380966"/>
              <a:ext cx="1218603" cy="338554"/>
            </a:xfrm>
            <a:prstGeom prst="rect">
              <a:avLst/>
            </a:prstGeom>
          </p:spPr>
          <p:txBody>
            <a:bodyPr wrap="none">
              <a:spAutoFit/>
            </a:bodyPr>
            <a:lstStyle/>
            <a:p>
              <a:pPr>
                <a:defRPr/>
              </a:pPr>
              <a:r>
                <a:rPr lang="en-US" altLang="zh-TW" sz="1600" b="1" dirty="0">
                  <a:latin typeface="微軟正黑體" panose="020B0604030504040204" pitchFamily="34" charset="-120"/>
                  <a:ea typeface="微軟正黑體" panose="020B0604030504040204" pitchFamily="34" charset="-120"/>
                </a:rPr>
                <a:t>Block #</a:t>
              </a:r>
              <a:r>
                <a:rPr lang="en-US" altLang="zh-TW" sz="1600" b="1" dirty="0">
                  <a:solidFill>
                    <a:srgbClr val="FF0000"/>
                  </a:solidFill>
                  <a:latin typeface="微軟正黑體" panose="020B0604030504040204" pitchFamily="34" charset="-120"/>
                  <a:ea typeface="微軟正黑體" panose="020B0604030504040204" pitchFamily="34" charset="-120"/>
                </a:rPr>
                <a:t>01</a:t>
              </a:r>
              <a:r>
                <a:rPr lang="zh-TW" altLang="en-US" sz="1600" b="1" dirty="0">
                  <a:latin typeface="微軟正黑體" panose="020B0604030504040204" pitchFamily="34" charset="-120"/>
                  <a:ea typeface="微軟正黑體" panose="020B0604030504040204" pitchFamily="34" charset="-120"/>
                </a:rPr>
                <a:t> </a:t>
              </a:r>
            </a:p>
          </p:txBody>
        </p:sp>
        <p:sp>
          <p:nvSpPr>
            <p:cNvPr id="100" name="矩形 99">
              <a:extLst>
                <a:ext uri="{FF2B5EF4-FFF2-40B4-BE49-F238E27FC236}">
                  <a16:creationId xmlns:a16="http://schemas.microsoft.com/office/drawing/2014/main" id="{BBB5FB8A-79D3-4CE5-97EC-8CCCF9A6DED0}"/>
                </a:ext>
              </a:extLst>
            </p:cNvPr>
            <p:cNvSpPr/>
            <p:nvPr/>
          </p:nvSpPr>
          <p:spPr>
            <a:xfrm>
              <a:off x="5449011" y="2841383"/>
              <a:ext cx="1218603" cy="338554"/>
            </a:xfrm>
            <a:prstGeom prst="rect">
              <a:avLst/>
            </a:prstGeom>
          </p:spPr>
          <p:txBody>
            <a:bodyPr wrap="none">
              <a:spAutoFit/>
            </a:bodyPr>
            <a:lstStyle/>
            <a:p>
              <a:r>
                <a:rPr lang="en-US" altLang="zh-TW" sz="1600" b="1" dirty="0">
                  <a:latin typeface="微軟正黑體" panose="020B0604030504040204" pitchFamily="34" charset="-120"/>
                  <a:ea typeface="微軟正黑體" panose="020B0604030504040204" pitchFamily="34" charset="-120"/>
                </a:rPr>
                <a:t>Block #</a:t>
              </a:r>
              <a:r>
                <a:rPr lang="en-US" altLang="zh-TW" sz="1600" b="1" dirty="0">
                  <a:solidFill>
                    <a:srgbClr val="FF0000"/>
                  </a:solidFill>
                  <a:latin typeface="微軟正黑體" panose="020B0604030504040204" pitchFamily="34" charset="-120"/>
                  <a:ea typeface="微軟正黑體" panose="020B0604030504040204" pitchFamily="34" charset="-120"/>
                </a:rPr>
                <a:t>10</a:t>
              </a:r>
              <a:r>
                <a:rPr lang="zh-TW" altLang="en-US" sz="1600" b="1" dirty="0">
                  <a:latin typeface="微軟正黑體" panose="020B0604030504040204" pitchFamily="34" charset="-120"/>
                  <a:ea typeface="微軟正黑體" panose="020B0604030504040204" pitchFamily="34" charset="-120"/>
                </a:rPr>
                <a:t> </a:t>
              </a:r>
            </a:p>
          </p:txBody>
        </p:sp>
        <p:sp>
          <p:nvSpPr>
            <p:cNvPr id="101" name="矩形 100">
              <a:extLst>
                <a:ext uri="{FF2B5EF4-FFF2-40B4-BE49-F238E27FC236}">
                  <a16:creationId xmlns:a16="http://schemas.microsoft.com/office/drawing/2014/main" id="{73794D52-94D2-48EC-9FC6-8ADE52C0D202}"/>
                </a:ext>
              </a:extLst>
            </p:cNvPr>
            <p:cNvSpPr/>
            <p:nvPr/>
          </p:nvSpPr>
          <p:spPr>
            <a:xfrm>
              <a:off x="2933272" y="2648408"/>
              <a:ext cx="1218603" cy="338554"/>
            </a:xfrm>
            <a:prstGeom prst="rect">
              <a:avLst/>
            </a:prstGeom>
          </p:spPr>
          <p:txBody>
            <a:bodyPr wrap="none">
              <a:spAutoFit/>
            </a:bodyPr>
            <a:lstStyle/>
            <a:p>
              <a:r>
                <a:rPr lang="en-US" altLang="zh-TW" sz="1600" b="1" dirty="0">
                  <a:latin typeface="微軟正黑體" panose="020B0604030504040204" pitchFamily="34" charset="-120"/>
                  <a:ea typeface="微軟正黑體" panose="020B0604030504040204" pitchFamily="34" charset="-120"/>
                </a:rPr>
                <a:t>Block #</a:t>
              </a:r>
              <a:r>
                <a:rPr lang="en-US" altLang="zh-TW" sz="1600" b="1" dirty="0">
                  <a:solidFill>
                    <a:srgbClr val="FF0000"/>
                  </a:solidFill>
                  <a:latin typeface="微軟正黑體" panose="020B0604030504040204" pitchFamily="34" charset="-120"/>
                  <a:ea typeface="微軟正黑體" panose="020B0604030504040204" pitchFamily="34" charset="-120"/>
                </a:rPr>
                <a:t>10</a:t>
              </a:r>
              <a:r>
                <a:rPr lang="zh-TW" altLang="en-US" sz="1600" b="1" dirty="0">
                  <a:latin typeface="微軟正黑體" panose="020B0604030504040204" pitchFamily="34" charset="-120"/>
                  <a:ea typeface="微軟正黑體" panose="020B0604030504040204" pitchFamily="34" charset="-120"/>
                </a:rPr>
                <a:t> </a:t>
              </a:r>
            </a:p>
          </p:txBody>
        </p:sp>
        <p:sp>
          <p:nvSpPr>
            <p:cNvPr id="102" name="矩形 101">
              <a:extLst>
                <a:ext uri="{FF2B5EF4-FFF2-40B4-BE49-F238E27FC236}">
                  <a16:creationId xmlns:a16="http://schemas.microsoft.com/office/drawing/2014/main" id="{68B21A53-6208-4013-BBCE-6259147739BD}"/>
                </a:ext>
              </a:extLst>
            </p:cNvPr>
            <p:cNvSpPr/>
            <p:nvPr/>
          </p:nvSpPr>
          <p:spPr>
            <a:xfrm>
              <a:off x="4142925" y="4427538"/>
              <a:ext cx="1218603" cy="338554"/>
            </a:xfrm>
            <a:prstGeom prst="rect">
              <a:avLst/>
            </a:prstGeom>
          </p:spPr>
          <p:txBody>
            <a:bodyPr wrap="none">
              <a:spAutoFit/>
            </a:bodyPr>
            <a:lstStyle/>
            <a:p>
              <a:r>
                <a:rPr lang="en-US" altLang="zh-TW" sz="1600" b="1" dirty="0">
                  <a:latin typeface="微軟正黑體" panose="020B0604030504040204" pitchFamily="34" charset="-120"/>
                  <a:ea typeface="微軟正黑體" panose="020B0604030504040204" pitchFamily="34" charset="-120"/>
                </a:rPr>
                <a:t>Block #</a:t>
              </a:r>
              <a:r>
                <a:rPr lang="en-US" altLang="zh-TW" sz="1600" b="1" dirty="0">
                  <a:solidFill>
                    <a:srgbClr val="FF0000"/>
                  </a:solidFill>
                  <a:latin typeface="微軟正黑體" panose="020B0604030504040204" pitchFamily="34" charset="-120"/>
                  <a:ea typeface="微軟正黑體" panose="020B0604030504040204" pitchFamily="34" charset="-120"/>
                </a:rPr>
                <a:t>10</a:t>
              </a:r>
              <a:r>
                <a:rPr lang="zh-TW" altLang="en-US" sz="1600" b="1" dirty="0">
                  <a:latin typeface="微軟正黑體" panose="020B0604030504040204" pitchFamily="34" charset="-120"/>
                  <a:ea typeface="微軟正黑體" panose="020B0604030504040204" pitchFamily="34" charset="-120"/>
                </a:rPr>
                <a:t> </a:t>
              </a:r>
            </a:p>
          </p:txBody>
        </p:sp>
        <p:sp>
          <p:nvSpPr>
            <p:cNvPr id="103" name="矩形 102">
              <a:extLst>
                <a:ext uri="{FF2B5EF4-FFF2-40B4-BE49-F238E27FC236}">
                  <a16:creationId xmlns:a16="http://schemas.microsoft.com/office/drawing/2014/main" id="{0CC73058-8447-4B18-AB1A-B324B95E4E47}"/>
                </a:ext>
              </a:extLst>
            </p:cNvPr>
            <p:cNvSpPr/>
            <p:nvPr/>
          </p:nvSpPr>
          <p:spPr>
            <a:xfrm>
              <a:off x="4142108" y="4735248"/>
              <a:ext cx="1157689" cy="338554"/>
            </a:xfrm>
            <a:prstGeom prst="rect">
              <a:avLst/>
            </a:prstGeom>
          </p:spPr>
          <p:txBody>
            <a:bodyPr wrap="none">
              <a:spAutoFit/>
            </a:bodyPr>
            <a:lstStyle/>
            <a:p>
              <a:r>
                <a:rPr lang="en-US" altLang="zh-TW" sz="1600" b="1" dirty="0">
                  <a:latin typeface="微軟正黑體" panose="020B0604030504040204" pitchFamily="34" charset="-120"/>
                  <a:ea typeface="微軟正黑體" panose="020B0604030504040204" pitchFamily="34" charset="-120"/>
                </a:rPr>
                <a:t>Block #</a:t>
              </a:r>
              <a:r>
                <a:rPr lang="en-US" altLang="zh-TW" sz="1600" b="1" dirty="0">
                  <a:solidFill>
                    <a:srgbClr val="FF0000"/>
                  </a:solidFill>
                  <a:latin typeface="微軟正黑體" panose="020B0604030504040204" pitchFamily="34" charset="-120"/>
                  <a:ea typeface="微軟正黑體" panose="020B0604030504040204" pitchFamily="34" charset="-120"/>
                </a:rPr>
                <a:t>13</a:t>
              </a:r>
              <a:endParaRPr lang="zh-TW" altLang="en-US" sz="1600" b="1" dirty="0">
                <a:latin typeface="微軟正黑體" panose="020B0604030504040204" pitchFamily="34" charset="-120"/>
                <a:ea typeface="微軟正黑體" panose="020B0604030504040204" pitchFamily="34" charset="-120"/>
              </a:endParaRPr>
            </a:p>
          </p:txBody>
        </p:sp>
        <p:sp>
          <p:nvSpPr>
            <p:cNvPr id="104" name="矩形 103">
              <a:extLst>
                <a:ext uri="{FF2B5EF4-FFF2-40B4-BE49-F238E27FC236}">
                  <a16:creationId xmlns:a16="http://schemas.microsoft.com/office/drawing/2014/main" id="{4A7D77AF-1C3E-4119-BFDA-22A2CF9CF050}"/>
                </a:ext>
              </a:extLst>
            </p:cNvPr>
            <p:cNvSpPr/>
            <p:nvPr/>
          </p:nvSpPr>
          <p:spPr>
            <a:xfrm>
              <a:off x="2951747" y="2923120"/>
              <a:ext cx="1157689" cy="338554"/>
            </a:xfrm>
            <a:prstGeom prst="rect">
              <a:avLst/>
            </a:prstGeom>
          </p:spPr>
          <p:txBody>
            <a:bodyPr wrap="none">
              <a:spAutoFit/>
            </a:bodyPr>
            <a:lstStyle/>
            <a:p>
              <a:r>
                <a:rPr lang="en-US" altLang="zh-TW" sz="1600" b="1" dirty="0">
                  <a:latin typeface="微軟正黑體" panose="020B0604030504040204" pitchFamily="34" charset="-120"/>
                  <a:ea typeface="微軟正黑體" panose="020B0604030504040204" pitchFamily="34" charset="-120"/>
                </a:rPr>
                <a:t>Block #</a:t>
              </a:r>
              <a:r>
                <a:rPr lang="en-US" altLang="zh-TW" sz="1600" b="1" dirty="0">
                  <a:solidFill>
                    <a:srgbClr val="FF0000"/>
                  </a:solidFill>
                  <a:latin typeface="微軟正黑體" panose="020B0604030504040204" pitchFamily="34" charset="-120"/>
                  <a:ea typeface="微軟正黑體" panose="020B0604030504040204" pitchFamily="34" charset="-120"/>
                </a:rPr>
                <a:t>13</a:t>
              </a:r>
              <a:endParaRPr lang="zh-TW" altLang="en-US" sz="1600" b="1" dirty="0">
                <a:latin typeface="微軟正黑體" panose="020B0604030504040204" pitchFamily="34" charset="-120"/>
                <a:ea typeface="微軟正黑體" panose="020B0604030504040204" pitchFamily="34" charset="-120"/>
              </a:endParaRPr>
            </a:p>
          </p:txBody>
        </p:sp>
        <p:sp>
          <p:nvSpPr>
            <p:cNvPr id="105" name="矩形 104">
              <a:extLst>
                <a:ext uri="{FF2B5EF4-FFF2-40B4-BE49-F238E27FC236}">
                  <a16:creationId xmlns:a16="http://schemas.microsoft.com/office/drawing/2014/main" id="{7447544F-5E82-4826-81A2-F823A93F78C1}"/>
                </a:ext>
              </a:extLst>
            </p:cNvPr>
            <p:cNvSpPr/>
            <p:nvPr/>
          </p:nvSpPr>
          <p:spPr>
            <a:xfrm>
              <a:off x="5425695" y="3175479"/>
              <a:ext cx="1157689" cy="338554"/>
            </a:xfrm>
            <a:prstGeom prst="rect">
              <a:avLst/>
            </a:prstGeom>
          </p:spPr>
          <p:txBody>
            <a:bodyPr wrap="none">
              <a:spAutoFit/>
            </a:bodyPr>
            <a:lstStyle/>
            <a:p>
              <a:r>
                <a:rPr lang="en-US" altLang="zh-TW" sz="1600" b="1" dirty="0">
                  <a:latin typeface="微軟正黑體" panose="020B0604030504040204" pitchFamily="34" charset="-120"/>
                  <a:ea typeface="微軟正黑體" panose="020B0604030504040204" pitchFamily="34" charset="-120"/>
                </a:rPr>
                <a:t>Block #</a:t>
              </a:r>
              <a:r>
                <a:rPr lang="en-US" altLang="zh-TW" sz="1600" b="1" dirty="0">
                  <a:solidFill>
                    <a:srgbClr val="FF0000"/>
                  </a:solidFill>
                  <a:latin typeface="微軟正黑體" panose="020B0604030504040204" pitchFamily="34" charset="-120"/>
                  <a:ea typeface="微軟正黑體" panose="020B0604030504040204" pitchFamily="34" charset="-120"/>
                </a:rPr>
                <a:t>13</a:t>
              </a:r>
              <a:endParaRPr lang="zh-TW" altLang="en-US" sz="1600" b="1" dirty="0">
                <a:latin typeface="微軟正黑體" panose="020B0604030504040204" pitchFamily="34" charset="-120"/>
                <a:ea typeface="微軟正黑體" panose="020B0604030504040204" pitchFamily="34" charset="-120"/>
              </a:endParaRPr>
            </a:p>
          </p:txBody>
        </p:sp>
        <p:grpSp>
          <p:nvGrpSpPr>
            <p:cNvPr id="106" name="群組 105">
              <a:extLst>
                <a:ext uri="{FF2B5EF4-FFF2-40B4-BE49-F238E27FC236}">
                  <a16:creationId xmlns:a16="http://schemas.microsoft.com/office/drawing/2014/main" id="{158EC65A-FA8E-4D20-B4C3-FDFBC62C6900}"/>
                </a:ext>
              </a:extLst>
            </p:cNvPr>
            <p:cNvGrpSpPr/>
            <p:nvPr/>
          </p:nvGrpSpPr>
          <p:grpSpPr>
            <a:xfrm>
              <a:off x="5738544" y="3544624"/>
              <a:ext cx="585701" cy="443431"/>
              <a:chOff x="2928964" y="2105106"/>
              <a:chExt cx="379062" cy="443431"/>
            </a:xfrm>
          </p:grpSpPr>
          <p:sp>
            <p:nvSpPr>
              <p:cNvPr id="126" name="向右箭號 47">
                <a:extLst>
                  <a:ext uri="{FF2B5EF4-FFF2-40B4-BE49-F238E27FC236}">
                    <a16:creationId xmlns:a16="http://schemas.microsoft.com/office/drawing/2014/main" id="{D1B726B5-4284-435D-AEB8-7F1148746B9F}"/>
                  </a:ext>
                </a:extLst>
              </p:cNvPr>
              <p:cNvSpPr/>
              <p:nvPr/>
            </p:nvSpPr>
            <p:spPr>
              <a:xfrm rot="10800000">
                <a:off x="2928964" y="2105106"/>
                <a:ext cx="379062" cy="443431"/>
              </a:xfrm>
              <a:prstGeom prst="rightArrow">
                <a:avLst>
                  <a:gd name="adj1" fmla="val 60000"/>
                  <a:gd name="adj2" fmla="val 50000"/>
                </a:avLst>
              </a:prstGeom>
            </p:spPr>
            <p:style>
              <a:lnRef idx="0">
                <a:schemeClr val="lt1">
                  <a:hueOff val="0"/>
                  <a:satOff val="0"/>
                  <a:lumOff val="0"/>
                  <a:alphaOff val="0"/>
                </a:schemeClr>
              </a:lnRef>
              <a:fillRef idx="1">
                <a:schemeClr val="accent5">
                  <a:hueOff val="-4902231"/>
                  <a:satOff val="-6819"/>
                  <a:lumOff val="-2615"/>
                  <a:alphaOff val="0"/>
                </a:schemeClr>
              </a:fillRef>
              <a:effectRef idx="0">
                <a:schemeClr val="accent5">
                  <a:hueOff val="-4902231"/>
                  <a:satOff val="-6819"/>
                  <a:lumOff val="-2615"/>
                  <a:alphaOff val="0"/>
                </a:schemeClr>
              </a:effectRef>
              <a:fontRef idx="minor">
                <a:schemeClr val="lt1"/>
              </a:fontRef>
            </p:style>
          </p:sp>
          <p:sp>
            <p:nvSpPr>
              <p:cNvPr id="127" name="向右箭號 4">
                <a:extLst>
                  <a:ext uri="{FF2B5EF4-FFF2-40B4-BE49-F238E27FC236}">
                    <a16:creationId xmlns:a16="http://schemas.microsoft.com/office/drawing/2014/main" id="{DE9AFD64-EDEC-4F2A-A8F0-5C358C8FC704}"/>
                  </a:ext>
                </a:extLst>
              </p:cNvPr>
              <p:cNvSpPr/>
              <p:nvPr/>
            </p:nvSpPr>
            <p:spPr>
              <a:xfrm rot="21600000">
                <a:off x="3042683" y="2193792"/>
                <a:ext cx="265343" cy="26605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algn="ctr" defTabSz="844550">
                  <a:lnSpc>
                    <a:spcPct val="90000"/>
                  </a:lnSpc>
                  <a:spcBef>
                    <a:spcPct val="0"/>
                  </a:spcBef>
                  <a:spcAft>
                    <a:spcPct val="35000"/>
                  </a:spcAft>
                </a:pPr>
                <a:r>
                  <a:rPr lang="zh-TW" altLang="en-US" sz="1400" b="1" dirty="0">
                    <a:solidFill>
                      <a:schemeClr val="bg1"/>
                    </a:solidFill>
                    <a:latin typeface="微軟正黑體" panose="020B0604030504040204" pitchFamily="34" charset="-120"/>
                    <a:ea typeface="微軟正黑體" panose="020B0604030504040204" pitchFamily="34" charset="-120"/>
                  </a:rPr>
                  <a:t>寫入</a:t>
                </a:r>
              </a:p>
            </p:txBody>
          </p:sp>
        </p:grpSp>
        <p:cxnSp>
          <p:nvCxnSpPr>
            <p:cNvPr id="107" name="直線單箭頭接點 106">
              <a:extLst>
                <a:ext uri="{FF2B5EF4-FFF2-40B4-BE49-F238E27FC236}">
                  <a16:creationId xmlns:a16="http://schemas.microsoft.com/office/drawing/2014/main" id="{BC3E5C4A-4A14-41D4-8B2C-558D3A388673}"/>
                </a:ext>
              </a:extLst>
            </p:cNvPr>
            <p:cNvCxnSpPr/>
            <p:nvPr/>
          </p:nvCxnSpPr>
          <p:spPr>
            <a:xfrm>
              <a:off x="6499956" y="2205057"/>
              <a:ext cx="14499" cy="3212533"/>
            </a:xfrm>
            <a:prstGeom prst="straightConnector1">
              <a:avLst/>
            </a:prstGeom>
            <a:ln w="38100">
              <a:solidFill>
                <a:srgbClr val="FD7632"/>
              </a:solidFill>
              <a:headEnd type="none" w="med" len="med"/>
              <a:tailEnd type="none" w="med" len="med"/>
            </a:ln>
          </p:spPr>
          <p:style>
            <a:lnRef idx="3">
              <a:schemeClr val="accent6"/>
            </a:lnRef>
            <a:fillRef idx="0">
              <a:schemeClr val="accent6"/>
            </a:fillRef>
            <a:effectRef idx="2">
              <a:schemeClr val="accent6"/>
            </a:effectRef>
            <a:fontRef idx="minor">
              <a:schemeClr val="tx1"/>
            </a:fontRef>
          </p:style>
        </p:cxnSp>
        <p:cxnSp>
          <p:nvCxnSpPr>
            <p:cNvPr id="108" name="直線單箭頭接點 107">
              <a:extLst>
                <a:ext uri="{FF2B5EF4-FFF2-40B4-BE49-F238E27FC236}">
                  <a16:creationId xmlns:a16="http://schemas.microsoft.com/office/drawing/2014/main" id="{32CADB45-3640-49A4-A142-E9A68D311E2B}"/>
                </a:ext>
              </a:extLst>
            </p:cNvPr>
            <p:cNvCxnSpPr/>
            <p:nvPr/>
          </p:nvCxnSpPr>
          <p:spPr>
            <a:xfrm flipH="1">
              <a:off x="5172897" y="5399562"/>
              <a:ext cx="1341558" cy="9014"/>
            </a:xfrm>
            <a:prstGeom prst="straightConnector1">
              <a:avLst/>
            </a:prstGeom>
            <a:ln w="38100">
              <a:solidFill>
                <a:srgbClr val="FD7632"/>
              </a:solidFill>
              <a:tailEnd type="triangle"/>
            </a:ln>
          </p:spPr>
          <p:style>
            <a:lnRef idx="1">
              <a:schemeClr val="accent6"/>
            </a:lnRef>
            <a:fillRef idx="0">
              <a:schemeClr val="accent6"/>
            </a:fillRef>
            <a:effectRef idx="0">
              <a:schemeClr val="accent6"/>
            </a:effectRef>
            <a:fontRef idx="minor">
              <a:schemeClr val="tx1"/>
            </a:fontRef>
          </p:style>
        </p:cxnSp>
        <p:cxnSp>
          <p:nvCxnSpPr>
            <p:cNvPr id="109" name="直線單箭頭接點 108">
              <a:extLst>
                <a:ext uri="{FF2B5EF4-FFF2-40B4-BE49-F238E27FC236}">
                  <a16:creationId xmlns:a16="http://schemas.microsoft.com/office/drawing/2014/main" id="{6C852278-DDBF-40E9-B846-74727D3B46D0}"/>
                </a:ext>
              </a:extLst>
            </p:cNvPr>
            <p:cNvCxnSpPr/>
            <p:nvPr/>
          </p:nvCxnSpPr>
          <p:spPr>
            <a:xfrm>
              <a:off x="2091988" y="2196043"/>
              <a:ext cx="23421" cy="3258844"/>
            </a:xfrm>
            <a:prstGeom prst="straightConnector1">
              <a:avLst/>
            </a:prstGeom>
            <a:ln w="38100">
              <a:solidFill>
                <a:srgbClr val="FD7632"/>
              </a:solidFill>
              <a:headEnd type="triangle" w="med" len="med"/>
              <a:tailEnd type="none" w="med" len="med"/>
            </a:ln>
          </p:spPr>
          <p:style>
            <a:lnRef idx="3">
              <a:schemeClr val="accent6"/>
            </a:lnRef>
            <a:fillRef idx="0">
              <a:schemeClr val="accent6"/>
            </a:fillRef>
            <a:effectRef idx="2">
              <a:schemeClr val="accent6"/>
            </a:effectRef>
            <a:fontRef idx="minor">
              <a:schemeClr val="tx1"/>
            </a:fontRef>
          </p:style>
        </p:cxnSp>
        <p:cxnSp>
          <p:nvCxnSpPr>
            <p:cNvPr id="110" name="直線單箭頭接點 109">
              <a:extLst>
                <a:ext uri="{FF2B5EF4-FFF2-40B4-BE49-F238E27FC236}">
                  <a16:creationId xmlns:a16="http://schemas.microsoft.com/office/drawing/2014/main" id="{FFAF911D-2887-4429-AB80-3A4394157650}"/>
                </a:ext>
              </a:extLst>
            </p:cNvPr>
            <p:cNvCxnSpPr/>
            <p:nvPr/>
          </p:nvCxnSpPr>
          <p:spPr>
            <a:xfrm flipV="1">
              <a:off x="2103698" y="5438257"/>
              <a:ext cx="609216" cy="0"/>
            </a:xfrm>
            <a:prstGeom prst="straightConnector1">
              <a:avLst/>
            </a:prstGeom>
            <a:ln w="38100">
              <a:solidFill>
                <a:srgbClr val="FD7632"/>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grpSp>
          <p:nvGrpSpPr>
            <p:cNvPr id="111" name="群組 110">
              <a:extLst>
                <a:ext uri="{FF2B5EF4-FFF2-40B4-BE49-F238E27FC236}">
                  <a16:creationId xmlns:a16="http://schemas.microsoft.com/office/drawing/2014/main" id="{E2BFA771-5CE4-404C-B664-F46480D9746E}"/>
                </a:ext>
              </a:extLst>
            </p:cNvPr>
            <p:cNvGrpSpPr/>
            <p:nvPr/>
          </p:nvGrpSpPr>
          <p:grpSpPr>
            <a:xfrm>
              <a:off x="7783543" y="1484784"/>
              <a:ext cx="2083544" cy="689495"/>
              <a:chOff x="4678817" y="5415950"/>
              <a:chExt cx="2083544" cy="689495"/>
            </a:xfrm>
          </p:grpSpPr>
          <p:cxnSp>
            <p:nvCxnSpPr>
              <p:cNvPr id="122" name="直線單箭頭接點 121">
                <a:extLst>
                  <a:ext uri="{FF2B5EF4-FFF2-40B4-BE49-F238E27FC236}">
                    <a16:creationId xmlns:a16="http://schemas.microsoft.com/office/drawing/2014/main" id="{31827157-8447-453F-9B1E-B80B5A4466A0}"/>
                  </a:ext>
                </a:extLst>
              </p:cNvPr>
              <p:cNvCxnSpPr/>
              <p:nvPr/>
            </p:nvCxnSpPr>
            <p:spPr>
              <a:xfrm flipV="1">
                <a:off x="4678817" y="5638270"/>
                <a:ext cx="609216" cy="10596"/>
              </a:xfrm>
              <a:prstGeom prst="straightConnector1">
                <a:avLst/>
              </a:prstGeom>
              <a:ln w="38100">
                <a:solidFill>
                  <a:srgbClr val="FD7632"/>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23" name="直線單箭頭接點 122">
                <a:extLst>
                  <a:ext uri="{FF2B5EF4-FFF2-40B4-BE49-F238E27FC236}">
                    <a16:creationId xmlns:a16="http://schemas.microsoft.com/office/drawing/2014/main" id="{3FCC086A-EB44-4074-BE08-322AEEFAEF48}"/>
                  </a:ext>
                </a:extLst>
              </p:cNvPr>
              <p:cNvCxnSpPr/>
              <p:nvPr/>
            </p:nvCxnSpPr>
            <p:spPr>
              <a:xfrm flipV="1">
                <a:off x="4678817" y="5961770"/>
                <a:ext cx="609216" cy="10596"/>
              </a:xfrm>
              <a:prstGeom prst="straightConnector1">
                <a:avLst/>
              </a:prstGeom>
              <a:ln w="38100">
                <a:solidFill>
                  <a:schemeClr val="tx1">
                    <a:lumMod val="65000"/>
                    <a:lumOff val="35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24" name="文字方塊 123">
                <a:extLst>
                  <a:ext uri="{FF2B5EF4-FFF2-40B4-BE49-F238E27FC236}">
                    <a16:creationId xmlns:a16="http://schemas.microsoft.com/office/drawing/2014/main" id="{809ED65F-58E5-4DC3-B2E2-34F3F97D7586}"/>
                  </a:ext>
                </a:extLst>
              </p:cNvPr>
              <p:cNvSpPr txBox="1"/>
              <p:nvPr/>
            </p:nvSpPr>
            <p:spPr>
              <a:xfrm>
                <a:off x="5288033" y="5415950"/>
                <a:ext cx="1166510" cy="338554"/>
              </a:xfrm>
              <a:prstGeom prst="rect">
                <a:avLst/>
              </a:prstGeom>
              <a:noFill/>
            </p:spPr>
            <p:txBody>
              <a:bodyPr wrap="square" rtlCol="0">
                <a:spAutoFit/>
              </a:bodyPr>
              <a:lstStyle/>
              <a:p>
                <a:r>
                  <a:rPr lang="zh-TW" altLang="en-US" sz="1600" b="1" dirty="0">
                    <a:latin typeface="微軟正黑體" panose="020B0604030504040204" pitchFamily="34" charset="-120"/>
                    <a:ea typeface="微軟正黑體" panose="020B0604030504040204" pitchFamily="34" charset="-120"/>
                  </a:rPr>
                  <a:t>交易金流</a:t>
                </a:r>
              </a:p>
            </p:txBody>
          </p:sp>
          <p:sp>
            <p:nvSpPr>
              <p:cNvPr id="125" name="文字方塊 124">
                <a:extLst>
                  <a:ext uri="{FF2B5EF4-FFF2-40B4-BE49-F238E27FC236}">
                    <a16:creationId xmlns:a16="http://schemas.microsoft.com/office/drawing/2014/main" id="{CC00AEC6-1E35-4A25-BDB5-56B4559F0CBD}"/>
                  </a:ext>
                </a:extLst>
              </p:cNvPr>
              <p:cNvSpPr txBox="1"/>
              <p:nvPr/>
            </p:nvSpPr>
            <p:spPr>
              <a:xfrm>
                <a:off x="5288033" y="5766891"/>
                <a:ext cx="1474328" cy="338554"/>
              </a:xfrm>
              <a:prstGeom prst="rect">
                <a:avLst/>
              </a:prstGeom>
              <a:noFill/>
            </p:spPr>
            <p:txBody>
              <a:bodyPr wrap="square" rtlCol="0">
                <a:spAutoFit/>
              </a:bodyPr>
              <a:lstStyle/>
              <a:p>
                <a:r>
                  <a:rPr lang="zh-TW" altLang="en-US" sz="1600" b="1" dirty="0">
                    <a:latin typeface="微軟正黑體" panose="020B0604030504040204" pitchFamily="34" charset="-120"/>
                    <a:ea typeface="微軟正黑體" panose="020B0604030504040204" pitchFamily="34" charset="-120"/>
                  </a:rPr>
                  <a:t>交易資訊流</a:t>
                </a:r>
              </a:p>
            </p:txBody>
          </p:sp>
        </p:grpSp>
      </p:grpSp>
      <p:sp>
        <p:nvSpPr>
          <p:cNvPr id="5" name="文字方塊 4">
            <a:extLst>
              <a:ext uri="{FF2B5EF4-FFF2-40B4-BE49-F238E27FC236}">
                <a16:creationId xmlns:a16="http://schemas.microsoft.com/office/drawing/2014/main" id="{0F01AD1D-BEC3-4524-B683-B4CF5A5E228C}"/>
              </a:ext>
            </a:extLst>
          </p:cNvPr>
          <p:cNvSpPr txBox="1"/>
          <p:nvPr/>
        </p:nvSpPr>
        <p:spPr>
          <a:xfrm>
            <a:off x="9413913" y="1603428"/>
            <a:ext cx="2781531" cy="923330"/>
          </a:xfrm>
          <a:prstGeom prst="rect">
            <a:avLst/>
          </a:prstGeom>
          <a:noFill/>
        </p:spPr>
        <p:txBody>
          <a:bodyPr wrap="none" rtlCol="0">
            <a:spAutoFit/>
          </a:bodyPr>
          <a:lstStyle/>
          <a:p>
            <a:pPr marL="285750" indent="-285750">
              <a:buBlip>
                <a:blip r:embed="rId4"/>
              </a:buBlip>
            </a:pPr>
            <a:r>
              <a:rPr lang="zh-TW" altLang="en-US" b="1" dirty="0">
                <a:solidFill>
                  <a:srgbClr val="3DA18E"/>
                </a:solidFill>
                <a:latin typeface="微軟正黑體" panose="020B0604030504040204" pitchFamily="34" charset="-120"/>
                <a:ea typeface="微軟正黑體" panose="020B0604030504040204" pitchFamily="34" charset="-120"/>
              </a:rPr>
              <a:t>節省交易時間</a:t>
            </a:r>
            <a:endParaRPr lang="en-US" altLang="zh-TW" b="1" dirty="0">
              <a:solidFill>
                <a:srgbClr val="3DA18E"/>
              </a:solidFill>
              <a:latin typeface="微軟正黑體" panose="020B0604030504040204" pitchFamily="34" charset="-120"/>
              <a:ea typeface="微軟正黑體" panose="020B0604030504040204" pitchFamily="34" charset="-120"/>
            </a:endParaRPr>
          </a:p>
          <a:p>
            <a:pPr marL="285750" indent="-285750">
              <a:buBlip>
                <a:blip r:embed="rId4"/>
              </a:buBlip>
            </a:pPr>
            <a:r>
              <a:rPr lang="zh-TW" altLang="en-US" b="1" dirty="0">
                <a:solidFill>
                  <a:srgbClr val="3DA18E"/>
                </a:solidFill>
                <a:latin typeface="微軟正黑體" panose="020B0604030504040204" pitchFamily="34" charset="-120"/>
                <a:ea typeface="微軟正黑體" panose="020B0604030504040204" pitchFamily="34" charset="-120"/>
              </a:rPr>
              <a:t>降低交易流程複雜度</a:t>
            </a:r>
            <a:endParaRPr lang="en-US" altLang="zh-TW" b="1" dirty="0">
              <a:solidFill>
                <a:srgbClr val="3DA18E"/>
              </a:solidFill>
              <a:latin typeface="微軟正黑體" panose="020B0604030504040204" pitchFamily="34" charset="-120"/>
              <a:ea typeface="微軟正黑體" panose="020B0604030504040204" pitchFamily="34" charset="-120"/>
            </a:endParaRPr>
          </a:p>
          <a:p>
            <a:pPr marL="285750" indent="-285750">
              <a:buBlip>
                <a:blip r:embed="rId4"/>
              </a:buBlip>
            </a:pPr>
            <a:r>
              <a:rPr lang="zh-TW" altLang="en-US" b="1" dirty="0">
                <a:solidFill>
                  <a:srgbClr val="3DA18E"/>
                </a:solidFill>
                <a:latin typeface="微軟正黑體" panose="020B0604030504040204" pitchFamily="34" charset="-120"/>
                <a:ea typeface="微軟正黑體" panose="020B0604030504040204" pitchFamily="34" charset="-120"/>
              </a:rPr>
              <a:t>降低買賣雙方營運成本</a:t>
            </a:r>
          </a:p>
        </p:txBody>
      </p:sp>
      <p:grpSp>
        <p:nvGrpSpPr>
          <p:cNvPr id="6" name="群組 5">
            <a:extLst>
              <a:ext uri="{FF2B5EF4-FFF2-40B4-BE49-F238E27FC236}">
                <a16:creationId xmlns:a16="http://schemas.microsoft.com/office/drawing/2014/main" id="{8ADA05E6-01A0-4DB0-AE5C-753FBD7AF129}"/>
              </a:ext>
            </a:extLst>
          </p:cNvPr>
          <p:cNvGrpSpPr/>
          <p:nvPr/>
        </p:nvGrpSpPr>
        <p:grpSpPr>
          <a:xfrm>
            <a:off x="6676105" y="2857452"/>
            <a:ext cx="4161540" cy="3223444"/>
            <a:chOff x="6973541" y="2857452"/>
            <a:chExt cx="3566095" cy="2762225"/>
          </a:xfrm>
        </p:grpSpPr>
        <p:pic>
          <p:nvPicPr>
            <p:cNvPr id="139" name="Picture 2" descr="C:\Users\Han\Desktop\img_17.jpg">
              <a:extLst>
                <a:ext uri="{FF2B5EF4-FFF2-40B4-BE49-F238E27FC236}">
                  <a16:creationId xmlns:a16="http://schemas.microsoft.com/office/drawing/2014/main" id="{735E3F77-FF67-400F-9E73-0DBC9BD53FCE}"/>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973541" y="2857452"/>
              <a:ext cx="3550144" cy="2762225"/>
            </a:xfrm>
            <a:prstGeom prst="rect">
              <a:avLst/>
            </a:prstGeom>
            <a:noFill/>
            <a:extLst>
              <a:ext uri="{909E8E84-426E-40DD-AFC4-6F175D3DCCD1}">
                <a14:hiddenFill xmlns:a14="http://schemas.microsoft.com/office/drawing/2010/main">
                  <a:solidFill>
                    <a:srgbClr val="FFFFFF"/>
                  </a:solidFill>
                </a14:hiddenFill>
              </a:ext>
            </a:extLst>
          </p:spPr>
        </p:pic>
        <p:sp>
          <p:nvSpPr>
            <p:cNvPr id="140" name="橢圓 139">
              <a:extLst>
                <a:ext uri="{FF2B5EF4-FFF2-40B4-BE49-F238E27FC236}">
                  <a16:creationId xmlns:a16="http://schemas.microsoft.com/office/drawing/2014/main" id="{5A805135-734F-4C36-9D95-44546EE51BC3}"/>
                </a:ext>
              </a:extLst>
            </p:cNvPr>
            <p:cNvSpPr/>
            <p:nvPr/>
          </p:nvSpPr>
          <p:spPr>
            <a:xfrm>
              <a:off x="7155621" y="3258003"/>
              <a:ext cx="839790" cy="754014"/>
            </a:xfrm>
            <a:prstGeom prst="ellipse">
              <a:avLst/>
            </a:prstGeom>
            <a:solidFill>
              <a:srgbClr val="5B9BD5"/>
            </a:solidFill>
            <a:ln w="12700" cap="flat" cmpd="sng" algn="ctr">
              <a:solidFill>
                <a:srgbClr val="5B9BD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微軟正黑體" panose="020B0604030504040204" pitchFamily="34" charset="-120"/>
                <a:ea typeface="微軟正黑體" panose="020B0604030504040204" pitchFamily="34" charset="-120"/>
              </a:endParaRPr>
            </a:p>
          </p:txBody>
        </p:sp>
        <p:sp>
          <p:nvSpPr>
            <p:cNvPr id="141" name="橢圓 140">
              <a:extLst>
                <a:ext uri="{FF2B5EF4-FFF2-40B4-BE49-F238E27FC236}">
                  <a16:creationId xmlns:a16="http://schemas.microsoft.com/office/drawing/2014/main" id="{E79C350D-6ABA-41B7-9300-17D1C4DC1C0B}"/>
                </a:ext>
              </a:extLst>
            </p:cNvPr>
            <p:cNvSpPr/>
            <p:nvPr/>
          </p:nvSpPr>
          <p:spPr>
            <a:xfrm>
              <a:off x="7276734" y="4469425"/>
              <a:ext cx="804100" cy="690277"/>
            </a:xfrm>
            <a:prstGeom prst="ellipse">
              <a:avLst/>
            </a:prstGeom>
            <a:solidFill>
              <a:srgbClr val="ED7D31"/>
            </a:solidFill>
            <a:ln w="12700" cap="flat" cmpd="sng" algn="ctr">
              <a:solidFill>
                <a:srgbClr val="ED7D31">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微軟正黑體" panose="020B0604030504040204" pitchFamily="34" charset="-120"/>
                <a:ea typeface="微軟正黑體" panose="020B0604030504040204" pitchFamily="34" charset="-120"/>
              </a:endParaRPr>
            </a:p>
          </p:txBody>
        </p:sp>
        <p:sp>
          <p:nvSpPr>
            <p:cNvPr id="142" name="橢圓 141">
              <a:extLst>
                <a:ext uri="{FF2B5EF4-FFF2-40B4-BE49-F238E27FC236}">
                  <a16:creationId xmlns:a16="http://schemas.microsoft.com/office/drawing/2014/main" id="{6DAEB472-6408-4022-8E84-6702103EE508}"/>
                </a:ext>
              </a:extLst>
            </p:cNvPr>
            <p:cNvSpPr/>
            <p:nvPr/>
          </p:nvSpPr>
          <p:spPr>
            <a:xfrm>
              <a:off x="9703171" y="3200674"/>
              <a:ext cx="836465" cy="738413"/>
            </a:xfrm>
            <a:prstGeom prst="ellipse">
              <a:avLst/>
            </a:prstGeom>
            <a:solidFill>
              <a:srgbClr val="FFC000"/>
            </a:solidFill>
            <a:ln w="12700" cap="flat" cmpd="sng" algn="ctr">
              <a:solidFill>
                <a:srgbClr val="FFC00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微軟正黑體" panose="020B0604030504040204" pitchFamily="34" charset="-120"/>
                <a:ea typeface="微軟正黑體" panose="020B0604030504040204" pitchFamily="34" charset="-120"/>
              </a:endParaRPr>
            </a:p>
          </p:txBody>
        </p:sp>
        <p:sp>
          <p:nvSpPr>
            <p:cNvPr id="143" name="橢圓 142">
              <a:extLst>
                <a:ext uri="{FF2B5EF4-FFF2-40B4-BE49-F238E27FC236}">
                  <a16:creationId xmlns:a16="http://schemas.microsoft.com/office/drawing/2014/main" id="{2B35AE54-62AA-4570-ADEA-AD600673656E}"/>
                </a:ext>
              </a:extLst>
            </p:cNvPr>
            <p:cNvSpPr/>
            <p:nvPr/>
          </p:nvSpPr>
          <p:spPr>
            <a:xfrm>
              <a:off x="9443492" y="4516210"/>
              <a:ext cx="731654" cy="632026"/>
            </a:xfrm>
            <a:prstGeom prst="ellipse">
              <a:avLst/>
            </a:prstGeom>
            <a:solidFill>
              <a:srgbClr val="70AD47"/>
            </a:solidFill>
            <a:ln w="12700" cap="flat" cmpd="sng" algn="ctr">
              <a:solidFill>
                <a:srgbClr val="70AD47">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微軟正黑體" panose="020B0604030504040204" pitchFamily="34" charset="-120"/>
                <a:ea typeface="微軟正黑體" panose="020B0604030504040204" pitchFamily="34" charset="-120"/>
              </a:endParaRPr>
            </a:p>
          </p:txBody>
        </p:sp>
        <p:pic>
          <p:nvPicPr>
            <p:cNvPr id="144" name="Picture 3">
              <a:extLst>
                <a:ext uri="{FF2B5EF4-FFF2-40B4-BE49-F238E27FC236}">
                  <a16:creationId xmlns:a16="http://schemas.microsoft.com/office/drawing/2014/main" id="{49F7BE6D-8B47-4336-ADFF-A6421604CE0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46721" y="3386045"/>
              <a:ext cx="473963" cy="5052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5" name="Picture 4">
              <a:extLst>
                <a:ext uri="{FF2B5EF4-FFF2-40B4-BE49-F238E27FC236}">
                  <a16:creationId xmlns:a16="http://schemas.microsoft.com/office/drawing/2014/main" id="{85C57901-E990-4EEF-8D3F-E745C02E963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60664" y="4559479"/>
              <a:ext cx="441652" cy="5484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6" name="Picture 5">
              <a:extLst>
                <a:ext uri="{FF2B5EF4-FFF2-40B4-BE49-F238E27FC236}">
                  <a16:creationId xmlns:a16="http://schemas.microsoft.com/office/drawing/2014/main" id="{CB2E0F4E-D3B7-4DBE-B02C-9DE47B44786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885722" y="3311196"/>
              <a:ext cx="500988" cy="5452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7" name="Picture 6">
              <a:extLst>
                <a:ext uri="{FF2B5EF4-FFF2-40B4-BE49-F238E27FC236}">
                  <a16:creationId xmlns:a16="http://schemas.microsoft.com/office/drawing/2014/main" id="{84590926-C0C0-4FE3-88D0-EF0B0A74D18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596390" y="4614474"/>
              <a:ext cx="451812" cy="4819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8" name="橢圓 147">
              <a:extLst>
                <a:ext uri="{FF2B5EF4-FFF2-40B4-BE49-F238E27FC236}">
                  <a16:creationId xmlns:a16="http://schemas.microsoft.com/office/drawing/2014/main" id="{C8C42F4A-8C65-4225-8C8A-95FA96A4969F}"/>
                </a:ext>
              </a:extLst>
            </p:cNvPr>
            <p:cNvSpPr/>
            <p:nvPr/>
          </p:nvSpPr>
          <p:spPr>
            <a:xfrm>
              <a:off x="8059554" y="3492806"/>
              <a:ext cx="1112946" cy="955232"/>
            </a:xfrm>
            <a:prstGeom prst="ellipse">
              <a:avLst/>
            </a:prstGeom>
            <a:solidFill>
              <a:srgbClr val="4472C4">
                <a:lumMod val="75000"/>
              </a:srgbClr>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800" b="1" i="0" u="none" strike="noStrike" kern="0" cap="none" spc="0" normalizeH="0" baseline="0" noProof="0" dirty="0">
                  <a:ln>
                    <a:noFill/>
                  </a:ln>
                  <a:solidFill>
                    <a:prstClr val="white"/>
                  </a:solidFill>
                  <a:effectLst/>
                  <a:uLnTx/>
                  <a:uFillTx/>
                  <a:latin typeface="微軟正黑體" panose="020B0604030504040204" pitchFamily="34" charset="-120"/>
                  <a:ea typeface="微軟正黑體" panose="020B0604030504040204" pitchFamily="34" charset="-120"/>
                </a:rPr>
                <a:t>智慧 合約</a:t>
              </a:r>
            </a:p>
          </p:txBody>
        </p:sp>
      </p:grpSp>
      <p:cxnSp>
        <p:nvCxnSpPr>
          <p:cNvPr id="48" name="直接连接符 33">
            <a:extLst>
              <a:ext uri="{FF2B5EF4-FFF2-40B4-BE49-F238E27FC236}">
                <a16:creationId xmlns:a16="http://schemas.microsoft.com/office/drawing/2014/main" id="{E806EE60-E3E7-44B2-9248-9BFA5D02F1FB}"/>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989035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500"/>
                            </p:stCondLst>
                            <p:childTnLst>
                              <p:par>
                                <p:cTn id="9" presetID="16" presetClass="entr" presetSubtype="21"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barn(inVertical)">
                                      <p:cBhvr>
                                        <p:cTn id="11" dur="500"/>
                                        <p:tgtEl>
                                          <p:spTgt spid="26"/>
                                        </p:tgtEl>
                                      </p:cBhvr>
                                    </p:animEffect>
                                  </p:childTnLst>
                                </p:cTn>
                              </p:par>
                            </p:childTnLst>
                          </p:cTn>
                        </p:par>
                        <p:par>
                          <p:cTn id="12" fill="hold">
                            <p:stCondLst>
                              <p:cond delay="3000"/>
                            </p:stCondLst>
                            <p:childTnLst>
                              <p:par>
                                <p:cTn id="13" presetID="2" presetClass="entr" presetSubtype="8" fill="hold" nodeType="afterEffect">
                                  <p:stCondLst>
                                    <p:cond delay="0"/>
                                  </p:stCondLst>
                                  <p:childTnLst>
                                    <p:set>
                                      <p:cBhvr>
                                        <p:cTn id="14" dur="1" fill="hold">
                                          <p:stCondLst>
                                            <p:cond delay="0"/>
                                          </p:stCondLst>
                                        </p:cTn>
                                        <p:tgtEl>
                                          <p:spTgt spid="48"/>
                                        </p:tgtEl>
                                        <p:attrNameLst>
                                          <p:attrName>style.visibility</p:attrName>
                                        </p:attrNameLst>
                                      </p:cBhvr>
                                      <p:to>
                                        <p:strVal val="visible"/>
                                      </p:to>
                                    </p:set>
                                    <p:anim calcmode="lin" valueType="num">
                                      <p:cBhvr additive="base">
                                        <p:cTn id="15" dur="500" fill="hold"/>
                                        <p:tgtEl>
                                          <p:spTgt spid="48"/>
                                        </p:tgtEl>
                                        <p:attrNameLst>
                                          <p:attrName>ppt_x</p:attrName>
                                        </p:attrNameLst>
                                      </p:cBhvr>
                                      <p:tavLst>
                                        <p:tav tm="0">
                                          <p:val>
                                            <p:strVal val="0-#ppt_w/2"/>
                                          </p:val>
                                        </p:tav>
                                        <p:tav tm="100000">
                                          <p:val>
                                            <p:strVal val="#ppt_x"/>
                                          </p:val>
                                        </p:tav>
                                      </p:tavLst>
                                    </p:anim>
                                    <p:anim calcmode="lin" valueType="num">
                                      <p:cBhvr additive="base">
                                        <p:cTn id="16" dur="500" fill="hold"/>
                                        <p:tgtEl>
                                          <p:spTgt spid="48"/>
                                        </p:tgtEl>
                                        <p:attrNameLst>
                                          <p:attrName>ppt_y</p:attrName>
                                        </p:attrNameLst>
                                      </p:cBhvr>
                                      <p:tavLst>
                                        <p:tav tm="0">
                                          <p:val>
                                            <p:strVal val="#ppt_y"/>
                                          </p:val>
                                        </p:tav>
                                        <p:tav tm="100000">
                                          <p:val>
                                            <p:strVal val="#ppt_y"/>
                                          </p:val>
                                        </p:tav>
                                      </p:tavLst>
                                    </p:anim>
                                  </p:childTnLst>
                                </p:cTn>
                              </p:par>
                            </p:childTnLst>
                          </p:cTn>
                        </p:par>
                        <p:par>
                          <p:cTn id="17" fill="hold">
                            <p:stCondLst>
                              <p:cond delay="3500"/>
                            </p:stCondLst>
                            <p:childTnLst>
                              <p:par>
                                <p:cTn id="18" presetID="2" presetClass="entr" presetSubtype="4" fill="hold" grpId="0" nodeType="afterEffect">
                                  <p:stCondLst>
                                    <p:cond delay="0"/>
                                  </p:stCondLst>
                                  <p:childTnLst>
                                    <p:set>
                                      <p:cBhvr>
                                        <p:cTn id="19" dur="1" fill="hold">
                                          <p:stCondLst>
                                            <p:cond delay="0"/>
                                          </p:stCondLst>
                                        </p:cTn>
                                        <p:tgtEl>
                                          <p:spTgt spid="34"/>
                                        </p:tgtEl>
                                        <p:attrNameLst>
                                          <p:attrName>style.visibility</p:attrName>
                                        </p:attrNameLst>
                                      </p:cBhvr>
                                      <p:to>
                                        <p:strVal val="visible"/>
                                      </p:to>
                                    </p:set>
                                    <p:anim calcmode="lin" valueType="num">
                                      <p:cBhvr additive="base">
                                        <p:cTn id="20" dur="500" fill="hold"/>
                                        <p:tgtEl>
                                          <p:spTgt spid="34"/>
                                        </p:tgtEl>
                                        <p:attrNameLst>
                                          <p:attrName>ppt_x</p:attrName>
                                        </p:attrNameLst>
                                      </p:cBhvr>
                                      <p:tavLst>
                                        <p:tav tm="0">
                                          <p:val>
                                            <p:strVal val="#ppt_x"/>
                                          </p:val>
                                        </p:tav>
                                        <p:tav tm="100000">
                                          <p:val>
                                            <p:strVal val="#ppt_x"/>
                                          </p:val>
                                        </p:tav>
                                      </p:tavLst>
                                    </p:anim>
                                    <p:anim calcmode="lin" valueType="num">
                                      <p:cBhvr additive="base">
                                        <p:cTn id="21" dur="500" fill="hold"/>
                                        <p:tgtEl>
                                          <p:spTgt spid="34"/>
                                        </p:tgtEl>
                                        <p:attrNameLst>
                                          <p:attrName>ppt_y</p:attrName>
                                        </p:attrNameLst>
                                      </p:cBhvr>
                                      <p:tavLst>
                                        <p:tav tm="0">
                                          <p:val>
                                            <p:strVal val="1+#ppt_h/2"/>
                                          </p:val>
                                        </p:tav>
                                        <p:tav tm="100000">
                                          <p:val>
                                            <p:strVal val="#ppt_y"/>
                                          </p:val>
                                        </p:tav>
                                      </p:tavLst>
                                    </p:anim>
                                  </p:childTnLst>
                                </p:cTn>
                              </p:par>
                            </p:childTnLst>
                          </p:cTn>
                        </p:par>
                        <p:par>
                          <p:cTn id="22" fill="hold">
                            <p:stCondLst>
                              <p:cond delay="4000"/>
                            </p:stCondLst>
                            <p:childTnLst>
                              <p:par>
                                <p:cTn id="23" presetID="53" presetClass="entr" presetSubtype="16" fill="hold" nodeType="afterEffect">
                                  <p:stCondLst>
                                    <p:cond delay="0"/>
                                  </p:stCondLst>
                                  <p:childTnLst>
                                    <p:set>
                                      <p:cBhvr>
                                        <p:cTn id="24" dur="1" fill="hold">
                                          <p:stCondLst>
                                            <p:cond delay="0"/>
                                          </p:stCondLst>
                                        </p:cTn>
                                        <p:tgtEl>
                                          <p:spTgt spid="88"/>
                                        </p:tgtEl>
                                        <p:attrNameLst>
                                          <p:attrName>style.visibility</p:attrName>
                                        </p:attrNameLst>
                                      </p:cBhvr>
                                      <p:to>
                                        <p:strVal val="visible"/>
                                      </p:to>
                                    </p:set>
                                    <p:anim calcmode="lin" valueType="num">
                                      <p:cBhvr>
                                        <p:cTn id="25" dur="500" fill="hold"/>
                                        <p:tgtEl>
                                          <p:spTgt spid="88"/>
                                        </p:tgtEl>
                                        <p:attrNameLst>
                                          <p:attrName>ppt_w</p:attrName>
                                        </p:attrNameLst>
                                      </p:cBhvr>
                                      <p:tavLst>
                                        <p:tav tm="0">
                                          <p:val>
                                            <p:fltVal val="0"/>
                                          </p:val>
                                        </p:tav>
                                        <p:tav tm="100000">
                                          <p:val>
                                            <p:strVal val="#ppt_w"/>
                                          </p:val>
                                        </p:tav>
                                      </p:tavLst>
                                    </p:anim>
                                    <p:anim calcmode="lin" valueType="num">
                                      <p:cBhvr>
                                        <p:cTn id="26" dur="500" fill="hold"/>
                                        <p:tgtEl>
                                          <p:spTgt spid="88"/>
                                        </p:tgtEl>
                                        <p:attrNameLst>
                                          <p:attrName>ppt_h</p:attrName>
                                        </p:attrNameLst>
                                      </p:cBhvr>
                                      <p:tavLst>
                                        <p:tav tm="0">
                                          <p:val>
                                            <p:fltVal val="0"/>
                                          </p:val>
                                        </p:tav>
                                        <p:tav tm="100000">
                                          <p:val>
                                            <p:strVal val="#ppt_h"/>
                                          </p:val>
                                        </p:tav>
                                      </p:tavLst>
                                    </p:anim>
                                    <p:animEffect transition="in" filter="fade">
                                      <p:cBhvr>
                                        <p:cTn id="27" dur="500"/>
                                        <p:tgtEl>
                                          <p:spTgt spid="88"/>
                                        </p:tgtEl>
                                      </p:cBhvr>
                                    </p:animEffect>
                                  </p:childTnLst>
                                </p:cTn>
                              </p:par>
                            </p:childTnLst>
                          </p:cTn>
                        </p:par>
                        <p:par>
                          <p:cTn id="28" fill="hold">
                            <p:stCondLst>
                              <p:cond delay="4500"/>
                            </p:stCondLst>
                            <p:childTnLst>
                              <p:par>
                                <p:cTn id="29" presetID="16" presetClass="entr" presetSubtype="37" fill="hold"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barn(outVertical)">
                                      <p:cBhvr>
                                        <p:cTn id="31" dur="500"/>
                                        <p:tgtEl>
                                          <p:spTgt spid="6"/>
                                        </p:tgtEl>
                                      </p:cBhvr>
                                    </p:animEffect>
                                  </p:childTnLst>
                                </p:cTn>
                              </p:par>
                            </p:childTnLst>
                          </p:cTn>
                        </p:par>
                        <p:par>
                          <p:cTn id="32" fill="hold">
                            <p:stCondLst>
                              <p:cond delay="5000"/>
                            </p:stCondLst>
                            <p:childTnLst>
                              <p:par>
                                <p:cTn id="33" presetID="16" presetClass="entr" presetSubtype="21" fill="hold" grpId="0" nodeType="after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barn(inVertical)">
                                      <p:cBhvr>
                                        <p:cTn id="3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4" grpId="0"/>
      <p:bldP spid="26"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499804" y="393820"/>
            <a:ext cx="508571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6-1 </a:t>
            </a:r>
            <a:r>
              <a:rPr lang="zh-TW" altLang="en-US" sz="2400" b="1" dirty="0">
                <a:solidFill>
                  <a:srgbClr val="E06741"/>
                </a:solidFill>
              </a:rPr>
              <a:t>實務案例─巴克萊銀行貿易融資</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4" name="文字方塊 33">
            <a:extLst>
              <a:ext uri="{FF2B5EF4-FFF2-40B4-BE49-F238E27FC236}">
                <a16:creationId xmlns:a16="http://schemas.microsoft.com/office/drawing/2014/main" id="{73EA10E1-7638-4516-B61E-4B64E154AD56}"/>
              </a:ext>
            </a:extLst>
          </p:cNvPr>
          <p:cNvSpPr txBox="1"/>
          <p:nvPr/>
        </p:nvSpPr>
        <p:spPr>
          <a:xfrm>
            <a:off x="1712407" y="1031914"/>
            <a:ext cx="9571067" cy="497444"/>
          </a:xfrm>
          <a:prstGeom prst="rect">
            <a:avLst/>
          </a:prstGeom>
          <a:noFill/>
        </p:spPr>
        <p:txBody>
          <a:bodyPr wrap="square" rtlCol="0">
            <a:spAutoFit/>
          </a:bodyPr>
          <a:lstStyle/>
          <a:p>
            <a:pPr marL="342900" indent="-342900">
              <a:lnSpc>
                <a:spcPct val="150000"/>
              </a:lnSpc>
              <a:buBlip>
                <a:blip r:embed="rId3"/>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以巴克萊銀行的例子為基準，</a:t>
            </a:r>
            <a:r>
              <a:rPr lang="zh-TW" altLang="en-US" sz="2000" b="1" dirty="0">
                <a:solidFill>
                  <a:srgbClr val="C00000"/>
                </a:solidFill>
                <a:latin typeface="微軟正黑體" panose="020B0604030504040204" pitchFamily="34" charset="-120"/>
                <a:ea typeface="微軟正黑體" panose="020B0604030504040204" pitchFamily="34" charset="-120"/>
              </a:rPr>
              <a:t>傳統交易</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模擬流程</a:t>
            </a:r>
          </a:p>
        </p:txBody>
      </p:sp>
      <p:sp>
        <p:nvSpPr>
          <p:cNvPr id="26" name="文字方塊 25">
            <a:extLst>
              <a:ext uri="{FF2B5EF4-FFF2-40B4-BE49-F238E27FC236}">
                <a16:creationId xmlns:a16="http://schemas.microsoft.com/office/drawing/2014/main" id="{4395D4FE-2FC0-4BD2-9BD3-55FB3C9BD0BF}"/>
              </a:ext>
            </a:extLst>
          </p:cNvPr>
          <p:cNvSpPr txBox="1"/>
          <p:nvPr/>
        </p:nvSpPr>
        <p:spPr>
          <a:xfrm>
            <a:off x="6574666"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案例區塊鏈應用</a:t>
            </a:r>
          </a:p>
        </p:txBody>
      </p:sp>
      <p:pic>
        <p:nvPicPr>
          <p:cNvPr id="2" name="圖片 1">
            <a:extLst>
              <a:ext uri="{FF2B5EF4-FFF2-40B4-BE49-F238E27FC236}">
                <a16:creationId xmlns:a16="http://schemas.microsoft.com/office/drawing/2014/main" id="{8307AA57-5BD9-4123-9953-0DE1F7684D21}"/>
              </a:ext>
            </a:extLst>
          </p:cNvPr>
          <p:cNvPicPr>
            <a:picLocks noChangeAspect="1"/>
          </p:cNvPicPr>
          <p:nvPr/>
        </p:nvPicPr>
        <p:blipFill rotWithShape="1">
          <a:blip r:embed="rId4">
            <a:clrChange>
              <a:clrFrom>
                <a:srgbClr val="FFFFFF"/>
              </a:clrFrom>
              <a:clrTo>
                <a:srgbClr val="FFFFFF">
                  <a:alpha val="0"/>
                </a:srgbClr>
              </a:clrTo>
            </a:clrChange>
          </a:blip>
          <a:srcRect t="15951"/>
          <a:stretch/>
        </p:blipFill>
        <p:spPr>
          <a:xfrm>
            <a:off x="1640208" y="1596038"/>
            <a:ext cx="9325550" cy="5000352"/>
          </a:xfrm>
          <a:prstGeom prst="rect">
            <a:avLst/>
          </a:prstGeom>
        </p:spPr>
      </p:pic>
      <p:sp>
        <p:nvSpPr>
          <p:cNvPr id="3" name="文字方塊 2">
            <a:extLst>
              <a:ext uri="{FF2B5EF4-FFF2-40B4-BE49-F238E27FC236}">
                <a16:creationId xmlns:a16="http://schemas.microsoft.com/office/drawing/2014/main" id="{D547EBC1-671E-46FF-BEF4-72BA20CED015}"/>
              </a:ext>
            </a:extLst>
          </p:cNvPr>
          <p:cNvSpPr txBox="1"/>
          <p:nvPr/>
        </p:nvSpPr>
        <p:spPr>
          <a:xfrm>
            <a:off x="10551792" y="5502920"/>
            <a:ext cx="1403934" cy="646331"/>
          </a:xfrm>
          <a:prstGeom prst="rect">
            <a:avLst/>
          </a:prstGeom>
          <a:noFill/>
        </p:spPr>
        <p:txBody>
          <a:bodyPr wrap="square" rtlCol="0">
            <a:spAutoFit/>
          </a:bodyPr>
          <a:lstStyle/>
          <a:p>
            <a:pPr marL="285750" indent="-285750">
              <a:buClr>
                <a:srgbClr val="C00000"/>
              </a:buClr>
              <a:buFont typeface="Arial" panose="020B0604020202020204" pitchFamily="34" charset="0"/>
              <a:buChar char="→"/>
            </a:pPr>
            <a:r>
              <a:rPr lang="zh-TW" altLang="en-US" b="1" dirty="0">
                <a:solidFill>
                  <a:schemeClr val="tx1">
                    <a:lumMod val="95000"/>
                    <a:lumOff val="5000"/>
                  </a:schemeClr>
                </a:solidFill>
                <a:latin typeface="微軟正黑體" panose="020B0604030504040204" pitchFamily="34" charset="-120"/>
                <a:ea typeface="微軟正黑體" panose="020B0604030504040204" pitchFamily="34" charset="-120"/>
              </a:rPr>
              <a:t>全程耗費將近七天</a:t>
            </a:r>
          </a:p>
        </p:txBody>
      </p:sp>
      <p:cxnSp>
        <p:nvCxnSpPr>
          <p:cNvPr id="10" name="直接连接符 33">
            <a:extLst>
              <a:ext uri="{FF2B5EF4-FFF2-40B4-BE49-F238E27FC236}">
                <a16:creationId xmlns:a16="http://schemas.microsoft.com/office/drawing/2014/main" id="{CEADF207-225A-4B35-B458-466C576FCE79}"/>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602797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26">
                                            <p:txEl>
                                              <p:pRg st="0" end="0"/>
                                            </p:txEl>
                                          </p:spTgt>
                                        </p:tgtEl>
                                        <p:attrNameLst>
                                          <p:attrName>style.visibility</p:attrName>
                                        </p:attrNameLst>
                                      </p:cBhvr>
                                      <p:to>
                                        <p:strVal val="visible"/>
                                      </p:to>
                                    </p:set>
                                    <p:animEffect transition="in" filter="barn(inVertical)">
                                      <p:cBhvr>
                                        <p:cTn id="11" dur="500"/>
                                        <p:tgtEl>
                                          <p:spTgt spid="26">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grpId="0" nodeType="afterEffect">
                                  <p:stCondLst>
                                    <p:cond delay="0"/>
                                  </p:stCondLst>
                                  <p:childTnLst>
                                    <p:set>
                                      <p:cBhvr>
                                        <p:cTn id="19" dur="1" fill="hold">
                                          <p:stCondLst>
                                            <p:cond delay="0"/>
                                          </p:stCondLst>
                                        </p:cTn>
                                        <p:tgtEl>
                                          <p:spTgt spid="34"/>
                                        </p:tgtEl>
                                        <p:attrNameLst>
                                          <p:attrName>style.visibility</p:attrName>
                                        </p:attrNameLst>
                                      </p:cBhvr>
                                      <p:to>
                                        <p:strVal val="visible"/>
                                      </p:to>
                                    </p:set>
                                    <p:anim calcmode="lin" valueType="num">
                                      <p:cBhvr additive="base">
                                        <p:cTn id="20" dur="500" fill="hold"/>
                                        <p:tgtEl>
                                          <p:spTgt spid="34"/>
                                        </p:tgtEl>
                                        <p:attrNameLst>
                                          <p:attrName>ppt_x</p:attrName>
                                        </p:attrNameLst>
                                      </p:cBhvr>
                                      <p:tavLst>
                                        <p:tav tm="0">
                                          <p:val>
                                            <p:strVal val="#ppt_x"/>
                                          </p:val>
                                        </p:tav>
                                        <p:tav tm="100000">
                                          <p:val>
                                            <p:strVal val="#ppt_x"/>
                                          </p:val>
                                        </p:tav>
                                      </p:tavLst>
                                    </p:anim>
                                    <p:anim calcmode="lin" valueType="num">
                                      <p:cBhvr additive="base">
                                        <p:cTn id="21" dur="500" fill="hold"/>
                                        <p:tgtEl>
                                          <p:spTgt spid="34"/>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53" presetClass="entr" presetSubtype="16" fill="hold" nodeType="after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p:cTn id="25" dur="500" fill="hold"/>
                                        <p:tgtEl>
                                          <p:spTgt spid="2"/>
                                        </p:tgtEl>
                                        <p:attrNameLst>
                                          <p:attrName>ppt_w</p:attrName>
                                        </p:attrNameLst>
                                      </p:cBhvr>
                                      <p:tavLst>
                                        <p:tav tm="0">
                                          <p:val>
                                            <p:fltVal val="0"/>
                                          </p:val>
                                        </p:tav>
                                        <p:tav tm="100000">
                                          <p:val>
                                            <p:strVal val="#ppt_w"/>
                                          </p:val>
                                        </p:tav>
                                      </p:tavLst>
                                    </p:anim>
                                    <p:anim calcmode="lin" valueType="num">
                                      <p:cBhvr>
                                        <p:cTn id="26" dur="500" fill="hold"/>
                                        <p:tgtEl>
                                          <p:spTgt spid="2"/>
                                        </p:tgtEl>
                                        <p:attrNameLst>
                                          <p:attrName>ppt_h</p:attrName>
                                        </p:attrNameLst>
                                      </p:cBhvr>
                                      <p:tavLst>
                                        <p:tav tm="0">
                                          <p:val>
                                            <p:fltVal val="0"/>
                                          </p:val>
                                        </p:tav>
                                        <p:tav tm="100000">
                                          <p:val>
                                            <p:strVal val="#ppt_h"/>
                                          </p:val>
                                        </p:tav>
                                      </p:tavLst>
                                    </p:anim>
                                    <p:animEffect transition="in" filter="fade">
                                      <p:cBhvr>
                                        <p:cTn id="27" dur="500"/>
                                        <p:tgtEl>
                                          <p:spTgt spid="2"/>
                                        </p:tgtEl>
                                      </p:cBhvr>
                                    </p:animEffect>
                                  </p:childTnLst>
                                </p:cTn>
                              </p:par>
                            </p:childTnLst>
                          </p:cTn>
                        </p:par>
                        <p:par>
                          <p:cTn id="28" fill="hold">
                            <p:stCondLst>
                              <p:cond delay="4000"/>
                            </p:stCondLst>
                            <p:childTnLst>
                              <p:par>
                                <p:cTn id="29" presetID="2" presetClass="entr" presetSubtype="8" fill="hold" grpId="0" nodeType="after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0-#ppt_w/2"/>
                                          </p:val>
                                        </p:tav>
                                        <p:tav tm="100000">
                                          <p:val>
                                            <p:strVal val="#ppt_x"/>
                                          </p:val>
                                        </p:tav>
                                      </p:tavLst>
                                    </p:anim>
                                    <p:anim calcmode="lin" valueType="num">
                                      <p:cBhvr additive="base">
                                        <p:cTn id="32"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4"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499804" y="393820"/>
            <a:ext cx="508571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6-1 </a:t>
            </a:r>
            <a:r>
              <a:rPr lang="zh-TW" altLang="en-US" sz="2400" b="1" dirty="0">
                <a:solidFill>
                  <a:srgbClr val="E06741"/>
                </a:solidFill>
              </a:rPr>
              <a:t>實務案例─巴克萊銀行貿易融資</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6" name="文字方塊 25">
            <a:extLst>
              <a:ext uri="{FF2B5EF4-FFF2-40B4-BE49-F238E27FC236}">
                <a16:creationId xmlns:a16="http://schemas.microsoft.com/office/drawing/2014/main" id="{4395D4FE-2FC0-4BD2-9BD3-55FB3C9BD0BF}"/>
              </a:ext>
            </a:extLst>
          </p:cNvPr>
          <p:cNvSpPr txBox="1"/>
          <p:nvPr/>
        </p:nvSpPr>
        <p:spPr>
          <a:xfrm>
            <a:off x="6574666"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案例區塊鏈應用</a:t>
            </a:r>
          </a:p>
        </p:txBody>
      </p:sp>
      <p:pic>
        <p:nvPicPr>
          <p:cNvPr id="47" name="圖片 46">
            <a:extLst>
              <a:ext uri="{FF2B5EF4-FFF2-40B4-BE49-F238E27FC236}">
                <a16:creationId xmlns:a16="http://schemas.microsoft.com/office/drawing/2014/main" id="{48CDCDD4-5B9F-4CF1-B74E-5E945CFE5081}"/>
              </a:ext>
            </a:extLst>
          </p:cNvPr>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9476"/>
          <a:stretch/>
        </p:blipFill>
        <p:spPr>
          <a:xfrm>
            <a:off x="1786882" y="1537914"/>
            <a:ext cx="8618236" cy="5133248"/>
          </a:xfrm>
          <a:prstGeom prst="rect">
            <a:avLst/>
          </a:prstGeom>
        </p:spPr>
      </p:pic>
      <p:sp>
        <p:nvSpPr>
          <p:cNvPr id="48" name="文字方塊 47">
            <a:extLst>
              <a:ext uri="{FF2B5EF4-FFF2-40B4-BE49-F238E27FC236}">
                <a16:creationId xmlns:a16="http://schemas.microsoft.com/office/drawing/2014/main" id="{86DEFDDE-4381-4267-8E1E-1C7ACE9AF7B6}"/>
              </a:ext>
            </a:extLst>
          </p:cNvPr>
          <p:cNvSpPr txBox="1"/>
          <p:nvPr/>
        </p:nvSpPr>
        <p:spPr>
          <a:xfrm>
            <a:off x="1684221" y="1019693"/>
            <a:ext cx="9571067" cy="497444"/>
          </a:xfrm>
          <a:prstGeom prst="rect">
            <a:avLst/>
          </a:prstGeom>
          <a:noFill/>
        </p:spPr>
        <p:txBody>
          <a:bodyPr wrap="square" rtlCol="0">
            <a:spAutoFit/>
          </a:bodyPr>
          <a:lstStyle/>
          <a:p>
            <a:pPr marL="342900" indent="-342900">
              <a:lnSpc>
                <a:spcPct val="150000"/>
              </a:lnSpc>
              <a:buBlip>
                <a:blip r:embed="rId4"/>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以</a:t>
            </a:r>
            <a:r>
              <a:rPr lang="zh-TW" altLang="en-US" sz="2000" b="1" dirty="0">
                <a:solidFill>
                  <a:srgbClr val="C00000"/>
                </a:solidFill>
                <a:latin typeface="微軟正黑體" panose="020B0604030504040204" pitchFamily="34" charset="-120"/>
                <a:ea typeface="微軟正黑體" panose="020B0604030504040204" pitchFamily="34" charset="-120"/>
              </a:rPr>
              <a:t>區塊鏈機制</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交易模擬流程</a:t>
            </a:r>
          </a:p>
        </p:txBody>
      </p:sp>
      <p:sp>
        <p:nvSpPr>
          <p:cNvPr id="49" name="文字方塊 48">
            <a:extLst>
              <a:ext uri="{FF2B5EF4-FFF2-40B4-BE49-F238E27FC236}">
                <a16:creationId xmlns:a16="http://schemas.microsoft.com/office/drawing/2014/main" id="{E493B4EC-6D61-4B25-B4FE-346ABC3D2DCB}"/>
              </a:ext>
            </a:extLst>
          </p:cNvPr>
          <p:cNvSpPr txBox="1"/>
          <p:nvPr/>
        </p:nvSpPr>
        <p:spPr>
          <a:xfrm>
            <a:off x="9813564" y="5593735"/>
            <a:ext cx="2251279" cy="923330"/>
          </a:xfrm>
          <a:prstGeom prst="rect">
            <a:avLst/>
          </a:prstGeom>
          <a:noFill/>
        </p:spPr>
        <p:txBody>
          <a:bodyPr wrap="square" rtlCol="0">
            <a:spAutoFit/>
          </a:bodyPr>
          <a:lstStyle/>
          <a:p>
            <a:pPr marL="285750" indent="-285750">
              <a:buClr>
                <a:srgbClr val="3DA18E"/>
              </a:buClr>
              <a:buFont typeface="Arial" panose="020B0604020202020204" pitchFamily="34" charset="0"/>
              <a:buChar char="→"/>
            </a:pPr>
            <a:r>
              <a:rPr lang="zh-TW" altLang="en-US" b="1" dirty="0">
                <a:solidFill>
                  <a:schemeClr val="tx1">
                    <a:lumMod val="95000"/>
                    <a:lumOff val="5000"/>
                  </a:schemeClr>
                </a:solidFill>
                <a:latin typeface="微軟正黑體" panose="020B0604030504040204" pitchFamily="34" charset="-120"/>
                <a:ea typeface="微軟正黑體" panose="020B0604030504040204" pitchFamily="34" charset="-120"/>
              </a:rPr>
              <a:t>全程僅花費</a:t>
            </a:r>
            <a:r>
              <a:rPr lang="en-US" altLang="zh-TW" b="1" dirty="0">
                <a:solidFill>
                  <a:schemeClr val="tx1">
                    <a:lumMod val="95000"/>
                    <a:lumOff val="5000"/>
                  </a:schemeClr>
                </a:solidFill>
                <a:latin typeface="微軟正黑體" panose="020B0604030504040204" pitchFamily="34" charset="-120"/>
                <a:ea typeface="微軟正黑體" panose="020B0604030504040204" pitchFamily="34" charset="-120"/>
              </a:rPr>
              <a:t>2</a:t>
            </a:r>
            <a:r>
              <a:rPr lang="zh-TW" altLang="en-US" b="1" dirty="0">
                <a:solidFill>
                  <a:schemeClr val="tx1">
                    <a:lumMod val="95000"/>
                    <a:lumOff val="5000"/>
                  </a:schemeClr>
                </a:solidFill>
                <a:latin typeface="微軟正黑體" panose="020B0604030504040204" pitchFamily="34" charset="-120"/>
                <a:ea typeface="微軟正黑體" panose="020B0604030504040204" pitchFamily="34" charset="-120"/>
              </a:rPr>
              <a:t>小時</a:t>
            </a:r>
            <a:endParaRPr lang="en-US" altLang="zh-TW" b="1" dirty="0">
              <a:solidFill>
                <a:schemeClr val="tx1">
                  <a:lumMod val="95000"/>
                  <a:lumOff val="5000"/>
                </a:schemeClr>
              </a:solidFill>
              <a:latin typeface="微軟正黑體" panose="020B0604030504040204" pitchFamily="34" charset="-120"/>
              <a:ea typeface="微軟正黑體" panose="020B0604030504040204" pitchFamily="34" charset="-120"/>
            </a:endParaRPr>
          </a:p>
          <a:p>
            <a:pPr marL="285750" indent="-285750">
              <a:buBlip>
                <a:blip r:embed="rId5"/>
              </a:buBlip>
            </a:pPr>
            <a:r>
              <a:rPr lang="zh-TW" altLang="en-US" b="1" dirty="0">
                <a:solidFill>
                  <a:srgbClr val="3DA18E"/>
                </a:solidFill>
                <a:latin typeface="微軟正黑體" panose="020B0604030504040204" pitchFamily="34" charset="-120"/>
                <a:ea typeface="微軟正黑體" panose="020B0604030504040204" pitchFamily="34" charset="-120"/>
              </a:rPr>
              <a:t>省時</a:t>
            </a:r>
            <a:endParaRPr lang="en-US" altLang="zh-TW" b="1" dirty="0">
              <a:solidFill>
                <a:srgbClr val="3DA18E"/>
              </a:solidFill>
              <a:latin typeface="微軟正黑體" panose="020B0604030504040204" pitchFamily="34" charset="-120"/>
              <a:ea typeface="微軟正黑體" panose="020B0604030504040204" pitchFamily="34" charset="-120"/>
            </a:endParaRPr>
          </a:p>
          <a:p>
            <a:pPr marL="285750" indent="-285750">
              <a:buBlip>
                <a:blip r:embed="rId5"/>
              </a:buBlip>
            </a:pPr>
            <a:r>
              <a:rPr lang="zh-TW" altLang="en-US" b="1" dirty="0">
                <a:solidFill>
                  <a:srgbClr val="3DA18E"/>
                </a:solidFill>
                <a:latin typeface="微軟正黑體" panose="020B0604030504040204" pitchFamily="34" charset="-120"/>
                <a:ea typeface="微軟正黑體" panose="020B0604030504040204" pitchFamily="34" charset="-120"/>
              </a:rPr>
              <a:t>降低成本</a:t>
            </a:r>
          </a:p>
        </p:txBody>
      </p:sp>
      <p:cxnSp>
        <p:nvCxnSpPr>
          <p:cNvPr id="10" name="直接连接符 33">
            <a:extLst>
              <a:ext uri="{FF2B5EF4-FFF2-40B4-BE49-F238E27FC236}">
                <a16:creationId xmlns:a16="http://schemas.microsoft.com/office/drawing/2014/main" id="{76285DE9-97E4-46E9-9420-D73C3D6EDD1B}"/>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224904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26">
                                            <p:txEl>
                                              <p:pRg st="0" end="0"/>
                                            </p:txEl>
                                          </p:spTgt>
                                        </p:tgtEl>
                                        <p:attrNameLst>
                                          <p:attrName>style.visibility</p:attrName>
                                        </p:attrNameLst>
                                      </p:cBhvr>
                                      <p:to>
                                        <p:strVal val="visible"/>
                                      </p:to>
                                    </p:set>
                                    <p:animEffect transition="in" filter="barn(inVertical)">
                                      <p:cBhvr>
                                        <p:cTn id="11" dur="500"/>
                                        <p:tgtEl>
                                          <p:spTgt spid="26">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grpId="0" nodeType="afterEffect">
                                  <p:stCondLst>
                                    <p:cond delay="0"/>
                                  </p:stCondLst>
                                  <p:childTnLst>
                                    <p:set>
                                      <p:cBhvr>
                                        <p:cTn id="19" dur="1" fill="hold">
                                          <p:stCondLst>
                                            <p:cond delay="0"/>
                                          </p:stCondLst>
                                        </p:cTn>
                                        <p:tgtEl>
                                          <p:spTgt spid="48"/>
                                        </p:tgtEl>
                                        <p:attrNameLst>
                                          <p:attrName>style.visibility</p:attrName>
                                        </p:attrNameLst>
                                      </p:cBhvr>
                                      <p:to>
                                        <p:strVal val="visible"/>
                                      </p:to>
                                    </p:set>
                                    <p:anim calcmode="lin" valueType="num">
                                      <p:cBhvr additive="base">
                                        <p:cTn id="20" dur="500" fill="hold"/>
                                        <p:tgtEl>
                                          <p:spTgt spid="48"/>
                                        </p:tgtEl>
                                        <p:attrNameLst>
                                          <p:attrName>ppt_x</p:attrName>
                                        </p:attrNameLst>
                                      </p:cBhvr>
                                      <p:tavLst>
                                        <p:tav tm="0">
                                          <p:val>
                                            <p:strVal val="#ppt_x"/>
                                          </p:val>
                                        </p:tav>
                                        <p:tav tm="100000">
                                          <p:val>
                                            <p:strVal val="#ppt_x"/>
                                          </p:val>
                                        </p:tav>
                                      </p:tavLst>
                                    </p:anim>
                                    <p:anim calcmode="lin" valueType="num">
                                      <p:cBhvr additive="base">
                                        <p:cTn id="21" dur="500" fill="hold"/>
                                        <p:tgtEl>
                                          <p:spTgt spid="48"/>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53" presetClass="entr" presetSubtype="16" fill="hold" nodeType="afterEffect">
                                  <p:stCondLst>
                                    <p:cond delay="0"/>
                                  </p:stCondLst>
                                  <p:childTnLst>
                                    <p:set>
                                      <p:cBhvr>
                                        <p:cTn id="24" dur="1" fill="hold">
                                          <p:stCondLst>
                                            <p:cond delay="0"/>
                                          </p:stCondLst>
                                        </p:cTn>
                                        <p:tgtEl>
                                          <p:spTgt spid="47"/>
                                        </p:tgtEl>
                                        <p:attrNameLst>
                                          <p:attrName>style.visibility</p:attrName>
                                        </p:attrNameLst>
                                      </p:cBhvr>
                                      <p:to>
                                        <p:strVal val="visible"/>
                                      </p:to>
                                    </p:set>
                                    <p:anim calcmode="lin" valueType="num">
                                      <p:cBhvr>
                                        <p:cTn id="25" dur="500" fill="hold"/>
                                        <p:tgtEl>
                                          <p:spTgt spid="47"/>
                                        </p:tgtEl>
                                        <p:attrNameLst>
                                          <p:attrName>ppt_w</p:attrName>
                                        </p:attrNameLst>
                                      </p:cBhvr>
                                      <p:tavLst>
                                        <p:tav tm="0">
                                          <p:val>
                                            <p:fltVal val="0"/>
                                          </p:val>
                                        </p:tav>
                                        <p:tav tm="100000">
                                          <p:val>
                                            <p:strVal val="#ppt_w"/>
                                          </p:val>
                                        </p:tav>
                                      </p:tavLst>
                                    </p:anim>
                                    <p:anim calcmode="lin" valueType="num">
                                      <p:cBhvr>
                                        <p:cTn id="26" dur="500" fill="hold"/>
                                        <p:tgtEl>
                                          <p:spTgt spid="47"/>
                                        </p:tgtEl>
                                        <p:attrNameLst>
                                          <p:attrName>ppt_h</p:attrName>
                                        </p:attrNameLst>
                                      </p:cBhvr>
                                      <p:tavLst>
                                        <p:tav tm="0">
                                          <p:val>
                                            <p:fltVal val="0"/>
                                          </p:val>
                                        </p:tav>
                                        <p:tav tm="100000">
                                          <p:val>
                                            <p:strVal val="#ppt_h"/>
                                          </p:val>
                                        </p:tav>
                                      </p:tavLst>
                                    </p:anim>
                                    <p:animEffect transition="in" filter="fade">
                                      <p:cBhvr>
                                        <p:cTn id="27" dur="500"/>
                                        <p:tgtEl>
                                          <p:spTgt spid="47"/>
                                        </p:tgtEl>
                                      </p:cBhvr>
                                    </p:animEffect>
                                  </p:childTnLst>
                                </p:cTn>
                              </p:par>
                            </p:childTnLst>
                          </p:cTn>
                        </p:par>
                        <p:par>
                          <p:cTn id="28" fill="hold">
                            <p:stCondLst>
                              <p:cond delay="4000"/>
                            </p:stCondLst>
                            <p:childTnLst>
                              <p:par>
                                <p:cTn id="29" presetID="2" presetClass="entr" presetSubtype="8" fill="hold" grpId="0" nodeType="afterEffect">
                                  <p:stCondLst>
                                    <p:cond delay="0"/>
                                  </p:stCondLst>
                                  <p:childTnLst>
                                    <p:set>
                                      <p:cBhvr>
                                        <p:cTn id="30" dur="1" fill="hold">
                                          <p:stCondLst>
                                            <p:cond delay="0"/>
                                          </p:stCondLst>
                                        </p:cTn>
                                        <p:tgtEl>
                                          <p:spTgt spid="49"/>
                                        </p:tgtEl>
                                        <p:attrNameLst>
                                          <p:attrName>style.visibility</p:attrName>
                                        </p:attrNameLst>
                                      </p:cBhvr>
                                      <p:to>
                                        <p:strVal val="visible"/>
                                      </p:to>
                                    </p:set>
                                    <p:anim calcmode="lin" valueType="num">
                                      <p:cBhvr additive="base">
                                        <p:cTn id="31" dur="500" fill="hold"/>
                                        <p:tgtEl>
                                          <p:spTgt spid="49"/>
                                        </p:tgtEl>
                                        <p:attrNameLst>
                                          <p:attrName>ppt_x</p:attrName>
                                        </p:attrNameLst>
                                      </p:cBhvr>
                                      <p:tavLst>
                                        <p:tav tm="0">
                                          <p:val>
                                            <p:strVal val="0-#ppt_w/2"/>
                                          </p:val>
                                        </p:tav>
                                        <p:tav tm="100000">
                                          <p:val>
                                            <p:strVal val="#ppt_x"/>
                                          </p:val>
                                        </p:tav>
                                      </p:tavLst>
                                    </p:anim>
                                    <p:anim calcmode="lin" valueType="num">
                                      <p:cBhvr additive="base">
                                        <p:cTn id="32" dur="500" fill="hold"/>
                                        <p:tgtEl>
                                          <p:spTgt spid="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8" grpId="0"/>
      <p:bldP spid="4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499804" y="393820"/>
            <a:ext cx="508571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6-1 </a:t>
            </a:r>
            <a:r>
              <a:rPr lang="zh-TW" altLang="en-US" sz="2400" b="1" dirty="0">
                <a:solidFill>
                  <a:srgbClr val="E06741"/>
                </a:solidFill>
              </a:rPr>
              <a:t>實務案例─巴克萊銀行貿易融資</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6" name="文字方塊 25">
            <a:extLst>
              <a:ext uri="{FF2B5EF4-FFF2-40B4-BE49-F238E27FC236}">
                <a16:creationId xmlns:a16="http://schemas.microsoft.com/office/drawing/2014/main" id="{4395D4FE-2FC0-4BD2-9BD3-55FB3C9BD0BF}"/>
              </a:ext>
            </a:extLst>
          </p:cNvPr>
          <p:cNvSpPr txBox="1"/>
          <p:nvPr/>
        </p:nvSpPr>
        <p:spPr>
          <a:xfrm>
            <a:off x="6574666" y="449166"/>
            <a:ext cx="1024639"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-3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結論</a:t>
            </a:r>
          </a:p>
        </p:txBody>
      </p:sp>
      <p:sp>
        <p:nvSpPr>
          <p:cNvPr id="48" name="文字方塊 47">
            <a:extLst>
              <a:ext uri="{FF2B5EF4-FFF2-40B4-BE49-F238E27FC236}">
                <a16:creationId xmlns:a16="http://schemas.microsoft.com/office/drawing/2014/main" id="{86DEFDDE-4381-4267-8E1E-1C7ACE9AF7B6}"/>
              </a:ext>
            </a:extLst>
          </p:cNvPr>
          <p:cNvSpPr txBox="1"/>
          <p:nvPr/>
        </p:nvSpPr>
        <p:spPr>
          <a:xfrm>
            <a:off x="1721974" y="1444531"/>
            <a:ext cx="8748052" cy="2794483"/>
          </a:xfrm>
          <a:prstGeom prst="rect">
            <a:avLst/>
          </a:prstGeom>
          <a:noFill/>
        </p:spPr>
        <p:txBody>
          <a:bodyPr wrap="square" rtlCol="0">
            <a:spAutoFit/>
          </a:bodyPr>
          <a:lstStyle/>
          <a:p>
            <a:pPr marL="342900" indent="-342900">
              <a:lnSpc>
                <a:spcPct val="150000"/>
              </a:lnSpc>
              <a:buSzPct val="2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導入區塊鏈後</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縮短交易時間</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資料具有不可篡改性、不可否認性、可追蹤性、私密性、正確性及完整性</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交易更安全、有效率及值得信任</a:t>
            </a:r>
          </a:p>
        </p:txBody>
      </p:sp>
      <p:pic>
        <p:nvPicPr>
          <p:cNvPr id="5" name="圖片 4" descr="一張含有 文字 的圖片&#10;&#10;描述是以高可信度產生">
            <a:extLst>
              <a:ext uri="{FF2B5EF4-FFF2-40B4-BE49-F238E27FC236}">
                <a16:creationId xmlns:a16="http://schemas.microsoft.com/office/drawing/2014/main" id="{3A0FD2DE-17BB-482E-A423-81FE49851E3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00535" y="3949833"/>
            <a:ext cx="2917594" cy="2917594"/>
          </a:xfrm>
          <a:prstGeom prst="rect">
            <a:avLst/>
          </a:prstGeom>
        </p:spPr>
      </p:pic>
      <p:cxnSp>
        <p:nvCxnSpPr>
          <p:cNvPr id="10" name="直接连接符 33">
            <a:extLst>
              <a:ext uri="{FF2B5EF4-FFF2-40B4-BE49-F238E27FC236}">
                <a16:creationId xmlns:a16="http://schemas.microsoft.com/office/drawing/2014/main" id="{49C2167F-BDFC-4E49-9B66-E0E885182A0A}"/>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4228363"/>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26">
                                            <p:txEl>
                                              <p:pRg st="0" end="0"/>
                                            </p:txEl>
                                          </p:spTgt>
                                        </p:tgtEl>
                                        <p:attrNameLst>
                                          <p:attrName>style.visibility</p:attrName>
                                        </p:attrNameLst>
                                      </p:cBhvr>
                                      <p:to>
                                        <p:strVal val="visible"/>
                                      </p:to>
                                    </p:set>
                                    <p:animEffect transition="in" filter="barn(inVertical)">
                                      <p:cBhvr>
                                        <p:cTn id="11" dur="500"/>
                                        <p:tgtEl>
                                          <p:spTgt spid="26">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8" fill="hold" nodeType="afterEffect">
                                  <p:stCondLst>
                                    <p:cond delay="0"/>
                                  </p:stCondLst>
                                  <p:childTnLst>
                                    <p:set>
                                      <p:cBhvr>
                                        <p:cTn id="19" dur="1" fill="hold">
                                          <p:stCondLst>
                                            <p:cond delay="0"/>
                                          </p:stCondLst>
                                        </p:cTn>
                                        <p:tgtEl>
                                          <p:spTgt spid="48">
                                            <p:txEl>
                                              <p:pRg st="0" end="0"/>
                                            </p:txEl>
                                          </p:spTgt>
                                        </p:tgtEl>
                                        <p:attrNameLst>
                                          <p:attrName>style.visibility</p:attrName>
                                        </p:attrNameLst>
                                      </p:cBhvr>
                                      <p:to>
                                        <p:strVal val="visible"/>
                                      </p:to>
                                    </p:set>
                                    <p:anim calcmode="lin" valueType="num">
                                      <p:cBhvr additive="base">
                                        <p:cTn id="20" dur="500" fill="hold"/>
                                        <p:tgtEl>
                                          <p:spTgt spid="48">
                                            <p:txEl>
                                              <p:pRg st="0" end="0"/>
                                            </p:txEl>
                                          </p:spTgt>
                                        </p:tgtEl>
                                        <p:attrNameLst>
                                          <p:attrName>ppt_x</p:attrName>
                                        </p:attrNameLst>
                                      </p:cBhvr>
                                      <p:tavLst>
                                        <p:tav tm="0">
                                          <p:val>
                                            <p:strVal val="0-#ppt_w/2"/>
                                          </p:val>
                                        </p:tav>
                                        <p:tav tm="100000">
                                          <p:val>
                                            <p:strVal val="#ppt_x"/>
                                          </p:val>
                                        </p:tav>
                                      </p:tavLst>
                                    </p:anim>
                                    <p:anim calcmode="lin" valueType="num">
                                      <p:cBhvr additive="base">
                                        <p:cTn id="21" dur="500" fill="hold"/>
                                        <p:tgtEl>
                                          <p:spTgt spid="48">
                                            <p:txEl>
                                              <p:pRg st="0" end="0"/>
                                            </p:txEl>
                                          </p:spTgt>
                                        </p:tgtEl>
                                        <p:attrNameLst>
                                          <p:attrName>ppt_y</p:attrName>
                                        </p:attrNameLst>
                                      </p:cBhvr>
                                      <p:tavLst>
                                        <p:tav tm="0">
                                          <p:val>
                                            <p:strVal val="#ppt_y"/>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48">
                                            <p:txEl>
                                              <p:pRg st="1" end="1"/>
                                            </p:txEl>
                                          </p:spTgt>
                                        </p:tgtEl>
                                        <p:attrNameLst>
                                          <p:attrName>style.visibility</p:attrName>
                                        </p:attrNameLst>
                                      </p:cBhvr>
                                      <p:to>
                                        <p:strVal val="visible"/>
                                      </p:to>
                                    </p:set>
                                    <p:animEffect transition="in" filter="barn(inVertical)">
                                      <p:cBhvr>
                                        <p:cTn id="25" dur="500"/>
                                        <p:tgtEl>
                                          <p:spTgt spid="48">
                                            <p:txEl>
                                              <p:pRg st="1" end="1"/>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48">
                                            <p:txEl>
                                              <p:pRg st="2" end="2"/>
                                            </p:txEl>
                                          </p:spTgt>
                                        </p:tgtEl>
                                        <p:attrNameLst>
                                          <p:attrName>style.visibility</p:attrName>
                                        </p:attrNameLst>
                                      </p:cBhvr>
                                      <p:to>
                                        <p:strVal val="visible"/>
                                      </p:to>
                                    </p:set>
                                    <p:animEffect transition="in" filter="barn(inVertical)">
                                      <p:cBhvr>
                                        <p:cTn id="29" dur="500"/>
                                        <p:tgtEl>
                                          <p:spTgt spid="48">
                                            <p:txEl>
                                              <p:pRg st="2" end="2"/>
                                            </p:txEl>
                                          </p:spTgt>
                                        </p:tgtEl>
                                      </p:cBhvr>
                                    </p:animEffect>
                                  </p:childTnLst>
                                </p:cTn>
                              </p:par>
                            </p:childTnLst>
                          </p:cTn>
                        </p:par>
                        <p:par>
                          <p:cTn id="30" fill="hold">
                            <p:stCondLst>
                              <p:cond delay="4500"/>
                            </p:stCondLst>
                            <p:childTnLst>
                              <p:par>
                                <p:cTn id="31" presetID="16" presetClass="entr" presetSubtype="21" fill="hold" nodeType="afterEffect">
                                  <p:stCondLst>
                                    <p:cond delay="0"/>
                                  </p:stCondLst>
                                  <p:childTnLst>
                                    <p:set>
                                      <p:cBhvr>
                                        <p:cTn id="32" dur="1" fill="hold">
                                          <p:stCondLst>
                                            <p:cond delay="0"/>
                                          </p:stCondLst>
                                        </p:cTn>
                                        <p:tgtEl>
                                          <p:spTgt spid="48">
                                            <p:txEl>
                                              <p:pRg st="3" end="3"/>
                                            </p:txEl>
                                          </p:spTgt>
                                        </p:tgtEl>
                                        <p:attrNameLst>
                                          <p:attrName>style.visibility</p:attrName>
                                        </p:attrNameLst>
                                      </p:cBhvr>
                                      <p:to>
                                        <p:strVal val="visible"/>
                                      </p:to>
                                    </p:set>
                                    <p:animEffect transition="in" filter="barn(inVertical)">
                                      <p:cBhvr>
                                        <p:cTn id="33" dur="500"/>
                                        <p:tgtEl>
                                          <p:spTgt spid="48">
                                            <p:txEl>
                                              <p:pRg st="3" end="3"/>
                                            </p:txEl>
                                          </p:spTgt>
                                        </p:tgtEl>
                                      </p:cBhvr>
                                    </p:animEffect>
                                  </p:childTnLst>
                                </p:cTn>
                              </p:par>
                            </p:childTnLst>
                          </p:cTn>
                        </p:par>
                        <p:par>
                          <p:cTn id="34" fill="hold">
                            <p:stCondLst>
                              <p:cond delay="5000"/>
                            </p:stCondLst>
                            <p:childTnLst>
                              <p:par>
                                <p:cTn id="35" presetID="2" presetClass="entr" presetSubtype="4" fill="hold" nodeType="after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500" fill="hold"/>
                                        <p:tgtEl>
                                          <p:spTgt spid="5"/>
                                        </p:tgtEl>
                                        <p:attrNameLst>
                                          <p:attrName>ppt_x</p:attrName>
                                        </p:attrNameLst>
                                      </p:cBhvr>
                                      <p:tavLst>
                                        <p:tav tm="0">
                                          <p:val>
                                            <p:strVal val="#ppt_x"/>
                                          </p:val>
                                        </p:tav>
                                        <p:tav tm="100000">
                                          <p:val>
                                            <p:strVal val="#ppt_x"/>
                                          </p:val>
                                        </p:tav>
                                      </p:tavLst>
                                    </p:anim>
                                    <p:anim calcmode="lin" valueType="num">
                                      <p:cBhvr additive="base">
                                        <p:cTn id="3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128872" y="393820"/>
            <a:ext cx="508571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6-2 </a:t>
            </a:r>
            <a:r>
              <a:rPr lang="zh-TW" altLang="en-US" sz="2400" b="1" dirty="0">
                <a:solidFill>
                  <a:srgbClr val="E06741"/>
                </a:solidFill>
              </a:rPr>
              <a:t>實務案例─消費金融</a:t>
            </a:r>
            <a:r>
              <a:rPr lang="en-US" altLang="zh-TW" sz="2400" b="1" dirty="0">
                <a:solidFill>
                  <a:srgbClr val="E06741"/>
                </a:solidFill>
              </a:rPr>
              <a:t>ABS</a:t>
            </a:r>
            <a:endParaRPr lang="zh-TW" altLang="en-US" sz="2400" b="1" dirty="0">
              <a:solidFill>
                <a:srgbClr val="E06741"/>
              </a:solidFill>
            </a:endParaRP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6" name="文字方塊 25">
            <a:extLst>
              <a:ext uri="{FF2B5EF4-FFF2-40B4-BE49-F238E27FC236}">
                <a16:creationId xmlns:a16="http://schemas.microsoft.com/office/drawing/2014/main" id="{4395D4FE-2FC0-4BD2-9BD3-55FB3C9BD0BF}"/>
              </a:ext>
            </a:extLst>
          </p:cNvPr>
          <p:cNvSpPr txBox="1"/>
          <p:nvPr/>
        </p:nvSpPr>
        <p:spPr>
          <a:xfrm>
            <a:off x="5798296" y="449166"/>
            <a:ext cx="153760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案例介紹</a:t>
            </a:r>
          </a:p>
        </p:txBody>
      </p:sp>
      <p:sp>
        <p:nvSpPr>
          <p:cNvPr id="48" name="文字方塊 47">
            <a:extLst>
              <a:ext uri="{FF2B5EF4-FFF2-40B4-BE49-F238E27FC236}">
                <a16:creationId xmlns:a16="http://schemas.microsoft.com/office/drawing/2014/main" id="{86DEFDDE-4381-4267-8E1E-1C7ACE9AF7B6}"/>
              </a:ext>
            </a:extLst>
          </p:cNvPr>
          <p:cNvSpPr txBox="1"/>
          <p:nvPr/>
        </p:nvSpPr>
        <p:spPr>
          <a:xfrm>
            <a:off x="1736783" y="1008890"/>
            <a:ext cx="9218763" cy="5454698"/>
          </a:xfrm>
          <a:prstGeom prst="rect">
            <a:avLst/>
          </a:prstGeom>
          <a:noFill/>
        </p:spPr>
        <p:txBody>
          <a:bodyPr wrap="square" rtlCol="0">
            <a:spAutoFit/>
          </a:bodyPr>
          <a:lstStyle/>
          <a:p>
            <a:pPr marL="342900" indent="-342900">
              <a:lnSpc>
                <a:spcPct val="150000"/>
              </a:lnSpc>
              <a:buBlip>
                <a:blip r:embed="rId3"/>
              </a:buBlip>
            </a:pPr>
            <a:r>
              <a:rPr lang="zh-TW" altLang="en-US" sz="2200" b="1" dirty="0">
                <a:solidFill>
                  <a:srgbClr val="3DA18E"/>
                </a:solidFill>
                <a:latin typeface="微軟正黑體" panose="020B0604030504040204" pitchFamily="34" charset="-120"/>
                <a:ea typeface="微軟正黑體" panose="020B0604030504040204" pitchFamily="34" charset="-120"/>
              </a:rPr>
              <a:t>消費金融</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rPr>
              <a:t>Consumer Finance</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）是指消費金融公司向各階層消費者提供</a:t>
            </a:r>
            <a:r>
              <a:rPr lang="zh-TW" altLang="en-US" sz="2200" b="1" dirty="0">
                <a:solidFill>
                  <a:srgbClr val="54667E"/>
                </a:solidFill>
                <a:latin typeface="微軟正黑體" panose="020B0604030504040204" pitchFamily="34" charset="-120"/>
                <a:ea typeface="微軟正黑體" panose="020B0604030504040204" pitchFamily="34" charset="-120"/>
              </a:rPr>
              <a:t>消費性貸款</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的金融服務</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3"/>
              </a:buBlip>
            </a:pPr>
            <a:endParaRPr lang="en-US" altLang="zh-TW" sz="7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3"/>
              </a:buBlip>
            </a:pPr>
            <a:r>
              <a:rPr lang="en-US" altLang="zh-TW" sz="2200" b="1" dirty="0">
                <a:solidFill>
                  <a:srgbClr val="3DA18E"/>
                </a:solidFill>
                <a:latin typeface="微軟正黑體" panose="020B0604030504040204" pitchFamily="34" charset="-120"/>
                <a:ea typeface="微軟正黑體" panose="020B0604030504040204" pitchFamily="34" charset="-120"/>
              </a:rPr>
              <a:t>ABS </a:t>
            </a:r>
            <a:r>
              <a:rPr lang="zh-TW" altLang="en-US" sz="2200" b="1" dirty="0">
                <a:solidFill>
                  <a:srgbClr val="3DA18E"/>
                </a:solidFill>
                <a:latin typeface="微軟正黑體" panose="020B0604030504040204" pitchFamily="34" charset="-120"/>
                <a:ea typeface="微軟正黑體" panose="020B0604030504040204" pitchFamily="34" charset="-120"/>
              </a:rPr>
              <a:t>（</a:t>
            </a:r>
            <a:r>
              <a:rPr lang="en-US" altLang="zh-TW" sz="2200" b="1" dirty="0">
                <a:solidFill>
                  <a:srgbClr val="3DA18E"/>
                </a:solidFill>
                <a:latin typeface="微軟正黑體" panose="020B0604030504040204" pitchFamily="34" charset="-120"/>
                <a:ea typeface="微軟正黑體" panose="020B0604030504040204" pitchFamily="34" charset="-120"/>
              </a:rPr>
              <a:t>Asset-Backed Securitization</a:t>
            </a:r>
            <a:r>
              <a:rPr lang="zh-TW" altLang="en-US" sz="2200" b="1" dirty="0">
                <a:solidFill>
                  <a:srgbClr val="3DA18E"/>
                </a:solidFill>
                <a:latin typeface="微軟正黑體" panose="020B0604030504040204" pitchFamily="34" charset="-120"/>
                <a:ea typeface="微軟正黑體" panose="020B0604030504040204" pitchFamily="34" charset="-120"/>
              </a:rPr>
              <a:t>）：</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稱為</a:t>
            </a:r>
            <a:r>
              <a:rPr lang="zh-TW" altLang="en-US" sz="2200" b="1" dirty="0">
                <a:solidFill>
                  <a:srgbClr val="54667E"/>
                </a:solidFill>
                <a:latin typeface="微軟正黑體" panose="020B0604030504040204" pitchFamily="34" charset="-120"/>
                <a:ea typeface="微軟正黑體" panose="020B0604030504040204" pitchFamily="34" charset="-120"/>
              </a:rPr>
              <a:t>資產證券化</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，把缺乏流動性且可預期收入的資產加以包裝，以資本市場上所發行證券方式加以出售，以獲取融資，藉以提高資產的流動性</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其中的資產是指符合法律或法規規範且所有權歸屬明確的財產權利或財產，其中財產權利或財產泛指可以獨立產生現金流的所有權</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endParaRPr lang="en-US" altLang="zh-TW" sz="7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3"/>
              </a:buBlip>
            </a:pPr>
            <a:r>
              <a:rPr lang="zh-TW" altLang="en-US" sz="2200" b="1" dirty="0">
                <a:solidFill>
                  <a:srgbClr val="3DA18E"/>
                </a:solidFill>
                <a:latin typeface="微軟正黑體" panose="020B0604030504040204" pitchFamily="34" charset="-120"/>
                <a:ea typeface="微軟正黑體" panose="020B0604030504040204" pitchFamily="34" charset="-120"/>
              </a:rPr>
              <a:t>消費金融</a:t>
            </a:r>
            <a:r>
              <a:rPr lang="en-US" altLang="zh-TW" sz="2200" b="1" dirty="0">
                <a:solidFill>
                  <a:srgbClr val="3DA18E"/>
                </a:solidFill>
                <a:latin typeface="微軟正黑體" panose="020B0604030504040204" pitchFamily="34" charset="-120"/>
                <a:ea typeface="微軟正黑體" panose="020B0604030504040204" pitchFamily="34" charset="-120"/>
              </a:rPr>
              <a:t>ABS </a:t>
            </a:r>
            <a:r>
              <a:rPr lang="zh-TW" altLang="en-US" sz="2200" b="1" dirty="0">
                <a:solidFill>
                  <a:srgbClr val="3DA18E"/>
                </a:solidFill>
                <a:latin typeface="微軟正黑體" panose="020B0604030504040204" pitchFamily="34" charset="-120"/>
                <a:ea typeface="微軟正黑體" panose="020B0604030504040204" pitchFamily="34" charset="-120"/>
              </a:rPr>
              <a:t>：</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將</a:t>
            </a:r>
            <a:r>
              <a:rPr lang="zh-TW" altLang="en-US" sz="2200" b="1" dirty="0">
                <a:solidFill>
                  <a:srgbClr val="54667E"/>
                </a:solidFill>
                <a:latin typeface="微軟正黑體" panose="020B0604030504040204" pitchFamily="34" charset="-120"/>
                <a:ea typeface="微軟正黑體" panose="020B0604030504040204" pitchFamily="34" charset="-120"/>
              </a:rPr>
              <a:t>消費金融性資產證券化</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，將其變成可以在金融市場銷售和流通的資產證券，其中金融性資產包含股票、債券、基金、認購股權證、期貨等衍生性金融產品</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3" name="圖片 2" descr="一張含有 向量圖形, 文字, 名片 的圖片&#10;&#10;描述是以高可信度產生">
            <a:extLst>
              <a:ext uri="{FF2B5EF4-FFF2-40B4-BE49-F238E27FC236}">
                <a16:creationId xmlns:a16="http://schemas.microsoft.com/office/drawing/2014/main" id="{301D5C21-9334-4943-B6DF-A0AD72861F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5121216"/>
            <a:ext cx="1736784" cy="1736784"/>
          </a:xfrm>
          <a:prstGeom prst="rect">
            <a:avLst/>
          </a:prstGeom>
        </p:spPr>
      </p:pic>
      <p:cxnSp>
        <p:nvCxnSpPr>
          <p:cNvPr id="10" name="直接连接符 33">
            <a:extLst>
              <a:ext uri="{FF2B5EF4-FFF2-40B4-BE49-F238E27FC236}">
                <a16:creationId xmlns:a16="http://schemas.microsoft.com/office/drawing/2014/main" id="{A0838D52-2DD2-4C14-9BE5-C8180114FD18}"/>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8928306"/>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barn(inVertical)">
                                      <p:cBhvr>
                                        <p:cTn id="11" dur="500"/>
                                        <p:tgtEl>
                                          <p:spTgt spid="26"/>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barn(inVertical)">
                                      <p:cBhvr>
                                        <p:cTn id="20" dur="500"/>
                                        <p:tgtEl>
                                          <p:spTgt spid="48"/>
                                        </p:tgtEl>
                                      </p:cBhvr>
                                    </p:animEffect>
                                  </p:childTnLst>
                                </p:cTn>
                              </p:par>
                            </p:childTnLst>
                          </p:cTn>
                        </p:par>
                        <p:par>
                          <p:cTn id="21" fill="hold">
                            <p:stCondLst>
                              <p:cond delay="3500"/>
                            </p:stCondLst>
                            <p:childTnLst>
                              <p:par>
                                <p:cTn id="22" presetID="2" presetClass="entr" presetSubtype="8"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0-#ppt_w/2"/>
                                          </p:val>
                                        </p:tav>
                                        <p:tav tm="100000">
                                          <p:val>
                                            <p:strVal val="#ppt_x"/>
                                          </p:val>
                                        </p:tav>
                                      </p:tavLst>
                                    </p:anim>
                                    <p:anim calcmode="lin" valueType="num">
                                      <p:cBhvr additive="base">
                                        <p:cTn id="25"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6" grpId="0"/>
      <p:bldP spid="4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128872" y="393820"/>
            <a:ext cx="508571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6-2 </a:t>
            </a:r>
            <a:r>
              <a:rPr lang="zh-TW" altLang="en-US" sz="2400" b="1" dirty="0">
                <a:solidFill>
                  <a:srgbClr val="E06741"/>
                </a:solidFill>
              </a:rPr>
              <a:t>實務案例─消費金融</a:t>
            </a:r>
            <a:r>
              <a:rPr lang="en-US" altLang="zh-TW" sz="2400" b="1" dirty="0">
                <a:solidFill>
                  <a:srgbClr val="E06741"/>
                </a:solidFill>
              </a:rPr>
              <a:t>ABS</a:t>
            </a:r>
            <a:endParaRPr lang="zh-TW" altLang="en-US" sz="2400" b="1" dirty="0">
              <a:solidFill>
                <a:srgbClr val="E06741"/>
              </a:solidFill>
            </a:endParaRP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6" name="文字方塊 25">
            <a:extLst>
              <a:ext uri="{FF2B5EF4-FFF2-40B4-BE49-F238E27FC236}">
                <a16:creationId xmlns:a16="http://schemas.microsoft.com/office/drawing/2014/main" id="{4395D4FE-2FC0-4BD2-9BD3-55FB3C9BD0BF}"/>
              </a:ext>
            </a:extLst>
          </p:cNvPr>
          <p:cNvSpPr txBox="1"/>
          <p:nvPr/>
        </p:nvSpPr>
        <p:spPr>
          <a:xfrm>
            <a:off x="5798296" y="449166"/>
            <a:ext cx="153760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案例介紹</a:t>
            </a:r>
          </a:p>
        </p:txBody>
      </p:sp>
      <p:sp>
        <p:nvSpPr>
          <p:cNvPr id="48" name="文字方塊 47">
            <a:extLst>
              <a:ext uri="{FF2B5EF4-FFF2-40B4-BE49-F238E27FC236}">
                <a16:creationId xmlns:a16="http://schemas.microsoft.com/office/drawing/2014/main" id="{86DEFDDE-4381-4267-8E1E-1C7ACE9AF7B6}"/>
              </a:ext>
            </a:extLst>
          </p:cNvPr>
          <p:cNvSpPr txBox="1"/>
          <p:nvPr/>
        </p:nvSpPr>
        <p:spPr>
          <a:xfrm>
            <a:off x="1626168" y="1003681"/>
            <a:ext cx="9433232" cy="497444"/>
          </a:xfrm>
          <a:prstGeom prst="rect">
            <a:avLst/>
          </a:prstGeom>
          <a:noFill/>
        </p:spPr>
        <p:txBody>
          <a:bodyPr wrap="square" rtlCol="0">
            <a:spAutoFit/>
          </a:bodyPr>
          <a:lstStyle/>
          <a:p>
            <a:pPr marL="342900" indent="-342900">
              <a:lnSpc>
                <a:spcPct val="150000"/>
              </a:lnSpc>
              <a:buBlip>
                <a:blip r:embed="rId3"/>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傳統金融資產證券化交易作業流程</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grpSp>
        <p:nvGrpSpPr>
          <p:cNvPr id="10" name="群組 9">
            <a:extLst>
              <a:ext uri="{FF2B5EF4-FFF2-40B4-BE49-F238E27FC236}">
                <a16:creationId xmlns:a16="http://schemas.microsoft.com/office/drawing/2014/main" id="{169D2BC5-4DEC-4D5C-ABCA-F83B1E606E70}"/>
              </a:ext>
            </a:extLst>
          </p:cNvPr>
          <p:cNvGrpSpPr/>
          <p:nvPr/>
        </p:nvGrpSpPr>
        <p:grpSpPr>
          <a:xfrm>
            <a:off x="2169624" y="1602279"/>
            <a:ext cx="8089930" cy="4989618"/>
            <a:chOff x="911424" y="7147"/>
            <a:chExt cx="10005698" cy="6739027"/>
          </a:xfrm>
        </p:grpSpPr>
        <p:grpSp>
          <p:nvGrpSpPr>
            <p:cNvPr id="11" name="群組 10">
              <a:extLst>
                <a:ext uri="{FF2B5EF4-FFF2-40B4-BE49-F238E27FC236}">
                  <a16:creationId xmlns:a16="http://schemas.microsoft.com/office/drawing/2014/main" id="{53AC0834-82F5-49B7-8B63-E19E0D401C2D}"/>
                </a:ext>
              </a:extLst>
            </p:cNvPr>
            <p:cNvGrpSpPr/>
            <p:nvPr/>
          </p:nvGrpSpPr>
          <p:grpSpPr>
            <a:xfrm>
              <a:off x="1415480" y="402413"/>
              <a:ext cx="1764196" cy="1579707"/>
              <a:chOff x="3719736" y="980728"/>
              <a:chExt cx="1080120" cy="1306296"/>
            </a:xfrm>
          </p:grpSpPr>
          <p:sp>
            <p:nvSpPr>
              <p:cNvPr id="46" name="圓角矩形 2">
                <a:extLst>
                  <a:ext uri="{FF2B5EF4-FFF2-40B4-BE49-F238E27FC236}">
                    <a16:creationId xmlns:a16="http://schemas.microsoft.com/office/drawing/2014/main" id="{6334CE83-597C-43EC-BFFD-6B5C178D909C}"/>
                  </a:ext>
                </a:extLst>
              </p:cNvPr>
              <p:cNvSpPr/>
              <p:nvPr/>
            </p:nvSpPr>
            <p:spPr>
              <a:xfrm>
                <a:off x="3719736" y="980728"/>
                <a:ext cx="1080120" cy="504056"/>
              </a:xfrm>
              <a:prstGeom prst="roundRect">
                <a:avLst/>
              </a:prstGeom>
              <a:solidFill>
                <a:srgbClr val="B4E5F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dirty="0">
                    <a:solidFill>
                      <a:schemeClr val="tx1"/>
                    </a:solidFill>
                    <a:latin typeface="微軟正黑體" panose="020B0604030504040204" pitchFamily="34" charset="-120"/>
                    <a:ea typeface="微軟正黑體" panose="020B0604030504040204" pitchFamily="34" charset="-120"/>
                  </a:rPr>
                  <a:t>借款人</a:t>
                </a:r>
              </a:p>
            </p:txBody>
          </p:sp>
          <p:cxnSp>
            <p:nvCxnSpPr>
              <p:cNvPr id="47" name="直線單箭頭接點 46">
                <a:extLst>
                  <a:ext uri="{FF2B5EF4-FFF2-40B4-BE49-F238E27FC236}">
                    <a16:creationId xmlns:a16="http://schemas.microsoft.com/office/drawing/2014/main" id="{F47CAFD3-0016-47CD-814C-11D8377138F3}"/>
                  </a:ext>
                </a:extLst>
              </p:cNvPr>
              <p:cNvCxnSpPr>
                <a:endCxn id="49" idx="0"/>
              </p:cNvCxnSpPr>
              <p:nvPr/>
            </p:nvCxnSpPr>
            <p:spPr>
              <a:xfrm>
                <a:off x="4259796" y="1484784"/>
                <a:ext cx="0" cy="298184"/>
              </a:xfrm>
              <a:prstGeom prst="straightConnector1">
                <a:avLst/>
              </a:prstGeom>
              <a:ln w="3175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9" name="圓角矩形 6">
                <a:extLst>
                  <a:ext uri="{FF2B5EF4-FFF2-40B4-BE49-F238E27FC236}">
                    <a16:creationId xmlns:a16="http://schemas.microsoft.com/office/drawing/2014/main" id="{14BBEA0B-A371-4B43-AE80-BD629DBDE0F6}"/>
                  </a:ext>
                </a:extLst>
              </p:cNvPr>
              <p:cNvSpPr/>
              <p:nvPr/>
            </p:nvSpPr>
            <p:spPr>
              <a:xfrm>
                <a:off x="3719736" y="1782968"/>
                <a:ext cx="1080120" cy="504056"/>
              </a:xfrm>
              <a:prstGeom prst="roundRect">
                <a:avLst/>
              </a:prstGeom>
              <a:solidFill>
                <a:srgbClr val="B4E5F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dirty="0">
                    <a:solidFill>
                      <a:schemeClr val="tx1"/>
                    </a:solidFill>
                    <a:latin typeface="微軟正黑體" panose="020B0604030504040204" pitchFamily="34" charset="-120"/>
                    <a:ea typeface="微軟正黑體" panose="020B0604030504040204" pitchFamily="34" charset="-120"/>
                  </a:rPr>
                  <a:t>貸款行</a:t>
                </a:r>
              </a:p>
            </p:txBody>
          </p:sp>
        </p:grpSp>
        <p:grpSp>
          <p:nvGrpSpPr>
            <p:cNvPr id="12" name="群組 11">
              <a:extLst>
                <a:ext uri="{FF2B5EF4-FFF2-40B4-BE49-F238E27FC236}">
                  <a16:creationId xmlns:a16="http://schemas.microsoft.com/office/drawing/2014/main" id="{5F3805E4-ABC7-4F53-B2E1-CB69DEEBF027}"/>
                </a:ext>
              </a:extLst>
            </p:cNvPr>
            <p:cNvGrpSpPr/>
            <p:nvPr/>
          </p:nvGrpSpPr>
          <p:grpSpPr>
            <a:xfrm>
              <a:off x="3933387" y="426062"/>
              <a:ext cx="1764196" cy="1579707"/>
              <a:chOff x="3719736" y="980728"/>
              <a:chExt cx="1080120" cy="1306296"/>
            </a:xfrm>
          </p:grpSpPr>
          <p:sp>
            <p:nvSpPr>
              <p:cNvPr id="43" name="圓角矩形 11">
                <a:extLst>
                  <a:ext uri="{FF2B5EF4-FFF2-40B4-BE49-F238E27FC236}">
                    <a16:creationId xmlns:a16="http://schemas.microsoft.com/office/drawing/2014/main" id="{2675BAA9-CCBF-4176-B30A-8FA73EA90C6E}"/>
                  </a:ext>
                </a:extLst>
              </p:cNvPr>
              <p:cNvSpPr/>
              <p:nvPr/>
            </p:nvSpPr>
            <p:spPr>
              <a:xfrm>
                <a:off x="3719736" y="980728"/>
                <a:ext cx="1080120" cy="504056"/>
              </a:xfrm>
              <a:prstGeom prst="roundRect">
                <a:avLst/>
              </a:prstGeom>
              <a:solidFill>
                <a:srgbClr val="B4E5F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dirty="0">
                    <a:solidFill>
                      <a:schemeClr val="tx1"/>
                    </a:solidFill>
                    <a:latin typeface="微軟正黑體" panose="020B0604030504040204" pitchFamily="34" charset="-120"/>
                    <a:ea typeface="微軟正黑體" panose="020B0604030504040204" pitchFamily="34" charset="-120"/>
                  </a:rPr>
                  <a:t>持卡人</a:t>
                </a:r>
              </a:p>
            </p:txBody>
          </p:sp>
          <p:cxnSp>
            <p:nvCxnSpPr>
              <p:cNvPr id="44" name="直線單箭頭接點 43">
                <a:extLst>
                  <a:ext uri="{FF2B5EF4-FFF2-40B4-BE49-F238E27FC236}">
                    <a16:creationId xmlns:a16="http://schemas.microsoft.com/office/drawing/2014/main" id="{A7376E57-8A2F-493B-B047-7231FEA5BBA7}"/>
                  </a:ext>
                </a:extLst>
              </p:cNvPr>
              <p:cNvCxnSpPr>
                <a:endCxn id="45" idx="0"/>
              </p:cNvCxnSpPr>
              <p:nvPr/>
            </p:nvCxnSpPr>
            <p:spPr>
              <a:xfrm>
                <a:off x="4259796" y="1484784"/>
                <a:ext cx="0" cy="298184"/>
              </a:xfrm>
              <a:prstGeom prst="straightConnector1">
                <a:avLst/>
              </a:prstGeom>
              <a:ln w="3175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5" name="圓角矩形 13">
                <a:extLst>
                  <a:ext uri="{FF2B5EF4-FFF2-40B4-BE49-F238E27FC236}">
                    <a16:creationId xmlns:a16="http://schemas.microsoft.com/office/drawing/2014/main" id="{F99D79DF-AE6C-4110-AAE0-072DEB6F6098}"/>
                  </a:ext>
                </a:extLst>
              </p:cNvPr>
              <p:cNvSpPr/>
              <p:nvPr/>
            </p:nvSpPr>
            <p:spPr>
              <a:xfrm>
                <a:off x="3719736" y="1782968"/>
                <a:ext cx="1080120" cy="504056"/>
              </a:xfrm>
              <a:prstGeom prst="roundRect">
                <a:avLst/>
              </a:prstGeom>
              <a:solidFill>
                <a:srgbClr val="B4E5F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dirty="0">
                    <a:solidFill>
                      <a:schemeClr val="tx1"/>
                    </a:solidFill>
                    <a:latin typeface="微軟正黑體" panose="020B0604030504040204" pitchFamily="34" charset="-120"/>
                    <a:ea typeface="微軟正黑體" panose="020B0604030504040204" pitchFamily="34" charset="-120"/>
                  </a:rPr>
                  <a:t>發卡行</a:t>
                </a:r>
              </a:p>
            </p:txBody>
          </p:sp>
        </p:grpSp>
        <p:grpSp>
          <p:nvGrpSpPr>
            <p:cNvPr id="13" name="群組 12">
              <a:extLst>
                <a:ext uri="{FF2B5EF4-FFF2-40B4-BE49-F238E27FC236}">
                  <a16:creationId xmlns:a16="http://schemas.microsoft.com/office/drawing/2014/main" id="{C64776E1-DBEA-4D07-BD7A-D6E1E2BF769E}"/>
                </a:ext>
              </a:extLst>
            </p:cNvPr>
            <p:cNvGrpSpPr/>
            <p:nvPr/>
          </p:nvGrpSpPr>
          <p:grpSpPr>
            <a:xfrm>
              <a:off x="6426542" y="402412"/>
              <a:ext cx="1764196" cy="1579707"/>
              <a:chOff x="3719736" y="980728"/>
              <a:chExt cx="1080120" cy="1306296"/>
            </a:xfrm>
          </p:grpSpPr>
          <p:sp>
            <p:nvSpPr>
              <p:cNvPr id="40" name="圓角矩形 15">
                <a:extLst>
                  <a:ext uri="{FF2B5EF4-FFF2-40B4-BE49-F238E27FC236}">
                    <a16:creationId xmlns:a16="http://schemas.microsoft.com/office/drawing/2014/main" id="{84D20926-7694-4E51-B8E1-7AEDA2181E4E}"/>
                  </a:ext>
                </a:extLst>
              </p:cNvPr>
              <p:cNvSpPr/>
              <p:nvPr/>
            </p:nvSpPr>
            <p:spPr>
              <a:xfrm>
                <a:off x="3719736" y="980728"/>
                <a:ext cx="1080120" cy="504056"/>
              </a:xfrm>
              <a:prstGeom prst="roundRect">
                <a:avLst/>
              </a:prstGeom>
              <a:solidFill>
                <a:srgbClr val="B4E5F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dirty="0">
                    <a:solidFill>
                      <a:schemeClr val="tx1"/>
                    </a:solidFill>
                    <a:latin typeface="微軟正黑體" panose="020B0604030504040204" pitchFamily="34" charset="-120"/>
                    <a:ea typeface="微軟正黑體" panose="020B0604030504040204" pitchFamily="34" charset="-120"/>
                  </a:rPr>
                  <a:t>車主</a:t>
                </a:r>
              </a:p>
            </p:txBody>
          </p:sp>
          <p:cxnSp>
            <p:nvCxnSpPr>
              <p:cNvPr id="41" name="直線單箭頭接點 40">
                <a:extLst>
                  <a:ext uri="{FF2B5EF4-FFF2-40B4-BE49-F238E27FC236}">
                    <a16:creationId xmlns:a16="http://schemas.microsoft.com/office/drawing/2014/main" id="{6A5F6073-E256-44EE-89E3-1F3D9842C3B6}"/>
                  </a:ext>
                </a:extLst>
              </p:cNvPr>
              <p:cNvCxnSpPr>
                <a:endCxn id="42" idx="0"/>
              </p:cNvCxnSpPr>
              <p:nvPr/>
            </p:nvCxnSpPr>
            <p:spPr>
              <a:xfrm>
                <a:off x="4259796" y="1484784"/>
                <a:ext cx="0" cy="298184"/>
              </a:xfrm>
              <a:prstGeom prst="straightConnector1">
                <a:avLst/>
              </a:prstGeom>
              <a:ln w="3175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2" name="圓角矩形 17">
                <a:extLst>
                  <a:ext uri="{FF2B5EF4-FFF2-40B4-BE49-F238E27FC236}">
                    <a16:creationId xmlns:a16="http://schemas.microsoft.com/office/drawing/2014/main" id="{011D4A53-E3BD-4359-B56E-9433F369BACE}"/>
                  </a:ext>
                </a:extLst>
              </p:cNvPr>
              <p:cNvSpPr/>
              <p:nvPr/>
            </p:nvSpPr>
            <p:spPr>
              <a:xfrm>
                <a:off x="3719736" y="1782968"/>
                <a:ext cx="1080120" cy="504056"/>
              </a:xfrm>
              <a:prstGeom prst="roundRect">
                <a:avLst/>
              </a:prstGeom>
              <a:solidFill>
                <a:srgbClr val="B4E5F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dirty="0">
                    <a:solidFill>
                      <a:schemeClr val="tx1"/>
                    </a:solidFill>
                    <a:latin typeface="微軟正黑體" panose="020B0604030504040204" pitchFamily="34" charset="-120"/>
                    <a:ea typeface="微軟正黑體" panose="020B0604030504040204" pitchFamily="34" charset="-120"/>
                  </a:rPr>
                  <a:t>車貸公司</a:t>
                </a:r>
              </a:p>
            </p:txBody>
          </p:sp>
        </p:grpSp>
        <p:grpSp>
          <p:nvGrpSpPr>
            <p:cNvPr id="14" name="群組 13">
              <a:extLst>
                <a:ext uri="{FF2B5EF4-FFF2-40B4-BE49-F238E27FC236}">
                  <a16:creationId xmlns:a16="http://schemas.microsoft.com/office/drawing/2014/main" id="{A27A6FED-4335-4C8C-96AB-D9541825CC8B}"/>
                </a:ext>
              </a:extLst>
            </p:cNvPr>
            <p:cNvGrpSpPr/>
            <p:nvPr/>
          </p:nvGrpSpPr>
          <p:grpSpPr>
            <a:xfrm>
              <a:off x="9072835" y="426062"/>
              <a:ext cx="1764196" cy="1579707"/>
              <a:chOff x="3719736" y="980728"/>
              <a:chExt cx="1080120" cy="1306296"/>
            </a:xfrm>
          </p:grpSpPr>
          <p:sp>
            <p:nvSpPr>
              <p:cNvPr id="37" name="圓角矩形 19">
                <a:extLst>
                  <a:ext uri="{FF2B5EF4-FFF2-40B4-BE49-F238E27FC236}">
                    <a16:creationId xmlns:a16="http://schemas.microsoft.com/office/drawing/2014/main" id="{779D1557-CAB4-473C-A5F1-7D925D374280}"/>
                  </a:ext>
                </a:extLst>
              </p:cNvPr>
              <p:cNvSpPr/>
              <p:nvPr/>
            </p:nvSpPr>
            <p:spPr>
              <a:xfrm>
                <a:off x="3719736" y="980728"/>
                <a:ext cx="1080120" cy="504056"/>
              </a:xfrm>
              <a:prstGeom prst="roundRect">
                <a:avLst/>
              </a:prstGeom>
              <a:solidFill>
                <a:schemeClr val="accent5">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dirty="0">
                    <a:solidFill>
                      <a:schemeClr val="tx1"/>
                    </a:solidFill>
                    <a:latin typeface="微軟正黑體" panose="020B0604030504040204" pitchFamily="34" charset="-120"/>
                    <a:ea typeface="微軟正黑體" panose="020B0604030504040204" pitchFamily="34" charset="-120"/>
                  </a:rPr>
                  <a:t>承租人</a:t>
                </a:r>
              </a:p>
            </p:txBody>
          </p:sp>
          <p:cxnSp>
            <p:nvCxnSpPr>
              <p:cNvPr id="38" name="直線單箭頭接點 37">
                <a:extLst>
                  <a:ext uri="{FF2B5EF4-FFF2-40B4-BE49-F238E27FC236}">
                    <a16:creationId xmlns:a16="http://schemas.microsoft.com/office/drawing/2014/main" id="{DA7DB414-7C88-47B8-BECD-81388CB23F38}"/>
                  </a:ext>
                </a:extLst>
              </p:cNvPr>
              <p:cNvCxnSpPr>
                <a:endCxn id="39" idx="0"/>
              </p:cNvCxnSpPr>
              <p:nvPr/>
            </p:nvCxnSpPr>
            <p:spPr>
              <a:xfrm>
                <a:off x="4259796" y="1484784"/>
                <a:ext cx="0" cy="298184"/>
              </a:xfrm>
              <a:prstGeom prst="straightConnector1">
                <a:avLst/>
              </a:prstGeom>
              <a:ln w="3175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9" name="圓角矩形 21">
                <a:extLst>
                  <a:ext uri="{FF2B5EF4-FFF2-40B4-BE49-F238E27FC236}">
                    <a16:creationId xmlns:a16="http://schemas.microsoft.com/office/drawing/2014/main" id="{A939C521-AB42-4F1E-BDC7-19A7C8BDB5B1}"/>
                  </a:ext>
                </a:extLst>
              </p:cNvPr>
              <p:cNvSpPr/>
              <p:nvPr/>
            </p:nvSpPr>
            <p:spPr>
              <a:xfrm>
                <a:off x="3719736" y="1782968"/>
                <a:ext cx="1080120" cy="504056"/>
              </a:xfrm>
              <a:prstGeom prst="roundRect">
                <a:avLst/>
              </a:prstGeom>
              <a:solidFill>
                <a:schemeClr val="accent5">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dirty="0">
                    <a:solidFill>
                      <a:schemeClr val="tx1"/>
                    </a:solidFill>
                    <a:latin typeface="微軟正黑體" panose="020B0604030504040204" pitchFamily="34" charset="-120"/>
                    <a:ea typeface="微軟正黑體" panose="020B0604030504040204" pitchFamily="34" charset="-120"/>
                  </a:rPr>
                  <a:t>所有權人</a:t>
                </a:r>
              </a:p>
            </p:txBody>
          </p:sp>
        </p:grpSp>
        <p:grpSp>
          <p:nvGrpSpPr>
            <p:cNvPr id="15" name="群組 14">
              <a:extLst>
                <a:ext uri="{FF2B5EF4-FFF2-40B4-BE49-F238E27FC236}">
                  <a16:creationId xmlns:a16="http://schemas.microsoft.com/office/drawing/2014/main" id="{30A95FD4-6069-4BCB-8EB9-5A36CD6FFCBF}"/>
                </a:ext>
              </a:extLst>
            </p:cNvPr>
            <p:cNvGrpSpPr/>
            <p:nvPr/>
          </p:nvGrpSpPr>
          <p:grpSpPr>
            <a:xfrm>
              <a:off x="5307463" y="5223879"/>
              <a:ext cx="1764199" cy="1522295"/>
              <a:chOff x="3719735" y="980728"/>
              <a:chExt cx="1080122" cy="1258821"/>
            </a:xfrm>
          </p:grpSpPr>
          <p:sp>
            <p:nvSpPr>
              <p:cNvPr id="34" name="圓角矩形 27">
                <a:extLst>
                  <a:ext uri="{FF2B5EF4-FFF2-40B4-BE49-F238E27FC236}">
                    <a16:creationId xmlns:a16="http://schemas.microsoft.com/office/drawing/2014/main" id="{1845D21C-E6A2-4235-B737-4127BB60F668}"/>
                  </a:ext>
                </a:extLst>
              </p:cNvPr>
              <p:cNvSpPr/>
              <p:nvPr/>
            </p:nvSpPr>
            <p:spPr>
              <a:xfrm>
                <a:off x="3719737" y="980728"/>
                <a:ext cx="1080120" cy="504056"/>
              </a:xfrm>
              <a:prstGeom prst="roundRect">
                <a:avLst/>
              </a:prstGeom>
              <a:solidFill>
                <a:schemeClr val="accent4">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dirty="0">
                    <a:solidFill>
                      <a:schemeClr val="tx1"/>
                    </a:solidFill>
                    <a:latin typeface="微軟正黑體" panose="020B0604030504040204" pitchFamily="34" charset="-120"/>
                    <a:ea typeface="微軟正黑體" panose="020B0604030504040204" pitchFamily="34" charset="-120"/>
                  </a:rPr>
                  <a:t>承銷商</a:t>
                </a:r>
              </a:p>
            </p:txBody>
          </p:sp>
          <p:cxnSp>
            <p:nvCxnSpPr>
              <p:cNvPr id="35" name="直線單箭頭接點 34">
                <a:extLst>
                  <a:ext uri="{FF2B5EF4-FFF2-40B4-BE49-F238E27FC236}">
                    <a16:creationId xmlns:a16="http://schemas.microsoft.com/office/drawing/2014/main" id="{529C806D-3102-4410-A63D-E6EFC336C93F}"/>
                  </a:ext>
                </a:extLst>
              </p:cNvPr>
              <p:cNvCxnSpPr>
                <a:endCxn id="36" idx="0"/>
              </p:cNvCxnSpPr>
              <p:nvPr/>
            </p:nvCxnSpPr>
            <p:spPr>
              <a:xfrm>
                <a:off x="4259796" y="1437309"/>
                <a:ext cx="0" cy="298184"/>
              </a:xfrm>
              <a:prstGeom prst="straightConnector1">
                <a:avLst/>
              </a:prstGeom>
              <a:ln w="34925">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圓角矩形 29">
                <a:extLst>
                  <a:ext uri="{FF2B5EF4-FFF2-40B4-BE49-F238E27FC236}">
                    <a16:creationId xmlns:a16="http://schemas.microsoft.com/office/drawing/2014/main" id="{1AE4DED6-0356-4CDB-A510-7CE08F2A09BD}"/>
                  </a:ext>
                </a:extLst>
              </p:cNvPr>
              <p:cNvSpPr/>
              <p:nvPr/>
            </p:nvSpPr>
            <p:spPr>
              <a:xfrm>
                <a:off x="3719735" y="1735493"/>
                <a:ext cx="1080120" cy="504056"/>
              </a:xfrm>
              <a:prstGeom prst="roundRect">
                <a:avLst/>
              </a:prstGeom>
              <a:solidFill>
                <a:srgbClr val="7AD8CD"/>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dirty="0">
                    <a:solidFill>
                      <a:schemeClr val="tx1"/>
                    </a:solidFill>
                    <a:latin typeface="微軟正黑體" panose="020B0604030504040204" pitchFamily="34" charset="-120"/>
                    <a:ea typeface="微軟正黑體" panose="020B0604030504040204" pitchFamily="34" charset="-120"/>
                  </a:rPr>
                  <a:t>投資人</a:t>
                </a:r>
              </a:p>
            </p:txBody>
          </p:sp>
        </p:grpSp>
        <p:sp>
          <p:nvSpPr>
            <p:cNvPr id="16" name="圓角矩形 30">
              <a:extLst>
                <a:ext uri="{FF2B5EF4-FFF2-40B4-BE49-F238E27FC236}">
                  <a16:creationId xmlns:a16="http://schemas.microsoft.com/office/drawing/2014/main" id="{E0FD681F-C71C-4477-A82F-6D8F1DA57C4C}"/>
                </a:ext>
              </a:extLst>
            </p:cNvPr>
            <p:cNvSpPr/>
            <p:nvPr/>
          </p:nvSpPr>
          <p:spPr>
            <a:xfrm>
              <a:off x="1415480" y="3310756"/>
              <a:ext cx="1764196" cy="609556"/>
            </a:xfrm>
            <a:prstGeom prst="roundRect">
              <a:avLst/>
            </a:prstGeom>
            <a:solidFill>
              <a:schemeClr val="accent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dirty="0">
                  <a:solidFill>
                    <a:schemeClr val="tx1"/>
                  </a:solidFill>
                  <a:latin typeface="微軟正黑體" panose="020B0604030504040204" pitchFamily="34" charset="-120"/>
                  <a:ea typeface="微軟正黑體" panose="020B0604030504040204" pitchFamily="34" charset="-120"/>
                </a:rPr>
                <a:t>信用評等</a:t>
              </a:r>
            </a:p>
          </p:txBody>
        </p:sp>
        <p:sp>
          <p:nvSpPr>
            <p:cNvPr id="17" name="圓角矩形 31">
              <a:extLst>
                <a:ext uri="{FF2B5EF4-FFF2-40B4-BE49-F238E27FC236}">
                  <a16:creationId xmlns:a16="http://schemas.microsoft.com/office/drawing/2014/main" id="{9CBA2497-527A-4EDA-8D15-61D3644FFCEA}"/>
                </a:ext>
              </a:extLst>
            </p:cNvPr>
            <p:cNvSpPr/>
            <p:nvPr/>
          </p:nvSpPr>
          <p:spPr>
            <a:xfrm>
              <a:off x="9072835" y="3310756"/>
              <a:ext cx="1764196" cy="609556"/>
            </a:xfrm>
            <a:prstGeom prst="roundRect">
              <a:avLst/>
            </a:prstGeom>
            <a:solidFill>
              <a:srgbClr val="FEEAD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dirty="0">
                  <a:solidFill>
                    <a:schemeClr val="tx1"/>
                  </a:solidFill>
                  <a:latin typeface="微軟正黑體" panose="020B0604030504040204" pitchFamily="34" charset="-120"/>
                  <a:ea typeface="微軟正黑體" panose="020B0604030504040204" pitchFamily="34" charset="-120"/>
                </a:rPr>
                <a:t>信用增強</a:t>
              </a:r>
            </a:p>
          </p:txBody>
        </p:sp>
        <p:grpSp>
          <p:nvGrpSpPr>
            <p:cNvPr id="18" name="群組 17">
              <a:extLst>
                <a:ext uri="{FF2B5EF4-FFF2-40B4-BE49-F238E27FC236}">
                  <a16:creationId xmlns:a16="http://schemas.microsoft.com/office/drawing/2014/main" id="{CCD3DAD8-B13E-4EEA-9DFA-E26EFC66D0EF}"/>
                </a:ext>
              </a:extLst>
            </p:cNvPr>
            <p:cNvGrpSpPr/>
            <p:nvPr/>
          </p:nvGrpSpPr>
          <p:grpSpPr>
            <a:xfrm>
              <a:off x="4191040" y="2330257"/>
              <a:ext cx="3870431" cy="2570554"/>
              <a:chOff x="4191040" y="2330257"/>
              <a:chExt cx="3870431" cy="2570554"/>
            </a:xfrm>
          </p:grpSpPr>
          <p:sp>
            <p:nvSpPr>
              <p:cNvPr id="31" name="橢圓 30">
                <a:extLst>
                  <a:ext uri="{FF2B5EF4-FFF2-40B4-BE49-F238E27FC236}">
                    <a16:creationId xmlns:a16="http://schemas.microsoft.com/office/drawing/2014/main" id="{114FF2C2-7F4B-4DBB-BAB9-F92DDDD07AC1}"/>
                  </a:ext>
                </a:extLst>
              </p:cNvPr>
              <p:cNvSpPr/>
              <p:nvPr/>
            </p:nvSpPr>
            <p:spPr>
              <a:xfrm>
                <a:off x="4191040" y="2330257"/>
                <a:ext cx="3870431" cy="2570554"/>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b="1">
                  <a:latin typeface="微軟正黑體" panose="020B0604030504040204" pitchFamily="34" charset="-120"/>
                  <a:ea typeface="微軟正黑體" panose="020B0604030504040204" pitchFamily="34" charset="-120"/>
                </a:endParaRPr>
              </a:p>
            </p:txBody>
          </p:sp>
          <p:pic>
            <p:nvPicPr>
              <p:cNvPr id="32" name="圖片 31">
                <a:extLst>
                  <a:ext uri="{FF2B5EF4-FFF2-40B4-BE49-F238E27FC236}">
                    <a16:creationId xmlns:a16="http://schemas.microsoft.com/office/drawing/2014/main" id="{AB78E6DC-32F4-48FE-AA1C-FC3E72DD20D0}"/>
                  </a:ext>
                </a:extLst>
              </p:cNvPr>
              <p:cNvPicPr>
                <a:picLocks noChangeAspect="1"/>
              </p:cNvPicPr>
              <p:nvPr/>
            </p:nvPicPr>
            <p:blipFill>
              <a:blip r:embed="rId4" cstate="print">
                <a:clrChange>
                  <a:clrFrom>
                    <a:srgbClr val="F6F6F6"/>
                  </a:clrFrom>
                  <a:clrTo>
                    <a:srgbClr val="F6F6F6">
                      <a:alpha val="0"/>
                    </a:srgbClr>
                  </a:clrTo>
                </a:clrChange>
                <a:extLst>
                  <a:ext uri="{28A0092B-C50C-407E-A947-70E740481C1C}">
                    <a14:useLocalDpi xmlns:a14="http://schemas.microsoft.com/office/drawing/2010/main" val="0"/>
                  </a:ext>
                </a:extLst>
              </a:blip>
              <a:stretch>
                <a:fillRect/>
              </a:stretch>
            </p:blipFill>
            <p:spPr>
              <a:xfrm>
                <a:off x="5125024" y="2406429"/>
                <a:ext cx="1950877" cy="1839827"/>
              </a:xfrm>
              <a:prstGeom prst="rect">
                <a:avLst/>
              </a:prstGeom>
            </p:spPr>
          </p:pic>
          <p:sp>
            <p:nvSpPr>
              <p:cNvPr id="33" name="文字方塊 32">
                <a:extLst>
                  <a:ext uri="{FF2B5EF4-FFF2-40B4-BE49-F238E27FC236}">
                    <a16:creationId xmlns:a16="http://schemas.microsoft.com/office/drawing/2014/main" id="{42987E62-C5C7-4A25-9ADB-D6ED88FB0C5C}"/>
                  </a:ext>
                </a:extLst>
              </p:cNvPr>
              <p:cNvSpPr txBox="1"/>
              <p:nvPr/>
            </p:nvSpPr>
            <p:spPr>
              <a:xfrm>
                <a:off x="5159932" y="4209977"/>
                <a:ext cx="2148705" cy="498823"/>
              </a:xfrm>
              <a:prstGeom prst="rect">
                <a:avLst/>
              </a:prstGeom>
              <a:noFill/>
            </p:spPr>
            <p:txBody>
              <a:bodyPr wrap="square" rtlCol="0">
                <a:spAutoFit/>
              </a:bodyPr>
              <a:lstStyle/>
              <a:p>
                <a:pPr algn="ctr"/>
                <a:r>
                  <a:rPr lang="zh-TW" altLang="en-US" b="1" dirty="0">
                    <a:solidFill>
                      <a:schemeClr val="accent2">
                        <a:lumMod val="50000"/>
                      </a:schemeClr>
                    </a:solidFill>
                    <a:latin typeface="微軟正黑體" panose="020B0604030504040204" pitchFamily="34" charset="-120"/>
                    <a:ea typeface="微軟正黑體" panose="020B0604030504040204" pitchFamily="34" charset="-120"/>
                  </a:rPr>
                  <a:t>受託機構</a:t>
                </a:r>
                <a:r>
                  <a:rPr lang="en-US" altLang="zh-TW" b="1" dirty="0">
                    <a:solidFill>
                      <a:schemeClr val="accent2">
                        <a:lumMod val="50000"/>
                      </a:schemeClr>
                    </a:solidFill>
                    <a:latin typeface="微軟正黑體" panose="020B0604030504040204" pitchFamily="34" charset="-120"/>
                    <a:ea typeface="微軟正黑體" panose="020B0604030504040204" pitchFamily="34" charset="-120"/>
                  </a:rPr>
                  <a:t>(SPT)</a:t>
                </a:r>
                <a:endParaRPr lang="zh-TW" altLang="en-US" b="1" dirty="0">
                  <a:solidFill>
                    <a:schemeClr val="accent2">
                      <a:lumMod val="50000"/>
                    </a:schemeClr>
                  </a:solidFill>
                  <a:latin typeface="微軟正黑體" panose="020B0604030504040204" pitchFamily="34" charset="-120"/>
                  <a:ea typeface="微軟正黑體" panose="020B0604030504040204" pitchFamily="34" charset="-120"/>
                </a:endParaRPr>
              </a:p>
            </p:txBody>
          </p:sp>
        </p:grpSp>
        <p:cxnSp>
          <p:nvCxnSpPr>
            <p:cNvPr id="19" name="直線單箭頭接點 18">
              <a:extLst>
                <a:ext uri="{FF2B5EF4-FFF2-40B4-BE49-F238E27FC236}">
                  <a16:creationId xmlns:a16="http://schemas.microsoft.com/office/drawing/2014/main" id="{120D2FB7-CCC7-4182-9C31-5FC4DCE351A8}"/>
                </a:ext>
              </a:extLst>
            </p:cNvPr>
            <p:cNvCxnSpPr/>
            <p:nvPr/>
          </p:nvCxnSpPr>
          <p:spPr>
            <a:xfrm>
              <a:off x="2297578" y="2043760"/>
              <a:ext cx="1841876" cy="1232999"/>
            </a:xfrm>
            <a:prstGeom prst="straightConnector1">
              <a:avLst/>
            </a:prstGeom>
            <a:ln w="38100">
              <a:prstDash val="sysDot"/>
              <a:tailEnd type="triangle"/>
            </a:ln>
          </p:spPr>
          <p:style>
            <a:lnRef idx="2">
              <a:schemeClr val="accent2"/>
            </a:lnRef>
            <a:fillRef idx="0">
              <a:schemeClr val="accent2"/>
            </a:fillRef>
            <a:effectRef idx="1">
              <a:schemeClr val="accent2"/>
            </a:effectRef>
            <a:fontRef idx="minor">
              <a:schemeClr val="tx1"/>
            </a:fontRef>
          </p:style>
        </p:cxnSp>
        <p:cxnSp>
          <p:nvCxnSpPr>
            <p:cNvPr id="20" name="直線單箭頭接點 19">
              <a:extLst>
                <a:ext uri="{FF2B5EF4-FFF2-40B4-BE49-F238E27FC236}">
                  <a16:creationId xmlns:a16="http://schemas.microsoft.com/office/drawing/2014/main" id="{4CE95A99-CF5B-40BD-A3A8-596FF3189CF8}"/>
                </a:ext>
              </a:extLst>
            </p:cNvPr>
            <p:cNvCxnSpPr>
              <a:stCxn id="16" idx="3"/>
              <a:endCxn id="31" idx="2"/>
            </p:cNvCxnSpPr>
            <p:nvPr/>
          </p:nvCxnSpPr>
          <p:spPr>
            <a:xfrm>
              <a:off x="3179676" y="3615534"/>
              <a:ext cx="1011364" cy="0"/>
            </a:xfrm>
            <a:prstGeom prst="straightConnector1">
              <a:avLst/>
            </a:prstGeom>
            <a:ln w="47625">
              <a:solidFill>
                <a:srgbClr val="00B050"/>
              </a:solidFill>
              <a:prstDash val="solid"/>
              <a:tailEnd type="triangle"/>
            </a:ln>
          </p:spPr>
          <p:style>
            <a:lnRef idx="2">
              <a:schemeClr val="accent2"/>
            </a:lnRef>
            <a:fillRef idx="0">
              <a:schemeClr val="accent2"/>
            </a:fillRef>
            <a:effectRef idx="1">
              <a:schemeClr val="accent2"/>
            </a:effectRef>
            <a:fontRef idx="minor">
              <a:schemeClr val="tx1"/>
            </a:fontRef>
          </p:style>
        </p:cxnSp>
        <p:cxnSp>
          <p:nvCxnSpPr>
            <p:cNvPr id="21" name="直線單箭頭接點 20">
              <a:extLst>
                <a:ext uri="{FF2B5EF4-FFF2-40B4-BE49-F238E27FC236}">
                  <a16:creationId xmlns:a16="http://schemas.microsoft.com/office/drawing/2014/main" id="{4BBFB651-E36C-4DA0-819E-BEFE456C3887}"/>
                </a:ext>
              </a:extLst>
            </p:cNvPr>
            <p:cNvCxnSpPr/>
            <p:nvPr/>
          </p:nvCxnSpPr>
          <p:spPr>
            <a:xfrm>
              <a:off x="7308640" y="1957978"/>
              <a:ext cx="0" cy="592309"/>
            </a:xfrm>
            <a:prstGeom prst="straightConnector1">
              <a:avLst/>
            </a:prstGeom>
            <a:ln w="38100">
              <a:prstDash val="sysDot"/>
              <a:tailEnd type="triangle"/>
            </a:ln>
          </p:spPr>
          <p:style>
            <a:lnRef idx="2">
              <a:schemeClr val="accent2"/>
            </a:lnRef>
            <a:fillRef idx="0">
              <a:schemeClr val="accent2"/>
            </a:fillRef>
            <a:effectRef idx="1">
              <a:schemeClr val="accent2"/>
            </a:effectRef>
            <a:fontRef idx="minor">
              <a:schemeClr val="tx1"/>
            </a:fontRef>
          </p:style>
        </p:cxnSp>
        <p:cxnSp>
          <p:nvCxnSpPr>
            <p:cNvPr id="22" name="直線單箭頭接點 21">
              <a:extLst>
                <a:ext uri="{FF2B5EF4-FFF2-40B4-BE49-F238E27FC236}">
                  <a16:creationId xmlns:a16="http://schemas.microsoft.com/office/drawing/2014/main" id="{58F5232A-2836-4B1B-BAA9-B77909687553}"/>
                </a:ext>
              </a:extLst>
            </p:cNvPr>
            <p:cNvCxnSpPr/>
            <p:nvPr/>
          </p:nvCxnSpPr>
          <p:spPr>
            <a:xfrm flipH="1">
              <a:off x="8190739" y="2107935"/>
              <a:ext cx="1723282" cy="1212192"/>
            </a:xfrm>
            <a:prstGeom prst="straightConnector1">
              <a:avLst/>
            </a:prstGeom>
            <a:ln w="38100">
              <a:prstDash val="sysDot"/>
              <a:tailEnd type="triangle"/>
            </a:ln>
          </p:spPr>
          <p:style>
            <a:lnRef idx="2">
              <a:schemeClr val="accent2"/>
            </a:lnRef>
            <a:fillRef idx="0">
              <a:schemeClr val="accent2"/>
            </a:fillRef>
            <a:effectRef idx="1">
              <a:schemeClr val="accent2"/>
            </a:effectRef>
            <a:fontRef idx="minor">
              <a:schemeClr val="tx1"/>
            </a:fontRef>
          </p:style>
        </p:cxnSp>
        <p:cxnSp>
          <p:nvCxnSpPr>
            <p:cNvPr id="23" name="直線單箭頭接點 22">
              <a:extLst>
                <a:ext uri="{FF2B5EF4-FFF2-40B4-BE49-F238E27FC236}">
                  <a16:creationId xmlns:a16="http://schemas.microsoft.com/office/drawing/2014/main" id="{A2A57011-4C1D-425E-B554-E6365A327B6C}"/>
                </a:ext>
              </a:extLst>
            </p:cNvPr>
            <p:cNvCxnSpPr/>
            <p:nvPr/>
          </p:nvCxnSpPr>
          <p:spPr>
            <a:xfrm>
              <a:off x="4836197" y="2044471"/>
              <a:ext cx="35667" cy="577824"/>
            </a:xfrm>
            <a:prstGeom prst="straightConnector1">
              <a:avLst/>
            </a:prstGeom>
            <a:ln w="38100">
              <a:prstDash val="sysDot"/>
              <a:tailEnd type="triangle"/>
            </a:ln>
          </p:spPr>
          <p:style>
            <a:lnRef idx="2">
              <a:schemeClr val="accent2"/>
            </a:lnRef>
            <a:fillRef idx="0">
              <a:schemeClr val="accent2"/>
            </a:fillRef>
            <a:effectRef idx="1">
              <a:schemeClr val="accent2"/>
            </a:effectRef>
            <a:fontRef idx="minor">
              <a:schemeClr val="tx1"/>
            </a:fontRef>
          </p:style>
        </p:cxnSp>
        <p:cxnSp>
          <p:nvCxnSpPr>
            <p:cNvPr id="24" name="直線單箭頭接點 23">
              <a:extLst>
                <a:ext uri="{FF2B5EF4-FFF2-40B4-BE49-F238E27FC236}">
                  <a16:creationId xmlns:a16="http://schemas.microsoft.com/office/drawing/2014/main" id="{84A835C4-631A-4251-9403-B53A4337EEC6}"/>
                </a:ext>
              </a:extLst>
            </p:cNvPr>
            <p:cNvCxnSpPr>
              <a:stCxn id="17" idx="1"/>
              <a:endCxn id="31" idx="6"/>
            </p:cNvCxnSpPr>
            <p:nvPr/>
          </p:nvCxnSpPr>
          <p:spPr>
            <a:xfrm flipH="1">
              <a:off x="8061471" y="3615534"/>
              <a:ext cx="1011364" cy="0"/>
            </a:xfrm>
            <a:prstGeom prst="straightConnector1">
              <a:avLst/>
            </a:prstGeom>
            <a:ln w="47625">
              <a:solidFill>
                <a:srgbClr val="00B050"/>
              </a:solidFill>
              <a:prstDash val="solid"/>
              <a:tailEnd type="triangle"/>
            </a:ln>
          </p:spPr>
          <p:style>
            <a:lnRef idx="2">
              <a:schemeClr val="accent2"/>
            </a:lnRef>
            <a:fillRef idx="0">
              <a:schemeClr val="accent2"/>
            </a:fillRef>
            <a:effectRef idx="1">
              <a:schemeClr val="accent2"/>
            </a:effectRef>
            <a:fontRef idx="minor">
              <a:schemeClr val="tx1"/>
            </a:fontRef>
          </p:style>
        </p:cxnSp>
        <p:sp>
          <p:nvSpPr>
            <p:cNvPr id="25" name="文字方塊 24">
              <a:extLst>
                <a:ext uri="{FF2B5EF4-FFF2-40B4-BE49-F238E27FC236}">
                  <a16:creationId xmlns:a16="http://schemas.microsoft.com/office/drawing/2014/main" id="{A225C8D5-2563-40FB-9B96-564E6875C32C}"/>
                </a:ext>
              </a:extLst>
            </p:cNvPr>
            <p:cNvSpPr txBox="1"/>
            <p:nvPr/>
          </p:nvSpPr>
          <p:spPr>
            <a:xfrm>
              <a:off x="911424" y="41818"/>
              <a:ext cx="3153602" cy="338554"/>
            </a:xfrm>
            <a:prstGeom prst="rect">
              <a:avLst/>
            </a:prstGeom>
            <a:noFill/>
          </p:spPr>
          <p:txBody>
            <a:bodyPr wrap="square" rtlCol="0">
              <a:spAutoFit/>
            </a:bodyPr>
            <a:lstStyle/>
            <a:p>
              <a:r>
                <a:rPr lang="en-US" altLang="zh-TW" sz="1600" b="1" dirty="0">
                  <a:latin typeface="微軟正黑體" panose="020B0604030504040204" pitchFamily="34" charset="-120"/>
                  <a:ea typeface="微軟正黑體" panose="020B0604030504040204" pitchFamily="34" charset="-120"/>
                </a:rPr>
                <a:t>(CLO</a:t>
              </a:r>
              <a:r>
                <a:rPr lang="zh-TW" altLang="en-US" sz="1600" b="1" dirty="0">
                  <a:latin typeface="微軟正黑體" panose="020B0604030504040204" pitchFamily="34" charset="-120"/>
                  <a:ea typeface="微軟正黑體" panose="020B0604030504040204" pitchFamily="34" charset="-120"/>
                </a:rPr>
                <a:t>、</a:t>
              </a:r>
              <a:r>
                <a:rPr lang="en-US" altLang="zh-TW" sz="1600" b="1" dirty="0">
                  <a:latin typeface="微軟正黑體" panose="020B0604030504040204" pitchFamily="34" charset="-120"/>
                  <a:ea typeface="微軟正黑體" panose="020B0604030504040204" pitchFamily="34" charset="-120"/>
                </a:rPr>
                <a:t>RMBS</a:t>
              </a:r>
              <a:r>
                <a:rPr lang="zh-TW" altLang="en-US" sz="1600" b="1" dirty="0">
                  <a:latin typeface="微軟正黑體" panose="020B0604030504040204" pitchFamily="34" charset="-120"/>
                  <a:ea typeface="微軟正黑體" panose="020B0604030504040204" pitchFamily="34" charset="-120"/>
                </a:rPr>
                <a:t> 、</a:t>
              </a:r>
              <a:r>
                <a:rPr lang="en-US" altLang="zh-TW" sz="1600" b="1" dirty="0">
                  <a:latin typeface="微軟正黑體" panose="020B0604030504040204" pitchFamily="34" charset="-120"/>
                  <a:ea typeface="微軟正黑體" panose="020B0604030504040204" pitchFamily="34" charset="-120"/>
                </a:rPr>
                <a:t>CMBS)</a:t>
              </a:r>
              <a:endParaRPr lang="zh-TW" altLang="en-US" sz="1600" b="1" dirty="0">
                <a:latin typeface="微軟正黑體" panose="020B0604030504040204" pitchFamily="34" charset="-120"/>
                <a:ea typeface="微軟正黑體" panose="020B0604030504040204" pitchFamily="34" charset="-120"/>
              </a:endParaRPr>
            </a:p>
          </p:txBody>
        </p:sp>
        <p:sp>
          <p:nvSpPr>
            <p:cNvPr id="27" name="文字方塊 26">
              <a:extLst>
                <a:ext uri="{FF2B5EF4-FFF2-40B4-BE49-F238E27FC236}">
                  <a16:creationId xmlns:a16="http://schemas.microsoft.com/office/drawing/2014/main" id="{DCC9F5F2-D2BF-43F4-813D-0172A40ABAEF}"/>
                </a:ext>
              </a:extLst>
            </p:cNvPr>
            <p:cNvSpPr txBox="1"/>
            <p:nvPr/>
          </p:nvSpPr>
          <p:spPr>
            <a:xfrm>
              <a:off x="4258448" y="33885"/>
              <a:ext cx="1238127" cy="457254"/>
            </a:xfrm>
            <a:prstGeom prst="rect">
              <a:avLst/>
            </a:prstGeom>
            <a:noFill/>
          </p:spPr>
          <p:txBody>
            <a:bodyPr wrap="square" rtlCol="0">
              <a:spAutoFit/>
            </a:bodyPr>
            <a:lstStyle/>
            <a:p>
              <a:r>
                <a:rPr lang="en-US" altLang="zh-TW" sz="1600" b="1" dirty="0">
                  <a:latin typeface="微軟正黑體" panose="020B0604030504040204" pitchFamily="34" charset="-120"/>
                  <a:ea typeface="微軟正黑體" panose="020B0604030504040204" pitchFamily="34" charset="-120"/>
                </a:rPr>
                <a:t>(</a:t>
              </a:r>
              <a:r>
                <a:rPr lang="zh-TW" altLang="en-US" sz="1600" b="1" dirty="0">
                  <a:latin typeface="微軟正黑體" panose="020B0604030504040204" pitchFamily="34" charset="-120"/>
                  <a:ea typeface="微軟正黑體" panose="020B0604030504040204" pitchFamily="34" charset="-120"/>
                </a:rPr>
                <a:t>信用卡</a:t>
              </a:r>
              <a:r>
                <a:rPr lang="en-US" altLang="zh-TW" sz="1600" b="1" dirty="0">
                  <a:latin typeface="微軟正黑體" panose="020B0604030504040204" pitchFamily="34" charset="-120"/>
                  <a:ea typeface="微軟正黑體" panose="020B0604030504040204" pitchFamily="34" charset="-120"/>
                </a:rPr>
                <a:t>)</a:t>
              </a:r>
              <a:endParaRPr lang="zh-TW" altLang="en-US" sz="1600" b="1" dirty="0">
                <a:latin typeface="微軟正黑體" panose="020B0604030504040204" pitchFamily="34" charset="-120"/>
                <a:ea typeface="微軟正黑體" panose="020B0604030504040204" pitchFamily="34" charset="-120"/>
              </a:endParaRPr>
            </a:p>
          </p:txBody>
        </p:sp>
        <p:sp>
          <p:nvSpPr>
            <p:cNvPr id="28" name="文字方塊 27">
              <a:extLst>
                <a:ext uri="{FF2B5EF4-FFF2-40B4-BE49-F238E27FC236}">
                  <a16:creationId xmlns:a16="http://schemas.microsoft.com/office/drawing/2014/main" id="{7DBC09EF-245B-4505-AEA9-833F327F2523}"/>
                </a:ext>
              </a:extLst>
            </p:cNvPr>
            <p:cNvSpPr txBox="1"/>
            <p:nvPr/>
          </p:nvSpPr>
          <p:spPr>
            <a:xfrm>
              <a:off x="6869112" y="7147"/>
              <a:ext cx="1103057" cy="338554"/>
            </a:xfrm>
            <a:prstGeom prst="rect">
              <a:avLst/>
            </a:prstGeom>
            <a:noFill/>
          </p:spPr>
          <p:txBody>
            <a:bodyPr wrap="square" rtlCol="0">
              <a:spAutoFit/>
            </a:bodyPr>
            <a:lstStyle/>
            <a:p>
              <a:r>
                <a:rPr lang="en-US" altLang="zh-TW" sz="1600" b="1" dirty="0">
                  <a:latin typeface="微軟正黑體" panose="020B0604030504040204" pitchFamily="34" charset="-120"/>
                  <a:ea typeface="微軟正黑體" panose="020B0604030504040204" pitchFamily="34" charset="-120"/>
                </a:rPr>
                <a:t>(</a:t>
              </a:r>
              <a:r>
                <a:rPr lang="zh-TW" altLang="en-US" sz="1600" b="1" dirty="0">
                  <a:latin typeface="微軟正黑體" panose="020B0604030504040204" pitchFamily="34" charset="-120"/>
                  <a:ea typeface="微軟正黑體" panose="020B0604030504040204" pitchFamily="34" charset="-120"/>
                </a:rPr>
                <a:t>車貸</a:t>
              </a:r>
              <a:r>
                <a:rPr lang="en-US" altLang="zh-TW" sz="1600" b="1" dirty="0">
                  <a:latin typeface="微軟正黑體" panose="020B0604030504040204" pitchFamily="34" charset="-120"/>
                  <a:ea typeface="微軟正黑體" panose="020B0604030504040204" pitchFamily="34" charset="-120"/>
                </a:rPr>
                <a:t>)</a:t>
              </a:r>
              <a:endParaRPr lang="zh-TW" altLang="en-US" sz="1600" b="1" dirty="0">
                <a:latin typeface="微軟正黑體" panose="020B0604030504040204" pitchFamily="34" charset="-120"/>
                <a:ea typeface="微軟正黑體" panose="020B0604030504040204" pitchFamily="34" charset="-120"/>
              </a:endParaRPr>
            </a:p>
          </p:txBody>
        </p:sp>
        <p:sp>
          <p:nvSpPr>
            <p:cNvPr id="29" name="文字方塊 28">
              <a:extLst>
                <a:ext uri="{FF2B5EF4-FFF2-40B4-BE49-F238E27FC236}">
                  <a16:creationId xmlns:a16="http://schemas.microsoft.com/office/drawing/2014/main" id="{05E0F3D1-A22F-4968-B5B7-282DAD8AAF71}"/>
                </a:ext>
              </a:extLst>
            </p:cNvPr>
            <p:cNvSpPr txBox="1"/>
            <p:nvPr/>
          </p:nvSpPr>
          <p:spPr>
            <a:xfrm>
              <a:off x="9152926" y="29731"/>
              <a:ext cx="1764196" cy="457254"/>
            </a:xfrm>
            <a:prstGeom prst="rect">
              <a:avLst/>
            </a:prstGeom>
            <a:noFill/>
          </p:spPr>
          <p:txBody>
            <a:bodyPr wrap="square" rtlCol="0">
              <a:spAutoFit/>
            </a:bodyPr>
            <a:lstStyle/>
            <a:p>
              <a:r>
                <a:rPr lang="en-US" altLang="zh-TW" sz="1600" b="1" dirty="0">
                  <a:latin typeface="微軟正黑體" panose="020B0604030504040204" pitchFamily="34" charset="-120"/>
                  <a:ea typeface="微軟正黑體" panose="020B0604030504040204" pitchFamily="34" charset="-120"/>
                </a:rPr>
                <a:t>(</a:t>
              </a:r>
              <a:r>
                <a:rPr lang="zh-TW" altLang="en-US" sz="1600" b="1" dirty="0">
                  <a:latin typeface="微軟正黑體" panose="020B0604030504040204" pitchFamily="34" charset="-120"/>
                  <a:ea typeface="微軟正黑體" panose="020B0604030504040204" pitchFamily="34" charset="-120"/>
                </a:rPr>
                <a:t>商用不動產</a:t>
              </a:r>
              <a:r>
                <a:rPr lang="en-US" altLang="zh-TW" sz="1600" b="1" dirty="0">
                  <a:latin typeface="微軟正黑體" panose="020B0604030504040204" pitchFamily="34" charset="-120"/>
                  <a:ea typeface="微軟正黑體" panose="020B0604030504040204" pitchFamily="34" charset="-120"/>
                </a:rPr>
                <a:t>)</a:t>
              </a:r>
              <a:endParaRPr lang="zh-TW" altLang="en-US" sz="1600" b="1" dirty="0">
                <a:latin typeface="微軟正黑體" panose="020B0604030504040204" pitchFamily="34" charset="-120"/>
                <a:ea typeface="微軟正黑體" panose="020B0604030504040204" pitchFamily="34" charset="-120"/>
              </a:endParaRPr>
            </a:p>
          </p:txBody>
        </p:sp>
        <p:cxnSp>
          <p:nvCxnSpPr>
            <p:cNvPr id="30" name="直線單箭頭接點 29">
              <a:extLst>
                <a:ext uri="{FF2B5EF4-FFF2-40B4-BE49-F238E27FC236}">
                  <a16:creationId xmlns:a16="http://schemas.microsoft.com/office/drawing/2014/main" id="{126BF121-C660-4705-93F8-4BCD45D71CF6}"/>
                </a:ext>
              </a:extLst>
            </p:cNvPr>
            <p:cNvCxnSpPr/>
            <p:nvPr/>
          </p:nvCxnSpPr>
          <p:spPr>
            <a:xfrm>
              <a:off x="6189563" y="4908232"/>
              <a:ext cx="0" cy="360595"/>
            </a:xfrm>
            <a:prstGeom prst="straightConnector1">
              <a:avLst/>
            </a:prstGeom>
            <a:ln w="34925">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2" name="文字方塊 1">
            <a:extLst>
              <a:ext uri="{FF2B5EF4-FFF2-40B4-BE49-F238E27FC236}">
                <a16:creationId xmlns:a16="http://schemas.microsoft.com/office/drawing/2014/main" id="{D398317B-D307-4678-8B2B-EA18191F246E}"/>
              </a:ext>
            </a:extLst>
          </p:cNvPr>
          <p:cNvSpPr txBox="1"/>
          <p:nvPr/>
        </p:nvSpPr>
        <p:spPr>
          <a:xfrm>
            <a:off x="8134905" y="4889271"/>
            <a:ext cx="2550698" cy="892552"/>
          </a:xfrm>
          <a:prstGeom prst="rect">
            <a:avLst/>
          </a:prstGeom>
          <a:noFill/>
        </p:spPr>
        <p:txBody>
          <a:bodyPr wrap="none" rtlCol="0">
            <a:spAutoFit/>
          </a:bodyPr>
          <a:lstStyle/>
          <a:p>
            <a:pPr marL="285750" indent="-285750">
              <a:buFont typeface="Arial" panose="020B0604020202020204" pitchFamily="34" charset="0"/>
              <a:buChar char="•"/>
            </a:pPr>
            <a:r>
              <a:rPr lang="zh-TW" altLang="en-US" b="1" dirty="0">
                <a:solidFill>
                  <a:schemeClr val="tx2"/>
                </a:solidFill>
                <a:latin typeface="微軟正黑體" panose="020B0604030504040204" pitchFamily="34" charset="-120"/>
                <a:ea typeface="微軟正黑體" panose="020B0604030504040204" pitchFamily="34" charset="-120"/>
              </a:rPr>
              <a:t>必須經過金融機構</a:t>
            </a:r>
            <a:endParaRPr lang="en-US" altLang="zh-TW" b="1" dirty="0">
              <a:solidFill>
                <a:schemeClr val="tx2"/>
              </a:solidFill>
              <a:latin typeface="微軟正黑體" panose="020B0604030504040204" pitchFamily="34" charset="-120"/>
              <a:ea typeface="微軟正黑體" panose="020B0604030504040204" pitchFamily="34" charset="-120"/>
            </a:endParaRPr>
          </a:p>
          <a:p>
            <a:pPr lvl="1"/>
            <a:r>
              <a:rPr lang="en-US" altLang="zh-TW" sz="1600" b="1" dirty="0">
                <a:solidFill>
                  <a:schemeClr val="tx2"/>
                </a:solidFill>
                <a:latin typeface="微軟正黑體" panose="020B0604030504040204" pitchFamily="34" charset="-120"/>
                <a:ea typeface="微軟正黑體" panose="020B0604030504040204" pitchFamily="34" charset="-120"/>
              </a:rPr>
              <a:t>(</a:t>
            </a:r>
            <a:r>
              <a:rPr lang="zh-TW" altLang="en-US" sz="1600" b="1" dirty="0">
                <a:solidFill>
                  <a:schemeClr val="tx2"/>
                </a:solidFill>
                <a:latin typeface="微軟正黑體" panose="020B0604030504040204" pitchFamily="34" charset="-120"/>
                <a:ea typeface="微軟正黑體" panose="020B0604030504040204" pitchFamily="34" charset="-120"/>
              </a:rPr>
              <a:t>收取手續費</a:t>
            </a:r>
            <a:r>
              <a:rPr lang="en-US" altLang="zh-TW" sz="1600" b="1" dirty="0">
                <a:solidFill>
                  <a:schemeClr val="tx2"/>
                </a:solidFill>
                <a:latin typeface="微軟正黑體" panose="020B0604030504040204" pitchFamily="34" charset="-120"/>
                <a:ea typeface="微軟正黑體" panose="020B0604030504040204" pitchFamily="34" charset="-120"/>
              </a:rPr>
              <a:t>/</a:t>
            </a:r>
            <a:r>
              <a:rPr lang="zh-TW" altLang="en-US" sz="1600" b="1" dirty="0">
                <a:solidFill>
                  <a:schemeClr val="tx2"/>
                </a:solidFill>
                <a:latin typeface="微軟正黑體" panose="020B0604030504040204" pitchFamily="34" charset="-120"/>
                <a:ea typeface="微軟正黑體" panose="020B0604030504040204" pitchFamily="34" charset="-120"/>
              </a:rPr>
              <a:t>作業費</a:t>
            </a:r>
            <a:r>
              <a:rPr lang="en-US" altLang="zh-TW" sz="1600" b="1" dirty="0">
                <a:solidFill>
                  <a:schemeClr val="tx2"/>
                </a:solidFill>
                <a:latin typeface="微軟正黑體" panose="020B0604030504040204" pitchFamily="34" charset="-120"/>
                <a:ea typeface="微軟正黑體" panose="020B0604030504040204" pitchFamily="34" charset="-120"/>
              </a:rPr>
              <a:t>)</a:t>
            </a:r>
          </a:p>
          <a:p>
            <a:pPr marL="285750" indent="-285750">
              <a:buFont typeface="Arial" panose="020B0604020202020204" pitchFamily="34" charset="0"/>
              <a:buChar char="•"/>
            </a:pPr>
            <a:r>
              <a:rPr lang="zh-TW" altLang="en-US" b="1" dirty="0">
                <a:solidFill>
                  <a:schemeClr val="tx2"/>
                </a:solidFill>
                <a:latin typeface="微軟正黑體" panose="020B0604030504040204" pitchFamily="34" charset="-120"/>
                <a:ea typeface="微軟正黑體" panose="020B0604030504040204" pitchFamily="34" charset="-120"/>
              </a:rPr>
              <a:t>受託機構不負擔風險</a:t>
            </a:r>
          </a:p>
        </p:txBody>
      </p:sp>
      <p:cxnSp>
        <p:nvCxnSpPr>
          <p:cNvPr id="50" name="直接连接符 33">
            <a:extLst>
              <a:ext uri="{FF2B5EF4-FFF2-40B4-BE49-F238E27FC236}">
                <a16:creationId xmlns:a16="http://schemas.microsoft.com/office/drawing/2014/main" id="{E838F5C4-1089-494A-8667-A0D754D6EF8D}"/>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5964486"/>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26">
                                            <p:txEl>
                                              <p:pRg st="0" end="0"/>
                                            </p:txEl>
                                          </p:spTgt>
                                        </p:tgtEl>
                                        <p:attrNameLst>
                                          <p:attrName>style.visibility</p:attrName>
                                        </p:attrNameLst>
                                      </p:cBhvr>
                                      <p:to>
                                        <p:strVal val="visible"/>
                                      </p:to>
                                    </p:set>
                                    <p:animEffect transition="in" filter="barn(inVertical)">
                                      <p:cBhvr>
                                        <p:cTn id="11" dur="500"/>
                                        <p:tgtEl>
                                          <p:spTgt spid="26">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50"/>
                                        </p:tgtEl>
                                        <p:attrNameLst>
                                          <p:attrName>style.visibility</p:attrName>
                                        </p:attrNameLst>
                                      </p:cBhvr>
                                      <p:to>
                                        <p:strVal val="visible"/>
                                      </p:to>
                                    </p:set>
                                    <p:anim calcmode="lin" valueType="num">
                                      <p:cBhvr additive="base">
                                        <p:cTn id="15" dur="500" fill="hold"/>
                                        <p:tgtEl>
                                          <p:spTgt spid="50"/>
                                        </p:tgtEl>
                                        <p:attrNameLst>
                                          <p:attrName>ppt_x</p:attrName>
                                        </p:attrNameLst>
                                      </p:cBhvr>
                                      <p:tavLst>
                                        <p:tav tm="0">
                                          <p:val>
                                            <p:strVal val="0-#ppt_w/2"/>
                                          </p:val>
                                        </p:tav>
                                        <p:tav tm="100000">
                                          <p:val>
                                            <p:strVal val="#ppt_x"/>
                                          </p:val>
                                        </p:tav>
                                      </p:tavLst>
                                    </p:anim>
                                    <p:anim calcmode="lin" valueType="num">
                                      <p:cBhvr additive="base">
                                        <p:cTn id="16" dur="500" fill="hold"/>
                                        <p:tgtEl>
                                          <p:spTgt spid="50"/>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grpId="0" nodeType="afterEffect">
                                  <p:stCondLst>
                                    <p:cond delay="0"/>
                                  </p:stCondLst>
                                  <p:childTnLst>
                                    <p:set>
                                      <p:cBhvr>
                                        <p:cTn id="19" dur="1" fill="hold">
                                          <p:stCondLst>
                                            <p:cond delay="0"/>
                                          </p:stCondLst>
                                        </p:cTn>
                                        <p:tgtEl>
                                          <p:spTgt spid="48"/>
                                        </p:tgtEl>
                                        <p:attrNameLst>
                                          <p:attrName>style.visibility</p:attrName>
                                        </p:attrNameLst>
                                      </p:cBhvr>
                                      <p:to>
                                        <p:strVal val="visible"/>
                                      </p:to>
                                    </p:set>
                                    <p:anim calcmode="lin" valueType="num">
                                      <p:cBhvr additive="base">
                                        <p:cTn id="20" dur="500" fill="hold"/>
                                        <p:tgtEl>
                                          <p:spTgt spid="48"/>
                                        </p:tgtEl>
                                        <p:attrNameLst>
                                          <p:attrName>ppt_x</p:attrName>
                                        </p:attrNameLst>
                                      </p:cBhvr>
                                      <p:tavLst>
                                        <p:tav tm="0">
                                          <p:val>
                                            <p:strVal val="#ppt_x"/>
                                          </p:val>
                                        </p:tav>
                                        <p:tav tm="100000">
                                          <p:val>
                                            <p:strVal val="#ppt_x"/>
                                          </p:val>
                                        </p:tav>
                                      </p:tavLst>
                                    </p:anim>
                                    <p:anim calcmode="lin" valueType="num">
                                      <p:cBhvr additive="base">
                                        <p:cTn id="21" dur="500" fill="hold"/>
                                        <p:tgtEl>
                                          <p:spTgt spid="48"/>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53" presetClass="entr" presetSubtype="16" fill="hold" nodeType="after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p:cTn id="25" dur="500" fill="hold"/>
                                        <p:tgtEl>
                                          <p:spTgt spid="10"/>
                                        </p:tgtEl>
                                        <p:attrNameLst>
                                          <p:attrName>ppt_w</p:attrName>
                                        </p:attrNameLst>
                                      </p:cBhvr>
                                      <p:tavLst>
                                        <p:tav tm="0">
                                          <p:val>
                                            <p:fltVal val="0"/>
                                          </p:val>
                                        </p:tav>
                                        <p:tav tm="100000">
                                          <p:val>
                                            <p:strVal val="#ppt_w"/>
                                          </p:val>
                                        </p:tav>
                                      </p:tavLst>
                                    </p:anim>
                                    <p:anim calcmode="lin" valueType="num">
                                      <p:cBhvr>
                                        <p:cTn id="26" dur="500" fill="hold"/>
                                        <p:tgtEl>
                                          <p:spTgt spid="10"/>
                                        </p:tgtEl>
                                        <p:attrNameLst>
                                          <p:attrName>ppt_h</p:attrName>
                                        </p:attrNameLst>
                                      </p:cBhvr>
                                      <p:tavLst>
                                        <p:tav tm="0">
                                          <p:val>
                                            <p:fltVal val="0"/>
                                          </p:val>
                                        </p:tav>
                                        <p:tav tm="100000">
                                          <p:val>
                                            <p:strVal val="#ppt_h"/>
                                          </p:val>
                                        </p:tav>
                                      </p:tavLst>
                                    </p:anim>
                                    <p:animEffect transition="in" filter="fade">
                                      <p:cBhvr>
                                        <p:cTn id="27" dur="500"/>
                                        <p:tgtEl>
                                          <p:spTgt spid="10"/>
                                        </p:tgtEl>
                                      </p:cBhvr>
                                    </p:animEffect>
                                  </p:childTnLst>
                                </p:cTn>
                              </p:par>
                            </p:childTnLst>
                          </p:cTn>
                        </p:par>
                        <p:par>
                          <p:cTn id="28" fill="hold">
                            <p:stCondLst>
                              <p:cond delay="4000"/>
                            </p:stCondLst>
                            <p:childTnLst>
                              <p:par>
                                <p:cTn id="29" presetID="16" presetClass="entr" presetSubtype="37" fill="hold" grpId="0" nodeType="after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barn(outVertical)">
                                      <p:cBhvr>
                                        <p:cTn id="3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8" grpId="0"/>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128872" y="393820"/>
            <a:ext cx="508571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6-2 </a:t>
            </a:r>
            <a:r>
              <a:rPr lang="zh-TW" altLang="en-US" sz="2400" b="1" dirty="0">
                <a:solidFill>
                  <a:srgbClr val="E06741"/>
                </a:solidFill>
              </a:rPr>
              <a:t>實務案例─消費金融</a:t>
            </a:r>
            <a:r>
              <a:rPr lang="en-US" altLang="zh-TW" sz="2400" b="1" dirty="0">
                <a:solidFill>
                  <a:srgbClr val="E06741"/>
                </a:solidFill>
              </a:rPr>
              <a:t>ABS</a:t>
            </a:r>
            <a:endParaRPr lang="zh-TW" altLang="en-US" sz="2400" b="1" dirty="0">
              <a:solidFill>
                <a:srgbClr val="E06741"/>
              </a:solidFill>
            </a:endParaRP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6" name="文字方塊 25">
            <a:extLst>
              <a:ext uri="{FF2B5EF4-FFF2-40B4-BE49-F238E27FC236}">
                <a16:creationId xmlns:a16="http://schemas.microsoft.com/office/drawing/2014/main" id="{4395D4FE-2FC0-4BD2-9BD3-55FB3C9BD0BF}"/>
              </a:ext>
            </a:extLst>
          </p:cNvPr>
          <p:cNvSpPr txBox="1"/>
          <p:nvPr/>
        </p:nvSpPr>
        <p:spPr>
          <a:xfrm>
            <a:off x="5798296" y="449166"/>
            <a:ext cx="153760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案例介紹</a:t>
            </a:r>
          </a:p>
        </p:txBody>
      </p:sp>
      <p:sp>
        <p:nvSpPr>
          <p:cNvPr id="48" name="文字方塊 47">
            <a:extLst>
              <a:ext uri="{FF2B5EF4-FFF2-40B4-BE49-F238E27FC236}">
                <a16:creationId xmlns:a16="http://schemas.microsoft.com/office/drawing/2014/main" id="{86DEFDDE-4381-4267-8E1E-1C7ACE9AF7B6}"/>
              </a:ext>
            </a:extLst>
          </p:cNvPr>
          <p:cNvSpPr txBox="1"/>
          <p:nvPr/>
        </p:nvSpPr>
        <p:spPr>
          <a:xfrm>
            <a:off x="1950497" y="1477760"/>
            <a:ext cx="8849774" cy="3902479"/>
          </a:xfrm>
          <a:prstGeom prst="rect">
            <a:avLst/>
          </a:prstGeom>
          <a:noFill/>
        </p:spPr>
        <p:txBody>
          <a:bodyPr wrap="square" rtlCol="0">
            <a:spAutoFit/>
          </a:bodyPr>
          <a:lstStyle/>
          <a:p>
            <a:pPr marL="342900" indent="-342900">
              <a:lnSpc>
                <a:spcPct val="150000"/>
              </a:lnSpc>
              <a:buSzPct val="15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以</a:t>
            </a:r>
            <a:r>
              <a:rPr lang="zh-TW" altLang="en-US" sz="2400" b="1" dirty="0">
                <a:solidFill>
                  <a:srgbClr val="3DA18E"/>
                </a:solidFill>
                <a:latin typeface="微軟正黑體" panose="020B0604030504040204" pitchFamily="34" charset="-120"/>
                <a:ea typeface="微軟正黑體" panose="020B0604030504040204" pitchFamily="34" charset="-120"/>
              </a:rPr>
              <a:t>「百度</a:t>
            </a:r>
            <a:r>
              <a:rPr lang="en-US" altLang="zh-TW" sz="2400" b="1" dirty="0">
                <a:solidFill>
                  <a:srgbClr val="3DA18E"/>
                </a:solidFill>
                <a:latin typeface="微軟正黑體" panose="020B0604030504040204" pitchFamily="34" charset="-120"/>
                <a:ea typeface="微軟正黑體" panose="020B0604030504040204" pitchFamily="34" charset="-120"/>
              </a:rPr>
              <a:t>- </a:t>
            </a:r>
            <a:r>
              <a:rPr lang="zh-TW" altLang="en-US" sz="2400" b="1" dirty="0">
                <a:solidFill>
                  <a:srgbClr val="3DA18E"/>
                </a:solidFill>
                <a:latin typeface="微軟正黑體" panose="020B0604030504040204" pitchFamily="34" charset="-120"/>
                <a:ea typeface="微軟正黑體" panose="020B0604030504040204" pitchFamily="34" charset="-120"/>
              </a:rPr>
              <a:t>長安新生</a:t>
            </a:r>
            <a:r>
              <a:rPr lang="en-US" altLang="zh-TW" sz="2400" b="1" dirty="0">
                <a:solidFill>
                  <a:srgbClr val="3DA18E"/>
                </a:solidFill>
                <a:latin typeface="微軟正黑體" panose="020B0604030504040204" pitchFamily="34" charset="-120"/>
                <a:ea typeface="微軟正黑體" panose="020B0604030504040204" pitchFamily="34" charset="-120"/>
              </a:rPr>
              <a:t>- </a:t>
            </a:r>
            <a:r>
              <a:rPr lang="zh-TW" altLang="en-US" sz="2400" b="1" dirty="0">
                <a:solidFill>
                  <a:srgbClr val="3DA18E"/>
                </a:solidFill>
                <a:latin typeface="微軟正黑體" panose="020B0604030504040204" pitchFamily="34" charset="-120"/>
                <a:ea typeface="微軟正黑體" panose="020B0604030504040204" pitchFamily="34" charset="-120"/>
              </a:rPr>
              <a:t>天風」</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的資產計畫為例</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百度金融以技術服務商的身分，搭建了區塊鏈服務端</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BaaS</a:t>
            </a:r>
          </a:p>
          <a:p>
            <a:pPr marL="342900" indent="-342900">
              <a:lnSpc>
                <a:spcPct val="150000"/>
              </a:lnSpc>
              <a:buBlip>
                <a:blip r:embed="rId4"/>
              </a:buBlip>
            </a:pP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BaaS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稱為</a:t>
            </a:r>
            <a:r>
              <a:rPr lang="zh-TW" altLang="en-US" sz="2400" b="1" dirty="0">
                <a:solidFill>
                  <a:srgbClr val="54667E"/>
                </a:solidFill>
                <a:latin typeface="微軟正黑體" panose="020B0604030504040204" pitchFamily="34" charset="-120"/>
                <a:ea typeface="微軟正黑體" panose="020B0604030504040204" pitchFamily="34" charset="-120"/>
              </a:rPr>
              <a:t>後端即服務</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指專為移動應用開發者提供整合雲後端的服務</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開發者只需調用雲端計算平台提供的應用程式介面（</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API</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），使用相應軟體開發工具（</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SDK</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迅速完成數據存儲、帳戶管理、消息推送、社交網路整合等</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3" name="圖片 2" descr="一張含有 向量圖形, 文字, 名片 的圖片&#10;&#10;描述是以高可信度產生">
            <a:extLst>
              <a:ext uri="{FF2B5EF4-FFF2-40B4-BE49-F238E27FC236}">
                <a16:creationId xmlns:a16="http://schemas.microsoft.com/office/drawing/2014/main" id="{301D5C21-9334-4943-B6DF-A0AD72861F9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5121216"/>
            <a:ext cx="1736784" cy="1736784"/>
          </a:xfrm>
          <a:prstGeom prst="rect">
            <a:avLst/>
          </a:prstGeom>
        </p:spPr>
      </p:pic>
      <p:cxnSp>
        <p:nvCxnSpPr>
          <p:cNvPr id="10" name="直接连接符 33">
            <a:extLst>
              <a:ext uri="{FF2B5EF4-FFF2-40B4-BE49-F238E27FC236}">
                <a16:creationId xmlns:a16="http://schemas.microsoft.com/office/drawing/2014/main" id="{A0838D52-2DD2-4C14-9BE5-C8180114FD18}"/>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圖片 3">
            <a:extLst>
              <a:ext uri="{FF2B5EF4-FFF2-40B4-BE49-F238E27FC236}">
                <a16:creationId xmlns:a16="http://schemas.microsoft.com/office/drawing/2014/main" id="{A9E5AAC9-9B99-4D88-A14C-0BF9C79F59EC}"/>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038271" y="831117"/>
            <a:ext cx="1524000" cy="1495425"/>
          </a:xfrm>
          <a:prstGeom prst="rect">
            <a:avLst/>
          </a:prstGeom>
        </p:spPr>
      </p:pic>
    </p:spTree>
    <p:extLst>
      <p:ext uri="{BB962C8B-B14F-4D97-AF65-F5344CB8AC3E}">
        <p14:creationId xmlns:p14="http://schemas.microsoft.com/office/powerpoint/2010/main" val="177478915"/>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barn(inVertical)">
                                      <p:cBhvr>
                                        <p:cTn id="11" dur="500"/>
                                        <p:tgtEl>
                                          <p:spTgt spid="26"/>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48">
                                            <p:txEl>
                                              <p:pRg st="0" end="0"/>
                                            </p:txEl>
                                          </p:spTgt>
                                        </p:tgtEl>
                                        <p:attrNameLst>
                                          <p:attrName>style.visibility</p:attrName>
                                        </p:attrNameLst>
                                      </p:cBhvr>
                                      <p:to>
                                        <p:strVal val="visible"/>
                                      </p:to>
                                    </p:set>
                                    <p:anim calcmode="lin" valueType="num">
                                      <p:cBhvr additive="base">
                                        <p:cTn id="20" dur="500" fill="hold"/>
                                        <p:tgtEl>
                                          <p:spTgt spid="48">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48">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48">
                                            <p:txEl>
                                              <p:pRg st="1" end="1"/>
                                            </p:txEl>
                                          </p:spTgt>
                                        </p:tgtEl>
                                        <p:attrNameLst>
                                          <p:attrName>style.visibility</p:attrName>
                                        </p:attrNameLst>
                                      </p:cBhvr>
                                      <p:to>
                                        <p:strVal val="visible"/>
                                      </p:to>
                                    </p:set>
                                    <p:animEffect transition="in" filter="barn(inVertical)">
                                      <p:cBhvr>
                                        <p:cTn id="25" dur="500"/>
                                        <p:tgtEl>
                                          <p:spTgt spid="48">
                                            <p:txEl>
                                              <p:pRg st="1" end="1"/>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48">
                                            <p:txEl>
                                              <p:pRg st="2" end="2"/>
                                            </p:txEl>
                                          </p:spTgt>
                                        </p:tgtEl>
                                        <p:attrNameLst>
                                          <p:attrName>style.visibility</p:attrName>
                                        </p:attrNameLst>
                                      </p:cBhvr>
                                      <p:to>
                                        <p:strVal val="visible"/>
                                      </p:to>
                                    </p:set>
                                    <p:animEffect transition="in" filter="barn(inVertical)">
                                      <p:cBhvr>
                                        <p:cTn id="29" dur="500"/>
                                        <p:tgtEl>
                                          <p:spTgt spid="48">
                                            <p:txEl>
                                              <p:pRg st="2" end="2"/>
                                            </p:txEl>
                                          </p:spTgt>
                                        </p:tgtEl>
                                      </p:cBhvr>
                                    </p:animEffect>
                                  </p:childTnLst>
                                </p:cTn>
                              </p:par>
                            </p:childTnLst>
                          </p:cTn>
                        </p:par>
                        <p:par>
                          <p:cTn id="30" fill="hold">
                            <p:stCondLst>
                              <p:cond delay="4500"/>
                            </p:stCondLst>
                            <p:childTnLst>
                              <p:par>
                                <p:cTn id="31" presetID="16" presetClass="entr" presetSubtype="21" fill="hold" nodeType="afterEffect">
                                  <p:stCondLst>
                                    <p:cond delay="0"/>
                                  </p:stCondLst>
                                  <p:childTnLst>
                                    <p:set>
                                      <p:cBhvr>
                                        <p:cTn id="32" dur="1" fill="hold">
                                          <p:stCondLst>
                                            <p:cond delay="0"/>
                                          </p:stCondLst>
                                        </p:cTn>
                                        <p:tgtEl>
                                          <p:spTgt spid="48">
                                            <p:txEl>
                                              <p:pRg st="3" end="3"/>
                                            </p:txEl>
                                          </p:spTgt>
                                        </p:tgtEl>
                                        <p:attrNameLst>
                                          <p:attrName>style.visibility</p:attrName>
                                        </p:attrNameLst>
                                      </p:cBhvr>
                                      <p:to>
                                        <p:strVal val="visible"/>
                                      </p:to>
                                    </p:set>
                                    <p:animEffect transition="in" filter="barn(inVertical)">
                                      <p:cBhvr>
                                        <p:cTn id="33" dur="500"/>
                                        <p:tgtEl>
                                          <p:spTgt spid="48">
                                            <p:txEl>
                                              <p:pRg st="3" end="3"/>
                                            </p:txEl>
                                          </p:spTgt>
                                        </p:tgtEl>
                                      </p:cBhvr>
                                    </p:animEffect>
                                  </p:childTnLst>
                                </p:cTn>
                              </p:par>
                            </p:childTnLst>
                          </p:cTn>
                        </p:par>
                        <p:par>
                          <p:cTn id="34" fill="hold">
                            <p:stCondLst>
                              <p:cond delay="5000"/>
                            </p:stCondLst>
                            <p:childTnLst>
                              <p:par>
                                <p:cTn id="35" presetID="16" presetClass="entr" presetSubtype="21" fill="hold" nodeType="afterEffect">
                                  <p:stCondLst>
                                    <p:cond delay="0"/>
                                  </p:stCondLst>
                                  <p:childTnLst>
                                    <p:set>
                                      <p:cBhvr>
                                        <p:cTn id="36" dur="1" fill="hold">
                                          <p:stCondLst>
                                            <p:cond delay="0"/>
                                          </p:stCondLst>
                                        </p:cTn>
                                        <p:tgtEl>
                                          <p:spTgt spid="48">
                                            <p:txEl>
                                              <p:pRg st="4" end="4"/>
                                            </p:txEl>
                                          </p:spTgt>
                                        </p:tgtEl>
                                        <p:attrNameLst>
                                          <p:attrName>style.visibility</p:attrName>
                                        </p:attrNameLst>
                                      </p:cBhvr>
                                      <p:to>
                                        <p:strVal val="visible"/>
                                      </p:to>
                                    </p:set>
                                    <p:animEffect transition="in" filter="barn(inVertical)">
                                      <p:cBhvr>
                                        <p:cTn id="37" dur="500"/>
                                        <p:tgtEl>
                                          <p:spTgt spid="48">
                                            <p:txEl>
                                              <p:pRg st="4" end="4"/>
                                            </p:txEl>
                                          </p:spTgt>
                                        </p:tgtEl>
                                      </p:cBhvr>
                                    </p:animEffect>
                                  </p:childTnLst>
                                </p:cTn>
                              </p:par>
                            </p:childTnLst>
                          </p:cTn>
                        </p:par>
                        <p:par>
                          <p:cTn id="38" fill="hold">
                            <p:stCondLst>
                              <p:cond delay="5500"/>
                            </p:stCondLst>
                            <p:childTnLst>
                              <p:par>
                                <p:cTn id="39" presetID="16" presetClass="entr" presetSubtype="21" fill="hold" nodeType="afterEffect">
                                  <p:stCondLst>
                                    <p:cond delay="0"/>
                                  </p:stCondLst>
                                  <p:childTnLst>
                                    <p:set>
                                      <p:cBhvr>
                                        <p:cTn id="40" dur="1" fill="hold">
                                          <p:stCondLst>
                                            <p:cond delay="0"/>
                                          </p:stCondLst>
                                        </p:cTn>
                                        <p:tgtEl>
                                          <p:spTgt spid="48">
                                            <p:txEl>
                                              <p:pRg st="5" end="5"/>
                                            </p:txEl>
                                          </p:spTgt>
                                        </p:tgtEl>
                                        <p:attrNameLst>
                                          <p:attrName>style.visibility</p:attrName>
                                        </p:attrNameLst>
                                      </p:cBhvr>
                                      <p:to>
                                        <p:strVal val="visible"/>
                                      </p:to>
                                    </p:set>
                                    <p:animEffect transition="in" filter="barn(inVertical)">
                                      <p:cBhvr>
                                        <p:cTn id="41" dur="500"/>
                                        <p:tgtEl>
                                          <p:spTgt spid="48">
                                            <p:txEl>
                                              <p:pRg st="5" end="5"/>
                                            </p:txEl>
                                          </p:spTgt>
                                        </p:tgtEl>
                                      </p:cBhvr>
                                    </p:animEffect>
                                  </p:childTnLst>
                                </p:cTn>
                              </p:par>
                            </p:childTnLst>
                          </p:cTn>
                        </p:par>
                        <p:par>
                          <p:cTn id="42" fill="hold">
                            <p:stCondLst>
                              <p:cond delay="6000"/>
                            </p:stCondLst>
                            <p:childTnLst>
                              <p:par>
                                <p:cTn id="43" presetID="53" presetClass="entr" presetSubtype="16" fill="hold" nodeType="afterEffect">
                                  <p:stCondLst>
                                    <p:cond delay="0"/>
                                  </p:stCondLst>
                                  <p:childTnLst>
                                    <p:set>
                                      <p:cBhvr>
                                        <p:cTn id="44" dur="1" fill="hold">
                                          <p:stCondLst>
                                            <p:cond delay="0"/>
                                          </p:stCondLst>
                                        </p:cTn>
                                        <p:tgtEl>
                                          <p:spTgt spid="4"/>
                                        </p:tgtEl>
                                        <p:attrNameLst>
                                          <p:attrName>style.visibility</p:attrName>
                                        </p:attrNameLst>
                                      </p:cBhvr>
                                      <p:to>
                                        <p:strVal val="visible"/>
                                      </p:to>
                                    </p:set>
                                    <p:anim calcmode="lin" valueType="num">
                                      <p:cBhvr>
                                        <p:cTn id="45" dur="500" fill="hold"/>
                                        <p:tgtEl>
                                          <p:spTgt spid="4"/>
                                        </p:tgtEl>
                                        <p:attrNameLst>
                                          <p:attrName>ppt_w</p:attrName>
                                        </p:attrNameLst>
                                      </p:cBhvr>
                                      <p:tavLst>
                                        <p:tav tm="0">
                                          <p:val>
                                            <p:fltVal val="0"/>
                                          </p:val>
                                        </p:tav>
                                        <p:tav tm="100000">
                                          <p:val>
                                            <p:strVal val="#ppt_w"/>
                                          </p:val>
                                        </p:tav>
                                      </p:tavLst>
                                    </p:anim>
                                    <p:anim calcmode="lin" valueType="num">
                                      <p:cBhvr>
                                        <p:cTn id="46" dur="500" fill="hold"/>
                                        <p:tgtEl>
                                          <p:spTgt spid="4"/>
                                        </p:tgtEl>
                                        <p:attrNameLst>
                                          <p:attrName>ppt_h</p:attrName>
                                        </p:attrNameLst>
                                      </p:cBhvr>
                                      <p:tavLst>
                                        <p:tav tm="0">
                                          <p:val>
                                            <p:fltVal val="0"/>
                                          </p:val>
                                        </p:tav>
                                        <p:tav tm="100000">
                                          <p:val>
                                            <p:strVal val="#ppt_h"/>
                                          </p:val>
                                        </p:tav>
                                      </p:tavLst>
                                    </p:anim>
                                    <p:animEffect transition="in" filter="fade">
                                      <p:cBhvr>
                                        <p:cTn id="47" dur="500"/>
                                        <p:tgtEl>
                                          <p:spTgt spid="4"/>
                                        </p:tgtEl>
                                      </p:cBhvr>
                                    </p:animEffect>
                                  </p:childTnLst>
                                </p:cTn>
                              </p:par>
                            </p:childTnLst>
                          </p:cTn>
                        </p:par>
                        <p:par>
                          <p:cTn id="48" fill="hold">
                            <p:stCondLst>
                              <p:cond delay="6500"/>
                            </p:stCondLst>
                            <p:childTnLst>
                              <p:par>
                                <p:cTn id="49" presetID="2" presetClass="entr" presetSubtype="8" fill="hold" nodeType="afterEffect">
                                  <p:stCondLst>
                                    <p:cond delay="0"/>
                                  </p:stCondLst>
                                  <p:childTnLst>
                                    <p:set>
                                      <p:cBhvr>
                                        <p:cTn id="50" dur="1" fill="hold">
                                          <p:stCondLst>
                                            <p:cond delay="0"/>
                                          </p:stCondLst>
                                        </p:cTn>
                                        <p:tgtEl>
                                          <p:spTgt spid="3"/>
                                        </p:tgtEl>
                                        <p:attrNameLst>
                                          <p:attrName>style.visibility</p:attrName>
                                        </p:attrNameLst>
                                      </p:cBhvr>
                                      <p:to>
                                        <p:strVal val="visible"/>
                                      </p:to>
                                    </p:set>
                                    <p:anim calcmode="lin" valueType="num">
                                      <p:cBhvr additive="base">
                                        <p:cTn id="51" dur="500" fill="hold"/>
                                        <p:tgtEl>
                                          <p:spTgt spid="3"/>
                                        </p:tgtEl>
                                        <p:attrNameLst>
                                          <p:attrName>ppt_x</p:attrName>
                                        </p:attrNameLst>
                                      </p:cBhvr>
                                      <p:tavLst>
                                        <p:tav tm="0">
                                          <p:val>
                                            <p:strVal val="0-#ppt_w/2"/>
                                          </p:val>
                                        </p:tav>
                                        <p:tav tm="100000">
                                          <p:val>
                                            <p:strVal val="#ppt_x"/>
                                          </p:val>
                                        </p:tav>
                                      </p:tavLst>
                                    </p:anim>
                                    <p:anim calcmode="lin" valueType="num">
                                      <p:cBhvr additive="base">
                                        <p:cTn id="52"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128872" y="393820"/>
            <a:ext cx="508571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6-2 </a:t>
            </a:r>
            <a:r>
              <a:rPr lang="zh-TW" altLang="en-US" sz="2400" b="1" dirty="0">
                <a:solidFill>
                  <a:srgbClr val="E06741"/>
                </a:solidFill>
              </a:rPr>
              <a:t>實務案例─消費金融</a:t>
            </a:r>
            <a:r>
              <a:rPr lang="en-US" altLang="zh-TW" sz="2400" b="1" dirty="0">
                <a:solidFill>
                  <a:srgbClr val="E06741"/>
                </a:solidFill>
              </a:rPr>
              <a:t>ABS</a:t>
            </a:r>
            <a:endParaRPr lang="zh-TW" altLang="en-US" sz="2400" b="1" dirty="0">
              <a:solidFill>
                <a:srgbClr val="E06741"/>
              </a:solidFill>
            </a:endParaRP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6" name="文字方塊 25">
            <a:extLst>
              <a:ext uri="{FF2B5EF4-FFF2-40B4-BE49-F238E27FC236}">
                <a16:creationId xmlns:a16="http://schemas.microsoft.com/office/drawing/2014/main" id="{4395D4FE-2FC0-4BD2-9BD3-55FB3C9BD0BF}"/>
              </a:ext>
            </a:extLst>
          </p:cNvPr>
          <p:cNvSpPr txBox="1"/>
          <p:nvPr/>
        </p:nvSpPr>
        <p:spPr>
          <a:xfrm>
            <a:off x="5798296"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案例區塊鏈應用</a:t>
            </a:r>
          </a:p>
        </p:txBody>
      </p:sp>
      <p:sp>
        <p:nvSpPr>
          <p:cNvPr id="48" name="文字方塊 47">
            <a:extLst>
              <a:ext uri="{FF2B5EF4-FFF2-40B4-BE49-F238E27FC236}">
                <a16:creationId xmlns:a16="http://schemas.microsoft.com/office/drawing/2014/main" id="{86DEFDDE-4381-4267-8E1E-1C7ACE9AF7B6}"/>
              </a:ext>
            </a:extLst>
          </p:cNvPr>
          <p:cNvSpPr txBox="1"/>
          <p:nvPr/>
        </p:nvSpPr>
        <p:spPr>
          <a:xfrm>
            <a:off x="1558751" y="1057217"/>
            <a:ext cx="9900113" cy="1553630"/>
          </a:xfrm>
          <a:prstGeom prst="rect">
            <a:avLst/>
          </a:prstGeom>
          <a:noFill/>
        </p:spPr>
        <p:txBody>
          <a:bodyPr wrap="square" rtlCol="0">
            <a:spAutoFit/>
          </a:bodyPr>
          <a:lstStyle/>
          <a:p>
            <a:pPr marL="342900" indent="-342900">
              <a:lnSpc>
                <a:spcPct val="150000"/>
              </a:lnSpc>
              <a:buBlip>
                <a:blip r:embed="rId3"/>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一般借貸之資產證明文件的申請過程費時費力，還需額外支付相關作業費用</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Font typeface="微軟正黑體" panose="020B0604030504040204" pitchFamily="34" charset="-120"/>
              <a:buChar char="→"/>
            </a:pPr>
            <a:r>
              <a:rPr lang="zh-TW" altLang="en-US" sz="2200" b="1" dirty="0">
                <a:solidFill>
                  <a:srgbClr val="54667E"/>
                </a:solidFill>
                <a:latin typeface="微軟正黑體" panose="020B0604030504040204" pitchFamily="34" charset="-120"/>
                <a:ea typeface="微軟正黑體" panose="020B0604030504040204" pitchFamily="34" charset="-120"/>
              </a:rPr>
              <a:t>融資</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逐漸盛行於金融市場，過程較簡易，以往借貸直接向銀行提出申請，融資則是向證券公司提出申請</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grpSp>
        <p:nvGrpSpPr>
          <p:cNvPr id="10" name="群組 9">
            <a:extLst>
              <a:ext uri="{FF2B5EF4-FFF2-40B4-BE49-F238E27FC236}">
                <a16:creationId xmlns:a16="http://schemas.microsoft.com/office/drawing/2014/main" id="{3ECEE633-FB94-4A25-BD49-B0A694B35022}"/>
              </a:ext>
            </a:extLst>
          </p:cNvPr>
          <p:cNvGrpSpPr/>
          <p:nvPr/>
        </p:nvGrpSpPr>
        <p:grpSpPr>
          <a:xfrm>
            <a:off x="2399166" y="2633847"/>
            <a:ext cx="7768540" cy="3710082"/>
            <a:chOff x="-655557" y="-197549"/>
            <a:chExt cx="12575990" cy="6006014"/>
          </a:xfrm>
        </p:grpSpPr>
        <p:grpSp>
          <p:nvGrpSpPr>
            <p:cNvPr id="11" name="群組 10">
              <a:extLst>
                <a:ext uri="{FF2B5EF4-FFF2-40B4-BE49-F238E27FC236}">
                  <a16:creationId xmlns:a16="http://schemas.microsoft.com/office/drawing/2014/main" id="{FC61F210-089E-4FCA-8FFE-EC08FA45B3C3}"/>
                </a:ext>
              </a:extLst>
            </p:cNvPr>
            <p:cNvGrpSpPr/>
            <p:nvPr/>
          </p:nvGrpSpPr>
          <p:grpSpPr>
            <a:xfrm>
              <a:off x="5144537" y="4277222"/>
              <a:ext cx="2172601" cy="1531243"/>
              <a:chOff x="5980859" y="2415895"/>
              <a:chExt cx="2172601" cy="1531243"/>
            </a:xfrm>
          </p:grpSpPr>
          <p:pic>
            <p:nvPicPr>
              <p:cNvPr id="25" name="圖片 24">
                <a:extLst>
                  <a:ext uri="{FF2B5EF4-FFF2-40B4-BE49-F238E27FC236}">
                    <a16:creationId xmlns:a16="http://schemas.microsoft.com/office/drawing/2014/main" id="{3C3FACC9-0E54-411D-AF7A-AD78FABC2B1D}"/>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5980859" y="2415895"/>
                <a:ext cx="2172601" cy="1531243"/>
              </a:xfrm>
              <a:prstGeom prst="rect">
                <a:avLst/>
              </a:prstGeom>
            </p:spPr>
          </p:pic>
          <p:sp>
            <p:nvSpPr>
              <p:cNvPr id="27" name="文字方塊 26">
                <a:extLst>
                  <a:ext uri="{FF2B5EF4-FFF2-40B4-BE49-F238E27FC236}">
                    <a16:creationId xmlns:a16="http://schemas.microsoft.com/office/drawing/2014/main" id="{8E8F70D9-AA03-4827-B4FB-39A33C316AB7}"/>
                  </a:ext>
                </a:extLst>
              </p:cNvPr>
              <p:cNvSpPr txBox="1"/>
              <p:nvPr/>
            </p:nvSpPr>
            <p:spPr>
              <a:xfrm>
                <a:off x="6672065" y="3140969"/>
                <a:ext cx="1080120" cy="548064"/>
              </a:xfrm>
              <a:prstGeom prst="rect">
                <a:avLst/>
              </a:prstGeom>
              <a:noFill/>
            </p:spPr>
            <p:txBody>
              <a:bodyPr wrap="square" rtlCol="0">
                <a:spAutoFit/>
              </a:bodyPr>
              <a:lstStyle/>
              <a:p>
                <a:r>
                  <a:rPr lang="zh-TW" altLang="en-US" sz="1600" b="1" dirty="0">
                    <a:solidFill>
                      <a:srgbClr val="C00000"/>
                    </a:solidFill>
                    <a:latin typeface="微軟正黑體" panose="020B0604030504040204" pitchFamily="34" charset="-120"/>
                    <a:ea typeface="微軟正黑體" panose="020B0604030504040204" pitchFamily="34" charset="-120"/>
                  </a:rPr>
                  <a:t>股票</a:t>
                </a:r>
              </a:p>
            </p:txBody>
          </p:sp>
        </p:grpSp>
        <p:pic>
          <p:nvPicPr>
            <p:cNvPr id="12" name="圖片 11">
              <a:extLst>
                <a:ext uri="{FF2B5EF4-FFF2-40B4-BE49-F238E27FC236}">
                  <a16:creationId xmlns:a16="http://schemas.microsoft.com/office/drawing/2014/main" id="{5F8E8C7D-FBEC-4809-A738-5F307C2E9B00}"/>
                </a:ext>
              </a:extLst>
            </p:cNvPr>
            <p:cNvPicPr>
              <a:picLocks noChangeAspect="1"/>
            </p:cNvPicPr>
            <p:nvPr/>
          </p:nvPicPr>
          <p:blipFill>
            <a:blip r:embed="rId5"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5177633" y="504025"/>
              <a:ext cx="1658008" cy="1661837"/>
            </a:xfrm>
            <a:prstGeom prst="rect">
              <a:avLst/>
            </a:prstGeom>
          </p:spPr>
        </p:pic>
        <p:sp>
          <p:nvSpPr>
            <p:cNvPr id="13" name="文字方塊 12">
              <a:extLst>
                <a:ext uri="{FF2B5EF4-FFF2-40B4-BE49-F238E27FC236}">
                  <a16:creationId xmlns:a16="http://schemas.microsoft.com/office/drawing/2014/main" id="{1EBBCA02-3464-4166-89B6-49FA13F24669}"/>
                </a:ext>
              </a:extLst>
            </p:cNvPr>
            <p:cNvSpPr txBox="1"/>
            <p:nvPr/>
          </p:nvSpPr>
          <p:spPr>
            <a:xfrm>
              <a:off x="5483900" y="-197549"/>
              <a:ext cx="1234850" cy="597888"/>
            </a:xfrm>
            <a:prstGeom prst="rect">
              <a:avLst/>
            </a:prstGeom>
            <a:noFill/>
          </p:spPr>
          <p:txBody>
            <a:bodyPr wrap="square" rtlCol="0">
              <a:spAutoFit/>
            </a:bodyPr>
            <a:lstStyle/>
            <a:p>
              <a:r>
                <a:rPr lang="zh-TW" altLang="en-US" b="1" dirty="0">
                  <a:solidFill>
                    <a:srgbClr val="C00000"/>
                  </a:solidFill>
                  <a:latin typeface="微軟正黑體" panose="020B0604030504040204" pitchFamily="34" charset="-120"/>
                  <a:ea typeface="微軟正黑體" panose="020B0604030504040204" pitchFamily="34" charset="-120"/>
                </a:rPr>
                <a:t>融資</a:t>
              </a:r>
            </a:p>
          </p:txBody>
        </p:sp>
        <p:sp>
          <p:nvSpPr>
            <p:cNvPr id="14" name="文字方塊 13">
              <a:extLst>
                <a:ext uri="{FF2B5EF4-FFF2-40B4-BE49-F238E27FC236}">
                  <a16:creationId xmlns:a16="http://schemas.microsoft.com/office/drawing/2014/main" id="{889BA522-4701-443B-9454-355A8FCE34C1}"/>
                </a:ext>
              </a:extLst>
            </p:cNvPr>
            <p:cNvSpPr txBox="1"/>
            <p:nvPr/>
          </p:nvSpPr>
          <p:spPr>
            <a:xfrm>
              <a:off x="4240345" y="2253082"/>
              <a:ext cx="3721964" cy="1444895"/>
            </a:xfrm>
            <a:prstGeom prst="rect">
              <a:avLst/>
            </a:prstGeom>
            <a:noFill/>
          </p:spPr>
          <p:txBody>
            <a:bodyPr wrap="square" rtlCol="0">
              <a:spAutoFit/>
            </a:bodyPr>
            <a:lstStyle/>
            <a:p>
              <a:pPr algn="ctr"/>
              <a:r>
                <a:rPr lang="zh-TW" altLang="en-US" b="1" dirty="0">
                  <a:latin typeface="微軟正黑體" panose="020B0604030504040204" pitchFamily="34" charset="-120"/>
                  <a:ea typeface="微軟正黑體" panose="020B0604030504040204" pitchFamily="34" charset="-120"/>
                </a:rPr>
                <a:t>向券商借錢來買股票</a:t>
              </a:r>
              <a:endParaRPr lang="en-US" altLang="zh-TW" b="1" dirty="0">
                <a:latin typeface="微軟正黑體" panose="020B0604030504040204" pitchFamily="34" charset="-120"/>
                <a:ea typeface="微軟正黑體" panose="020B0604030504040204" pitchFamily="34" charset="-120"/>
              </a:endParaRPr>
            </a:p>
            <a:p>
              <a:pPr algn="ctr"/>
              <a:r>
                <a:rPr lang="en-US" altLang="zh-TW" b="1" dirty="0">
                  <a:latin typeface="微軟正黑體" panose="020B0604030504040204" pitchFamily="34" charset="-120"/>
                  <a:ea typeface="微軟正黑體" panose="020B0604030504040204" pitchFamily="34" charset="-120"/>
                </a:rPr>
                <a:t>(</a:t>
              </a:r>
              <a:r>
                <a:rPr lang="zh-TW" altLang="en-US" b="1" dirty="0">
                  <a:latin typeface="微軟正黑體" panose="020B0604030504040204" pitchFamily="34" charset="-120"/>
                  <a:ea typeface="微軟正黑體" panose="020B0604030504040204" pitchFamily="34" charset="-120"/>
                </a:rPr>
                <a:t>須自付</a:t>
              </a:r>
              <a:r>
                <a:rPr lang="en-US" altLang="zh-TW" b="1" dirty="0">
                  <a:latin typeface="微軟正黑體" panose="020B0604030504040204" pitchFamily="34" charset="-120"/>
                  <a:ea typeface="微軟正黑體" panose="020B0604030504040204" pitchFamily="34" charset="-120"/>
                </a:rPr>
                <a:t>40%)</a:t>
              </a:r>
            </a:p>
            <a:p>
              <a:pPr algn="ctr"/>
              <a:endParaRPr lang="zh-TW" altLang="en-US" sz="1600" b="1" dirty="0">
                <a:solidFill>
                  <a:srgbClr val="C00000"/>
                </a:solidFill>
                <a:latin typeface="微軟正黑體" panose="020B0604030504040204" pitchFamily="34" charset="-120"/>
                <a:ea typeface="微軟正黑體" panose="020B0604030504040204" pitchFamily="34" charset="-120"/>
              </a:endParaRPr>
            </a:p>
          </p:txBody>
        </p:sp>
        <p:grpSp>
          <p:nvGrpSpPr>
            <p:cNvPr id="15" name="群組 14">
              <a:extLst>
                <a:ext uri="{FF2B5EF4-FFF2-40B4-BE49-F238E27FC236}">
                  <a16:creationId xmlns:a16="http://schemas.microsoft.com/office/drawing/2014/main" id="{A3C34551-C4A0-4A79-A413-459ACA624651}"/>
                </a:ext>
              </a:extLst>
            </p:cNvPr>
            <p:cNvGrpSpPr/>
            <p:nvPr/>
          </p:nvGrpSpPr>
          <p:grpSpPr>
            <a:xfrm>
              <a:off x="10147206" y="2564903"/>
              <a:ext cx="1773227" cy="2254074"/>
              <a:chOff x="10147206" y="2564903"/>
              <a:chExt cx="1773227" cy="2254074"/>
            </a:xfrm>
          </p:grpSpPr>
          <p:pic>
            <p:nvPicPr>
              <p:cNvPr id="23" name="圖片 22">
                <a:extLst>
                  <a:ext uri="{FF2B5EF4-FFF2-40B4-BE49-F238E27FC236}">
                    <a16:creationId xmlns:a16="http://schemas.microsoft.com/office/drawing/2014/main" id="{AA5EDC96-6059-4BB4-8734-1EAF01E0D919}"/>
                  </a:ext>
                </a:extLst>
              </p:cNvPr>
              <p:cNvPicPr>
                <a:picLocks noChangeAspect="1"/>
              </p:cNvPicPr>
              <p:nvPr/>
            </p:nvPicPr>
            <p:blipFill>
              <a:blip r:embed="rId6"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0147206" y="2564903"/>
                <a:ext cx="1656185" cy="1656184"/>
              </a:xfrm>
              <a:prstGeom prst="rect">
                <a:avLst/>
              </a:prstGeom>
            </p:spPr>
          </p:pic>
          <p:sp>
            <p:nvSpPr>
              <p:cNvPr id="24" name="文字方塊 23">
                <a:extLst>
                  <a:ext uri="{FF2B5EF4-FFF2-40B4-BE49-F238E27FC236}">
                    <a16:creationId xmlns:a16="http://schemas.microsoft.com/office/drawing/2014/main" id="{7E9C1511-DC6D-4B0B-8055-FAFAF96720C5}"/>
                  </a:ext>
                </a:extLst>
              </p:cNvPr>
              <p:cNvSpPr txBox="1"/>
              <p:nvPr/>
            </p:nvSpPr>
            <p:spPr>
              <a:xfrm>
                <a:off x="10285184" y="4221089"/>
                <a:ext cx="1635249" cy="597888"/>
              </a:xfrm>
              <a:prstGeom prst="rect">
                <a:avLst/>
              </a:prstGeom>
              <a:noFill/>
            </p:spPr>
            <p:txBody>
              <a:bodyPr wrap="square" rtlCol="0">
                <a:spAutoFit/>
              </a:bodyPr>
              <a:lstStyle/>
              <a:p>
                <a:r>
                  <a:rPr lang="zh-TW" altLang="en-US" b="1" dirty="0">
                    <a:solidFill>
                      <a:srgbClr val="C00000"/>
                    </a:solidFill>
                    <a:latin typeface="微軟正黑體" panose="020B0604030504040204" pitchFamily="34" charset="-120"/>
                    <a:ea typeface="微軟正黑體" panose="020B0604030504040204" pitchFamily="34" charset="-120"/>
                  </a:rPr>
                  <a:t>證券商</a:t>
                </a:r>
              </a:p>
            </p:txBody>
          </p:sp>
        </p:grpSp>
        <p:pic>
          <p:nvPicPr>
            <p:cNvPr id="16" name="圖片 15">
              <a:extLst>
                <a:ext uri="{FF2B5EF4-FFF2-40B4-BE49-F238E27FC236}">
                  <a16:creationId xmlns:a16="http://schemas.microsoft.com/office/drawing/2014/main" id="{ED84D985-A10E-4B1B-8FA5-FEB2601CEC7D}"/>
                </a:ext>
              </a:extLst>
            </p:cNvPr>
            <p:cNvPicPr>
              <a:picLocks noChangeAspect="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42616" y="2576851"/>
              <a:ext cx="2153623" cy="1615219"/>
            </a:xfrm>
            <a:prstGeom prst="rect">
              <a:avLst/>
            </a:prstGeom>
          </p:spPr>
        </p:pic>
        <p:pic>
          <p:nvPicPr>
            <p:cNvPr id="17" name="圖片 16">
              <a:extLst>
                <a:ext uri="{FF2B5EF4-FFF2-40B4-BE49-F238E27FC236}">
                  <a16:creationId xmlns:a16="http://schemas.microsoft.com/office/drawing/2014/main" id="{3110147B-E663-4983-84CD-EC61F84E311F}"/>
                </a:ext>
              </a:extLst>
            </p:cNvPr>
            <p:cNvPicPr>
              <a:picLocks noChangeAspect="1"/>
            </p:cNvPicPr>
            <p:nvPr/>
          </p:nvPicPr>
          <p:blipFill>
            <a:blip r:embed="rId8">
              <a:clrChange>
                <a:clrFrom>
                  <a:srgbClr val="FFFFFF"/>
                </a:clrFrom>
                <a:clrTo>
                  <a:srgbClr val="FFFFFF">
                    <a:alpha val="0"/>
                  </a:srgbClr>
                </a:clrTo>
              </a:clrChange>
            </a:blip>
            <a:stretch>
              <a:fillRect/>
            </a:stretch>
          </p:blipFill>
          <p:spPr>
            <a:xfrm>
              <a:off x="-655557" y="2209002"/>
              <a:ext cx="1336650" cy="2012085"/>
            </a:xfrm>
            <a:prstGeom prst="rect">
              <a:avLst/>
            </a:prstGeom>
          </p:spPr>
        </p:pic>
        <p:sp>
          <p:nvSpPr>
            <p:cNvPr id="18" name="文字方塊 17">
              <a:extLst>
                <a:ext uri="{FF2B5EF4-FFF2-40B4-BE49-F238E27FC236}">
                  <a16:creationId xmlns:a16="http://schemas.microsoft.com/office/drawing/2014/main" id="{79556D26-51B0-43B7-BB97-24888186B043}"/>
                </a:ext>
              </a:extLst>
            </p:cNvPr>
            <p:cNvSpPr txBox="1"/>
            <p:nvPr/>
          </p:nvSpPr>
          <p:spPr>
            <a:xfrm>
              <a:off x="182807" y="4336799"/>
              <a:ext cx="1955233" cy="597888"/>
            </a:xfrm>
            <a:prstGeom prst="rect">
              <a:avLst/>
            </a:prstGeom>
            <a:noFill/>
          </p:spPr>
          <p:txBody>
            <a:bodyPr wrap="square" rtlCol="0">
              <a:spAutoFit/>
            </a:bodyPr>
            <a:lstStyle/>
            <a:p>
              <a:r>
                <a:rPr lang="zh-TW" altLang="en-US" b="1" dirty="0">
                  <a:solidFill>
                    <a:srgbClr val="C00000"/>
                  </a:solidFill>
                  <a:latin typeface="微軟正黑體" panose="020B0604030504040204" pitchFamily="34" charset="-120"/>
                  <a:ea typeface="微軟正黑體" panose="020B0604030504040204" pitchFamily="34" charset="-120"/>
                </a:rPr>
                <a:t>投資顧客</a:t>
              </a:r>
            </a:p>
          </p:txBody>
        </p:sp>
        <p:sp>
          <p:nvSpPr>
            <p:cNvPr id="19" name="弧形 18">
              <a:extLst>
                <a:ext uri="{FF2B5EF4-FFF2-40B4-BE49-F238E27FC236}">
                  <a16:creationId xmlns:a16="http://schemas.microsoft.com/office/drawing/2014/main" id="{80AFBCC0-DBE9-44CE-A3E0-7ABFFF716D42}"/>
                </a:ext>
              </a:extLst>
            </p:cNvPr>
            <p:cNvSpPr/>
            <p:nvPr/>
          </p:nvSpPr>
          <p:spPr>
            <a:xfrm rot="17985639">
              <a:off x="2467232" y="3098107"/>
              <a:ext cx="2227642" cy="2251542"/>
            </a:xfrm>
            <a:prstGeom prst="arc">
              <a:avLst>
                <a:gd name="adj1" fmla="val 17197087"/>
                <a:gd name="adj2" fmla="val 3731346"/>
              </a:avLst>
            </a:prstGeom>
            <a:ln w="38100">
              <a:prstDash val="sysDot"/>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200">
                <a:latin typeface="微軟正黑體" panose="020B0604030504040204" pitchFamily="34" charset="-120"/>
                <a:ea typeface="微軟正黑體" panose="020B0604030504040204" pitchFamily="34" charset="-120"/>
              </a:endParaRPr>
            </a:p>
          </p:txBody>
        </p:sp>
        <p:sp>
          <p:nvSpPr>
            <p:cNvPr id="20" name="弧形 19">
              <a:extLst>
                <a:ext uri="{FF2B5EF4-FFF2-40B4-BE49-F238E27FC236}">
                  <a16:creationId xmlns:a16="http://schemas.microsoft.com/office/drawing/2014/main" id="{4E0CE1D4-2AC1-4805-AAEC-0C92B586F608}"/>
                </a:ext>
              </a:extLst>
            </p:cNvPr>
            <p:cNvSpPr/>
            <p:nvPr/>
          </p:nvSpPr>
          <p:spPr>
            <a:xfrm rot="3932732" flipH="1">
              <a:off x="7587803" y="2984821"/>
              <a:ext cx="2453718" cy="2472535"/>
            </a:xfrm>
            <a:prstGeom prst="arc">
              <a:avLst>
                <a:gd name="adj1" fmla="val 17197087"/>
                <a:gd name="adj2" fmla="val 3856224"/>
              </a:avLst>
            </a:prstGeom>
            <a:ln w="38100">
              <a:prstDash val="sysDot"/>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200">
                <a:latin typeface="微軟正黑體" panose="020B0604030504040204" pitchFamily="34" charset="-120"/>
                <a:ea typeface="微軟正黑體" panose="020B0604030504040204" pitchFamily="34" charset="-120"/>
              </a:endParaRPr>
            </a:p>
          </p:txBody>
        </p:sp>
        <p:sp>
          <p:nvSpPr>
            <p:cNvPr id="21" name="文字方塊 20">
              <a:extLst>
                <a:ext uri="{FF2B5EF4-FFF2-40B4-BE49-F238E27FC236}">
                  <a16:creationId xmlns:a16="http://schemas.microsoft.com/office/drawing/2014/main" id="{4C3136D9-050F-4F27-AE45-6EC37B435EF7}"/>
                </a:ext>
              </a:extLst>
            </p:cNvPr>
            <p:cNvSpPr txBox="1"/>
            <p:nvPr/>
          </p:nvSpPr>
          <p:spPr>
            <a:xfrm>
              <a:off x="3259700" y="3258548"/>
              <a:ext cx="992236" cy="1046304"/>
            </a:xfrm>
            <a:prstGeom prst="rect">
              <a:avLst/>
            </a:prstGeom>
            <a:noFill/>
          </p:spPr>
          <p:txBody>
            <a:bodyPr wrap="square" rtlCol="0">
              <a:spAutoFit/>
            </a:bodyPr>
            <a:lstStyle/>
            <a:p>
              <a:r>
                <a:rPr lang="en-US" altLang="zh-TW" b="1" dirty="0">
                  <a:solidFill>
                    <a:srgbClr val="C00000"/>
                  </a:solidFill>
                  <a:latin typeface="微軟正黑體" panose="020B0604030504040204" pitchFamily="34" charset="-120"/>
                  <a:ea typeface="微軟正黑體" panose="020B0604030504040204" pitchFamily="34" charset="-120"/>
                </a:rPr>
                <a:t>40%</a:t>
              </a:r>
              <a:endParaRPr lang="zh-TW" altLang="en-US" b="1" dirty="0">
                <a:solidFill>
                  <a:srgbClr val="C00000"/>
                </a:solidFill>
                <a:latin typeface="微軟正黑體" panose="020B0604030504040204" pitchFamily="34" charset="-120"/>
                <a:ea typeface="微軟正黑體" panose="020B0604030504040204" pitchFamily="34" charset="-120"/>
              </a:endParaRPr>
            </a:p>
          </p:txBody>
        </p:sp>
        <p:sp>
          <p:nvSpPr>
            <p:cNvPr id="22" name="文字方塊 21">
              <a:extLst>
                <a:ext uri="{FF2B5EF4-FFF2-40B4-BE49-F238E27FC236}">
                  <a16:creationId xmlns:a16="http://schemas.microsoft.com/office/drawing/2014/main" id="{D01B81E5-6E4B-460A-A331-74CF4A110D80}"/>
                </a:ext>
              </a:extLst>
            </p:cNvPr>
            <p:cNvSpPr txBox="1"/>
            <p:nvPr/>
          </p:nvSpPr>
          <p:spPr>
            <a:xfrm>
              <a:off x="8371759" y="3258548"/>
              <a:ext cx="992236" cy="1046304"/>
            </a:xfrm>
            <a:prstGeom prst="rect">
              <a:avLst/>
            </a:prstGeom>
            <a:noFill/>
          </p:spPr>
          <p:txBody>
            <a:bodyPr wrap="square" rtlCol="0">
              <a:spAutoFit/>
            </a:bodyPr>
            <a:lstStyle/>
            <a:p>
              <a:r>
                <a:rPr lang="en-US" altLang="zh-TW" b="1" dirty="0">
                  <a:solidFill>
                    <a:srgbClr val="C00000"/>
                  </a:solidFill>
                  <a:latin typeface="微軟正黑體" panose="020B0604030504040204" pitchFamily="34" charset="-120"/>
                  <a:ea typeface="微軟正黑體" panose="020B0604030504040204" pitchFamily="34" charset="-120"/>
                </a:rPr>
                <a:t>60%</a:t>
              </a:r>
              <a:endParaRPr lang="zh-TW" altLang="en-US" b="1" dirty="0">
                <a:solidFill>
                  <a:srgbClr val="C00000"/>
                </a:solidFill>
                <a:latin typeface="微軟正黑體" panose="020B0604030504040204" pitchFamily="34" charset="-120"/>
                <a:ea typeface="微軟正黑體" panose="020B0604030504040204" pitchFamily="34" charset="-120"/>
              </a:endParaRPr>
            </a:p>
          </p:txBody>
        </p:sp>
      </p:grpSp>
      <p:sp>
        <p:nvSpPr>
          <p:cNvPr id="28" name="文字方塊 27">
            <a:extLst>
              <a:ext uri="{FF2B5EF4-FFF2-40B4-BE49-F238E27FC236}">
                <a16:creationId xmlns:a16="http://schemas.microsoft.com/office/drawing/2014/main" id="{62E07417-AD6C-479D-85B6-B41A84F644F7}"/>
              </a:ext>
            </a:extLst>
          </p:cNvPr>
          <p:cNvSpPr txBox="1"/>
          <p:nvPr/>
        </p:nvSpPr>
        <p:spPr>
          <a:xfrm>
            <a:off x="7500083" y="6270275"/>
            <a:ext cx="3452173" cy="456920"/>
          </a:xfrm>
          <a:prstGeom prst="rect">
            <a:avLst/>
          </a:prstGeom>
          <a:noFill/>
        </p:spPr>
        <p:txBody>
          <a:bodyPr wrap="square" rtlCol="0">
            <a:spAutoFit/>
          </a:bodyPr>
          <a:lstStyle/>
          <a:p>
            <a:pPr marL="342900" indent="-342900">
              <a:lnSpc>
                <a:spcPct val="150000"/>
              </a:lnSpc>
              <a:buFont typeface="微軟正黑體" panose="020B0604030504040204" pitchFamily="34" charset="-120"/>
              <a:buChar char="▲"/>
            </a:pP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傳統融資交易作業流程</a:t>
            </a:r>
            <a:endPar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29" name="直接连接符 33">
            <a:extLst>
              <a:ext uri="{FF2B5EF4-FFF2-40B4-BE49-F238E27FC236}">
                <a16:creationId xmlns:a16="http://schemas.microsoft.com/office/drawing/2014/main" id="{A1343EDA-6F13-44AC-BF03-4ED1780C1060}"/>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1613866"/>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barn(inVertical)">
                                      <p:cBhvr>
                                        <p:cTn id="11" dur="500"/>
                                        <p:tgtEl>
                                          <p:spTgt spid="26"/>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cBhvr additive="base">
                                        <p:cTn id="15" dur="500" fill="hold"/>
                                        <p:tgtEl>
                                          <p:spTgt spid="29"/>
                                        </p:tgtEl>
                                        <p:attrNameLst>
                                          <p:attrName>ppt_x</p:attrName>
                                        </p:attrNameLst>
                                      </p:cBhvr>
                                      <p:tavLst>
                                        <p:tav tm="0">
                                          <p:val>
                                            <p:strVal val="0-#ppt_w/2"/>
                                          </p:val>
                                        </p:tav>
                                        <p:tav tm="100000">
                                          <p:val>
                                            <p:strVal val="#ppt_x"/>
                                          </p:val>
                                        </p:tav>
                                      </p:tavLst>
                                    </p:anim>
                                    <p:anim calcmode="lin" valueType="num">
                                      <p:cBhvr additive="base">
                                        <p:cTn id="16" dur="500" fill="hold"/>
                                        <p:tgtEl>
                                          <p:spTgt spid="29"/>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barn(inVertical)">
                                      <p:cBhvr>
                                        <p:cTn id="20" dur="500"/>
                                        <p:tgtEl>
                                          <p:spTgt spid="48"/>
                                        </p:tgtEl>
                                      </p:cBhvr>
                                    </p:animEffect>
                                  </p:childTnLst>
                                </p:cTn>
                              </p:par>
                            </p:childTnLst>
                          </p:cTn>
                        </p:par>
                        <p:par>
                          <p:cTn id="21" fill="hold">
                            <p:stCondLst>
                              <p:cond delay="3500"/>
                            </p:stCondLst>
                            <p:childTnLst>
                              <p:par>
                                <p:cTn id="22" presetID="53" presetClass="entr" presetSubtype="16"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p:cTn id="24" dur="500" fill="hold"/>
                                        <p:tgtEl>
                                          <p:spTgt spid="10"/>
                                        </p:tgtEl>
                                        <p:attrNameLst>
                                          <p:attrName>ppt_w</p:attrName>
                                        </p:attrNameLst>
                                      </p:cBhvr>
                                      <p:tavLst>
                                        <p:tav tm="0">
                                          <p:val>
                                            <p:fltVal val="0"/>
                                          </p:val>
                                        </p:tav>
                                        <p:tav tm="100000">
                                          <p:val>
                                            <p:strVal val="#ppt_w"/>
                                          </p:val>
                                        </p:tav>
                                      </p:tavLst>
                                    </p:anim>
                                    <p:anim calcmode="lin" valueType="num">
                                      <p:cBhvr>
                                        <p:cTn id="25" dur="500" fill="hold"/>
                                        <p:tgtEl>
                                          <p:spTgt spid="10"/>
                                        </p:tgtEl>
                                        <p:attrNameLst>
                                          <p:attrName>ppt_h</p:attrName>
                                        </p:attrNameLst>
                                      </p:cBhvr>
                                      <p:tavLst>
                                        <p:tav tm="0">
                                          <p:val>
                                            <p:fltVal val="0"/>
                                          </p:val>
                                        </p:tav>
                                        <p:tav tm="100000">
                                          <p:val>
                                            <p:strVal val="#ppt_h"/>
                                          </p:val>
                                        </p:tav>
                                      </p:tavLst>
                                    </p:anim>
                                    <p:animEffect transition="in" filter="fade">
                                      <p:cBhvr>
                                        <p:cTn id="26" dur="500"/>
                                        <p:tgtEl>
                                          <p:spTgt spid="10"/>
                                        </p:tgtEl>
                                      </p:cBhvr>
                                    </p:animEffect>
                                  </p:childTnLst>
                                </p:cTn>
                              </p:par>
                            </p:childTnLst>
                          </p:cTn>
                        </p:par>
                        <p:par>
                          <p:cTn id="27" fill="hold">
                            <p:stCondLst>
                              <p:cond delay="4000"/>
                            </p:stCondLst>
                            <p:childTnLst>
                              <p:par>
                                <p:cTn id="28" presetID="2" presetClass="entr" presetSubtype="4" fill="hold" grpId="0" nodeType="afterEffect">
                                  <p:stCondLst>
                                    <p:cond delay="0"/>
                                  </p:stCondLst>
                                  <p:childTnLst>
                                    <p:set>
                                      <p:cBhvr>
                                        <p:cTn id="29" dur="1" fill="hold">
                                          <p:stCondLst>
                                            <p:cond delay="0"/>
                                          </p:stCondLst>
                                        </p:cTn>
                                        <p:tgtEl>
                                          <p:spTgt spid="28"/>
                                        </p:tgtEl>
                                        <p:attrNameLst>
                                          <p:attrName>style.visibility</p:attrName>
                                        </p:attrNameLst>
                                      </p:cBhvr>
                                      <p:to>
                                        <p:strVal val="visible"/>
                                      </p:to>
                                    </p:set>
                                    <p:anim calcmode="lin" valueType="num">
                                      <p:cBhvr additive="base">
                                        <p:cTn id="30" dur="500" fill="hold"/>
                                        <p:tgtEl>
                                          <p:spTgt spid="28"/>
                                        </p:tgtEl>
                                        <p:attrNameLst>
                                          <p:attrName>ppt_x</p:attrName>
                                        </p:attrNameLst>
                                      </p:cBhvr>
                                      <p:tavLst>
                                        <p:tav tm="0">
                                          <p:val>
                                            <p:strVal val="#ppt_x"/>
                                          </p:val>
                                        </p:tav>
                                        <p:tav tm="100000">
                                          <p:val>
                                            <p:strVal val="#ppt_x"/>
                                          </p:val>
                                        </p:tav>
                                      </p:tavLst>
                                    </p:anim>
                                    <p:anim calcmode="lin" valueType="num">
                                      <p:cBhvr additive="base">
                                        <p:cTn id="31"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6" grpId="0"/>
      <p:bldP spid="48" grpId="0"/>
      <p:bldP spid="2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128872" y="393820"/>
            <a:ext cx="508571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6-2 </a:t>
            </a:r>
            <a:r>
              <a:rPr lang="zh-TW" altLang="en-US" sz="2400" b="1" dirty="0">
                <a:solidFill>
                  <a:srgbClr val="E06741"/>
                </a:solidFill>
              </a:rPr>
              <a:t>實務案例─消費金融</a:t>
            </a:r>
            <a:r>
              <a:rPr lang="en-US" altLang="zh-TW" sz="2400" b="1" dirty="0">
                <a:solidFill>
                  <a:srgbClr val="E06741"/>
                </a:solidFill>
              </a:rPr>
              <a:t>ABS</a:t>
            </a:r>
            <a:endParaRPr lang="zh-TW" altLang="en-US" sz="2400" b="1" dirty="0">
              <a:solidFill>
                <a:srgbClr val="E06741"/>
              </a:solidFill>
            </a:endParaRP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6" name="文字方塊 25">
            <a:extLst>
              <a:ext uri="{FF2B5EF4-FFF2-40B4-BE49-F238E27FC236}">
                <a16:creationId xmlns:a16="http://schemas.microsoft.com/office/drawing/2014/main" id="{4395D4FE-2FC0-4BD2-9BD3-55FB3C9BD0BF}"/>
              </a:ext>
            </a:extLst>
          </p:cNvPr>
          <p:cNvSpPr txBox="1"/>
          <p:nvPr/>
        </p:nvSpPr>
        <p:spPr>
          <a:xfrm>
            <a:off x="5798296"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案例區塊鏈應用</a:t>
            </a:r>
          </a:p>
        </p:txBody>
      </p:sp>
      <p:sp>
        <p:nvSpPr>
          <p:cNvPr id="48" name="文字方塊 47">
            <a:extLst>
              <a:ext uri="{FF2B5EF4-FFF2-40B4-BE49-F238E27FC236}">
                <a16:creationId xmlns:a16="http://schemas.microsoft.com/office/drawing/2014/main" id="{86DEFDDE-4381-4267-8E1E-1C7ACE9AF7B6}"/>
              </a:ext>
            </a:extLst>
          </p:cNvPr>
          <p:cNvSpPr txBox="1"/>
          <p:nvPr/>
        </p:nvSpPr>
        <p:spPr>
          <a:xfrm>
            <a:off x="1249355" y="1323761"/>
            <a:ext cx="9097882" cy="4785284"/>
          </a:xfrm>
          <a:prstGeom prst="rect">
            <a:avLst/>
          </a:prstGeom>
          <a:noFill/>
        </p:spPr>
        <p:txBody>
          <a:bodyPr wrap="square" rtlCol="0">
            <a:spAutoFit/>
          </a:bodyPr>
          <a:lstStyle/>
          <a:p>
            <a:pPr marL="342900" indent="-342900">
              <a:lnSpc>
                <a:spcPct val="150000"/>
              </a:lnSpc>
              <a:buBlip>
                <a:blip r:embed="rId3"/>
              </a:buBlip>
            </a:pPr>
            <a:r>
              <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rPr>
              <a:t>ABS </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改變傳統資產借貸方式，將其</a:t>
            </a:r>
            <a:r>
              <a:rPr lang="zh-TW" altLang="en-US" sz="2200" b="1" dirty="0">
                <a:solidFill>
                  <a:srgbClr val="54667E"/>
                </a:solidFill>
                <a:latin typeface="微軟正黑體" panose="020B0604030504040204" pitchFamily="34" charset="-120"/>
                <a:ea typeface="微軟正黑體" panose="020B0604030504040204" pitchFamily="34" charset="-120"/>
              </a:rPr>
              <a:t>證券化</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後，以</a:t>
            </a:r>
            <a:r>
              <a:rPr lang="zh-TW" altLang="en-US" sz="2200" b="1" dirty="0">
                <a:solidFill>
                  <a:srgbClr val="54667E"/>
                </a:solidFill>
                <a:latin typeface="微軟正黑體" panose="020B0604030504040204" pitchFamily="34" charset="-120"/>
                <a:ea typeface="微軟正黑體" panose="020B0604030504040204" pitchFamily="34" charset="-120"/>
              </a:rPr>
              <a:t>融資</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取得現金流，是個人或企業另一種取得資金的方式，也是一種借貸方法</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3"/>
              </a:buBlip>
            </a:pPr>
            <a:endParaRPr lang="en-US" altLang="zh-TW"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3"/>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融資的交易過程之中，需面臨</a:t>
            </a:r>
            <a:r>
              <a:rPr lang="zh-TW" altLang="en-US" sz="2200" b="1" dirty="0">
                <a:solidFill>
                  <a:srgbClr val="54667E"/>
                </a:solidFill>
                <a:latin typeface="微軟正黑體" panose="020B0604030504040204" pitchFamily="34" charset="-120"/>
                <a:ea typeface="微軟正黑體" panose="020B0604030504040204" pitchFamily="34" charset="-120"/>
              </a:rPr>
              <a:t>信用評等</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的問題</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主體信用評等：評定企業未來長、短期償還債權的能力，包括財務實力、管理能力、經營成效等</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債權信用評等：評定交易本身特定風險進行計量和評價，反應客戶違約後的債權損失</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3"/>
              </a:buBlip>
            </a:pPr>
            <a:r>
              <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rPr>
              <a:t>ABS </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將主體和債權信用評等</a:t>
            </a:r>
            <a:r>
              <a:rPr lang="zh-TW" altLang="en-US" sz="2200" b="1" dirty="0">
                <a:solidFill>
                  <a:srgbClr val="54667E"/>
                </a:solidFill>
                <a:latin typeface="微軟正黑體" panose="020B0604030504040204" pitchFamily="34" charset="-120"/>
                <a:ea typeface="微軟正黑體" panose="020B0604030504040204" pitchFamily="34" charset="-120"/>
              </a:rPr>
              <a:t>分離</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，中、小企業只要擁有優質的資產，也可以通過</a:t>
            </a:r>
            <a:r>
              <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rPr>
              <a:t>ABS </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，獲得低成本的融資</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10" name="圖片 9" descr="一張含有 向量圖形 的圖片&#10;&#10;描述是以高可信度產生">
            <a:extLst>
              <a:ext uri="{FF2B5EF4-FFF2-40B4-BE49-F238E27FC236}">
                <a16:creationId xmlns:a16="http://schemas.microsoft.com/office/drawing/2014/main" id="{1912759C-5C07-4755-93DA-0233CFCCB4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54134" y="184562"/>
            <a:ext cx="1509434" cy="1509434"/>
          </a:xfrm>
          <a:prstGeom prst="rect">
            <a:avLst/>
          </a:prstGeom>
        </p:spPr>
      </p:pic>
      <p:cxnSp>
        <p:nvCxnSpPr>
          <p:cNvPr id="11" name="直接连接符 33">
            <a:extLst>
              <a:ext uri="{FF2B5EF4-FFF2-40B4-BE49-F238E27FC236}">
                <a16:creationId xmlns:a16="http://schemas.microsoft.com/office/drawing/2014/main" id="{A62C516F-E34C-4484-ABDA-E6211D478BB3}"/>
              </a:ext>
            </a:extLst>
          </p:cNvPr>
          <p:cNvCxnSpPr>
            <a:cxnSpLocks/>
          </p:cNvCxnSpPr>
          <p:nvPr/>
        </p:nvCxnSpPr>
        <p:spPr>
          <a:xfrm>
            <a:off x="1177167" y="1046746"/>
            <a:ext cx="8872607"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2" name="圖片 11" descr="一張含有 向量圖形 的圖片&#10;&#10;描述是以高可信度產生">
            <a:extLst>
              <a:ext uri="{FF2B5EF4-FFF2-40B4-BE49-F238E27FC236}">
                <a16:creationId xmlns:a16="http://schemas.microsoft.com/office/drawing/2014/main" id="{756E7226-13CD-47E3-B92F-C21F670BF9A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48376" y="5224730"/>
            <a:ext cx="1667774" cy="1667774"/>
          </a:xfrm>
          <a:prstGeom prst="rect">
            <a:avLst/>
          </a:prstGeom>
        </p:spPr>
      </p:pic>
    </p:spTree>
    <p:extLst>
      <p:ext uri="{BB962C8B-B14F-4D97-AF65-F5344CB8AC3E}">
        <p14:creationId xmlns:p14="http://schemas.microsoft.com/office/powerpoint/2010/main" val="2043536260"/>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26">
                                            <p:txEl>
                                              <p:pRg st="0" end="0"/>
                                            </p:txEl>
                                          </p:spTgt>
                                        </p:tgtEl>
                                        <p:attrNameLst>
                                          <p:attrName>style.visibility</p:attrName>
                                        </p:attrNameLst>
                                      </p:cBhvr>
                                      <p:to>
                                        <p:strVal val="visible"/>
                                      </p:to>
                                    </p:set>
                                    <p:animEffect transition="in" filter="barn(inVertical)">
                                      <p:cBhvr>
                                        <p:cTn id="11" dur="500"/>
                                        <p:tgtEl>
                                          <p:spTgt spid="26">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0-#ppt_w/2"/>
                                          </p:val>
                                        </p:tav>
                                        <p:tav tm="100000">
                                          <p:val>
                                            <p:strVal val="#ppt_x"/>
                                          </p:val>
                                        </p:tav>
                                      </p:tavLst>
                                    </p:anim>
                                    <p:anim calcmode="lin" valueType="num">
                                      <p:cBhvr additive="base">
                                        <p:cTn id="16" dur="500" fill="hold"/>
                                        <p:tgtEl>
                                          <p:spTgt spid="11"/>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barn(inVertical)">
                                      <p:cBhvr>
                                        <p:cTn id="20" dur="500"/>
                                        <p:tgtEl>
                                          <p:spTgt spid="48"/>
                                        </p:tgtEl>
                                      </p:cBhvr>
                                    </p:animEffect>
                                  </p:childTnLst>
                                </p:cTn>
                              </p:par>
                            </p:childTnLst>
                          </p:cTn>
                        </p:par>
                        <p:par>
                          <p:cTn id="21" fill="hold">
                            <p:stCondLst>
                              <p:cond delay="3500"/>
                            </p:stCondLst>
                            <p:childTnLst>
                              <p:par>
                                <p:cTn id="22" presetID="53" presetClass="entr" presetSubtype="16"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p:cTn id="24" dur="500" fill="hold"/>
                                        <p:tgtEl>
                                          <p:spTgt spid="10"/>
                                        </p:tgtEl>
                                        <p:attrNameLst>
                                          <p:attrName>ppt_w</p:attrName>
                                        </p:attrNameLst>
                                      </p:cBhvr>
                                      <p:tavLst>
                                        <p:tav tm="0">
                                          <p:val>
                                            <p:fltVal val="0"/>
                                          </p:val>
                                        </p:tav>
                                        <p:tav tm="100000">
                                          <p:val>
                                            <p:strVal val="#ppt_w"/>
                                          </p:val>
                                        </p:tav>
                                      </p:tavLst>
                                    </p:anim>
                                    <p:anim calcmode="lin" valueType="num">
                                      <p:cBhvr>
                                        <p:cTn id="25" dur="500" fill="hold"/>
                                        <p:tgtEl>
                                          <p:spTgt spid="10"/>
                                        </p:tgtEl>
                                        <p:attrNameLst>
                                          <p:attrName>ppt_h</p:attrName>
                                        </p:attrNameLst>
                                      </p:cBhvr>
                                      <p:tavLst>
                                        <p:tav tm="0">
                                          <p:val>
                                            <p:fltVal val="0"/>
                                          </p:val>
                                        </p:tav>
                                        <p:tav tm="100000">
                                          <p:val>
                                            <p:strVal val="#ppt_h"/>
                                          </p:val>
                                        </p:tav>
                                      </p:tavLst>
                                    </p:anim>
                                    <p:animEffect transition="in" filter="fade">
                                      <p:cBhvr>
                                        <p:cTn id="26" dur="500"/>
                                        <p:tgtEl>
                                          <p:spTgt spid="10"/>
                                        </p:tgtEl>
                                      </p:cBhvr>
                                    </p:animEffect>
                                  </p:childTnLst>
                                </p:cTn>
                              </p:par>
                            </p:childTnLst>
                          </p:cTn>
                        </p:par>
                        <p:par>
                          <p:cTn id="27" fill="hold">
                            <p:stCondLst>
                              <p:cond delay="4000"/>
                            </p:stCondLst>
                            <p:childTnLst>
                              <p:par>
                                <p:cTn id="28" presetID="2" presetClass="entr" presetSubtype="4" fill="hold" nodeType="after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additive="base">
                                        <p:cTn id="30" dur="500" fill="hold"/>
                                        <p:tgtEl>
                                          <p:spTgt spid="12"/>
                                        </p:tgtEl>
                                        <p:attrNameLst>
                                          <p:attrName>ppt_x</p:attrName>
                                        </p:attrNameLst>
                                      </p:cBhvr>
                                      <p:tavLst>
                                        <p:tav tm="0">
                                          <p:val>
                                            <p:strVal val="#ppt_x"/>
                                          </p:val>
                                        </p:tav>
                                        <p:tav tm="100000">
                                          <p:val>
                                            <p:strVal val="#ppt_x"/>
                                          </p:val>
                                        </p:tav>
                                      </p:tavLst>
                                    </p:anim>
                                    <p:anim calcmode="lin" valueType="num">
                                      <p:cBhvr additive="base">
                                        <p:cTn id="31"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128872" y="393820"/>
            <a:ext cx="508571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6-2 </a:t>
            </a:r>
            <a:r>
              <a:rPr lang="zh-TW" altLang="en-US" sz="2400" b="1" dirty="0">
                <a:solidFill>
                  <a:srgbClr val="E06741"/>
                </a:solidFill>
              </a:rPr>
              <a:t>實務案例─消費金融</a:t>
            </a:r>
            <a:r>
              <a:rPr lang="en-US" altLang="zh-TW" sz="2400" b="1" dirty="0">
                <a:solidFill>
                  <a:srgbClr val="E06741"/>
                </a:solidFill>
              </a:rPr>
              <a:t>ABS</a:t>
            </a:r>
            <a:endParaRPr lang="zh-TW" altLang="en-US" sz="2400" b="1" dirty="0">
              <a:solidFill>
                <a:srgbClr val="E06741"/>
              </a:solidFill>
            </a:endParaRP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6" name="文字方塊 25">
            <a:extLst>
              <a:ext uri="{FF2B5EF4-FFF2-40B4-BE49-F238E27FC236}">
                <a16:creationId xmlns:a16="http://schemas.microsoft.com/office/drawing/2014/main" id="{4395D4FE-2FC0-4BD2-9BD3-55FB3C9BD0BF}"/>
              </a:ext>
            </a:extLst>
          </p:cNvPr>
          <p:cNvSpPr txBox="1"/>
          <p:nvPr/>
        </p:nvSpPr>
        <p:spPr>
          <a:xfrm>
            <a:off x="5798296"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案例區塊鏈應用</a:t>
            </a:r>
          </a:p>
        </p:txBody>
      </p:sp>
      <p:sp>
        <p:nvSpPr>
          <p:cNvPr id="48" name="文字方塊 47">
            <a:extLst>
              <a:ext uri="{FF2B5EF4-FFF2-40B4-BE49-F238E27FC236}">
                <a16:creationId xmlns:a16="http://schemas.microsoft.com/office/drawing/2014/main" id="{86DEFDDE-4381-4267-8E1E-1C7ACE9AF7B6}"/>
              </a:ext>
            </a:extLst>
          </p:cNvPr>
          <p:cNvSpPr txBox="1"/>
          <p:nvPr/>
        </p:nvSpPr>
        <p:spPr>
          <a:xfrm>
            <a:off x="1446608" y="1464808"/>
            <a:ext cx="8958409" cy="3928383"/>
          </a:xfrm>
          <a:prstGeom prst="rect">
            <a:avLst/>
          </a:prstGeom>
          <a:noFill/>
        </p:spPr>
        <p:txBody>
          <a:bodyPr wrap="square" rtlCol="0">
            <a:spAutoFit/>
          </a:bodyPr>
          <a:lstStyle/>
          <a:p>
            <a:pPr marL="342900" indent="-342900">
              <a:lnSpc>
                <a:spcPct val="150000"/>
              </a:lnSpc>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然而，若要將企業的特定資產組合或特定現金流剝離出來，放入一個</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SPV</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為支持（而不是以企業主體信用為支援）發行可交易的證券，會因為難以進行公允的債權信用評等，使借貸資金難以評估計價，造成證券公司或申請人的權益受損</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3"/>
              </a:buBlip>
            </a:pPr>
            <a:endParaRPr lang="en-US" altLang="zh-TW"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以</a:t>
            </a:r>
            <a:r>
              <a:rPr lang="zh-TW" altLang="en-US" sz="2300" b="1" dirty="0">
                <a:solidFill>
                  <a:srgbClr val="3DA18E"/>
                </a:solidFill>
                <a:latin typeface="微軟正黑體" panose="020B0604030504040204" pitchFamily="34" charset="-120"/>
                <a:ea typeface="微軟正黑體" panose="020B0604030504040204" pitchFamily="34" charset="-120"/>
              </a:rPr>
              <a:t>消費金融</a:t>
            </a:r>
            <a:r>
              <a:rPr lang="en-US" altLang="zh-TW" sz="2300" b="1" dirty="0">
                <a:solidFill>
                  <a:srgbClr val="3DA18E"/>
                </a:solidFill>
                <a:latin typeface="微軟正黑體" panose="020B0604030504040204" pitchFamily="34" charset="-120"/>
                <a:ea typeface="微軟正黑體" panose="020B0604030504040204" pitchFamily="34" charset="-120"/>
              </a:rPr>
              <a:t>ABS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為例</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傳統的技術手段很難精準進行信用評估和動態調整，產生評估方法的中心化和不透明性等現象，也難以取得申請人的信任</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11" name="圖片 10" descr="一張含有 房間 的圖片&#10;&#10;描述是以高可信度產生">
            <a:extLst>
              <a:ext uri="{FF2B5EF4-FFF2-40B4-BE49-F238E27FC236}">
                <a16:creationId xmlns:a16="http://schemas.microsoft.com/office/drawing/2014/main" id="{BB53BECF-B8D5-42C2-9D23-340ADE5824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81078" y="5056912"/>
            <a:ext cx="1515122" cy="1515122"/>
          </a:xfrm>
          <a:prstGeom prst="rect">
            <a:avLst/>
          </a:prstGeom>
        </p:spPr>
      </p:pic>
      <p:cxnSp>
        <p:nvCxnSpPr>
          <p:cNvPr id="10" name="直接连接符 33">
            <a:extLst>
              <a:ext uri="{FF2B5EF4-FFF2-40B4-BE49-F238E27FC236}">
                <a16:creationId xmlns:a16="http://schemas.microsoft.com/office/drawing/2014/main" id="{F29A05F9-D9C6-4CCC-AE26-2C546D0B5E27}"/>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135952"/>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26">
                                            <p:txEl>
                                              <p:pRg st="0" end="0"/>
                                            </p:txEl>
                                          </p:spTgt>
                                        </p:tgtEl>
                                        <p:attrNameLst>
                                          <p:attrName>style.visibility</p:attrName>
                                        </p:attrNameLst>
                                      </p:cBhvr>
                                      <p:to>
                                        <p:strVal val="visible"/>
                                      </p:to>
                                    </p:set>
                                    <p:animEffect transition="in" filter="barn(inVertical)">
                                      <p:cBhvr>
                                        <p:cTn id="11" dur="500"/>
                                        <p:tgtEl>
                                          <p:spTgt spid="26">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barn(inVertical)">
                                      <p:cBhvr>
                                        <p:cTn id="20" dur="500"/>
                                        <p:tgtEl>
                                          <p:spTgt spid="48"/>
                                        </p:tgtEl>
                                      </p:cBhvr>
                                    </p:animEffect>
                                  </p:childTnLst>
                                </p:cTn>
                              </p:par>
                            </p:childTnLst>
                          </p:cTn>
                        </p:par>
                        <p:par>
                          <p:cTn id="21" fill="hold">
                            <p:stCondLst>
                              <p:cond delay="3500"/>
                            </p:stCondLst>
                            <p:childTnLst>
                              <p:par>
                                <p:cTn id="22" presetID="2" presetClass="entr" presetSubtype="4" fill="hold" nodeType="after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ppt_x"/>
                                          </p:val>
                                        </p:tav>
                                        <p:tav tm="100000">
                                          <p:val>
                                            <p:strVal val="#ppt_x"/>
                                          </p:val>
                                        </p:tav>
                                      </p:tavLst>
                                    </p:anim>
                                    <p:anim calcmode="lin" valueType="num">
                                      <p:cBhvr additive="base">
                                        <p:cTn id="25"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MH_Other_7">
            <a:extLst>
              <a:ext uri="{FF2B5EF4-FFF2-40B4-BE49-F238E27FC236}">
                <a16:creationId xmlns:a16="http://schemas.microsoft.com/office/drawing/2014/main" id="{9380850E-6160-44D4-9E8F-8230BF65735E}"/>
              </a:ext>
            </a:extLst>
          </p:cNvPr>
          <p:cNvSpPr/>
          <p:nvPr/>
        </p:nvSpPr>
        <p:spPr bwMode="auto">
          <a:xfrm>
            <a:off x="5302552" y="1847681"/>
            <a:ext cx="1821904" cy="2340548"/>
          </a:xfrm>
          <a:prstGeom prst="bentArrow">
            <a:avLst>
              <a:gd name="adj1" fmla="val 10728"/>
              <a:gd name="adj2" fmla="val 15439"/>
              <a:gd name="adj3" fmla="val 25000"/>
              <a:gd name="adj4" fmla="val 27631"/>
            </a:avLst>
          </a:prstGeom>
          <a:solidFill>
            <a:srgbClr val="B5BA6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contourW="12700">
              <a:contourClr>
                <a:srgbClr val="FFFFFF"/>
              </a:contourClr>
            </a:sp3d>
          </a:bodyPr>
          <a:lstStyle/>
          <a:p>
            <a:pPr algn="ctr" eaLnBrk="1" fontAlgn="auto" hangingPunct="1">
              <a:spcBef>
                <a:spcPts val="0"/>
              </a:spcBef>
              <a:spcAft>
                <a:spcPts val="0"/>
              </a:spcAft>
              <a:defRPr/>
            </a:pPr>
            <a:endParaRPr lang="zh-CN" altLang="en-US" b="1" dirty="0">
              <a:solidFill>
                <a:srgbClr val="FFFFFF"/>
              </a:solidFill>
              <a:latin typeface="微軟正黑體" panose="020B0604030504040204" pitchFamily="34" charset="-120"/>
              <a:ea typeface="微軟正黑體" panose="020B0604030504040204" pitchFamily="34" charset="-120"/>
            </a:endParaRPr>
          </a:p>
        </p:txBody>
      </p:sp>
      <p:sp>
        <p:nvSpPr>
          <p:cNvPr id="7" name="標題 1"/>
          <p:cNvSpPr txBox="1">
            <a:spLocks/>
          </p:cNvSpPr>
          <p:nvPr/>
        </p:nvSpPr>
        <p:spPr>
          <a:xfrm>
            <a:off x="1128872" y="393820"/>
            <a:ext cx="508571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6-2 </a:t>
            </a:r>
            <a:r>
              <a:rPr lang="zh-TW" altLang="en-US" sz="2400" b="1" dirty="0">
                <a:solidFill>
                  <a:srgbClr val="E06741"/>
                </a:solidFill>
              </a:rPr>
              <a:t>實務案例─消費金融</a:t>
            </a:r>
            <a:r>
              <a:rPr lang="en-US" altLang="zh-TW" sz="2400" b="1" dirty="0">
                <a:solidFill>
                  <a:srgbClr val="E06741"/>
                </a:solidFill>
              </a:rPr>
              <a:t>ABS</a:t>
            </a:r>
            <a:endParaRPr lang="zh-TW" altLang="en-US" sz="2400" b="1" dirty="0">
              <a:solidFill>
                <a:srgbClr val="E06741"/>
              </a:solidFill>
            </a:endParaRP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6" name="文字方塊 25">
            <a:extLst>
              <a:ext uri="{FF2B5EF4-FFF2-40B4-BE49-F238E27FC236}">
                <a16:creationId xmlns:a16="http://schemas.microsoft.com/office/drawing/2014/main" id="{4395D4FE-2FC0-4BD2-9BD3-55FB3C9BD0BF}"/>
              </a:ext>
            </a:extLst>
          </p:cNvPr>
          <p:cNvSpPr txBox="1"/>
          <p:nvPr/>
        </p:nvSpPr>
        <p:spPr>
          <a:xfrm>
            <a:off x="5798296"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案例區塊鏈應用</a:t>
            </a:r>
          </a:p>
        </p:txBody>
      </p:sp>
      <p:sp>
        <p:nvSpPr>
          <p:cNvPr id="48" name="文字方塊 47">
            <a:extLst>
              <a:ext uri="{FF2B5EF4-FFF2-40B4-BE49-F238E27FC236}">
                <a16:creationId xmlns:a16="http://schemas.microsoft.com/office/drawing/2014/main" id="{86DEFDDE-4381-4267-8E1E-1C7ACE9AF7B6}"/>
              </a:ext>
            </a:extLst>
          </p:cNvPr>
          <p:cNvSpPr txBox="1"/>
          <p:nvPr/>
        </p:nvSpPr>
        <p:spPr>
          <a:xfrm>
            <a:off x="1321447" y="1069138"/>
            <a:ext cx="9433232" cy="497444"/>
          </a:xfrm>
          <a:prstGeom prst="rect">
            <a:avLst/>
          </a:prstGeom>
          <a:noFill/>
        </p:spPr>
        <p:txBody>
          <a:bodyPr wrap="square" rtlCol="0">
            <a:spAutoFit/>
          </a:bodyPr>
          <a:lstStyle/>
          <a:p>
            <a:pPr marL="342900" indent="-342900">
              <a:lnSpc>
                <a:spcPct val="150000"/>
              </a:lnSpc>
              <a:buBlip>
                <a:blip r:embed="rId3"/>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消費金融</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ABS </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導入區塊鏈技術，應用方法如下：</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grpSp>
        <p:nvGrpSpPr>
          <p:cNvPr id="28" name="组合 1">
            <a:extLst>
              <a:ext uri="{FF2B5EF4-FFF2-40B4-BE49-F238E27FC236}">
                <a16:creationId xmlns:a16="http://schemas.microsoft.com/office/drawing/2014/main" id="{8B2BC46E-1242-4321-A83D-4DBC321D9B42}"/>
              </a:ext>
            </a:extLst>
          </p:cNvPr>
          <p:cNvGrpSpPr>
            <a:grpSpLocks/>
          </p:cNvGrpSpPr>
          <p:nvPr/>
        </p:nvGrpSpPr>
        <p:grpSpPr bwMode="auto">
          <a:xfrm>
            <a:off x="1321447" y="1577141"/>
            <a:ext cx="10146429" cy="3751889"/>
            <a:chOff x="1908042" y="743397"/>
            <a:chExt cx="10146429" cy="3751201"/>
          </a:xfrm>
        </p:grpSpPr>
        <p:sp>
          <p:nvSpPr>
            <p:cNvPr id="46" name="MH_Other_7">
              <a:extLst>
                <a:ext uri="{FF2B5EF4-FFF2-40B4-BE49-F238E27FC236}">
                  <a16:creationId xmlns:a16="http://schemas.microsoft.com/office/drawing/2014/main" id="{EA535728-D37C-40AE-A1A4-4C4E355A9EB5}"/>
                </a:ext>
              </a:extLst>
            </p:cNvPr>
            <p:cNvSpPr/>
            <p:nvPr/>
          </p:nvSpPr>
          <p:spPr>
            <a:xfrm flipH="1">
              <a:off x="4248431" y="2131383"/>
              <a:ext cx="1839884" cy="2363215"/>
            </a:xfrm>
            <a:prstGeom prst="bentArrow">
              <a:avLst>
                <a:gd name="adj1" fmla="val 10728"/>
                <a:gd name="adj2" fmla="val 15439"/>
                <a:gd name="adj3" fmla="val 25000"/>
                <a:gd name="adj4" fmla="val 27631"/>
              </a:avLst>
            </a:prstGeom>
            <a:solidFill>
              <a:srgbClr val="EDB92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contourW="12700">
                <a:contourClr>
                  <a:srgbClr val="FFFFFF"/>
                </a:contourClr>
              </a:sp3d>
            </a:bodyPr>
            <a:lstStyle/>
            <a:p>
              <a:pPr algn="ctr" eaLnBrk="1" fontAlgn="auto" hangingPunct="1">
                <a:spcBef>
                  <a:spcPts val="0"/>
                </a:spcBef>
                <a:spcAft>
                  <a:spcPts val="0"/>
                </a:spcAft>
                <a:defRPr/>
              </a:pPr>
              <a:endParaRPr lang="zh-CN" altLang="en-US" b="1" dirty="0">
                <a:solidFill>
                  <a:srgbClr val="FFFFFF"/>
                </a:solidFill>
                <a:latin typeface="微軟正黑體" panose="020B0604030504040204" pitchFamily="34" charset="-120"/>
                <a:ea typeface="微軟正黑體" panose="020B0604030504040204" pitchFamily="34" charset="-120"/>
              </a:endParaRPr>
            </a:p>
          </p:txBody>
        </p:sp>
        <p:sp>
          <p:nvSpPr>
            <p:cNvPr id="31" name="TextBox 2">
              <a:extLst>
                <a:ext uri="{FF2B5EF4-FFF2-40B4-BE49-F238E27FC236}">
                  <a16:creationId xmlns:a16="http://schemas.microsoft.com/office/drawing/2014/main" id="{4AD06B56-EB98-433D-8B37-978A2F4E87FA}"/>
                </a:ext>
              </a:extLst>
            </p:cNvPr>
            <p:cNvSpPr txBox="1"/>
            <p:nvPr/>
          </p:nvSpPr>
          <p:spPr>
            <a:xfrm>
              <a:off x="8613243" y="743397"/>
              <a:ext cx="2227922" cy="451194"/>
            </a:xfrm>
            <a:prstGeom prst="rect">
              <a:avLst/>
            </a:prstGeom>
          </p:spPr>
          <p:txBody>
            <a:bodyPr wrap="square">
              <a:spAutoFit/>
            </a:bodyPr>
            <a:lstStyle>
              <a:defPPr>
                <a:defRPr lang="zh-CN"/>
              </a:defPPr>
              <a:lvl1pPr algn="just">
                <a:lnSpc>
                  <a:spcPct val="130000"/>
                </a:lnSpc>
                <a:defRPr spc="300">
                  <a:solidFill>
                    <a:schemeClr val="tx1">
                      <a:lumMod val="65000"/>
                      <a:lumOff val="35000"/>
                    </a:schemeClr>
                  </a:solidFill>
                  <a:latin typeface="微软雅黑" pitchFamily="34" charset="-122"/>
                  <a:ea typeface="微软雅黑" pitchFamily="34" charset="-122"/>
                </a:defRPr>
              </a:lvl1pPr>
            </a:lstStyle>
            <a:p>
              <a:pPr>
                <a:defRPr/>
              </a:pPr>
              <a:r>
                <a:rPr lang="zh-TW" altLang="en-US" sz="2000" b="1" dirty="0">
                  <a:solidFill>
                    <a:srgbClr val="A3A948"/>
                  </a:solidFill>
                  <a:latin typeface="微軟正黑體" panose="020B0604030504040204" pitchFamily="34" charset="-120"/>
                  <a:ea typeface="微軟正黑體" panose="020B0604030504040204" pitchFamily="34" charset="-120"/>
                </a:rPr>
                <a:t>安全性設計</a:t>
              </a:r>
              <a:endParaRPr lang="zh-CN" altLang="en-US" sz="2000" b="1" dirty="0">
                <a:solidFill>
                  <a:srgbClr val="A3A948"/>
                </a:solidFill>
                <a:latin typeface="微軟正黑體" panose="020B0604030504040204" pitchFamily="34" charset="-120"/>
                <a:ea typeface="微軟正黑體" panose="020B0604030504040204" pitchFamily="34" charset="-120"/>
              </a:endParaRPr>
            </a:p>
          </p:txBody>
        </p:sp>
        <p:sp>
          <p:nvSpPr>
            <p:cNvPr id="35" name="TextBox 45">
              <a:extLst>
                <a:ext uri="{FF2B5EF4-FFF2-40B4-BE49-F238E27FC236}">
                  <a16:creationId xmlns:a16="http://schemas.microsoft.com/office/drawing/2014/main" id="{DD9653BC-0D88-40D3-B765-58E37B094654}"/>
                </a:ext>
              </a:extLst>
            </p:cNvPr>
            <p:cNvSpPr txBox="1"/>
            <p:nvPr/>
          </p:nvSpPr>
          <p:spPr>
            <a:xfrm>
              <a:off x="8325551" y="2745734"/>
              <a:ext cx="3728920" cy="451194"/>
            </a:xfrm>
            <a:prstGeom prst="rect">
              <a:avLst/>
            </a:prstGeom>
          </p:spPr>
          <p:txBody>
            <a:bodyPr wrap="square">
              <a:spAutoFit/>
            </a:bodyPr>
            <a:lstStyle>
              <a:defPPr>
                <a:defRPr lang="zh-CN"/>
              </a:defPPr>
              <a:lvl1pPr algn="just">
                <a:lnSpc>
                  <a:spcPct val="130000"/>
                </a:lnSpc>
                <a:defRPr spc="300">
                  <a:solidFill>
                    <a:schemeClr val="tx1">
                      <a:lumMod val="65000"/>
                      <a:lumOff val="35000"/>
                    </a:schemeClr>
                  </a:solidFill>
                  <a:latin typeface="微软雅黑" pitchFamily="34" charset="-122"/>
                  <a:ea typeface="微软雅黑" pitchFamily="34" charset="-122"/>
                </a:defRPr>
              </a:lvl1pPr>
            </a:lstStyle>
            <a:p>
              <a:pPr>
                <a:defRPr/>
              </a:pPr>
              <a:r>
                <a:rPr lang="zh-TW" altLang="en-US" sz="2000" b="1" dirty="0">
                  <a:solidFill>
                    <a:srgbClr val="009989"/>
                  </a:solidFill>
                  <a:latin typeface="微軟正黑體" panose="020B0604030504040204" pitchFamily="34" charset="-120"/>
                  <a:ea typeface="微軟正黑體" panose="020B0604030504040204" pitchFamily="34" charset="-120"/>
                </a:rPr>
                <a:t>智慧合約和分散式網路</a:t>
              </a:r>
              <a:endParaRPr lang="zh-CN" altLang="en-US" sz="2000" b="1" dirty="0">
                <a:solidFill>
                  <a:srgbClr val="009989"/>
                </a:solidFill>
                <a:latin typeface="微軟正黑體" panose="020B0604030504040204" pitchFamily="34" charset="-120"/>
                <a:ea typeface="微軟正黑體" panose="020B0604030504040204" pitchFamily="34" charset="-120"/>
              </a:endParaRPr>
            </a:p>
          </p:txBody>
        </p:sp>
        <p:sp>
          <p:nvSpPr>
            <p:cNvPr id="37" name="TextBox 48">
              <a:extLst>
                <a:ext uri="{FF2B5EF4-FFF2-40B4-BE49-F238E27FC236}">
                  <a16:creationId xmlns:a16="http://schemas.microsoft.com/office/drawing/2014/main" id="{A3FB582C-A87F-4B52-AF53-768B474AAD8B}"/>
                </a:ext>
              </a:extLst>
            </p:cNvPr>
            <p:cNvSpPr txBox="1"/>
            <p:nvPr/>
          </p:nvSpPr>
          <p:spPr>
            <a:xfrm>
              <a:off x="1908042" y="2122703"/>
              <a:ext cx="2340389" cy="451194"/>
            </a:xfrm>
            <a:prstGeom prst="rect">
              <a:avLst/>
            </a:prstGeom>
          </p:spPr>
          <p:txBody>
            <a:bodyPr wrap="square">
              <a:spAutoFit/>
            </a:bodyPr>
            <a:lstStyle>
              <a:defPPr>
                <a:defRPr lang="zh-CN"/>
              </a:defPPr>
              <a:lvl1pPr algn="just">
                <a:lnSpc>
                  <a:spcPct val="130000"/>
                </a:lnSpc>
                <a:defRPr spc="300">
                  <a:solidFill>
                    <a:schemeClr val="tx1">
                      <a:lumMod val="65000"/>
                      <a:lumOff val="35000"/>
                    </a:schemeClr>
                  </a:solidFill>
                  <a:latin typeface="微软雅黑" pitchFamily="34" charset="-122"/>
                  <a:ea typeface="微软雅黑" pitchFamily="34" charset="-122"/>
                </a:defRPr>
              </a:lvl1pPr>
            </a:lstStyle>
            <a:p>
              <a:pPr algn="l">
                <a:defRPr/>
              </a:pPr>
              <a:r>
                <a:rPr lang="zh-TW" altLang="en-US" sz="2000" b="1" dirty="0">
                  <a:solidFill>
                    <a:srgbClr val="EDB92E"/>
                  </a:solidFill>
                  <a:latin typeface="微軟正黑體" panose="020B0604030504040204" pitchFamily="34" charset="-120"/>
                  <a:ea typeface="微軟正黑體" panose="020B0604030504040204" pitchFamily="34" charset="-120"/>
                </a:rPr>
                <a:t>離散式帳本</a:t>
              </a:r>
              <a:endParaRPr lang="zh-CN" altLang="en-US" sz="2000" b="1" dirty="0">
                <a:solidFill>
                  <a:srgbClr val="EDB92E"/>
                </a:solidFill>
                <a:latin typeface="微軟正黑體" panose="020B0604030504040204" pitchFamily="34" charset="-120"/>
                <a:ea typeface="微軟正黑體" panose="020B0604030504040204" pitchFamily="34" charset="-120"/>
              </a:endParaRPr>
            </a:p>
          </p:txBody>
        </p:sp>
      </p:grpSp>
      <p:sp>
        <p:nvSpPr>
          <p:cNvPr id="51" name="MH_Other_7">
            <a:extLst>
              <a:ext uri="{FF2B5EF4-FFF2-40B4-BE49-F238E27FC236}">
                <a16:creationId xmlns:a16="http://schemas.microsoft.com/office/drawing/2014/main" id="{39C6136B-4CCC-481D-9D06-29D36C2D82F6}"/>
              </a:ext>
            </a:extLst>
          </p:cNvPr>
          <p:cNvSpPr/>
          <p:nvPr/>
        </p:nvSpPr>
        <p:spPr bwMode="auto">
          <a:xfrm>
            <a:off x="5302552" y="3623094"/>
            <a:ext cx="1881296" cy="2932813"/>
          </a:xfrm>
          <a:prstGeom prst="bentArrow">
            <a:avLst>
              <a:gd name="adj1" fmla="val 10728"/>
              <a:gd name="adj2" fmla="val 15439"/>
              <a:gd name="adj3" fmla="val 25000"/>
              <a:gd name="adj4" fmla="val 27631"/>
            </a:avLst>
          </a:prstGeom>
          <a:solidFill>
            <a:srgbClr val="30AC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contourW="12700">
              <a:contourClr>
                <a:srgbClr val="FFFFFF"/>
              </a:contourClr>
            </a:sp3d>
          </a:bodyPr>
          <a:lstStyle/>
          <a:p>
            <a:pPr algn="ctr" eaLnBrk="1" fontAlgn="auto" hangingPunct="1">
              <a:spcBef>
                <a:spcPts val="0"/>
              </a:spcBef>
              <a:spcAft>
                <a:spcPts val="0"/>
              </a:spcAft>
              <a:defRPr/>
            </a:pPr>
            <a:endParaRPr lang="zh-CN" altLang="en-US" b="1" dirty="0">
              <a:solidFill>
                <a:srgbClr val="FFFFFF"/>
              </a:solidFill>
              <a:latin typeface="微軟正黑體" panose="020B0604030504040204" pitchFamily="34" charset="-120"/>
              <a:ea typeface="微軟正黑體" panose="020B0604030504040204" pitchFamily="34" charset="-120"/>
            </a:endParaRPr>
          </a:p>
        </p:txBody>
      </p:sp>
      <p:sp>
        <p:nvSpPr>
          <p:cNvPr id="4" name="文字方塊 3">
            <a:extLst>
              <a:ext uri="{FF2B5EF4-FFF2-40B4-BE49-F238E27FC236}">
                <a16:creationId xmlns:a16="http://schemas.microsoft.com/office/drawing/2014/main" id="{C73B5B85-48B6-4976-A3C2-07AE07C1D018}"/>
              </a:ext>
            </a:extLst>
          </p:cNvPr>
          <p:cNvSpPr txBox="1"/>
          <p:nvPr/>
        </p:nvSpPr>
        <p:spPr>
          <a:xfrm>
            <a:off x="724124" y="3447918"/>
            <a:ext cx="2825641" cy="2344103"/>
          </a:xfrm>
          <a:prstGeom prst="rect">
            <a:avLst/>
          </a:prstGeom>
          <a:noFill/>
        </p:spPr>
        <p:txBody>
          <a:bodyPr wrap="square" rtlCol="0">
            <a:spAutoFit/>
          </a:bodyPr>
          <a:lstStyle/>
          <a:p>
            <a:pPr marL="342900" indent="-342900">
              <a:lnSpc>
                <a:spcPct val="150000"/>
              </a:lnSpc>
              <a:buClr>
                <a:srgbClr val="FFC000"/>
              </a:buClr>
              <a:buFont typeface="Arial" panose="020B0604020202020204" pitchFamily="34" charset="0"/>
              <a:buChar char="•"/>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引入離散式帳本技術，使用代幣作為區塊鏈交易平台上的資產使用權，或資產所有權的一項證明</a:t>
            </a:r>
          </a:p>
        </p:txBody>
      </p:sp>
      <p:sp>
        <p:nvSpPr>
          <p:cNvPr id="15" name="文字方塊 14">
            <a:extLst>
              <a:ext uri="{FF2B5EF4-FFF2-40B4-BE49-F238E27FC236}">
                <a16:creationId xmlns:a16="http://schemas.microsoft.com/office/drawing/2014/main" id="{6A8A2A46-606B-44CE-8D6D-42D14B11FAFE}"/>
              </a:ext>
            </a:extLst>
          </p:cNvPr>
          <p:cNvSpPr txBox="1"/>
          <p:nvPr/>
        </p:nvSpPr>
        <p:spPr>
          <a:xfrm>
            <a:off x="7774196" y="4202661"/>
            <a:ext cx="3113405" cy="1882438"/>
          </a:xfrm>
          <a:prstGeom prst="rect">
            <a:avLst/>
          </a:prstGeom>
          <a:noFill/>
        </p:spPr>
        <p:txBody>
          <a:bodyPr wrap="square" rtlCol="0">
            <a:spAutoFit/>
          </a:bodyPr>
          <a:lstStyle/>
          <a:p>
            <a:pPr marL="342900" indent="-342900">
              <a:lnSpc>
                <a:spcPct val="150000"/>
              </a:lnSpc>
              <a:buClr>
                <a:srgbClr val="3DA18E"/>
              </a:buClr>
              <a:buFont typeface="Arial" panose="020B0604020202020204" pitchFamily="34" charset="0"/>
              <a:buChar char="•"/>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縮短金融機構間傳統對帳清算問題</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Clr>
                <a:srgbClr val="3DA18E"/>
              </a:buClr>
              <a:buFont typeface="Arial" panose="020B0604020202020204" pitchFamily="34" charset="0"/>
              <a:buChar char="•"/>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提升作業效率</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Clr>
                <a:srgbClr val="3DA18E"/>
              </a:buClr>
              <a:buFont typeface="Arial" panose="020B0604020202020204" pitchFamily="34" charset="0"/>
              <a:buChar char="•"/>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縮短作業期程</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6" name="文字方塊 15">
            <a:extLst>
              <a:ext uri="{FF2B5EF4-FFF2-40B4-BE49-F238E27FC236}">
                <a16:creationId xmlns:a16="http://schemas.microsoft.com/office/drawing/2014/main" id="{02B13F3C-3589-467A-84B0-B1D49F7F0AE9}"/>
              </a:ext>
            </a:extLst>
          </p:cNvPr>
          <p:cNvSpPr txBox="1"/>
          <p:nvPr/>
        </p:nvSpPr>
        <p:spPr>
          <a:xfrm>
            <a:off x="7367689" y="2090915"/>
            <a:ext cx="3709829" cy="959109"/>
          </a:xfrm>
          <a:prstGeom prst="rect">
            <a:avLst/>
          </a:prstGeom>
          <a:noFill/>
        </p:spPr>
        <p:txBody>
          <a:bodyPr wrap="square" rtlCol="0">
            <a:spAutoFit/>
          </a:bodyPr>
          <a:lstStyle/>
          <a:p>
            <a:pPr marL="342900" indent="-342900">
              <a:lnSpc>
                <a:spcPct val="150000"/>
              </a:lnSpc>
              <a:buClr>
                <a:srgbClr val="B5BA6C"/>
              </a:buClr>
              <a:buFont typeface="Arial" panose="020B0604020202020204" pitchFamily="34" charset="0"/>
              <a:buChar char="•"/>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導入區塊鏈時序、不可篡改、弱中心化、公開透明等技術</a:t>
            </a:r>
          </a:p>
        </p:txBody>
      </p:sp>
      <p:cxnSp>
        <p:nvCxnSpPr>
          <p:cNvPr id="19" name="直接连接符 33">
            <a:extLst>
              <a:ext uri="{FF2B5EF4-FFF2-40B4-BE49-F238E27FC236}">
                <a16:creationId xmlns:a16="http://schemas.microsoft.com/office/drawing/2014/main" id="{F3B107EB-2B7B-401E-906C-A82B92F1EF46}"/>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7716541"/>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barn(inVertical)">
                                      <p:cBhvr>
                                        <p:cTn id="11" dur="500"/>
                                        <p:tgtEl>
                                          <p:spTgt spid="26"/>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500" fill="hold"/>
                                        <p:tgtEl>
                                          <p:spTgt spid="19"/>
                                        </p:tgtEl>
                                        <p:attrNameLst>
                                          <p:attrName>ppt_x</p:attrName>
                                        </p:attrNameLst>
                                      </p:cBhvr>
                                      <p:tavLst>
                                        <p:tav tm="0">
                                          <p:val>
                                            <p:strVal val="0-#ppt_w/2"/>
                                          </p:val>
                                        </p:tav>
                                        <p:tav tm="100000">
                                          <p:val>
                                            <p:strVal val="#ppt_x"/>
                                          </p:val>
                                        </p:tav>
                                      </p:tavLst>
                                    </p:anim>
                                    <p:anim calcmode="lin" valueType="num">
                                      <p:cBhvr additive="base">
                                        <p:cTn id="16" dur="500" fill="hold"/>
                                        <p:tgtEl>
                                          <p:spTgt spid="19"/>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grpId="0" nodeType="afterEffect">
                                  <p:stCondLst>
                                    <p:cond delay="0"/>
                                  </p:stCondLst>
                                  <p:childTnLst>
                                    <p:set>
                                      <p:cBhvr>
                                        <p:cTn id="19" dur="1" fill="hold">
                                          <p:stCondLst>
                                            <p:cond delay="0"/>
                                          </p:stCondLst>
                                        </p:cTn>
                                        <p:tgtEl>
                                          <p:spTgt spid="48"/>
                                        </p:tgtEl>
                                        <p:attrNameLst>
                                          <p:attrName>style.visibility</p:attrName>
                                        </p:attrNameLst>
                                      </p:cBhvr>
                                      <p:to>
                                        <p:strVal val="visible"/>
                                      </p:to>
                                    </p:set>
                                    <p:anim calcmode="lin" valueType="num">
                                      <p:cBhvr additive="base">
                                        <p:cTn id="20" dur="500" fill="hold"/>
                                        <p:tgtEl>
                                          <p:spTgt spid="48"/>
                                        </p:tgtEl>
                                        <p:attrNameLst>
                                          <p:attrName>ppt_x</p:attrName>
                                        </p:attrNameLst>
                                      </p:cBhvr>
                                      <p:tavLst>
                                        <p:tav tm="0">
                                          <p:val>
                                            <p:strVal val="#ppt_x"/>
                                          </p:val>
                                        </p:tav>
                                        <p:tav tm="100000">
                                          <p:val>
                                            <p:strVal val="#ppt_x"/>
                                          </p:val>
                                        </p:tav>
                                      </p:tavLst>
                                    </p:anim>
                                    <p:anim calcmode="lin" valueType="num">
                                      <p:cBhvr additive="base">
                                        <p:cTn id="21" dur="500" fill="hold"/>
                                        <p:tgtEl>
                                          <p:spTgt spid="48"/>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53" presetClass="entr" presetSubtype="16" fill="hold" grpId="0" nodeType="afterEffect">
                                  <p:stCondLst>
                                    <p:cond delay="0"/>
                                  </p:stCondLst>
                                  <p:childTnLst>
                                    <p:set>
                                      <p:cBhvr>
                                        <p:cTn id="24" dur="1" fill="hold">
                                          <p:stCondLst>
                                            <p:cond delay="0"/>
                                          </p:stCondLst>
                                        </p:cTn>
                                        <p:tgtEl>
                                          <p:spTgt spid="51"/>
                                        </p:tgtEl>
                                        <p:attrNameLst>
                                          <p:attrName>style.visibility</p:attrName>
                                        </p:attrNameLst>
                                      </p:cBhvr>
                                      <p:to>
                                        <p:strVal val="visible"/>
                                      </p:to>
                                    </p:set>
                                    <p:anim calcmode="lin" valueType="num">
                                      <p:cBhvr>
                                        <p:cTn id="25" dur="500" fill="hold"/>
                                        <p:tgtEl>
                                          <p:spTgt spid="51"/>
                                        </p:tgtEl>
                                        <p:attrNameLst>
                                          <p:attrName>ppt_w</p:attrName>
                                        </p:attrNameLst>
                                      </p:cBhvr>
                                      <p:tavLst>
                                        <p:tav tm="0">
                                          <p:val>
                                            <p:fltVal val="0"/>
                                          </p:val>
                                        </p:tav>
                                        <p:tav tm="100000">
                                          <p:val>
                                            <p:strVal val="#ppt_w"/>
                                          </p:val>
                                        </p:tav>
                                      </p:tavLst>
                                    </p:anim>
                                    <p:anim calcmode="lin" valueType="num">
                                      <p:cBhvr>
                                        <p:cTn id="26" dur="500" fill="hold"/>
                                        <p:tgtEl>
                                          <p:spTgt spid="51"/>
                                        </p:tgtEl>
                                        <p:attrNameLst>
                                          <p:attrName>ppt_h</p:attrName>
                                        </p:attrNameLst>
                                      </p:cBhvr>
                                      <p:tavLst>
                                        <p:tav tm="0">
                                          <p:val>
                                            <p:fltVal val="0"/>
                                          </p:val>
                                        </p:tav>
                                        <p:tav tm="100000">
                                          <p:val>
                                            <p:strVal val="#ppt_h"/>
                                          </p:val>
                                        </p:tav>
                                      </p:tavLst>
                                    </p:anim>
                                    <p:animEffect transition="in" filter="fade">
                                      <p:cBhvr>
                                        <p:cTn id="27" dur="500"/>
                                        <p:tgtEl>
                                          <p:spTgt spid="51"/>
                                        </p:tgtEl>
                                      </p:cBhvr>
                                    </p:animEffect>
                                  </p:childTnLst>
                                </p:cTn>
                              </p:par>
                            </p:childTnLst>
                          </p:cTn>
                        </p:par>
                        <p:par>
                          <p:cTn id="28" fill="hold">
                            <p:stCondLst>
                              <p:cond delay="4000"/>
                            </p:stCondLst>
                            <p:childTnLst>
                              <p:par>
                                <p:cTn id="29" presetID="53" presetClass="entr" presetSubtype="16" fill="hold" grpId="0" nodeType="after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p:cTn id="31" dur="500" fill="hold"/>
                                        <p:tgtEl>
                                          <p:spTgt spid="53"/>
                                        </p:tgtEl>
                                        <p:attrNameLst>
                                          <p:attrName>ppt_w</p:attrName>
                                        </p:attrNameLst>
                                      </p:cBhvr>
                                      <p:tavLst>
                                        <p:tav tm="0">
                                          <p:val>
                                            <p:fltVal val="0"/>
                                          </p:val>
                                        </p:tav>
                                        <p:tav tm="100000">
                                          <p:val>
                                            <p:strVal val="#ppt_w"/>
                                          </p:val>
                                        </p:tav>
                                      </p:tavLst>
                                    </p:anim>
                                    <p:anim calcmode="lin" valueType="num">
                                      <p:cBhvr>
                                        <p:cTn id="32" dur="500" fill="hold"/>
                                        <p:tgtEl>
                                          <p:spTgt spid="53"/>
                                        </p:tgtEl>
                                        <p:attrNameLst>
                                          <p:attrName>ppt_h</p:attrName>
                                        </p:attrNameLst>
                                      </p:cBhvr>
                                      <p:tavLst>
                                        <p:tav tm="0">
                                          <p:val>
                                            <p:fltVal val="0"/>
                                          </p:val>
                                        </p:tav>
                                        <p:tav tm="100000">
                                          <p:val>
                                            <p:strVal val="#ppt_h"/>
                                          </p:val>
                                        </p:tav>
                                      </p:tavLst>
                                    </p:anim>
                                    <p:animEffect transition="in" filter="fade">
                                      <p:cBhvr>
                                        <p:cTn id="33" dur="500"/>
                                        <p:tgtEl>
                                          <p:spTgt spid="53"/>
                                        </p:tgtEl>
                                      </p:cBhvr>
                                    </p:animEffect>
                                  </p:childTnLst>
                                </p:cTn>
                              </p:par>
                            </p:childTnLst>
                          </p:cTn>
                        </p:par>
                        <p:par>
                          <p:cTn id="34" fill="hold">
                            <p:stCondLst>
                              <p:cond delay="4500"/>
                            </p:stCondLst>
                            <p:childTnLst>
                              <p:par>
                                <p:cTn id="35" presetID="53" presetClass="entr" presetSubtype="16" fill="hold" nodeType="afterEffect">
                                  <p:stCondLst>
                                    <p:cond delay="0"/>
                                  </p:stCondLst>
                                  <p:childTnLst>
                                    <p:set>
                                      <p:cBhvr>
                                        <p:cTn id="36" dur="1" fill="hold">
                                          <p:stCondLst>
                                            <p:cond delay="0"/>
                                          </p:stCondLst>
                                        </p:cTn>
                                        <p:tgtEl>
                                          <p:spTgt spid="28"/>
                                        </p:tgtEl>
                                        <p:attrNameLst>
                                          <p:attrName>style.visibility</p:attrName>
                                        </p:attrNameLst>
                                      </p:cBhvr>
                                      <p:to>
                                        <p:strVal val="visible"/>
                                      </p:to>
                                    </p:set>
                                    <p:anim calcmode="lin" valueType="num">
                                      <p:cBhvr>
                                        <p:cTn id="37" dur="500" fill="hold"/>
                                        <p:tgtEl>
                                          <p:spTgt spid="28"/>
                                        </p:tgtEl>
                                        <p:attrNameLst>
                                          <p:attrName>ppt_w</p:attrName>
                                        </p:attrNameLst>
                                      </p:cBhvr>
                                      <p:tavLst>
                                        <p:tav tm="0">
                                          <p:val>
                                            <p:fltVal val="0"/>
                                          </p:val>
                                        </p:tav>
                                        <p:tav tm="100000">
                                          <p:val>
                                            <p:strVal val="#ppt_w"/>
                                          </p:val>
                                        </p:tav>
                                      </p:tavLst>
                                    </p:anim>
                                    <p:anim calcmode="lin" valueType="num">
                                      <p:cBhvr>
                                        <p:cTn id="38" dur="500" fill="hold"/>
                                        <p:tgtEl>
                                          <p:spTgt spid="28"/>
                                        </p:tgtEl>
                                        <p:attrNameLst>
                                          <p:attrName>ppt_h</p:attrName>
                                        </p:attrNameLst>
                                      </p:cBhvr>
                                      <p:tavLst>
                                        <p:tav tm="0">
                                          <p:val>
                                            <p:fltVal val="0"/>
                                          </p:val>
                                        </p:tav>
                                        <p:tav tm="100000">
                                          <p:val>
                                            <p:strVal val="#ppt_h"/>
                                          </p:val>
                                        </p:tav>
                                      </p:tavLst>
                                    </p:anim>
                                    <p:animEffect transition="in" filter="fade">
                                      <p:cBhvr>
                                        <p:cTn id="39" dur="500"/>
                                        <p:tgtEl>
                                          <p:spTgt spid="28"/>
                                        </p:tgtEl>
                                      </p:cBhvr>
                                    </p:animEffect>
                                  </p:childTnLst>
                                </p:cTn>
                              </p:par>
                            </p:childTnLst>
                          </p:cTn>
                        </p:par>
                        <p:par>
                          <p:cTn id="40" fill="hold">
                            <p:stCondLst>
                              <p:cond delay="5000"/>
                            </p:stCondLst>
                            <p:childTnLst>
                              <p:par>
                                <p:cTn id="41" presetID="16" presetClass="entr" presetSubtype="21" fill="hold" nodeType="afterEffect">
                                  <p:stCondLst>
                                    <p:cond delay="0"/>
                                  </p:stCondLst>
                                  <p:childTnLst>
                                    <p:set>
                                      <p:cBhvr>
                                        <p:cTn id="42" dur="1" fill="hold">
                                          <p:stCondLst>
                                            <p:cond delay="0"/>
                                          </p:stCondLst>
                                        </p:cTn>
                                        <p:tgtEl>
                                          <p:spTgt spid="15">
                                            <p:txEl>
                                              <p:pRg st="0" end="0"/>
                                            </p:txEl>
                                          </p:spTgt>
                                        </p:tgtEl>
                                        <p:attrNameLst>
                                          <p:attrName>style.visibility</p:attrName>
                                        </p:attrNameLst>
                                      </p:cBhvr>
                                      <p:to>
                                        <p:strVal val="visible"/>
                                      </p:to>
                                    </p:set>
                                    <p:animEffect transition="in" filter="barn(inVertical)">
                                      <p:cBhvr>
                                        <p:cTn id="43" dur="500"/>
                                        <p:tgtEl>
                                          <p:spTgt spid="15">
                                            <p:txEl>
                                              <p:pRg st="0" end="0"/>
                                            </p:txEl>
                                          </p:spTgt>
                                        </p:tgtEl>
                                      </p:cBhvr>
                                    </p:animEffect>
                                  </p:childTnLst>
                                </p:cTn>
                              </p:par>
                            </p:childTnLst>
                          </p:cTn>
                        </p:par>
                        <p:par>
                          <p:cTn id="44" fill="hold">
                            <p:stCondLst>
                              <p:cond delay="5500"/>
                            </p:stCondLst>
                            <p:childTnLst>
                              <p:par>
                                <p:cTn id="45" presetID="16" presetClass="entr" presetSubtype="21" fill="hold" nodeType="afterEffect">
                                  <p:stCondLst>
                                    <p:cond delay="0"/>
                                  </p:stCondLst>
                                  <p:childTnLst>
                                    <p:set>
                                      <p:cBhvr>
                                        <p:cTn id="46" dur="1" fill="hold">
                                          <p:stCondLst>
                                            <p:cond delay="0"/>
                                          </p:stCondLst>
                                        </p:cTn>
                                        <p:tgtEl>
                                          <p:spTgt spid="15">
                                            <p:txEl>
                                              <p:pRg st="1" end="1"/>
                                            </p:txEl>
                                          </p:spTgt>
                                        </p:tgtEl>
                                        <p:attrNameLst>
                                          <p:attrName>style.visibility</p:attrName>
                                        </p:attrNameLst>
                                      </p:cBhvr>
                                      <p:to>
                                        <p:strVal val="visible"/>
                                      </p:to>
                                    </p:set>
                                    <p:animEffect transition="in" filter="barn(inVertical)">
                                      <p:cBhvr>
                                        <p:cTn id="47" dur="500"/>
                                        <p:tgtEl>
                                          <p:spTgt spid="15">
                                            <p:txEl>
                                              <p:pRg st="1" end="1"/>
                                            </p:txEl>
                                          </p:spTgt>
                                        </p:tgtEl>
                                      </p:cBhvr>
                                    </p:animEffect>
                                  </p:childTnLst>
                                </p:cTn>
                              </p:par>
                            </p:childTnLst>
                          </p:cTn>
                        </p:par>
                        <p:par>
                          <p:cTn id="48" fill="hold">
                            <p:stCondLst>
                              <p:cond delay="6000"/>
                            </p:stCondLst>
                            <p:childTnLst>
                              <p:par>
                                <p:cTn id="49" presetID="16" presetClass="entr" presetSubtype="21" fill="hold" nodeType="afterEffect">
                                  <p:stCondLst>
                                    <p:cond delay="0"/>
                                  </p:stCondLst>
                                  <p:childTnLst>
                                    <p:set>
                                      <p:cBhvr>
                                        <p:cTn id="50" dur="1" fill="hold">
                                          <p:stCondLst>
                                            <p:cond delay="0"/>
                                          </p:stCondLst>
                                        </p:cTn>
                                        <p:tgtEl>
                                          <p:spTgt spid="15">
                                            <p:txEl>
                                              <p:pRg st="2" end="2"/>
                                            </p:txEl>
                                          </p:spTgt>
                                        </p:tgtEl>
                                        <p:attrNameLst>
                                          <p:attrName>style.visibility</p:attrName>
                                        </p:attrNameLst>
                                      </p:cBhvr>
                                      <p:to>
                                        <p:strVal val="visible"/>
                                      </p:to>
                                    </p:set>
                                    <p:animEffect transition="in" filter="barn(inVertical)">
                                      <p:cBhvr>
                                        <p:cTn id="51" dur="500"/>
                                        <p:tgtEl>
                                          <p:spTgt spid="15">
                                            <p:txEl>
                                              <p:pRg st="2" end="2"/>
                                            </p:txEl>
                                          </p:spTgt>
                                        </p:tgtEl>
                                      </p:cBhvr>
                                    </p:animEffect>
                                  </p:childTnLst>
                                </p:cTn>
                              </p:par>
                            </p:childTnLst>
                          </p:cTn>
                        </p:par>
                        <p:par>
                          <p:cTn id="52" fill="hold">
                            <p:stCondLst>
                              <p:cond delay="6500"/>
                            </p:stCondLst>
                            <p:childTnLst>
                              <p:par>
                                <p:cTn id="53" presetID="16" presetClass="entr" presetSubtype="21" fill="hold" grpId="0" nodeType="afterEffect">
                                  <p:stCondLst>
                                    <p:cond delay="0"/>
                                  </p:stCondLst>
                                  <p:childTnLst>
                                    <p:set>
                                      <p:cBhvr>
                                        <p:cTn id="54" dur="1" fill="hold">
                                          <p:stCondLst>
                                            <p:cond delay="0"/>
                                          </p:stCondLst>
                                        </p:cTn>
                                        <p:tgtEl>
                                          <p:spTgt spid="4"/>
                                        </p:tgtEl>
                                        <p:attrNameLst>
                                          <p:attrName>style.visibility</p:attrName>
                                        </p:attrNameLst>
                                      </p:cBhvr>
                                      <p:to>
                                        <p:strVal val="visible"/>
                                      </p:to>
                                    </p:set>
                                    <p:animEffect transition="in" filter="barn(inVertical)">
                                      <p:cBhvr>
                                        <p:cTn id="55" dur="500"/>
                                        <p:tgtEl>
                                          <p:spTgt spid="4"/>
                                        </p:tgtEl>
                                      </p:cBhvr>
                                    </p:animEffect>
                                  </p:childTnLst>
                                </p:cTn>
                              </p:par>
                            </p:childTnLst>
                          </p:cTn>
                        </p:par>
                        <p:par>
                          <p:cTn id="56" fill="hold">
                            <p:stCondLst>
                              <p:cond delay="7000"/>
                            </p:stCondLst>
                            <p:childTnLst>
                              <p:par>
                                <p:cTn id="57" presetID="16" presetClass="entr" presetSubtype="21" fill="hold" nodeType="afterEffect">
                                  <p:stCondLst>
                                    <p:cond delay="0"/>
                                  </p:stCondLst>
                                  <p:childTnLst>
                                    <p:set>
                                      <p:cBhvr>
                                        <p:cTn id="58" dur="1" fill="hold">
                                          <p:stCondLst>
                                            <p:cond delay="0"/>
                                          </p:stCondLst>
                                        </p:cTn>
                                        <p:tgtEl>
                                          <p:spTgt spid="16">
                                            <p:txEl>
                                              <p:pRg st="0" end="0"/>
                                            </p:txEl>
                                          </p:spTgt>
                                        </p:tgtEl>
                                        <p:attrNameLst>
                                          <p:attrName>style.visibility</p:attrName>
                                        </p:attrNameLst>
                                      </p:cBhvr>
                                      <p:to>
                                        <p:strVal val="visible"/>
                                      </p:to>
                                    </p:set>
                                    <p:animEffect transition="in" filter="barn(inVertical)">
                                      <p:cBhvr>
                                        <p:cTn id="59" dur="5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7" grpId="0"/>
      <p:bldP spid="26" grpId="0"/>
      <p:bldP spid="48" grpId="0"/>
      <p:bldP spid="51" grpId="0" animBg="1"/>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128872" y="393820"/>
            <a:ext cx="508571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6-2 </a:t>
            </a:r>
            <a:r>
              <a:rPr lang="zh-TW" altLang="en-US" sz="2400" b="1" dirty="0">
                <a:solidFill>
                  <a:srgbClr val="E06741"/>
                </a:solidFill>
              </a:rPr>
              <a:t>實務案例─消費金融</a:t>
            </a:r>
            <a:r>
              <a:rPr lang="en-US" altLang="zh-TW" sz="2400" b="1" dirty="0">
                <a:solidFill>
                  <a:srgbClr val="E06741"/>
                </a:solidFill>
              </a:rPr>
              <a:t>ABS</a:t>
            </a:r>
            <a:endParaRPr lang="zh-TW" altLang="en-US" sz="2400" b="1" dirty="0">
              <a:solidFill>
                <a:srgbClr val="E06741"/>
              </a:solidFill>
            </a:endParaRP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6" name="文字方塊 25">
            <a:extLst>
              <a:ext uri="{FF2B5EF4-FFF2-40B4-BE49-F238E27FC236}">
                <a16:creationId xmlns:a16="http://schemas.microsoft.com/office/drawing/2014/main" id="{4395D4FE-2FC0-4BD2-9BD3-55FB3C9BD0BF}"/>
              </a:ext>
            </a:extLst>
          </p:cNvPr>
          <p:cNvSpPr txBox="1"/>
          <p:nvPr/>
        </p:nvSpPr>
        <p:spPr>
          <a:xfrm>
            <a:off x="5798296"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案例區塊鏈應用</a:t>
            </a:r>
          </a:p>
        </p:txBody>
      </p:sp>
      <p:sp>
        <p:nvSpPr>
          <p:cNvPr id="48" name="文字方塊 47">
            <a:extLst>
              <a:ext uri="{FF2B5EF4-FFF2-40B4-BE49-F238E27FC236}">
                <a16:creationId xmlns:a16="http://schemas.microsoft.com/office/drawing/2014/main" id="{86DEFDDE-4381-4267-8E1E-1C7ACE9AF7B6}"/>
              </a:ext>
            </a:extLst>
          </p:cNvPr>
          <p:cNvSpPr txBox="1"/>
          <p:nvPr/>
        </p:nvSpPr>
        <p:spPr>
          <a:xfrm>
            <a:off x="1652080" y="1445737"/>
            <a:ext cx="8887839" cy="4456476"/>
          </a:xfrm>
          <a:prstGeom prst="rect">
            <a:avLst/>
          </a:prstGeom>
          <a:noFill/>
        </p:spPr>
        <p:txBody>
          <a:bodyPr wrap="square" rtlCol="0">
            <a:spAutoFit/>
          </a:bodyPr>
          <a:lstStyle/>
          <a:p>
            <a:pPr marL="342900" indent="-342900">
              <a:lnSpc>
                <a:spcPct val="150000"/>
              </a:lnSpc>
              <a:buSzPct val="15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以</a:t>
            </a:r>
            <a:r>
              <a:rPr lang="zh-TW" altLang="en-US" sz="2400" b="1" dirty="0">
                <a:solidFill>
                  <a:srgbClr val="3DA18E"/>
                </a:solidFill>
                <a:latin typeface="微軟正黑體" panose="020B0604030504040204" pitchFamily="34" charset="-120"/>
                <a:ea typeface="微軟正黑體" panose="020B0604030504040204" pitchFamily="34" charset="-120"/>
              </a:rPr>
              <a:t>消費金融</a:t>
            </a:r>
            <a:r>
              <a:rPr lang="en-US" altLang="zh-TW" sz="2400" b="1" dirty="0">
                <a:solidFill>
                  <a:srgbClr val="3DA18E"/>
                </a:solidFill>
                <a:latin typeface="微軟正黑體" panose="020B0604030504040204" pitchFamily="34" charset="-120"/>
                <a:ea typeface="微軟正黑體" panose="020B0604030504040204" pitchFamily="34" charset="-120"/>
              </a:rPr>
              <a:t>ABS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為例</a:t>
            </a:r>
          </a:p>
          <a:p>
            <a:pPr marL="342900"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從監管的角度</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應用區塊鏈讓</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ABS</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的作業流程更透明且有助於控管風險，進而適當降低進入門檻</a:t>
            </a:r>
          </a:p>
          <a:p>
            <a:pPr marL="342900"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從發行機構的角度</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把</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ABS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資產信用評等轉移到底層資產信用評等，使實力或規模較小的中、小消費金融機構能以低成本發行</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ABS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產品</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Font typeface="微軟正黑體" panose="020B0604030504040204" pitchFamily="34" charset="-120"/>
              <a:buChar char="→"/>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達到資源共享及技術分享，融資更便利</a:t>
            </a:r>
          </a:p>
        </p:txBody>
      </p:sp>
      <p:cxnSp>
        <p:nvCxnSpPr>
          <p:cNvPr id="19" name="直接连接符 33">
            <a:extLst>
              <a:ext uri="{FF2B5EF4-FFF2-40B4-BE49-F238E27FC236}">
                <a16:creationId xmlns:a16="http://schemas.microsoft.com/office/drawing/2014/main" id="{0C636EF0-B27A-4CC5-BD76-C6B847FB7973}"/>
              </a:ext>
            </a:extLst>
          </p:cNvPr>
          <p:cNvCxnSpPr>
            <a:cxnSpLocks/>
          </p:cNvCxnSpPr>
          <p:nvPr/>
        </p:nvCxnSpPr>
        <p:spPr>
          <a:xfrm>
            <a:off x="1177167" y="1046746"/>
            <a:ext cx="8147988"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0" name="圖片 19" descr="一張含有 向量圖形, 樂高, 文字 的圖片&#10;&#10;描述是以非常高的可信度產生">
            <a:extLst>
              <a:ext uri="{FF2B5EF4-FFF2-40B4-BE49-F238E27FC236}">
                <a16:creationId xmlns:a16="http://schemas.microsoft.com/office/drawing/2014/main" id="{50954CC6-20F0-4FFB-B503-69C02F0A61F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64093" y="277632"/>
            <a:ext cx="1981568" cy="1981566"/>
          </a:xfrm>
          <a:prstGeom prst="rect">
            <a:avLst/>
          </a:prstGeom>
        </p:spPr>
      </p:pic>
    </p:spTree>
    <p:extLst>
      <p:ext uri="{BB962C8B-B14F-4D97-AF65-F5344CB8AC3E}">
        <p14:creationId xmlns:p14="http://schemas.microsoft.com/office/powerpoint/2010/main" val="1382658687"/>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barn(inVertical)">
                                      <p:cBhvr>
                                        <p:cTn id="11" dur="500"/>
                                        <p:tgtEl>
                                          <p:spTgt spid="26"/>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500" fill="hold"/>
                                        <p:tgtEl>
                                          <p:spTgt spid="19"/>
                                        </p:tgtEl>
                                        <p:attrNameLst>
                                          <p:attrName>ppt_x</p:attrName>
                                        </p:attrNameLst>
                                      </p:cBhvr>
                                      <p:tavLst>
                                        <p:tav tm="0">
                                          <p:val>
                                            <p:strVal val="0-#ppt_w/2"/>
                                          </p:val>
                                        </p:tav>
                                        <p:tav tm="100000">
                                          <p:val>
                                            <p:strVal val="#ppt_x"/>
                                          </p:val>
                                        </p:tav>
                                      </p:tavLst>
                                    </p:anim>
                                    <p:anim calcmode="lin" valueType="num">
                                      <p:cBhvr additive="base">
                                        <p:cTn id="16" dur="500" fill="hold"/>
                                        <p:tgtEl>
                                          <p:spTgt spid="19"/>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8" fill="hold" nodeType="afterEffect">
                                  <p:stCondLst>
                                    <p:cond delay="0"/>
                                  </p:stCondLst>
                                  <p:childTnLst>
                                    <p:set>
                                      <p:cBhvr>
                                        <p:cTn id="19" dur="1" fill="hold">
                                          <p:stCondLst>
                                            <p:cond delay="0"/>
                                          </p:stCondLst>
                                        </p:cTn>
                                        <p:tgtEl>
                                          <p:spTgt spid="48">
                                            <p:txEl>
                                              <p:pRg st="0" end="0"/>
                                            </p:txEl>
                                          </p:spTgt>
                                        </p:tgtEl>
                                        <p:attrNameLst>
                                          <p:attrName>style.visibility</p:attrName>
                                        </p:attrNameLst>
                                      </p:cBhvr>
                                      <p:to>
                                        <p:strVal val="visible"/>
                                      </p:to>
                                    </p:set>
                                    <p:anim calcmode="lin" valueType="num">
                                      <p:cBhvr additive="base">
                                        <p:cTn id="20" dur="500" fill="hold"/>
                                        <p:tgtEl>
                                          <p:spTgt spid="48">
                                            <p:txEl>
                                              <p:pRg st="0" end="0"/>
                                            </p:txEl>
                                          </p:spTgt>
                                        </p:tgtEl>
                                        <p:attrNameLst>
                                          <p:attrName>ppt_x</p:attrName>
                                        </p:attrNameLst>
                                      </p:cBhvr>
                                      <p:tavLst>
                                        <p:tav tm="0">
                                          <p:val>
                                            <p:strVal val="0-#ppt_w/2"/>
                                          </p:val>
                                        </p:tav>
                                        <p:tav tm="100000">
                                          <p:val>
                                            <p:strVal val="#ppt_x"/>
                                          </p:val>
                                        </p:tav>
                                      </p:tavLst>
                                    </p:anim>
                                    <p:anim calcmode="lin" valueType="num">
                                      <p:cBhvr additive="base">
                                        <p:cTn id="21" dur="500" fill="hold"/>
                                        <p:tgtEl>
                                          <p:spTgt spid="48">
                                            <p:txEl>
                                              <p:pRg st="0" end="0"/>
                                            </p:txEl>
                                          </p:spTgt>
                                        </p:tgtEl>
                                        <p:attrNameLst>
                                          <p:attrName>ppt_y</p:attrName>
                                        </p:attrNameLst>
                                      </p:cBhvr>
                                      <p:tavLst>
                                        <p:tav tm="0">
                                          <p:val>
                                            <p:strVal val="#ppt_y"/>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48">
                                            <p:txEl>
                                              <p:pRg st="1" end="1"/>
                                            </p:txEl>
                                          </p:spTgt>
                                        </p:tgtEl>
                                        <p:attrNameLst>
                                          <p:attrName>style.visibility</p:attrName>
                                        </p:attrNameLst>
                                      </p:cBhvr>
                                      <p:to>
                                        <p:strVal val="visible"/>
                                      </p:to>
                                    </p:set>
                                    <p:animEffect transition="in" filter="barn(inVertical)">
                                      <p:cBhvr>
                                        <p:cTn id="25" dur="500"/>
                                        <p:tgtEl>
                                          <p:spTgt spid="48">
                                            <p:txEl>
                                              <p:pRg st="1" end="1"/>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48">
                                            <p:txEl>
                                              <p:pRg st="2" end="2"/>
                                            </p:txEl>
                                          </p:spTgt>
                                        </p:tgtEl>
                                        <p:attrNameLst>
                                          <p:attrName>style.visibility</p:attrName>
                                        </p:attrNameLst>
                                      </p:cBhvr>
                                      <p:to>
                                        <p:strVal val="visible"/>
                                      </p:to>
                                    </p:set>
                                    <p:animEffect transition="in" filter="barn(inVertical)">
                                      <p:cBhvr>
                                        <p:cTn id="29" dur="500"/>
                                        <p:tgtEl>
                                          <p:spTgt spid="48">
                                            <p:txEl>
                                              <p:pRg st="2" end="2"/>
                                            </p:txEl>
                                          </p:spTgt>
                                        </p:tgtEl>
                                      </p:cBhvr>
                                    </p:animEffect>
                                  </p:childTnLst>
                                </p:cTn>
                              </p:par>
                            </p:childTnLst>
                          </p:cTn>
                        </p:par>
                        <p:par>
                          <p:cTn id="30" fill="hold">
                            <p:stCondLst>
                              <p:cond delay="4500"/>
                            </p:stCondLst>
                            <p:childTnLst>
                              <p:par>
                                <p:cTn id="31" presetID="16" presetClass="entr" presetSubtype="21" fill="hold" nodeType="afterEffect">
                                  <p:stCondLst>
                                    <p:cond delay="0"/>
                                  </p:stCondLst>
                                  <p:childTnLst>
                                    <p:set>
                                      <p:cBhvr>
                                        <p:cTn id="32" dur="1" fill="hold">
                                          <p:stCondLst>
                                            <p:cond delay="0"/>
                                          </p:stCondLst>
                                        </p:cTn>
                                        <p:tgtEl>
                                          <p:spTgt spid="48">
                                            <p:txEl>
                                              <p:pRg st="3" end="3"/>
                                            </p:txEl>
                                          </p:spTgt>
                                        </p:tgtEl>
                                        <p:attrNameLst>
                                          <p:attrName>style.visibility</p:attrName>
                                        </p:attrNameLst>
                                      </p:cBhvr>
                                      <p:to>
                                        <p:strVal val="visible"/>
                                      </p:to>
                                    </p:set>
                                    <p:animEffect transition="in" filter="barn(inVertical)">
                                      <p:cBhvr>
                                        <p:cTn id="33" dur="500"/>
                                        <p:tgtEl>
                                          <p:spTgt spid="48">
                                            <p:txEl>
                                              <p:pRg st="3" end="3"/>
                                            </p:txEl>
                                          </p:spTgt>
                                        </p:tgtEl>
                                      </p:cBhvr>
                                    </p:animEffect>
                                  </p:childTnLst>
                                </p:cTn>
                              </p:par>
                            </p:childTnLst>
                          </p:cTn>
                        </p:par>
                        <p:par>
                          <p:cTn id="34" fill="hold">
                            <p:stCondLst>
                              <p:cond delay="5000"/>
                            </p:stCondLst>
                            <p:childTnLst>
                              <p:par>
                                <p:cTn id="35" presetID="16" presetClass="entr" presetSubtype="21" fill="hold" nodeType="afterEffect">
                                  <p:stCondLst>
                                    <p:cond delay="0"/>
                                  </p:stCondLst>
                                  <p:childTnLst>
                                    <p:set>
                                      <p:cBhvr>
                                        <p:cTn id="36" dur="1" fill="hold">
                                          <p:stCondLst>
                                            <p:cond delay="0"/>
                                          </p:stCondLst>
                                        </p:cTn>
                                        <p:tgtEl>
                                          <p:spTgt spid="48">
                                            <p:txEl>
                                              <p:pRg st="4" end="4"/>
                                            </p:txEl>
                                          </p:spTgt>
                                        </p:tgtEl>
                                        <p:attrNameLst>
                                          <p:attrName>style.visibility</p:attrName>
                                        </p:attrNameLst>
                                      </p:cBhvr>
                                      <p:to>
                                        <p:strVal val="visible"/>
                                      </p:to>
                                    </p:set>
                                    <p:animEffect transition="in" filter="barn(inVertical)">
                                      <p:cBhvr>
                                        <p:cTn id="37" dur="500"/>
                                        <p:tgtEl>
                                          <p:spTgt spid="48">
                                            <p:txEl>
                                              <p:pRg st="4" end="4"/>
                                            </p:txEl>
                                          </p:spTgt>
                                        </p:tgtEl>
                                      </p:cBhvr>
                                    </p:animEffect>
                                  </p:childTnLst>
                                </p:cTn>
                              </p:par>
                            </p:childTnLst>
                          </p:cTn>
                        </p:par>
                        <p:par>
                          <p:cTn id="38" fill="hold">
                            <p:stCondLst>
                              <p:cond delay="5500"/>
                            </p:stCondLst>
                            <p:childTnLst>
                              <p:par>
                                <p:cTn id="39" presetID="16" presetClass="entr" presetSubtype="21" fill="hold" nodeType="afterEffect">
                                  <p:stCondLst>
                                    <p:cond delay="0"/>
                                  </p:stCondLst>
                                  <p:childTnLst>
                                    <p:set>
                                      <p:cBhvr>
                                        <p:cTn id="40" dur="1" fill="hold">
                                          <p:stCondLst>
                                            <p:cond delay="0"/>
                                          </p:stCondLst>
                                        </p:cTn>
                                        <p:tgtEl>
                                          <p:spTgt spid="48">
                                            <p:txEl>
                                              <p:pRg st="5" end="5"/>
                                            </p:txEl>
                                          </p:spTgt>
                                        </p:tgtEl>
                                        <p:attrNameLst>
                                          <p:attrName>style.visibility</p:attrName>
                                        </p:attrNameLst>
                                      </p:cBhvr>
                                      <p:to>
                                        <p:strVal val="visible"/>
                                      </p:to>
                                    </p:set>
                                    <p:animEffect transition="in" filter="barn(inVertical)">
                                      <p:cBhvr>
                                        <p:cTn id="41" dur="500"/>
                                        <p:tgtEl>
                                          <p:spTgt spid="48">
                                            <p:txEl>
                                              <p:pRg st="5" end="5"/>
                                            </p:txEl>
                                          </p:spTgt>
                                        </p:tgtEl>
                                      </p:cBhvr>
                                    </p:animEffect>
                                  </p:childTnLst>
                                </p:cTn>
                              </p:par>
                            </p:childTnLst>
                          </p:cTn>
                        </p:par>
                        <p:par>
                          <p:cTn id="42" fill="hold">
                            <p:stCondLst>
                              <p:cond delay="6000"/>
                            </p:stCondLst>
                            <p:childTnLst>
                              <p:par>
                                <p:cTn id="43" presetID="53" presetClass="entr" presetSubtype="16" fill="hold" nodeType="afterEffect">
                                  <p:stCondLst>
                                    <p:cond delay="0"/>
                                  </p:stCondLst>
                                  <p:childTnLst>
                                    <p:set>
                                      <p:cBhvr>
                                        <p:cTn id="44" dur="1" fill="hold">
                                          <p:stCondLst>
                                            <p:cond delay="0"/>
                                          </p:stCondLst>
                                        </p:cTn>
                                        <p:tgtEl>
                                          <p:spTgt spid="20"/>
                                        </p:tgtEl>
                                        <p:attrNameLst>
                                          <p:attrName>style.visibility</p:attrName>
                                        </p:attrNameLst>
                                      </p:cBhvr>
                                      <p:to>
                                        <p:strVal val="visible"/>
                                      </p:to>
                                    </p:set>
                                    <p:anim calcmode="lin" valueType="num">
                                      <p:cBhvr>
                                        <p:cTn id="45" dur="500" fill="hold"/>
                                        <p:tgtEl>
                                          <p:spTgt spid="20"/>
                                        </p:tgtEl>
                                        <p:attrNameLst>
                                          <p:attrName>ppt_w</p:attrName>
                                        </p:attrNameLst>
                                      </p:cBhvr>
                                      <p:tavLst>
                                        <p:tav tm="0">
                                          <p:val>
                                            <p:fltVal val="0"/>
                                          </p:val>
                                        </p:tav>
                                        <p:tav tm="100000">
                                          <p:val>
                                            <p:strVal val="#ppt_w"/>
                                          </p:val>
                                        </p:tav>
                                      </p:tavLst>
                                    </p:anim>
                                    <p:anim calcmode="lin" valueType="num">
                                      <p:cBhvr>
                                        <p:cTn id="46" dur="500" fill="hold"/>
                                        <p:tgtEl>
                                          <p:spTgt spid="20"/>
                                        </p:tgtEl>
                                        <p:attrNameLst>
                                          <p:attrName>ppt_h</p:attrName>
                                        </p:attrNameLst>
                                      </p:cBhvr>
                                      <p:tavLst>
                                        <p:tav tm="0">
                                          <p:val>
                                            <p:fltVal val="0"/>
                                          </p:val>
                                        </p:tav>
                                        <p:tav tm="100000">
                                          <p:val>
                                            <p:strVal val="#ppt_h"/>
                                          </p:val>
                                        </p:tav>
                                      </p:tavLst>
                                    </p:anim>
                                    <p:animEffect transition="in" filter="fade">
                                      <p:cBhvr>
                                        <p:cTn id="4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128872" y="393820"/>
            <a:ext cx="508571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6-2 </a:t>
            </a:r>
            <a:r>
              <a:rPr lang="zh-TW" altLang="en-US" sz="2400" b="1" dirty="0">
                <a:solidFill>
                  <a:srgbClr val="E06741"/>
                </a:solidFill>
              </a:rPr>
              <a:t>實務案例─消費金融</a:t>
            </a:r>
            <a:r>
              <a:rPr lang="en-US" altLang="zh-TW" sz="2400" b="1" dirty="0">
                <a:solidFill>
                  <a:srgbClr val="E06741"/>
                </a:solidFill>
              </a:rPr>
              <a:t>ABS</a:t>
            </a:r>
            <a:endParaRPr lang="zh-TW" altLang="en-US" sz="2400" b="1" dirty="0">
              <a:solidFill>
                <a:srgbClr val="E06741"/>
              </a:solidFill>
            </a:endParaRP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6" name="文字方塊 25">
            <a:extLst>
              <a:ext uri="{FF2B5EF4-FFF2-40B4-BE49-F238E27FC236}">
                <a16:creationId xmlns:a16="http://schemas.microsoft.com/office/drawing/2014/main" id="{4395D4FE-2FC0-4BD2-9BD3-55FB3C9BD0BF}"/>
              </a:ext>
            </a:extLst>
          </p:cNvPr>
          <p:cNvSpPr txBox="1"/>
          <p:nvPr/>
        </p:nvSpPr>
        <p:spPr>
          <a:xfrm>
            <a:off x="5798296"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案例區塊鏈應用</a:t>
            </a:r>
          </a:p>
        </p:txBody>
      </p:sp>
      <p:sp>
        <p:nvSpPr>
          <p:cNvPr id="48" name="文字方塊 47">
            <a:extLst>
              <a:ext uri="{FF2B5EF4-FFF2-40B4-BE49-F238E27FC236}">
                <a16:creationId xmlns:a16="http://schemas.microsoft.com/office/drawing/2014/main" id="{86DEFDDE-4381-4267-8E1E-1C7ACE9AF7B6}"/>
              </a:ext>
            </a:extLst>
          </p:cNvPr>
          <p:cNvSpPr txBox="1"/>
          <p:nvPr/>
        </p:nvSpPr>
        <p:spPr>
          <a:xfrm>
            <a:off x="1712466" y="1529301"/>
            <a:ext cx="8767068" cy="2681888"/>
          </a:xfrm>
          <a:prstGeom prst="rect">
            <a:avLst/>
          </a:prstGeom>
          <a:noFill/>
        </p:spPr>
        <p:txBody>
          <a:bodyPr wrap="square" rtlCol="0">
            <a:spAutoFit/>
          </a:bodyPr>
          <a:lstStyle/>
          <a:p>
            <a:pPr marL="342900" indent="-342900">
              <a:lnSpc>
                <a:spcPct val="150000"/>
              </a:lnSpc>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隨著區塊鏈技術的應用</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把交易平台系統串接、大量數據資料合成、交易紀錄存取，進而達到消費金融</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ABS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產品的存續期管理作為</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減少人力資源的管理，改善人為操作風險和效率</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有效提高</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ABS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存續期資訊交互的頻率與品質</a:t>
            </a:r>
          </a:p>
        </p:txBody>
      </p:sp>
      <p:cxnSp>
        <p:nvCxnSpPr>
          <p:cNvPr id="10" name="直接连接符 33">
            <a:extLst>
              <a:ext uri="{FF2B5EF4-FFF2-40B4-BE49-F238E27FC236}">
                <a16:creationId xmlns:a16="http://schemas.microsoft.com/office/drawing/2014/main" id="{B2B45865-47F4-4967-9B08-F5F03202EFD1}"/>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圖片 2" descr="一張含有 向量圖形, 螢幕擷取畫面 的圖片&#10;&#10;描述是以非常高的可信度產生">
            <a:extLst>
              <a:ext uri="{FF2B5EF4-FFF2-40B4-BE49-F238E27FC236}">
                <a16:creationId xmlns:a16="http://schemas.microsoft.com/office/drawing/2014/main" id="{C7860E51-8ED1-461D-A4F4-98D7EAB5C7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42075" y="3949953"/>
            <a:ext cx="2441982" cy="2441982"/>
          </a:xfrm>
          <a:prstGeom prst="rect">
            <a:avLst/>
          </a:prstGeom>
        </p:spPr>
      </p:pic>
    </p:spTree>
    <p:extLst>
      <p:ext uri="{BB962C8B-B14F-4D97-AF65-F5344CB8AC3E}">
        <p14:creationId xmlns:p14="http://schemas.microsoft.com/office/powerpoint/2010/main" val="3632854858"/>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barn(inVertical)">
                                      <p:cBhvr>
                                        <p:cTn id="11" dur="500"/>
                                        <p:tgtEl>
                                          <p:spTgt spid="26"/>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barn(inVertical)">
                                      <p:cBhvr>
                                        <p:cTn id="20" dur="500"/>
                                        <p:tgtEl>
                                          <p:spTgt spid="48"/>
                                        </p:tgtEl>
                                      </p:cBhvr>
                                    </p:animEffect>
                                  </p:childTnLst>
                                </p:cTn>
                              </p:par>
                            </p:childTnLst>
                          </p:cTn>
                        </p:par>
                        <p:par>
                          <p:cTn id="21" fill="hold">
                            <p:stCondLst>
                              <p:cond delay="3500"/>
                            </p:stCondLst>
                            <p:childTnLst>
                              <p:par>
                                <p:cTn id="22" presetID="53" presetClass="entr" presetSubtype="16"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p:cTn id="24" dur="500" fill="hold"/>
                                        <p:tgtEl>
                                          <p:spTgt spid="3"/>
                                        </p:tgtEl>
                                        <p:attrNameLst>
                                          <p:attrName>ppt_w</p:attrName>
                                        </p:attrNameLst>
                                      </p:cBhvr>
                                      <p:tavLst>
                                        <p:tav tm="0">
                                          <p:val>
                                            <p:fltVal val="0"/>
                                          </p:val>
                                        </p:tav>
                                        <p:tav tm="100000">
                                          <p:val>
                                            <p:strVal val="#ppt_w"/>
                                          </p:val>
                                        </p:tav>
                                      </p:tavLst>
                                    </p:anim>
                                    <p:anim calcmode="lin" valueType="num">
                                      <p:cBhvr>
                                        <p:cTn id="25" dur="500" fill="hold"/>
                                        <p:tgtEl>
                                          <p:spTgt spid="3"/>
                                        </p:tgtEl>
                                        <p:attrNameLst>
                                          <p:attrName>ppt_h</p:attrName>
                                        </p:attrNameLst>
                                      </p:cBhvr>
                                      <p:tavLst>
                                        <p:tav tm="0">
                                          <p:val>
                                            <p:fltVal val="0"/>
                                          </p:val>
                                        </p:tav>
                                        <p:tav tm="100000">
                                          <p:val>
                                            <p:strVal val="#ppt_h"/>
                                          </p:val>
                                        </p:tav>
                                      </p:tavLst>
                                    </p:anim>
                                    <p:animEffect transition="in" filter="fade">
                                      <p:cBhvr>
                                        <p:cTn id="2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6" grpId="0"/>
      <p:bldP spid="4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128872" y="393820"/>
            <a:ext cx="508571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6-2 </a:t>
            </a:r>
            <a:r>
              <a:rPr lang="zh-TW" altLang="en-US" sz="2400" b="1" dirty="0">
                <a:solidFill>
                  <a:srgbClr val="E06741"/>
                </a:solidFill>
              </a:rPr>
              <a:t>實務案例─消費金融</a:t>
            </a:r>
            <a:r>
              <a:rPr lang="en-US" altLang="zh-TW" sz="2400" b="1" dirty="0">
                <a:solidFill>
                  <a:srgbClr val="E06741"/>
                </a:solidFill>
              </a:rPr>
              <a:t>ABS</a:t>
            </a:r>
            <a:endParaRPr lang="zh-TW" altLang="en-US" sz="2400" b="1" dirty="0">
              <a:solidFill>
                <a:srgbClr val="E06741"/>
              </a:solidFill>
            </a:endParaRP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6" name="文字方塊 25">
            <a:extLst>
              <a:ext uri="{FF2B5EF4-FFF2-40B4-BE49-F238E27FC236}">
                <a16:creationId xmlns:a16="http://schemas.microsoft.com/office/drawing/2014/main" id="{4395D4FE-2FC0-4BD2-9BD3-55FB3C9BD0BF}"/>
              </a:ext>
            </a:extLst>
          </p:cNvPr>
          <p:cNvSpPr txBox="1"/>
          <p:nvPr/>
        </p:nvSpPr>
        <p:spPr>
          <a:xfrm>
            <a:off x="5798296"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案例區塊鏈應用</a:t>
            </a:r>
          </a:p>
        </p:txBody>
      </p:sp>
      <p:sp>
        <p:nvSpPr>
          <p:cNvPr id="48" name="文字方塊 47">
            <a:extLst>
              <a:ext uri="{FF2B5EF4-FFF2-40B4-BE49-F238E27FC236}">
                <a16:creationId xmlns:a16="http://schemas.microsoft.com/office/drawing/2014/main" id="{86DEFDDE-4381-4267-8E1E-1C7ACE9AF7B6}"/>
              </a:ext>
            </a:extLst>
          </p:cNvPr>
          <p:cNvSpPr txBox="1"/>
          <p:nvPr/>
        </p:nvSpPr>
        <p:spPr>
          <a:xfrm>
            <a:off x="1670895" y="1465885"/>
            <a:ext cx="9433232" cy="3743717"/>
          </a:xfrm>
          <a:prstGeom prst="rect">
            <a:avLst/>
          </a:prstGeom>
          <a:noFill/>
        </p:spPr>
        <p:txBody>
          <a:bodyPr wrap="square" rtlCol="0">
            <a:spAutoFit/>
          </a:bodyPr>
          <a:lstStyle/>
          <a:p>
            <a:pPr marL="342900" indent="-342900">
              <a:lnSpc>
                <a:spcPct val="150000"/>
              </a:lnSpc>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百度引入區塊鏈技術</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提高資訊透明度，降低信用風險</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開啟百度金融</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ABS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底層作業架構的變革</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實現使用者節點獨立部署、離散式帳本等技術</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導入使用者可以共用的交易資訊及無法篡改</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實現對底層金融資產的資訊監控</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完成資產證券化區塊鏈交易平台</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10" name="直接连接符 33">
            <a:extLst>
              <a:ext uri="{FF2B5EF4-FFF2-40B4-BE49-F238E27FC236}">
                <a16:creationId xmlns:a16="http://schemas.microsoft.com/office/drawing/2014/main" id="{B2B45865-47F4-4967-9B08-F5F03202EFD1}"/>
              </a:ext>
            </a:extLst>
          </p:cNvPr>
          <p:cNvCxnSpPr>
            <a:cxnSpLocks/>
          </p:cNvCxnSpPr>
          <p:nvPr/>
        </p:nvCxnSpPr>
        <p:spPr>
          <a:xfrm>
            <a:off x="1177167" y="1046746"/>
            <a:ext cx="8061724"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圖片 2" descr="一張含有 向量圖形 的圖片&#10;&#10;描述是以非常高的可信度產生">
            <a:extLst>
              <a:ext uri="{FF2B5EF4-FFF2-40B4-BE49-F238E27FC236}">
                <a16:creationId xmlns:a16="http://schemas.microsoft.com/office/drawing/2014/main" id="{FDFF9364-FBD5-4326-B947-EAEFE8F742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40868" y="303523"/>
            <a:ext cx="1905586" cy="1905586"/>
          </a:xfrm>
          <a:prstGeom prst="rect">
            <a:avLst/>
          </a:prstGeom>
        </p:spPr>
      </p:pic>
      <p:pic>
        <p:nvPicPr>
          <p:cNvPr id="12" name="圖片 11">
            <a:extLst>
              <a:ext uri="{FF2B5EF4-FFF2-40B4-BE49-F238E27FC236}">
                <a16:creationId xmlns:a16="http://schemas.microsoft.com/office/drawing/2014/main" id="{DBF8FAED-6265-48B2-B2BC-DFB0BE3CF41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05338" y="4780572"/>
            <a:ext cx="2130374" cy="2130372"/>
          </a:xfrm>
          <a:prstGeom prst="rect">
            <a:avLst/>
          </a:prstGeom>
        </p:spPr>
      </p:pic>
    </p:spTree>
    <p:extLst>
      <p:ext uri="{BB962C8B-B14F-4D97-AF65-F5344CB8AC3E}">
        <p14:creationId xmlns:p14="http://schemas.microsoft.com/office/powerpoint/2010/main" val="2196309491"/>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barn(inVertical)">
                                      <p:cBhvr>
                                        <p:cTn id="11" dur="500"/>
                                        <p:tgtEl>
                                          <p:spTgt spid="26"/>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barn(inVertical)">
                                      <p:cBhvr>
                                        <p:cTn id="20" dur="500"/>
                                        <p:tgtEl>
                                          <p:spTgt spid="48"/>
                                        </p:tgtEl>
                                      </p:cBhvr>
                                    </p:animEffect>
                                  </p:childTnLst>
                                </p:cTn>
                              </p:par>
                            </p:childTnLst>
                          </p:cTn>
                        </p:par>
                        <p:par>
                          <p:cTn id="21" fill="hold">
                            <p:stCondLst>
                              <p:cond delay="3500"/>
                            </p:stCondLst>
                            <p:childTnLst>
                              <p:par>
                                <p:cTn id="22" presetID="2" presetClass="entr" presetSubtype="4"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additive="base">
                                        <p:cTn id="24" dur="500" fill="hold"/>
                                        <p:tgtEl>
                                          <p:spTgt spid="12"/>
                                        </p:tgtEl>
                                        <p:attrNameLst>
                                          <p:attrName>ppt_x</p:attrName>
                                        </p:attrNameLst>
                                      </p:cBhvr>
                                      <p:tavLst>
                                        <p:tav tm="0">
                                          <p:val>
                                            <p:strVal val="#ppt_x"/>
                                          </p:val>
                                        </p:tav>
                                        <p:tav tm="100000">
                                          <p:val>
                                            <p:strVal val="#ppt_x"/>
                                          </p:val>
                                        </p:tav>
                                      </p:tavLst>
                                    </p:anim>
                                    <p:anim calcmode="lin" valueType="num">
                                      <p:cBhvr additive="base">
                                        <p:cTn id="25" dur="500" fill="hold"/>
                                        <p:tgtEl>
                                          <p:spTgt spid="12"/>
                                        </p:tgtEl>
                                        <p:attrNameLst>
                                          <p:attrName>ppt_y</p:attrName>
                                        </p:attrNameLst>
                                      </p:cBhvr>
                                      <p:tavLst>
                                        <p:tav tm="0">
                                          <p:val>
                                            <p:strVal val="1+#ppt_h/2"/>
                                          </p:val>
                                        </p:tav>
                                        <p:tav tm="100000">
                                          <p:val>
                                            <p:strVal val="#ppt_y"/>
                                          </p:val>
                                        </p:tav>
                                      </p:tavLst>
                                    </p:anim>
                                  </p:childTnLst>
                                </p:cTn>
                              </p:par>
                            </p:childTnLst>
                          </p:cTn>
                        </p:par>
                        <p:par>
                          <p:cTn id="26" fill="hold">
                            <p:stCondLst>
                              <p:cond delay="4000"/>
                            </p:stCondLst>
                            <p:childTnLst>
                              <p:par>
                                <p:cTn id="27" presetID="53" presetClass="entr" presetSubtype="16" fill="hold" nodeType="after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p:cTn id="29" dur="500" fill="hold"/>
                                        <p:tgtEl>
                                          <p:spTgt spid="3"/>
                                        </p:tgtEl>
                                        <p:attrNameLst>
                                          <p:attrName>ppt_w</p:attrName>
                                        </p:attrNameLst>
                                      </p:cBhvr>
                                      <p:tavLst>
                                        <p:tav tm="0">
                                          <p:val>
                                            <p:fltVal val="0"/>
                                          </p:val>
                                        </p:tav>
                                        <p:tav tm="100000">
                                          <p:val>
                                            <p:strVal val="#ppt_w"/>
                                          </p:val>
                                        </p:tav>
                                      </p:tavLst>
                                    </p:anim>
                                    <p:anim calcmode="lin" valueType="num">
                                      <p:cBhvr>
                                        <p:cTn id="30" dur="500" fill="hold"/>
                                        <p:tgtEl>
                                          <p:spTgt spid="3"/>
                                        </p:tgtEl>
                                        <p:attrNameLst>
                                          <p:attrName>ppt_h</p:attrName>
                                        </p:attrNameLst>
                                      </p:cBhvr>
                                      <p:tavLst>
                                        <p:tav tm="0">
                                          <p:val>
                                            <p:fltVal val="0"/>
                                          </p:val>
                                        </p:tav>
                                        <p:tav tm="100000">
                                          <p:val>
                                            <p:strVal val="#ppt_h"/>
                                          </p:val>
                                        </p:tav>
                                      </p:tavLst>
                                    </p:anim>
                                    <p:animEffect transition="in" filter="fade">
                                      <p:cBhvr>
                                        <p:cTn id="3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6" grpId="0"/>
      <p:bldP spid="4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128872" y="393820"/>
            <a:ext cx="508571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6-2 </a:t>
            </a:r>
            <a:r>
              <a:rPr lang="zh-TW" altLang="en-US" sz="2400" b="1" dirty="0">
                <a:solidFill>
                  <a:srgbClr val="E06741"/>
                </a:solidFill>
              </a:rPr>
              <a:t>實務案例─消費金融</a:t>
            </a:r>
            <a:r>
              <a:rPr lang="en-US" altLang="zh-TW" sz="2400" b="1" dirty="0">
                <a:solidFill>
                  <a:srgbClr val="E06741"/>
                </a:solidFill>
              </a:rPr>
              <a:t>ABS</a:t>
            </a:r>
            <a:endParaRPr lang="zh-TW" altLang="en-US" sz="2400" b="1" dirty="0">
              <a:solidFill>
                <a:srgbClr val="E06741"/>
              </a:solidFill>
            </a:endParaRP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6" name="文字方塊 25">
            <a:extLst>
              <a:ext uri="{FF2B5EF4-FFF2-40B4-BE49-F238E27FC236}">
                <a16:creationId xmlns:a16="http://schemas.microsoft.com/office/drawing/2014/main" id="{4395D4FE-2FC0-4BD2-9BD3-55FB3C9BD0BF}"/>
              </a:ext>
            </a:extLst>
          </p:cNvPr>
          <p:cNvSpPr txBox="1"/>
          <p:nvPr/>
        </p:nvSpPr>
        <p:spPr>
          <a:xfrm>
            <a:off x="5798296"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案例區塊鏈應用</a:t>
            </a:r>
          </a:p>
        </p:txBody>
      </p:sp>
      <p:sp>
        <p:nvSpPr>
          <p:cNvPr id="48" name="文字方塊 47">
            <a:extLst>
              <a:ext uri="{FF2B5EF4-FFF2-40B4-BE49-F238E27FC236}">
                <a16:creationId xmlns:a16="http://schemas.microsoft.com/office/drawing/2014/main" id="{86DEFDDE-4381-4267-8E1E-1C7ACE9AF7B6}"/>
              </a:ext>
            </a:extLst>
          </p:cNvPr>
          <p:cNvSpPr txBox="1"/>
          <p:nvPr/>
        </p:nvSpPr>
        <p:spPr>
          <a:xfrm>
            <a:off x="1740821" y="988819"/>
            <a:ext cx="9433232" cy="497444"/>
          </a:xfrm>
          <a:prstGeom prst="rect">
            <a:avLst/>
          </a:prstGeom>
          <a:noFill/>
        </p:spPr>
        <p:txBody>
          <a:bodyPr wrap="square" rtlCol="0">
            <a:spAutoFit/>
          </a:bodyPr>
          <a:lstStyle/>
          <a:p>
            <a:pPr marL="342900" indent="-342900">
              <a:lnSpc>
                <a:spcPct val="150000"/>
              </a:lnSpc>
              <a:buBlip>
                <a:blip r:embed="rId3"/>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百度</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ABS </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業務區塊鏈應用模式</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grpSp>
        <p:nvGrpSpPr>
          <p:cNvPr id="77" name="群組 76">
            <a:extLst>
              <a:ext uri="{FF2B5EF4-FFF2-40B4-BE49-F238E27FC236}">
                <a16:creationId xmlns:a16="http://schemas.microsoft.com/office/drawing/2014/main" id="{41D5BE2B-6433-4591-A830-B8C0449F7620}"/>
              </a:ext>
            </a:extLst>
          </p:cNvPr>
          <p:cNvGrpSpPr/>
          <p:nvPr/>
        </p:nvGrpSpPr>
        <p:grpSpPr>
          <a:xfrm>
            <a:off x="2294626" y="1603702"/>
            <a:ext cx="7839926" cy="4875248"/>
            <a:chOff x="6384032" y="1696162"/>
            <a:chExt cx="5688632" cy="4166142"/>
          </a:xfrm>
        </p:grpSpPr>
        <p:grpSp>
          <p:nvGrpSpPr>
            <p:cNvPr id="78" name="群組 77">
              <a:extLst>
                <a:ext uri="{FF2B5EF4-FFF2-40B4-BE49-F238E27FC236}">
                  <a16:creationId xmlns:a16="http://schemas.microsoft.com/office/drawing/2014/main" id="{C404AA71-7F96-4AD6-A703-95E36019AD28}"/>
                </a:ext>
              </a:extLst>
            </p:cNvPr>
            <p:cNvGrpSpPr/>
            <p:nvPr/>
          </p:nvGrpSpPr>
          <p:grpSpPr>
            <a:xfrm>
              <a:off x="6600056" y="2281518"/>
              <a:ext cx="1296144" cy="1152000"/>
              <a:chOff x="6600056" y="2281518"/>
              <a:chExt cx="1296144" cy="1152000"/>
            </a:xfrm>
          </p:grpSpPr>
          <p:cxnSp>
            <p:nvCxnSpPr>
              <p:cNvPr id="123" name="直線單箭頭接點 122">
                <a:extLst>
                  <a:ext uri="{FF2B5EF4-FFF2-40B4-BE49-F238E27FC236}">
                    <a16:creationId xmlns:a16="http://schemas.microsoft.com/office/drawing/2014/main" id="{C1C9E63B-73B5-46E2-A418-08D290FEA45E}"/>
                  </a:ext>
                </a:extLst>
              </p:cNvPr>
              <p:cNvCxnSpPr/>
              <p:nvPr/>
            </p:nvCxnSpPr>
            <p:spPr>
              <a:xfrm>
                <a:off x="6600056" y="2281518"/>
                <a:ext cx="0" cy="1152000"/>
              </a:xfrm>
              <a:prstGeom prst="straightConnector1">
                <a:avLst/>
              </a:prstGeom>
              <a:noFill/>
              <a:ln w="19050" cap="flat" cmpd="sng" algn="ctr">
                <a:solidFill>
                  <a:sysClr val="windowText" lastClr="000000"/>
                </a:solidFill>
                <a:prstDash val="dash"/>
                <a:miter lim="800000"/>
                <a:tailEnd type="triangle"/>
              </a:ln>
              <a:effectLst/>
            </p:spPr>
          </p:cxnSp>
          <p:sp>
            <p:nvSpPr>
              <p:cNvPr id="124" name="文字方塊 123">
                <a:extLst>
                  <a:ext uri="{FF2B5EF4-FFF2-40B4-BE49-F238E27FC236}">
                    <a16:creationId xmlns:a16="http://schemas.microsoft.com/office/drawing/2014/main" id="{66ACBED5-8189-420F-9295-F710A7B7FAA7}"/>
                  </a:ext>
                </a:extLst>
              </p:cNvPr>
              <p:cNvSpPr txBox="1"/>
              <p:nvPr/>
            </p:nvSpPr>
            <p:spPr>
              <a:xfrm>
                <a:off x="6600056" y="2348880"/>
                <a:ext cx="1296144" cy="90942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企業基本資訊</a:t>
                </a:r>
                <a:endParaRPr kumimoji="0" lang="en-US" altLang="zh-TW"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資產抽樣資訊</a:t>
                </a:r>
                <a:endParaRPr kumimoji="0" lang="en-US" altLang="zh-TW"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資產增強資訊</a:t>
                </a:r>
                <a:endParaRPr kumimoji="0" lang="en-US" altLang="zh-TW"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企業調查報告</a:t>
                </a:r>
              </a:p>
            </p:txBody>
          </p:sp>
        </p:grpSp>
        <p:sp>
          <p:nvSpPr>
            <p:cNvPr id="79" name="向右箭號 3">
              <a:extLst>
                <a:ext uri="{FF2B5EF4-FFF2-40B4-BE49-F238E27FC236}">
                  <a16:creationId xmlns:a16="http://schemas.microsoft.com/office/drawing/2014/main" id="{15C5E79E-1018-48F0-9D5B-645FD6E90BD4}"/>
                </a:ext>
              </a:extLst>
            </p:cNvPr>
            <p:cNvSpPr/>
            <p:nvPr/>
          </p:nvSpPr>
          <p:spPr>
            <a:xfrm>
              <a:off x="6528048" y="1988840"/>
              <a:ext cx="5400600" cy="360040"/>
            </a:xfrm>
            <a:prstGeom prst="rightArrow">
              <a:avLst/>
            </a:prstGeom>
            <a:solidFill>
              <a:sysClr val="window" lastClr="FFFFFF"/>
            </a:solidFill>
            <a:ln w="12700" cap="flat" cmpd="sng" algn="ctr">
              <a:solidFill>
                <a:srgbClr val="5B9BD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1" i="0" u="none" strike="noStrike" kern="0" cap="none" spc="0" normalizeH="0" baseline="0" noProof="0">
                <a:ln>
                  <a:noFill/>
                </a:ln>
                <a:solidFill>
                  <a:prstClr val="black"/>
                </a:solidFill>
                <a:effectLst/>
                <a:uLnTx/>
                <a:uFillTx/>
                <a:latin typeface="微軟正黑體" panose="020B0604030504040204" pitchFamily="34" charset="-120"/>
                <a:ea typeface="微軟正黑體" panose="020B0604030504040204" pitchFamily="34" charset="-120"/>
              </a:endParaRPr>
            </a:p>
          </p:txBody>
        </p:sp>
        <p:grpSp>
          <p:nvGrpSpPr>
            <p:cNvPr id="80" name="群組 79">
              <a:extLst>
                <a:ext uri="{FF2B5EF4-FFF2-40B4-BE49-F238E27FC236}">
                  <a16:creationId xmlns:a16="http://schemas.microsoft.com/office/drawing/2014/main" id="{45C6C046-5278-41A2-8DD6-0BF03C665ACC}"/>
                </a:ext>
              </a:extLst>
            </p:cNvPr>
            <p:cNvGrpSpPr/>
            <p:nvPr/>
          </p:nvGrpSpPr>
          <p:grpSpPr>
            <a:xfrm>
              <a:off x="6528048" y="1696162"/>
              <a:ext cx="1152128" cy="585356"/>
              <a:chOff x="7824192" y="3455712"/>
              <a:chExt cx="1152128" cy="585356"/>
            </a:xfrm>
          </p:grpSpPr>
          <p:sp>
            <p:nvSpPr>
              <p:cNvPr id="121" name="橢圓 120">
                <a:extLst>
                  <a:ext uri="{FF2B5EF4-FFF2-40B4-BE49-F238E27FC236}">
                    <a16:creationId xmlns:a16="http://schemas.microsoft.com/office/drawing/2014/main" id="{4E9D0090-FA81-457F-B61C-A7BA93C0C5D6}"/>
                  </a:ext>
                </a:extLst>
              </p:cNvPr>
              <p:cNvSpPr/>
              <p:nvPr/>
            </p:nvSpPr>
            <p:spPr>
              <a:xfrm>
                <a:off x="8256240" y="3825044"/>
                <a:ext cx="288032" cy="216024"/>
              </a:xfrm>
              <a:prstGeom prst="ellipse">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1" i="0" u="none" strike="noStrike" kern="0" cap="none" spc="0" normalizeH="0" baseline="0" noProof="0">
                  <a:ln>
                    <a:noFill/>
                  </a:ln>
                  <a:solidFill>
                    <a:prstClr val="white"/>
                  </a:solidFill>
                  <a:effectLst/>
                  <a:uLnTx/>
                  <a:uFillTx/>
                  <a:latin typeface="微軟正黑體" panose="020B0604030504040204" pitchFamily="34" charset="-120"/>
                  <a:ea typeface="微軟正黑體" panose="020B0604030504040204" pitchFamily="34" charset="-120"/>
                </a:endParaRPr>
              </a:p>
            </p:txBody>
          </p:sp>
          <p:sp>
            <p:nvSpPr>
              <p:cNvPr id="122" name="文字方塊 121">
                <a:extLst>
                  <a:ext uri="{FF2B5EF4-FFF2-40B4-BE49-F238E27FC236}">
                    <a16:creationId xmlns:a16="http://schemas.microsoft.com/office/drawing/2014/main" id="{8CCE4AC3-FC58-4DA8-BC18-D37DACEB2D35}"/>
                  </a:ext>
                </a:extLst>
              </p:cNvPr>
              <p:cNvSpPr txBox="1"/>
              <p:nvPr/>
            </p:nvSpPr>
            <p:spPr>
              <a:xfrm>
                <a:off x="7824192" y="3455712"/>
                <a:ext cx="1152128" cy="28876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18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企業調查</a:t>
                </a:r>
              </a:p>
            </p:txBody>
          </p:sp>
        </p:grpSp>
        <p:grpSp>
          <p:nvGrpSpPr>
            <p:cNvPr id="81" name="群組 80">
              <a:extLst>
                <a:ext uri="{FF2B5EF4-FFF2-40B4-BE49-F238E27FC236}">
                  <a16:creationId xmlns:a16="http://schemas.microsoft.com/office/drawing/2014/main" id="{BD03D019-C1BE-403F-A486-9AE5238EDB98}"/>
                </a:ext>
              </a:extLst>
            </p:cNvPr>
            <p:cNvGrpSpPr/>
            <p:nvPr/>
          </p:nvGrpSpPr>
          <p:grpSpPr>
            <a:xfrm>
              <a:off x="9205820" y="1696162"/>
              <a:ext cx="1152128" cy="585356"/>
              <a:chOff x="7824192" y="3455712"/>
              <a:chExt cx="1152128" cy="585356"/>
            </a:xfrm>
          </p:grpSpPr>
          <p:sp>
            <p:nvSpPr>
              <p:cNvPr id="119" name="橢圓 118">
                <a:extLst>
                  <a:ext uri="{FF2B5EF4-FFF2-40B4-BE49-F238E27FC236}">
                    <a16:creationId xmlns:a16="http://schemas.microsoft.com/office/drawing/2014/main" id="{83F9BA29-08D8-49D8-9110-C675F201FD83}"/>
                  </a:ext>
                </a:extLst>
              </p:cNvPr>
              <p:cNvSpPr/>
              <p:nvPr/>
            </p:nvSpPr>
            <p:spPr>
              <a:xfrm>
                <a:off x="8256240" y="3825044"/>
                <a:ext cx="288032" cy="216024"/>
              </a:xfrm>
              <a:prstGeom prst="ellipse">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1" i="0" u="none" strike="noStrike" kern="0" cap="none" spc="0" normalizeH="0" baseline="0" noProof="0">
                  <a:ln>
                    <a:noFill/>
                  </a:ln>
                  <a:solidFill>
                    <a:prstClr val="white"/>
                  </a:solidFill>
                  <a:effectLst/>
                  <a:uLnTx/>
                  <a:uFillTx/>
                  <a:latin typeface="微軟正黑體" panose="020B0604030504040204" pitchFamily="34" charset="-120"/>
                  <a:ea typeface="微軟正黑體" panose="020B0604030504040204" pitchFamily="34" charset="-120"/>
                </a:endParaRPr>
              </a:p>
            </p:txBody>
          </p:sp>
          <p:sp>
            <p:nvSpPr>
              <p:cNvPr id="120" name="文字方塊 119">
                <a:extLst>
                  <a:ext uri="{FF2B5EF4-FFF2-40B4-BE49-F238E27FC236}">
                    <a16:creationId xmlns:a16="http://schemas.microsoft.com/office/drawing/2014/main" id="{81E1E000-5479-4049-8A86-D7C34AA1D2D6}"/>
                  </a:ext>
                </a:extLst>
              </p:cNvPr>
              <p:cNvSpPr txBox="1"/>
              <p:nvPr/>
            </p:nvSpPr>
            <p:spPr>
              <a:xfrm>
                <a:off x="7824192" y="3455712"/>
                <a:ext cx="1152128" cy="28876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18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發行購買</a:t>
                </a:r>
              </a:p>
            </p:txBody>
          </p:sp>
        </p:grpSp>
        <p:grpSp>
          <p:nvGrpSpPr>
            <p:cNvPr id="82" name="群組 81">
              <a:extLst>
                <a:ext uri="{FF2B5EF4-FFF2-40B4-BE49-F238E27FC236}">
                  <a16:creationId xmlns:a16="http://schemas.microsoft.com/office/drawing/2014/main" id="{8E4ECC80-598E-4D9B-B754-B7C21831E265}"/>
                </a:ext>
              </a:extLst>
            </p:cNvPr>
            <p:cNvGrpSpPr/>
            <p:nvPr/>
          </p:nvGrpSpPr>
          <p:grpSpPr>
            <a:xfrm>
              <a:off x="10400842" y="1700684"/>
              <a:ext cx="1354600" cy="580834"/>
              <a:chOff x="7722994" y="3460234"/>
              <a:chExt cx="1354600" cy="580834"/>
            </a:xfrm>
          </p:grpSpPr>
          <p:sp>
            <p:nvSpPr>
              <p:cNvPr id="117" name="橢圓 116">
                <a:extLst>
                  <a:ext uri="{FF2B5EF4-FFF2-40B4-BE49-F238E27FC236}">
                    <a16:creationId xmlns:a16="http://schemas.microsoft.com/office/drawing/2014/main" id="{C66CE777-FFDE-409B-94FE-4E7C2126825F}"/>
                  </a:ext>
                </a:extLst>
              </p:cNvPr>
              <p:cNvSpPr/>
              <p:nvPr/>
            </p:nvSpPr>
            <p:spPr>
              <a:xfrm>
                <a:off x="8256240" y="3825044"/>
                <a:ext cx="288032" cy="216024"/>
              </a:xfrm>
              <a:prstGeom prst="ellipse">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1" i="0" u="none" strike="noStrike" kern="0" cap="none" spc="0" normalizeH="0" baseline="0" noProof="0">
                  <a:ln>
                    <a:noFill/>
                  </a:ln>
                  <a:solidFill>
                    <a:prstClr val="white"/>
                  </a:solidFill>
                  <a:effectLst/>
                  <a:uLnTx/>
                  <a:uFillTx/>
                  <a:latin typeface="微軟正黑體" panose="020B0604030504040204" pitchFamily="34" charset="-120"/>
                  <a:ea typeface="微軟正黑體" panose="020B0604030504040204" pitchFamily="34" charset="-120"/>
                </a:endParaRPr>
              </a:p>
            </p:txBody>
          </p:sp>
          <p:sp>
            <p:nvSpPr>
              <p:cNvPr id="118" name="文字方塊 117">
                <a:extLst>
                  <a:ext uri="{FF2B5EF4-FFF2-40B4-BE49-F238E27FC236}">
                    <a16:creationId xmlns:a16="http://schemas.microsoft.com/office/drawing/2014/main" id="{EB028B1C-BF7A-4472-A16A-1B95BC7CDC42}"/>
                  </a:ext>
                </a:extLst>
              </p:cNvPr>
              <p:cNvSpPr txBox="1"/>
              <p:nvPr/>
            </p:nvSpPr>
            <p:spPr>
              <a:xfrm>
                <a:off x="7722994" y="3460234"/>
                <a:ext cx="1354600" cy="28876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18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存續期管理</a:t>
                </a:r>
              </a:p>
            </p:txBody>
          </p:sp>
        </p:grpSp>
        <p:grpSp>
          <p:nvGrpSpPr>
            <p:cNvPr id="83" name="群組 82">
              <a:extLst>
                <a:ext uri="{FF2B5EF4-FFF2-40B4-BE49-F238E27FC236}">
                  <a16:creationId xmlns:a16="http://schemas.microsoft.com/office/drawing/2014/main" id="{571C52AE-3FFB-4F69-81EC-572E1159BBE8}"/>
                </a:ext>
              </a:extLst>
            </p:cNvPr>
            <p:cNvGrpSpPr/>
            <p:nvPr/>
          </p:nvGrpSpPr>
          <p:grpSpPr>
            <a:xfrm>
              <a:off x="7896200" y="1696162"/>
              <a:ext cx="1152128" cy="585356"/>
              <a:chOff x="7824192" y="3455712"/>
              <a:chExt cx="1152128" cy="585356"/>
            </a:xfrm>
          </p:grpSpPr>
          <p:sp>
            <p:nvSpPr>
              <p:cNvPr id="115" name="橢圓 114">
                <a:extLst>
                  <a:ext uri="{FF2B5EF4-FFF2-40B4-BE49-F238E27FC236}">
                    <a16:creationId xmlns:a16="http://schemas.microsoft.com/office/drawing/2014/main" id="{D3F90689-BE22-488C-97A6-FD0C5C84FB7C}"/>
                  </a:ext>
                </a:extLst>
              </p:cNvPr>
              <p:cNvSpPr/>
              <p:nvPr/>
            </p:nvSpPr>
            <p:spPr>
              <a:xfrm>
                <a:off x="8256240" y="3825044"/>
                <a:ext cx="288032" cy="216024"/>
              </a:xfrm>
              <a:prstGeom prst="ellipse">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1" i="0" u="none" strike="noStrike" kern="0" cap="none" spc="0" normalizeH="0" baseline="0" noProof="0">
                  <a:ln>
                    <a:noFill/>
                  </a:ln>
                  <a:solidFill>
                    <a:prstClr val="white"/>
                  </a:solidFill>
                  <a:effectLst/>
                  <a:uLnTx/>
                  <a:uFillTx/>
                  <a:latin typeface="微軟正黑體" panose="020B0604030504040204" pitchFamily="34" charset="-120"/>
                  <a:ea typeface="微軟正黑體" panose="020B0604030504040204" pitchFamily="34" charset="-120"/>
                </a:endParaRPr>
              </a:p>
            </p:txBody>
          </p:sp>
          <p:sp>
            <p:nvSpPr>
              <p:cNvPr id="116" name="文字方塊 115">
                <a:extLst>
                  <a:ext uri="{FF2B5EF4-FFF2-40B4-BE49-F238E27FC236}">
                    <a16:creationId xmlns:a16="http://schemas.microsoft.com/office/drawing/2014/main" id="{6C54DFC2-3A6F-4610-AB97-1A8E20DDE77D}"/>
                  </a:ext>
                </a:extLst>
              </p:cNvPr>
              <p:cNvSpPr txBox="1"/>
              <p:nvPr/>
            </p:nvSpPr>
            <p:spPr>
              <a:xfrm>
                <a:off x="7824192" y="3455712"/>
                <a:ext cx="1152128" cy="28876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18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產品設計</a:t>
                </a:r>
              </a:p>
            </p:txBody>
          </p:sp>
        </p:grpSp>
        <p:grpSp>
          <p:nvGrpSpPr>
            <p:cNvPr id="84" name="群組 83">
              <a:extLst>
                <a:ext uri="{FF2B5EF4-FFF2-40B4-BE49-F238E27FC236}">
                  <a16:creationId xmlns:a16="http://schemas.microsoft.com/office/drawing/2014/main" id="{76932103-1572-4B42-967A-557162724B63}"/>
                </a:ext>
              </a:extLst>
            </p:cNvPr>
            <p:cNvGrpSpPr/>
            <p:nvPr/>
          </p:nvGrpSpPr>
          <p:grpSpPr>
            <a:xfrm>
              <a:off x="7968208" y="2276872"/>
              <a:ext cx="1296144" cy="1152000"/>
              <a:chOff x="6600056" y="2281518"/>
              <a:chExt cx="1296144" cy="1152000"/>
            </a:xfrm>
          </p:grpSpPr>
          <p:cxnSp>
            <p:nvCxnSpPr>
              <p:cNvPr id="113" name="直線單箭頭接點 112">
                <a:extLst>
                  <a:ext uri="{FF2B5EF4-FFF2-40B4-BE49-F238E27FC236}">
                    <a16:creationId xmlns:a16="http://schemas.microsoft.com/office/drawing/2014/main" id="{AEB20CAD-A445-4E4F-B090-F887C9039CB8}"/>
                  </a:ext>
                </a:extLst>
              </p:cNvPr>
              <p:cNvCxnSpPr/>
              <p:nvPr/>
            </p:nvCxnSpPr>
            <p:spPr>
              <a:xfrm>
                <a:off x="6600056" y="2281518"/>
                <a:ext cx="0" cy="1152000"/>
              </a:xfrm>
              <a:prstGeom prst="straightConnector1">
                <a:avLst/>
              </a:prstGeom>
              <a:noFill/>
              <a:ln w="19050" cap="flat" cmpd="sng" algn="ctr">
                <a:solidFill>
                  <a:sysClr val="windowText" lastClr="000000"/>
                </a:solidFill>
                <a:prstDash val="dash"/>
                <a:miter lim="800000"/>
                <a:tailEnd type="triangle"/>
              </a:ln>
              <a:effectLst/>
            </p:spPr>
          </p:cxnSp>
          <p:sp>
            <p:nvSpPr>
              <p:cNvPr id="114" name="文字方塊 113">
                <a:extLst>
                  <a:ext uri="{FF2B5EF4-FFF2-40B4-BE49-F238E27FC236}">
                    <a16:creationId xmlns:a16="http://schemas.microsoft.com/office/drawing/2014/main" id="{F5186828-5DE7-431C-879A-BB4588225EF0}"/>
                  </a:ext>
                </a:extLst>
              </p:cNvPr>
              <p:cNvSpPr txBox="1"/>
              <p:nvPr/>
            </p:nvSpPr>
            <p:spPr>
              <a:xfrm>
                <a:off x="6600056" y="2348880"/>
                <a:ext cx="1296144" cy="701553"/>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交易結構設計</a:t>
                </a:r>
                <a:endParaRPr kumimoji="0" lang="en-US" altLang="zh-TW"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風險觸發條件</a:t>
                </a:r>
                <a:endParaRPr kumimoji="0" lang="en-US" altLang="zh-TW"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現金流模擬</a:t>
                </a:r>
                <a:endParaRPr kumimoji="0" lang="en-US" altLang="zh-TW"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endParaRPr>
              </a:p>
            </p:txBody>
          </p:sp>
        </p:grpSp>
        <p:grpSp>
          <p:nvGrpSpPr>
            <p:cNvPr id="85" name="群組 84">
              <a:extLst>
                <a:ext uri="{FF2B5EF4-FFF2-40B4-BE49-F238E27FC236}">
                  <a16:creationId xmlns:a16="http://schemas.microsoft.com/office/drawing/2014/main" id="{2C1074B9-99E2-4711-8F7B-9F59E9501DDC}"/>
                </a:ext>
              </a:extLst>
            </p:cNvPr>
            <p:cNvGrpSpPr/>
            <p:nvPr/>
          </p:nvGrpSpPr>
          <p:grpSpPr>
            <a:xfrm>
              <a:off x="9308724" y="2276872"/>
              <a:ext cx="1296144" cy="1152000"/>
              <a:chOff x="6600056" y="2281518"/>
              <a:chExt cx="1296144" cy="1152000"/>
            </a:xfrm>
          </p:grpSpPr>
          <p:cxnSp>
            <p:nvCxnSpPr>
              <p:cNvPr id="111" name="直線單箭頭接點 110">
                <a:extLst>
                  <a:ext uri="{FF2B5EF4-FFF2-40B4-BE49-F238E27FC236}">
                    <a16:creationId xmlns:a16="http://schemas.microsoft.com/office/drawing/2014/main" id="{181A81B1-94EE-44D7-A1F9-91FEA1C6211F}"/>
                  </a:ext>
                </a:extLst>
              </p:cNvPr>
              <p:cNvCxnSpPr/>
              <p:nvPr/>
            </p:nvCxnSpPr>
            <p:spPr>
              <a:xfrm>
                <a:off x="6600056" y="2281518"/>
                <a:ext cx="0" cy="1152000"/>
              </a:xfrm>
              <a:prstGeom prst="straightConnector1">
                <a:avLst/>
              </a:prstGeom>
              <a:noFill/>
              <a:ln w="19050" cap="flat" cmpd="sng" algn="ctr">
                <a:solidFill>
                  <a:sysClr val="windowText" lastClr="000000"/>
                </a:solidFill>
                <a:prstDash val="dash"/>
                <a:miter lim="800000"/>
                <a:tailEnd type="triangle"/>
              </a:ln>
              <a:effectLst/>
            </p:spPr>
          </p:cxnSp>
          <p:sp>
            <p:nvSpPr>
              <p:cNvPr id="112" name="文字方塊 111">
                <a:extLst>
                  <a:ext uri="{FF2B5EF4-FFF2-40B4-BE49-F238E27FC236}">
                    <a16:creationId xmlns:a16="http://schemas.microsoft.com/office/drawing/2014/main" id="{5B675E7E-A577-4F86-A0A7-CCB814B448DB}"/>
                  </a:ext>
                </a:extLst>
              </p:cNvPr>
              <p:cNvSpPr txBox="1"/>
              <p:nvPr/>
            </p:nvSpPr>
            <p:spPr>
              <a:xfrm>
                <a:off x="6600056" y="2348880"/>
                <a:ext cx="1296144" cy="701553"/>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法律意見資訊</a:t>
                </a:r>
                <a:endParaRPr kumimoji="0" lang="en-US" altLang="zh-TW"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評等報告資訊</a:t>
                </a:r>
                <a:endParaRPr kumimoji="0" lang="en-US" altLang="zh-TW"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信託計畫資訊</a:t>
                </a:r>
                <a:endParaRPr kumimoji="0" lang="en-US" altLang="zh-TW"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endParaRPr>
              </a:p>
            </p:txBody>
          </p:sp>
        </p:grpSp>
        <p:grpSp>
          <p:nvGrpSpPr>
            <p:cNvPr id="86" name="群組 85">
              <a:extLst>
                <a:ext uri="{FF2B5EF4-FFF2-40B4-BE49-F238E27FC236}">
                  <a16:creationId xmlns:a16="http://schemas.microsoft.com/office/drawing/2014/main" id="{FFB26668-7B4A-43A0-B29B-AA9E9E7F6727}"/>
                </a:ext>
              </a:extLst>
            </p:cNvPr>
            <p:cNvGrpSpPr/>
            <p:nvPr/>
          </p:nvGrpSpPr>
          <p:grpSpPr>
            <a:xfrm>
              <a:off x="10600386" y="2276872"/>
              <a:ext cx="1472278" cy="1152000"/>
              <a:chOff x="6600056" y="2281518"/>
              <a:chExt cx="1472278" cy="1152000"/>
            </a:xfrm>
          </p:grpSpPr>
          <p:cxnSp>
            <p:nvCxnSpPr>
              <p:cNvPr id="109" name="直線單箭頭接點 108">
                <a:extLst>
                  <a:ext uri="{FF2B5EF4-FFF2-40B4-BE49-F238E27FC236}">
                    <a16:creationId xmlns:a16="http://schemas.microsoft.com/office/drawing/2014/main" id="{96CF2843-A48A-4747-A713-0EE49241617D}"/>
                  </a:ext>
                </a:extLst>
              </p:cNvPr>
              <p:cNvCxnSpPr/>
              <p:nvPr/>
            </p:nvCxnSpPr>
            <p:spPr>
              <a:xfrm>
                <a:off x="6600056" y="2281518"/>
                <a:ext cx="0" cy="1152000"/>
              </a:xfrm>
              <a:prstGeom prst="straightConnector1">
                <a:avLst/>
              </a:prstGeom>
              <a:noFill/>
              <a:ln w="19050" cap="flat" cmpd="sng" algn="ctr">
                <a:solidFill>
                  <a:sysClr val="windowText" lastClr="000000"/>
                </a:solidFill>
                <a:prstDash val="dash"/>
                <a:miter lim="800000"/>
                <a:tailEnd type="triangle"/>
              </a:ln>
              <a:effectLst/>
            </p:spPr>
          </p:cxnSp>
          <p:sp>
            <p:nvSpPr>
              <p:cNvPr id="110" name="文字方塊 109">
                <a:extLst>
                  <a:ext uri="{FF2B5EF4-FFF2-40B4-BE49-F238E27FC236}">
                    <a16:creationId xmlns:a16="http://schemas.microsoft.com/office/drawing/2014/main" id="{0F8295AB-C62F-4894-96A1-3384DD2AF810}"/>
                  </a:ext>
                </a:extLst>
              </p:cNvPr>
              <p:cNvSpPr txBox="1"/>
              <p:nvPr/>
            </p:nvSpPr>
            <p:spPr>
              <a:xfrm>
                <a:off x="6600056" y="2348880"/>
                <a:ext cx="1472278" cy="90942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存續期資產資訊</a:t>
                </a:r>
                <a:endParaRPr kumimoji="0" lang="en-US" altLang="zh-TW"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現金流資訊</a:t>
                </a:r>
                <a:endParaRPr kumimoji="0" lang="en-US" altLang="zh-TW"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資產增強資訊</a:t>
                </a:r>
                <a:endParaRPr kumimoji="0" lang="en-US" altLang="zh-TW"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存續期資產分析</a:t>
                </a:r>
              </a:p>
            </p:txBody>
          </p:sp>
        </p:grpSp>
        <p:sp>
          <p:nvSpPr>
            <p:cNvPr id="87" name="矩形 86">
              <a:extLst>
                <a:ext uri="{FF2B5EF4-FFF2-40B4-BE49-F238E27FC236}">
                  <a16:creationId xmlns:a16="http://schemas.microsoft.com/office/drawing/2014/main" id="{779EE999-FE79-48A6-A848-8792A50364DA}"/>
                </a:ext>
              </a:extLst>
            </p:cNvPr>
            <p:cNvSpPr/>
            <p:nvPr/>
          </p:nvSpPr>
          <p:spPr>
            <a:xfrm>
              <a:off x="6384032" y="3501008"/>
              <a:ext cx="5688632" cy="1440160"/>
            </a:xfrm>
            <a:prstGeom prst="rect">
              <a:avLst/>
            </a:prstGeom>
            <a:noFill/>
            <a:ln w="19050" cap="flat" cmpd="sng" algn="ctr">
              <a:solidFill>
                <a:sysClr val="window" lastClr="FFFFFF">
                  <a:lumMod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1" i="0" u="none" strike="noStrike" kern="0" cap="none" spc="0" normalizeH="0" baseline="0" noProof="0">
                <a:ln>
                  <a:noFill/>
                </a:ln>
                <a:solidFill>
                  <a:prstClr val="black"/>
                </a:solidFill>
                <a:effectLst/>
                <a:uLnTx/>
                <a:uFillTx/>
                <a:latin typeface="微軟正黑體" panose="020B0604030504040204" pitchFamily="34" charset="-120"/>
                <a:ea typeface="微軟正黑體" panose="020B0604030504040204" pitchFamily="34" charset="-120"/>
              </a:endParaRPr>
            </a:p>
          </p:txBody>
        </p:sp>
        <p:sp>
          <p:nvSpPr>
            <p:cNvPr id="88" name="圓角矩形 31">
              <a:extLst>
                <a:ext uri="{FF2B5EF4-FFF2-40B4-BE49-F238E27FC236}">
                  <a16:creationId xmlns:a16="http://schemas.microsoft.com/office/drawing/2014/main" id="{C47ED462-8631-47B0-8BB2-BD16F1E2A753}"/>
                </a:ext>
              </a:extLst>
            </p:cNvPr>
            <p:cNvSpPr/>
            <p:nvPr/>
          </p:nvSpPr>
          <p:spPr>
            <a:xfrm>
              <a:off x="6600056" y="4581128"/>
              <a:ext cx="1080120" cy="288032"/>
            </a:xfrm>
            <a:prstGeom prst="roundRect">
              <a:avLst/>
            </a:prstGeom>
            <a:solidFill>
              <a:srgbClr val="70AD47">
                <a:lumMod val="50000"/>
              </a:srgbClr>
            </a:soli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400" b="1" i="0" u="none" strike="noStrike" kern="0" cap="none" spc="0" normalizeH="0" baseline="0" noProof="0" dirty="0">
                  <a:ln>
                    <a:noFill/>
                  </a:ln>
                  <a:solidFill>
                    <a:prstClr val="white"/>
                  </a:solidFill>
                  <a:effectLst/>
                  <a:uLnTx/>
                  <a:uFillTx/>
                  <a:latin typeface="微軟正黑體" panose="020B0604030504040204" pitchFamily="34" charset="-120"/>
                  <a:ea typeface="微軟正黑體" panose="020B0604030504040204" pitchFamily="34" charset="-120"/>
                </a:rPr>
                <a:t>區塊</a:t>
              </a:r>
              <a:r>
                <a:rPr kumimoji="0" lang="en-US" altLang="zh-TW" sz="1400" b="1" i="0" u="none" strike="noStrike" kern="0" cap="none" spc="0" normalizeH="0" baseline="0" noProof="0" dirty="0">
                  <a:ln>
                    <a:noFill/>
                  </a:ln>
                  <a:solidFill>
                    <a:prstClr val="white"/>
                  </a:solidFill>
                  <a:effectLst/>
                  <a:uLnTx/>
                  <a:uFillTx/>
                  <a:latin typeface="微軟正黑體" panose="020B0604030504040204" pitchFamily="34" charset="-120"/>
                  <a:ea typeface="微軟正黑體" panose="020B0604030504040204" pitchFamily="34" charset="-120"/>
                </a:rPr>
                <a:t>#1</a:t>
              </a:r>
              <a:endParaRPr kumimoji="0" lang="zh-TW" altLang="en-US" sz="1400" b="1" i="0" u="none" strike="noStrike" kern="0" cap="none" spc="0" normalizeH="0" baseline="0" noProof="0" dirty="0">
                <a:ln>
                  <a:noFill/>
                </a:ln>
                <a:solidFill>
                  <a:prstClr val="white"/>
                </a:solidFill>
                <a:effectLst/>
                <a:uLnTx/>
                <a:uFillTx/>
                <a:latin typeface="微軟正黑體" panose="020B0604030504040204" pitchFamily="34" charset="-120"/>
                <a:ea typeface="微軟正黑體" panose="020B0604030504040204" pitchFamily="34" charset="-120"/>
              </a:endParaRPr>
            </a:p>
          </p:txBody>
        </p:sp>
        <p:sp>
          <p:nvSpPr>
            <p:cNvPr id="89" name="圓角矩形 32">
              <a:extLst>
                <a:ext uri="{FF2B5EF4-FFF2-40B4-BE49-F238E27FC236}">
                  <a16:creationId xmlns:a16="http://schemas.microsoft.com/office/drawing/2014/main" id="{94685384-88B7-4DCF-9CBE-8980AF03B173}"/>
                </a:ext>
              </a:extLst>
            </p:cNvPr>
            <p:cNvSpPr/>
            <p:nvPr/>
          </p:nvSpPr>
          <p:spPr>
            <a:xfrm>
              <a:off x="8008396" y="4585680"/>
              <a:ext cx="1080120" cy="288032"/>
            </a:xfrm>
            <a:prstGeom prst="roundRect">
              <a:avLst/>
            </a:prstGeom>
            <a:solidFill>
              <a:srgbClr val="70AD47">
                <a:lumMod val="50000"/>
              </a:srgbClr>
            </a:soli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400" b="1" i="0" u="none" strike="noStrike" kern="0" cap="none" spc="0" normalizeH="0" baseline="0" noProof="0" dirty="0">
                  <a:ln>
                    <a:noFill/>
                  </a:ln>
                  <a:solidFill>
                    <a:prstClr val="white"/>
                  </a:solidFill>
                  <a:effectLst/>
                  <a:uLnTx/>
                  <a:uFillTx/>
                  <a:latin typeface="微軟正黑體" panose="020B0604030504040204" pitchFamily="34" charset="-120"/>
                  <a:ea typeface="微軟正黑體" panose="020B0604030504040204" pitchFamily="34" charset="-120"/>
                </a:rPr>
                <a:t>區塊</a:t>
              </a:r>
              <a:r>
                <a:rPr kumimoji="0" lang="en-US" altLang="zh-TW" sz="1400" b="1" i="0" u="none" strike="noStrike" kern="0" cap="none" spc="0" normalizeH="0" baseline="0" noProof="0" dirty="0">
                  <a:ln>
                    <a:noFill/>
                  </a:ln>
                  <a:solidFill>
                    <a:prstClr val="white"/>
                  </a:solidFill>
                  <a:effectLst/>
                  <a:uLnTx/>
                  <a:uFillTx/>
                  <a:latin typeface="微軟正黑體" panose="020B0604030504040204" pitchFamily="34" charset="-120"/>
                  <a:ea typeface="微軟正黑體" panose="020B0604030504040204" pitchFamily="34" charset="-120"/>
                </a:rPr>
                <a:t>#2</a:t>
              </a:r>
              <a:endParaRPr kumimoji="0" lang="zh-TW" altLang="en-US" sz="1400" b="1" i="0" u="none" strike="noStrike" kern="0" cap="none" spc="0" normalizeH="0" baseline="0" noProof="0" dirty="0">
                <a:ln>
                  <a:noFill/>
                </a:ln>
                <a:solidFill>
                  <a:prstClr val="white"/>
                </a:solidFill>
                <a:effectLst/>
                <a:uLnTx/>
                <a:uFillTx/>
                <a:latin typeface="微軟正黑體" panose="020B0604030504040204" pitchFamily="34" charset="-120"/>
                <a:ea typeface="微軟正黑體" panose="020B0604030504040204" pitchFamily="34" charset="-120"/>
              </a:endParaRPr>
            </a:p>
          </p:txBody>
        </p:sp>
        <p:sp>
          <p:nvSpPr>
            <p:cNvPr id="90" name="圓角矩形 33">
              <a:extLst>
                <a:ext uri="{FF2B5EF4-FFF2-40B4-BE49-F238E27FC236}">
                  <a16:creationId xmlns:a16="http://schemas.microsoft.com/office/drawing/2014/main" id="{F46CFA9C-7220-4EFB-8849-E8B1C8CAFD52}"/>
                </a:ext>
              </a:extLst>
            </p:cNvPr>
            <p:cNvSpPr/>
            <p:nvPr/>
          </p:nvSpPr>
          <p:spPr>
            <a:xfrm>
              <a:off x="9405388" y="4575426"/>
              <a:ext cx="1080120" cy="288032"/>
            </a:xfrm>
            <a:prstGeom prst="roundRect">
              <a:avLst/>
            </a:prstGeom>
            <a:solidFill>
              <a:srgbClr val="70AD47">
                <a:lumMod val="50000"/>
              </a:srgbClr>
            </a:soli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400" b="1" i="0" u="none" strike="noStrike" kern="0" cap="none" spc="0" normalizeH="0" baseline="0" noProof="0" dirty="0">
                  <a:ln>
                    <a:noFill/>
                  </a:ln>
                  <a:solidFill>
                    <a:prstClr val="white"/>
                  </a:solidFill>
                  <a:effectLst/>
                  <a:uLnTx/>
                  <a:uFillTx/>
                  <a:latin typeface="微軟正黑體" panose="020B0604030504040204" pitchFamily="34" charset="-120"/>
                  <a:ea typeface="微軟正黑體" panose="020B0604030504040204" pitchFamily="34" charset="-120"/>
                </a:rPr>
                <a:t>區塊</a:t>
              </a:r>
              <a:r>
                <a:rPr kumimoji="0" lang="en-US" altLang="zh-TW" sz="1400" b="1" i="0" u="none" strike="noStrike" kern="0" cap="none" spc="0" normalizeH="0" baseline="0" noProof="0" dirty="0">
                  <a:ln>
                    <a:noFill/>
                  </a:ln>
                  <a:solidFill>
                    <a:prstClr val="white"/>
                  </a:solidFill>
                  <a:effectLst/>
                  <a:uLnTx/>
                  <a:uFillTx/>
                  <a:latin typeface="微軟正黑體" panose="020B0604030504040204" pitchFamily="34" charset="-120"/>
                  <a:ea typeface="微軟正黑體" panose="020B0604030504040204" pitchFamily="34" charset="-120"/>
                </a:rPr>
                <a:t>#3</a:t>
              </a:r>
              <a:endParaRPr kumimoji="0" lang="zh-TW" altLang="en-US" sz="1400" b="1" i="0" u="none" strike="noStrike" kern="0" cap="none" spc="0" normalizeH="0" baseline="0" noProof="0" dirty="0">
                <a:ln>
                  <a:noFill/>
                </a:ln>
                <a:solidFill>
                  <a:prstClr val="white"/>
                </a:solidFill>
                <a:effectLst/>
                <a:uLnTx/>
                <a:uFillTx/>
                <a:latin typeface="微軟正黑體" panose="020B0604030504040204" pitchFamily="34" charset="-120"/>
                <a:ea typeface="微軟正黑體" panose="020B0604030504040204" pitchFamily="34" charset="-120"/>
              </a:endParaRPr>
            </a:p>
          </p:txBody>
        </p:sp>
        <p:sp>
          <p:nvSpPr>
            <p:cNvPr id="91" name="圓角矩形 34">
              <a:extLst>
                <a:ext uri="{FF2B5EF4-FFF2-40B4-BE49-F238E27FC236}">
                  <a16:creationId xmlns:a16="http://schemas.microsoft.com/office/drawing/2014/main" id="{25A3FE6D-2DAE-4688-8132-0613BEA49A80}"/>
                </a:ext>
              </a:extLst>
            </p:cNvPr>
            <p:cNvSpPr/>
            <p:nvPr/>
          </p:nvSpPr>
          <p:spPr>
            <a:xfrm>
              <a:off x="10796465" y="4585680"/>
              <a:ext cx="1080120" cy="288032"/>
            </a:xfrm>
            <a:prstGeom prst="roundRect">
              <a:avLst/>
            </a:prstGeom>
            <a:solidFill>
              <a:srgbClr val="70AD47">
                <a:lumMod val="50000"/>
              </a:srgbClr>
            </a:soli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400" b="1" i="0" u="none" strike="noStrike" kern="0" cap="none" spc="0" normalizeH="0" baseline="0" noProof="0" dirty="0">
                  <a:ln>
                    <a:noFill/>
                  </a:ln>
                  <a:solidFill>
                    <a:prstClr val="white"/>
                  </a:solidFill>
                  <a:effectLst/>
                  <a:uLnTx/>
                  <a:uFillTx/>
                  <a:latin typeface="微軟正黑體" panose="020B0604030504040204" pitchFamily="34" charset="-120"/>
                  <a:ea typeface="微軟正黑體" panose="020B0604030504040204" pitchFamily="34" charset="-120"/>
                </a:rPr>
                <a:t>區塊</a:t>
              </a:r>
              <a:r>
                <a:rPr kumimoji="0" lang="en-US" altLang="zh-TW" sz="1400" b="1" i="0" u="none" strike="noStrike" kern="0" cap="none" spc="0" normalizeH="0" baseline="0" noProof="0" dirty="0">
                  <a:ln>
                    <a:noFill/>
                  </a:ln>
                  <a:solidFill>
                    <a:prstClr val="white"/>
                  </a:solidFill>
                  <a:effectLst/>
                  <a:uLnTx/>
                  <a:uFillTx/>
                  <a:latin typeface="微軟正黑體" panose="020B0604030504040204" pitchFamily="34" charset="-120"/>
                  <a:ea typeface="微軟正黑體" panose="020B0604030504040204" pitchFamily="34" charset="-120"/>
                </a:rPr>
                <a:t>#4</a:t>
              </a:r>
              <a:endParaRPr kumimoji="0" lang="zh-TW" altLang="en-US" sz="1400" b="1" i="0" u="none" strike="noStrike" kern="0" cap="none" spc="0" normalizeH="0" baseline="0" noProof="0" dirty="0">
                <a:ln>
                  <a:noFill/>
                </a:ln>
                <a:solidFill>
                  <a:prstClr val="white"/>
                </a:solidFill>
                <a:effectLst/>
                <a:uLnTx/>
                <a:uFillTx/>
                <a:latin typeface="微軟正黑體" panose="020B0604030504040204" pitchFamily="34" charset="-120"/>
                <a:ea typeface="微軟正黑體" panose="020B0604030504040204" pitchFamily="34" charset="-120"/>
              </a:endParaRPr>
            </a:p>
          </p:txBody>
        </p:sp>
        <p:sp>
          <p:nvSpPr>
            <p:cNvPr id="92" name="矩形 91">
              <a:extLst>
                <a:ext uri="{FF2B5EF4-FFF2-40B4-BE49-F238E27FC236}">
                  <a16:creationId xmlns:a16="http://schemas.microsoft.com/office/drawing/2014/main" id="{2F80B34D-EE5F-4B12-965D-FC0BC7E37C7B}"/>
                </a:ext>
              </a:extLst>
            </p:cNvPr>
            <p:cNvSpPr/>
            <p:nvPr/>
          </p:nvSpPr>
          <p:spPr>
            <a:xfrm>
              <a:off x="6600056" y="3910966"/>
              <a:ext cx="1080120" cy="518251"/>
            </a:xfrm>
            <a:prstGeom prst="rect">
              <a:avLst/>
            </a:prstGeom>
            <a:solidFill>
              <a:srgbClr val="FFC000">
                <a:lumMod val="20000"/>
                <a:lumOff val="80000"/>
              </a:srgbClr>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資產增強資訊</a:t>
              </a:r>
            </a:p>
          </p:txBody>
        </p:sp>
        <p:sp>
          <p:nvSpPr>
            <p:cNvPr id="93" name="矩形 92">
              <a:extLst>
                <a:ext uri="{FF2B5EF4-FFF2-40B4-BE49-F238E27FC236}">
                  <a16:creationId xmlns:a16="http://schemas.microsoft.com/office/drawing/2014/main" id="{7E32D3AF-F313-43D6-8708-899D591E84F2}"/>
                </a:ext>
              </a:extLst>
            </p:cNvPr>
            <p:cNvSpPr/>
            <p:nvPr/>
          </p:nvSpPr>
          <p:spPr>
            <a:xfrm>
              <a:off x="8008396" y="3909798"/>
              <a:ext cx="1080120" cy="518251"/>
            </a:xfrm>
            <a:prstGeom prst="rect">
              <a:avLst/>
            </a:prstGeom>
            <a:solidFill>
              <a:srgbClr val="FFC000">
                <a:lumMod val="20000"/>
                <a:lumOff val="80000"/>
              </a:srgbClr>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百度</a:t>
              </a:r>
              <a:r>
                <a:rPr kumimoji="0" lang="en-US" altLang="zh-TW"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AI</a:t>
              </a: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分析</a:t>
              </a:r>
            </a:p>
          </p:txBody>
        </p:sp>
        <p:sp>
          <p:nvSpPr>
            <p:cNvPr id="94" name="矩形 93">
              <a:extLst>
                <a:ext uri="{FF2B5EF4-FFF2-40B4-BE49-F238E27FC236}">
                  <a16:creationId xmlns:a16="http://schemas.microsoft.com/office/drawing/2014/main" id="{0AC65DB3-2F8B-48F0-A12C-543DEC393BCA}"/>
                </a:ext>
              </a:extLst>
            </p:cNvPr>
            <p:cNvSpPr/>
            <p:nvPr/>
          </p:nvSpPr>
          <p:spPr>
            <a:xfrm>
              <a:off x="9402430" y="3908444"/>
              <a:ext cx="1080120" cy="518251"/>
            </a:xfrm>
            <a:prstGeom prst="rect">
              <a:avLst/>
            </a:prstGeom>
            <a:solidFill>
              <a:srgbClr val="FFC000">
                <a:lumMod val="20000"/>
                <a:lumOff val="80000"/>
              </a:srgbClr>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置換回購合約</a:t>
              </a:r>
            </a:p>
          </p:txBody>
        </p:sp>
        <p:sp>
          <p:nvSpPr>
            <p:cNvPr id="95" name="矩形 94">
              <a:extLst>
                <a:ext uri="{FF2B5EF4-FFF2-40B4-BE49-F238E27FC236}">
                  <a16:creationId xmlns:a16="http://schemas.microsoft.com/office/drawing/2014/main" id="{D86D8619-045D-4F2D-B3BC-746AFA695975}"/>
                </a:ext>
              </a:extLst>
            </p:cNvPr>
            <p:cNvSpPr/>
            <p:nvPr/>
          </p:nvSpPr>
          <p:spPr>
            <a:xfrm>
              <a:off x="10796465" y="3908444"/>
              <a:ext cx="1080120" cy="518251"/>
            </a:xfrm>
            <a:prstGeom prst="rect">
              <a:avLst/>
            </a:prstGeom>
            <a:solidFill>
              <a:srgbClr val="FFC000">
                <a:lumMod val="20000"/>
                <a:lumOff val="80000"/>
              </a:srgbClr>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兌付監控合約</a:t>
              </a:r>
            </a:p>
          </p:txBody>
        </p:sp>
        <p:sp>
          <p:nvSpPr>
            <p:cNvPr id="96" name="矩形 95">
              <a:extLst>
                <a:ext uri="{FF2B5EF4-FFF2-40B4-BE49-F238E27FC236}">
                  <a16:creationId xmlns:a16="http://schemas.microsoft.com/office/drawing/2014/main" id="{AF6E753F-7042-460E-BF24-0CD637887560}"/>
                </a:ext>
              </a:extLst>
            </p:cNvPr>
            <p:cNvSpPr/>
            <p:nvPr/>
          </p:nvSpPr>
          <p:spPr>
            <a:xfrm>
              <a:off x="7972074" y="3534588"/>
              <a:ext cx="2512548" cy="31239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800" b="1" i="0" u="none" strike="noStrike" kern="0" cap="none" spc="0" normalizeH="0" baseline="0" noProof="0" dirty="0">
                  <a:ln>
                    <a:noFill/>
                  </a:ln>
                  <a:solidFill>
                    <a:srgbClr val="C00000"/>
                  </a:solidFill>
                  <a:effectLst/>
                  <a:uLnTx/>
                  <a:uFillTx/>
                  <a:latin typeface="微軟正黑體" panose="020B0604030504040204" pitchFamily="34" charset="-120"/>
                  <a:ea typeface="微軟正黑體" panose="020B0604030504040204" pitchFamily="34" charset="-120"/>
                </a:rPr>
                <a:t>百度區塊鏈服務平台</a:t>
              </a:r>
            </a:p>
          </p:txBody>
        </p:sp>
        <p:sp>
          <p:nvSpPr>
            <p:cNvPr id="97" name="圓角化同側角落矩形 40">
              <a:extLst>
                <a:ext uri="{FF2B5EF4-FFF2-40B4-BE49-F238E27FC236}">
                  <a16:creationId xmlns:a16="http://schemas.microsoft.com/office/drawing/2014/main" id="{7A5169E6-F5BE-4916-A101-2009EEF0AF08}"/>
                </a:ext>
              </a:extLst>
            </p:cNvPr>
            <p:cNvSpPr/>
            <p:nvPr/>
          </p:nvSpPr>
          <p:spPr>
            <a:xfrm>
              <a:off x="6384032" y="5278312"/>
              <a:ext cx="864096" cy="576064"/>
            </a:xfrm>
            <a:prstGeom prst="round2SameRect">
              <a:avLst/>
            </a:prstGeom>
            <a:solidFill>
              <a:srgbClr val="ED7D31">
                <a:lumMod val="40000"/>
                <a:lumOff val="60000"/>
              </a:srgbClr>
            </a:solidFill>
            <a:ln w="12700" cap="flat" cmpd="sng" algn="ctr">
              <a:solidFill>
                <a:srgbClr val="ED7D31">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長安新生</a:t>
              </a:r>
            </a:p>
          </p:txBody>
        </p:sp>
        <p:sp>
          <p:nvSpPr>
            <p:cNvPr id="98" name="圓角化同側角落矩形 41">
              <a:extLst>
                <a:ext uri="{FF2B5EF4-FFF2-40B4-BE49-F238E27FC236}">
                  <a16:creationId xmlns:a16="http://schemas.microsoft.com/office/drawing/2014/main" id="{8DF531EE-78A7-4737-8D60-F0E03BC90B0E}"/>
                </a:ext>
              </a:extLst>
            </p:cNvPr>
            <p:cNvSpPr/>
            <p:nvPr/>
          </p:nvSpPr>
          <p:spPr>
            <a:xfrm>
              <a:off x="7350604" y="5286240"/>
              <a:ext cx="864096" cy="576064"/>
            </a:xfrm>
            <a:prstGeom prst="round2SameRect">
              <a:avLst/>
            </a:prstGeom>
            <a:solidFill>
              <a:srgbClr val="ED7D31">
                <a:lumMod val="40000"/>
                <a:lumOff val="60000"/>
              </a:srgbClr>
            </a:solidFill>
            <a:ln w="12700" cap="flat" cmpd="sng" algn="ctr">
              <a:solidFill>
                <a:srgbClr val="ED7D31">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百度金融</a:t>
              </a:r>
            </a:p>
          </p:txBody>
        </p:sp>
        <p:sp>
          <p:nvSpPr>
            <p:cNvPr id="99" name="圓角化同側角落矩形 44">
              <a:extLst>
                <a:ext uri="{FF2B5EF4-FFF2-40B4-BE49-F238E27FC236}">
                  <a16:creationId xmlns:a16="http://schemas.microsoft.com/office/drawing/2014/main" id="{057BEDC1-D970-47C1-810E-2A9AF2727FC4}"/>
                </a:ext>
              </a:extLst>
            </p:cNvPr>
            <p:cNvSpPr/>
            <p:nvPr/>
          </p:nvSpPr>
          <p:spPr>
            <a:xfrm>
              <a:off x="11201652" y="5268952"/>
              <a:ext cx="864096" cy="576064"/>
            </a:xfrm>
            <a:prstGeom prst="round2SameRect">
              <a:avLst/>
            </a:prstGeom>
            <a:solidFill>
              <a:srgbClr val="ED7D31">
                <a:lumMod val="40000"/>
                <a:lumOff val="60000"/>
              </a:srgbClr>
            </a:solidFill>
            <a:ln w="12700" cap="flat" cmpd="sng" algn="ctr">
              <a:solidFill>
                <a:srgbClr val="ED7D31">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大成律所</a:t>
              </a:r>
            </a:p>
          </p:txBody>
        </p:sp>
        <p:sp>
          <p:nvSpPr>
            <p:cNvPr id="100" name="圓角化同側角落矩形 45">
              <a:extLst>
                <a:ext uri="{FF2B5EF4-FFF2-40B4-BE49-F238E27FC236}">
                  <a16:creationId xmlns:a16="http://schemas.microsoft.com/office/drawing/2014/main" id="{EA23D59D-75DA-479A-84E9-0385B486EB2F}"/>
                </a:ext>
              </a:extLst>
            </p:cNvPr>
            <p:cNvSpPr/>
            <p:nvPr/>
          </p:nvSpPr>
          <p:spPr>
            <a:xfrm>
              <a:off x="10236100" y="5261024"/>
              <a:ext cx="864096" cy="576064"/>
            </a:xfrm>
            <a:prstGeom prst="round2SameRect">
              <a:avLst/>
            </a:prstGeom>
            <a:solidFill>
              <a:srgbClr val="ED7D31">
                <a:lumMod val="40000"/>
                <a:lumOff val="60000"/>
              </a:srgbClr>
            </a:solidFill>
            <a:ln w="12700" cap="flat" cmpd="sng" algn="ctr">
              <a:solidFill>
                <a:srgbClr val="ED7D31">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聯合信評</a:t>
              </a:r>
            </a:p>
          </p:txBody>
        </p:sp>
        <p:sp>
          <p:nvSpPr>
            <p:cNvPr id="101" name="圓角化同側角落矩形 46">
              <a:extLst>
                <a:ext uri="{FF2B5EF4-FFF2-40B4-BE49-F238E27FC236}">
                  <a16:creationId xmlns:a16="http://schemas.microsoft.com/office/drawing/2014/main" id="{ABDF5B85-DCF6-4ECB-8653-DE177E1E2F74}"/>
                </a:ext>
              </a:extLst>
            </p:cNvPr>
            <p:cNvSpPr/>
            <p:nvPr/>
          </p:nvSpPr>
          <p:spPr>
            <a:xfrm>
              <a:off x="9270548" y="5278312"/>
              <a:ext cx="864096" cy="576064"/>
            </a:xfrm>
            <a:prstGeom prst="round2SameRect">
              <a:avLst/>
            </a:prstGeom>
            <a:solidFill>
              <a:srgbClr val="ED7D31">
                <a:lumMod val="40000"/>
                <a:lumOff val="60000"/>
              </a:srgbClr>
            </a:solidFill>
            <a:ln w="12700" cap="flat" cmpd="sng" algn="ctr">
              <a:solidFill>
                <a:srgbClr val="ED7D31">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長安信託</a:t>
              </a:r>
            </a:p>
          </p:txBody>
        </p:sp>
        <p:sp>
          <p:nvSpPr>
            <p:cNvPr id="102" name="圓角化同側角落矩形 47">
              <a:extLst>
                <a:ext uri="{FF2B5EF4-FFF2-40B4-BE49-F238E27FC236}">
                  <a16:creationId xmlns:a16="http://schemas.microsoft.com/office/drawing/2014/main" id="{27BA0609-5F95-432B-9CE8-DC22CE8A408A}"/>
                </a:ext>
              </a:extLst>
            </p:cNvPr>
            <p:cNvSpPr/>
            <p:nvPr/>
          </p:nvSpPr>
          <p:spPr>
            <a:xfrm>
              <a:off x="8304996" y="5278312"/>
              <a:ext cx="864096" cy="576064"/>
            </a:xfrm>
            <a:prstGeom prst="round2SameRect">
              <a:avLst/>
            </a:prstGeom>
            <a:solidFill>
              <a:srgbClr val="ED7D31">
                <a:lumMod val="40000"/>
                <a:lumOff val="60000"/>
              </a:srgbClr>
            </a:solidFill>
            <a:ln w="12700" cap="flat" cmpd="sng" algn="ctr">
              <a:solidFill>
                <a:srgbClr val="ED7D31">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天風證券</a:t>
              </a:r>
            </a:p>
          </p:txBody>
        </p:sp>
        <p:cxnSp>
          <p:nvCxnSpPr>
            <p:cNvPr id="103" name="直線單箭頭接點 102">
              <a:extLst>
                <a:ext uri="{FF2B5EF4-FFF2-40B4-BE49-F238E27FC236}">
                  <a16:creationId xmlns:a16="http://schemas.microsoft.com/office/drawing/2014/main" id="{032E1E45-B780-4BE0-A8CE-B46DE8A658DF}"/>
                </a:ext>
              </a:extLst>
            </p:cNvPr>
            <p:cNvCxnSpPr>
              <a:endCxn id="97" idx="3"/>
            </p:cNvCxnSpPr>
            <p:nvPr/>
          </p:nvCxnSpPr>
          <p:spPr>
            <a:xfrm>
              <a:off x="6816080" y="4941168"/>
              <a:ext cx="0" cy="337144"/>
            </a:xfrm>
            <a:prstGeom prst="straightConnector1">
              <a:avLst/>
            </a:prstGeom>
            <a:ln>
              <a:headEnd type="triangle"/>
              <a:tailEnd type="triangle"/>
            </a:ln>
          </p:spPr>
          <p:style>
            <a:lnRef idx="1">
              <a:schemeClr val="accent6"/>
            </a:lnRef>
            <a:fillRef idx="0">
              <a:schemeClr val="accent6"/>
            </a:fillRef>
            <a:effectRef idx="0">
              <a:schemeClr val="accent6"/>
            </a:effectRef>
            <a:fontRef idx="minor">
              <a:schemeClr val="tx1"/>
            </a:fontRef>
          </p:style>
        </p:cxnSp>
        <p:cxnSp>
          <p:nvCxnSpPr>
            <p:cNvPr id="104" name="直線單箭頭接點 103">
              <a:extLst>
                <a:ext uri="{FF2B5EF4-FFF2-40B4-BE49-F238E27FC236}">
                  <a16:creationId xmlns:a16="http://schemas.microsoft.com/office/drawing/2014/main" id="{7DA00348-46DC-455C-A025-0FFBDDC193E8}"/>
                </a:ext>
              </a:extLst>
            </p:cNvPr>
            <p:cNvCxnSpPr/>
            <p:nvPr/>
          </p:nvCxnSpPr>
          <p:spPr>
            <a:xfrm>
              <a:off x="7782652" y="4941168"/>
              <a:ext cx="0" cy="337144"/>
            </a:xfrm>
            <a:prstGeom prst="straightConnector1">
              <a:avLst/>
            </a:prstGeom>
            <a:ln>
              <a:headEnd type="triangle"/>
              <a:tailEnd type="triangle"/>
            </a:ln>
          </p:spPr>
          <p:style>
            <a:lnRef idx="1">
              <a:schemeClr val="accent6"/>
            </a:lnRef>
            <a:fillRef idx="0">
              <a:schemeClr val="accent6"/>
            </a:fillRef>
            <a:effectRef idx="0">
              <a:schemeClr val="accent6"/>
            </a:effectRef>
            <a:fontRef idx="minor">
              <a:schemeClr val="tx1"/>
            </a:fontRef>
          </p:style>
        </p:cxnSp>
        <p:cxnSp>
          <p:nvCxnSpPr>
            <p:cNvPr id="105" name="直線單箭頭接點 104">
              <a:extLst>
                <a:ext uri="{FF2B5EF4-FFF2-40B4-BE49-F238E27FC236}">
                  <a16:creationId xmlns:a16="http://schemas.microsoft.com/office/drawing/2014/main" id="{ADC98F13-5A3E-44EE-8C87-6EB9BE5D61E1}"/>
                </a:ext>
              </a:extLst>
            </p:cNvPr>
            <p:cNvCxnSpPr/>
            <p:nvPr/>
          </p:nvCxnSpPr>
          <p:spPr>
            <a:xfrm>
              <a:off x="11631404" y="4923880"/>
              <a:ext cx="0" cy="337144"/>
            </a:xfrm>
            <a:prstGeom prst="straightConnector1">
              <a:avLst/>
            </a:prstGeom>
            <a:ln>
              <a:headEnd type="triangle"/>
              <a:tailEnd type="triangle"/>
            </a:ln>
          </p:spPr>
          <p:style>
            <a:lnRef idx="1">
              <a:schemeClr val="accent6"/>
            </a:lnRef>
            <a:fillRef idx="0">
              <a:schemeClr val="accent6"/>
            </a:fillRef>
            <a:effectRef idx="0">
              <a:schemeClr val="accent6"/>
            </a:effectRef>
            <a:fontRef idx="minor">
              <a:schemeClr val="tx1"/>
            </a:fontRef>
          </p:style>
        </p:cxnSp>
        <p:cxnSp>
          <p:nvCxnSpPr>
            <p:cNvPr id="106" name="直線單箭頭接點 105">
              <a:extLst>
                <a:ext uri="{FF2B5EF4-FFF2-40B4-BE49-F238E27FC236}">
                  <a16:creationId xmlns:a16="http://schemas.microsoft.com/office/drawing/2014/main" id="{4D9B4CCF-957D-49C3-ADF4-254A12BB25B6}"/>
                </a:ext>
              </a:extLst>
            </p:cNvPr>
            <p:cNvCxnSpPr/>
            <p:nvPr/>
          </p:nvCxnSpPr>
          <p:spPr>
            <a:xfrm>
              <a:off x="10626228" y="4949096"/>
              <a:ext cx="0" cy="337144"/>
            </a:xfrm>
            <a:prstGeom prst="straightConnector1">
              <a:avLst/>
            </a:prstGeom>
            <a:ln>
              <a:headEnd type="triangle"/>
              <a:tailEnd type="triangle"/>
            </a:ln>
          </p:spPr>
          <p:style>
            <a:lnRef idx="1">
              <a:schemeClr val="accent6"/>
            </a:lnRef>
            <a:fillRef idx="0">
              <a:schemeClr val="accent6"/>
            </a:fillRef>
            <a:effectRef idx="0">
              <a:schemeClr val="accent6"/>
            </a:effectRef>
            <a:fontRef idx="minor">
              <a:schemeClr val="tx1"/>
            </a:fontRef>
          </p:style>
        </p:cxnSp>
        <p:cxnSp>
          <p:nvCxnSpPr>
            <p:cNvPr id="107" name="直線單箭頭接點 106">
              <a:extLst>
                <a:ext uri="{FF2B5EF4-FFF2-40B4-BE49-F238E27FC236}">
                  <a16:creationId xmlns:a16="http://schemas.microsoft.com/office/drawing/2014/main" id="{FC09FDB1-821B-42F7-AA03-B2BDDAAFF444}"/>
                </a:ext>
              </a:extLst>
            </p:cNvPr>
            <p:cNvCxnSpPr/>
            <p:nvPr/>
          </p:nvCxnSpPr>
          <p:spPr>
            <a:xfrm>
              <a:off x="9702596" y="4949096"/>
              <a:ext cx="0" cy="337144"/>
            </a:xfrm>
            <a:prstGeom prst="straightConnector1">
              <a:avLst/>
            </a:prstGeom>
            <a:ln>
              <a:headEnd type="triangle"/>
              <a:tailEnd type="triangle"/>
            </a:ln>
          </p:spPr>
          <p:style>
            <a:lnRef idx="1">
              <a:schemeClr val="accent6"/>
            </a:lnRef>
            <a:fillRef idx="0">
              <a:schemeClr val="accent6"/>
            </a:fillRef>
            <a:effectRef idx="0">
              <a:schemeClr val="accent6"/>
            </a:effectRef>
            <a:fontRef idx="minor">
              <a:schemeClr val="tx1"/>
            </a:fontRef>
          </p:style>
        </p:cxnSp>
        <p:cxnSp>
          <p:nvCxnSpPr>
            <p:cNvPr id="108" name="直線單箭頭接點 107">
              <a:extLst>
                <a:ext uri="{FF2B5EF4-FFF2-40B4-BE49-F238E27FC236}">
                  <a16:creationId xmlns:a16="http://schemas.microsoft.com/office/drawing/2014/main" id="{68807ECF-57E5-455E-84A2-D7CE19C47998}"/>
                </a:ext>
              </a:extLst>
            </p:cNvPr>
            <p:cNvCxnSpPr/>
            <p:nvPr/>
          </p:nvCxnSpPr>
          <p:spPr>
            <a:xfrm>
              <a:off x="8737044" y="4923880"/>
              <a:ext cx="0" cy="337144"/>
            </a:xfrm>
            <a:prstGeom prst="straightConnector1">
              <a:avLst/>
            </a:prstGeom>
            <a:ln>
              <a:headEnd type="triangle"/>
              <a:tailEnd type="triangle"/>
            </a:ln>
          </p:spPr>
          <p:style>
            <a:lnRef idx="1">
              <a:schemeClr val="accent6"/>
            </a:lnRef>
            <a:fillRef idx="0">
              <a:schemeClr val="accent6"/>
            </a:fillRef>
            <a:effectRef idx="0">
              <a:schemeClr val="accent6"/>
            </a:effectRef>
            <a:fontRef idx="minor">
              <a:schemeClr val="tx1"/>
            </a:fontRef>
          </p:style>
        </p:cxnSp>
      </p:grpSp>
      <p:cxnSp>
        <p:nvCxnSpPr>
          <p:cNvPr id="55" name="直接连接符 33">
            <a:extLst>
              <a:ext uri="{FF2B5EF4-FFF2-40B4-BE49-F238E27FC236}">
                <a16:creationId xmlns:a16="http://schemas.microsoft.com/office/drawing/2014/main" id="{EAEF44FD-D94E-46AC-A0BE-819EDB8AE807}"/>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1430789"/>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barn(inVertical)">
                                      <p:cBhvr>
                                        <p:cTn id="11" dur="500"/>
                                        <p:tgtEl>
                                          <p:spTgt spid="26"/>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55"/>
                                        </p:tgtEl>
                                        <p:attrNameLst>
                                          <p:attrName>style.visibility</p:attrName>
                                        </p:attrNameLst>
                                      </p:cBhvr>
                                      <p:to>
                                        <p:strVal val="visible"/>
                                      </p:to>
                                    </p:set>
                                    <p:anim calcmode="lin" valueType="num">
                                      <p:cBhvr additive="base">
                                        <p:cTn id="15" dur="500" fill="hold"/>
                                        <p:tgtEl>
                                          <p:spTgt spid="55"/>
                                        </p:tgtEl>
                                        <p:attrNameLst>
                                          <p:attrName>ppt_x</p:attrName>
                                        </p:attrNameLst>
                                      </p:cBhvr>
                                      <p:tavLst>
                                        <p:tav tm="0">
                                          <p:val>
                                            <p:strVal val="0-#ppt_w/2"/>
                                          </p:val>
                                        </p:tav>
                                        <p:tav tm="100000">
                                          <p:val>
                                            <p:strVal val="#ppt_x"/>
                                          </p:val>
                                        </p:tav>
                                      </p:tavLst>
                                    </p:anim>
                                    <p:anim calcmode="lin" valueType="num">
                                      <p:cBhvr additive="base">
                                        <p:cTn id="16" dur="500" fill="hold"/>
                                        <p:tgtEl>
                                          <p:spTgt spid="55"/>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grpId="0" nodeType="afterEffect">
                                  <p:stCondLst>
                                    <p:cond delay="0"/>
                                  </p:stCondLst>
                                  <p:childTnLst>
                                    <p:set>
                                      <p:cBhvr>
                                        <p:cTn id="19" dur="1" fill="hold">
                                          <p:stCondLst>
                                            <p:cond delay="0"/>
                                          </p:stCondLst>
                                        </p:cTn>
                                        <p:tgtEl>
                                          <p:spTgt spid="48"/>
                                        </p:tgtEl>
                                        <p:attrNameLst>
                                          <p:attrName>style.visibility</p:attrName>
                                        </p:attrNameLst>
                                      </p:cBhvr>
                                      <p:to>
                                        <p:strVal val="visible"/>
                                      </p:to>
                                    </p:set>
                                    <p:anim calcmode="lin" valueType="num">
                                      <p:cBhvr additive="base">
                                        <p:cTn id="20" dur="500" fill="hold"/>
                                        <p:tgtEl>
                                          <p:spTgt spid="48"/>
                                        </p:tgtEl>
                                        <p:attrNameLst>
                                          <p:attrName>ppt_x</p:attrName>
                                        </p:attrNameLst>
                                      </p:cBhvr>
                                      <p:tavLst>
                                        <p:tav tm="0">
                                          <p:val>
                                            <p:strVal val="#ppt_x"/>
                                          </p:val>
                                        </p:tav>
                                        <p:tav tm="100000">
                                          <p:val>
                                            <p:strVal val="#ppt_x"/>
                                          </p:val>
                                        </p:tav>
                                      </p:tavLst>
                                    </p:anim>
                                    <p:anim calcmode="lin" valueType="num">
                                      <p:cBhvr additive="base">
                                        <p:cTn id="21" dur="500" fill="hold"/>
                                        <p:tgtEl>
                                          <p:spTgt spid="48"/>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53" presetClass="entr" presetSubtype="16" fill="hold" nodeType="afterEffect">
                                  <p:stCondLst>
                                    <p:cond delay="0"/>
                                  </p:stCondLst>
                                  <p:childTnLst>
                                    <p:set>
                                      <p:cBhvr>
                                        <p:cTn id="24" dur="1" fill="hold">
                                          <p:stCondLst>
                                            <p:cond delay="0"/>
                                          </p:stCondLst>
                                        </p:cTn>
                                        <p:tgtEl>
                                          <p:spTgt spid="77"/>
                                        </p:tgtEl>
                                        <p:attrNameLst>
                                          <p:attrName>style.visibility</p:attrName>
                                        </p:attrNameLst>
                                      </p:cBhvr>
                                      <p:to>
                                        <p:strVal val="visible"/>
                                      </p:to>
                                    </p:set>
                                    <p:anim calcmode="lin" valueType="num">
                                      <p:cBhvr>
                                        <p:cTn id="25" dur="500" fill="hold"/>
                                        <p:tgtEl>
                                          <p:spTgt spid="77"/>
                                        </p:tgtEl>
                                        <p:attrNameLst>
                                          <p:attrName>ppt_w</p:attrName>
                                        </p:attrNameLst>
                                      </p:cBhvr>
                                      <p:tavLst>
                                        <p:tav tm="0">
                                          <p:val>
                                            <p:fltVal val="0"/>
                                          </p:val>
                                        </p:tav>
                                        <p:tav tm="100000">
                                          <p:val>
                                            <p:strVal val="#ppt_w"/>
                                          </p:val>
                                        </p:tav>
                                      </p:tavLst>
                                    </p:anim>
                                    <p:anim calcmode="lin" valueType="num">
                                      <p:cBhvr>
                                        <p:cTn id="26" dur="500" fill="hold"/>
                                        <p:tgtEl>
                                          <p:spTgt spid="77"/>
                                        </p:tgtEl>
                                        <p:attrNameLst>
                                          <p:attrName>ppt_h</p:attrName>
                                        </p:attrNameLst>
                                      </p:cBhvr>
                                      <p:tavLst>
                                        <p:tav tm="0">
                                          <p:val>
                                            <p:fltVal val="0"/>
                                          </p:val>
                                        </p:tav>
                                        <p:tav tm="100000">
                                          <p:val>
                                            <p:strVal val="#ppt_h"/>
                                          </p:val>
                                        </p:tav>
                                      </p:tavLst>
                                    </p:anim>
                                    <p:animEffect transition="in" filter="fade">
                                      <p:cBhvr>
                                        <p:cTn id="27"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6" grpId="0"/>
      <p:bldP spid="4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128872" y="393820"/>
            <a:ext cx="508571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6-2 </a:t>
            </a:r>
            <a:r>
              <a:rPr lang="zh-TW" altLang="en-US" sz="2400" b="1" dirty="0">
                <a:solidFill>
                  <a:srgbClr val="E06741"/>
                </a:solidFill>
              </a:rPr>
              <a:t>實務案例─消費金融</a:t>
            </a:r>
            <a:r>
              <a:rPr lang="en-US" altLang="zh-TW" sz="2400" b="1" dirty="0">
                <a:solidFill>
                  <a:srgbClr val="E06741"/>
                </a:solidFill>
              </a:rPr>
              <a:t>ABS</a:t>
            </a:r>
            <a:endParaRPr lang="zh-TW" altLang="en-US" sz="2400" b="1" dirty="0">
              <a:solidFill>
                <a:srgbClr val="E06741"/>
              </a:solidFill>
            </a:endParaRP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6" name="文字方塊 25">
            <a:extLst>
              <a:ext uri="{FF2B5EF4-FFF2-40B4-BE49-F238E27FC236}">
                <a16:creationId xmlns:a16="http://schemas.microsoft.com/office/drawing/2014/main" id="{4395D4FE-2FC0-4BD2-9BD3-55FB3C9BD0BF}"/>
              </a:ext>
            </a:extLst>
          </p:cNvPr>
          <p:cNvSpPr txBox="1"/>
          <p:nvPr/>
        </p:nvSpPr>
        <p:spPr>
          <a:xfrm>
            <a:off x="5798296"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案例區塊鏈應用</a:t>
            </a:r>
          </a:p>
        </p:txBody>
      </p:sp>
      <p:sp>
        <p:nvSpPr>
          <p:cNvPr id="48" name="文字方塊 47">
            <a:extLst>
              <a:ext uri="{FF2B5EF4-FFF2-40B4-BE49-F238E27FC236}">
                <a16:creationId xmlns:a16="http://schemas.microsoft.com/office/drawing/2014/main" id="{86DEFDDE-4381-4267-8E1E-1C7ACE9AF7B6}"/>
              </a:ext>
            </a:extLst>
          </p:cNvPr>
          <p:cNvSpPr txBox="1"/>
          <p:nvPr/>
        </p:nvSpPr>
        <p:spPr>
          <a:xfrm>
            <a:off x="1696789" y="1465885"/>
            <a:ext cx="9267385" cy="2681888"/>
          </a:xfrm>
          <a:prstGeom prst="rect">
            <a:avLst/>
          </a:prstGeom>
          <a:noFill/>
        </p:spPr>
        <p:txBody>
          <a:bodyPr wrap="square" rtlCol="0">
            <a:spAutoFit/>
          </a:bodyPr>
          <a:lstStyle/>
          <a:p>
            <a:pPr marL="342900" indent="-342900">
              <a:lnSpc>
                <a:spcPct val="150000"/>
              </a:lnSpc>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藉由區塊鏈的</a:t>
            </a:r>
            <a:r>
              <a:rPr lang="en-US" altLang="zh-TW" sz="2300" b="1" dirty="0">
                <a:solidFill>
                  <a:srgbClr val="3DA18E"/>
                </a:solidFill>
                <a:latin typeface="微軟正黑體" panose="020B0604030504040204" pitchFamily="34" charset="-120"/>
                <a:ea typeface="微軟正黑體" panose="020B0604030504040204" pitchFamily="34" charset="-120"/>
              </a:rPr>
              <a:t>P2P</a:t>
            </a:r>
            <a:r>
              <a:rPr lang="zh-TW" altLang="en-US" sz="2300" b="1" dirty="0">
                <a:solidFill>
                  <a:srgbClr val="3DA18E"/>
                </a:solidFill>
                <a:latin typeface="微軟正黑體" panose="020B0604030504040204" pitchFamily="34" charset="-120"/>
                <a:ea typeface="微軟正黑體" panose="020B0604030504040204" pitchFamily="34" charset="-120"/>
              </a:rPr>
              <a:t>技術</a:t>
            </a:r>
            <a:endParaRPr lang="en-US" altLang="zh-TW" sz="2300" b="1" dirty="0">
              <a:solidFill>
                <a:srgbClr val="3DA18E"/>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將全網的交易資訊於區塊鏈平台上呈現</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加註時間戳記予以證明交易資訊的紀錄</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呈現融資機構的訊息</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Font typeface="微軟正黑體" panose="020B0604030504040204" pitchFamily="34" charset="-120"/>
              <a:buChar char="→"/>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讓投資人可以加以瞭解融資機構的信用與資訊，投資更安心</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10" name="直接连接符 33">
            <a:extLst>
              <a:ext uri="{FF2B5EF4-FFF2-40B4-BE49-F238E27FC236}">
                <a16:creationId xmlns:a16="http://schemas.microsoft.com/office/drawing/2014/main" id="{3E643F40-D0F5-4EE1-9142-ACE692E8BFF5}"/>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圖片 2" descr="一張含有 向量圖形 的圖片&#10;&#10;描述是以非常高的可信度產生">
            <a:extLst>
              <a:ext uri="{FF2B5EF4-FFF2-40B4-BE49-F238E27FC236}">
                <a16:creationId xmlns:a16="http://schemas.microsoft.com/office/drawing/2014/main" id="{40AD43BA-97CD-41AB-B1B2-6F4637A53D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47419" y="4472170"/>
            <a:ext cx="2385830" cy="2385830"/>
          </a:xfrm>
          <a:prstGeom prst="rect">
            <a:avLst/>
          </a:prstGeom>
        </p:spPr>
      </p:pic>
    </p:spTree>
    <p:extLst>
      <p:ext uri="{BB962C8B-B14F-4D97-AF65-F5344CB8AC3E}">
        <p14:creationId xmlns:p14="http://schemas.microsoft.com/office/powerpoint/2010/main" val="2235373836"/>
      </p:ext>
    </p:extLst>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26">
                                            <p:txEl>
                                              <p:pRg st="0" end="0"/>
                                            </p:txEl>
                                          </p:spTgt>
                                        </p:tgtEl>
                                        <p:attrNameLst>
                                          <p:attrName>style.visibility</p:attrName>
                                        </p:attrNameLst>
                                      </p:cBhvr>
                                      <p:to>
                                        <p:strVal val="visible"/>
                                      </p:to>
                                    </p:set>
                                    <p:animEffect transition="in" filter="barn(inVertical)">
                                      <p:cBhvr>
                                        <p:cTn id="11" dur="500"/>
                                        <p:tgtEl>
                                          <p:spTgt spid="26">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barn(inVertical)">
                                      <p:cBhvr>
                                        <p:cTn id="20" dur="500"/>
                                        <p:tgtEl>
                                          <p:spTgt spid="48"/>
                                        </p:tgtEl>
                                      </p:cBhvr>
                                    </p:animEffect>
                                  </p:childTnLst>
                                </p:cTn>
                              </p:par>
                            </p:childTnLst>
                          </p:cTn>
                        </p:par>
                        <p:par>
                          <p:cTn id="21" fill="hold">
                            <p:stCondLst>
                              <p:cond delay="3500"/>
                            </p:stCondLst>
                            <p:childTnLst>
                              <p:par>
                                <p:cTn id="22" presetID="2" presetClass="entr" presetSubtype="4"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ppt_x"/>
                                          </p:val>
                                        </p:tav>
                                        <p:tav tm="100000">
                                          <p:val>
                                            <p:strVal val="#ppt_x"/>
                                          </p:val>
                                        </p:tav>
                                      </p:tavLst>
                                    </p:anim>
                                    <p:anim calcmode="lin" valueType="num">
                                      <p:cBhvr additive="base">
                                        <p:cTn id="2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128872" y="393820"/>
            <a:ext cx="508571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6-2 </a:t>
            </a:r>
            <a:r>
              <a:rPr lang="zh-TW" altLang="en-US" sz="2400" b="1" dirty="0">
                <a:solidFill>
                  <a:srgbClr val="E06741"/>
                </a:solidFill>
              </a:rPr>
              <a:t>實務案例─消費金融</a:t>
            </a:r>
            <a:r>
              <a:rPr lang="en-US" altLang="zh-TW" sz="2400" b="1" dirty="0">
                <a:solidFill>
                  <a:srgbClr val="E06741"/>
                </a:solidFill>
              </a:rPr>
              <a:t>ABS</a:t>
            </a:r>
            <a:endParaRPr lang="zh-TW" altLang="en-US" sz="2400" b="1" dirty="0">
              <a:solidFill>
                <a:srgbClr val="E06741"/>
              </a:solidFill>
            </a:endParaRP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6" name="文字方塊 25">
            <a:extLst>
              <a:ext uri="{FF2B5EF4-FFF2-40B4-BE49-F238E27FC236}">
                <a16:creationId xmlns:a16="http://schemas.microsoft.com/office/drawing/2014/main" id="{4395D4FE-2FC0-4BD2-9BD3-55FB3C9BD0BF}"/>
              </a:ext>
            </a:extLst>
          </p:cNvPr>
          <p:cNvSpPr txBox="1"/>
          <p:nvPr/>
        </p:nvSpPr>
        <p:spPr>
          <a:xfrm>
            <a:off x="5798296"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案例區塊鏈應用</a:t>
            </a:r>
          </a:p>
        </p:txBody>
      </p:sp>
      <p:sp>
        <p:nvSpPr>
          <p:cNvPr id="48" name="文字方塊 47">
            <a:extLst>
              <a:ext uri="{FF2B5EF4-FFF2-40B4-BE49-F238E27FC236}">
                <a16:creationId xmlns:a16="http://schemas.microsoft.com/office/drawing/2014/main" id="{86DEFDDE-4381-4267-8E1E-1C7ACE9AF7B6}"/>
              </a:ext>
            </a:extLst>
          </p:cNvPr>
          <p:cNvSpPr txBox="1"/>
          <p:nvPr/>
        </p:nvSpPr>
        <p:spPr>
          <a:xfrm>
            <a:off x="1558751" y="1465885"/>
            <a:ext cx="9433232" cy="4620880"/>
          </a:xfrm>
          <a:prstGeom prst="rect">
            <a:avLst/>
          </a:prstGeom>
          <a:noFill/>
        </p:spPr>
        <p:txBody>
          <a:bodyPr wrap="square" rtlCol="0">
            <a:spAutoFit/>
          </a:bodyPr>
          <a:lstStyle/>
          <a:p>
            <a:pPr marL="342900" indent="-342900">
              <a:lnSpc>
                <a:spcPct val="150000"/>
              </a:lnSpc>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應用區塊鏈的</a:t>
            </a:r>
            <a:r>
              <a:rPr lang="zh-TW" altLang="en-US" sz="2300" b="1" dirty="0">
                <a:solidFill>
                  <a:srgbClr val="3DA18E"/>
                </a:solidFill>
                <a:latin typeface="微軟正黑體" panose="020B0604030504040204" pitchFamily="34" charset="-120"/>
                <a:ea typeface="微軟正黑體" panose="020B0604030504040204" pitchFamily="34" charset="-120"/>
              </a:rPr>
              <a:t>智慧合約</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及</a:t>
            </a:r>
            <a:r>
              <a:rPr lang="zh-TW" altLang="en-US" sz="2300" b="1" dirty="0">
                <a:solidFill>
                  <a:srgbClr val="3DA18E"/>
                </a:solidFill>
                <a:latin typeface="微軟正黑體" panose="020B0604030504040204" pitchFamily="34" charset="-120"/>
                <a:ea typeface="微軟正黑體" panose="020B0604030504040204" pitchFamily="34" charset="-120"/>
              </a:rPr>
              <a:t>密碼學演算法</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等技術</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讓投資者或融資機構藉助合約的規範使交易受到法律認可</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Font typeface="微軟正黑體" panose="020B0604030504040204" pitchFamily="34" charset="-120"/>
              <a:buChar char="→"/>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減少交易時的爭議，且提高作業時效</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Font typeface="微軟正黑體" panose="020B0604030504040204" pitchFamily="34" charset="-120"/>
              <a:buChar char="→"/>
            </a:pPr>
            <a:endParaRPr lang="en-US" altLang="zh-TW" sz="7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300" b="1" dirty="0">
                <a:solidFill>
                  <a:srgbClr val="54667E"/>
                </a:solidFill>
                <a:latin typeface="微軟正黑體" panose="020B0604030504040204" pitchFamily="34" charset="-120"/>
                <a:ea typeface="微軟正黑體" panose="020B0604030504040204" pitchFamily="34" charset="-120"/>
              </a:rPr>
              <a:t>加密</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的作法讓交易資訊不被篡改</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Font typeface="微軟正黑體" panose="020B0604030504040204" pitchFamily="34" charset="-120"/>
              <a:buChar char="→"/>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保障交易資訊的完整性及正確性，降低投資成本與風險</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Font typeface="微軟正黑體" panose="020B0604030504040204" pitchFamily="34" charset="-120"/>
              <a:buChar char="→"/>
            </a:pPr>
            <a:endParaRPr lang="en-US" altLang="zh-TW" sz="7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交易完成後，透過平台的</a:t>
            </a:r>
            <a:r>
              <a:rPr lang="zh-TW" altLang="en-US" sz="2300" b="1" dirty="0">
                <a:solidFill>
                  <a:srgbClr val="54667E"/>
                </a:solidFill>
                <a:latin typeface="微軟正黑體" panose="020B0604030504040204" pitchFamily="34" charset="-120"/>
                <a:ea typeface="微軟正黑體" panose="020B0604030504040204" pitchFamily="34" charset="-120"/>
              </a:rPr>
              <a:t>離散式帳本</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將紀錄公開，並永久儲存</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Font typeface="微軟正黑體" panose="020B0604030504040204" pitchFamily="34" charset="-120"/>
              <a:buChar char="→"/>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以利後續交易紀錄的查詢</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Font typeface="微軟正黑體" panose="020B0604030504040204" pitchFamily="34" charset="-120"/>
              <a:buChar char="→"/>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維持平台交易的公平、公正性</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10" name="直接连接符 33">
            <a:extLst>
              <a:ext uri="{FF2B5EF4-FFF2-40B4-BE49-F238E27FC236}">
                <a16:creationId xmlns:a16="http://schemas.microsoft.com/office/drawing/2014/main" id="{3E643F40-D0F5-4EE1-9142-ACE692E8BFF5}"/>
              </a:ext>
            </a:extLst>
          </p:cNvPr>
          <p:cNvCxnSpPr>
            <a:cxnSpLocks/>
          </p:cNvCxnSpPr>
          <p:nvPr/>
        </p:nvCxnSpPr>
        <p:spPr>
          <a:xfrm>
            <a:off x="1177167" y="1046746"/>
            <a:ext cx="852755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1" name="圖片 10" descr="一張含有 物件 的圖片&#10;&#10;描述是以高可信度產生">
            <a:extLst>
              <a:ext uri="{FF2B5EF4-FFF2-40B4-BE49-F238E27FC236}">
                <a16:creationId xmlns:a16="http://schemas.microsoft.com/office/drawing/2014/main" id="{A6D7A885-CBC8-4D31-ACD9-74A61A3D75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8023" y="5003930"/>
            <a:ext cx="2012828" cy="2012828"/>
          </a:xfrm>
          <a:prstGeom prst="rect">
            <a:avLst/>
          </a:prstGeom>
        </p:spPr>
      </p:pic>
    </p:spTree>
    <p:extLst>
      <p:ext uri="{BB962C8B-B14F-4D97-AF65-F5344CB8AC3E}">
        <p14:creationId xmlns:p14="http://schemas.microsoft.com/office/powerpoint/2010/main" val="932910139"/>
      </p:ext>
    </p:extLst>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26">
                                            <p:txEl>
                                              <p:pRg st="0" end="0"/>
                                            </p:txEl>
                                          </p:spTgt>
                                        </p:tgtEl>
                                        <p:attrNameLst>
                                          <p:attrName>style.visibility</p:attrName>
                                        </p:attrNameLst>
                                      </p:cBhvr>
                                      <p:to>
                                        <p:strVal val="visible"/>
                                      </p:to>
                                    </p:set>
                                    <p:animEffect transition="in" filter="barn(inVertical)">
                                      <p:cBhvr>
                                        <p:cTn id="11" dur="500"/>
                                        <p:tgtEl>
                                          <p:spTgt spid="26">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barn(inVertical)">
                                      <p:cBhvr>
                                        <p:cTn id="20" dur="500"/>
                                        <p:tgtEl>
                                          <p:spTgt spid="48"/>
                                        </p:tgtEl>
                                      </p:cBhvr>
                                    </p:animEffect>
                                  </p:childTnLst>
                                </p:cTn>
                              </p:par>
                            </p:childTnLst>
                          </p:cTn>
                        </p:par>
                        <p:par>
                          <p:cTn id="21" fill="hold">
                            <p:stCondLst>
                              <p:cond delay="3500"/>
                            </p:stCondLst>
                            <p:childTnLst>
                              <p:par>
                                <p:cTn id="22" presetID="2" presetClass="entr" presetSubtype="12" fill="hold" nodeType="after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0-#ppt_w/2"/>
                                          </p:val>
                                        </p:tav>
                                        <p:tav tm="100000">
                                          <p:val>
                                            <p:strVal val="#ppt_x"/>
                                          </p:val>
                                        </p:tav>
                                      </p:tavLst>
                                    </p:anim>
                                    <p:anim calcmode="lin" valueType="num">
                                      <p:cBhvr additive="base">
                                        <p:cTn id="25"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128872" y="393820"/>
            <a:ext cx="508571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6-2 </a:t>
            </a:r>
            <a:r>
              <a:rPr lang="zh-TW" altLang="en-US" sz="2400" b="1" dirty="0">
                <a:solidFill>
                  <a:srgbClr val="E06741"/>
                </a:solidFill>
              </a:rPr>
              <a:t>實務案例─消費金融</a:t>
            </a:r>
            <a:r>
              <a:rPr lang="en-US" altLang="zh-TW" sz="2400" b="1" dirty="0">
                <a:solidFill>
                  <a:srgbClr val="E06741"/>
                </a:solidFill>
              </a:rPr>
              <a:t>ABS</a:t>
            </a:r>
            <a:endParaRPr lang="zh-TW" altLang="en-US" sz="2400" b="1" dirty="0">
              <a:solidFill>
                <a:srgbClr val="E06741"/>
              </a:solidFill>
            </a:endParaRP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6" name="文字方塊 25">
            <a:extLst>
              <a:ext uri="{FF2B5EF4-FFF2-40B4-BE49-F238E27FC236}">
                <a16:creationId xmlns:a16="http://schemas.microsoft.com/office/drawing/2014/main" id="{4395D4FE-2FC0-4BD2-9BD3-55FB3C9BD0BF}"/>
              </a:ext>
            </a:extLst>
          </p:cNvPr>
          <p:cNvSpPr txBox="1"/>
          <p:nvPr/>
        </p:nvSpPr>
        <p:spPr>
          <a:xfrm>
            <a:off x="5798296"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案例區塊鏈應用</a:t>
            </a:r>
          </a:p>
        </p:txBody>
      </p:sp>
      <p:sp>
        <p:nvSpPr>
          <p:cNvPr id="48" name="文字方塊 47">
            <a:extLst>
              <a:ext uri="{FF2B5EF4-FFF2-40B4-BE49-F238E27FC236}">
                <a16:creationId xmlns:a16="http://schemas.microsoft.com/office/drawing/2014/main" id="{86DEFDDE-4381-4267-8E1E-1C7ACE9AF7B6}"/>
              </a:ext>
            </a:extLst>
          </p:cNvPr>
          <p:cNvSpPr txBox="1"/>
          <p:nvPr/>
        </p:nvSpPr>
        <p:spPr>
          <a:xfrm>
            <a:off x="1629896" y="980454"/>
            <a:ext cx="9433232" cy="497444"/>
          </a:xfrm>
          <a:prstGeom prst="rect">
            <a:avLst/>
          </a:prstGeom>
          <a:noFill/>
        </p:spPr>
        <p:txBody>
          <a:bodyPr wrap="square" rtlCol="0">
            <a:spAutoFit/>
          </a:bodyPr>
          <a:lstStyle/>
          <a:p>
            <a:pPr marL="342900" indent="-342900">
              <a:lnSpc>
                <a:spcPct val="150000"/>
              </a:lnSpc>
              <a:buBlip>
                <a:blip r:embed="rId3"/>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消費金融區塊鏈生態流程模式</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grpSp>
        <p:nvGrpSpPr>
          <p:cNvPr id="55" name="群組 54">
            <a:extLst>
              <a:ext uri="{FF2B5EF4-FFF2-40B4-BE49-F238E27FC236}">
                <a16:creationId xmlns:a16="http://schemas.microsoft.com/office/drawing/2014/main" id="{40A9CCE7-6E97-4889-9C72-98501EF1A4E2}"/>
              </a:ext>
            </a:extLst>
          </p:cNvPr>
          <p:cNvGrpSpPr/>
          <p:nvPr/>
        </p:nvGrpSpPr>
        <p:grpSpPr>
          <a:xfrm>
            <a:off x="1802710" y="1181524"/>
            <a:ext cx="9708610" cy="5282656"/>
            <a:chOff x="625493" y="351428"/>
            <a:chExt cx="11861565" cy="6454123"/>
          </a:xfrm>
        </p:grpSpPr>
        <p:pic>
          <p:nvPicPr>
            <p:cNvPr id="56" name="圖片 55">
              <a:extLst>
                <a:ext uri="{FF2B5EF4-FFF2-40B4-BE49-F238E27FC236}">
                  <a16:creationId xmlns:a16="http://schemas.microsoft.com/office/drawing/2014/main" id="{A7161342-F4E1-4F28-8826-F30AC48479C2}"/>
                </a:ext>
              </a:extLst>
            </p:cNvPr>
            <p:cNvPicPr>
              <a:picLocks noChangeAspect="1"/>
            </p:cNvPicPr>
            <p:nvPr/>
          </p:nvPicPr>
          <p:blipFill>
            <a:blip r:embed="rId4" cstate="print">
              <a:clrChange>
                <a:clrFrom>
                  <a:srgbClr val="F6F6F6"/>
                </a:clrFrom>
                <a:clrTo>
                  <a:srgbClr val="F6F6F6">
                    <a:alpha val="0"/>
                  </a:srgbClr>
                </a:clrTo>
              </a:clrChange>
              <a:extLst>
                <a:ext uri="{28A0092B-C50C-407E-A947-70E740481C1C}">
                  <a14:useLocalDpi xmlns:a14="http://schemas.microsoft.com/office/drawing/2010/main" val="0"/>
                </a:ext>
              </a:extLst>
            </a:blip>
            <a:stretch>
              <a:fillRect/>
            </a:stretch>
          </p:blipFill>
          <p:spPr>
            <a:xfrm>
              <a:off x="5621370" y="591631"/>
              <a:ext cx="1448782" cy="1318271"/>
            </a:xfrm>
            <a:prstGeom prst="rect">
              <a:avLst/>
            </a:prstGeom>
          </p:spPr>
        </p:pic>
        <p:pic>
          <p:nvPicPr>
            <p:cNvPr id="57" name="圖片 56">
              <a:extLst>
                <a:ext uri="{FF2B5EF4-FFF2-40B4-BE49-F238E27FC236}">
                  <a16:creationId xmlns:a16="http://schemas.microsoft.com/office/drawing/2014/main" id="{66DDB78C-E0A8-4BE1-B45A-879BEEB03D79}"/>
                </a:ext>
              </a:extLst>
            </p:cNvPr>
            <p:cNvPicPr>
              <a:picLocks noChangeAspect="1"/>
            </p:cNvPicPr>
            <p:nvPr/>
          </p:nvPicPr>
          <p:blipFill>
            <a:blip r:embed="rId5">
              <a:clrChange>
                <a:clrFrom>
                  <a:srgbClr val="FFFFFF"/>
                </a:clrFrom>
                <a:clrTo>
                  <a:srgbClr val="FFFFFF">
                    <a:alpha val="0"/>
                  </a:srgbClr>
                </a:clrTo>
              </a:clrChange>
            </a:blip>
            <a:stretch>
              <a:fillRect/>
            </a:stretch>
          </p:blipFill>
          <p:spPr>
            <a:xfrm rot="20337256">
              <a:off x="7120340" y="351428"/>
              <a:ext cx="802985" cy="1162340"/>
            </a:xfrm>
            <a:prstGeom prst="rect">
              <a:avLst/>
            </a:prstGeom>
          </p:spPr>
        </p:pic>
        <p:grpSp>
          <p:nvGrpSpPr>
            <p:cNvPr id="58" name="群組 57">
              <a:extLst>
                <a:ext uri="{FF2B5EF4-FFF2-40B4-BE49-F238E27FC236}">
                  <a16:creationId xmlns:a16="http://schemas.microsoft.com/office/drawing/2014/main" id="{7AA5CFA4-338D-4086-8E3A-19F9F81BDD71}"/>
                </a:ext>
              </a:extLst>
            </p:cNvPr>
            <p:cNvGrpSpPr/>
            <p:nvPr/>
          </p:nvGrpSpPr>
          <p:grpSpPr>
            <a:xfrm>
              <a:off x="625493" y="2831326"/>
              <a:ext cx="1872208" cy="936104"/>
              <a:chOff x="4907868" y="332656"/>
              <a:chExt cx="1872208" cy="936104"/>
            </a:xfrm>
            <a:effectLst>
              <a:outerShdw blurRad="50800" dist="38100" dir="2700000" algn="tl" rotWithShape="0">
                <a:prstClr val="black">
                  <a:alpha val="40000"/>
                </a:prstClr>
              </a:outerShdw>
            </a:effectLst>
          </p:grpSpPr>
          <p:sp>
            <p:nvSpPr>
              <p:cNvPr id="143" name="流程圖: 結束點 142">
                <a:extLst>
                  <a:ext uri="{FF2B5EF4-FFF2-40B4-BE49-F238E27FC236}">
                    <a16:creationId xmlns:a16="http://schemas.microsoft.com/office/drawing/2014/main" id="{0FBFC9AD-F03D-4F00-8F02-6B5A5810839A}"/>
                  </a:ext>
                </a:extLst>
              </p:cNvPr>
              <p:cNvSpPr/>
              <p:nvPr/>
            </p:nvSpPr>
            <p:spPr>
              <a:xfrm>
                <a:off x="4907868" y="332656"/>
                <a:ext cx="1872208" cy="936104"/>
              </a:xfrm>
              <a:prstGeom prst="flowChartTerminator">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latin typeface="微軟正黑體" panose="020B0604030504040204" pitchFamily="34" charset="-120"/>
                  <a:ea typeface="微軟正黑體" panose="020B0604030504040204" pitchFamily="34" charset="-120"/>
                </a:endParaRPr>
              </a:p>
            </p:txBody>
          </p:sp>
          <p:sp>
            <p:nvSpPr>
              <p:cNvPr id="144" name="文字方塊 143">
                <a:extLst>
                  <a:ext uri="{FF2B5EF4-FFF2-40B4-BE49-F238E27FC236}">
                    <a16:creationId xmlns:a16="http://schemas.microsoft.com/office/drawing/2014/main" id="{3941F959-2093-4BB9-A83C-4A38D8C383A3}"/>
                  </a:ext>
                </a:extLst>
              </p:cNvPr>
              <p:cNvSpPr txBox="1"/>
              <p:nvPr/>
            </p:nvSpPr>
            <p:spPr>
              <a:xfrm>
                <a:off x="5087887" y="446765"/>
                <a:ext cx="1623595" cy="584775"/>
              </a:xfrm>
              <a:prstGeom prst="rect">
                <a:avLst/>
              </a:prstGeom>
              <a:noFill/>
            </p:spPr>
            <p:txBody>
              <a:bodyPr wrap="square" rtlCol="0">
                <a:spAutoFit/>
              </a:bodyPr>
              <a:lstStyle/>
              <a:p>
                <a:pPr algn="ctr"/>
                <a:r>
                  <a:rPr lang="zh-TW" altLang="en-US" sz="1600" b="1" dirty="0">
                    <a:latin typeface="微軟正黑體" panose="020B0604030504040204" pitchFamily="34" charset="-120"/>
                    <a:ea typeface="微軟正黑體" panose="020B0604030504040204" pitchFamily="34" charset="-120"/>
                  </a:rPr>
                  <a:t>信貸系統</a:t>
                </a:r>
                <a:endParaRPr lang="en-US" altLang="zh-TW" sz="1600" b="1" dirty="0">
                  <a:latin typeface="微軟正黑體" panose="020B0604030504040204" pitchFamily="34" charset="-120"/>
                  <a:ea typeface="微軟正黑體" panose="020B0604030504040204" pitchFamily="34" charset="-120"/>
                </a:endParaRPr>
              </a:p>
              <a:p>
                <a:pPr algn="ctr"/>
                <a:r>
                  <a:rPr lang="en-US" altLang="zh-TW" sz="1600" b="1" dirty="0">
                    <a:latin typeface="微軟正黑體" panose="020B0604030504040204" pitchFamily="34" charset="-120"/>
                    <a:ea typeface="微軟正黑體" panose="020B0604030504040204" pitchFamily="34" charset="-120"/>
                  </a:rPr>
                  <a:t>(</a:t>
                </a:r>
                <a:r>
                  <a:rPr lang="zh-TW" altLang="en-US" sz="1600" b="1" dirty="0">
                    <a:latin typeface="微軟正黑體" panose="020B0604030504040204" pitchFamily="34" charset="-120"/>
                    <a:ea typeface="微軟正黑體" panose="020B0604030504040204" pitchFamily="34" charset="-120"/>
                  </a:rPr>
                  <a:t>自有</a:t>
                </a:r>
                <a:r>
                  <a:rPr lang="en-US" altLang="zh-TW" sz="1600" b="1" dirty="0">
                    <a:latin typeface="微軟正黑體" panose="020B0604030504040204" pitchFamily="34" charset="-120"/>
                    <a:ea typeface="微軟正黑體" panose="020B0604030504040204" pitchFamily="34" charset="-120"/>
                  </a:rPr>
                  <a:t>+</a:t>
                </a:r>
                <a:r>
                  <a:rPr lang="zh-TW" altLang="en-US" sz="1600" b="1" dirty="0">
                    <a:latin typeface="微軟正黑體" panose="020B0604030504040204" pitchFamily="34" charset="-120"/>
                    <a:ea typeface="微軟正黑體" panose="020B0604030504040204" pitchFamily="34" charset="-120"/>
                  </a:rPr>
                  <a:t>助貸</a:t>
                </a:r>
                <a:r>
                  <a:rPr lang="en-US" altLang="zh-TW" sz="1600" dirty="0">
                    <a:latin typeface="微軟正黑體" panose="020B0604030504040204" pitchFamily="34" charset="-120"/>
                    <a:ea typeface="微軟正黑體" panose="020B0604030504040204" pitchFamily="34" charset="-120"/>
                  </a:rPr>
                  <a:t>)</a:t>
                </a:r>
                <a:endParaRPr lang="zh-TW" altLang="en-US" sz="1600" dirty="0">
                  <a:latin typeface="微軟正黑體" panose="020B0604030504040204" pitchFamily="34" charset="-120"/>
                  <a:ea typeface="微軟正黑體" panose="020B0604030504040204" pitchFamily="34" charset="-120"/>
                </a:endParaRPr>
              </a:p>
            </p:txBody>
          </p:sp>
        </p:grpSp>
        <p:grpSp>
          <p:nvGrpSpPr>
            <p:cNvPr id="59" name="群組 58">
              <a:extLst>
                <a:ext uri="{FF2B5EF4-FFF2-40B4-BE49-F238E27FC236}">
                  <a16:creationId xmlns:a16="http://schemas.microsoft.com/office/drawing/2014/main" id="{EBB21675-9639-47CF-9110-CAC00B7A5ED1}"/>
                </a:ext>
              </a:extLst>
            </p:cNvPr>
            <p:cNvGrpSpPr/>
            <p:nvPr/>
          </p:nvGrpSpPr>
          <p:grpSpPr>
            <a:xfrm>
              <a:off x="3516048" y="2816042"/>
              <a:ext cx="1872208" cy="936104"/>
              <a:chOff x="4907868" y="332656"/>
              <a:chExt cx="1872208" cy="936104"/>
            </a:xfrm>
            <a:effectLst>
              <a:outerShdw blurRad="50800" dist="38100" dir="2700000" algn="tl" rotWithShape="0">
                <a:prstClr val="black">
                  <a:alpha val="40000"/>
                </a:prstClr>
              </a:outerShdw>
            </a:effectLst>
          </p:grpSpPr>
          <p:sp>
            <p:nvSpPr>
              <p:cNvPr id="141" name="流程圖: 結束點 140">
                <a:extLst>
                  <a:ext uri="{FF2B5EF4-FFF2-40B4-BE49-F238E27FC236}">
                    <a16:creationId xmlns:a16="http://schemas.microsoft.com/office/drawing/2014/main" id="{027848C8-8949-48C3-948E-2E975321AB13}"/>
                  </a:ext>
                </a:extLst>
              </p:cNvPr>
              <p:cNvSpPr/>
              <p:nvPr/>
            </p:nvSpPr>
            <p:spPr>
              <a:xfrm>
                <a:off x="4907868" y="332656"/>
                <a:ext cx="1872208" cy="936104"/>
              </a:xfrm>
              <a:prstGeom prst="flowChartTerminator">
                <a:avLst/>
              </a:prstGeom>
              <a:solidFill>
                <a:srgbClr val="FDF6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latin typeface="微軟正黑體" panose="020B0604030504040204" pitchFamily="34" charset="-120"/>
                  <a:ea typeface="微軟正黑體" panose="020B0604030504040204" pitchFamily="34" charset="-120"/>
                </a:endParaRPr>
              </a:p>
            </p:txBody>
          </p:sp>
          <p:sp>
            <p:nvSpPr>
              <p:cNvPr id="142" name="文字方塊 141">
                <a:extLst>
                  <a:ext uri="{FF2B5EF4-FFF2-40B4-BE49-F238E27FC236}">
                    <a16:creationId xmlns:a16="http://schemas.microsoft.com/office/drawing/2014/main" id="{E0A0B170-A887-404E-8E21-CF1332F0BA09}"/>
                  </a:ext>
                </a:extLst>
              </p:cNvPr>
              <p:cNvSpPr txBox="1"/>
              <p:nvPr/>
            </p:nvSpPr>
            <p:spPr>
              <a:xfrm>
                <a:off x="4907868" y="446765"/>
                <a:ext cx="1692188" cy="338554"/>
              </a:xfrm>
              <a:prstGeom prst="rect">
                <a:avLst/>
              </a:prstGeom>
              <a:noFill/>
              <a:scene3d>
                <a:camera prst="orthographicFront"/>
                <a:lightRig rig="threePt" dir="t"/>
              </a:scene3d>
              <a:sp3d>
                <a:bevelT w="114300" prst="artDeco"/>
              </a:sp3d>
            </p:spPr>
            <p:txBody>
              <a:bodyPr wrap="square" rtlCol="0">
                <a:spAutoFit/>
              </a:bodyPr>
              <a:lstStyle/>
              <a:p>
                <a:pPr algn="ctr"/>
                <a:r>
                  <a:rPr lang="zh-TW" altLang="en-US" sz="1600" b="1" dirty="0">
                    <a:latin typeface="微軟正黑體" panose="020B0604030504040204" pitchFamily="34" charset="-120"/>
                    <a:ea typeface="微軟正黑體" panose="020B0604030504040204" pitchFamily="34" charset="-120"/>
                  </a:rPr>
                  <a:t>資產證券化系統</a:t>
                </a:r>
                <a:endParaRPr lang="en-US" altLang="zh-TW" sz="1600" b="1" dirty="0">
                  <a:latin typeface="微軟正黑體" panose="020B0604030504040204" pitchFamily="34" charset="-120"/>
                  <a:ea typeface="微軟正黑體" panose="020B0604030504040204" pitchFamily="34" charset="-120"/>
                </a:endParaRPr>
              </a:p>
            </p:txBody>
          </p:sp>
        </p:grpSp>
        <p:grpSp>
          <p:nvGrpSpPr>
            <p:cNvPr id="60" name="群組 59">
              <a:extLst>
                <a:ext uri="{FF2B5EF4-FFF2-40B4-BE49-F238E27FC236}">
                  <a16:creationId xmlns:a16="http://schemas.microsoft.com/office/drawing/2014/main" id="{D60F6831-564E-44AA-87DC-ADBD0688DABD}"/>
                </a:ext>
              </a:extLst>
            </p:cNvPr>
            <p:cNvGrpSpPr/>
            <p:nvPr/>
          </p:nvGrpSpPr>
          <p:grpSpPr>
            <a:xfrm>
              <a:off x="6348602" y="2210151"/>
              <a:ext cx="1872208" cy="720000"/>
              <a:chOff x="4907868" y="332656"/>
              <a:chExt cx="1872208" cy="720000"/>
            </a:xfrm>
          </p:grpSpPr>
          <p:sp>
            <p:nvSpPr>
              <p:cNvPr id="139" name="流程圖: 結束點 138">
                <a:extLst>
                  <a:ext uri="{FF2B5EF4-FFF2-40B4-BE49-F238E27FC236}">
                    <a16:creationId xmlns:a16="http://schemas.microsoft.com/office/drawing/2014/main" id="{A95AC745-9CAB-47B3-812F-1B491BC7361C}"/>
                  </a:ext>
                </a:extLst>
              </p:cNvPr>
              <p:cNvSpPr/>
              <p:nvPr/>
            </p:nvSpPr>
            <p:spPr>
              <a:xfrm>
                <a:off x="4907868" y="332656"/>
                <a:ext cx="1872208" cy="720000"/>
              </a:xfrm>
              <a:prstGeom prst="flowChartTerminator">
                <a:avLst/>
              </a:prstGeom>
              <a:solidFill>
                <a:srgbClr val="BEF3F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latin typeface="微軟正黑體" panose="020B0604030504040204" pitchFamily="34" charset="-120"/>
                  <a:ea typeface="微軟正黑體" panose="020B0604030504040204" pitchFamily="34" charset="-120"/>
                </a:endParaRPr>
              </a:p>
            </p:txBody>
          </p:sp>
          <p:sp>
            <p:nvSpPr>
              <p:cNvPr id="140" name="文字方塊 139">
                <a:extLst>
                  <a:ext uri="{FF2B5EF4-FFF2-40B4-BE49-F238E27FC236}">
                    <a16:creationId xmlns:a16="http://schemas.microsoft.com/office/drawing/2014/main" id="{9CC5B504-B24F-4CD8-A1C3-3F93677B9B49}"/>
                  </a:ext>
                </a:extLst>
              </p:cNvPr>
              <p:cNvSpPr txBox="1"/>
              <p:nvPr/>
            </p:nvSpPr>
            <p:spPr>
              <a:xfrm>
                <a:off x="5087888" y="523884"/>
                <a:ext cx="1512168" cy="338554"/>
              </a:xfrm>
              <a:prstGeom prst="rect">
                <a:avLst/>
              </a:prstGeom>
              <a:noFill/>
              <a:ln>
                <a:noFill/>
              </a:ln>
              <a:effectLst>
                <a:outerShdw blurRad="44450" dist="27940" dir="5400000" algn="ctr">
                  <a:srgbClr val="000000">
                    <a:alpha val="32000"/>
                  </a:srgbClr>
                </a:outerShdw>
              </a:effectLst>
              <a:sp3d>
                <a:bevelT w="190500" h="38100" prst="artDeco"/>
              </a:sp3d>
            </p:spPr>
            <p:txBody>
              <a:bodyPr wrap="square" rtlCol="0">
                <a:spAutoFit/>
              </a:bodyPr>
              <a:lstStyle/>
              <a:p>
                <a:pPr algn="ctr"/>
                <a:r>
                  <a:rPr lang="zh-TW" altLang="en-US" sz="1600" b="1" dirty="0">
                    <a:latin typeface="微軟正黑體" panose="020B0604030504040204" pitchFamily="34" charset="-120"/>
                    <a:ea typeface="微軟正黑體" panose="020B0604030504040204" pitchFamily="34" charset="-120"/>
                  </a:rPr>
                  <a:t>交易所</a:t>
                </a:r>
                <a:endParaRPr lang="zh-TW" altLang="en-US" sz="1600" dirty="0">
                  <a:latin typeface="微軟正黑體" panose="020B0604030504040204" pitchFamily="34" charset="-120"/>
                  <a:ea typeface="微軟正黑體" panose="020B0604030504040204" pitchFamily="34" charset="-120"/>
                </a:endParaRPr>
              </a:p>
            </p:txBody>
          </p:sp>
        </p:grpSp>
        <p:grpSp>
          <p:nvGrpSpPr>
            <p:cNvPr id="61" name="群組 60">
              <a:extLst>
                <a:ext uri="{FF2B5EF4-FFF2-40B4-BE49-F238E27FC236}">
                  <a16:creationId xmlns:a16="http://schemas.microsoft.com/office/drawing/2014/main" id="{04364415-FDC4-4197-B96F-8659088481DA}"/>
                </a:ext>
              </a:extLst>
            </p:cNvPr>
            <p:cNvGrpSpPr/>
            <p:nvPr/>
          </p:nvGrpSpPr>
          <p:grpSpPr>
            <a:xfrm>
              <a:off x="6406603" y="4052768"/>
              <a:ext cx="1872208" cy="720000"/>
              <a:chOff x="4907868" y="332656"/>
              <a:chExt cx="1872208" cy="720000"/>
            </a:xfrm>
            <a:effectLst>
              <a:outerShdw blurRad="50800" dist="38100" dir="2700000" algn="tl" rotWithShape="0">
                <a:prstClr val="black">
                  <a:alpha val="40000"/>
                </a:prstClr>
              </a:outerShdw>
            </a:effectLst>
          </p:grpSpPr>
          <p:sp>
            <p:nvSpPr>
              <p:cNvPr id="137" name="流程圖: 結束點 136">
                <a:extLst>
                  <a:ext uri="{FF2B5EF4-FFF2-40B4-BE49-F238E27FC236}">
                    <a16:creationId xmlns:a16="http://schemas.microsoft.com/office/drawing/2014/main" id="{1AA23DF9-4D2B-41F8-8018-001E6BE51A89}"/>
                  </a:ext>
                </a:extLst>
              </p:cNvPr>
              <p:cNvSpPr/>
              <p:nvPr/>
            </p:nvSpPr>
            <p:spPr>
              <a:xfrm>
                <a:off x="4907868" y="332656"/>
                <a:ext cx="1872208" cy="720000"/>
              </a:xfrm>
              <a:prstGeom prst="flowChartTerminator">
                <a:avLst/>
              </a:prstGeom>
              <a:solidFill>
                <a:srgbClr val="BEF3F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latin typeface="微軟正黑體" panose="020B0604030504040204" pitchFamily="34" charset="-120"/>
                  <a:ea typeface="微軟正黑體" panose="020B0604030504040204" pitchFamily="34" charset="-120"/>
                </a:endParaRPr>
              </a:p>
            </p:txBody>
          </p:sp>
          <p:sp>
            <p:nvSpPr>
              <p:cNvPr id="138" name="文字方塊 137">
                <a:extLst>
                  <a:ext uri="{FF2B5EF4-FFF2-40B4-BE49-F238E27FC236}">
                    <a16:creationId xmlns:a16="http://schemas.microsoft.com/office/drawing/2014/main" id="{2665E986-5330-4D3C-9B5C-34F18308F159}"/>
                  </a:ext>
                </a:extLst>
              </p:cNvPr>
              <p:cNvSpPr txBox="1"/>
              <p:nvPr/>
            </p:nvSpPr>
            <p:spPr>
              <a:xfrm>
                <a:off x="5063447" y="491956"/>
                <a:ext cx="1512168" cy="338554"/>
              </a:xfrm>
              <a:prstGeom prst="rect">
                <a:avLst/>
              </a:prstGeom>
              <a:noFill/>
              <a:scene3d>
                <a:camera prst="orthographicFront"/>
                <a:lightRig rig="threePt" dir="t"/>
              </a:scene3d>
              <a:sp3d>
                <a:bevelT w="114300" prst="artDeco"/>
              </a:sp3d>
            </p:spPr>
            <p:txBody>
              <a:bodyPr wrap="square" rtlCol="0">
                <a:spAutoFit/>
              </a:bodyPr>
              <a:lstStyle/>
              <a:p>
                <a:pPr algn="ctr"/>
                <a:r>
                  <a:rPr lang="zh-TW" altLang="en-US" sz="1600" b="1" dirty="0">
                    <a:latin typeface="微軟正黑體" panose="020B0604030504040204" pitchFamily="34" charset="-120"/>
                    <a:ea typeface="微軟正黑體" panose="020B0604030504040204" pitchFamily="34" charset="-120"/>
                  </a:rPr>
                  <a:t>資管系統</a:t>
                </a:r>
                <a:endParaRPr lang="zh-TW" altLang="en-US" sz="1600" dirty="0">
                  <a:latin typeface="微軟正黑體" panose="020B0604030504040204" pitchFamily="34" charset="-120"/>
                  <a:ea typeface="微軟正黑體" panose="020B0604030504040204" pitchFamily="34" charset="-120"/>
                </a:endParaRPr>
              </a:p>
            </p:txBody>
          </p:sp>
        </p:grpSp>
        <p:grpSp>
          <p:nvGrpSpPr>
            <p:cNvPr id="62" name="群組 61">
              <a:extLst>
                <a:ext uri="{FF2B5EF4-FFF2-40B4-BE49-F238E27FC236}">
                  <a16:creationId xmlns:a16="http://schemas.microsoft.com/office/drawing/2014/main" id="{D4409935-79CC-423A-A31E-B77DF6698AE2}"/>
                </a:ext>
              </a:extLst>
            </p:cNvPr>
            <p:cNvGrpSpPr/>
            <p:nvPr/>
          </p:nvGrpSpPr>
          <p:grpSpPr>
            <a:xfrm>
              <a:off x="9542632" y="2213423"/>
              <a:ext cx="1872208" cy="732012"/>
              <a:chOff x="4907868" y="332656"/>
              <a:chExt cx="1872208" cy="732012"/>
            </a:xfrm>
          </p:grpSpPr>
          <p:sp>
            <p:nvSpPr>
              <p:cNvPr id="135" name="流程圖: 結束點 134">
                <a:extLst>
                  <a:ext uri="{FF2B5EF4-FFF2-40B4-BE49-F238E27FC236}">
                    <a16:creationId xmlns:a16="http://schemas.microsoft.com/office/drawing/2014/main" id="{F00E2727-9AED-435B-A02C-4AC881E8B4AC}"/>
                  </a:ext>
                </a:extLst>
              </p:cNvPr>
              <p:cNvSpPr/>
              <p:nvPr/>
            </p:nvSpPr>
            <p:spPr>
              <a:xfrm>
                <a:off x="4907868" y="332656"/>
                <a:ext cx="1872208" cy="732012"/>
              </a:xfrm>
              <a:prstGeom prst="flowChartTerminator">
                <a:avLst/>
              </a:prstGeom>
              <a:solidFill>
                <a:schemeClr val="accent5">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latin typeface="微軟正黑體" panose="020B0604030504040204" pitchFamily="34" charset="-120"/>
                  <a:ea typeface="微軟正黑體" panose="020B0604030504040204" pitchFamily="34" charset="-120"/>
                </a:endParaRPr>
              </a:p>
            </p:txBody>
          </p:sp>
          <p:sp>
            <p:nvSpPr>
              <p:cNvPr id="136" name="文字方塊 135">
                <a:extLst>
                  <a:ext uri="{FF2B5EF4-FFF2-40B4-BE49-F238E27FC236}">
                    <a16:creationId xmlns:a16="http://schemas.microsoft.com/office/drawing/2014/main" id="{B7890E48-DBF2-42E9-8B38-D21BCD218E4A}"/>
                  </a:ext>
                </a:extLst>
              </p:cNvPr>
              <p:cNvSpPr txBox="1"/>
              <p:nvPr/>
            </p:nvSpPr>
            <p:spPr>
              <a:xfrm>
                <a:off x="5049344" y="494397"/>
                <a:ext cx="1730732" cy="338554"/>
              </a:xfrm>
              <a:prstGeom prst="rect">
                <a:avLst/>
              </a:prstGeom>
              <a:noFill/>
              <a:scene3d>
                <a:camera prst="orthographicFront"/>
                <a:lightRig rig="threePt" dir="t"/>
              </a:scene3d>
              <a:sp3d>
                <a:bevelT w="114300" prst="artDeco"/>
              </a:sp3d>
            </p:spPr>
            <p:txBody>
              <a:bodyPr wrap="square" rtlCol="0">
                <a:spAutoFit/>
              </a:bodyPr>
              <a:lstStyle/>
              <a:p>
                <a:pPr algn="ctr"/>
                <a:r>
                  <a:rPr lang="zh-TW" altLang="en-US" sz="1600" b="1" dirty="0">
                    <a:latin typeface="微軟正黑體" panose="020B0604030504040204" pitchFamily="34" charset="-120"/>
                    <a:ea typeface="微軟正黑體" panose="020B0604030504040204" pitchFamily="34" charset="-120"/>
                  </a:rPr>
                  <a:t>機構投資者</a:t>
                </a:r>
                <a:endParaRPr lang="zh-TW" altLang="en-US" sz="1600" dirty="0">
                  <a:latin typeface="微軟正黑體" panose="020B0604030504040204" pitchFamily="34" charset="-120"/>
                  <a:ea typeface="微軟正黑體" panose="020B0604030504040204" pitchFamily="34" charset="-120"/>
                </a:endParaRPr>
              </a:p>
            </p:txBody>
          </p:sp>
        </p:grpSp>
        <p:grpSp>
          <p:nvGrpSpPr>
            <p:cNvPr id="63" name="群組 62">
              <a:extLst>
                <a:ext uri="{FF2B5EF4-FFF2-40B4-BE49-F238E27FC236}">
                  <a16:creationId xmlns:a16="http://schemas.microsoft.com/office/drawing/2014/main" id="{3585205F-F49A-4B23-8964-9FD0DA857B49}"/>
                </a:ext>
              </a:extLst>
            </p:cNvPr>
            <p:cNvGrpSpPr/>
            <p:nvPr/>
          </p:nvGrpSpPr>
          <p:grpSpPr>
            <a:xfrm>
              <a:off x="9545771" y="4052768"/>
              <a:ext cx="1872208" cy="720000"/>
              <a:chOff x="4907868" y="332656"/>
              <a:chExt cx="1872208" cy="936104"/>
            </a:xfrm>
          </p:grpSpPr>
          <p:sp>
            <p:nvSpPr>
              <p:cNvPr id="133" name="流程圖: 結束點 132">
                <a:extLst>
                  <a:ext uri="{FF2B5EF4-FFF2-40B4-BE49-F238E27FC236}">
                    <a16:creationId xmlns:a16="http://schemas.microsoft.com/office/drawing/2014/main" id="{31C2C546-E913-454E-A7BF-014EC8909D2B}"/>
                  </a:ext>
                </a:extLst>
              </p:cNvPr>
              <p:cNvSpPr/>
              <p:nvPr/>
            </p:nvSpPr>
            <p:spPr>
              <a:xfrm>
                <a:off x="4907868" y="332656"/>
                <a:ext cx="1872208" cy="936104"/>
              </a:xfrm>
              <a:prstGeom prst="flowChartTerminator">
                <a:avLst/>
              </a:prstGeom>
              <a:solidFill>
                <a:schemeClr val="accent5">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latin typeface="微軟正黑體" panose="020B0604030504040204" pitchFamily="34" charset="-120"/>
                  <a:ea typeface="微軟正黑體" panose="020B0604030504040204" pitchFamily="34" charset="-120"/>
                </a:endParaRPr>
              </a:p>
            </p:txBody>
          </p:sp>
          <p:sp>
            <p:nvSpPr>
              <p:cNvPr id="134" name="文字方塊 133">
                <a:extLst>
                  <a:ext uri="{FF2B5EF4-FFF2-40B4-BE49-F238E27FC236}">
                    <a16:creationId xmlns:a16="http://schemas.microsoft.com/office/drawing/2014/main" id="{73243C80-50FE-4347-9BFC-DF98320562C7}"/>
                  </a:ext>
                </a:extLst>
              </p:cNvPr>
              <p:cNvSpPr txBox="1"/>
              <p:nvPr/>
            </p:nvSpPr>
            <p:spPr>
              <a:xfrm>
                <a:off x="5084787" y="559332"/>
                <a:ext cx="1512168" cy="440169"/>
              </a:xfrm>
              <a:prstGeom prst="rect">
                <a:avLst/>
              </a:prstGeom>
              <a:noFill/>
              <a:scene3d>
                <a:camera prst="orthographicFront"/>
                <a:lightRig rig="threePt" dir="t"/>
              </a:scene3d>
              <a:sp3d>
                <a:bevelT w="114300" prst="artDeco"/>
              </a:sp3d>
            </p:spPr>
            <p:txBody>
              <a:bodyPr wrap="square" rtlCol="0">
                <a:spAutoFit/>
              </a:bodyPr>
              <a:lstStyle/>
              <a:p>
                <a:pPr algn="ctr"/>
                <a:r>
                  <a:rPr lang="zh-TW" altLang="en-US" sz="1600" b="1" dirty="0">
                    <a:latin typeface="微軟正黑體" panose="020B0604030504040204" pitchFamily="34" charset="-120"/>
                    <a:ea typeface="微軟正黑體" panose="020B0604030504040204" pitchFamily="34" charset="-120"/>
                  </a:rPr>
                  <a:t>理財平台</a:t>
                </a:r>
                <a:endParaRPr lang="zh-TW" altLang="en-US" sz="1600" dirty="0">
                  <a:latin typeface="微軟正黑體" panose="020B0604030504040204" pitchFamily="34" charset="-120"/>
                  <a:ea typeface="微軟正黑體" panose="020B0604030504040204" pitchFamily="34" charset="-120"/>
                </a:endParaRPr>
              </a:p>
            </p:txBody>
          </p:sp>
        </p:grpSp>
        <p:sp>
          <p:nvSpPr>
            <p:cNvPr id="64" name="矩形 63">
              <a:extLst>
                <a:ext uri="{FF2B5EF4-FFF2-40B4-BE49-F238E27FC236}">
                  <a16:creationId xmlns:a16="http://schemas.microsoft.com/office/drawing/2014/main" id="{2D8DFDE6-7F51-4F6D-B348-6C1E28C7FB79}"/>
                </a:ext>
              </a:extLst>
            </p:cNvPr>
            <p:cNvSpPr/>
            <p:nvPr/>
          </p:nvSpPr>
          <p:spPr>
            <a:xfrm>
              <a:off x="625493" y="5980203"/>
              <a:ext cx="11015123" cy="502311"/>
            </a:xfrm>
            <a:prstGeom prst="rect">
              <a:avLst/>
            </a:prstGeom>
            <a:gradFill>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a:latin typeface="微軟正黑體" panose="020B0604030504040204" pitchFamily="34" charset="-120"/>
                <a:ea typeface="微軟正黑體" panose="020B0604030504040204" pitchFamily="34" charset="-120"/>
              </a:endParaRPr>
            </a:p>
          </p:txBody>
        </p:sp>
        <p:sp>
          <p:nvSpPr>
            <p:cNvPr id="65" name="文字方塊 64">
              <a:extLst>
                <a:ext uri="{FF2B5EF4-FFF2-40B4-BE49-F238E27FC236}">
                  <a16:creationId xmlns:a16="http://schemas.microsoft.com/office/drawing/2014/main" id="{DB64D411-0220-4106-9C77-2A0DCD922AA2}"/>
                </a:ext>
              </a:extLst>
            </p:cNvPr>
            <p:cNvSpPr txBox="1"/>
            <p:nvPr/>
          </p:nvSpPr>
          <p:spPr>
            <a:xfrm>
              <a:off x="5087888" y="5965145"/>
              <a:ext cx="6535824" cy="451234"/>
            </a:xfrm>
            <a:prstGeom prst="rect">
              <a:avLst/>
            </a:prstGeom>
            <a:noFill/>
          </p:spPr>
          <p:txBody>
            <a:bodyPr wrap="square" rtlCol="0">
              <a:spAutoFit/>
            </a:bodyPr>
            <a:lstStyle/>
            <a:p>
              <a:r>
                <a:rPr lang="zh-TW" altLang="en-US" b="1" dirty="0">
                  <a:solidFill>
                    <a:schemeClr val="tx1">
                      <a:lumMod val="85000"/>
                      <a:lumOff val="15000"/>
                    </a:schemeClr>
                  </a:solidFill>
                  <a:latin typeface="微軟正黑體" panose="020B0604030504040204" pitchFamily="34" charset="-120"/>
                  <a:ea typeface="微軟正黑體" panose="020B0604030504040204" pitchFamily="34" charset="-120"/>
                </a:rPr>
                <a:t>區塊鏈開放平台</a:t>
              </a:r>
              <a:r>
                <a:rPr lang="en-US" altLang="zh-TW" b="1" dirty="0">
                  <a:solidFill>
                    <a:schemeClr val="tx1">
                      <a:lumMod val="85000"/>
                      <a:lumOff val="15000"/>
                    </a:schemeClr>
                  </a:solidFill>
                  <a:latin typeface="微軟正黑體" panose="020B0604030504040204" pitchFamily="34" charset="-120"/>
                  <a:ea typeface="微軟正黑體" panose="020B0604030504040204" pitchFamily="34" charset="-120"/>
                </a:rPr>
                <a:t>(BAAS)</a:t>
              </a:r>
              <a:endParaRPr lang="zh-TW" altLang="en-US" b="1" dirty="0">
                <a:solidFill>
                  <a:schemeClr val="tx1">
                    <a:lumMod val="85000"/>
                    <a:lumOff val="15000"/>
                  </a:schemeClr>
                </a:solidFill>
                <a:latin typeface="微軟正黑體" panose="020B0604030504040204" pitchFamily="34" charset="-120"/>
                <a:ea typeface="微軟正黑體" panose="020B0604030504040204" pitchFamily="34" charset="-120"/>
              </a:endParaRPr>
            </a:p>
          </p:txBody>
        </p:sp>
        <p:cxnSp>
          <p:nvCxnSpPr>
            <p:cNvPr id="66" name="直線單箭頭接點 65">
              <a:extLst>
                <a:ext uri="{FF2B5EF4-FFF2-40B4-BE49-F238E27FC236}">
                  <a16:creationId xmlns:a16="http://schemas.microsoft.com/office/drawing/2014/main" id="{EBF8EA0C-F715-412D-B340-DA833D3E6F8F}"/>
                </a:ext>
              </a:extLst>
            </p:cNvPr>
            <p:cNvCxnSpPr/>
            <p:nvPr/>
          </p:nvCxnSpPr>
          <p:spPr>
            <a:xfrm flipV="1">
              <a:off x="2497701" y="3299378"/>
              <a:ext cx="1018347" cy="15284"/>
            </a:xfrm>
            <a:prstGeom prst="straightConnector1">
              <a:avLst/>
            </a:prstGeom>
            <a:ln w="444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線單箭頭接點 66">
              <a:extLst>
                <a:ext uri="{FF2B5EF4-FFF2-40B4-BE49-F238E27FC236}">
                  <a16:creationId xmlns:a16="http://schemas.microsoft.com/office/drawing/2014/main" id="{DC684D46-D9BA-4680-80DA-9A5C07D22BC0}"/>
                </a:ext>
              </a:extLst>
            </p:cNvPr>
            <p:cNvCxnSpPr>
              <a:endCxn id="137" idx="1"/>
            </p:cNvCxnSpPr>
            <p:nvPr/>
          </p:nvCxnSpPr>
          <p:spPr>
            <a:xfrm>
              <a:off x="5272254" y="3752146"/>
              <a:ext cx="1134349" cy="660622"/>
            </a:xfrm>
            <a:prstGeom prst="straightConnector1">
              <a:avLst/>
            </a:prstGeom>
            <a:ln w="444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單箭頭接點 67">
              <a:extLst>
                <a:ext uri="{FF2B5EF4-FFF2-40B4-BE49-F238E27FC236}">
                  <a16:creationId xmlns:a16="http://schemas.microsoft.com/office/drawing/2014/main" id="{F7EEFBF6-4BA5-4DDC-9B43-D149DC8F5327}"/>
                </a:ext>
              </a:extLst>
            </p:cNvPr>
            <p:cNvCxnSpPr>
              <a:endCxn id="139" idx="1"/>
            </p:cNvCxnSpPr>
            <p:nvPr/>
          </p:nvCxnSpPr>
          <p:spPr>
            <a:xfrm flipV="1">
              <a:off x="5214253" y="2570151"/>
              <a:ext cx="1134349" cy="286787"/>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cxnSp>
          <p:nvCxnSpPr>
            <p:cNvPr id="69" name="直線單箭頭接點 68">
              <a:extLst>
                <a:ext uri="{FF2B5EF4-FFF2-40B4-BE49-F238E27FC236}">
                  <a16:creationId xmlns:a16="http://schemas.microsoft.com/office/drawing/2014/main" id="{F48DFF4A-6084-4D33-B9FC-4C86E32395E5}"/>
                </a:ext>
              </a:extLst>
            </p:cNvPr>
            <p:cNvCxnSpPr>
              <a:endCxn id="135" idx="1"/>
            </p:cNvCxnSpPr>
            <p:nvPr/>
          </p:nvCxnSpPr>
          <p:spPr>
            <a:xfrm>
              <a:off x="8278811" y="2575219"/>
              <a:ext cx="1263821" cy="4210"/>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cxnSp>
          <p:nvCxnSpPr>
            <p:cNvPr id="70" name="直線單箭頭接點 69">
              <a:extLst>
                <a:ext uri="{FF2B5EF4-FFF2-40B4-BE49-F238E27FC236}">
                  <a16:creationId xmlns:a16="http://schemas.microsoft.com/office/drawing/2014/main" id="{1EF7D6C6-C00D-478C-88AC-BDCBA6058E15}"/>
                </a:ext>
              </a:extLst>
            </p:cNvPr>
            <p:cNvCxnSpPr>
              <a:endCxn id="133" idx="1"/>
            </p:cNvCxnSpPr>
            <p:nvPr/>
          </p:nvCxnSpPr>
          <p:spPr>
            <a:xfrm>
              <a:off x="8278811" y="4411790"/>
              <a:ext cx="1266960" cy="978"/>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sp>
          <p:nvSpPr>
            <p:cNvPr id="71" name="文字方塊 70">
              <a:extLst>
                <a:ext uri="{FF2B5EF4-FFF2-40B4-BE49-F238E27FC236}">
                  <a16:creationId xmlns:a16="http://schemas.microsoft.com/office/drawing/2014/main" id="{21B9D7D6-092A-4307-B14B-2085BB3E37FC}"/>
                </a:ext>
              </a:extLst>
            </p:cNvPr>
            <p:cNvSpPr txBox="1"/>
            <p:nvPr/>
          </p:nvSpPr>
          <p:spPr>
            <a:xfrm>
              <a:off x="5528500" y="3425249"/>
              <a:ext cx="1756206" cy="338554"/>
            </a:xfrm>
            <a:prstGeom prst="rect">
              <a:avLst/>
            </a:prstGeom>
            <a:noFill/>
          </p:spPr>
          <p:txBody>
            <a:bodyPr wrap="square" rtlCol="0">
              <a:spAutoFit/>
            </a:bodyPr>
            <a:lstStyle/>
            <a:p>
              <a:r>
                <a:rPr lang="zh-TW" altLang="en-US" sz="1600" b="1" dirty="0">
                  <a:latin typeface="微軟正黑體" panose="020B0604030504040204" pitchFamily="34" charset="-120"/>
                  <a:ea typeface="微軟正黑體" panose="020B0604030504040204" pitchFamily="34" charset="-120"/>
                </a:rPr>
                <a:t>發行</a:t>
              </a:r>
            </a:p>
          </p:txBody>
        </p:sp>
        <p:sp>
          <p:nvSpPr>
            <p:cNvPr id="72" name="文字方塊 71">
              <a:extLst>
                <a:ext uri="{FF2B5EF4-FFF2-40B4-BE49-F238E27FC236}">
                  <a16:creationId xmlns:a16="http://schemas.microsoft.com/office/drawing/2014/main" id="{53D0DE87-3F66-4F0B-A7A6-0F0998E530BB}"/>
                </a:ext>
              </a:extLst>
            </p:cNvPr>
            <p:cNvSpPr txBox="1"/>
            <p:nvPr/>
          </p:nvSpPr>
          <p:spPr>
            <a:xfrm>
              <a:off x="8303053" y="3882402"/>
              <a:ext cx="1756206" cy="338554"/>
            </a:xfrm>
            <a:prstGeom prst="rect">
              <a:avLst/>
            </a:prstGeom>
            <a:noFill/>
          </p:spPr>
          <p:txBody>
            <a:bodyPr wrap="square" rtlCol="0">
              <a:spAutoFit/>
            </a:bodyPr>
            <a:lstStyle/>
            <a:p>
              <a:r>
                <a:rPr lang="zh-TW" altLang="en-US" sz="1600" b="1" dirty="0">
                  <a:latin typeface="微軟正黑體" panose="020B0604030504040204" pitchFamily="34" charset="-120"/>
                  <a:ea typeface="微軟正黑體" panose="020B0604030504040204" pitchFamily="34" charset="-120"/>
                </a:rPr>
                <a:t>理財銷售</a:t>
              </a:r>
            </a:p>
          </p:txBody>
        </p:sp>
        <p:sp>
          <p:nvSpPr>
            <p:cNvPr id="73" name="文字方塊 72">
              <a:extLst>
                <a:ext uri="{FF2B5EF4-FFF2-40B4-BE49-F238E27FC236}">
                  <a16:creationId xmlns:a16="http://schemas.microsoft.com/office/drawing/2014/main" id="{13CF9599-98CC-4BE1-B302-D51E580E74CA}"/>
                </a:ext>
              </a:extLst>
            </p:cNvPr>
            <p:cNvSpPr txBox="1"/>
            <p:nvPr/>
          </p:nvSpPr>
          <p:spPr>
            <a:xfrm>
              <a:off x="2399924" y="2696695"/>
              <a:ext cx="1756206" cy="338554"/>
            </a:xfrm>
            <a:prstGeom prst="rect">
              <a:avLst/>
            </a:prstGeom>
            <a:noFill/>
          </p:spPr>
          <p:txBody>
            <a:bodyPr wrap="square" rtlCol="0">
              <a:spAutoFit/>
            </a:bodyPr>
            <a:lstStyle/>
            <a:p>
              <a:r>
                <a:rPr lang="zh-TW" altLang="en-US" sz="1600" b="1" dirty="0">
                  <a:latin typeface="微軟正黑體" panose="020B0604030504040204" pitchFamily="34" charset="-120"/>
                  <a:ea typeface="微軟正黑體" panose="020B0604030504040204" pitchFamily="34" charset="-120"/>
                </a:rPr>
                <a:t>原始資產</a:t>
              </a:r>
            </a:p>
          </p:txBody>
        </p:sp>
        <p:sp>
          <p:nvSpPr>
            <p:cNvPr id="74" name="文字方塊 73">
              <a:extLst>
                <a:ext uri="{FF2B5EF4-FFF2-40B4-BE49-F238E27FC236}">
                  <a16:creationId xmlns:a16="http://schemas.microsoft.com/office/drawing/2014/main" id="{E196508B-4B6D-4F6A-A7C1-ABE48BAFBA6D}"/>
                </a:ext>
              </a:extLst>
            </p:cNvPr>
            <p:cNvSpPr txBox="1"/>
            <p:nvPr/>
          </p:nvSpPr>
          <p:spPr>
            <a:xfrm>
              <a:off x="2090667" y="4797975"/>
              <a:ext cx="1756206" cy="584775"/>
            </a:xfrm>
            <a:prstGeom prst="rect">
              <a:avLst/>
            </a:prstGeom>
            <a:noFill/>
          </p:spPr>
          <p:txBody>
            <a:bodyPr wrap="square" rtlCol="0">
              <a:spAutoFit/>
            </a:bodyPr>
            <a:lstStyle/>
            <a:p>
              <a:r>
                <a:rPr lang="zh-TW" altLang="en-US" sz="1600" b="1" dirty="0">
                  <a:latin typeface="微軟正黑體" panose="020B0604030504040204" pitchFamily="34" charset="-120"/>
                  <a:ea typeface="微軟正黑體" panose="020B0604030504040204" pitchFamily="34" charset="-120"/>
                </a:rPr>
                <a:t>交易信息</a:t>
              </a:r>
              <a:endParaRPr lang="en-US" altLang="zh-TW" sz="1600" b="1" dirty="0">
                <a:latin typeface="微軟正黑體" panose="020B0604030504040204" pitchFamily="34" charset="-120"/>
                <a:ea typeface="微軟正黑體" panose="020B0604030504040204" pitchFamily="34" charset="-120"/>
              </a:endParaRPr>
            </a:p>
            <a:p>
              <a:r>
                <a:rPr lang="zh-TW" altLang="en-US" sz="1600" b="1" dirty="0">
                  <a:latin typeface="微軟正黑體" panose="020B0604030504040204" pitchFamily="34" charset="-120"/>
                  <a:ea typeface="微軟正黑體" panose="020B0604030504040204" pitchFamily="34" charset="-120"/>
                </a:rPr>
                <a:t>借據信息</a:t>
              </a:r>
            </a:p>
          </p:txBody>
        </p:sp>
        <p:cxnSp>
          <p:nvCxnSpPr>
            <p:cNvPr id="75" name="直線單箭頭接點 74">
              <a:extLst>
                <a:ext uri="{FF2B5EF4-FFF2-40B4-BE49-F238E27FC236}">
                  <a16:creationId xmlns:a16="http://schemas.microsoft.com/office/drawing/2014/main" id="{360E0BE4-D9ED-45C8-A0DE-AB7F6E554EB0}"/>
                </a:ext>
              </a:extLst>
            </p:cNvPr>
            <p:cNvCxnSpPr/>
            <p:nvPr/>
          </p:nvCxnSpPr>
          <p:spPr>
            <a:xfrm>
              <a:off x="1991544" y="3752146"/>
              <a:ext cx="0" cy="2186852"/>
            </a:xfrm>
            <a:prstGeom prst="straightConnector1">
              <a:avLst/>
            </a:prstGeom>
            <a:ln w="50800" cmpd="sng">
              <a:prstDash val="solid"/>
              <a:tailEnd type="arrow"/>
            </a:ln>
          </p:spPr>
          <p:style>
            <a:lnRef idx="1">
              <a:schemeClr val="accent1"/>
            </a:lnRef>
            <a:fillRef idx="0">
              <a:schemeClr val="accent1"/>
            </a:fillRef>
            <a:effectRef idx="0">
              <a:schemeClr val="accent1"/>
            </a:effectRef>
            <a:fontRef idx="minor">
              <a:schemeClr val="tx1"/>
            </a:fontRef>
          </p:style>
        </p:cxnSp>
        <p:cxnSp>
          <p:nvCxnSpPr>
            <p:cNvPr id="76" name="直線單箭頭接點 75">
              <a:extLst>
                <a:ext uri="{FF2B5EF4-FFF2-40B4-BE49-F238E27FC236}">
                  <a16:creationId xmlns:a16="http://schemas.microsoft.com/office/drawing/2014/main" id="{517CD496-BB04-447A-AB5A-8574C872EBA8}"/>
                </a:ext>
              </a:extLst>
            </p:cNvPr>
            <p:cNvCxnSpPr/>
            <p:nvPr/>
          </p:nvCxnSpPr>
          <p:spPr>
            <a:xfrm>
              <a:off x="4452152" y="3825359"/>
              <a:ext cx="0" cy="2094497"/>
            </a:xfrm>
            <a:prstGeom prst="straightConnector1">
              <a:avLst/>
            </a:prstGeom>
            <a:ln w="50800" cmpd="sng">
              <a:prstDash val="solid"/>
              <a:tailEnd type="arrow"/>
            </a:ln>
          </p:spPr>
          <p:style>
            <a:lnRef idx="1">
              <a:schemeClr val="accent1"/>
            </a:lnRef>
            <a:fillRef idx="0">
              <a:schemeClr val="accent1"/>
            </a:fillRef>
            <a:effectRef idx="0">
              <a:schemeClr val="accent1"/>
            </a:effectRef>
            <a:fontRef idx="minor">
              <a:schemeClr val="tx1"/>
            </a:fontRef>
          </p:style>
        </p:cxnSp>
        <p:cxnSp>
          <p:nvCxnSpPr>
            <p:cNvPr id="125" name="直線單箭頭接點 124">
              <a:extLst>
                <a:ext uri="{FF2B5EF4-FFF2-40B4-BE49-F238E27FC236}">
                  <a16:creationId xmlns:a16="http://schemas.microsoft.com/office/drawing/2014/main" id="{9AAC0F74-1499-4386-BF51-E9B52553A67B}"/>
                </a:ext>
              </a:extLst>
            </p:cNvPr>
            <p:cNvCxnSpPr/>
            <p:nvPr/>
          </p:nvCxnSpPr>
          <p:spPr>
            <a:xfrm>
              <a:off x="7345264" y="4851698"/>
              <a:ext cx="0" cy="1087300"/>
            </a:xfrm>
            <a:prstGeom prst="straightConnector1">
              <a:avLst/>
            </a:prstGeom>
            <a:ln w="50800" cmpd="sng">
              <a:prstDash val="solid"/>
              <a:tailEnd type="arrow"/>
            </a:ln>
          </p:spPr>
          <p:style>
            <a:lnRef idx="1">
              <a:schemeClr val="accent1"/>
            </a:lnRef>
            <a:fillRef idx="0">
              <a:schemeClr val="accent1"/>
            </a:fillRef>
            <a:effectRef idx="0">
              <a:schemeClr val="accent1"/>
            </a:effectRef>
            <a:fontRef idx="minor">
              <a:schemeClr val="tx1"/>
            </a:fontRef>
          </p:style>
        </p:cxnSp>
        <p:cxnSp>
          <p:nvCxnSpPr>
            <p:cNvPr id="126" name="直線單箭頭接點 125">
              <a:extLst>
                <a:ext uri="{FF2B5EF4-FFF2-40B4-BE49-F238E27FC236}">
                  <a16:creationId xmlns:a16="http://schemas.microsoft.com/office/drawing/2014/main" id="{1477C1A6-2060-45D6-9134-ADA9397BA971}"/>
                </a:ext>
              </a:extLst>
            </p:cNvPr>
            <p:cNvCxnSpPr/>
            <p:nvPr/>
          </p:nvCxnSpPr>
          <p:spPr>
            <a:xfrm>
              <a:off x="10440192" y="4822139"/>
              <a:ext cx="0" cy="1087300"/>
            </a:xfrm>
            <a:prstGeom prst="straightConnector1">
              <a:avLst/>
            </a:prstGeom>
            <a:ln w="50800" cmpd="sng">
              <a:prstDash val="solid"/>
              <a:tailEnd type="arrow"/>
            </a:ln>
          </p:spPr>
          <p:style>
            <a:lnRef idx="1">
              <a:schemeClr val="accent1"/>
            </a:lnRef>
            <a:fillRef idx="0">
              <a:schemeClr val="accent1"/>
            </a:fillRef>
            <a:effectRef idx="0">
              <a:schemeClr val="accent1"/>
            </a:effectRef>
            <a:fontRef idx="minor">
              <a:schemeClr val="tx1"/>
            </a:fontRef>
          </p:style>
        </p:cxnSp>
        <p:sp>
          <p:nvSpPr>
            <p:cNvPr id="127" name="文字方塊 126">
              <a:extLst>
                <a:ext uri="{FF2B5EF4-FFF2-40B4-BE49-F238E27FC236}">
                  <a16:creationId xmlns:a16="http://schemas.microsoft.com/office/drawing/2014/main" id="{DAA50D22-56DE-4308-8AE2-684298CDFE06}"/>
                </a:ext>
              </a:extLst>
            </p:cNvPr>
            <p:cNvSpPr txBox="1"/>
            <p:nvPr/>
          </p:nvSpPr>
          <p:spPr>
            <a:xfrm>
              <a:off x="4517241" y="4828473"/>
              <a:ext cx="2042040" cy="584775"/>
            </a:xfrm>
            <a:prstGeom prst="rect">
              <a:avLst/>
            </a:prstGeom>
            <a:noFill/>
          </p:spPr>
          <p:txBody>
            <a:bodyPr wrap="square" rtlCol="0">
              <a:spAutoFit/>
            </a:bodyPr>
            <a:lstStyle/>
            <a:p>
              <a:r>
                <a:rPr lang="zh-TW" altLang="en-US" sz="1600" b="1" dirty="0">
                  <a:latin typeface="微軟正黑體" panose="020B0604030504040204" pitchFamily="34" charset="-120"/>
                  <a:ea typeface="微軟正黑體" panose="020B0604030504040204" pitchFamily="34" charset="-120"/>
                </a:rPr>
                <a:t>資產增強信息</a:t>
              </a:r>
              <a:endParaRPr lang="en-US" altLang="zh-TW" sz="1600" b="1" dirty="0">
                <a:latin typeface="微軟正黑體" panose="020B0604030504040204" pitchFamily="34" charset="-120"/>
                <a:ea typeface="微軟正黑體" panose="020B0604030504040204" pitchFamily="34" charset="-120"/>
              </a:endParaRPr>
            </a:p>
            <a:p>
              <a:r>
                <a:rPr lang="zh-TW" altLang="en-US" sz="1600" b="1" dirty="0">
                  <a:latin typeface="微軟正黑體" panose="020B0604030504040204" pitchFamily="34" charset="-120"/>
                  <a:ea typeface="微軟正黑體" panose="020B0604030504040204" pitchFamily="34" charset="-120"/>
                </a:rPr>
                <a:t>評級信息</a:t>
              </a:r>
            </a:p>
          </p:txBody>
        </p:sp>
        <p:sp>
          <p:nvSpPr>
            <p:cNvPr id="128" name="文字方塊 127">
              <a:extLst>
                <a:ext uri="{FF2B5EF4-FFF2-40B4-BE49-F238E27FC236}">
                  <a16:creationId xmlns:a16="http://schemas.microsoft.com/office/drawing/2014/main" id="{AE41E57E-1C7D-4E89-BDCB-F9792E3FEDDA}"/>
                </a:ext>
              </a:extLst>
            </p:cNvPr>
            <p:cNvSpPr txBox="1"/>
            <p:nvPr/>
          </p:nvSpPr>
          <p:spPr>
            <a:xfrm>
              <a:off x="7521832" y="4822139"/>
              <a:ext cx="2025315" cy="584775"/>
            </a:xfrm>
            <a:prstGeom prst="rect">
              <a:avLst/>
            </a:prstGeom>
            <a:noFill/>
          </p:spPr>
          <p:txBody>
            <a:bodyPr wrap="square" rtlCol="0">
              <a:spAutoFit/>
            </a:bodyPr>
            <a:lstStyle/>
            <a:p>
              <a:r>
                <a:rPr lang="zh-TW" altLang="en-US" sz="1600" b="1" dirty="0">
                  <a:latin typeface="微軟正黑體" panose="020B0604030504040204" pitchFamily="34" charset="-120"/>
                  <a:ea typeface="微軟正黑體" panose="020B0604030504040204" pitchFamily="34" charset="-120"/>
                </a:rPr>
                <a:t>產品信息</a:t>
              </a:r>
              <a:endParaRPr lang="en-US" altLang="zh-TW" sz="1600" b="1" dirty="0">
                <a:latin typeface="微軟正黑體" panose="020B0604030504040204" pitchFamily="34" charset="-120"/>
                <a:ea typeface="微軟正黑體" panose="020B0604030504040204" pitchFamily="34" charset="-120"/>
              </a:endParaRPr>
            </a:p>
            <a:p>
              <a:r>
                <a:rPr lang="zh-TW" altLang="en-US" sz="1600" b="1" dirty="0">
                  <a:latin typeface="微軟正黑體" panose="020B0604030504040204" pitchFamily="34" charset="-120"/>
                  <a:ea typeface="微軟正黑體" panose="020B0604030504040204" pitchFamily="34" charset="-120"/>
                </a:rPr>
                <a:t>交易信息</a:t>
              </a:r>
            </a:p>
          </p:txBody>
        </p:sp>
        <p:sp>
          <p:nvSpPr>
            <p:cNvPr id="129" name="文字方塊 128">
              <a:extLst>
                <a:ext uri="{FF2B5EF4-FFF2-40B4-BE49-F238E27FC236}">
                  <a16:creationId xmlns:a16="http://schemas.microsoft.com/office/drawing/2014/main" id="{DE632216-172E-4466-B3F1-D14C1C55FE4F}"/>
                </a:ext>
              </a:extLst>
            </p:cNvPr>
            <p:cNvSpPr txBox="1"/>
            <p:nvPr/>
          </p:nvSpPr>
          <p:spPr>
            <a:xfrm>
              <a:off x="10461743" y="4866549"/>
              <a:ext cx="2025315" cy="584775"/>
            </a:xfrm>
            <a:prstGeom prst="rect">
              <a:avLst/>
            </a:prstGeom>
            <a:noFill/>
          </p:spPr>
          <p:txBody>
            <a:bodyPr wrap="square" rtlCol="0">
              <a:spAutoFit/>
            </a:bodyPr>
            <a:lstStyle/>
            <a:p>
              <a:r>
                <a:rPr lang="zh-TW" altLang="en-US" sz="1600" b="1" dirty="0">
                  <a:latin typeface="微軟正黑體" panose="020B0604030504040204" pitchFamily="34" charset="-120"/>
                  <a:ea typeface="微軟正黑體" panose="020B0604030504040204" pitchFamily="34" charset="-120"/>
                </a:rPr>
                <a:t>帳戶信息</a:t>
              </a:r>
              <a:endParaRPr lang="en-US" altLang="zh-TW" sz="1600" b="1" dirty="0">
                <a:latin typeface="微軟正黑體" panose="020B0604030504040204" pitchFamily="34" charset="-120"/>
                <a:ea typeface="微軟正黑體" panose="020B0604030504040204" pitchFamily="34" charset="-120"/>
              </a:endParaRPr>
            </a:p>
            <a:p>
              <a:r>
                <a:rPr lang="zh-TW" altLang="en-US" sz="1600" b="1" dirty="0">
                  <a:latin typeface="微軟正黑體" panose="020B0604030504040204" pitchFamily="34" charset="-120"/>
                  <a:ea typeface="微軟正黑體" panose="020B0604030504040204" pitchFamily="34" charset="-120"/>
                </a:rPr>
                <a:t>交易信息</a:t>
              </a:r>
            </a:p>
          </p:txBody>
        </p:sp>
        <p:pic>
          <p:nvPicPr>
            <p:cNvPr id="130" name="圖片 129">
              <a:extLst>
                <a:ext uri="{FF2B5EF4-FFF2-40B4-BE49-F238E27FC236}">
                  <a16:creationId xmlns:a16="http://schemas.microsoft.com/office/drawing/2014/main" id="{82F68B57-6221-45FE-AA0A-D63F35227997}"/>
                </a:ext>
              </a:extLst>
            </p:cNvPr>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846873" y="5865570"/>
              <a:ext cx="939981" cy="939981"/>
            </a:xfrm>
            <a:prstGeom prst="rect">
              <a:avLst/>
            </a:prstGeom>
          </p:spPr>
        </p:pic>
        <p:pic>
          <p:nvPicPr>
            <p:cNvPr id="131" name="圖片 130">
              <a:extLst>
                <a:ext uri="{FF2B5EF4-FFF2-40B4-BE49-F238E27FC236}">
                  <a16:creationId xmlns:a16="http://schemas.microsoft.com/office/drawing/2014/main" id="{5761BF8B-F4DC-4CE0-A6AD-F688CAD77344}"/>
                </a:ext>
              </a:extLst>
            </p:cNvPr>
            <p:cNvPicPr>
              <a:picLocks noChangeAspect="1"/>
            </p:cNvPicPr>
            <p:nvPr/>
          </p:nvPicPr>
          <p:blipFill>
            <a:blip r:embed="rId5">
              <a:clrChange>
                <a:clrFrom>
                  <a:srgbClr val="FFFFFF"/>
                </a:clrFrom>
                <a:clrTo>
                  <a:srgbClr val="FFFFFF">
                    <a:alpha val="0"/>
                  </a:srgbClr>
                </a:clrTo>
              </a:clrChange>
            </a:blip>
            <a:stretch>
              <a:fillRect/>
            </a:stretch>
          </p:blipFill>
          <p:spPr>
            <a:xfrm rot="9635989">
              <a:off x="3963320" y="1181905"/>
              <a:ext cx="874883" cy="1266414"/>
            </a:xfrm>
            <a:prstGeom prst="rect">
              <a:avLst/>
            </a:prstGeom>
          </p:spPr>
        </p:pic>
        <p:pic>
          <p:nvPicPr>
            <p:cNvPr id="132" name="圖片 131">
              <a:extLst>
                <a:ext uri="{FF2B5EF4-FFF2-40B4-BE49-F238E27FC236}">
                  <a16:creationId xmlns:a16="http://schemas.microsoft.com/office/drawing/2014/main" id="{8B83DB3F-9C3D-4FBE-BC49-617159743DFD}"/>
                </a:ext>
              </a:extLst>
            </p:cNvPr>
            <p:cNvPicPr>
              <a:picLocks noChangeAspect="1"/>
            </p:cNvPicPr>
            <p:nvPr/>
          </p:nvPicPr>
          <p:blipFill>
            <a:blip r:embed="rId5">
              <a:clrChange>
                <a:clrFrom>
                  <a:srgbClr val="FFFFFF"/>
                </a:clrFrom>
                <a:clrTo>
                  <a:srgbClr val="FFFFFF">
                    <a:alpha val="0"/>
                  </a:srgbClr>
                </a:clrTo>
              </a:clrChange>
            </a:blip>
            <a:stretch>
              <a:fillRect/>
            </a:stretch>
          </p:blipFill>
          <p:spPr>
            <a:xfrm rot="9483573">
              <a:off x="4809888" y="1324208"/>
              <a:ext cx="500899" cy="556060"/>
            </a:xfrm>
            <a:prstGeom prst="rect">
              <a:avLst/>
            </a:prstGeom>
          </p:spPr>
        </p:pic>
      </p:grpSp>
      <p:cxnSp>
        <p:nvCxnSpPr>
          <p:cNvPr id="49" name="直接连接符 33">
            <a:extLst>
              <a:ext uri="{FF2B5EF4-FFF2-40B4-BE49-F238E27FC236}">
                <a16:creationId xmlns:a16="http://schemas.microsoft.com/office/drawing/2014/main" id="{D029D6E4-276E-4523-B98B-01C6092C619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1518264"/>
      </p:ext>
    </p:extLst>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26">
                                            <p:txEl>
                                              <p:pRg st="0" end="0"/>
                                            </p:txEl>
                                          </p:spTgt>
                                        </p:tgtEl>
                                        <p:attrNameLst>
                                          <p:attrName>style.visibility</p:attrName>
                                        </p:attrNameLst>
                                      </p:cBhvr>
                                      <p:to>
                                        <p:strVal val="visible"/>
                                      </p:to>
                                    </p:set>
                                    <p:animEffect transition="in" filter="barn(inVertical)">
                                      <p:cBhvr>
                                        <p:cTn id="11" dur="500"/>
                                        <p:tgtEl>
                                          <p:spTgt spid="26">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49"/>
                                        </p:tgtEl>
                                        <p:attrNameLst>
                                          <p:attrName>style.visibility</p:attrName>
                                        </p:attrNameLst>
                                      </p:cBhvr>
                                      <p:to>
                                        <p:strVal val="visible"/>
                                      </p:to>
                                    </p:set>
                                    <p:anim calcmode="lin" valueType="num">
                                      <p:cBhvr additive="base">
                                        <p:cTn id="15" dur="500" fill="hold"/>
                                        <p:tgtEl>
                                          <p:spTgt spid="49"/>
                                        </p:tgtEl>
                                        <p:attrNameLst>
                                          <p:attrName>ppt_x</p:attrName>
                                        </p:attrNameLst>
                                      </p:cBhvr>
                                      <p:tavLst>
                                        <p:tav tm="0">
                                          <p:val>
                                            <p:strVal val="0-#ppt_w/2"/>
                                          </p:val>
                                        </p:tav>
                                        <p:tav tm="100000">
                                          <p:val>
                                            <p:strVal val="#ppt_x"/>
                                          </p:val>
                                        </p:tav>
                                      </p:tavLst>
                                    </p:anim>
                                    <p:anim calcmode="lin" valueType="num">
                                      <p:cBhvr additive="base">
                                        <p:cTn id="16" dur="500" fill="hold"/>
                                        <p:tgtEl>
                                          <p:spTgt spid="49"/>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grpId="0" nodeType="afterEffect">
                                  <p:stCondLst>
                                    <p:cond delay="0"/>
                                  </p:stCondLst>
                                  <p:childTnLst>
                                    <p:set>
                                      <p:cBhvr>
                                        <p:cTn id="19" dur="1" fill="hold">
                                          <p:stCondLst>
                                            <p:cond delay="0"/>
                                          </p:stCondLst>
                                        </p:cTn>
                                        <p:tgtEl>
                                          <p:spTgt spid="48"/>
                                        </p:tgtEl>
                                        <p:attrNameLst>
                                          <p:attrName>style.visibility</p:attrName>
                                        </p:attrNameLst>
                                      </p:cBhvr>
                                      <p:to>
                                        <p:strVal val="visible"/>
                                      </p:to>
                                    </p:set>
                                    <p:anim calcmode="lin" valueType="num">
                                      <p:cBhvr additive="base">
                                        <p:cTn id="20" dur="500" fill="hold"/>
                                        <p:tgtEl>
                                          <p:spTgt spid="48"/>
                                        </p:tgtEl>
                                        <p:attrNameLst>
                                          <p:attrName>ppt_x</p:attrName>
                                        </p:attrNameLst>
                                      </p:cBhvr>
                                      <p:tavLst>
                                        <p:tav tm="0">
                                          <p:val>
                                            <p:strVal val="#ppt_x"/>
                                          </p:val>
                                        </p:tav>
                                        <p:tav tm="100000">
                                          <p:val>
                                            <p:strVal val="#ppt_x"/>
                                          </p:val>
                                        </p:tav>
                                      </p:tavLst>
                                    </p:anim>
                                    <p:anim calcmode="lin" valueType="num">
                                      <p:cBhvr additive="base">
                                        <p:cTn id="21" dur="500" fill="hold"/>
                                        <p:tgtEl>
                                          <p:spTgt spid="48"/>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53" presetClass="entr" presetSubtype="16" fill="hold" nodeType="afterEffect">
                                  <p:stCondLst>
                                    <p:cond delay="0"/>
                                  </p:stCondLst>
                                  <p:childTnLst>
                                    <p:set>
                                      <p:cBhvr>
                                        <p:cTn id="24" dur="1" fill="hold">
                                          <p:stCondLst>
                                            <p:cond delay="0"/>
                                          </p:stCondLst>
                                        </p:cTn>
                                        <p:tgtEl>
                                          <p:spTgt spid="55"/>
                                        </p:tgtEl>
                                        <p:attrNameLst>
                                          <p:attrName>style.visibility</p:attrName>
                                        </p:attrNameLst>
                                      </p:cBhvr>
                                      <p:to>
                                        <p:strVal val="visible"/>
                                      </p:to>
                                    </p:set>
                                    <p:anim calcmode="lin" valueType="num">
                                      <p:cBhvr>
                                        <p:cTn id="25" dur="500" fill="hold"/>
                                        <p:tgtEl>
                                          <p:spTgt spid="55"/>
                                        </p:tgtEl>
                                        <p:attrNameLst>
                                          <p:attrName>ppt_w</p:attrName>
                                        </p:attrNameLst>
                                      </p:cBhvr>
                                      <p:tavLst>
                                        <p:tav tm="0">
                                          <p:val>
                                            <p:fltVal val="0"/>
                                          </p:val>
                                        </p:tav>
                                        <p:tav tm="100000">
                                          <p:val>
                                            <p:strVal val="#ppt_w"/>
                                          </p:val>
                                        </p:tav>
                                      </p:tavLst>
                                    </p:anim>
                                    <p:anim calcmode="lin" valueType="num">
                                      <p:cBhvr>
                                        <p:cTn id="26" dur="500" fill="hold"/>
                                        <p:tgtEl>
                                          <p:spTgt spid="55"/>
                                        </p:tgtEl>
                                        <p:attrNameLst>
                                          <p:attrName>ppt_h</p:attrName>
                                        </p:attrNameLst>
                                      </p:cBhvr>
                                      <p:tavLst>
                                        <p:tav tm="0">
                                          <p:val>
                                            <p:fltVal val="0"/>
                                          </p:val>
                                        </p:tav>
                                        <p:tav tm="100000">
                                          <p:val>
                                            <p:strVal val="#ppt_h"/>
                                          </p:val>
                                        </p:tav>
                                      </p:tavLst>
                                    </p:anim>
                                    <p:animEffect transition="in" filter="fade">
                                      <p:cBhvr>
                                        <p:cTn id="27"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128872" y="393820"/>
            <a:ext cx="508571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6-2 </a:t>
            </a:r>
            <a:r>
              <a:rPr lang="zh-TW" altLang="en-US" sz="2400" b="1" dirty="0">
                <a:solidFill>
                  <a:srgbClr val="E06741"/>
                </a:solidFill>
              </a:rPr>
              <a:t>實務案例─消費金融</a:t>
            </a:r>
            <a:r>
              <a:rPr lang="en-US" altLang="zh-TW" sz="2400" b="1" dirty="0">
                <a:solidFill>
                  <a:srgbClr val="E06741"/>
                </a:solidFill>
              </a:rPr>
              <a:t>ABS</a:t>
            </a:r>
            <a:endParaRPr lang="zh-TW" altLang="en-US" sz="2400" b="1" dirty="0">
              <a:solidFill>
                <a:srgbClr val="E06741"/>
              </a:solidFill>
            </a:endParaRP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26" name="文字方塊 25">
            <a:extLst>
              <a:ext uri="{FF2B5EF4-FFF2-40B4-BE49-F238E27FC236}">
                <a16:creationId xmlns:a16="http://schemas.microsoft.com/office/drawing/2014/main" id="{4395D4FE-2FC0-4BD2-9BD3-55FB3C9BD0BF}"/>
              </a:ext>
            </a:extLst>
          </p:cNvPr>
          <p:cNvSpPr txBox="1"/>
          <p:nvPr/>
        </p:nvSpPr>
        <p:spPr>
          <a:xfrm>
            <a:off x="5798296"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案例區塊鏈應用</a:t>
            </a:r>
          </a:p>
        </p:txBody>
      </p:sp>
      <p:sp>
        <p:nvSpPr>
          <p:cNvPr id="48" name="文字方塊 47">
            <a:extLst>
              <a:ext uri="{FF2B5EF4-FFF2-40B4-BE49-F238E27FC236}">
                <a16:creationId xmlns:a16="http://schemas.microsoft.com/office/drawing/2014/main" id="{86DEFDDE-4381-4267-8E1E-1C7ACE9AF7B6}"/>
              </a:ext>
            </a:extLst>
          </p:cNvPr>
          <p:cNvSpPr txBox="1"/>
          <p:nvPr/>
        </p:nvSpPr>
        <p:spPr>
          <a:xfrm>
            <a:off x="1460119" y="1465885"/>
            <a:ext cx="9508940" cy="4274632"/>
          </a:xfrm>
          <a:prstGeom prst="rect">
            <a:avLst/>
          </a:prstGeom>
          <a:noFill/>
        </p:spPr>
        <p:txBody>
          <a:bodyPr wrap="square" rtlCol="0">
            <a:spAutoFit/>
          </a:bodyPr>
          <a:lstStyle/>
          <a:p>
            <a:pPr marL="342900" indent="-342900">
              <a:lnSpc>
                <a:spcPct val="150000"/>
              </a:lnSpc>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對於百度金融來說，區塊鏈技術與</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AI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技術的結合</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擴充消費金融</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ABS</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的功能及效益</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在</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ABS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的應用平台打造不可篡改的「資產價值」</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打造資產的真實性，降低了融資成本</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預防大規模的網絡駭客攻擊</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讓中、小企業可用更低成本、高效率、安全的方式取得資金或投資</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使用者可以在資訊公開的條件下，進行公平的交易行為</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提升</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ABS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的市場空間，並加速實現消費金融</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ABS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區塊鏈的商用化</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10" name="直接连接符 33">
            <a:extLst>
              <a:ext uri="{FF2B5EF4-FFF2-40B4-BE49-F238E27FC236}">
                <a16:creationId xmlns:a16="http://schemas.microsoft.com/office/drawing/2014/main" id="{9F9B290C-676E-4964-AF93-2A65F3497190}"/>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圖片 2" descr="一張含有 向量圖形 的圖片&#10;&#10;描述是以非常高的可信度產生">
            <a:extLst>
              <a:ext uri="{FF2B5EF4-FFF2-40B4-BE49-F238E27FC236}">
                <a16:creationId xmlns:a16="http://schemas.microsoft.com/office/drawing/2014/main" id="{16D318F1-791A-41A3-AC36-94F05BBD04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80642" y="1391843"/>
            <a:ext cx="2211358" cy="2211358"/>
          </a:xfrm>
          <a:prstGeom prst="rect">
            <a:avLst/>
          </a:prstGeom>
        </p:spPr>
      </p:pic>
    </p:spTree>
    <p:extLst>
      <p:ext uri="{BB962C8B-B14F-4D97-AF65-F5344CB8AC3E}">
        <p14:creationId xmlns:p14="http://schemas.microsoft.com/office/powerpoint/2010/main" val="556004185"/>
      </p:ext>
    </p:extLst>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26">
                                            <p:txEl>
                                              <p:pRg st="0" end="0"/>
                                            </p:txEl>
                                          </p:spTgt>
                                        </p:tgtEl>
                                        <p:attrNameLst>
                                          <p:attrName>style.visibility</p:attrName>
                                        </p:attrNameLst>
                                      </p:cBhvr>
                                      <p:to>
                                        <p:strVal val="visible"/>
                                      </p:to>
                                    </p:set>
                                    <p:animEffect transition="in" filter="barn(inVertical)">
                                      <p:cBhvr>
                                        <p:cTn id="11" dur="500"/>
                                        <p:tgtEl>
                                          <p:spTgt spid="26">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barn(inVertical)">
                                      <p:cBhvr>
                                        <p:cTn id="20" dur="500"/>
                                        <p:tgtEl>
                                          <p:spTgt spid="48"/>
                                        </p:tgtEl>
                                      </p:cBhvr>
                                    </p:animEffect>
                                  </p:childTnLst>
                                </p:cTn>
                              </p:par>
                            </p:childTnLst>
                          </p:cTn>
                        </p:par>
                        <p:par>
                          <p:cTn id="21" fill="hold">
                            <p:stCondLst>
                              <p:cond delay="3500"/>
                            </p:stCondLst>
                            <p:childTnLst>
                              <p:par>
                                <p:cTn id="22" presetID="16" presetClass="entr" presetSubtype="37"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barn(outVertical)">
                                      <p:cBhvr>
                                        <p:cTn id="2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8"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包图主题2">
  <a:themeElements>
    <a:clrScheme name="自定义 154">
      <a:dk1>
        <a:sysClr val="windowText" lastClr="000000"/>
      </a:dk1>
      <a:lt1>
        <a:sysClr val="window" lastClr="FFFFFF"/>
      </a:lt1>
      <a:dk2>
        <a:srgbClr val="44546A"/>
      </a:dk2>
      <a:lt2>
        <a:srgbClr val="E7E6E6"/>
      </a:lt2>
      <a:accent1>
        <a:srgbClr val="4A5A6F"/>
      </a:accent1>
      <a:accent2>
        <a:srgbClr val="E06741"/>
      </a:accent2>
      <a:accent3>
        <a:srgbClr val="4A5A6F"/>
      </a:accent3>
      <a:accent4>
        <a:srgbClr val="E06741"/>
      </a:accent4>
      <a:accent5>
        <a:srgbClr val="4A5A6F"/>
      </a:accent5>
      <a:accent6>
        <a:srgbClr val="E06741"/>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包图主题2" id="{50CFA792-C506-47E4-B272-6A6183483AB3}" vid="{CC1AE437-2F7F-4319-9F22-408F5F8C346F}"/>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1858</TotalTime>
  <Words>2417</Words>
  <Application>Microsoft Office PowerPoint</Application>
  <PresentationFormat>寬螢幕</PresentationFormat>
  <Paragraphs>328</Paragraphs>
  <Slides>24</Slides>
  <Notes>2</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24</vt:i4>
      </vt:variant>
    </vt:vector>
  </HeadingPairs>
  <TitlesOfParts>
    <vt:vector size="32" baseType="lpstr">
      <vt:lpstr>等线</vt:lpstr>
      <vt:lpstr>Microsoft JhengHei Light</vt:lpstr>
      <vt:lpstr>微软雅黑</vt:lpstr>
      <vt:lpstr>微軟正黑體</vt:lpstr>
      <vt:lpstr>標楷體</vt:lpstr>
      <vt:lpstr>Arial</vt:lpstr>
      <vt:lpstr>Times New Roman</vt:lpstr>
      <vt:lpstr>包图主题2</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http://www.ypppt.com/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优品PPT</dc:creator>
  <cp:keywords>http:/www.ypppt.com</cp:keywords>
  <dc:description>http://www.ypppt.com/</dc:description>
  <cp:lastModifiedBy>pkpkpk235@gmail.com</cp:lastModifiedBy>
  <cp:revision>203</cp:revision>
  <dcterms:created xsi:type="dcterms:W3CDTF">2017-09-04T07:53:30Z</dcterms:created>
  <dcterms:modified xsi:type="dcterms:W3CDTF">2018-07-27T07:34:59Z</dcterms:modified>
</cp:coreProperties>
</file>