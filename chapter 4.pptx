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84" r:id="rId2"/>
    <p:sldId id="257" r:id="rId3"/>
    <p:sldId id="285" r:id="rId4"/>
    <p:sldId id="354" r:id="rId5"/>
    <p:sldId id="355" r:id="rId6"/>
    <p:sldId id="356" r:id="rId7"/>
    <p:sldId id="357" r:id="rId8"/>
    <p:sldId id="358" r:id="rId9"/>
    <p:sldId id="360" r:id="rId10"/>
    <p:sldId id="362" r:id="rId11"/>
    <p:sldId id="361" r:id="rId12"/>
    <p:sldId id="363" r:id="rId13"/>
    <p:sldId id="364" r:id="rId14"/>
    <p:sldId id="371" r:id="rId15"/>
    <p:sldId id="372" r:id="rId16"/>
    <p:sldId id="365" r:id="rId17"/>
    <p:sldId id="366" r:id="rId18"/>
    <p:sldId id="367" r:id="rId19"/>
    <p:sldId id="368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667E"/>
    <a:srgbClr val="3DA18E"/>
    <a:srgbClr val="4A5A6F"/>
    <a:srgbClr val="E06741"/>
    <a:srgbClr val="F9F9F9"/>
    <a:srgbClr val="32AC9D"/>
    <a:srgbClr val="38BEAE"/>
    <a:srgbClr val="F7C6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B04947-F23C-48CC-AD21-5396F01E6C7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350736FB-9CB0-482F-B61B-856F16627EFD}">
      <dgm:prSet phldrT="[文字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資訊分散式管理</a:t>
          </a:r>
        </a:p>
      </dgm:t>
    </dgm:pt>
    <dgm:pt modelId="{B973E430-37FE-468D-B070-FD2E157D2C7C}" type="parTrans" cxnId="{4226C220-4F33-475C-9007-27A573A34578}">
      <dgm:prSet/>
      <dgm:spPr/>
      <dgm:t>
        <a:bodyPr/>
        <a:lstStyle/>
        <a:p>
          <a:endParaRPr lang="zh-TW" altLang="en-US"/>
        </a:p>
      </dgm:t>
    </dgm:pt>
    <dgm:pt modelId="{22119088-A956-4493-9E33-D1E334415F62}" type="sibTrans" cxnId="{4226C220-4F33-475C-9007-27A573A34578}">
      <dgm:prSet/>
      <dgm:spPr/>
      <dgm:t>
        <a:bodyPr/>
        <a:lstStyle/>
        <a:p>
          <a:endParaRPr lang="zh-TW" altLang="en-US"/>
        </a:p>
      </dgm:t>
    </dgm:pt>
    <dgm:pt modelId="{091FE862-5380-465F-B2C4-ACD58773AEDF}">
      <dgm:prSet phldrT="[文字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資訊安全性管理</a:t>
          </a:r>
        </a:p>
      </dgm:t>
    </dgm:pt>
    <dgm:pt modelId="{D09B9449-7D18-4FE0-A44E-C3A3396A2866}" type="parTrans" cxnId="{3F0CEF17-9942-48A2-B4D8-0E9C6458A889}">
      <dgm:prSet/>
      <dgm:spPr/>
      <dgm:t>
        <a:bodyPr/>
        <a:lstStyle/>
        <a:p>
          <a:endParaRPr lang="zh-TW" altLang="en-US"/>
        </a:p>
      </dgm:t>
    </dgm:pt>
    <dgm:pt modelId="{9F17BD55-41FF-446C-AA3B-9C1DEE81CBE6}" type="sibTrans" cxnId="{3F0CEF17-9942-48A2-B4D8-0E9C6458A889}">
      <dgm:prSet/>
      <dgm:spPr/>
      <dgm:t>
        <a:bodyPr/>
        <a:lstStyle/>
        <a:p>
          <a:endParaRPr lang="zh-TW" altLang="en-US"/>
        </a:p>
      </dgm:t>
    </dgm:pt>
    <dgm:pt modelId="{0A555385-ABCC-4030-AB41-4719ABC7C1FD}">
      <dgm:prSet phldrT="[文字]" custT="1"/>
      <dgm:spPr/>
      <dgm:t>
        <a:bodyPr/>
        <a:lstStyle/>
        <a:p>
          <a:r>
            <a:rPr lang="zh-TW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資訊信任度管理</a:t>
          </a:r>
        </a:p>
      </dgm:t>
    </dgm:pt>
    <dgm:pt modelId="{A75A7047-CD82-416F-97E8-F82F5EA8E3C4}" type="parTrans" cxnId="{A4664C6B-09CC-4C59-B87D-895B9A1A478A}">
      <dgm:prSet/>
      <dgm:spPr/>
      <dgm:t>
        <a:bodyPr/>
        <a:lstStyle/>
        <a:p>
          <a:endParaRPr lang="zh-TW" altLang="en-US"/>
        </a:p>
      </dgm:t>
    </dgm:pt>
    <dgm:pt modelId="{07791F3E-CA53-4715-BC8E-581C2B0C42FE}" type="sibTrans" cxnId="{A4664C6B-09CC-4C59-B87D-895B9A1A478A}">
      <dgm:prSet/>
      <dgm:spPr/>
      <dgm:t>
        <a:bodyPr/>
        <a:lstStyle/>
        <a:p>
          <a:endParaRPr lang="zh-TW" altLang="en-US"/>
        </a:p>
      </dgm:t>
    </dgm:pt>
    <dgm:pt modelId="{56BA39C0-E583-4E6D-94F1-213800BBB164}" type="pres">
      <dgm:prSet presAssocID="{EBB04947-F23C-48CC-AD21-5396F01E6C74}" presName="linearFlow" presStyleCnt="0">
        <dgm:presLayoutVars>
          <dgm:dir/>
          <dgm:resizeHandles val="exact"/>
        </dgm:presLayoutVars>
      </dgm:prSet>
      <dgm:spPr/>
    </dgm:pt>
    <dgm:pt modelId="{F7EAB8F6-53CC-4C83-A47B-09DCA64B64AA}" type="pres">
      <dgm:prSet presAssocID="{350736FB-9CB0-482F-B61B-856F16627EFD}" presName="composite" presStyleCnt="0"/>
      <dgm:spPr/>
    </dgm:pt>
    <dgm:pt modelId="{1C3F4AC6-0323-41ED-93CB-5E80B9697F39}" type="pres">
      <dgm:prSet presAssocID="{350736FB-9CB0-482F-B61B-856F16627EFD}" presName="imgShp" presStyleLbl="fgImgPlace1" presStyleIdx="0" presStyleCnt="3"/>
      <dgm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</dgm:pt>
    <dgm:pt modelId="{D5C09647-D037-4484-AB0B-BE787AE25CE4}" type="pres">
      <dgm:prSet presAssocID="{350736FB-9CB0-482F-B61B-856F16627EFD}" presName="txShp" presStyleLbl="node1" presStyleIdx="0" presStyleCnt="3">
        <dgm:presLayoutVars>
          <dgm:bulletEnabled val="1"/>
        </dgm:presLayoutVars>
      </dgm:prSet>
      <dgm:spPr/>
    </dgm:pt>
    <dgm:pt modelId="{B08D3E9B-399F-4ADD-9776-45E1BBB8E1F4}" type="pres">
      <dgm:prSet presAssocID="{22119088-A956-4493-9E33-D1E334415F62}" presName="spacing" presStyleCnt="0"/>
      <dgm:spPr/>
    </dgm:pt>
    <dgm:pt modelId="{B66BED1A-C5CA-43DB-AC98-927CDD2FAEBC}" type="pres">
      <dgm:prSet presAssocID="{091FE862-5380-465F-B2C4-ACD58773AEDF}" presName="composite" presStyleCnt="0"/>
      <dgm:spPr/>
    </dgm:pt>
    <dgm:pt modelId="{5C0071F7-E2CD-47AB-8B1B-ED97E4F670CA}" type="pres">
      <dgm:prSet presAssocID="{091FE862-5380-465F-B2C4-ACD58773AEDF}" presName="imgShp" presStyleLbl="fgImgPlace1" presStyleIdx="1" presStyleCnt="3"/>
      <dgm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</dgm:pt>
    <dgm:pt modelId="{A9C57E68-1077-4E2D-A939-E823D166FF9E}" type="pres">
      <dgm:prSet presAssocID="{091FE862-5380-465F-B2C4-ACD58773AEDF}" presName="txShp" presStyleLbl="node1" presStyleIdx="1" presStyleCnt="3">
        <dgm:presLayoutVars>
          <dgm:bulletEnabled val="1"/>
        </dgm:presLayoutVars>
      </dgm:prSet>
      <dgm:spPr/>
    </dgm:pt>
    <dgm:pt modelId="{C582E4FB-EF42-433A-A2F6-D2A2B5F9C7D8}" type="pres">
      <dgm:prSet presAssocID="{9F17BD55-41FF-446C-AA3B-9C1DEE81CBE6}" presName="spacing" presStyleCnt="0"/>
      <dgm:spPr/>
    </dgm:pt>
    <dgm:pt modelId="{BD0580E6-B302-4D5B-B21F-C730894EA536}" type="pres">
      <dgm:prSet presAssocID="{0A555385-ABCC-4030-AB41-4719ABC7C1FD}" presName="composite" presStyleCnt="0"/>
      <dgm:spPr/>
    </dgm:pt>
    <dgm:pt modelId="{C7DF4117-EA99-4A74-8C3F-62E0EAD93D52}" type="pres">
      <dgm:prSet presAssocID="{0A555385-ABCC-4030-AB41-4719ABC7C1FD}" presName="imgShp" presStyleLbl="fgImgPlace1" presStyleIdx="2" presStyleCnt="3"/>
      <dgm:sp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</dgm:pt>
    <dgm:pt modelId="{ED60DACC-444D-4944-9F39-F1463511846A}" type="pres">
      <dgm:prSet presAssocID="{0A555385-ABCC-4030-AB41-4719ABC7C1FD}" presName="txShp" presStyleLbl="node1" presStyleIdx="2" presStyleCnt="3">
        <dgm:presLayoutVars>
          <dgm:bulletEnabled val="1"/>
        </dgm:presLayoutVars>
      </dgm:prSet>
      <dgm:spPr/>
    </dgm:pt>
  </dgm:ptLst>
  <dgm:cxnLst>
    <dgm:cxn modelId="{3F0CEF17-9942-48A2-B4D8-0E9C6458A889}" srcId="{EBB04947-F23C-48CC-AD21-5396F01E6C74}" destId="{091FE862-5380-465F-B2C4-ACD58773AEDF}" srcOrd="1" destOrd="0" parTransId="{D09B9449-7D18-4FE0-A44E-C3A3396A2866}" sibTransId="{9F17BD55-41FF-446C-AA3B-9C1DEE81CBE6}"/>
    <dgm:cxn modelId="{4226C220-4F33-475C-9007-27A573A34578}" srcId="{EBB04947-F23C-48CC-AD21-5396F01E6C74}" destId="{350736FB-9CB0-482F-B61B-856F16627EFD}" srcOrd="0" destOrd="0" parTransId="{B973E430-37FE-468D-B070-FD2E157D2C7C}" sibTransId="{22119088-A956-4493-9E33-D1E334415F62}"/>
    <dgm:cxn modelId="{6BB5AC6A-036C-4E12-8AE0-F28F773C5B21}" type="presOf" srcId="{350736FB-9CB0-482F-B61B-856F16627EFD}" destId="{D5C09647-D037-4484-AB0B-BE787AE25CE4}" srcOrd="0" destOrd="0" presId="urn:microsoft.com/office/officeart/2005/8/layout/vList3"/>
    <dgm:cxn modelId="{A4664C6B-09CC-4C59-B87D-895B9A1A478A}" srcId="{EBB04947-F23C-48CC-AD21-5396F01E6C74}" destId="{0A555385-ABCC-4030-AB41-4719ABC7C1FD}" srcOrd="2" destOrd="0" parTransId="{A75A7047-CD82-416F-97E8-F82F5EA8E3C4}" sibTransId="{07791F3E-CA53-4715-BC8E-581C2B0C42FE}"/>
    <dgm:cxn modelId="{1F880580-8284-40B3-94CF-D9358760101A}" type="presOf" srcId="{091FE862-5380-465F-B2C4-ACD58773AEDF}" destId="{A9C57E68-1077-4E2D-A939-E823D166FF9E}" srcOrd="0" destOrd="0" presId="urn:microsoft.com/office/officeart/2005/8/layout/vList3"/>
    <dgm:cxn modelId="{72FA7E87-C76B-4329-88BA-9F800178462C}" type="presOf" srcId="{EBB04947-F23C-48CC-AD21-5396F01E6C74}" destId="{56BA39C0-E583-4E6D-94F1-213800BBB164}" srcOrd="0" destOrd="0" presId="urn:microsoft.com/office/officeart/2005/8/layout/vList3"/>
    <dgm:cxn modelId="{649915BA-0B68-486B-8676-D3CDF2FBC657}" type="presOf" srcId="{0A555385-ABCC-4030-AB41-4719ABC7C1FD}" destId="{ED60DACC-444D-4944-9F39-F1463511846A}" srcOrd="0" destOrd="0" presId="urn:microsoft.com/office/officeart/2005/8/layout/vList3"/>
    <dgm:cxn modelId="{32204AE7-3A20-4284-A213-75C5DACC6ACC}" type="presParOf" srcId="{56BA39C0-E583-4E6D-94F1-213800BBB164}" destId="{F7EAB8F6-53CC-4C83-A47B-09DCA64B64AA}" srcOrd="0" destOrd="0" presId="urn:microsoft.com/office/officeart/2005/8/layout/vList3"/>
    <dgm:cxn modelId="{9F2233EB-6424-4CDC-90BC-6131709A3B96}" type="presParOf" srcId="{F7EAB8F6-53CC-4C83-A47B-09DCA64B64AA}" destId="{1C3F4AC6-0323-41ED-93CB-5E80B9697F39}" srcOrd="0" destOrd="0" presId="urn:microsoft.com/office/officeart/2005/8/layout/vList3"/>
    <dgm:cxn modelId="{49BCF11F-80F8-43C2-AC53-15541A1C8597}" type="presParOf" srcId="{F7EAB8F6-53CC-4C83-A47B-09DCA64B64AA}" destId="{D5C09647-D037-4484-AB0B-BE787AE25CE4}" srcOrd="1" destOrd="0" presId="urn:microsoft.com/office/officeart/2005/8/layout/vList3"/>
    <dgm:cxn modelId="{5E4FFE43-F11D-438A-8DD1-02E75975E0B5}" type="presParOf" srcId="{56BA39C0-E583-4E6D-94F1-213800BBB164}" destId="{B08D3E9B-399F-4ADD-9776-45E1BBB8E1F4}" srcOrd="1" destOrd="0" presId="urn:microsoft.com/office/officeart/2005/8/layout/vList3"/>
    <dgm:cxn modelId="{5C752007-37ED-455E-83EC-EB32A77B5360}" type="presParOf" srcId="{56BA39C0-E583-4E6D-94F1-213800BBB164}" destId="{B66BED1A-C5CA-43DB-AC98-927CDD2FAEBC}" srcOrd="2" destOrd="0" presId="urn:microsoft.com/office/officeart/2005/8/layout/vList3"/>
    <dgm:cxn modelId="{6A78CC4A-7FC4-4DB8-B4A1-5C1728ECD0AD}" type="presParOf" srcId="{B66BED1A-C5CA-43DB-AC98-927CDD2FAEBC}" destId="{5C0071F7-E2CD-47AB-8B1B-ED97E4F670CA}" srcOrd="0" destOrd="0" presId="urn:microsoft.com/office/officeart/2005/8/layout/vList3"/>
    <dgm:cxn modelId="{90900675-CBD2-4830-A78D-42014DE2415C}" type="presParOf" srcId="{B66BED1A-C5CA-43DB-AC98-927CDD2FAEBC}" destId="{A9C57E68-1077-4E2D-A939-E823D166FF9E}" srcOrd="1" destOrd="0" presId="urn:microsoft.com/office/officeart/2005/8/layout/vList3"/>
    <dgm:cxn modelId="{5F6B4369-4E3B-4D88-BCF9-2411316CD4E4}" type="presParOf" srcId="{56BA39C0-E583-4E6D-94F1-213800BBB164}" destId="{C582E4FB-EF42-433A-A2F6-D2A2B5F9C7D8}" srcOrd="3" destOrd="0" presId="urn:microsoft.com/office/officeart/2005/8/layout/vList3"/>
    <dgm:cxn modelId="{17C58D1D-5561-44E8-8B88-00CC403563A4}" type="presParOf" srcId="{56BA39C0-E583-4E6D-94F1-213800BBB164}" destId="{BD0580E6-B302-4D5B-B21F-C730894EA536}" srcOrd="4" destOrd="0" presId="urn:microsoft.com/office/officeart/2005/8/layout/vList3"/>
    <dgm:cxn modelId="{60AE336B-DE1E-4FF5-9F3A-6608ADA9126C}" type="presParOf" srcId="{BD0580E6-B302-4D5B-B21F-C730894EA536}" destId="{C7DF4117-EA99-4A74-8C3F-62E0EAD93D52}" srcOrd="0" destOrd="0" presId="urn:microsoft.com/office/officeart/2005/8/layout/vList3"/>
    <dgm:cxn modelId="{010DE75B-44C3-4F73-8C14-8CBDC56DDFCE}" type="presParOf" srcId="{BD0580E6-B302-4D5B-B21F-C730894EA536}" destId="{ED60DACC-444D-4944-9F39-F1463511846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715E8F-4FE6-4D95-BB07-914A80F2420B}" type="doc">
      <dgm:prSet loTypeId="urn:microsoft.com/office/officeart/2005/8/layout/radial1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6E034F78-A909-4FEA-9367-69EE41C4CAC1}">
      <dgm:prSet phldrT="[文字]" phldr="1" custT="1"/>
      <dgm:spPr>
        <a:noFill/>
      </dgm:spPr>
      <dgm:t>
        <a:bodyPr/>
        <a:lstStyle/>
        <a:p>
          <a:endParaRPr lang="zh-TW" altLang="en-US" sz="2800" dirty="0">
            <a:solidFill>
              <a:schemeClr val="bg1"/>
            </a:solidFill>
          </a:endParaRPr>
        </a:p>
      </dgm:t>
    </dgm:pt>
    <dgm:pt modelId="{3BA6866D-52D4-4EAB-AAF8-76EB48379DFB}" type="parTrans" cxnId="{36FD700D-A102-45DE-BF21-29C7914D50EF}">
      <dgm:prSet/>
      <dgm:spPr/>
      <dgm:t>
        <a:bodyPr/>
        <a:lstStyle/>
        <a:p>
          <a:endParaRPr lang="zh-TW" altLang="en-US"/>
        </a:p>
      </dgm:t>
    </dgm:pt>
    <dgm:pt modelId="{04DD04EA-0529-4DD1-8978-F9E2B0ACA3AE}" type="sibTrans" cxnId="{36FD700D-A102-45DE-BF21-29C7914D50EF}">
      <dgm:prSet/>
      <dgm:spPr/>
      <dgm:t>
        <a:bodyPr/>
        <a:lstStyle/>
        <a:p>
          <a:endParaRPr lang="zh-TW" altLang="en-US"/>
        </a:p>
      </dgm:t>
    </dgm:pt>
    <dgm:pt modelId="{4075842D-F7BF-45BC-9A34-6DB76C24935A}">
      <dgm:prSet phldrT="[文字]" custT="1"/>
      <dgm:spPr>
        <a:solidFill>
          <a:srgbClr val="F6F3D2"/>
        </a:solidFill>
      </dgm:spPr>
      <dgm:t>
        <a:bodyPr/>
        <a:lstStyle/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市場競爭力</a:t>
          </a:r>
        </a:p>
      </dgm:t>
    </dgm:pt>
    <dgm:pt modelId="{14516940-766D-412C-B198-760677F56DD1}" type="parTrans" cxnId="{77BE4E58-AD86-420B-AB20-D1FC3F620511}">
      <dgm:prSet/>
      <dgm:spPr>
        <a:ln w="19050">
          <a:solidFill>
            <a:srgbClr val="00B050"/>
          </a:solidFill>
        </a:ln>
      </dgm:spPr>
      <dgm:t>
        <a:bodyPr/>
        <a:lstStyle/>
        <a:p>
          <a:endParaRPr lang="zh-TW" altLang="en-US"/>
        </a:p>
      </dgm:t>
    </dgm:pt>
    <dgm:pt modelId="{5BBE0D98-0521-4A88-8D30-A03B9929E3EA}" type="sibTrans" cxnId="{77BE4E58-AD86-420B-AB20-D1FC3F620511}">
      <dgm:prSet/>
      <dgm:spPr/>
      <dgm:t>
        <a:bodyPr/>
        <a:lstStyle/>
        <a:p>
          <a:endParaRPr lang="zh-TW" altLang="en-US"/>
        </a:p>
      </dgm:t>
    </dgm:pt>
    <dgm:pt modelId="{78EE9C1F-B31D-4729-A7C4-DE2EBD2C4816}">
      <dgm:prSet phldrT="[文字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系統化服務</a:t>
          </a:r>
        </a:p>
      </dgm:t>
    </dgm:pt>
    <dgm:pt modelId="{424E35F3-B59C-4053-A4A9-641F1AD8E73A}" type="parTrans" cxnId="{BFDB2875-90B3-4995-81E1-FFA925CFEAA1}">
      <dgm:prSet/>
      <dgm:spPr>
        <a:ln w="19050">
          <a:solidFill>
            <a:srgbClr val="00B050"/>
          </a:solidFill>
        </a:ln>
      </dgm:spPr>
      <dgm:t>
        <a:bodyPr/>
        <a:lstStyle/>
        <a:p>
          <a:endParaRPr lang="zh-TW" altLang="en-US"/>
        </a:p>
      </dgm:t>
    </dgm:pt>
    <dgm:pt modelId="{4BA7F562-E400-468E-A858-4AD9CEB4D382}" type="sibTrans" cxnId="{BFDB2875-90B3-4995-81E1-FFA925CFEAA1}">
      <dgm:prSet/>
      <dgm:spPr/>
      <dgm:t>
        <a:bodyPr/>
        <a:lstStyle/>
        <a:p>
          <a:endParaRPr lang="zh-TW" altLang="en-US"/>
        </a:p>
      </dgm:t>
    </dgm:pt>
    <dgm:pt modelId="{B940A14A-EC59-41A8-8422-C9CF3A336565}">
      <dgm:prSet phldrT="[文字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跨越式發展</a:t>
          </a:r>
          <a:endParaRPr lang="en-US" altLang="zh-TW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endParaRPr lang="zh-TW" altLang="en-US" sz="1800" b="1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15FB3A1-CA87-4F12-B6DC-8A3B86D90F2E}" type="sibTrans" cxnId="{A6B6D540-642D-468F-A4DF-1B6DADCC4A4E}">
      <dgm:prSet/>
      <dgm:spPr/>
      <dgm:t>
        <a:bodyPr/>
        <a:lstStyle/>
        <a:p>
          <a:endParaRPr lang="zh-TW" altLang="en-US"/>
        </a:p>
      </dgm:t>
    </dgm:pt>
    <dgm:pt modelId="{D73656E4-D62F-44B0-9B14-C31A319C3D32}" type="parTrans" cxnId="{A6B6D540-642D-468F-A4DF-1B6DADCC4A4E}">
      <dgm:prSet/>
      <dgm:spPr>
        <a:ln w="19050">
          <a:solidFill>
            <a:srgbClr val="00B050"/>
          </a:solidFill>
        </a:ln>
      </dgm:spPr>
      <dgm:t>
        <a:bodyPr/>
        <a:lstStyle/>
        <a:p>
          <a:endParaRPr lang="zh-TW" altLang="en-US"/>
        </a:p>
      </dgm:t>
    </dgm:pt>
    <dgm:pt modelId="{67193E97-D67F-4435-8199-2A1005DC59AE}" type="pres">
      <dgm:prSet presAssocID="{DA715E8F-4FE6-4D95-BB07-914A80F2420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E71F55E-E28C-4FCB-8ADE-8BD28F3F883A}" type="pres">
      <dgm:prSet presAssocID="{6E034F78-A909-4FEA-9367-69EE41C4CAC1}" presName="centerShape" presStyleLbl="node0" presStyleIdx="0" presStyleCnt="1" custScaleX="83453" custLinFactNeighborY="646"/>
      <dgm:spPr>
        <a:prstGeom prst="flowChartMagneticDisk">
          <a:avLst/>
        </a:prstGeom>
      </dgm:spPr>
    </dgm:pt>
    <dgm:pt modelId="{B699E5E0-D782-44B7-B858-954AE8B9E0BB}" type="pres">
      <dgm:prSet presAssocID="{14516940-766D-412C-B198-760677F56DD1}" presName="Name9" presStyleLbl="parChTrans1D2" presStyleIdx="0" presStyleCnt="3"/>
      <dgm:spPr/>
    </dgm:pt>
    <dgm:pt modelId="{75249362-801B-4D3D-913D-6BA337DB696C}" type="pres">
      <dgm:prSet presAssocID="{14516940-766D-412C-B198-760677F56DD1}" presName="connTx" presStyleLbl="parChTrans1D2" presStyleIdx="0" presStyleCnt="3"/>
      <dgm:spPr/>
    </dgm:pt>
    <dgm:pt modelId="{D2E1AAD7-9ACA-47B7-B47D-2D6524679128}" type="pres">
      <dgm:prSet presAssocID="{4075842D-F7BF-45BC-9A34-6DB76C24935A}" presName="node" presStyleLbl="node1" presStyleIdx="0" presStyleCnt="3" custScaleX="149292" custScaleY="118803" custRadScaleRad="99720" custRadScaleInc="1846">
        <dgm:presLayoutVars>
          <dgm:bulletEnabled val="1"/>
        </dgm:presLayoutVars>
      </dgm:prSet>
      <dgm:spPr/>
    </dgm:pt>
    <dgm:pt modelId="{1D72A07D-56E0-4BF6-86CB-4CA221C77864}" type="pres">
      <dgm:prSet presAssocID="{D73656E4-D62F-44B0-9B14-C31A319C3D32}" presName="Name9" presStyleLbl="parChTrans1D2" presStyleIdx="1" presStyleCnt="3"/>
      <dgm:spPr/>
    </dgm:pt>
    <dgm:pt modelId="{D026BB0F-682D-4118-B661-1158ADBC1822}" type="pres">
      <dgm:prSet presAssocID="{D73656E4-D62F-44B0-9B14-C31A319C3D32}" presName="connTx" presStyleLbl="parChTrans1D2" presStyleIdx="1" presStyleCnt="3"/>
      <dgm:spPr/>
    </dgm:pt>
    <dgm:pt modelId="{86F6231B-637B-4777-89C0-FD2998456696}" type="pres">
      <dgm:prSet presAssocID="{B940A14A-EC59-41A8-8422-C9CF3A336565}" presName="node" presStyleLbl="node1" presStyleIdx="1" presStyleCnt="3" custScaleX="136439" custScaleY="125065" custRadScaleRad="120214" custRadScaleInc="-15585">
        <dgm:presLayoutVars>
          <dgm:bulletEnabled val="1"/>
        </dgm:presLayoutVars>
      </dgm:prSet>
      <dgm:spPr/>
    </dgm:pt>
    <dgm:pt modelId="{CC76B8D7-662E-42FC-8765-A5CB85E55E0C}" type="pres">
      <dgm:prSet presAssocID="{424E35F3-B59C-4053-A4A9-641F1AD8E73A}" presName="Name9" presStyleLbl="parChTrans1D2" presStyleIdx="2" presStyleCnt="3"/>
      <dgm:spPr/>
    </dgm:pt>
    <dgm:pt modelId="{61FC5863-8030-4AF0-8136-C44BBEF98213}" type="pres">
      <dgm:prSet presAssocID="{424E35F3-B59C-4053-A4A9-641F1AD8E73A}" presName="connTx" presStyleLbl="parChTrans1D2" presStyleIdx="2" presStyleCnt="3"/>
      <dgm:spPr/>
    </dgm:pt>
    <dgm:pt modelId="{DECBB6D4-E5F5-41A6-9FBB-3EE0B974B4ED}" type="pres">
      <dgm:prSet presAssocID="{78EE9C1F-B31D-4729-A7C4-DE2EBD2C4816}" presName="node" presStyleLbl="node1" presStyleIdx="2" presStyleCnt="3" custScaleX="141429" custScaleY="120085" custRadScaleRad="111058" custRadScaleInc="9827">
        <dgm:presLayoutVars>
          <dgm:bulletEnabled val="1"/>
        </dgm:presLayoutVars>
      </dgm:prSet>
      <dgm:spPr/>
    </dgm:pt>
  </dgm:ptLst>
  <dgm:cxnLst>
    <dgm:cxn modelId="{36FD700D-A102-45DE-BF21-29C7914D50EF}" srcId="{DA715E8F-4FE6-4D95-BB07-914A80F2420B}" destId="{6E034F78-A909-4FEA-9367-69EE41C4CAC1}" srcOrd="0" destOrd="0" parTransId="{3BA6866D-52D4-4EAB-AAF8-76EB48379DFB}" sibTransId="{04DD04EA-0529-4DD1-8978-F9E2B0ACA3AE}"/>
    <dgm:cxn modelId="{35B8583E-332D-454D-BE07-A4E62AFA96B5}" type="presOf" srcId="{78EE9C1F-B31D-4729-A7C4-DE2EBD2C4816}" destId="{DECBB6D4-E5F5-41A6-9FBB-3EE0B974B4ED}" srcOrd="0" destOrd="0" presId="urn:microsoft.com/office/officeart/2005/8/layout/radial1"/>
    <dgm:cxn modelId="{A6B6D540-642D-468F-A4DF-1B6DADCC4A4E}" srcId="{6E034F78-A909-4FEA-9367-69EE41C4CAC1}" destId="{B940A14A-EC59-41A8-8422-C9CF3A336565}" srcOrd="1" destOrd="0" parTransId="{D73656E4-D62F-44B0-9B14-C31A319C3D32}" sibTransId="{F15FB3A1-CA87-4F12-B6DC-8A3B86D90F2E}"/>
    <dgm:cxn modelId="{3E6CA166-E71B-4796-99D8-8DA146E8878A}" type="presOf" srcId="{4075842D-F7BF-45BC-9A34-6DB76C24935A}" destId="{D2E1AAD7-9ACA-47B7-B47D-2D6524679128}" srcOrd="0" destOrd="0" presId="urn:microsoft.com/office/officeart/2005/8/layout/radial1"/>
    <dgm:cxn modelId="{929F714A-8D6D-4246-B2F2-1B9803E24A65}" type="presOf" srcId="{6E034F78-A909-4FEA-9367-69EE41C4CAC1}" destId="{5E71F55E-E28C-4FCB-8ADE-8BD28F3F883A}" srcOrd="0" destOrd="0" presId="urn:microsoft.com/office/officeart/2005/8/layout/radial1"/>
    <dgm:cxn modelId="{ABC24070-1616-4129-8103-2FD23011B7F2}" type="presOf" srcId="{D73656E4-D62F-44B0-9B14-C31A319C3D32}" destId="{D026BB0F-682D-4118-B661-1158ADBC1822}" srcOrd="1" destOrd="0" presId="urn:microsoft.com/office/officeart/2005/8/layout/radial1"/>
    <dgm:cxn modelId="{BFDB2875-90B3-4995-81E1-FFA925CFEAA1}" srcId="{6E034F78-A909-4FEA-9367-69EE41C4CAC1}" destId="{78EE9C1F-B31D-4729-A7C4-DE2EBD2C4816}" srcOrd="2" destOrd="0" parTransId="{424E35F3-B59C-4053-A4A9-641F1AD8E73A}" sibTransId="{4BA7F562-E400-468E-A858-4AD9CEB4D382}"/>
    <dgm:cxn modelId="{77BE4E58-AD86-420B-AB20-D1FC3F620511}" srcId="{6E034F78-A909-4FEA-9367-69EE41C4CAC1}" destId="{4075842D-F7BF-45BC-9A34-6DB76C24935A}" srcOrd="0" destOrd="0" parTransId="{14516940-766D-412C-B198-760677F56DD1}" sibTransId="{5BBE0D98-0521-4A88-8D30-A03B9929E3EA}"/>
    <dgm:cxn modelId="{E207D87D-4AAA-4FA4-9030-E39C5B91BCAE}" type="presOf" srcId="{424E35F3-B59C-4053-A4A9-641F1AD8E73A}" destId="{61FC5863-8030-4AF0-8136-C44BBEF98213}" srcOrd="1" destOrd="0" presId="urn:microsoft.com/office/officeart/2005/8/layout/radial1"/>
    <dgm:cxn modelId="{E7F424B3-18FB-4762-943F-2F845645DDC7}" type="presOf" srcId="{14516940-766D-412C-B198-760677F56DD1}" destId="{B699E5E0-D782-44B7-B858-954AE8B9E0BB}" srcOrd="0" destOrd="0" presId="urn:microsoft.com/office/officeart/2005/8/layout/radial1"/>
    <dgm:cxn modelId="{D6EC91B7-E435-49BA-9550-9360312053C5}" type="presOf" srcId="{DA715E8F-4FE6-4D95-BB07-914A80F2420B}" destId="{67193E97-D67F-4435-8199-2A1005DC59AE}" srcOrd="0" destOrd="0" presId="urn:microsoft.com/office/officeart/2005/8/layout/radial1"/>
    <dgm:cxn modelId="{0C6CF1E3-C770-4A34-AD7E-D14960D203CE}" type="presOf" srcId="{14516940-766D-412C-B198-760677F56DD1}" destId="{75249362-801B-4D3D-913D-6BA337DB696C}" srcOrd="1" destOrd="0" presId="urn:microsoft.com/office/officeart/2005/8/layout/radial1"/>
    <dgm:cxn modelId="{B0AC1FE5-8FA8-44FF-B505-69D9033133BB}" type="presOf" srcId="{B940A14A-EC59-41A8-8422-C9CF3A336565}" destId="{86F6231B-637B-4777-89C0-FD2998456696}" srcOrd="0" destOrd="0" presId="urn:microsoft.com/office/officeart/2005/8/layout/radial1"/>
    <dgm:cxn modelId="{ED3661E6-BBDA-490C-A85A-E17B9636674D}" type="presOf" srcId="{D73656E4-D62F-44B0-9B14-C31A319C3D32}" destId="{1D72A07D-56E0-4BF6-86CB-4CA221C77864}" srcOrd="0" destOrd="0" presId="urn:microsoft.com/office/officeart/2005/8/layout/radial1"/>
    <dgm:cxn modelId="{AA6070F4-A122-4881-88CF-3FDE2787FB38}" type="presOf" srcId="{424E35F3-B59C-4053-A4A9-641F1AD8E73A}" destId="{CC76B8D7-662E-42FC-8765-A5CB85E55E0C}" srcOrd="0" destOrd="0" presId="urn:microsoft.com/office/officeart/2005/8/layout/radial1"/>
    <dgm:cxn modelId="{6B00FC73-DE9C-472A-A0E2-DC8264F82708}" type="presParOf" srcId="{67193E97-D67F-4435-8199-2A1005DC59AE}" destId="{5E71F55E-E28C-4FCB-8ADE-8BD28F3F883A}" srcOrd="0" destOrd="0" presId="urn:microsoft.com/office/officeart/2005/8/layout/radial1"/>
    <dgm:cxn modelId="{AED1FD42-6C54-4F5B-91E3-9DCED0696E02}" type="presParOf" srcId="{67193E97-D67F-4435-8199-2A1005DC59AE}" destId="{B699E5E0-D782-44B7-B858-954AE8B9E0BB}" srcOrd="1" destOrd="0" presId="urn:microsoft.com/office/officeart/2005/8/layout/radial1"/>
    <dgm:cxn modelId="{857E528F-E639-457F-A7C5-7E48D28333C2}" type="presParOf" srcId="{B699E5E0-D782-44B7-B858-954AE8B9E0BB}" destId="{75249362-801B-4D3D-913D-6BA337DB696C}" srcOrd="0" destOrd="0" presId="urn:microsoft.com/office/officeart/2005/8/layout/radial1"/>
    <dgm:cxn modelId="{5B24F86C-1AB5-4CE7-B123-12C49612E080}" type="presParOf" srcId="{67193E97-D67F-4435-8199-2A1005DC59AE}" destId="{D2E1AAD7-9ACA-47B7-B47D-2D6524679128}" srcOrd="2" destOrd="0" presId="urn:microsoft.com/office/officeart/2005/8/layout/radial1"/>
    <dgm:cxn modelId="{7B2C0258-B128-456A-8D4D-62F38ADFCD72}" type="presParOf" srcId="{67193E97-D67F-4435-8199-2A1005DC59AE}" destId="{1D72A07D-56E0-4BF6-86CB-4CA221C77864}" srcOrd="3" destOrd="0" presId="urn:microsoft.com/office/officeart/2005/8/layout/radial1"/>
    <dgm:cxn modelId="{3A8D53ED-4CBE-46A4-8ED5-3DBEDE98984F}" type="presParOf" srcId="{1D72A07D-56E0-4BF6-86CB-4CA221C77864}" destId="{D026BB0F-682D-4118-B661-1158ADBC1822}" srcOrd="0" destOrd="0" presId="urn:microsoft.com/office/officeart/2005/8/layout/radial1"/>
    <dgm:cxn modelId="{DCD22BA3-41A1-4DA9-8F61-8E90B8AB0C12}" type="presParOf" srcId="{67193E97-D67F-4435-8199-2A1005DC59AE}" destId="{86F6231B-637B-4777-89C0-FD2998456696}" srcOrd="4" destOrd="0" presId="urn:microsoft.com/office/officeart/2005/8/layout/radial1"/>
    <dgm:cxn modelId="{95533894-C458-409F-AC84-6B52C1849B0B}" type="presParOf" srcId="{67193E97-D67F-4435-8199-2A1005DC59AE}" destId="{CC76B8D7-662E-42FC-8765-A5CB85E55E0C}" srcOrd="5" destOrd="0" presId="urn:microsoft.com/office/officeart/2005/8/layout/radial1"/>
    <dgm:cxn modelId="{36E60C6E-BB23-4E4C-9195-890C52F9E69E}" type="presParOf" srcId="{CC76B8D7-662E-42FC-8765-A5CB85E55E0C}" destId="{61FC5863-8030-4AF0-8136-C44BBEF98213}" srcOrd="0" destOrd="0" presId="urn:microsoft.com/office/officeart/2005/8/layout/radial1"/>
    <dgm:cxn modelId="{88DEAFB3-C497-44CC-9818-236DD8BC70BE}" type="presParOf" srcId="{67193E97-D67F-4435-8199-2A1005DC59AE}" destId="{DECBB6D4-E5F5-41A6-9FBB-3EE0B974B4ED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09647-D037-4484-AB0B-BE787AE25CE4}">
      <dsp:nvSpPr>
        <dsp:cNvPr id="0" name=""/>
        <dsp:cNvSpPr/>
      </dsp:nvSpPr>
      <dsp:spPr>
        <a:xfrm rot="10800000">
          <a:off x="931333" y="473"/>
          <a:ext cx="3169092" cy="532413"/>
        </a:xfrm>
        <a:prstGeom prst="homePlate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79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資訊分散式管理</a:t>
          </a:r>
        </a:p>
      </dsp:txBody>
      <dsp:txXfrm rot="10800000">
        <a:off x="1064436" y="473"/>
        <a:ext cx="3035989" cy="532413"/>
      </dsp:txXfrm>
    </dsp:sp>
    <dsp:sp modelId="{1C3F4AC6-0323-41ED-93CB-5E80B9697F39}">
      <dsp:nvSpPr>
        <dsp:cNvPr id="0" name=""/>
        <dsp:cNvSpPr/>
      </dsp:nvSpPr>
      <dsp:spPr>
        <a:xfrm>
          <a:off x="665126" y="473"/>
          <a:ext cx="532413" cy="532413"/>
        </a:xfrm>
        <a:prstGeom prst="ellipse">
          <a:avLst/>
        </a:prstGeom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57E68-1077-4E2D-A939-E823D166FF9E}">
      <dsp:nvSpPr>
        <dsp:cNvPr id="0" name=""/>
        <dsp:cNvSpPr/>
      </dsp:nvSpPr>
      <dsp:spPr>
        <a:xfrm rot="10800000">
          <a:off x="931333" y="691816"/>
          <a:ext cx="3169092" cy="532413"/>
        </a:xfrm>
        <a:prstGeom prst="homePlate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79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資訊安全性管理</a:t>
          </a:r>
        </a:p>
      </dsp:txBody>
      <dsp:txXfrm rot="10800000">
        <a:off x="1064436" y="691816"/>
        <a:ext cx="3035989" cy="532413"/>
      </dsp:txXfrm>
    </dsp:sp>
    <dsp:sp modelId="{5C0071F7-E2CD-47AB-8B1B-ED97E4F670CA}">
      <dsp:nvSpPr>
        <dsp:cNvPr id="0" name=""/>
        <dsp:cNvSpPr/>
      </dsp:nvSpPr>
      <dsp:spPr>
        <a:xfrm>
          <a:off x="665126" y="691816"/>
          <a:ext cx="532413" cy="532413"/>
        </a:xfrm>
        <a:prstGeom prst="ellipse">
          <a:avLst/>
        </a:prstGeom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0DACC-444D-4944-9F39-F1463511846A}">
      <dsp:nvSpPr>
        <dsp:cNvPr id="0" name=""/>
        <dsp:cNvSpPr/>
      </dsp:nvSpPr>
      <dsp:spPr>
        <a:xfrm rot="10800000">
          <a:off x="931333" y="1383158"/>
          <a:ext cx="3169092" cy="53241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79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資訊信任度管理</a:t>
          </a:r>
        </a:p>
      </dsp:txBody>
      <dsp:txXfrm rot="10800000">
        <a:off x="1064436" y="1383158"/>
        <a:ext cx="3035989" cy="532413"/>
      </dsp:txXfrm>
    </dsp:sp>
    <dsp:sp modelId="{C7DF4117-EA99-4A74-8C3F-62E0EAD93D52}">
      <dsp:nvSpPr>
        <dsp:cNvPr id="0" name=""/>
        <dsp:cNvSpPr/>
      </dsp:nvSpPr>
      <dsp:spPr>
        <a:xfrm>
          <a:off x="665126" y="1383158"/>
          <a:ext cx="532413" cy="532413"/>
        </a:xfrm>
        <a:prstGeom prst="ellipse">
          <a:avLst/>
        </a:prstGeom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1F55E-E28C-4FCB-8ADE-8BD28F3F883A}">
      <dsp:nvSpPr>
        <dsp:cNvPr id="0" name=""/>
        <dsp:cNvSpPr/>
      </dsp:nvSpPr>
      <dsp:spPr>
        <a:xfrm>
          <a:off x="2039879" y="1613628"/>
          <a:ext cx="1024640" cy="1227805"/>
        </a:xfrm>
        <a:prstGeom prst="flowChartMagneticDisk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 dirty="0">
            <a:solidFill>
              <a:schemeClr val="bg1"/>
            </a:solidFill>
          </a:endParaRPr>
        </a:p>
      </dsp:txBody>
      <dsp:txXfrm>
        <a:off x="2039879" y="2022896"/>
        <a:ext cx="1024640" cy="613903"/>
      </dsp:txXfrm>
    </dsp:sp>
    <dsp:sp modelId="{B699E5E0-D782-44B7-B858-954AE8B9E0BB}">
      <dsp:nvSpPr>
        <dsp:cNvPr id="0" name=""/>
        <dsp:cNvSpPr/>
      </dsp:nvSpPr>
      <dsp:spPr>
        <a:xfrm rot="16265606">
          <a:off x="2430816" y="1456347"/>
          <a:ext cx="271373" cy="43558"/>
        </a:xfrm>
        <a:custGeom>
          <a:avLst/>
          <a:gdLst/>
          <a:ahLst/>
          <a:cxnLst/>
          <a:rect l="0" t="0" r="0" b="0"/>
          <a:pathLst>
            <a:path>
              <a:moveTo>
                <a:pt x="0" y="21779"/>
              </a:moveTo>
              <a:lnTo>
                <a:pt x="271373" y="21779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559718" y="1471342"/>
        <a:ext cx="13568" cy="13568"/>
      </dsp:txXfrm>
    </dsp:sp>
    <dsp:sp modelId="{D2E1AAD7-9ACA-47B7-B47D-2D6524679128}">
      <dsp:nvSpPr>
        <dsp:cNvPr id="0" name=""/>
        <dsp:cNvSpPr/>
      </dsp:nvSpPr>
      <dsp:spPr>
        <a:xfrm>
          <a:off x="1666503" y="-116121"/>
          <a:ext cx="1833016" cy="1458670"/>
        </a:xfrm>
        <a:prstGeom prst="ellipse">
          <a:avLst/>
        </a:prstGeom>
        <a:solidFill>
          <a:srgbClr val="F6F3D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市場競爭力</a:t>
          </a:r>
        </a:p>
      </dsp:txBody>
      <dsp:txXfrm>
        <a:off x="1934942" y="97496"/>
        <a:ext cx="1296138" cy="1031436"/>
      </dsp:txXfrm>
    </dsp:sp>
    <dsp:sp modelId="{1D72A07D-56E0-4BF6-86CB-4CA221C77864}">
      <dsp:nvSpPr>
        <dsp:cNvPr id="0" name=""/>
        <dsp:cNvSpPr/>
      </dsp:nvSpPr>
      <dsp:spPr>
        <a:xfrm rot="1278739">
          <a:off x="3023711" y="2478924"/>
          <a:ext cx="457388" cy="43558"/>
        </a:xfrm>
        <a:custGeom>
          <a:avLst/>
          <a:gdLst/>
          <a:ahLst/>
          <a:cxnLst/>
          <a:rect l="0" t="0" r="0" b="0"/>
          <a:pathLst>
            <a:path>
              <a:moveTo>
                <a:pt x="0" y="21779"/>
              </a:moveTo>
              <a:lnTo>
                <a:pt x="457388" y="21779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3240971" y="2489268"/>
        <a:ext cx="22869" cy="22869"/>
      </dsp:txXfrm>
    </dsp:sp>
    <dsp:sp modelId="{86F6231B-637B-4777-89C0-FD2998456696}">
      <dsp:nvSpPr>
        <dsp:cNvPr id="0" name=""/>
        <dsp:cNvSpPr/>
      </dsp:nvSpPr>
      <dsp:spPr>
        <a:xfrm>
          <a:off x="3398559" y="2116720"/>
          <a:ext cx="1675206" cy="1535555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跨越式發展</a:t>
          </a: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643887" y="2341597"/>
        <a:ext cx="1184550" cy="1085801"/>
      </dsp:txXfrm>
    </dsp:sp>
    <dsp:sp modelId="{CC76B8D7-662E-42FC-8765-A5CB85E55E0C}">
      <dsp:nvSpPr>
        <dsp:cNvPr id="0" name=""/>
        <dsp:cNvSpPr/>
      </dsp:nvSpPr>
      <dsp:spPr>
        <a:xfrm rot="9390451">
          <a:off x="1688110" y="2494617"/>
          <a:ext cx="399011" cy="43558"/>
        </a:xfrm>
        <a:custGeom>
          <a:avLst/>
          <a:gdLst/>
          <a:ahLst/>
          <a:cxnLst/>
          <a:rect l="0" t="0" r="0" b="0"/>
          <a:pathLst>
            <a:path>
              <a:moveTo>
                <a:pt x="0" y="21779"/>
              </a:moveTo>
              <a:lnTo>
                <a:pt x="399011" y="21779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 rot="10800000">
        <a:off x="1877640" y="2506421"/>
        <a:ext cx="19950" cy="19950"/>
      </dsp:txXfrm>
    </dsp:sp>
    <dsp:sp modelId="{DECBB6D4-E5F5-41A6-9FBB-3EE0B974B4ED}">
      <dsp:nvSpPr>
        <dsp:cNvPr id="0" name=""/>
        <dsp:cNvSpPr/>
      </dsp:nvSpPr>
      <dsp:spPr>
        <a:xfrm>
          <a:off x="63553" y="2194647"/>
          <a:ext cx="1736473" cy="1474410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TW" sz="1800" b="1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系統化服務</a:t>
          </a:r>
        </a:p>
      </dsp:txBody>
      <dsp:txXfrm>
        <a:off x="317854" y="2410569"/>
        <a:ext cx="1227871" cy="1042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56F87-A81A-4EDE-81AE-3C76F245D5E1}" type="datetimeFigureOut">
              <a:rPr lang="zh-CN" altLang="en-US" smtClean="0"/>
              <a:t>2018/7/24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DC7B0-EBAC-4569-9993-246641655C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002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127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61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84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10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3881-3AD9-4248-89BF-3585ADFDE6D3}" type="datetime1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區塊鏈商業應用概論 實例與分析／許孟祥 編著／新陸書局股份有限公司 發行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A096-46F7-4F4A-8106-40B5A13C16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42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58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22.png"/><Relationship Id="rId4" Type="http://schemas.openxmlformats.org/officeDocument/2006/relationships/diagramData" Target="../diagrams/data1.xml"/><Relationship Id="rId9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12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8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27.png"/><Relationship Id="rId4" Type="http://schemas.openxmlformats.org/officeDocument/2006/relationships/diagramData" Target="../diagrams/data2.xml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5" r="803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76355" y="2280980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TW" altLang="en-US" sz="5400" b="1" dirty="0">
                <a:solidFill>
                  <a:schemeClr val="accent1"/>
                </a:solidFill>
              </a:rPr>
              <a:t>區塊鏈價值</a:t>
            </a:r>
          </a:p>
        </p:txBody>
      </p:sp>
      <p:sp>
        <p:nvSpPr>
          <p:cNvPr id="9" name="矩形 8"/>
          <p:cNvSpPr/>
          <p:nvPr/>
        </p:nvSpPr>
        <p:spPr>
          <a:xfrm>
            <a:off x="2876355" y="1678466"/>
            <a:ext cx="2220480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rgbClr val="4A5A6F"/>
                </a:solidFill>
              </a:rPr>
              <a:t>CHAPTER </a:t>
            </a:r>
            <a:r>
              <a:rPr lang="en-US" altLang="zh-TW" sz="2800" b="1" dirty="0">
                <a:solidFill>
                  <a:srgbClr val="4A5A6F"/>
                </a:solidFill>
              </a:rPr>
              <a:t>4</a:t>
            </a:r>
            <a:endParaRPr lang="zh-CN" altLang="en-US" sz="2800" b="1" dirty="0">
              <a:solidFill>
                <a:srgbClr val="4A5A6F"/>
              </a:solidFill>
            </a:endParaRPr>
          </a:p>
        </p:txBody>
      </p:sp>
      <p:sp>
        <p:nvSpPr>
          <p:cNvPr id="46" name="矩形 23"/>
          <p:cNvSpPr/>
          <p:nvPr/>
        </p:nvSpPr>
        <p:spPr>
          <a:xfrm>
            <a:off x="3329969" y="5032201"/>
            <a:ext cx="189597" cy="242711"/>
          </a:xfrm>
          <a:custGeom>
            <a:avLst/>
            <a:gdLst>
              <a:gd name="connsiteX0" fmla="*/ 11784 w 473070"/>
              <a:gd name="connsiteY0" fmla="*/ 563888 h 605592"/>
              <a:gd name="connsiteX1" fmla="*/ 461073 w 473070"/>
              <a:gd name="connsiteY1" fmla="*/ 563888 h 605592"/>
              <a:gd name="connsiteX2" fmla="*/ 461073 w 473070"/>
              <a:gd name="connsiteY2" fmla="*/ 605592 h 605592"/>
              <a:gd name="connsiteX3" fmla="*/ 11784 w 473070"/>
              <a:gd name="connsiteY3" fmla="*/ 605592 h 605592"/>
              <a:gd name="connsiteX4" fmla="*/ 11784 w 473070"/>
              <a:gd name="connsiteY4" fmla="*/ 500661 h 605592"/>
              <a:gd name="connsiteX5" fmla="*/ 461073 w 473070"/>
              <a:gd name="connsiteY5" fmla="*/ 500661 h 605592"/>
              <a:gd name="connsiteX6" fmla="*/ 461073 w 473070"/>
              <a:gd name="connsiteY6" fmla="*/ 542506 h 605592"/>
              <a:gd name="connsiteX7" fmla="*/ 11784 w 473070"/>
              <a:gd name="connsiteY7" fmla="*/ 542506 h 605592"/>
              <a:gd name="connsiteX8" fmla="*/ 365246 w 473070"/>
              <a:gd name="connsiteY8" fmla="*/ 196807 h 605592"/>
              <a:gd name="connsiteX9" fmla="*/ 407162 w 473070"/>
              <a:gd name="connsiteY9" fmla="*/ 196807 h 605592"/>
              <a:gd name="connsiteX10" fmla="*/ 407162 w 473070"/>
              <a:gd name="connsiteY10" fmla="*/ 467496 h 605592"/>
              <a:gd name="connsiteX11" fmla="*/ 365246 w 473070"/>
              <a:gd name="connsiteY11" fmla="*/ 467496 h 605592"/>
              <a:gd name="connsiteX12" fmla="*/ 215507 w 473070"/>
              <a:gd name="connsiteY12" fmla="*/ 196807 h 605592"/>
              <a:gd name="connsiteX13" fmla="*/ 257352 w 473070"/>
              <a:gd name="connsiteY13" fmla="*/ 196807 h 605592"/>
              <a:gd name="connsiteX14" fmla="*/ 257352 w 473070"/>
              <a:gd name="connsiteY14" fmla="*/ 467496 h 605592"/>
              <a:gd name="connsiteX15" fmla="*/ 215507 w 473070"/>
              <a:gd name="connsiteY15" fmla="*/ 467496 h 605592"/>
              <a:gd name="connsiteX16" fmla="*/ 65767 w 473070"/>
              <a:gd name="connsiteY16" fmla="*/ 196807 h 605592"/>
              <a:gd name="connsiteX17" fmla="*/ 107612 w 473070"/>
              <a:gd name="connsiteY17" fmla="*/ 196807 h 605592"/>
              <a:gd name="connsiteX18" fmla="*/ 107612 w 473070"/>
              <a:gd name="connsiteY18" fmla="*/ 467496 h 605592"/>
              <a:gd name="connsiteX19" fmla="*/ 65767 w 473070"/>
              <a:gd name="connsiteY19" fmla="*/ 467496 h 605592"/>
              <a:gd name="connsiteX20" fmla="*/ 236581 w 473070"/>
              <a:gd name="connsiteY20" fmla="*/ 0 h 605592"/>
              <a:gd name="connsiteX21" fmla="*/ 473070 w 473070"/>
              <a:gd name="connsiteY21" fmla="*/ 164833 h 605592"/>
              <a:gd name="connsiteX22" fmla="*/ 449115 w 473070"/>
              <a:gd name="connsiteY22" fmla="*/ 199135 h 605592"/>
              <a:gd name="connsiteX23" fmla="*/ 236303 w 473070"/>
              <a:gd name="connsiteY23" fmla="*/ 50711 h 605592"/>
              <a:gd name="connsiteX24" fmla="*/ 23491 w 473070"/>
              <a:gd name="connsiteY24" fmla="*/ 194963 h 605592"/>
              <a:gd name="connsiteX25" fmla="*/ 0 w 473070"/>
              <a:gd name="connsiteY25" fmla="*/ 160383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3070" h="605592">
                <a:moveTo>
                  <a:pt x="11784" y="563888"/>
                </a:moveTo>
                <a:lnTo>
                  <a:pt x="461073" y="563888"/>
                </a:lnTo>
                <a:lnTo>
                  <a:pt x="461073" y="605592"/>
                </a:lnTo>
                <a:lnTo>
                  <a:pt x="11784" y="605592"/>
                </a:lnTo>
                <a:close/>
                <a:moveTo>
                  <a:pt x="11784" y="500661"/>
                </a:moveTo>
                <a:lnTo>
                  <a:pt x="461073" y="500661"/>
                </a:lnTo>
                <a:lnTo>
                  <a:pt x="461073" y="542506"/>
                </a:lnTo>
                <a:lnTo>
                  <a:pt x="11784" y="542506"/>
                </a:lnTo>
                <a:close/>
                <a:moveTo>
                  <a:pt x="365246" y="196807"/>
                </a:moveTo>
                <a:lnTo>
                  <a:pt x="407162" y="196807"/>
                </a:lnTo>
                <a:lnTo>
                  <a:pt x="407162" y="467496"/>
                </a:lnTo>
                <a:lnTo>
                  <a:pt x="365246" y="467496"/>
                </a:lnTo>
                <a:close/>
                <a:moveTo>
                  <a:pt x="215507" y="196807"/>
                </a:moveTo>
                <a:lnTo>
                  <a:pt x="257352" y="196807"/>
                </a:lnTo>
                <a:lnTo>
                  <a:pt x="257352" y="467496"/>
                </a:lnTo>
                <a:lnTo>
                  <a:pt x="215507" y="467496"/>
                </a:lnTo>
                <a:close/>
                <a:moveTo>
                  <a:pt x="65767" y="196807"/>
                </a:moveTo>
                <a:lnTo>
                  <a:pt x="107612" y="196807"/>
                </a:lnTo>
                <a:lnTo>
                  <a:pt x="107612" y="467496"/>
                </a:lnTo>
                <a:lnTo>
                  <a:pt x="65767" y="467496"/>
                </a:lnTo>
                <a:close/>
                <a:moveTo>
                  <a:pt x="236581" y="0"/>
                </a:moveTo>
                <a:lnTo>
                  <a:pt x="473070" y="164833"/>
                </a:lnTo>
                <a:lnTo>
                  <a:pt x="449115" y="199135"/>
                </a:lnTo>
                <a:lnTo>
                  <a:pt x="236303" y="50711"/>
                </a:lnTo>
                <a:lnTo>
                  <a:pt x="23491" y="194963"/>
                </a:lnTo>
                <a:lnTo>
                  <a:pt x="0" y="1603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矩形 35"/>
          <p:cNvSpPr/>
          <p:nvPr/>
        </p:nvSpPr>
        <p:spPr>
          <a:xfrm>
            <a:off x="4863869" y="5032384"/>
            <a:ext cx="242711" cy="242344"/>
          </a:xfrm>
          <a:custGeom>
            <a:avLst/>
            <a:gdLst>
              <a:gd name="connsiteX0" fmla="*/ 303775 w 607639"/>
              <a:gd name="connsiteY0" fmla="*/ 525007 h 606722"/>
              <a:gd name="connsiteX1" fmla="*/ 315710 w 607639"/>
              <a:gd name="connsiteY1" fmla="*/ 536902 h 606722"/>
              <a:gd name="connsiteX2" fmla="*/ 315710 w 607639"/>
              <a:gd name="connsiteY2" fmla="*/ 552347 h 606722"/>
              <a:gd name="connsiteX3" fmla="*/ 303775 w 607639"/>
              <a:gd name="connsiteY3" fmla="*/ 564241 h 606722"/>
              <a:gd name="connsiteX4" fmla="*/ 291929 w 607639"/>
              <a:gd name="connsiteY4" fmla="*/ 552347 h 606722"/>
              <a:gd name="connsiteX5" fmla="*/ 291929 w 607639"/>
              <a:gd name="connsiteY5" fmla="*/ 536902 h 606722"/>
              <a:gd name="connsiteX6" fmla="*/ 303775 w 607639"/>
              <a:gd name="connsiteY6" fmla="*/ 525007 h 606722"/>
              <a:gd name="connsiteX7" fmla="*/ 429885 w 607639"/>
              <a:gd name="connsiteY7" fmla="*/ 509483 h 606722"/>
              <a:gd name="connsiteX8" fmla="*/ 441811 w 607639"/>
              <a:gd name="connsiteY8" fmla="*/ 521409 h 606722"/>
              <a:gd name="connsiteX9" fmla="*/ 429885 w 607639"/>
              <a:gd name="connsiteY9" fmla="*/ 533335 h 606722"/>
              <a:gd name="connsiteX10" fmla="*/ 417959 w 607639"/>
              <a:gd name="connsiteY10" fmla="*/ 521409 h 606722"/>
              <a:gd name="connsiteX11" fmla="*/ 429885 w 607639"/>
              <a:gd name="connsiteY11" fmla="*/ 509483 h 606722"/>
              <a:gd name="connsiteX12" fmla="*/ 177720 w 607639"/>
              <a:gd name="connsiteY12" fmla="*/ 509483 h 606722"/>
              <a:gd name="connsiteX13" fmla="*/ 189611 w 607639"/>
              <a:gd name="connsiteY13" fmla="*/ 521409 h 606722"/>
              <a:gd name="connsiteX14" fmla="*/ 177720 w 607639"/>
              <a:gd name="connsiteY14" fmla="*/ 533335 h 606722"/>
              <a:gd name="connsiteX15" fmla="*/ 165829 w 607639"/>
              <a:gd name="connsiteY15" fmla="*/ 521409 h 606722"/>
              <a:gd name="connsiteX16" fmla="*/ 177720 w 607639"/>
              <a:gd name="connsiteY16" fmla="*/ 509483 h 606722"/>
              <a:gd name="connsiteX17" fmla="*/ 522185 w 607639"/>
              <a:gd name="connsiteY17" fmla="*/ 417324 h 606722"/>
              <a:gd name="connsiteX18" fmla="*/ 534111 w 607639"/>
              <a:gd name="connsiteY18" fmla="*/ 429250 h 606722"/>
              <a:gd name="connsiteX19" fmla="*/ 522185 w 607639"/>
              <a:gd name="connsiteY19" fmla="*/ 441176 h 606722"/>
              <a:gd name="connsiteX20" fmla="*/ 510259 w 607639"/>
              <a:gd name="connsiteY20" fmla="*/ 429250 h 606722"/>
              <a:gd name="connsiteX21" fmla="*/ 522185 w 607639"/>
              <a:gd name="connsiteY21" fmla="*/ 417324 h 606722"/>
              <a:gd name="connsiteX22" fmla="*/ 85420 w 607639"/>
              <a:gd name="connsiteY22" fmla="*/ 417324 h 606722"/>
              <a:gd name="connsiteX23" fmla="*/ 97311 w 607639"/>
              <a:gd name="connsiteY23" fmla="*/ 429250 h 606722"/>
              <a:gd name="connsiteX24" fmla="*/ 85420 w 607639"/>
              <a:gd name="connsiteY24" fmla="*/ 441176 h 606722"/>
              <a:gd name="connsiteX25" fmla="*/ 73529 w 607639"/>
              <a:gd name="connsiteY25" fmla="*/ 429250 h 606722"/>
              <a:gd name="connsiteX26" fmla="*/ 85420 w 607639"/>
              <a:gd name="connsiteY26" fmla="*/ 417324 h 606722"/>
              <a:gd name="connsiteX27" fmla="*/ 537643 w 607639"/>
              <a:gd name="connsiteY27" fmla="*/ 291506 h 606722"/>
              <a:gd name="connsiteX28" fmla="*/ 555628 w 607639"/>
              <a:gd name="connsiteY28" fmla="*/ 291506 h 606722"/>
              <a:gd name="connsiteX29" fmla="*/ 567558 w 607639"/>
              <a:gd name="connsiteY29" fmla="*/ 303316 h 606722"/>
              <a:gd name="connsiteX30" fmla="*/ 555628 w 607639"/>
              <a:gd name="connsiteY30" fmla="*/ 315216 h 606722"/>
              <a:gd name="connsiteX31" fmla="*/ 537643 w 607639"/>
              <a:gd name="connsiteY31" fmla="*/ 315216 h 606722"/>
              <a:gd name="connsiteX32" fmla="*/ 525713 w 607639"/>
              <a:gd name="connsiteY32" fmla="*/ 303316 h 606722"/>
              <a:gd name="connsiteX33" fmla="*/ 537643 w 607639"/>
              <a:gd name="connsiteY33" fmla="*/ 291506 h 606722"/>
              <a:gd name="connsiteX34" fmla="*/ 51991 w 607639"/>
              <a:gd name="connsiteY34" fmla="*/ 291506 h 606722"/>
              <a:gd name="connsiteX35" fmla="*/ 69946 w 607639"/>
              <a:gd name="connsiteY35" fmla="*/ 291506 h 606722"/>
              <a:gd name="connsiteX36" fmla="*/ 81856 w 607639"/>
              <a:gd name="connsiteY36" fmla="*/ 303316 h 606722"/>
              <a:gd name="connsiteX37" fmla="*/ 69946 w 607639"/>
              <a:gd name="connsiteY37" fmla="*/ 315216 h 606722"/>
              <a:gd name="connsiteX38" fmla="*/ 51991 w 607639"/>
              <a:gd name="connsiteY38" fmla="*/ 315216 h 606722"/>
              <a:gd name="connsiteX39" fmla="*/ 40081 w 607639"/>
              <a:gd name="connsiteY39" fmla="*/ 303316 h 606722"/>
              <a:gd name="connsiteX40" fmla="*/ 51991 w 607639"/>
              <a:gd name="connsiteY40" fmla="*/ 291506 h 606722"/>
              <a:gd name="connsiteX41" fmla="*/ 412608 w 607639"/>
              <a:gd name="connsiteY41" fmla="*/ 222096 h 606722"/>
              <a:gd name="connsiteX42" fmla="*/ 345491 w 607639"/>
              <a:gd name="connsiteY42" fmla="*/ 334245 h 606722"/>
              <a:gd name="connsiteX43" fmla="*/ 412608 w 607639"/>
              <a:gd name="connsiteY43" fmla="*/ 334245 h 606722"/>
              <a:gd name="connsiteX44" fmla="*/ 427651 w 607639"/>
              <a:gd name="connsiteY44" fmla="*/ 167533 h 606722"/>
              <a:gd name="connsiteX45" fmla="*/ 436375 w 607639"/>
              <a:gd name="connsiteY45" fmla="*/ 178996 h 606722"/>
              <a:gd name="connsiteX46" fmla="*/ 436375 w 607639"/>
              <a:gd name="connsiteY46" fmla="*/ 334245 h 606722"/>
              <a:gd name="connsiteX47" fmla="*/ 469399 w 607639"/>
              <a:gd name="connsiteY47" fmla="*/ 334245 h 606722"/>
              <a:gd name="connsiteX48" fmla="*/ 481327 w 607639"/>
              <a:gd name="connsiteY48" fmla="*/ 346153 h 606722"/>
              <a:gd name="connsiteX49" fmla="*/ 469399 w 607639"/>
              <a:gd name="connsiteY49" fmla="*/ 357973 h 606722"/>
              <a:gd name="connsiteX50" fmla="*/ 436375 w 607639"/>
              <a:gd name="connsiteY50" fmla="*/ 357973 h 606722"/>
              <a:gd name="connsiteX51" fmla="*/ 436375 w 607639"/>
              <a:gd name="connsiteY51" fmla="*/ 427733 h 606722"/>
              <a:gd name="connsiteX52" fmla="*/ 424536 w 607639"/>
              <a:gd name="connsiteY52" fmla="*/ 439552 h 606722"/>
              <a:gd name="connsiteX53" fmla="*/ 412608 w 607639"/>
              <a:gd name="connsiteY53" fmla="*/ 427733 h 606722"/>
              <a:gd name="connsiteX54" fmla="*/ 412608 w 607639"/>
              <a:gd name="connsiteY54" fmla="*/ 357973 h 606722"/>
              <a:gd name="connsiteX55" fmla="*/ 324573 w 607639"/>
              <a:gd name="connsiteY55" fmla="*/ 357973 h 606722"/>
              <a:gd name="connsiteX56" fmla="*/ 314158 w 607639"/>
              <a:gd name="connsiteY56" fmla="*/ 352019 h 606722"/>
              <a:gd name="connsiteX57" fmla="*/ 314336 w 607639"/>
              <a:gd name="connsiteY57" fmla="*/ 340022 h 606722"/>
              <a:gd name="connsiteX58" fmla="*/ 414299 w 607639"/>
              <a:gd name="connsiteY58" fmla="*/ 172953 h 606722"/>
              <a:gd name="connsiteX59" fmla="*/ 427651 w 607639"/>
              <a:gd name="connsiteY59" fmla="*/ 167533 h 606722"/>
              <a:gd name="connsiteX60" fmla="*/ 216270 w 607639"/>
              <a:gd name="connsiteY60" fmla="*/ 167099 h 606722"/>
              <a:gd name="connsiteX61" fmla="*/ 290518 w 607639"/>
              <a:gd name="connsiteY61" fmla="*/ 241210 h 606722"/>
              <a:gd name="connsiteX62" fmla="*/ 242978 w 607639"/>
              <a:gd name="connsiteY62" fmla="*/ 355754 h 606722"/>
              <a:gd name="connsiteX63" fmla="*/ 182707 w 607639"/>
              <a:gd name="connsiteY63" fmla="*/ 415825 h 606722"/>
              <a:gd name="connsiteX64" fmla="*/ 278588 w 607639"/>
              <a:gd name="connsiteY64" fmla="*/ 415825 h 606722"/>
              <a:gd name="connsiteX65" fmla="*/ 290518 w 607639"/>
              <a:gd name="connsiteY65" fmla="*/ 427734 h 606722"/>
              <a:gd name="connsiteX66" fmla="*/ 278588 w 607639"/>
              <a:gd name="connsiteY66" fmla="*/ 439552 h 606722"/>
              <a:gd name="connsiteX67" fmla="*/ 154040 w 607639"/>
              <a:gd name="connsiteY67" fmla="*/ 439552 h 606722"/>
              <a:gd name="connsiteX68" fmla="*/ 143001 w 607639"/>
              <a:gd name="connsiteY68" fmla="*/ 432265 h 606722"/>
              <a:gd name="connsiteX69" fmla="*/ 145582 w 607639"/>
              <a:gd name="connsiteY69" fmla="*/ 419292 h 606722"/>
              <a:gd name="connsiteX70" fmla="*/ 226152 w 607639"/>
              <a:gd name="connsiteY70" fmla="*/ 338959 h 606722"/>
              <a:gd name="connsiteX71" fmla="*/ 266659 w 607639"/>
              <a:gd name="connsiteY71" fmla="*/ 241210 h 606722"/>
              <a:gd name="connsiteX72" fmla="*/ 216270 w 607639"/>
              <a:gd name="connsiteY72" fmla="*/ 190914 h 606722"/>
              <a:gd name="connsiteX73" fmla="*/ 165880 w 607639"/>
              <a:gd name="connsiteY73" fmla="*/ 241210 h 606722"/>
              <a:gd name="connsiteX74" fmla="*/ 154040 w 607639"/>
              <a:gd name="connsiteY74" fmla="*/ 253029 h 606722"/>
              <a:gd name="connsiteX75" fmla="*/ 142110 w 607639"/>
              <a:gd name="connsiteY75" fmla="*/ 241210 h 606722"/>
              <a:gd name="connsiteX76" fmla="*/ 216270 w 607639"/>
              <a:gd name="connsiteY76" fmla="*/ 167099 h 606722"/>
              <a:gd name="connsiteX77" fmla="*/ 522185 w 607639"/>
              <a:gd name="connsiteY77" fmla="*/ 165547 h 606722"/>
              <a:gd name="connsiteX78" fmla="*/ 534111 w 607639"/>
              <a:gd name="connsiteY78" fmla="*/ 177438 h 606722"/>
              <a:gd name="connsiteX79" fmla="*/ 522185 w 607639"/>
              <a:gd name="connsiteY79" fmla="*/ 189329 h 606722"/>
              <a:gd name="connsiteX80" fmla="*/ 510259 w 607639"/>
              <a:gd name="connsiteY80" fmla="*/ 177438 h 606722"/>
              <a:gd name="connsiteX81" fmla="*/ 522185 w 607639"/>
              <a:gd name="connsiteY81" fmla="*/ 165547 h 606722"/>
              <a:gd name="connsiteX82" fmla="*/ 85420 w 607639"/>
              <a:gd name="connsiteY82" fmla="*/ 165547 h 606722"/>
              <a:gd name="connsiteX83" fmla="*/ 97311 w 607639"/>
              <a:gd name="connsiteY83" fmla="*/ 177438 h 606722"/>
              <a:gd name="connsiteX84" fmla="*/ 85420 w 607639"/>
              <a:gd name="connsiteY84" fmla="*/ 189329 h 606722"/>
              <a:gd name="connsiteX85" fmla="*/ 73529 w 607639"/>
              <a:gd name="connsiteY85" fmla="*/ 177438 h 606722"/>
              <a:gd name="connsiteX86" fmla="*/ 85420 w 607639"/>
              <a:gd name="connsiteY86" fmla="*/ 165547 h 606722"/>
              <a:gd name="connsiteX87" fmla="*/ 429885 w 607639"/>
              <a:gd name="connsiteY87" fmla="*/ 73388 h 606722"/>
              <a:gd name="connsiteX88" fmla="*/ 441811 w 607639"/>
              <a:gd name="connsiteY88" fmla="*/ 85279 h 606722"/>
              <a:gd name="connsiteX89" fmla="*/ 429885 w 607639"/>
              <a:gd name="connsiteY89" fmla="*/ 97170 h 606722"/>
              <a:gd name="connsiteX90" fmla="*/ 417959 w 607639"/>
              <a:gd name="connsiteY90" fmla="*/ 85279 h 606722"/>
              <a:gd name="connsiteX91" fmla="*/ 429885 w 607639"/>
              <a:gd name="connsiteY91" fmla="*/ 73388 h 606722"/>
              <a:gd name="connsiteX92" fmla="*/ 177720 w 607639"/>
              <a:gd name="connsiteY92" fmla="*/ 73388 h 606722"/>
              <a:gd name="connsiteX93" fmla="*/ 189611 w 607639"/>
              <a:gd name="connsiteY93" fmla="*/ 85279 h 606722"/>
              <a:gd name="connsiteX94" fmla="*/ 177720 w 607639"/>
              <a:gd name="connsiteY94" fmla="*/ 97170 h 606722"/>
              <a:gd name="connsiteX95" fmla="*/ 165829 w 607639"/>
              <a:gd name="connsiteY95" fmla="*/ 85279 h 606722"/>
              <a:gd name="connsiteX96" fmla="*/ 177720 w 607639"/>
              <a:gd name="connsiteY96" fmla="*/ 73388 h 606722"/>
              <a:gd name="connsiteX97" fmla="*/ 303775 w 607639"/>
              <a:gd name="connsiteY97" fmla="*/ 42480 h 606722"/>
              <a:gd name="connsiteX98" fmla="*/ 315710 w 607639"/>
              <a:gd name="connsiteY98" fmla="*/ 54396 h 606722"/>
              <a:gd name="connsiteX99" fmla="*/ 315710 w 607639"/>
              <a:gd name="connsiteY99" fmla="*/ 69869 h 606722"/>
              <a:gd name="connsiteX100" fmla="*/ 303775 w 607639"/>
              <a:gd name="connsiteY100" fmla="*/ 81785 h 606722"/>
              <a:gd name="connsiteX101" fmla="*/ 291929 w 607639"/>
              <a:gd name="connsiteY101" fmla="*/ 69869 h 606722"/>
              <a:gd name="connsiteX102" fmla="*/ 291929 w 607639"/>
              <a:gd name="connsiteY102" fmla="*/ 54396 h 606722"/>
              <a:gd name="connsiteX103" fmla="*/ 303775 w 607639"/>
              <a:gd name="connsiteY103" fmla="*/ 42480 h 606722"/>
              <a:gd name="connsiteX104" fmla="*/ 303775 w 607639"/>
              <a:gd name="connsiteY104" fmla="*/ 0 h 606722"/>
              <a:gd name="connsiteX105" fmla="*/ 537058 w 607639"/>
              <a:gd name="connsiteY105" fmla="*/ 108956 h 606722"/>
              <a:gd name="connsiteX106" fmla="*/ 537058 w 607639"/>
              <a:gd name="connsiteY106" fmla="*/ 93048 h 606722"/>
              <a:gd name="connsiteX107" fmla="*/ 548895 w 607639"/>
              <a:gd name="connsiteY107" fmla="*/ 81139 h 606722"/>
              <a:gd name="connsiteX108" fmla="*/ 560822 w 607639"/>
              <a:gd name="connsiteY108" fmla="*/ 93048 h 606722"/>
              <a:gd name="connsiteX109" fmla="*/ 560822 w 607639"/>
              <a:gd name="connsiteY109" fmla="*/ 138994 h 606722"/>
              <a:gd name="connsiteX110" fmla="*/ 548895 w 607639"/>
              <a:gd name="connsiteY110" fmla="*/ 150903 h 606722"/>
              <a:gd name="connsiteX111" fmla="*/ 502880 w 607639"/>
              <a:gd name="connsiteY111" fmla="*/ 150903 h 606722"/>
              <a:gd name="connsiteX112" fmla="*/ 490953 w 607639"/>
              <a:gd name="connsiteY112" fmla="*/ 138994 h 606722"/>
              <a:gd name="connsiteX113" fmla="*/ 502880 w 607639"/>
              <a:gd name="connsiteY113" fmla="*/ 127174 h 606722"/>
              <a:gd name="connsiteX114" fmla="*/ 521126 w 607639"/>
              <a:gd name="connsiteY114" fmla="*/ 127174 h 606722"/>
              <a:gd name="connsiteX115" fmla="*/ 303775 w 607639"/>
              <a:gd name="connsiteY115" fmla="*/ 23728 h 606722"/>
              <a:gd name="connsiteX116" fmla="*/ 23764 w 607639"/>
              <a:gd name="connsiteY116" fmla="*/ 303316 h 606722"/>
              <a:gd name="connsiteX117" fmla="*/ 303775 w 607639"/>
              <a:gd name="connsiteY117" fmla="*/ 582905 h 606722"/>
              <a:gd name="connsiteX118" fmla="*/ 583786 w 607639"/>
              <a:gd name="connsiteY118" fmla="*/ 303316 h 606722"/>
              <a:gd name="connsiteX119" fmla="*/ 573906 w 607639"/>
              <a:gd name="connsiteY119" fmla="*/ 229376 h 606722"/>
              <a:gd name="connsiteX120" fmla="*/ 582273 w 607639"/>
              <a:gd name="connsiteY120" fmla="*/ 214801 h 606722"/>
              <a:gd name="connsiteX121" fmla="*/ 596869 w 607639"/>
              <a:gd name="connsiteY121" fmla="*/ 223066 h 606722"/>
              <a:gd name="connsiteX122" fmla="*/ 607639 w 607639"/>
              <a:gd name="connsiteY122" fmla="*/ 303316 h 606722"/>
              <a:gd name="connsiteX123" fmla="*/ 303775 w 607639"/>
              <a:gd name="connsiteY123" fmla="*/ 606722 h 606722"/>
              <a:gd name="connsiteX124" fmla="*/ 0 w 607639"/>
              <a:gd name="connsiteY124" fmla="*/ 303316 h 606722"/>
              <a:gd name="connsiteX125" fmla="*/ 303775 w 607639"/>
              <a:gd name="connsiteY125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07639" h="606722">
                <a:moveTo>
                  <a:pt x="303775" y="525007"/>
                </a:moveTo>
                <a:cubicBezTo>
                  <a:pt x="310366" y="525007"/>
                  <a:pt x="315710" y="530333"/>
                  <a:pt x="315710" y="536902"/>
                </a:cubicBezTo>
                <a:lnTo>
                  <a:pt x="315710" y="552347"/>
                </a:lnTo>
                <a:cubicBezTo>
                  <a:pt x="315710" y="558915"/>
                  <a:pt x="310366" y="564241"/>
                  <a:pt x="303775" y="564241"/>
                </a:cubicBezTo>
                <a:cubicBezTo>
                  <a:pt x="297184" y="564241"/>
                  <a:pt x="291929" y="558915"/>
                  <a:pt x="291929" y="552347"/>
                </a:cubicBezTo>
                <a:lnTo>
                  <a:pt x="291929" y="536902"/>
                </a:lnTo>
                <a:cubicBezTo>
                  <a:pt x="291929" y="530333"/>
                  <a:pt x="297184" y="525007"/>
                  <a:pt x="303775" y="525007"/>
                </a:cubicBezTo>
                <a:close/>
                <a:moveTo>
                  <a:pt x="429885" y="509483"/>
                </a:moveTo>
                <a:cubicBezTo>
                  <a:pt x="436472" y="509483"/>
                  <a:pt x="441811" y="514822"/>
                  <a:pt x="441811" y="521409"/>
                </a:cubicBezTo>
                <a:cubicBezTo>
                  <a:pt x="441811" y="527996"/>
                  <a:pt x="436472" y="533335"/>
                  <a:pt x="429885" y="533335"/>
                </a:cubicBezTo>
                <a:cubicBezTo>
                  <a:pt x="423298" y="533335"/>
                  <a:pt x="417959" y="527996"/>
                  <a:pt x="417959" y="521409"/>
                </a:cubicBezTo>
                <a:cubicBezTo>
                  <a:pt x="417959" y="514822"/>
                  <a:pt x="423298" y="509483"/>
                  <a:pt x="429885" y="509483"/>
                </a:cubicBezTo>
                <a:close/>
                <a:moveTo>
                  <a:pt x="177720" y="509483"/>
                </a:moveTo>
                <a:cubicBezTo>
                  <a:pt x="184287" y="509483"/>
                  <a:pt x="189611" y="514822"/>
                  <a:pt x="189611" y="521409"/>
                </a:cubicBezTo>
                <a:cubicBezTo>
                  <a:pt x="189611" y="527996"/>
                  <a:pt x="184287" y="533335"/>
                  <a:pt x="177720" y="533335"/>
                </a:cubicBezTo>
                <a:cubicBezTo>
                  <a:pt x="171153" y="533335"/>
                  <a:pt x="165829" y="527996"/>
                  <a:pt x="165829" y="521409"/>
                </a:cubicBezTo>
                <a:cubicBezTo>
                  <a:pt x="165829" y="514822"/>
                  <a:pt x="171153" y="509483"/>
                  <a:pt x="177720" y="509483"/>
                </a:cubicBezTo>
                <a:close/>
                <a:moveTo>
                  <a:pt x="522185" y="417324"/>
                </a:moveTo>
                <a:cubicBezTo>
                  <a:pt x="528772" y="417324"/>
                  <a:pt x="534111" y="422663"/>
                  <a:pt x="534111" y="429250"/>
                </a:cubicBezTo>
                <a:cubicBezTo>
                  <a:pt x="534111" y="435837"/>
                  <a:pt x="528772" y="441176"/>
                  <a:pt x="522185" y="441176"/>
                </a:cubicBezTo>
                <a:cubicBezTo>
                  <a:pt x="515598" y="441176"/>
                  <a:pt x="510259" y="435837"/>
                  <a:pt x="510259" y="429250"/>
                </a:cubicBezTo>
                <a:cubicBezTo>
                  <a:pt x="510259" y="422663"/>
                  <a:pt x="515598" y="417324"/>
                  <a:pt x="522185" y="417324"/>
                </a:cubicBezTo>
                <a:close/>
                <a:moveTo>
                  <a:pt x="85420" y="417324"/>
                </a:moveTo>
                <a:cubicBezTo>
                  <a:pt x="91987" y="417324"/>
                  <a:pt x="97311" y="422663"/>
                  <a:pt x="97311" y="429250"/>
                </a:cubicBezTo>
                <a:cubicBezTo>
                  <a:pt x="97311" y="435837"/>
                  <a:pt x="91987" y="441176"/>
                  <a:pt x="85420" y="441176"/>
                </a:cubicBezTo>
                <a:cubicBezTo>
                  <a:pt x="78853" y="441176"/>
                  <a:pt x="73529" y="435837"/>
                  <a:pt x="73529" y="429250"/>
                </a:cubicBezTo>
                <a:cubicBezTo>
                  <a:pt x="73529" y="422663"/>
                  <a:pt x="78853" y="417324"/>
                  <a:pt x="85420" y="417324"/>
                </a:cubicBezTo>
                <a:close/>
                <a:moveTo>
                  <a:pt x="537643" y="291506"/>
                </a:moveTo>
                <a:lnTo>
                  <a:pt x="555628" y="291506"/>
                </a:lnTo>
                <a:cubicBezTo>
                  <a:pt x="562216" y="291506"/>
                  <a:pt x="567558" y="296745"/>
                  <a:pt x="567558" y="303316"/>
                </a:cubicBezTo>
                <a:cubicBezTo>
                  <a:pt x="567558" y="309888"/>
                  <a:pt x="562216" y="315216"/>
                  <a:pt x="555628" y="315216"/>
                </a:cubicBezTo>
                <a:lnTo>
                  <a:pt x="537643" y="315216"/>
                </a:lnTo>
                <a:cubicBezTo>
                  <a:pt x="531055" y="315216"/>
                  <a:pt x="525713" y="309888"/>
                  <a:pt x="525713" y="303316"/>
                </a:cubicBezTo>
                <a:cubicBezTo>
                  <a:pt x="525713" y="296745"/>
                  <a:pt x="531055" y="291506"/>
                  <a:pt x="537643" y="291506"/>
                </a:cubicBezTo>
                <a:close/>
                <a:moveTo>
                  <a:pt x="51991" y="291506"/>
                </a:moveTo>
                <a:lnTo>
                  <a:pt x="69946" y="291506"/>
                </a:lnTo>
                <a:cubicBezTo>
                  <a:pt x="76523" y="291506"/>
                  <a:pt x="81856" y="296745"/>
                  <a:pt x="81856" y="303316"/>
                </a:cubicBezTo>
                <a:cubicBezTo>
                  <a:pt x="81856" y="309888"/>
                  <a:pt x="76523" y="315216"/>
                  <a:pt x="69946" y="315216"/>
                </a:cubicBezTo>
                <a:lnTo>
                  <a:pt x="51991" y="315216"/>
                </a:lnTo>
                <a:cubicBezTo>
                  <a:pt x="45414" y="315216"/>
                  <a:pt x="40081" y="309888"/>
                  <a:pt x="40081" y="303316"/>
                </a:cubicBezTo>
                <a:cubicBezTo>
                  <a:pt x="40081" y="296745"/>
                  <a:pt x="45414" y="291506"/>
                  <a:pt x="51991" y="291506"/>
                </a:cubicBezTo>
                <a:close/>
                <a:moveTo>
                  <a:pt x="412608" y="222096"/>
                </a:moveTo>
                <a:lnTo>
                  <a:pt x="345491" y="334245"/>
                </a:lnTo>
                <a:lnTo>
                  <a:pt x="412608" y="334245"/>
                </a:lnTo>
                <a:close/>
                <a:moveTo>
                  <a:pt x="427651" y="167533"/>
                </a:moveTo>
                <a:cubicBezTo>
                  <a:pt x="432814" y="168954"/>
                  <a:pt x="436375" y="173664"/>
                  <a:pt x="436375" y="178996"/>
                </a:cubicBezTo>
                <a:lnTo>
                  <a:pt x="436375" y="334245"/>
                </a:lnTo>
                <a:lnTo>
                  <a:pt x="469399" y="334245"/>
                </a:lnTo>
                <a:cubicBezTo>
                  <a:pt x="475986" y="334245"/>
                  <a:pt x="481327" y="339577"/>
                  <a:pt x="481327" y="346153"/>
                </a:cubicBezTo>
                <a:cubicBezTo>
                  <a:pt x="481327" y="352641"/>
                  <a:pt x="475986" y="357973"/>
                  <a:pt x="469399" y="357973"/>
                </a:cubicBezTo>
                <a:lnTo>
                  <a:pt x="436375" y="357973"/>
                </a:lnTo>
                <a:lnTo>
                  <a:pt x="436375" y="427733"/>
                </a:lnTo>
                <a:cubicBezTo>
                  <a:pt x="436375" y="434220"/>
                  <a:pt x="431123" y="439552"/>
                  <a:pt x="424536" y="439552"/>
                </a:cubicBezTo>
                <a:cubicBezTo>
                  <a:pt x="417949" y="439552"/>
                  <a:pt x="412608" y="434220"/>
                  <a:pt x="412608" y="427733"/>
                </a:cubicBezTo>
                <a:lnTo>
                  <a:pt x="412608" y="357973"/>
                </a:lnTo>
                <a:lnTo>
                  <a:pt x="324573" y="357973"/>
                </a:lnTo>
                <a:cubicBezTo>
                  <a:pt x="320300" y="357973"/>
                  <a:pt x="316295" y="355662"/>
                  <a:pt x="314158" y="352019"/>
                </a:cubicBezTo>
                <a:cubicBezTo>
                  <a:pt x="312111" y="348286"/>
                  <a:pt x="312111" y="343665"/>
                  <a:pt x="314336" y="340022"/>
                </a:cubicBezTo>
                <a:lnTo>
                  <a:pt x="414299" y="172953"/>
                </a:lnTo>
                <a:cubicBezTo>
                  <a:pt x="417059" y="168332"/>
                  <a:pt x="422489" y="166111"/>
                  <a:pt x="427651" y="167533"/>
                </a:cubicBezTo>
                <a:close/>
                <a:moveTo>
                  <a:pt x="216270" y="167099"/>
                </a:moveTo>
                <a:cubicBezTo>
                  <a:pt x="257222" y="167099"/>
                  <a:pt x="290518" y="200333"/>
                  <a:pt x="290518" y="241210"/>
                </a:cubicBezTo>
                <a:cubicBezTo>
                  <a:pt x="290518" y="284486"/>
                  <a:pt x="273603" y="325097"/>
                  <a:pt x="242978" y="355754"/>
                </a:cubicBezTo>
                <a:lnTo>
                  <a:pt x="182707" y="415825"/>
                </a:lnTo>
                <a:lnTo>
                  <a:pt x="278588" y="415825"/>
                </a:lnTo>
                <a:cubicBezTo>
                  <a:pt x="285176" y="415825"/>
                  <a:pt x="290518" y="421158"/>
                  <a:pt x="290518" y="427734"/>
                </a:cubicBezTo>
                <a:cubicBezTo>
                  <a:pt x="290518" y="434220"/>
                  <a:pt x="285176" y="439552"/>
                  <a:pt x="278588" y="439552"/>
                </a:cubicBezTo>
                <a:lnTo>
                  <a:pt x="154040" y="439552"/>
                </a:lnTo>
                <a:cubicBezTo>
                  <a:pt x="149232" y="439552"/>
                  <a:pt x="144870" y="436709"/>
                  <a:pt x="143001" y="432265"/>
                </a:cubicBezTo>
                <a:cubicBezTo>
                  <a:pt x="141131" y="427822"/>
                  <a:pt x="142199" y="422668"/>
                  <a:pt x="145582" y="419292"/>
                </a:cubicBezTo>
                <a:lnTo>
                  <a:pt x="226152" y="338959"/>
                </a:lnTo>
                <a:cubicBezTo>
                  <a:pt x="252236" y="312834"/>
                  <a:pt x="266659" y="278088"/>
                  <a:pt x="266659" y="241210"/>
                </a:cubicBezTo>
                <a:cubicBezTo>
                  <a:pt x="266659" y="213485"/>
                  <a:pt x="244046" y="190914"/>
                  <a:pt x="216270" y="190914"/>
                </a:cubicBezTo>
                <a:cubicBezTo>
                  <a:pt x="188493" y="190914"/>
                  <a:pt x="165880" y="213485"/>
                  <a:pt x="165880" y="241210"/>
                </a:cubicBezTo>
                <a:cubicBezTo>
                  <a:pt x="165880" y="247786"/>
                  <a:pt x="160539" y="253029"/>
                  <a:pt x="154040" y="253029"/>
                </a:cubicBezTo>
                <a:cubicBezTo>
                  <a:pt x="147452" y="253029"/>
                  <a:pt x="142110" y="247786"/>
                  <a:pt x="142110" y="241210"/>
                </a:cubicBezTo>
                <a:cubicBezTo>
                  <a:pt x="142110" y="200333"/>
                  <a:pt x="175406" y="167099"/>
                  <a:pt x="216270" y="167099"/>
                </a:cubicBezTo>
                <a:close/>
                <a:moveTo>
                  <a:pt x="522185" y="165547"/>
                </a:moveTo>
                <a:cubicBezTo>
                  <a:pt x="528772" y="165547"/>
                  <a:pt x="534111" y="170871"/>
                  <a:pt x="534111" y="177438"/>
                </a:cubicBezTo>
                <a:cubicBezTo>
                  <a:pt x="534111" y="184005"/>
                  <a:pt x="528772" y="189329"/>
                  <a:pt x="522185" y="189329"/>
                </a:cubicBezTo>
                <a:cubicBezTo>
                  <a:pt x="515598" y="189329"/>
                  <a:pt x="510259" y="184005"/>
                  <a:pt x="510259" y="177438"/>
                </a:cubicBezTo>
                <a:cubicBezTo>
                  <a:pt x="510259" y="170871"/>
                  <a:pt x="515598" y="165547"/>
                  <a:pt x="522185" y="165547"/>
                </a:cubicBezTo>
                <a:close/>
                <a:moveTo>
                  <a:pt x="85420" y="165547"/>
                </a:moveTo>
                <a:cubicBezTo>
                  <a:pt x="91987" y="165547"/>
                  <a:pt x="97311" y="170871"/>
                  <a:pt x="97311" y="177438"/>
                </a:cubicBezTo>
                <a:cubicBezTo>
                  <a:pt x="97311" y="184005"/>
                  <a:pt x="91987" y="189329"/>
                  <a:pt x="85420" y="189329"/>
                </a:cubicBezTo>
                <a:cubicBezTo>
                  <a:pt x="78853" y="189329"/>
                  <a:pt x="73529" y="184005"/>
                  <a:pt x="73529" y="177438"/>
                </a:cubicBezTo>
                <a:cubicBezTo>
                  <a:pt x="73529" y="170871"/>
                  <a:pt x="78853" y="165547"/>
                  <a:pt x="85420" y="165547"/>
                </a:cubicBezTo>
                <a:close/>
                <a:moveTo>
                  <a:pt x="429885" y="73388"/>
                </a:moveTo>
                <a:cubicBezTo>
                  <a:pt x="436472" y="73388"/>
                  <a:pt x="441811" y="78712"/>
                  <a:pt x="441811" y="85279"/>
                </a:cubicBezTo>
                <a:cubicBezTo>
                  <a:pt x="441811" y="91846"/>
                  <a:pt x="436472" y="97170"/>
                  <a:pt x="429885" y="97170"/>
                </a:cubicBezTo>
                <a:cubicBezTo>
                  <a:pt x="423298" y="97170"/>
                  <a:pt x="417959" y="91846"/>
                  <a:pt x="417959" y="85279"/>
                </a:cubicBezTo>
                <a:cubicBezTo>
                  <a:pt x="417959" y="78712"/>
                  <a:pt x="423298" y="73388"/>
                  <a:pt x="429885" y="73388"/>
                </a:cubicBezTo>
                <a:close/>
                <a:moveTo>
                  <a:pt x="177720" y="73388"/>
                </a:moveTo>
                <a:cubicBezTo>
                  <a:pt x="184287" y="73388"/>
                  <a:pt x="189611" y="78712"/>
                  <a:pt x="189611" y="85279"/>
                </a:cubicBezTo>
                <a:cubicBezTo>
                  <a:pt x="189611" y="91846"/>
                  <a:pt x="184287" y="97170"/>
                  <a:pt x="177720" y="97170"/>
                </a:cubicBezTo>
                <a:cubicBezTo>
                  <a:pt x="171153" y="97170"/>
                  <a:pt x="165829" y="91846"/>
                  <a:pt x="165829" y="85279"/>
                </a:cubicBezTo>
                <a:cubicBezTo>
                  <a:pt x="165829" y="78712"/>
                  <a:pt x="171153" y="73388"/>
                  <a:pt x="177720" y="73388"/>
                </a:cubicBezTo>
                <a:close/>
                <a:moveTo>
                  <a:pt x="303775" y="42480"/>
                </a:moveTo>
                <a:cubicBezTo>
                  <a:pt x="310366" y="42480"/>
                  <a:pt x="315710" y="47815"/>
                  <a:pt x="315710" y="54396"/>
                </a:cubicBezTo>
                <a:lnTo>
                  <a:pt x="315710" y="69869"/>
                </a:lnTo>
                <a:cubicBezTo>
                  <a:pt x="315710" y="76449"/>
                  <a:pt x="310366" y="81785"/>
                  <a:pt x="303775" y="81785"/>
                </a:cubicBezTo>
                <a:cubicBezTo>
                  <a:pt x="297184" y="81785"/>
                  <a:pt x="291929" y="76449"/>
                  <a:pt x="291929" y="69869"/>
                </a:cubicBezTo>
                <a:lnTo>
                  <a:pt x="291929" y="54396"/>
                </a:lnTo>
                <a:cubicBezTo>
                  <a:pt x="291929" y="47815"/>
                  <a:pt x="297184" y="42480"/>
                  <a:pt x="303775" y="42480"/>
                </a:cubicBezTo>
                <a:close/>
                <a:moveTo>
                  <a:pt x="303775" y="0"/>
                </a:moveTo>
                <a:cubicBezTo>
                  <a:pt x="394204" y="0"/>
                  <a:pt x="479560" y="40347"/>
                  <a:pt x="537058" y="108956"/>
                </a:cubicBezTo>
                <a:lnTo>
                  <a:pt x="537058" y="93048"/>
                </a:lnTo>
                <a:cubicBezTo>
                  <a:pt x="537058" y="86471"/>
                  <a:pt x="542309" y="81139"/>
                  <a:pt x="548895" y="81139"/>
                </a:cubicBezTo>
                <a:cubicBezTo>
                  <a:pt x="555482" y="81139"/>
                  <a:pt x="560822" y="86471"/>
                  <a:pt x="560822" y="93048"/>
                </a:cubicBezTo>
                <a:lnTo>
                  <a:pt x="560822" y="138994"/>
                </a:lnTo>
                <a:cubicBezTo>
                  <a:pt x="560822" y="145570"/>
                  <a:pt x="555482" y="150903"/>
                  <a:pt x="548895" y="150903"/>
                </a:cubicBezTo>
                <a:lnTo>
                  <a:pt x="502880" y="150903"/>
                </a:lnTo>
                <a:cubicBezTo>
                  <a:pt x="496293" y="150903"/>
                  <a:pt x="490953" y="145570"/>
                  <a:pt x="490953" y="138994"/>
                </a:cubicBezTo>
                <a:cubicBezTo>
                  <a:pt x="490953" y="132417"/>
                  <a:pt x="496293" y="127174"/>
                  <a:pt x="502880" y="127174"/>
                </a:cubicBezTo>
                <a:lnTo>
                  <a:pt x="521126" y="127174"/>
                </a:lnTo>
                <a:cubicBezTo>
                  <a:pt x="468168" y="62032"/>
                  <a:pt x="388419" y="23728"/>
                  <a:pt x="303775" y="23728"/>
                </a:cubicBezTo>
                <a:cubicBezTo>
                  <a:pt x="149440" y="23728"/>
                  <a:pt x="23764" y="149214"/>
                  <a:pt x="23764" y="303316"/>
                </a:cubicBezTo>
                <a:cubicBezTo>
                  <a:pt x="23764" y="457508"/>
                  <a:pt x="149440" y="582905"/>
                  <a:pt x="303775" y="582905"/>
                </a:cubicBezTo>
                <a:cubicBezTo>
                  <a:pt x="458199" y="582905"/>
                  <a:pt x="583786" y="457508"/>
                  <a:pt x="583786" y="303316"/>
                </a:cubicBezTo>
                <a:cubicBezTo>
                  <a:pt x="583786" y="278255"/>
                  <a:pt x="580492" y="253371"/>
                  <a:pt x="573906" y="229376"/>
                </a:cubicBezTo>
                <a:cubicBezTo>
                  <a:pt x="572126" y="223066"/>
                  <a:pt x="575864" y="216489"/>
                  <a:pt x="582273" y="214801"/>
                </a:cubicBezTo>
                <a:cubicBezTo>
                  <a:pt x="588592" y="213023"/>
                  <a:pt x="595089" y="216756"/>
                  <a:pt x="596869" y="223066"/>
                </a:cubicBezTo>
                <a:cubicBezTo>
                  <a:pt x="603990" y="249194"/>
                  <a:pt x="607639" y="276122"/>
                  <a:pt x="607639" y="303316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6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EB95789-1338-4013-A515-04F0F93F710E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</p:spTree>
    <p:extLst>
      <p:ext uri="{BB962C8B-B14F-4D97-AF65-F5344CB8AC3E}">
        <p14:creationId xmlns:p14="http://schemas.microsoft.com/office/powerpoint/2010/main" val="326388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46" grpId="0" animBg="1"/>
      <p:bldP spid="4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244230" y="0"/>
            <a:ext cx="3947770" cy="48514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02181" y="1351226"/>
            <a:ext cx="2182008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2800" b="1" dirty="0">
                <a:solidFill>
                  <a:schemeClr val="accent6"/>
                </a:solidFill>
              </a:rPr>
              <a:t>4-1 e </a:t>
            </a:r>
            <a:r>
              <a:rPr lang="zh-TW" altLang="en-US" sz="2800" b="1" dirty="0">
                <a:solidFill>
                  <a:schemeClr val="accent6"/>
                </a:solidFill>
              </a:rPr>
              <a:t>化價值</a:t>
            </a:r>
          </a:p>
        </p:txBody>
      </p:sp>
      <p:sp>
        <p:nvSpPr>
          <p:cNvPr id="47" name="矩形 46"/>
          <p:cNvSpPr/>
          <p:nvPr/>
        </p:nvSpPr>
        <p:spPr>
          <a:xfrm>
            <a:off x="1802180" y="2230883"/>
            <a:ext cx="2241319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2800" b="1" dirty="0">
                <a:solidFill>
                  <a:schemeClr val="accent6"/>
                </a:solidFill>
              </a:rPr>
              <a:t>4-2</a:t>
            </a:r>
            <a:r>
              <a:rPr lang="zh-TW" altLang="en-US" sz="2800" b="1" dirty="0">
                <a:solidFill>
                  <a:schemeClr val="accent6"/>
                </a:solidFill>
              </a:rPr>
              <a:t> 技術價值</a:t>
            </a:r>
          </a:p>
        </p:txBody>
      </p:sp>
      <p:sp>
        <p:nvSpPr>
          <p:cNvPr id="52" name="矩形 51"/>
          <p:cNvSpPr/>
          <p:nvPr/>
        </p:nvSpPr>
        <p:spPr>
          <a:xfrm>
            <a:off x="1802181" y="3110540"/>
            <a:ext cx="2241319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2800" b="1" dirty="0">
                <a:solidFill>
                  <a:schemeClr val="accent6"/>
                </a:solidFill>
              </a:rPr>
              <a:t>4-3 </a:t>
            </a:r>
            <a:r>
              <a:rPr lang="zh-TW" altLang="en-US" sz="2800" b="1" dirty="0">
                <a:solidFill>
                  <a:schemeClr val="accent6"/>
                </a:solidFill>
              </a:rPr>
              <a:t>發展價值</a:t>
            </a:r>
          </a:p>
        </p:txBody>
      </p:sp>
      <p:sp>
        <p:nvSpPr>
          <p:cNvPr id="65" name="文本框 64"/>
          <p:cNvSpPr txBox="1"/>
          <p:nvPr/>
        </p:nvSpPr>
        <p:spPr>
          <a:xfrm rot="5400000">
            <a:off x="5416355" y="2443872"/>
            <a:ext cx="353173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 b="1" dirty="0">
                <a:solidFill>
                  <a:schemeClr val="accent1"/>
                </a:solidFill>
              </a:rPr>
              <a:t>CONTENT</a:t>
            </a:r>
            <a:endParaRPr lang="zh-CN" altLang="en-US" sz="5400" b="1" dirty="0">
              <a:solidFill>
                <a:schemeClr val="accent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9A2B78-0D0D-4B36-A4E1-F03D659AB278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</p:spTree>
    <p:extLst>
      <p:ext uri="{BB962C8B-B14F-4D97-AF65-F5344CB8AC3E}">
        <p14:creationId xmlns:p14="http://schemas.microsoft.com/office/powerpoint/2010/main" val="383953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7" grpId="0"/>
      <p:bldP spid="52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F3117F42-1DCE-40A1-A609-F22DAA0E37F0}"/>
              </a:ext>
            </a:extLst>
          </p:cNvPr>
          <p:cNvGrpSpPr/>
          <p:nvPr/>
        </p:nvGrpSpPr>
        <p:grpSpPr>
          <a:xfrm>
            <a:off x="5776572" y="1578901"/>
            <a:ext cx="5593144" cy="3650360"/>
            <a:chOff x="3177308" y="2300639"/>
            <a:chExt cx="6284068" cy="4101290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8404E875-5E20-463D-87E1-21455C17A6A5}"/>
                </a:ext>
              </a:extLst>
            </p:cNvPr>
            <p:cNvGrpSpPr/>
            <p:nvPr/>
          </p:nvGrpSpPr>
          <p:grpSpPr>
            <a:xfrm>
              <a:off x="3177308" y="2300639"/>
              <a:ext cx="6284068" cy="4101290"/>
              <a:chOff x="2149786" y="1437833"/>
              <a:chExt cx="7467600" cy="4873720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53F58365-C0BF-42B4-9F92-D6520DF161FA}"/>
                  </a:ext>
                </a:extLst>
              </p:cNvPr>
              <p:cNvGrpSpPr/>
              <p:nvPr/>
            </p:nvGrpSpPr>
            <p:grpSpPr>
              <a:xfrm>
                <a:off x="3163790" y="1437833"/>
                <a:ext cx="5276451" cy="4873720"/>
                <a:chOff x="2711623" y="404664"/>
                <a:chExt cx="6984776" cy="5942272"/>
              </a:xfrm>
            </p:grpSpPr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9EC6DE08-A2AE-4AE3-B2D5-E95FBE754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711623" y="404664"/>
                  <a:ext cx="6984776" cy="5942272"/>
                </a:xfrm>
                <a:prstGeom prst="rect">
                  <a:avLst/>
                </a:prstGeom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D49C9F9-DED9-41B7-8CA3-E647DFB336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5027674" y="4499086"/>
                  <a:ext cx="2352675" cy="1847850"/>
                </a:xfrm>
                <a:prstGeom prst="rect">
                  <a:avLst/>
                </a:prstGeom>
              </p:spPr>
            </p:pic>
          </p:grp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2221E23A-70B1-41D2-B028-F644E2F96C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40937" y="2559961"/>
                <a:ext cx="2199247" cy="2775790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872E0C37-AF2C-487B-9CDA-5F99F054B5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0350" y="3525664"/>
                <a:ext cx="2767883" cy="2181854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4BA97C82-06F7-4526-B701-193E392437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5935" y="4390802"/>
                <a:ext cx="2591451" cy="1364954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C5056B36-0158-46D9-9126-F1ADC03EF9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63848" y="2855258"/>
                <a:ext cx="2097131" cy="2480493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7B682DBF-6F4E-4EA0-AD81-04F7FD83C5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49786" y="3495292"/>
                <a:ext cx="2748305" cy="2285098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BBDBAE9C-DE34-4D8C-936F-E0A0418ABE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28213" y="4518319"/>
                <a:ext cx="2591450" cy="1364953"/>
              </a:xfrm>
              <a:prstGeom prst="line">
                <a:avLst/>
              </a:prstGeom>
              <a:ln w="571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F2073EAF-2A07-4B4C-B4FE-E764C06C018D}"/>
                </a:ext>
              </a:extLst>
            </p:cNvPr>
            <p:cNvSpPr txBox="1"/>
            <p:nvPr/>
          </p:nvSpPr>
          <p:spPr>
            <a:xfrm>
              <a:off x="5671454" y="4412851"/>
              <a:ext cx="16312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管理</a:t>
              </a:r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化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4A489015-98A6-40C4-920A-6247AFF48983}"/>
                </a:ext>
              </a:extLst>
            </p:cNvPr>
            <p:cNvSpPr txBox="1"/>
            <p:nvPr/>
          </p:nvSpPr>
          <p:spPr>
            <a:xfrm>
              <a:off x="5671453" y="2497511"/>
              <a:ext cx="16759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交易</a:t>
              </a:r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化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664B602C-EEC0-4CAA-A6BC-9AC9E383E818}"/>
                </a:ext>
              </a:extLst>
            </p:cNvPr>
            <p:cNvSpPr txBox="1"/>
            <p:nvPr/>
          </p:nvSpPr>
          <p:spPr>
            <a:xfrm>
              <a:off x="5671454" y="3516052"/>
              <a:ext cx="16759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操作</a:t>
              </a:r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化</a:t>
              </a:r>
            </a:p>
          </p:txBody>
        </p: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3EA10E1-7638-4516-B61E-4B64E154AD56}"/>
              </a:ext>
            </a:extLst>
          </p:cNvPr>
          <p:cNvSpPr txBox="1"/>
          <p:nvPr/>
        </p:nvSpPr>
        <p:spPr>
          <a:xfrm>
            <a:off x="1395123" y="1852277"/>
            <a:ext cx="3932098" cy="2979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5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提高生活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化是產業亟需發展的領域，區塊鏈遵循此概念設計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化系統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5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5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創造更方便的生活價值鏈，是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</a:t>
            </a:r>
            <a:r>
              <a:rPr lang="en-US" altLang="zh-TW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化價值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的呈現</a:t>
            </a:r>
          </a:p>
        </p:txBody>
      </p:sp>
      <p:cxnSp>
        <p:nvCxnSpPr>
          <p:cNvPr id="26" name="直接连接符 33">
            <a:extLst>
              <a:ext uri="{FF2B5EF4-FFF2-40B4-BE49-F238E27FC236}">
                <a16:creationId xmlns:a16="http://schemas.microsoft.com/office/drawing/2014/main" id="{08042C65-3D7D-4C26-8CA1-7B312D733703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AF5C379-6717-4654-8F26-CB6FEDBF033A}"/>
              </a:ext>
            </a:extLst>
          </p:cNvPr>
          <p:cNvSpPr txBox="1"/>
          <p:nvPr/>
        </p:nvSpPr>
        <p:spPr>
          <a:xfrm>
            <a:off x="7344100" y="5664932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區塊鏈的 </a:t>
            </a:r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 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化價值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970006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交易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62632" y="2030097"/>
            <a:ext cx="3707816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區塊鏈的設計改變      交易的傳統固有模式，  也創造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en-US" altLang="zh-TW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的價值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31B6CCB9-D5B0-4E81-9444-30C0462423BC}"/>
              </a:ext>
            </a:extLst>
          </p:cNvPr>
          <p:cNvGrpSpPr/>
          <p:nvPr/>
        </p:nvGrpSpPr>
        <p:grpSpPr>
          <a:xfrm>
            <a:off x="6101524" y="1597002"/>
            <a:ext cx="3642984" cy="3663996"/>
            <a:chOff x="2894220" y="132213"/>
            <a:chExt cx="6603462" cy="6457326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5186487B-04F1-458A-B23D-2384EEE17F62}"/>
                </a:ext>
              </a:extLst>
            </p:cNvPr>
            <p:cNvGrpSpPr/>
            <p:nvPr/>
          </p:nvGrpSpPr>
          <p:grpSpPr>
            <a:xfrm>
              <a:off x="3511191" y="2294521"/>
              <a:ext cx="1545510" cy="2430623"/>
              <a:chOff x="9234250" y="828042"/>
              <a:chExt cx="2028825" cy="4930698"/>
            </a:xfrm>
          </p:grpSpPr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3A28FF8F-4902-4189-9DE4-5EFC4D307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319744" y="1681273"/>
                <a:ext cx="962025" cy="1076325"/>
              </a:xfrm>
              <a:prstGeom prst="rect">
                <a:avLst/>
              </a:prstGeom>
            </p:spPr>
          </p:pic>
          <p:pic>
            <p:nvPicPr>
              <p:cNvPr id="29" name="圖片 28">
                <a:extLst>
                  <a:ext uri="{FF2B5EF4-FFF2-40B4-BE49-F238E27FC236}">
                    <a16:creationId xmlns:a16="http://schemas.microsoft.com/office/drawing/2014/main" id="{16B7D993-E5FA-497A-95C5-C5ED83022F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750292" y="828042"/>
                <a:ext cx="962025" cy="1076325"/>
              </a:xfrm>
              <a:prstGeom prst="rect">
                <a:avLst/>
              </a:prstGeom>
            </p:spPr>
          </p:pic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2746362B-287B-435F-869A-4923567949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173745" y="1602398"/>
                <a:ext cx="962025" cy="1076325"/>
              </a:xfrm>
              <a:prstGeom prst="rect">
                <a:avLst/>
              </a:prstGeom>
            </p:spPr>
          </p:pic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881BEF0D-986F-400B-B419-EB8BEC728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234250" y="2627450"/>
                <a:ext cx="2028825" cy="1905000"/>
              </a:xfrm>
              <a:prstGeom prst="rect">
                <a:avLst/>
              </a:prstGeom>
            </p:spPr>
          </p:pic>
          <p:pic>
            <p:nvPicPr>
              <p:cNvPr id="32" name="圖片 31">
                <a:extLst>
                  <a:ext uri="{FF2B5EF4-FFF2-40B4-BE49-F238E27FC236}">
                    <a16:creationId xmlns:a16="http://schemas.microsoft.com/office/drawing/2014/main" id="{DB2B42EF-C3DE-4164-B631-5882BD8C2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20789905">
                <a:off x="9562256" y="4336984"/>
                <a:ext cx="1477633" cy="1421756"/>
              </a:xfrm>
              <a:prstGeom prst="rect">
                <a:avLst/>
              </a:prstGeom>
            </p:spPr>
          </p:pic>
        </p:grp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32118E6E-2BCE-45E8-99EB-921527258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6186" y="3070484"/>
              <a:ext cx="1632964" cy="1848727"/>
            </a:xfrm>
            <a:prstGeom prst="rect">
              <a:avLst/>
            </a:prstGeom>
          </p:spPr>
        </p:pic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E7BEE851-7A7B-4F71-8DDE-4DE5E8419F9C}"/>
                </a:ext>
              </a:extLst>
            </p:cNvPr>
            <p:cNvGrpSpPr/>
            <p:nvPr/>
          </p:nvGrpSpPr>
          <p:grpSpPr>
            <a:xfrm>
              <a:off x="5544464" y="387581"/>
              <a:ext cx="1651506" cy="1791556"/>
              <a:chOff x="1099236" y="1112197"/>
              <a:chExt cx="1080120" cy="1327489"/>
            </a:xfrm>
          </p:grpSpPr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75E69240-6505-4117-9922-156743222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99236" y="1112197"/>
                <a:ext cx="1080120" cy="989355"/>
              </a:xfrm>
              <a:prstGeom prst="rect">
                <a:avLst/>
              </a:prstGeom>
            </p:spPr>
          </p:pic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09CFAA49-A443-4CEC-90F6-3EF02C925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480932" y="2101552"/>
                <a:ext cx="316727" cy="338134"/>
              </a:xfrm>
              <a:prstGeom prst="rect">
                <a:avLst/>
              </a:prstGeom>
            </p:spPr>
          </p:pic>
        </p:grp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1B1C8BE3-48EC-4D6E-AF61-B96C057CE72D}"/>
                </a:ext>
              </a:extLst>
            </p:cNvPr>
            <p:cNvSpPr/>
            <p:nvPr/>
          </p:nvSpPr>
          <p:spPr>
            <a:xfrm>
              <a:off x="2894220" y="132213"/>
              <a:ext cx="6603462" cy="6457326"/>
            </a:xfrm>
            <a:prstGeom prst="flowChartConnector">
              <a:avLst/>
            </a:prstGeom>
            <a:noFill/>
            <a:ln w="190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流程圖: 接點 38">
              <a:extLst>
                <a:ext uri="{FF2B5EF4-FFF2-40B4-BE49-F238E27FC236}">
                  <a16:creationId xmlns:a16="http://schemas.microsoft.com/office/drawing/2014/main" id="{1B9A9E4A-793B-448C-BE94-B3A3051B4709}"/>
                </a:ext>
              </a:extLst>
            </p:cNvPr>
            <p:cNvSpPr/>
            <p:nvPr/>
          </p:nvSpPr>
          <p:spPr>
            <a:xfrm>
              <a:off x="5663952" y="2852936"/>
              <a:ext cx="1368152" cy="1368152"/>
            </a:xfrm>
            <a:prstGeom prst="flowChartConnector">
              <a:avLst/>
            </a:prstGeom>
            <a:noFill/>
            <a:ln w="158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0C8BA2BC-6629-4F3D-BABB-11611E111E1C}"/>
                </a:ext>
              </a:extLst>
            </p:cNvPr>
            <p:cNvCxnSpPr>
              <a:stCxn id="39" idx="0"/>
            </p:cNvCxnSpPr>
            <p:nvPr/>
          </p:nvCxnSpPr>
          <p:spPr>
            <a:xfrm>
              <a:off x="6348028" y="2852936"/>
              <a:ext cx="3132348" cy="8439"/>
            </a:xfrm>
            <a:prstGeom prst="line">
              <a:avLst/>
            </a:prstGeom>
            <a:ln w="1587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67E7E8EE-B4C5-4F03-A8F3-994E399B9239}"/>
                </a:ext>
              </a:extLst>
            </p:cNvPr>
            <p:cNvCxnSpPr/>
            <p:nvPr/>
          </p:nvCxnSpPr>
          <p:spPr>
            <a:xfrm>
              <a:off x="3972077" y="895487"/>
              <a:ext cx="1691875" cy="2798069"/>
            </a:xfrm>
            <a:prstGeom prst="line">
              <a:avLst/>
            </a:prstGeom>
            <a:ln w="1587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89497F00-2AC4-4FF4-A437-619326134559}"/>
                </a:ext>
              </a:extLst>
            </p:cNvPr>
            <p:cNvCxnSpPr>
              <a:endCxn id="39" idx="5"/>
            </p:cNvCxnSpPr>
            <p:nvPr/>
          </p:nvCxnSpPr>
          <p:spPr>
            <a:xfrm flipV="1">
              <a:off x="5015880" y="4020727"/>
              <a:ext cx="1815863" cy="2274384"/>
            </a:xfrm>
            <a:prstGeom prst="line">
              <a:avLst/>
            </a:prstGeom>
            <a:ln w="1587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8FE10A8-EA45-4B2C-A682-5A19CEFF0E7C}"/>
                </a:ext>
              </a:extLst>
            </p:cNvPr>
            <p:cNvSpPr txBox="1"/>
            <p:nvPr/>
          </p:nvSpPr>
          <p:spPr>
            <a:xfrm>
              <a:off x="5837959" y="2142243"/>
              <a:ext cx="1358010" cy="705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 Unicode MS" panose="020B0604020202020204" pitchFamily="34" charset="-120"/>
                </a:rPr>
                <a:t>省力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159E8D7-11DD-47B1-ADEA-99563C59493A}"/>
                </a:ext>
              </a:extLst>
            </p:cNvPr>
            <p:cNvSpPr txBox="1"/>
            <p:nvPr/>
          </p:nvSpPr>
          <p:spPr>
            <a:xfrm>
              <a:off x="3790894" y="4818383"/>
              <a:ext cx="1262818" cy="705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 Unicode MS" panose="020B0604020202020204" pitchFamily="34" charset="-120"/>
                </a:rPr>
                <a:t>省錢</a:t>
              </a: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2A570018-D8D2-4D93-B535-DB03BB8041D1}"/>
                </a:ext>
              </a:extLst>
            </p:cNvPr>
            <p:cNvSpPr txBox="1"/>
            <p:nvPr/>
          </p:nvSpPr>
          <p:spPr>
            <a:xfrm>
              <a:off x="7155908" y="4876955"/>
              <a:ext cx="1413840" cy="705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 Unicode MS" panose="020B0604020202020204" pitchFamily="34" charset="-120"/>
                </a:rPr>
                <a:t>省時</a:t>
              </a:r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E9C282-8D76-4734-89D1-56B4F66E92CE}"/>
              </a:ext>
            </a:extLst>
          </p:cNvPr>
          <p:cNvSpPr txBox="1"/>
          <p:nvPr/>
        </p:nvSpPr>
        <p:spPr>
          <a:xfrm>
            <a:off x="6285214" y="5734169"/>
            <a:ext cx="343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區塊鏈之交易</a:t>
            </a:r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 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化的價值特性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圖片 46" descr="一張含有 運輸 的圖片&#10;&#10;描述是以高可信度產生">
            <a:extLst>
              <a:ext uri="{FF2B5EF4-FFF2-40B4-BE49-F238E27FC236}">
                <a16:creationId xmlns:a16="http://schemas.microsoft.com/office/drawing/2014/main" id="{AA51EF2B-5612-4D18-B5FF-3C4A11A321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8018"/>
            <a:ext cx="1837802" cy="183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3978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交易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3" name="Oval 6">
            <a:extLst>
              <a:ext uri="{FF2B5EF4-FFF2-40B4-BE49-F238E27FC236}">
                <a16:creationId xmlns:a16="http://schemas.microsoft.com/office/drawing/2014/main" id="{C8C78900-3F07-475A-B26D-2248DE848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778" y="2762745"/>
            <a:ext cx="1806575" cy="1804988"/>
          </a:xfrm>
          <a:prstGeom prst="ellipse">
            <a:avLst/>
          </a:prstGeom>
          <a:solidFill>
            <a:srgbClr val="DADA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AE49CBB6-8F0B-4A28-8240-DFCD43E0D319}"/>
              </a:ext>
            </a:extLst>
          </p:cNvPr>
          <p:cNvSpPr>
            <a:spLocks/>
          </p:cNvSpPr>
          <p:nvPr/>
        </p:nvSpPr>
        <p:spPr bwMode="auto">
          <a:xfrm>
            <a:off x="6623566" y="1587995"/>
            <a:ext cx="1292225" cy="4079875"/>
          </a:xfrm>
          <a:custGeom>
            <a:avLst/>
            <a:gdLst>
              <a:gd name="T0" fmla="*/ 1292225 w 1750"/>
              <a:gd name="T1" fmla="*/ 200783 h 5527"/>
              <a:gd name="T2" fmla="*/ 231862 w 1750"/>
              <a:gd name="T3" fmla="*/ 2050641 h 5527"/>
              <a:gd name="T4" fmla="*/ 1254566 w 1750"/>
              <a:gd name="T5" fmla="*/ 3878354 h 5527"/>
              <a:gd name="T6" fmla="*/ 1138635 w 1750"/>
              <a:gd name="T7" fmla="*/ 4079875 h 5527"/>
              <a:gd name="T8" fmla="*/ 0 w 1750"/>
              <a:gd name="T9" fmla="*/ 2050641 h 5527"/>
              <a:gd name="T10" fmla="*/ 1176294 w 1750"/>
              <a:gd name="T11" fmla="*/ 0 h 5527"/>
              <a:gd name="T12" fmla="*/ 1292225 w 1750"/>
              <a:gd name="T13" fmla="*/ 200783 h 55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0" h="5527">
                <a:moveTo>
                  <a:pt x="1750" y="272"/>
                </a:moveTo>
                <a:cubicBezTo>
                  <a:pt x="891" y="777"/>
                  <a:pt x="314" y="1710"/>
                  <a:pt x="314" y="2778"/>
                </a:cubicBezTo>
                <a:cubicBezTo>
                  <a:pt x="314" y="3825"/>
                  <a:pt x="868" y="4743"/>
                  <a:pt x="1699" y="5254"/>
                </a:cubicBezTo>
                <a:lnTo>
                  <a:pt x="1542" y="5527"/>
                </a:lnTo>
                <a:cubicBezTo>
                  <a:pt x="617" y="4961"/>
                  <a:pt x="0" y="3942"/>
                  <a:pt x="0" y="2778"/>
                </a:cubicBezTo>
                <a:cubicBezTo>
                  <a:pt x="0" y="1594"/>
                  <a:pt x="640" y="559"/>
                  <a:pt x="1593" y="0"/>
                </a:cubicBezTo>
                <a:lnTo>
                  <a:pt x="1750" y="272"/>
                </a:lnTo>
                <a:close/>
              </a:path>
            </a:pathLst>
          </a:custGeom>
          <a:solidFill>
            <a:srgbClr val="B5B5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Oval 8">
            <a:extLst>
              <a:ext uri="{FF2B5EF4-FFF2-40B4-BE49-F238E27FC236}">
                <a16:creationId xmlns:a16="http://schemas.microsoft.com/office/drawing/2014/main" id="{B0C098E2-E5DC-4CB1-950D-5BD5541F9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616" y="1149845"/>
            <a:ext cx="1219200" cy="1220788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" name="Oval 9">
            <a:extLst>
              <a:ext uri="{FF2B5EF4-FFF2-40B4-BE49-F238E27FC236}">
                <a16:creationId xmlns:a16="http://schemas.microsoft.com/office/drawing/2014/main" id="{1DCE979D-E428-435E-8DBB-541B0336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316" y="3008808"/>
            <a:ext cx="1220787" cy="12192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" name="Oval 10">
            <a:extLst>
              <a:ext uri="{FF2B5EF4-FFF2-40B4-BE49-F238E27FC236}">
                <a16:creationId xmlns:a16="http://schemas.microsoft.com/office/drawing/2014/main" id="{C1DC651F-0194-43AE-BF01-FD1C850CB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441" y="4810620"/>
            <a:ext cx="1220787" cy="12192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" name="Line 11">
            <a:extLst>
              <a:ext uri="{FF2B5EF4-FFF2-40B4-BE49-F238E27FC236}">
                <a16:creationId xmlns:a16="http://schemas.microsoft.com/office/drawing/2014/main" id="{D1DDFB8C-5E8F-4F2F-ACAA-DA451B05A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2341" y="2081708"/>
            <a:ext cx="1255712" cy="901700"/>
          </a:xfrm>
          <a:prstGeom prst="line">
            <a:avLst/>
          </a:prstGeom>
          <a:noFill/>
          <a:ln w="12700">
            <a:solidFill>
              <a:srgbClr val="2E2C2C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12">
            <a:extLst>
              <a:ext uri="{FF2B5EF4-FFF2-40B4-BE49-F238E27FC236}">
                <a16:creationId xmlns:a16="http://schemas.microsoft.com/office/drawing/2014/main" id="{234EE5CA-B05D-47C1-BA2A-4C9C1363CF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4891" y="4388345"/>
            <a:ext cx="1200150" cy="709613"/>
          </a:xfrm>
          <a:prstGeom prst="line">
            <a:avLst/>
          </a:prstGeom>
          <a:noFill/>
          <a:ln w="12700">
            <a:solidFill>
              <a:srgbClr val="2E2C2C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4AD2085-65CC-462A-B835-D141E6410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366" y="3615233"/>
            <a:ext cx="1670050" cy="0"/>
          </a:xfrm>
          <a:prstGeom prst="line">
            <a:avLst/>
          </a:prstGeom>
          <a:noFill/>
          <a:ln w="12700">
            <a:solidFill>
              <a:srgbClr val="2E2C2C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Oval 14">
            <a:extLst>
              <a:ext uri="{FF2B5EF4-FFF2-40B4-BE49-F238E27FC236}">
                <a16:creationId xmlns:a16="http://schemas.microsoft.com/office/drawing/2014/main" id="{A8312044-903C-47BD-A4F2-B1C92E88B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0266" y="2851645"/>
            <a:ext cx="1625600" cy="1625600"/>
          </a:xfrm>
          <a:prstGeom prst="ellipse">
            <a:avLst/>
          </a:prstGeom>
          <a:solidFill>
            <a:schemeClr val="tx2"/>
          </a:solidFill>
          <a:ln>
            <a:noFill/>
          </a:ln>
          <a:extLst/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54667E"/>
              </a:solidFill>
              <a:ea typeface="宋体" panose="02010600030101010101" pitchFamily="2" charset="-122"/>
            </a:endParaRP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7C009313-A5D6-46B3-8A8C-CFCC9D885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075" y="1514560"/>
            <a:ext cx="8965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4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省時</a:t>
            </a:r>
            <a:endParaRPr lang="en-US" altLang="zh-CN" sz="24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42440FB3-59CE-4186-B669-3612F820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9379" y="3370448"/>
            <a:ext cx="898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4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省力</a:t>
            </a:r>
            <a:endParaRPr lang="en-US" altLang="zh-CN" sz="24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A0BC59B5-01B7-4F9A-9C88-2248913DD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7441" y="5206205"/>
            <a:ext cx="865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4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省錢</a:t>
            </a:r>
            <a:endParaRPr lang="en-US" altLang="zh-CN" sz="24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F29B460D-027D-406A-98CB-07D85E764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5041" y="3270378"/>
            <a:ext cx="141562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價值特性</a:t>
            </a:r>
            <a:endParaRPr lang="en-US" altLang="zh-CN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20">
            <a:extLst>
              <a:ext uri="{FF2B5EF4-FFF2-40B4-BE49-F238E27FC236}">
                <a16:creationId xmlns:a16="http://schemas.microsoft.com/office/drawing/2014/main" id="{DA635E13-D84A-468E-87B0-D4EC9470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154" y="1329854"/>
            <a:ext cx="4971137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透明化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endParaRPr lang="en-US" altLang="zh-CN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更好的權衡指標，建立對事物的信任度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節省認證時間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21">
            <a:extLst>
              <a:ext uri="{FF2B5EF4-FFF2-40B4-BE49-F238E27FC236}">
                <a16:creationId xmlns:a16="http://schemas.microsoft.com/office/drawing/2014/main" id="{22FA62CF-E39E-4CBE-8F8E-01C927420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746" y="2866769"/>
            <a:ext cx="4559695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透過網路連線讓交易的加密資料自動存入多台電腦並相互驗證，降低人為偽造文書與內容出錯之機率。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endParaRPr lang="zh-TW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ct val="0"/>
              </a:spcBef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提升整體人力資源的管理效率。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22">
            <a:extLst>
              <a:ext uri="{FF2B5EF4-FFF2-40B4-BE49-F238E27FC236}">
                <a16:creationId xmlns:a16="http://schemas.microsoft.com/office/drawing/2014/main" id="{31217380-4F32-4EC2-85F5-E0E35099B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746" y="4652088"/>
            <a:ext cx="5430471" cy="16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區塊鏈的機制是安全、透明、高效率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>
              <a:buFont typeface="微軟正黑體" panose="020B0604030504040204" pitchFamily="34" charset="-120"/>
              <a:buChar char="→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降低交易成本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>
              <a:buFont typeface="微軟正黑體" panose="020B0604030504040204" pitchFamily="34" charset="-120"/>
              <a:buChar char="→"/>
            </a:pPr>
            <a:endParaRPr lang="en-US" altLang="zh-TW" sz="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使投入在清算過程的資本減少，可活絡運用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71500" indent="-285750">
              <a:buFont typeface="微軟正黑體" panose="020B0604030504040204" pitchFamily="34" charset="-120"/>
              <a:buChar char="→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產生經濟收益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形 9" descr="團隊">
            <a:extLst>
              <a:ext uri="{FF2B5EF4-FFF2-40B4-BE49-F238E27FC236}">
                <a16:creationId xmlns:a16="http://schemas.microsoft.com/office/drawing/2014/main" id="{C50E54AE-9069-4BC2-BF36-CFF02818A7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6919" y="3313342"/>
            <a:ext cx="615822" cy="615822"/>
          </a:xfrm>
          <a:prstGeom prst="rect">
            <a:avLst/>
          </a:prstGeom>
        </p:spPr>
      </p:pic>
      <p:pic>
        <p:nvPicPr>
          <p:cNvPr id="16" name="圖形 15" descr="碼錶">
            <a:extLst>
              <a:ext uri="{FF2B5EF4-FFF2-40B4-BE49-F238E27FC236}">
                <a16:creationId xmlns:a16="http://schemas.microsoft.com/office/drawing/2014/main" id="{8D5D39F3-A391-42BE-B33F-33FBC5AA28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3727" y="1405823"/>
            <a:ext cx="690513" cy="690513"/>
          </a:xfrm>
          <a:prstGeom prst="rect">
            <a:avLst/>
          </a:prstGeom>
        </p:spPr>
      </p:pic>
      <p:pic>
        <p:nvPicPr>
          <p:cNvPr id="18" name="圖形 17" descr="硬幣">
            <a:extLst>
              <a:ext uri="{FF2B5EF4-FFF2-40B4-BE49-F238E27FC236}">
                <a16:creationId xmlns:a16="http://schemas.microsoft.com/office/drawing/2014/main" id="{81A99D5E-86D3-486F-9886-648ED2A3089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83" y="5058786"/>
            <a:ext cx="756501" cy="756501"/>
          </a:xfrm>
          <a:prstGeom prst="rect">
            <a:avLst/>
          </a:prstGeom>
        </p:spPr>
      </p:pic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2E54F598-4663-485D-B65C-0EF0564696FA}"/>
              </a:ext>
            </a:extLst>
          </p:cNvPr>
          <p:cNvCxnSpPr/>
          <p:nvPr/>
        </p:nvCxnSpPr>
        <p:spPr>
          <a:xfrm>
            <a:off x="1395167" y="2686639"/>
            <a:ext cx="4752149" cy="0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DEE759B5-408A-4C11-ACE6-A1DCC322C075}"/>
              </a:ext>
            </a:extLst>
          </p:cNvPr>
          <p:cNvCxnSpPr/>
          <p:nvPr/>
        </p:nvCxnSpPr>
        <p:spPr>
          <a:xfrm>
            <a:off x="1395167" y="4478816"/>
            <a:ext cx="4752149" cy="0"/>
          </a:xfrm>
          <a:prstGeom prst="line">
            <a:avLst/>
          </a:prstGeom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33">
            <a:extLst>
              <a:ext uri="{FF2B5EF4-FFF2-40B4-BE49-F238E27FC236}">
                <a16:creationId xmlns:a16="http://schemas.microsoft.com/office/drawing/2014/main" id="{9660BCA3-0AFE-486A-8E14-614B5944918C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0655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000"/>
                            </p:stCondLst>
                            <p:childTnLst>
                              <p:par>
                                <p:cTn id="9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/>
      <p:bldP spid="33" grpId="0" animBg="1" autoUpdateAnimBg="0"/>
      <p:bldP spid="46" grpId="0" animBg="1"/>
      <p:bldP spid="47" grpId="0" animBg="1" autoUpdateAnimBg="0"/>
      <p:bldP spid="48" grpId="0" animBg="1" autoUpdateAnimBg="0"/>
      <p:bldP spid="49" grpId="0" animBg="1" autoUpdateAnimBg="0"/>
      <p:bldP spid="50" grpId="0" animBg="1"/>
      <p:bldP spid="51" grpId="0" animBg="1"/>
      <p:bldP spid="52" grpId="0" animBg="1"/>
      <p:bldP spid="53" grpId="0" animBg="1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59" grpId="0" autoUpdateAnimBg="0"/>
      <p:bldP spid="6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操作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58752" y="1809831"/>
            <a:ext cx="4332288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區塊鏈的平台設計將傳統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交易操作平台模式進行改造，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導入更人性化的介面，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創造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r>
              <a:rPr lang="en-US" altLang="zh-TW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的區塊鏈價值。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E9C282-8D76-4734-89D1-56B4F66E92CE}"/>
              </a:ext>
            </a:extLst>
          </p:cNvPr>
          <p:cNvSpPr txBox="1"/>
          <p:nvPr/>
        </p:nvSpPr>
        <p:spPr>
          <a:xfrm>
            <a:off x="7157939" y="5897962"/>
            <a:ext cx="343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區塊鏈之操作</a:t>
            </a:r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 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化的價值特性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49C5EE0-8AFE-42FF-938B-C034EC23F06D}"/>
              </a:ext>
            </a:extLst>
          </p:cNvPr>
          <p:cNvGrpSpPr/>
          <p:nvPr/>
        </p:nvGrpSpPr>
        <p:grpSpPr>
          <a:xfrm>
            <a:off x="6495831" y="1437933"/>
            <a:ext cx="4641235" cy="4328226"/>
            <a:chOff x="3376381" y="378869"/>
            <a:chExt cx="6897347" cy="6432186"/>
          </a:xfrm>
        </p:grpSpPr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B59FB516-D23F-4681-A895-2A83E0474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570805" y="2988030"/>
              <a:ext cx="2592288" cy="3823025"/>
            </a:xfrm>
            <a:prstGeom prst="rect">
              <a:avLst/>
            </a:prstGeom>
          </p:spPr>
        </p:pic>
        <p:sp>
          <p:nvSpPr>
            <p:cNvPr id="46" name="流程圖: 接點 45">
              <a:extLst>
                <a:ext uri="{FF2B5EF4-FFF2-40B4-BE49-F238E27FC236}">
                  <a16:creationId xmlns:a16="http://schemas.microsoft.com/office/drawing/2014/main" id="{08949162-E806-472E-85CE-75515660D664}"/>
                </a:ext>
              </a:extLst>
            </p:cNvPr>
            <p:cNvSpPr/>
            <p:nvPr/>
          </p:nvSpPr>
          <p:spPr>
            <a:xfrm>
              <a:off x="3397031" y="1526152"/>
              <a:ext cx="1745427" cy="1728192"/>
            </a:xfrm>
            <a:prstGeom prst="flowChartConnector">
              <a:avLst/>
            </a:prstGeom>
            <a:solidFill>
              <a:srgbClr val="546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9689EF50-226E-4635-BEC5-FD2BEA813326}"/>
                </a:ext>
              </a:extLst>
            </p:cNvPr>
            <p:cNvSpPr txBox="1"/>
            <p:nvPr/>
          </p:nvSpPr>
          <p:spPr>
            <a:xfrm>
              <a:off x="3376381" y="2107062"/>
              <a:ext cx="1967921" cy="59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快速便捷</a:t>
              </a:r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5B55443A-AAD5-472D-8EDB-DCDED7912213}"/>
                </a:ext>
              </a:extLst>
            </p:cNvPr>
            <p:cNvSpPr/>
            <p:nvPr/>
          </p:nvSpPr>
          <p:spPr>
            <a:xfrm>
              <a:off x="4968627" y="378869"/>
              <a:ext cx="2880320" cy="1728192"/>
            </a:xfrm>
            <a:prstGeom prst="flowChartConnector">
              <a:avLst/>
            </a:prstGeom>
            <a:solidFill>
              <a:srgbClr val="546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流程圖: 接點 48">
              <a:extLst>
                <a:ext uri="{FF2B5EF4-FFF2-40B4-BE49-F238E27FC236}">
                  <a16:creationId xmlns:a16="http://schemas.microsoft.com/office/drawing/2014/main" id="{A4F5179E-3C45-4443-B647-CE3019A57923}"/>
                </a:ext>
              </a:extLst>
            </p:cNvPr>
            <p:cNvSpPr/>
            <p:nvPr/>
          </p:nvSpPr>
          <p:spPr>
            <a:xfrm>
              <a:off x="8472264" y="764704"/>
              <a:ext cx="1745427" cy="2223051"/>
            </a:xfrm>
            <a:prstGeom prst="flowChartConnector">
              <a:avLst/>
            </a:prstGeom>
            <a:solidFill>
              <a:srgbClr val="5466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1A3BB600-6AA5-46D6-8ED3-C65B3C3B066E}"/>
                </a:ext>
              </a:extLst>
            </p:cNvPr>
            <p:cNvSpPr txBox="1"/>
            <p:nvPr/>
          </p:nvSpPr>
          <p:spPr>
            <a:xfrm>
              <a:off x="5438993" y="931547"/>
              <a:ext cx="1939587" cy="59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簡單易懂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1C15553B-196C-4588-8656-D021AC74F97E}"/>
                </a:ext>
              </a:extLst>
            </p:cNvPr>
            <p:cNvSpPr txBox="1"/>
            <p:nvPr/>
          </p:nvSpPr>
          <p:spPr>
            <a:xfrm>
              <a:off x="8489499" y="1575884"/>
              <a:ext cx="1784229" cy="59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跨域處理</a:t>
              </a: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A9A29F73-93D5-48CC-BEAF-EFE5962FE667}"/>
                </a:ext>
              </a:extLst>
            </p:cNvPr>
            <p:cNvCxnSpPr/>
            <p:nvPr/>
          </p:nvCxnSpPr>
          <p:spPr>
            <a:xfrm>
              <a:off x="5386331" y="2792157"/>
              <a:ext cx="1285733" cy="1212907"/>
            </a:xfrm>
            <a:prstGeom prst="line">
              <a:avLst/>
            </a:prstGeom>
            <a:ln w="6350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接连接符 33">
            <a:extLst>
              <a:ext uri="{FF2B5EF4-FFF2-40B4-BE49-F238E27FC236}">
                <a16:creationId xmlns:a16="http://schemas.microsoft.com/office/drawing/2014/main" id="{ED7EB8CE-7E1F-4008-9D0F-98063A1ECAD6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62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/>
      <p:bldP spid="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操作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cxnSp>
        <p:nvCxnSpPr>
          <p:cNvPr id="17" name="直接连接符 4">
            <a:extLst>
              <a:ext uri="{FF2B5EF4-FFF2-40B4-BE49-F238E27FC236}">
                <a16:creationId xmlns:a16="http://schemas.microsoft.com/office/drawing/2014/main" id="{E4DD8CD7-6086-436D-A9BE-0DC2960441D4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2815877" y="2500925"/>
            <a:ext cx="9339179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">
            <a:extLst>
              <a:ext uri="{FF2B5EF4-FFF2-40B4-BE49-F238E27FC236}">
                <a16:creationId xmlns:a16="http://schemas.microsoft.com/office/drawing/2014/main" id="{CADC1E51-CF59-4DE6-B36A-14A39F8656FB}"/>
              </a:ext>
            </a:extLst>
          </p:cNvPr>
          <p:cNvSpPr/>
          <p:nvPr/>
        </p:nvSpPr>
        <p:spPr>
          <a:xfrm>
            <a:off x="807637" y="1496805"/>
            <a:ext cx="2008240" cy="200824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價值特性</a:t>
            </a:r>
            <a:endParaRPr lang="zh-CN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椭圆 5">
            <a:extLst>
              <a:ext uri="{FF2B5EF4-FFF2-40B4-BE49-F238E27FC236}">
                <a16:creationId xmlns:a16="http://schemas.microsoft.com/office/drawing/2014/main" id="{0CA8E180-DB0E-4ADC-821D-E62382DE6BD2}"/>
              </a:ext>
            </a:extLst>
          </p:cNvPr>
          <p:cNvSpPr/>
          <p:nvPr/>
        </p:nvSpPr>
        <p:spPr>
          <a:xfrm>
            <a:off x="4145155" y="1764172"/>
            <a:ext cx="993216" cy="993216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簡單易懂</a:t>
            </a: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椭圆 6">
            <a:extLst>
              <a:ext uri="{FF2B5EF4-FFF2-40B4-BE49-F238E27FC236}">
                <a16:creationId xmlns:a16="http://schemas.microsoft.com/office/drawing/2014/main" id="{B65F53CE-D95C-4C8A-BC31-71CBEB36963F}"/>
              </a:ext>
            </a:extLst>
          </p:cNvPr>
          <p:cNvSpPr/>
          <p:nvPr/>
        </p:nvSpPr>
        <p:spPr>
          <a:xfrm>
            <a:off x="6988859" y="1764172"/>
            <a:ext cx="993216" cy="99321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快速便捷</a:t>
            </a: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椭圆 7">
            <a:extLst>
              <a:ext uri="{FF2B5EF4-FFF2-40B4-BE49-F238E27FC236}">
                <a16:creationId xmlns:a16="http://schemas.microsoft.com/office/drawing/2014/main" id="{D2F293B6-25C9-410D-911B-5CC4A3BA9777}"/>
              </a:ext>
            </a:extLst>
          </p:cNvPr>
          <p:cNvSpPr/>
          <p:nvPr/>
        </p:nvSpPr>
        <p:spPr>
          <a:xfrm>
            <a:off x="9832562" y="1764172"/>
            <a:ext cx="993216" cy="993216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跨域處理</a:t>
            </a:r>
            <a:endParaRPr lang="zh-CN" altLang="en-US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A72258-BED9-46E1-92CC-E3A2972C65C1}"/>
              </a:ext>
            </a:extLst>
          </p:cNvPr>
          <p:cNvSpPr/>
          <p:nvPr/>
        </p:nvSpPr>
        <p:spPr>
          <a:xfrm>
            <a:off x="3289426" y="2902951"/>
            <a:ext cx="2487146" cy="187192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未來人類的生產與生活方式將以開放型和網路型為導向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區塊鏈原理與應用系統容易了解使用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99217F-81C5-4DD1-A4BB-27B1F11C9750}"/>
              </a:ext>
            </a:extLst>
          </p:cNvPr>
          <p:cNvSpPr/>
          <p:nvPr/>
        </p:nvSpPr>
        <p:spPr>
          <a:xfrm>
            <a:off x="5914282" y="2899314"/>
            <a:ext cx="2802727" cy="301685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未來電子虛擬貨幣基於密碼學的設計，確保貨幣所有權與交易匿名性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貨幣的形式將更加虛擬化，出現只以電子信號形式的電子貨幣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執行操作</a:t>
            </a:r>
            <a:r>
              <a:rPr lang="en-US" altLang="zh-TW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 </a:t>
            </a: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化，可提升交易速度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8B852C-CB56-478D-BC1D-741F868F3D2D}"/>
              </a:ext>
            </a:extLst>
          </p:cNvPr>
          <p:cNvSpPr/>
          <p:nvPr/>
        </p:nvSpPr>
        <p:spPr>
          <a:xfrm>
            <a:off x="8987366" y="2890429"/>
            <a:ext cx="3075328" cy="382938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透過智慧合約提升效率、降低成本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實現交易所自動化交易結算，提高交易速度，降低成本，減少營運風險和人為錯誤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endParaRPr lang="en-US" altLang="zh-TW" sz="8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因保密和不可更改的特性，適用於證券登記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20000"/>
              </a:lnSpc>
              <a:buBlip>
                <a:blip r:embed="rId3"/>
              </a:buBlip>
            </a:pPr>
            <a:r>
              <a:rPr lang="zh-TW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節省不同地區交易時間與成本，服務範圍更廣泛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6" name="直接连接符 33">
            <a:extLst>
              <a:ext uri="{FF2B5EF4-FFF2-40B4-BE49-F238E27FC236}">
                <a16:creationId xmlns:a16="http://schemas.microsoft.com/office/drawing/2014/main" id="{862A0EA9-7A7D-41A9-B52F-E1C26D1EC842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圖片 21">
            <a:extLst>
              <a:ext uri="{FF2B5EF4-FFF2-40B4-BE49-F238E27FC236}">
                <a16:creationId xmlns:a16="http://schemas.microsoft.com/office/drawing/2014/main" id="{4B131132-3310-454A-BBF5-785C613A3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2464"/>
            <a:ext cx="2310068" cy="231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0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5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/>
      <p:bldP spid="18" grpId="0" animBg="1"/>
      <p:bldP spid="19" grpId="0" animBg="1"/>
      <p:bldP spid="20" grpId="0" animBg="1"/>
      <p:bldP spid="21" grpId="0" animBg="1"/>
      <p:bldP spid="27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-3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管理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304843" y="1836112"/>
            <a:ext cx="5830340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區塊鏈的管理模式改變了中心化的作法，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採用創新的相互信任的機制，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打破傳統的思維，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創造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en-US" altLang="zh-TW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的價值。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E9C282-8D76-4734-89D1-56B4F66E92CE}"/>
              </a:ext>
            </a:extLst>
          </p:cNvPr>
          <p:cNvSpPr txBox="1"/>
          <p:nvPr/>
        </p:nvSpPr>
        <p:spPr>
          <a:xfrm>
            <a:off x="7660716" y="5992585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區塊鏈之管理 </a:t>
            </a:r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 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化的價值特性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7" name="資料庫圖表 16">
            <a:extLst>
              <a:ext uri="{FF2B5EF4-FFF2-40B4-BE49-F238E27FC236}">
                <a16:creationId xmlns:a16="http://schemas.microsoft.com/office/drawing/2014/main" id="{F77ED8D6-B17C-418E-AE42-F48D15A85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155266"/>
              </p:ext>
            </p:extLst>
          </p:nvPr>
        </p:nvGraphicFramePr>
        <p:xfrm>
          <a:off x="7426448" y="1680628"/>
          <a:ext cx="4765552" cy="1916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8" name="群組 17">
            <a:extLst>
              <a:ext uri="{FF2B5EF4-FFF2-40B4-BE49-F238E27FC236}">
                <a16:creationId xmlns:a16="http://schemas.microsoft.com/office/drawing/2014/main" id="{9E851910-22CD-4A9C-A981-15D812ABE6FD}"/>
              </a:ext>
            </a:extLst>
          </p:cNvPr>
          <p:cNvGrpSpPr/>
          <p:nvPr/>
        </p:nvGrpSpPr>
        <p:grpSpPr>
          <a:xfrm>
            <a:off x="6005984" y="3819130"/>
            <a:ext cx="3666766" cy="2067290"/>
            <a:chOff x="1199456" y="3284984"/>
            <a:chExt cx="6300700" cy="3552280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6A3B1F57-4E2C-48BC-8504-BCE093A59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2842" y="3284984"/>
              <a:ext cx="2957314" cy="2389510"/>
            </a:xfrm>
            <a:prstGeom prst="rect">
              <a:avLst/>
            </a:prstGeom>
          </p:spPr>
        </p:pic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3CE2494D-047B-4146-843B-B859104002C9}"/>
                </a:ext>
              </a:extLst>
            </p:cNvPr>
            <p:cNvGrpSpPr/>
            <p:nvPr/>
          </p:nvGrpSpPr>
          <p:grpSpPr>
            <a:xfrm>
              <a:off x="1199456" y="3627798"/>
              <a:ext cx="3492994" cy="3209466"/>
              <a:chOff x="839416" y="3429000"/>
              <a:chExt cx="3492994" cy="3209466"/>
            </a:xfrm>
          </p:grpSpPr>
          <p:sp>
            <p:nvSpPr>
              <p:cNvPr id="21" name="弧形 20">
                <a:extLst>
                  <a:ext uri="{FF2B5EF4-FFF2-40B4-BE49-F238E27FC236}">
                    <a16:creationId xmlns:a16="http://schemas.microsoft.com/office/drawing/2014/main" id="{62196592-A520-48BA-99D7-7D072FEC06A1}"/>
                  </a:ext>
                </a:extLst>
              </p:cNvPr>
              <p:cNvSpPr/>
              <p:nvPr/>
            </p:nvSpPr>
            <p:spPr>
              <a:xfrm rot="20701399" flipV="1">
                <a:off x="1812130" y="4670852"/>
                <a:ext cx="2520280" cy="1171895"/>
              </a:xfrm>
              <a:prstGeom prst="arc">
                <a:avLst>
                  <a:gd name="adj1" fmla="val 16200000"/>
                  <a:gd name="adj2" fmla="val 20790954"/>
                </a:avLst>
              </a:prstGeom>
              <a:ln w="508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C579A7C1-2049-4511-8DEB-4C644129D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9416" y="3429000"/>
                <a:ext cx="3038962" cy="3209466"/>
              </a:xfrm>
              <a:prstGeom prst="rect">
                <a:avLst/>
              </a:prstGeom>
            </p:spPr>
          </p:pic>
        </p:grpSp>
      </p:grpSp>
      <p:cxnSp>
        <p:nvCxnSpPr>
          <p:cNvPr id="14" name="直接连接符 33">
            <a:extLst>
              <a:ext uri="{FF2B5EF4-FFF2-40B4-BE49-F238E27FC236}">
                <a16:creationId xmlns:a16="http://schemas.microsoft.com/office/drawing/2014/main" id="{5FA26CA0-88D0-45ED-A714-966738E2D800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60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/>
      <p:bldP spid="3" grpId="0"/>
      <p:bldP spid="6" grpId="0"/>
      <p:bldGraphic spid="1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-3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管理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114363" y="1105308"/>
            <a:ext cx="11012983" cy="538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一、資訊分散式管理</a:t>
            </a:r>
            <a:endParaRPr lang="en-US" altLang="zh-TW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資料重覆儲存在不同的資料站中，提高存取速度，增加安全可靠度與妥善率</a:t>
            </a:r>
            <a:endParaRPr lang="en-US" altLang="zh-TW" sz="2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不能確保資料的重覆性、不易維持一致性且占用儲存空間</a:t>
            </a:r>
            <a:endParaRPr lang="en-US" altLang="zh-TW" sz="2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優點：   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∙   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系統管理費用較低，可做整體資訊規劃，整合各方資源，管理上較有效率 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71700" lvl="4" indent="-342900">
              <a:lnSpc>
                <a:spcPct val="150000"/>
              </a:lnSpc>
              <a:buFont typeface="微軟正黑體" panose="020B0604030504040204" pitchFamily="34" charset="-120"/>
              <a:buChar char="∙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共用性佳，機密性之資料可另行處理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71700" lvl="4" indent="-342900">
              <a:lnSpc>
                <a:spcPct val="150000"/>
              </a:lnSpc>
              <a:buFont typeface="微軟正黑體" panose="020B0604030504040204" pitchFamily="34" charset="-120"/>
              <a:buChar char="∙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網路傳輸效率高，傳輸費用較低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71700" lvl="4" indent="-342900">
              <a:lnSpc>
                <a:spcPct val="150000"/>
              </a:lnSpc>
              <a:buFont typeface="微軟正黑體" panose="020B0604030504040204" pitchFamily="34" charset="-120"/>
              <a:buChar char="∙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擴充性佳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71700" lvl="4" indent="-342900">
              <a:lnSpc>
                <a:spcPct val="150000"/>
              </a:lnSpc>
              <a:buFont typeface="微軟正黑體" panose="020B0604030504040204" pitchFamily="34" charset="-120"/>
              <a:buChar char="∙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軟體系統架構調整性佳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71700" lvl="4" indent="-342900">
              <a:lnSpc>
                <a:spcPct val="150000"/>
              </a:lnSpc>
              <a:buFont typeface="微軟正黑體" panose="020B0604030504040204" pitchFamily="34" charset="-120"/>
              <a:buChar char="∙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系統維護費用低，且品質維持容易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171700" lvl="4" indent="-342900">
              <a:lnSpc>
                <a:spcPct val="150000"/>
              </a:lnSpc>
              <a:buFont typeface="微軟正黑體" panose="020B0604030504040204" pitchFamily="34" charset="-120"/>
              <a:buChar char="∙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系統建置時間短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缺點： 由於資料不可篡改性：一旦區塊鏈提交後，無法被銷毀或修改</a:t>
            </a:r>
            <a:endParaRPr lang="en-US" altLang="zh-TW" sz="2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8583EAF-0D04-4E2F-8112-7EFD34647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067" y="3494897"/>
            <a:ext cx="2001642" cy="2001640"/>
          </a:xfrm>
          <a:prstGeom prst="rect">
            <a:avLst/>
          </a:prstGeom>
        </p:spPr>
      </p:pic>
      <p:cxnSp>
        <p:nvCxnSpPr>
          <p:cNvPr id="10" name="直接连接符 33">
            <a:extLst>
              <a:ext uri="{FF2B5EF4-FFF2-40B4-BE49-F238E27FC236}">
                <a16:creationId xmlns:a16="http://schemas.microsoft.com/office/drawing/2014/main" id="{F9912A44-E080-4C65-82F4-97D6D1E28449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23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500"/>
                            </p:stCondLst>
                            <p:childTnLst>
                              <p:par>
                                <p:cTn id="4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0"/>
                            </p:stCondLst>
                            <p:childTnLst>
                              <p:par>
                                <p:cTn id="5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0"/>
                            </p:stCondLst>
                            <p:childTnLst>
                              <p:par>
                                <p:cTn id="5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000"/>
                            </p:stCondLst>
                            <p:childTnLst>
                              <p:par>
                                <p:cTn id="5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-3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管理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288003" y="1268415"/>
            <a:ext cx="9835402" cy="4825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二、資訊安全性管理</a:t>
            </a:r>
            <a:endParaRPr lang="en-US" altLang="zh-TW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8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為因應使用案例的不同需求，詢問驗證途徑可根據政策、屬性或系統設計來管控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區塊鏈可做到：</a:t>
            </a: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（一） 使用者之隱私保護性；應用密碼學保證了未經授權者能訪問到資料，但無法解析。</a:t>
            </a: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（二） 訊息安全性：區塊鏈技術有利於安全可靠的審計管理與財務帳目清算，並可減低犯罪可能性和各類風險。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 descr="一張含有 向量圖形 的圖片&#10;&#10;描述是以非常高的可信度產生">
            <a:extLst>
              <a:ext uri="{FF2B5EF4-FFF2-40B4-BE49-F238E27FC236}">
                <a16:creationId xmlns:a16="http://schemas.microsoft.com/office/drawing/2014/main" id="{0A0E2CA6-670D-437B-97CC-9852091EE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133" y="377736"/>
            <a:ext cx="1338020" cy="1338020"/>
          </a:xfrm>
          <a:prstGeom prst="rect">
            <a:avLst/>
          </a:prstGeom>
        </p:spPr>
      </p:pic>
      <p:cxnSp>
        <p:nvCxnSpPr>
          <p:cNvPr id="11" name="直接连接符 33">
            <a:extLst>
              <a:ext uri="{FF2B5EF4-FFF2-40B4-BE49-F238E27FC236}">
                <a16:creationId xmlns:a16="http://schemas.microsoft.com/office/drawing/2014/main" id="{9F9C7971-ABD4-4450-B9CA-8E9CE11E549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177167" y="1046746"/>
            <a:ext cx="887896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20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4-1</a:t>
            </a:r>
            <a:r>
              <a:rPr lang="zh-TW" altLang="en-US" sz="2400" b="1" dirty="0">
                <a:solidFill>
                  <a:srgbClr val="E06741"/>
                </a:solidFill>
              </a:rPr>
              <a:t> </a:t>
            </a:r>
            <a:r>
              <a:rPr lang="en-US" altLang="zh-TW" sz="2400" b="1" dirty="0">
                <a:solidFill>
                  <a:srgbClr val="E06741"/>
                </a:solidFill>
              </a:rPr>
              <a:t>e </a:t>
            </a:r>
            <a:r>
              <a:rPr lang="zh-TW" altLang="en-US" sz="2400" b="1" dirty="0">
                <a:solidFill>
                  <a:srgbClr val="E06741"/>
                </a:solidFill>
              </a:rPr>
              <a:t>化價值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3766808" y="449166"/>
            <a:ext cx="155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-3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管理 </a:t>
            </a:r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58751" y="1323761"/>
            <a:ext cx="9118485" cy="390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三、資訊信任度管理</a:t>
            </a:r>
            <a:endParaRPr lang="en-US" altLang="zh-TW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8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由於區塊鏈的所有資料都儲存在網路上，其驗證機制能保障儲存的資料不被竄改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所有交易紀錄都被加密，保護交易雙方的個資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提供天然可信的分散式帳本平臺，不需要額外協力廠商仲介機構，可以達到最大化可信任性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 descr="一張含有 樂高, 玩具 的圖片&#10;&#10;描述是以高可信度產生">
            <a:extLst>
              <a:ext uri="{FF2B5EF4-FFF2-40B4-BE49-F238E27FC236}">
                <a16:creationId xmlns:a16="http://schemas.microsoft.com/office/drawing/2014/main" id="{2AA32AE4-B239-4CE3-B5D8-9C1CA8699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870" y="4775203"/>
            <a:ext cx="2164462" cy="2164462"/>
          </a:xfrm>
          <a:prstGeom prst="rect">
            <a:avLst/>
          </a:prstGeom>
        </p:spPr>
      </p:pic>
      <p:cxnSp>
        <p:nvCxnSpPr>
          <p:cNvPr id="10" name="直接连接符 33">
            <a:extLst>
              <a:ext uri="{FF2B5EF4-FFF2-40B4-BE49-F238E27FC236}">
                <a16:creationId xmlns:a16="http://schemas.microsoft.com/office/drawing/2014/main" id="{6FA4E7B2-6584-4CD8-921E-9B46BCB59273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01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4-2</a:t>
            </a:r>
            <a:r>
              <a:rPr lang="zh-TW" altLang="en-US" sz="2400" b="1" dirty="0">
                <a:solidFill>
                  <a:srgbClr val="E06741"/>
                </a:solidFill>
              </a:rPr>
              <a:t> 技術價值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58751" y="1632682"/>
            <a:ext cx="5272093" cy="4087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區塊鏈促使產業邁向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化時代，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在引進區塊鏈平台的環境下，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創造更廣的產業經營之路，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這是區塊鏈存在的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「技術價值」</a:t>
            </a:r>
            <a:endParaRPr lang="en-US" altLang="zh-TW" sz="2400" b="1" dirty="0">
              <a:solidFill>
                <a:srgbClr val="54667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區塊鏈的技術價值特性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涵蓋市場競爭力、跨越式發展、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系統化服務等。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92E5859-635C-4434-BEFB-6D4C03FE0121}"/>
              </a:ext>
            </a:extLst>
          </p:cNvPr>
          <p:cNvGrpSpPr/>
          <p:nvPr/>
        </p:nvGrpSpPr>
        <p:grpSpPr>
          <a:xfrm>
            <a:off x="6725141" y="1713345"/>
            <a:ext cx="5073766" cy="3652982"/>
            <a:chOff x="1703512" y="119718"/>
            <a:chExt cx="9577064" cy="6741368"/>
          </a:xfrm>
        </p:grpSpPr>
        <p:graphicFrame>
          <p:nvGraphicFramePr>
            <p:cNvPr id="10" name="資料庫圖表 9">
              <a:extLst>
                <a:ext uri="{FF2B5EF4-FFF2-40B4-BE49-F238E27FC236}">
                  <a16:creationId xmlns:a16="http://schemas.microsoft.com/office/drawing/2014/main" id="{46B9B9F0-3FA4-4906-9D46-ED33AEFEA23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1340362"/>
                </p:ext>
              </p:extLst>
            </p:nvPr>
          </p:nvGraphicFramePr>
          <p:xfrm>
            <a:off x="1703512" y="119718"/>
            <a:ext cx="9577064" cy="67413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0530251B-F797-4B6B-88E3-8A51CEF31715}"/>
                </a:ext>
              </a:extLst>
            </p:cNvPr>
            <p:cNvCxnSpPr>
              <a:cxnSpLocks/>
            </p:cNvCxnSpPr>
            <p:nvPr/>
          </p:nvCxnSpPr>
          <p:spPr>
            <a:xfrm>
              <a:off x="7464151" y="2348880"/>
              <a:ext cx="1511568" cy="194516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DE391E57-093B-4DEE-A796-534603328A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3052" y="2410281"/>
              <a:ext cx="1481871" cy="194516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990B15C4-2DCE-490C-8F94-B1F606A0D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4531" y="6165304"/>
              <a:ext cx="3434548" cy="0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C7BEAF2F-C762-4368-8B89-0405F73FD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9061" y="321460"/>
              <a:ext cx="1765966" cy="1379447"/>
            </a:xfrm>
            <a:prstGeom prst="rect">
              <a:avLst/>
            </a:prstGeom>
            <a:solidFill>
              <a:srgbClr val="F6F3D2"/>
            </a:solidFill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2CC63931-E4A8-4239-847E-A4D4C13FF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4331" y="4501480"/>
              <a:ext cx="1440160" cy="1418318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1D1D544C-B3A1-4403-A500-6CC99763D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8917" y="4703302"/>
              <a:ext cx="1224136" cy="1224136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5EB35296-BC1F-41FF-96E9-12825497C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73642" y="3201389"/>
              <a:ext cx="1791789" cy="2652960"/>
            </a:xfrm>
            <a:prstGeom prst="rect">
              <a:avLst/>
            </a:prstGeom>
          </p:spPr>
        </p:pic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F737A71-2FBA-4D0D-8375-D16176CC0FEB}"/>
              </a:ext>
            </a:extLst>
          </p:cNvPr>
          <p:cNvSpPr txBox="1"/>
          <p:nvPr/>
        </p:nvSpPr>
        <p:spPr>
          <a:xfrm>
            <a:off x="7912312" y="5946252"/>
            <a:ext cx="278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區塊鏈之技術價值特性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02DCA94E-7C52-41C1-863C-8791D6721A2E}"/>
              </a:ext>
            </a:extLst>
          </p:cNvPr>
          <p:cNvCxnSpPr/>
          <p:nvPr/>
        </p:nvCxnSpPr>
        <p:spPr>
          <a:xfrm>
            <a:off x="1177167" y="1083689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17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4-2</a:t>
            </a:r>
            <a:r>
              <a:rPr lang="zh-TW" altLang="en-US" sz="2400" b="1" dirty="0">
                <a:solidFill>
                  <a:srgbClr val="E06741"/>
                </a:solidFill>
              </a:rPr>
              <a:t> 技術價值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3662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53" name="文本框 77">
            <a:extLst>
              <a:ext uri="{FF2B5EF4-FFF2-40B4-BE49-F238E27FC236}">
                <a16:creationId xmlns:a16="http://schemas.microsoft.com/office/drawing/2014/main" id="{B1BF0463-8060-4ABD-B20B-1204FA11B2DE}"/>
              </a:ext>
            </a:extLst>
          </p:cNvPr>
          <p:cNvSpPr txBox="1"/>
          <p:nvPr/>
        </p:nvSpPr>
        <p:spPr>
          <a:xfrm>
            <a:off x="2187362" y="2362676"/>
            <a:ext cx="5682161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許可區塊鏈帶來技術變革浪潮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廉價的驗證特定交易的屬性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更安全和高效的市場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促進企業內部跨部門整合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達到追蹤性、不可改變及結果一致性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本框 78">
            <a:extLst>
              <a:ext uri="{FF2B5EF4-FFF2-40B4-BE49-F238E27FC236}">
                <a16:creationId xmlns:a16="http://schemas.microsoft.com/office/drawing/2014/main" id="{B91E4784-3D0F-4D62-A136-1106BF9ED187}"/>
              </a:ext>
            </a:extLst>
          </p:cNvPr>
          <p:cNvSpPr txBox="1"/>
          <p:nvPr/>
        </p:nvSpPr>
        <p:spPr>
          <a:xfrm>
            <a:off x="1740136" y="1712023"/>
            <a:ext cx="238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一、市場競爭力</a:t>
            </a:r>
            <a:endParaRPr lang="zh-CN" altLang="en-US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027936E7-37CF-404B-AF09-0D778F8E465E}"/>
              </a:ext>
            </a:extLst>
          </p:cNvPr>
          <p:cNvGrpSpPr/>
          <p:nvPr/>
        </p:nvGrpSpPr>
        <p:grpSpPr>
          <a:xfrm>
            <a:off x="4124687" y="1595504"/>
            <a:ext cx="650653" cy="650653"/>
            <a:chOff x="4574062" y="1865081"/>
            <a:chExt cx="650653" cy="650653"/>
          </a:xfrm>
        </p:grpSpPr>
        <p:sp>
          <p:nvSpPr>
            <p:cNvPr id="40" name="椭圆 57">
              <a:extLst>
                <a:ext uri="{FF2B5EF4-FFF2-40B4-BE49-F238E27FC236}">
                  <a16:creationId xmlns:a16="http://schemas.microsoft.com/office/drawing/2014/main" id="{775F1B2C-1858-48E4-B287-25C1E028B497}"/>
                </a:ext>
              </a:extLst>
            </p:cNvPr>
            <p:cNvSpPr/>
            <p:nvPr/>
          </p:nvSpPr>
          <p:spPr>
            <a:xfrm>
              <a:off x="4574062" y="1865081"/>
              <a:ext cx="650653" cy="650653"/>
            </a:xfrm>
            <a:prstGeom prst="ellipse">
              <a:avLst/>
            </a:prstGeom>
            <a:solidFill>
              <a:srgbClr val="ED82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6737EB5-B81F-49DA-B315-16CA30EBD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9337" y="1950859"/>
              <a:ext cx="431464" cy="434620"/>
            </a:xfrm>
            <a:prstGeom prst="rect">
              <a:avLst/>
            </a:prstGeom>
          </p:spPr>
        </p:pic>
      </p:grpSp>
      <p:cxnSp>
        <p:nvCxnSpPr>
          <p:cNvPr id="42" name="直接连接符 33">
            <a:extLst>
              <a:ext uri="{FF2B5EF4-FFF2-40B4-BE49-F238E27FC236}">
                <a16:creationId xmlns:a16="http://schemas.microsoft.com/office/drawing/2014/main" id="{790B27A6-4DDB-40D3-BCC0-08243048AAB9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圖片 42">
            <a:extLst>
              <a:ext uri="{FF2B5EF4-FFF2-40B4-BE49-F238E27FC236}">
                <a16:creationId xmlns:a16="http://schemas.microsoft.com/office/drawing/2014/main" id="{2C2A2943-D6AC-475D-BB12-6C63560ECF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10" y="3831309"/>
            <a:ext cx="2509456" cy="250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5349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4-2</a:t>
            </a:r>
            <a:r>
              <a:rPr lang="zh-TW" altLang="en-US" sz="2400" b="1" dirty="0">
                <a:solidFill>
                  <a:srgbClr val="E06741"/>
                </a:solidFill>
              </a:rPr>
              <a:t> 技術價值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3662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53" name="文本框 77">
            <a:extLst>
              <a:ext uri="{FF2B5EF4-FFF2-40B4-BE49-F238E27FC236}">
                <a16:creationId xmlns:a16="http://schemas.microsoft.com/office/drawing/2014/main" id="{B1BF0463-8060-4ABD-B20B-1204FA11B2DE}"/>
              </a:ext>
            </a:extLst>
          </p:cNvPr>
          <p:cNvSpPr txBox="1"/>
          <p:nvPr/>
        </p:nvSpPr>
        <p:spPr>
          <a:xfrm>
            <a:off x="2187344" y="2420080"/>
            <a:ext cx="5682161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創造新的資訊時代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有助經濟社會跟著轉型蛻變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本框 78">
            <a:extLst>
              <a:ext uri="{FF2B5EF4-FFF2-40B4-BE49-F238E27FC236}">
                <a16:creationId xmlns:a16="http://schemas.microsoft.com/office/drawing/2014/main" id="{B91E4784-3D0F-4D62-A136-1106BF9ED187}"/>
              </a:ext>
            </a:extLst>
          </p:cNvPr>
          <p:cNvSpPr txBox="1"/>
          <p:nvPr/>
        </p:nvSpPr>
        <p:spPr>
          <a:xfrm>
            <a:off x="1749385" y="1768095"/>
            <a:ext cx="238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二、跨越式發展</a:t>
            </a:r>
            <a:endParaRPr lang="zh-CN" altLang="en-US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1F4838A-9701-482B-BC34-87656CEDF80D}"/>
              </a:ext>
            </a:extLst>
          </p:cNvPr>
          <p:cNvGrpSpPr/>
          <p:nvPr/>
        </p:nvGrpSpPr>
        <p:grpSpPr>
          <a:xfrm>
            <a:off x="4272219" y="1579107"/>
            <a:ext cx="650653" cy="650653"/>
            <a:chOff x="8317706" y="1451123"/>
            <a:chExt cx="650653" cy="650653"/>
          </a:xfrm>
        </p:grpSpPr>
        <p:sp>
          <p:nvSpPr>
            <p:cNvPr id="34" name="椭圆 58">
              <a:extLst>
                <a:ext uri="{FF2B5EF4-FFF2-40B4-BE49-F238E27FC236}">
                  <a16:creationId xmlns:a16="http://schemas.microsoft.com/office/drawing/2014/main" id="{41C1BBF4-0C0C-440B-BB5E-5C62082E8CBB}"/>
                </a:ext>
              </a:extLst>
            </p:cNvPr>
            <p:cNvSpPr/>
            <p:nvPr/>
          </p:nvSpPr>
          <p:spPr>
            <a:xfrm>
              <a:off x="8317706" y="1451123"/>
              <a:ext cx="650653" cy="650653"/>
            </a:xfrm>
            <a:prstGeom prst="ellipse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515F764E-A5C0-449D-99E2-BEC230258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2311" y="1528441"/>
              <a:ext cx="431464" cy="434620"/>
            </a:xfrm>
            <a:prstGeom prst="rect">
              <a:avLst/>
            </a:prstGeom>
          </p:spPr>
        </p:pic>
      </p:grpSp>
      <p:cxnSp>
        <p:nvCxnSpPr>
          <p:cNvPr id="36" name="直接连接符 33">
            <a:extLst>
              <a:ext uri="{FF2B5EF4-FFF2-40B4-BE49-F238E27FC236}">
                <a16:creationId xmlns:a16="http://schemas.microsoft.com/office/drawing/2014/main" id="{3B49E8D7-AE38-47B5-ACC7-4179956FEDDE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 descr="一張含有 輪子 的圖片&#10;&#10;描述是以非常高的可信度產生">
            <a:extLst>
              <a:ext uri="{FF2B5EF4-FFF2-40B4-BE49-F238E27FC236}">
                <a16:creationId xmlns:a16="http://schemas.microsoft.com/office/drawing/2014/main" id="{44EA875B-8524-4DF9-A6E0-829F2E3FFB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237" y="2481150"/>
            <a:ext cx="3458652" cy="345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3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4-2</a:t>
            </a:r>
            <a:r>
              <a:rPr lang="zh-TW" altLang="en-US" sz="2400" b="1" dirty="0">
                <a:solidFill>
                  <a:srgbClr val="E06741"/>
                </a:solidFill>
              </a:rPr>
              <a:t> 技術價值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3662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53" name="文本框 77">
            <a:extLst>
              <a:ext uri="{FF2B5EF4-FFF2-40B4-BE49-F238E27FC236}">
                <a16:creationId xmlns:a16="http://schemas.microsoft.com/office/drawing/2014/main" id="{B1BF0463-8060-4ABD-B20B-1204FA11B2DE}"/>
              </a:ext>
            </a:extLst>
          </p:cNvPr>
          <p:cNvSpPr txBox="1"/>
          <p:nvPr/>
        </p:nvSpPr>
        <p:spPr>
          <a:xfrm>
            <a:off x="2168901" y="2308757"/>
            <a:ext cx="8905498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透過自身分散式節點進行數據存儲、驗證、傳遞和交流的技術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分散式開放性去中心化的大型網路記帳薄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全民參與記帳的系統</a:t>
            </a:r>
          </a:p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為經濟社會及政府轉型升級提供系統化的支撐</a:t>
            </a:r>
          </a:p>
        </p:txBody>
      </p:sp>
      <p:sp>
        <p:nvSpPr>
          <p:cNvPr id="54" name="文本框 78">
            <a:extLst>
              <a:ext uri="{FF2B5EF4-FFF2-40B4-BE49-F238E27FC236}">
                <a16:creationId xmlns:a16="http://schemas.microsoft.com/office/drawing/2014/main" id="{B91E4784-3D0F-4D62-A136-1106BF9ED187}"/>
              </a:ext>
            </a:extLst>
          </p:cNvPr>
          <p:cNvSpPr txBox="1"/>
          <p:nvPr/>
        </p:nvSpPr>
        <p:spPr>
          <a:xfrm>
            <a:off x="1730913" y="1580512"/>
            <a:ext cx="2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三、系統化服務</a:t>
            </a:r>
            <a:endParaRPr lang="zh-CN" altLang="en-US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8558349-5E31-4B72-8613-5AC92BFFD990}"/>
              </a:ext>
            </a:extLst>
          </p:cNvPr>
          <p:cNvGrpSpPr/>
          <p:nvPr/>
        </p:nvGrpSpPr>
        <p:grpSpPr>
          <a:xfrm>
            <a:off x="4210103" y="1398664"/>
            <a:ext cx="661304" cy="650653"/>
            <a:chOff x="3062215" y="5166756"/>
            <a:chExt cx="650653" cy="650653"/>
          </a:xfrm>
        </p:grpSpPr>
        <p:sp>
          <p:nvSpPr>
            <p:cNvPr id="37" name="椭圆 59">
              <a:extLst>
                <a:ext uri="{FF2B5EF4-FFF2-40B4-BE49-F238E27FC236}">
                  <a16:creationId xmlns:a16="http://schemas.microsoft.com/office/drawing/2014/main" id="{D53F32AA-53D2-42B8-BF2F-624FADEF1C30}"/>
                </a:ext>
              </a:extLst>
            </p:cNvPr>
            <p:cNvSpPr/>
            <p:nvPr/>
          </p:nvSpPr>
          <p:spPr>
            <a:xfrm>
              <a:off x="3062215" y="5166756"/>
              <a:ext cx="650653" cy="650653"/>
            </a:xfrm>
            <a:prstGeom prst="ellipse">
              <a:avLst/>
            </a:prstGeom>
            <a:solidFill>
              <a:srgbClr val="6161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5D313EF4-0915-4D71-A3D2-3C7A222E4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3661" y="5292626"/>
              <a:ext cx="404530" cy="413764"/>
            </a:xfrm>
            <a:prstGeom prst="rect">
              <a:avLst/>
            </a:prstGeom>
          </p:spPr>
        </p:pic>
      </p:grpSp>
      <p:cxnSp>
        <p:nvCxnSpPr>
          <p:cNvPr id="39" name="直接连接符 33">
            <a:extLst>
              <a:ext uri="{FF2B5EF4-FFF2-40B4-BE49-F238E27FC236}">
                <a16:creationId xmlns:a16="http://schemas.microsoft.com/office/drawing/2014/main" id="{17CA444B-D47B-4FF5-86F9-51279B22A319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 descr="一張含有 螢幕擷取畫面 的圖片&#10;&#10;描述是以高可信度產生">
            <a:extLst>
              <a:ext uri="{FF2B5EF4-FFF2-40B4-BE49-F238E27FC236}">
                <a16:creationId xmlns:a16="http://schemas.microsoft.com/office/drawing/2014/main" id="{0145321C-8BFD-4210-A74C-B346D56F2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309" y="4895274"/>
            <a:ext cx="1962726" cy="196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849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4-3</a:t>
            </a:r>
            <a:r>
              <a:rPr lang="zh-TW" altLang="en-US" sz="2400" b="1" dirty="0">
                <a:solidFill>
                  <a:srgbClr val="E06741"/>
                </a:solidFill>
              </a:rPr>
              <a:t> 發展價值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177167" y="2087108"/>
            <a:ext cx="6193451" cy="242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區塊鏈提供了系統發展的價值，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針對產業需求的區塊鏈提供相對應的服務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發展價值特性包含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IT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技術發展、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安全技術發展、創新技術發展等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F737A71-2FBA-4D0D-8375-D16176CC0FEB}"/>
              </a:ext>
            </a:extLst>
          </p:cNvPr>
          <p:cNvSpPr txBox="1"/>
          <p:nvPr/>
        </p:nvSpPr>
        <p:spPr>
          <a:xfrm>
            <a:off x="8293396" y="5927249"/>
            <a:ext cx="2781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區塊鏈之技術價值特性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E34B33-C8FA-44E4-8669-6CDB6580C2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5981" y="1441408"/>
            <a:ext cx="4156362" cy="4091180"/>
          </a:xfrm>
          <a:prstGeom prst="rect">
            <a:avLst/>
          </a:prstGeom>
        </p:spPr>
      </p:pic>
      <p:cxnSp>
        <p:nvCxnSpPr>
          <p:cNvPr id="10" name="直接连接符 33">
            <a:extLst>
              <a:ext uri="{FF2B5EF4-FFF2-40B4-BE49-F238E27FC236}">
                <a16:creationId xmlns:a16="http://schemas.microsoft.com/office/drawing/2014/main" id="{50012356-48B7-4CBA-8090-C07ECEE51C1F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89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4-3</a:t>
            </a:r>
            <a:r>
              <a:rPr lang="zh-TW" altLang="en-US" sz="2400" b="1" dirty="0">
                <a:solidFill>
                  <a:srgbClr val="E06741"/>
                </a:solidFill>
              </a:rPr>
              <a:t> 發展價值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58751" y="1281184"/>
            <a:ext cx="9576013" cy="5195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一、</a:t>
            </a:r>
            <a:r>
              <a:rPr lang="en-US" altLang="zh-TW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IT</a:t>
            </a: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技術發展</a:t>
            </a:r>
            <a:endParaRPr lang="en-US" altLang="zh-TW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8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資訊科技</a:t>
            </a:r>
            <a:r>
              <a:rPr lang="en-US" altLang="zh-TW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(IT)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是指對於訊息管理或處理的技術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IT 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技術改採區域性傳輸，透過網際互聯通信（</a:t>
            </a: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TCP/IP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）協議，推廣多數決機制，達到經濟共享，形成全球資訊開放式系統鏈結，又稱為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通訊科技（</a:t>
            </a:r>
            <a:r>
              <a:rPr lang="en-US" altLang="zh-TW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ICT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區塊鏈是一種</a:t>
            </a: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TCP/IP 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協議的升級版， 也是一種</a:t>
            </a: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ICT 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技術的應用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區塊鏈可以串接網絡使用者所生成的資料（</a:t>
            </a: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）， 在多數決機制的管理之下，可信度提高，將</a:t>
            </a: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IT 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時代推向</a:t>
            </a:r>
            <a:r>
              <a:rPr lang="en-US" altLang="zh-TW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DT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時代， 也邁向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開放性資料（</a:t>
            </a:r>
            <a:r>
              <a:rPr lang="en-US" altLang="zh-TW" sz="2300" b="1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OpenData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）分析技術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應用的時代。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接连接符 33">
            <a:extLst>
              <a:ext uri="{FF2B5EF4-FFF2-40B4-BE49-F238E27FC236}">
                <a16:creationId xmlns:a16="http://schemas.microsoft.com/office/drawing/2014/main" id="{1303660B-08D1-4794-8BF3-4517000F2CCA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34EA4200-C5F5-416B-8687-2A37992AB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" y="4248728"/>
            <a:ext cx="1737010" cy="173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8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4-3</a:t>
            </a:r>
            <a:r>
              <a:rPr lang="zh-TW" altLang="en-US" sz="2400" b="1" dirty="0">
                <a:solidFill>
                  <a:srgbClr val="E06741"/>
                </a:solidFill>
              </a:rPr>
              <a:t> 發展價值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309020" y="1268415"/>
            <a:ext cx="9534471" cy="4964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二、安全技術發展</a:t>
            </a:r>
            <a:endParaRPr lang="en-US" altLang="zh-TW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8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區塊鏈由加</a:t>
            </a:r>
            <a:r>
              <a:rPr lang="zh-TW" altLang="en-US" sz="23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密演算法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衍生，透過複雜的公開金鑰與私密金鑰，系統會自動傳遞金融交易資料，參與成員只能針對自己的財產進行修改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消費者與企業不需再透過金融中間人，可以運用更迅速安全且成本更低的方式進行財產交易、稽核與監管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zh-TW" altLang="en-US" sz="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區塊鏈技術應用範疇從金融創新到物聯網應用，從金融交易延伸到需要中間人作保、認證的市場，比特幣最早將區塊鏈應用到市場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除了加速金融創新，區塊鏈技術有助於實現、推廣</a:t>
            </a:r>
            <a:r>
              <a:rPr lang="zh-TW" altLang="en-US" sz="23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之應用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接连接符 33">
            <a:extLst>
              <a:ext uri="{FF2B5EF4-FFF2-40B4-BE49-F238E27FC236}">
                <a16:creationId xmlns:a16="http://schemas.microsoft.com/office/drawing/2014/main" id="{FBD86D0B-7DA6-4846-8577-F8188C44C73D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941694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15" descr="一張含有 向量圖形, 樂高, 文字 的圖片&#10;&#10;描述是以非常高的可信度產生">
            <a:extLst>
              <a:ext uri="{FF2B5EF4-FFF2-40B4-BE49-F238E27FC236}">
                <a16:creationId xmlns:a16="http://schemas.microsoft.com/office/drawing/2014/main" id="{5E020AEE-8E0D-4994-845B-2E5DF7069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826" y="427908"/>
            <a:ext cx="1330036" cy="13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8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 txBox="1">
            <a:spLocks/>
          </p:cNvSpPr>
          <p:nvPr/>
        </p:nvSpPr>
        <p:spPr>
          <a:xfrm>
            <a:off x="797847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4-3</a:t>
            </a:r>
            <a:r>
              <a:rPr lang="zh-TW" altLang="en-US" sz="2400" b="1" dirty="0">
                <a:solidFill>
                  <a:srgbClr val="E06741"/>
                </a:solidFill>
              </a:rPr>
              <a:t> 發展價值</a:t>
            </a:r>
            <a:endParaRPr lang="zh-TW" altLang="en-US" sz="2400" b="1" dirty="0">
              <a:solidFill>
                <a:srgbClr val="E06741"/>
              </a:solidFill>
              <a:latin typeface="+mj-ea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58751" y="1268415"/>
            <a:ext cx="9903576" cy="4851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solidFill>
                  <a:srgbClr val="3DA1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三、創新技術發展</a:t>
            </a:r>
            <a:endParaRPr lang="en-US" altLang="zh-TW" sz="24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800" b="1" dirty="0">
              <a:solidFill>
                <a:srgbClr val="3DA18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由於區塊鏈有資料的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不可篡改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可追溯性</a:t>
            </a: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，故可用以建置監管部門所需要的、包含眾多手段的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監管工具箱</a:t>
            </a:r>
            <a:endParaRPr lang="en-US" altLang="zh-TW" sz="23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有助於降低金融機構間的對帳成本及解決爭議的成本，提升支付業務的處理速度及效率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實現點對點的</a:t>
            </a:r>
            <a:r>
              <a:rPr lang="zh-TW" altLang="en-US" sz="23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價值轉移</a:t>
            </a:r>
            <a:endParaRPr lang="en-US" altLang="zh-TW" sz="23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50000"/>
              </a:lnSpc>
            </a:pPr>
            <a:r>
              <a:rPr lang="zh-TW" altLang="en-US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通過資產數位化和重構金融基礎設施架構，能提升金融資產交易後清、結算流程效率和降低成本，並解決現階段金融支付所面臨的問題</a:t>
            </a:r>
            <a:endParaRPr lang="en-US" altLang="zh-TW" sz="23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接连接符 33">
            <a:extLst>
              <a:ext uri="{FF2B5EF4-FFF2-40B4-BE49-F238E27FC236}">
                <a16:creationId xmlns:a16="http://schemas.microsoft.com/office/drawing/2014/main" id="{954A4CC9-0A4A-4014-BD4D-AD216BF99D2B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 descr="一張含有 向量圖形 的圖片&#10;&#10;描述是以高可信度產生">
            <a:extLst>
              <a:ext uri="{FF2B5EF4-FFF2-40B4-BE49-F238E27FC236}">
                <a16:creationId xmlns:a16="http://schemas.microsoft.com/office/drawing/2014/main" id="{D4B95FA6-7580-47D0-9367-17D1C26C2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7" y="5209550"/>
            <a:ext cx="1648450" cy="1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A5A6F"/>
      </a:accent1>
      <a:accent2>
        <a:srgbClr val="E06741"/>
      </a:accent2>
      <a:accent3>
        <a:srgbClr val="4A5A6F"/>
      </a:accent3>
      <a:accent4>
        <a:srgbClr val="E06741"/>
      </a:accent4>
      <a:accent5>
        <a:srgbClr val="4A5A6F"/>
      </a:accent5>
      <a:accent6>
        <a:srgbClr val="E06741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</TotalTime>
  <Words>1677</Words>
  <Application>Microsoft Office PowerPoint</Application>
  <PresentationFormat>寬螢幕</PresentationFormat>
  <Paragraphs>205</Paragraphs>
  <Slides>19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Arial Unicode MS</vt:lpstr>
      <vt:lpstr>等线</vt:lpstr>
      <vt:lpstr>Microsoft JhengHei Light</vt:lpstr>
      <vt:lpstr>微软雅黑</vt:lpstr>
      <vt:lpstr>宋体</vt:lpstr>
      <vt:lpstr>微軟正黑體</vt:lpstr>
      <vt:lpstr>標楷體</vt:lpstr>
      <vt:lpstr>Arial</vt:lpstr>
      <vt:lpstr>Times New Roman</vt:lpstr>
      <vt:lpstr>包图主题2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張景涵</cp:lastModifiedBy>
  <cp:revision>180</cp:revision>
  <dcterms:created xsi:type="dcterms:W3CDTF">2017-09-04T07:53:30Z</dcterms:created>
  <dcterms:modified xsi:type="dcterms:W3CDTF">2018-07-24T01:56:04Z</dcterms:modified>
</cp:coreProperties>
</file>