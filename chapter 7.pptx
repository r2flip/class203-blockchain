
<file path=[Content_Types].xml><?xml version="1.0" encoding="utf-8"?>
<Types xmlns="http://schemas.openxmlformats.org/package/2006/content-types">
  <Default Extension="png" ContentType="image/png"/>
  <Default Extension="tmp"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62"/>
  </p:notesMasterIdLst>
  <p:sldIdLst>
    <p:sldId id="284" r:id="rId2"/>
    <p:sldId id="257" r:id="rId3"/>
    <p:sldId id="285" r:id="rId4"/>
    <p:sldId id="373" r:id="rId5"/>
    <p:sldId id="374" r:id="rId6"/>
    <p:sldId id="354" r:id="rId7"/>
    <p:sldId id="375" r:id="rId8"/>
    <p:sldId id="376" r:id="rId9"/>
    <p:sldId id="377" r:id="rId10"/>
    <p:sldId id="378" r:id="rId11"/>
    <p:sldId id="379" r:id="rId12"/>
    <p:sldId id="381" r:id="rId13"/>
    <p:sldId id="380" r:id="rId14"/>
    <p:sldId id="382" r:id="rId15"/>
    <p:sldId id="383" r:id="rId16"/>
    <p:sldId id="384" r:id="rId17"/>
    <p:sldId id="385" r:id="rId18"/>
    <p:sldId id="386" r:id="rId19"/>
    <p:sldId id="387" r:id="rId20"/>
    <p:sldId id="391" r:id="rId21"/>
    <p:sldId id="388" r:id="rId22"/>
    <p:sldId id="389" r:id="rId23"/>
    <p:sldId id="393" r:id="rId24"/>
    <p:sldId id="394" r:id="rId25"/>
    <p:sldId id="395" r:id="rId26"/>
    <p:sldId id="396" r:id="rId27"/>
    <p:sldId id="397" r:id="rId28"/>
    <p:sldId id="398" r:id="rId29"/>
    <p:sldId id="403" r:id="rId30"/>
    <p:sldId id="401" r:id="rId31"/>
    <p:sldId id="400" r:id="rId32"/>
    <p:sldId id="404" r:id="rId33"/>
    <p:sldId id="405" r:id="rId34"/>
    <p:sldId id="408" r:id="rId35"/>
    <p:sldId id="409" r:id="rId36"/>
    <p:sldId id="407" r:id="rId37"/>
    <p:sldId id="406" r:id="rId38"/>
    <p:sldId id="410" r:id="rId39"/>
    <p:sldId id="413" r:id="rId40"/>
    <p:sldId id="411" r:id="rId41"/>
    <p:sldId id="414" r:id="rId42"/>
    <p:sldId id="415" r:id="rId43"/>
    <p:sldId id="417" r:id="rId44"/>
    <p:sldId id="418" r:id="rId45"/>
    <p:sldId id="419" r:id="rId46"/>
    <p:sldId id="420" r:id="rId47"/>
    <p:sldId id="421" r:id="rId48"/>
    <p:sldId id="422" r:id="rId49"/>
    <p:sldId id="423" r:id="rId50"/>
    <p:sldId id="424" r:id="rId51"/>
    <p:sldId id="425" r:id="rId52"/>
    <p:sldId id="426" r:id="rId53"/>
    <p:sldId id="427" r:id="rId54"/>
    <p:sldId id="428" r:id="rId55"/>
    <p:sldId id="430" r:id="rId56"/>
    <p:sldId id="431" r:id="rId57"/>
    <p:sldId id="432" r:id="rId58"/>
    <p:sldId id="433" r:id="rId59"/>
    <p:sldId id="434" r:id="rId60"/>
    <p:sldId id="435" r:id="rId61"/>
  </p:sldIdLst>
  <p:sldSz cx="12192000" cy="6858000"/>
  <p:notesSz cx="6858000" cy="9144000"/>
  <p:custDataLst>
    <p:tags r:id="rId63"/>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預設章節" id="{B0988886-37E5-4860-967F-662ECC454278}">
          <p14:sldIdLst>
            <p14:sldId id="284"/>
            <p14:sldId id="257"/>
            <p14:sldId id="285"/>
          </p14:sldIdLst>
        </p14:section>
        <p14:section name="7-1" id="{917914AB-665E-4E6E-92BF-B438702E251A}">
          <p14:sldIdLst>
            <p14:sldId id="373"/>
            <p14:sldId id="374"/>
            <p14:sldId id="354"/>
            <p14:sldId id="375"/>
            <p14:sldId id="376"/>
            <p14:sldId id="377"/>
            <p14:sldId id="378"/>
            <p14:sldId id="379"/>
            <p14:sldId id="381"/>
            <p14:sldId id="380"/>
            <p14:sldId id="382"/>
            <p14:sldId id="383"/>
            <p14:sldId id="384"/>
            <p14:sldId id="385"/>
            <p14:sldId id="386"/>
            <p14:sldId id="387"/>
          </p14:sldIdLst>
        </p14:section>
        <p14:section name="7-2" id="{1B418A69-4C96-4196-8FC5-7FF64A92547C}">
          <p14:sldIdLst>
            <p14:sldId id="391"/>
            <p14:sldId id="388"/>
            <p14:sldId id="389"/>
            <p14:sldId id="393"/>
            <p14:sldId id="394"/>
            <p14:sldId id="395"/>
            <p14:sldId id="396"/>
            <p14:sldId id="397"/>
            <p14:sldId id="398"/>
            <p14:sldId id="403"/>
            <p14:sldId id="401"/>
            <p14:sldId id="400"/>
            <p14:sldId id="404"/>
            <p14:sldId id="405"/>
            <p14:sldId id="408"/>
            <p14:sldId id="409"/>
            <p14:sldId id="407"/>
            <p14:sldId id="406"/>
          </p14:sldIdLst>
        </p14:section>
        <p14:section name="7-3" id="{6B027AFF-479F-4E44-9C2E-A6793EDEF450}">
          <p14:sldIdLst>
            <p14:sldId id="410"/>
            <p14:sldId id="413"/>
            <p14:sldId id="411"/>
            <p14:sldId id="414"/>
            <p14:sldId id="415"/>
            <p14:sldId id="417"/>
            <p14:sldId id="418"/>
            <p14:sldId id="419"/>
            <p14:sldId id="420"/>
            <p14:sldId id="421"/>
            <p14:sldId id="422"/>
            <p14:sldId id="423"/>
            <p14:sldId id="424"/>
            <p14:sldId id="425"/>
            <p14:sldId id="426"/>
            <p14:sldId id="427"/>
            <p14:sldId id="428"/>
            <p14:sldId id="430"/>
            <p14:sldId id="431"/>
            <p14:sldId id="432"/>
            <p14:sldId id="433"/>
            <p14:sldId id="434"/>
            <p14:sldId id="435"/>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8F3D4"/>
    <a:srgbClr val="ACDCD4"/>
    <a:srgbClr val="38BEAE"/>
    <a:srgbClr val="B4DAB4"/>
    <a:srgbClr val="FFFFCC"/>
    <a:srgbClr val="F9F9F9"/>
    <a:srgbClr val="F7C655"/>
    <a:srgbClr val="54667E"/>
    <a:srgbClr val="3DA18E"/>
    <a:srgbClr val="4A5A6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淺色樣式 2 - 輔色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varScale="1">
        <p:scale>
          <a:sx n="104" d="100"/>
          <a:sy n="104" d="100"/>
        </p:scale>
        <p:origin x="756" y="114"/>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ags" Target="tags/tag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notesMaster" Target="notesMasters/notesMaster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BB0E631-5482-4755-9FD3-8576C9AB7859}" type="doc">
      <dgm:prSet loTypeId="urn:microsoft.com/office/officeart/2005/8/layout/process3" loCatId="process" qsTypeId="urn:microsoft.com/office/officeart/2005/8/quickstyle/simple1" qsCatId="simple" csTypeId="urn:microsoft.com/office/officeart/2005/8/colors/accent1_2" csCatId="accent1" phldr="1"/>
      <dgm:spPr/>
      <dgm:t>
        <a:bodyPr/>
        <a:lstStyle/>
        <a:p>
          <a:endParaRPr lang="zh-TW" altLang="en-US"/>
        </a:p>
      </dgm:t>
    </dgm:pt>
    <dgm:pt modelId="{7FE78328-DF35-4E50-BE6B-DE14EA6639E3}">
      <dgm:prSet phldrT="[文字]" custT="1"/>
      <dgm:spPr/>
      <dgm:t>
        <a:bodyPr/>
        <a:lstStyle/>
        <a:p>
          <a:r>
            <a:rPr lang="en-US" altLang="zh-TW" sz="1800" b="1" dirty="0">
              <a:latin typeface="微軟正黑體" panose="020B0604030504040204" pitchFamily="34" charset="-120"/>
              <a:ea typeface="微軟正黑體" panose="020B0604030504040204" pitchFamily="34" charset="-120"/>
            </a:rPr>
            <a:t>Step1</a:t>
          </a:r>
          <a:r>
            <a:rPr lang="zh-TW" altLang="en-US" sz="1800" b="1" dirty="0">
              <a:latin typeface="微軟正黑體" panose="020B0604030504040204" pitchFamily="34" charset="-120"/>
              <a:ea typeface="微軟正黑體" panose="020B0604030504040204" pitchFamily="34" charset="-120"/>
            </a:rPr>
            <a:t>種豬</a:t>
          </a:r>
        </a:p>
      </dgm:t>
    </dgm:pt>
    <dgm:pt modelId="{A4344743-8936-4611-8188-29832CC6F5E1}" type="parTrans" cxnId="{01D2283C-38C8-448B-93DA-B626920D07B7}">
      <dgm:prSet/>
      <dgm:spPr/>
      <dgm:t>
        <a:bodyPr/>
        <a:lstStyle/>
        <a:p>
          <a:endParaRPr lang="zh-TW" altLang="en-US"/>
        </a:p>
      </dgm:t>
    </dgm:pt>
    <dgm:pt modelId="{815989E7-E0C4-4509-9467-59E59A066599}" type="sibTrans" cxnId="{01D2283C-38C8-448B-93DA-B626920D07B7}">
      <dgm:prSet/>
      <dgm:spPr/>
      <dgm:t>
        <a:bodyPr/>
        <a:lstStyle/>
        <a:p>
          <a:endParaRPr lang="zh-TW" altLang="en-US"/>
        </a:p>
      </dgm:t>
    </dgm:pt>
    <dgm:pt modelId="{EE8B014C-0578-47DB-866D-C1E5403A4E37}">
      <dgm:prSet phldrT="[文字]" custT="1"/>
      <dgm:spPr/>
      <dgm:t>
        <a:bodyPr/>
        <a:lstStyle/>
        <a:p>
          <a:r>
            <a:rPr lang="zh-TW" altLang="en-US" sz="1800" b="1" dirty="0">
              <a:latin typeface="微軟正黑體" panose="020B0604030504040204" pitchFamily="34" charset="-120"/>
              <a:ea typeface="微軟正黑體" panose="020B0604030504040204" pitchFamily="34" charset="-120"/>
            </a:rPr>
            <a:t>透過種豬配種確保豬隻來源</a:t>
          </a:r>
        </a:p>
      </dgm:t>
    </dgm:pt>
    <dgm:pt modelId="{DBF49006-5507-4485-B392-62609AB5BD89}" type="parTrans" cxnId="{017E6D77-D3EA-4C54-86BB-060C7DEDE6A3}">
      <dgm:prSet/>
      <dgm:spPr/>
      <dgm:t>
        <a:bodyPr/>
        <a:lstStyle/>
        <a:p>
          <a:endParaRPr lang="zh-TW" altLang="en-US"/>
        </a:p>
      </dgm:t>
    </dgm:pt>
    <dgm:pt modelId="{93AFF8D1-BCB7-4307-B9F7-4D8153B7D069}" type="sibTrans" cxnId="{017E6D77-D3EA-4C54-86BB-060C7DEDE6A3}">
      <dgm:prSet/>
      <dgm:spPr/>
      <dgm:t>
        <a:bodyPr/>
        <a:lstStyle/>
        <a:p>
          <a:endParaRPr lang="zh-TW" altLang="en-US"/>
        </a:p>
      </dgm:t>
    </dgm:pt>
    <dgm:pt modelId="{60F1ACDA-3ED3-4DD0-8EEB-0E314072B4F0}">
      <dgm:prSet phldrT="[文字]" custT="1"/>
      <dgm:spPr/>
      <dgm:t>
        <a:bodyPr/>
        <a:lstStyle/>
        <a:p>
          <a:r>
            <a:rPr lang="en-US" altLang="zh-TW" sz="1800" b="1" dirty="0">
              <a:latin typeface="微軟正黑體" panose="020B0604030504040204" pitchFamily="34" charset="-120"/>
              <a:ea typeface="微軟正黑體" panose="020B0604030504040204" pitchFamily="34" charset="-120"/>
            </a:rPr>
            <a:t>Step2</a:t>
          </a:r>
          <a:r>
            <a:rPr lang="zh-TW" altLang="en-US" sz="1800" b="1" dirty="0">
              <a:latin typeface="微軟正黑體" panose="020B0604030504040204" pitchFamily="34" charset="-120"/>
              <a:ea typeface="微軟正黑體" panose="020B0604030504040204" pitchFamily="34" charset="-120"/>
            </a:rPr>
            <a:t>飼料與防疫</a:t>
          </a:r>
        </a:p>
      </dgm:t>
    </dgm:pt>
    <dgm:pt modelId="{1D60F6E8-4F7C-431D-A821-FE5BF879A3A3}" type="parTrans" cxnId="{235B0859-2BC9-458F-86B3-E70246409778}">
      <dgm:prSet/>
      <dgm:spPr/>
      <dgm:t>
        <a:bodyPr/>
        <a:lstStyle/>
        <a:p>
          <a:endParaRPr lang="zh-TW" altLang="en-US"/>
        </a:p>
      </dgm:t>
    </dgm:pt>
    <dgm:pt modelId="{F118340D-8237-4739-BD7B-C905A669F8EE}" type="sibTrans" cxnId="{235B0859-2BC9-458F-86B3-E70246409778}">
      <dgm:prSet/>
      <dgm:spPr/>
      <dgm:t>
        <a:bodyPr/>
        <a:lstStyle/>
        <a:p>
          <a:endParaRPr lang="zh-TW" altLang="en-US"/>
        </a:p>
      </dgm:t>
    </dgm:pt>
    <dgm:pt modelId="{3C9441CE-6A08-4591-9D27-3D28AB57D1A4}">
      <dgm:prSet phldrT="[文字]" custT="1"/>
      <dgm:spPr/>
      <dgm:t>
        <a:bodyPr/>
        <a:lstStyle/>
        <a:p>
          <a:r>
            <a:rPr lang="zh-TW" altLang="en-US" sz="1800" b="1" dirty="0">
              <a:latin typeface="微軟正黑體" panose="020B0604030504040204" pitchFamily="34" charset="-120"/>
              <a:ea typeface="微軟正黑體" panose="020B0604030504040204" pitchFamily="34" charset="-120"/>
            </a:rPr>
            <a:t>預防豬隻出生受疾病感染死亡</a:t>
          </a:r>
        </a:p>
      </dgm:t>
    </dgm:pt>
    <dgm:pt modelId="{6D074D36-BA21-437D-92DB-79474574716E}" type="parTrans" cxnId="{619505B4-AB6B-46C7-A821-39D2F68A2724}">
      <dgm:prSet/>
      <dgm:spPr/>
      <dgm:t>
        <a:bodyPr/>
        <a:lstStyle/>
        <a:p>
          <a:endParaRPr lang="zh-TW" altLang="en-US"/>
        </a:p>
      </dgm:t>
    </dgm:pt>
    <dgm:pt modelId="{10B47A36-EC3C-4DA7-B771-CA45D2F9D6E5}" type="sibTrans" cxnId="{619505B4-AB6B-46C7-A821-39D2F68A2724}">
      <dgm:prSet/>
      <dgm:spPr/>
      <dgm:t>
        <a:bodyPr/>
        <a:lstStyle/>
        <a:p>
          <a:endParaRPr lang="zh-TW" altLang="en-US"/>
        </a:p>
      </dgm:t>
    </dgm:pt>
    <dgm:pt modelId="{97911182-FFEF-469F-8D76-25168DBB162F}">
      <dgm:prSet phldrT="[文字]" custT="1"/>
      <dgm:spPr/>
      <dgm:t>
        <a:bodyPr/>
        <a:lstStyle/>
        <a:p>
          <a:r>
            <a:rPr lang="en-US" altLang="zh-TW" sz="1800" b="1" dirty="0">
              <a:latin typeface="微軟正黑體" panose="020B0604030504040204" pitchFamily="34" charset="-120"/>
              <a:ea typeface="微軟正黑體" panose="020B0604030504040204" pitchFamily="34" charset="-120"/>
            </a:rPr>
            <a:t>Step3</a:t>
          </a:r>
          <a:r>
            <a:rPr lang="zh-TW" altLang="en-US" sz="1800" b="1" dirty="0">
              <a:latin typeface="微軟正黑體" panose="020B0604030504040204" pitchFamily="34" charset="-120"/>
              <a:ea typeface="微軟正黑體" panose="020B0604030504040204" pitchFamily="34" charset="-120"/>
            </a:rPr>
            <a:t>養殖</a:t>
          </a:r>
        </a:p>
      </dgm:t>
    </dgm:pt>
    <dgm:pt modelId="{374CA9EE-8C8D-4118-A60A-900D3C761CF2}" type="parTrans" cxnId="{2A37C191-35CF-4CBA-93EA-DDB7F139A0BE}">
      <dgm:prSet/>
      <dgm:spPr/>
      <dgm:t>
        <a:bodyPr/>
        <a:lstStyle/>
        <a:p>
          <a:endParaRPr lang="zh-TW" altLang="en-US"/>
        </a:p>
      </dgm:t>
    </dgm:pt>
    <dgm:pt modelId="{3A0A92C0-522C-4DD4-8DA4-468DCF48D59D}" type="sibTrans" cxnId="{2A37C191-35CF-4CBA-93EA-DDB7F139A0BE}">
      <dgm:prSet/>
      <dgm:spPr/>
      <dgm:t>
        <a:bodyPr/>
        <a:lstStyle/>
        <a:p>
          <a:endParaRPr lang="zh-TW" altLang="en-US"/>
        </a:p>
      </dgm:t>
    </dgm:pt>
    <dgm:pt modelId="{9ECB8173-5595-4922-B46C-F0EEB2B2DA4F}">
      <dgm:prSet phldrT="[文字]" custT="1"/>
      <dgm:spPr/>
      <dgm:t>
        <a:bodyPr/>
        <a:lstStyle/>
        <a:p>
          <a:r>
            <a:rPr lang="zh-TW" altLang="en-US" sz="1800" b="1" dirty="0">
              <a:latin typeface="微軟正黑體" panose="020B0604030504040204" pitchFamily="34" charset="-120"/>
              <a:ea typeface="微軟正黑體" panose="020B0604030504040204" pitchFamily="34" charset="-120"/>
            </a:rPr>
            <a:t>養殖注意事項提升，一般飼主會將乳豬轉售予養殖業者飼養</a:t>
          </a:r>
        </a:p>
      </dgm:t>
    </dgm:pt>
    <dgm:pt modelId="{FCC2A12B-5510-4937-A124-33CA94D7A1DE}" type="parTrans" cxnId="{253ACA15-43DB-487E-BBE1-D01E463279B7}">
      <dgm:prSet/>
      <dgm:spPr/>
      <dgm:t>
        <a:bodyPr/>
        <a:lstStyle/>
        <a:p>
          <a:endParaRPr lang="zh-TW" altLang="en-US"/>
        </a:p>
      </dgm:t>
    </dgm:pt>
    <dgm:pt modelId="{B94D2D6F-33EB-4076-A84C-C82C0E9435FA}" type="sibTrans" cxnId="{253ACA15-43DB-487E-BBE1-D01E463279B7}">
      <dgm:prSet/>
      <dgm:spPr/>
      <dgm:t>
        <a:bodyPr/>
        <a:lstStyle/>
        <a:p>
          <a:endParaRPr lang="zh-TW" altLang="en-US"/>
        </a:p>
      </dgm:t>
    </dgm:pt>
    <dgm:pt modelId="{B4070A90-B1E9-41BC-B047-BCC229760239}">
      <dgm:prSet phldrT="[文字]" custT="1"/>
      <dgm:spPr/>
      <dgm:t>
        <a:bodyPr/>
        <a:lstStyle/>
        <a:p>
          <a:r>
            <a:rPr lang="zh-TW" altLang="en-US" sz="1800" b="1" dirty="0">
              <a:latin typeface="微軟正黑體" panose="020B0604030504040204" pitchFamily="34" charset="-120"/>
              <a:ea typeface="微軟正黑體" panose="020B0604030504040204" pitchFamily="34" charset="-120"/>
            </a:rPr>
            <a:t>飼料選擇直接影響豬隻的生長，間接影響飼主之營利</a:t>
          </a:r>
        </a:p>
      </dgm:t>
    </dgm:pt>
    <dgm:pt modelId="{0C71CBA5-8BF4-4B1D-9434-EE78B1D7C305}" type="parTrans" cxnId="{B92BC783-3620-46F7-B057-624D67703DA1}">
      <dgm:prSet/>
      <dgm:spPr/>
      <dgm:t>
        <a:bodyPr/>
        <a:lstStyle/>
        <a:p>
          <a:endParaRPr lang="zh-TW" altLang="en-US"/>
        </a:p>
      </dgm:t>
    </dgm:pt>
    <dgm:pt modelId="{085FA1EF-1D09-4CE0-B18F-DC6E155E8238}" type="sibTrans" cxnId="{B92BC783-3620-46F7-B057-624D67703DA1}">
      <dgm:prSet/>
      <dgm:spPr/>
      <dgm:t>
        <a:bodyPr/>
        <a:lstStyle/>
        <a:p>
          <a:endParaRPr lang="zh-TW" altLang="en-US"/>
        </a:p>
      </dgm:t>
    </dgm:pt>
    <dgm:pt modelId="{726EAADD-2AED-4C0E-BB5C-2524EAE6DA1D}" type="pres">
      <dgm:prSet presAssocID="{8BB0E631-5482-4755-9FD3-8576C9AB7859}" presName="linearFlow" presStyleCnt="0">
        <dgm:presLayoutVars>
          <dgm:dir/>
          <dgm:animLvl val="lvl"/>
          <dgm:resizeHandles val="exact"/>
        </dgm:presLayoutVars>
      </dgm:prSet>
      <dgm:spPr/>
    </dgm:pt>
    <dgm:pt modelId="{98B96E37-59AB-4E49-AC09-1A87C8CB79F9}" type="pres">
      <dgm:prSet presAssocID="{7FE78328-DF35-4E50-BE6B-DE14EA6639E3}" presName="composite" presStyleCnt="0"/>
      <dgm:spPr/>
    </dgm:pt>
    <dgm:pt modelId="{17ECDC5A-DDA4-4CE5-AFEA-5EF4082AA4A7}" type="pres">
      <dgm:prSet presAssocID="{7FE78328-DF35-4E50-BE6B-DE14EA6639E3}" presName="parTx" presStyleLbl="node1" presStyleIdx="0" presStyleCnt="3">
        <dgm:presLayoutVars>
          <dgm:chMax val="0"/>
          <dgm:chPref val="0"/>
          <dgm:bulletEnabled val="1"/>
        </dgm:presLayoutVars>
      </dgm:prSet>
      <dgm:spPr/>
    </dgm:pt>
    <dgm:pt modelId="{CD7DEAF6-A1A7-42A5-9910-574945C386B2}" type="pres">
      <dgm:prSet presAssocID="{7FE78328-DF35-4E50-BE6B-DE14EA6639E3}" presName="parSh" presStyleLbl="node1" presStyleIdx="0" presStyleCnt="3"/>
      <dgm:spPr/>
    </dgm:pt>
    <dgm:pt modelId="{7D768838-8864-48CE-AAA4-1001DAD92E3B}" type="pres">
      <dgm:prSet presAssocID="{7FE78328-DF35-4E50-BE6B-DE14EA6639E3}" presName="desTx" presStyleLbl="fgAcc1" presStyleIdx="0" presStyleCnt="3">
        <dgm:presLayoutVars>
          <dgm:bulletEnabled val="1"/>
        </dgm:presLayoutVars>
      </dgm:prSet>
      <dgm:spPr/>
    </dgm:pt>
    <dgm:pt modelId="{D0C1C78D-4363-4E9D-9BD9-852B80ECDD15}" type="pres">
      <dgm:prSet presAssocID="{815989E7-E0C4-4509-9467-59E59A066599}" presName="sibTrans" presStyleLbl="sibTrans2D1" presStyleIdx="0" presStyleCnt="2"/>
      <dgm:spPr/>
    </dgm:pt>
    <dgm:pt modelId="{D9F57A06-8324-4BC8-B9D6-1E797706E064}" type="pres">
      <dgm:prSet presAssocID="{815989E7-E0C4-4509-9467-59E59A066599}" presName="connTx" presStyleLbl="sibTrans2D1" presStyleIdx="0" presStyleCnt="2"/>
      <dgm:spPr/>
    </dgm:pt>
    <dgm:pt modelId="{1318816B-170F-46BC-9EC0-80A3B1F506CB}" type="pres">
      <dgm:prSet presAssocID="{60F1ACDA-3ED3-4DD0-8EEB-0E314072B4F0}" presName="composite" presStyleCnt="0"/>
      <dgm:spPr/>
    </dgm:pt>
    <dgm:pt modelId="{FC5E42F7-C2A6-4E5A-8C9A-18C9620BDFB6}" type="pres">
      <dgm:prSet presAssocID="{60F1ACDA-3ED3-4DD0-8EEB-0E314072B4F0}" presName="parTx" presStyleLbl="node1" presStyleIdx="0" presStyleCnt="3">
        <dgm:presLayoutVars>
          <dgm:chMax val="0"/>
          <dgm:chPref val="0"/>
          <dgm:bulletEnabled val="1"/>
        </dgm:presLayoutVars>
      </dgm:prSet>
      <dgm:spPr/>
    </dgm:pt>
    <dgm:pt modelId="{5E3CADFA-42E9-4ADA-937F-07316B63B7C7}" type="pres">
      <dgm:prSet presAssocID="{60F1ACDA-3ED3-4DD0-8EEB-0E314072B4F0}" presName="parSh" presStyleLbl="node1" presStyleIdx="1" presStyleCnt="3"/>
      <dgm:spPr/>
    </dgm:pt>
    <dgm:pt modelId="{452C1F94-3B3F-4355-9D11-336044F144F7}" type="pres">
      <dgm:prSet presAssocID="{60F1ACDA-3ED3-4DD0-8EEB-0E314072B4F0}" presName="desTx" presStyleLbl="fgAcc1" presStyleIdx="1" presStyleCnt="3">
        <dgm:presLayoutVars>
          <dgm:bulletEnabled val="1"/>
        </dgm:presLayoutVars>
      </dgm:prSet>
      <dgm:spPr/>
    </dgm:pt>
    <dgm:pt modelId="{A1B4C16B-9F05-4133-9862-85D14CBACD5D}" type="pres">
      <dgm:prSet presAssocID="{F118340D-8237-4739-BD7B-C905A669F8EE}" presName="sibTrans" presStyleLbl="sibTrans2D1" presStyleIdx="1" presStyleCnt="2"/>
      <dgm:spPr/>
    </dgm:pt>
    <dgm:pt modelId="{4F3D3894-3B1E-4260-8013-AE964C4939D4}" type="pres">
      <dgm:prSet presAssocID="{F118340D-8237-4739-BD7B-C905A669F8EE}" presName="connTx" presStyleLbl="sibTrans2D1" presStyleIdx="1" presStyleCnt="2"/>
      <dgm:spPr/>
    </dgm:pt>
    <dgm:pt modelId="{932804B6-D0F0-4794-B9C7-C98F1FC819E7}" type="pres">
      <dgm:prSet presAssocID="{97911182-FFEF-469F-8D76-25168DBB162F}" presName="composite" presStyleCnt="0"/>
      <dgm:spPr/>
    </dgm:pt>
    <dgm:pt modelId="{1CF4D4DD-C98D-45A8-8609-DB3255F1E0D1}" type="pres">
      <dgm:prSet presAssocID="{97911182-FFEF-469F-8D76-25168DBB162F}" presName="parTx" presStyleLbl="node1" presStyleIdx="1" presStyleCnt="3">
        <dgm:presLayoutVars>
          <dgm:chMax val="0"/>
          <dgm:chPref val="0"/>
          <dgm:bulletEnabled val="1"/>
        </dgm:presLayoutVars>
      </dgm:prSet>
      <dgm:spPr/>
    </dgm:pt>
    <dgm:pt modelId="{9E763167-F1EB-44C8-A870-AEAF4C1197F7}" type="pres">
      <dgm:prSet presAssocID="{97911182-FFEF-469F-8D76-25168DBB162F}" presName="parSh" presStyleLbl="node1" presStyleIdx="2" presStyleCnt="3"/>
      <dgm:spPr/>
    </dgm:pt>
    <dgm:pt modelId="{22126DA9-E5FE-43C7-9B75-148229125501}" type="pres">
      <dgm:prSet presAssocID="{97911182-FFEF-469F-8D76-25168DBB162F}" presName="desTx" presStyleLbl="fgAcc1" presStyleIdx="2" presStyleCnt="3">
        <dgm:presLayoutVars>
          <dgm:bulletEnabled val="1"/>
        </dgm:presLayoutVars>
      </dgm:prSet>
      <dgm:spPr/>
    </dgm:pt>
  </dgm:ptLst>
  <dgm:cxnLst>
    <dgm:cxn modelId="{EBA6C103-1C29-41F9-91B6-B992C23AF593}" type="presOf" srcId="{8BB0E631-5482-4755-9FD3-8576C9AB7859}" destId="{726EAADD-2AED-4C0E-BB5C-2524EAE6DA1D}" srcOrd="0" destOrd="0" presId="urn:microsoft.com/office/officeart/2005/8/layout/process3"/>
    <dgm:cxn modelId="{E9FBD804-D73C-4084-A85A-083B1E8DEAE6}" type="presOf" srcId="{60F1ACDA-3ED3-4DD0-8EEB-0E314072B4F0}" destId="{5E3CADFA-42E9-4ADA-937F-07316B63B7C7}" srcOrd="1" destOrd="0" presId="urn:microsoft.com/office/officeart/2005/8/layout/process3"/>
    <dgm:cxn modelId="{3BEB5F07-49B0-4DE9-BDCC-248E516D3EF8}" type="presOf" srcId="{9ECB8173-5595-4922-B46C-F0EEB2B2DA4F}" destId="{22126DA9-E5FE-43C7-9B75-148229125501}" srcOrd="0" destOrd="0" presId="urn:microsoft.com/office/officeart/2005/8/layout/process3"/>
    <dgm:cxn modelId="{6041CF14-EEB9-4261-A475-3D3935E1CBC6}" type="presOf" srcId="{3C9441CE-6A08-4591-9D27-3D28AB57D1A4}" destId="{452C1F94-3B3F-4355-9D11-336044F144F7}" srcOrd="0" destOrd="0" presId="urn:microsoft.com/office/officeart/2005/8/layout/process3"/>
    <dgm:cxn modelId="{9BBF6015-4566-48D3-8ABC-C7C61575615F}" type="presOf" srcId="{97911182-FFEF-469F-8D76-25168DBB162F}" destId="{1CF4D4DD-C98D-45A8-8609-DB3255F1E0D1}" srcOrd="0" destOrd="0" presId="urn:microsoft.com/office/officeart/2005/8/layout/process3"/>
    <dgm:cxn modelId="{253ACA15-43DB-487E-BBE1-D01E463279B7}" srcId="{97911182-FFEF-469F-8D76-25168DBB162F}" destId="{9ECB8173-5595-4922-B46C-F0EEB2B2DA4F}" srcOrd="0" destOrd="0" parTransId="{FCC2A12B-5510-4937-A124-33CA94D7A1DE}" sibTransId="{B94D2D6F-33EB-4076-A84C-C82C0E9435FA}"/>
    <dgm:cxn modelId="{E0D69E1F-939C-4E08-BA52-4F4CC8C44D50}" type="presOf" srcId="{60F1ACDA-3ED3-4DD0-8EEB-0E314072B4F0}" destId="{FC5E42F7-C2A6-4E5A-8C9A-18C9620BDFB6}" srcOrd="0" destOrd="0" presId="urn:microsoft.com/office/officeart/2005/8/layout/process3"/>
    <dgm:cxn modelId="{01D2283C-38C8-448B-93DA-B626920D07B7}" srcId="{8BB0E631-5482-4755-9FD3-8576C9AB7859}" destId="{7FE78328-DF35-4E50-BE6B-DE14EA6639E3}" srcOrd="0" destOrd="0" parTransId="{A4344743-8936-4611-8188-29832CC6F5E1}" sibTransId="{815989E7-E0C4-4509-9467-59E59A066599}"/>
    <dgm:cxn modelId="{2BECE940-08E9-4695-9286-6C6B64D1B23F}" type="presOf" srcId="{B4070A90-B1E9-41BC-B047-BCC229760239}" destId="{452C1F94-3B3F-4355-9D11-336044F144F7}" srcOrd="0" destOrd="1" presId="urn:microsoft.com/office/officeart/2005/8/layout/process3"/>
    <dgm:cxn modelId="{017E6D77-D3EA-4C54-86BB-060C7DEDE6A3}" srcId="{7FE78328-DF35-4E50-BE6B-DE14EA6639E3}" destId="{EE8B014C-0578-47DB-866D-C1E5403A4E37}" srcOrd="0" destOrd="0" parTransId="{DBF49006-5507-4485-B392-62609AB5BD89}" sibTransId="{93AFF8D1-BCB7-4307-B9F7-4D8153B7D069}"/>
    <dgm:cxn modelId="{235B0859-2BC9-458F-86B3-E70246409778}" srcId="{8BB0E631-5482-4755-9FD3-8576C9AB7859}" destId="{60F1ACDA-3ED3-4DD0-8EEB-0E314072B4F0}" srcOrd="1" destOrd="0" parTransId="{1D60F6E8-4F7C-431D-A821-FE5BF879A3A3}" sibTransId="{F118340D-8237-4739-BD7B-C905A669F8EE}"/>
    <dgm:cxn modelId="{B92BC783-3620-46F7-B057-624D67703DA1}" srcId="{60F1ACDA-3ED3-4DD0-8EEB-0E314072B4F0}" destId="{B4070A90-B1E9-41BC-B047-BCC229760239}" srcOrd="1" destOrd="0" parTransId="{0C71CBA5-8BF4-4B1D-9434-EE78B1D7C305}" sibTransId="{085FA1EF-1D09-4CE0-B18F-DC6E155E8238}"/>
    <dgm:cxn modelId="{2A37C191-35CF-4CBA-93EA-DDB7F139A0BE}" srcId="{8BB0E631-5482-4755-9FD3-8576C9AB7859}" destId="{97911182-FFEF-469F-8D76-25168DBB162F}" srcOrd="2" destOrd="0" parTransId="{374CA9EE-8C8D-4118-A60A-900D3C761CF2}" sibTransId="{3A0A92C0-522C-4DD4-8DA4-468DCF48D59D}"/>
    <dgm:cxn modelId="{619505B4-AB6B-46C7-A821-39D2F68A2724}" srcId="{60F1ACDA-3ED3-4DD0-8EEB-0E314072B4F0}" destId="{3C9441CE-6A08-4591-9D27-3D28AB57D1A4}" srcOrd="0" destOrd="0" parTransId="{6D074D36-BA21-437D-92DB-79474574716E}" sibTransId="{10B47A36-EC3C-4DA7-B771-CA45D2F9D6E5}"/>
    <dgm:cxn modelId="{909239C6-CACD-4AFC-BFE3-E21599538A90}" type="presOf" srcId="{7FE78328-DF35-4E50-BE6B-DE14EA6639E3}" destId="{CD7DEAF6-A1A7-42A5-9910-574945C386B2}" srcOrd="1" destOrd="0" presId="urn:microsoft.com/office/officeart/2005/8/layout/process3"/>
    <dgm:cxn modelId="{FAD8D1C6-7669-4995-BB77-044739BB8A6B}" type="presOf" srcId="{7FE78328-DF35-4E50-BE6B-DE14EA6639E3}" destId="{17ECDC5A-DDA4-4CE5-AFEA-5EF4082AA4A7}" srcOrd="0" destOrd="0" presId="urn:microsoft.com/office/officeart/2005/8/layout/process3"/>
    <dgm:cxn modelId="{97186ACD-9892-43B4-B4C3-716183B4960A}" type="presOf" srcId="{F118340D-8237-4739-BD7B-C905A669F8EE}" destId="{A1B4C16B-9F05-4133-9862-85D14CBACD5D}" srcOrd="0" destOrd="0" presId="urn:microsoft.com/office/officeart/2005/8/layout/process3"/>
    <dgm:cxn modelId="{FA1B26D0-264B-4253-9A70-E1AB617ACDC2}" type="presOf" srcId="{815989E7-E0C4-4509-9467-59E59A066599}" destId="{D9F57A06-8324-4BC8-B9D6-1E797706E064}" srcOrd="1" destOrd="0" presId="urn:microsoft.com/office/officeart/2005/8/layout/process3"/>
    <dgm:cxn modelId="{E909CDD2-ADE9-4896-B2BA-2503E2432E22}" type="presOf" srcId="{97911182-FFEF-469F-8D76-25168DBB162F}" destId="{9E763167-F1EB-44C8-A870-AEAF4C1197F7}" srcOrd="1" destOrd="0" presId="urn:microsoft.com/office/officeart/2005/8/layout/process3"/>
    <dgm:cxn modelId="{103106DD-6161-460F-B1D4-B73C9DA18561}" type="presOf" srcId="{815989E7-E0C4-4509-9467-59E59A066599}" destId="{D0C1C78D-4363-4E9D-9BD9-852B80ECDD15}" srcOrd="0" destOrd="0" presId="urn:microsoft.com/office/officeart/2005/8/layout/process3"/>
    <dgm:cxn modelId="{95B13CDE-92DB-4BA6-B114-5BCE1B798442}" type="presOf" srcId="{F118340D-8237-4739-BD7B-C905A669F8EE}" destId="{4F3D3894-3B1E-4260-8013-AE964C4939D4}" srcOrd="1" destOrd="0" presId="urn:microsoft.com/office/officeart/2005/8/layout/process3"/>
    <dgm:cxn modelId="{8A75C1E3-EAEA-4A71-9E43-F1CD4C9CDF22}" type="presOf" srcId="{EE8B014C-0578-47DB-866D-C1E5403A4E37}" destId="{7D768838-8864-48CE-AAA4-1001DAD92E3B}" srcOrd="0" destOrd="0" presId="urn:microsoft.com/office/officeart/2005/8/layout/process3"/>
    <dgm:cxn modelId="{43B87D83-F5E4-4B09-8FC3-78D8C07493D5}" type="presParOf" srcId="{726EAADD-2AED-4C0E-BB5C-2524EAE6DA1D}" destId="{98B96E37-59AB-4E49-AC09-1A87C8CB79F9}" srcOrd="0" destOrd="0" presId="urn:microsoft.com/office/officeart/2005/8/layout/process3"/>
    <dgm:cxn modelId="{48DA00A0-31E7-4F20-A560-A2FCB5C68F3D}" type="presParOf" srcId="{98B96E37-59AB-4E49-AC09-1A87C8CB79F9}" destId="{17ECDC5A-DDA4-4CE5-AFEA-5EF4082AA4A7}" srcOrd="0" destOrd="0" presId="urn:microsoft.com/office/officeart/2005/8/layout/process3"/>
    <dgm:cxn modelId="{16A6D01E-60F9-4E3B-B709-F821D029FCAB}" type="presParOf" srcId="{98B96E37-59AB-4E49-AC09-1A87C8CB79F9}" destId="{CD7DEAF6-A1A7-42A5-9910-574945C386B2}" srcOrd="1" destOrd="0" presId="urn:microsoft.com/office/officeart/2005/8/layout/process3"/>
    <dgm:cxn modelId="{AF8B81CC-1AC0-4341-B2D9-E392A7CC789F}" type="presParOf" srcId="{98B96E37-59AB-4E49-AC09-1A87C8CB79F9}" destId="{7D768838-8864-48CE-AAA4-1001DAD92E3B}" srcOrd="2" destOrd="0" presId="urn:microsoft.com/office/officeart/2005/8/layout/process3"/>
    <dgm:cxn modelId="{8C192CC3-F733-4112-9F84-C2993180654B}" type="presParOf" srcId="{726EAADD-2AED-4C0E-BB5C-2524EAE6DA1D}" destId="{D0C1C78D-4363-4E9D-9BD9-852B80ECDD15}" srcOrd="1" destOrd="0" presId="urn:microsoft.com/office/officeart/2005/8/layout/process3"/>
    <dgm:cxn modelId="{0D7DB088-BF03-45CC-B5D0-63DC6315D423}" type="presParOf" srcId="{D0C1C78D-4363-4E9D-9BD9-852B80ECDD15}" destId="{D9F57A06-8324-4BC8-B9D6-1E797706E064}" srcOrd="0" destOrd="0" presId="urn:microsoft.com/office/officeart/2005/8/layout/process3"/>
    <dgm:cxn modelId="{A6A60B0B-A5FA-473E-A6CE-99CEFE48E96A}" type="presParOf" srcId="{726EAADD-2AED-4C0E-BB5C-2524EAE6DA1D}" destId="{1318816B-170F-46BC-9EC0-80A3B1F506CB}" srcOrd="2" destOrd="0" presId="urn:microsoft.com/office/officeart/2005/8/layout/process3"/>
    <dgm:cxn modelId="{552D1FEA-B335-44E6-8622-FF447E0CB983}" type="presParOf" srcId="{1318816B-170F-46BC-9EC0-80A3B1F506CB}" destId="{FC5E42F7-C2A6-4E5A-8C9A-18C9620BDFB6}" srcOrd="0" destOrd="0" presId="urn:microsoft.com/office/officeart/2005/8/layout/process3"/>
    <dgm:cxn modelId="{C11638D1-5181-4FB1-98D0-6E9D404AE8EC}" type="presParOf" srcId="{1318816B-170F-46BC-9EC0-80A3B1F506CB}" destId="{5E3CADFA-42E9-4ADA-937F-07316B63B7C7}" srcOrd="1" destOrd="0" presId="urn:microsoft.com/office/officeart/2005/8/layout/process3"/>
    <dgm:cxn modelId="{E33CF94A-49F5-4A2E-878B-81E12A254F8D}" type="presParOf" srcId="{1318816B-170F-46BC-9EC0-80A3B1F506CB}" destId="{452C1F94-3B3F-4355-9D11-336044F144F7}" srcOrd="2" destOrd="0" presId="urn:microsoft.com/office/officeart/2005/8/layout/process3"/>
    <dgm:cxn modelId="{D7413059-C26A-490C-A93C-395B3A45352E}" type="presParOf" srcId="{726EAADD-2AED-4C0E-BB5C-2524EAE6DA1D}" destId="{A1B4C16B-9F05-4133-9862-85D14CBACD5D}" srcOrd="3" destOrd="0" presId="urn:microsoft.com/office/officeart/2005/8/layout/process3"/>
    <dgm:cxn modelId="{D367BF15-0C7C-4624-B482-FEC3EB9D4055}" type="presParOf" srcId="{A1B4C16B-9F05-4133-9862-85D14CBACD5D}" destId="{4F3D3894-3B1E-4260-8013-AE964C4939D4}" srcOrd="0" destOrd="0" presId="urn:microsoft.com/office/officeart/2005/8/layout/process3"/>
    <dgm:cxn modelId="{7BFDB3ED-F0DA-486E-9DBA-9803B15C32B9}" type="presParOf" srcId="{726EAADD-2AED-4C0E-BB5C-2524EAE6DA1D}" destId="{932804B6-D0F0-4794-B9C7-C98F1FC819E7}" srcOrd="4" destOrd="0" presId="urn:microsoft.com/office/officeart/2005/8/layout/process3"/>
    <dgm:cxn modelId="{4E0D33FD-E3EF-4EDE-AB3C-BA88D24A62DC}" type="presParOf" srcId="{932804B6-D0F0-4794-B9C7-C98F1FC819E7}" destId="{1CF4D4DD-C98D-45A8-8609-DB3255F1E0D1}" srcOrd="0" destOrd="0" presId="urn:microsoft.com/office/officeart/2005/8/layout/process3"/>
    <dgm:cxn modelId="{0F5C8D3C-02BB-468D-9CB0-FE74B616E829}" type="presParOf" srcId="{932804B6-D0F0-4794-B9C7-C98F1FC819E7}" destId="{9E763167-F1EB-44C8-A870-AEAF4C1197F7}" srcOrd="1" destOrd="0" presId="urn:microsoft.com/office/officeart/2005/8/layout/process3"/>
    <dgm:cxn modelId="{81DF097C-1540-4AC5-A8F7-86AFC29BF7A6}" type="presParOf" srcId="{932804B6-D0F0-4794-B9C7-C98F1FC819E7}" destId="{22126DA9-E5FE-43C7-9B75-148229125501}" srcOrd="2" destOrd="0" presId="urn:microsoft.com/office/officeart/2005/8/layout/process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BB0E631-5482-4755-9FD3-8576C9AB7859}" type="doc">
      <dgm:prSet loTypeId="urn:microsoft.com/office/officeart/2005/8/layout/process3" loCatId="process" qsTypeId="urn:microsoft.com/office/officeart/2005/8/quickstyle/simple1" qsCatId="simple" csTypeId="urn:microsoft.com/office/officeart/2005/8/colors/accent1_2" csCatId="accent1" phldr="1"/>
      <dgm:spPr/>
      <dgm:t>
        <a:bodyPr/>
        <a:lstStyle/>
        <a:p>
          <a:endParaRPr lang="zh-TW" altLang="en-US"/>
        </a:p>
      </dgm:t>
    </dgm:pt>
    <dgm:pt modelId="{7FE78328-DF35-4E50-BE6B-DE14EA6639E3}">
      <dgm:prSet phldrT="[文字]" custT="1"/>
      <dgm:spPr/>
      <dgm:t>
        <a:bodyPr/>
        <a:lstStyle/>
        <a:p>
          <a:r>
            <a:rPr lang="en-US" altLang="zh-TW" sz="1800" b="1" dirty="0">
              <a:latin typeface="微軟正黑體" panose="020B0604030504040204" pitchFamily="34" charset="-120"/>
              <a:ea typeface="微軟正黑體" panose="020B0604030504040204" pitchFamily="34" charset="-120"/>
            </a:rPr>
            <a:t>Step3</a:t>
          </a:r>
          <a:r>
            <a:rPr lang="zh-TW" altLang="en-US" sz="1800" b="1" dirty="0">
              <a:latin typeface="微軟正黑體" panose="020B0604030504040204" pitchFamily="34" charset="-120"/>
              <a:ea typeface="微軟正黑體" panose="020B0604030504040204" pitchFamily="34" charset="-120"/>
            </a:rPr>
            <a:t>豬隻與肉品檢驗</a:t>
          </a:r>
        </a:p>
      </dgm:t>
    </dgm:pt>
    <dgm:pt modelId="{A4344743-8936-4611-8188-29832CC6F5E1}" type="parTrans" cxnId="{01D2283C-38C8-448B-93DA-B626920D07B7}">
      <dgm:prSet/>
      <dgm:spPr/>
      <dgm:t>
        <a:bodyPr/>
        <a:lstStyle/>
        <a:p>
          <a:endParaRPr lang="zh-TW" altLang="en-US"/>
        </a:p>
      </dgm:t>
    </dgm:pt>
    <dgm:pt modelId="{815989E7-E0C4-4509-9467-59E59A066599}" type="sibTrans" cxnId="{01D2283C-38C8-448B-93DA-B626920D07B7}">
      <dgm:prSet/>
      <dgm:spPr/>
      <dgm:t>
        <a:bodyPr/>
        <a:lstStyle/>
        <a:p>
          <a:endParaRPr lang="zh-TW" altLang="en-US"/>
        </a:p>
      </dgm:t>
    </dgm:pt>
    <dgm:pt modelId="{EE8B014C-0578-47DB-866D-C1E5403A4E37}">
      <dgm:prSet phldrT="[文字]" custT="1"/>
      <dgm:spPr/>
      <dgm:t>
        <a:bodyPr/>
        <a:lstStyle/>
        <a:p>
          <a:r>
            <a:rPr lang="zh-TW" altLang="en-US" sz="1800" b="1" dirty="0">
              <a:latin typeface="微軟正黑體" panose="020B0604030504040204" pitchFamily="34" charset="-120"/>
              <a:ea typeface="微軟正黑體" panose="020B0604030504040204" pitchFamily="34" charset="-120"/>
            </a:rPr>
            <a:t>成豬到達可售重量前，養殖業者須先做檢疫作業，以確保豬隻安全性</a:t>
          </a:r>
        </a:p>
      </dgm:t>
    </dgm:pt>
    <dgm:pt modelId="{DBF49006-5507-4485-B392-62609AB5BD89}" type="parTrans" cxnId="{017E6D77-D3EA-4C54-86BB-060C7DEDE6A3}">
      <dgm:prSet/>
      <dgm:spPr/>
      <dgm:t>
        <a:bodyPr/>
        <a:lstStyle/>
        <a:p>
          <a:endParaRPr lang="zh-TW" altLang="en-US"/>
        </a:p>
      </dgm:t>
    </dgm:pt>
    <dgm:pt modelId="{93AFF8D1-BCB7-4307-B9F7-4D8153B7D069}" type="sibTrans" cxnId="{017E6D77-D3EA-4C54-86BB-060C7DEDE6A3}">
      <dgm:prSet/>
      <dgm:spPr/>
      <dgm:t>
        <a:bodyPr/>
        <a:lstStyle/>
        <a:p>
          <a:endParaRPr lang="zh-TW" altLang="en-US"/>
        </a:p>
      </dgm:t>
    </dgm:pt>
    <dgm:pt modelId="{60F1ACDA-3ED3-4DD0-8EEB-0E314072B4F0}">
      <dgm:prSet phldrT="[文字]" custT="1"/>
      <dgm:spPr/>
      <dgm:t>
        <a:bodyPr/>
        <a:lstStyle/>
        <a:p>
          <a:r>
            <a:rPr lang="en-US" altLang="zh-TW" sz="1800" b="1" dirty="0">
              <a:latin typeface="微軟正黑體" panose="020B0604030504040204" pitchFamily="34" charset="-120"/>
              <a:ea typeface="微軟正黑體" panose="020B0604030504040204" pitchFamily="34" charset="-120"/>
            </a:rPr>
            <a:t>Step4</a:t>
          </a:r>
          <a:r>
            <a:rPr lang="zh-TW" altLang="en-US" sz="1800" b="1" dirty="0">
              <a:latin typeface="微軟正黑體" panose="020B0604030504040204" pitchFamily="34" charset="-120"/>
              <a:ea typeface="微軟正黑體" panose="020B0604030504040204" pitchFamily="34" charset="-120"/>
            </a:rPr>
            <a:t>屠宰</a:t>
          </a:r>
        </a:p>
      </dgm:t>
    </dgm:pt>
    <dgm:pt modelId="{1D60F6E8-4F7C-431D-A821-FE5BF879A3A3}" type="parTrans" cxnId="{235B0859-2BC9-458F-86B3-E70246409778}">
      <dgm:prSet/>
      <dgm:spPr/>
      <dgm:t>
        <a:bodyPr/>
        <a:lstStyle/>
        <a:p>
          <a:endParaRPr lang="zh-TW" altLang="en-US"/>
        </a:p>
      </dgm:t>
    </dgm:pt>
    <dgm:pt modelId="{F118340D-8237-4739-BD7B-C905A669F8EE}" type="sibTrans" cxnId="{235B0859-2BC9-458F-86B3-E70246409778}">
      <dgm:prSet/>
      <dgm:spPr/>
      <dgm:t>
        <a:bodyPr/>
        <a:lstStyle/>
        <a:p>
          <a:endParaRPr lang="zh-TW" altLang="en-US"/>
        </a:p>
      </dgm:t>
    </dgm:pt>
    <dgm:pt modelId="{3C9441CE-6A08-4591-9D27-3D28AB57D1A4}">
      <dgm:prSet phldrT="[文字]" custT="1"/>
      <dgm:spPr/>
      <dgm:t>
        <a:bodyPr/>
        <a:lstStyle/>
        <a:p>
          <a:r>
            <a:rPr lang="zh-TW" altLang="en-US" sz="1800" b="1" dirty="0">
              <a:latin typeface="微軟正黑體" panose="020B0604030504040204" pitchFamily="34" charset="-120"/>
              <a:ea typeface="微軟正黑體" panose="020B0604030504040204" pitchFamily="34" charset="-120"/>
            </a:rPr>
            <a:t>確認豬隻檢疫是符合規範同時送至屠宰加工廠進行豬隻屠宰作業</a:t>
          </a:r>
        </a:p>
      </dgm:t>
    </dgm:pt>
    <dgm:pt modelId="{6D074D36-BA21-437D-92DB-79474574716E}" type="parTrans" cxnId="{619505B4-AB6B-46C7-A821-39D2F68A2724}">
      <dgm:prSet/>
      <dgm:spPr/>
      <dgm:t>
        <a:bodyPr/>
        <a:lstStyle/>
        <a:p>
          <a:endParaRPr lang="zh-TW" altLang="en-US"/>
        </a:p>
      </dgm:t>
    </dgm:pt>
    <dgm:pt modelId="{10B47A36-EC3C-4DA7-B771-CA45D2F9D6E5}" type="sibTrans" cxnId="{619505B4-AB6B-46C7-A821-39D2F68A2724}">
      <dgm:prSet/>
      <dgm:spPr/>
      <dgm:t>
        <a:bodyPr/>
        <a:lstStyle/>
        <a:p>
          <a:endParaRPr lang="zh-TW" altLang="en-US"/>
        </a:p>
      </dgm:t>
    </dgm:pt>
    <dgm:pt modelId="{97911182-FFEF-469F-8D76-25168DBB162F}">
      <dgm:prSet phldrT="[文字]" custT="1"/>
      <dgm:spPr/>
      <dgm:t>
        <a:bodyPr/>
        <a:lstStyle/>
        <a:p>
          <a:r>
            <a:rPr lang="en-US" altLang="zh-TW" sz="1800" b="1" dirty="0">
              <a:latin typeface="微軟正黑體" panose="020B0604030504040204" pitchFamily="34" charset="-120"/>
              <a:ea typeface="微軟正黑體" panose="020B0604030504040204" pitchFamily="34" charset="-120"/>
            </a:rPr>
            <a:t>Step5</a:t>
          </a:r>
          <a:r>
            <a:rPr lang="zh-TW" altLang="en-US" sz="1800" b="1" dirty="0">
              <a:latin typeface="微軟正黑體" panose="020B0604030504040204" pitchFamily="34" charset="-120"/>
              <a:ea typeface="微軟正黑體" panose="020B0604030504040204" pitchFamily="34" charset="-120"/>
            </a:rPr>
            <a:t>物流</a:t>
          </a:r>
        </a:p>
      </dgm:t>
    </dgm:pt>
    <dgm:pt modelId="{374CA9EE-8C8D-4118-A60A-900D3C761CF2}" type="parTrans" cxnId="{2A37C191-35CF-4CBA-93EA-DDB7F139A0BE}">
      <dgm:prSet/>
      <dgm:spPr/>
      <dgm:t>
        <a:bodyPr/>
        <a:lstStyle/>
        <a:p>
          <a:endParaRPr lang="zh-TW" altLang="en-US"/>
        </a:p>
      </dgm:t>
    </dgm:pt>
    <dgm:pt modelId="{3A0A92C0-522C-4DD4-8DA4-468DCF48D59D}" type="sibTrans" cxnId="{2A37C191-35CF-4CBA-93EA-DDB7F139A0BE}">
      <dgm:prSet/>
      <dgm:spPr/>
      <dgm:t>
        <a:bodyPr/>
        <a:lstStyle/>
        <a:p>
          <a:endParaRPr lang="zh-TW" altLang="en-US"/>
        </a:p>
      </dgm:t>
    </dgm:pt>
    <dgm:pt modelId="{9ECB8173-5595-4922-B46C-F0EEB2B2DA4F}">
      <dgm:prSet phldrT="[文字]" custT="1"/>
      <dgm:spPr/>
      <dgm:t>
        <a:bodyPr/>
        <a:lstStyle/>
        <a:p>
          <a:r>
            <a:rPr lang="zh-TW" altLang="en-US" sz="1800" b="1" dirty="0">
              <a:latin typeface="微軟正黑體" panose="020B0604030504040204" pitchFamily="34" charset="-120"/>
              <a:ea typeface="微軟正黑體" panose="020B0604030504040204" pitchFamily="34" charset="-120"/>
            </a:rPr>
            <a:t>確認肉品無問題後，進入物流運送</a:t>
          </a:r>
        </a:p>
      </dgm:t>
    </dgm:pt>
    <dgm:pt modelId="{FCC2A12B-5510-4937-A124-33CA94D7A1DE}" type="parTrans" cxnId="{253ACA15-43DB-487E-BBE1-D01E463279B7}">
      <dgm:prSet/>
      <dgm:spPr/>
      <dgm:t>
        <a:bodyPr/>
        <a:lstStyle/>
        <a:p>
          <a:endParaRPr lang="zh-TW" altLang="en-US"/>
        </a:p>
      </dgm:t>
    </dgm:pt>
    <dgm:pt modelId="{B94D2D6F-33EB-4076-A84C-C82C0E9435FA}" type="sibTrans" cxnId="{253ACA15-43DB-487E-BBE1-D01E463279B7}">
      <dgm:prSet/>
      <dgm:spPr/>
      <dgm:t>
        <a:bodyPr/>
        <a:lstStyle/>
        <a:p>
          <a:endParaRPr lang="zh-TW" altLang="en-US"/>
        </a:p>
      </dgm:t>
    </dgm:pt>
    <dgm:pt modelId="{B4070A90-B1E9-41BC-B047-BCC229760239}">
      <dgm:prSet phldrT="[文字]" custT="1"/>
      <dgm:spPr/>
      <dgm:t>
        <a:bodyPr/>
        <a:lstStyle/>
        <a:p>
          <a:r>
            <a:rPr lang="zh-TW" altLang="en-US" sz="1800" b="1" dirty="0">
              <a:latin typeface="微軟正黑體" panose="020B0604030504040204" pitchFamily="34" charset="-120"/>
              <a:ea typeface="微軟正黑體" panose="020B0604030504040204" pitchFamily="34" charset="-120"/>
            </a:rPr>
            <a:t>屠宰後肉品再進行一次肉品檢驗作業，確保肉品不受污染及對肉品的安全認證作業</a:t>
          </a:r>
        </a:p>
      </dgm:t>
    </dgm:pt>
    <dgm:pt modelId="{085FA1EF-1D09-4CE0-B18F-DC6E155E8238}" type="sibTrans" cxnId="{B92BC783-3620-46F7-B057-624D67703DA1}">
      <dgm:prSet/>
      <dgm:spPr/>
      <dgm:t>
        <a:bodyPr/>
        <a:lstStyle/>
        <a:p>
          <a:endParaRPr lang="zh-TW" altLang="en-US"/>
        </a:p>
      </dgm:t>
    </dgm:pt>
    <dgm:pt modelId="{0C71CBA5-8BF4-4B1D-9434-EE78B1D7C305}" type="parTrans" cxnId="{B92BC783-3620-46F7-B057-624D67703DA1}">
      <dgm:prSet/>
      <dgm:spPr/>
      <dgm:t>
        <a:bodyPr/>
        <a:lstStyle/>
        <a:p>
          <a:endParaRPr lang="zh-TW" altLang="en-US"/>
        </a:p>
      </dgm:t>
    </dgm:pt>
    <dgm:pt modelId="{726EAADD-2AED-4C0E-BB5C-2524EAE6DA1D}" type="pres">
      <dgm:prSet presAssocID="{8BB0E631-5482-4755-9FD3-8576C9AB7859}" presName="linearFlow" presStyleCnt="0">
        <dgm:presLayoutVars>
          <dgm:dir/>
          <dgm:animLvl val="lvl"/>
          <dgm:resizeHandles val="exact"/>
        </dgm:presLayoutVars>
      </dgm:prSet>
      <dgm:spPr/>
    </dgm:pt>
    <dgm:pt modelId="{98B96E37-59AB-4E49-AC09-1A87C8CB79F9}" type="pres">
      <dgm:prSet presAssocID="{7FE78328-DF35-4E50-BE6B-DE14EA6639E3}" presName="composite" presStyleCnt="0"/>
      <dgm:spPr/>
    </dgm:pt>
    <dgm:pt modelId="{17ECDC5A-DDA4-4CE5-AFEA-5EF4082AA4A7}" type="pres">
      <dgm:prSet presAssocID="{7FE78328-DF35-4E50-BE6B-DE14EA6639E3}" presName="parTx" presStyleLbl="node1" presStyleIdx="0" presStyleCnt="3">
        <dgm:presLayoutVars>
          <dgm:chMax val="0"/>
          <dgm:chPref val="0"/>
          <dgm:bulletEnabled val="1"/>
        </dgm:presLayoutVars>
      </dgm:prSet>
      <dgm:spPr/>
    </dgm:pt>
    <dgm:pt modelId="{CD7DEAF6-A1A7-42A5-9910-574945C386B2}" type="pres">
      <dgm:prSet presAssocID="{7FE78328-DF35-4E50-BE6B-DE14EA6639E3}" presName="parSh" presStyleLbl="node1" presStyleIdx="0" presStyleCnt="3" custScaleX="124833" custScaleY="94531" custLinFactNeighborX="-183" custLinFactNeighborY="-14013"/>
      <dgm:spPr/>
    </dgm:pt>
    <dgm:pt modelId="{7D768838-8864-48CE-AAA4-1001DAD92E3B}" type="pres">
      <dgm:prSet presAssocID="{7FE78328-DF35-4E50-BE6B-DE14EA6639E3}" presName="desTx" presStyleLbl="fgAcc1" presStyleIdx="0" presStyleCnt="3" custScaleX="108886">
        <dgm:presLayoutVars>
          <dgm:bulletEnabled val="1"/>
        </dgm:presLayoutVars>
      </dgm:prSet>
      <dgm:spPr/>
    </dgm:pt>
    <dgm:pt modelId="{D0C1C78D-4363-4E9D-9BD9-852B80ECDD15}" type="pres">
      <dgm:prSet presAssocID="{815989E7-E0C4-4509-9467-59E59A066599}" presName="sibTrans" presStyleLbl="sibTrans2D1" presStyleIdx="0" presStyleCnt="2"/>
      <dgm:spPr/>
    </dgm:pt>
    <dgm:pt modelId="{D9F57A06-8324-4BC8-B9D6-1E797706E064}" type="pres">
      <dgm:prSet presAssocID="{815989E7-E0C4-4509-9467-59E59A066599}" presName="connTx" presStyleLbl="sibTrans2D1" presStyleIdx="0" presStyleCnt="2"/>
      <dgm:spPr/>
    </dgm:pt>
    <dgm:pt modelId="{1318816B-170F-46BC-9EC0-80A3B1F506CB}" type="pres">
      <dgm:prSet presAssocID="{60F1ACDA-3ED3-4DD0-8EEB-0E314072B4F0}" presName="composite" presStyleCnt="0"/>
      <dgm:spPr/>
    </dgm:pt>
    <dgm:pt modelId="{FC5E42F7-C2A6-4E5A-8C9A-18C9620BDFB6}" type="pres">
      <dgm:prSet presAssocID="{60F1ACDA-3ED3-4DD0-8EEB-0E314072B4F0}" presName="parTx" presStyleLbl="node1" presStyleIdx="0" presStyleCnt="3">
        <dgm:presLayoutVars>
          <dgm:chMax val="0"/>
          <dgm:chPref val="0"/>
          <dgm:bulletEnabled val="1"/>
        </dgm:presLayoutVars>
      </dgm:prSet>
      <dgm:spPr/>
    </dgm:pt>
    <dgm:pt modelId="{5E3CADFA-42E9-4ADA-937F-07316B63B7C7}" type="pres">
      <dgm:prSet presAssocID="{60F1ACDA-3ED3-4DD0-8EEB-0E314072B4F0}" presName="parSh" presStyleLbl="node1" presStyleIdx="1" presStyleCnt="3" custScaleX="108886" custLinFactNeighborX="3047" custLinFactNeighborY="-14650"/>
      <dgm:spPr/>
    </dgm:pt>
    <dgm:pt modelId="{452C1F94-3B3F-4355-9D11-336044F144F7}" type="pres">
      <dgm:prSet presAssocID="{60F1ACDA-3ED3-4DD0-8EEB-0E314072B4F0}" presName="desTx" presStyleLbl="fgAcc1" presStyleIdx="1" presStyleCnt="3" custScaleX="108886">
        <dgm:presLayoutVars>
          <dgm:bulletEnabled val="1"/>
        </dgm:presLayoutVars>
      </dgm:prSet>
      <dgm:spPr/>
    </dgm:pt>
    <dgm:pt modelId="{A1B4C16B-9F05-4133-9862-85D14CBACD5D}" type="pres">
      <dgm:prSet presAssocID="{F118340D-8237-4739-BD7B-C905A669F8EE}" presName="sibTrans" presStyleLbl="sibTrans2D1" presStyleIdx="1" presStyleCnt="2"/>
      <dgm:spPr/>
    </dgm:pt>
    <dgm:pt modelId="{4F3D3894-3B1E-4260-8013-AE964C4939D4}" type="pres">
      <dgm:prSet presAssocID="{F118340D-8237-4739-BD7B-C905A669F8EE}" presName="connTx" presStyleLbl="sibTrans2D1" presStyleIdx="1" presStyleCnt="2"/>
      <dgm:spPr/>
    </dgm:pt>
    <dgm:pt modelId="{932804B6-D0F0-4794-B9C7-C98F1FC819E7}" type="pres">
      <dgm:prSet presAssocID="{97911182-FFEF-469F-8D76-25168DBB162F}" presName="composite" presStyleCnt="0"/>
      <dgm:spPr/>
    </dgm:pt>
    <dgm:pt modelId="{1CF4D4DD-C98D-45A8-8609-DB3255F1E0D1}" type="pres">
      <dgm:prSet presAssocID="{97911182-FFEF-469F-8D76-25168DBB162F}" presName="parTx" presStyleLbl="node1" presStyleIdx="1" presStyleCnt="3">
        <dgm:presLayoutVars>
          <dgm:chMax val="0"/>
          <dgm:chPref val="0"/>
          <dgm:bulletEnabled val="1"/>
        </dgm:presLayoutVars>
      </dgm:prSet>
      <dgm:spPr/>
    </dgm:pt>
    <dgm:pt modelId="{9E763167-F1EB-44C8-A870-AEAF4C1197F7}" type="pres">
      <dgm:prSet presAssocID="{97911182-FFEF-469F-8D76-25168DBB162F}" presName="parSh" presStyleLbl="node1" presStyleIdx="2" presStyleCnt="3" custScaleX="108886" custLinFactNeighborY="-14650"/>
      <dgm:spPr/>
    </dgm:pt>
    <dgm:pt modelId="{22126DA9-E5FE-43C7-9B75-148229125501}" type="pres">
      <dgm:prSet presAssocID="{97911182-FFEF-469F-8D76-25168DBB162F}" presName="desTx" presStyleLbl="fgAcc1" presStyleIdx="2" presStyleCnt="3" custScaleX="108886">
        <dgm:presLayoutVars>
          <dgm:bulletEnabled val="1"/>
        </dgm:presLayoutVars>
      </dgm:prSet>
      <dgm:spPr/>
    </dgm:pt>
  </dgm:ptLst>
  <dgm:cxnLst>
    <dgm:cxn modelId="{EBA6C103-1C29-41F9-91B6-B992C23AF593}" type="presOf" srcId="{8BB0E631-5482-4755-9FD3-8576C9AB7859}" destId="{726EAADD-2AED-4C0E-BB5C-2524EAE6DA1D}" srcOrd="0" destOrd="0" presId="urn:microsoft.com/office/officeart/2005/8/layout/process3"/>
    <dgm:cxn modelId="{E9FBD804-D73C-4084-A85A-083B1E8DEAE6}" type="presOf" srcId="{60F1ACDA-3ED3-4DD0-8EEB-0E314072B4F0}" destId="{5E3CADFA-42E9-4ADA-937F-07316B63B7C7}" srcOrd="1" destOrd="0" presId="urn:microsoft.com/office/officeart/2005/8/layout/process3"/>
    <dgm:cxn modelId="{3BEB5F07-49B0-4DE9-BDCC-248E516D3EF8}" type="presOf" srcId="{9ECB8173-5595-4922-B46C-F0EEB2B2DA4F}" destId="{22126DA9-E5FE-43C7-9B75-148229125501}" srcOrd="0" destOrd="0" presId="urn:microsoft.com/office/officeart/2005/8/layout/process3"/>
    <dgm:cxn modelId="{6041CF14-EEB9-4261-A475-3D3935E1CBC6}" type="presOf" srcId="{3C9441CE-6A08-4591-9D27-3D28AB57D1A4}" destId="{452C1F94-3B3F-4355-9D11-336044F144F7}" srcOrd="0" destOrd="0" presId="urn:microsoft.com/office/officeart/2005/8/layout/process3"/>
    <dgm:cxn modelId="{9BBF6015-4566-48D3-8ABC-C7C61575615F}" type="presOf" srcId="{97911182-FFEF-469F-8D76-25168DBB162F}" destId="{1CF4D4DD-C98D-45A8-8609-DB3255F1E0D1}" srcOrd="0" destOrd="0" presId="urn:microsoft.com/office/officeart/2005/8/layout/process3"/>
    <dgm:cxn modelId="{253ACA15-43DB-487E-BBE1-D01E463279B7}" srcId="{97911182-FFEF-469F-8D76-25168DBB162F}" destId="{9ECB8173-5595-4922-B46C-F0EEB2B2DA4F}" srcOrd="0" destOrd="0" parTransId="{FCC2A12B-5510-4937-A124-33CA94D7A1DE}" sibTransId="{B94D2D6F-33EB-4076-A84C-C82C0E9435FA}"/>
    <dgm:cxn modelId="{E0D69E1F-939C-4E08-BA52-4F4CC8C44D50}" type="presOf" srcId="{60F1ACDA-3ED3-4DD0-8EEB-0E314072B4F0}" destId="{FC5E42F7-C2A6-4E5A-8C9A-18C9620BDFB6}" srcOrd="0" destOrd="0" presId="urn:microsoft.com/office/officeart/2005/8/layout/process3"/>
    <dgm:cxn modelId="{01D2283C-38C8-448B-93DA-B626920D07B7}" srcId="{8BB0E631-5482-4755-9FD3-8576C9AB7859}" destId="{7FE78328-DF35-4E50-BE6B-DE14EA6639E3}" srcOrd="0" destOrd="0" parTransId="{A4344743-8936-4611-8188-29832CC6F5E1}" sibTransId="{815989E7-E0C4-4509-9467-59E59A066599}"/>
    <dgm:cxn modelId="{2BECE940-08E9-4695-9286-6C6B64D1B23F}" type="presOf" srcId="{B4070A90-B1E9-41BC-B047-BCC229760239}" destId="{452C1F94-3B3F-4355-9D11-336044F144F7}" srcOrd="0" destOrd="1" presId="urn:microsoft.com/office/officeart/2005/8/layout/process3"/>
    <dgm:cxn modelId="{017E6D77-D3EA-4C54-86BB-060C7DEDE6A3}" srcId="{7FE78328-DF35-4E50-BE6B-DE14EA6639E3}" destId="{EE8B014C-0578-47DB-866D-C1E5403A4E37}" srcOrd="0" destOrd="0" parTransId="{DBF49006-5507-4485-B392-62609AB5BD89}" sibTransId="{93AFF8D1-BCB7-4307-B9F7-4D8153B7D069}"/>
    <dgm:cxn modelId="{235B0859-2BC9-458F-86B3-E70246409778}" srcId="{8BB0E631-5482-4755-9FD3-8576C9AB7859}" destId="{60F1ACDA-3ED3-4DD0-8EEB-0E314072B4F0}" srcOrd="1" destOrd="0" parTransId="{1D60F6E8-4F7C-431D-A821-FE5BF879A3A3}" sibTransId="{F118340D-8237-4739-BD7B-C905A669F8EE}"/>
    <dgm:cxn modelId="{B92BC783-3620-46F7-B057-624D67703DA1}" srcId="{60F1ACDA-3ED3-4DD0-8EEB-0E314072B4F0}" destId="{B4070A90-B1E9-41BC-B047-BCC229760239}" srcOrd="1" destOrd="0" parTransId="{0C71CBA5-8BF4-4B1D-9434-EE78B1D7C305}" sibTransId="{085FA1EF-1D09-4CE0-B18F-DC6E155E8238}"/>
    <dgm:cxn modelId="{2A37C191-35CF-4CBA-93EA-DDB7F139A0BE}" srcId="{8BB0E631-5482-4755-9FD3-8576C9AB7859}" destId="{97911182-FFEF-469F-8D76-25168DBB162F}" srcOrd="2" destOrd="0" parTransId="{374CA9EE-8C8D-4118-A60A-900D3C761CF2}" sibTransId="{3A0A92C0-522C-4DD4-8DA4-468DCF48D59D}"/>
    <dgm:cxn modelId="{619505B4-AB6B-46C7-A821-39D2F68A2724}" srcId="{60F1ACDA-3ED3-4DD0-8EEB-0E314072B4F0}" destId="{3C9441CE-6A08-4591-9D27-3D28AB57D1A4}" srcOrd="0" destOrd="0" parTransId="{6D074D36-BA21-437D-92DB-79474574716E}" sibTransId="{10B47A36-EC3C-4DA7-B771-CA45D2F9D6E5}"/>
    <dgm:cxn modelId="{909239C6-CACD-4AFC-BFE3-E21599538A90}" type="presOf" srcId="{7FE78328-DF35-4E50-BE6B-DE14EA6639E3}" destId="{CD7DEAF6-A1A7-42A5-9910-574945C386B2}" srcOrd="1" destOrd="0" presId="urn:microsoft.com/office/officeart/2005/8/layout/process3"/>
    <dgm:cxn modelId="{FAD8D1C6-7669-4995-BB77-044739BB8A6B}" type="presOf" srcId="{7FE78328-DF35-4E50-BE6B-DE14EA6639E3}" destId="{17ECDC5A-DDA4-4CE5-AFEA-5EF4082AA4A7}" srcOrd="0" destOrd="0" presId="urn:microsoft.com/office/officeart/2005/8/layout/process3"/>
    <dgm:cxn modelId="{97186ACD-9892-43B4-B4C3-716183B4960A}" type="presOf" srcId="{F118340D-8237-4739-BD7B-C905A669F8EE}" destId="{A1B4C16B-9F05-4133-9862-85D14CBACD5D}" srcOrd="0" destOrd="0" presId="urn:microsoft.com/office/officeart/2005/8/layout/process3"/>
    <dgm:cxn modelId="{FA1B26D0-264B-4253-9A70-E1AB617ACDC2}" type="presOf" srcId="{815989E7-E0C4-4509-9467-59E59A066599}" destId="{D9F57A06-8324-4BC8-B9D6-1E797706E064}" srcOrd="1" destOrd="0" presId="urn:microsoft.com/office/officeart/2005/8/layout/process3"/>
    <dgm:cxn modelId="{E909CDD2-ADE9-4896-B2BA-2503E2432E22}" type="presOf" srcId="{97911182-FFEF-469F-8D76-25168DBB162F}" destId="{9E763167-F1EB-44C8-A870-AEAF4C1197F7}" srcOrd="1" destOrd="0" presId="urn:microsoft.com/office/officeart/2005/8/layout/process3"/>
    <dgm:cxn modelId="{103106DD-6161-460F-B1D4-B73C9DA18561}" type="presOf" srcId="{815989E7-E0C4-4509-9467-59E59A066599}" destId="{D0C1C78D-4363-4E9D-9BD9-852B80ECDD15}" srcOrd="0" destOrd="0" presId="urn:microsoft.com/office/officeart/2005/8/layout/process3"/>
    <dgm:cxn modelId="{95B13CDE-92DB-4BA6-B114-5BCE1B798442}" type="presOf" srcId="{F118340D-8237-4739-BD7B-C905A669F8EE}" destId="{4F3D3894-3B1E-4260-8013-AE964C4939D4}" srcOrd="1" destOrd="0" presId="urn:microsoft.com/office/officeart/2005/8/layout/process3"/>
    <dgm:cxn modelId="{8A75C1E3-EAEA-4A71-9E43-F1CD4C9CDF22}" type="presOf" srcId="{EE8B014C-0578-47DB-866D-C1E5403A4E37}" destId="{7D768838-8864-48CE-AAA4-1001DAD92E3B}" srcOrd="0" destOrd="0" presId="urn:microsoft.com/office/officeart/2005/8/layout/process3"/>
    <dgm:cxn modelId="{43B87D83-F5E4-4B09-8FC3-78D8C07493D5}" type="presParOf" srcId="{726EAADD-2AED-4C0E-BB5C-2524EAE6DA1D}" destId="{98B96E37-59AB-4E49-AC09-1A87C8CB79F9}" srcOrd="0" destOrd="0" presId="urn:microsoft.com/office/officeart/2005/8/layout/process3"/>
    <dgm:cxn modelId="{48DA00A0-31E7-4F20-A560-A2FCB5C68F3D}" type="presParOf" srcId="{98B96E37-59AB-4E49-AC09-1A87C8CB79F9}" destId="{17ECDC5A-DDA4-4CE5-AFEA-5EF4082AA4A7}" srcOrd="0" destOrd="0" presId="urn:microsoft.com/office/officeart/2005/8/layout/process3"/>
    <dgm:cxn modelId="{16A6D01E-60F9-4E3B-B709-F821D029FCAB}" type="presParOf" srcId="{98B96E37-59AB-4E49-AC09-1A87C8CB79F9}" destId="{CD7DEAF6-A1A7-42A5-9910-574945C386B2}" srcOrd="1" destOrd="0" presId="urn:microsoft.com/office/officeart/2005/8/layout/process3"/>
    <dgm:cxn modelId="{AF8B81CC-1AC0-4341-B2D9-E392A7CC789F}" type="presParOf" srcId="{98B96E37-59AB-4E49-AC09-1A87C8CB79F9}" destId="{7D768838-8864-48CE-AAA4-1001DAD92E3B}" srcOrd="2" destOrd="0" presId="urn:microsoft.com/office/officeart/2005/8/layout/process3"/>
    <dgm:cxn modelId="{8C192CC3-F733-4112-9F84-C2993180654B}" type="presParOf" srcId="{726EAADD-2AED-4C0E-BB5C-2524EAE6DA1D}" destId="{D0C1C78D-4363-4E9D-9BD9-852B80ECDD15}" srcOrd="1" destOrd="0" presId="urn:microsoft.com/office/officeart/2005/8/layout/process3"/>
    <dgm:cxn modelId="{0D7DB088-BF03-45CC-B5D0-63DC6315D423}" type="presParOf" srcId="{D0C1C78D-4363-4E9D-9BD9-852B80ECDD15}" destId="{D9F57A06-8324-4BC8-B9D6-1E797706E064}" srcOrd="0" destOrd="0" presId="urn:microsoft.com/office/officeart/2005/8/layout/process3"/>
    <dgm:cxn modelId="{A6A60B0B-A5FA-473E-A6CE-99CEFE48E96A}" type="presParOf" srcId="{726EAADD-2AED-4C0E-BB5C-2524EAE6DA1D}" destId="{1318816B-170F-46BC-9EC0-80A3B1F506CB}" srcOrd="2" destOrd="0" presId="urn:microsoft.com/office/officeart/2005/8/layout/process3"/>
    <dgm:cxn modelId="{552D1FEA-B335-44E6-8622-FF447E0CB983}" type="presParOf" srcId="{1318816B-170F-46BC-9EC0-80A3B1F506CB}" destId="{FC5E42F7-C2A6-4E5A-8C9A-18C9620BDFB6}" srcOrd="0" destOrd="0" presId="urn:microsoft.com/office/officeart/2005/8/layout/process3"/>
    <dgm:cxn modelId="{C11638D1-5181-4FB1-98D0-6E9D404AE8EC}" type="presParOf" srcId="{1318816B-170F-46BC-9EC0-80A3B1F506CB}" destId="{5E3CADFA-42E9-4ADA-937F-07316B63B7C7}" srcOrd="1" destOrd="0" presId="urn:microsoft.com/office/officeart/2005/8/layout/process3"/>
    <dgm:cxn modelId="{E33CF94A-49F5-4A2E-878B-81E12A254F8D}" type="presParOf" srcId="{1318816B-170F-46BC-9EC0-80A3B1F506CB}" destId="{452C1F94-3B3F-4355-9D11-336044F144F7}" srcOrd="2" destOrd="0" presId="urn:microsoft.com/office/officeart/2005/8/layout/process3"/>
    <dgm:cxn modelId="{D7413059-C26A-490C-A93C-395B3A45352E}" type="presParOf" srcId="{726EAADD-2AED-4C0E-BB5C-2524EAE6DA1D}" destId="{A1B4C16B-9F05-4133-9862-85D14CBACD5D}" srcOrd="3" destOrd="0" presId="urn:microsoft.com/office/officeart/2005/8/layout/process3"/>
    <dgm:cxn modelId="{D367BF15-0C7C-4624-B482-FEC3EB9D4055}" type="presParOf" srcId="{A1B4C16B-9F05-4133-9862-85D14CBACD5D}" destId="{4F3D3894-3B1E-4260-8013-AE964C4939D4}" srcOrd="0" destOrd="0" presId="urn:microsoft.com/office/officeart/2005/8/layout/process3"/>
    <dgm:cxn modelId="{7BFDB3ED-F0DA-486E-9DBA-9803B15C32B9}" type="presParOf" srcId="{726EAADD-2AED-4C0E-BB5C-2524EAE6DA1D}" destId="{932804B6-D0F0-4794-B9C7-C98F1FC819E7}" srcOrd="4" destOrd="0" presId="urn:microsoft.com/office/officeart/2005/8/layout/process3"/>
    <dgm:cxn modelId="{4E0D33FD-E3EF-4EDE-AB3C-BA88D24A62DC}" type="presParOf" srcId="{932804B6-D0F0-4794-B9C7-C98F1FC819E7}" destId="{1CF4D4DD-C98D-45A8-8609-DB3255F1E0D1}" srcOrd="0" destOrd="0" presId="urn:microsoft.com/office/officeart/2005/8/layout/process3"/>
    <dgm:cxn modelId="{0F5C8D3C-02BB-468D-9CB0-FE74B616E829}" type="presParOf" srcId="{932804B6-D0F0-4794-B9C7-C98F1FC819E7}" destId="{9E763167-F1EB-44C8-A870-AEAF4C1197F7}" srcOrd="1" destOrd="0" presId="urn:microsoft.com/office/officeart/2005/8/layout/process3"/>
    <dgm:cxn modelId="{81DF097C-1540-4AC5-A8F7-86AFC29BF7A6}" type="presParOf" srcId="{932804B6-D0F0-4794-B9C7-C98F1FC819E7}" destId="{22126DA9-E5FE-43C7-9B75-148229125501}" srcOrd="2" destOrd="0" presId="urn:microsoft.com/office/officeart/2005/8/layout/process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8BB0E631-5482-4755-9FD3-8576C9AB7859}" type="doc">
      <dgm:prSet loTypeId="urn:microsoft.com/office/officeart/2005/8/layout/process3" loCatId="process" qsTypeId="urn:microsoft.com/office/officeart/2005/8/quickstyle/simple1" qsCatId="simple" csTypeId="urn:microsoft.com/office/officeart/2005/8/colors/accent1_2" csCatId="accent1" phldr="1"/>
      <dgm:spPr/>
      <dgm:t>
        <a:bodyPr/>
        <a:lstStyle/>
        <a:p>
          <a:endParaRPr lang="zh-TW" altLang="en-US"/>
        </a:p>
      </dgm:t>
    </dgm:pt>
    <dgm:pt modelId="{7FE78328-DF35-4E50-BE6B-DE14EA6639E3}">
      <dgm:prSet phldrT="[文字]" custT="1"/>
      <dgm:spPr/>
      <dgm:t>
        <a:bodyPr/>
        <a:lstStyle/>
        <a:p>
          <a:r>
            <a:rPr lang="en-US" altLang="zh-TW" sz="1800" b="1" dirty="0">
              <a:latin typeface="微軟正黑體" panose="020B0604030504040204" pitchFamily="34" charset="-120"/>
              <a:ea typeface="微軟正黑體" panose="020B0604030504040204" pitchFamily="34" charset="-120"/>
            </a:rPr>
            <a:t>Step7</a:t>
          </a:r>
          <a:r>
            <a:rPr lang="zh-TW" altLang="en-US" sz="1800" b="1" dirty="0">
              <a:latin typeface="微軟正黑體" panose="020B0604030504040204" pitchFamily="34" charset="-120"/>
              <a:ea typeface="微軟正黑體" panose="020B0604030504040204" pitchFamily="34" charset="-120"/>
            </a:rPr>
            <a:t>經銷</a:t>
          </a:r>
        </a:p>
      </dgm:t>
    </dgm:pt>
    <dgm:pt modelId="{A4344743-8936-4611-8188-29832CC6F5E1}" type="parTrans" cxnId="{01D2283C-38C8-448B-93DA-B626920D07B7}">
      <dgm:prSet/>
      <dgm:spPr/>
      <dgm:t>
        <a:bodyPr/>
        <a:lstStyle/>
        <a:p>
          <a:endParaRPr lang="zh-TW" altLang="en-US"/>
        </a:p>
      </dgm:t>
    </dgm:pt>
    <dgm:pt modelId="{815989E7-E0C4-4509-9467-59E59A066599}" type="sibTrans" cxnId="{01D2283C-38C8-448B-93DA-B626920D07B7}">
      <dgm:prSet/>
      <dgm:spPr/>
      <dgm:t>
        <a:bodyPr/>
        <a:lstStyle/>
        <a:p>
          <a:endParaRPr lang="zh-TW" altLang="en-US"/>
        </a:p>
      </dgm:t>
    </dgm:pt>
    <dgm:pt modelId="{EE8B014C-0578-47DB-866D-C1E5403A4E37}">
      <dgm:prSet phldrT="[文字]" custT="1"/>
      <dgm:spPr/>
      <dgm:t>
        <a:bodyPr/>
        <a:lstStyle/>
        <a:p>
          <a:r>
            <a:rPr lang="zh-TW" altLang="en-US" sz="1800" b="1" dirty="0">
              <a:latin typeface="微軟正黑體" panose="020B0604030504040204" pitchFamily="34" charset="-120"/>
              <a:ea typeface="微軟正黑體" panose="020B0604030504040204" pitchFamily="34" charset="-120"/>
            </a:rPr>
            <a:t>經銷商則進行進貨與肉品管理作業</a:t>
          </a:r>
        </a:p>
      </dgm:t>
    </dgm:pt>
    <dgm:pt modelId="{DBF49006-5507-4485-B392-62609AB5BD89}" type="parTrans" cxnId="{017E6D77-D3EA-4C54-86BB-060C7DEDE6A3}">
      <dgm:prSet/>
      <dgm:spPr/>
      <dgm:t>
        <a:bodyPr/>
        <a:lstStyle/>
        <a:p>
          <a:endParaRPr lang="zh-TW" altLang="en-US"/>
        </a:p>
      </dgm:t>
    </dgm:pt>
    <dgm:pt modelId="{93AFF8D1-BCB7-4307-B9F7-4D8153B7D069}" type="sibTrans" cxnId="{017E6D77-D3EA-4C54-86BB-060C7DEDE6A3}">
      <dgm:prSet/>
      <dgm:spPr/>
      <dgm:t>
        <a:bodyPr/>
        <a:lstStyle/>
        <a:p>
          <a:endParaRPr lang="zh-TW" altLang="en-US"/>
        </a:p>
      </dgm:t>
    </dgm:pt>
    <dgm:pt modelId="{60F1ACDA-3ED3-4DD0-8EEB-0E314072B4F0}">
      <dgm:prSet phldrT="[文字]" custT="1"/>
      <dgm:spPr/>
      <dgm:t>
        <a:bodyPr/>
        <a:lstStyle/>
        <a:p>
          <a:r>
            <a:rPr lang="en-US" altLang="zh-TW" sz="1700" dirty="0"/>
            <a:t>Step8</a:t>
          </a:r>
          <a:r>
            <a:rPr lang="zh-TW" altLang="en-US" sz="1700" dirty="0"/>
            <a:t>零售或消費者</a:t>
          </a:r>
          <a:endParaRPr lang="zh-TW" altLang="en-US" sz="2000" dirty="0"/>
        </a:p>
      </dgm:t>
    </dgm:pt>
    <dgm:pt modelId="{1D60F6E8-4F7C-431D-A821-FE5BF879A3A3}" type="parTrans" cxnId="{235B0859-2BC9-458F-86B3-E70246409778}">
      <dgm:prSet/>
      <dgm:spPr/>
      <dgm:t>
        <a:bodyPr/>
        <a:lstStyle/>
        <a:p>
          <a:endParaRPr lang="zh-TW" altLang="en-US"/>
        </a:p>
      </dgm:t>
    </dgm:pt>
    <dgm:pt modelId="{F118340D-8237-4739-BD7B-C905A669F8EE}" type="sibTrans" cxnId="{235B0859-2BC9-458F-86B3-E70246409778}">
      <dgm:prSet/>
      <dgm:spPr/>
      <dgm:t>
        <a:bodyPr/>
        <a:lstStyle/>
        <a:p>
          <a:endParaRPr lang="zh-TW" altLang="en-US"/>
        </a:p>
      </dgm:t>
    </dgm:pt>
    <dgm:pt modelId="{3C9441CE-6A08-4591-9D27-3D28AB57D1A4}">
      <dgm:prSet phldrT="[文字]" custT="1"/>
      <dgm:spPr/>
      <dgm:t>
        <a:bodyPr/>
        <a:lstStyle/>
        <a:p>
          <a:r>
            <a:rPr lang="zh-TW" altLang="en-US" sz="1800" b="1" dirty="0">
              <a:latin typeface="微軟正黑體" panose="020B0604030504040204" pitchFamily="34" charset="-120"/>
              <a:ea typeface="微軟正黑體" panose="020B0604030504040204" pitchFamily="34" charset="-120"/>
            </a:rPr>
            <a:t>肉品會交付至消費者的手上，</a:t>
          </a:r>
        </a:p>
      </dgm:t>
    </dgm:pt>
    <dgm:pt modelId="{6D074D36-BA21-437D-92DB-79474574716E}" type="parTrans" cxnId="{619505B4-AB6B-46C7-A821-39D2F68A2724}">
      <dgm:prSet/>
      <dgm:spPr/>
      <dgm:t>
        <a:bodyPr/>
        <a:lstStyle/>
        <a:p>
          <a:endParaRPr lang="zh-TW" altLang="en-US"/>
        </a:p>
      </dgm:t>
    </dgm:pt>
    <dgm:pt modelId="{10B47A36-EC3C-4DA7-B771-CA45D2F9D6E5}" type="sibTrans" cxnId="{619505B4-AB6B-46C7-A821-39D2F68A2724}">
      <dgm:prSet/>
      <dgm:spPr/>
      <dgm:t>
        <a:bodyPr/>
        <a:lstStyle/>
        <a:p>
          <a:endParaRPr lang="zh-TW" altLang="en-US"/>
        </a:p>
      </dgm:t>
    </dgm:pt>
    <dgm:pt modelId="{3CCC1FCE-DDD9-44FA-B4DE-C17997021531}">
      <dgm:prSet phldrT="[文字]" custT="1"/>
      <dgm:spPr/>
      <dgm:t>
        <a:bodyPr/>
        <a:lstStyle/>
        <a:p>
          <a:r>
            <a:rPr lang="zh-TW" altLang="en-US" sz="1800" b="1" dirty="0">
              <a:latin typeface="微軟正黑體" panose="020B0604030504040204" pitchFamily="34" charset="-120"/>
              <a:ea typeface="微軟正黑體" panose="020B0604030504040204" pitchFamily="34" charset="-120"/>
            </a:rPr>
            <a:t>進一步的對下游零售商進行肉品配送作業</a:t>
          </a:r>
        </a:p>
      </dgm:t>
    </dgm:pt>
    <dgm:pt modelId="{57C60306-3B8F-4646-956F-37C199FA5CB5}" type="parTrans" cxnId="{41385C2C-9F54-420E-BE56-4329CD71000A}">
      <dgm:prSet/>
      <dgm:spPr/>
      <dgm:t>
        <a:bodyPr/>
        <a:lstStyle/>
        <a:p>
          <a:endParaRPr lang="zh-TW" altLang="en-US"/>
        </a:p>
      </dgm:t>
    </dgm:pt>
    <dgm:pt modelId="{2410CA22-908A-4A8C-9F84-83C8952DBE41}" type="sibTrans" cxnId="{41385C2C-9F54-420E-BE56-4329CD71000A}">
      <dgm:prSet/>
      <dgm:spPr/>
      <dgm:t>
        <a:bodyPr/>
        <a:lstStyle/>
        <a:p>
          <a:endParaRPr lang="zh-TW" altLang="en-US"/>
        </a:p>
      </dgm:t>
    </dgm:pt>
    <dgm:pt modelId="{274F5F08-66C6-48DD-99DC-B7BC006292BF}">
      <dgm:prSet phldrT="[文字]" custT="1"/>
      <dgm:spPr/>
      <dgm:t>
        <a:bodyPr/>
        <a:lstStyle/>
        <a:p>
          <a:r>
            <a:rPr lang="zh-TW" altLang="en-US" sz="1800" b="1" dirty="0">
              <a:latin typeface="微軟正黑體" panose="020B0604030504040204" pitchFamily="34" charset="-120"/>
              <a:ea typeface="微軟正黑體" panose="020B0604030504040204" pitchFamily="34" charset="-120"/>
            </a:rPr>
            <a:t>或直接配送至直營店進行販售</a:t>
          </a:r>
        </a:p>
      </dgm:t>
    </dgm:pt>
    <dgm:pt modelId="{919A31EC-0815-41AE-BF90-6B855D8A27FF}" type="parTrans" cxnId="{50602EBD-A9E8-48F1-8352-245AEF02E6B7}">
      <dgm:prSet/>
      <dgm:spPr/>
      <dgm:t>
        <a:bodyPr/>
        <a:lstStyle/>
        <a:p>
          <a:endParaRPr lang="zh-TW" altLang="en-US"/>
        </a:p>
      </dgm:t>
    </dgm:pt>
    <dgm:pt modelId="{138DAEAD-CD8C-4226-B3C1-3EAC8EE082A0}" type="sibTrans" cxnId="{50602EBD-A9E8-48F1-8352-245AEF02E6B7}">
      <dgm:prSet/>
      <dgm:spPr/>
      <dgm:t>
        <a:bodyPr/>
        <a:lstStyle/>
        <a:p>
          <a:endParaRPr lang="zh-TW" altLang="en-US"/>
        </a:p>
      </dgm:t>
    </dgm:pt>
    <dgm:pt modelId="{4CB24F22-02C2-40D4-BD2B-6A395C72562A}">
      <dgm:prSet custT="1"/>
      <dgm:spPr/>
      <dgm:t>
        <a:bodyPr/>
        <a:lstStyle/>
        <a:p>
          <a:endParaRPr lang="zh-TW" altLang="en-US" sz="1800" b="1" dirty="0">
            <a:latin typeface="微軟正黑體" panose="020B0604030504040204" pitchFamily="34" charset="-120"/>
            <a:ea typeface="微軟正黑體" panose="020B0604030504040204" pitchFamily="34" charset="-120"/>
          </a:endParaRPr>
        </a:p>
      </dgm:t>
    </dgm:pt>
    <dgm:pt modelId="{8CABAE6C-C4E2-46A7-8F78-9E651FF69743}" type="parTrans" cxnId="{D5A0C80D-6EC7-4834-AC5D-9264E210C968}">
      <dgm:prSet/>
      <dgm:spPr/>
      <dgm:t>
        <a:bodyPr/>
        <a:lstStyle/>
        <a:p>
          <a:endParaRPr lang="zh-TW" altLang="en-US"/>
        </a:p>
      </dgm:t>
    </dgm:pt>
    <dgm:pt modelId="{BB520FE7-CACD-4B44-AB1E-FBEDD1FC5BC6}" type="sibTrans" cxnId="{D5A0C80D-6EC7-4834-AC5D-9264E210C968}">
      <dgm:prSet/>
      <dgm:spPr/>
      <dgm:t>
        <a:bodyPr/>
        <a:lstStyle/>
        <a:p>
          <a:endParaRPr lang="zh-TW" altLang="en-US"/>
        </a:p>
      </dgm:t>
    </dgm:pt>
    <dgm:pt modelId="{1FBF0D48-4F9B-43F0-B779-8A9E31E34A14}">
      <dgm:prSet phldrT="[文字]" custT="1"/>
      <dgm:spPr/>
      <dgm:t>
        <a:bodyPr/>
        <a:lstStyle/>
        <a:p>
          <a:r>
            <a:rPr lang="zh-TW" altLang="en-US" sz="1800" b="1" dirty="0">
              <a:latin typeface="微軟正黑體" panose="020B0604030504040204" pitchFamily="34" charset="-120"/>
              <a:ea typeface="微軟正黑體" panose="020B0604030504040204" pitchFamily="34" charset="-120"/>
            </a:rPr>
            <a:t>或由零售商販售給消費者進行食用。</a:t>
          </a:r>
        </a:p>
      </dgm:t>
    </dgm:pt>
    <dgm:pt modelId="{056B5FEA-D52A-43FB-9AF6-4D9D7C9E4216}" type="parTrans" cxnId="{ADB69A19-34DE-4DCD-9865-4A24DE4CB0B9}">
      <dgm:prSet/>
      <dgm:spPr/>
      <dgm:t>
        <a:bodyPr/>
        <a:lstStyle/>
        <a:p>
          <a:endParaRPr lang="zh-TW" altLang="en-US"/>
        </a:p>
      </dgm:t>
    </dgm:pt>
    <dgm:pt modelId="{C20C4D64-C80B-4C36-821C-A706C948425C}" type="sibTrans" cxnId="{ADB69A19-34DE-4DCD-9865-4A24DE4CB0B9}">
      <dgm:prSet/>
      <dgm:spPr/>
      <dgm:t>
        <a:bodyPr/>
        <a:lstStyle/>
        <a:p>
          <a:endParaRPr lang="zh-TW" altLang="en-US"/>
        </a:p>
      </dgm:t>
    </dgm:pt>
    <dgm:pt modelId="{726EAADD-2AED-4C0E-BB5C-2524EAE6DA1D}" type="pres">
      <dgm:prSet presAssocID="{8BB0E631-5482-4755-9FD3-8576C9AB7859}" presName="linearFlow" presStyleCnt="0">
        <dgm:presLayoutVars>
          <dgm:dir/>
          <dgm:animLvl val="lvl"/>
          <dgm:resizeHandles val="exact"/>
        </dgm:presLayoutVars>
      </dgm:prSet>
      <dgm:spPr/>
    </dgm:pt>
    <dgm:pt modelId="{98B96E37-59AB-4E49-AC09-1A87C8CB79F9}" type="pres">
      <dgm:prSet presAssocID="{7FE78328-DF35-4E50-BE6B-DE14EA6639E3}" presName="composite" presStyleCnt="0"/>
      <dgm:spPr/>
    </dgm:pt>
    <dgm:pt modelId="{17ECDC5A-DDA4-4CE5-AFEA-5EF4082AA4A7}" type="pres">
      <dgm:prSet presAssocID="{7FE78328-DF35-4E50-BE6B-DE14EA6639E3}" presName="parTx" presStyleLbl="node1" presStyleIdx="0" presStyleCnt="2">
        <dgm:presLayoutVars>
          <dgm:chMax val="0"/>
          <dgm:chPref val="0"/>
          <dgm:bulletEnabled val="1"/>
        </dgm:presLayoutVars>
      </dgm:prSet>
      <dgm:spPr/>
    </dgm:pt>
    <dgm:pt modelId="{CD7DEAF6-A1A7-42A5-9910-574945C386B2}" type="pres">
      <dgm:prSet presAssocID="{7FE78328-DF35-4E50-BE6B-DE14EA6639E3}" presName="parSh" presStyleLbl="node1" presStyleIdx="0" presStyleCnt="2" custScaleX="114646" custScaleY="94531" custLinFactNeighborX="-183" custLinFactNeighborY="-14013"/>
      <dgm:spPr/>
    </dgm:pt>
    <dgm:pt modelId="{7D768838-8864-48CE-AAA4-1001DAD92E3B}" type="pres">
      <dgm:prSet presAssocID="{7FE78328-DF35-4E50-BE6B-DE14EA6639E3}" presName="desTx" presStyleLbl="fgAcc1" presStyleIdx="0" presStyleCnt="2">
        <dgm:presLayoutVars>
          <dgm:bulletEnabled val="1"/>
        </dgm:presLayoutVars>
      </dgm:prSet>
      <dgm:spPr/>
    </dgm:pt>
    <dgm:pt modelId="{D0C1C78D-4363-4E9D-9BD9-852B80ECDD15}" type="pres">
      <dgm:prSet presAssocID="{815989E7-E0C4-4509-9467-59E59A066599}" presName="sibTrans" presStyleLbl="sibTrans2D1" presStyleIdx="0" presStyleCnt="1"/>
      <dgm:spPr/>
    </dgm:pt>
    <dgm:pt modelId="{D9F57A06-8324-4BC8-B9D6-1E797706E064}" type="pres">
      <dgm:prSet presAssocID="{815989E7-E0C4-4509-9467-59E59A066599}" presName="connTx" presStyleLbl="sibTrans2D1" presStyleIdx="0" presStyleCnt="1"/>
      <dgm:spPr/>
    </dgm:pt>
    <dgm:pt modelId="{1318816B-170F-46BC-9EC0-80A3B1F506CB}" type="pres">
      <dgm:prSet presAssocID="{60F1ACDA-3ED3-4DD0-8EEB-0E314072B4F0}" presName="composite" presStyleCnt="0"/>
      <dgm:spPr/>
    </dgm:pt>
    <dgm:pt modelId="{FC5E42F7-C2A6-4E5A-8C9A-18C9620BDFB6}" type="pres">
      <dgm:prSet presAssocID="{60F1ACDA-3ED3-4DD0-8EEB-0E314072B4F0}" presName="parTx" presStyleLbl="node1" presStyleIdx="0" presStyleCnt="2">
        <dgm:presLayoutVars>
          <dgm:chMax val="0"/>
          <dgm:chPref val="0"/>
          <dgm:bulletEnabled val="1"/>
        </dgm:presLayoutVars>
      </dgm:prSet>
      <dgm:spPr/>
    </dgm:pt>
    <dgm:pt modelId="{5E3CADFA-42E9-4ADA-937F-07316B63B7C7}" type="pres">
      <dgm:prSet presAssocID="{60F1ACDA-3ED3-4DD0-8EEB-0E314072B4F0}" presName="parSh" presStyleLbl="node1" presStyleIdx="1" presStyleCnt="2" custLinFactNeighborX="3047" custLinFactNeighborY="-14650"/>
      <dgm:spPr/>
    </dgm:pt>
    <dgm:pt modelId="{452C1F94-3B3F-4355-9D11-336044F144F7}" type="pres">
      <dgm:prSet presAssocID="{60F1ACDA-3ED3-4DD0-8EEB-0E314072B4F0}" presName="desTx" presStyleLbl="fgAcc1" presStyleIdx="1" presStyleCnt="2">
        <dgm:presLayoutVars>
          <dgm:bulletEnabled val="1"/>
        </dgm:presLayoutVars>
      </dgm:prSet>
      <dgm:spPr/>
    </dgm:pt>
  </dgm:ptLst>
  <dgm:cxnLst>
    <dgm:cxn modelId="{EBA6C103-1C29-41F9-91B6-B992C23AF593}" type="presOf" srcId="{8BB0E631-5482-4755-9FD3-8576C9AB7859}" destId="{726EAADD-2AED-4C0E-BB5C-2524EAE6DA1D}" srcOrd="0" destOrd="0" presId="urn:microsoft.com/office/officeart/2005/8/layout/process3"/>
    <dgm:cxn modelId="{E9FBD804-D73C-4084-A85A-083B1E8DEAE6}" type="presOf" srcId="{60F1ACDA-3ED3-4DD0-8EEB-0E314072B4F0}" destId="{5E3CADFA-42E9-4ADA-937F-07316B63B7C7}" srcOrd="1" destOrd="0" presId="urn:microsoft.com/office/officeart/2005/8/layout/process3"/>
    <dgm:cxn modelId="{D5A0C80D-6EC7-4834-AC5D-9264E210C968}" srcId="{60F1ACDA-3ED3-4DD0-8EEB-0E314072B4F0}" destId="{4CB24F22-02C2-40D4-BD2B-6A395C72562A}" srcOrd="2" destOrd="0" parTransId="{8CABAE6C-C4E2-46A7-8F78-9E651FF69743}" sibTransId="{BB520FE7-CACD-4B44-AB1E-FBEDD1FC5BC6}"/>
    <dgm:cxn modelId="{784D4D11-4AD5-4E90-B532-84E6DFD355B0}" type="presOf" srcId="{4CB24F22-02C2-40D4-BD2B-6A395C72562A}" destId="{452C1F94-3B3F-4355-9D11-336044F144F7}" srcOrd="0" destOrd="2" presId="urn:microsoft.com/office/officeart/2005/8/layout/process3"/>
    <dgm:cxn modelId="{6041CF14-EEB9-4261-A475-3D3935E1CBC6}" type="presOf" srcId="{3C9441CE-6A08-4591-9D27-3D28AB57D1A4}" destId="{452C1F94-3B3F-4355-9D11-336044F144F7}" srcOrd="0" destOrd="0" presId="urn:microsoft.com/office/officeart/2005/8/layout/process3"/>
    <dgm:cxn modelId="{ADB69A19-34DE-4DCD-9865-4A24DE4CB0B9}" srcId="{60F1ACDA-3ED3-4DD0-8EEB-0E314072B4F0}" destId="{1FBF0D48-4F9B-43F0-B779-8A9E31E34A14}" srcOrd="1" destOrd="0" parTransId="{056B5FEA-D52A-43FB-9AF6-4D9D7C9E4216}" sibTransId="{C20C4D64-C80B-4C36-821C-A706C948425C}"/>
    <dgm:cxn modelId="{E9691B1E-E398-46AC-BCF4-F8C984DCB0DE}" type="presOf" srcId="{1FBF0D48-4F9B-43F0-B779-8A9E31E34A14}" destId="{452C1F94-3B3F-4355-9D11-336044F144F7}" srcOrd="0" destOrd="1" presId="urn:microsoft.com/office/officeart/2005/8/layout/process3"/>
    <dgm:cxn modelId="{E0D69E1F-939C-4E08-BA52-4F4CC8C44D50}" type="presOf" srcId="{60F1ACDA-3ED3-4DD0-8EEB-0E314072B4F0}" destId="{FC5E42F7-C2A6-4E5A-8C9A-18C9620BDFB6}" srcOrd="0" destOrd="0" presId="urn:microsoft.com/office/officeart/2005/8/layout/process3"/>
    <dgm:cxn modelId="{41385C2C-9F54-420E-BE56-4329CD71000A}" srcId="{7FE78328-DF35-4E50-BE6B-DE14EA6639E3}" destId="{3CCC1FCE-DDD9-44FA-B4DE-C17997021531}" srcOrd="1" destOrd="0" parTransId="{57C60306-3B8F-4646-956F-37C199FA5CB5}" sibTransId="{2410CA22-908A-4A8C-9F84-83C8952DBE41}"/>
    <dgm:cxn modelId="{01D2283C-38C8-448B-93DA-B626920D07B7}" srcId="{8BB0E631-5482-4755-9FD3-8576C9AB7859}" destId="{7FE78328-DF35-4E50-BE6B-DE14EA6639E3}" srcOrd="0" destOrd="0" parTransId="{A4344743-8936-4611-8188-29832CC6F5E1}" sibTransId="{815989E7-E0C4-4509-9467-59E59A066599}"/>
    <dgm:cxn modelId="{09097D47-5074-45E5-8A0D-57B3FC53F7C0}" type="presOf" srcId="{274F5F08-66C6-48DD-99DC-B7BC006292BF}" destId="{7D768838-8864-48CE-AAA4-1001DAD92E3B}" srcOrd="0" destOrd="2" presId="urn:microsoft.com/office/officeart/2005/8/layout/process3"/>
    <dgm:cxn modelId="{017E6D77-D3EA-4C54-86BB-060C7DEDE6A3}" srcId="{7FE78328-DF35-4E50-BE6B-DE14EA6639E3}" destId="{EE8B014C-0578-47DB-866D-C1E5403A4E37}" srcOrd="0" destOrd="0" parTransId="{DBF49006-5507-4485-B392-62609AB5BD89}" sibTransId="{93AFF8D1-BCB7-4307-B9F7-4D8153B7D069}"/>
    <dgm:cxn modelId="{235B0859-2BC9-458F-86B3-E70246409778}" srcId="{8BB0E631-5482-4755-9FD3-8576C9AB7859}" destId="{60F1ACDA-3ED3-4DD0-8EEB-0E314072B4F0}" srcOrd="1" destOrd="0" parTransId="{1D60F6E8-4F7C-431D-A821-FE5BF879A3A3}" sibTransId="{F118340D-8237-4739-BD7B-C905A669F8EE}"/>
    <dgm:cxn modelId="{49B14384-8D9E-41B9-905E-05E041963BFB}" type="presOf" srcId="{3CCC1FCE-DDD9-44FA-B4DE-C17997021531}" destId="{7D768838-8864-48CE-AAA4-1001DAD92E3B}" srcOrd="0" destOrd="1" presId="urn:microsoft.com/office/officeart/2005/8/layout/process3"/>
    <dgm:cxn modelId="{619505B4-AB6B-46C7-A821-39D2F68A2724}" srcId="{60F1ACDA-3ED3-4DD0-8EEB-0E314072B4F0}" destId="{3C9441CE-6A08-4591-9D27-3D28AB57D1A4}" srcOrd="0" destOrd="0" parTransId="{6D074D36-BA21-437D-92DB-79474574716E}" sibTransId="{10B47A36-EC3C-4DA7-B771-CA45D2F9D6E5}"/>
    <dgm:cxn modelId="{50602EBD-A9E8-48F1-8352-245AEF02E6B7}" srcId="{7FE78328-DF35-4E50-BE6B-DE14EA6639E3}" destId="{274F5F08-66C6-48DD-99DC-B7BC006292BF}" srcOrd="2" destOrd="0" parTransId="{919A31EC-0815-41AE-BF90-6B855D8A27FF}" sibTransId="{138DAEAD-CD8C-4226-B3C1-3EAC8EE082A0}"/>
    <dgm:cxn modelId="{909239C6-CACD-4AFC-BFE3-E21599538A90}" type="presOf" srcId="{7FE78328-DF35-4E50-BE6B-DE14EA6639E3}" destId="{CD7DEAF6-A1A7-42A5-9910-574945C386B2}" srcOrd="1" destOrd="0" presId="urn:microsoft.com/office/officeart/2005/8/layout/process3"/>
    <dgm:cxn modelId="{FAD8D1C6-7669-4995-BB77-044739BB8A6B}" type="presOf" srcId="{7FE78328-DF35-4E50-BE6B-DE14EA6639E3}" destId="{17ECDC5A-DDA4-4CE5-AFEA-5EF4082AA4A7}" srcOrd="0" destOrd="0" presId="urn:microsoft.com/office/officeart/2005/8/layout/process3"/>
    <dgm:cxn modelId="{FA1B26D0-264B-4253-9A70-E1AB617ACDC2}" type="presOf" srcId="{815989E7-E0C4-4509-9467-59E59A066599}" destId="{D9F57A06-8324-4BC8-B9D6-1E797706E064}" srcOrd="1" destOrd="0" presId="urn:microsoft.com/office/officeart/2005/8/layout/process3"/>
    <dgm:cxn modelId="{103106DD-6161-460F-B1D4-B73C9DA18561}" type="presOf" srcId="{815989E7-E0C4-4509-9467-59E59A066599}" destId="{D0C1C78D-4363-4E9D-9BD9-852B80ECDD15}" srcOrd="0" destOrd="0" presId="urn:microsoft.com/office/officeart/2005/8/layout/process3"/>
    <dgm:cxn modelId="{8A75C1E3-EAEA-4A71-9E43-F1CD4C9CDF22}" type="presOf" srcId="{EE8B014C-0578-47DB-866D-C1E5403A4E37}" destId="{7D768838-8864-48CE-AAA4-1001DAD92E3B}" srcOrd="0" destOrd="0" presId="urn:microsoft.com/office/officeart/2005/8/layout/process3"/>
    <dgm:cxn modelId="{43B87D83-F5E4-4B09-8FC3-78D8C07493D5}" type="presParOf" srcId="{726EAADD-2AED-4C0E-BB5C-2524EAE6DA1D}" destId="{98B96E37-59AB-4E49-AC09-1A87C8CB79F9}" srcOrd="0" destOrd="0" presId="urn:microsoft.com/office/officeart/2005/8/layout/process3"/>
    <dgm:cxn modelId="{48DA00A0-31E7-4F20-A560-A2FCB5C68F3D}" type="presParOf" srcId="{98B96E37-59AB-4E49-AC09-1A87C8CB79F9}" destId="{17ECDC5A-DDA4-4CE5-AFEA-5EF4082AA4A7}" srcOrd="0" destOrd="0" presId="urn:microsoft.com/office/officeart/2005/8/layout/process3"/>
    <dgm:cxn modelId="{16A6D01E-60F9-4E3B-B709-F821D029FCAB}" type="presParOf" srcId="{98B96E37-59AB-4E49-AC09-1A87C8CB79F9}" destId="{CD7DEAF6-A1A7-42A5-9910-574945C386B2}" srcOrd="1" destOrd="0" presId="urn:microsoft.com/office/officeart/2005/8/layout/process3"/>
    <dgm:cxn modelId="{AF8B81CC-1AC0-4341-B2D9-E392A7CC789F}" type="presParOf" srcId="{98B96E37-59AB-4E49-AC09-1A87C8CB79F9}" destId="{7D768838-8864-48CE-AAA4-1001DAD92E3B}" srcOrd="2" destOrd="0" presId="urn:microsoft.com/office/officeart/2005/8/layout/process3"/>
    <dgm:cxn modelId="{8C192CC3-F733-4112-9F84-C2993180654B}" type="presParOf" srcId="{726EAADD-2AED-4C0E-BB5C-2524EAE6DA1D}" destId="{D0C1C78D-4363-4E9D-9BD9-852B80ECDD15}" srcOrd="1" destOrd="0" presId="urn:microsoft.com/office/officeart/2005/8/layout/process3"/>
    <dgm:cxn modelId="{0D7DB088-BF03-45CC-B5D0-63DC6315D423}" type="presParOf" srcId="{D0C1C78D-4363-4E9D-9BD9-852B80ECDD15}" destId="{D9F57A06-8324-4BC8-B9D6-1E797706E064}" srcOrd="0" destOrd="0" presId="urn:microsoft.com/office/officeart/2005/8/layout/process3"/>
    <dgm:cxn modelId="{A6A60B0B-A5FA-473E-A6CE-99CEFE48E96A}" type="presParOf" srcId="{726EAADD-2AED-4C0E-BB5C-2524EAE6DA1D}" destId="{1318816B-170F-46BC-9EC0-80A3B1F506CB}" srcOrd="2" destOrd="0" presId="urn:microsoft.com/office/officeart/2005/8/layout/process3"/>
    <dgm:cxn modelId="{552D1FEA-B335-44E6-8622-FF447E0CB983}" type="presParOf" srcId="{1318816B-170F-46BC-9EC0-80A3B1F506CB}" destId="{FC5E42F7-C2A6-4E5A-8C9A-18C9620BDFB6}" srcOrd="0" destOrd="0" presId="urn:microsoft.com/office/officeart/2005/8/layout/process3"/>
    <dgm:cxn modelId="{C11638D1-5181-4FB1-98D0-6E9D404AE8EC}" type="presParOf" srcId="{1318816B-170F-46BC-9EC0-80A3B1F506CB}" destId="{5E3CADFA-42E9-4ADA-937F-07316B63B7C7}" srcOrd="1" destOrd="0" presId="urn:microsoft.com/office/officeart/2005/8/layout/process3"/>
    <dgm:cxn modelId="{E33CF94A-49F5-4A2E-878B-81E12A254F8D}" type="presParOf" srcId="{1318816B-170F-46BC-9EC0-80A3B1F506CB}" destId="{452C1F94-3B3F-4355-9D11-336044F144F7}" srcOrd="2" destOrd="0" presId="urn:microsoft.com/office/officeart/2005/8/layout/process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51F32DDC-5E1A-4505-9786-4CBC8C59C114}" type="doc">
      <dgm:prSet loTypeId="urn:microsoft.com/office/officeart/2005/8/layout/process3" loCatId="process" qsTypeId="urn:microsoft.com/office/officeart/2005/8/quickstyle/simple1" qsCatId="simple" csTypeId="urn:microsoft.com/office/officeart/2005/8/colors/accent1_2" csCatId="accent1" phldr="1"/>
      <dgm:spPr/>
      <dgm:t>
        <a:bodyPr/>
        <a:lstStyle/>
        <a:p>
          <a:endParaRPr lang="zh-TW" altLang="en-US"/>
        </a:p>
      </dgm:t>
    </dgm:pt>
    <dgm:pt modelId="{374E558E-AFED-44CF-BF4A-0B10E1DFF5B0}">
      <dgm:prSet phldrT="[文字]"/>
      <dgm:spPr/>
      <dgm:t>
        <a:bodyPr/>
        <a:lstStyle/>
        <a:p>
          <a:r>
            <a:rPr lang="en-US" altLang="zh-TW" b="1" dirty="0">
              <a:latin typeface="微軟正黑體" panose="020B0604030504040204" pitchFamily="34" charset="-120"/>
              <a:ea typeface="微軟正黑體" panose="020B0604030504040204" pitchFamily="34" charset="-120"/>
            </a:rPr>
            <a:t>Step1</a:t>
          </a:r>
          <a:r>
            <a:rPr lang="zh-TW" altLang="en-US" b="1" dirty="0">
              <a:latin typeface="微軟正黑體" panose="020B0604030504040204" pitchFamily="34" charset="-120"/>
              <a:ea typeface="微軟正黑體" panose="020B0604030504040204" pitchFamily="34" charset="-120"/>
            </a:rPr>
            <a:t>魚苗場</a:t>
          </a:r>
        </a:p>
      </dgm:t>
    </dgm:pt>
    <dgm:pt modelId="{0BDCEE2D-1F12-453F-B54E-5BB23DCB818B}" type="parTrans" cxnId="{A90B67C2-95F7-48A6-9EF5-C03B2DCE3A66}">
      <dgm:prSet/>
      <dgm:spPr/>
      <dgm:t>
        <a:bodyPr/>
        <a:lstStyle/>
        <a:p>
          <a:endParaRPr lang="zh-TW" altLang="en-US"/>
        </a:p>
      </dgm:t>
    </dgm:pt>
    <dgm:pt modelId="{78140BB3-3EE0-4DA5-8918-F0AF6A2D59EE}" type="sibTrans" cxnId="{A90B67C2-95F7-48A6-9EF5-C03B2DCE3A66}">
      <dgm:prSet/>
      <dgm:spPr/>
      <dgm:t>
        <a:bodyPr/>
        <a:lstStyle/>
        <a:p>
          <a:endParaRPr lang="zh-TW" altLang="en-US"/>
        </a:p>
      </dgm:t>
    </dgm:pt>
    <dgm:pt modelId="{97165892-6EFB-4F43-997D-82D2F5B61CDB}">
      <dgm:prSet phldrT="[文字]"/>
      <dgm:spPr/>
      <dgm:t>
        <a:bodyPr/>
        <a:lstStyle/>
        <a:p>
          <a:r>
            <a:rPr lang="zh-TW" altLang="en-US" b="1" dirty="0">
              <a:latin typeface="微軟正黑體" panose="020B0604030504040204" pitchFamily="34" charset="-120"/>
              <a:ea typeface="微軟正黑體" panose="020B0604030504040204" pitchFamily="34" charset="-120"/>
            </a:rPr>
            <a:t>魚苗的培育作業，確保石斑魚的來源不會出現缺貨的現象。</a:t>
          </a:r>
        </a:p>
      </dgm:t>
    </dgm:pt>
    <dgm:pt modelId="{3A882180-ACFE-493D-B302-5ECEE8EEA6AD}" type="parTrans" cxnId="{054D0626-AD91-412E-AA92-F15888783C63}">
      <dgm:prSet/>
      <dgm:spPr/>
      <dgm:t>
        <a:bodyPr/>
        <a:lstStyle/>
        <a:p>
          <a:endParaRPr lang="zh-TW" altLang="en-US"/>
        </a:p>
      </dgm:t>
    </dgm:pt>
    <dgm:pt modelId="{DDF0F2F8-7016-4BBE-9429-EDEF1D34C70E}" type="sibTrans" cxnId="{054D0626-AD91-412E-AA92-F15888783C63}">
      <dgm:prSet/>
      <dgm:spPr/>
      <dgm:t>
        <a:bodyPr/>
        <a:lstStyle/>
        <a:p>
          <a:endParaRPr lang="zh-TW" altLang="en-US"/>
        </a:p>
      </dgm:t>
    </dgm:pt>
    <dgm:pt modelId="{1B6BA5B0-B1CE-4AB5-A63E-958964A650D9}">
      <dgm:prSet phldrT="[文字]"/>
      <dgm:spPr/>
      <dgm:t>
        <a:bodyPr/>
        <a:lstStyle/>
        <a:p>
          <a:r>
            <a:rPr lang="en-US" altLang="zh-TW" b="1" dirty="0">
              <a:latin typeface="微軟正黑體" panose="020B0604030504040204" pitchFamily="34" charset="-120"/>
              <a:ea typeface="微軟正黑體" panose="020B0604030504040204" pitchFamily="34" charset="-120"/>
            </a:rPr>
            <a:t>Step2</a:t>
          </a:r>
          <a:r>
            <a:rPr lang="zh-TW" altLang="en-US" b="1" dirty="0">
              <a:latin typeface="微軟正黑體" panose="020B0604030504040204" pitchFamily="34" charset="-120"/>
              <a:ea typeface="微軟正黑體" panose="020B0604030504040204" pitchFamily="34" charset="-120"/>
            </a:rPr>
            <a:t>疫苗及藥物</a:t>
          </a:r>
        </a:p>
      </dgm:t>
    </dgm:pt>
    <dgm:pt modelId="{F3859A73-3D31-4C8B-B325-B4C7F1A81D4B}" type="parTrans" cxnId="{951A3024-3B4D-4ABE-99D5-2D04313758DE}">
      <dgm:prSet/>
      <dgm:spPr/>
      <dgm:t>
        <a:bodyPr/>
        <a:lstStyle/>
        <a:p>
          <a:endParaRPr lang="zh-TW" altLang="en-US"/>
        </a:p>
      </dgm:t>
    </dgm:pt>
    <dgm:pt modelId="{B0C3CB2D-EDDD-4BC7-AF0F-DC5C5B21B0CB}" type="sibTrans" cxnId="{951A3024-3B4D-4ABE-99D5-2D04313758DE}">
      <dgm:prSet/>
      <dgm:spPr/>
      <dgm:t>
        <a:bodyPr/>
        <a:lstStyle/>
        <a:p>
          <a:endParaRPr lang="zh-TW" altLang="en-US"/>
        </a:p>
      </dgm:t>
    </dgm:pt>
    <dgm:pt modelId="{BE29A914-F082-4699-B361-346B0D918873}">
      <dgm:prSet phldrT="[文字]"/>
      <dgm:spPr/>
      <dgm:t>
        <a:bodyPr/>
        <a:lstStyle/>
        <a:p>
          <a:r>
            <a:rPr lang="zh-TW" altLang="en-US" b="1" dirty="0">
              <a:latin typeface="微軟正黑體" panose="020B0604030504040204" pitchFamily="34" charset="-120"/>
              <a:ea typeface="微軟正黑體" panose="020B0604030504040204" pitchFamily="34" charset="-120"/>
            </a:rPr>
            <a:t>石斑魚的防疫作業，預防魚苗受疫病傳染，導致死亡，減少石斑魚養殖業者的成本支出。</a:t>
          </a:r>
        </a:p>
      </dgm:t>
    </dgm:pt>
    <dgm:pt modelId="{04361C9B-FE64-4B46-A682-7B73E768548A}" type="parTrans" cxnId="{C0D21552-9392-4F2C-B0BF-98D033616EC4}">
      <dgm:prSet/>
      <dgm:spPr/>
      <dgm:t>
        <a:bodyPr/>
        <a:lstStyle/>
        <a:p>
          <a:endParaRPr lang="zh-TW" altLang="en-US"/>
        </a:p>
      </dgm:t>
    </dgm:pt>
    <dgm:pt modelId="{3985A096-5A0D-4294-8B2E-282FBB219042}" type="sibTrans" cxnId="{C0D21552-9392-4F2C-B0BF-98D033616EC4}">
      <dgm:prSet/>
      <dgm:spPr/>
      <dgm:t>
        <a:bodyPr/>
        <a:lstStyle/>
        <a:p>
          <a:endParaRPr lang="zh-TW" altLang="en-US"/>
        </a:p>
      </dgm:t>
    </dgm:pt>
    <dgm:pt modelId="{F66B122B-B77A-4EDE-9E0A-9052D7136845}">
      <dgm:prSet phldrT="[文字]"/>
      <dgm:spPr/>
      <dgm:t>
        <a:bodyPr/>
        <a:lstStyle/>
        <a:p>
          <a:r>
            <a:rPr lang="en-US" altLang="zh-TW" b="1" dirty="0">
              <a:latin typeface="微軟正黑體" panose="020B0604030504040204" pitchFamily="34" charset="-120"/>
              <a:ea typeface="微軟正黑體" panose="020B0604030504040204" pitchFamily="34" charset="-120"/>
            </a:rPr>
            <a:t>Step3</a:t>
          </a:r>
          <a:r>
            <a:rPr lang="zh-TW" altLang="en-US" b="1" dirty="0">
              <a:latin typeface="微軟正黑體" panose="020B0604030504040204" pitchFamily="34" charset="-120"/>
              <a:ea typeface="微軟正黑體" panose="020B0604030504040204" pitchFamily="34" charset="-120"/>
            </a:rPr>
            <a:t>飼料供應商</a:t>
          </a:r>
        </a:p>
      </dgm:t>
    </dgm:pt>
    <dgm:pt modelId="{8FC37895-8EC8-4480-B096-386DC739F81A}" type="parTrans" cxnId="{80DD7207-17BF-4C57-9212-EF60C4A500D5}">
      <dgm:prSet/>
      <dgm:spPr/>
      <dgm:t>
        <a:bodyPr/>
        <a:lstStyle/>
        <a:p>
          <a:endParaRPr lang="zh-TW" altLang="en-US"/>
        </a:p>
      </dgm:t>
    </dgm:pt>
    <dgm:pt modelId="{30F1E1E9-689A-46D6-AC8D-14761A220A1F}" type="sibTrans" cxnId="{80DD7207-17BF-4C57-9212-EF60C4A500D5}">
      <dgm:prSet/>
      <dgm:spPr/>
      <dgm:t>
        <a:bodyPr/>
        <a:lstStyle/>
        <a:p>
          <a:endParaRPr lang="zh-TW" altLang="en-US"/>
        </a:p>
      </dgm:t>
    </dgm:pt>
    <dgm:pt modelId="{662BEE67-A9BA-48D0-AED1-5E30CB4F0113}">
      <dgm:prSet phldrT="[文字]"/>
      <dgm:spPr/>
      <dgm:t>
        <a:bodyPr/>
        <a:lstStyle/>
        <a:p>
          <a:r>
            <a:rPr lang="zh-TW" altLang="en-US" b="1" dirty="0">
              <a:latin typeface="微軟正黑體" panose="020B0604030504040204" pitchFamily="34" charset="-120"/>
              <a:ea typeface="微軟正黑體" panose="020B0604030504040204" pitchFamily="34" charset="-120"/>
            </a:rPr>
            <a:t>當石斑魚成長到一個階段時，魚苗場業者會將石斑魚的魚苗轉售給養殖業者。</a:t>
          </a:r>
        </a:p>
      </dgm:t>
    </dgm:pt>
    <dgm:pt modelId="{27F614D5-8AEC-4E2F-AE93-FCBB39A3E2B4}" type="parTrans" cxnId="{FB17894F-45D7-42AF-AD3B-CF0A99B40FE3}">
      <dgm:prSet/>
      <dgm:spPr/>
      <dgm:t>
        <a:bodyPr/>
        <a:lstStyle/>
        <a:p>
          <a:endParaRPr lang="zh-TW" altLang="en-US"/>
        </a:p>
      </dgm:t>
    </dgm:pt>
    <dgm:pt modelId="{381E128D-9229-43D4-8C25-C98E8AA9A74F}" type="sibTrans" cxnId="{FB17894F-45D7-42AF-AD3B-CF0A99B40FE3}">
      <dgm:prSet/>
      <dgm:spPr/>
      <dgm:t>
        <a:bodyPr/>
        <a:lstStyle/>
        <a:p>
          <a:endParaRPr lang="zh-TW" altLang="en-US"/>
        </a:p>
      </dgm:t>
    </dgm:pt>
    <dgm:pt modelId="{308EA12B-0750-49DF-BF1A-0BDD85E9B881}">
      <dgm:prSet/>
      <dgm:spPr/>
      <dgm:t>
        <a:bodyPr/>
        <a:lstStyle/>
        <a:p>
          <a:endParaRPr lang="zh-TW" altLang="en-US" b="1" dirty="0">
            <a:latin typeface="微軟正黑體" panose="020B0604030504040204" pitchFamily="34" charset="-120"/>
            <a:ea typeface="微軟正黑體" panose="020B0604030504040204" pitchFamily="34" charset="-120"/>
          </a:endParaRPr>
        </a:p>
      </dgm:t>
    </dgm:pt>
    <dgm:pt modelId="{467A2A1D-E158-41F1-BCD7-2940C643E629}" type="parTrans" cxnId="{0D131162-CE2F-44A8-A308-D3C7F8FB103F}">
      <dgm:prSet/>
      <dgm:spPr/>
      <dgm:t>
        <a:bodyPr/>
        <a:lstStyle/>
        <a:p>
          <a:endParaRPr lang="zh-TW" altLang="en-US"/>
        </a:p>
      </dgm:t>
    </dgm:pt>
    <dgm:pt modelId="{333637D2-97F8-4D93-9CA3-E06614C25310}" type="sibTrans" cxnId="{0D131162-CE2F-44A8-A308-D3C7F8FB103F}">
      <dgm:prSet/>
      <dgm:spPr/>
      <dgm:t>
        <a:bodyPr/>
        <a:lstStyle/>
        <a:p>
          <a:endParaRPr lang="zh-TW" altLang="en-US"/>
        </a:p>
      </dgm:t>
    </dgm:pt>
    <dgm:pt modelId="{BAC53D30-C624-4313-875A-1C58FE7648B0}">
      <dgm:prSet phldrT="[文字]"/>
      <dgm:spPr/>
      <dgm:t>
        <a:bodyPr/>
        <a:lstStyle/>
        <a:p>
          <a:r>
            <a:rPr lang="en-US" altLang="zh-TW" b="1" dirty="0">
              <a:latin typeface="微軟正黑體" panose="020B0604030504040204" pitchFamily="34" charset="-120"/>
              <a:ea typeface="微軟正黑體" panose="020B0604030504040204" pitchFamily="34" charset="-120"/>
            </a:rPr>
            <a:t>Step4</a:t>
          </a:r>
          <a:r>
            <a:rPr lang="zh-TW" altLang="en-US" b="1" dirty="0">
              <a:latin typeface="微軟正黑體" panose="020B0604030504040204" pitchFamily="34" charset="-120"/>
              <a:ea typeface="微軟正黑體" panose="020B0604030504040204" pitchFamily="34" charset="-120"/>
            </a:rPr>
            <a:t>養殖場</a:t>
          </a:r>
        </a:p>
      </dgm:t>
    </dgm:pt>
    <dgm:pt modelId="{B265C3E8-1EB3-4955-A862-2DF4973B9B0B}" type="parTrans" cxnId="{1D1BA01A-E237-4811-87B5-D9259E02FC79}">
      <dgm:prSet/>
      <dgm:spPr/>
      <dgm:t>
        <a:bodyPr/>
        <a:lstStyle/>
        <a:p>
          <a:endParaRPr lang="zh-TW" altLang="en-US"/>
        </a:p>
      </dgm:t>
    </dgm:pt>
    <dgm:pt modelId="{BE93E708-2E05-42AE-8256-DED7552BB67D}" type="sibTrans" cxnId="{1D1BA01A-E237-4811-87B5-D9259E02FC79}">
      <dgm:prSet/>
      <dgm:spPr/>
      <dgm:t>
        <a:bodyPr/>
        <a:lstStyle/>
        <a:p>
          <a:endParaRPr lang="zh-TW" altLang="en-US"/>
        </a:p>
      </dgm:t>
    </dgm:pt>
    <dgm:pt modelId="{5BDB9F87-4C33-4B02-B1E9-83029213ACCB}">
      <dgm:prSet/>
      <dgm:spPr/>
      <dgm:t>
        <a:bodyPr/>
        <a:lstStyle/>
        <a:p>
          <a:endParaRPr lang="zh-TW" altLang="en-US" b="1" dirty="0">
            <a:latin typeface="微軟正黑體" panose="020B0604030504040204" pitchFamily="34" charset="-120"/>
            <a:ea typeface="微軟正黑體" panose="020B0604030504040204" pitchFamily="34" charset="-120"/>
          </a:endParaRPr>
        </a:p>
      </dgm:t>
    </dgm:pt>
    <dgm:pt modelId="{06A4086B-2FBC-442A-811C-A1E0295FE310}" type="parTrans" cxnId="{5445EC14-A241-4A43-B2C9-DF568F20CAED}">
      <dgm:prSet/>
      <dgm:spPr/>
      <dgm:t>
        <a:bodyPr/>
        <a:lstStyle/>
        <a:p>
          <a:endParaRPr lang="zh-TW" altLang="en-US"/>
        </a:p>
      </dgm:t>
    </dgm:pt>
    <dgm:pt modelId="{52A7ED93-4E2B-41D5-8410-F29FE9947F21}" type="sibTrans" cxnId="{5445EC14-A241-4A43-B2C9-DF568F20CAED}">
      <dgm:prSet/>
      <dgm:spPr/>
      <dgm:t>
        <a:bodyPr/>
        <a:lstStyle/>
        <a:p>
          <a:endParaRPr lang="zh-TW" altLang="en-US"/>
        </a:p>
      </dgm:t>
    </dgm:pt>
    <dgm:pt modelId="{BAED30F5-7CF3-4AD5-9293-A2A271644CBF}">
      <dgm:prSet phldrT="[文字]"/>
      <dgm:spPr/>
      <dgm:t>
        <a:bodyPr/>
        <a:lstStyle/>
        <a:p>
          <a:endParaRPr lang="zh-TW" altLang="en-US" b="1" dirty="0">
            <a:latin typeface="微軟正黑體" panose="020B0604030504040204" pitchFamily="34" charset="-120"/>
            <a:ea typeface="微軟正黑體" panose="020B0604030504040204" pitchFamily="34" charset="-120"/>
          </a:endParaRPr>
        </a:p>
      </dgm:t>
    </dgm:pt>
    <dgm:pt modelId="{F16A5F76-FCDC-42C0-B328-11BE80D36287}" type="parTrans" cxnId="{101FC616-3652-4E90-9795-F4284D904A0A}">
      <dgm:prSet/>
      <dgm:spPr/>
      <dgm:t>
        <a:bodyPr/>
        <a:lstStyle/>
        <a:p>
          <a:endParaRPr lang="zh-TW" altLang="en-US"/>
        </a:p>
      </dgm:t>
    </dgm:pt>
    <dgm:pt modelId="{DC63B007-BAAD-49C9-AE70-6C3E22F7566E}" type="sibTrans" cxnId="{101FC616-3652-4E90-9795-F4284D904A0A}">
      <dgm:prSet/>
      <dgm:spPr/>
      <dgm:t>
        <a:bodyPr/>
        <a:lstStyle/>
        <a:p>
          <a:endParaRPr lang="zh-TW" altLang="en-US"/>
        </a:p>
      </dgm:t>
    </dgm:pt>
    <dgm:pt modelId="{F25BDAEF-3B1F-4A72-99E5-035804068AD3}">
      <dgm:prSet phldrT="[文字]"/>
      <dgm:spPr/>
      <dgm:t>
        <a:bodyPr/>
        <a:lstStyle/>
        <a:p>
          <a:r>
            <a:rPr lang="zh-TW" altLang="en-US" b="1" dirty="0">
              <a:latin typeface="微軟正黑體" panose="020B0604030504040204" pitchFamily="34" charset="-120"/>
              <a:ea typeface="微軟正黑體" panose="020B0604030504040204" pitchFamily="34" charset="-120"/>
            </a:rPr>
            <a:t>注意事項越加複雜，飼料供應商是一重要經營項目。</a:t>
          </a:r>
        </a:p>
      </dgm:t>
    </dgm:pt>
    <dgm:pt modelId="{6E2B6BB0-9D45-470E-A472-A8A6D5E0C58D}" type="parTrans" cxnId="{B074EAA4-F3D2-4672-906F-102E4F1CC07E}">
      <dgm:prSet/>
      <dgm:spPr/>
      <dgm:t>
        <a:bodyPr/>
        <a:lstStyle/>
        <a:p>
          <a:endParaRPr lang="zh-TW" altLang="en-US"/>
        </a:p>
      </dgm:t>
    </dgm:pt>
    <dgm:pt modelId="{A7C19271-712C-471D-8720-B970D7C55ECA}" type="sibTrans" cxnId="{B074EAA4-F3D2-4672-906F-102E4F1CC07E}">
      <dgm:prSet/>
      <dgm:spPr/>
      <dgm:t>
        <a:bodyPr/>
        <a:lstStyle/>
        <a:p>
          <a:endParaRPr lang="zh-TW" altLang="en-US"/>
        </a:p>
      </dgm:t>
    </dgm:pt>
    <dgm:pt modelId="{23F3245D-B715-4D36-8B7F-0A7C8E74FD81}">
      <dgm:prSet/>
      <dgm:spPr/>
      <dgm:t>
        <a:bodyPr/>
        <a:lstStyle/>
        <a:p>
          <a:r>
            <a:rPr lang="zh-TW" altLang="en-US" b="1" dirty="0">
              <a:latin typeface="微軟正黑體" panose="020B0604030504040204" pitchFamily="34" charset="-120"/>
              <a:ea typeface="微軟正黑體" panose="020B0604030504040204" pitchFamily="34" charset="-120"/>
            </a:rPr>
            <a:t>除了飼料的選擇外，還得選擇適用的藥物進行石斑魚的防疫。</a:t>
          </a:r>
        </a:p>
      </dgm:t>
    </dgm:pt>
    <dgm:pt modelId="{08085218-95A4-4A14-B725-65405E9FD260}" type="parTrans" cxnId="{351CFAAC-9B88-483A-8F7E-108849E504F7}">
      <dgm:prSet/>
      <dgm:spPr/>
      <dgm:t>
        <a:bodyPr/>
        <a:lstStyle/>
        <a:p>
          <a:endParaRPr lang="zh-TW" altLang="en-US"/>
        </a:p>
      </dgm:t>
    </dgm:pt>
    <dgm:pt modelId="{1E143542-057A-45BE-A5F4-EFEBC3BCE671}" type="sibTrans" cxnId="{351CFAAC-9B88-483A-8F7E-108849E504F7}">
      <dgm:prSet/>
      <dgm:spPr/>
      <dgm:t>
        <a:bodyPr/>
        <a:lstStyle/>
        <a:p>
          <a:endParaRPr lang="zh-TW" altLang="en-US"/>
        </a:p>
      </dgm:t>
    </dgm:pt>
    <dgm:pt modelId="{C3303D8B-29FD-43BF-B81C-2413F3E8EBDB}">
      <dgm:prSet/>
      <dgm:spPr/>
      <dgm:t>
        <a:bodyPr/>
        <a:lstStyle/>
        <a:p>
          <a:r>
            <a:rPr lang="zh-TW" altLang="en-US" b="1" dirty="0">
              <a:latin typeface="微軟正黑體" panose="020B0604030504040204" pitchFamily="34" charset="-120"/>
              <a:ea typeface="微軟正黑體" panose="020B0604030504040204" pitchFamily="34" charset="-120"/>
            </a:rPr>
            <a:t>開始規劃銷售端的經營。</a:t>
          </a:r>
        </a:p>
      </dgm:t>
    </dgm:pt>
    <dgm:pt modelId="{4F48F02F-3061-4067-A1D7-E7434AEA0438}" type="parTrans" cxnId="{889FBA63-546F-4CDE-A077-D08DE34024D7}">
      <dgm:prSet/>
      <dgm:spPr/>
      <dgm:t>
        <a:bodyPr/>
        <a:lstStyle/>
        <a:p>
          <a:endParaRPr lang="zh-TW" altLang="en-US"/>
        </a:p>
      </dgm:t>
    </dgm:pt>
    <dgm:pt modelId="{88E97A42-CEAA-4126-BD62-C8FE0792A175}" type="sibTrans" cxnId="{889FBA63-546F-4CDE-A077-D08DE34024D7}">
      <dgm:prSet/>
      <dgm:spPr/>
      <dgm:t>
        <a:bodyPr/>
        <a:lstStyle/>
        <a:p>
          <a:endParaRPr lang="zh-TW" altLang="en-US"/>
        </a:p>
      </dgm:t>
    </dgm:pt>
    <dgm:pt modelId="{A52A71BA-CA43-4107-B9A8-E4BE15B78F46}" type="pres">
      <dgm:prSet presAssocID="{51F32DDC-5E1A-4505-9786-4CBC8C59C114}" presName="linearFlow" presStyleCnt="0">
        <dgm:presLayoutVars>
          <dgm:dir/>
          <dgm:animLvl val="lvl"/>
          <dgm:resizeHandles val="exact"/>
        </dgm:presLayoutVars>
      </dgm:prSet>
      <dgm:spPr/>
    </dgm:pt>
    <dgm:pt modelId="{FD811087-ACC9-48B2-A7DC-D0F4A416FDE8}" type="pres">
      <dgm:prSet presAssocID="{374E558E-AFED-44CF-BF4A-0B10E1DFF5B0}" presName="composite" presStyleCnt="0"/>
      <dgm:spPr/>
    </dgm:pt>
    <dgm:pt modelId="{2B4AC153-0147-4642-8DC5-9FF81BEC8A41}" type="pres">
      <dgm:prSet presAssocID="{374E558E-AFED-44CF-BF4A-0B10E1DFF5B0}" presName="parTx" presStyleLbl="node1" presStyleIdx="0" presStyleCnt="4">
        <dgm:presLayoutVars>
          <dgm:chMax val="0"/>
          <dgm:chPref val="0"/>
          <dgm:bulletEnabled val="1"/>
        </dgm:presLayoutVars>
      </dgm:prSet>
      <dgm:spPr/>
    </dgm:pt>
    <dgm:pt modelId="{01EE827F-EB96-42F0-B48F-2F13883B40B2}" type="pres">
      <dgm:prSet presAssocID="{374E558E-AFED-44CF-BF4A-0B10E1DFF5B0}" presName="parSh" presStyleLbl="node1" presStyleIdx="0" presStyleCnt="4"/>
      <dgm:spPr/>
    </dgm:pt>
    <dgm:pt modelId="{5EA90C9A-0515-4226-8598-36E92768E7F6}" type="pres">
      <dgm:prSet presAssocID="{374E558E-AFED-44CF-BF4A-0B10E1DFF5B0}" presName="desTx" presStyleLbl="fgAcc1" presStyleIdx="0" presStyleCnt="4">
        <dgm:presLayoutVars>
          <dgm:bulletEnabled val="1"/>
        </dgm:presLayoutVars>
      </dgm:prSet>
      <dgm:spPr/>
    </dgm:pt>
    <dgm:pt modelId="{F98D163B-4C90-4C37-B0E3-67E1ED1C631B}" type="pres">
      <dgm:prSet presAssocID="{78140BB3-3EE0-4DA5-8918-F0AF6A2D59EE}" presName="sibTrans" presStyleLbl="sibTrans2D1" presStyleIdx="0" presStyleCnt="3"/>
      <dgm:spPr/>
    </dgm:pt>
    <dgm:pt modelId="{1CC092A6-2E65-40BE-B6E5-C84D8070474C}" type="pres">
      <dgm:prSet presAssocID="{78140BB3-3EE0-4DA5-8918-F0AF6A2D59EE}" presName="connTx" presStyleLbl="sibTrans2D1" presStyleIdx="0" presStyleCnt="3"/>
      <dgm:spPr/>
    </dgm:pt>
    <dgm:pt modelId="{A3DF5D2C-D567-457C-8A02-BD9B9D736EB4}" type="pres">
      <dgm:prSet presAssocID="{1B6BA5B0-B1CE-4AB5-A63E-958964A650D9}" presName="composite" presStyleCnt="0"/>
      <dgm:spPr/>
    </dgm:pt>
    <dgm:pt modelId="{7C0EEAD1-D28B-4167-B0DD-FFA835D2FB77}" type="pres">
      <dgm:prSet presAssocID="{1B6BA5B0-B1CE-4AB5-A63E-958964A650D9}" presName="parTx" presStyleLbl="node1" presStyleIdx="0" presStyleCnt="4">
        <dgm:presLayoutVars>
          <dgm:chMax val="0"/>
          <dgm:chPref val="0"/>
          <dgm:bulletEnabled val="1"/>
        </dgm:presLayoutVars>
      </dgm:prSet>
      <dgm:spPr/>
    </dgm:pt>
    <dgm:pt modelId="{386556B2-7530-48A1-ACBB-D4347A234DC2}" type="pres">
      <dgm:prSet presAssocID="{1B6BA5B0-B1CE-4AB5-A63E-958964A650D9}" presName="parSh" presStyleLbl="node1" presStyleIdx="1" presStyleCnt="4"/>
      <dgm:spPr/>
    </dgm:pt>
    <dgm:pt modelId="{F4855AD5-5703-4D71-9C9B-5B074A16CE47}" type="pres">
      <dgm:prSet presAssocID="{1B6BA5B0-B1CE-4AB5-A63E-958964A650D9}" presName="desTx" presStyleLbl="fgAcc1" presStyleIdx="1" presStyleCnt="4">
        <dgm:presLayoutVars>
          <dgm:bulletEnabled val="1"/>
        </dgm:presLayoutVars>
      </dgm:prSet>
      <dgm:spPr/>
    </dgm:pt>
    <dgm:pt modelId="{7ED3A590-A0D1-47D0-9380-441E3C883813}" type="pres">
      <dgm:prSet presAssocID="{B0C3CB2D-EDDD-4BC7-AF0F-DC5C5B21B0CB}" presName="sibTrans" presStyleLbl="sibTrans2D1" presStyleIdx="1" presStyleCnt="3"/>
      <dgm:spPr/>
    </dgm:pt>
    <dgm:pt modelId="{3C4291CB-D58B-4A7C-8B2D-676BB3932AC3}" type="pres">
      <dgm:prSet presAssocID="{B0C3CB2D-EDDD-4BC7-AF0F-DC5C5B21B0CB}" presName="connTx" presStyleLbl="sibTrans2D1" presStyleIdx="1" presStyleCnt="3"/>
      <dgm:spPr/>
    </dgm:pt>
    <dgm:pt modelId="{ACF49416-BEEA-45B9-ABC2-83864C8242D3}" type="pres">
      <dgm:prSet presAssocID="{F66B122B-B77A-4EDE-9E0A-9052D7136845}" presName="composite" presStyleCnt="0"/>
      <dgm:spPr/>
    </dgm:pt>
    <dgm:pt modelId="{56A6C0CC-0759-491A-AD02-A0C91C8ACB75}" type="pres">
      <dgm:prSet presAssocID="{F66B122B-B77A-4EDE-9E0A-9052D7136845}" presName="parTx" presStyleLbl="node1" presStyleIdx="1" presStyleCnt="4">
        <dgm:presLayoutVars>
          <dgm:chMax val="0"/>
          <dgm:chPref val="0"/>
          <dgm:bulletEnabled val="1"/>
        </dgm:presLayoutVars>
      </dgm:prSet>
      <dgm:spPr/>
    </dgm:pt>
    <dgm:pt modelId="{76B25F42-F75E-4889-AC75-18C8DA7A6A44}" type="pres">
      <dgm:prSet presAssocID="{F66B122B-B77A-4EDE-9E0A-9052D7136845}" presName="parSh" presStyleLbl="node1" presStyleIdx="2" presStyleCnt="4"/>
      <dgm:spPr/>
    </dgm:pt>
    <dgm:pt modelId="{EB963601-02D8-499F-9FF1-78AA559E8DD5}" type="pres">
      <dgm:prSet presAssocID="{F66B122B-B77A-4EDE-9E0A-9052D7136845}" presName="desTx" presStyleLbl="fgAcc1" presStyleIdx="2" presStyleCnt="4">
        <dgm:presLayoutVars>
          <dgm:bulletEnabled val="1"/>
        </dgm:presLayoutVars>
      </dgm:prSet>
      <dgm:spPr/>
    </dgm:pt>
    <dgm:pt modelId="{5A7EEF81-888D-40F1-9791-E52DA7C6A1B6}" type="pres">
      <dgm:prSet presAssocID="{30F1E1E9-689A-46D6-AC8D-14761A220A1F}" presName="sibTrans" presStyleLbl="sibTrans2D1" presStyleIdx="2" presStyleCnt="3"/>
      <dgm:spPr/>
    </dgm:pt>
    <dgm:pt modelId="{56465051-FCD6-4BEF-8077-F2FD04AA3355}" type="pres">
      <dgm:prSet presAssocID="{30F1E1E9-689A-46D6-AC8D-14761A220A1F}" presName="connTx" presStyleLbl="sibTrans2D1" presStyleIdx="2" presStyleCnt="3"/>
      <dgm:spPr/>
    </dgm:pt>
    <dgm:pt modelId="{DA16C029-65F2-430D-947E-824B3F96E36A}" type="pres">
      <dgm:prSet presAssocID="{BAC53D30-C624-4313-875A-1C58FE7648B0}" presName="composite" presStyleCnt="0"/>
      <dgm:spPr/>
    </dgm:pt>
    <dgm:pt modelId="{FAE618BA-BFDB-4D87-AAFC-B1F371F1E4E7}" type="pres">
      <dgm:prSet presAssocID="{BAC53D30-C624-4313-875A-1C58FE7648B0}" presName="parTx" presStyleLbl="node1" presStyleIdx="2" presStyleCnt="4">
        <dgm:presLayoutVars>
          <dgm:chMax val="0"/>
          <dgm:chPref val="0"/>
          <dgm:bulletEnabled val="1"/>
        </dgm:presLayoutVars>
      </dgm:prSet>
      <dgm:spPr/>
    </dgm:pt>
    <dgm:pt modelId="{E91DA09A-7803-483E-A78F-6B988AB3DC96}" type="pres">
      <dgm:prSet presAssocID="{BAC53D30-C624-4313-875A-1C58FE7648B0}" presName="parSh" presStyleLbl="node1" presStyleIdx="3" presStyleCnt="4"/>
      <dgm:spPr/>
    </dgm:pt>
    <dgm:pt modelId="{EB634905-FC61-4F5F-B534-5CEBFCB76504}" type="pres">
      <dgm:prSet presAssocID="{BAC53D30-C624-4313-875A-1C58FE7648B0}" presName="desTx" presStyleLbl="fgAcc1" presStyleIdx="3" presStyleCnt="4">
        <dgm:presLayoutVars>
          <dgm:bulletEnabled val="1"/>
        </dgm:presLayoutVars>
      </dgm:prSet>
      <dgm:spPr/>
    </dgm:pt>
  </dgm:ptLst>
  <dgm:cxnLst>
    <dgm:cxn modelId="{1B3EC400-5BDC-4E9A-A296-7968310DA577}" type="presOf" srcId="{30F1E1E9-689A-46D6-AC8D-14761A220A1F}" destId="{5A7EEF81-888D-40F1-9791-E52DA7C6A1B6}" srcOrd="0" destOrd="0" presId="urn:microsoft.com/office/officeart/2005/8/layout/process3"/>
    <dgm:cxn modelId="{80DD7207-17BF-4C57-9212-EF60C4A500D5}" srcId="{51F32DDC-5E1A-4505-9786-4CBC8C59C114}" destId="{F66B122B-B77A-4EDE-9E0A-9052D7136845}" srcOrd="2" destOrd="0" parTransId="{8FC37895-8EC8-4480-B096-386DC739F81A}" sibTransId="{30F1E1E9-689A-46D6-AC8D-14761A220A1F}"/>
    <dgm:cxn modelId="{F0120614-B5C0-42C9-BE25-6B0B67AF8E45}" type="presOf" srcId="{1B6BA5B0-B1CE-4AB5-A63E-958964A650D9}" destId="{386556B2-7530-48A1-ACBB-D4347A234DC2}" srcOrd="1" destOrd="0" presId="urn:microsoft.com/office/officeart/2005/8/layout/process3"/>
    <dgm:cxn modelId="{5445EC14-A241-4A43-B2C9-DF568F20CAED}" srcId="{1B6BA5B0-B1CE-4AB5-A63E-958964A650D9}" destId="{5BDB9F87-4C33-4B02-B1E9-83029213ACCB}" srcOrd="1" destOrd="0" parTransId="{06A4086B-2FBC-442A-811C-A1E0295FE310}" sibTransId="{52A7ED93-4E2B-41D5-8410-F29FE9947F21}"/>
    <dgm:cxn modelId="{101FC616-3652-4E90-9795-F4284D904A0A}" srcId="{F66B122B-B77A-4EDE-9E0A-9052D7136845}" destId="{BAED30F5-7CF3-4AD5-9293-A2A271644CBF}" srcOrd="2" destOrd="0" parTransId="{F16A5F76-FCDC-42C0-B328-11BE80D36287}" sibTransId="{DC63B007-BAAD-49C9-AE70-6C3E22F7566E}"/>
    <dgm:cxn modelId="{65509317-69A6-4923-BF42-5176BDC8F3F4}" type="presOf" srcId="{1B6BA5B0-B1CE-4AB5-A63E-958964A650D9}" destId="{7C0EEAD1-D28B-4167-B0DD-FFA835D2FB77}" srcOrd="0" destOrd="0" presId="urn:microsoft.com/office/officeart/2005/8/layout/process3"/>
    <dgm:cxn modelId="{1D1BA01A-E237-4811-87B5-D9259E02FC79}" srcId="{51F32DDC-5E1A-4505-9786-4CBC8C59C114}" destId="{BAC53D30-C624-4313-875A-1C58FE7648B0}" srcOrd="3" destOrd="0" parTransId="{B265C3E8-1EB3-4955-A862-2DF4973B9B0B}" sibTransId="{BE93E708-2E05-42AE-8256-DED7552BB67D}"/>
    <dgm:cxn modelId="{6A5A8B1F-4CD3-475D-8791-AB47C4E4DD74}" type="presOf" srcId="{662BEE67-A9BA-48D0-AED1-5E30CB4F0113}" destId="{EB963601-02D8-499F-9FF1-78AA559E8DD5}" srcOrd="0" destOrd="0" presId="urn:microsoft.com/office/officeart/2005/8/layout/process3"/>
    <dgm:cxn modelId="{951A3024-3B4D-4ABE-99D5-2D04313758DE}" srcId="{51F32DDC-5E1A-4505-9786-4CBC8C59C114}" destId="{1B6BA5B0-B1CE-4AB5-A63E-958964A650D9}" srcOrd="1" destOrd="0" parTransId="{F3859A73-3D31-4C8B-B325-B4C7F1A81D4B}" sibTransId="{B0C3CB2D-EDDD-4BC7-AF0F-DC5C5B21B0CB}"/>
    <dgm:cxn modelId="{054D0626-AD91-412E-AA92-F15888783C63}" srcId="{374E558E-AFED-44CF-BF4A-0B10E1DFF5B0}" destId="{97165892-6EFB-4F43-997D-82D2F5B61CDB}" srcOrd="0" destOrd="0" parTransId="{3A882180-ACFE-493D-B302-5ECEE8EEA6AD}" sibTransId="{DDF0F2F8-7016-4BBE-9429-EDEF1D34C70E}"/>
    <dgm:cxn modelId="{63BBDF2F-A988-4F8F-9774-5A894F2F8993}" type="presOf" srcId="{BAC53D30-C624-4313-875A-1C58FE7648B0}" destId="{FAE618BA-BFDB-4D87-AAFC-B1F371F1E4E7}" srcOrd="0" destOrd="0" presId="urn:microsoft.com/office/officeart/2005/8/layout/process3"/>
    <dgm:cxn modelId="{0D131162-CE2F-44A8-A308-D3C7F8FB103F}" srcId="{374E558E-AFED-44CF-BF4A-0B10E1DFF5B0}" destId="{308EA12B-0750-49DF-BF1A-0BDD85E9B881}" srcOrd="1" destOrd="0" parTransId="{467A2A1D-E158-41F1-BCD7-2940C643E629}" sibTransId="{333637D2-97F8-4D93-9CA3-E06614C25310}"/>
    <dgm:cxn modelId="{A5FFD962-36F8-4766-B80E-18677738FF0A}" type="presOf" srcId="{51F32DDC-5E1A-4505-9786-4CBC8C59C114}" destId="{A52A71BA-CA43-4107-B9A8-E4BE15B78F46}" srcOrd="0" destOrd="0" presId="urn:microsoft.com/office/officeart/2005/8/layout/process3"/>
    <dgm:cxn modelId="{889FBA63-546F-4CDE-A077-D08DE34024D7}" srcId="{BAC53D30-C624-4313-875A-1C58FE7648B0}" destId="{C3303D8B-29FD-43BF-B81C-2413F3E8EBDB}" srcOrd="1" destOrd="0" parTransId="{4F48F02F-3061-4067-A1D7-E7434AEA0438}" sibTransId="{88E97A42-CEAA-4126-BD62-C8FE0792A175}"/>
    <dgm:cxn modelId="{FB17894F-45D7-42AF-AD3B-CF0A99B40FE3}" srcId="{F66B122B-B77A-4EDE-9E0A-9052D7136845}" destId="{662BEE67-A9BA-48D0-AED1-5E30CB4F0113}" srcOrd="0" destOrd="0" parTransId="{27F614D5-8AEC-4E2F-AE93-FCBB39A3E2B4}" sibTransId="{381E128D-9229-43D4-8C25-C98E8AA9A74F}"/>
    <dgm:cxn modelId="{A9340370-98E5-4E3F-B917-E09B006469B8}" type="presOf" srcId="{F66B122B-B77A-4EDE-9E0A-9052D7136845}" destId="{76B25F42-F75E-4889-AC75-18C8DA7A6A44}" srcOrd="1" destOrd="0" presId="urn:microsoft.com/office/officeart/2005/8/layout/process3"/>
    <dgm:cxn modelId="{C0D21552-9392-4F2C-B0BF-98D033616EC4}" srcId="{1B6BA5B0-B1CE-4AB5-A63E-958964A650D9}" destId="{BE29A914-F082-4699-B361-346B0D918873}" srcOrd="0" destOrd="0" parTransId="{04361C9B-FE64-4B46-A682-7B73E768548A}" sibTransId="{3985A096-5A0D-4294-8B2E-282FBB219042}"/>
    <dgm:cxn modelId="{2CB0AA54-03D9-49BA-9E2D-EF24691E6F07}" type="presOf" srcId="{374E558E-AFED-44CF-BF4A-0B10E1DFF5B0}" destId="{2B4AC153-0147-4642-8DC5-9FF81BEC8A41}" srcOrd="0" destOrd="0" presId="urn:microsoft.com/office/officeart/2005/8/layout/process3"/>
    <dgm:cxn modelId="{6CCB6859-10E8-43E7-ACB0-F4A3C58043ED}" type="presOf" srcId="{B0C3CB2D-EDDD-4BC7-AF0F-DC5C5B21B0CB}" destId="{7ED3A590-A0D1-47D0-9380-441E3C883813}" srcOrd="0" destOrd="0" presId="urn:microsoft.com/office/officeart/2005/8/layout/process3"/>
    <dgm:cxn modelId="{22626B7E-D9CD-41AF-80D4-F17D1E8CD019}" type="presOf" srcId="{97165892-6EFB-4F43-997D-82D2F5B61CDB}" destId="{5EA90C9A-0515-4226-8598-36E92768E7F6}" srcOrd="0" destOrd="0" presId="urn:microsoft.com/office/officeart/2005/8/layout/process3"/>
    <dgm:cxn modelId="{FB9CEF95-FD5D-44EA-8351-DDABFBE7F243}" type="presOf" srcId="{78140BB3-3EE0-4DA5-8918-F0AF6A2D59EE}" destId="{F98D163B-4C90-4C37-B0E3-67E1ED1C631B}" srcOrd="0" destOrd="0" presId="urn:microsoft.com/office/officeart/2005/8/layout/process3"/>
    <dgm:cxn modelId="{029F98A0-17B0-4644-A895-6BFCB700E103}" type="presOf" srcId="{5BDB9F87-4C33-4B02-B1E9-83029213ACCB}" destId="{F4855AD5-5703-4D71-9C9B-5B074A16CE47}" srcOrd="0" destOrd="1" presId="urn:microsoft.com/office/officeart/2005/8/layout/process3"/>
    <dgm:cxn modelId="{EA7813A2-1690-401B-914D-10F5F635E8DC}" type="presOf" srcId="{374E558E-AFED-44CF-BF4A-0B10E1DFF5B0}" destId="{01EE827F-EB96-42F0-B48F-2F13883B40B2}" srcOrd="1" destOrd="0" presId="urn:microsoft.com/office/officeart/2005/8/layout/process3"/>
    <dgm:cxn modelId="{B074EAA4-F3D2-4672-906F-102E4F1CC07E}" srcId="{F66B122B-B77A-4EDE-9E0A-9052D7136845}" destId="{F25BDAEF-3B1F-4A72-99E5-035804068AD3}" srcOrd="1" destOrd="0" parTransId="{6E2B6BB0-9D45-470E-A472-A8A6D5E0C58D}" sibTransId="{A7C19271-712C-471D-8720-B970D7C55ECA}"/>
    <dgm:cxn modelId="{351CFAAC-9B88-483A-8F7E-108849E504F7}" srcId="{BAC53D30-C624-4313-875A-1C58FE7648B0}" destId="{23F3245D-B715-4D36-8B7F-0A7C8E74FD81}" srcOrd="0" destOrd="0" parTransId="{08085218-95A4-4A14-B725-65405E9FD260}" sibTransId="{1E143542-057A-45BE-A5F4-EFEBC3BCE671}"/>
    <dgm:cxn modelId="{7773A9AE-57E6-40C0-8FAE-BE3B5FB0E95C}" type="presOf" srcId="{23F3245D-B715-4D36-8B7F-0A7C8E74FD81}" destId="{EB634905-FC61-4F5F-B534-5CEBFCB76504}" srcOrd="0" destOrd="0" presId="urn:microsoft.com/office/officeart/2005/8/layout/process3"/>
    <dgm:cxn modelId="{C3F89CB0-CD5E-4C6D-BDF1-C4504F14529D}" type="presOf" srcId="{78140BB3-3EE0-4DA5-8918-F0AF6A2D59EE}" destId="{1CC092A6-2E65-40BE-B6E5-C84D8070474C}" srcOrd="1" destOrd="0" presId="urn:microsoft.com/office/officeart/2005/8/layout/process3"/>
    <dgm:cxn modelId="{FEC8CAB8-DBFC-4513-8039-05621FEC46F7}" type="presOf" srcId="{BAC53D30-C624-4313-875A-1C58FE7648B0}" destId="{E91DA09A-7803-483E-A78F-6B988AB3DC96}" srcOrd="1" destOrd="0" presId="urn:microsoft.com/office/officeart/2005/8/layout/process3"/>
    <dgm:cxn modelId="{F7C016BC-55A5-4939-BC0F-33CBCB9915A9}" type="presOf" srcId="{BAED30F5-7CF3-4AD5-9293-A2A271644CBF}" destId="{EB963601-02D8-499F-9FF1-78AA559E8DD5}" srcOrd="0" destOrd="2" presId="urn:microsoft.com/office/officeart/2005/8/layout/process3"/>
    <dgm:cxn modelId="{A90B67C2-95F7-48A6-9EF5-C03B2DCE3A66}" srcId="{51F32DDC-5E1A-4505-9786-4CBC8C59C114}" destId="{374E558E-AFED-44CF-BF4A-0B10E1DFF5B0}" srcOrd="0" destOrd="0" parTransId="{0BDCEE2D-1F12-453F-B54E-5BB23DCB818B}" sibTransId="{78140BB3-3EE0-4DA5-8918-F0AF6A2D59EE}"/>
    <dgm:cxn modelId="{E59EF4CE-9E03-43FA-B860-D455E57E6CEF}" type="presOf" srcId="{B0C3CB2D-EDDD-4BC7-AF0F-DC5C5B21B0CB}" destId="{3C4291CB-D58B-4A7C-8B2D-676BB3932AC3}" srcOrd="1" destOrd="0" presId="urn:microsoft.com/office/officeart/2005/8/layout/process3"/>
    <dgm:cxn modelId="{7E978ACF-F07A-4C14-AED8-5314FBFA1F51}" type="presOf" srcId="{F25BDAEF-3B1F-4A72-99E5-035804068AD3}" destId="{EB963601-02D8-499F-9FF1-78AA559E8DD5}" srcOrd="0" destOrd="1" presId="urn:microsoft.com/office/officeart/2005/8/layout/process3"/>
    <dgm:cxn modelId="{1F5C9FD1-D4E0-4096-B363-2BA7960B4843}" type="presOf" srcId="{F66B122B-B77A-4EDE-9E0A-9052D7136845}" destId="{56A6C0CC-0759-491A-AD02-A0C91C8ACB75}" srcOrd="0" destOrd="0" presId="urn:microsoft.com/office/officeart/2005/8/layout/process3"/>
    <dgm:cxn modelId="{20864DDB-E7B0-4EFD-A371-68D7D346E6AE}" type="presOf" srcId="{BE29A914-F082-4699-B361-346B0D918873}" destId="{F4855AD5-5703-4D71-9C9B-5B074A16CE47}" srcOrd="0" destOrd="0" presId="urn:microsoft.com/office/officeart/2005/8/layout/process3"/>
    <dgm:cxn modelId="{71570CDC-6DE5-45C5-B707-A9893144DE8B}" type="presOf" srcId="{308EA12B-0750-49DF-BF1A-0BDD85E9B881}" destId="{5EA90C9A-0515-4226-8598-36E92768E7F6}" srcOrd="0" destOrd="1" presId="urn:microsoft.com/office/officeart/2005/8/layout/process3"/>
    <dgm:cxn modelId="{05AA58FB-E5CB-4911-B0DF-3C09DAFD41CC}" type="presOf" srcId="{C3303D8B-29FD-43BF-B81C-2413F3E8EBDB}" destId="{EB634905-FC61-4F5F-B534-5CEBFCB76504}" srcOrd="0" destOrd="1" presId="urn:microsoft.com/office/officeart/2005/8/layout/process3"/>
    <dgm:cxn modelId="{C4709DFC-68DC-4FEB-B631-71B063F177AA}" type="presOf" srcId="{30F1E1E9-689A-46D6-AC8D-14761A220A1F}" destId="{56465051-FCD6-4BEF-8077-F2FD04AA3355}" srcOrd="1" destOrd="0" presId="urn:microsoft.com/office/officeart/2005/8/layout/process3"/>
    <dgm:cxn modelId="{7B148B04-B8A7-4DB9-862C-F4ECDC7FE4C3}" type="presParOf" srcId="{A52A71BA-CA43-4107-B9A8-E4BE15B78F46}" destId="{FD811087-ACC9-48B2-A7DC-D0F4A416FDE8}" srcOrd="0" destOrd="0" presId="urn:microsoft.com/office/officeart/2005/8/layout/process3"/>
    <dgm:cxn modelId="{01B72D0A-DB26-4206-BF8F-9BDF965221EA}" type="presParOf" srcId="{FD811087-ACC9-48B2-A7DC-D0F4A416FDE8}" destId="{2B4AC153-0147-4642-8DC5-9FF81BEC8A41}" srcOrd="0" destOrd="0" presId="urn:microsoft.com/office/officeart/2005/8/layout/process3"/>
    <dgm:cxn modelId="{E4280987-1026-423E-9DB0-574E0D50CE96}" type="presParOf" srcId="{FD811087-ACC9-48B2-A7DC-D0F4A416FDE8}" destId="{01EE827F-EB96-42F0-B48F-2F13883B40B2}" srcOrd="1" destOrd="0" presId="urn:microsoft.com/office/officeart/2005/8/layout/process3"/>
    <dgm:cxn modelId="{A0A1656A-27F3-4541-AB5C-34BBCC770C7C}" type="presParOf" srcId="{FD811087-ACC9-48B2-A7DC-D0F4A416FDE8}" destId="{5EA90C9A-0515-4226-8598-36E92768E7F6}" srcOrd="2" destOrd="0" presId="urn:microsoft.com/office/officeart/2005/8/layout/process3"/>
    <dgm:cxn modelId="{4C2F0B9E-A157-4DC9-BA31-7BEE1A1F390C}" type="presParOf" srcId="{A52A71BA-CA43-4107-B9A8-E4BE15B78F46}" destId="{F98D163B-4C90-4C37-B0E3-67E1ED1C631B}" srcOrd="1" destOrd="0" presId="urn:microsoft.com/office/officeart/2005/8/layout/process3"/>
    <dgm:cxn modelId="{F141E65D-0C92-4ADF-886D-29DEC8399104}" type="presParOf" srcId="{F98D163B-4C90-4C37-B0E3-67E1ED1C631B}" destId="{1CC092A6-2E65-40BE-B6E5-C84D8070474C}" srcOrd="0" destOrd="0" presId="urn:microsoft.com/office/officeart/2005/8/layout/process3"/>
    <dgm:cxn modelId="{9B2B1C4E-9BE7-4936-AB11-A8AAB8772E6C}" type="presParOf" srcId="{A52A71BA-CA43-4107-B9A8-E4BE15B78F46}" destId="{A3DF5D2C-D567-457C-8A02-BD9B9D736EB4}" srcOrd="2" destOrd="0" presId="urn:microsoft.com/office/officeart/2005/8/layout/process3"/>
    <dgm:cxn modelId="{656E3B41-C09C-4222-9323-757A6BFCF934}" type="presParOf" srcId="{A3DF5D2C-D567-457C-8A02-BD9B9D736EB4}" destId="{7C0EEAD1-D28B-4167-B0DD-FFA835D2FB77}" srcOrd="0" destOrd="0" presId="urn:microsoft.com/office/officeart/2005/8/layout/process3"/>
    <dgm:cxn modelId="{79BA9DA3-2323-40F1-87DE-E796943C33DF}" type="presParOf" srcId="{A3DF5D2C-D567-457C-8A02-BD9B9D736EB4}" destId="{386556B2-7530-48A1-ACBB-D4347A234DC2}" srcOrd="1" destOrd="0" presId="urn:microsoft.com/office/officeart/2005/8/layout/process3"/>
    <dgm:cxn modelId="{03DF5AA1-90CD-49B2-A121-D883F0B8A193}" type="presParOf" srcId="{A3DF5D2C-D567-457C-8A02-BD9B9D736EB4}" destId="{F4855AD5-5703-4D71-9C9B-5B074A16CE47}" srcOrd="2" destOrd="0" presId="urn:microsoft.com/office/officeart/2005/8/layout/process3"/>
    <dgm:cxn modelId="{780A91C5-0003-40C3-B0D9-293A0DCAFFCF}" type="presParOf" srcId="{A52A71BA-CA43-4107-B9A8-E4BE15B78F46}" destId="{7ED3A590-A0D1-47D0-9380-441E3C883813}" srcOrd="3" destOrd="0" presId="urn:microsoft.com/office/officeart/2005/8/layout/process3"/>
    <dgm:cxn modelId="{C369C012-A3FC-4DD8-B2F7-F98F47624BC3}" type="presParOf" srcId="{7ED3A590-A0D1-47D0-9380-441E3C883813}" destId="{3C4291CB-D58B-4A7C-8B2D-676BB3932AC3}" srcOrd="0" destOrd="0" presId="urn:microsoft.com/office/officeart/2005/8/layout/process3"/>
    <dgm:cxn modelId="{3F6B4643-E4AB-4CA2-8F68-4D5D412ABC8B}" type="presParOf" srcId="{A52A71BA-CA43-4107-B9A8-E4BE15B78F46}" destId="{ACF49416-BEEA-45B9-ABC2-83864C8242D3}" srcOrd="4" destOrd="0" presId="urn:microsoft.com/office/officeart/2005/8/layout/process3"/>
    <dgm:cxn modelId="{5582719B-7799-4135-88C6-01ADDB1F6C8C}" type="presParOf" srcId="{ACF49416-BEEA-45B9-ABC2-83864C8242D3}" destId="{56A6C0CC-0759-491A-AD02-A0C91C8ACB75}" srcOrd="0" destOrd="0" presId="urn:microsoft.com/office/officeart/2005/8/layout/process3"/>
    <dgm:cxn modelId="{0CC6FA9F-6E8D-4728-9287-239440EF7DB3}" type="presParOf" srcId="{ACF49416-BEEA-45B9-ABC2-83864C8242D3}" destId="{76B25F42-F75E-4889-AC75-18C8DA7A6A44}" srcOrd="1" destOrd="0" presId="urn:microsoft.com/office/officeart/2005/8/layout/process3"/>
    <dgm:cxn modelId="{A0EEE186-EA07-4080-83C7-568E3B1FE140}" type="presParOf" srcId="{ACF49416-BEEA-45B9-ABC2-83864C8242D3}" destId="{EB963601-02D8-499F-9FF1-78AA559E8DD5}" srcOrd="2" destOrd="0" presId="urn:microsoft.com/office/officeart/2005/8/layout/process3"/>
    <dgm:cxn modelId="{7D2947BB-5B82-41D3-8276-8BB6DDFF4ECE}" type="presParOf" srcId="{A52A71BA-CA43-4107-B9A8-E4BE15B78F46}" destId="{5A7EEF81-888D-40F1-9791-E52DA7C6A1B6}" srcOrd="5" destOrd="0" presId="urn:microsoft.com/office/officeart/2005/8/layout/process3"/>
    <dgm:cxn modelId="{6A07587C-B374-436F-BBED-6740F0312400}" type="presParOf" srcId="{5A7EEF81-888D-40F1-9791-E52DA7C6A1B6}" destId="{56465051-FCD6-4BEF-8077-F2FD04AA3355}" srcOrd="0" destOrd="0" presId="urn:microsoft.com/office/officeart/2005/8/layout/process3"/>
    <dgm:cxn modelId="{1E634EE0-EE6A-4EC2-B842-BCFE5E20ABE8}" type="presParOf" srcId="{A52A71BA-CA43-4107-B9A8-E4BE15B78F46}" destId="{DA16C029-65F2-430D-947E-824B3F96E36A}" srcOrd="6" destOrd="0" presId="urn:microsoft.com/office/officeart/2005/8/layout/process3"/>
    <dgm:cxn modelId="{11A44713-E9B5-4353-89DA-87DDDB8B4366}" type="presParOf" srcId="{DA16C029-65F2-430D-947E-824B3F96E36A}" destId="{FAE618BA-BFDB-4D87-AAFC-B1F371F1E4E7}" srcOrd="0" destOrd="0" presId="urn:microsoft.com/office/officeart/2005/8/layout/process3"/>
    <dgm:cxn modelId="{50FA8B71-8E95-45D2-BD83-3A09DA01DF94}" type="presParOf" srcId="{DA16C029-65F2-430D-947E-824B3F96E36A}" destId="{E91DA09A-7803-483E-A78F-6B988AB3DC96}" srcOrd="1" destOrd="0" presId="urn:microsoft.com/office/officeart/2005/8/layout/process3"/>
    <dgm:cxn modelId="{A567AC29-E236-4C98-9053-F53E8D630FAB}" type="presParOf" srcId="{DA16C029-65F2-430D-947E-824B3F96E36A}" destId="{EB634905-FC61-4F5F-B534-5CEBFCB76504}" srcOrd="2" destOrd="0" presId="urn:microsoft.com/office/officeart/2005/8/layout/process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75A34592-FD15-430D-B970-8F183C9DE9A2}" type="doc">
      <dgm:prSet loTypeId="urn:microsoft.com/office/officeart/2005/8/layout/process3" loCatId="process" qsTypeId="urn:microsoft.com/office/officeart/2005/8/quickstyle/simple1" qsCatId="simple" csTypeId="urn:microsoft.com/office/officeart/2005/8/colors/accent1_2" csCatId="accent1" phldr="1"/>
      <dgm:spPr/>
      <dgm:t>
        <a:bodyPr/>
        <a:lstStyle/>
        <a:p>
          <a:endParaRPr lang="zh-TW" altLang="en-US"/>
        </a:p>
      </dgm:t>
    </dgm:pt>
    <dgm:pt modelId="{73E8D20D-48DB-43B5-A1D5-5993BCD818F5}">
      <dgm:prSet phldrT="[文字]"/>
      <dgm:spPr/>
      <dgm:t>
        <a:bodyPr/>
        <a:lstStyle/>
        <a:p>
          <a:r>
            <a:rPr lang="en-US" altLang="zh-TW" b="1" dirty="0">
              <a:latin typeface="微軟正黑體" panose="020B0604030504040204" pitchFamily="34" charset="-120"/>
              <a:ea typeface="微軟正黑體" panose="020B0604030504040204" pitchFamily="34" charset="-120"/>
            </a:rPr>
            <a:t>Step5</a:t>
          </a:r>
          <a:r>
            <a:rPr lang="zh-TW" altLang="en-US" b="1" dirty="0">
              <a:latin typeface="微軟正黑體" panose="020B0604030504040204" pitchFamily="34" charset="-120"/>
              <a:ea typeface="微軟正黑體" panose="020B0604030504040204" pitchFamily="34" charset="-120"/>
            </a:rPr>
            <a:t>收穫處理</a:t>
          </a:r>
        </a:p>
      </dgm:t>
    </dgm:pt>
    <dgm:pt modelId="{6711B9E9-793A-4834-8445-84889838CF54}" type="parTrans" cxnId="{A0C39283-8EF9-49E6-B076-65176DDB828A}">
      <dgm:prSet/>
      <dgm:spPr/>
      <dgm:t>
        <a:bodyPr/>
        <a:lstStyle/>
        <a:p>
          <a:endParaRPr lang="zh-TW" altLang="en-US"/>
        </a:p>
      </dgm:t>
    </dgm:pt>
    <dgm:pt modelId="{BE0CFF35-FB5E-4D7C-B3C5-740300A47D6C}" type="sibTrans" cxnId="{A0C39283-8EF9-49E6-B076-65176DDB828A}">
      <dgm:prSet/>
      <dgm:spPr/>
      <dgm:t>
        <a:bodyPr/>
        <a:lstStyle/>
        <a:p>
          <a:endParaRPr lang="zh-TW" altLang="en-US"/>
        </a:p>
      </dgm:t>
    </dgm:pt>
    <dgm:pt modelId="{46330CA6-825F-4A04-8B10-FA1A5DC051EC}">
      <dgm:prSet phldrT="[文字]"/>
      <dgm:spPr/>
      <dgm:t>
        <a:bodyPr/>
        <a:lstStyle/>
        <a:p>
          <a:r>
            <a:rPr lang="zh-TW" altLang="en-US" b="1" dirty="0">
              <a:latin typeface="微軟正黑體" panose="020B0604030504040204" pitchFamily="34" charset="-120"/>
              <a:ea typeface="微軟正黑體" panose="020B0604030504040204" pitchFamily="34" charset="-120"/>
            </a:rPr>
            <a:t>確認石斑魚的檢疫是沒問題時，開始進行收獲處理</a:t>
          </a:r>
        </a:p>
      </dgm:t>
    </dgm:pt>
    <dgm:pt modelId="{355C973A-0269-4A93-B103-E13529459643}" type="parTrans" cxnId="{829BCD8F-0669-4B0B-988A-33A299B40102}">
      <dgm:prSet/>
      <dgm:spPr/>
      <dgm:t>
        <a:bodyPr/>
        <a:lstStyle/>
        <a:p>
          <a:endParaRPr lang="zh-TW" altLang="en-US"/>
        </a:p>
      </dgm:t>
    </dgm:pt>
    <dgm:pt modelId="{BD1F4438-A1F7-4561-89AE-0BB54C328116}" type="sibTrans" cxnId="{829BCD8F-0669-4B0B-988A-33A299B40102}">
      <dgm:prSet/>
      <dgm:spPr/>
      <dgm:t>
        <a:bodyPr/>
        <a:lstStyle/>
        <a:p>
          <a:endParaRPr lang="zh-TW" altLang="en-US"/>
        </a:p>
      </dgm:t>
    </dgm:pt>
    <dgm:pt modelId="{FC88B63F-C4B5-437B-8429-E4214B6CA7C6}">
      <dgm:prSet phldrT="[文字]"/>
      <dgm:spPr/>
      <dgm:t>
        <a:bodyPr/>
        <a:lstStyle/>
        <a:p>
          <a:r>
            <a:rPr lang="en-US" altLang="zh-TW" b="1" dirty="0">
              <a:latin typeface="微軟正黑體" panose="020B0604030504040204" pitchFamily="34" charset="-120"/>
              <a:ea typeface="微軟正黑體" panose="020B0604030504040204" pitchFamily="34" charset="-120"/>
            </a:rPr>
            <a:t>Step6</a:t>
          </a:r>
          <a:r>
            <a:rPr lang="zh-TW" altLang="en-US" b="1" dirty="0">
              <a:latin typeface="微軟正黑體" panose="020B0604030504040204" pitchFamily="34" charset="-120"/>
              <a:ea typeface="微軟正黑體" panose="020B0604030504040204" pitchFamily="34" charset="-120"/>
            </a:rPr>
            <a:t>包裝運輸</a:t>
          </a:r>
        </a:p>
      </dgm:t>
    </dgm:pt>
    <dgm:pt modelId="{70910A1B-3622-4158-80A0-FDD280184AF5}" type="parTrans" cxnId="{FA671371-C886-4F54-8D17-13D642105C97}">
      <dgm:prSet/>
      <dgm:spPr/>
      <dgm:t>
        <a:bodyPr/>
        <a:lstStyle/>
        <a:p>
          <a:endParaRPr lang="zh-TW" altLang="en-US"/>
        </a:p>
      </dgm:t>
    </dgm:pt>
    <dgm:pt modelId="{485E09A9-1949-4278-9F4A-DBF76F0E0E4D}" type="sibTrans" cxnId="{FA671371-C886-4F54-8D17-13D642105C97}">
      <dgm:prSet/>
      <dgm:spPr/>
      <dgm:t>
        <a:bodyPr/>
        <a:lstStyle/>
        <a:p>
          <a:endParaRPr lang="zh-TW" altLang="en-US"/>
        </a:p>
      </dgm:t>
    </dgm:pt>
    <dgm:pt modelId="{13045073-9FAB-446D-946A-143A1B970241}">
      <dgm:prSet phldrT="[文字]"/>
      <dgm:spPr/>
      <dgm:t>
        <a:bodyPr/>
        <a:lstStyle/>
        <a:p>
          <a:r>
            <a:rPr lang="zh-TW" altLang="en-US" b="1" dirty="0">
              <a:latin typeface="微軟正黑體" panose="020B0604030504040204" pitchFamily="34" charset="-120"/>
              <a:ea typeface="微軟正黑體" panose="020B0604030504040204" pitchFamily="34" charset="-120"/>
            </a:rPr>
            <a:t>收獲處理完成之後，便開始包裝與運送的過程，</a:t>
          </a:r>
        </a:p>
      </dgm:t>
    </dgm:pt>
    <dgm:pt modelId="{AF357D73-6997-49D7-9C7B-5A4477A77DEB}" type="parTrans" cxnId="{91A34306-EFE3-4F21-BCFD-CF15D9D98788}">
      <dgm:prSet/>
      <dgm:spPr/>
      <dgm:t>
        <a:bodyPr/>
        <a:lstStyle/>
        <a:p>
          <a:endParaRPr lang="zh-TW" altLang="en-US"/>
        </a:p>
      </dgm:t>
    </dgm:pt>
    <dgm:pt modelId="{39E1DCE8-23D5-4D92-AF3C-62EEFC7A7339}" type="sibTrans" cxnId="{91A34306-EFE3-4F21-BCFD-CF15D9D98788}">
      <dgm:prSet/>
      <dgm:spPr/>
      <dgm:t>
        <a:bodyPr/>
        <a:lstStyle/>
        <a:p>
          <a:endParaRPr lang="zh-TW" altLang="en-US"/>
        </a:p>
      </dgm:t>
    </dgm:pt>
    <dgm:pt modelId="{46C31643-5D88-4F1B-AB4E-A085D4CCF3AC}">
      <dgm:prSet/>
      <dgm:spPr/>
      <dgm:t>
        <a:bodyPr/>
        <a:lstStyle/>
        <a:p>
          <a:endParaRPr lang="zh-TW" altLang="en-US" b="1" dirty="0">
            <a:latin typeface="微軟正黑體" panose="020B0604030504040204" pitchFamily="34" charset="-120"/>
            <a:ea typeface="微軟正黑體" panose="020B0604030504040204" pitchFamily="34" charset="-120"/>
          </a:endParaRPr>
        </a:p>
      </dgm:t>
    </dgm:pt>
    <dgm:pt modelId="{894C8F91-8060-48AD-9DD7-446BF3EBF98F}" type="parTrans" cxnId="{5FC07635-5D7E-4BB7-B7F9-E30CFCEF2D49}">
      <dgm:prSet/>
      <dgm:spPr/>
      <dgm:t>
        <a:bodyPr/>
        <a:lstStyle/>
        <a:p>
          <a:endParaRPr lang="zh-TW" altLang="en-US"/>
        </a:p>
      </dgm:t>
    </dgm:pt>
    <dgm:pt modelId="{AB66670B-F8C3-408F-8894-071ABE64D4CE}" type="sibTrans" cxnId="{5FC07635-5D7E-4BB7-B7F9-E30CFCEF2D49}">
      <dgm:prSet/>
      <dgm:spPr/>
      <dgm:t>
        <a:bodyPr/>
        <a:lstStyle/>
        <a:p>
          <a:endParaRPr lang="zh-TW" altLang="en-US"/>
        </a:p>
      </dgm:t>
    </dgm:pt>
    <dgm:pt modelId="{256B8174-E306-451A-A4DF-4977C077AB11}">
      <dgm:prSet phldrT="[文字]"/>
      <dgm:spPr/>
      <dgm:t>
        <a:bodyPr/>
        <a:lstStyle/>
        <a:p>
          <a:r>
            <a:rPr lang="zh-TW" altLang="en-US" b="1" dirty="0">
              <a:latin typeface="微軟正黑體" panose="020B0604030504040204" pitchFamily="34" charset="-120"/>
              <a:ea typeface="微軟正黑體" panose="020B0604030504040204" pitchFamily="34" charset="-120"/>
            </a:rPr>
            <a:t>並且聯繫石斑魚的銷售地點與行銷模式。</a:t>
          </a:r>
        </a:p>
      </dgm:t>
    </dgm:pt>
    <dgm:pt modelId="{B5F594CE-2EE6-44FD-BD77-21ACE97E20FF}" type="parTrans" cxnId="{B1A33862-5A0A-42A8-BA1B-96BE32F2969A}">
      <dgm:prSet/>
      <dgm:spPr/>
      <dgm:t>
        <a:bodyPr/>
        <a:lstStyle/>
        <a:p>
          <a:endParaRPr lang="zh-TW" altLang="en-US"/>
        </a:p>
      </dgm:t>
    </dgm:pt>
    <dgm:pt modelId="{838C2AC6-3304-4CF1-97F0-5126BE6B4CFE}" type="sibTrans" cxnId="{B1A33862-5A0A-42A8-BA1B-96BE32F2969A}">
      <dgm:prSet/>
      <dgm:spPr/>
      <dgm:t>
        <a:bodyPr/>
        <a:lstStyle/>
        <a:p>
          <a:endParaRPr lang="zh-TW" altLang="en-US"/>
        </a:p>
      </dgm:t>
    </dgm:pt>
    <dgm:pt modelId="{C17FD747-48CB-4BCA-A0DB-55AA393CE1CD}">
      <dgm:prSet/>
      <dgm:spPr/>
      <dgm:t>
        <a:bodyPr/>
        <a:lstStyle/>
        <a:p>
          <a:endParaRPr lang="zh-TW" altLang="en-US" b="1" dirty="0">
            <a:latin typeface="微軟正黑體" panose="020B0604030504040204" pitchFamily="34" charset="-120"/>
            <a:ea typeface="微軟正黑體" panose="020B0604030504040204" pitchFamily="34" charset="-120"/>
          </a:endParaRPr>
        </a:p>
      </dgm:t>
    </dgm:pt>
    <dgm:pt modelId="{EC671993-165B-4063-9375-38FEFD214EAB}" type="parTrans" cxnId="{9BCB8208-3435-4768-BF97-BC655D90BA84}">
      <dgm:prSet/>
      <dgm:spPr/>
      <dgm:t>
        <a:bodyPr/>
        <a:lstStyle/>
        <a:p>
          <a:endParaRPr lang="zh-TW" altLang="en-US"/>
        </a:p>
      </dgm:t>
    </dgm:pt>
    <dgm:pt modelId="{C02AD39B-10D1-407A-B97F-22B2392066B9}" type="sibTrans" cxnId="{9BCB8208-3435-4768-BF97-BC655D90BA84}">
      <dgm:prSet/>
      <dgm:spPr/>
      <dgm:t>
        <a:bodyPr/>
        <a:lstStyle/>
        <a:p>
          <a:endParaRPr lang="zh-TW" altLang="en-US"/>
        </a:p>
      </dgm:t>
    </dgm:pt>
    <dgm:pt modelId="{71479413-4031-435D-AC7E-5F143033C91B}">
      <dgm:prSet phldrT="[文字]"/>
      <dgm:spPr/>
      <dgm:t>
        <a:bodyPr/>
        <a:lstStyle/>
        <a:p>
          <a:r>
            <a:rPr lang="zh-TW" altLang="en-US" b="1" dirty="0">
              <a:latin typeface="微軟正黑體" panose="020B0604030504040204" pitchFamily="34" charset="-120"/>
              <a:ea typeface="微軟正黑體" panose="020B0604030504040204" pitchFamily="34" charset="-120"/>
            </a:rPr>
            <a:t>考量運送的距離，全程運送方式與設備，確保物流運送作業的安全性。</a:t>
          </a:r>
        </a:p>
      </dgm:t>
    </dgm:pt>
    <dgm:pt modelId="{7D61FEE3-F201-45DE-8830-911E549945C8}" type="parTrans" cxnId="{7D30CBE7-9B54-4673-A0AB-2C9817A0F461}">
      <dgm:prSet/>
      <dgm:spPr/>
      <dgm:t>
        <a:bodyPr/>
        <a:lstStyle/>
        <a:p>
          <a:endParaRPr lang="zh-TW" altLang="en-US"/>
        </a:p>
      </dgm:t>
    </dgm:pt>
    <dgm:pt modelId="{8854C340-A2E7-4116-9CC6-030B60DBA921}" type="sibTrans" cxnId="{7D30CBE7-9B54-4673-A0AB-2C9817A0F461}">
      <dgm:prSet/>
      <dgm:spPr/>
      <dgm:t>
        <a:bodyPr/>
        <a:lstStyle/>
        <a:p>
          <a:endParaRPr lang="zh-TW" altLang="en-US"/>
        </a:p>
      </dgm:t>
    </dgm:pt>
    <dgm:pt modelId="{CEBB788E-988C-4C2B-B4B5-7E0BB09601E2}" type="pres">
      <dgm:prSet presAssocID="{75A34592-FD15-430D-B970-8F183C9DE9A2}" presName="linearFlow" presStyleCnt="0">
        <dgm:presLayoutVars>
          <dgm:dir/>
          <dgm:animLvl val="lvl"/>
          <dgm:resizeHandles val="exact"/>
        </dgm:presLayoutVars>
      </dgm:prSet>
      <dgm:spPr/>
    </dgm:pt>
    <dgm:pt modelId="{93AF320B-7B58-4F44-8A21-C847F89B5870}" type="pres">
      <dgm:prSet presAssocID="{73E8D20D-48DB-43B5-A1D5-5993BCD818F5}" presName="composite" presStyleCnt="0"/>
      <dgm:spPr/>
    </dgm:pt>
    <dgm:pt modelId="{39C76671-F7CB-4CA0-936C-6ED3C0E67281}" type="pres">
      <dgm:prSet presAssocID="{73E8D20D-48DB-43B5-A1D5-5993BCD818F5}" presName="parTx" presStyleLbl="node1" presStyleIdx="0" presStyleCnt="2">
        <dgm:presLayoutVars>
          <dgm:chMax val="0"/>
          <dgm:chPref val="0"/>
          <dgm:bulletEnabled val="1"/>
        </dgm:presLayoutVars>
      </dgm:prSet>
      <dgm:spPr/>
    </dgm:pt>
    <dgm:pt modelId="{78519F6B-52D9-41FF-902F-EAD56C39B99D}" type="pres">
      <dgm:prSet presAssocID="{73E8D20D-48DB-43B5-A1D5-5993BCD818F5}" presName="parSh" presStyleLbl="node1" presStyleIdx="0" presStyleCnt="2"/>
      <dgm:spPr/>
    </dgm:pt>
    <dgm:pt modelId="{01C40769-B4AF-4D2B-AA8C-5A4B2E4487DD}" type="pres">
      <dgm:prSet presAssocID="{73E8D20D-48DB-43B5-A1D5-5993BCD818F5}" presName="desTx" presStyleLbl="fgAcc1" presStyleIdx="0" presStyleCnt="2">
        <dgm:presLayoutVars>
          <dgm:bulletEnabled val="1"/>
        </dgm:presLayoutVars>
      </dgm:prSet>
      <dgm:spPr/>
    </dgm:pt>
    <dgm:pt modelId="{FEAD4A8C-88B3-4E90-BFBF-4E7B3AD6F45F}" type="pres">
      <dgm:prSet presAssocID="{BE0CFF35-FB5E-4D7C-B3C5-740300A47D6C}" presName="sibTrans" presStyleLbl="sibTrans2D1" presStyleIdx="0" presStyleCnt="1"/>
      <dgm:spPr/>
    </dgm:pt>
    <dgm:pt modelId="{E8E81458-A5A8-4FB9-B570-180E3C3F58BD}" type="pres">
      <dgm:prSet presAssocID="{BE0CFF35-FB5E-4D7C-B3C5-740300A47D6C}" presName="connTx" presStyleLbl="sibTrans2D1" presStyleIdx="0" presStyleCnt="1"/>
      <dgm:spPr/>
    </dgm:pt>
    <dgm:pt modelId="{67918122-B1CC-4CFE-814D-680377D98297}" type="pres">
      <dgm:prSet presAssocID="{FC88B63F-C4B5-437B-8429-E4214B6CA7C6}" presName="composite" presStyleCnt="0"/>
      <dgm:spPr/>
    </dgm:pt>
    <dgm:pt modelId="{57DE2803-CAFC-4388-B6A9-49787AF95F70}" type="pres">
      <dgm:prSet presAssocID="{FC88B63F-C4B5-437B-8429-E4214B6CA7C6}" presName="parTx" presStyleLbl="node1" presStyleIdx="0" presStyleCnt="2">
        <dgm:presLayoutVars>
          <dgm:chMax val="0"/>
          <dgm:chPref val="0"/>
          <dgm:bulletEnabled val="1"/>
        </dgm:presLayoutVars>
      </dgm:prSet>
      <dgm:spPr/>
    </dgm:pt>
    <dgm:pt modelId="{6A063C86-66C2-468C-9ED6-AE41CC29944D}" type="pres">
      <dgm:prSet presAssocID="{FC88B63F-C4B5-437B-8429-E4214B6CA7C6}" presName="parSh" presStyleLbl="node1" presStyleIdx="1" presStyleCnt="2"/>
      <dgm:spPr/>
    </dgm:pt>
    <dgm:pt modelId="{AE391B47-FA2F-4316-9F9B-A771B5C16E59}" type="pres">
      <dgm:prSet presAssocID="{FC88B63F-C4B5-437B-8429-E4214B6CA7C6}" presName="desTx" presStyleLbl="fgAcc1" presStyleIdx="1" presStyleCnt="2">
        <dgm:presLayoutVars>
          <dgm:bulletEnabled val="1"/>
        </dgm:presLayoutVars>
      </dgm:prSet>
      <dgm:spPr/>
    </dgm:pt>
  </dgm:ptLst>
  <dgm:cxnLst>
    <dgm:cxn modelId="{E736BD04-2ED9-43BD-BFEE-9D825CF7A8E5}" type="presOf" srcId="{73E8D20D-48DB-43B5-A1D5-5993BCD818F5}" destId="{39C76671-F7CB-4CA0-936C-6ED3C0E67281}" srcOrd="0" destOrd="0" presId="urn:microsoft.com/office/officeart/2005/8/layout/process3"/>
    <dgm:cxn modelId="{91A34306-EFE3-4F21-BCFD-CF15D9D98788}" srcId="{FC88B63F-C4B5-437B-8429-E4214B6CA7C6}" destId="{13045073-9FAB-446D-946A-143A1B970241}" srcOrd="0" destOrd="0" parTransId="{AF357D73-6997-49D7-9C7B-5A4477A77DEB}" sibTransId="{39E1DCE8-23D5-4D92-AF3C-62EEFC7A7339}"/>
    <dgm:cxn modelId="{9BCB8208-3435-4768-BF97-BC655D90BA84}" srcId="{FC88B63F-C4B5-437B-8429-E4214B6CA7C6}" destId="{C17FD747-48CB-4BCA-A0DB-55AA393CE1CD}" srcOrd="2" destOrd="0" parTransId="{EC671993-165B-4063-9375-38FEFD214EAB}" sibTransId="{C02AD39B-10D1-407A-B97F-22B2392066B9}"/>
    <dgm:cxn modelId="{6F577B0E-AF6D-47EA-BAF8-D7793766208D}" type="presOf" srcId="{73E8D20D-48DB-43B5-A1D5-5993BCD818F5}" destId="{78519F6B-52D9-41FF-902F-EAD56C39B99D}" srcOrd="1" destOrd="0" presId="urn:microsoft.com/office/officeart/2005/8/layout/process3"/>
    <dgm:cxn modelId="{0A014111-900E-4458-9D3E-2410A1B69412}" type="presOf" srcId="{BE0CFF35-FB5E-4D7C-B3C5-740300A47D6C}" destId="{E8E81458-A5A8-4FB9-B570-180E3C3F58BD}" srcOrd="1" destOrd="0" presId="urn:microsoft.com/office/officeart/2005/8/layout/process3"/>
    <dgm:cxn modelId="{172EE018-BF72-4357-AD61-CCB76F928D68}" type="presOf" srcId="{46C31643-5D88-4F1B-AB4E-A085D4CCF3AC}" destId="{01C40769-B4AF-4D2B-AA8C-5A4B2E4487DD}" srcOrd="0" destOrd="2" presId="urn:microsoft.com/office/officeart/2005/8/layout/process3"/>
    <dgm:cxn modelId="{31AB031C-BC26-439D-AF55-A5842A3C21C1}" type="presOf" srcId="{13045073-9FAB-446D-946A-143A1B970241}" destId="{AE391B47-FA2F-4316-9F9B-A771B5C16E59}" srcOrd="0" destOrd="0" presId="urn:microsoft.com/office/officeart/2005/8/layout/process3"/>
    <dgm:cxn modelId="{FC414F1F-1FF3-4C5D-A070-2CF74399BC6F}" type="presOf" srcId="{FC88B63F-C4B5-437B-8429-E4214B6CA7C6}" destId="{6A063C86-66C2-468C-9ED6-AE41CC29944D}" srcOrd="1" destOrd="0" presId="urn:microsoft.com/office/officeart/2005/8/layout/process3"/>
    <dgm:cxn modelId="{F0728222-CA7A-4FF1-8328-52CC4436F6BA}" type="presOf" srcId="{FC88B63F-C4B5-437B-8429-E4214B6CA7C6}" destId="{57DE2803-CAFC-4388-B6A9-49787AF95F70}" srcOrd="0" destOrd="0" presId="urn:microsoft.com/office/officeart/2005/8/layout/process3"/>
    <dgm:cxn modelId="{47780835-138D-4DF8-B967-5CE5AEE26603}" type="presOf" srcId="{71479413-4031-435D-AC7E-5F143033C91B}" destId="{AE391B47-FA2F-4316-9F9B-A771B5C16E59}" srcOrd="0" destOrd="1" presId="urn:microsoft.com/office/officeart/2005/8/layout/process3"/>
    <dgm:cxn modelId="{5FC07635-5D7E-4BB7-B7F9-E30CFCEF2D49}" srcId="{73E8D20D-48DB-43B5-A1D5-5993BCD818F5}" destId="{46C31643-5D88-4F1B-AB4E-A085D4CCF3AC}" srcOrd="2" destOrd="0" parTransId="{894C8F91-8060-48AD-9DD7-446BF3EBF98F}" sibTransId="{AB66670B-F8C3-408F-8894-071ABE64D4CE}"/>
    <dgm:cxn modelId="{B1A33862-5A0A-42A8-BA1B-96BE32F2969A}" srcId="{73E8D20D-48DB-43B5-A1D5-5993BCD818F5}" destId="{256B8174-E306-451A-A4DF-4977C077AB11}" srcOrd="1" destOrd="0" parTransId="{B5F594CE-2EE6-44FD-BD77-21ACE97E20FF}" sibTransId="{838C2AC6-3304-4CF1-97F0-5126BE6B4CFE}"/>
    <dgm:cxn modelId="{FA671371-C886-4F54-8D17-13D642105C97}" srcId="{75A34592-FD15-430D-B970-8F183C9DE9A2}" destId="{FC88B63F-C4B5-437B-8429-E4214B6CA7C6}" srcOrd="1" destOrd="0" parTransId="{70910A1B-3622-4158-80A0-FDD280184AF5}" sibTransId="{485E09A9-1949-4278-9F4A-DBF76F0E0E4D}"/>
    <dgm:cxn modelId="{A0C39283-8EF9-49E6-B076-65176DDB828A}" srcId="{75A34592-FD15-430D-B970-8F183C9DE9A2}" destId="{73E8D20D-48DB-43B5-A1D5-5993BCD818F5}" srcOrd="0" destOrd="0" parTransId="{6711B9E9-793A-4834-8445-84889838CF54}" sibTransId="{BE0CFF35-FB5E-4D7C-B3C5-740300A47D6C}"/>
    <dgm:cxn modelId="{3731C78F-82BA-4BF3-BD47-B57050B40B39}" type="presOf" srcId="{75A34592-FD15-430D-B970-8F183C9DE9A2}" destId="{CEBB788E-988C-4C2B-B4B5-7E0BB09601E2}" srcOrd="0" destOrd="0" presId="urn:microsoft.com/office/officeart/2005/8/layout/process3"/>
    <dgm:cxn modelId="{829BCD8F-0669-4B0B-988A-33A299B40102}" srcId="{73E8D20D-48DB-43B5-A1D5-5993BCD818F5}" destId="{46330CA6-825F-4A04-8B10-FA1A5DC051EC}" srcOrd="0" destOrd="0" parTransId="{355C973A-0269-4A93-B103-E13529459643}" sibTransId="{BD1F4438-A1F7-4561-89AE-0BB54C328116}"/>
    <dgm:cxn modelId="{42CA7FBF-934A-4D7D-BD76-3FF4DF2FD6E6}" type="presOf" srcId="{256B8174-E306-451A-A4DF-4977C077AB11}" destId="{01C40769-B4AF-4D2B-AA8C-5A4B2E4487DD}" srcOrd="0" destOrd="1" presId="urn:microsoft.com/office/officeart/2005/8/layout/process3"/>
    <dgm:cxn modelId="{4D7413E0-654A-499C-A80C-DA0C8BD77322}" type="presOf" srcId="{C17FD747-48CB-4BCA-A0DB-55AA393CE1CD}" destId="{AE391B47-FA2F-4316-9F9B-A771B5C16E59}" srcOrd="0" destOrd="2" presId="urn:microsoft.com/office/officeart/2005/8/layout/process3"/>
    <dgm:cxn modelId="{7D30CBE7-9B54-4673-A0AB-2C9817A0F461}" srcId="{FC88B63F-C4B5-437B-8429-E4214B6CA7C6}" destId="{71479413-4031-435D-AC7E-5F143033C91B}" srcOrd="1" destOrd="0" parTransId="{7D61FEE3-F201-45DE-8830-911E549945C8}" sibTransId="{8854C340-A2E7-4116-9CC6-030B60DBA921}"/>
    <dgm:cxn modelId="{CCD1A4E8-1E25-4909-BF72-BF495F7FD043}" type="presOf" srcId="{46330CA6-825F-4A04-8B10-FA1A5DC051EC}" destId="{01C40769-B4AF-4D2B-AA8C-5A4B2E4487DD}" srcOrd="0" destOrd="0" presId="urn:microsoft.com/office/officeart/2005/8/layout/process3"/>
    <dgm:cxn modelId="{F46C38F1-3E55-4B22-B6A5-DE137FCCFB5E}" type="presOf" srcId="{BE0CFF35-FB5E-4D7C-B3C5-740300A47D6C}" destId="{FEAD4A8C-88B3-4E90-BFBF-4E7B3AD6F45F}" srcOrd="0" destOrd="0" presId="urn:microsoft.com/office/officeart/2005/8/layout/process3"/>
    <dgm:cxn modelId="{10C80280-614C-45AA-8293-A8B50B44AF13}" type="presParOf" srcId="{CEBB788E-988C-4C2B-B4B5-7E0BB09601E2}" destId="{93AF320B-7B58-4F44-8A21-C847F89B5870}" srcOrd="0" destOrd="0" presId="urn:microsoft.com/office/officeart/2005/8/layout/process3"/>
    <dgm:cxn modelId="{62A19695-78AD-4774-BBD0-6265BC6F80B6}" type="presParOf" srcId="{93AF320B-7B58-4F44-8A21-C847F89B5870}" destId="{39C76671-F7CB-4CA0-936C-6ED3C0E67281}" srcOrd="0" destOrd="0" presId="urn:microsoft.com/office/officeart/2005/8/layout/process3"/>
    <dgm:cxn modelId="{1F735B7E-C93D-4BFE-878B-2164E49968C3}" type="presParOf" srcId="{93AF320B-7B58-4F44-8A21-C847F89B5870}" destId="{78519F6B-52D9-41FF-902F-EAD56C39B99D}" srcOrd="1" destOrd="0" presId="urn:microsoft.com/office/officeart/2005/8/layout/process3"/>
    <dgm:cxn modelId="{E34EBE5B-71FA-403B-9537-D0C6AA5B0793}" type="presParOf" srcId="{93AF320B-7B58-4F44-8A21-C847F89B5870}" destId="{01C40769-B4AF-4D2B-AA8C-5A4B2E4487DD}" srcOrd="2" destOrd="0" presId="urn:microsoft.com/office/officeart/2005/8/layout/process3"/>
    <dgm:cxn modelId="{2EF76099-D35A-4BC2-ABA2-E82EE1BD0507}" type="presParOf" srcId="{CEBB788E-988C-4C2B-B4B5-7E0BB09601E2}" destId="{FEAD4A8C-88B3-4E90-BFBF-4E7B3AD6F45F}" srcOrd="1" destOrd="0" presId="urn:microsoft.com/office/officeart/2005/8/layout/process3"/>
    <dgm:cxn modelId="{DCA7A6F7-E996-4A7D-9B10-11AF220B1420}" type="presParOf" srcId="{FEAD4A8C-88B3-4E90-BFBF-4E7B3AD6F45F}" destId="{E8E81458-A5A8-4FB9-B570-180E3C3F58BD}" srcOrd="0" destOrd="0" presId="urn:microsoft.com/office/officeart/2005/8/layout/process3"/>
    <dgm:cxn modelId="{E3ABAE39-7DD2-454C-8908-1B6A7F688050}" type="presParOf" srcId="{CEBB788E-988C-4C2B-B4B5-7E0BB09601E2}" destId="{67918122-B1CC-4CFE-814D-680377D98297}" srcOrd="2" destOrd="0" presId="urn:microsoft.com/office/officeart/2005/8/layout/process3"/>
    <dgm:cxn modelId="{539FB084-E5A2-4513-8FB8-B36744F8B15A}" type="presParOf" srcId="{67918122-B1CC-4CFE-814D-680377D98297}" destId="{57DE2803-CAFC-4388-B6A9-49787AF95F70}" srcOrd="0" destOrd="0" presId="urn:microsoft.com/office/officeart/2005/8/layout/process3"/>
    <dgm:cxn modelId="{5E763704-5DB7-4671-AC02-53A71E1AB682}" type="presParOf" srcId="{67918122-B1CC-4CFE-814D-680377D98297}" destId="{6A063C86-66C2-468C-9ED6-AE41CC29944D}" srcOrd="1" destOrd="0" presId="urn:microsoft.com/office/officeart/2005/8/layout/process3"/>
    <dgm:cxn modelId="{74C5070F-2BA2-4D16-B30D-4D32FB4339FB}" type="presParOf" srcId="{67918122-B1CC-4CFE-814D-680377D98297}" destId="{AE391B47-FA2F-4316-9F9B-A771B5C16E59}" srcOrd="2" destOrd="0" presId="urn:microsoft.com/office/officeart/2005/8/layout/process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49266A2B-9FA7-412E-9004-B4DD1D9C6F60}" type="doc">
      <dgm:prSet loTypeId="urn:microsoft.com/office/officeart/2005/8/layout/process3" loCatId="process" qsTypeId="urn:microsoft.com/office/officeart/2005/8/quickstyle/simple1" qsCatId="simple" csTypeId="urn:microsoft.com/office/officeart/2005/8/colors/accent1_2" csCatId="accent1" phldr="1"/>
      <dgm:spPr/>
      <dgm:t>
        <a:bodyPr/>
        <a:lstStyle/>
        <a:p>
          <a:endParaRPr lang="zh-TW" altLang="en-US"/>
        </a:p>
      </dgm:t>
    </dgm:pt>
    <dgm:pt modelId="{9130D898-BA79-43C8-973A-AABFA899F19D}">
      <dgm:prSet phldrT="[文字]" custT="1"/>
      <dgm:spPr/>
      <dgm:t>
        <a:bodyPr/>
        <a:lstStyle/>
        <a:p>
          <a:r>
            <a:rPr lang="en-US" altLang="zh-TW" sz="2000" b="1" dirty="0">
              <a:latin typeface="微軟正黑體" panose="020B0604030504040204" pitchFamily="34" charset="-120"/>
              <a:ea typeface="微軟正黑體" panose="020B0604030504040204" pitchFamily="34" charset="-120"/>
            </a:rPr>
            <a:t>Step7</a:t>
          </a:r>
          <a:r>
            <a:rPr lang="zh-TW" altLang="en-US" sz="2000" b="1" dirty="0">
              <a:latin typeface="微軟正黑體" panose="020B0604030504040204" pitchFamily="34" charset="-120"/>
              <a:ea typeface="微軟正黑體" panose="020B0604030504040204" pitchFamily="34" charset="-120"/>
            </a:rPr>
            <a:t>消費者</a:t>
          </a:r>
        </a:p>
      </dgm:t>
    </dgm:pt>
    <dgm:pt modelId="{9B81B292-9081-4B67-94AA-3E9030791B82}" type="parTrans" cxnId="{7AE28857-1ADF-4D48-971E-163B7D841A54}">
      <dgm:prSet/>
      <dgm:spPr/>
      <dgm:t>
        <a:bodyPr/>
        <a:lstStyle/>
        <a:p>
          <a:endParaRPr lang="zh-TW" altLang="en-US"/>
        </a:p>
      </dgm:t>
    </dgm:pt>
    <dgm:pt modelId="{AC4335BD-94BF-4284-89DB-B7D0AF174EAD}" type="sibTrans" cxnId="{7AE28857-1ADF-4D48-971E-163B7D841A54}">
      <dgm:prSet/>
      <dgm:spPr/>
      <dgm:t>
        <a:bodyPr/>
        <a:lstStyle/>
        <a:p>
          <a:endParaRPr lang="zh-TW" altLang="en-US"/>
        </a:p>
      </dgm:t>
    </dgm:pt>
    <dgm:pt modelId="{0D9F3564-0935-4504-925C-FB66ECE81E11}">
      <dgm:prSet phldrT="[文字]" custT="1"/>
      <dgm:spPr/>
      <dgm:t>
        <a:bodyPr/>
        <a:lstStyle/>
        <a:p>
          <a:r>
            <a:rPr lang="zh-TW" altLang="en-US" sz="2000" b="1" dirty="0">
              <a:latin typeface="微軟正黑體" panose="020B0604030504040204" pitchFamily="34" charset="-120"/>
              <a:ea typeface="微軟正黑體" panose="020B0604030504040204" pitchFamily="34" charset="-120"/>
            </a:rPr>
            <a:t>魚貨會交付至消費者</a:t>
          </a:r>
        </a:p>
      </dgm:t>
    </dgm:pt>
    <dgm:pt modelId="{C36F2044-4411-494E-B2FF-4A7DA9682D36}" type="parTrans" cxnId="{F41730AC-3969-4B13-B2D0-F380CF27ACF9}">
      <dgm:prSet/>
      <dgm:spPr/>
      <dgm:t>
        <a:bodyPr/>
        <a:lstStyle/>
        <a:p>
          <a:endParaRPr lang="zh-TW" altLang="en-US"/>
        </a:p>
      </dgm:t>
    </dgm:pt>
    <dgm:pt modelId="{29DB9C8E-C54A-4272-819B-9DE015AAE9B3}" type="sibTrans" cxnId="{F41730AC-3969-4B13-B2D0-F380CF27ACF9}">
      <dgm:prSet/>
      <dgm:spPr/>
      <dgm:t>
        <a:bodyPr/>
        <a:lstStyle/>
        <a:p>
          <a:endParaRPr lang="zh-TW" altLang="en-US"/>
        </a:p>
      </dgm:t>
    </dgm:pt>
    <dgm:pt modelId="{DD231DD6-46C2-482C-BD8E-DF9578F22ED5}">
      <dgm:prSet custT="1"/>
      <dgm:spPr/>
      <dgm:t>
        <a:bodyPr/>
        <a:lstStyle/>
        <a:p>
          <a:endParaRPr lang="zh-TW" altLang="en-US" sz="2000" b="1" dirty="0">
            <a:latin typeface="微軟正黑體" panose="020B0604030504040204" pitchFamily="34" charset="-120"/>
            <a:ea typeface="微軟正黑體" panose="020B0604030504040204" pitchFamily="34" charset="-120"/>
          </a:endParaRPr>
        </a:p>
      </dgm:t>
    </dgm:pt>
    <dgm:pt modelId="{EE4CE497-ACC1-4C6A-8513-99F9DC9D84E9}" type="parTrans" cxnId="{34DC56EB-D05F-430C-9107-F09977B6E4B8}">
      <dgm:prSet/>
      <dgm:spPr/>
      <dgm:t>
        <a:bodyPr/>
        <a:lstStyle/>
        <a:p>
          <a:endParaRPr lang="zh-TW" altLang="en-US"/>
        </a:p>
      </dgm:t>
    </dgm:pt>
    <dgm:pt modelId="{A9BD2B8E-72E9-4691-A84B-47AC85A60D5A}" type="sibTrans" cxnId="{34DC56EB-D05F-430C-9107-F09977B6E4B8}">
      <dgm:prSet/>
      <dgm:spPr/>
      <dgm:t>
        <a:bodyPr/>
        <a:lstStyle/>
        <a:p>
          <a:endParaRPr lang="zh-TW" altLang="en-US"/>
        </a:p>
      </dgm:t>
    </dgm:pt>
    <dgm:pt modelId="{40404EAB-FC07-4A74-BA7B-F3BCC64A4049}">
      <dgm:prSet phldrT="[文字]" custT="1"/>
      <dgm:spPr/>
      <dgm:t>
        <a:bodyPr/>
        <a:lstStyle/>
        <a:p>
          <a:r>
            <a:rPr lang="zh-TW" altLang="en-US" sz="2000" b="1" dirty="0">
              <a:latin typeface="微軟正黑體" panose="020B0604030504040204" pitchFamily="34" charset="-120"/>
              <a:ea typeface="微軟正黑體" panose="020B0604030504040204" pitchFamily="34" charset="-120"/>
            </a:rPr>
            <a:t>或由零售商販售給消費者進行食用。</a:t>
          </a:r>
        </a:p>
      </dgm:t>
    </dgm:pt>
    <dgm:pt modelId="{513EFD31-6087-4115-BF4C-B594E97A6F87}" type="parTrans" cxnId="{63ED0A22-2D2F-435C-A0B1-9527C547DCF8}">
      <dgm:prSet/>
      <dgm:spPr/>
      <dgm:t>
        <a:bodyPr/>
        <a:lstStyle/>
        <a:p>
          <a:endParaRPr lang="zh-TW" altLang="en-US"/>
        </a:p>
      </dgm:t>
    </dgm:pt>
    <dgm:pt modelId="{63AF4711-40CB-4143-A069-042923DCAE9E}" type="sibTrans" cxnId="{63ED0A22-2D2F-435C-A0B1-9527C547DCF8}">
      <dgm:prSet/>
      <dgm:spPr/>
      <dgm:t>
        <a:bodyPr/>
        <a:lstStyle/>
        <a:p>
          <a:endParaRPr lang="zh-TW" altLang="en-US"/>
        </a:p>
      </dgm:t>
    </dgm:pt>
    <dgm:pt modelId="{0896CEC2-3F4A-4AF1-8CFF-9E45BA156463}" type="pres">
      <dgm:prSet presAssocID="{49266A2B-9FA7-412E-9004-B4DD1D9C6F60}" presName="linearFlow" presStyleCnt="0">
        <dgm:presLayoutVars>
          <dgm:dir/>
          <dgm:animLvl val="lvl"/>
          <dgm:resizeHandles val="exact"/>
        </dgm:presLayoutVars>
      </dgm:prSet>
      <dgm:spPr/>
    </dgm:pt>
    <dgm:pt modelId="{BEDA7ABB-1274-4E25-9EAD-FDC3E064519A}" type="pres">
      <dgm:prSet presAssocID="{9130D898-BA79-43C8-973A-AABFA899F19D}" presName="composite" presStyleCnt="0"/>
      <dgm:spPr/>
    </dgm:pt>
    <dgm:pt modelId="{1CF6F7A6-2597-44AD-B187-0196954DF270}" type="pres">
      <dgm:prSet presAssocID="{9130D898-BA79-43C8-973A-AABFA899F19D}" presName="parTx" presStyleLbl="node1" presStyleIdx="0" presStyleCnt="1">
        <dgm:presLayoutVars>
          <dgm:chMax val="0"/>
          <dgm:chPref val="0"/>
          <dgm:bulletEnabled val="1"/>
        </dgm:presLayoutVars>
      </dgm:prSet>
      <dgm:spPr/>
    </dgm:pt>
    <dgm:pt modelId="{68407CAC-052C-436F-81E4-43E457C782E7}" type="pres">
      <dgm:prSet presAssocID="{9130D898-BA79-43C8-973A-AABFA899F19D}" presName="parSh" presStyleLbl="node1" presStyleIdx="0" presStyleCnt="1"/>
      <dgm:spPr/>
    </dgm:pt>
    <dgm:pt modelId="{B8472E47-AB13-4F9C-8B99-E11275A1021F}" type="pres">
      <dgm:prSet presAssocID="{9130D898-BA79-43C8-973A-AABFA899F19D}" presName="desTx" presStyleLbl="fgAcc1" presStyleIdx="0" presStyleCnt="1">
        <dgm:presLayoutVars>
          <dgm:bulletEnabled val="1"/>
        </dgm:presLayoutVars>
      </dgm:prSet>
      <dgm:spPr/>
    </dgm:pt>
  </dgm:ptLst>
  <dgm:cxnLst>
    <dgm:cxn modelId="{63ED0A22-2D2F-435C-A0B1-9527C547DCF8}" srcId="{9130D898-BA79-43C8-973A-AABFA899F19D}" destId="{40404EAB-FC07-4A74-BA7B-F3BCC64A4049}" srcOrd="1" destOrd="0" parTransId="{513EFD31-6087-4115-BF4C-B594E97A6F87}" sibTransId="{63AF4711-40CB-4143-A069-042923DCAE9E}"/>
    <dgm:cxn modelId="{BC9B766F-7060-4845-906C-C602B289F0BE}" type="presOf" srcId="{9130D898-BA79-43C8-973A-AABFA899F19D}" destId="{1CF6F7A6-2597-44AD-B187-0196954DF270}" srcOrd="0" destOrd="0" presId="urn:microsoft.com/office/officeart/2005/8/layout/process3"/>
    <dgm:cxn modelId="{7AE28857-1ADF-4D48-971E-163B7D841A54}" srcId="{49266A2B-9FA7-412E-9004-B4DD1D9C6F60}" destId="{9130D898-BA79-43C8-973A-AABFA899F19D}" srcOrd="0" destOrd="0" parTransId="{9B81B292-9081-4B67-94AA-3E9030791B82}" sibTransId="{AC4335BD-94BF-4284-89DB-B7D0AF174EAD}"/>
    <dgm:cxn modelId="{F900A980-5524-4E1C-B2D5-A495A610FF45}" type="presOf" srcId="{40404EAB-FC07-4A74-BA7B-F3BCC64A4049}" destId="{B8472E47-AB13-4F9C-8B99-E11275A1021F}" srcOrd="0" destOrd="1" presId="urn:microsoft.com/office/officeart/2005/8/layout/process3"/>
    <dgm:cxn modelId="{94E90582-4790-4B62-9B36-7562A6534413}" type="presOf" srcId="{0D9F3564-0935-4504-925C-FB66ECE81E11}" destId="{B8472E47-AB13-4F9C-8B99-E11275A1021F}" srcOrd="0" destOrd="0" presId="urn:microsoft.com/office/officeart/2005/8/layout/process3"/>
    <dgm:cxn modelId="{F41730AC-3969-4B13-B2D0-F380CF27ACF9}" srcId="{9130D898-BA79-43C8-973A-AABFA899F19D}" destId="{0D9F3564-0935-4504-925C-FB66ECE81E11}" srcOrd="0" destOrd="0" parTransId="{C36F2044-4411-494E-B2FF-4A7DA9682D36}" sibTransId="{29DB9C8E-C54A-4272-819B-9DE015AAE9B3}"/>
    <dgm:cxn modelId="{C2BF5ABB-90AC-4F7A-8799-5057AEC50447}" type="presOf" srcId="{49266A2B-9FA7-412E-9004-B4DD1D9C6F60}" destId="{0896CEC2-3F4A-4AF1-8CFF-9E45BA156463}" srcOrd="0" destOrd="0" presId="urn:microsoft.com/office/officeart/2005/8/layout/process3"/>
    <dgm:cxn modelId="{D9105DDC-7C6F-42EB-9F4F-C668C364DD72}" type="presOf" srcId="{9130D898-BA79-43C8-973A-AABFA899F19D}" destId="{68407CAC-052C-436F-81E4-43E457C782E7}" srcOrd="1" destOrd="0" presId="urn:microsoft.com/office/officeart/2005/8/layout/process3"/>
    <dgm:cxn modelId="{34DC56EB-D05F-430C-9107-F09977B6E4B8}" srcId="{9130D898-BA79-43C8-973A-AABFA899F19D}" destId="{DD231DD6-46C2-482C-BD8E-DF9578F22ED5}" srcOrd="2" destOrd="0" parTransId="{EE4CE497-ACC1-4C6A-8513-99F9DC9D84E9}" sibTransId="{A9BD2B8E-72E9-4691-A84B-47AC85A60D5A}"/>
    <dgm:cxn modelId="{B47225F4-1D04-437B-A725-3582DC9C0804}" type="presOf" srcId="{DD231DD6-46C2-482C-BD8E-DF9578F22ED5}" destId="{B8472E47-AB13-4F9C-8B99-E11275A1021F}" srcOrd="0" destOrd="2" presId="urn:microsoft.com/office/officeart/2005/8/layout/process3"/>
    <dgm:cxn modelId="{94A1F8B0-0811-4C15-AE4B-6C183E6E5783}" type="presParOf" srcId="{0896CEC2-3F4A-4AF1-8CFF-9E45BA156463}" destId="{BEDA7ABB-1274-4E25-9EAD-FDC3E064519A}" srcOrd="0" destOrd="0" presId="urn:microsoft.com/office/officeart/2005/8/layout/process3"/>
    <dgm:cxn modelId="{B35B9711-43D2-41AD-92A7-96C69AA2ADD0}" type="presParOf" srcId="{BEDA7ABB-1274-4E25-9EAD-FDC3E064519A}" destId="{1CF6F7A6-2597-44AD-B187-0196954DF270}" srcOrd="0" destOrd="0" presId="urn:microsoft.com/office/officeart/2005/8/layout/process3"/>
    <dgm:cxn modelId="{64899FA7-5900-4E4B-8B4B-2095F32B5F4A}" type="presParOf" srcId="{BEDA7ABB-1274-4E25-9EAD-FDC3E064519A}" destId="{68407CAC-052C-436F-81E4-43E457C782E7}" srcOrd="1" destOrd="0" presId="urn:microsoft.com/office/officeart/2005/8/layout/process3"/>
    <dgm:cxn modelId="{0BAE39EE-FFA9-4BC7-A6D2-294AA0C937CC}" type="presParOf" srcId="{BEDA7ABB-1274-4E25-9EAD-FDC3E064519A}" destId="{B8472E47-AB13-4F9C-8B99-E11275A1021F}" srcOrd="2" destOrd="0" presId="urn:microsoft.com/office/officeart/2005/8/layout/process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350CE528-4A3A-4F90-8A72-D0BB57091F11}" type="doc">
      <dgm:prSet loTypeId="urn:microsoft.com/office/officeart/2005/8/layout/vList2" loCatId="list" qsTypeId="urn:microsoft.com/office/officeart/2005/8/quickstyle/simple1" qsCatId="simple" csTypeId="urn:microsoft.com/office/officeart/2005/8/colors/colorful3" csCatId="colorful" phldr="1"/>
      <dgm:spPr/>
      <dgm:t>
        <a:bodyPr/>
        <a:lstStyle/>
        <a:p>
          <a:endParaRPr lang="zh-TW" altLang="en-US"/>
        </a:p>
      </dgm:t>
    </dgm:pt>
    <dgm:pt modelId="{A5E40197-541A-4D58-A630-3FAD70ECE39E}">
      <dgm:prSet phldrT="[文字]" custT="1">
        <dgm:style>
          <a:lnRef idx="0">
            <a:scrgbClr r="0" g="0" b="0"/>
          </a:lnRef>
          <a:fillRef idx="0">
            <a:scrgbClr r="0" g="0" b="0"/>
          </a:fillRef>
          <a:effectRef idx="0">
            <a:scrgbClr r="0" g="0" b="0"/>
          </a:effectRef>
          <a:fontRef idx="minor">
            <a:schemeClr val="accent5"/>
          </a:fontRef>
        </dgm:style>
      </dgm:prSet>
      <dgm:spPr>
        <a:noFill/>
        <a:ln w="28575" cap="flat" cmpd="sng" algn="ctr">
          <a:solidFill>
            <a:schemeClr val="accent5"/>
          </a:solidFill>
          <a:prstDash val="sysDot"/>
          <a:round/>
          <a:headEnd type="none" w="med" len="med"/>
          <a:tailEnd type="none" w="med" len="med"/>
        </a:ln>
      </dgm:spPr>
      <dgm:t>
        <a:bodyPr/>
        <a:lstStyle/>
        <a:p>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傳統</a:t>
          </a:r>
        </a:p>
      </dgm:t>
    </dgm:pt>
    <dgm:pt modelId="{D501073A-65B4-41E9-AC4B-33A4DB96EEC4}" type="parTrans" cxnId="{B81F4C6B-0898-4B1F-A07F-0B015569DC49}">
      <dgm:prSet/>
      <dgm:spPr/>
      <dgm:t>
        <a:bodyPr/>
        <a:lstStyle/>
        <a:p>
          <a:endParaRPr lang="zh-TW" altLang="en-US"/>
        </a:p>
      </dgm:t>
    </dgm:pt>
    <dgm:pt modelId="{42C8D042-FADF-45A1-BB0C-3C2E8837205E}" type="sibTrans" cxnId="{B81F4C6B-0898-4B1F-A07F-0B015569DC49}">
      <dgm:prSet/>
      <dgm:spPr/>
      <dgm:t>
        <a:bodyPr/>
        <a:lstStyle/>
        <a:p>
          <a:endParaRPr lang="zh-TW" altLang="en-US"/>
        </a:p>
      </dgm:t>
    </dgm:pt>
    <dgm:pt modelId="{A1C9A501-03FD-4441-ADCF-26C964FE6042}">
      <dgm:prSet phldrT="[文字]" custT="1"/>
      <dgm:spPr/>
      <dgm:t>
        <a:bodyPr/>
        <a:lstStyle/>
        <a:p>
          <a:pPr>
            <a:buNone/>
          </a:pPr>
          <a:r>
            <a:rPr lang="zh-TW" altLang="en-US" sz="2200" b="1" dirty="0">
              <a:solidFill>
                <a:schemeClr val="tx1">
                  <a:lumMod val="75000"/>
                  <a:lumOff val="25000"/>
                </a:schemeClr>
              </a:solidFill>
              <a:latin typeface="微軟正黑體" panose="020B0604030504040204" pitchFamily="34" charset="-120"/>
              <a:ea typeface="微軟正黑體" panose="020B0604030504040204" pitchFamily="34" charset="-120"/>
            </a:rPr>
            <a:t>因交通尚未發達，販售地點的未多元化，農產品銷售多數以菓菜市場或傳統市場為主要販售地點，買賣風氣屬於地區性，較少跨區域採購的情況，故較少有囤積貨源的現象。</a:t>
          </a:r>
          <a:endParaRPr lang="zh-TW" altLang="en-US" sz="2200" dirty="0"/>
        </a:p>
      </dgm:t>
    </dgm:pt>
    <dgm:pt modelId="{0DD031C4-1ACF-46F8-959A-DFA9675A9D14}" type="parTrans" cxnId="{3DC07A42-89CD-46AF-9AED-6F217FCFBC37}">
      <dgm:prSet/>
      <dgm:spPr/>
      <dgm:t>
        <a:bodyPr/>
        <a:lstStyle/>
        <a:p>
          <a:endParaRPr lang="zh-TW" altLang="en-US"/>
        </a:p>
      </dgm:t>
    </dgm:pt>
    <dgm:pt modelId="{9A6B71E7-38AE-4F98-8C28-406651E18A49}" type="sibTrans" cxnId="{3DC07A42-89CD-46AF-9AED-6F217FCFBC37}">
      <dgm:prSet/>
      <dgm:spPr/>
      <dgm:t>
        <a:bodyPr/>
        <a:lstStyle/>
        <a:p>
          <a:endParaRPr lang="zh-TW" altLang="en-US"/>
        </a:p>
      </dgm:t>
    </dgm:pt>
    <dgm:pt modelId="{A6A0DB64-58C6-4454-9B7E-4955398BA43F}">
      <dgm:prSet phldrT="[文字]" custT="1">
        <dgm:style>
          <a:lnRef idx="0">
            <a:scrgbClr r="0" g="0" b="0"/>
          </a:lnRef>
          <a:fillRef idx="0">
            <a:scrgbClr r="0" g="0" b="0"/>
          </a:fillRef>
          <a:effectRef idx="0">
            <a:scrgbClr r="0" g="0" b="0"/>
          </a:effectRef>
          <a:fontRef idx="minor">
            <a:schemeClr val="accent6"/>
          </a:fontRef>
        </dgm:style>
      </dgm:prSet>
      <dgm:spPr>
        <a:noFill/>
        <a:ln w="28575" cap="flat" cmpd="sng" algn="ctr">
          <a:solidFill>
            <a:schemeClr val="accent6"/>
          </a:solidFill>
          <a:prstDash val="sysDot"/>
          <a:round/>
          <a:headEnd type="none" w="med" len="med"/>
          <a:tailEnd type="none" w="med" len="med"/>
        </a:ln>
      </dgm:spPr>
      <dgm:t>
        <a:bodyPr/>
        <a:lstStyle/>
        <a:p>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現代</a:t>
          </a:r>
        </a:p>
      </dgm:t>
    </dgm:pt>
    <dgm:pt modelId="{1D2B5146-AFB3-473A-9F2A-B8C3229AC76A}" type="parTrans" cxnId="{93B5A10F-F5B4-4812-9E47-A4BB15385E3C}">
      <dgm:prSet/>
      <dgm:spPr/>
      <dgm:t>
        <a:bodyPr/>
        <a:lstStyle/>
        <a:p>
          <a:endParaRPr lang="zh-TW" altLang="en-US"/>
        </a:p>
      </dgm:t>
    </dgm:pt>
    <dgm:pt modelId="{7FBE4907-1A43-4C2F-8127-D2CA2B269997}" type="sibTrans" cxnId="{93B5A10F-F5B4-4812-9E47-A4BB15385E3C}">
      <dgm:prSet/>
      <dgm:spPr/>
      <dgm:t>
        <a:bodyPr/>
        <a:lstStyle/>
        <a:p>
          <a:endParaRPr lang="zh-TW" altLang="en-US"/>
        </a:p>
      </dgm:t>
    </dgm:pt>
    <dgm:pt modelId="{D805128D-D652-44C1-8669-06AB0BF5264B}">
      <dgm:prSet phldrT="[文字]" custT="1"/>
      <dgm:spPr/>
      <dgm:t>
        <a:bodyPr/>
        <a:lstStyle/>
        <a:p>
          <a:pPr>
            <a:buNone/>
          </a:pPr>
          <a:r>
            <a:rPr lang="zh-TW" altLang="en-US" sz="2200" b="1" dirty="0">
              <a:solidFill>
                <a:schemeClr val="tx1">
                  <a:lumMod val="75000"/>
                  <a:lumOff val="25000"/>
                </a:schemeClr>
              </a:solidFill>
              <a:latin typeface="微軟正黑體" panose="020B0604030504040204" pitchFamily="34" charset="-120"/>
              <a:ea typeface="微軟正黑體" panose="020B0604030504040204" pitchFamily="34" charset="-120"/>
            </a:rPr>
            <a:t>物流運輸發達及多通路銷售的管道，形成了經銷商如雨後春荀般的成立，此時農產品的囤積情況便逐漸出現。</a:t>
          </a:r>
        </a:p>
      </dgm:t>
    </dgm:pt>
    <dgm:pt modelId="{4D086409-A082-4EB5-935D-1FF068253DC6}" type="parTrans" cxnId="{492D7F37-A349-4469-8FB4-0AB242CC46B7}">
      <dgm:prSet/>
      <dgm:spPr/>
      <dgm:t>
        <a:bodyPr/>
        <a:lstStyle/>
        <a:p>
          <a:endParaRPr lang="zh-TW" altLang="en-US"/>
        </a:p>
      </dgm:t>
    </dgm:pt>
    <dgm:pt modelId="{05064616-BC6A-4849-A056-DFC609B51278}" type="sibTrans" cxnId="{492D7F37-A349-4469-8FB4-0AB242CC46B7}">
      <dgm:prSet/>
      <dgm:spPr/>
      <dgm:t>
        <a:bodyPr/>
        <a:lstStyle/>
        <a:p>
          <a:endParaRPr lang="zh-TW" altLang="en-US"/>
        </a:p>
      </dgm:t>
    </dgm:pt>
    <dgm:pt modelId="{566C35C1-9277-4D2A-AAB9-5077BD7447A2}" type="pres">
      <dgm:prSet presAssocID="{350CE528-4A3A-4F90-8A72-D0BB57091F11}" presName="linear" presStyleCnt="0">
        <dgm:presLayoutVars>
          <dgm:animLvl val="lvl"/>
          <dgm:resizeHandles val="exact"/>
        </dgm:presLayoutVars>
      </dgm:prSet>
      <dgm:spPr/>
    </dgm:pt>
    <dgm:pt modelId="{FD31DD6C-3E89-4780-BBF8-1356D37AB62D}" type="pres">
      <dgm:prSet presAssocID="{A5E40197-541A-4D58-A630-3FAD70ECE39E}" presName="parentText" presStyleLbl="node1" presStyleIdx="0" presStyleCnt="2" custScaleY="103140">
        <dgm:presLayoutVars>
          <dgm:chMax val="0"/>
          <dgm:bulletEnabled val="1"/>
        </dgm:presLayoutVars>
      </dgm:prSet>
      <dgm:spPr/>
    </dgm:pt>
    <dgm:pt modelId="{749635A3-D38A-42C9-9498-F543E8B5E26D}" type="pres">
      <dgm:prSet presAssocID="{A5E40197-541A-4D58-A630-3FAD70ECE39E}" presName="childText" presStyleLbl="revTx" presStyleIdx="0" presStyleCnt="2">
        <dgm:presLayoutVars>
          <dgm:bulletEnabled val="1"/>
        </dgm:presLayoutVars>
      </dgm:prSet>
      <dgm:spPr/>
    </dgm:pt>
    <dgm:pt modelId="{039A4B5A-5E91-4FAE-B39C-C6F6F5F75C27}" type="pres">
      <dgm:prSet presAssocID="{A6A0DB64-58C6-4454-9B7E-4955398BA43F}" presName="parentText" presStyleLbl="node1" presStyleIdx="1" presStyleCnt="2">
        <dgm:presLayoutVars>
          <dgm:chMax val="0"/>
          <dgm:bulletEnabled val="1"/>
        </dgm:presLayoutVars>
      </dgm:prSet>
      <dgm:spPr/>
    </dgm:pt>
    <dgm:pt modelId="{27B11217-BBA9-4A04-AD9D-4DC74AF91B8B}" type="pres">
      <dgm:prSet presAssocID="{A6A0DB64-58C6-4454-9B7E-4955398BA43F}" presName="childText" presStyleLbl="revTx" presStyleIdx="1" presStyleCnt="2">
        <dgm:presLayoutVars>
          <dgm:bulletEnabled val="1"/>
        </dgm:presLayoutVars>
      </dgm:prSet>
      <dgm:spPr/>
    </dgm:pt>
  </dgm:ptLst>
  <dgm:cxnLst>
    <dgm:cxn modelId="{93B5A10F-F5B4-4812-9E47-A4BB15385E3C}" srcId="{350CE528-4A3A-4F90-8A72-D0BB57091F11}" destId="{A6A0DB64-58C6-4454-9B7E-4955398BA43F}" srcOrd="1" destOrd="0" parTransId="{1D2B5146-AFB3-473A-9F2A-B8C3229AC76A}" sibTransId="{7FBE4907-1A43-4C2F-8127-D2CA2B269997}"/>
    <dgm:cxn modelId="{66E77F25-8138-40F7-B980-F93792A687D8}" type="presOf" srcId="{A6A0DB64-58C6-4454-9B7E-4955398BA43F}" destId="{039A4B5A-5E91-4FAE-B39C-C6F6F5F75C27}" srcOrd="0" destOrd="0" presId="urn:microsoft.com/office/officeart/2005/8/layout/vList2"/>
    <dgm:cxn modelId="{492D7F37-A349-4469-8FB4-0AB242CC46B7}" srcId="{A6A0DB64-58C6-4454-9B7E-4955398BA43F}" destId="{D805128D-D652-44C1-8669-06AB0BF5264B}" srcOrd="0" destOrd="0" parTransId="{4D086409-A082-4EB5-935D-1FF068253DC6}" sibTransId="{05064616-BC6A-4849-A056-DFC609B51278}"/>
    <dgm:cxn modelId="{3DC07A42-89CD-46AF-9AED-6F217FCFBC37}" srcId="{A5E40197-541A-4D58-A630-3FAD70ECE39E}" destId="{A1C9A501-03FD-4441-ADCF-26C964FE6042}" srcOrd="0" destOrd="0" parTransId="{0DD031C4-1ACF-46F8-959A-DFA9675A9D14}" sibTransId="{9A6B71E7-38AE-4F98-8C28-406651E18A49}"/>
    <dgm:cxn modelId="{0B860068-2C4E-4193-82AA-5FE2DFB33EB8}" type="presOf" srcId="{A5E40197-541A-4D58-A630-3FAD70ECE39E}" destId="{FD31DD6C-3E89-4780-BBF8-1356D37AB62D}" srcOrd="0" destOrd="0" presId="urn:microsoft.com/office/officeart/2005/8/layout/vList2"/>
    <dgm:cxn modelId="{B81F4C6B-0898-4B1F-A07F-0B015569DC49}" srcId="{350CE528-4A3A-4F90-8A72-D0BB57091F11}" destId="{A5E40197-541A-4D58-A630-3FAD70ECE39E}" srcOrd="0" destOrd="0" parTransId="{D501073A-65B4-41E9-AC4B-33A4DB96EEC4}" sibTransId="{42C8D042-FADF-45A1-BB0C-3C2E8837205E}"/>
    <dgm:cxn modelId="{E8B426A7-2B95-4F91-B00D-815A97CB8452}" type="presOf" srcId="{A1C9A501-03FD-4441-ADCF-26C964FE6042}" destId="{749635A3-D38A-42C9-9498-F543E8B5E26D}" srcOrd="0" destOrd="0" presId="urn:microsoft.com/office/officeart/2005/8/layout/vList2"/>
    <dgm:cxn modelId="{96459AAF-BF33-41F3-B097-28B78BEB55EE}" type="presOf" srcId="{350CE528-4A3A-4F90-8A72-D0BB57091F11}" destId="{566C35C1-9277-4D2A-AAB9-5077BD7447A2}" srcOrd="0" destOrd="0" presId="urn:microsoft.com/office/officeart/2005/8/layout/vList2"/>
    <dgm:cxn modelId="{37E9BAEB-8280-4F48-8F7F-DFBA0B7B6B73}" type="presOf" srcId="{D805128D-D652-44C1-8669-06AB0BF5264B}" destId="{27B11217-BBA9-4A04-AD9D-4DC74AF91B8B}" srcOrd="0" destOrd="0" presId="urn:microsoft.com/office/officeart/2005/8/layout/vList2"/>
    <dgm:cxn modelId="{852A5488-2ABB-498B-A409-82960D1F6536}" type="presParOf" srcId="{566C35C1-9277-4D2A-AAB9-5077BD7447A2}" destId="{FD31DD6C-3E89-4780-BBF8-1356D37AB62D}" srcOrd="0" destOrd="0" presId="urn:microsoft.com/office/officeart/2005/8/layout/vList2"/>
    <dgm:cxn modelId="{BDF73F68-C947-4099-911B-B3FB0577E64C}" type="presParOf" srcId="{566C35C1-9277-4D2A-AAB9-5077BD7447A2}" destId="{749635A3-D38A-42C9-9498-F543E8B5E26D}" srcOrd="1" destOrd="0" presId="urn:microsoft.com/office/officeart/2005/8/layout/vList2"/>
    <dgm:cxn modelId="{E2255F9D-55F3-425C-901E-861BB1C413CC}" type="presParOf" srcId="{566C35C1-9277-4D2A-AAB9-5077BD7447A2}" destId="{039A4B5A-5E91-4FAE-B39C-C6F6F5F75C27}" srcOrd="2" destOrd="0" presId="urn:microsoft.com/office/officeart/2005/8/layout/vList2"/>
    <dgm:cxn modelId="{61FB5044-BE1C-4527-800A-4BFFB778A353}" type="presParOf" srcId="{566C35C1-9277-4D2A-AAB9-5077BD7447A2}" destId="{27B11217-BBA9-4A04-AD9D-4DC74AF91B8B}" srcOrd="3"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3596109E-5E07-482C-AA74-F9088CA9323F}" type="doc">
      <dgm:prSet loTypeId="urn:microsoft.com/office/officeart/2005/8/layout/chart3" loCatId="cycle" qsTypeId="urn:microsoft.com/office/officeart/2005/8/quickstyle/simple1" qsCatId="simple" csTypeId="urn:microsoft.com/office/officeart/2005/8/colors/colorful3" csCatId="colorful" phldr="1"/>
      <dgm:spPr/>
    </dgm:pt>
    <dgm:pt modelId="{E70286D2-6CC3-46FE-882E-1132D2786B99}">
      <dgm:prSet phldrT="[文字]" custT="1"/>
      <dgm:spPr>
        <a:solidFill>
          <a:schemeClr val="accent1">
            <a:lumMod val="20000"/>
            <a:lumOff val="80000"/>
          </a:schemeClr>
        </a:solidFill>
      </dgm:spPr>
      <dgm:t>
        <a:bodyPr/>
        <a:lstStyle/>
        <a:p>
          <a:r>
            <a:rPr lang="zh-TW" altLang="en-US" sz="1800" b="1" dirty="0">
              <a:solidFill>
                <a:schemeClr val="tx1"/>
              </a:solidFill>
              <a:latin typeface="微軟正黑體" panose="020B0604030504040204" pitchFamily="34" charset="-120"/>
              <a:ea typeface="微軟正黑體" panose="020B0604030504040204" pitchFamily="34" charset="-120"/>
            </a:rPr>
            <a:t>經由去中心化的產銷體系節省成本</a:t>
          </a:r>
        </a:p>
        <a:p>
          <a:endParaRPr lang="zh-TW" altLang="en-US" sz="1800" b="1" dirty="0">
            <a:solidFill>
              <a:schemeClr val="tx1"/>
            </a:solidFill>
            <a:latin typeface="微軟正黑體" panose="020B0604030504040204" pitchFamily="34" charset="-120"/>
            <a:ea typeface="微軟正黑體" panose="020B0604030504040204" pitchFamily="34" charset="-120"/>
          </a:endParaRPr>
        </a:p>
      </dgm:t>
    </dgm:pt>
    <dgm:pt modelId="{70D53C0C-23F8-4CE7-83D9-E558D9418B81}" type="parTrans" cxnId="{1372F624-DFF6-4CC4-B524-B6E443E69782}">
      <dgm:prSet/>
      <dgm:spPr/>
      <dgm:t>
        <a:bodyPr/>
        <a:lstStyle/>
        <a:p>
          <a:endParaRPr lang="zh-TW" altLang="en-US" sz="2000" b="1">
            <a:latin typeface="微軟正黑體" panose="020B0604030504040204" pitchFamily="34" charset="-120"/>
            <a:ea typeface="微軟正黑體" panose="020B0604030504040204" pitchFamily="34" charset="-120"/>
          </a:endParaRPr>
        </a:p>
      </dgm:t>
    </dgm:pt>
    <dgm:pt modelId="{8739C8F7-209B-42D1-A356-7136B8829348}" type="sibTrans" cxnId="{1372F624-DFF6-4CC4-B524-B6E443E69782}">
      <dgm:prSet/>
      <dgm:spPr/>
      <dgm:t>
        <a:bodyPr/>
        <a:lstStyle/>
        <a:p>
          <a:endParaRPr lang="zh-TW" altLang="en-US" sz="2000" b="1">
            <a:latin typeface="微軟正黑體" panose="020B0604030504040204" pitchFamily="34" charset="-120"/>
            <a:ea typeface="微軟正黑體" panose="020B0604030504040204" pitchFamily="34" charset="-120"/>
          </a:endParaRPr>
        </a:p>
      </dgm:t>
    </dgm:pt>
    <dgm:pt modelId="{EDE1D750-1765-423D-A3DF-590A55AF9A38}">
      <dgm:prSet phldrT="[文字]" custT="1"/>
      <dgm:spPr>
        <a:solidFill>
          <a:srgbClr val="F8F3D4"/>
        </a:solidFill>
      </dgm:spPr>
      <dgm:t>
        <a:bodyPr/>
        <a:lstStyle/>
        <a:p>
          <a:r>
            <a:rPr lang="zh-TW" altLang="en-US" sz="1800" b="1" dirty="0">
              <a:solidFill>
                <a:schemeClr val="tx1"/>
              </a:solidFill>
              <a:latin typeface="微軟正黑體" panose="020B0604030504040204" pitchFamily="34" charset="-120"/>
              <a:ea typeface="微軟正黑體" panose="020B0604030504040204" pitchFamily="34" charset="-120"/>
            </a:rPr>
            <a:t>建構完整履歷追溯健全食安 </a:t>
          </a:r>
        </a:p>
      </dgm:t>
    </dgm:pt>
    <dgm:pt modelId="{CA5DF748-7512-4F68-87DA-295EC68FCFB3}" type="parTrans" cxnId="{A2E4A1C0-8314-4ABD-B734-812ED8657336}">
      <dgm:prSet/>
      <dgm:spPr/>
      <dgm:t>
        <a:bodyPr/>
        <a:lstStyle/>
        <a:p>
          <a:endParaRPr lang="zh-TW" altLang="en-US" sz="2000" b="1">
            <a:latin typeface="微軟正黑體" panose="020B0604030504040204" pitchFamily="34" charset="-120"/>
            <a:ea typeface="微軟正黑體" panose="020B0604030504040204" pitchFamily="34" charset="-120"/>
          </a:endParaRPr>
        </a:p>
      </dgm:t>
    </dgm:pt>
    <dgm:pt modelId="{9D8F2A2A-BDF2-4F6F-AC8B-4C9C9EBBAB7E}" type="sibTrans" cxnId="{A2E4A1C0-8314-4ABD-B734-812ED8657336}">
      <dgm:prSet/>
      <dgm:spPr/>
      <dgm:t>
        <a:bodyPr/>
        <a:lstStyle/>
        <a:p>
          <a:endParaRPr lang="zh-TW" altLang="en-US" sz="2000" b="1">
            <a:latin typeface="微軟正黑體" panose="020B0604030504040204" pitchFamily="34" charset="-120"/>
            <a:ea typeface="微軟正黑體" panose="020B0604030504040204" pitchFamily="34" charset="-120"/>
          </a:endParaRPr>
        </a:p>
      </dgm:t>
    </dgm:pt>
    <dgm:pt modelId="{AA7943C3-AB95-4A0A-9767-BDDC04AE0DA8}">
      <dgm:prSet phldrT="[文字]" custT="1"/>
      <dgm:spPr>
        <a:solidFill>
          <a:schemeClr val="accent2">
            <a:lumMod val="20000"/>
            <a:lumOff val="80000"/>
          </a:schemeClr>
        </a:solidFill>
      </dgm:spPr>
      <dgm:t>
        <a:bodyPr/>
        <a:lstStyle/>
        <a:p>
          <a:r>
            <a:rPr lang="zh-TW" altLang="en-US" sz="1800" b="1" dirty="0">
              <a:solidFill>
                <a:schemeClr val="tx1"/>
              </a:solidFill>
              <a:latin typeface="微軟正黑體" panose="020B0604030504040204" pitchFamily="34" charset="-120"/>
              <a:ea typeface="微軟正黑體" panose="020B0604030504040204" pitchFamily="34" charset="-120"/>
            </a:rPr>
            <a:t>透明公開交易訊息增加信任</a:t>
          </a:r>
        </a:p>
      </dgm:t>
    </dgm:pt>
    <dgm:pt modelId="{0F226DDE-6EC5-4E3A-902B-BA2093119A11}" type="parTrans" cxnId="{5FE0A560-4CEA-4342-B29D-5F8DAE2FE492}">
      <dgm:prSet/>
      <dgm:spPr/>
      <dgm:t>
        <a:bodyPr/>
        <a:lstStyle/>
        <a:p>
          <a:endParaRPr lang="zh-TW" altLang="en-US" sz="2000" b="1">
            <a:latin typeface="微軟正黑體" panose="020B0604030504040204" pitchFamily="34" charset="-120"/>
            <a:ea typeface="微軟正黑體" panose="020B0604030504040204" pitchFamily="34" charset="-120"/>
          </a:endParaRPr>
        </a:p>
      </dgm:t>
    </dgm:pt>
    <dgm:pt modelId="{36E60356-62F3-4F4F-9EDD-5E1D1465DF8C}" type="sibTrans" cxnId="{5FE0A560-4CEA-4342-B29D-5F8DAE2FE492}">
      <dgm:prSet/>
      <dgm:spPr/>
      <dgm:t>
        <a:bodyPr/>
        <a:lstStyle/>
        <a:p>
          <a:endParaRPr lang="zh-TW" altLang="en-US" sz="2000" b="1">
            <a:latin typeface="微軟正黑體" panose="020B0604030504040204" pitchFamily="34" charset="-120"/>
            <a:ea typeface="微軟正黑體" panose="020B0604030504040204" pitchFamily="34" charset="-120"/>
          </a:endParaRPr>
        </a:p>
      </dgm:t>
    </dgm:pt>
    <dgm:pt modelId="{986BFE9E-DEB3-4C0D-A029-1BA0FD42536A}" type="pres">
      <dgm:prSet presAssocID="{3596109E-5E07-482C-AA74-F9088CA9323F}" presName="compositeShape" presStyleCnt="0">
        <dgm:presLayoutVars>
          <dgm:chMax val="7"/>
          <dgm:dir/>
          <dgm:resizeHandles val="exact"/>
        </dgm:presLayoutVars>
      </dgm:prSet>
      <dgm:spPr/>
    </dgm:pt>
    <dgm:pt modelId="{84A430BF-7315-4A0A-B4C5-11652ED24B53}" type="pres">
      <dgm:prSet presAssocID="{3596109E-5E07-482C-AA74-F9088CA9323F}" presName="wedge1" presStyleLbl="node1" presStyleIdx="0" presStyleCnt="3" custLinFactNeighborX="-5073" custLinFactNeighborY="3163"/>
      <dgm:spPr/>
    </dgm:pt>
    <dgm:pt modelId="{29370193-E986-43DE-867D-B970E7456C01}" type="pres">
      <dgm:prSet presAssocID="{3596109E-5E07-482C-AA74-F9088CA9323F}" presName="wedge1Tx" presStyleLbl="node1" presStyleIdx="0" presStyleCnt="3">
        <dgm:presLayoutVars>
          <dgm:chMax val="0"/>
          <dgm:chPref val="0"/>
          <dgm:bulletEnabled val="1"/>
        </dgm:presLayoutVars>
      </dgm:prSet>
      <dgm:spPr/>
    </dgm:pt>
    <dgm:pt modelId="{B9D09F75-8D21-487E-AE8A-E965A2197570}" type="pres">
      <dgm:prSet presAssocID="{3596109E-5E07-482C-AA74-F9088CA9323F}" presName="wedge2" presStyleLbl="node1" presStyleIdx="1" presStyleCnt="3"/>
      <dgm:spPr/>
    </dgm:pt>
    <dgm:pt modelId="{A1D83B99-372D-493B-8453-BC0DACBC1655}" type="pres">
      <dgm:prSet presAssocID="{3596109E-5E07-482C-AA74-F9088CA9323F}" presName="wedge2Tx" presStyleLbl="node1" presStyleIdx="1" presStyleCnt="3">
        <dgm:presLayoutVars>
          <dgm:chMax val="0"/>
          <dgm:chPref val="0"/>
          <dgm:bulletEnabled val="1"/>
        </dgm:presLayoutVars>
      </dgm:prSet>
      <dgm:spPr/>
    </dgm:pt>
    <dgm:pt modelId="{4E39ED8E-FE35-4830-9663-9345549FC511}" type="pres">
      <dgm:prSet presAssocID="{3596109E-5E07-482C-AA74-F9088CA9323F}" presName="wedge3" presStyleLbl="node1" presStyleIdx="2" presStyleCnt="3"/>
      <dgm:spPr/>
    </dgm:pt>
    <dgm:pt modelId="{D8899146-4019-49F1-9BA5-CCB5C38B0040}" type="pres">
      <dgm:prSet presAssocID="{3596109E-5E07-482C-AA74-F9088CA9323F}" presName="wedge3Tx" presStyleLbl="node1" presStyleIdx="2" presStyleCnt="3">
        <dgm:presLayoutVars>
          <dgm:chMax val="0"/>
          <dgm:chPref val="0"/>
          <dgm:bulletEnabled val="1"/>
        </dgm:presLayoutVars>
      </dgm:prSet>
      <dgm:spPr/>
    </dgm:pt>
  </dgm:ptLst>
  <dgm:cxnLst>
    <dgm:cxn modelId="{17D25010-36BF-4C74-B773-6B103078C73B}" type="presOf" srcId="{AA7943C3-AB95-4A0A-9767-BDDC04AE0DA8}" destId="{4E39ED8E-FE35-4830-9663-9345549FC511}" srcOrd="0" destOrd="0" presId="urn:microsoft.com/office/officeart/2005/8/layout/chart3"/>
    <dgm:cxn modelId="{C054F31E-11FA-445F-8CD5-337C0FA2ECB0}" type="presOf" srcId="{E70286D2-6CC3-46FE-882E-1132D2786B99}" destId="{84A430BF-7315-4A0A-B4C5-11652ED24B53}" srcOrd="0" destOrd="0" presId="urn:microsoft.com/office/officeart/2005/8/layout/chart3"/>
    <dgm:cxn modelId="{1372F624-DFF6-4CC4-B524-B6E443E69782}" srcId="{3596109E-5E07-482C-AA74-F9088CA9323F}" destId="{E70286D2-6CC3-46FE-882E-1132D2786B99}" srcOrd="0" destOrd="0" parTransId="{70D53C0C-23F8-4CE7-83D9-E558D9418B81}" sibTransId="{8739C8F7-209B-42D1-A356-7136B8829348}"/>
    <dgm:cxn modelId="{53A37928-2184-41F1-A538-FD00E44C6348}" type="presOf" srcId="{EDE1D750-1765-423D-A3DF-590A55AF9A38}" destId="{B9D09F75-8D21-487E-AE8A-E965A2197570}" srcOrd="0" destOrd="0" presId="urn:microsoft.com/office/officeart/2005/8/layout/chart3"/>
    <dgm:cxn modelId="{6105052E-E4EC-4DF3-9EBF-5EDFDE2F4F5A}" type="presOf" srcId="{3596109E-5E07-482C-AA74-F9088CA9323F}" destId="{986BFE9E-DEB3-4C0D-A029-1BA0FD42536A}" srcOrd="0" destOrd="0" presId="urn:microsoft.com/office/officeart/2005/8/layout/chart3"/>
    <dgm:cxn modelId="{5FE0A560-4CEA-4342-B29D-5F8DAE2FE492}" srcId="{3596109E-5E07-482C-AA74-F9088CA9323F}" destId="{AA7943C3-AB95-4A0A-9767-BDDC04AE0DA8}" srcOrd="2" destOrd="0" parTransId="{0F226DDE-6EC5-4E3A-902B-BA2093119A11}" sibTransId="{36E60356-62F3-4F4F-9EDD-5E1D1465DF8C}"/>
    <dgm:cxn modelId="{D059738F-1916-47D5-AE69-34EEC4DAA8A9}" type="presOf" srcId="{EDE1D750-1765-423D-A3DF-590A55AF9A38}" destId="{A1D83B99-372D-493B-8453-BC0DACBC1655}" srcOrd="1" destOrd="0" presId="urn:microsoft.com/office/officeart/2005/8/layout/chart3"/>
    <dgm:cxn modelId="{F77292A6-63E0-402B-933C-A200B4F11CF4}" type="presOf" srcId="{AA7943C3-AB95-4A0A-9767-BDDC04AE0DA8}" destId="{D8899146-4019-49F1-9BA5-CCB5C38B0040}" srcOrd="1" destOrd="0" presId="urn:microsoft.com/office/officeart/2005/8/layout/chart3"/>
    <dgm:cxn modelId="{A2E4A1C0-8314-4ABD-B734-812ED8657336}" srcId="{3596109E-5E07-482C-AA74-F9088CA9323F}" destId="{EDE1D750-1765-423D-A3DF-590A55AF9A38}" srcOrd="1" destOrd="0" parTransId="{CA5DF748-7512-4F68-87DA-295EC68FCFB3}" sibTransId="{9D8F2A2A-BDF2-4F6F-AC8B-4C9C9EBBAB7E}"/>
    <dgm:cxn modelId="{5F9DC1FA-F47B-46DD-BB00-6D3B887964CC}" type="presOf" srcId="{E70286D2-6CC3-46FE-882E-1132D2786B99}" destId="{29370193-E986-43DE-867D-B970E7456C01}" srcOrd="1" destOrd="0" presId="urn:microsoft.com/office/officeart/2005/8/layout/chart3"/>
    <dgm:cxn modelId="{9DB99F4F-AB7A-457E-914F-6DC36501B4C5}" type="presParOf" srcId="{986BFE9E-DEB3-4C0D-A029-1BA0FD42536A}" destId="{84A430BF-7315-4A0A-B4C5-11652ED24B53}" srcOrd="0" destOrd="0" presId="urn:microsoft.com/office/officeart/2005/8/layout/chart3"/>
    <dgm:cxn modelId="{BFFEC472-1CA4-4A64-94D2-0A721821DBF4}" type="presParOf" srcId="{986BFE9E-DEB3-4C0D-A029-1BA0FD42536A}" destId="{29370193-E986-43DE-867D-B970E7456C01}" srcOrd="1" destOrd="0" presId="urn:microsoft.com/office/officeart/2005/8/layout/chart3"/>
    <dgm:cxn modelId="{9E0842E9-D184-4541-88C3-D904FD391A14}" type="presParOf" srcId="{986BFE9E-DEB3-4C0D-A029-1BA0FD42536A}" destId="{B9D09F75-8D21-487E-AE8A-E965A2197570}" srcOrd="2" destOrd="0" presId="urn:microsoft.com/office/officeart/2005/8/layout/chart3"/>
    <dgm:cxn modelId="{A4AF2714-23F0-43E7-8174-E37B800E1137}" type="presParOf" srcId="{986BFE9E-DEB3-4C0D-A029-1BA0FD42536A}" destId="{A1D83B99-372D-493B-8453-BC0DACBC1655}" srcOrd="3" destOrd="0" presId="urn:microsoft.com/office/officeart/2005/8/layout/chart3"/>
    <dgm:cxn modelId="{12DD8940-E252-450E-90FF-DF508C32A899}" type="presParOf" srcId="{986BFE9E-DEB3-4C0D-A029-1BA0FD42536A}" destId="{4E39ED8E-FE35-4830-9663-9345549FC511}" srcOrd="4" destOrd="0" presId="urn:microsoft.com/office/officeart/2005/8/layout/chart3"/>
    <dgm:cxn modelId="{09B80E29-E2F1-4F78-81F3-2241C2BBB60F}" type="presParOf" srcId="{986BFE9E-DEB3-4C0D-A029-1BA0FD42536A}" destId="{D8899146-4019-49F1-9BA5-CCB5C38B0040}" srcOrd="5" destOrd="0" presId="urn:microsoft.com/office/officeart/2005/8/layout/chart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D7DEAF6-A1A7-42A5-9910-574945C386B2}">
      <dsp:nvSpPr>
        <dsp:cNvPr id="0" name=""/>
        <dsp:cNvSpPr/>
      </dsp:nvSpPr>
      <dsp:spPr>
        <a:xfrm>
          <a:off x="5091" y="15593"/>
          <a:ext cx="2315051" cy="233280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68580" numCol="1" spcCol="1270" anchor="t" anchorCtr="0">
          <a:noAutofit/>
        </a:bodyPr>
        <a:lstStyle/>
        <a:p>
          <a:pPr marL="0" lvl="0" indent="0" algn="l" defTabSz="800100">
            <a:lnSpc>
              <a:spcPct val="90000"/>
            </a:lnSpc>
            <a:spcBef>
              <a:spcPct val="0"/>
            </a:spcBef>
            <a:spcAft>
              <a:spcPct val="35000"/>
            </a:spcAft>
            <a:buNone/>
          </a:pPr>
          <a:r>
            <a:rPr lang="en-US" altLang="zh-TW" sz="1800" b="1" kern="1200" dirty="0">
              <a:latin typeface="微軟正黑體" panose="020B0604030504040204" pitchFamily="34" charset="-120"/>
              <a:ea typeface="微軟正黑體" panose="020B0604030504040204" pitchFamily="34" charset="-120"/>
            </a:rPr>
            <a:t>Step1</a:t>
          </a:r>
          <a:r>
            <a:rPr lang="zh-TW" altLang="en-US" sz="1800" b="1" kern="1200" dirty="0">
              <a:latin typeface="微軟正黑體" panose="020B0604030504040204" pitchFamily="34" charset="-120"/>
              <a:ea typeface="微軟正黑體" panose="020B0604030504040204" pitchFamily="34" charset="-120"/>
            </a:rPr>
            <a:t>種豬</a:t>
          </a:r>
        </a:p>
      </dsp:txBody>
      <dsp:txXfrm>
        <a:off x="5091" y="15593"/>
        <a:ext cx="2315051" cy="926020"/>
      </dsp:txXfrm>
    </dsp:sp>
    <dsp:sp modelId="{7D768838-8864-48CE-AAA4-1001DAD92E3B}">
      <dsp:nvSpPr>
        <dsp:cNvPr id="0" name=""/>
        <dsp:cNvSpPr/>
      </dsp:nvSpPr>
      <dsp:spPr>
        <a:xfrm>
          <a:off x="479258" y="941614"/>
          <a:ext cx="2315051" cy="3110400"/>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128016" rIns="128016" bIns="128016" numCol="1" spcCol="1270" anchor="t" anchorCtr="0">
          <a:noAutofit/>
        </a:bodyPr>
        <a:lstStyle/>
        <a:p>
          <a:pPr marL="171450" lvl="1" indent="-171450" algn="l" defTabSz="800100">
            <a:lnSpc>
              <a:spcPct val="90000"/>
            </a:lnSpc>
            <a:spcBef>
              <a:spcPct val="0"/>
            </a:spcBef>
            <a:spcAft>
              <a:spcPct val="15000"/>
            </a:spcAft>
            <a:buChar char="•"/>
          </a:pPr>
          <a:r>
            <a:rPr lang="zh-TW" altLang="en-US" sz="1800" b="1" kern="1200" dirty="0">
              <a:latin typeface="微軟正黑體" panose="020B0604030504040204" pitchFamily="34" charset="-120"/>
              <a:ea typeface="微軟正黑體" panose="020B0604030504040204" pitchFamily="34" charset="-120"/>
            </a:rPr>
            <a:t>透過種豬配種確保豬隻來源</a:t>
          </a:r>
        </a:p>
      </dsp:txBody>
      <dsp:txXfrm>
        <a:off x="547064" y="1009420"/>
        <a:ext cx="2179439" cy="2974788"/>
      </dsp:txXfrm>
    </dsp:sp>
    <dsp:sp modelId="{D0C1C78D-4363-4E9D-9BD9-852B80ECDD15}">
      <dsp:nvSpPr>
        <dsp:cNvPr id="0" name=""/>
        <dsp:cNvSpPr/>
      </dsp:nvSpPr>
      <dsp:spPr>
        <a:xfrm>
          <a:off x="2671096" y="190413"/>
          <a:ext cx="744021" cy="576380"/>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155700">
            <a:lnSpc>
              <a:spcPct val="90000"/>
            </a:lnSpc>
            <a:spcBef>
              <a:spcPct val="0"/>
            </a:spcBef>
            <a:spcAft>
              <a:spcPct val="35000"/>
            </a:spcAft>
            <a:buNone/>
          </a:pPr>
          <a:endParaRPr lang="zh-TW" altLang="en-US" sz="2600" kern="1200"/>
        </a:p>
      </dsp:txBody>
      <dsp:txXfrm>
        <a:off x="2671096" y="305689"/>
        <a:ext cx="571107" cy="345828"/>
      </dsp:txXfrm>
    </dsp:sp>
    <dsp:sp modelId="{5E3CADFA-42E9-4ADA-937F-07316B63B7C7}">
      <dsp:nvSpPr>
        <dsp:cNvPr id="0" name=""/>
        <dsp:cNvSpPr/>
      </dsp:nvSpPr>
      <dsp:spPr>
        <a:xfrm>
          <a:off x="3723957" y="15593"/>
          <a:ext cx="2315051" cy="233280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68580" numCol="1" spcCol="1270" anchor="t" anchorCtr="0">
          <a:noAutofit/>
        </a:bodyPr>
        <a:lstStyle/>
        <a:p>
          <a:pPr marL="0" lvl="0" indent="0" algn="l" defTabSz="800100">
            <a:lnSpc>
              <a:spcPct val="90000"/>
            </a:lnSpc>
            <a:spcBef>
              <a:spcPct val="0"/>
            </a:spcBef>
            <a:spcAft>
              <a:spcPct val="35000"/>
            </a:spcAft>
            <a:buNone/>
          </a:pPr>
          <a:r>
            <a:rPr lang="en-US" altLang="zh-TW" sz="1800" b="1" kern="1200" dirty="0">
              <a:latin typeface="微軟正黑體" panose="020B0604030504040204" pitchFamily="34" charset="-120"/>
              <a:ea typeface="微軟正黑體" panose="020B0604030504040204" pitchFamily="34" charset="-120"/>
            </a:rPr>
            <a:t>Step2</a:t>
          </a:r>
          <a:r>
            <a:rPr lang="zh-TW" altLang="en-US" sz="1800" b="1" kern="1200" dirty="0">
              <a:latin typeface="微軟正黑體" panose="020B0604030504040204" pitchFamily="34" charset="-120"/>
              <a:ea typeface="微軟正黑體" panose="020B0604030504040204" pitchFamily="34" charset="-120"/>
            </a:rPr>
            <a:t>飼料與防疫</a:t>
          </a:r>
        </a:p>
      </dsp:txBody>
      <dsp:txXfrm>
        <a:off x="3723957" y="15593"/>
        <a:ext cx="2315051" cy="926020"/>
      </dsp:txXfrm>
    </dsp:sp>
    <dsp:sp modelId="{452C1F94-3B3F-4355-9D11-336044F144F7}">
      <dsp:nvSpPr>
        <dsp:cNvPr id="0" name=""/>
        <dsp:cNvSpPr/>
      </dsp:nvSpPr>
      <dsp:spPr>
        <a:xfrm>
          <a:off x="4198124" y="941614"/>
          <a:ext cx="2315051" cy="3110400"/>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128016" rIns="128016" bIns="128016" numCol="1" spcCol="1270" anchor="t" anchorCtr="0">
          <a:noAutofit/>
        </a:bodyPr>
        <a:lstStyle/>
        <a:p>
          <a:pPr marL="171450" lvl="1" indent="-171450" algn="l" defTabSz="800100">
            <a:lnSpc>
              <a:spcPct val="90000"/>
            </a:lnSpc>
            <a:spcBef>
              <a:spcPct val="0"/>
            </a:spcBef>
            <a:spcAft>
              <a:spcPct val="15000"/>
            </a:spcAft>
            <a:buChar char="•"/>
          </a:pPr>
          <a:r>
            <a:rPr lang="zh-TW" altLang="en-US" sz="1800" b="1" kern="1200" dirty="0">
              <a:latin typeface="微軟正黑體" panose="020B0604030504040204" pitchFamily="34" charset="-120"/>
              <a:ea typeface="微軟正黑體" panose="020B0604030504040204" pitchFamily="34" charset="-120"/>
            </a:rPr>
            <a:t>預防豬隻出生受疾病感染死亡</a:t>
          </a:r>
        </a:p>
        <a:p>
          <a:pPr marL="171450" lvl="1" indent="-171450" algn="l" defTabSz="800100">
            <a:lnSpc>
              <a:spcPct val="90000"/>
            </a:lnSpc>
            <a:spcBef>
              <a:spcPct val="0"/>
            </a:spcBef>
            <a:spcAft>
              <a:spcPct val="15000"/>
            </a:spcAft>
            <a:buChar char="•"/>
          </a:pPr>
          <a:r>
            <a:rPr lang="zh-TW" altLang="en-US" sz="1800" b="1" kern="1200" dirty="0">
              <a:latin typeface="微軟正黑體" panose="020B0604030504040204" pitchFamily="34" charset="-120"/>
              <a:ea typeface="微軟正黑體" panose="020B0604030504040204" pitchFamily="34" charset="-120"/>
            </a:rPr>
            <a:t>飼料選擇直接影響豬隻的生長，間接影響飼主之營利</a:t>
          </a:r>
        </a:p>
      </dsp:txBody>
      <dsp:txXfrm>
        <a:off x="4265930" y="1009420"/>
        <a:ext cx="2179439" cy="2974788"/>
      </dsp:txXfrm>
    </dsp:sp>
    <dsp:sp modelId="{A1B4C16B-9F05-4133-9862-85D14CBACD5D}">
      <dsp:nvSpPr>
        <dsp:cNvPr id="0" name=""/>
        <dsp:cNvSpPr/>
      </dsp:nvSpPr>
      <dsp:spPr>
        <a:xfrm>
          <a:off x="6389962" y="190413"/>
          <a:ext cx="744021" cy="576380"/>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155700">
            <a:lnSpc>
              <a:spcPct val="90000"/>
            </a:lnSpc>
            <a:spcBef>
              <a:spcPct val="0"/>
            </a:spcBef>
            <a:spcAft>
              <a:spcPct val="35000"/>
            </a:spcAft>
            <a:buNone/>
          </a:pPr>
          <a:endParaRPr lang="zh-TW" altLang="en-US" sz="2600" kern="1200"/>
        </a:p>
      </dsp:txBody>
      <dsp:txXfrm>
        <a:off x="6389962" y="305689"/>
        <a:ext cx="571107" cy="345828"/>
      </dsp:txXfrm>
    </dsp:sp>
    <dsp:sp modelId="{9E763167-F1EB-44C8-A870-AEAF4C1197F7}">
      <dsp:nvSpPr>
        <dsp:cNvPr id="0" name=""/>
        <dsp:cNvSpPr/>
      </dsp:nvSpPr>
      <dsp:spPr>
        <a:xfrm>
          <a:off x="7442823" y="15593"/>
          <a:ext cx="2315051" cy="233280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68580" numCol="1" spcCol="1270" anchor="t" anchorCtr="0">
          <a:noAutofit/>
        </a:bodyPr>
        <a:lstStyle/>
        <a:p>
          <a:pPr marL="0" lvl="0" indent="0" algn="l" defTabSz="800100">
            <a:lnSpc>
              <a:spcPct val="90000"/>
            </a:lnSpc>
            <a:spcBef>
              <a:spcPct val="0"/>
            </a:spcBef>
            <a:spcAft>
              <a:spcPct val="35000"/>
            </a:spcAft>
            <a:buNone/>
          </a:pPr>
          <a:r>
            <a:rPr lang="en-US" altLang="zh-TW" sz="1800" b="1" kern="1200" dirty="0">
              <a:latin typeface="微軟正黑體" panose="020B0604030504040204" pitchFamily="34" charset="-120"/>
              <a:ea typeface="微軟正黑體" panose="020B0604030504040204" pitchFamily="34" charset="-120"/>
            </a:rPr>
            <a:t>Step3</a:t>
          </a:r>
          <a:r>
            <a:rPr lang="zh-TW" altLang="en-US" sz="1800" b="1" kern="1200" dirty="0">
              <a:latin typeface="微軟正黑體" panose="020B0604030504040204" pitchFamily="34" charset="-120"/>
              <a:ea typeface="微軟正黑體" panose="020B0604030504040204" pitchFamily="34" charset="-120"/>
            </a:rPr>
            <a:t>養殖</a:t>
          </a:r>
        </a:p>
      </dsp:txBody>
      <dsp:txXfrm>
        <a:off x="7442823" y="15593"/>
        <a:ext cx="2315051" cy="926020"/>
      </dsp:txXfrm>
    </dsp:sp>
    <dsp:sp modelId="{22126DA9-E5FE-43C7-9B75-148229125501}">
      <dsp:nvSpPr>
        <dsp:cNvPr id="0" name=""/>
        <dsp:cNvSpPr/>
      </dsp:nvSpPr>
      <dsp:spPr>
        <a:xfrm>
          <a:off x="7916990" y="941614"/>
          <a:ext cx="2315051" cy="3110400"/>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128016" rIns="128016" bIns="128016" numCol="1" spcCol="1270" anchor="t" anchorCtr="0">
          <a:noAutofit/>
        </a:bodyPr>
        <a:lstStyle/>
        <a:p>
          <a:pPr marL="171450" lvl="1" indent="-171450" algn="l" defTabSz="800100">
            <a:lnSpc>
              <a:spcPct val="90000"/>
            </a:lnSpc>
            <a:spcBef>
              <a:spcPct val="0"/>
            </a:spcBef>
            <a:spcAft>
              <a:spcPct val="15000"/>
            </a:spcAft>
            <a:buChar char="•"/>
          </a:pPr>
          <a:r>
            <a:rPr lang="zh-TW" altLang="en-US" sz="1800" b="1" kern="1200" dirty="0">
              <a:latin typeface="微軟正黑體" panose="020B0604030504040204" pitchFamily="34" charset="-120"/>
              <a:ea typeface="微軟正黑體" panose="020B0604030504040204" pitchFamily="34" charset="-120"/>
            </a:rPr>
            <a:t>養殖注意事項提升，一般飼主會將乳豬轉售予養殖業者飼養</a:t>
          </a:r>
        </a:p>
      </dsp:txBody>
      <dsp:txXfrm>
        <a:off x="7984796" y="1009420"/>
        <a:ext cx="2179439" cy="297478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D7DEAF6-A1A7-42A5-9910-574945C386B2}">
      <dsp:nvSpPr>
        <dsp:cNvPr id="0" name=""/>
        <dsp:cNvSpPr/>
      </dsp:nvSpPr>
      <dsp:spPr>
        <a:xfrm>
          <a:off x="10987" y="0"/>
          <a:ext cx="2808121" cy="65117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68580" numCol="1" spcCol="1270" anchor="t" anchorCtr="0">
          <a:noAutofit/>
        </a:bodyPr>
        <a:lstStyle/>
        <a:p>
          <a:pPr marL="0" lvl="0" indent="0" algn="l" defTabSz="800100">
            <a:lnSpc>
              <a:spcPct val="90000"/>
            </a:lnSpc>
            <a:spcBef>
              <a:spcPct val="0"/>
            </a:spcBef>
            <a:spcAft>
              <a:spcPct val="35000"/>
            </a:spcAft>
            <a:buNone/>
          </a:pPr>
          <a:r>
            <a:rPr lang="en-US" altLang="zh-TW" sz="1800" b="1" kern="1200" dirty="0">
              <a:latin typeface="微軟正黑體" panose="020B0604030504040204" pitchFamily="34" charset="-120"/>
              <a:ea typeface="微軟正黑體" panose="020B0604030504040204" pitchFamily="34" charset="-120"/>
            </a:rPr>
            <a:t>Step3</a:t>
          </a:r>
          <a:r>
            <a:rPr lang="zh-TW" altLang="en-US" sz="1800" b="1" kern="1200" dirty="0">
              <a:latin typeface="微軟正黑體" panose="020B0604030504040204" pitchFamily="34" charset="-120"/>
              <a:ea typeface="微軟正黑體" panose="020B0604030504040204" pitchFamily="34" charset="-120"/>
            </a:rPr>
            <a:t>豬隻與肉品檢驗</a:t>
          </a:r>
        </a:p>
      </dsp:txBody>
      <dsp:txXfrm>
        <a:off x="10987" y="0"/>
        <a:ext cx="2808121" cy="434113"/>
      </dsp:txXfrm>
    </dsp:sp>
    <dsp:sp modelId="{7D768838-8864-48CE-AAA4-1001DAD92E3B}">
      <dsp:nvSpPr>
        <dsp:cNvPr id="0" name=""/>
        <dsp:cNvSpPr/>
      </dsp:nvSpPr>
      <dsp:spPr>
        <a:xfrm>
          <a:off x="655209" y="466784"/>
          <a:ext cx="2449393" cy="4048875"/>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128016" rIns="128016" bIns="128016" numCol="1" spcCol="1270" anchor="t" anchorCtr="0">
          <a:noAutofit/>
        </a:bodyPr>
        <a:lstStyle/>
        <a:p>
          <a:pPr marL="171450" lvl="1" indent="-171450" algn="l" defTabSz="800100">
            <a:lnSpc>
              <a:spcPct val="90000"/>
            </a:lnSpc>
            <a:spcBef>
              <a:spcPct val="0"/>
            </a:spcBef>
            <a:spcAft>
              <a:spcPct val="15000"/>
            </a:spcAft>
            <a:buChar char="•"/>
          </a:pPr>
          <a:r>
            <a:rPr lang="zh-TW" altLang="en-US" sz="1800" b="1" kern="1200" dirty="0">
              <a:latin typeface="微軟正黑體" panose="020B0604030504040204" pitchFamily="34" charset="-120"/>
              <a:ea typeface="微軟正黑體" panose="020B0604030504040204" pitchFamily="34" charset="-120"/>
            </a:rPr>
            <a:t>成豬到達可售重量前，養殖業者須先做檢疫作業，以確保豬隻安全性</a:t>
          </a:r>
        </a:p>
      </dsp:txBody>
      <dsp:txXfrm>
        <a:off x="726949" y="538524"/>
        <a:ext cx="2305913" cy="3905395"/>
      </dsp:txXfrm>
    </dsp:sp>
    <dsp:sp modelId="{D0C1C78D-4363-4E9D-9BD9-852B80ECDD15}">
      <dsp:nvSpPr>
        <dsp:cNvPr id="0" name=""/>
        <dsp:cNvSpPr/>
      </dsp:nvSpPr>
      <dsp:spPr>
        <a:xfrm rot="22860">
          <a:off x="3133442" y="-49330"/>
          <a:ext cx="666415" cy="560061"/>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77800">
            <a:lnSpc>
              <a:spcPct val="90000"/>
            </a:lnSpc>
            <a:spcBef>
              <a:spcPct val="0"/>
            </a:spcBef>
            <a:spcAft>
              <a:spcPct val="35000"/>
            </a:spcAft>
            <a:buNone/>
          </a:pPr>
          <a:endParaRPr lang="zh-TW" altLang="en-US" sz="400" kern="1200"/>
        </a:p>
      </dsp:txBody>
      <dsp:txXfrm>
        <a:off x="3133444" y="62123"/>
        <a:ext cx="498397" cy="336037"/>
      </dsp:txXfrm>
    </dsp:sp>
    <dsp:sp modelId="{5E3CADFA-42E9-4ADA-937F-07316B63B7C7}">
      <dsp:nvSpPr>
        <dsp:cNvPr id="0" name=""/>
        <dsp:cNvSpPr/>
      </dsp:nvSpPr>
      <dsp:spPr>
        <a:xfrm>
          <a:off x="4076469" y="0"/>
          <a:ext cx="2449393" cy="728696"/>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68580" numCol="1" spcCol="1270" anchor="t" anchorCtr="0">
          <a:noAutofit/>
        </a:bodyPr>
        <a:lstStyle/>
        <a:p>
          <a:pPr marL="0" lvl="0" indent="0" algn="l" defTabSz="800100">
            <a:lnSpc>
              <a:spcPct val="90000"/>
            </a:lnSpc>
            <a:spcBef>
              <a:spcPct val="0"/>
            </a:spcBef>
            <a:spcAft>
              <a:spcPct val="35000"/>
            </a:spcAft>
            <a:buNone/>
          </a:pPr>
          <a:r>
            <a:rPr lang="en-US" altLang="zh-TW" sz="1800" b="1" kern="1200" dirty="0">
              <a:latin typeface="微軟正黑體" panose="020B0604030504040204" pitchFamily="34" charset="-120"/>
              <a:ea typeface="微軟正黑體" panose="020B0604030504040204" pitchFamily="34" charset="-120"/>
            </a:rPr>
            <a:t>Step4</a:t>
          </a:r>
          <a:r>
            <a:rPr lang="zh-TW" altLang="en-US" sz="1800" b="1" kern="1200" dirty="0">
              <a:latin typeface="微軟正黑體" panose="020B0604030504040204" pitchFamily="34" charset="-120"/>
              <a:ea typeface="微軟正黑體" panose="020B0604030504040204" pitchFamily="34" charset="-120"/>
            </a:rPr>
            <a:t>屠宰</a:t>
          </a:r>
        </a:p>
      </dsp:txBody>
      <dsp:txXfrm>
        <a:off x="4076469" y="0"/>
        <a:ext cx="2449393" cy="485797"/>
      </dsp:txXfrm>
    </dsp:sp>
    <dsp:sp modelId="{452C1F94-3B3F-4355-9D11-336044F144F7}">
      <dsp:nvSpPr>
        <dsp:cNvPr id="0" name=""/>
        <dsp:cNvSpPr/>
      </dsp:nvSpPr>
      <dsp:spPr>
        <a:xfrm>
          <a:off x="4468669" y="502044"/>
          <a:ext cx="2449393" cy="4048875"/>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128016" rIns="128016" bIns="128016" numCol="1" spcCol="1270" anchor="t" anchorCtr="0">
          <a:noAutofit/>
        </a:bodyPr>
        <a:lstStyle/>
        <a:p>
          <a:pPr marL="171450" lvl="1" indent="-171450" algn="l" defTabSz="800100">
            <a:lnSpc>
              <a:spcPct val="90000"/>
            </a:lnSpc>
            <a:spcBef>
              <a:spcPct val="0"/>
            </a:spcBef>
            <a:spcAft>
              <a:spcPct val="15000"/>
            </a:spcAft>
            <a:buChar char="•"/>
          </a:pPr>
          <a:r>
            <a:rPr lang="zh-TW" altLang="en-US" sz="1800" b="1" kern="1200" dirty="0">
              <a:latin typeface="微軟正黑體" panose="020B0604030504040204" pitchFamily="34" charset="-120"/>
              <a:ea typeface="微軟正黑體" panose="020B0604030504040204" pitchFamily="34" charset="-120"/>
            </a:rPr>
            <a:t>確認豬隻檢疫是符合規範同時送至屠宰加工廠進行豬隻屠宰作業</a:t>
          </a:r>
        </a:p>
        <a:p>
          <a:pPr marL="171450" lvl="1" indent="-171450" algn="l" defTabSz="800100">
            <a:lnSpc>
              <a:spcPct val="90000"/>
            </a:lnSpc>
            <a:spcBef>
              <a:spcPct val="0"/>
            </a:spcBef>
            <a:spcAft>
              <a:spcPct val="15000"/>
            </a:spcAft>
            <a:buChar char="•"/>
          </a:pPr>
          <a:r>
            <a:rPr lang="zh-TW" altLang="en-US" sz="1800" b="1" kern="1200" dirty="0">
              <a:latin typeface="微軟正黑體" panose="020B0604030504040204" pitchFamily="34" charset="-120"/>
              <a:ea typeface="微軟正黑體" panose="020B0604030504040204" pitchFamily="34" charset="-120"/>
            </a:rPr>
            <a:t>屠宰後肉品再進行一次肉品檢驗作業，確保肉品不受污染及對肉品的安全認證作業</a:t>
          </a:r>
        </a:p>
      </dsp:txBody>
      <dsp:txXfrm>
        <a:off x="4540409" y="573784"/>
        <a:ext cx="2305913" cy="3905395"/>
      </dsp:txXfrm>
    </dsp:sp>
    <dsp:sp modelId="{A1B4C16B-9F05-4133-9862-85D14CBACD5D}">
      <dsp:nvSpPr>
        <dsp:cNvPr id="0" name=""/>
        <dsp:cNvSpPr/>
      </dsp:nvSpPr>
      <dsp:spPr>
        <a:xfrm>
          <a:off x="6849744" y="-37131"/>
          <a:ext cx="686627" cy="560061"/>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77800">
            <a:lnSpc>
              <a:spcPct val="90000"/>
            </a:lnSpc>
            <a:spcBef>
              <a:spcPct val="0"/>
            </a:spcBef>
            <a:spcAft>
              <a:spcPct val="35000"/>
            </a:spcAft>
            <a:buNone/>
          </a:pPr>
          <a:endParaRPr lang="zh-TW" altLang="en-US" sz="400" kern="1200"/>
        </a:p>
      </dsp:txBody>
      <dsp:txXfrm>
        <a:off x="6849744" y="74881"/>
        <a:ext cx="518609" cy="336037"/>
      </dsp:txXfrm>
    </dsp:sp>
    <dsp:sp modelId="{9E763167-F1EB-44C8-A870-AEAF4C1197F7}">
      <dsp:nvSpPr>
        <dsp:cNvPr id="0" name=""/>
        <dsp:cNvSpPr/>
      </dsp:nvSpPr>
      <dsp:spPr>
        <a:xfrm>
          <a:off x="7821386" y="0"/>
          <a:ext cx="2449393" cy="728696"/>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68580" numCol="1" spcCol="1270" anchor="t" anchorCtr="0">
          <a:noAutofit/>
        </a:bodyPr>
        <a:lstStyle/>
        <a:p>
          <a:pPr marL="0" lvl="0" indent="0" algn="l" defTabSz="800100">
            <a:lnSpc>
              <a:spcPct val="90000"/>
            </a:lnSpc>
            <a:spcBef>
              <a:spcPct val="0"/>
            </a:spcBef>
            <a:spcAft>
              <a:spcPct val="35000"/>
            </a:spcAft>
            <a:buNone/>
          </a:pPr>
          <a:r>
            <a:rPr lang="en-US" altLang="zh-TW" sz="1800" b="1" kern="1200" dirty="0">
              <a:latin typeface="微軟正黑體" panose="020B0604030504040204" pitchFamily="34" charset="-120"/>
              <a:ea typeface="微軟正黑體" panose="020B0604030504040204" pitchFamily="34" charset="-120"/>
            </a:rPr>
            <a:t>Step5</a:t>
          </a:r>
          <a:r>
            <a:rPr lang="zh-TW" altLang="en-US" sz="1800" b="1" kern="1200" dirty="0">
              <a:latin typeface="微軟正黑體" panose="020B0604030504040204" pitchFamily="34" charset="-120"/>
              <a:ea typeface="微軟正黑體" panose="020B0604030504040204" pitchFamily="34" charset="-120"/>
            </a:rPr>
            <a:t>物流</a:t>
          </a:r>
        </a:p>
      </dsp:txBody>
      <dsp:txXfrm>
        <a:off x="7821386" y="0"/>
        <a:ext cx="2449393" cy="485797"/>
      </dsp:txXfrm>
    </dsp:sp>
    <dsp:sp modelId="{22126DA9-E5FE-43C7-9B75-148229125501}">
      <dsp:nvSpPr>
        <dsp:cNvPr id="0" name=""/>
        <dsp:cNvSpPr/>
      </dsp:nvSpPr>
      <dsp:spPr>
        <a:xfrm>
          <a:off x="8282128" y="502044"/>
          <a:ext cx="2449393" cy="4048875"/>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128016" rIns="128016" bIns="128016" numCol="1" spcCol="1270" anchor="t" anchorCtr="0">
          <a:noAutofit/>
        </a:bodyPr>
        <a:lstStyle/>
        <a:p>
          <a:pPr marL="171450" lvl="1" indent="-171450" algn="l" defTabSz="800100">
            <a:lnSpc>
              <a:spcPct val="90000"/>
            </a:lnSpc>
            <a:spcBef>
              <a:spcPct val="0"/>
            </a:spcBef>
            <a:spcAft>
              <a:spcPct val="15000"/>
            </a:spcAft>
            <a:buChar char="•"/>
          </a:pPr>
          <a:r>
            <a:rPr lang="zh-TW" altLang="en-US" sz="1800" b="1" kern="1200" dirty="0">
              <a:latin typeface="微軟正黑體" panose="020B0604030504040204" pitchFamily="34" charset="-120"/>
              <a:ea typeface="微軟正黑體" panose="020B0604030504040204" pitchFamily="34" charset="-120"/>
            </a:rPr>
            <a:t>確認肉品無問題後，進入物流運送</a:t>
          </a:r>
        </a:p>
      </dsp:txBody>
      <dsp:txXfrm>
        <a:off x="8353868" y="573784"/>
        <a:ext cx="2305913" cy="390539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D7DEAF6-A1A7-42A5-9910-574945C386B2}">
      <dsp:nvSpPr>
        <dsp:cNvPr id="0" name=""/>
        <dsp:cNvSpPr/>
      </dsp:nvSpPr>
      <dsp:spPr>
        <a:xfrm>
          <a:off x="0" y="0"/>
          <a:ext cx="3165646" cy="212354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68580" numCol="1" spcCol="1270" anchor="t" anchorCtr="0">
          <a:noAutofit/>
        </a:bodyPr>
        <a:lstStyle/>
        <a:p>
          <a:pPr marL="0" lvl="0" indent="0" algn="l" defTabSz="800100">
            <a:lnSpc>
              <a:spcPct val="90000"/>
            </a:lnSpc>
            <a:spcBef>
              <a:spcPct val="0"/>
            </a:spcBef>
            <a:spcAft>
              <a:spcPct val="35000"/>
            </a:spcAft>
            <a:buNone/>
          </a:pPr>
          <a:r>
            <a:rPr lang="en-US" altLang="zh-TW" sz="1800" b="1" kern="1200" dirty="0">
              <a:latin typeface="微軟正黑體" panose="020B0604030504040204" pitchFamily="34" charset="-120"/>
              <a:ea typeface="微軟正黑體" panose="020B0604030504040204" pitchFamily="34" charset="-120"/>
            </a:rPr>
            <a:t>Step7</a:t>
          </a:r>
          <a:r>
            <a:rPr lang="zh-TW" altLang="en-US" sz="1800" b="1" kern="1200" dirty="0">
              <a:latin typeface="微軟正黑體" panose="020B0604030504040204" pitchFamily="34" charset="-120"/>
              <a:ea typeface="微軟正黑體" panose="020B0604030504040204" pitchFamily="34" charset="-120"/>
            </a:rPr>
            <a:t>經銷</a:t>
          </a:r>
        </a:p>
      </dsp:txBody>
      <dsp:txXfrm>
        <a:off x="0" y="0"/>
        <a:ext cx="3165646" cy="986988"/>
      </dsp:txXfrm>
    </dsp:sp>
    <dsp:sp modelId="{7D768838-8864-48CE-AAA4-1001DAD92E3B}">
      <dsp:nvSpPr>
        <dsp:cNvPr id="0" name=""/>
        <dsp:cNvSpPr/>
      </dsp:nvSpPr>
      <dsp:spPr>
        <a:xfrm>
          <a:off x="769823" y="1018508"/>
          <a:ext cx="2761235" cy="2995200"/>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128016" rIns="128016" bIns="128016" numCol="1" spcCol="1270" anchor="t" anchorCtr="0">
          <a:noAutofit/>
        </a:bodyPr>
        <a:lstStyle/>
        <a:p>
          <a:pPr marL="171450" lvl="1" indent="-171450" algn="l" defTabSz="800100">
            <a:lnSpc>
              <a:spcPct val="90000"/>
            </a:lnSpc>
            <a:spcBef>
              <a:spcPct val="0"/>
            </a:spcBef>
            <a:spcAft>
              <a:spcPct val="15000"/>
            </a:spcAft>
            <a:buChar char="•"/>
          </a:pPr>
          <a:r>
            <a:rPr lang="zh-TW" altLang="en-US" sz="1800" b="1" kern="1200" dirty="0">
              <a:latin typeface="微軟正黑體" panose="020B0604030504040204" pitchFamily="34" charset="-120"/>
              <a:ea typeface="微軟正黑體" panose="020B0604030504040204" pitchFamily="34" charset="-120"/>
            </a:rPr>
            <a:t>經銷商則進行進貨與肉品管理作業</a:t>
          </a:r>
        </a:p>
        <a:p>
          <a:pPr marL="171450" lvl="1" indent="-171450" algn="l" defTabSz="800100">
            <a:lnSpc>
              <a:spcPct val="90000"/>
            </a:lnSpc>
            <a:spcBef>
              <a:spcPct val="0"/>
            </a:spcBef>
            <a:spcAft>
              <a:spcPct val="15000"/>
            </a:spcAft>
            <a:buChar char="•"/>
          </a:pPr>
          <a:r>
            <a:rPr lang="zh-TW" altLang="en-US" sz="1800" b="1" kern="1200" dirty="0">
              <a:latin typeface="微軟正黑體" panose="020B0604030504040204" pitchFamily="34" charset="-120"/>
              <a:ea typeface="微軟正黑體" panose="020B0604030504040204" pitchFamily="34" charset="-120"/>
            </a:rPr>
            <a:t>進一步的對下游零售商進行肉品配送作業</a:t>
          </a:r>
        </a:p>
        <a:p>
          <a:pPr marL="171450" lvl="1" indent="-171450" algn="l" defTabSz="800100">
            <a:lnSpc>
              <a:spcPct val="90000"/>
            </a:lnSpc>
            <a:spcBef>
              <a:spcPct val="0"/>
            </a:spcBef>
            <a:spcAft>
              <a:spcPct val="15000"/>
            </a:spcAft>
            <a:buChar char="•"/>
          </a:pPr>
          <a:r>
            <a:rPr lang="zh-TW" altLang="en-US" sz="1800" b="1" kern="1200" dirty="0">
              <a:latin typeface="微軟正黑體" panose="020B0604030504040204" pitchFamily="34" charset="-120"/>
              <a:ea typeface="微軟正黑體" panose="020B0604030504040204" pitchFamily="34" charset="-120"/>
            </a:rPr>
            <a:t>或直接配送至直營店進行販售</a:t>
          </a:r>
        </a:p>
      </dsp:txBody>
      <dsp:txXfrm>
        <a:off x="850697" y="1099382"/>
        <a:ext cx="2599487" cy="2833452"/>
      </dsp:txXfrm>
    </dsp:sp>
    <dsp:sp modelId="{D0C1C78D-4363-4E9D-9BD9-852B80ECDD15}">
      <dsp:nvSpPr>
        <dsp:cNvPr id="0" name=""/>
        <dsp:cNvSpPr/>
      </dsp:nvSpPr>
      <dsp:spPr>
        <a:xfrm rot="44665">
          <a:off x="3555203" y="180754"/>
          <a:ext cx="826004" cy="687467"/>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377950">
            <a:lnSpc>
              <a:spcPct val="90000"/>
            </a:lnSpc>
            <a:spcBef>
              <a:spcPct val="0"/>
            </a:spcBef>
            <a:spcAft>
              <a:spcPct val="35000"/>
            </a:spcAft>
            <a:buNone/>
          </a:pPr>
          <a:endParaRPr lang="zh-TW" altLang="en-US" sz="3100" kern="1200"/>
        </a:p>
      </dsp:txBody>
      <dsp:txXfrm>
        <a:off x="3555212" y="316907"/>
        <a:ext cx="619764" cy="412481"/>
      </dsp:txXfrm>
    </dsp:sp>
    <dsp:sp modelId="{5E3CADFA-42E9-4ADA-937F-07316B63B7C7}">
      <dsp:nvSpPr>
        <dsp:cNvPr id="0" name=""/>
        <dsp:cNvSpPr/>
      </dsp:nvSpPr>
      <dsp:spPr>
        <a:xfrm>
          <a:off x="4724013" y="0"/>
          <a:ext cx="2761235" cy="224640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904" tIns="120904" rIns="120904" bIns="64770" numCol="1" spcCol="1270" anchor="t" anchorCtr="0">
          <a:noAutofit/>
        </a:bodyPr>
        <a:lstStyle/>
        <a:p>
          <a:pPr marL="0" lvl="0" indent="0" algn="l" defTabSz="755650">
            <a:lnSpc>
              <a:spcPct val="90000"/>
            </a:lnSpc>
            <a:spcBef>
              <a:spcPct val="0"/>
            </a:spcBef>
            <a:spcAft>
              <a:spcPct val="35000"/>
            </a:spcAft>
            <a:buNone/>
          </a:pPr>
          <a:r>
            <a:rPr lang="en-US" altLang="zh-TW" sz="1700" kern="1200" dirty="0"/>
            <a:t>Step8</a:t>
          </a:r>
          <a:r>
            <a:rPr lang="zh-TW" altLang="en-US" sz="1700" kern="1200" dirty="0"/>
            <a:t>零售或消費者</a:t>
          </a:r>
          <a:endParaRPr lang="zh-TW" altLang="en-US" sz="2000" kern="1200" dirty="0"/>
        </a:p>
      </dsp:txBody>
      <dsp:txXfrm>
        <a:off x="4724013" y="0"/>
        <a:ext cx="2761235" cy="1104494"/>
      </dsp:txXfrm>
    </dsp:sp>
    <dsp:sp modelId="{452C1F94-3B3F-4355-9D11-336044F144F7}">
      <dsp:nvSpPr>
        <dsp:cNvPr id="0" name=""/>
        <dsp:cNvSpPr/>
      </dsp:nvSpPr>
      <dsp:spPr>
        <a:xfrm>
          <a:off x="5205432" y="1107975"/>
          <a:ext cx="2761235" cy="2995200"/>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128016" rIns="128016" bIns="128016" numCol="1" spcCol="1270" anchor="t" anchorCtr="0">
          <a:noAutofit/>
        </a:bodyPr>
        <a:lstStyle/>
        <a:p>
          <a:pPr marL="171450" lvl="1" indent="-171450" algn="l" defTabSz="800100">
            <a:lnSpc>
              <a:spcPct val="90000"/>
            </a:lnSpc>
            <a:spcBef>
              <a:spcPct val="0"/>
            </a:spcBef>
            <a:spcAft>
              <a:spcPct val="15000"/>
            </a:spcAft>
            <a:buChar char="•"/>
          </a:pPr>
          <a:r>
            <a:rPr lang="zh-TW" altLang="en-US" sz="1800" b="1" kern="1200" dirty="0">
              <a:latin typeface="微軟正黑體" panose="020B0604030504040204" pitchFamily="34" charset="-120"/>
              <a:ea typeface="微軟正黑體" panose="020B0604030504040204" pitchFamily="34" charset="-120"/>
            </a:rPr>
            <a:t>肉品會交付至消費者的手上，</a:t>
          </a:r>
        </a:p>
        <a:p>
          <a:pPr marL="171450" lvl="1" indent="-171450" algn="l" defTabSz="800100">
            <a:lnSpc>
              <a:spcPct val="90000"/>
            </a:lnSpc>
            <a:spcBef>
              <a:spcPct val="0"/>
            </a:spcBef>
            <a:spcAft>
              <a:spcPct val="15000"/>
            </a:spcAft>
            <a:buChar char="•"/>
          </a:pPr>
          <a:r>
            <a:rPr lang="zh-TW" altLang="en-US" sz="1800" b="1" kern="1200" dirty="0">
              <a:latin typeface="微軟正黑體" panose="020B0604030504040204" pitchFamily="34" charset="-120"/>
              <a:ea typeface="微軟正黑體" panose="020B0604030504040204" pitchFamily="34" charset="-120"/>
            </a:rPr>
            <a:t>或由零售商販售給消費者進行食用。</a:t>
          </a:r>
        </a:p>
        <a:p>
          <a:pPr marL="171450" lvl="1" indent="-171450" algn="l" defTabSz="800100">
            <a:lnSpc>
              <a:spcPct val="90000"/>
            </a:lnSpc>
            <a:spcBef>
              <a:spcPct val="0"/>
            </a:spcBef>
            <a:spcAft>
              <a:spcPct val="15000"/>
            </a:spcAft>
            <a:buChar char="•"/>
          </a:pPr>
          <a:endParaRPr lang="zh-TW" altLang="en-US" sz="1800" b="1" kern="1200" dirty="0">
            <a:latin typeface="微軟正黑體" panose="020B0604030504040204" pitchFamily="34" charset="-120"/>
            <a:ea typeface="微軟正黑體" panose="020B0604030504040204" pitchFamily="34" charset="-120"/>
          </a:endParaRPr>
        </a:p>
      </dsp:txBody>
      <dsp:txXfrm>
        <a:off x="5286306" y="1188849"/>
        <a:ext cx="2599487" cy="2833452"/>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1EE827F-EB96-42F0-B48F-2F13883B40B2}">
      <dsp:nvSpPr>
        <dsp:cNvPr id="0" name=""/>
        <dsp:cNvSpPr/>
      </dsp:nvSpPr>
      <dsp:spPr>
        <a:xfrm>
          <a:off x="1485" y="803315"/>
          <a:ext cx="1867068" cy="75823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60960" numCol="1" spcCol="1270" anchor="t" anchorCtr="0">
          <a:noAutofit/>
        </a:bodyPr>
        <a:lstStyle/>
        <a:p>
          <a:pPr marL="0" lvl="0" indent="0" algn="l" defTabSz="711200">
            <a:lnSpc>
              <a:spcPct val="90000"/>
            </a:lnSpc>
            <a:spcBef>
              <a:spcPct val="0"/>
            </a:spcBef>
            <a:spcAft>
              <a:spcPct val="35000"/>
            </a:spcAft>
            <a:buNone/>
          </a:pPr>
          <a:r>
            <a:rPr lang="en-US" altLang="zh-TW" sz="1600" b="1" kern="1200" dirty="0">
              <a:latin typeface="微軟正黑體" panose="020B0604030504040204" pitchFamily="34" charset="-120"/>
              <a:ea typeface="微軟正黑體" panose="020B0604030504040204" pitchFamily="34" charset="-120"/>
            </a:rPr>
            <a:t>Step1</a:t>
          </a:r>
          <a:r>
            <a:rPr lang="zh-TW" altLang="en-US" sz="1600" b="1" kern="1200" dirty="0">
              <a:latin typeface="微軟正黑體" panose="020B0604030504040204" pitchFamily="34" charset="-120"/>
              <a:ea typeface="微軟正黑體" panose="020B0604030504040204" pitchFamily="34" charset="-120"/>
            </a:rPr>
            <a:t>魚苗場</a:t>
          </a:r>
        </a:p>
      </dsp:txBody>
      <dsp:txXfrm>
        <a:off x="1485" y="803315"/>
        <a:ext cx="1867068" cy="505491"/>
      </dsp:txXfrm>
    </dsp:sp>
    <dsp:sp modelId="{5EA90C9A-0515-4226-8598-36E92768E7F6}">
      <dsp:nvSpPr>
        <dsp:cNvPr id="0" name=""/>
        <dsp:cNvSpPr/>
      </dsp:nvSpPr>
      <dsp:spPr>
        <a:xfrm>
          <a:off x="383897" y="1308807"/>
          <a:ext cx="1867068" cy="3966750"/>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3792" tIns="113792" rIns="113792" bIns="113792" numCol="1" spcCol="1270" anchor="t" anchorCtr="0">
          <a:noAutofit/>
        </a:bodyPr>
        <a:lstStyle/>
        <a:p>
          <a:pPr marL="171450" lvl="1" indent="-171450" algn="l" defTabSz="711200">
            <a:lnSpc>
              <a:spcPct val="90000"/>
            </a:lnSpc>
            <a:spcBef>
              <a:spcPct val="0"/>
            </a:spcBef>
            <a:spcAft>
              <a:spcPct val="15000"/>
            </a:spcAft>
            <a:buChar char="•"/>
          </a:pPr>
          <a:r>
            <a:rPr lang="zh-TW" altLang="en-US" sz="1600" b="1" kern="1200" dirty="0">
              <a:latin typeface="微軟正黑體" panose="020B0604030504040204" pitchFamily="34" charset="-120"/>
              <a:ea typeface="微軟正黑體" panose="020B0604030504040204" pitchFamily="34" charset="-120"/>
            </a:rPr>
            <a:t>魚苗的培育作業，確保石斑魚的來源不會出現缺貨的現象。</a:t>
          </a:r>
        </a:p>
        <a:p>
          <a:pPr marL="171450" lvl="1" indent="-171450" algn="l" defTabSz="711200">
            <a:lnSpc>
              <a:spcPct val="90000"/>
            </a:lnSpc>
            <a:spcBef>
              <a:spcPct val="0"/>
            </a:spcBef>
            <a:spcAft>
              <a:spcPct val="15000"/>
            </a:spcAft>
            <a:buChar char="•"/>
          </a:pPr>
          <a:endParaRPr lang="zh-TW" altLang="en-US" sz="1600" b="1" kern="1200" dirty="0">
            <a:latin typeface="微軟正黑體" panose="020B0604030504040204" pitchFamily="34" charset="-120"/>
            <a:ea typeface="微軟正黑體" panose="020B0604030504040204" pitchFamily="34" charset="-120"/>
          </a:endParaRPr>
        </a:p>
      </dsp:txBody>
      <dsp:txXfrm>
        <a:off x="438582" y="1363492"/>
        <a:ext cx="1757698" cy="3857380"/>
      </dsp:txXfrm>
    </dsp:sp>
    <dsp:sp modelId="{F98D163B-4C90-4C37-B0E3-67E1ED1C631B}">
      <dsp:nvSpPr>
        <dsp:cNvPr id="0" name=""/>
        <dsp:cNvSpPr/>
      </dsp:nvSpPr>
      <dsp:spPr>
        <a:xfrm>
          <a:off x="2151595" y="823638"/>
          <a:ext cx="600046" cy="464846"/>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zh-TW" altLang="en-US" sz="1300" kern="1200"/>
        </a:p>
      </dsp:txBody>
      <dsp:txXfrm>
        <a:off x="2151595" y="916607"/>
        <a:ext cx="460592" cy="278908"/>
      </dsp:txXfrm>
    </dsp:sp>
    <dsp:sp modelId="{386556B2-7530-48A1-ACBB-D4347A234DC2}">
      <dsp:nvSpPr>
        <dsp:cNvPr id="0" name=""/>
        <dsp:cNvSpPr/>
      </dsp:nvSpPr>
      <dsp:spPr>
        <a:xfrm>
          <a:off x="3000718" y="803315"/>
          <a:ext cx="1867068" cy="75823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60960" numCol="1" spcCol="1270" anchor="t" anchorCtr="0">
          <a:noAutofit/>
        </a:bodyPr>
        <a:lstStyle/>
        <a:p>
          <a:pPr marL="0" lvl="0" indent="0" algn="l" defTabSz="711200">
            <a:lnSpc>
              <a:spcPct val="90000"/>
            </a:lnSpc>
            <a:spcBef>
              <a:spcPct val="0"/>
            </a:spcBef>
            <a:spcAft>
              <a:spcPct val="35000"/>
            </a:spcAft>
            <a:buNone/>
          </a:pPr>
          <a:r>
            <a:rPr lang="en-US" altLang="zh-TW" sz="1600" b="1" kern="1200" dirty="0">
              <a:latin typeface="微軟正黑體" panose="020B0604030504040204" pitchFamily="34" charset="-120"/>
              <a:ea typeface="微軟正黑體" panose="020B0604030504040204" pitchFamily="34" charset="-120"/>
            </a:rPr>
            <a:t>Step2</a:t>
          </a:r>
          <a:r>
            <a:rPr lang="zh-TW" altLang="en-US" sz="1600" b="1" kern="1200" dirty="0">
              <a:latin typeface="微軟正黑體" panose="020B0604030504040204" pitchFamily="34" charset="-120"/>
              <a:ea typeface="微軟正黑體" panose="020B0604030504040204" pitchFamily="34" charset="-120"/>
            </a:rPr>
            <a:t>疫苗及藥物</a:t>
          </a:r>
        </a:p>
      </dsp:txBody>
      <dsp:txXfrm>
        <a:off x="3000718" y="803315"/>
        <a:ext cx="1867068" cy="505491"/>
      </dsp:txXfrm>
    </dsp:sp>
    <dsp:sp modelId="{F4855AD5-5703-4D71-9C9B-5B074A16CE47}">
      <dsp:nvSpPr>
        <dsp:cNvPr id="0" name=""/>
        <dsp:cNvSpPr/>
      </dsp:nvSpPr>
      <dsp:spPr>
        <a:xfrm>
          <a:off x="3383129" y="1308807"/>
          <a:ext cx="1867068" cy="3966750"/>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3792" tIns="113792" rIns="113792" bIns="113792" numCol="1" spcCol="1270" anchor="t" anchorCtr="0">
          <a:noAutofit/>
        </a:bodyPr>
        <a:lstStyle/>
        <a:p>
          <a:pPr marL="171450" lvl="1" indent="-171450" algn="l" defTabSz="711200">
            <a:lnSpc>
              <a:spcPct val="90000"/>
            </a:lnSpc>
            <a:spcBef>
              <a:spcPct val="0"/>
            </a:spcBef>
            <a:spcAft>
              <a:spcPct val="15000"/>
            </a:spcAft>
            <a:buChar char="•"/>
          </a:pPr>
          <a:r>
            <a:rPr lang="zh-TW" altLang="en-US" sz="1600" b="1" kern="1200" dirty="0">
              <a:latin typeface="微軟正黑體" panose="020B0604030504040204" pitchFamily="34" charset="-120"/>
              <a:ea typeface="微軟正黑體" panose="020B0604030504040204" pitchFamily="34" charset="-120"/>
            </a:rPr>
            <a:t>石斑魚的防疫作業，預防魚苗受疫病傳染，導致死亡，減少石斑魚養殖業者的成本支出。</a:t>
          </a:r>
        </a:p>
        <a:p>
          <a:pPr marL="171450" lvl="1" indent="-171450" algn="l" defTabSz="711200">
            <a:lnSpc>
              <a:spcPct val="90000"/>
            </a:lnSpc>
            <a:spcBef>
              <a:spcPct val="0"/>
            </a:spcBef>
            <a:spcAft>
              <a:spcPct val="15000"/>
            </a:spcAft>
            <a:buChar char="•"/>
          </a:pPr>
          <a:endParaRPr lang="zh-TW" altLang="en-US" sz="1600" b="1" kern="1200" dirty="0">
            <a:latin typeface="微軟正黑體" panose="020B0604030504040204" pitchFamily="34" charset="-120"/>
            <a:ea typeface="微軟正黑體" panose="020B0604030504040204" pitchFamily="34" charset="-120"/>
          </a:endParaRPr>
        </a:p>
      </dsp:txBody>
      <dsp:txXfrm>
        <a:off x="3437814" y="1363492"/>
        <a:ext cx="1757698" cy="3857380"/>
      </dsp:txXfrm>
    </dsp:sp>
    <dsp:sp modelId="{7ED3A590-A0D1-47D0-9380-441E3C883813}">
      <dsp:nvSpPr>
        <dsp:cNvPr id="0" name=""/>
        <dsp:cNvSpPr/>
      </dsp:nvSpPr>
      <dsp:spPr>
        <a:xfrm>
          <a:off x="5150827" y="823638"/>
          <a:ext cx="600046" cy="464846"/>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zh-TW" altLang="en-US" sz="1300" kern="1200"/>
        </a:p>
      </dsp:txBody>
      <dsp:txXfrm>
        <a:off x="5150827" y="916607"/>
        <a:ext cx="460592" cy="278908"/>
      </dsp:txXfrm>
    </dsp:sp>
    <dsp:sp modelId="{76B25F42-F75E-4889-AC75-18C8DA7A6A44}">
      <dsp:nvSpPr>
        <dsp:cNvPr id="0" name=""/>
        <dsp:cNvSpPr/>
      </dsp:nvSpPr>
      <dsp:spPr>
        <a:xfrm>
          <a:off x="5999950" y="803315"/>
          <a:ext cx="1867068" cy="75823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60960" numCol="1" spcCol="1270" anchor="t" anchorCtr="0">
          <a:noAutofit/>
        </a:bodyPr>
        <a:lstStyle/>
        <a:p>
          <a:pPr marL="0" lvl="0" indent="0" algn="l" defTabSz="711200">
            <a:lnSpc>
              <a:spcPct val="90000"/>
            </a:lnSpc>
            <a:spcBef>
              <a:spcPct val="0"/>
            </a:spcBef>
            <a:spcAft>
              <a:spcPct val="35000"/>
            </a:spcAft>
            <a:buNone/>
          </a:pPr>
          <a:r>
            <a:rPr lang="en-US" altLang="zh-TW" sz="1600" b="1" kern="1200" dirty="0">
              <a:latin typeface="微軟正黑體" panose="020B0604030504040204" pitchFamily="34" charset="-120"/>
              <a:ea typeface="微軟正黑體" panose="020B0604030504040204" pitchFamily="34" charset="-120"/>
            </a:rPr>
            <a:t>Step3</a:t>
          </a:r>
          <a:r>
            <a:rPr lang="zh-TW" altLang="en-US" sz="1600" b="1" kern="1200" dirty="0">
              <a:latin typeface="微軟正黑體" panose="020B0604030504040204" pitchFamily="34" charset="-120"/>
              <a:ea typeface="微軟正黑體" panose="020B0604030504040204" pitchFamily="34" charset="-120"/>
            </a:rPr>
            <a:t>飼料供應商</a:t>
          </a:r>
        </a:p>
      </dsp:txBody>
      <dsp:txXfrm>
        <a:off x="5999950" y="803315"/>
        <a:ext cx="1867068" cy="505491"/>
      </dsp:txXfrm>
    </dsp:sp>
    <dsp:sp modelId="{EB963601-02D8-499F-9FF1-78AA559E8DD5}">
      <dsp:nvSpPr>
        <dsp:cNvPr id="0" name=""/>
        <dsp:cNvSpPr/>
      </dsp:nvSpPr>
      <dsp:spPr>
        <a:xfrm>
          <a:off x="6382362" y="1308807"/>
          <a:ext cx="1867068" cy="3966750"/>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3792" tIns="113792" rIns="113792" bIns="113792" numCol="1" spcCol="1270" anchor="t" anchorCtr="0">
          <a:noAutofit/>
        </a:bodyPr>
        <a:lstStyle/>
        <a:p>
          <a:pPr marL="171450" lvl="1" indent="-171450" algn="l" defTabSz="711200">
            <a:lnSpc>
              <a:spcPct val="90000"/>
            </a:lnSpc>
            <a:spcBef>
              <a:spcPct val="0"/>
            </a:spcBef>
            <a:spcAft>
              <a:spcPct val="15000"/>
            </a:spcAft>
            <a:buChar char="•"/>
          </a:pPr>
          <a:r>
            <a:rPr lang="zh-TW" altLang="en-US" sz="1600" b="1" kern="1200" dirty="0">
              <a:latin typeface="微軟正黑體" panose="020B0604030504040204" pitchFamily="34" charset="-120"/>
              <a:ea typeface="微軟正黑體" panose="020B0604030504040204" pitchFamily="34" charset="-120"/>
            </a:rPr>
            <a:t>當石斑魚成長到一個階段時，魚苗場業者會將石斑魚的魚苗轉售給養殖業者。</a:t>
          </a:r>
        </a:p>
        <a:p>
          <a:pPr marL="171450" lvl="1" indent="-171450" algn="l" defTabSz="711200">
            <a:lnSpc>
              <a:spcPct val="90000"/>
            </a:lnSpc>
            <a:spcBef>
              <a:spcPct val="0"/>
            </a:spcBef>
            <a:spcAft>
              <a:spcPct val="15000"/>
            </a:spcAft>
            <a:buChar char="•"/>
          </a:pPr>
          <a:r>
            <a:rPr lang="zh-TW" altLang="en-US" sz="1600" b="1" kern="1200" dirty="0">
              <a:latin typeface="微軟正黑體" panose="020B0604030504040204" pitchFamily="34" charset="-120"/>
              <a:ea typeface="微軟正黑體" panose="020B0604030504040204" pitchFamily="34" charset="-120"/>
            </a:rPr>
            <a:t>注意事項越加複雜，飼料供應商是一重要經營項目。</a:t>
          </a:r>
        </a:p>
        <a:p>
          <a:pPr marL="171450" lvl="1" indent="-171450" algn="l" defTabSz="711200">
            <a:lnSpc>
              <a:spcPct val="90000"/>
            </a:lnSpc>
            <a:spcBef>
              <a:spcPct val="0"/>
            </a:spcBef>
            <a:spcAft>
              <a:spcPct val="15000"/>
            </a:spcAft>
            <a:buChar char="•"/>
          </a:pPr>
          <a:endParaRPr lang="zh-TW" altLang="en-US" sz="1600" b="1" kern="1200" dirty="0">
            <a:latin typeface="微軟正黑體" panose="020B0604030504040204" pitchFamily="34" charset="-120"/>
            <a:ea typeface="微軟正黑體" panose="020B0604030504040204" pitchFamily="34" charset="-120"/>
          </a:endParaRPr>
        </a:p>
      </dsp:txBody>
      <dsp:txXfrm>
        <a:off x="6437047" y="1363492"/>
        <a:ext cx="1757698" cy="3857380"/>
      </dsp:txXfrm>
    </dsp:sp>
    <dsp:sp modelId="{5A7EEF81-888D-40F1-9791-E52DA7C6A1B6}">
      <dsp:nvSpPr>
        <dsp:cNvPr id="0" name=""/>
        <dsp:cNvSpPr/>
      </dsp:nvSpPr>
      <dsp:spPr>
        <a:xfrm>
          <a:off x="8150060" y="823638"/>
          <a:ext cx="600046" cy="464846"/>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zh-TW" altLang="en-US" sz="1300" kern="1200"/>
        </a:p>
      </dsp:txBody>
      <dsp:txXfrm>
        <a:off x="8150060" y="916607"/>
        <a:ext cx="460592" cy="278908"/>
      </dsp:txXfrm>
    </dsp:sp>
    <dsp:sp modelId="{E91DA09A-7803-483E-A78F-6B988AB3DC96}">
      <dsp:nvSpPr>
        <dsp:cNvPr id="0" name=""/>
        <dsp:cNvSpPr/>
      </dsp:nvSpPr>
      <dsp:spPr>
        <a:xfrm>
          <a:off x="8999182" y="803315"/>
          <a:ext cx="1867068" cy="758237"/>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3792" tIns="113792" rIns="113792" bIns="60960" numCol="1" spcCol="1270" anchor="t" anchorCtr="0">
          <a:noAutofit/>
        </a:bodyPr>
        <a:lstStyle/>
        <a:p>
          <a:pPr marL="0" lvl="0" indent="0" algn="l" defTabSz="711200">
            <a:lnSpc>
              <a:spcPct val="90000"/>
            </a:lnSpc>
            <a:spcBef>
              <a:spcPct val="0"/>
            </a:spcBef>
            <a:spcAft>
              <a:spcPct val="35000"/>
            </a:spcAft>
            <a:buNone/>
          </a:pPr>
          <a:r>
            <a:rPr lang="en-US" altLang="zh-TW" sz="1600" b="1" kern="1200" dirty="0">
              <a:latin typeface="微軟正黑體" panose="020B0604030504040204" pitchFamily="34" charset="-120"/>
              <a:ea typeface="微軟正黑體" panose="020B0604030504040204" pitchFamily="34" charset="-120"/>
            </a:rPr>
            <a:t>Step4</a:t>
          </a:r>
          <a:r>
            <a:rPr lang="zh-TW" altLang="en-US" sz="1600" b="1" kern="1200" dirty="0">
              <a:latin typeface="微軟正黑體" panose="020B0604030504040204" pitchFamily="34" charset="-120"/>
              <a:ea typeface="微軟正黑體" panose="020B0604030504040204" pitchFamily="34" charset="-120"/>
            </a:rPr>
            <a:t>養殖場</a:t>
          </a:r>
        </a:p>
      </dsp:txBody>
      <dsp:txXfrm>
        <a:off x="8999182" y="803315"/>
        <a:ext cx="1867068" cy="505491"/>
      </dsp:txXfrm>
    </dsp:sp>
    <dsp:sp modelId="{EB634905-FC61-4F5F-B534-5CEBFCB76504}">
      <dsp:nvSpPr>
        <dsp:cNvPr id="0" name=""/>
        <dsp:cNvSpPr/>
      </dsp:nvSpPr>
      <dsp:spPr>
        <a:xfrm>
          <a:off x="9381594" y="1308807"/>
          <a:ext cx="1867068" cy="3966750"/>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3792" tIns="113792" rIns="113792" bIns="113792" numCol="1" spcCol="1270" anchor="t" anchorCtr="0">
          <a:noAutofit/>
        </a:bodyPr>
        <a:lstStyle/>
        <a:p>
          <a:pPr marL="171450" lvl="1" indent="-171450" algn="l" defTabSz="711200">
            <a:lnSpc>
              <a:spcPct val="90000"/>
            </a:lnSpc>
            <a:spcBef>
              <a:spcPct val="0"/>
            </a:spcBef>
            <a:spcAft>
              <a:spcPct val="15000"/>
            </a:spcAft>
            <a:buChar char="•"/>
          </a:pPr>
          <a:r>
            <a:rPr lang="zh-TW" altLang="en-US" sz="1600" b="1" kern="1200" dirty="0">
              <a:latin typeface="微軟正黑體" panose="020B0604030504040204" pitchFamily="34" charset="-120"/>
              <a:ea typeface="微軟正黑體" panose="020B0604030504040204" pitchFamily="34" charset="-120"/>
            </a:rPr>
            <a:t>除了飼料的選擇外，還得選擇適用的藥物進行石斑魚的防疫。</a:t>
          </a:r>
        </a:p>
        <a:p>
          <a:pPr marL="171450" lvl="1" indent="-171450" algn="l" defTabSz="711200">
            <a:lnSpc>
              <a:spcPct val="90000"/>
            </a:lnSpc>
            <a:spcBef>
              <a:spcPct val="0"/>
            </a:spcBef>
            <a:spcAft>
              <a:spcPct val="15000"/>
            </a:spcAft>
            <a:buChar char="•"/>
          </a:pPr>
          <a:r>
            <a:rPr lang="zh-TW" altLang="en-US" sz="1600" b="1" kern="1200" dirty="0">
              <a:latin typeface="微軟正黑體" panose="020B0604030504040204" pitchFamily="34" charset="-120"/>
              <a:ea typeface="微軟正黑體" panose="020B0604030504040204" pitchFamily="34" charset="-120"/>
            </a:rPr>
            <a:t>開始規劃銷售端的經營。</a:t>
          </a:r>
        </a:p>
      </dsp:txBody>
      <dsp:txXfrm>
        <a:off x="9436279" y="1363492"/>
        <a:ext cx="1757698" cy="385738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8519F6B-52D9-41FF-902F-EAD56C39B99D}">
      <dsp:nvSpPr>
        <dsp:cNvPr id="0" name=""/>
        <dsp:cNvSpPr/>
      </dsp:nvSpPr>
      <dsp:spPr>
        <a:xfrm>
          <a:off x="3200" y="45584"/>
          <a:ext cx="2747731" cy="859259"/>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68580" numCol="1" spcCol="1270" anchor="t" anchorCtr="0">
          <a:noAutofit/>
        </a:bodyPr>
        <a:lstStyle/>
        <a:p>
          <a:pPr marL="0" lvl="0" indent="0" algn="l" defTabSz="800100">
            <a:lnSpc>
              <a:spcPct val="90000"/>
            </a:lnSpc>
            <a:spcBef>
              <a:spcPct val="0"/>
            </a:spcBef>
            <a:spcAft>
              <a:spcPct val="35000"/>
            </a:spcAft>
            <a:buNone/>
          </a:pPr>
          <a:r>
            <a:rPr lang="en-US" altLang="zh-TW" sz="1800" b="1" kern="1200" dirty="0">
              <a:latin typeface="微軟正黑體" panose="020B0604030504040204" pitchFamily="34" charset="-120"/>
              <a:ea typeface="微軟正黑體" panose="020B0604030504040204" pitchFamily="34" charset="-120"/>
            </a:rPr>
            <a:t>Step5</a:t>
          </a:r>
          <a:r>
            <a:rPr lang="zh-TW" altLang="en-US" sz="1800" b="1" kern="1200" dirty="0">
              <a:latin typeface="微軟正黑體" panose="020B0604030504040204" pitchFamily="34" charset="-120"/>
              <a:ea typeface="微軟正黑體" panose="020B0604030504040204" pitchFamily="34" charset="-120"/>
            </a:rPr>
            <a:t>收穫處理</a:t>
          </a:r>
        </a:p>
      </dsp:txBody>
      <dsp:txXfrm>
        <a:off x="3200" y="45584"/>
        <a:ext cx="2747731" cy="572839"/>
      </dsp:txXfrm>
    </dsp:sp>
    <dsp:sp modelId="{01C40769-B4AF-4D2B-AA8C-5A4B2E4487DD}">
      <dsp:nvSpPr>
        <dsp:cNvPr id="0" name=""/>
        <dsp:cNvSpPr/>
      </dsp:nvSpPr>
      <dsp:spPr>
        <a:xfrm>
          <a:off x="565989" y="618423"/>
          <a:ext cx="2747731" cy="3402000"/>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128016" rIns="128016" bIns="128016" numCol="1" spcCol="1270" anchor="t" anchorCtr="0">
          <a:noAutofit/>
        </a:bodyPr>
        <a:lstStyle/>
        <a:p>
          <a:pPr marL="171450" lvl="1" indent="-171450" algn="l" defTabSz="800100">
            <a:lnSpc>
              <a:spcPct val="90000"/>
            </a:lnSpc>
            <a:spcBef>
              <a:spcPct val="0"/>
            </a:spcBef>
            <a:spcAft>
              <a:spcPct val="15000"/>
            </a:spcAft>
            <a:buChar char="•"/>
          </a:pPr>
          <a:r>
            <a:rPr lang="zh-TW" altLang="en-US" sz="1800" b="1" kern="1200" dirty="0">
              <a:latin typeface="微軟正黑體" panose="020B0604030504040204" pitchFamily="34" charset="-120"/>
              <a:ea typeface="微軟正黑體" panose="020B0604030504040204" pitchFamily="34" charset="-120"/>
            </a:rPr>
            <a:t>確認石斑魚的檢疫是沒問題時，開始進行收獲處理</a:t>
          </a:r>
        </a:p>
        <a:p>
          <a:pPr marL="171450" lvl="1" indent="-171450" algn="l" defTabSz="800100">
            <a:lnSpc>
              <a:spcPct val="90000"/>
            </a:lnSpc>
            <a:spcBef>
              <a:spcPct val="0"/>
            </a:spcBef>
            <a:spcAft>
              <a:spcPct val="15000"/>
            </a:spcAft>
            <a:buChar char="•"/>
          </a:pPr>
          <a:r>
            <a:rPr lang="zh-TW" altLang="en-US" sz="1800" b="1" kern="1200" dirty="0">
              <a:latin typeface="微軟正黑體" panose="020B0604030504040204" pitchFamily="34" charset="-120"/>
              <a:ea typeface="微軟正黑體" panose="020B0604030504040204" pitchFamily="34" charset="-120"/>
            </a:rPr>
            <a:t>並且聯繫石斑魚的銷售地點與行銷模式。</a:t>
          </a:r>
        </a:p>
        <a:p>
          <a:pPr marL="171450" lvl="1" indent="-171450" algn="l" defTabSz="800100">
            <a:lnSpc>
              <a:spcPct val="90000"/>
            </a:lnSpc>
            <a:spcBef>
              <a:spcPct val="0"/>
            </a:spcBef>
            <a:spcAft>
              <a:spcPct val="15000"/>
            </a:spcAft>
            <a:buChar char="•"/>
          </a:pPr>
          <a:endParaRPr lang="zh-TW" altLang="en-US" sz="1800" b="1" kern="1200" dirty="0">
            <a:latin typeface="微軟正黑體" panose="020B0604030504040204" pitchFamily="34" charset="-120"/>
            <a:ea typeface="微軟正黑體" panose="020B0604030504040204" pitchFamily="34" charset="-120"/>
          </a:endParaRPr>
        </a:p>
      </dsp:txBody>
      <dsp:txXfrm>
        <a:off x="646467" y="698901"/>
        <a:ext cx="2586775" cy="3241044"/>
      </dsp:txXfrm>
    </dsp:sp>
    <dsp:sp modelId="{FEAD4A8C-88B3-4E90-BFBF-4E7B3AD6F45F}">
      <dsp:nvSpPr>
        <dsp:cNvPr id="0" name=""/>
        <dsp:cNvSpPr/>
      </dsp:nvSpPr>
      <dsp:spPr>
        <a:xfrm>
          <a:off x="3167478" y="-10048"/>
          <a:ext cx="883077" cy="684105"/>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zh-TW" altLang="en-US" sz="1400" kern="1200"/>
        </a:p>
      </dsp:txBody>
      <dsp:txXfrm>
        <a:off x="3167478" y="126773"/>
        <a:ext cx="677846" cy="410463"/>
      </dsp:txXfrm>
    </dsp:sp>
    <dsp:sp modelId="{6A063C86-66C2-468C-9ED6-AE41CC29944D}">
      <dsp:nvSpPr>
        <dsp:cNvPr id="0" name=""/>
        <dsp:cNvSpPr/>
      </dsp:nvSpPr>
      <dsp:spPr>
        <a:xfrm>
          <a:off x="4417116" y="45584"/>
          <a:ext cx="2747731" cy="859259"/>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128016" rIns="128016" bIns="68580" numCol="1" spcCol="1270" anchor="t" anchorCtr="0">
          <a:noAutofit/>
        </a:bodyPr>
        <a:lstStyle/>
        <a:p>
          <a:pPr marL="0" lvl="0" indent="0" algn="l" defTabSz="800100">
            <a:lnSpc>
              <a:spcPct val="90000"/>
            </a:lnSpc>
            <a:spcBef>
              <a:spcPct val="0"/>
            </a:spcBef>
            <a:spcAft>
              <a:spcPct val="35000"/>
            </a:spcAft>
            <a:buNone/>
          </a:pPr>
          <a:r>
            <a:rPr lang="en-US" altLang="zh-TW" sz="1800" b="1" kern="1200" dirty="0">
              <a:latin typeface="微軟正黑體" panose="020B0604030504040204" pitchFamily="34" charset="-120"/>
              <a:ea typeface="微軟正黑體" panose="020B0604030504040204" pitchFamily="34" charset="-120"/>
            </a:rPr>
            <a:t>Step6</a:t>
          </a:r>
          <a:r>
            <a:rPr lang="zh-TW" altLang="en-US" sz="1800" b="1" kern="1200" dirty="0">
              <a:latin typeface="微軟正黑體" panose="020B0604030504040204" pitchFamily="34" charset="-120"/>
              <a:ea typeface="微軟正黑體" panose="020B0604030504040204" pitchFamily="34" charset="-120"/>
            </a:rPr>
            <a:t>包裝運輸</a:t>
          </a:r>
        </a:p>
      </dsp:txBody>
      <dsp:txXfrm>
        <a:off x="4417116" y="45584"/>
        <a:ext cx="2747731" cy="572839"/>
      </dsp:txXfrm>
    </dsp:sp>
    <dsp:sp modelId="{AE391B47-FA2F-4316-9F9B-A771B5C16E59}">
      <dsp:nvSpPr>
        <dsp:cNvPr id="0" name=""/>
        <dsp:cNvSpPr/>
      </dsp:nvSpPr>
      <dsp:spPr>
        <a:xfrm>
          <a:off x="4979904" y="618423"/>
          <a:ext cx="2747731" cy="3402000"/>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128016" rIns="128016" bIns="128016" numCol="1" spcCol="1270" anchor="t" anchorCtr="0">
          <a:noAutofit/>
        </a:bodyPr>
        <a:lstStyle/>
        <a:p>
          <a:pPr marL="171450" lvl="1" indent="-171450" algn="l" defTabSz="800100">
            <a:lnSpc>
              <a:spcPct val="90000"/>
            </a:lnSpc>
            <a:spcBef>
              <a:spcPct val="0"/>
            </a:spcBef>
            <a:spcAft>
              <a:spcPct val="15000"/>
            </a:spcAft>
            <a:buChar char="•"/>
          </a:pPr>
          <a:r>
            <a:rPr lang="zh-TW" altLang="en-US" sz="1800" b="1" kern="1200" dirty="0">
              <a:latin typeface="微軟正黑體" panose="020B0604030504040204" pitchFamily="34" charset="-120"/>
              <a:ea typeface="微軟正黑體" panose="020B0604030504040204" pitchFamily="34" charset="-120"/>
            </a:rPr>
            <a:t>收獲處理完成之後，便開始包裝與運送的過程，</a:t>
          </a:r>
        </a:p>
        <a:p>
          <a:pPr marL="171450" lvl="1" indent="-171450" algn="l" defTabSz="800100">
            <a:lnSpc>
              <a:spcPct val="90000"/>
            </a:lnSpc>
            <a:spcBef>
              <a:spcPct val="0"/>
            </a:spcBef>
            <a:spcAft>
              <a:spcPct val="15000"/>
            </a:spcAft>
            <a:buChar char="•"/>
          </a:pPr>
          <a:r>
            <a:rPr lang="zh-TW" altLang="en-US" sz="1800" b="1" kern="1200" dirty="0">
              <a:latin typeface="微軟正黑體" panose="020B0604030504040204" pitchFamily="34" charset="-120"/>
              <a:ea typeface="微軟正黑體" panose="020B0604030504040204" pitchFamily="34" charset="-120"/>
            </a:rPr>
            <a:t>考量運送的距離，全程運送方式與設備，確保物流運送作業的安全性。</a:t>
          </a:r>
        </a:p>
        <a:p>
          <a:pPr marL="171450" lvl="1" indent="-171450" algn="l" defTabSz="800100">
            <a:lnSpc>
              <a:spcPct val="90000"/>
            </a:lnSpc>
            <a:spcBef>
              <a:spcPct val="0"/>
            </a:spcBef>
            <a:spcAft>
              <a:spcPct val="15000"/>
            </a:spcAft>
            <a:buChar char="•"/>
          </a:pPr>
          <a:endParaRPr lang="zh-TW" altLang="en-US" sz="1800" b="1" kern="1200" dirty="0">
            <a:latin typeface="微軟正黑體" panose="020B0604030504040204" pitchFamily="34" charset="-120"/>
            <a:ea typeface="微軟正黑體" panose="020B0604030504040204" pitchFamily="34" charset="-120"/>
          </a:endParaRPr>
        </a:p>
      </dsp:txBody>
      <dsp:txXfrm>
        <a:off x="5060382" y="698901"/>
        <a:ext cx="2586775" cy="3241044"/>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8407CAC-052C-436F-81E4-43E457C782E7}">
      <dsp:nvSpPr>
        <dsp:cNvPr id="0" name=""/>
        <dsp:cNvSpPr/>
      </dsp:nvSpPr>
      <dsp:spPr>
        <a:xfrm>
          <a:off x="0" y="23748"/>
          <a:ext cx="2325498" cy="2635200"/>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142240" rIns="142240" bIns="76200" numCol="1" spcCol="1270" anchor="t" anchorCtr="0">
          <a:noAutofit/>
        </a:bodyPr>
        <a:lstStyle/>
        <a:p>
          <a:pPr marL="0" lvl="0" indent="0" algn="l" defTabSz="889000">
            <a:lnSpc>
              <a:spcPct val="90000"/>
            </a:lnSpc>
            <a:spcBef>
              <a:spcPct val="0"/>
            </a:spcBef>
            <a:spcAft>
              <a:spcPct val="35000"/>
            </a:spcAft>
            <a:buNone/>
          </a:pPr>
          <a:r>
            <a:rPr lang="en-US" altLang="zh-TW" sz="2000" b="1" kern="1200" dirty="0">
              <a:latin typeface="微軟正黑體" panose="020B0604030504040204" pitchFamily="34" charset="-120"/>
              <a:ea typeface="微軟正黑體" panose="020B0604030504040204" pitchFamily="34" charset="-120"/>
            </a:rPr>
            <a:t>Step7</a:t>
          </a:r>
          <a:r>
            <a:rPr lang="zh-TW" altLang="en-US" sz="2000" b="1" kern="1200" dirty="0">
              <a:latin typeface="微軟正黑體" panose="020B0604030504040204" pitchFamily="34" charset="-120"/>
              <a:ea typeface="微軟正黑體" panose="020B0604030504040204" pitchFamily="34" charset="-120"/>
            </a:rPr>
            <a:t>消費者</a:t>
          </a:r>
        </a:p>
      </dsp:txBody>
      <dsp:txXfrm>
        <a:off x="0" y="23748"/>
        <a:ext cx="2325498" cy="930199"/>
      </dsp:txXfrm>
    </dsp:sp>
    <dsp:sp modelId="{B8472E47-AB13-4F9C-8B99-E11275A1021F}">
      <dsp:nvSpPr>
        <dsp:cNvPr id="0" name=""/>
        <dsp:cNvSpPr/>
      </dsp:nvSpPr>
      <dsp:spPr>
        <a:xfrm>
          <a:off x="476306" y="953948"/>
          <a:ext cx="2325498" cy="3513600"/>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42240" tIns="142240" rIns="142240" bIns="142240" numCol="1" spcCol="1270" anchor="t" anchorCtr="0">
          <a:noAutofit/>
        </a:bodyPr>
        <a:lstStyle/>
        <a:p>
          <a:pPr marL="228600" lvl="1" indent="-228600" algn="l" defTabSz="889000">
            <a:lnSpc>
              <a:spcPct val="90000"/>
            </a:lnSpc>
            <a:spcBef>
              <a:spcPct val="0"/>
            </a:spcBef>
            <a:spcAft>
              <a:spcPct val="15000"/>
            </a:spcAft>
            <a:buChar char="•"/>
          </a:pPr>
          <a:r>
            <a:rPr lang="zh-TW" altLang="en-US" sz="2000" b="1" kern="1200" dirty="0">
              <a:latin typeface="微軟正黑體" panose="020B0604030504040204" pitchFamily="34" charset="-120"/>
              <a:ea typeface="微軟正黑體" panose="020B0604030504040204" pitchFamily="34" charset="-120"/>
            </a:rPr>
            <a:t>魚貨會交付至消費者</a:t>
          </a:r>
        </a:p>
        <a:p>
          <a:pPr marL="228600" lvl="1" indent="-228600" algn="l" defTabSz="889000">
            <a:lnSpc>
              <a:spcPct val="90000"/>
            </a:lnSpc>
            <a:spcBef>
              <a:spcPct val="0"/>
            </a:spcBef>
            <a:spcAft>
              <a:spcPct val="15000"/>
            </a:spcAft>
            <a:buChar char="•"/>
          </a:pPr>
          <a:r>
            <a:rPr lang="zh-TW" altLang="en-US" sz="2000" b="1" kern="1200" dirty="0">
              <a:latin typeface="微軟正黑體" panose="020B0604030504040204" pitchFamily="34" charset="-120"/>
              <a:ea typeface="微軟正黑體" panose="020B0604030504040204" pitchFamily="34" charset="-120"/>
            </a:rPr>
            <a:t>或由零售商販售給消費者進行食用。</a:t>
          </a:r>
        </a:p>
        <a:p>
          <a:pPr marL="228600" lvl="1" indent="-228600" algn="l" defTabSz="889000">
            <a:lnSpc>
              <a:spcPct val="90000"/>
            </a:lnSpc>
            <a:spcBef>
              <a:spcPct val="0"/>
            </a:spcBef>
            <a:spcAft>
              <a:spcPct val="15000"/>
            </a:spcAft>
            <a:buChar char="•"/>
          </a:pPr>
          <a:endParaRPr lang="zh-TW" altLang="en-US" sz="2000" b="1" kern="1200" dirty="0">
            <a:latin typeface="微軟正黑體" panose="020B0604030504040204" pitchFamily="34" charset="-120"/>
            <a:ea typeface="微軟正黑體" panose="020B0604030504040204" pitchFamily="34" charset="-120"/>
          </a:endParaRPr>
        </a:p>
      </dsp:txBody>
      <dsp:txXfrm>
        <a:off x="544418" y="1022060"/>
        <a:ext cx="2189274" cy="3377376"/>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D31DD6C-3E89-4780-BBF8-1356D37AB62D}">
      <dsp:nvSpPr>
        <dsp:cNvPr id="0" name=""/>
        <dsp:cNvSpPr/>
      </dsp:nvSpPr>
      <dsp:spPr>
        <a:xfrm>
          <a:off x="0" y="17209"/>
          <a:ext cx="8776740" cy="907466"/>
        </a:xfrm>
        <a:prstGeom prst="roundRect">
          <a:avLst/>
        </a:prstGeom>
        <a:noFill/>
        <a:ln w="28575" cap="flat" cmpd="sng" algn="ctr">
          <a:solidFill>
            <a:schemeClr val="accent5"/>
          </a:solidFill>
          <a:prstDash val="sysDot"/>
          <a:round/>
          <a:headEnd type="none" w="med" len="med"/>
          <a:tailEnd type="none" w="med" len="med"/>
        </a:ln>
        <a:effectLst/>
      </dsp:spPr>
      <dsp:style>
        <a:lnRef idx="0">
          <a:scrgbClr r="0" g="0" b="0"/>
        </a:lnRef>
        <a:fillRef idx="0">
          <a:scrgbClr r="0" g="0" b="0"/>
        </a:fillRef>
        <a:effectRef idx="0">
          <a:scrgbClr r="0" g="0" b="0"/>
        </a:effectRef>
        <a:fontRef idx="minor">
          <a:schemeClr val="accent5"/>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zh-TW" altLang="en-US" sz="2400" b="1" kern="1200" dirty="0">
              <a:solidFill>
                <a:schemeClr val="tx1">
                  <a:lumMod val="75000"/>
                  <a:lumOff val="25000"/>
                </a:schemeClr>
              </a:solidFill>
              <a:latin typeface="微軟正黑體" panose="020B0604030504040204" pitchFamily="34" charset="-120"/>
              <a:ea typeface="微軟正黑體" panose="020B0604030504040204" pitchFamily="34" charset="-120"/>
            </a:rPr>
            <a:t>傳統</a:t>
          </a:r>
        </a:p>
      </dsp:txBody>
      <dsp:txXfrm>
        <a:off x="44299" y="61508"/>
        <a:ext cx="8688142" cy="818868"/>
      </dsp:txXfrm>
    </dsp:sp>
    <dsp:sp modelId="{749635A3-D38A-42C9-9498-F543E8B5E26D}">
      <dsp:nvSpPr>
        <dsp:cNvPr id="0" name=""/>
        <dsp:cNvSpPr/>
      </dsp:nvSpPr>
      <dsp:spPr>
        <a:xfrm>
          <a:off x="0" y="924676"/>
          <a:ext cx="8776740" cy="13863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78661" tIns="27940" rIns="156464" bIns="27940" numCol="1" spcCol="1270" anchor="t" anchorCtr="0">
          <a:noAutofit/>
        </a:bodyPr>
        <a:lstStyle/>
        <a:p>
          <a:pPr marL="228600" lvl="1" indent="-228600" algn="l" defTabSz="977900">
            <a:lnSpc>
              <a:spcPct val="90000"/>
            </a:lnSpc>
            <a:spcBef>
              <a:spcPct val="0"/>
            </a:spcBef>
            <a:spcAft>
              <a:spcPct val="20000"/>
            </a:spcAft>
            <a:buNone/>
          </a:pPr>
          <a:r>
            <a:rPr lang="zh-TW" altLang="en-US" sz="2200" b="1" kern="1200" dirty="0">
              <a:solidFill>
                <a:schemeClr val="tx1">
                  <a:lumMod val="75000"/>
                  <a:lumOff val="25000"/>
                </a:schemeClr>
              </a:solidFill>
              <a:latin typeface="微軟正黑體" panose="020B0604030504040204" pitchFamily="34" charset="-120"/>
              <a:ea typeface="微軟正黑體" panose="020B0604030504040204" pitchFamily="34" charset="-120"/>
            </a:rPr>
            <a:t>因交通尚未發達，販售地點的未多元化，農產品銷售多數以菓菜市場或傳統市場為主要販售地點，買賣風氣屬於地區性，較少跨區域採購的情況，故較少有囤積貨源的現象。</a:t>
          </a:r>
          <a:endParaRPr lang="zh-TW" altLang="en-US" sz="2200" kern="1200" dirty="0"/>
        </a:p>
      </dsp:txBody>
      <dsp:txXfrm>
        <a:off x="0" y="924676"/>
        <a:ext cx="8776740" cy="1386382"/>
      </dsp:txXfrm>
    </dsp:sp>
    <dsp:sp modelId="{039A4B5A-5E91-4FAE-B39C-C6F6F5F75C27}">
      <dsp:nvSpPr>
        <dsp:cNvPr id="0" name=""/>
        <dsp:cNvSpPr/>
      </dsp:nvSpPr>
      <dsp:spPr>
        <a:xfrm>
          <a:off x="0" y="2311058"/>
          <a:ext cx="8776740" cy="879840"/>
        </a:xfrm>
        <a:prstGeom prst="roundRect">
          <a:avLst/>
        </a:prstGeom>
        <a:noFill/>
        <a:ln w="28575" cap="flat" cmpd="sng" algn="ctr">
          <a:solidFill>
            <a:schemeClr val="accent6"/>
          </a:solidFill>
          <a:prstDash val="sysDot"/>
          <a:round/>
          <a:headEnd type="none" w="med" len="med"/>
          <a:tailEnd type="none" w="med" len="med"/>
        </a:ln>
        <a:effectLst/>
      </dsp:spPr>
      <dsp:style>
        <a:lnRef idx="0">
          <a:scrgbClr r="0" g="0" b="0"/>
        </a:lnRef>
        <a:fillRef idx="0">
          <a:scrgbClr r="0" g="0" b="0"/>
        </a:fillRef>
        <a:effectRef idx="0">
          <a:scrgbClr r="0" g="0" b="0"/>
        </a:effectRef>
        <a:fontRef idx="minor">
          <a:schemeClr val="accent6"/>
        </a:fontRef>
      </dsp:style>
      <dsp:txBody>
        <a:bodyPr spcFirstLastPara="0" vert="horz" wrap="square" lIns="91440" tIns="91440" rIns="91440" bIns="91440" numCol="1" spcCol="1270" anchor="ctr" anchorCtr="0">
          <a:noAutofit/>
        </a:bodyPr>
        <a:lstStyle/>
        <a:p>
          <a:pPr marL="0" lvl="0" indent="0" algn="l" defTabSz="1066800">
            <a:lnSpc>
              <a:spcPct val="90000"/>
            </a:lnSpc>
            <a:spcBef>
              <a:spcPct val="0"/>
            </a:spcBef>
            <a:spcAft>
              <a:spcPct val="35000"/>
            </a:spcAft>
            <a:buNone/>
          </a:pPr>
          <a:r>
            <a:rPr lang="zh-TW" altLang="en-US" sz="2400" b="1" kern="1200" dirty="0">
              <a:solidFill>
                <a:schemeClr val="tx1">
                  <a:lumMod val="75000"/>
                  <a:lumOff val="25000"/>
                </a:schemeClr>
              </a:solidFill>
              <a:latin typeface="微軟正黑體" panose="020B0604030504040204" pitchFamily="34" charset="-120"/>
              <a:ea typeface="微軟正黑體" panose="020B0604030504040204" pitchFamily="34" charset="-120"/>
            </a:rPr>
            <a:t>現代</a:t>
          </a:r>
        </a:p>
      </dsp:txBody>
      <dsp:txXfrm>
        <a:off x="42950" y="2354008"/>
        <a:ext cx="8690840" cy="793940"/>
      </dsp:txXfrm>
    </dsp:sp>
    <dsp:sp modelId="{27B11217-BBA9-4A04-AD9D-4DC74AF91B8B}">
      <dsp:nvSpPr>
        <dsp:cNvPr id="0" name=""/>
        <dsp:cNvSpPr/>
      </dsp:nvSpPr>
      <dsp:spPr>
        <a:xfrm>
          <a:off x="0" y="3190898"/>
          <a:ext cx="8776740" cy="9485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78661" tIns="27940" rIns="156464" bIns="27940" numCol="1" spcCol="1270" anchor="t" anchorCtr="0">
          <a:noAutofit/>
        </a:bodyPr>
        <a:lstStyle/>
        <a:p>
          <a:pPr marL="228600" lvl="1" indent="-228600" algn="l" defTabSz="977900">
            <a:lnSpc>
              <a:spcPct val="90000"/>
            </a:lnSpc>
            <a:spcBef>
              <a:spcPct val="0"/>
            </a:spcBef>
            <a:spcAft>
              <a:spcPct val="20000"/>
            </a:spcAft>
            <a:buNone/>
          </a:pPr>
          <a:r>
            <a:rPr lang="zh-TW" altLang="en-US" sz="2200" b="1" kern="1200" dirty="0">
              <a:solidFill>
                <a:schemeClr val="tx1">
                  <a:lumMod val="75000"/>
                  <a:lumOff val="25000"/>
                </a:schemeClr>
              </a:solidFill>
              <a:latin typeface="微軟正黑體" panose="020B0604030504040204" pitchFamily="34" charset="-120"/>
              <a:ea typeface="微軟正黑體" panose="020B0604030504040204" pitchFamily="34" charset="-120"/>
            </a:rPr>
            <a:t>物流運輸發達及多通路銷售的管道，形成了經銷商如雨後春荀般的成立，此時農產品的囤積情況便逐漸出現。</a:t>
          </a:r>
        </a:p>
      </dsp:txBody>
      <dsp:txXfrm>
        <a:off x="0" y="3190898"/>
        <a:ext cx="8776740" cy="948577"/>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4A430BF-7315-4A0A-B4C5-11652ED24B53}">
      <dsp:nvSpPr>
        <dsp:cNvPr id="0" name=""/>
        <dsp:cNvSpPr/>
      </dsp:nvSpPr>
      <dsp:spPr>
        <a:xfrm>
          <a:off x="1674567" y="509729"/>
          <a:ext cx="4551680" cy="4551680"/>
        </a:xfrm>
        <a:prstGeom prst="pie">
          <a:avLst>
            <a:gd name="adj1" fmla="val 16200000"/>
            <a:gd name="adj2" fmla="val 1800000"/>
          </a:avLst>
        </a:prstGeom>
        <a:solidFill>
          <a:schemeClr val="accent1">
            <a:lumMod val="20000"/>
            <a:lumOff val="8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zh-TW" altLang="en-US" sz="1800" b="1" kern="1200" dirty="0">
              <a:solidFill>
                <a:schemeClr val="tx1"/>
              </a:solidFill>
              <a:latin typeface="微軟正黑體" panose="020B0604030504040204" pitchFamily="34" charset="-120"/>
              <a:ea typeface="微軟正黑體" panose="020B0604030504040204" pitchFamily="34" charset="-120"/>
            </a:rPr>
            <a:t>經由去中心化的產銷體系節省成本</a:t>
          </a:r>
        </a:p>
        <a:p>
          <a:pPr marL="0" lvl="0" indent="0" algn="ctr" defTabSz="800100">
            <a:lnSpc>
              <a:spcPct val="90000"/>
            </a:lnSpc>
            <a:spcBef>
              <a:spcPct val="0"/>
            </a:spcBef>
            <a:spcAft>
              <a:spcPct val="35000"/>
            </a:spcAft>
            <a:buNone/>
          </a:pPr>
          <a:endParaRPr lang="zh-TW" altLang="en-US" sz="1800" b="1" kern="1200" dirty="0">
            <a:solidFill>
              <a:schemeClr val="tx1"/>
            </a:solidFill>
            <a:latin typeface="微軟正黑體" panose="020B0604030504040204" pitchFamily="34" charset="-120"/>
            <a:ea typeface="微軟正黑體" panose="020B0604030504040204" pitchFamily="34" charset="-120"/>
          </a:endParaRPr>
        </a:p>
      </dsp:txBody>
      <dsp:txXfrm>
        <a:off x="4149272" y="1349623"/>
        <a:ext cx="1544320" cy="1517226"/>
      </dsp:txXfrm>
    </dsp:sp>
    <dsp:sp modelId="{B9D09F75-8D21-487E-AE8A-E965A2197570}">
      <dsp:nvSpPr>
        <dsp:cNvPr id="0" name=""/>
        <dsp:cNvSpPr/>
      </dsp:nvSpPr>
      <dsp:spPr>
        <a:xfrm>
          <a:off x="1670845" y="501226"/>
          <a:ext cx="4551680" cy="4551680"/>
        </a:xfrm>
        <a:prstGeom prst="pie">
          <a:avLst>
            <a:gd name="adj1" fmla="val 1800000"/>
            <a:gd name="adj2" fmla="val 9000000"/>
          </a:avLst>
        </a:prstGeom>
        <a:solidFill>
          <a:srgbClr val="F8F3D4"/>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zh-TW" altLang="en-US" sz="1800" b="1" kern="1200" dirty="0">
              <a:solidFill>
                <a:schemeClr val="tx1"/>
              </a:solidFill>
              <a:latin typeface="微軟正黑體" panose="020B0604030504040204" pitchFamily="34" charset="-120"/>
              <a:ea typeface="微軟正黑體" panose="020B0604030504040204" pitchFamily="34" charset="-120"/>
            </a:rPr>
            <a:t>建構完整履歷追溯健全食安 </a:t>
          </a:r>
        </a:p>
      </dsp:txBody>
      <dsp:txXfrm>
        <a:off x="2917139" y="3373120"/>
        <a:ext cx="2059093" cy="1408853"/>
      </dsp:txXfrm>
    </dsp:sp>
    <dsp:sp modelId="{4E39ED8E-FE35-4830-9663-9345549FC511}">
      <dsp:nvSpPr>
        <dsp:cNvPr id="0" name=""/>
        <dsp:cNvSpPr/>
      </dsp:nvSpPr>
      <dsp:spPr>
        <a:xfrm>
          <a:off x="1670845" y="501226"/>
          <a:ext cx="4551680" cy="4551680"/>
        </a:xfrm>
        <a:prstGeom prst="pie">
          <a:avLst>
            <a:gd name="adj1" fmla="val 9000000"/>
            <a:gd name="adj2" fmla="val 16200000"/>
          </a:avLst>
        </a:prstGeom>
        <a:solidFill>
          <a:schemeClr val="accent2">
            <a:lumMod val="20000"/>
            <a:lumOff val="8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zh-TW" altLang="en-US" sz="1800" b="1" kern="1200" dirty="0">
              <a:solidFill>
                <a:schemeClr val="tx1"/>
              </a:solidFill>
              <a:latin typeface="微軟正黑體" panose="020B0604030504040204" pitchFamily="34" charset="-120"/>
              <a:ea typeface="微軟正黑體" panose="020B0604030504040204" pitchFamily="34" charset="-120"/>
            </a:rPr>
            <a:t>透明公開交易訊息增加信任</a:t>
          </a:r>
        </a:p>
      </dsp:txBody>
      <dsp:txXfrm>
        <a:off x="2158525" y="1395306"/>
        <a:ext cx="1544320" cy="1517226"/>
      </dsp:txXfrm>
    </dsp:sp>
  </dsp:spTree>
</dsp:drawing>
</file>

<file path=ppt/diagrams/layout1.xml><?xml version="1.0" encoding="utf-8"?>
<dgm:layoutDef xmlns:dgm="http://schemas.openxmlformats.org/drawingml/2006/diagram" xmlns:a="http://schemas.openxmlformats.org/drawingml/2006/main" uniqueId="urn:microsoft.com/office/officeart/2005/8/layout/process3">
  <dgm:title val=""/>
  <dgm:desc val=""/>
  <dgm:catLst>
    <dgm:cat type="process" pri="2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3" destOrd="0"/>
        <dgm:cxn modelId="12" srcId="1" destId="11" srcOrd="0" destOrd="0"/>
        <dgm:cxn modelId="23" srcId="2" destId="21" srcOrd="0" destOrd="0"/>
        <dgm:cxn modelId="34" srcId="3" destId="31" srcOrd="0" destOrd="0"/>
      </dgm:cxnLst>
      <dgm:bg/>
      <dgm:whole/>
    </dgm:dataModel>
  </dgm:sampData>
  <dgm:style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osite" refType="w"/>
      <dgm:constr type="w" for="ch" ptType="sibTrans" refType="w" refFor="ch" refForName="composite" fact="0.3333"/>
      <dgm:constr type="w" for="des" forName="parTx"/>
      <dgm:constr type="h" for="des" forName="parTx" op="equ"/>
      <dgm:constr type="h" for="des" forName="parSh" op="equ"/>
      <dgm:constr type="w" for="des" forName="desTx"/>
      <dgm:constr type="h" for="des" forName="desTx" op="equ"/>
      <dgm:constr type="w" for="des" forName="parSh"/>
      <dgm:constr type="primFontSz" for="des" forName="parTx" val="65"/>
      <dgm:constr type="secFontSz" for="des" forName="desTx" refType="primFontSz" refFor="des" refForName="parTx" op="equ"/>
      <dgm:constr type="primFontSz" for="des" forName="connTx" refType="primFontSz" refFor="des" refForName="parTx" fact="0.8"/>
      <dgm:constr type="primFontSz" for="des" forName="connTx" refType="primFontSz" refFor="des" refForName="parTx" op="lte" fact="0.8"/>
      <dgm:constr type="h" for="des" forName="parTx" refType="primFontSz" refFor="des" refForName="parTx" fact="0.8"/>
      <dgm:constr type="h" for="des" forName="parSh" refType="primFontSz" refFor="des" refForName="parTx" fact="1.2"/>
      <dgm:constr type="h" for="des" forName="desTx" refType="primFontSz" refFor="des" refForName="parTx" fact="1.6"/>
      <dgm:constr type="h" for="des" forName="parSh" refType="h" refFor="des" refForName="parTx" op="lte" fact="1.5"/>
      <dgm:constr type="h" for="des" forName="parSh" refType="h" refFor="des" refForName="parTx" op="gte" fact="1.5"/>
    </dgm:constrLst>
    <dgm:ruleLst>
      <dgm:rule type="w" for="ch" forName="composite" val="0" fact="NaN" max="NaN"/>
      <dgm:rule type="primFontSz" for="des" forName="parTx" val="5" fact="NaN" max="NaN"/>
    </dgm:ruleLst>
    <dgm:forEach name="Name3" axis="ch" ptType="node">
      <dgm:layoutNode name="composite">
        <dgm:alg type="composite"/>
        <dgm:shape xmlns:r="http://schemas.openxmlformats.org/officeDocument/2006/relationships" r:blip="">
          <dgm:adjLst/>
        </dgm:shape>
        <dgm:presOf/>
        <dgm:choose name="Name4">
          <dgm:if name="Name5" func="var" arg="dir" op="equ" val="norm">
            <dgm:constrLst>
              <dgm:constr type="h" refType="w" fact="1000"/>
              <dgm:constr type="l" for="ch" forName="parTx"/>
              <dgm:constr type="w" for="ch" forName="parTx" refType="w" fact="0.83"/>
              <dgm:constr type="t" for="ch" forName="parTx"/>
              <dgm:constr type="l" for="ch" forName="parSh"/>
              <dgm:constr type="w" for="ch" forName="parSh" refType="w" refFor="ch" refForName="parTx"/>
              <dgm:constr type="t" for="ch" forName="parSh"/>
              <dgm:constr type="l" for="ch" forName="desTx" refType="w" fact="0.17"/>
              <dgm:constr type="w" for="ch" forName="desTx" refType="w" refFor="ch" refForName="parTx"/>
              <dgm:constr type="t" for="ch" forName="desTx" refType="h" refFor="ch" refForName="parTx"/>
            </dgm:constrLst>
          </dgm:if>
          <dgm:else name="Name6">
            <dgm:constrLst>
              <dgm:constr type="h" refType="w" fact="1000"/>
              <dgm:constr type="l" for="ch" forName="parTx" refType="w" fact="0.17"/>
              <dgm:constr type="w" for="ch" forName="parTx" refType="w" fact="0.83"/>
              <dgm:constr type="t" for="ch" forName="parTx"/>
              <dgm:constr type="l" for="ch" forName="parSh" refType="w" fact="0.15"/>
              <dgm:constr type="w" for="ch" forName="parSh" refType="w" refFor="ch" refForName="parTx"/>
              <dgm:constr type="t" for="ch" forName="parSh"/>
              <dgm:constr type="l" for="ch" forName="desTx"/>
              <dgm:constr type="w" for="ch" forName="desTx" refType="w" refFor="ch" refForName="parTx"/>
              <dgm:constr type="t" for="ch" forName="desTx" refType="h" refFor="ch" refForName="parTx"/>
            </dgm:constrLst>
          </dgm:else>
        </dgm:choose>
        <dgm:ruleLst>
          <dgm:rule type="h" val="INF" fact="NaN" max="NaN"/>
        </dgm:ruleLst>
        <dgm:layoutNode name="parTx">
          <dgm:varLst>
            <dgm:chMax val="0"/>
            <dgm:chPref val="0"/>
            <dgm:bulletEnabled val="1"/>
          </dgm:varLst>
          <dgm:alg type="tx">
            <dgm:param type="parTxLTRAlign" val="l"/>
            <dgm:param type="parTxRTLAlign" val="r"/>
            <dgm:param type="txAnchorVert" val="t"/>
          </dgm:alg>
          <dgm:shape xmlns:r="http://schemas.openxmlformats.org/officeDocument/2006/relationships" type="rect" r:blip="" zOrderOff="1" hideGeom="1">
            <dgm:adjLst>
              <dgm:adj idx="1" val="0.1"/>
            </dgm:adjLst>
          </dgm:shape>
          <dgm:presOf axis="self" ptType="node"/>
          <dgm:constrLst>
            <dgm:constr type="h" refType="w" op="lte" fact="0.4"/>
            <dgm:constr type="bMarg" refType="primFontSz" fact="0.3"/>
            <dgm:constr type="h"/>
          </dgm:constrLst>
          <dgm:ruleLst>
            <dgm:rule type="h" val="INF" fact="NaN" max="NaN"/>
          </dgm:ruleLst>
        </dgm:layoutNode>
        <dgm:layoutNode name="parSh">
          <dgm:alg type="sp"/>
          <dgm:shape xmlns:r="http://schemas.openxmlformats.org/officeDocument/2006/relationships" type="roundRect" r:blip="">
            <dgm:adjLst>
              <dgm:adj idx="1" val="0.1"/>
            </dgm:adjLst>
          </dgm:shape>
          <dgm:presOf axis="self" ptType="node"/>
          <dgm:constrLst>
            <dgm:constr type="h"/>
          </dgm:constrLst>
          <dgm:ruleLst/>
        </dgm:layoutNode>
        <dgm:layoutNode name="desTx" styleLbl="fgAcc1">
          <dgm:varLst>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secFontSz" val="65"/>
            <dgm:constr type="primFontSz" refType="secFontSz"/>
            <dgm:constr type="h"/>
          </dgm:constrLst>
          <dgm:ruleLst>
            <dgm:rule type="h" val="INF" fact="NaN" max="NaN"/>
          </dgm:ruleLst>
        </dgm:layoutNode>
      </dgm:layoutNode>
      <dgm:forEach name="sibTransForEach" axis="followSib" ptType="sibTrans" cnt="1">
        <dgm:layoutNode name="sibTrans">
          <dgm:alg type="conn">
            <dgm:param type="begPts" val="auto"/>
            <dgm:param type="endPts" val="auto"/>
            <dgm:param type="srcNode" val="parTx"/>
            <dgm:param type="dstNode" val="parTx"/>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Tx">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process3">
  <dgm:title val=""/>
  <dgm:desc val=""/>
  <dgm:catLst>
    <dgm:cat type="process" pri="2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3" destOrd="0"/>
        <dgm:cxn modelId="12" srcId="1" destId="11" srcOrd="0" destOrd="0"/>
        <dgm:cxn modelId="23" srcId="2" destId="21" srcOrd="0" destOrd="0"/>
        <dgm:cxn modelId="34" srcId="3" destId="31" srcOrd="0" destOrd="0"/>
      </dgm:cxnLst>
      <dgm:bg/>
      <dgm:whole/>
    </dgm:dataModel>
  </dgm:sampData>
  <dgm:style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osite" refType="w"/>
      <dgm:constr type="w" for="ch" ptType="sibTrans" refType="w" refFor="ch" refForName="composite" fact="0.3333"/>
      <dgm:constr type="w" for="des" forName="parTx"/>
      <dgm:constr type="h" for="des" forName="parTx" op="equ"/>
      <dgm:constr type="h" for="des" forName="parSh" op="equ"/>
      <dgm:constr type="w" for="des" forName="desTx"/>
      <dgm:constr type="h" for="des" forName="desTx" op="equ"/>
      <dgm:constr type="w" for="des" forName="parSh"/>
      <dgm:constr type="primFontSz" for="des" forName="parTx" val="65"/>
      <dgm:constr type="secFontSz" for="des" forName="desTx" refType="primFontSz" refFor="des" refForName="parTx" op="equ"/>
      <dgm:constr type="primFontSz" for="des" forName="connTx" refType="primFontSz" refFor="des" refForName="parTx" fact="0.8"/>
      <dgm:constr type="primFontSz" for="des" forName="connTx" refType="primFontSz" refFor="des" refForName="parTx" op="lte" fact="0.8"/>
      <dgm:constr type="h" for="des" forName="parTx" refType="primFontSz" refFor="des" refForName="parTx" fact="0.8"/>
      <dgm:constr type="h" for="des" forName="parSh" refType="primFontSz" refFor="des" refForName="parTx" fact="1.2"/>
      <dgm:constr type="h" for="des" forName="desTx" refType="primFontSz" refFor="des" refForName="parTx" fact="1.6"/>
      <dgm:constr type="h" for="des" forName="parSh" refType="h" refFor="des" refForName="parTx" op="lte" fact="1.5"/>
      <dgm:constr type="h" for="des" forName="parSh" refType="h" refFor="des" refForName="parTx" op="gte" fact="1.5"/>
    </dgm:constrLst>
    <dgm:ruleLst>
      <dgm:rule type="w" for="ch" forName="composite" val="0" fact="NaN" max="NaN"/>
      <dgm:rule type="primFontSz" for="des" forName="parTx" val="5" fact="NaN" max="NaN"/>
    </dgm:ruleLst>
    <dgm:forEach name="Name3" axis="ch" ptType="node">
      <dgm:layoutNode name="composite">
        <dgm:alg type="composite"/>
        <dgm:shape xmlns:r="http://schemas.openxmlformats.org/officeDocument/2006/relationships" r:blip="">
          <dgm:adjLst/>
        </dgm:shape>
        <dgm:presOf/>
        <dgm:choose name="Name4">
          <dgm:if name="Name5" func="var" arg="dir" op="equ" val="norm">
            <dgm:constrLst>
              <dgm:constr type="h" refType="w" fact="1000"/>
              <dgm:constr type="l" for="ch" forName="parTx"/>
              <dgm:constr type="w" for="ch" forName="parTx" refType="w" fact="0.83"/>
              <dgm:constr type="t" for="ch" forName="parTx"/>
              <dgm:constr type="l" for="ch" forName="parSh"/>
              <dgm:constr type="w" for="ch" forName="parSh" refType="w" refFor="ch" refForName="parTx"/>
              <dgm:constr type="t" for="ch" forName="parSh"/>
              <dgm:constr type="l" for="ch" forName="desTx" refType="w" fact="0.17"/>
              <dgm:constr type="w" for="ch" forName="desTx" refType="w" refFor="ch" refForName="parTx"/>
              <dgm:constr type="t" for="ch" forName="desTx" refType="h" refFor="ch" refForName="parTx"/>
            </dgm:constrLst>
          </dgm:if>
          <dgm:else name="Name6">
            <dgm:constrLst>
              <dgm:constr type="h" refType="w" fact="1000"/>
              <dgm:constr type="l" for="ch" forName="parTx" refType="w" fact="0.17"/>
              <dgm:constr type="w" for="ch" forName="parTx" refType="w" fact="0.83"/>
              <dgm:constr type="t" for="ch" forName="parTx"/>
              <dgm:constr type="l" for="ch" forName="parSh" refType="w" fact="0.15"/>
              <dgm:constr type="w" for="ch" forName="parSh" refType="w" refFor="ch" refForName="parTx"/>
              <dgm:constr type="t" for="ch" forName="parSh"/>
              <dgm:constr type="l" for="ch" forName="desTx"/>
              <dgm:constr type="w" for="ch" forName="desTx" refType="w" refFor="ch" refForName="parTx"/>
              <dgm:constr type="t" for="ch" forName="desTx" refType="h" refFor="ch" refForName="parTx"/>
            </dgm:constrLst>
          </dgm:else>
        </dgm:choose>
        <dgm:ruleLst>
          <dgm:rule type="h" val="INF" fact="NaN" max="NaN"/>
        </dgm:ruleLst>
        <dgm:layoutNode name="parTx">
          <dgm:varLst>
            <dgm:chMax val="0"/>
            <dgm:chPref val="0"/>
            <dgm:bulletEnabled val="1"/>
          </dgm:varLst>
          <dgm:alg type="tx">
            <dgm:param type="parTxLTRAlign" val="l"/>
            <dgm:param type="parTxRTLAlign" val="r"/>
            <dgm:param type="txAnchorVert" val="t"/>
          </dgm:alg>
          <dgm:shape xmlns:r="http://schemas.openxmlformats.org/officeDocument/2006/relationships" type="rect" r:blip="" zOrderOff="1" hideGeom="1">
            <dgm:adjLst>
              <dgm:adj idx="1" val="0.1"/>
            </dgm:adjLst>
          </dgm:shape>
          <dgm:presOf axis="self" ptType="node"/>
          <dgm:constrLst>
            <dgm:constr type="h" refType="w" op="lte" fact="0.4"/>
            <dgm:constr type="bMarg" refType="primFontSz" fact="0.3"/>
            <dgm:constr type="h"/>
          </dgm:constrLst>
          <dgm:ruleLst>
            <dgm:rule type="h" val="INF" fact="NaN" max="NaN"/>
          </dgm:ruleLst>
        </dgm:layoutNode>
        <dgm:layoutNode name="parSh">
          <dgm:alg type="sp"/>
          <dgm:shape xmlns:r="http://schemas.openxmlformats.org/officeDocument/2006/relationships" type="roundRect" r:blip="">
            <dgm:adjLst>
              <dgm:adj idx="1" val="0.1"/>
            </dgm:adjLst>
          </dgm:shape>
          <dgm:presOf axis="self" ptType="node"/>
          <dgm:constrLst>
            <dgm:constr type="h"/>
          </dgm:constrLst>
          <dgm:ruleLst/>
        </dgm:layoutNode>
        <dgm:layoutNode name="desTx" styleLbl="fgAcc1">
          <dgm:varLst>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secFontSz" val="65"/>
            <dgm:constr type="primFontSz" refType="secFontSz"/>
            <dgm:constr type="h"/>
          </dgm:constrLst>
          <dgm:ruleLst>
            <dgm:rule type="h" val="INF" fact="NaN" max="NaN"/>
          </dgm:ruleLst>
        </dgm:layoutNode>
      </dgm:layoutNode>
      <dgm:forEach name="sibTransForEach" axis="followSib" ptType="sibTrans" cnt="1">
        <dgm:layoutNode name="sibTrans">
          <dgm:alg type="conn">
            <dgm:param type="begPts" val="auto"/>
            <dgm:param type="endPts" val="auto"/>
            <dgm:param type="srcNode" val="parTx"/>
            <dgm:param type="dstNode" val="parTx"/>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Tx">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process3">
  <dgm:title val=""/>
  <dgm:desc val=""/>
  <dgm:catLst>
    <dgm:cat type="process" pri="2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3" destOrd="0"/>
        <dgm:cxn modelId="12" srcId="1" destId="11" srcOrd="0" destOrd="0"/>
        <dgm:cxn modelId="23" srcId="2" destId="21" srcOrd="0" destOrd="0"/>
        <dgm:cxn modelId="34" srcId="3" destId="31" srcOrd="0" destOrd="0"/>
      </dgm:cxnLst>
      <dgm:bg/>
      <dgm:whole/>
    </dgm:dataModel>
  </dgm:sampData>
  <dgm:style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osite" refType="w"/>
      <dgm:constr type="w" for="ch" ptType="sibTrans" refType="w" refFor="ch" refForName="composite" fact="0.3333"/>
      <dgm:constr type="w" for="des" forName="parTx"/>
      <dgm:constr type="h" for="des" forName="parTx" op="equ"/>
      <dgm:constr type="h" for="des" forName="parSh" op="equ"/>
      <dgm:constr type="w" for="des" forName="desTx"/>
      <dgm:constr type="h" for="des" forName="desTx" op="equ"/>
      <dgm:constr type="w" for="des" forName="parSh"/>
      <dgm:constr type="primFontSz" for="des" forName="parTx" val="65"/>
      <dgm:constr type="secFontSz" for="des" forName="desTx" refType="primFontSz" refFor="des" refForName="parTx" op="equ"/>
      <dgm:constr type="primFontSz" for="des" forName="connTx" refType="primFontSz" refFor="des" refForName="parTx" fact="0.8"/>
      <dgm:constr type="primFontSz" for="des" forName="connTx" refType="primFontSz" refFor="des" refForName="parTx" op="lte" fact="0.8"/>
      <dgm:constr type="h" for="des" forName="parTx" refType="primFontSz" refFor="des" refForName="parTx" fact="0.8"/>
      <dgm:constr type="h" for="des" forName="parSh" refType="primFontSz" refFor="des" refForName="parTx" fact="1.2"/>
      <dgm:constr type="h" for="des" forName="desTx" refType="primFontSz" refFor="des" refForName="parTx" fact="1.6"/>
      <dgm:constr type="h" for="des" forName="parSh" refType="h" refFor="des" refForName="parTx" op="lte" fact="1.5"/>
      <dgm:constr type="h" for="des" forName="parSh" refType="h" refFor="des" refForName="parTx" op="gte" fact="1.5"/>
    </dgm:constrLst>
    <dgm:ruleLst>
      <dgm:rule type="w" for="ch" forName="composite" val="0" fact="NaN" max="NaN"/>
      <dgm:rule type="primFontSz" for="des" forName="parTx" val="5" fact="NaN" max="NaN"/>
    </dgm:ruleLst>
    <dgm:forEach name="Name3" axis="ch" ptType="node">
      <dgm:layoutNode name="composite">
        <dgm:alg type="composite"/>
        <dgm:shape xmlns:r="http://schemas.openxmlformats.org/officeDocument/2006/relationships" r:blip="">
          <dgm:adjLst/>
        </dgm:shape>
        <dgm:presOf/>
        <dgm:choose name="Name4">
          <dgm:if name="Name5" func="var" arg="dir" op="equ" val="norm">
            <dgm:constrLst>
              <dgm:constr type="h" refType="w" fact="1000"/>
              <dgm:constr type="l" for="ch" forName="parTx"/>
              <dgm:constr type="w" for="ch" forName="parTx" refType="w" fact="0.83"/>
              <dgm:constr type="t" for="ch" forName="parTx"/>
              <dgm:constr type="l" for="ch" forName="parSh"/>
              <dgm:constr type="w" for="ch" forName="parSh" refType="w" refFor="ch" refForName="parTx"/>
              <dgm:constr type="t" for="ch" forName="parSh"/>
              <dgm:constr type="l" for="ch" forName="desTx" refType="w" fact="0.17"/>
              <dgm:constr type="w" for="ch" forName="desTx" refType="w" refFor="ch" refForName="parTx"/>
              <dgm:constr type="t" for="ch" forName="desTx" refType="h" refFor="ch" refForName="parTx"/>
            </dgm:constrLst>
          </dgm:if>
          <dgm:else name="Name6">
            <dgm:constrLst>
              <dgm:constr type="h" refType="w" fact="1000"/>
              <dgm:constr type="l" for="ch" forName="parTx" refType="w" fact="0.17"/>
              <dgm:constr type="w" for="ch" forName="parTx" refType="w" fact="0.83"/>
              <dgm:constr type="t" for="ch" forName="parTx"/>
              <dgm:constr type="l" for="ch" forName="parSh" refType="w" fact="0.15"/>
              <dgm:constr type="w" for="ch" forName="parSh" refType="w" refFor="ch" refForName="parTx"/>
              <dgm:constr type="t" for="ch" forName="parSh"/>
              <dgm:constr type="l" for="ch" forName="desTx"/>
              <dgm:constr type="w" for="ch" forName="desTx" refType="w" refFor="ch" refForName="parTx"/>
              <dgm:constr type="t" for="ch" forName="desTx" refType="h" refFor="ch" refForName="parTx"/>
            </dgm:constrLst>
          </dgm:else>
        </dgm:choose>
        <dgm:ruleLst>
          <dgm:rule type="h" val="INF" fact="NaN" max="NaN"/>
        </dgm:ruleLst>
        <dgm:layoutNode name="parTx">
          <dgm:varLst>
            <dgm:chMax val="0"/>
            <dgm:chPref val="0"/>
            <dgm:bulletEnabled val="1"/>
          </dgm:varLst>
          <dgm:alg type="tx">
            <dgm:param type="parTxLTRAlign" val="l"/>
            <dgm:param type="parTxRTLAlign" val="r"/>
            <dgm:param type="txAnchorVert" val="t"/>
          </dgm:alg>
          <dgm:shape xmlns:r="http://schemas.openxmlformats.org/officeDocument/2006/relationships" type="rect" r:blip="" zOrderOff="1" hideGeom="1">
            <dgm:adjLst>
              <dgm:adj idx="1" val="0.1"/>
            </dgm:adjLst>
          </dgm:shape>
          <dgm:presOf axis="self" ptType="node"/>
          <dgm:constrLst>
            <dgm:constr type="h" refType="w" op="lte" fact="0.4"/>
            <dgm:constr type="bMarg" refType="primFontSz" fact="0.3"/>
            <dgm:constr type="h"/>
          </dgm:constrLst>
          <dgm:ruleLst>
            <dgm:rule type="h" val="INF" fact="NaN" max="NaN"/>
          </dgm:ruleLst>
        </dgm:layoutNode>
        <dgm:layoutNode name="parSh">
          <dgm:alg type="sp"/>
          <dgm:shape xmlns:r="http://schemas.openxmlformats.org/officeDocument/2006/relationships" type="roundRect" r:blip="">
            <dgm:adjLst>
              <dgm:adj idx="1" val="0.1"/>
            </dgm:adjLst>
          </dgm:shape>
          <dgm:presOf axis="self" ptType="node"/>
          <dgm:constrLst>
            <dgm:constr type="h"/>
          </dgm:constrLst>
          <dgm:ruleLst/>
        </dgm:layoutNode>
        <dgm:layoutNode name="desTx" styleLbl="fgAcc1">
          <dgm:varLst>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secFontSz" val="65"/>
            <dgm:constr type="primFontSz" refType="secFontSz"/>
            <dgm:constr type="h"/>
          </dgm:constrLst>
          <dgm:ruleLst>
            <dgm:rule type="h" val="INF" fact="NaN" max="NaN"/>
          </dgm:ruleLst>
        </dgm:layoutNode>
      </dgm:layoutNode>
      <dgm:forEach name="sibTransForEach" axis="followSib" ptType="sibTrans" cnt="1">
        <dgm:layoutNode name="sibTrans">
          <dgm:alg type="conn">
            <dgm:param type="begPts" val="auto"/>
            <dgm:param type="endPts" val="auto"/>
            <dgm:param type="srcNode" val="parTx"/>
            <dgm:param type="dstNode" val="parTx"/>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Tx">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process3">
  <dgm:title val=""/>
  <dgm:desc val=""/>
  <dgm:catLst>
    <dgm:cat type="process" pri="2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3" destOrd="0"/>
        <dgm:cxn modelId="12" srcId="1" destId="11" srcOrd="0" destOrd="0"/>
        <dgm:cxn modelId="23" srcId="2" destId="21" srcOrd="0" destOrd="0"/>
        <dgm:cxn modelId="34" srcId="3" destId="31" srcOrd="0" destOrd="0"/>
      </dgm:cxnLst>
      <dgm:bg/>
      <dgm:whole/>
    </dgm:dataModel>
  </dgm:sampData>
  <dgm:style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osite" refType="w"/>
      <dgm:constr type="w" for="ch" ptType="sibTrans" refType="w" refFor="ch" refForName="composite" fact="0.3333"/>
      <dgm:constr type="w" for="des" forName="parTx"/>
      <dgm:constr type="h" for="des" forName="parTx" op="equ"/>
      <dgm:constr type="h" for="des" forName="parSh" op="equ"/>
      <dgm:constr type="w" for="des" forName="desTx"/>
      <dgm:constr type="h" for="des" forName="desTx" op="equ"/>
      <dgm:constr type="w" for="des" forName="parSh"/>
      <dgm:constr type="primFontSz" for="des" forName="parTx" val="65"/>
      <dgm:constr type="secFontSz" for="des" forName="desTx" refType="primFontSz" refFor="des" refForName="parTx" op="equ"/>
      <dgm:constr type="primFontSz" for="des" forName="connTx" refType="primFontSz" refFor="des" refForName="parTx" fact="0.8"/>
      <dgm:constr type="primFontSz" for="des" forName="connTx" refType="primFontSz" refFor="des" refForName="parTx" op="lte" fact="0.8"/>
      <dgm:constr type="h" for="des" forName="parTx" refType="primFontSz" refFor="des" refForName="parTx" fact="0.8"/>
      <dgm:constr type="h" for="des" forName="parSh" refType="primFontSz" refFor="des" refForName="parTx" fact="1.2"/>
      <dgm:constr type="h" for="des" forName="desTx" refType="primFontSz" refFor="des" refForName="parTx" fact="1.6"/>
      <dgm:constr type="h" for="des" forName="parSh" refType="h" refFor="des" refForName="parTx" op="lte" fact="1.5"/>
      <dgm:constr type="h" for="des" forName="parSh" refType="h" refFor="des" refForName="parTx" op="gte" fact="1.5"/>
    </dgm:constrLst>
    <dgm:ruleLst>
      <dgm:rule type="w" for="ch" forName="composite" val="0" fact="NaN" max="NaN"/>
      <dgm:rule type="primFontSz" for="des" forName="parTx" val="5" fact="NaN" max="NaN"/>
    </dgm:ruleLst>
    <dgm:forEach name="Name3" axis="ch" ptType="node">
      <dgm:layoutNode name="composite">
        <dgm:alg type="composite"/>
        <dgm:shape xmlns:r="http://schemas.openxmlformats.org/officeDocument/2006/relationships" r:blip="">
          <dgm:adjLst/>
        </dgm:shape>
        <dgm:presOf/>
        <dgm:choose name="Name4">
          <dgm:if name="Name5" func="var" arg="dir" op="equ" val="norm">
            <dgm:constrLst>
              <dgm:constr type="h" refType="w" fact="1000"/>
              <dgm:constr type="l" for="ch" forName="parTx"/>
              <dgm:constr type="w" for="ch" forName="parTx" refType="w" fact="0.83"/>
              <dgm:constr type="t" for="ch" forName="parTx"/>
              <dgm:constr type="l" for="ch" forName="parSh"/>
              <dgm:constr type="w" for="ch" forName="parSh" refType="w" refFor="ch" refForName="parTx"/>
              <dgm:constr type="t" for="ch" forName="parSh"/>
              <dgm:constr type="l" for="ch" forName="desTx" refType="w" fact="0.17"/>
              <dgm:constr type="w" for="ch" forName="desTx" refType="w" refFor="ch" refForName="parTx"/>
              <dgm:constr type="t" for="ch" forName="desTx" refType="h" refFor="ch" refForName="parTx"/>
            </dgm:constrLst>
          </dgm:if>
          <dgm:else name="Name6">
            <dgm:constrLst>
              <dgm:constr type="h" refType="w" fact="1000"/>
              <dgm:constr type="l" for="ch" forName="parTx" refType="w" fact="0.17"/>
              <dgm:constr type="w" for="ch" forName="parTx" refType="w" fact="0.83"/>
              <dgm:constr type="t" for="ch" forName="parTx"/>
              <dgm:constr type="l" for="ch" forName="parSh" refType="w" fact="0.15"/>
              <dgm:constr type="w" for="ch" forName="parSh" refType="w" refFor="ch" refForName="parTx"/>
              <dgm:constr type="t" for="ch" forName="parSh"/>
              <dgm:constr type="l" for="ch" forName="desTx"/>
              <dgm:constr type="w" for="ch" forName="desTx" refType="w" refFor="ch" refForName="parTx"/>
              <dgm:constr type="t" for="ch" forName="desTx" refType="h" refFor="ch" refForName="parTx"/>
            </dgm:constrLst>
          </dgm:else>
        </dgm:choose>
        <dgm:ruleLst>
          <dgm:rule type="h" val="INF" fact="NaN" max="NaN"/>
        </dgm:ruleLst>
        <dgm:layoutNode name="parTx">
          <dgm:varLst>
            <dgm:chMax val="0"/>
            <dgm:chPref val="0"/>
            <dgm:bulletEnabled val="1"/>
          </dgm:varLst>
          <dgm:alg type="tx">
            <dgm:param type="parTxLTRAlign" val="l"/>
            <dgm:param type="parTxRTLAlign" val="r"/>
            <dgm:param type="txAnchorVert" val="t"/>
          </dgm:alg>
          <dgm:shape xmlns:r="http://schemas.openxmlformats.org/officeDocument/2006/relationships" type="rect" r:blip="" zOrderOff="1" hideGeom="1">
            <dgm:adjLst>
              <dgm:adj idx="1" val="0.1"/>
            </dgm:adjLst>
          </dgm:shape>
          <dgm:presOf axis="self" ptType="node"/>
          <dgm:constrLst>
            <dgm:constr type="h" refType="w" op="lte" fact="0.4"/>
            <dgm:constr type="bMarg" refType="primFontSz" fact="0.3"/>
            <dgm:constr type="h"/>
          </dgm:constrLst>
          <dgm:ruleLst>
            <dgm:rule type="h" val="INF" fact="NaN" max="NaN"/>
          </dgm:ruleLst>
        </dgm:layoutNode>
        <dgm:layoutNode name="parSh">
          <dgm:alg type="sp"/>
          <dgm:shape xmlns:r="http://schemas.openxmlformats.org/officeDocument/2006/relationships" type="roundRect" r:blip="">
            <dgm:adjLst>
              <dgm:adj idx="1" val="0.1"/>
            </dgm:adjLst>
          </dgm:shape>
          <dgm:presOf axis="self" ptType="node"/>
          <dgm:constrLst>
            <dgm:constr type="h"/>
          </dgm:constrLst>
          <dgm:ruleLst/>
        </dgm:layoutNode>
        <dgm:layoutNode name="desTx" styleLbl="fgAcc1">
          <dgm:varLst>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secFontSz" val="65"/>
            <dgm:constr type="primFontSz" refType="secFontSz"/>
            <dgm:constr type="h"/>
          </dgm:constrLst>
          <dgm:ruleLst>
            <dgm:rule type="h" val="INF" fact="NaN" max="NaN"/>
          </dgm:ruleLst>
        </dgm:layoutNode>
      </dgm:layoutNode>
      <dgm:forEach name="sibTransForEach" axis="followSib" ptType="sibTrans" cnt="1">
        <dgm:layoutNode name="sibTrans">
          <dgm:alg type="conn">
            <dgm:param type="begPts" val="auto"/>
            <dgm:param type="endPts" val="auto"/>
            <dgm:param type="srcNode" val="parTx"/>
            <dgm:param type="dstNode" val="parTx"/>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Tx">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process3">
  <dgm:title val=""/>
  <dgm:desc val=""/>
  <dgm:catLst>
    <dgm:cat type="process" pri="2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3" destOrd="0"/>
        <dgm:cxn modelId="12" srcId="1" destId="11" srcOrd="0" destOrd="0"/>
        <dgm:cxn modelId="23" srcId="2" destId="21" srcOrd="0" destOrd="0"/>
        <dgm:cxn modelId="34" srcId="3" destId="31" srcOrd="0" destOrd="0"/>
      </dgm:cxnLst>
      <dgm:bg/>
      <dgm:whole/>
    </dgm:dataModel>
  </dgm:sampData>
  <dgm:style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osite" refType="w"/>
      <dgm:constr type="w" for="ch" ptType="sibTrans" refType="w" refFor="ch" refForName="composite" fact="0.3333"/>
      <dgm:constr type="w" for="des" forName="parTx"/>
      <dgm:constr type="h" for="des" forName="parTx" op="equ"/>
      <dgm:constr type="h" for="des" forName="parSh" op="equ"/>
      <dgm:constr type="w" for="des" forName="desTx"/>
      <dgm:constr type="h" for="des" forName="desTx" op="equ"/>
      <dgm:constr type="w" for="des" forName="parSh"/>
      <dgm:constr type="primFontSz" for="des" forName="parTx" val="65"/>
      <dgm:constr type="secFontSz" for="des" forName="desTx" refType="primFontSz" refFor="des" refForName="parTx" op="equ"/>
      <dgm:constr type="primFontSz" for="des" forName="connTx" refType="primFontSz" refFor="des" refForName="parTx" fact="0.8"/>
      <dgm:constr type="primFontSz" for="des" forName="connTx" refType="primFontSz" refFor="des" refForName="parTx" op="lte" fact="0.8"/>
      <dgm:constr type="h" for="des" forName="parTx" refType="primFontSz" refFor="des" refForName="parTx" fact="0.8"/>
      <dgm:constr type="h" for="des" forName="parSh" refType="primFontSz" refFor="des" refForName="parTx" fact="1.2"/>
      <dgm:constr type="h" for="des" forName="desTx" refType="primFontSz" refFor="des" refForName="parTx" fact="1.6"/>
      <dgm:constr type="h" for="des" forName="parSh" refType="h" refFor="des" refForName="parTx" op="lte" fact="1.5"/>
      <dgm:constr type="h" for="des" forName="parSh" refType="h" refFor="des" refForName="parTx" op="gte" fact="1.5"/>
    </dgm:constrLst>
    <dgm:ruleLst>
      <dgm:rule type="w" for="ch" forName="composite" val="0" fact="NaN" max="NaN"/>
      <dgm:rule type="primFontSz" for="des" forName="parTx" val="5" fact="NaN" max="NaN"/>
    </dgm:ruleLst>
    <dgm:forEach name="Name3" axis="ch" ptType="node">
      <dgm:layoutNode name="composite">
        <dgm:alg type="composite"/>
        <dgm:shape xmlns:r="http://schemas.openxmlformats.org/officeDocument/2006/relationships" r:blip="">
          <dgm:adjLst/>
        </dgm:shape>
        <dgm:presOf/>
        <dgm:choose name="Name4">
          <dgm:if name="Name5" func="var" arg="dir" op="equ" val="norm">
            <dgm:constrLst>
              <dgm:constr type="h" refType="w" fact="1000"/>
              <dgm:constr type="l" for="ch" forName="parTx"/>
              <dgm:constr type="w" for="ch" forName="parTx" refType="w" fact="0.83"/>
              <dgm:constr type="t" for="ch" forName="parTx"/>
              <dgm:constr type="l" for="ch" forName="parSh"/>
              <dgm:constr type="w" for="ch" forName="parSh" refType="w" refFor="ch" refForName="parTx"/>
              <dgm:constr type="t" for="ch" forName="parSh"/>
              <dgm:constr type="l" for="ch" forName="desTx" refType="w" fact="0.17"/>
              <dgm:constr type="w" for="ch" forName="desTx" refType="w" refFor="ch" refForName="parTx"/>
              <dgm:constr type="t" for="ch" forName="desTx" refType="h" refFor="ch" refForName="parTx"/>
            </dgm:constrLst>
          </dgm:if>
          <dgm:else name="Name6">
            <dgm:constrLst>
              <dgm:constr type="h" refType="w" fact="1000"/>
              <dgm:constr type="l" for="ch" forName="parTx" refType="w" fact="0.17"/>
              <dgm:constr type="w" for="ch" forName="parTx" refType="w" fact="0.83"/>
              <dgm:constr type="t" for="ch" forName="parTx"/>
              <dgm:constr type="l" for="ch" forName="parSh" refType="w" fact="0.15"/>
              <dgm:constr type="w" for="ch" forName="parSh" refType="w" refFor="ch" refForName="parTx"/>
              <dgm:constr type="t" for="ch" forName="parSh"/>
              <dgm:constr type="l" for="ch" forName="desTx"/>
              <dgm:constr type="w" for="ch" forName="desTx" refType="w" refFor="ch" refForName="parTx"/>
              <dgm:constr type="t" for="ch" forName="desTx" refType="h" refFor="ch" refForName="parTx"/>
            </dgm:constrLst>
          </dgm:else>
        </dgm:choose>
        <dgm:ruleLst>
          <dgm:rule type="h" val="INF" fact="NaN" max="NaN"/>
        </dgm:ruleLst>
        <dgm:layoutNode name="parTx">
          <dgm:varLst>
            <dgm:chMax val="0"/>
            <dgm:chPref val="0"/>
            <dgm:bulletEnabled val="1"/>
          </dgm:varLst>
          <dgm:alg type="tx">
            <dgm:param type="parTxLTRAlign" val="l"/>
            <dgm:param type="parTxRTLAlign" val="r"/>
            <dgm:param type="txAnchorVert" val="t"/>
          </dgm:alg>
          <dgm:shape xmlns:r="http://schemas.openxmlformats.org/officeDocument/2006/relationships" type="rect" r:blip="" zOrderOff="1" hideGeom="1">
            <dgm:adjLst>
              <dgm:adj idx="1" val="0.1"/>
            </dgm:adjLst>
          </dgm:shape>
          <dgm:presOf axis="self" ptType="node"/>
          <dgm:constrLst>
            <dgm:constr type="h" refType="w" op="lte" fact="0.4"/>
            <dgm:constr type="bMarg" refType="primFontSz" fact="0.3"/>
            <dgm:constr type="h"/>
          </dgm:constrLst>
          <dgm:ruleLst>
            <dgm:rule type="h" val="INF" fact="NaN" max="NaN"/>
          </dgm:ruleLst>
        </dgm:layoutNode>
        <dgm:layoutNode name="parSh">
          <dgm:alg type="sp"/>
          <dgm:shape xmlns:r="http://schemas.openxmlformats.org/officeDocument/2006/relationships" type="roundRect" r:blip="">
            <dgm:adjLst>
              <dgm:adj idx="1" val="0.1"/>
            </dgm:adjLst>
          </dgm:shape>
          <dgm:presOf axis="self" ptType="node"/>
          <dgm:constrLst>
            <dgm:constr type="h"/>
          </dgm:constrLst>
          <dgm:ruleLst/>
        </dgm:layoutNode>
        <dgm:layoutNode name="desTx" styleLbl="fgAcc1">
          <dgm:varLst>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secFontSz" val="65"/>
            <dgm:constr type="primFontSz" refType="secFontSz"/>
            <dgm:constr type="h"/>
          </dgm:constrLst>
          <dgm:ruleLst>
            <dgm:rule type="h" val="INF" fact="NaN" max="NaN"/>
          </dgm:ruleLst>
        </dgm:layoutNode>
      </dgm:layoutNode>
      <dgm:forEach name="sibTransForEach" axis="followSib" ptType="sibTrans" cnt="1">
        <dgm:layoutNode name="sibTrans">
          <dgm:alg type="conn">
            <dgm:param type="begPts" val="auto"/>
            <dgm:param type="endPts" val="auto"/>
            <dgm:param type="srcNode" val="parTx"/>
            <dgm:param type="dstNode" val="parTx"/>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Tx">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process3">
  <dgm:title val=""/>
  <dgm:desc val=""/>
  <dgm:catLst>
    <dgm:cat type="process" pri="2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3" destOrd="0"/>
        <dgm:cxn modelId="12" srcId="1" destId="11" srcOrd="0" destOrd="0"/>
        <dgm:cxn modelId="23" srcId="2" destId="21" srcOrd="0" destOrd="0"/>
        <dgm:cxn modelId="34" srcId="3" destId="31" srcOrd="0" destOrd="0"/>
      </dgm:cxnLst>
      <dgm:bg/>
      <dgm:whole/>
    </dgm:dataModel>
  </dgm:sampData>
  <dgm:style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osite" refType="w"/>
      <dgm:constr type="w" for="ch" ptType="sibTrans" refType="w" refFor="ch" refForName="composite" fact="0.3333"/>
      <dgm:constr type="w" for="des" forName="parTx"/>
      <dgm:constr type="h" for="des" forName="parTx" op="equ"/>
      <dgm:constr type="h" for="des" forName="parSh" op="equ"/>
      <dgm:constr type="w" for="des" forName="desTx"/>
      <dgm:constr type="h" for="des" forName="desTx" op="equ"/>
      <dgm:constr type="w" for="des" forName="parSh"/>
      <dgm:constr type="primFontSz" for="des" forName="parTx" val="65"/>
      <dgm:constr type="secFontSz" for="des" forName="desTx" refType="primFontSz" refFor="des" refForName="parTx" op="equ"/>
      <dgm:constr type="primFontSz" for="des" forName="connTx" refType="primFontSz" refFor="des" refForName="parTx" fact="0.8"/>
      <dgm:constr type="primFontSz" for="des" forName="connTx" refType="primFontSz" refFor="des" refForName="parTx" op="lte" fact="0.8"/>
      <dgm:constr type="h" for="des" forName="parTx" refType="primFontSz" refFor="des" refForName="parTx" fact="0.8"/>
      <dgm:constr type="h" for="des" forName="parSh" refType="primFontSz" refFor="des" refForName="parTx" fact="1.2"/>
      <dgm:constr type="h" for="des" forName="desTx" refType="primFontSz" refFor="des" refForName="parTx" fact="1.6"/>
      <dgm:constr type="h" for="des" forName="parSh" refType="h" refFor="des" refForName="parTx" op="lte" fact="1.5"/>
      <dgm:constr type="h" for="des" forName="parSh" refType="h" refFor="des" refForName="parTx" op="gte" fact="1.5"/>
    </dgm:constrLst>
    <dgm:ruleLst>
      <dgm:rule type="w" for="ch" forName="composite" val="0" fact="NaN" max="NaN"/>
      <dgm:rule type="primFontSz" for="des" forName="parTx" val="5" fact="NaN" max="NaN"/>
    </dgm:ruleLst>
    <dgm:forEach name="Name3" axis="ch" ptType="node">
      <dgm:layoutNode name="composite">
        <dgm:alg type="composite"/>
        <dgm:shape xmlns:r="http://schemas.openxmlformats.org/officeDocument/2006/relationships" r:blip="">
          <dgm:adjLst/>
        </dgm:shape>
        <dgm:presOf/>
        <dgm:choose name="Name4">
          <dgm:if name="Name5" func="var" arg="dir" op="equ" val="norm">
            <dgm:constrLst>
              <dgm:constr type="h" refType="w" fact="1000"/>
              <dgm:constr type="l" for="ch" forName="parTx"/>
              <dgm:constr type="w" for="ch" forName="parTx" refType="w" fact="0.83"/>
              <dgm:constr type="t" for="ch" forName="parTx"/>
              <dgm:constr type="l" for="ch" forName="parSh"/>
              <dgm:constr type="w" for="ch" forName="parSh" refType="w" refFor="ch" refForName="parTx"/>
              <dgm:constr type="t" for="ch" forName="parSh"/>
              <dgm:constr type="l" for="ch" forName="desTx" refType="w" fact="0.17"/>
              <dgm:constr type="w" for="ch" forName="desTx" refType="w" refFor="ch" refForName="parTx"/>
              <dgm:constr type="t" for="ch" forName="desTx" refType="h" refFor="ch" refForName="parTx"/>
            </dgm:constrLst>
          </dgm:if>
          <dgm:else name="Name6">
            <dgm:constrLst>
              <dgm:constr type="h" refType="w" fact="1000"/>
              <dgm:constr type="l" for="ch" forName="parTx" refType="w" fact="0.17"/>
              <dgm:constr type="w" for="ch" forName="parTx" refType="w" fact="0.83"/>
              <dgm:constr type="t" for="ch" forName="parTx"/>
              <dgm:constr type="l" for="ch" forName="parSh" refType="w" fact="0.15"/>
              <dgm:constr type="w" for="ch" forName="parSh" refType="w" refFor="ch" refForName="parTx"/>
              <dgm:constr type="t" for="ch" forName="parSh"/>
              <dgm:constr type="l" for="ch" forName="desTx"/>
              <dgm:constr type="w" for="ch" forName="desTx" refType="w" refFor="ch" refForName="parTx"/>
              <dgm:constr type="t" for="ch" forName="desTx" refType="h" refFor="ch" refForName="parTx"/>
            </dgm:constrLst>
          </dgm:else>
        </dgm:choose>
        <dgm:ruleLst>
          <dgm:rule type="h" val="INF" fact="NaN" max="NaN"/>
        </dgm:ruleLst>
        <dgm:layoutNode name="parTx">
          <dgm:varLst>
            <dgm:chMax val="0"/>
            <dgm:chPref val="0"/>
            <dgm:bulletEnabled val="1"/>
          </dgm:varLst>
          <dgm:alg type="tx">
            <dgm:param type="parTxLTRAlign" val="l"/>
            <dgm:param type="parTxRTLAlign" val="r"/>
            <dgm:param type="txAnchorVert" val="t"/>
          </dgm:alg>
          <dgm:shape xmlns:r="http://schemas.openxmlformats.org/officeDocument/2006/relationships" type="rect" r:blip="" zOrderOff="1" hideGeom="1">
            <dgm:adjLst>
              <dgm:adj idx="1" val="0.1"/>
            </dgm:adjLst>
          </dgm:shape>
          <dgm:presOf axis="self" ptType="node"/>
          <dgm:constrLst>
            <dgm:constr type="h" refType="w" op="lte" fact="0.4"/>
            <dgm:constr type="bMarg" refType="primFontSz" fact="0.3"/>
            <dgm:constr type="h"/>
          </dgm:constrLst>
          <dgm:ruleLst>
            <dgm:rule type="h" val="INF" fact="NaN" max="NaN"/>
          </dgm:ruleLst>
        </dgm:layoutNode>
        <dgm:layoutNode name="parSh">
          <dgm:alg type="sp"/>
          <dgm:shape xmlns:r="http://schemas.openxmlformats.org/officeDocument/2006/relationships" type="roundRect" r:blip="">
            <dgm:adjLst>
              <dgm:adj idx="1" val="0.1"/>
            </dgm:adjLst>
          </dgm:shape>
          <dgm:presOf axis="self" ptType="node"/>
          <dgm:constrLst>
            <dgm:constr type="h"/>
          </dgm:constrLst>
          <dgm:ruleLst/>
        </dgm:layoutNode>
        <dgm:layoutNode name="desTx" styleLbl="fgAcc1">
          <dgm:varLst>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secFontSz" val="65"/>
            <dgm:constr type="primFontSz" refType="secFontSz"/>
            <dgm:constr type="h"/>
          </dgm:constrLst>
          <dgm:ruleLst>
            <dgm:rule type="h" val="INF" fact="NaN" max="NaN"/>
          </dgm:ruleLst>
        </dgm:layoutNode>
      </dgm:layoutNode>
      <dgm:forEach name="sibTransForEach" axis="followSib" ptType="sibTrans" cnt="1">
        <dgm:layoutNode name="sibTrans">
          <dgm:alg type="conn">
            <dgm:param type="begPts" val="auto"/>
            <dgm:param type="endPts" val="auto"/>
            <dgm:param type="srcNode" val="parTx"/>
            <dgm:param type="dstNode" val="parTx"/>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Tx">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xml><?xml version="1.0" encoding="utf-8"?>
<dgm:layoutDef xmlns:dgm="http://schemas.openxmlformats.org/drawingml/2006/diagram" xmlns:a="http://schemas.openxmlformats.org/drawingml/2006/main" uniqueId="urn:microsoft.com/office/officeart/2005/8/layout/chart3">
  <dgm:title val=""/>
  <dgm:desc val=""/>
  <dgm:catLst>
    <dgm:cat type="relationship" pri="27000"/>
    <dgm:cat type="cycle" pri="8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ompositeShape">
    <dgm:varLst>
      <dgm:chMax val="7"/>
      <dgm:dir/>
      <dgm:resizeHandles val="exact"/>
    </dgm:varLst>
    <dgm:alg type="composite">
      <dgm:param type="horzAlign" val="ctr"/>
      <dgm:param type="vertAlign" val="mid"/>
      <dgm:param type="ar" val="1"/>
    </dgm:alg>
    <dgm:presOf/>
    <dgm:shape xmlns:r="http://schemas.openxmlformats.org/officeDocument/2006/relationships" r:blip="">
      <dgm:adjLst/>
    </dgm:shape>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wedge1Tx" refType="w" fact="0.205"/>
          <dgm:constr type="t" for="ch" forName="wedge1Tx" refType="h" fact="0.205"/>
          <dgm:constr type="w" for="ch" forName="wedge1Tx" refType="w" fact="0.59"/>
          <dgm:constr type="h" for="ch" forName="wedge1Tx" refType="h" fact="0.59"/>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wedge1Tx" refType="w" fact="0.52"/>
          <dgm:constr type="t" for="ch" forName="wedge1Tx" refType="h" fact="0.205"/>
          <dgm:constr type="w" for="ch" forName="wedge1Tx" refType="w" fact="0.295"/>
          <dgm:constr type="h" for="ch" forName="wedge1Tx" refType="h" fact="0.59"/>
          <dgm:constr type="l" for="ch" forName="wedge2" refType="w" fact="0.08"/>
          <dgm:constr type="t" for="ch" forName="wedge2" refType="w" fact="0.08"/>
          <dgm:constr type="w" for="ch" forName="wedge2" refType="w" fact="0.84"/>
          <dgm:constr type="h" for="ch" forName="wedge2" refType="h" fact="0.84"/>
          <dgm:constr type="l" for="ch" forName="wedge2Tx" refType="w" fact="0.2"/>
          <dgm:constr type="t" for="ch" forName="wedge2Tx" refType="h" fact="0.205"/>
          <dgm:constr type="w" for="ch" forName="wedge2Tx" refType="w" fact="0.295"/>
          <dgm:constr type="h" for="ch" forName="wedge2Tx" refType="h" fact="0.59"/>
          <dgm:constr type="primFontSz" for="ch" ptType="node" op="equ"/>
        </dgm:constrLst>
      </dgm:if>
      <dgm:if name="Name3" axis="ch" ptType="node" func="cnt" op="equ" val="3">
        <dgm:choose name="Name4">
          <dgm:if name="Name5" func="var" arg="dir" op="equ" val="norm">
            <dgm:constrLst>
              <dgm:constr type="l" for="ch" forName="wedge1" refType="w" fact="0.1233"/>
              <dgm:constr type="t" for="ch" forName="wedge1" refType="w" fact="0.055"/>
              <dgm:constr type="w" for="ch" forName="wedge1" refType="w" fact="0.84"/>
              <dgm:constr type="h" for="ch" forName="wedge1" refType="h" fact="0.84"/>
              <dgm:constr type="l" for="ch" forName="wedge1Tx" refType="w" fact="0.58"/>
              <dgm:constr type="t" for="ch" forName="wedge1Tx" refType="h" fact="0.21"/>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8"/>
              <dgm:constr type="t" for="ch" forName="wedge3" refType="w" fact="0.08"/>
              <dgm:constr type="w" for="ch" forName="wedge3" refType="w" fact="0.84"/>
              <dgm:constr type="h" for="ch" forName="wedge3" refType="h" fact="0.84"/>
              <dgm:constr type="l" for="ch" forName="wedge3Tx" refType="w" fact="0.17"/>
              <dgm:constr type="t" for="ch" forName="wedge3Tx" refType="h" fact="0.245"/>
              <dgm:constr type="w" for="ch" forName="wedge3Tx" refType="w" fact="0.285"/>
              <dgm:constr type="h" for="ch" forName="wedge3Tx" refType="h" fact="0.28"/>
              <dgm:constr type="primFontSz" for="ch" ptType="node" op="equ"/>
            </dgm:constrLst>
          </dgm:if>
          <dgm:else name="Name6">
            <dgm:constrLst>
              <dgm:constr type="l" for="ch" forName="wedge1" refType="w" fact="0.08"/>
              <dgm:constr type="t" for="ch" forName="wedge1" refType="w" fact="0.08"/>
              <dgm:constr type="w" for="ch" forName="wedge1" refType="w" fact="0.84"/>
              <dgm:constr type="h" for="ch" forName="wedge1" refType="h" fact="0.84"/>
              <dgm:constr type="l" for="ch" forName="wedge1Tx" refType="w" fact="0.545"/>
              <dgm:constr type="t" for="ch" forName="wedge1Tx" refType="h" fact="0.245"/>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367"/>
              <dgm:constr type="t" for="ch" forName="wedge3" refType="w" fact="0.055"/>
              <dgm:constr type="w" for="ch" forName="wedge3" refType="w" fact="0.84"/>
              <dgm:constr type="h" for="ch" forName="wedge3" refType="h" fact="0.84"/>
              <dgm:constr type="l" for="ch" forName="wedge3Tx" refType="w" fact="0.14"/>
              <dgm:constr type="t" for="ch" forName="wedge3Tx" refType="h" fact="0.21"/>
              <dgm:constr type="w" for="ch" forName="wedge3Tx" refType="w" fact="0.285"/>
              <dgm:constr type="h" for="ch" forName="wedge3Tx" refType="h" fact="0.28"/>
              <dgm:constr type="primFontSz" for="ch" ptType="node" op="equ"/>
            </dgm:constrLst>
          </dgm:else>
        </dgm:choose>
      </dgm:if>
      <dgm:if name="Name7" axis="ch" ptType="node" func="cnt" op="equ" val="4">
        <dgm:choose name="Name8">
          <dgm:if name="Name9" func="var" arg="dir" op="equ" val="norm">
            <dgm:constrLst>
              <dgm:constr type="l" for="ch" forName="wedge1" refType="w" fact="0.1154"/>
              <dgm:constr type="t" for="ch" forName="wedge1" refType="w" fact="0.0446"/>
              <dgm:constr type="w" for="ch" forName="wedge1" refType="w" fact="0.84"/>
              <dgm:constr type="h" for="ch" forName="wedge1" refType="h" fact="0.84"/>
              <dgm:constr type="l" for="ch" forName="wedge1Tx" refType="w" fact="0.545"/>
              <dgm:constr type="t" for="ch" forName="wedge1Tx" refType="h" fact="0.2"/>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8"/>
              <dgm:constr type="t" for="ch" forName="wedge4" refType="h" fact="0.08"/>
              <dgm:constr type="w" for="ch" forName="wedge4" refType="w" fact="0.84"/>
              <dgm:constr type="h" for="ch" forName="wedge4" refType="h" fact="0.84"/>
              <dgm:constr type="l" for="ch" forName="wedge4Tx" refType="w" fact="0.175"/>
              <dgm:constr type="t" for="ch" forName="wedge4Tx" refType="h" fact="0.235"/>
              <dgm:constr type="w" for="ch" forName="wedge4Tx" refType="w" fact="0.31"/>
              <dgm:constr type="h" for="ch" forName="wedge4Tx" refType="h" fact="0.25"/>
              <dgm:constr type="primFontSz" for="ch" ptType="node" op="equ"/>
            </dgm:constrLst>
          </dgm:if>
          <dgm:else name="Name10">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5"/>
              <dgm:constr type="t" for="ch" forName="wedge1Tx" refType="h" fact="0.235"/>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446"/>
              <dgm:constr type="t" for="ch" forName="wedge4" refType="h" fact="0.0446"/>
              <dgm:constr type="w" for="ch" forName="wedge4" refType="w" fact="0.84"/>
              <dgm:constr type="h" for="ch" forName="wedge4" refType="h" fact="0.84"/>
              <dgm:constr type="l" for="ch" forName="wedge4Tx" refType="w" fact="0.145"/>
              <dgm:constr type="t" for="ch" forName="wedge4Tx" refType="h" fact="0.2"/>
              <dgm:constr type="w" for="ch" forName="wedge4Tx" refType="w" fact="0.31"/>
              <dgm:constr type="h" for="ch" forName="wedge4Tx" refType="h" fact="0.25"/>
              <dgm:constr type="primFontSz" for="ch" ptType="node" op="equ"/>
            </dgm:constrLst>
          </dgm:else>
        </dgm:choose>
      </dgm:if>
      <dgm:if name="Name11" axis="ch" ptType="node" func="cnt" op="equ" val="5">
        <dgm:choose name="Name12">
          <dgm:if name="Name13" func="var" arg="dir" op="equ" val="norm">
            <dgm:constrLst>
              <dgm:constr type="l" for="ch" forName="wedge1" refType="w" fact="0.1094"/>
              <dgm:constr type="t" for="ch" forName="wedge1" refType="w" fact="0.0395"/>
              <dgm:constr type="w" for="ch" forName="wedge1" refType="w" fact="0.84"/>
              <dgm:constr type="h" for="ch" forName="wedge1" refType="h" fact="0.84"/>
              <dgm:constr type="l" for="ch" forName="wedge1Tx" refType="w" fact="0.54"/>
              <dgm:constr type="t" for="ch" forName="wedge1Tx" refType="h" fact="0.165"/>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8"/>
              <dgm:constr type="t" for="ch" forName="wedge5" refType="h" fact="0.08"/>
              <dgm:constr type="w" for="ch" forName="wedge5" refType="w" fact="0.84"/>
              <dgm:constr type="h" for="ch" forName="wedge5" refType="h" fact="0.84"/>
              <dgm:constr type="l" for="ch" forName="wedge5Tx" refType="w" fact="0.2025"/>
              <dgm:constr type="t" for="ch" forName="wedge5Tx" refType="h" fact="0.208"/>
              <dgm:constr type="w" for="ch" forName="wedge5Tx" refType="w" fact="0.285"/>
              <dgm:constr type="h" for="ch" forName="wedge5Tx" refType="h" fact="0.195"/>
              <dgm:constr type="primFontSz" for="ch" ptType="node" op="equ"/>
            </dgm:constrLst>
          </dgm:if>
          <dgm:else name="Name14">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
              <dgm:constr type="t" for="ch" forName="wedge1Tx" refType="h" fact="0.208"/>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506"/>
              <dgm:constr type="t" for="ch" forName="wedge5" refType="h" fact="0.0395"/>
              <dgm:constr type="w" for="ch" forName="wedge5" refType="w" fact="0.84"/>
              <dgm:constr type="h" for="ch" forName="wedge5" refType="h" fact="0.84"/>
              <dgm:constr type="l" for="ch" forName="wedge5Tx" refType="w" fact="0.18"/>
              <dgm:constr type="t" for="ch" forName="wedge5Tx" refType="h" fact="0.165"/>
              <dgm:constr type="w" for="ch" forName="wedge5Tx" refType="w" fact="0.285"/>
              <dgm:constr type="h" for="ch" forName="wedge5Tx" refType="h" fact="0.195"/>
              <dgm:constr type="primFontSz" for="ch" ptType="node" op="equ"/>
            </dgm:constrLst>
          </dgm:else>
        </dgm:choose>
      </dgm:if>
      <dgm:if name="Name15" axis="ch" ptType="node" func="cnt" op="equ" val="6">
        <dgm:choose name="Name16">
          <dgm:if name="Name17" func="var" arg="dir" op="equ" val="norm">
            <dgm:constrLst>
              <dgm:constr type="l" for="ch" forName="wedge1" refType="w" fact="0.105"/>
              <dgm:constr type="t" for="ch" forName="wedge1" refType="w" fact="0.0367"/>
              <dgm:constr type="w" for="ch" forName="wedge1" refType="w" fact="0.84"/>
              <dgm:constr type="h" for="ch" forName="wedge1" refType="h" fact="0.84"/>
              <dgm:constr type="l" for="ch" forName="wedge1Tx" refType="w" fact="0.534"/>
              <dgm:constr type="t" for="ch" forName="wedge1Tx" refType="h" fact="0.126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8"/>
              <dgm:constr type="t" for="ch" forName="wedge6" refType="h" fact="0.08"/>
              <dgm:constr type="w" for="ch" forName="wedge6" refType="w" fact="0.84"/>
              <dgm:constr type="h" for="ch" forName="wedge6" refType="h" fact="0.84"/>
              <dgm:constr type="l" for="ch" forName="wedge6Tx" refType="w" fact="0.246"/>
              <dgm:constr type="t" for="ch" forName="wedge6Tx" refType="h" fact="0.17"/>
              <dgm:constr type="w" for="ch" forName="wedge6Tx" refType="w" fact="0.245"/>
              <dgm:constr type="h" for="ch" forName="wedge6Tx" refType="h" fact="0.18"/>
              <dgm:constr type="primFontSz" for="ch" ptType="node" op="equ"/>
            </dgm:constrLst>
          </dgm:if>
          <dgm:else name="Name18">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9"/>
              <dgm:constr type="t" for="ch" forName="wedge1Tx" refType="h" fact="0.1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55"/>
              <dgm:constr type="t" for="ch" forName="wedge6" refType="h" fact="0.0367"/>
              <dgm:constr type="w" for="ch" forName="wedge6" refType="w" fact="0.84"/>
              <dgm:constr type="h" for="ch" forName="wedge6" refType="h" fact="0.84"/>
              <dgm:constr type="l" for="ch" forName="wedge6Tx" refType="w" fact="0.221"/>
              <dgm:constr type="t" for="ch" forName="wedge6Tx" refType="h" fact="0.1267"/>
              <dgm:constr type="w" for="ch" forName="wedge6Tx" refType="w" fact="0.245"/>
              <dgm:constr type="h" for="ch" forName="wedge6Tx" refType="h" fact="0.18"/>
              <dgm:constr type="primFontSz" for="ch" ptType="node" op="equ"/>
            </dgm:constrLst>
          </dgm:else>
        </dgm:choose>
      </dgm:if>
      <dgm:else name="Name19">
        <dgm:choose name="Name20">
          <dgm:if name="Name21" func="var" arg="dir" op="equ" val="norm">
            <dgm:constrLst>
              <dgm:constr type="l" for="ch" forName="wedge1" refType="w" fact="0.1017"/>
              <dgm:constr type="t" for="ch" forName="wedge1" refType="w" fact="0.035"/>
              <dgm:constr type="w" for="ch" forName="wedge1" refType="w" fact="0.84"/>
              <dgm:constr type="h" for="ch" forName="wedge1" refType="h" fact="0.84"/>
              <dgm:constr type="l" for="ch" forName="wedge1Tx" refType="w" fact="0.53"/>
              <dgm:constr type="t" for="ch" forName="wedge1Tx" refType="h" fact="0.115"/>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8"/>
              <dgm:constr type="t" for="ch" forName="wedge7" refType="h" fact="0.08"/>
              <dgm:constr type="w" for="ch" forName="wedge7" refType="w" fact="0.84"/>
              <dgm:constr type="h" for="ch" forName="wedge7" refType="h" fact="0.84"/>
              <dgm:constr type="l" for="ch" forName="wedge7Tx" refType="w" fact="0.262"/>
              <dgm:constr type="t" for="ch" forName="wedge7Tx" refType="h" fact="0.16"/>
              <dgm:constr type="w" for="ch" forName="wedge7Tx" refType="w" fact="0.23"/>
              <dgm:constr type="h" for="ch" forName="wedge7Tx" refType="h" fact="0.145"/>
              <dgm:constr type="primFontSz" for="ch" ptType="node" op="equ"/>
            </dgm:constrLst>
          </dgm:if>
          <dgm:else name="Name22">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8"/>
              <dgm:constr type="t" for="ch" forName="wedge1Tx" refType="h" fact="0.16"/>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583"/>
              <dgm:constr type="t" for="ch" forName="wedge7" refType="h" fact="0.035"/>
              <dgm:constr type="w" for="ch" forName="wedge7" refType="w" fact="0.84"/>
              <dgm:constr type="h" for="ch" forName="wedge7" refType="h" fact="0.84"/>
              <dgm:constr type="l" for="ch" forName="wedge7Tx" refType="w" fact="0.2403"/>
              <dgm:constr type="t" for="ch" forName="wedge7Tx" refType="h" fact="0.115"/>
              <dgm:constr type="w" for="ch" forName="wedge7Tx" refType="w" fact="0.23"/>
              <dgm:constr type="h" for="ch" forName="wedge7Tx" refType="h" fact="0.145"/>
              <dgm:constr type="primFontSz" for="ch" ptType="node" op="equ"/>
            </dgm:constrLst>
          </dgm:else>
        </dgm:choose>
      </dgm:else>
    </dgm:choose>
    <dgm:ruleLst/>
    <dgm:choose name="Name23">
      <dgm:if name="Name24" axis="ch" ptType="node" func="cnt" op="gte" val="1">
        <dgm:layoutNode name="wedge1">
          <dgm:alg type="sp"/>
          <dgm:choose name="Name25">
            <dgm:if name="Name26" axis="ch" ptType="node" func="cnt" op="equ" val="1">
              <dgm:shape xmlns:r="http://schemas.openxmlformats.org/officeDocument/2006/relationships" type="ellipse" r:blip="">
                <dgm:adjLst/>
              </dgm:shape>
            </dgm:if>
            <dgm:if name="Name27" axis="ch" ptType="node" func="cnt" op="equ" val="2">
              <dgm:shape xmlns:r="http://schemas.openxmlformats.org/officeDocument/2006/relationships" type="pie" r:blip="">
                <dgm:adjLst>
                  <dgm:adj idx="1" val="270"/>
                  <dgm:adj idx="2" val="90"/>
                </dgm:adjLst>
              </dgm:shape>
            </dgm:if>
            <dgm:if name="Name28" axis="ch" ptType="node" func="cnt" op="equ" val="3">
              <dgm:shape xmlns:r="http://schemas.openxmlformats.org/officeDocument/2006/relationships" type="pie" r:blip="">
                <dgm:adjLst>
                  <dgm:adj idx="1" val="270"/>
                  <dgm:adj idx="2" val="30"/>
                </dgm:adjLst>
              </dgm:shape>
            </dgm:if>
            <dgm:if name="Name29" axis="ch" ptType="node" func="cnt" op="equ" val="4">
              <dgm:shape xmlns:r="http://schemas.openxmlformats.org/officeDocument/2006/relationships" type="pie" r:blip="">
                <dgm:adjLst>
                  <dgm:adj idx="1" val="270"/>
                  <dgm:adj idx="2" val="0"/>
                </dgm:adjLst>
              </dgm:shape>
            </dgm:if>
            <dgm:if name="Name30" axis="ch" ptType="node" func="cnt" op="equ" val="5">
              <dgm:shape xmlns:r="http://schemas.openxmlformats.org/officeDocument/2006/relationships" type="pie" r:blip="">
                <dgm:adjLst>
                  <dgm:adj idx="1" val="270"/>
                  <dgm:adj idx="2" val="342"/>
                </dgm:adjLst>
              </dgm:shape>
            </dgm:if>
            <dgm:if name="Name31" axis="ch" ptType="node" func="cnt" op="equ" val="6">
              <dgm:shape xmlns:r="http://schemas.openxmlformats.org/officeDocument/2006/relationships" type="pie" r:blip="">
                <dgm:adjLst>
                  <dgm:adj idx="1" val="270"/>
                  <dgm:adj idx="2" val="330"/>
                </dgm:adjLst>
              </dgm:shape>
            </dgm:if>
            <dgm:else name="Name32">
              <dgm:shape xmlns:r="http://schemas.openxmlformats.org/officeDocument/2006/relationships" type="pie" r:blip="">
                <dgm:adjLst>
                  <dgm:adj idx="1" val="270"/>
                  <dgm:adj idx="2" val="321.4286"/>
                </dgm:adjLst>
              </dgm:shape>
            </dgm:else>
          </dgm:choose>
          <dgm:choose name="Name33">
            <dgm:if name="Name34" func="var" arg="dir" op="equ" val="norm">
              <dgm:presOf axis="ch desOrSelf" ptType="node node" st="1 1" cnt="1 0"/>
            </dgm:if>
            <dgm:else name="Name35">
              <dgm:choose name="Name36">
                <dgm:if name="Name37" axis="ch" ptType="node" func="cnt" op="equ" val="1">
                  <dgm:presOf axis="ch desOrSelf" ptType="node node" st="1 1" cnt="1 0"/>
                </dgm:if>
                <dgm:if name="Name38" axis="ch" ptType="node" func="cnt" op="equ" val="2">
                  <dgm:presOf axis="ch desOrSelf" ptType="node node" st="2 1" cnt="1 0"/>
                </dgm:if>
                <dgm:if name="Name39" axis="ch" ptType="node" func="cnt" op="equ" val="3">
                  <dgm:presOf axis="ch desOrSelf" ptType="node node" st="3 1" cnt="1 0"/>
                </dgm:if>
                <dgm:if name="Name40" axis="ch" ptType="node" func="cnt" op="equ" val="4">
                  <dgm:presOf axis="ch desOrSelf" ptType="node node" st="4 1" cnt="1 0"/>
                </dgm:if>
                <dgm:if name="Name41" axis="ch" ptType="node" func="cnt" op="equ" val="5">
                  <dgm:presOf axis="ch desOrSelf" ptType="node node" st="5 1" cnt="1 0"/>
                </dgm:if>
                <dgm:if name="Name42" axis="ch" ptType="node" func="cnt" op="equ" val="6">
                  <dgm:presOf axis="ch desOrSelf" ptType="node node" st="6 1" cnt="1 0"/>
                </dgm:if>
                <dgm:else name="Name43">
                  <dgm:presOf axis="ch desOrSelf" ptType="node node" st="7 1" cnt="1 0"/>
                </dgm:else>
              </dgm:choose>
            </dgm:else>
          </dgm:choose>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44">
            <dgm:if name="Name45" func="var" arg="dir" op="equ" val="norm">
              <dgm:presOf axis="ch desOrSelf" ptType="node node" st="1 1" cnt="1 0"/>
            </dgm:if>
            <dgm:else name="Name46">
              <dgm:choose name="Name47">
                <dgm:if name="Name48" axis="ch" ptType="node" func="cnt" op="equ" val="1">
                  <dgm:presOf axis="ch desOrSelf" ptType="node node" st="1 1" cnt="1 0"/>
                </dgm:if>
                <dgm:if name="Name49" axis="ch" ptType="node" func="cnt" op="equ" val="2">
                  <dgm:presOf axis="ch desOrSelf" ptType="node node" st="2 1" cnt="1 0"/>
                </dgm:if>
                <dgm:if name="Name50" axis="ch" ptType="node" func="cnt" op="equ" val="3">
                  <dgm:presOf axis="ch desOrSelf" ptType="node node" st="3 1" cnt="1 0"/>
                </dgm:if>
                <dgm:if name="Name51" axis="ch" ptType="node" func="cnt" op="equ" val="4">
                  <dgm:presOf axis="ch desOrSelf" ptType="node node" st="4 1" cnt="1 0"/>
                </dgm:if>
                <dgm:if name="Name52" axis="ch" ptType="node" func="cnt" op="equ" val="5">
                  <dgm:presOf axis="ch desOrSelf" ptType="node node" st="5 1" cnt="1 0"/>
                </dgm:if>
                <dgm:if name="Name53" axis="ch" ptType="node" func="cnt" op="equ" val="6">
                  <dgm:presOf axis="ch desOrSelf" ptType="node node" st="6 1" cnt="1 0"/>
                </dgm:if>
                <dgm:else name="Name54">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55"/>
    </dgm:choose>
    <dgm:choose name="Name56">
      <dgm:if name="Name57" axis="ch" ptType="node" func="cnt" op="gte" val="2">
        <dgm:layoutNode name="wedge2">
          <dgm:alg type="sp"/>
          <dgm:choose name="Name58">
            <dgm:if name="Name59" axis="ch" ptType="node" func="cnt" op="equ" val="2">
              <dgm:shape xmlns:r="http://schemas.openxmlformats.org/officeDocument/2006/relationships" type="pie" r:blip="">
                <dgm:adjLst>
                  <dgm:adj idx="1" val="90"/>
                  <dgm:adj idx="2" val="270"/>
                </dgm:adjLst>
              </dgm:shape>
            </dgm:if>
            <dgm:if name="Name60" axis="ch" ptType="node" func="cnt" op="equ" val="3">
              <dgm:shape xmlns:r="http://schemas.openxmlformats.org/officeDocument/2006/relationships" type="pie" r:blip="">
                <dgm:adjLst>
                  <dgm:adj idx="1" val="30"/>
                  <dgm:adj idx="2" val="150"/>
                </dgm:adjLst>
              </dgm:shape>
            </dgm:if>
            <dgm:if name="Name61" axis="ch" ptType="node" func="cnt" op="equ" val="4">
              <dgm:shape xmlns:r="http://schemas.openxmlformats.org/officeDocument/2006/relationships" type="pie" r:blip="">
                <dgm:adjLst>
                  <dgm:adj idx="1" val="0"/>
                  <dgm:adj idx="2" val="90"/>
                </dgm:adjLst>
              </dgm:shape>
            </dgm:if>
            <dgm:if name="Name62" axis="ch" ptType="node" func="cnt" op="equ" val="5">
              <dgm:shape xmlns:r="http://schemas.openxmlformats.org/officeDocument/2006/relationships" type="pie" r:blip="">
                <dgm:adjLst>
                  <dgm:adj idx="1" val="342"/>
                  <dgm:adj idx="2" val="54"/>
                </dgm:adjLst>
              </dgm:shape>
            </dgm:if>
            <dgm:if name="Name63" axis="ch" ptType="node" func="cnt" op="equ" val="6">
              <dgm:shape xmlns:r="http://schemas.openxmlformats.org/officeDocument/2006/relationships" type="pie" r:blip="">
                <dgm:adjLst>
                  <dgm:adj idx="1" val="330"/>
                  <dgm:adj idx="2" val="30"/>
                </dgm:adjLst>
              </dgm:shape>
            </dgm:if>
            <dgm:else name="Name64">
              <dgm:shape xmlns:r="http://schemas.openxmlformats.org/officeDocument/2006/relationships" type="pie" r:blip="">
                <dgm:adjLst>
                  <dgm:adj idx="1" val="321.4286"/>
                  <dgm:adj idx="2" val="12.85714"/>
                </dgm:adjLst>
              </dgm:shape>
            </dgm:else>
          </dgm:choose>
          <dgm:choose name="Name65">
            <dgm:if name="Name66" func="var" arg="dir" op="equ" val="norm">
              <dgm:presOf axis="ch desOrSelf" ptType="node node" st="2 1" cnt="1 0"/>
            </dgm:if>
            <dgm:else name="Name67">
              <dgm:choose name="Name68">
                <dgm:if name="Name69" axis="ch" ptType="node" func="cnt" op="equ" val="2">
                  <dgm:presOf axis="ch desOrSelf" ptType="node node" st="1 1" cnt="1 0"/>
                </dgm:if>
                <dgm:if name="Name70" axis="ch" ptType="node" func="cnt" op="equ" val="3">
                  <dgm:presOf axis="ch desOrSelf" ptType="node node" st="2 1" cnt="1 0"/>
                </dgm:if>
                <dgm:if name="Name71" axis="ch" ptType="node" func="cnt" op="equ" val="4">
                  <dgm:presOf axis="ch desOrSelf" ptType="node node" st="3 1" cnt="1 0"/>
                </dgm:if>
                <dgm:if name="Name72" axis="ch" ptType="node" func="cnt" op="equ" val="5">
                  <dgm:presOf axis="ch desOrSelf" ptType="node node" st="4 1" cnt="1 0"/>
                </dgm:if>
                <dgm:if name="Name73" axis="ch" ptType="node" func="cnt" op="equ" val="6">
                  <dgm:presOf axis="ch desOrSelf" ptType="node node" st="5 1" cnt="1 0"/>
                </dgm:if>
                <dgm:else name="Name74">
                  <dgm:presOf axis="ch desOrSelf" ptType="node node" st="6 1" cnt="1 0"/>
                </dgm:else>
              </dgm:choose>
            </dgm:else>
          </dgm:choose>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75">
            <dgm:if name="Name76" func="var" arg="dir" op="equ" val="norm">
              <dgm:presOf axis="ch desOrSelf" ptType="node node" st="2 1" cnt="1 0"/>
            </dgm:if>
            <dgm:else name="Name77">
              <dgm:choose name="Name78">
                <dgm:if name="Name79" axis="ch" ptType="node" func="cnt" op="equ" val="2">
                  <dgm:presOf axis="ch desOrSelf" ptType="node node" st="1 1" cnt="1 0"/>
                </dgm:if>
                <dgm:if name="Name80" axis="ch" ptType="node" func="cnt" op="equ" val="3">
                  <dgm:presOf axis="ch desOrSelf" ptType="node node" st="2 1" cnt="1 0"/>
                </dgm:if>
                <dgm:if name="Name81" axis="ch" ptType="node" func="cnt" op="equ" val="4">
                  <dgm:presOf axis="ch desOrSelf" ptType="node node" st="3 1" cnt="1 0"/>
                </dgm:if>
                <dgm:if name="Name82" axis="ch" ptType="node" func="cnt" op="equ" val="5">
                  <dgm:presOf axis="ch desOrSelf" ptType="node node" st="4 1" cnt="1 0"/>
                </dgm:if>
                <dgm:if name="Name83" axis="ch" ptType="node" func="cnt" op="equ" val="6">
                  <dgm:presOf axis="ch desOrSelf" ptType="node node" st="5 1" cnt="1 0"/>
                </dgm:if>
                <dgm:else name="Name84">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85"/>
    </dgm:choose>
    <dgm:choose name="Name86">
      <dgm:if name="Name87" axis="ch" ptType="node" func="cnt" op="gte" val="3">
        <dgm:layoutNode name="wedge3">
          <dgm:alg type="sp"/>
          <dgm:choose name="Name88">
            <dgm:if name="Name89" axis="ch" ptType="node" func="cnt" op="equ" val="3">
              <dgm:shape xmlns:r="http://schemas.openxmlformats.org/officeDocument/2006/relationships" type="pie" r:blip="">
                <dgm:adjLst>
                  <dgm:adj idx="1" val="150"/>
                  <dgm:adj idx="2" val="270"/>
                </dgm:adjLst>
              </dgm:shape>
            </dgm:if>
            <dgm:if name="Name90" axis="ch" ptType="node" func="cnt" op="equ" val="4">
              <dgm:shape xmlns:r="http://schemas.openxmlformats.org/officeDocument/2006/relationships" type="pie" r:blip="">
                <dgm:adjLst>
                  <dgm:adj idx="1" val="90"/>
                  <dgm:adj idx="2" val="180"/>
                </dgm:adjLst>
              </dgm:shape>
            </dgm:if>
            <dgm:if name="Name91" axis="ch" ptType="node" func="cnt" op="equ" val="5">
              <dgm:shape xmlns:r="http://schemas.openxmlformats.org/officeDocument/2006/relationships" type="pie" r:blip="">
                <dgm:adjLst>
                  <dgm:adj idx="1" val="54"/>
                  <dgm:adj idx="2" val="126"/>
                </dgm:adjLst>
              </dgm:shape>
            </dgm:if>
            <dgm:if name="Name92" axis="ch" ptType="node" func="cnt" op="equ" val="6">
              <dgm:shape xmlns:r="http://schemas.openxmlformats.org/officeDocument/2006/relationships" type="pie" r:blip="">
                <dgm:adjLst>
                  <dgm:adj idx="1" val="30"/>
                  <dgm:adj idx="2" val="90"/>
                </dgm:adjLst>
              </dgm:shape>
            </dgm:if>
            <dgm:else name="Name93">
              <dgm:shape xmlns:r="http://schemas.openxmlformats.org/officeDocument/2006/relationships" type="pie" r:blip="">
                <dgm:adjLst>
                  <dgm:adj idx="1" val="12.85714"/>
                  <dgm:adj idx="2" val="64.28571"/>
                </dgm:adjLst>
              </dgm:shape>
            </dgm:else>
          </dgm:choose>
          <dgm:choose name="Name94">
            <dgm:if name="Name95" func="var" arg="dir" op="equ" val="norm">
              <dgm:presOf axis="ch desOrSelf" ptType="node node" st="3 1" cnt="1 0"/>
            </dgm:if>
            <dgm:else name="Name96">
              <dgm:choose name="Name97">
                <dgm:if name="Name98" axis="ch" ptType="node" func="cnt" op="equ" val="3">
                  <dgm:presOf axis="ch desOrSelf" ptType="node node" st="1 1" cnt="1 0"/>
                </dgm:if>
                <dgm:if name="Name99" axis="ch" ptType="node" func="cnt" op="equ" val="4">
                  <dgm:presOf axis="ch desOrSelf" ptType="node node" st="2 1" cnt="1 0"/>
                </dgm:if>
                <dgm:if name="Name100" axis="ch" ptType="node" func="cnt" op="equ" val="5">
                  <dgm:presOf axis="ch desOrSelf" ptType="node node" st="3 1" cnt="1 0"/>
                </dgm:if>
                <dgm:if name="Name101" axis="ch" ptType="node" func="cnt" op="equ" val="6">
                  <dgm:presOf axis="ch desOrSelf" ptType="node node" st="4 1" cnt="1 0"/>
                </dgm:if>
                <dgm:else name="Name102">
                  <dgm:presOf axis="ch desOrSelf" ptType="node node" st="5 1" cnt="1 0"/>
                </dgm:else>
              </dgm:choose>
            </dgm:else>
          </dgm:choose>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103">
            <dgm:if name="Name104" func="var" arg="dir" op="equ" val="norm">
              <dgm:presOf axis="ch desOrSelf" ptType="node node" st="3 1" cnt="1 0"/>
            </dgm:if>
            <dgm:else name="Name105">
              <dgm:choose name="Name106">
                <dgm:if name="Name107" axis="ch" ptType="node" func="cnt" op="equ" val="3">
                  <dgm:presOf axis="ch desOrSelf" ptType="node node" st="1 1" cnt="1 0"/>
                </dgm:if>
                <dgm:if name="Name108" axis="ch" ptType="node" func="cnt" op="equ" val="4">
                  <dgm:presOf axis="ch desOrSelf" ptType="node node" st="2 1" cnt="1 0"/>
                </dgm:if>
                <dgm:if name="Name109" axis="ch" ptType="node" func="cnt" op="equ" val="5">
                  <dgm:presOf axis="ch desOrSelf" ptType="node node" st="3 1" cnt="1 0"/>
                </dgm:if>
                <dgm:if name="Name110" axis="ch" ptType="node" func="cnt" op="equ" val="6">
                  <dgm:presOf axis="ch desOrSelf" ptType="node node" st="4 1" cnt="1 0"/>
                </dgm:if>
                <dgm:else name="Name111">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12"/>
    </dgm:choose>
    <dgm:choose name="Name113">
      <dgm:if name="Name114" axis="ch" ptType="node" func="cnt" op="gte" val="4">
        <dgm:layoutNode name="wedge4">
          <dgm:alg type="sp"/>
          <dgm:choose name="Name115">
            <dgm:if name="Name116" axis="ch" ptType="node" func="cnt" op="equ" val="4">
              <dgm:shape xmlns:r="http://schemas.openxmlformats.org/officeDocument/2006/relationships" type="pie" r:blip="">
                <dgm:adjLst>
                  <dgm:adj idx="1" val="180"/>
                  <dgm:adj idx="2" val="270"/>
                </dgm:adjLst>
              </dgm:shape>
            </dgm:if>
            <dgm:if name="Name117" axis="ch" ptType="node" func="cnt" op="equ" val="5">
              <dgm:shape xmlns:r="http://schemas.openxmlformats.org/officeDocument/2006/relationships" type="pie" r:blip="">
                <dgm:adjLst>
                  <dgm:adj idx="1" val="126"/>
                  <dgm:adj idx="2" val="198"/>
                </dgm:adjLst>
              </dgm:shape>
            </dgm:if>
            <dgm:if name="Name118" axis="ch" ptType="node" func="cnt" op="equ" val="6">
              <dgm:shape xmlns:r="http://schemas.openxmlformats.org/officeDocument/2006/relationships" type="pie" r:blip="">
                <dgm:adjLst>
                  <dgm:adj idx="1" val="90"/>
                  <dgm:adj idx="2" val="150"/>
                </dgm:adjLst>
              </dgm:shape>
            </dgm:if>
            <dgm:else name="Name119">
              <dgm:shape xmlns:r="http://schemas.openxmlformats.org/officeDocument/2006/relationships" type="pie" r:blip="">
                <dgm:adjLst>
                  <dgm:adj idx="1" val="64.2871"/>
                  <dgm:adj idx="2" val="115.7143"/>
                </dgm:adjLst>
              </dgm:shape>
            </dgm:else>
          </dgm:choose>
          <dgm:choose name="Name120">
            <dgm:if name="Name121" func="var" arg="dir" op="equ" val="norm">
              <dgm:presOf axis="ch desOrSelf" ptType="node node" st="4 1" cnt="1 0"/>
            </dgm:if>
            <dgm:else name="Name122">
              <dgm:choose name="Name123">
                <dgm:if name="Name124" axis="ch" ptType="node" func="cnt" op="equ" val="4">
                  <dgm:presOf axis="ch desOrSelf" ptType="node node" st="1 1" cnt="1 0"/>
                </dgm:if>
                <dgm:if name="Name125" axis="ch" ptType="node" func="cnt" op="equ" val="5">
                  <dgm:presOf axis="ch desOrSelf" ptType="node node" st="2 1" cnt="1 0"/>
                </dgm:if>
                <dgm:if name="Name126" axis="ch" ptType="node" func="cnt" op="equ" val="6">
                  <dgm:presOf axis="ch desOrSelf" ptType="node node" st="3 1" cnt="1 0"/>
                </dgm:if>
                <dgm:else name="Name127">
                  <dgm:presOf axis="ch desOrSelf" ptType="node node" st="4 1" cnt="1 0"/>
                </dgm:else>
              </dgm:choose>
            </dgm:else>
          </dgm:choose>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28">
            <dgm:if name="Name129" func="var" arg="dir" op="equ" val="norm">
              <dgm:presOf axis="ch desOrSelf" ptType="node node" st="4 1" cnt="1 0"/>
            </dgm:if>
            <dgm:else name="Name130">
              <dgm:choose name="Name131">
                <dgm:if name="Name132" axis="ch" ptType="node" func="cnt" op="equ" val="4">
                  <dgm:presOf axis="ch desOrSelf" ptType="node node" st="1 1" cnt="1 0"/>
                </dgm:if>
                <dgm:if name="Name133" axis="ch" ptType="node" func="cnt" op="equ" val="5">
                  <dgm:presOf axis="ch desOrSelf" ptType="node node" st="2 1" cnt="1 0"/>
                </dgm:if>
                <dgm:if name="Name134" axis="ch" ptType="node" func="cnt" op="equ" val="6">
                  <dgm:presOf axis="ch desOrSelf" ptType="node node" st="3 1" cnt="1 0"/>
                </dgm:if>
                <dgm:else name="Name135">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36"/>
    </dgm:choose>
    <dgm:choose name="Name137">
      <dgm:if name="Name138" axis="ch" ptType="node" func="cnt" op="gte" val="5">
        <dgm:layoutNode name="wedge5">
          <dgm:alg type="sp"/>
          <dgm:choose name="Name139">
            <dgm:if name="Name140" axis="ch" ptType="node" func="cnt" op="equ" val="5">
              <dgm:shape xmlns:r="http://schemas.openxmlformats.org/officeDocument/2006/relationships" type="pie" r:blip="">
                <dgm:adjLst>
                  <dgm:adj idx="1" val="198"/>
                  <dgm:adj idx="2" val="270"/>
                </dgm:adjLst>
              </dgm:shape>
            </dgm:if>
            <dgm:if name="Name141" axis="ch" ptType="node" func="cnt" op="equ" val="6">
              <dgm:shape xmlns:r="http://schemas.openxmlformats.org/officeDocument/2006/relationships" type="pie" r:blip="">
                <dgm:adjLst>
                  <dgm:adj idx="1" val="150"/>
                  <dgm:adj idx="2" val="210"/>
                </dgm:adjLst>
              </dgm:shape>
            </dgm:if>
            <dgm:else name="Name142">
              <dgm:shape xmlns:r="http://schemas.openxmlformats.org/officeDocument/2006/relationships" type="pie" r:blip="">
                <dgm:adjLst>
                  <dgm:adj idx="1" val="115.7143"/>
                  <dgm:adj idx="2" val="167.1429"/>
                </dgm:adjLst>
              </dgm:shape>
            </dgm:else>
          </dgm:choose>
          <dgm:choose name="Name143">
            <dgm:if name="Name144" func="var" arg="dir" op="equ" val="norm">
              <dgm:presOf axis="ch desOrSelf" ptType="node node" st="5 1" cnt="1 0"/>
            </dgm:if>
            <dgm:else name="Name145">
              <dgm:choose name="Name146">
                <dgm:if name="Name147" axis="ch" ptType="node" func="cnt" op="equ" val="5">
                  <dgm:presOf axis="ch desOrSelf" ptType="node node" st="1 1" cnt="1 0"/>
                </dgm:if>
                <dgm:if name="Name148" axis="ch" ptType="node" func="cnt" op="equ" val="6">
                  <dgm:presOf axis="ch desOrSelf" ptType="node node" st="2 1" cnt="1 0"/>
                </dgm:if>
                <dgm:else name="Name149">
                  <dgm:presOf axis="ch desOrSelf" ptType="node node" st="3 1" cnt="1 0"/>
                </dgm:else>
              </dgm:choose>
            </dgm:else>
          </dgm:choose>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50">
            <dgm:if name="Name151" func="var" arg="dir" op="equ" val="norm">
              <dgm:presOf axis="ch desOrSelf" ptType="node node" st="5 1" cnt="1 0"/>
            </dgm:if>
            <dgm:else name="Name152">
              <dgm:choose name="Name153">
                <dgm:if name="Name154" axis="ch" ptType="node" func="cnt" op="equ" val="5">
                  <dgm:presOf axis="ch desOrSelf" ptType="node node" st="1 1" cnt="1 0"/>
                </dgm:if>
                <dgm:if name="Name155" axis="ch" ptType="node" func="cnt" op="equ" val="6">
                  <dgm:presOf axis="ch desOrSelf" ptType="node node" st="2 1" cnt="1 0"/>
                </dgm:if>
                <dgm:else name="Name156">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57"/>
    </dgm:choose>
    <dgm:choose name="Name158">
      <dgm:if name="Name159" axis="ch" ptType="node" func="cnt" op="gte" val="6">
        <dgm:layoutNode name="wedge6">
          <dgm:alg type="sp"/>
          <dgm:choose name="Name160">
            <dgm:if name="Name161" axis="ch" ptType="node" func="cnt" op="equ" val="6">
              <dgm:shape xmlns:r="http://schemas.openxmlformats.org/officeDocument/2006/relationships" type="pie" r:blip="">
                <dgm:adjLst>
                  <dgm:adj idx="1" val="210"/>
                  <dgm:adj idx="2" val="270"/>
                </dgm:adjLst>
              </dgm:shape>
            </dgm:if>
            <dgm:else name="Name162">
              <dgm:shape xmlns:r="http://schemas.openxmlformats.org/officeDocument/2006/relationships" type="pie" r:blip="">
                <dgm:adjLst>
                  <dgm:adj idx="1" val="167.1429"/>
                  <dgm:adj idx="2" val="218.5714"/>
                </dgm:adjLst>
              </dgm:shape>
            </dgm:else>
          </dgm:choose>
          <dgm:choose name="Name163">
            <dgm:if name="Name164" func="var" arg="dir" op="equ" val="norm">
              <dgm:presOf axis="ch desOrSelf" ptType="node node" st="6 1" cnt="1 0"/>
            </dgm:if>
            <dgm:else name="Name165">
              <dgm:choose name="Name166">
                <dgm:if name="Name167" axis="ch" ptType="node" func="cnt" op="equ" val="6">
                  <dgm:presOf axis="ch desOrSelf" ptType="node node" st="1 1" cnt="1 0"/>
                </dgm:if>
                <dgm:else name="Name168">
                  <dgm:presOf axis="ch desOrSelf" ptType="node node" st="2 1" cnt="1 0"/>
                </dgm:else>
              </dgm:choose>
            </dgm:else>
          </dgm:choose>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69">
            <dgm:if name="Name170" func="var" arg="dir" op="equ" val="norm">
              <dgm:presOf axis="ch desOrSelf" ptType="node node" st="6 1" cnt="1 0"/>
            </dgm:if>
            <dgm:else name="Name171">
              <dgm:choose name="Name172">
                <dgm:if name="Name173" axis="ch" ptType="node" func="cnt" op="equ" val="6">
                  <dgm:presOf axis="ch desOrSelf" ptType="node node" st="1 1" cnt="1 0"/>
                </dgm:if>
                <dgm:else name="Name174">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75"/>
    </dgm:choose>
    <dgm:choose name="Name176">
      <dgm:if name="Name177" axis="ch" ptType="node" func="cnt" op="gte" val="7">
        <dgm:layoutNode name="wedge7">
          <dgm:alg type="sp"/>
          <dgm:shape xmlns:r="http://schemas.openxmlformats.org/officeDocument/2006/relationships" type="pie" r:blip="">
            <dgm:adjLst>
              <dgm:adj idx="1" val="218.5714"/>
              <dgm:adj idx="2" val="270"/>
            </dgm:adjLst>
          </dgm:shape>
          <dgm:choose name="Name178">
            <dgm:if name="Name179" func="var" arg="dir" op="equ" val="norm">
              <dgm:presOf axis="ch desOrSelf" ptType="node node" st="7 1" cnt="1 0"/>
            </dgm:if>
            <dgm:else name="Name180">
              <dgm:presOf axis="ch desOrSelf" ptType="node node" st="1 1" cnt="1 0"/>
            </dgm:else>
          </dgm:choose>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81">
            <dgm:if name="Name182" func="var" arg="dir" op="equ" val="norm">
              <dgm:presOf axis="ch desOrSelf" ptType="node node" st="7 1" cnt="1 0"/>
            </dgm:if>
            <dgm:else name="Name183">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84"/>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EE56F87-A81A-4EDE-81AE-3C76F245D5E1}" type="datetimeFigureOut">
              <a:rPr lang="zh-CN" altLang="en-US" smtClean="0"/>
              <a:t>2018/7/30</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24DC7B0-EBAC-4569-9993-246641655C40}" type="slidenum">
              <a:rPr lang="zh-CN" altLang="en-US" smtClean="0"/>
              <a:t>‹#›</a:t>
            </a:fld>
            <a:endParaRPr lang="zh-CN" altLang="en-US"/>
          </a:p>
        </p:txBody>
      </p:sp>
    </p:spTree>
    <p:extLst>
      <p:ext uri="{BB962C8B-B14F-4D97-AF65-F5344CB8AC3E}">
        <p14:creationId xmlns:p14="http://schemas.microsoft.com/office/powerpoint/2010/main" val="24160025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24DC7B0-EBAC-4569-9993-246641655C40}" type="slidenum">
              <a:rPr lang="zh-CN" altLang="en-US" smtClean="0"/>
              <a:t>1</a:t>
            </a:fld>
            <a:endParaRPr lang="zh-CN" altLang="en-US"/>
          </a:p>
        </p:txBody>
      </p:sp>
    </p:spTree>
    <p:extLst>
      <p:ext uri="{BB962C8B-B14F-4D97-AF65-F5344CB8AC3E}">
        <p14:creationId xmlns:p14="http://schemas.microsoft.com/office/powerpoint/2010/main" val="11411272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24DC7B0-EBAC-4569-9993-246641655C40}" type="slidenum">
              <a:rPr lang="zh-CN" altLang="en-US" smtClean="0"/>
              <a:t>2</a:t>
            </a:fld>
            <a:endParaRPr lang="zh-CN" altLang="en-US"/>
          </a:p>
        </p:txBody>
      </p:sp>
    </p:spTree>
    <p:extLst>
      <p:ext uri="{BB962C8B-B14F-4D97-AF65-F5344CB8AC3E}">
        <p14:creationId xmlns:p14="http://schemas.microsoft.com/office/powerpoint/2010/main" val="24196168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仅标题">
    <p:spTree>
      <p:nvGrpSpPr>
        <p:cNvPr id="1" name=""/>
        <p:cNvGrpSpPr/>
        <p:nvPr/>
      </p:nvGrpSpPr>
      <p:grpSpPr>
        <a:xfrm>
          <a:off x="0" y="0"/>
          <a:ext cx="0" cy="0"/>
          <a:chOff x="0" y="0"/>
          <a:chExt cx="0" cy="0"/>
        </a:xfrm>
      </p:grpSpPr>
    </p:spTree>
    <p:extLst>
      <p:ext uri="{BB962C8B-B14F-4D97-AF65-F5344CB8AC3E}">
        <p14:creationId xmlns:p14="http://schemas.microsoft.com/office/powerpoint/2010/main" val="20828422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2111076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914400" y="2130426"/>
            <a:ext cx="10363200" cy="1470025"/>
          </a:xfrm>
        </p:spPr>
        <p:txBody>
          <a:bodyPr/>
          <a:lstStyle/>
          <a:p>
            <a:r>
              <a:rPr lang="zh-TW" altLang="en-US"/>
              <a:t>按一下以編輯母片標題樣式</a:t>
            </a:r>
          </a:p>
        </p:txBody>
      </p:sp>
      <p:sp>
        <p:nvSpPr>
          <p:cNvPr id="3" name="副標題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a:t>按一下以編輯母片副標題樣式</a:t>
            </a:r>
          </a:p>
        </p:txBody>
      </p:sp>
      <p:sp>
        <p:nvSpPr>
          <p:cNvPr id="4" name="日期版面配置區 3"/>
          <p:cNvSpPr>
            <a:spLocks noGrp="1"/>
          </p:cNvSpPr>
          <p:nvPr>
            <p:ph type="dt" sz="half" idx="10"/>
          </p:nvPr>
        </p:nvSpPr>
        <p:spPr/>
        <p:txBody>
          <a:bodyPr/>
          <a:lstStyle/>
          <a:p>
            <a:fld id="{56EB3881-3AD9-4248-89BF-3585ADFDE6D3}" type="datetime1">
              <a:rPr lang="zh-TW" altLang="en-US" smtClean="0"/>
              <a:t>2018/7/30</a:t>
            </a:fld>
            <a:endParaRPr lang="zh-TW" altLang="en-US"/>
          </a:p>
        </p:txBody>
      </p:sp>
      <p:sp>
        <p:nvSpPr>
          <p:cNvPr id="5" name="頁尾版面配置區 4"/>
          <p:cNvSpPr>
            <a:spLocks noGrp="1"/>
          </p:cNvSpPr>
          <p:nvPr>
            <p:ph type="ftr" sz="quarter" idx="11"/>
          </p:nvPr>
        </p:nvSpPr>
        <p:spPr/>
        <p:txBody>
          <a:bodyPr/>
          <a:lstStyle/>
          <a:p>
            <a:r>
              <a:rPr lang="zh-TW" altLang="en-US"/>
              <a:t>區塊鏈商業應用概論 實例與分析／許孟祥 編著／新陸書局股份有限公司 發行</a:t>
            </a:r>
          </a:p>
        </p:txBody>
      </p:sp>
      <p:sp>
        <p:nvSpPr>
          <p:cNvPr id="6" name="投影片編號版面配置區 5"/>
          <p:cNvSpPr>
            <a:spLocks noGrp="1"/>
          </p:cNvSpPr>
          <p:nvPr>
            <p:ph type="sldNum" sz="quarter" idx="12"/>
          </p:nvPr>
        </p:nvSpPr>
        <p:spPr/>
        <p:txBody>
          <a:bodyPr/>
          <a:lstStyle/>
          <a:p>
            <a:fld id="{9F98A096-46F7-4F4A-8106-40B5A13C16D3}" type="slidenum">
              <a:rPr lang="zh-TW" altLang="en-US" smtClean="0"/>
              <a:t>‹#›</a:t>
            </a:fld>
            <a:endParaRPr lang="zh-TW" altLang="en-US"/>
          </a:p>
        </p:txBody>
      </p:sp>
    </p:spTree>
    <p:extLst>
      <p:ext uri="{BB962C8B-B14F-4D97-AF65-F5344CB8AC3E}">
        <p14:creationId xmlns:p14="http://schemas.microsoft.com/office/powerpoint/2010/main" val="424742879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9F9F9"/>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6058732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70" r:id="rId3"/>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3.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3.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3.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3.png"/><Relationship Id="rId7" Type="http://schemas.openxmlformats.org/officeDocument/2006/relationships/diagramColors" Target="../diagrams/colors1.xml"/><Relationship Id="rId2" Type="http://schemas.openxmlformats.org/officeDocument/2006/relationships/image" Target="../media/image2.png"/><Relationship Id="rId1" Type="http://schemas.openxmlformats.org/officeDocument/2006/relationships/slideLayout" Target="../slideLayouts/slideLayout3.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9.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3.png"/><Relationship Id="rId7" Type="http://schemas.openxmlformats.org/officeDocument/2006/relationships/diagramColors" Target="../diagrams/colors2.xml"/><Relationship Id="rId2" Type="http://schemas.openxmlformats.org/officeDocument/2006/relationships/image" Target="../media/image2.png"/><Relationship Id="rId1" Type="http://schemas.openxmlformats.org/officeDocument/2006/relationships/slideLayout" Target="../slideLayouts/slideLayout3.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10.xml.rels><?xml version="1.0" encoding="UTF-8" standalone="yes"?>
<Relationships xmlns="http://schemas.openxmlformats.org/package/2006/relationships"><Relationship Id="rId8" Type="http://schemas.microsoft.com/office/2007/relationships/diagramDrawing" Target="../diagrams/drawing3.xml"/><Relationship Id="rId3" Type="http://schemas.openxmlformats.org/officeDocument/2006/relationships/image" Target="../media/image3.png"/><Relationship Id="rId7" Type="http://schemas.openxmlformats.org/officeDocument/2006/relationships/diagramColors" Target="../diagrams/colors3.xml"/><Relationship Id="rId2" Type="http://schemas.openxmlformats.org/officeDocument/2006/relationships/image" Target="../media/image2.png"/><Relationship Id="rId1" Type="http://schemas.openxmlformats.org/officeDocument/2006/relationships/slideLayout" Target="../slideLayouts/slideLayout3.xml"/><Relationship Id="rId6" Type="http://schemas.openxmlformats.org/officeDocument/2006/relationships/diagramQuickStyle" Target="../diagrams/quickStyle3.xml"/><Relationship Id="rId5" Type="http://schemas.openxmlformats.org/officeDocument/2006/relationships/diagramLayout" Target="../diagrams/layout3.xml"/><Relationship Id="rId4" Type="http://schemas.openxmlformats.org/officeDocument/2006/relationships/diagramData" Target="../diagrams/data3.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9.PNG"/><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3.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3.xml"/><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3.xml"/><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3.xml"/><Relationship Id="rId4" Type="http://schemas.openxmlformats.org/officeDocument/2006/relationships/image" Target="../media/image13.PNG"/></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3.xml"/><Relationship Id="rId4" Type="http://schemas.openxmlformats.org/officeDocument/2006/relationships/image" Target="../media/image14.png"/></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3.xml"/><Relationship Id="rId5" Type="http://schemas.microsoft.com/office/2007/relationships/hdphoto" Target="../media/hdphoto1.wdp"/><Relationship Id="rId4" Type="http://schemas.openxmlformats.org/officeDocument/2006/relationships/image" Target="../media/image15.png"/></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3.xml"/><Relationship Id="rId5" Type="http://schemas.microsoft.com/office/2007/relationships/hdphoto" Target="../media/hdphoto2.wdp"/><Relationship Id="rId4" Type="http://schemas.openxmlformats.org/officeDocument/2006/relationships/image" Target="../media/image16.png"/></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3.xml"/><Relationship Id="rId4" Type="http://schemas.openxmlformats.org/officeDocument/2006/relationships/image" Target="../media/image17.png"/></Relationships>
</file>

<file path=ppt/slides/_rels/slide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3.xml"/><Relationship Id="rId4" Type="http://schemas.openxmlformats.org/officeDocument/2006/relationships/image" Target="../media/image18.png"/></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3.xml"/><Relationship Id="rId4" Type="http://schemas.openxmlformats.org/officeDocument/2006/relationships/image" Target="../media/image19.tmp"/></Relationships>
</file>

<file path=ppt/slides/_rels/slide23.xml.rels><?xml version="1.0" encoding="UTF-8" standalone="yes"?>
<Relationships xmlns="http://schemas.openxmlformats.org/package/2006/relationships"><Relationship Id="rId8" Type="http://schemas.microsoft.com/office/2007/relationships/diagramDrawing" Target="../diagrams/drawing4.xml"/><Relationship Id="rId3" Type="http://schemas.openxmlformats.org/officeDocument/2006/relationships/image" Target="../media/image3.png"/><Relationship Id="rId7" Type="http://schemas.openxmlformats.org/officeDocument/2006/relationships/diagramColors" Target="../diagrams/colors4.xml"/><Relationship Id="rId2" Type="http://schemas.openxmlformats.org/officeDocument/2006/relationships/image" Target="../media/image2.png"/><Relationship Id="rId1" Type="http://schemas.openxmlformats.org/officeDocument/2006/relationships/slideLayout" Target="../slideLayouts/slideLayout3.xml"/><Relationship Id="rId6" Type="http://schemas.openxmlformats.org/officeDocument/2006/relationships/diagramQuickStyle" Target="../diagrams/quickStyle4.xml"/><Relationship Id="rId5" Type="http://schemas.openxmlformats.org/officeDocument/2006/relationships/diagramLayout" Target="../diagrams/layout4.xml"/><Relationship Id="rId4" Type="http://schemas.openxmlformats.org/officeDocument/2006/relationships/diagramData" Target="../diagrams/data4.xml"/></Relationships>
</file>

<file path=ppt/slides/_rels/slide24.xml.rels><?xml version="1.0" encoding="UTF-8" standalone="yes"?>
<Relationships xmlns="http://schemas.openxmlformats.org/package/2006/relationships"><Relationship Id="rId8" Type="http://schemas.microsoft.com/office/2007/relationships/diagramDrawing" Target="../diagrams/drawing5.xml"/><Relationship Id="rId3" Type="http://schemas.openxmlformats.org/officeDocument/2006/relationships/image" Target="../media/image3.png"/><Relationship Id="rId7" Type="http://schemas.openxmlformats.org/officeDocument/2006/relationships/diagramColors" Target="../diagrams/colors5.xml"/><Relationship Id="rId2" Type="http://schemas.openxmlformats.org/officeDocument/2006/relationships/image" Target="../media/image2.png"/><Relationship Id="rId1" Type="http://schemas.openxmlformats.org/officeDocument/2006/relationships/slideLayout" Target="../slideLayouts/slideLayout3.xml"/><Relationship Id="rId6" Type="http://schemas.openxmlformats.org/officeDocument/2006/relationships/diagramQuickStyle" Target="../diagrams/quickStyle5.xml"/><Relationship Id="rId5" Type="http://schemas.openxmlformats.org/officeDocument/2006/relationships/diagramLayout" Target="../diagrams/layout5.xml"/><Relationship Id="rId4" Type="http://schemas.openxmlformats.org/officeDocument/2006/relationships/diagramData" Target="../diagrams/data5.xml"/></Relationships>
</file>

<file path=ppt/slides/_rels/slide25.xml.rels><?xml version="1.0" encoding="UTF-8" standalone="yes"?>
<Relationships xmlns="http://schemas.openxmlformats.org/package/2006/relationships"><Relationship Id="rId8" Type="http://schemas.microsoft.com/office/2007/relationships/diagramDrawing" Target="../diagrams/drawing6.xml"/><Relationship Id="rId3" Type="http://schemas.openxmlformats.org/officeDocument/2006/relationships/image" Target="../media/image3.png"/><Relationship Id="rId7" Type="http://schemas.openxmlformats.org/officeDocument/2006/relationships/diagramColors" Target="../diagrams/colors6.xml"/><Relationship Id="rId2" Type="http://schemas.openxmlformats.org/officeDocument/2006/relationships/image" Target="../media/image2.png"/><Relationship Id="rId1" Type="http://schemas.openxmlformats.org/officeDocument/2006/relationships/slideLayout" Target="../slideLayouts/slideLayout3.xml"/><Relationship Id="rId6" Type="http://schemas.openxmlformats.org/officeDocument/2006/relationships/diagramQuickStyle" Target="../diagrams/quickStyle6.xml"/><Relationship Id="rId5" Type="http://schemas.openxmlformats.org/officeDocument/2006/relationships/diagramLayout" Target="../diagrams/layout6.xml"/><Relationship Id="rId4" Type="http://schemas.openxmlformats.org/officeDocument/2006/relationships/diagramData" Target="../diagrams/data6.xml"/></Relationships>
</file>

<file path=ppt/slides/_rels/slide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3.xml"/><Relationship Id="rId4" Type="http://schemas.openxmlformats.org/officeDocument/2006/relationships/image" Target="../media/image20.tmp"/></Relationships>
</file>

<file path=ppt/slides/_rels/slide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3.xml"/><Relationship Id="rId4" Type="http://schemas.openxmlformats.org/officeDocument/2006/relationships/image" Target="../media/image17.png"/></Relationships>
</file>

<file path=ppt/slides/_rels/slide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3.xml"/><Relationship Id="rId4" Type="http://schemas.openxmlformats.org/officeDocument/2006/relationships/image" Target="../media/image21.tmp"/></Relationships>
</file>

<file path=ppt/slides/_rels/slide2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3.xml"/><Relationship Id="rId4" Type="http://schemas.openxmlformats.org/officeDocument/2006/relationships/image" Target="../media/image6.png"/></Relationships>
</file>

<file path=ppt/slides/_rels/slide3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3.xml"/><Relationship Id="rId6" Type="http://schemas.openxmlformats.org/officeDocument/2006/relationships/image" Target="../media/image23.png"/><Relationship Id="rId5" Type="http://schemas.microsoft.com/office/2007/relationships/hdphoto" Target="../media/hdphoto3.wdp"/><Relationship Id="rId4" Type="http://schemas.openxmlformats.org/officeDocument/2006/relationships/image" Target="../media/image22.png"/></Relationships>
</file>

<file path=ppt/slides/_rels/slide3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3.xml"/><Relationship Id="rId4" Type="http://schemas.openxmlformats.org/officeDocument/2006/relationships/image" Target="../media/image24.tmp"/></Relationships>
</file>

<file path=ppt/slides/_rels/slide3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3.xml"/><Relationship Id="rId4" Type="http://schemas.openxmlformats.org/officeDocument/2006/relationships/image" Target="../media/image25.tmp"/></Relationships>
</file>

<file path=ppt/slides/_rels/slide3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3.xml"/><Relationship Id="rId4" Type="http://schemas.openxmlformats.org/officeDocument/2006/relationships/image" Target="../media/image26.tmp"/></Relationships>
</file>

<file path=ppt/slides/_rels/slide3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3.xml"/><Relationship Id="rId4" Type="http://schemas.openxmlformats.org/officeDocument/2006/relationships/image" Target="../media/image14.png"/></Relationships>
</file>

<file path=ppt/slides/_rels/slide3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3.xml"/><Relationship Id="rId4" Type="http://schemas.openxmlformats.org/officeDocument/2006/relationships/image" Target="../media/image27.png"/></Relationships>
</file>

<file path=ppt/slides/_rels/slide3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3.xml"/><Relationship Id="rId4" Type="http://schemas.openxmlformats.org/officeDocument/2006/relationships/image" Target="../media/image17.png"/></Relationships>
</file>

<file path=ppt/slides/_rels/slide3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3.xml"/><Relationship Id="rId4" Type="http://schemas.openxmlformats.org/officeDocument/2006/relationships/image" Target="../media/image28.png"/></Relationships>
</file>

<file path=ppt/slides/_rels/slide4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3.xml"/><Relationship Id="rId4" Type="http://schemas.openxmlformats.org/officeDocument/2006/relationships/image" Target="../media/image29.png"/></Relationships>
</file>

<file path=ppt/slides/_rels/slide4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3.xml"/><Relationship Id="rId4" Type="http://schemas.openxmlformats.org/officeDocument/2006/relationships/image" Target="../media/image30.png"/></Relationships>
</file>

<file path=ppt/slides/_rels/slide43.xml.rels><?xml version="1.0" encoding="UTF-8" standalone="yes"?>
<Relationships xmlns="http://schemas.openxmlformats.org/package/2006/relationships"><Relationship Id="rId8" Type="http://schemas.microsoft.com/office/2007/relationships/diagramDrawing" Target="../diagrams/drawing7.xml"/><Relationship Id="rId3" Type="http://schemas.openxmlformats.org/officeDocument/2006/relationships/image" Target="../media/image3.png"/><Relationship Id="rId7" Type="http://schemas.openxmlformats.org/officeDocument/2006/relationships/diagramColors" Target="../diagrams/colors7.xml"/><Relationship Id="rId2" Type="http://schemas.openxmlformats.org/officeDocument/2006/relationships/image" Target="../media/image2.png"/><Relationship Id="rId1" Type="http://schemas.openxmlformats.org/officeDocument/2006/relationships/slideLayout" Target="../slideLayouts/slideLayout3.xml"/><Relationship Id="rId6" Type="http://schemas.openxmlformats.org/officeDocument/2006/relationships/diagramQuickStyle" Target="../diagrams/quickStyle7.xml"/><Relationship Id="rId5" Type="http://schemas.openxmlformats.org/officeDocument/2006/relationships/diagramLayout" Target="../diagrams/layout7.xml"/><Relationship Id="rId4" Type="http://schemas.openxmlformats.org/officeDocument/2006/relationships/diagramData" Target="../diagrams/data7.xml"/></Relationships>
</file>

<file path=ppt/slides/_rels/slide4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3.xml"/><Relationship Id="rId4" Type="http://schemas.openxmlformats.org/officeDocument/2006/relationships/image" Target="../media/image23.png"/></Relationships>
</file>

<file path=ppt/slides/_rels/slide4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4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3.xml"/><Relationship Id="rId4" Type="http://schemas.openxmlformats.org/officeDocument/2006/relationships/image" Target="../media/image31.png"/></Relationships>
</file>

<file path=ppt/slides/_rels/slide5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3.xml"/><Relationship Id="rId5" Type="http://schemas.openxmlformats.org/officeDocument/2006/relationships/image" Target="../media/image23.png"/><Relationship Id="rId4" Type="http://schemas.openxmlformats.org/officeDocument/2006/relationships/image" Target="../media/image32.PNG"/></Relationships>
</file>

<file path=ppt/slides/_rels/slide5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3.xml"/><Relationship Id="rId4" Type="http://schemas.openxmlformats.org/officeDocument/2006/relationships/image" Target="../media/image33.PNG"/></Relationships>
</file>

<file path=ppt/slides/_rels/slide5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3.xml"/><Relationship Id="rId4" Type="http://schemas.openxmlformats.org/officeDocument/2006/relationships/image" Target="../media/image34.PNG"/></Relationships>
</file>

<file path=ppt/slides/_rels/slide5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3.xml"/><Relationship Id="rId4" Type="http://schemas.openxmlformats.org/officeDocument/2006/relationships/image" Target="../media/image35.PNG"/></Relationships>
</file>

<file path=ppt/slides/_rels/slide5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3.xml"/><Relationship Id="rId4" Type="http://schemas.openxmlformats.org/officeDocument/2006/relationships/image" Target="../media/image36.PNG"/></Relationships>
</file>

<file path=ppt/slides/_rels/slide5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3.xml"/><Relationship Id="rId4" Type="http://schemas.openxmlformats.org/officeDocument/2006/relationships/image" Target="../media/image37.PNG"/></Relationships>
</file>

<file path=ppt/slides/_rels/slide5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3.xml"/><Relationship Id="rId4" Type="http://schemas.openxmlformats.org/officeDocument/2006/relationships/image" Target="../media/image38.PNG"/></Relationships>
</file>

<file path=ppt/slides/_rels/slide5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3.xml"/><Relationship Id="rId4" Type="http://schemas.openxmlformats.org/officeDocument/2006/relationships/image" Target="../media/image39.png"/></Relationships>
</file>

<file path=ppt/slides/_rels/slide60.xml.rels><?xml version="1.0" encoding="UTF-8" standalone="yes"?>
<Relationships xmlns="http://schemas.openxmlformats.org/package/2006/relationships"><Relationship Id="rId8" Type="http://schemas.microsoft.com/office/2007/relationships/diagramDrawing" Target="../diagrams/drawing8.xml"/><Relationship Id="rId3" Type="http://schemas.openxmlformats.org/officeDocument/2006/relationships/image" Target="../media/image3.png"/><Relationship Id="rId7" Type="http://schemas.openxmlformats.org/officeDocument/2006/relationships/diagramColors" Target="../diagrams/colors8.xml"/><Relationship Id="rId2" Type="http://schemas.openxmlformats.org/officeDocument/2006/relationships/image" Target="../media/image2.png"/><Relationship Id="rId1" Type="http://schemas.openxmlformats.org/officeDocument/2006/relationships/slideLayout" Target="../slideLayouts/slideLayout3.xml"/><Relationship Id="rId6" Type="http://schemas.openxmlformats.org/officeDocument/2006/relationships/diagramQuickStyle" Target="../diagrams/quickStyle8.xml"/><Relationship Id="rId5" Type="http://schemas.openxmlformats.org/officeDocument/2006/relationships/diagramLayout" Target="../diagrams/layout8.xml"/><Relationship Id="rId4" Type="http://schemas.openxmlformats.org/officeDocument/2006/relationships/diagramData" Target="../diagrams/data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图片 5"/>
          <p:cNvPicPr>
            <a:picLocks noChangeAspect="1"/>
          </p:cNvPicPr>
          <p:nvPr/>
        </p:nvPicPr>
        <p:blipFill rotWithShape="1">
          <a:blip r:embed="rId3" cstate="print">
            <a:extLst>
              <a:ext uri="{28A0092B-C50C-407E-A947-70E740481C1C}">
                <a14:useLocalDpi xmlns:a14="http://schemas.microsoft.com/office/drawing/2010/main" val="0"/>
              </a:ext>
            </a:extLst>
          </a:blip>
          <a:srcRect l="3675" r="8038"/>
          <a:stretch/>
        </p:blipFill>
        <p:spPr>
          <a:xfrm>
            <a:off x="0" y="0"/>
            <a:ext cx="12192000" cy="6858000"/>
          </a:xfrm>
          <a:prstGeom prst="rect">
            <a:avLst/>
          </a:prstGeom>
        </p:spPr>
      </p:pic>
      <p:sp>
        <p:nvSpPr>
          <p:cNvPr id="7" name="文本框 6"/>
          <p:cNvSpPr txBox="1"/>
          <p:nvPr/>
        </p:nvSpPr>
        <p:spPr>
          <a:xfrm>
            <a:off x="2876355" y="2280980"/>
            <a:ext cx="5032147" cy="923330"/>
          </a:xfrm>
          <a:prstGeom prst="rect">
            <a:avLst/>
          </a:prstGeom>
          <a:noFill/>
        </p:spPr>
        <p:txBody>
          <a:bodyPr wrap="none" rtlCol="0">
            <a:spAutoFit/>
            <a:scene3d>
              <a:camera prst="orthographicFront"/>
              <a:lightRig rig="threePt" dir="t"/>
            </a:scene3d>
            <a:sp3d contourW="12700"/>
          </a:bodyPr>
          <a:lstStyle/>
          <a:p>
            <a:r>
              <a:rPr lang="zh-TW" altLang="en-US" sz="5400" b="1" dirty="0">
                <a:solidFill>
                  <a:schemeClr val="accent1"/>
                </a:solidFill>
              </a:rPr>
              <a:t>履歷區塊鏈實務</a:t>
            </a:r>
          </a:p>
        </p:txBody>
      </p:sp>
      <p:sp>
        <p:nvSpPr>
          <p:cNvPr id="9" name="矩形 8"/>
          <p:cNvSpPr/>
          <p:nvPr/>
        </p:nvSpPr>
        <p:spPr>
          <a:xfrm>
            <a:off x="2876355" y="1678466"/>
            <a:ext cx="2220480" cy="523220"/>
          </a:xfrm>
          <a:prstGeom prst="rect">
            <a:avLst/>
          </a:prstGeom>
        </p:spPr>
        <p:txBody>
          <a:bodyPr wrap="none">
            <a:spAutoFit/>
            <a:scene3d>
              <a:camera prst="orthographicFront"/>
              <a:lightRig rig="threePt" dir="t"/>
            </a:scene3d>
            <a:sp3d contourW="12700"/>
          </a:bodyPr>
          <a:lstStyle/>
          <a:p>
            <a:r>
              <a:rPr lang="en-US" altLang="zh-CN" sz="2800" b="1" dirty="0">
                <a:solidFill>
                  <a:srgbClr val="4A5A6F"/>
                </a:solidFill>
              </a:rPr>
              <a:t>CHAPTER </a:t>
            </a:r>
            <a:r>
              <a:rPr lang="en-US" altLang="zh-TW" sz="2800" b="1" dirty="0">
                <a:solidFill>
                  <a:srgbClr val="4A5A6F"/>
                </a:solidFill>
              </a:rPr>
              <a:t>7</a:t>
            </a:r>
            <a:endParaRPr lang="zh-CN" altLang="en-US" sz="2800" b="1" dirty="0">
              <a:solidFill>
                <a:srgbClr val="4A5A6F"/>
              </a:solidFill>
            </a:endParaRPr>
          </a:p>
        </p:txBody>
      </p:sp>
      <p:sp>
        <p:nvSpPr>
          <p:cNvPr id="46" name="矩形 23"/>
          <p:cNvSpPr/>
          <p:nvPr/>
        </p:nvSpPr>
        <p:spPr>
          <a:xfrm>
            <a:off x="3329969" y="5032201"/>
            <a:ext cx="189597" cy="242711"/>
          </a:xfrm>
          <a:custGeom>
            <a:avLst/>
            <a:gdLst>
              <a:gd name="connsiteX0" fmla="*/ 11784 w 473070"/>
              <a:gd name="connsiteY0" fmla="*/ 563888 h 605592"/>
              <a:gd name="connsiteX1" fmla="*/ 461073 w 473070"/>
              <a:gd name="connsiteY1" fmla="*/ 563888 h 605592"/>
              <a:gd name="connsiteX2" fmla="*/ 461073 w 473070"/>
              <a:gd name="connsiteY2" fmla="*/ 605592 h 605592"/>
              <a:gd name="connsiteX3" fmla="*/ 11784 w 473070"/>
              <a:gd name="connsiteY3" fmla="*/ 605592 h 605592"/>
              <a:gd name="connsiteX4" fmla="*/ 11784 w 473070"/>
              <a:gd name="connsiteY4" fmla="*/ 500661 h 605592"/>
              <a:gd name="connsiteX5" fmla="*/ 461073 w 473070"/>
              <a:gd name="connsiteY5" fmla="*/ 500661 h 605592"/>
              <a:gd name="connsiteX6" fmla="*/ 461073 w 473070"/>
              <a:gd name="connsiteY6" fmla="*/ 542506 h 605592"/>
              <a:gd name="connsiteX7" fmla="*/ 11784 w 473070"/>
              <a:gd name="connsiteY7" fmla="*/ 542506 h 605592"/>
              <a:gd name="connsiteX8" fmla="*/ 365246 w 473070"/>
              <a:gd name="connsiteY8" fmla="*/ 196807 h 605592"/>
              <a:gd name="connsiteX9" fmla="*/ 407162 w 473070"/>
              <a:gd name="connsiteY9" fmla="*/ 196807 h 605592"/>
              <a:gd name="connsiteX10" fmla="*/ 407162 w 473070"/>
              <a:gd name="connsiteY10" fmla="*/ 467496 h 605592"/>
              <a:gd name="connsiteX11" fmla="*/ 365246 w 473070"/>
              <a:gd name="connsiteY11" fmla="*/ 467496 h 605592"/>
              <a:gd name="connsiteX12" fmla="*/ 215507 w 473070"/>
              <a:gd name="connsiteY12" fmla="*/ 196807 h 605592"/>
              <a:gd name="connsiteX13" fmla="*/ 257352 w 473070"/>
              <a:gd name="connsiteY13" fmla="*/ 196807 h 605592"/>
              <a:gd name="connsiteX14" fmla="*/ 257352 w 473070"/>
              <a:gd name="connsiteY14" fmla="*/ 467496 h 605592"/>
              <a:gd name="connsiteX15" fmla="*/ 215507 w 473070"/>
              <a:gd name="connsiteY15" fmla="*/ 467496 h 605592"/>
              <a:gd name="connsiteX16" fmla="*/ 65767 w 473070"/>
              <a:gd name="connsiteY16" fmla="*/ 196807 h 605592"/>
              <a:gd name="connsiteX17" fmla="*/ 107612 w 473070"/>
              <a:gd name="connsiteY17" fmla="*/ 196807 h 605592"/>
              <a:gd name="connsiteX18" fmla="*/ 107612 w 473070"/>
              <a:gd name="connsiteY18" fmla="*/ 467496 h 605592"/>
              <a:gd name="connsiteX19" fmla="*/ 65767 w 473070"/>
              <a:gd name="connsiteY19" fmla="*/ 467496 h 605592"/>
              <a:gd name="connsiteX20" fmla="*/ 236581 w 473070"/>
              <a:gd name="connsiteY20" fmla="*/ 0 h 605592"/>
              <a:gd name="connsiteX21" fmla="*/ 473070 w 473070"/>
              <a:gd name="connsiteY21" fmla="*/ 164833 h 605592"/>
              <a:gd name="connsiteX22" fmla="*/ 449115 w 473070"/>
              <a:gd name="connsiteY22" fmla="*/ 199135 h 605592"/>
              <a:gd name="connsiteX23" fmla="*/ 236303 w 473070"/>
              <a:gd name="connsiteY23" fmla="*/ 50711 h 605592"/>
              <a:gd name="connsiteX24" fmla="*/ 23491 w 473070"/>
              <a:gd name="connsiteY24" fmla="*/ 194963 h 605592"/>
              <a:gd name="connsiteX25" fmla="*/ 0 w 473070"/>
              <a:gd name="connsiteY25" fmla="*/ 160383 h 6055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473070" h="605592">
                <a:moveTo>
                  <a:pt x="11784" y="563888"/>
                </a:moveTo>
                <a:lnTo>
                  <a:pt x="461073" y="563888"/>
                </a:lnTo>
                <a:lnTo>
                  <a:pt x="461073" y="605592"/>
                </a:lnTo>
                <a:lnTo>
                  <a:pt x="11784" y="605592"/>
                </a:lnTo>
                <a:close/>
                <a:moveTo>
                  <a:pt x="11784" y="500661"/>
                </a:moveTo>
                <a:lnTo>
                  <a:pt x="461073" y="500661"/>
                </a:lnTo>
                <a:lnTo>
                  <a:pt x="461073" y="542506"/>
                </a:lnTo>
                <a:lnTo>
                  <a:pt x="11784" y="542506"/>
                </a:lnTo>
                <a:close/>
                <a:moveTo>
                  <a:pt x="365246" y="196807"/>
                </a:moveTo>
                <a:lnTo>
                  <a:pt x="407162" y="196807"/>
                </a:lnTo>
                <a:lnTo>
                  <a:pt x="407162" y="467496"/>
                </a:lnTo>
                <a:lnTo>
                  <a:pt x="365246" y="467496"/>
                </a:lnTo>
                <a:close/>
                <a:moveTo>
                  <a:pt x="215507" y="196807"/>
                </a:moveTo>
                <a:lnTo>
                  <a:pt x="257352" y="196807"/>
                </a:lnTo>
                <a:lnTo>
                  <a:pt x="257352" y="467496"/>
                </a:lnTo>
                <a:lnTo>
                  <a:pt x="215507" y="467496"/>
                </a:lnTo>
                <a:close/>
                <a:moveTo>
                  <a:pt x="65767" y="196807"/>
                </a:moveTo>
                <a:lnTo>
                  <a:pt x="107612" y="196807"/>
                </a:lnTo>
                <a:lnTo>
                  <a:pt x="107612" y="467496"/>
                </a:lnTo>
                <a:lnTo>
                  <a:pt x="65767" y="467496"/>
                </a:lnTo>
                <a:close/>
                <a:moveTo>
                  <a:pt x="236581" y="0"/>
                </a:moveTo>
                <a:lnTo>
                  <a:pt x="473070" y="164833"/>
                </a:lnTo>
                <a:lnTo>
                  <a:pt x="449115" y="199135"/>
                </a:lnTo>
                <a:lnTo>
                  <a:pt x="236303" y="50711"/>
                </a:lnTo>
                <a:lnTo>
                  <a:pt x="23491" y="194963"/>
                </a:lnTo>
                <a:lnTo>
                  <a:pt x="0" y="160383"/>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47" name="矩形 35"/>
          <p:cNvSpPr/>
          <p:nvPr/>
        </p:nvSpPr>
        <p:spPr>
          <a:xfrm>
            <a:off x="4863869" y="5032384"/>
            <a:ext cx="242711" cy="242344"/>
          </a:xfrm>
          <a:custGeom>
            <a:avLst/>
            <a:gdLst>
              <a:gd name="connsiteX0" fmla="*/ 303775 w 607639"/>
              <a:gd name="connsiteY0" fmla="*/ 525007 h 606722"/>
              <a:gd name="connsiteX1" fmla="*/ 315710 w 607639"/>
              <a:gd name="connsiteY1" fmla="*/ 536902 h 606722"/>
              <a:gd name="connsiteX2" fmla="*/ 315710 w 607639"/>
              <a:gd name="connsiteY2" fmla="*/ 552347 h 606722"/>
              <a:gd name="connsiteX3" fmla="*/ 303775 w 607639"/>
              <a:gd name="connsiteY3" fmla="*/ 564241 h 606722"/>
              <a:gd name="connsiteX4" fmla="*/ 291929 w 607639"/>
              <a:gd name="connsiteY4" fmla="*/ 552347 h 606722"/>
              <a:gd name="connsiteX5" fmla="*/ 291929 w 607639"/>
              <a:gd name="connsiteY5" fmla="*/ 536902 h 606722"/>
              <a:gd name="connsiteX6" fmla="*/ 303775 w 607639"/>
              <a:gd name="connsiteY6" fmla="*/ 525007 h 606722"/>
              <a:gd name="connsiteX7" fmla="*/ 429885 w 607639"/>
              <a:gd name="connsiteY7" fmla="*/ 509483 h 606722"/>
              <a:gd name="connsiteX8" fmla="*/ 441811 w 607639"/>
              <a:gd name="connsiteY8" fmla="*/ 521409 h 606722"/>
              <a:gd name="connsiteX9" fmla="*/ 429885 w 607639"/>
              <a:gd name="connsiteY9" fmla="*/ 533335 h 606722"/>
              <a:gd name="connsiteX10" fmla="*/ 417959 w 607639"/>
              <a:gd name="connsiteY10" fmla="*/ 521409 h 606722"/>
              <a:gd name="connsiteX11" fmla="*/ 429885 w 607639"/>
              <a:gd name="connsiteY11" fmla="*/ 509483 h 606722"/>
              <a:gd name="connsiteX12" fmla="*/ 177720 w 607639"/>
              <a:gd name="connsiteY12" fmla="*/ 509483 h 606722"/>
              <a:gd name="connsiteX13" fmla="*/ 189611 w 607639"/>
              <a:gd name="connsiteY13" fmla="*/ 521409 h 606722"/>
              <a:gd name="connsiteX14" fmla="*/ 177720 w 607639"/>
              <a:gd name="connsiteY14" fmla="*/ 533335 h 606722"/>
              <a:gd name="connsiteX15" fmla="*/ 165829 w 607639"/>
              <a:gd name="connsiteY15" fmla="*/ 521409 h 606722"/>
              <a:gd name="connsiteX16" fmla="*/ 177720 w 607639"/>
              <a:gd name="connsiteY16" fmla="*/ 509483 h 606722"/>
              <a:gd name="connsiteX17" fmla="*/ 522185 w 607639"/>
              <a:gd name="connsiteY17" fmla="*/ 417324 h 606722"/>
              <a:gd name="connsiteX18" fmla="*/ 534111 w 607639"/>
              <a:gd name="connsiteY18" fmla="*/ 429250 h 606722"/>
              <a:gd name="connsiteX19" fmla="*/ 522185 w 607639"/>
              <a:gd name="connsiteY19" fmla="*/ 441176 h 606722"/>
              <a:gd name="connsiteX20" fmla="*/ 510259 w 607639"/>
              <a:gd name="connsiteY20" fmla="*/ 429250 h 606722"/>
              <a:gd name="connsiteX21" fmla="*/ 522185 w 607639"/>
              <a:gd name="connsiteY21" fmla="*/ 417324 h 606722"/>
              <a:gd name="connsiteX22" fmla="*/ 85420 w 607639"/>
              <a:gd name="connsiteY22" fmla="*/ 417324 h 606722"/>
              <a:gd name="connsiteX23" fmla="*/ 97311 w 607639"/>
              <a:gd name="connsiteY23" fmla="*/ 429250 h 606722"/>
              <a:gd name="connsiteX24" fmla="*/ 85420 w 607639"/>
              <a:gd name="connsiteY24" fmla="*/ 441176 h 606722"/>
              <a:gd name="connsiteX25" fmla="*/ 73529 w 607639"/>
              <a:gd name="connsiteY25" fmla="*/ 429250 h 606722"/>
              <a:gd name="connsiteX26" fmla="*/ 85420 w 607639"/>
              <a:gd name="connsiteY26" fmla="*/ 417324 h 606722"/>
              <a:gd name="connsiteX27" fmla="*/ 537643 w 607639"/>
              <a:gd name="connsiteY27" fmla="*/ 291506 h 606722"/>
              <a:gd name="connsiteX28" fmla="*/ 555628 w 607639"/>
              <a:gd name="connsiteY28" fmla="*/ 291506 h 606722"/>
              <a:gd name="connsiteX29" fmla="*/ 567558 w 607639"/>
              <a:gd name="connsiteY29" fmla="*/ 303316 h 606722"/>
              <a:gd name="connsiteX30" fmla="*/ 555628 w 607639"/>
              <a:gd name="connsiteY30" fmla="*/ 315216 h 606722"/>
              <a:gd name="connsiteX31" fmla="*/ 537643 w 607639"/>
              <a:gd name="connsiteY31" fmla="*/ 315216 h 606722"/>
              <a:gd name="connsiteX32" fmla="*/ 525713 w 607639"/>
              <a:gd name="connsiteY32" fmla="*/ 303316 h 606722"/>
              <a:gd name="connsiteX33" fmla="*/ 537643 w 607639"/>
              <a:gd name="connsiteY33" fmla="*/ 291506 h 606722"/>
              <a:gd name="connsiteX34" fmla="*/ 51991 w 607639"/>
              <a:gd name="connsiteY34" fmla="*/ 291506 h 606722"/>
              <a:gd name="connsiteX35" fmla="*/ 69946 w 607639"/>
              <a:gd name="connsiteY35" fmla="*/ 291506 h 606722"/>
              <a:gd name="connsiteX36" fmla="*/ 81856 w 607639"/>
              <a:gd name="connsiteY36" fmla="*/ 303316 h 606722"/>
              <a:gd name="connsiteX37" fmla="*/ 69946 w 607639"/>
              <a:gd name="connsiteY37" fmla="*/ 315216 h 606722"/>
              <a:gd name="connsiteX38" fmla="*/ 51991 w 607639"/>
              <a:gd name="connsiteY38" fmla="*/ 315216 h 606722"/>
              <a:gd name="connsiteX39" fmla="*/ 40081 w 607639"/>
              <a:gd name="connsiteY39" fmla="*/ 303316 h 606722"/>
              <a:gd name="connsiteX40" fmla="*/ 51991 w 607639"/>
              <a:gd name="connsiteY40" fmla="*/ 291506 h 606722"/>
              <a:gd name="connsiteX41" fmla="*/ 412608 w 607639"/>
              <a:gd name="connsiteY41" fmla="*/ 222096 h 606722"/>
              <a:gd name="connsiteX42" fmla="*/ 345491 w 607639"/>
              <a:gd name="connsiteY42" fmla="*/ 334245 h 606722"/>
              <a:gd name="connsiteX43" fmla="*/ 412608 w 607639"/>
              <a:gd name="connsiteY43" fmla="*/ 334245 h 606722"/>
              <a:gd name="connsiteX44" fmla="*/ 427651 w 607639"/>
              <a:gd name="connsiteY44" fmla="*/ 167533 h 606722"/>
              <a:gd name="connsiteX45" fmla="*/ 436375 w 607639"/>
              <a:gd name="connsiteY45" fmla="*/ 178996 h 606722"/>
              <a:gd name="connsiteX46" fmla="*/ 436375 w 607639"/>
              <a:gd name="connsiteY46" fmla="*/ 334245 h 606722"/>
              <a:gd name="connsiteX47" fmla="*/ 469399 w 607639"/>
              <a:gd name="connsiteY47" fmla="*/ 334245 h 606722"/>
              <a:gd name="connsiteX48" fmla="*/ 481327 w 607639"/>
              <a:gd name="connsiteY48" fmla="*/ 346153 h 606722"/>
              <a:gd name="connsiteX49" fmla="*/ 469399 w 607639"/>
              <a:gd name="connsiteY49" fmla="*/ 357973 h 606722"/>
              <a:gd name="connsiteX50" fmla="*/ 436375 w 607639"/>
              <a:gd name="connsiteY50" fmla="*/ 357973 h 606722"/>
              <a:gd name="connsiteX51" fmla="*/ 436375 w 607639"/>
              <a:gd name="connsiteY51" fmla="*/ 427733 h 606722"/>
              <a:gd name="connsiteX52" fmla="*/ 424536 w 607639"/>
              <a:gd name="connsiteY52" fmla="*/ 439552 h 606722"/>
              <a:gd name="connsiteX53" fmla="*/ 412608 w 607639"/>
              <a:gd name="connsiteY53" fmla="*/ 427733 h 606722"/>
              <a:gd name="connsiteX54" fmla="*/ 412608 w 607639"/>
              <a:gd name="connsiteY54" fmla="*/ 357973 h 606722"/>
              <a:gd name="connsiteX55" fmla="*/ 324573 w 607639"/>
              <a:gd name="connsiteY55" fmla="*/ 357973 h 606722"/>
              <a:gd name="connsiteX56" fmla="*/ 314158 w 607639"/>
              <a:gd name="connsiteY56" fmla="*/ 352019 h 606722"/>
              <a:gd name="connsiteX57" fmla="*/ 314336 w 607639"/>
              <a:gd name="connsiteY57" fmla="*/ 340022 h 606722"/>
              <a:gd name="connsiteX58" fmla="*/ 414299 w 607639"/>
              <a:gd name="connsiteY58" fmla="*/ 172953 h 606722"/>
              <a:gd name="connsiteX59" fmla="*/ 427651 w 607639"/>
              <a:gd name="connsiteY59" fmla="*/ 167533 h 606722"/>
              <a:gd name="connsiteX60" fmla="*/ 216270 w 607639"/>
              <a:gd name="connsiteY60" fmla="*/ 167099 h 606722"/>
              <a:gd name="connsiteX61" fmla="*/ 290518 w 607639"/>
              <a:gd name="connsiteY61" fmla="*/ 241210 h 606722"/>
              <a:gd name="connsiteX62" fmla="*/ 242978 w 607639"/>
              <a:gd name="connsiteY62" fmla="*/ 355754 h 606722"/>
              <a:gd name="connsiteX63" fmla="*/ 182707 w 607639"/>
              <a:gd name="connsiteY63" fmla="*/ 415825 h 606722"/>
              <a:gd name="connsiteX64" fmla="*/ 278588 w 607639"/>
              <a:gd name="connsiteY64" fmla="*/ 415825 h 606722"/>
              <a:gd name="connsiteX65" fmla="*/ 290518 w 607639"/>
              <a:gd name="connsiteY65" fmla="*/ 427734 h 606722"/>
              <a:gd name="connsiteX66" fmla="*/ 278588 w 607639"/>
              <a:gd name="connsiteY66" fmla="*/ 439552 h 606722"/>
              <a:gd name="connsiteX67" fmla="*/ 154040 w 607639"/>
              <a:gd name="connsiteY67" fmla="*/ 439552 h 606722"/>
              <a:gd name="connsiteX68" fmla="*/ 143001 w 607639"/>
              <a:gd name="connsiteY68" fmla="*/ 432265 h 606722"/>
              <a:gd name="connsiteX69" fmla="*/ 145582 w 607639"/>
              <a:gd name="connsiteY69" fmla="*/ 419292 h 606722"/>
              <a:gd name="connsiteX70" fmla="*/ 226152 w 607639"/>
              <a:gd name="connsiteY70" fmla="*/ 338959 h 606722"/>
              <a:gd name="connsiteX71" fmla="*/ 266659 w 607639"/>
              <a:gd name="connsiteY71" fmla="*/ 241210 h 606722"/>
              <a:gd name="connsiteX72" fmla="*/ 216270 w 607639"/>
              <a:gd name="connsiteY72" fmla="*/ 190914 h 606722"/>
              <a:gd name="connsiteX73" fmla="*/ 165880 w 607639"/>
              <a:gd name="connsiteY73" fmla="*/ 241210 h 606722"/>
              <a:gd name="connsiteX74" fmla="*/ 154040 w 607639"/>
              <a:gd name="connsiteY74" fmla="*/ 253029 h 606722"/>
              <a:gd name="connsiteX75" fmla="*/ 142110 w 607639"/>
              <a:gd name="connsiteY75" fmla="*/ 241210 h 606722"/>
              <a:gd name="connsiteX76" fmla="*/ 216270 w 607639"/>
              <a:gd name="connsiteY76" fmla="*/ 167099 h 606722"/>
              <a:gd name="connsiteX77" fmla="*/ 522185 w 607639"/>
              <a:gd name="connsiteY77" fmla="*/ 165547 h 606722"/>
              <a:gd name="connsiteX78" fmla="*/ 534111 w 607639"/>
              <a:gd name="connsiteY78" fmla="*/ 177438 h 606722"/>
              <a:gd name="connsiteX79" fmla="*/ 522185 w 607639"/>
              <a:gd name="connsiteY79" fmla="*/ 189329 h 606722"/>
              <a:gd name="connsiteX80" fmla="*/ 510259 w 607639"/>
              <a:gd name="connsiteY80" fmla="*/ 177438 h 606722"/>
              <a:gd name="connsiteX81" fmla="*/ 522185 w 607639"/>
              <a:gd name="connsiteY81" fmla="*/ 165547 h 606722"/>
              <a:gd name="connsiteX82" fmla="*/ 85420 w 607639"/>
              <a:gd name="connsiteY82" fmla="*/ 165547 h 606722"/>
              <a:gd name="connsiteX83" fmla="*/ 97311 w 607639"/>
              <a:gd name="connsiteY83" fmla="*/ 177438 h 606722"/>
              <a:gd name="connsiteX84" fmla="*/ 85420 w 607639"/>
              <a:gd name="connsiteY84" fmla="*/ 189329 h 606722"/>
              <a:gd name="connsiteX85" fmla="*/ 73529 w 607639"/>
              <a:gd name="connsiteY85" fmla="*/ 177438 h 606722"/>
              <a:gd name="connsiteX86" fmla="*/ 85420 w 607639"/>
              <a:gd name="connsiteY86" fmla="*/ 165547 h 606722"/>
              <a:gd name="connsiteX87" fmla="*/ 429885 w 607639"/>
              <a:gd name="connsiteY87" fmla="*/ 73388 h 606722"/>
              <a:gd name="connsiteX88" fmla="*/ 441811 w 607639"/>
              <a:gd name="connsiteY88" fmla="*/ 85279 h 606722"/>
              <a:gd name="connsiteX89" fmla="*/ 429885 w 607639"/>
              <a:gd name="connsiteY89" fmla="*/ 97170 h 606722"/>
              <a:gd name="connsiteX90" fmla="*/ 417959 w 607639"/>
              <a:gd name="connsiteY90" fmla="*/ 85279 h 606722"/>
              <a:gd name="connsiteX91" fmla="*/ 429885 w 607639"/>
              <a:gd name="connsiteY91" fmla="*/ 73388 h 606722"/>
              <a:gd name="connsiteX92" fmla="*/ 177720 w 607639"/>
              <a:gd name="connsiteY92" fmla="*/ 73388 h 606722"/>
              <a:gd name="connsiteX93" fmla="*/ 189611 w 607639"/>
              <a:gd name="connsiteY93" fmla="*/ 85279 h 606722"/>
              <a:gd name="connsiteX94" fmla="*/ 177720 w 607639"/>
              <a:gd name="connsiteY94" fmla="*/ 97170 h 606722"/>
              <a:gd name="connsiteX95" fmla="*/ 165829 w 607639"/>
              <a:gd name="connsiteY95" fmla="*/ 85279 h 606722"/>
              <a:gd name="connsiteX96" fmla="*/ 177720 w 607639"/>
              <a:gd name="connsiteY96" fmla="*/ 73388 h 606722"/>
              <a:gd name="connsiteX97" fmla="*/ 303775 w 607639"/>
              <a:gd name="connsiteY97" fmla="*/ 42480 h 606722"/>
              <a:gd name="connsiteX98" fmla="*/ 315710 w 607639"/>
              <a:gd name="connsiteY98" fmla="*/ 54396 h 606722"/>
              <a:gd name="connsiteX99" fmla="*/ 315710 w 607639"/>
              <a:gd name="connsiteY99" fmla="*/ 69869 h 606722"/>
              <a:gd name="connsiteX100" fmla="*/ 303775 w 607639"/>
              <a:gd name="connsiteY100" fmla="*/ 81785 h 606722"/>
              <a:gd name="connsiteX101" fmla="*/ 291929 w 607639"/>
              <a:gd name="connsiteY101" fmla="*/ 69869 h 606722"/>
              <a:gd name="connsiteX102" fmla="*/ 291929 w 607639"/>
              <a:gd name="connsiteY102" fmla="*/ 54396 h 606722"/>
              <a:gd name="connsiteX103" fmla="*/ 303775 w 607639"/>
              <a:gd name="connsiteY103" fmla="*/ 42480 h 606722"/>
              <a:gd name="connsiteX104" fmla="*/ 303775 w 607639"/>
              <a:gd name="connsiteY104" fmla="*/ 0 h 606722"/>
              <a:gd name="connsiteX105" fmla="*/ 537058 w 607639"/>
              <a:gd name="connsiteY105" fmla="*/ 108956 h 606722"/>
              <a:gd name="connsiteX106" fmla="*/ 537058 w 607639"/>
              <a:gd name="connsiteY106" fmla="*/ 93048 h 606722"/>
              <a:gd name="connsiteX107" fmla="*/ 548895 w 607639"/>
              <a:gd name="connsiteY107" fmla="*/ 81139 h 606722"/>
              <a:gd name="connsiteX108" fmla="*/ 560822 w 607639"/>
              <a:gd name="connsiteY108" fmla="*/ 93048 h 606722"/>
              <a:gd name="connsiteX109" fmla="*/ 560822 w 607639"/>
              <a:gd name="connsiteY109" fmla="*/ 138994 h 606722"/>
              <a:gd name="connsiteX110" fmla="*/ 548895 w 607639"/>
              <a:gd name="connsiteY110" fmla="*/ 150903 h 606722"/>
              <a:gd name="connsiteX111" fmla="*/ 502880 w 607639"/>
              <a:gd name="connsiteY111" fmla="*/ 150903 h 606722"/>
              <a:gd name="connsiteX112" fmla="*/ 490953 w 607639"/>
              <a:gd name="connsiteY112" fmla="*/ 138994 h 606722"/>
              <a:gd name="connsiteX113" fmla="*/ 502880 w 607639"/>
              <a:gd name="connsiteY113" fmla="*/ 127174 h 606722"/>
              <a:gd name="connsiteX114" fmla="*/ 521126 w 607639"/>
              <a:gd name="connsiteY114" fmla="*/ 127174 h 606722"/>
              <a:gd name="connsiteX115" fmla="*/ 303775 w 607639"/>
              <a:gd name="connsiteY115" fmla="*/ 23728 h 606722"/>
              <a:gd name="connsiteX116" fmla="*/ 23764 w 607639"/>
              <a:gd name="connsiteY116" fmla="*/ 303316 h 606722"/>
              <a:gd name="connsiteX117" fmla="*/ 303775 w 607639"/>
              <a:gd name="connsiteY117" fmla="*/ 582905 h 606722"/>
              <a:gd name="connsiteX118" fmla="*/ 583786 w 607639"/>
              <a:gd name="connsiteY118" fmla="*/ 303316 h 606722"/>
              <a:gd name="connsiteX119" fmla="*/ 573906 w 607639"/>
              <a:gd name="connsiteY119" fmla="*/ 229376 h 606722"/>
              <a:gd name="connsiteX120" fmla="*/ 582273 w 607639"/>
              <a:gd name="connsiteY120" fmla="*/ 214801 h 606722"/>
              <a:gd name="connsiteX121" fmla="*/ 596869 w 607639"/>
              <a:gd name="connsiteY121" fmla="*/ 223066 h 606722"/>
              <a:gd name="connsiteX122" fmla="*/ 607639 w 607639"/>
              <a:gd name="connsiteY122" fmla="*/ 303316 h 606722"/>
              <a:gd name="connsiteX123" fmla="*/ 303775 w 607639"/>
              <a:gd name="connsiteY123" fmla="*/ 606722 h 606722"/>
              <a:gd name="connsiteX124" fmla="*/ 0 w 607639"/>
              <a:gd name="connsiteY124" fmla="*/ 303316 h 606722"/>
              <a:gd name="connsiteX125" fmla="*/ 303775 w 607639"/>
              <a:gd name="connsiteY125" fmla="*/ 0 h 606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Lst>
            <a:rect l="l" t="t" r="r" b="b"/>
            <a:pathLst>
              <a:path w="607639" h="606722">
                <a:moveTo>
                  <a:pt x="303775" y="525007"/>
                </a:moveTo>
                <a:cubicBezTo>
                  <a:pt x="310366" y="525007"/>
                  <a:pt x="315710" y="530333"/>
                  <a:pt x="315710" y="536902"/>
                </a:cubicBezTo>
                <a:lnTo>
                  <a:pt x="315710" y="552347"/>
                </a:lnTo>
                <a:cubicBezTo>
                  <a:pt x="315710" y="558915"/>
                  <a:pt x="310366" y="564241"/>
                  <a:pt x="303775" y="564241"/>
                </a:cubicBezTo>
                <a:cubicBezTo>
                  <a:pt x="297184" y="564241"/>
                  <a:pt x="291929" y="558915"/>
                  <a:pt x="291929" y="552347"/>
                </a:cubicBezTo>
                <a:lnTo>
                  <a:pt x="291929" y="536902"/>
                </a:lnTo>
                <a:cubicBezTo>
                  <a:pt x="291929" y="530333"/>
                  <a:pt x="297184" y="525007"/>
                  <a:pt x="303775" y="525007"/>
                </a:cubicBezTo>
                <a:close/>
                <a:moveTo>
                  <a:pt x="429885" y="509483"/>
                </a:moveTo>
                <a:cubicBezTo>
                  <a:pt x="436472" y="509483"/>
                  <a:pt x="441811" y="514822"/>
                  <a:pt x="441811" y="521409"/>
                </a:cubicBezTo>
                <a:cubicBezTo>
                  <a:pt x="441811" y="527996"/>
                  <a:pt x="436472" y="533335"/>
                  <a:pt x="429885" y="533335"/>
                </a:cubicBezTo>
                <a:cubicBezTo>
                  <a:pt x="423298" y="533335"/>
                  <a:pt x="417959" y="527996"/>
                  <a:pt x="417959" y="521409"/>
                </a:cubicBezTo>
                <a:cubicBezTo>
                  <a:pt x="417959" y="514822"/>
                  <a:pt x="423298" y="509483"/>
                  <a:pt x="429885" y="509483"/>
                </a:cubicBezTo>
                <a:close/>
                <a:moveTo>
                  <a:pt x="177720" y="509483"/>
                </a:moveTo>
                <a:cubicBezTo>
                  <a:pt x="184287" y="509483"/>
                  <a:pt x="189611" y="514822"/>
                  <a:pt x="189611" y="521409"/>
                </a:cubicBezTo>
                <a:cubicBezTo>
                  <a:pt x="189611" y="527996"/>
                  <a:pt x="184287" y="533335"/>
                  <a:pt x="177720" y="533335"/>
                </a:cubicBezTo>
                <a:cubicBezTo>
                  <a:pt x="171153" y="533335"/>
                  <a:pt x="165829" y="527996"/>
                  <a:pt x="165829" y="521409"/>
                </a:cubicBezTo>
                <a:cubicBezTo>
                  <a:pt x="165829" y="514822"/>
                  <a:pt x="171153" y="509483"/>
                  <a:pt x="177720" y="509483"/>
                </a:cubicBezTo>
                <a:close/>
                <a:moveTo>
                  <a:pt x="522185" y="417324"/>
                </a:moveTo>
                <a:cubicBezTo>
                  <a:pt x="528772" y="417324"/>
                  <a:pt x="534111" y="422663"/>
                  <a:pt x="534111" y="429250"/>
                </a:cubicBezTo>
                <a:cubicBezTo>
                  <a:pt x="534111" y="435837"/>
                  <a:pt x="528772" y="441176"/>
                  <a:pt x="522185" y="441176"/>
                </a:cubicBezTo>
                <a:cubicBezTo>
                  <a:pt x="515598" y="441176"/>
                  <a:pt x="510259" y="435837"/>
                  <a:pt x="510259" y="429250"/>
                </a:cubicBezTo>
                <a:cubicBezTo>
                  <a:pt x="510259" y="422663"/>
                  <a:pt x="515598" y="417324"/>
                  <a:pt x="522185" y="417324"/>
                </a:cubicBezTo>
                <a:close/>
                <a:moveTo>
                  <a:pt x="85420" y="417324"/>
                </a:moveTo>
                <a:cubicBezTo>
                  <a:pt x="91987" y="417324"/>
                  <a:pt x="97311" y="422663"/>
                  <a:pt x="97311" y="429250"/>
                </a:cubicBezTo>
                <a:cubicBezTo>
                  <a:pt x="97311" y="435837"/>
                  <a:pt x="91987" y="441176"/>
                  <a:pt x="85420" y="441176"/>
                </a:cubicBezTo>
                <a:cubicBezTo>
                  <a:pt x="78853" y="441176"/>
                  <a:pt x="73529" y="435837"/>
                  <a:pt x="73529" y="429250"/>
                </a:cubicBezTo>
                <a:cubicBezTo>
                  <a:pt x="73529" y="422663"/>
                  <a:pt x="78853" y="417324"/>
                  <a:pt x="85420" y="417324"/>
                </a:cubicBezTo>
                <a:close/>
                <a:moveTo>
                  <a:pt x="537643" y="291506"/>
                </a:moveTo>
                <a:lnTo>
                  <a:pt x="555628" y="291506"/>
                </a:lnTo>
                <a:cubicBezTo>
                  <a:pt x="562216" y="291506"/>
                  <a:pt x="567558" y="296745"/>
                  <a:pt x="567558" y="303316"/>
                </a:cubicBezTo>
                <a:cubicBezTo>
                  <a:pt x="567558" y="309888"/>
                  <a:pt x="562216" y="315216"/>
                  <a:pt x="555628" y="315216"/>
                </a:cubicBezTo>
                <a:lnTo>
                  <a:pt x="537643" y="315216"/>
                </a:lnTo>
                <a:cubicBezTo>
                  <a:pt x="531055" y="315216"/>
                  <a:pt x="525713" y="309888"/>
                  <a:pt x="525713" y="303316"/>
                </a:cubicBezTo>
                <a:cubicBezTo>
                  <a:pt x="525713" y="296745"/>
                  <a:pt x="531055" y="291506"/>
                  <a:pt x="537643" y="291506"/>
                </a:cubicBezTo>
                <a:close/>
                <a:moveTo>
                  <a:pt x="51991" y="291506"/>
                </a:moveTo>
                <a:lnTo>
                  <a:pt x="69946" y="291506"/>
                </a:lnTo>
                <a:cubicBezTo>
                  <a:pt x="76523" y="291506"/>
                  <a:pt x="81856" y="296745"/>
                  <a:pt x="81856" y="303316"/>
                </a:cubicBezTo>
                <a:cubicBezTo>
                  <a:pt x="81856" y="309888"/>
                  <a:pt x="76523" y="315216"/>
                  <a:pt x="69946" y="315216"/>
                </a:cubicBezTo>
                <a:lnTo>
                  <a:pt x="51991" y="315216"/>
                </a:lnTo>
                <a:cubicBezTo>
                  <a:pt x="45414" y="315216"/>
                  <a:pt x="40081" y="309888"/>
                  <a:pt x="40081" y="303316"/>
                </a:cubicBezTo>
                <a:cubicBezTo>
                  <a:pt x="40081" y="296745"/>
                  <a:pt x="45414" y="291506"/>
                  <a:pt x="51991" y="291506"/>
                </a:cubicBezTo>
                <a:close/>
                <a:moveTo>
                  <a:pt x="412608" y="222096"/>
                </a:moveTo>
                <a:lnTo>
                  <a:pt x="345491" y="334245"/>
                </a:lnTo>
                <a:lnTo>
                  <a:pt x="412608" y="334245"/>
                </a:lnTo>
                <a:close/>
                <a:moveTo>
                  <a:pt x="427651" y="167533"/>
                </a:moveTo>
                <a:cubicBezTo>
                  <a:pt x="432814" y="168954"/>
                  <a:pt x="436375" y="173664"/>
                  <a:pt x="436375" y="178996"/>
                </a:cubicBezTo>
                <a:lnTo>
                  <a:pt x="436375" y="334245"/>
                </a:lnTo>
                <a:lnTo>
                  <a:pt x="469399" y="334245"/>
                </a:lnTo>
                <a:cubicBezTo>
                  <a:pt x="475986" y="334245"/>
                  <a:pt x="481327" y="339577"/>
                  <a:pt x="481327" y="346153"/>
                </a:cubicBezTo>
                <a:cubicBezTo>
                  <a:pt x="481327" y="352641"/>
                  <a:pt x="475986" y="357973"/>
                  <a:pt x="469399" y="357973"/>
                </a:cubicBezTo>
                <a:lnTo>
                  <a:pt x="436375" y="357973"/>
                </a:lnTo>
                <a:lnTo>
                  <a:pt x="436375" y="427733"/>
                </a:lnTo>
                <a:cubicBezTo>
                  <a:pt x="436375" y="434220"/>
                  <a:pt x="431123" y="439552"/>
                  <a:pt x="424536" y="439552"/>
                </a:cubicBezTo>
                <a:cubicBezTo>
                  <a:pt x="417949" y="439552"/>
                  <a:pt x="412608" y="434220"/>
                  <a:pt x="412608" y="427733"/>
                </a:cubicBezTo>
                <a:lnTo>
                  <a:pt x="412608" y="357973"/>
                </a:lnTo>
                <a:lnTo>
                  <a:pt x="324573" y="357973"/>
                </a:lnTo>
                <a:cubicBezTo>
                  <a:pt x="320300" y="357973"/>
                  <a:pt x="316295" y="355662"/>
                  <a:pt x="314158" y="352019"/>
                </a:cubicBezTo>
                <a:cubicBezTo>
                  <a:pt x="312111" y="348286"/>
                  <a:pt x="312111" y="343665"/>
                  <a:pt x="314336" y="340022"/>
                </a:cubicBezTo>
                <a:lnTo>
                  <a:pt x="414299" y="172953"/>
                </a:lnTo>
                <a:cubicBezTo>
                  <a:pt x="417059" y="168332"/>
                  <a:pt x="422489" y="166111"/>
                  <a:pt x="427651" y="167533"/>
                </a:cubicBezTo>
                <a:close/>
                <a:moveTo>
                  <a:pt x="216270" y="167099"/>
                </a:moveTo>
                <a:cubicBezTo>
                  <a:pt x="257222" y="167099"/>
                  <a:pt x="290518" y="200333"/>
                  <a:pt x="290518" y="241210"/>
                </a:cubicBezTo>
                <a:cubicBezTo>
                  <a:pt x="290518" y="284486"/>
                  <a:pt x="273603" y="325097"/>
                  <a:pt x="242978" y="355754"/>
                </a:cubicBezTo>
                <a:lnTo>
                  <a:pt x="182707" y="415825"/>
                </a:lnTo>
                <a:lnTo>
                  <a:pt x="278588" y="415825"/>
                </a:lnTo>
                <a:cubicBezTo>
                  <a:pt x="285176" y="415825"/>
                  <a:pt x="290518" y="421158"/>
                  <a:pt x="290518" y="427734"/>
                </a:cubicBezTo>
                <a:cubicBezTo>
                  <a:pt x="290518" y="434220"/>
                  <a:pt x="285176" y="439552"/>
                  <a:pt x="278588" y="439552"/>
                </a:cubicBezTo>
                <a:lnTo>
                  <a:pt x="154040" y="439552"/>
                </a:lnTo>
                <a:cubicBezTo>
                  <a:pt x="149232" y="439552"/>
                  <a:pt x="144870" y="436709"/>
                  <a:pt x="143001" y="432265"/>
                </a:cubicBezTo>
                <a:cubicBezTo>
                  <a:pt x="141131" y="427822"/>
                  <a:pt x="142199" y="422668"/>
                  <a:pt x="145582" y="419292"/>
                </a:cubicBezTo>
                <a:lnTo>
                  <a:pt x="226152" y="338959"/>
                </a:lnTo>
                <a:cubicBezTo>
                  <a:pt x="252236" y="312834"/>
                  <a:pt x="266659" y="278088"/>
                  <a:pt x="266659" y="241210"/>
                </a:cubicBezTo>
                <a:cubicBezTo>
                  <a:pt x="266659" y="213485"/>
                  <a:pt x="244046" y="190914"/>
                  <a:pt x="216270" y="190914"/>
                </a:cubicBezTo>
                <a:cubicBezTo>
                  <a:pt x="188493" y="190914"/>
                  <a:pt x="165880" y="213485"/>
                  <a:pt x="165880" y="241210"/>
                </a:cubicBezTo>
                <a:cubicBezTo>
                  <a:pt x="165880" y="247786"/>
                  <a:pt x="160539" y="253029"/>
                  <a:pt x="154040" y="253029"/>
                </a:cubicBezTo>
                <a:cubicBezTo>
                  <a:pt x="147452" y="253029"/>
                  <a:pt x="142110" y="247786"/>
                  <a:pt x="142110" y="241210"/>
                </a:cubicBezTo>
                <a:cubicBezTo>
                  <a:pt x="142110" y="200333"/>
                  <a:pt x="175406" y="167099"/>
                  <a:pt x="216270" y="167099"/>
                </a:cubicBezTo>
                <a:close/>
                <a:moveTo>
                  <a:pt x="522185" y="165547"/>
                </a:moveTo>
                <a:cubicBezTo>
                  <a:pt x="528772" y="165547"/>
                  <a:pt x="534111" y="170871"/>
                  <a:pt x="534111" y="177438"/>
                </a:cubicBezTo>
                <a:cubicBezTo>
                  <a:pt x="534111" y="184005"/>
                  <a:pt x="528772" y="189329"/>
                  <a:pt x="522185" y="189329"/>
                </a:cubicBezTo>
                <a:cubicBezTo>
                  <a:pt x="515598" y="189329"/>
                  <a:pt x="510259" y="184005"/>
                  <a:pt x="510259" y="177438"/>
                </a:cubicBezTo>
                <a:cubicBezTo>
                  <a:pt x="510259" y="170871"/>
                  <a:pt x="515598" y="165547"/>
                  <a:pt x="522185" y="165547"/>
                </a:cubicBezTo>
                <a:close/>
                <a:moveTo>
                  <a:pt x="85420" y="165547"/>
                </a:moveTo>
                <a:cubicBezTo>
                  <a:pt x="91987" y="165547"/>
                  <a:pt x="97311" y="170871"/>
                  <a:pt x="97311" y="177438"/>
                </a:cubicBezTo>
                <a:cubicBezTo>
                  <a:pt x="97311" y="184005"/>
                  <a:pt x="91987" y="189329"/>
                  <a:pt x="85420" y="189329"/>
                </a:cubicBezTo>
                <a:cubicBezTo>
                  <a:pt x="78853" y="189329"/>
                  <a:pt x="73529" y="184005"/>
                  <a:pt x="73529" y="177438"/>
                </a:cubicBezTo>
                <a:cubicBezTo>
                  <a:pt x="73529" y="170871"/>
                  <a:pt x="78853" y="165547"/>
                  <a:pt x="85420" y="165547"/>
                </a:cubicBezTo>
                <a:close/>
                <a:moveTo>
                  <a:pt x="429885" y="73388"/>
                </a:moveTo>
                <a:cubicBezTo>
                  <a:pt x="436472" y="73388"/>
                  <a:pt x="441811" y="78712"/>
                  <a:pt x="441811" y="85279"/>
                </a:cubicBezTo>
                <a:cubicBezTo>
                  <a:pt x="441811" y="91846"/>
                  <a:pt x="436472" y="97170"/>
                  <a:pt x="429885" y="97170"/>
                </a:cubicBezTo>
                <a:cubicBezTo>
                  <a:pt x="423298" y="97170"/>
                  <a:pt x="417959" y="91846"/>
                  <a:pt x="417959" y="85279"/>
                </a:cubicBezTo>
                <a:cubicBezTo>
                  <a:pt x="417959" y="78712"/>
                  <a:pt x="423298" y="73388"/>
                  <a:pt x="429885" y="73388"/>
                </a:cubicBezTo>
                <a:close/>
                <a:moveTo>
                  <a:pt x="177720" y="73388"/>
                </a:moveTo>
                <a:cubicBezTo>
                  <a:pt x="184287" y="73388"/>
                  <a:pt x="189611" y="78712"/>
                  <a:pt x="189611" y="85279"/>
                </a:cubicBezTo>
                <a:cubicBezTo>
                  <a:pt x="189611" y="91846"/>
                  <a:pt x="184287" y="97170"/>
                  <a:pt x="177720" y="97170"/>
                </a:cubicBezTo>
                <a:cubicBezTo>
                  <a:pt x="171153" y="97170"/>
                  <a:pt x="165829" y="91846"/>
                  <a:pt x="165829" y="85279"/>
                </a:cubicBezTo>
                <a:cubicBezTo>
                  <a:pt x="165829" y="78712"/>
                  <a:pt x="171153" y="73388"/>
                  <a:pt x="177720" y="73388"/>
                </a:cubicBezTo>
                <a:close/>
                <a:moveTo>
                  <a:pt x="303775" y="42480"/>
                </a:moveTo>
                <a:cubicBezTo>
                  <a:pt x="310366" y="42480"/>
                  <a:pt x="315710" y="47815"/>
                  <a:pt x="315710" y="54396"/>
                </a:cubicBezTo>
                <a:lnTo>
                  <a:pt x="315710" y="69869"/>
                </a:lnTo>
                <a:cubicBezTo>
                  <a:pt x="315710" y="76449"/>
                  <a:pt x="310366" y="81785"/>
                  <a:pt x="303775" y="81785"/>
                </a:cubicBezTo>
                <a:cubicBezTo>
                  <a:pt x="297184" y="81785"/>
                  <a:pt x="291929" y="76449"/>
                  <a:pt x="291929" y="69869"/>
                </a:cubicBezTo>
                <a:lnTo>
                  <a:pt x="291929" y="54396"/>
                </a:lnTo>
                <a:cubicBezTo>
                  <a:pt x="291929" y="47815"/>
                  <a:pt x="297184" y="42480"/>
                  <a:pt x="303775" y="42480"/>
                </a:cubicBezTo>
                <a:close/>
                <a:moveTo>
                  <a:pt x="303775" y="0"/>
                </a:moveTo>
                <a:cubicBezTo>
                  <a:pt x="394204" y="0"/>
                  <a:pt x="479560" y="40347"/>
                  <a:pt x="537058" y="108956"/>
                </a:cubicBezTo>
                <a:lnTo>
                  <a:pt x="537058" y="93048"/>
                </a:lnTo>
                <a:cubicBezTo>
                  <a:pt x="537058" y="86471"/>
                  <a:pt x="542309" y="81139"/>
                  <a:pt x="548895" y="81139"/>
                </a:cubicBezTo>
                <a:cubicBezTo>
                  <a:pt x="555482" y="81139"/>
                  <a:pt x="560822" y="86471"/>
                  <a:pt x="560822" y="93048"/>
                </a:cubicBezTo>
                <a:lnTo>
                  <a:pt x="560822" y="138994"/>
                </a:lnTo>
                <a:cubicBezTo>
                  <a:pt x="560822" y="145570"/>
                  <a:pt x="555482" y="150903"/>
                  <a:pt x="548895" y="150903"/>
                </a:cubicBezTo>
                <a:lnTo>
                  <a:pt x="502880" y="150903"/>
                </a:lnTo>
                <a:cubicBezTo>
                  <a:pt x="496293" y="150903"/>
                  <a:pt x="490953" y="145570"/>
                  <a:pt x="490953" y="138994"/>
                </a:cubicBezTo>
                <a:cubicBezTo>
                  <a:pt x="490953" y="132417"/>
                  <a:pt x="496293" y="127174"/>
                  <a:pt x="502880" y="127174"/>
                </a:cubicBezTo>
                <a:lnTo>
                  <a:pt x="521126" y="127174"/>
                </a:lnTo>
                <a:cubicBezTo>
                  <a:pt x="468168" y="62032"/>
                  <a:pt x="388419" y="23728"/>
                  <a:pt x="303775" y="23728"/>
                </a:cubicBezTo>
                <a:cubicBezTo>
                  <a:pt x="149440" y="23728"/>
                  <a:pt x="23764" y="149214"/>
                  <a:pt x="23764" y="303316"/>
                </a:cubicBezTo>
                <a:cubicBezTo>
                  <a:pt x="23764" y="457508"/>
                  <a:pt x="149440" y="582905"/>
                  <a:pt x="303775" y="582905"/>
                </a:cubicBezTo>
                <a:cubicBezTo>
                  <a:pt x="458199" y="582905"/>
                  <a:pt x="583786" y="457508"/>
                  <a:pt x="583786" y="303316"/>
                </a:cubicBezTo>
                <a:cubicBezTo>
                  <a:pt x="583786" y="278255"/>
                  <a:pt x="580492" y="253371"/>
                  <a:pt x="573906" y="229376"/>
                </a:cubicBezTo>
                <a:cubicBezTo>
                  <a:pt x="572126" y="223066"/>
                  <a:pt x="575864" y="216489"/>
                  <a:pt x="582273" y="214801"/>
                </a:cubicBezTo>
                <a:cubicBezTo>
                  <a:pt x="588592" y="213023"/>
                  <a:pt x="595089" y="216756"/>
                  <a:pt x="596869" y="223066"/>
                </a:cubicBezTo>
                <a:cubicBezTo>
                  <a:pt x="603990" y="249194"/>
                  <a:pt x="607639" y="276122"/>
                  <a:pt x="607639" y="303316"/>
                </a:cubicBezTo>
                <a:cubicBezTo>
                  <a:pt x="607639" y="470572"/>
                  <a:pt x="471283" y="606722"/>
                  <a:pt x="303775" y="606722"/>
                </a:cubicBezTo>
                <a:cubicBezTo>
                  <a:pt x="136267" y="606722"/>
                  <a:pt x="0" y="470572"/>
                  <a:pt x="0" y="303316"/>
                </a:cubicBezTo>
                <a:cubicBezTo>
                  <a:pt x="0" y="136061"/>
                  <a:pt x="136267" y="0"/>
                  <a:pt x="30377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sp>
        <p:nvSpPr>
          <p:cNvPr id="10" name="文字方塊 9">
            <a:extLst>
              <a:ext uri="{FF2B5EF4-FFF2-40B4-BE49-F238E27FC236}">
                <a16:creationId xmlns:a16="http://schemas.microsoft.com/office/drawing/2014/main" id="{5EB95789-1338-4013-A515-04F0F93F710E}"/>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spTree>
    <p:extLst>
      <p:ext uri="{BB962C8B-B14F-4D97-AF65-F5344CB8AC3E}">
        <p14:creationId xmlns:p14="http://schemas.microsoft.com/office/powerpoint/2010/main" val="3263882906"/>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2" presetClass="entr" presetSubtype="8"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p:tgtEl>
                                          <p:spTgt spid="7"/>
                                        </p:tgtEl>
                                        <p:attrNameLst>
                                          <p:attrName>ppt_x</p:attrName>
                                        </p:attrNameLst>
                                      </p:cBhvr>
                                      <p:tavLst>
                                        <p:tav tm="0">
                                          <p:val>
                                            <p:strVal val="#ppt_x-#ppt_w*1.125000"/>
                                          </p:val>
                                        </p:tav>
                                        <p:tav tm="100000">
                                          <p:val>
                                            <p:strVal val="#ppt_x"/>
                                          </p:val>
                                        </p:tav>
                                      </p:tavLst>
                                    </p:anim>
                                    <p:animEffect transition="in" filter="wipe(right)">
                                      <p:cBhvr>
                                        <p:cTn id="8" dur="500"/>
                                        <p:tgtEl>
                                          <p:spTgt spid="7"/>
                                        </p:tgtEl>
                                      </p:cBhvr>
                                    </p:animEffect>
                                  </p:childTnLst>
                                </p:cTn>
                              </p:par>
                              <p:par>
                                <p:cTn id="9" presetID="12" presetClass="entr" presetSubtype="4"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500"/>
                                        <p:tgtEl>
                                          <p:spTgt spid="9"/>
                                        </p:tgtEl>
                                        <p:attrNameLst>
                                          <p:attrName>ppt_y</p:attrName>
                                        </p:attrNameLst>
                                      </p:cBhvr>
                                      <p:tavLst>
                                        <p:tav tm="0">
                                          <p:val>
                                            <p:strVal val="#ppt_y+#ppt_h*1.125000"/>
                                          </p:val>
                                        </p:tav>
                                        <p:tav tm="100000">
                                          <p:val>
                                            <p:strVal val="#ppt_y"/>
                                          </p:val>
                                        </p:tav>
                                      </p:tavLst>
                                    </p:anim>
                                    <p:animEffect transition="in" filter="wipe(up)">
                                      <p:cBhvr>
                                        <p:cTn id="12" dur="500"/>
                                        <p:tgtEl>
                                          <p:spTgt spid="9"/>
                                        </p:tgtEl>
                                      </p:cBhvr>
                                    </p:animEffect>
                                  </p:childTnLst>
                                </p:cTn>
                              </p:par>
                              <p:par>
                                <p:cTn id="13" presetID="53" presetClass="entr" presetSubtype="16" fill="hold" grpId="0" nodeType="withEffect">
                                  <p:stCondLst>
                                    <p:cond delay="0"/>
                                  </p:stCondLst>
                                  <p:childTnLst>
                                    <p:set>
                                      <p:cBhvr>
                                        <p:cTn id="14" dur="1" fill="hold">
                                          <p:stCondLst>
                                            <p:cond delay="0"/>
                                          </p:stCondLst>
                                        </p:cTn>
                                        <p:tgtEl>
                                          <p:spTgt spid="46"/>
                                        </p:tgtEl>
                                        <p:attrNameLst>
                                          <p:attrName>style.visibility</p:attrName>
                                        </p:attrNameLst>
                                      </p:cBhvr>
                                      <p:to>
                                        <p:strVal val="visible"/>
                                      </p:to>
                                    </p:set>
                                    <p:anim calcmode="lin" valueType="num">
                                      <p:cBhvr>
                                        <p:cTn id="15" dur="500" fill="hold"/>
                                        <p:tgtEl>
                                          <p:spTgt spid="46"/>
                                        </p:tgtEl>
                                        <p:attrNameLst>
                                          <p:attrName>ppt_w</p:attrName>
                                        </p:attrNameLst>
                                      </p:cBhvr>
                                      <p:tavLst>
                                        <p:tav tm="0">
                                          <p:val>
                                            <p:fltVal val="0"/>
                                          </p:val>
                                        </p:tav>
                                        <p:tav tm="100000">
                                          <p:val>
                                            <p:strVal val="#ppt_w"/>
                                          </p:val>
                                        </p:tav>
                                      </p:tavLst>
                                    </p:anim>
                                    <p:anim calcmode="lin" valueType="num">
                                      <p:cBhvr>
                                        <p:cTn id="16" dur="500" fill="hold"/>
                                        <p:tgtEl>
                                          <p:spTgt spid="46"/>
                                        </p:tgtEl>
                                        <p:attrNameLst>
                                          <p:attrName>ppt_h</p:attrName>
                                        </p:attrNameLst>
                                      </p:cBhvr>
                                      <p:tavLst>
                                        <p:tav tm="0">
                                          <p:val>
                                            <p:fltVal val="0"/>
                                          </p:val>
                                        </p:tav>
                                        <p:tav tm="100000">
                                          <p:val>
                                            <p:strVal val="#ppt_h"/>
                                          </p:val>
                                        </p:tav>
                                      </p:tavLst>
                                    </p:anim>
                                    <p:animEffect transition="in" filter="fade">
                                      <p:cBhvr>
                                        <p:cTn id="17" dur="500"/>
                                        <p:tgtEl>
                                          <p:spTgt spid="46"/>
                                        </p:tgtEl>
                                      </p:cBhvr>
                                    </p:animEffect>
                                  </p:childTnLst>
                                </p:cTn>
                              </p:par>
                              <p:par>
                                <p:cTn id="18" presetID="53" presetClass="entr" presetSubtype="16" fill="hold" grpId="0" nodeType="withEffect">
                                  <p:stCondLst>
                                    <p:cond delay="0"/>
                                  </p:stCondLst>
                                  <p:childTnLst>
                                    <p:set>
                                      <p:cBhvr>
                                        <p:cTn id="19" dur="1" fill="hold">
                                          <p:stCondLst>
                                            <p:cond delay="0"/>
                                          </p:stCondLst>
                                        </p:cTn>
                                        <p:tgtEl>
                                          <p:spTgt spid="47"/>
                                        </p:tgtEl>
                                        <p:attrNameLst>
                                          <p:attrName>style.visibility</p:attrName>
                                        </p:attrNameLst>
                                      </p:cBhvr>
                                      <p:to>
                                        <p:strVal val="visible"/>
                                      </p:to>
                                    </p:set>
                                    <p:anim calcmode="lin" valueType="num">
                                      <p:cBhvr>
                                        <p:cTn id="20" dur="500" fill="hold"/>
                                        <p:tgtEl>
                                          <p:spTgt spid="47"/>
                                        </p:tgtEl>
                                        <p:attrNameLst>
                                          <p:attrName>ppt_w</p:attrName>
                                        </p:attrNameLst>
                                      </p:cBhvr>
                                      <p:tavLst>
                                        <p:tav tm="0">
                                          <p:val>
                                            <p:fltVal val="0"/>
                                          </p:val>
                                        </p:tav>
                                        <p:tav tm="100000">
                                          <p:val>
                                            <p:strVal val="#ppt_w"/>
                                          </p:val>
                                        </p:tav>
                                      </p:tavLst>
                                    </p:anim>
                                    <p:anim calcmode="lin" valueType="num">
                                      <p:cBhvr>
                                        <p:cTn id="21" dur="500" fill="hold"/>
                                        <p:tgtEl>
                                          <p:spTgt spid="47"/>
                                        </p:tgtEl>
                                        <p:attrNameLst>
                                          <p:attrName>ppt_h</p:attrName>
                                        </p:attrNameLst>
                                      </p:cBhvr>
                                      <p:tavLst>
                                        <p:tav tm="0">
                                          <p:val>
                                            <p:fltVal val="0"/>
                                          </p:val>
                                        </p:tav>
                                        <p:tav tm="100000">
                                          <p:val>
                                            <p:strVal val="#ppt_h"/>
                                          </p:val>
                                        </p:tav>
                                      </p:tavLst>
                                    </p:anim>
                                    <p:animEffect transition="in" filter="fade">
                                      <p:cBhvr>
                                        <p:cTn id="22" dur="5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P spid="46" grpId="0" animBg="1"/>
      <p:bldP spid="47"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3"/>
          <a:stretch>
            <a:fillRect/>
          </a:stretch>
        </p:blipFill>
        <p:spPr>
          <a:xfrm flipH="1">
            <a:off x="8244230" y="0"/>
            <a:ext cx="3947770" cy="4851400"/>
          </a:xfrm>
          <a:prstGeom prst="rect">
            <a:avLst/>
          </a:prstGeom>
        </p:spPr>
      </p:pic>
      <p:sp>
        <p:nvSpPr>
          <p:cNvPr id="5" name="矩形 4"/>
          <p:cNvSpPr/>
          <p:nvPr/>
        </p:nvSpPr>
        <p:spPr>
          <a:xfrm>
            <a:off x="1023923" y="1367615"/>
            <a:ext cx="4515981" cy="523220"/>
          </a:xfrm>
          <a:prstGeom prst="rect">
            <a:avLst/>
          </a:prstGeom>
        </p:spPr>
        <p:txBody>
          <a:bodyPr wrap="none">
            <a:spAutoFit/>
            <a:scene3d>
              <a:camera prst="orthographicFront"/>
              <a:lightRig rig="threePt" dir="t"/>
            </a:scene3d>
            <a:sp3d contourW="12700"/>
          </a:bodyPr>
          <a:lstStyle/>
          <a:p>
            <a:pPr algn="ctr"/>
            <a:r>
              <a:rPr lang="en-US" altLang="zh-TW" sz="2800" b="1" dirty="0">
                <a:solidFill>
                  <a:schemeClr val="accent6"/>
                </a:solidFill>
              </a:rPr>
              <a:t>7-1 </a:t>
            </a:r>
            <a:r>
              <a:rPr lang="zh-TW" altLang="en-US" sz="2800" b="1" dirty="0">
                <a:solidFill>
                  <a:schemeClr val="accent6"/>
                </a:solidFill>
              </a:rPr>
              <a:t>實務案例</a:t>
            </a:r>
            <a:r>
              <a:rPr lang="en-US" altLang="zh-TW" sz="2800" b="1" dirty="0">
                <a:solidFill>
                  <a:schemeClr val="accent6"/>
                </a:solidFill>
              </a:rPr>
              <a:t>-</a:t>
            </a:r>
            <a:r>
              <a:rPr lang="zh-TW" altLang="en-US" sz="2800" b="1" dirty="0">
                <a:solidFill>
                  <a:schemeClr val="accent6"/>
                </a:solidFill>
              </a:rPr>
              <a:t>食品安全管理</a:t>
            </a:r>
          </a:p>
        </p:txBody>
      </p:sp>
      <p:sp>
        <p:nvSpPr>
          <p:cNvPr id="47" name="矩形 46"/>
          <p:cNvSpPr/>
          <p:nvPr/>
        </p:nvSpPr>
        <p:spPr>
          <a:xfrm>
            <a:off x="1023926" y="2239077"/>
            <a:ext cx="3797835" cy="523220"/>
          </a:xfrm>
          <a:prstGeom prst="rect">
            <a:avLst/>
          </a:prstGeom>
        </p:spPr>
        <p:txBody>
          <a:bodyPr wrap="none">
            <a:spAutoFit/>
            <a:scene3d>
              <a:camera prst="orthographicFront"/>
              <a:lightRig rig="threePt" dir="t"/>
            </a:scene3d>
            <a:sp3d contourW="12700"/>
          </a:bodyPr>
          <a:lstStyle/>
          <a:p>
            <a:pPr algn="ctr"/>
            <a:r>
              <a:rPr lang="en-US" altLang="zh-TW" sz="2800" b="1" dirty="0">
                <a:solidFill>
                  <a:schemeClr val="accent6"/>
                </a:solidFill>
              </a:rPr>
              <a:t>7-2</a:t>
            </a:r>
            <a:r>
              <a:rPr lang="zh-TW" altLang="en-US" sz="2800" b="1" dirty="0">
                <a:solidFill>
                  <a:schemeClr val="accent6"/>
                </a:solidFill>
              </a:rPr>
              <a:t> 實務案例</a:t>
            </a:r>
            <a:r>
              <a:rPr lang="en-US" altLang="zh-TW" sz="2800" b="1" dirty="0">
                <a:solidFill>
                  <a:schemeClr val="accent6"/>
                </a:solidFill>
              </a:rPr>
              <a:t>-</a:t>
            </a:r>
            <a:r>
              <a:rPr lang="zh-TW" altLang="en-US" sz="2800" b="1" dirty="0">
                <a:solidFill>
                  <a:schemeClr val="accent6"/>
                </a:solidFill>
              </a:rPr>
              <a:t>漁產履歷</a:t>
            </a:r>
          </a:p>
        </p:txBody>
      </p:sp>
      <p:sp>
        <p:nvSpPr>
          <p:cNvPr id="52" name="矩形 51"/>
          <p:cNvSpPr/>
          <p:nvPr/>
        </p:nvSpPr>
        <p:spPr>
          <a:xfrm>
            <a:off x="1023926" y="3108423"/>
            <a:ext cx="3797835" cy="523220"/>
          </a:xfrm>
          <a:prstGeom prst="rect">
            <a:avLst/>
          </a:prstGeom>
        </p:spPr>
        <p:txBody>
          <a:bodyPr wrap="none">
            <a:spAutoFit/>
            <a:scene3d>
              <a:camera prst="orthographicFront"/>
              <a:lightRig rig="threePt" dir="t"/>
            </a:scene3d>
            <a:sp3d contourW="12700"/>
          </a:bodyPr>
          <a:lstStyle/>
          <a:p>
            <a:pPr algn="ctr"/>
            <a:r>
              <a:rPr lang="en-US" altLang="zh-TW" sz="2800" b="1" dirty="0">
                <a:solidFill>
                  <a:schemeClr val="accent6"/>
                </a:solidFill>
              </a:rPr>
              <a:t>7-3 </a:t>
            </a:r>
            <a:r>
              <a:rPr lang="zh-TW" altLang="en-US" sz="2800" b="1" dirty="0">
                <a:solidFill>
                  <a:schemeClr val="accent6"/>
                </a:solidFill>
              </a:rPr>
              <a:t>實務案例</a:t>
            </a:r>
            <a:r>
              <a:rPr lang="en-US" altLang="zh-TW" sz="2800" b="1" dirty="0">
                <a:solidFill>
                  <a:schemeClr val="accent6"/>
                </a:solidFill>
              </a:rPr>
              <a:t>-</a:t>
            </a:r>
            <a:r>
              <a:rPr lang="zh-TW" altLang="en-US" sz="2800" b="1" dirty="0">
                <a:solidFill>
                  <a:schemeClr val="accent6"/>
                </a:solidFill>
              </a:rPr>
              <a:t>農產履歷</a:t>
            </a:r>
          </a:p>
        </p:txBody>
      </p:sp>
      <p:sp>
        <p:nvSpPr>
          <p:cNvPr id="65" name="文本框 64"/>
          <p:cNvSpPr txBox="1"/>
          <p:nvPr/>
        </p:nvSpPr>
        <p:spPr>
          <a:xfrm rot="5400000">
            <a:off x="5416355" y="2443872"/>
            <a:ext cx="3531736" cy="923330"/>
          </a:xfrm>
          <a:prstGeom prst="rect">
            <a:avLst/>
          </a:prstGeom>
          <a:noFill/>
        </p:spPr>
        <p:txBody>
          <a:bodyPr wrap="none" rtlCol="0">
            <a:spAutoFit/>
            <a:scene3d>
              <a:camera prst="orthographicFront"/>
              <a:lightRig rig="threePt" dir="t"/>
            </a:scene3d>
            <a:sp3d contourW="12700"/>
          </a:bodyPr>
          <a:lstStyle/>
          <a:p>
            <a:r>
              <a:rPr lang="en-US" altLang="zh-CN" sz="5400" b="1" dirty="0">
                <a:solidFill>
                  <a:schemeClr val="accent1"/>
                </a:solidFill>
              </a:rPr>
              <a:t>CONTENT</a:t>
            </a:r>
            <a:endParaRPr lang="zh-CN" altLang="en-US" sz="5400" b="1" dirty="0">
              <a:solidFill>
                <a:schemeClr val="accent1"/>
              </a:solidFill>
            </a:endParaRPr>
          </a:p>
        </p:txBody>
      </p:sp>
      <p:sp>
        <p:nvSpPr>
          <p:cNvPr id="8" name="文字方塊 7">
            <a:extLst>
              <a:ext uri="{FF2B5EF4-FFF2-40B4-BE49-F238E27FC236}">
                <a16:creationId xmlns:a16="http://schemas.microsoft.com/office/drawing/2014/main" id="{AD9A2B78-0D0D-4B36-A4E1-F03D659AB278}"/>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spTree>
    <p:extLst>
      <p:ext uri="{BB962C8B-B14F-4D97-AF65-F5344CB8AC3E}">
        <p14:creationId xmlns:p14="http://schemas.microsoft.com/office/powerpoint/2010/main" val="3839536719"/>
      </p:ext>
    </p:extLst>
  </p:cSld>
  <p:clrMapOvr>
    <a:masterClrMapping/>
  </p:clrMapOvr>
  <mc:AlternateContent xmlns:mc="http://schemas.openxmlformats.org/markup-compatibility/2006" xmlns:p14="http://schemas.microsoft.com/office/powerpoint/2010/main">
    <mc:Choice Requires="p14">
      <p:transition spd="slow" p14:dur="1500">
        <p14:window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1" fill="hold" nodeType="after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0-#ppt_h/2"/>
                                          </p:val>
                                        </p:tav>
                                        <p:tav tm="100000">
                                          <p:val>
                                            <p:strVal val="#ppt_y"/>
                                          </p:val>
                                        </p:tav>
                                      </p:tavLst>
                                    </p:anim>
                                  </p:childTnLst>
                                </p:cTn>
                              </p:par>
                            </p:childTnLst>
                          </p:cTn>
                        </p:par>
                        <p:par>
                          <p:cTn id="9" fill="hold">
                            <p:stCondLst>
                              <p:cond delay="500"/>
                            </p:stCondLst>
                            <p:childTnLst>
                              <p:par>
                                <p:cTn id="10" presetID="47" presetClass="entr" presetSubtype="0" fill="hold" grpId="0" nodeType="afterEffect">
                                  <p:stCondLst>
                                    <p:cond delay="0"/>
                                  </p:stCondLst>
                                  <p:childTnLst>
                                    <p:set>
                                      <p:cBhvr>
                                        <p:cTn id="11" dur="1" fill="hold">
                                          <p:stCondLst>
                                            <p:cond delay="0"/>
                                          </p:stCondLst>
                                        </p:cTn>
                                        <p:tgtEl>
                                          <p:spTgt spid="65"/>
                                        </p:tgtEl>
                                        <p:attrNameLst>
                                          <p:attrName>style.visibility</p:attrName>
                                        </p:attrNameLst>
                                      </p:cBhvr>
                                      <p:to>
                                        <p:strVal val="visible"/>
                                      </p:to>
                                    </p:set>
                                    <p:animEffect transition="in" filter="fade">
                                      <p:cBhvr>
                                        <p:cTn id="12" dur="1000"/>
                                        <p:tgtEl>
                                          <p:spTgt spid="65"/>
                                        </p:tgtEl>
                                      </p:cBhvr>
                                    </p:animEffect>
                                    <p:anim calcmode="lin" valueType="num">
                                      <p:cBhvr>
                                        <p:cTn id="13" dur="1000" fill="hold"/>
                                        <p:tgtEl>
                                          <p:spTgt spid="65"/>
                                        </p:tgtEl>
                                        <p:attrNameLst>
                                          <p:attrName>ppt_x</p:attrName>
                                        </p:attrNameLst>
                                      </p:cBhvr>
                                      <p:tavLst>
                                        <p:tav tm="0">
                                          <p:val>
                                            <p:strVal val="#ppt_x"/>
                                          </p:val>
                                        </p:tav>
                                        <p:tav tm="100000">
                                          <p:val>
                                            <p:strVal val="#ppt_x"/>
                                          </p:val>
                                        </p:tav>
                                      </p:tavLst>
                                    </p:anim>
                                    <p:anim calcmode="lin" valueType="num">
                                      <p:cBhvr>
                                        <p:cTn id="14" dur="1000" fill="hold"/>
                                        <p:tgtEl>
                                          <p:spTgt spid="65"/>
                                        </p:tgtEl>
                                        <p:attrNameLst>
                                          <p:attrName>ppt_y</p:attrName>
                                        </p:attrNameLst>
                                      </p:cBhvr>
                                      <p:tavLst>
                                        <p:tav tm="0">
                                          <p:val>
                                            <p:strVal val="#ppt_y-.1"/>
                                          </p:val>
                                        </p:tav>
                                        <p:tav tm="100000">
                                          <p:val>
                                            <p:strVal val="#ppt_y"/>
                                          </p:val>
                                        </p:tav>
                                      </p:tavLst>
                                    </p:anim>
                                  </p:childTnLst>
                                </p:cTn>
                              </p:par>
                            </p:childTnLst>
                          </p:cTn>
                        </p:par>
                        <p:par>
                          <p:cTn id="15" fill="hold">
                            <p:stCondLst>
                              <p:cond delay="1500"/>
                            </p:stCondLst>
                            <p:childTnLst>
                              <p:par>
                                <p:cTn id="16" presetID="16" presetClass="entr" presetSubtype="21" fill="hold" grpId="0" nodeType="after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barn(inVertical)">
                                      <p:cBhvr>
                                        <p:cTn id="18" dur="500"/>
                                        <p:tgtEl>
                                          <p:spTgt spid="5"/>
                                        </p:tgtEl>
                                      </p:cBhvr>
                                    </p:animEffect>
                                  </p:childTnLst>
                                </p:cTn>
                              </p:par>
                            </p:childTnLst>
                          </p:cTn>
                        </p:par>
                        <p:par>
                          <p:cTn id="19" fill="hold">
                            <p:stCondLst>
                              <p:cond delay="2000"/>
                            </p:stCondLst>
                            <p:childTnLst>
                              <p:par>
                                <p:cTn id="20" presetID="16" presetClass="entr" presetSubtype="21" fill="hold" grpId="0" nodeType="afterEffect">
                                  <p:stCondLst>
                                    <p:cond delay="0"/>
                                  </p:stCondLst>
                                  <p:childTnLst>
                                    <p:set>
                                      <p:cBhvr>
                                        <p:cTn id="21" dur="1" fill="hold">
                                          <p:stCondLst>
                                            <p:cond delay="0"/>
                                          </p:stCondLst>
                                        </p:cTn>
                                        <p:tgtEl>
                                          <p:spTgt spid="47"/>
                                        </p:tgtEl>
                                        <p:attrNameLst>
                                          <p:attrName>style.visibility</p:attrName>
                                        </p:attrNameLst>
                                      </p:cBhvr>
                                      <p:to>
                                        <p:strVal val="visible"/>
                                      </p:to>
                                    </p:set>
                                    <p:animEffect transition="in" filter="barn(inVertical)">
                                      <p:cBhvr>
                                        <p:cTn id="22" dur="500"/>
                                        <p:tgtEl>
                                          <p:spTgt spid="47"/>
                                        </p:tgtEl>
                                      </p:cBhvr>
                                    </p:animEffect>
                                  </p:childTnLst>
                                </p:cTn>
                              </p:par>
                            </p:childTnLst>
                          </p:cTn>
                        </p:par>
                        <p:par>
                          <p:cTn id="23" fill="hold">
                            <p:stCondLst>
                              <p:cond delay="2500"/>
                            </p:stCondLst>
                            <p:childTnLst>
                              <p:par>
                                <p:cTn id="24" presetID="16" presetClass="entr" presetSubtype="21" fill="hold" grpId="0" nodeType="afterEffect">
                                  <p:stCondLst>
                                    <p:cond delay="0"/>
                                  </p:stCondLst>
                                  <p:childTnLst>
                                    <p:set>
                                      <p:cBhvr>
                                        <p:cTn id="25" dur="1" fill="hold">
                                          <p:stCondLst>
                                            <p:cond delay="0"/>
                                          </p:stCondLst>
                                        </p:cTn>
                                        <p:tgtEl>
                                          <p:spTgt spid="52"/>
                                        </p:tgtEl>
                                        <p:attrNameLst>
                                          <p:attrName>style.visibility</p:attrName>
                                        </p:attrNameLst>
                                      </p:cBhvr>
                                      <p:to>
                                        <p:strVal val="visible"/>
                                      </p:to>
                                    </p:set>
                                    <p:animEffect transition="in" filter="barn(inVertical)">
                                      <p:cBhvr>
                                        <p:cTn id="26" dur="5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47" grpId="0"/>
      <p:bldP spid="52" grpId="0"/>
      <p:bldP spid="65"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標題 1"/>
          <p:cNvSpPr txBox="1">
            <a:spLocks/>
          </p:cNvSpPr>
          <p:nvPr/>
        </p:nvSpPr>
        <p:spPr>
          <a:xfrm>
            <a:off x="899447" y="378396"/>
            <a:ext cx="5288853"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7-1 </a:t>
            </a:r>
            <a:r>
              <a:rPr lang="zh-TW" altLang="en-US" sz="2400" b="1" dirty="0">
                <a:solidFill>
                  <a:srgbClr val="E06741"/>
                </a:solidFill>
              </a:rPr>
              <a:t>實務案例</a:t>
            </a:r>
            <a:r>
              <a:rPr lang="en-US" altLang="zh-TW" sz="2400" b="1" dirty="0">
                <a:solidFill>
                  <a:srgbClr val="E06741"/>
                </a:solidFill>
              </a:rPr>
              <a:t>-</a:t>
            </a:r>
            <a:r>
              <a:rPr lang="zh-TW" altLang="en-US" sz="2400" b="1" dirty="0">
                <a:solidFill>
                  <a:srgbClr val="E06741"/>
                </a:solidFill>
              </a:rPr>
              <a:t>食品安全管理</a:t>
            </a:r>
          </a:p>
          <a:p>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2"/>
          <a:stretch>
            <a:fillRect/>
          </a:stretch>
        </p:blipFill>
        <p:spPr>
          <a:xfrm rot="16200000">
            <a:off x="145169" y="-145167"/>
            <a:ext cx="1268414" cy="1558750"/>
          </a:xfrm>
          <a:prstGeom prst="rect">
            <a:avLst/>
          </a:prstGeom>
        </p:spPr>
      </p:pic>
      <p:sp>
        <p:nvSpPr>
          <p:cNvPr id="9" name="文字方塊 8">
            <a:extLst>
              <a:ext uri="{FF2B5EF4-FFF2-40B4-BE49-F238E27FC236}">
                <a16:creationId xmlns:a16="http://schemas.microsoft.com/office/drawing/2014/main" id="{81D0666A-D96D-4B5B-9036-192FA53FE435}"/>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sp>
        <p:nvSpPr>
          <p:cNvPr id="34" name="文字方塊 33">
            <a:extLst>
              <a:ext uri="{FF2B5EF4-FFF2-40B4-BE49-F238E27FC236}">
                <a16:creationId xmlns:a16="http://schemas.microsoft.com/office/drawing/2014/main" id="{73EA10E1-7638-4516-B61E-4B64E154AD56}"/>
              </a:ext>
            </a:extLst>
          </p:cNvPr>
          <p:cNvSpPr txBox="1"/>
          <p:nvPr/>
        </p:nvSpPr>
        <p:spPr>
          <a:xfrm>
            <a:off x="1550849" y="1692204"/>
            <a:ext cx="9090301" cy="2862322"/>
          </a:xfrm>
          <a:prstGeom prst="rect">
            <a:avLst/>
          </a:prstGeom>
          <a:noFill/>
        </p:spPr>
        <p:txBody>
          <a:bodyPr wrap="square" rtlCol="0">
            <a:spAutoFit/>
          </a:bodyPr>
          <a:lstStyle/>
          <a:p>
            <a:pPr marL="342900" indent="-342900">
              <a:lnSpc>
                <a:spcPct val="150000"/>
              </a:lnSpc>
              <a:buBlip>
                <a:blip r:embed="rId3"/>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導入原因</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800100" lvl="1" indent="-342900">
              <a:lnSpc>
                <a:spcPct val="150000"/>
              </a:lnSpc>
              <a:buBlip>
                <a:blip r:embed="rId3"/>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食品安全未受到嚴格管控，可能會導致食源性疾病，即是食物受到細菌、病毒或寄生蟲所污染。</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800100" lvl="1" indent="-342900">
              <a:lnSpc>
                <a:spcPct val="150000"/>
              </a:lnSpc>
              <a:buBlip>
                <a:blip r:embed="rId3"/>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美國知名零售業者 WalMart 公司宣布將導入區塊鏈系統，運用於旗下產品的追溯與追蹤食品商品的管理。</a:t>
            </a:r>
          </a:p>
        </p:txBody>
      </p:sp>
      <p:cxnSp>
        <p:nvCxnSpPr>
          <p:cNvPr id="26" name="直接连接符 33">
            <a:extLst>
              <a:ext uri="{FF2B5EF4-FFF2-40B4-BE49-F238E27FC236}">
                <a16:creationId xmlns:a16="http://schemas.microsoft.com/office/drawing/2014/main" id="{08042C65-3D7D-4C26-8CA1-7B312D733703}"/>
              </a:ext>
            </a:extLst>
          </p:cNvPr>
          <p:cNvCxnSpPr/>
          <p:nvPr/>
        </p:nvCxnSpPr>
        <p:spPr>
          <a:xfrm>
            <a:off x="1177167" y="1046746"/>
            <a:ext cx="10585176"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8" name="文字方塊 27">
            <a:extLst>
              <a:ext uri="{FF2B5EF4-FFF2-40B4-BE49-F238E27FC236}">
                <a16:creationId xmlns:a16="http://schemas.microsoft.com/office/drawing/2014/main" id="{AD7F4831-1A36-4A2F-ACBE-344F724510DC}"/>
              </a:ext>
            </a:extLst>
          </p:cNvPr>
          <p:cNvSpPr txBox="1"/>
          <p:nvPr/>
        </p:nvSpPr>
        <p:spPr>
          <a:xfrm>
            <a:off x="5419500" y="447460"/>
            <a:ext cx="1537600"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-1</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 案例介紹</a:t>
            </a:r>
          </a:p>
        </p:txBody>
      </p:sp>
      <p:sp>
        <p:nvSpPr>
          <p:cNvPr id="3" name="矩形 2"/>
          <p:cNvSpPr/>
          <p:nvPr/>
        </p:nvSpPr>
        <p:spPr>
          <a:xfrm>
            <a:off x="1558751" y="3429000"/>
            <a:ext cx="5978122" cy="578492"/>
          </a:xfrm>
          <a:prstGeom prst="rect">
            <a:avLst/>
          </a:prstGeom>
        </p:spPr>
        <p:txBody>
          <a:bodyPr wrap="square">
            <a:spAutoFit/>
          </a:bodyPr>
          <a:lstStyle/>
          <a:p>
            <a:pPr>
              <a:lnSpc>
                <a:spcPct val="150000"/>
              </a:lnSpc>
            </a:pPr>
            <a:endPar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pic>
        <p:nvPicPr>
          <p:cNvPr id="2" name="圖片 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705599" y="4620179"/>
            <a:ext cx="5302315" cy="1515195"/>
          </a:xfrm>
          <a:prstGeom prst="rect">
            <a:avLst/>
          </a:prstGeom>
        </p:spPr>
      </p:pic>
    </p:spTree>
    <p:extLst>
      <p:ext uri="{BB962C8B-B14F-4D97-AF65-F5344CB8AC3E}">
        <p14:creationId xmlns:p14="http://schemas.microsoft.com/office/powerpoint/2010/main" val="849700067"/>
      </p:ext>
    </p:extLst>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circle(in)">
                                      <p:cBhvr>
                                        <p:cTn id="7" dur="1500"/>
                                        <p:tgtEl>
                                          <p:spTgt spid="7"/>
                                        </p:tgtEl>
                                      </p:cBhvr>
                                    </p:animEffect>
                                  </p:childTnLst>
                                </p:cTn>
                              </p:par>
                            </p:childTnLst>
                          </p:cTn>
                        </p:par>
                        <p:par>
                          <p:cTn id="8" fill="hold">
                            <p:stCondLst>
                              <p:cond delay="1500"/>
                            </p:stCondLst>
                            <p:childTnLst>
                              <p:par>
                                <p:cTn id="9" presetID="16" presetClass="entr" presetSubtype="21" fill="hold" grpId="0" nodeType="afterEffect">
                                  <p:stCondLst>
                                    <p:cond delay="0"/>
                                  </p:stCondLst>
                                  <p:childTnLst>
                                    <p:set>
                                      <p:cBhvr>
                                        <p:cTn id="10" dur="1" fill="hold">
                                          <p:stCondLst>
                                            <p:cond delay="0"/>
                                          </p:stCondLst>
                                        </p:cTn>
                                        <p:tgtEl>
                                          <p:spTgt spid="28"/>
                                        </p:tgtEl>
                                        <p:attrNameLst>
                                          <p:attrName>style.visibility</p:attrName>
                                        </p:attrNameLst>
                                      </p:cBhvr>
                                      <p:to>
                                        <p:strVal val="visible"/>
                                      </p:to>
                                    </p:set>
                                    <p:animEffect transition="in" filter="barn(inVertical)">
                                      <p:cBhvr>
                                        <p:cTn id="11" dur="500"/>
                                        <p:tgtEl>
                                          <p:spTgt spid="28"/>
                                        </p:tgtEl>
                                      </p:cBhvr>
                                    </p:animEffect>
                                  </p:childTnLst>
                                </p:cTn>
                              </p:par>
                            </p:childTnLst>
                          </p:cTn>
                        </p:par>
                        <p:par>
                          <p:cTn id="12" fill="hold">
                            <p:stCondLst>
                              <p:cond delay="2000"/>
                            </p:stCondLst>
                            <p:childTnLst>
                              <p:par>
                                <p:cTn id="13" presetID="2" presetClass="entr" presetSubtype="8" fill="hold" nodeType="afterEffect">
                                  <p:stCondLst>
                                    <p:cond delay="0"/>
                                  </p:stCondLst>
                                  <p:childTnLst>
                                    <p:set>
                                      <p:cBhvr>
                                        <p:cTn id="14" dur="1" fill="hold">
                                          <p:stCondLst>
                                            <p:cond delay="0"/>
                                          </p:stCondLst>
                                        </p:cTn>
                                        <p:tgtEl>
                                          <p:spTgt spid="26"/>
                                        </p:tgtEl>
                                        <p:attrNameLst>
                                          <p:attrName>style.visibility</p:attrName>
                                        </p:attrNameLst>
                                      </p:cBhvr>
                                      <p:to>
                                        <p:strVal val="visible"/>
                                      </p:to>
                                    </p:set>
                                    <p:anim calcmode="lin" valueType="num">
                                      <p:cBhvr additive="base">
                                        <p:cTn id="15" dur="500" fill="hold"/>
                                        <p:tgtEl>
                                          <p:spTgt spid="26"/>
                                        </p:tgtEl>
                                        <p:attrNameLst>
                                          <p:attrName>ppt_x</p:attrName>
                                        </p:attrNameLst>
                                      </p:cBhvr>
                                      <p:tavLst>
                                        <p:tav tm="0">
                                          <p:val>
                                            <p:strVal val="0-#ppt_w/2"/>
                                          </p:val>
                                        </p:tav>
                                        <p:tav tm="100000">
                                          <p:val>
                                            <p:strVal val="#ppt_x"/>
                                          </p:val>
                                        </p:tav>
                                      </p:tavLst>
                                    </p:anim>
                                    <p:anim calcmode="lin" valueType="num">
                                      <p:cBhvr additive="base">
                                        <p:cTn id="16" dur="500" fill="hold"/>
                                        <p:tgtEl>
                                          <p:spTgt spid="26"/>
                                        </p:tgtEl>
                                        <p:attrNameLst>
                                          <p:attrName>ppt_y</p:attrName>
                                        </p:attrNameLst>
                                      </p:cBhvr>
                                      <p:tavLst>
                                        <p:tav tm="0">
                                          <p:val>
                                            <p:strVal val="#ppt_y"/>
                                          </p:val>
                                        </p:tav>
                                        <p:tav tm="100000">
                                          <p:val>
                                            <p:strVal val="#ppt_y"/>
                                          </p:val>
                                        </p:tav>
                                      </p:tavLst>
                                    </p:anim>
                                  </p:childTnLst>
                                </p:cTn>
                              </p:par>
                            </p:childTnLst>
                          </p:cTn>
                        </p:par>
                        <p:par>
                          <p:cTn id="17" fill="hold">
                            <p:stCondLst>
                              <p:cond delay="2500"/>
                            </p:stCondLst>
                            <p:childTnLst>
                              <p:par>
                                <p:cTn id="18" presetID="2" presetClass="entr" presetSubtype="4" fill="hold" nodeType="afterEffect">
                                  <p:stCondLst>
                                    <p:cond delay="0"/>
                                  </p:stCondLst>
                                  <p:childTnLst>
                                    <p:set>
                                      <p:cBhvr>
                                        <p:cTn id="19" dur="1" fill="hold">
                                          <p:stCondLst>
                                            <p:cond delay="0"/>
                                          </p:stCondLst>
                                        </p:cTn>
                                        <p:tgtEl>
                                          <p:spTgt spid="34">
                                            <p:txEl>
                                              <p:pRg st="0" end="0"/>
                                            </p:txEl>
                                          </p:spTgt>
                                        </p:tgtEl>
                                        <p:attrNameLst>
                                          <p:attrName>style.visibility</p:attrName>
                                        </p:attrNameLst>
                                      </p:cBhvr>
                                      <p:to>
                                        <p:strVal val="visible"/>
                                      </p:to>
                                    </p:set>
                                    <p:anim calcmode="lin" valueType="num">
                                      <p:cBhvr additive="base">
                                        <p:cTn id="20" dur="500" fill="hold"/>
                                        <p:tgtEl>
                                          <p:spTgt spid="34">
                                            <p:txEl>
                                              <p:pRg st="0" end="0"/>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34">
                                            <p:txEl>
                                              <p:pRg st="0" end="0"/>
                                            </p:txEl>
                                          </p:spTgt>
                                        </p:tgtEl>
                                        <p:attrNameLst>
                                          <p:attrName>ppt_y</p:attrName>
                                        </p:attrNameLst>
                                      </p:cBhvr>
                                      <p:tavLst>
                                        <p:tav tm="0">
                                          <p:val>
                                            <p:strVal val="1+#ppt_h/2"/>
                                          </p:val>
                                        </p:tav>
                                        <p:tav tm="100000">
                                          <p:val>
                                            <p:strVal val="#ppt_y"/>
                                          </p:val>
                                        </p:tav>
                                      </p:tavLst>
                                    </p:anim>
                                  </p:childTnLst>
                                </p:cTn>
                              </p:par>
                            </p:childTnLst>
                          </p:cTn>
                        </p:par>
                        <p:par>
                          <p:cTn id="22" fill="hold">
                            <p:stCondLst>
                              <p:cond delay="3000"/>
                            </p:stCondLst>
                            <p:childTnLst>
                              <p:par>
                                <p:cTn id="23" presetID="16" presetClass="entr" presetSubtype="21" fill="hold" nodeType="afterEffect">
                                  <p:stCondLst>
                                    <p:cond delay="0"/>
                                  </p:stCondLst>
                                  <p:childTnLst>
                                    <p:set>
                                      <p:cBhvr>
                                        <p:cTn id="24" dur="1" fill="hold">
                                          <p:stCondLst>
                                            <p:cond delay="0"/>
                                          </p:stCondLst>
                                        </p:cTn>
                                        <p:tgtEl>
                                          <p:spTgt spid="34">
                                            <p:txEl>
                                              <p:pRg st="1" end="1"/>
                                            </p:txEl>
                                          </p:spTgt>
                                        </p:tgtEl>
                                        <p:attrNameLst>
                                          <p:attrName>style.visibility</p:attrName>
                                        </p:attrNameLst>
                                      </p:cBhvr>
                                      <p:to>
                                        <p:strVal val="visible"/>
                                      </p:to>
                                    </p:set>
                                    <p:animEffect transition="in" filter="barn(inVertical)">
                                      <p:cBhvr>
                                        <p:cTn id="25" dur="500"/>
                                        <p:tgtEl>
                                          <p:spTgt spid="34">
                                            <p:txEl>
                                              <p:pRg st="1" end="1"/>
                                            </p:txEl>
                                          </p:spTgt>
                                        </p:tgtEl>
                                      </p:cBhvr>
                                    </p:animEffect>
                                  </p:childTnLst>
                                </p:cTn>
                              </p:par>
                            </p:childTnLst>
                          </p:cTn>
                        </p:par>
                        <p:par>
                          <p:cTn id="26" fill="hold">
                            <p:stCondLst>
                              <p:cond delay="3500"/>
                            </p:stCondLst>
                            <p:childTnLst>
                              <p:par>
                                <p:cTn id="27" presetID="16" presetClass="entr" presetSubtype="21" fill="hold" nodeType="afterEffect">
                                  <p:stCondLst>
                                    <p:cond delay="0"/>
                                  </p:stCondLst>
                                  <p:childTnLst>
                                    <p:set>
                                      <p:cBhvr>
                                        <p:cTn id="28" dur="1" fill="hold">
                                          <p:stCondLst>
                                            <p:cond delay="0"/>
                                          </p:stCondLst>
                                        </p:cTn>
                                        <p:tgtEl>
                                          <p:spTgt spid="34">
                                            <p:txEl>
                                              <p:pRg st="2" end="2"/>
                                            </p:txEl>
                                          </p:spTgt>
                                        </p:tgtEl>
                                        <p:attrNameLst>
                                          <p:attrName>style.visibility</p:attrName>
                                        </p:attrNameLst>
                                      </p:cBhvr>
                                      <p:to>
                                        <p:strVal val="visible"/>
                                      </p:to>
                                    </p:set>
                                    <p:animEffect transition="in" filter="barn(inVertical)">
                                      <p:cBhvr>
                                        <p:cTn id="29" dur="500"/>
                                        <p:tgtEl>
                                          <p:spTgt spid="34">
                                            <p:txEl>
                                              <p:pRg st="2" end="2"/>
                                            </p:txEl>
                                          </p:spTgt>
                                        </p:tgtEl>
                                      </p:cBhvr>
                                    </p:animEffect>
                                  </p:childTnLst>
                                </p:cTn>
                              </p:par>
                            </p:childTnLst>
                          </p:cTn>
                        </p:par>
                        <p:par>
                          <p:cTn id="30" fill="hold">
                            <p:stCondLst>
                              <p:cond delay="4000"/>
                            </p:stCondLst>
                            <p:childTnLst>
                              <p:par>
                                <p:cTn id="31" presetID="53" presetClass="entr" presetSubtype="16" fill="hold" nodeType="afterEffect">
                                  <p:stCondLst>
                                    <p:cond delay="0"/>
                                  </p:stCondLst>
                                  <p:childTnLst>
                                    <p:set>
                                      <p:cBhvr>
                                        <p:cTn id="32" dur="1" fill="hold">
                                          <p:stCondLst>
                                            <p:cond delay="0"/>
                                          </p:stCondLst>
                                        </p:cTn>
                                        <p:tgtEl>
                                          <p:spTgt spid="2"/>
                                        </p:tgtEl>
                                        <p:attrNameLst>
                                          <p:attrName>style.visibility</p:attrName>
                                        </p:attrNameLst>
                                      </p:cBhvr>
                                      <p:to>
                                        <p:strVal val="visible"/>
                                      </p:to>
                                    </p:set>
                                    <p:anim calcmode="lin" valueType="num">
                                      <p:cBhvr>
                                        <p:cTn id="33" dur="500" fill="hold"/>
                                        <p:tgtEl>
                                          <p:spTgt spid="2"/>
                                        </p:tgtEl>
                                        <p:attrNameLst>
                                          <p:attrName>ppt_w</p:attrName>
                                        </p:attrNameLst>
                                      </p:cBhvr>
                                      <p:tavLst>
                                        <p:tav tm="0">
                                          <p:val>
                                            <p:fltVal val="0"/>
                                          </p:val>
                                        </p:tav>
                                        <p:tav tm="100000">
                                          <p:val>
                                            <p:strVal val="#ppt_w"/>
                                          </p:val>
                                        </p:tav>
                                      </p:tavLst>
                                    </p:anim>
                                    <p:anim calcmode="lin" valueType="num">
                                      <p:cBhvr>
                                        <p:cTn id="34" dur="500" fill="hold"/>
                                        <p:tgtEl>
                                          <p:spTgt spid="2"/>
                                        </p:tgtEl>
                                        <p:attrNameLst>
                                          <p:attrName>ppt_h</p:attrName>
                                        </p:attrNameLst>
                                      </p:cBhvr>
                                      <p:tavLst>
                                        <p:tav tm="0">
                                          <p:val>
                                            <p:fltVal val="0"/>
                                          </p:val>
                                        </p:tav>
                                        <p:tav tm="100000">
                                          <p:val>
                                            <p:strVal val="#ppt_h"/>
                                          </p:val>
                                        </p:tav>
                                      </p:tavLst>
                                    </p:anim>
                                    <p:animEffect transition="in" filter="fade">
                                      <p:cBhvr>
                                        <p:cTn id="35"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8"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標題 1"/>
          <p:cNvSpPr txBox="1">
            <a:spLocks/>
          </p:cNvSpPr>
          <p:nvPr/>
        </p:nvSpPr>
        <p:spPr>
          <a:xfrm>
            <a:off x="899447" y="378396"/>
            <a:ext cx="5288853"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7-1 </a:t>
            </a:r>
            <a:r>
              <a:rPr lang="zh-TW" altLang="en-US" sz="2400" b="1" dirty="0">
                <a:solidFill>
                  <a:srgbClr val="E06741"/>
                </a:solidFill>
              </a:rPr>
              <a:t>實務案例</a:t>
            </a:r>
            <a:r>
              <a:rPr lang="en-US" altLang="zh-TW" sz="2400" b="1" dirty="0">
                <a:solidFill>
                  <a:srgbClr val="E06741"/>
                </a:solidFill>
              </a:rPr>
              <a:t>-</a:t>
            </a:r>
            <a:r>
              <a:rPr lang="zh-TW" altLang="en-US" sz="2400" b="1" dirty="0">
                <a:solidFill>
                  <a:srgbClr val="E06741"/>
                </a:solidFill>
              </a:rPr>
              <a:t>食品安全管理</a:t>
            </a:r>
          </a:p>
          <a:p>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2"/>
          <a:stretch>
            <a:fillRect/>
          </a:stretch>
        </p:blipFill>
        <p:spPr>
          <a:xfrm rot="16200000">
            <a:off x="145169" y="-145167"/>
            <a:ext cx="1268414" cy="1558750"/>
          </a:xfrm>
          <a:prstGeom prst="rect">
            <a:avLst/>
          </a:prstGeom>
        </p:spPr>
      </p:pic>
      <p:sp>
        <p:nvSpPr>
          <p:cNvPr id="9" name="文字方塊 8">
            <a:extLst>
              <a:ext uri="{FF2B5EF4-FFF2-40B4-BE49-F238E27FC236}">
                <a16:creationId xmlns:a16="http://schemas.microsoft.com/office/drawing/2014/main" id="{81D0666A-D96D-4B5B-9036-192FA53FE435}"/>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sp>
        <p:nvSpPr>
          <p:cNvPr id="34" name="文字方塊 33">
            <a:extLst>
              <a:ext uri="{FF2B5EF4-FFF2-40B4-BE49-F238E27FC236}">
                <a16:creationId xmlns:a16="http://schemas.microsoft.com/office/drawing/2014/main" id="{73EA10E1-7638-4516-B61E-4B64E154AD56}"/>
              </a:ext>
            </a:extLst>
          </p:cNvPr>
          <p:cNvSpPr txBox="1"/>
          <p:nvPr/>
        </p:nvSpPr>
        <p:spPr>
          <a:xfrm>
            <a:off x="1275049" y="1522290"/>
            <a:ext cx="9402187" cy="3600986"/>
          </a:xfrm>
          <a:prstGeom prst="rect">
            <a:avLst/>
          </a:prstGeom>
          <a:noFill/>
        </p:spPr>
        <p:txBody>
          <a:bodyPr wrap="square" rtlCol="0">
            <a:spAutoFit/>
          </a:bodyPr>
          <a:lstStyle/>
          <a:p>
            <a:pPr marL="342900" indent="-342900">
              <a:lnSpc>
                <a:spcPct val="150000"/>
              </a:lnSpc>
              <a:buBlip>
                <a:blip r:embed="rId3"/>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區域鍊之應用</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800100" lvl="1" indent="-342900">
              <a:lnSpc>
                <a:spcPct val="150000"/>
              </a:lnSpc>
              <a:buBlip>
                <a:blip r:embed="rId3"/>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將食品產銷履歷儲存在區塊鏈的平台上，每經過一個供應鏈環節就需要記錄一次，每個人都能輕易查看貨品的運輸訊息，但沒有權限篡改，以保證交易公正和食品訊息真實透明。</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800100" lvl="1" indent="-342900">
              <a:lnSpc>
                <a:spcPct val="150000"/>
              </a:lnSpc>
              <a:buBlip>
                <a:blip r:embed="rId3"/>
              </a:buBlip>
            </a:pPr>
            <a:endParaRPr lang="zh-TW" altLang="en-US" sz="8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800100" lvl="1" indent="-342900">
              <a:lnSpc>
                <a:spcPct val="150000"/>
              </a:lnSpc>
              <a:buBlip>
                <a:blip r:embed="rId3"/>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監管單位可以透過區塊鏈建構之完整產銷履歷可迅速有效防制，降低食安危機的風險。</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cxnSp>
        <p:nvCxnSpPr>
          <p:cNvPr id="26" name="直接连接符 33">
            <a:extLst>
              <a:ext uri="{FF2B5EF4-FFF2-40B4-BE49-F238E27FC236}">
                <a16:creationId xmlns:a16="http://schemas.microsoft.com/office/drawing/2014/main" id="{08042C65-3D7D-4C26-8CA1-7B312D733703}"/>
              </a:ext>
            </a:extLst>
          </p:cNvPr>
          <p:cNvCxnSpPr/>
          <p:nvPr/>
        </p:nvCxnSpPr>
        <p:spPr>
          <a:xfrm>
            <a:off x="1177167" y="1046746"/>
            <a:ext cx="10585176"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8" name="文字方塊 27">
            <a:extLst>
              <a:ext uri="{FF2B5EF4-FFF2-40B4-BE49-F238E27FC236}">
                <a16:creationId xmlns:a16="http://schemas.microsoft.com/office/drawing/2014/main" id="{AD7F4831-1A36-4A2F-ACBE-344F724510DC}"/>
              </a:ext>
            </a:extLst>
          </p:cNvPr>
          <p:cNvSpPr txBox="1"/>
          <p:nvPr/>
        </p:nvSpPr>
        <p:spPr>
          <a:xfrm>
            <a:off x="5419500" y="447460"/>
            <a:ext cx="1537600"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-1</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 案例介紹</a:t>
            </a:r>
          </a:p>
        </p:txBody>
      </p:sp>
      <p:pic>
        <p:nvPicPr>
          <p:cNvPr id="10" name="圖片 9" descr="一張含有 樂高, 玩具 的圖片&#10;&#10;描述是以高可信度產生">
            <a:extLst>
              <a:ext uri="{FF2B5EF4-FFF2-40B4-BE49-F238E27FC236}">
                <a16:creationId xmlns:a16="http://schemas.microsoft.com/office/drawing/2014/main" id="{2AA32AE4-B239-4CE3-B5D8-9C1CA869905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516343" y="4777602"/>
            <a:ext cx="2164462" cy="2164462"/>
          </a:xfrm>
          <a:prstGeom prst="rect">
            <a:avLst/>
          </a:prstGeom>
        </p:spPr>
      </p:pic>
    </p:spTree>
    <p:extLst>
      <p:ext uri="{BB962C8B-B14F-4D97-AF65-F5344CB8AC3E}">
        <p14:creationId xmlns:p14="http://schemas.microsoft.com/office/powerpoint/2010/main" val="3000233809"/>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circle(in)">
                                      <p:cBhvr>
                                        <p:cTn id="7" dur="1500"/>
                                        <p:tgtEl>
                                          <p:spTgt spid="7"/>
                                        </p:tgtEl>
                                      </p:cBhvr>
                                    </p:animEffect>
                                  </p:childTnLst>
                                </p:cTn>
                              </p:par>
                            </p:childTnLst>
                          </p:cTn>
                        </p:par>
                        <p:par>
                          <p:cTn id="8" fill="hold">
                            <p:stCondLst>
                              <p:cond delay="1500"/>
                            </p:stCondLst>
                            <p:childTnLst>
                              <p:par>
                                <p:cTn id="9" presetID="16" presetClass="entr" presetSubtype="21" fill="hold" grpId="0" nodeType="afterEffect">
                                  <p:stCondLst>
                                    <p:cond delay="0"/>
                                  </p:stCondLst>
                                  <p:childTnLst>
                                    <p:set>
                                      <p:cBhvr>
                                        <p:cTn id="10" dur="1" fill="hold">
                                          <p:stCondLst>
                                            <p:cond delay="0"/>
                                          </p:stCondLst>
                                        </p:cTn>
                                        <p:tgtEl>
                                          <p:spTgt spid="28"/>
                                        </p:tgtEl>
                                        <p:attrNameLst>
                                          <p:attrName>style.visibility</p:attrName>
                                        </p:attrNameLst>
                                      </p:cBhvr>
                                      <p:to>
                                        <p:strVal val="visible"/>
                                      </p:to>
                                    </p:set>
                                    <p:animEffect transition="in" filter="barn(inVertical)">
                                      <p:cBhvr>
                                        <p:cTn id="11" dur="500"/>
                                        <p:tgtEl>
                                          <p:spTgt spid="28"/>
                                        </p:tgtEl>
                                      </p:cBhvr>
                                    </p:animEffect>
                                  </p:childTnLst>
                                </p:cTn>
                              </p:par>
                            </p:childTnLst>
                          </p:cTn>
                        </p:par>
                        <p:par>
                          <p:cTn id="12" fill="hold">
                            <p:stCondLst>
                              <p:cond delay="2000"/>
                            </p:stCondLst>
                            <p:childTnLst>
                              <p:par>
                                <p:cTn id="13" presetID="2" presetClass="entr" presetSubtype="8" fill="hold" nodeType="afterEffect">
                                  <p:stCondLst>
                                    <p:cond delay="0"/>
                                  </p:stCondLst>
                                  <p:childTnLst>
                                    <p:set>
                                      <p:cBhvr>
                                        <p:cTn id="14" dur="1" fill="hold">
                                          <p:stCondLst>
                                            <p:cond delay="0"/>
                                          </p:stCondLst>
                                        </p:cTn>
                                        <p:tgtEl>
                                          <p:spTgt spid="26"/>
                                        </p:tgtEl>
                                        <p:attrNameLst>
                                          <p:attrName>style.visibility</p:attrName>
                                        </p:attrNameLst>
                                      </p:cBhvr>
                                      <p:to>
                                        <p:strVal val="visible"/>
                                      </p:to>
                                    </p:set>
                                    <p:anim calcmode="lin" valueType="num">
                                      <p:cBhvr additive="base">
                                        <p:cTn id="15" dur="500" fill="hold"/>
                                        <p:tgtEl>
                                          <p:spTgt spid="26"/>
                                        </p:tgtEl>
                                        <p:attrNameLst>
                                          <p:attrName>ppt_x</p:attrName>
                                        </p:attrNameLst>
                                      </p:cBhvr>
                                      <p:tavLst>
                                        <p:tav tm="0">
                                          <p:val>
                                            <p:strVal val="0-#ppt_w/2"/>
                                          </p:val>
                                        </p:tav>
                                        <p:tav tm="100000">
                                          <p:val>
                                            <p:strVal val="#ppt_x"/>
                                          </p:val>
                                        </p:tav>
                                      </p:tavLst>
                                    </p:anim>
                                    <p:anim calcmode="lin" valueType="num">
                                      <p:cBhvr additive="base">
                                        <p:cTn id="16" dur="500" fill="hold"/>
                                        <p:tgtEl>
                                          <p:spTgt spid="26"/>
                                        </p:tgtEl>
                                        <p:attrNameLst>
                                          <p:attrName>ppt_y</p:attrName>
                                        </p:attrNameLst>
                                      </p:cBhvr>
                                      <p:tavLst>
                                        <p:tav tm="0">
                                          <p:val>
                                            <p:strVal val="#ppt_y"/>
                                          </p:val>
                                        </p:tav>
                                        <p:tav tm="100000">
                                          <p:val>
                                            <p:strVal val="#ppt_y"/>
                                          </p:val>
                                        </p:tav>
                                      </p:tavLst>
                                    </p:anim>
                                  </p:childTnLst>
                                </p:cTn>
                              </p:par>
                            </p:childTnLst>
                          </p:cTn>
                        </p:par>
                        <p:par>
                          <p:cTn id="17" fill="hold">
                            <p:stCondLst>
                              <p:cond delay="2500"/>
                            </p:stCondLst>
                            <p:childTnLst>
                              <p:par>
                                <p:cTn id="18" presetID="2" presetClass="entr" presetSubtype="4" fill="hold" nodeType="afterEffect">
                                  <p:stCondLst>
                                    <p:cond delay="0"/>
                                  </p:stCondLst>
                                  <p:childTnLst>
                                    <p:set>
                                      <p:cBhvr>
                                        <p:cTn id="19" dur="1" fill="hold">
                                          <p:stCondLst>
                                            <p:cond delay="0"/>
                                          </p:stCondLst>
                                        </p:cTn>
                                        <p:tgtEl>
                                          <p:spTgt spid="34">
                                            <p:txEl>
                                              <p:pRg st="0" end="0"/>
                                            </p:txEl>
                                          </p:spTgt>
                                        </p:tgtEl>
                                        <p:attrNameLst>
                                          <p:attrName>style.visibility</p:attrName>
                                        </p:attrNameLst>
                                      </p:cBhvr>
                                      <p:to>
                                        <p:strVal val="visible"/>
                                      </p:to>
                                    </p:set>
                                    <p:anim calcmode="lin" valueType="num">
                                      <p:cBhvr additive="base">
                                        <p:cTn id="20" dur="500" fill="hold"/>
                                        <p:tgtEl>
                                          <p:spTgt spid="34">
                                            <p:txEl>
                                              <p:pRg st="0" end="0"/>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34">
                                            <p:txEl>
                                              <p:pRg st="0" end="0"/>
                                            </p:txEl>
                                          </p:spTgt>
                                        </p:tgtEl>
                                        <p:attrNameLst>
                                          <p:attrName>ppt_y</p:attrName>
                                        </p:attrNameLst>
                                      </p:cBhvr>
                                      <p:tavLst>
                                        <p:tav tm="0">
                                          <p:val>
                                            <p:strVal val="1+#ppt_h/2"/>
                                          </p:val>
                                        </p:tav>
                                        <p:tav tm="100000">
                                          <p:val>
                                            <p:strVal val="#ppt_y"/>
                                          </p:val>
                                        </p:tav>
                                      </p:tavLst>
                                    </p:anim>
                                  </p:childTnLst>
                                </p:cTn>
                              </p:par>
                            </p:childTnLst>
                          </p:cTn>
                        </p:par>
                        <p:par>
                          <p:cTn id="22" fill="hold">
                            <p:stCondLst>
                              <p:cond delay="3000"/>
                            </p:stCondLst>
                            <p:childTnLst>
                              <p:par>
                                <p:cTn id="23" presetID="16" presetClass="entr" presetSubtype="21" fill="hold" nodeType="afterEffect">
                                  <p:stCondLst>
                                    <p:cond delay="0"/>
                                  </p:stCondLst>
                                  <p:childTnLst>
                                    <p:set>
                                      <p:cBhvr>
                                        <p:cTn id="24" dur="1" fill="hold">
                                          <p:stCondLst>
                                            <p:cond delay="0"/>
                                          </p:stCondLst>
                                        </p:cTn>
                                        <p:tgtEl>
                                          <p:spTgt spid="34">
                                            <p:txEl>
                                              <p:pRg st="1" end="1"/>
                                            </p:txEl>
                                          </p:spTgt>
                                        </p:tgtEl>
                                        <p:attrNameLst>
                                          <p:attrName>style.visibility</p:attrName>
                                        </p:attrNameLst>
                                      </p:cBhvr>
                                      <p:to>
                                        <p:strVal val="visible"/>
                                      </p:to>
                                    </p:set>
                                    <p:animEffect transition="in" filter="barn(inVertical)">
                                      <p:cBhvr>
                                        <p:cTn id="25" dur="500"/>
                                        <p:tgtEl>
                                          <p:spTgt spid="34">
                                            <p:txEl>
                                              <p:pRg st="1" end="1"/>
                                            </p:txEl>
                                          </p:spTgt>
                                        </p:tgtEl>
                                      </p:cBhvr>
                                    </p:animEffect>
                                  </p:childTnLst>
                                </p:cTn>
                              </p:par>
                            </p:childTnLst>
                          </p:cTn>
                        </p:par>
                        <p:par>
                          <p:cTn id="26" fill="hold">
                            <p:stCondLst>
                              <p:cond delay="3500"/>
                            </p:stCondLst>
                            <p:childTnLst>
                              <p:par>
                                <p:cTn id="27" presetID="16" presetClass="entr" presetSubtype="21" fill="hold" nodeType="afterEffect">
                                  <p:stCondLst>
                                    <p:cond delay="0"/>
                                  </p:stCondLst>
                                  <p:childTnLst>
                                    <p:set>
                                      <p:cBhvr>
                                        <p:cTn id="28" dur="1" fill="hold">
                                          <p:stCondLst>
                                            <p:cond delay="0"/>
                                          </p:stCondLst>
                                        </p:cTn>
                                        <p:tgtEl>
                                          <p:spTgt spid="34">
                                            <p:txEl>
                                              <p:pRg st="3" end="3"/>
                                            </p:txEl>
                                          </p:spTgt>
                                        </p:tgtEl>
                                        <p:attrNameLst>
                                          <p:attrName>style.visibility</p:attrName>
                                        </p:attrNameLst>
                                      </p:cBhvr>
                                      <p:to>
                                        <p:strVal val="visible"/>
                                      </p:to>
                                    </p:set>
                                    <p:animEffect transition="in" filter="barn(inVertical)">
                                      <p:cBhvr>
                                        <p:cTn id="29" dur="500"/>
                                        <p:tgtEl>
                                          <p:spTgt spid="34">
                                            <p:txEl>
                                              <p:pRg st="3" end="3"/>
                                            </p:txEl>
                                          </p:spTgt>
                                        </p:tgtEl>
                                      </p:cBhvr>
                                    </p:animEffect>
                                  </p:childTnLst>
                                </p:cTn>
                              </p:par>
                            </p:childTnLst>
                          </p:cTn>
                        </p:par>
                        <p:par>
                          <p:cTn id="30" fill="hold">
                            <p:stCondLst>
                              <p:cond delay="4000"/>
                            </p:stCondLst>
                            <p:childTnLst>
                              <p:par>
                                <p:cTn id="31" presetID="16" presetClass="entr" presetSubtype="21" fill="hold" nodeType="afterEffect">
                                  <p:stCondLst>
                                    <p:cond delay="0"/>
                                  </p:stCondLst>
                                  <p:childTnLst>
                                    <p:set>
                                      <p:cBhvr>
                                        <p:cTn id="32" dur="1" fill="hold">
                                          <p:stCondLst>
                                            <p:cond delay="0"/>
                                          </p:stCondLst>
                                        </p:cTn>
                                        <p:tgtEl>
                                          <p:spTgt spid="10"/>
                                        </p:tgtEl>
                                        <p:attrNameLst>
                                          <p:attrName>style.visibility</p:attrName>
                                        </p:attrNameLst>
                                      </p:cBhvr>
                                      <p:to>
                                        <p:strVal val="visible"/>
                                      </p:to>
                                    </p:set>
                                    <p:animEffect transition="in" filter="barn(inVertical)">
                                      <p:cBhvr>
                                        <p:cTn id="33"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8"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標題 1"/>
          <p:cNvSpPr txBox="1">
            <a:spLocks/>
          </p:cNvSpPr>
          <p:nvPr/>
        </p:nvSpPr>
        <p:spPr>
          <a:xfrm>
            <a:off x="899447" y="378396"/>
            <a:ext cx="5288853"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7-1 </a:t>
            </a:r>
            <a:r>
              <a:rPr lang="zh-TW" altLang="en-US" sz="2400" b="1" dirty="0">
                <a:solidFill>
                  <a:srgbClr val="E06741"/>
                </a:solidFill>
              </a:rPr>
              <a:t>實務案例</a:t>
            </a:r>
            <a:r>
              <a:rPr lang="en-US" altLang="zh-TW" sz="2400" b="1" dirty="0">
                <a:solidFill>
                  <a:srgbClr val="E06741"/>
                </a:solidFill>
              </a:rPr>
              <a:t>-</a:t>
            </a:r>
            <a:r>
              <a:rPr lang="zh-TW" altLang="en-US" sz="2400" b="1" dirty="0">
                <a:solidFill>
                  <a:srgbClr val="E06741"/>
                </a:solidFill>
              </a:rPr>
              <a:t>食品安全管理</a:t>
            </a:r>
          </a:p>
          <a:p>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2"/>
          <a:stretch>
            <a:fillRect/>
          </a:stretch>
        </p:blipFill>
        <p:spPr>
          <a:xfrm rot="16200000">
            <a:off x="145169" y="-145167"/>
            <a:ext cx="1268414" cy="1558750"/>
          </a:xfrm>
          <a:prstGeom prst="rect">
            <a:avLst/>
          </a:prstGeom>
        </p:spPr>
      </p:pic>
      <p:sp>
        <p:nvSpPr>
          <p:cNvPr id="9" name="文字方塊 8">
            <a:extLst>
              <a:ext uri="{FF2B5EF4-FFF2-40B4-BE49-F238E27FC236}">
                <a16:creationId xmlns:a16="http://schemas.microsoft.com/office/drawing/2014/main" id="{81D0666A-D96D-4B5B-9036-192FA53FE435}"/>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sp>
        <p:nvSpPr>
          <p:cNvPr id="34" name="文字方塊 33">
            <a:extLst>
              <a:ext uri="{FF2B5EF4-FFF2-40B4-BE49-F238E27FC236}">
                <a16:creationId xmlns:a16="http://schemas.microsoft.com/office/drawing/2014/main" id="{73EA10E1-7638-4516-B61E-4B64E154AD56}"/>
              </a:ext>
            </a:extLst>
          </p:cNvPr>
          <p:cNvSpPr txBox="1"/>
          <p:nvPr/>
        </p:nvSpPr>
        <p:spPr>
          <a:xfrm>
            <a:off x="1925955" y="1631387"/>
            <a:ext cx="8340090" cy="2862322"/>
          </a:xfrm>
          <a:prstGeom prst="rect">
            <a:avLst/>
          </a:prstGeom>
          <a:noFill/>
        </p:spPr>
        <p:txBody>
          <a:bodyPr wrap="square" rtlCol="0">
            <a:spAutoFit/>
          </a:bodyPr>
          <a:lstStyle/>
          <a:p>
            <a:pPr marL="342900" indent="-342900">
              <a:lnSpc>
                <a:spcPct val="150000"/>
              </a:lnSpc>
              <a:buBlip>
                <a:blip r:embed="rId3"/>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導入區塊鍊之優點</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800100" lvl="1" indent="-342900">
              <a:lnSpc>
                <a:spcPct val="150000"/>
              </a:lnSpc>
              <a:buBlip>
                <a:blip r:embed="rId3"/>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提升產品追溯、追蹤效率</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800100" lvl="1" indent="-342900">
              <a:lnSpc>
                <a:spcPct val="150000"/>
              </a:lnSpc>
              <a:buBlip>
                <a:blip r:embed="rId3"/>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更完整地掌握食品產品在世界各地的流通方向</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800100" lvl="1" indent="-342900">
              <a:lnSpc>
                <a:spcPct val="150000"/>
              </a:lnSpc>
              <a:buBlip>
                <a:blip r:embed="rId3"/>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快速掌握市場，即時提供給門市最需要的產品，減少產品浪費亦能節省成本。</a:t>
            </a:r>
          </a:p>
        </p:txBody>
      </p:sp>
      <p:cxnSp>
        <p:nvCxnSpPr>
          <p:cNvPr id="26" name="直接连接符 33">
            <a:extLst>
              <a:ext uri="{FF2B5EF4-FFF2-40B4-BE49-F238E27FC236}">
                <a16:creationId xmlns:a16="http://schemas.microsoft.com/office/drawing/2014/main" id="{08042C65-3D7D-4C26-8CA1-7B312D733703}"/>
              </a:ext>
            </a:extLst>
          </p:cNvPr>
          <p:cNvCxnSpPr/>
          <p:nvPr/>
        </p:nvCxnSpPr>
        <p:spPr>
          <a:xfrm>
            <a:off x="1177167" y="1046746"/>
            <a:ext cx="10585176"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28" name="文字方塊 27">
            <a:extLst>
              <a:ext uri="{FF2B5EF4-FFF2-40B4-BE49-F238E27FC236}">
                <a16:creationId xmlns:a16="http://schemas.microsoft.com/office/drawing/2014/main" id="{AD7F4831-1A36-4A2F-ACBE-344F724510DC}"/>
              </a:ext>
            </a:extLst>
          </p:cNvPr>
          <p:cNvSpPr txBox="1"/>
          <p:nvPr/>
        </p:nvSpPr>
        <p:spPr>
          <a:xfrm>
            <a:off x="5419500" y="447460"/>
            <a:ext cx="1537600"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-1</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 案例介紹</a:t>
            </a:r>
          </a:p>
        </p:txBody>
      </p:sp>
      <p:pic>
        <p:nvPicPr>
          <p:cNvPr id="10" name="圖片 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081" y="4326855"/>
            <a:ext cx="1976008" cy="1976008"/>
          </a:xfrm>
          <a:prstGeom prst="rect">
            <a:avLst/>
          </a:prstGeom>
        </p:spPr>
      </p:pic>
    </p:spTree>
    <p:extLst>
      <p:ext uri="{BB962C8B-B14F-4D97-AF65-F5344CB8AC3E}">
        <p14:creationId xmlns:p14="http://schemas.microsoft.com/office/powerpoint/2010/main" val="3504318834"/>
      </p:ext>
    </p:extLst>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circle(in)">
                                      <p:cBhvr>
                                        <p:cTn id="7" dur="1500"/>
                                        <p:tgtEl>
                                          <p:spTgt spid="7"/>
                                        </p:tgtEl>
                                      </p:cBhvr>
                                    </p:animEffect>
                                  </p:childTnLst>
                                </p:cTn>
                              </p:par>
                            </p:childTnLst>
                          </p:cTn>
                        </p:par>
                        <p:par>
                          <p:cTn id="8" fill="hold">
                            <p:stCondLst>
                              <p:cond delay="1500"/>
                            </p:stCondLst>
                            <p:childTnLst>
                              <p:par>
                                <p:cTn id="9" presetID="16" presetClass="entr" presetSubtype="21" fill="hold" grpId="0" nodeType="afterEffect">
                                  <p:stCondLst>
                                    <p:cond delay="0"/>
                                  </p:stCondLst>
                                  <p:childTnLst>
                                    <p:set>
                                      <p:cBhvr>
                                        <p:cTn id="10" dur="1" fill="hold">
                                          <p:stCondLst>
                                            <p:cond delay="0"/>
                                          </p:stCondLst>
                                        </p:cTn>
                                        <p:tgtEl>
                                          <p:spTgt spid="28"/>
                                        </p:tgtEl>
                                        <p:attrNameLst>
                                          <p:attrName>style.visibility</p:attrName>
                                        </p:attrNameLst>
                                      </p:cBhvr>
                                      <p:to>
                                        <p:strVal val="visible"/>
                                      </p:to>
                                    </p:set>
                                    <p:animEffect transition="in" filter="barn(inVertical)">
                                      <p:cBhvr>
                                        <p:cTn id="11" dur="500"/>
                                        <p:tgtEl>
                                          <p:spTgt spid="28"/>
                                        </p:tgtEl>
                                      </p:cBhvr>
                                    </p:animEffect>
                                  </p:childTnLst>
                                </p:cTn>
                              </p:par>
                            </p:childTnLst>
                          </p:cTn>
                        </p:par>
                        <p:par>
                          <p:cTn id="12" fill="hold">
                            <p:stCondLst>
                              <p:cond delay="2000"/>
                            </p:stCondLst>
                            <p:childTnLst>
                              <p:par>
                                <p:cTn id="13" presetID="2" presetClass="entr" presetSubtype="8" fill="hold" nodeType="afterEffect">
                                  <p:stCondLst>
                                    <p:cond delay="0"/>
                                  </p:stCondLst>
                                  <p:childTnLst>
                                    <p:set>
                                      <p:cBhvr>
                                        <p:cTn id="14" dur="1" fill="hold">
                                          <p:stCondLst>
                                            <p:cond delay="0"/>
                                          </p:stCondLst>
                                        </p:cTn>
                                        <p:tgtEl>
                                          <p:spTgt spid="26"/>
                                        </p:tgtEl>
                                        <p:attrNameLst>
                                          <p:attrName>style.visibility</p:attrName>
                                        </p:attrNameLst>
                                      </p:cBhvr>
                                      <p:to>
                                        <p:strVal val="visible"/>
                                      </p:to>
                                    </p:set>
                                    <p:anim calcmode="lin" valueType="num">
                                      <p:cBhvr additive="base">
                                        <p:cTn id="15" dur="500" fill="hold"/>
                                        <p:tgtEl>
                                          <p:spTgt spid="26"/>
                                        </p:tgtEl>
                                        <p:attrNameLst>
                                          <p:attrName>ppt_x</p:attrName>
                                        </p:attrNameLst>
                                      </p:cBhvr>
                                      <p:tavLst>
                                        <p:tav tm="0">
                                          <p:val>
                                            <p:strVal val="0-#ppt_w/2"/>
                                          </p:val>
                                        </p:tav>
                                        <p:tav tm="100000">
                                          <p:val>
                                            <p:strVal val="#ppt_x"/>
                                          </p:val>
                                        </p:tav>
                                      </p:tavLst>
                                    </p:anim>
                                    <p:anim calcmode="lin" valueType="num">
                                      <p:cBhvr additive="base">
                                        <p:cTn id="16" dur="500" fill="hold"/>
                                        <p:tgtEl>
                                          <p:spTgt spid="26"/>
                                        </p:tgtEl>
                                        <p:attrNameLst>
                                          <p:attrName>ppt_y</p:attrName>
                                        </p:attrNameLst>
                                      </p:cBhvr>
                                      <p:tavLst>
                                        <p:tav tm="0">
                                          <p:val>
                                            <p:strVal val="#ppt_y"/>
                                          </p:val>
                                        </p:tav>
                                        <p:tav tm="100000">
                                          <p:val>
                                            <p:strVal val="#ppt_y"/>
                                          </p:val>
                                        </p:tav>
                                      </p:tavLst>
                                    </p:anim>
                                  </p:childTnLst>
                                </p:cTn>
                              </p:par>
                            </p:childTnLst>
                          </p:cTn>
                        </p:par>
                        <p:par>
                          <p:cTn id="17" fill="hold">
                            <p:stCondLst>
                              <p:cond delay="2500"/>
                            </p:stCondLst>
                            <p:childTnLst>
                              <p:par>
                                <p:cTn id="18" presetID="2" presetClass="entr" presetSubtype="4" fill="hold" nodeType="afterEffect">
                                  <p:stCondLst>
                                    <p:cond delay="0"/>
                                  </p:stCondLst>
                                  <p:childTnLst>
                                    <p:set>
                                      <p:cBhvr>
                                        <p:cTn id="19" dur="1" fill="hold">
                                          <p:stCondLst>
                                            <p:cond delay="0"/>
                                          </p:stCondLst>
                                        </p:cTn>
                                        <p:tgtEl>
                                          <p:spTgt spid="34">
                                            <p:txEl>
                                              <p:pRg st="0" end="0"/>
                                            </p:txEl>
                                          </p:spTgt>
                                        </p:tgtEl>
                                        <p:attrNameLst>
                                          <p:attrName>style.visibility</p:attrName>
                                        </p:attrNameLst>
                                      </p:cBhvr>
                                      <p:to>
                                        <p:strVal val="visible"/>
                                      </p:to>
                                    </p:set>
                                    <p:anim calcmode="lin" valueType="num">
                                      <p:cBhvr additive="base">
                                        <p:cTn id="20" dur="500" fill="hold"/>
                                        <p:tgtEl>
                                          <p:spTgt spid="34">
                                            <p:txEl>
                                              <p:pRg st="0" end="0"/>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34">
                                            <p:txEl>
                                              <p:pRg st="0" end="0"/>
                                            </p:txEl>
                                          </p:spTgt>
                                        </p:tgtEl>
                                        <p:attrNameLst>
                                          <p:attrName>ppt_y</p:attrName>
                                        </p:attrNameLst>
                                      </p:cBhvr>
                                      <p:tavLst>
                                        <p:tav tm="0">
                                          <p:val>
                                            <p:strVal val="1+#ppt_h/2"/>
                                          </p:val>
                                        </p:tav>
                                        <p:tav tm="100000">
                                          <p:val>
                                            <p:strVal val="#ppt_y"/>
                                          </p:val>
                                        </p:tav>
                                      </p:tavLst>
                                    </p:anim>
                                  </p:childTnLst>
                                </p:cTn>
                              </p:par>
                            </p:childTnLst>
                          </p:cTn>
                        </p:par>
                        <p:par>
                          <p:cTn id="22" fill="hold">
                            <p:stCondLst>
                              <p:cond delay="3000"/>
                            </p:stCondLst>
                            <p:childTnLst>
                              <p:par>
                                <p:cTn id="23" presetID="16" presetClass="entr" presetSubtype="21" fill="hold" nodeType="afterEffect">
                                  <p:stCondLst>
                                    <p:cond delay="0"/>
                                  </p:stCondLst>
                                  <p:childTnLst>
                                    <p:set>
                                      <p:cBhvr>
                                        <p:cTn id="24" dur="1" fill="hold">
                                          <p:stCondLst>
                                            <p:cond delay="0"/>
                                          </p:stCondLst>
                                        </p:cTn>
                                        <p:tgtEl>
                                          <p:spTgt spid="34">
                                            <p:txEl>
                                              <p:pRg st="1" end="1"/>
                                            </p:txEl>
                                          </p:spTgt>
                                        </p:tgtEl>
                                        <p:attrNameLst>
                                          <p:attrName>style.visibility</p:attrName>
                                        </p:attrNameLst>
                                      </p:cBhvr>
                                      <p:to>
                                        <p:strVal val="visible"/>
                                      </p:to>
                                    </p:set>
                                    <p:animEffect transition="in" filter="barn(inVertical)">
                                      <p:cBhvr>
                                        <p:cTn id="25" dur="500"/>
                                        <p:tgtEl>
                                          <p:spTgt spid="34">
                                            <p:txEl>
                                              <p:pRg st="1" end="1"/>
                                            </p:txEl>
                                          </p:spTgt>
                                        </p:tgtEl>
                                      </p:cBhvr>
                                    </p:animEffect>
                                  </p:childTnLst>
                                </p:cTn>
                              </p:par>
                            </p:childTnLst>
                          </p:cTn>
                        </p:par>
                        <p:par>
                          <p:cTn id="26" fill="hold">
                            <p:stCondLst>
                              <p:cond delay="3500"/>
                            </p:stCondLst>
                            <p:childTnLst>
                              <p:par>
                                <p:cTn id="27" presetID="16" presetClass="entr" presetSubtype="21" fill="hold" nodeType="afterEffect">
                                  <p:stCondLst>
                                    <p:cond delay="0"/>
                                  </p:stCondLst>
                                  <p:childTnLst>
                                    <p:set>
                                      <p:cBhvr>
                                        <p:cTn id="28" dur="1" fill="hold">
                                          <p:stCondLst>
                                            <p:cond delay="0"/>
                                          </p:stCondLst>
                                        </p:cTn>
                                        <p:tgtEl>
                                          <p:spTgt spid="34">
                                            <p:txEl>
                                              <p:pRg st="2" end="2"/>
                                            </p:txEl>
                                          </p:spTgt>
                                        </p:tgtEl>
                                        <p:attrNameLst>
                                          <p:attrName>style.visibility</p:attrName>
                                        </p:attrNameLst>
                                      </p:cBhvr>
                                      <p:to>
                                        <p:strVal val="visible"/>
                                      </p:to>
                                    </p:set>
                                    <p:animEffect transition="in" filter="barn(inVertical)">
                                      <p:cBhvr>
                                        <p:cTn id="29" dur="500"/>
                                        <p:tgtEl>
                                          <p:spTgt spid="34">
                                            <p:txEl>
                                              <p:pRg st="2" end="2"/>
                                            </p:txEl>
                                          </p:spTgt>
                                        </p:tgtEl>
                                      </p:cBhvr>
                                    </p:animEffect>
                                  </p:childTnLst>
                                </p:cTn>
                              </p:par>
                            </p:childTnLst>
                          </p:cTn>
                        </p:par>
                        <p:par>
                          <p:cTn id="30" fill="hold">
                            <p:stCondLst>
                              <p:cond delay="4000"/>
                            </p:stCondLst>
                            <p:childTnLst>
                              <p:par>
                                <p:cTn id="31" presetID="16" presetClass="entr" presetSubtype="21" fill="hold" nodeType="afterEffect">
                                  <p:stCondLst>
                                    <p:cond delay="0"/>
                                  </p:stCondLst>
                                  <p:childTnLst>
                                    <p:set>
                                      <p:cBhvr>
                                        <p:cTn id="32" dur="1" fill="hold">
                                          <p:stCondLst>
                                            <p:cond delay="0"/>
                                          </p:stCondLst>
                                        </p:cTn>
                                        <p:tgtEl>
                                          <p:spTgt spid="34">
                                            <p:txEl>
                                              <p:pRg st="3" end="3"/>
                                            </p:txEl>
                                          </p:spTgt>
                                        </p:tgtEl>
                                        <p:attrNameLst>
                                          <p:attrName>style.visibility</p:attrName>
                                        </p:attrNameLst>
                                      </p:cBhvr>
                                      <p:to>
                                        <p:strVal val="visible"/>
                                      </p:to>
                                    </p:set>
                                    <p:animEffect transition="in" filter="barn(inVertical)">
                                      <p:cBhvr>
                                        <p:cTn id="33" dur="500"/>
                                        <p:tgtEl>
                                          <p:spTgt spid="34">
                                            <p:txEl>
                                              <p:pRg st="3" end="3"/>
                                            </p:txEl>
                                          </p:spTgt>
                                        </p:tgtEl>
                                      </p:cBhvr>
                                    </p:animEffect>
                                  </p:childTnLst>
                                </p:cTn>
                              </p:par>
                            </p:childTnLst>
                          </p:cTn>
                        </p:par>
                        <p:par>
                          <p:cTn id="34" fill="hold">
                            <p:stCondLst>
                              <p:cond delay="4500"/>
                            </p:stCondLst>
                            <p:childTnLst>
                              <p:par>
                                <p:cTn id="35" presetID="2" presetClass="entr" presetSubtype="8" fill="hold" nodeType="afterEffect">
                                  <p:stCondLst>
                                    <p:cond delay="0"/>
                                  </p:stCondLst>
                                  <p:childTnLst>
                                    <p:set>
                                      <p:cBhvr>
                                        <p:cTn id="36" dur="1" fill="hold">
                                          <p:stCondLst>
                                            <p:cond delay="0"/>
                                          </p:stCondLst>
                                        </p:cTn>
                                        <p:tgtEl>
                                          <p:spTgt spid="10"/>
                                        </p:tgtEl>
                                        <p:attrNameLst>
                                          <p:attrName>style.visibility</p:attrName>
                                        </p:attrNameLst>
                                      </p:cBhvr>
                                      <p:to>
                                        <p:strVal val="visible"/>
                                      </p:to>
                                    </p:set>
                                    <p:anim calcmode="lin" valueType="num">
                                      <p:cBhvr additive="base">
                                        <p:cTn id="37" dur="500" fill="hold"/>
                                        <p:tgtEl>
                                          <p:spTgt spid="10"/>
                                        </p:tgtEl>
                                        <p:attrNameLst>
                                          <p:attrName>ppt_x</p:attrName>
                                        </p:attrNameLst>
                                      </p:cBhvr>
                                      <p:tavLst>
                                        <p:tav tm="0">
                                          <p:val>
                                            <p:strVal val="0-#ppt_w/2"/>
                                          </p:val>
                                        </p:tav>
                                        <p:tav tm="100000">
                                          <p:val>
                                            <p:strVal val="#ppt_x"/>
                                          </p:val>
                                        </p:tav>
                                      </p:tavLst>
                                    </p:anim>
                                    <p:anim calcmode="lin" valueType="num">
                                      <p:cBhvr additive="base">
                                        <p:cTn id="38" dur="500" fill="hold"/>
                                        <p:tgtEl>
                                          <p:spTgt spid="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8"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2"/>
          <a:stretch>
            <a:fillRect/>
          </a:stretch>
        </p:blipFill>
        <p:spPr>
          <a:xfrm rot="16200000">
            <a:off x="145169" y="-145167"/>
            <a:ext cx="1268414" cy="1558750"/>
          </a:xfrm>
          <a:prstGeom prst="rect">
            <a:avLst/>
          </a:prstGeom>
        </p:spPr>
      </p:pic>
      <p:sp>
        <p:nvSpPr>
          <p:cNvPr id="9" name="文字方塊 8">
            <a:extLst>
              <a:ext uri="{FF2B5EF4-FFF2-40B4-BE49-F238E27FC236}">
                <a16:creationId xmlns:a16="http://schemas.microsoft.com/office/drawing/2014/main" id="{81D0666A-D96D-4B5B-9036-192FA53FE435}"/>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sp>
        <p:nvSpPr>
          <p:cNvPr id="3" name="文字方塊 2">
            <a:extLst>
              <a:ext uri="{FF2B5EF4-FFF2-40B4-BE49-F238E27FC236}">
                <a16:creationId xmlns:a16="http://schemas.microsoft.com/office/drawing/2014/main" id="{BF94E171-0176-49DD-BE6C-DB2D96B94A88}"/>
              </a:ext>
            </a:extLst>
          </p:cNvPr>
          <p:cNvSpPr txBox="1"/>
          <p:nvPr/>
        </p:nvSpPr>
        <p:spPr>
          <a:xfrm>
            <a:off x="1177167" y="1733923"/>
            <a:ext cx="7468069" cy="2862322"/>
          </a:xfrm>
          <a:prstGeom prst="rect">
            <a:avLst/>
          </a:prstGeom>
          <a:noFill/>
        </p:spPr>
        <p:txBody>
          <a:bodyPr wrap="square" rtlCol="0">
            <a:spAutoFit/>
          </a:bodyPr>
          <a:lstStyle/>
          <a:p>
            <a:pPr marL="342900" indent="-342900">
              <a:lnSpc>
                <a:spcPct val="150000"/>
              </a:lnSpc>
              <a:buBlip>
                <a:blip r:embed="rId3"/>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傳統市場與</a:t>
            </a:r>
            <a:r>
              <a:rPr lang="en-US" altLang="zh-TW" sz="2400" b="1" dirty="0" err="1">
                <a:solidFill>
                  <a:schemeClr val="tx1">
                    <a:lumMod val="75000"/>
                    <a:lumOff val="25000"/>
                  </a:schemeClr>
                </a:solidFill>
                <a:latin typeface="微軟正黑體" panose="020B0604030504040204" pitchFamily="34" charset="-120"/>
                <a:ea typeface="微軟正黑體" panose="020B0604030504040204" pitchFamily="34" charset="-120"/>
              </a:rPr>
              <a:t>WalMart</a:t>
            </a:r>
            <a:r>
              <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t> </a:t>
            </a: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區塊鏈食品管理之比較</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800100" lvl="1" indent="-342900">
              <a:lnSpc>
                <a:spcPct val="150000"/>
              </a:lnSpc>
              <a:buBlip>
                <a:blip r:embed="rId3"/>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傳統市場：於食品的來源或品質並未有太多的管理</a:t>
            </a:r>
          </a:p>
          <a:p>
            <a:pPr marL="800100" lvl="1" indent="-342900">
              <a:lnSpc>
                <a:spcPct val="150000"/>
              </a:lnSpc>
              <a:buBlip>
                <a:blip r:embed="rId3"/>
              </a:buBlip>
            </a:pPr>
            <a:r>
              <a:rPr lang="en-US" altLang="zh-TW" sz="2400" b="1" dirty="0" err="1">
                <a:solidFill>
                  <a:schemeClr val="tx1">
                    <a:lumMod val="75000"/>
                    <a:lumOff val="25000"/>
                  </a:schemeClr>
                </a:solidFill>
                <a:latin typeface="微軟正黑體" panose="020B0604030504040204" pitchFamily="34" charset="-120"/>
                <a:ea typeface="微軟正黑體" panose="020B0604030504040204" pitchFamily="34" charset="-120"/>
              </a:rPr>
              <a:t>WalMart</a:t>
            </a:r>
            <a:r>
              <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t> </a:t>
            </a: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區塊鏈：透過完整的食品履歷及交易資訊紀錄為管理</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cxnSp>
        <p:nvCxnSpPr>
          <p:cNvPr id="33" name="直接连接符 33">
            <a:extLst>
              <a:ext uri="{FF2B5EF4-FFF2-40B4-BE49-F238E27FC236}">
                <a16:creationId xmlns:a16="http://schemas.microsoft.com/office/drawing/2014/main" id="{DFF80DCD-8EF0-4D2F-8380-59FA348D932C}"/>
              </a:ext>
            </a:extLst>
          </p:cNvPr>
          <p:cNvCxnSpPr/>
          <p:nvPr/>
        </p:nvCxnSpPr>
        <p:spPr>
          <a:xfrm>
            <a:off x="1177167" y="1046746"/>
            <a:ext cx="10585176"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6" name="標題 1"/>
          <p:cNvSpPr txBox="1">
            <a:spLocks/>
          </p:cNvSpPr>
          <p:nvPr/>
        </p:nvSpPr>
        <p:spPr>
          <a:xfrm>
            <a:off x="918901" y="278155"/>
            <a:ext cx="5288853"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7-1 </a:t>
            </a:r>
            <a:r>
              <a:rPr lang="zh-TW" altLang="en-US" sz="2400" b="1" dirty="0">
                <a:solidFill>
                  <a:srgbClr val="E06741"/>
                </a:solidFill>
              </a:rPr>
              <a:t>實務案例</a:t>
            </a:r>
            <a:r>
              <a:rPr lang="en-US" altLang="zh-TW" sz="2400" b="1" dirty="0">
                <a:solidFill>
                  <a:srgbClr val="E06741"/>
                </a:solidFill>
              </a:rPr>
              <a:t>-</a:t>
            </a:r>
            <a:r>
              <a:rPr lang="zh-TW" altLang="en-US" sz="2400" b="1" dirty="0">
                <a:solidFill>
                  <a:srgbClr val="E06741"/>
                </a:solidFill>
              </a:rPr>
              <a:t>食品安全管理</a:t>
            </a:r>
          </a:p>
          <a:p>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sp>
        <p:nvSpPr>
          <p:cNvPr id="48" name="文字方塊 47">
            <a:extLst>
              <a:ext uri="{FF2B5EF4-FFF2-40B4-BE49-F238E27FC236}">
                <a16:creationId xmlns:a16="http://schemas.microsoft.com/office/drawing/2014/main" id="{AD7F4831-1A36-4A2F-ACBE-344F724510DC}"/>
              </a:ext>
            </a:extLst>
          </p:cNvPr>
          <p:cNvSpPr txBox="1"/>
          <p:nvPr/>
        </p:nvSpPr>
        <p:spPr>
          <a:xfrm>
            <a:off x="5438954" y="350242"/>
            <a:ext cx="2242922"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-2</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案例區塊鍊運用</a:t>
            </a:r>
          </a:p>
        </p:txBody>
      </p:sp>
      <p:pic>
        <p:nvPicPr>
          <p:cNvPr id="51" name="圖片 50" descr="一張含有 向量圖形 的圖片&#10;&#10;描述是以高可信度產生">
            <a:extLst>
              <a:ext uri="{FF2B5EF4-FFF2-40B4-BE49-F238E27FC236}">
                <a16:creationId xmlns:a16="http://schemas.microsoft.com/office/drawing/2014/main" id="{014AEFB3-6873-43A8-A265-01562E75CAF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150006" y="2575791"/>
            <a:ext cx="2334491" cy="2334491"/>
          </a:xfrm>
          <a:prstGeom prst="rect">
            <a:avLst/>
          </a:prstGeom>
        </p:spPr>
      </p:pic>
    </p:spTree>
    <p:extLst>
      <p:ext uri="{BB962C8B-B14F-4D97-AF65-F5344CB8AC3E}">
        <p14:creationId xmlns:p14="http://schemas.microsoft.com/office/powerpoint/2010/main" val="2490239785"/>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circle(in)">
                                      <p:cBhvr>
                                        <p:cTn id="7" dur="1500"/>
                                        <p:tgtEl>
                                          <p:spTgt spid="46"/>
                                        </p:tgtEl>
                                      </p:cBhvr>
                                    </p:animEffect>
                                  </p:childTnLst>
                                </p:cTn>
                              </p:par>
                            </p:childTnLst>
                          </p:cTn>
                        </p:par>
                        <p:par>
                          <p:cTn id="8" fill="hold">
                            <p:stCondLst>
                              <p:cond delay="1500"/>
                            </p:stCondLst>
                            <p:childTnLst>
                              <p:par>
                                <p:cTn id="9" presetID="16" presetClass="entr" presetSubtype="21" fill="hold" grpId="0" nodeType="afterEffect">
                                  <p:stCondLst>
                                    <p:cond delay="0"/>
                                  </p:stCondLst>
                                  <p:childTnLst>
                                    <p:set>
                                      <p:cBhvr>
                                        <p:cTn id="10" dur="1" fill="hold">
                                          <p:stCondLst>
                                            <p:cond delay="0"/>
                                          </p:stCondLst>
                                        </p:cTn>
                                        <p:tgtEl>
                                          <p:spTgt spid="48"/>
                                        </p:tgtEl>
                                        <p:attrNameLst>
                                          <p:attrName>style.visibility</p:attrName>
                                        </p:attrNameLst>
                                      </p:cBhvr>
                                      <p:to>
                                        <p:strVal val="visible"/>
                                      </p:to>
                                    </p:set>
                                    <p:animEffect transition="in" filter="barn(inVertical)">
                                      <p:cBhvr>
                                        <p:cTn id="11" dur="500"/>
                                        <p:tgtEl>
                                          <p:spTgt spid="48"/>
                                        </p:tgtEl>
                                      </p:cBhvr>
                                    </p:animEffect>
                                  </p:childTnLst>
                                </p:cTn>
                              </p:par>
                            </p:childTnLst>
                          </p:cTn>
                        </p:par>
                        <p:par>
                          <p:cTn id="12" fill="hold">
                            <p:stCondLst>
                              <p:cond delay="2000"/>
                            </p:stCondLst>
                            <p:childTnLst>
                              <p:par>
                                <p:cTn id="13" presetID="2" presetClass="entr" presetSubtype="8" fill="hold" nodeType="afterEffect">
                                  <p:stCondLst>
                                    <p:cond delay="0"/>
                                  </p:stCondLst>
                                  <p:childTnLst>
                                    <p:set>
                                      <p:cBhvr>
                                        <p:cTn id="14" dur="1" fill="hold">
                                          <p:stCondLst>
                                            <p:cond delay="0"/>
                                          </p:stCondLst>
                                        </p:cTn>
                                        <p:tgtEl>
                                          <p:spTgt spid="33"/>
                                        </p:tgtEl>
                                        <p:attrNameLst>
                                          <p:attrName>style.visibility</p:attrName>
                                        </p:attrNameLst>
                                      </p:cBhvr>
                                      <p:to>
                                        <p:strVal val="visible"/>
                                      </p:to>
                                    </p:set>
                                    <p:anim calcmode="lin" valueType="num">
                                      <p:cBhvr additive="base">
                                        <p:cTn id="15" dur="500" fill="hold"/>
                                        <p:tgtEl>
                                          <p:spTgt spid="33"/>
                                        </p:tgtEl>
                                        <p:attrNameLst>
                                          <p:attrName>ppt_x</p:attrName>
                                        </p:attrNameLst>
                                      </p:cBhvr>
                                      <p:tavLst>
                                        <p:tav tm="0">
                                          <p:val>
                                            <p:strVal val="0-#ppt_w/2"/>
                                          </p:val>
                                        </p:tav>
                                        <p:tav tm="100000">
                                          <p:val>
                                            <p:strVal val="#ppt_x"/>
                                          </p:val>
                                        </p:tav>
                                      </p:tavLst>
                                    </p:anim>
                                    <p:anim calcmode="lin" valueType="num">
                                      <p:cBhvr additive="base">
                                        <p:cTn id="16" dur="500" fill="hold"/>
                                        <p:tgtEl>
                                          <p:spTgt spid="33"/>
                                        </p:tgtEl>
                                        <p:attrNameLst>
                                          <p:attrName>ppt_y</p:attrName>
                                        </p:attrNameLst>
                                      </p:cBhvr>
                                      <p:tavLst>
                                        <p:tav tm="0">
                                          <p:val>
                                            <p:strVal val="#ppt_y"/>
                                          </p:val>
                                        </p:tav>
                                        <p:tav tm="100000">
                                          <p:val>
                                            <p:strVal val="#ppt_y"/>
                                          </p:val>
                                        </p:tav>
                                      </p:tavLst>
                                    </p:anim>
                                  </p:childTnLst>
                                </p:cTn>
                              </p:par>
                            </p:childTnLst>
                          </p:cTn>
                        </p:par>
                        <p:par>
                          <p:cTn id="17" fill="hold">
                            <p:stCondLst>
                              <p:cond delay="2500"/>
                            </p:stCondLst>
                            <p:childTnLst>
                              <p:par>
                                <p:cTn id="18" presetID="16" presetClass="entr" presetSubtype="21" fill="hold" nodeType="afterEffect">
                                  <p:stCondLst>
                                    <p:cond delay="0"/>
                                  </p:stCondLst>
                                  <p:childTnLst>
                                    <p:set>
                                      <p:cBhvr>
                                        <p:cTn id="19" dur="1" fill="hold">
                                          <p:stCondLst>
                                            <p:cond delay="0"/>
                                          </p:stCondLst>
                                        </p:cTn>
                                        <p:tgtEl>
                                          <p:spTgt spid="3">
                                            <p:txEl>
                                              <p:pRg st="0" end="0"/>
                                            </p:txEl>
                                          </p:spTgt>
                                        </p:tgtEl>
                                        <p:attrNameLst>
                                          <p:attrName>style.visibility</p:attrName>
                                        </p:attrNameLst>
                                      </p:cBhvr>
                                      <p:to>
                                        <p:strVal val="visible"/>
                                      </p:to>
                                    </p:set>
                                    <p:animEffect transition="in" filter="barn(inVertical)">
                                      <p:cBhvr>
                                        <p:cTn id="20" dur="500"/>
                                        <p:tgtEl>
                                          <p:spTgt spid="3">
                                            <p:txEl>
                                              <p:pRg st="0" end="0"/>
                                            </p:txEl>
                                          </p:spTgt>
                                        </p:tgtEl>
                                      </p:cBhvr>
                                    </p:animEffect>
                                  </p:childTnLst>
                                </p:cTn>
                              </p:par>
                            </p:childTnLst>
                          </p:cTn>
                        </p:par>
                        <p:par>
                          <p:cTn id="21" fill="hold">
                            <p:stCondLst>
                              <p:cond delay="3000"/>
                            </p:stCondLst>
                            <p:childTnLst>
                              <p:par>
                                <p:cTn id="22" presetID="16" presetClass="entr" presetSubtype="21" fill="hold" nodeType="afterEffect">
                                  <p:stCondLst>
                                    <p:cond delay="0"/>
                                  </p:stCondLst>
                                  <p:childTnLst>
                                    <p:set>
                                      <p:cBhvr>
                                        <p:cTn id="23" dur="1" fill="hold">
                                          <p:stCondLst>
                                            <p:cond delay="0"/>
                                          </p:stCondLst>
                                        </p:cTn>
                                        <p:tgtEl>
                                          <p:spTgt spid="3">
                                            <p:txEl>
                                              <p:pRg st="1" end="1"/>
                                            </p:txEl>
                                          </p:spTgt>
                                        </p:tgtEl>
                                        <p:attrNameLst>
                                          <p:attrName>style.visibility</p:attrName>
                                        </p:attrNameLst>
                                      </p:cBhvr>
                                      <p:to>
                                        <p:strVal val="visible"/>
                                      </p:to>
                                    </p:set>
                                    <p:animEffect transition="in" filter="barn(inVertical)">
                                      <p:cBhvr>
                                        <p:cTn id="24" dur="500"/>
                                        <p:tgtEl>
                                          <p:spTgt spid="3">
                                            <p:txEl>
                                              <p:pRg st="1" end="1"/>
                                            </p:txEl>
                                          </p:spTgt>
                                        </p:tgtEl>
                                      </p:cBhvr>
                                    </p:animEffect>
                                  </p:childTnLst>
                                </p:cTn>
                              </p:par>
                            </p:childTnLst>
                          </p:cTn>
                        </p:par>
                        <p:par>
                          <p:cTn id="25" fill="hold">
                            <p:stCondLst>
                              <p:cond delay="3500"/>
                            </p:stCondLst>
                            <p:childTnLst>
                              <p:par>
                                <p:cTn id="26" presetID="16" presetClass="entr" presetSubtype="21" fill="hold" nodeType="afterEffect">
                                  <p:stCondLst>
                                    <p:cond delay="0"/>
                                  </p:stCondLst>
                                  <p:childTnLst>
                                    <p:set>
                                      <p:cBhvr>
                                        <p:cTn id="27" dur="1" fill="hold">
                                          <p:stCondLst>
                                            <p:cond delay="0"/>
                                          </p:stCondLst>
                                        </p:cTn>
                                        <p:tgtEl>
                                          <p:spTgt spid="3">
                                            <p:txEl>
                                              <p:pRg st="2" end="2"/>
                                            </p:txEl>
                                          </p:spTgt>
                                        </p:tgtEl>
                                        <p:attrNameLst>
                                          <p:attrName>style.visibility</p:attrName>
                                        </p:attrNameLst>
                                      </p:cBhvr>
                                      <p:to>
                                        <p:strVal val="visible"/>
                                      </p:to>
                                    </p:set>
                                    <p:animEffect transition="in" filter="barn(inVertical)">
                                      <p:cBhvr>
                                        <p:cTn id="28" dur="500"/>
                                        <p:tgtEl>
                                          <p:spTgt spid="3">
                                            <p:txEl>
                                              <p:pRg st="2" end="2"/>
                                            </p:txEl>
                                          </p:spTgt>
                                        </p:tgtEl>
                                      </p:cBhvr>
                                    </p:animEffect>
                                  </p:childTnLst>
                                </p:cTn>
                              </p:par>
                            </p:childTnLst>
                          </p:cTn>
                        </p:par>
                        <p:par>
                          <p:cTn id="29" fill="hold">
                            <p:stCondLst>
                              <p:cond delay="4000"/>
                            </p:stCondLst>
                            <p:childTnLst>
                              <p:par>
                                <p:cTn id="30" presetID="53" presetClass="entr" presetSubtype="16" fill="hold" nodeType="afterEffect">
                                  <p:stCondLst>
                                    <p:cond delay="0"/>
                                  </p:stCondLst>
                                  <p:childTnLst>
                                    <p:set>
                                      <p:cBhvr>
                                        <p:cTn id="31" dur="1" fill="hold">
                                          <p:stCondLst>
                                            <p:cond delay="0"/>
                                          </p:stCondLst>
                                        </p:cTn>
                                        <p:tgtEl>
                                          <p:spTgt spid="51"/>
                                        </p:tgtEl>
                                        <p:attrNameLst>
                                          <p:attrName>style.visibility</p:attrName>
                                        </p:attrNameLst>
                                      </p:cBhvr>
                                      <p:to>
                                        <p:strVal val="visible"/>
                                      </p:to>
                                    </p:set>
                                    <p:anim calcmode="lin" valueType="num">
                                      <p:cBhvr>
                                        <p:cTn id="32" dur="500" fill="hold"/>
                                        <p:tgtEl>
                                          <p:spTgt spid="51"/>
                                        </p:tgtEl>
                                        <p:attrNameLst>
                                          <p:attrName>ppt_w</p:attrName>
                                        </p:attrNameLst>
                                      </p:cBhvr>
                                      <p:tavLst>
                                        <p:tav tm="0">
                                          <p:val>
                                            <p:fltVal val="0"/>
                                          </p:val>
                                        </p:tav>
                                        <p:tav tm="100000">
                                          <p:val>
                                            <p:strVal val="#ppt_w"/>
                                          </p:val>
                                        </p:tav>
                                      </p:tavLst>
                                    </p:anim>
                                    <p:anim calcmode="lin" valueType="num">
                                      <p:cBhvr>
                                        <p:cTn id="33" dur="500" fill="hold"/>
                                        <p:tgtEl>
                                          <p:spTgt spid="51"/>
                                        </p:tgtEl>
                                        <p:attrNameLst>
                                          <p:attrName>ppt_h</p:attrName>
                                        </p:attrNameLst>
                                      </p:cBhvr>
                                      <p:tavLst>
                                        <p:tav tm="0">
                                          <p:val>
                                            <p:fltVal val="0"/>
                                          </p:val>
                                        </p:tav>
                                        <p:tav tm="100000">
                                          <p:val>
                                            <p:strVal val="#ppt_h"/>
                                          </p:val>
                                        </p:tav>
                                      </p:tavLst>
                                    </p:anim>
                                    <p:animEffect transition="in" filter="fade">
                                      <p:cBhvr>
                                        <p:cTn id="34" dur="5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p:bldP spid="4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2"/>
          <a:stretch>
            <a:fillRect/>
          </a:stretch>
        </p:blipFill>
        <p:spPr>
          <a:xfrm rot="16200000">
            <a:off x="145169" y="-145167"/>
            <a:ext cx="1268414" cy="1558750"/>
          </a:xfrm>
          <a:prstGeom prst="rect">
            <a:avLst/>
          </a:prstGeom>
        </p:spPr>
      </p:pic>
      <p:sp>
        <p:nvSpPr>
          <p:cNvPr id="9" name="文字方塊 8">
            <a:extLst>
              <a:ext uri="{FF2B5EF4-FFF2-40B4-BE49-F238E27FC236}">
                <a16:creationId xmlns:a16="http://schemas.microsoft.com/office/drawing/2014/main" id="{81D0666A-D96D-4B5B-9036-192FA53FE435}"/>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sp>
        <p:nvSpPr>
          <p:cNvPr id="3" name="文字方塊 2">
            <a:extLst>
              <a:ext uri="{FF2B5EF4-FFF2-40B4-BE49-F238E27FC236}">
                <a16:creationId xmlns:a16="http://schemas.microsoft.com/office/drawing/2014/main" id="{BF94E171-0176-49DD-BE6C-DB2D96B94A88}"/>
              </a:ext>
            </a:extLst>
          </p:cNvPr>
          <p:cNvSpPr txBox="1"/>
          <p:nvPr/>
        </p:nvSpPr>
        <p:spPr>
          <a:xfrm>
            <a:off x="1331723" y="1283286"/>
            <a:ext cx="6260568" cy="646331"/>
          </a:xfrm>
          <a:prstGeom prst="rect">
            <a:avLst/>
          </a:prstGeom>
          <a:noFill/>
        </p:spPr>
        <p:txBody>
          <a:bodyPr wrap="square" rtlCol="0">
            <a:spAutoFit/>
          </a:bodyPr>
          <a:lstStyle/>
          <a:p>
            <a:pPr marL="342900" indent="-342900">
              <a:lnSpc>
                <a:spcPct val="150000"/>
              </a:lnSpc>
              <a:buBlip>
                <a:blip r:embed="rId3"/>
              </a:buBlip>
            </a:pPr>
            <a:r>
              <a:rPr lang="en-US" altLang="zh-TW" sz="2400" b="1" dirty="0" err="1">
                <a:solidFill>
                  <a:schemeClr val="tx1">
                    <a:lumMod val="75000"/>
                    <a:lumOff val="25000"/>
                  </a:schemeClr>
                </a:solidFill>
                <a:latin typeface="微軟正黑體" panose="020B0604030504040204" pitchFamily="34" charset="-120"/>
                <a:ea typeface="微軟正黑體" panose="020B0604030504040204" pitchFamily="34" charset="-120"/>
              </a:rPr>
              <a:t>WalMart</a:t>
            </a: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豬肉供應傳統生態流程</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cxnSp>
        <p:nvCxnSpPr>
          <p:cNvPr id="33" name="直接连接符 33">
            <a:extLst>
              <a:ext uri="{FF2B5EF4-FFF2-40B4-BE49-F238E27FC236}">
                <a16:creationId xmlns:a16="http://schemas.microsoft.com/office/drawing/2014/main" id="{DFF80DCD-8EF0-4D2F-8380-59FA348D932C}"/>
              </a:ext>
            </a:extLst>
          </p:cNvPr>
          <p:cNvCxnSpPr/>
          <p:nvPr/>
        </p:nvCxnSpPr>
        <p:spPr>
          <a:xfrm>
            <a:off x="1177167" y="1046746"/>
            <a:ext cx="10585176"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6" name="標題 1"/>
          <p:cNvSpPr txBox="1">
            <a:spLocks/>
          </p:cNvSpPr>
          <p:nvPr/>
        </p:nvSpPr>
        <p:spPr>
          <a:xfrm>
            <a:off x="918901" y="278155"/>
            <a:ext cx="5288853"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7-1 </a:t>
            </a:r>
            <a:r>
              <a:rPr lang="zh-TW" altLang="en-US" sz="2400" b="1" dirty="0">
                <a:solidFill>
                  <a:srgbClr val="E06741"/>
                </a:solidFill>
              </a:rPr>
              <a:t>實務案例</a:t>
            </a:r>
            <a:r>
              <a:rPr lang="en-US" altLang="zh-TW" sz="2400" b="1" dirty="0">
                <a:solidFill>
                  <a:srgbClr val="E06741"/>
                </a:solidFill>
              </a:rPr>
              <a:t>-</a:t>
            </a:r>
            <a:r>
              <a:rPr lang="zh-TW" altLang="en-US" sz="2400" b="1" dirty="0">
                <a:solidFill>
                  <a:srgbClr val="E06741"/>
                </a:solidFill>
              </a:rPr>
              <a:t>食品安全管理</a:t>
            </a:r>
          </a:p>
          <a:p>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sp>
        <p:nvSpPr>
          <p:cNvPr id="48" name="文字方塊 47">
            <a:extLst>
              <a:ext uri="{FF2B5EF4-FFF2-40B4-BE49-F238E27FC236}">
                <a16:creationId xmlns:a16="http://schemas.microsoft.com/office/drawing/2014/main" id="{AD7F4831-1A36-4A2F-ACBE-344F724510DC}"/>
              </a:ext>
            </a:extLst>
          </p:cNvPr>
          <p:cNvSpPr txBox="1"/>
          <p:nvPr/>
        </p:nvSpPr>
        <p:spPr>
          <a:xfrm>
            <a:off x="5438954" y="350242"/>
            <a:ext cx="2242922"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-2</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案例區塊鍊運用</a:t>
            </a:r>
          </a:p>
        </p:txBody>
      </p:sp>
      <p:pic>
        <p:nvPicPr>
          <p:cNvPr id="2" name="圖片 1"/>
          <p:cNvPicPr>
            <a:picLocks noChangeAspect="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266542" y="2166156"/>
            <a:ext cx="7882424" cy="4061686"/>
          </a:xfrm>
          <a:prstGeom prst="rect">
            <a:avLst/>
          </a:prstGeom>
        </p:spPr>
      </p:pic>
    </p:spTree>
    <p:extLst>
      <p:ext uri="{BB962C8B-B14F-4D97-AF65-F5344CB8AC3E}">
        <p14:creationId xmlns:p14="http://schemas.microsoft.com/office/powerpoint/2010/main" val="1716653612"/>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circle(in)">
                                      <p:cBhvr>
                                        <p:cTn id="7" dur="1500"/>
                                        <p:tgtEl>
                                          <p:spTgt spid="46"/>
                                        </p:tgtEl>
                                      </p:cBhvr>
                                    </p:animEffect>
                                  </p:childTnLst>
                                </p:cTn>
                              </p:par>
                            </p:childTnLst>
                          </p:cTn>
                        </p:par>
                        <p:par>
                          <p:cTn id="8" fill="hold">
                            <p:stCondLst>
                              <p:cond delay="1500"/>
                            </p:stCondLst>
                            <p:childTnLst>
                              <p:par>
                                <p:cTn id="9" presetID="16" presetClass="entr" presetSubtype="21" fill="hold" grpId="0" nodeType="afterEffect">
                                  <p:stCondLst>
                                    <p:cond delay="0"/>
                                  </p:stCondLst>
                                  <p:childTnLst>
                                    <p:set>
                                      <p:cBhvr>
                                        <p:cTn id="10" dur="1" fill="hold">
                                          <p:stCondLst>
                                            <p:cond delay="0"/>
                                          </p:stCondLst>
                                        </p:cTn>
                                        <p:tgtEl>
                                          <p:spTgt spid="48"/>
                                        </p:tgtEl>
                                        <p:attrNameLst>
                                          <p:attrName>style.visibility</p:attrName>
                                        </p:attrNameLst>
                                      </p:cBhvr>
                                      <p:to>
                                        <p:strVal val="visible"/>
                                      </p:to>
                                    </p:set>
                                    <p:animEffect transition="in" filter="barn(inVertical)">
                                      <p:cBhvr>
                                        <p:cTn id="11" dur="500"/>
                                        <p:tgtEl>
                                          <p:spTgt spid="48"/>
                                        </p:tgtEl>
                                      </p:cBhvr>
                                    </p:animEffect>
                                  </p:childTnLst>
                                </p:cTn>
                              </p:par>
                            </p:childTnLst>
                          </p:cTn>
                        </p:par>
                        <p:par>
                          <p:cTn id="12" fill="hold">
                            <p:stCondLst>
                              <p:cond delay="2000"/>
                            </p:stCondLst>
                            <p:childTnLst>
                              <p:par>
                                <p:cTn id="13" presetID="2" presetClass="entr" presetSubtype="8" fill="hold" nodeType="afterEffect">
                                  <p:stCondLst>
                                    <p:cond delay="0"/>
                                  </p:stCondLst>
                                  <p:childTnLst>
                                    <p:set>
                                      <p:cBhvr>
                                        <p:cTn id="14" dur="1" fill="hold">
                                          <p:stCondLst>
                                            <p:cond delay="0"/>
                                          </p:stCondLst>
                                        </p:cTn>
                                        <p:tgtEl>
                                          <p:spTgt spid="33"/>
                                        </p:tgtEl>
                                        <p:attrNameLst>
                                          <p:attrName>style.visibility</p:attrName>
                                        </p:attrNameLst>
                                      </p:cBhvr>
                                      <p:to>
                                        <p:strVal val="visible"/>
                                      </p:to>
                                    </p:set>
                                    <p:anim calcmode="lin" valueType="num">
                                      <p:cBhvr additive="base">
                                        <p:cTn id="15" dur="500" fill="hold"/>
                                        <p:tgtEl>
                                          <p:spTgt spid="33"/>
                                        </p:tgtEl>
                                        <p:attrNameLst>
                                          <p:attrName>ppt_x</p:attrName>
                                        </p:attrNameLst>
                                      </p:cBhvr>
                                      <p:tavLst>
                                        <p:tav tm="0">
                                          <p:val>
                                            <p:strVal val="0-#ppt_w/2"/>
                                          </p:val>
                                        </p:tav>
                                        <p:tav tm="100000">
                                          <p:val>
                                            <p:strVal val="#ppt_x"/>
                                          </p:val>
                                        </p:tav>
                                      </p:tavLst>
                                    </p:anim>
                                    <p:anim calcmode="lin" valueType="num">
                                      <p:cBhvr additive="base">
                                        <p:cTn id="16" dur="500" fill="hold"/>
                                        <p:tgtEl>
                                          <p:spTgt spid="33"/>
                                        </p:tgtEl>
                                        <p:attrNameLst>
                                          <p:attrName>ppt_y</p:attrName>
                                        </p:attrNameLst>
                                      </p:cBhvr>
                                      <p:tavLst>
                                        <p:tav tm="0">
                                          <p:val>
                                            <p:strVal val="#ppt_y"/>
                                          </p:val>
                                        </p:tav>
                                        <p:tav tm="100000">
                                          <p:val>
                                            <p:strVal val="#ppt_y"/>
                                          </p:val>
                                        </p:tav>
                                      </p:tavLst>
                                    </p:anim>
                                  </p:childTnLst>
                                </p:cTn>
                              </p:par>
                            </p:childTnLst>
                          </p:cTn>
                        </p:par>
                        <p:par>
                          <p:cTn id="17" fill="hold">
                            <p:stCondLst>
                              <p:cond delay="2500"/>
                            </p:stCondLst>
                            <p:childTnLst>
                              <p:par>
                                <p:cTn id="18" presetID="16" presetClass="entr" presetSubtype="21" fill="hold" nodeType="afterEffect">
                                  <p:stCondLst>
                                    <p:cond delay="0"/>
                                  </p:stCondLst>
                                  <p:childTnLst>
                                    <p:set>
                                      <p:cBhvr>
                                        <p:cTn id="19" dur="1" fill="hold">
                                          <p:stCondLst>
                                            <p:cond delay="0"/>
                                          </p:stCondLst>
                                        </p:cTn>
                                        <p:tgtEl>
                                          <p:spTgt spid="3">
                                            <p:txEl>
                                              <p:pRg st="0" end="0"/>
                                            </p:txEl>
                                          </p:spTgt>
                                        </p:tgtEl>
                                        <p:attrNameLst>
                                          <p:attrName>style.visibility</p:attrName>
                                        </p:attrNameLst>
                                      </p:cBhvr>
                                      <p:to>
                                        <p:strVal val="visible"/>
                                      </p:to>
                                    </p:set>
                                    <p:animEffect transition="in" filter="barn(inVertical)">
                                      <p:cBhvr>
                                        <p:cTn id="20" dur="500"/>
                                        <p:tgtEl>
                                          <p:spTgt spid="3">
                                            <p:txEl>
                                              <p:pRg st="0" end="0"/>
                                            </p:txEl>
                                          </p:spTgt>
                                        </p:tgtEl>
                                      </p:cBhvr>
                                    </p:animEffect>
                                  </p:childTnLst>
                                </p:cTn>
                              </p:par>
                            </p:childTnLst>
                          </p:cTn>
                        </p:par>
                        <p:par>
                          <p:cTn id="21" fill="hold">
                            <p:stCondLst>
                              <p:cond delay="3000"/>
                            </p:stCondLst>
                            <p:childTnLst>
                              <p:par>
                                <p:cTn id="22" presetID="53" presetClass="entr" presetSubtype="16" fill="hold" nodeType="afterEffect">
                                  <p:stCondLst>
                                    <p:cond delay="0"/>
                                  </p:stCondLst>
                                  <p:childTnLst>
                                    <p:set>
                                      <p:cBhvr>
                                        <p:cTn id="23" dur="1" fill="hold">
                                          <p:stCondLst>
                                            <p:cond delay="0"/>
                                          </p:stCondLst>
                                        </p:cTn>
                                        <p:tgtEl>
                                          <p:spTgt spid="2"/>
                                        </p:tgtEl>
                                        <p:attrNameLst>
                                          <p:attrName>style.visibility</p:attrName>
                                        </p:attrNameLst>
                                      </p:cBhvr>
                                      <p:to>
                                        <p:strVal val="visible"/>
                                      </p:to>
                                    </p:set>
                                    <p:anim calcmode="lin" valueType="num">
                                      <p:cBhvr>
                                        <p:cTn id="24" dur="500" fill="hold"/>
                                        <p:tgtEl>
                                          <p:spTgt spid="2"/>
                                        </p:tgtEl>
                                        <p:attrNameLst>
                                          <p:attrName>ppt_w</p:attrName>
                                        </p:attrNameLst>
                                      </p:cBhvr>
                                      <p:tavLst>
                                        <p:tav tm="0">
                                          <p:val>
                                            <p:fltVal val="0"/>
                                          </p:val>
                                        </p:tav>
                                        <p:tav tm="100000">
                                          <p:val>
                                            <p:strVal val="#ppt_w"/>
                                          </p:val>
                                        </p:tav>
                                      </p:tavLst>
                                    </p:anim>
                                    <p:anim calcmode="lin" valueType="num">
                                      <p:cBhvr>
                                        <p:cTn id="25" dur="500" fill="hold"/>
                                        <p:tgtEl>
                                          <p:spTgt spid="2"/>
                                        </p:tgtEl>
                                        <p:attrNameLst>
                                          <p:attrName>ppt_h</p:attrName>
                                        </p:attrNameLst>
                                      </p:cBhvr>
                                      <p:tavLst>
                                        <p:tav tm="0">
                                          <p:val>
                                            <p:fltVal val="0"/>
                                          </p:val>
                                        </p:tav>
                                        <p:tav tm="100000">
                                          <p:val>
                                            <p:strVal val="#ppt_h"/>
                                          </p:val>
                                        </p:tav>
                                      </p:tavLst>
                                    </p:anim>
                                    <p:animEffect transition="in" filter="fade">
                                      <p:cBhvr>
                                        <p:cTn id="26"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p:bldP spid="4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2"/>
          <a:stretch>
            <a:fillRect/>
          </a:stretch>
        </p:blipFill>
        <p:spPr>
          <a:xfrm rot="16200000">
            <a:off x="145169" y="-145167"/>
            <a:ext cx="1268414" cy="1558750"/>
          </a:xfrm>
          <a:prstGeom prst="rect">
            <a:avLst/>
          </a:prstGeom>
        </p:spPr>
      </p:pic>
      <p:sp>
        <p:nvSpPr>
          <p:cNvPr id="9" name="文字方塊 8">
            <a:extLst>
              <a:ext uri="{FF2B5EF4-FFF2-40B4-BE49-F238E27FC236}">
                <a16:creationId xmlns:a16="http://schemas.microsoft.com/office/drawing/2014/main" id="{81D0666A-D96D-4B5B-9036-192FA53FE435}"/>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sp>
        <p:nvSpPr>
          <p:cNvPr id="3" name="文字方塊 2">
            <a:extLst>
              <a:ext uri="{FF2B5EF4-FFF2-40B4-BE49-F238E27FC236}">
                <a16:creationId xmlns:a16="http://schemas.microsoft.com/office/drawing/2014/main" id="{BF94E171-0176-49DD-BE6C-DB2D96B94A88}"/>
              </a:ext>
            </a:extLst>
          </p:cNvPr>
          <p:cNvSpPr txBox="1"/>
          <p:nvPr/>
        </p:nvSpPr>
        <p:spPr>
          <a:xfrm>
            <a:off x="1272425" y="1235476"/>
            <a:ext cx="7141903" cy="1200329"/>
          </a:xfrm>
          <a:prstGeom prst="rect">
            <a:avLst/>
          </a:prstGeom>
          <a:noFill/>
        </p:spPr>
        <p:txBody>
          <a:bodyPr wrap="square" rtlCol="0">
            <a:spAutoFit/>
          </a:bodyPr>
          <a:lstStyle/>
          <a:p>
            <a:pPr marL="342900" indent="-342900">
              <a:lnSpc>
                <a:spcPct val="150000"/>
              </a:lnSpc>
              <a:buBlip>
                <a:blip r:embed="rId3"/>
              </a:buBlip>
            </a:pPr>
            <a:r>
              <a:rPr lang="en-US" altLang="zh-TW" sz="2400" b="1" dirty="0" err="1">
                <a:solidFill>
                  <a:schemeClr val="tx1">
                    <a:lumMod val="75000"/>
                    <a:lumOff val="25000"/>
                  </a:schemeClr>
                </a:solidFill>
                <a:latin typeface="微軟正黑體" panose="020B0604030504040204" pitchFamily="34" charset="-120"/>
                <a:ea typeface="微軟正黑體" panose="020B0604030504040204" pitchFamily="34" charset="-120"/>
              </a:rPr>
              <a:t>WalMart</a:t>
            </a: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豬肉供應鏈傳統生態流程</a:t>
            </a:r>
            <a:r>
              <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t>(</a:t>
            </a: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三階段八步驟</a:t>
            </a:r>
            <a:r>
              <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t>)</a:t>
            </a:r>
          </a:p>
          <a:p>
            <a:pPr marL="800100" lvl="1" indent="-342900">
              <a:lnSpc>
                <a:spcPct val="150000"/>
              </a:lnSpc>
              <a:buBlip>
                <a:blip r:embed="rId3"/>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第一階段：養殖防疫</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cxnSp>
        <p:nvCxnSpPr>
          <p:cNvPr id="33" name="直接连接符 33">
            <a:extLst>
              <a:ext uri="{FF2B5EF4-FFF2-40B4-BE49-F238E27FC236}">
                <a16:creationId xmlns:a16="http://schemas.microsoft.com/office/drawing/2014/main" id="{DFF80DCD-8EF0-4D2F-8380-59FA348D932C}"/>
              </a:ext>
            </a:extLst>
          </p:cNvPr>
          <p:cNvCxnSpPr/>
          <p:nvPr/>
        </p:nvCxnSpPr>
        <p:spPr>
          <a:xfrm>
            <a:off x="1177167" y="1046746"/>
            <a:ext cx="10585176"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6" name="標題 1"/>
          <p:cNvSpPr txBox="1">
            <a:spLocks/>
          </p:cNvSpPr>
          <p:nvPr/>
        </p:nvSpPr>
        <p:spPr>
          <a:xfrm>
            <a:off x="918901" y="278155"/>
            <a:ext cx="5288853"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7-1 </a:t>
            </a:r>
            <a:r>
              <a:rPr lang="zh-TW" altLang="en-US" sz="2400" b="1" dirty="0">
                <a:solidFill>
                  <a:srgbClr val="E06741"/>
                </a:solidFill>
              </a:rPr>
              <a:t>實務案例</a:t>
            </a:r>
            <a:r>
              <a:rPr lang="en-US" altLang="zh-TW" sz="2400" b="1" dirty="0">
                <a:solidFill>
                  <a:srgbClr val="E06741"/>
                </a:solidFill>
              </a:rPr>
              <a:t>-</a:t>
            </a:r>
            <a:r>
              <a:rPr lang="zh-TW" altLang="en-US" sz="2400" b="1" dirty="0">
                <a:solidFill>
                  <a:srgbClr val="E06741"/>
                </a:solidFill>
              </a:rPr>
              <a:t>食品安全管理</a:t>
            </a:r>
          </a:p>
          <a:p>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sp>
        <p:nvSpPr>
          <p:cNvPr id="48" name="文字方塊 47">
            <a:extLst>
              <a:ext uri="{FF2B5EF4-FFF2-40B4-BE49-F238E27FC236}">
                <a16:creationId xmlns:a16="http://schemas.microsoft.com/office/drawing/2014/main" id="{AD7F4831-1A36-4A2F-ACBE-344F724510DC}"/>
              </a:ext>
            </a:extLst>
          </p:cNvPr>
          <p:cNvSpPr txBox="1"/>
          <p:nvPr/>
        </p:nvSpPr>
        <p:spPr>
          <a:xfrm>
            <a:off x="5438954" y="350242"/>
            <a:ext cx="2242922"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-2</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案例區塊鍊運用</a:t>
            </a:r>
          </a:p>
        </p:txBody>
      </p:sp>
      <p:graphicFrame>
        <p:nvGraphicFramePr>
          <p:cNvPr id="2" name="資料庫圖表 1"/>
          <p:cNvGraphicFramePr/>
          <p:nvPr>
            <p:extLst>
              <p:ext uri="{D42A27DB-BD31-4B8C-83A1-F6EECF244321}">
                <p14:modId xmlns:p14="http://schemas.microsoft.com/office/powerpoint/2010/main" val="1623445647"/>
              </p:ext>
            </p:extLst>
          </p:nvPr>
        </p:nvGraphicFramePr>
        <p:xfrm>
          <a:off x="1177167" y="2387988"/>
          <a:ext cx="10237134" cy="406760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241784556"/>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circle(in)">
                                      <p:cBhvr>
                                        <p:cTn id="7" dur="1500"/>
                                        <p:tgtEl>
                                          <p:spTgt spid="46"/>
                                        </p:tgtEl>
                                      </p:cBhvr>
                                    </p:animEffect>
                                  </p:childTnLst>
                                </p:cTn>
                              </p:par>
                            </p:childTnLst>
                          </p:cTn>
                        </p:par>
                        <p:par>
                          <p:cTn id="8" fill="hold">
                            <p:stCondLst>
                              <p:cond delay="1500"/>
                            </p:stCondLst>
                            <p:childTnLst>
                              <p:par>
                                <p:cTn id="9" presetID="16" presetClass="entr" presetSubtype="21" fill="hold" grpId="0" nodeType="afterEffect">
                                  <p:stCondLst>
                                    <p:cond delay="0"/>
                                  </p:stCondLst>
                                  <p:childTnLst>
                                    <p:set>
                                      <p:cBhvr>
                                        <p:cTn id="10" dur="1" fill="hold">
                                          <p:stCondLst>
                                            <p:cond delay="0"/>
                                          </p:stCondLst>
                                        </p:cTn>
                                        <p:tgtEl>
                                          <p:spTgt spid="48"/>
                                        </p:tgtEl>
                                        <p:attrNameLst>
                                          <p:attrName>style.visibility</p:attrName>
                                        </p:attrNameLst>
                                      </p:cBhvr>
                                      <p:to>
                                        <p:strVal val="visible"/>
                                      </p:to>
                                    </p:set>
                                    <p:animEffect transition="in" filter="barn(inVertical)">
                                      <p:cBhvr>
                                        <p:cTn id="11" dur="500"/>
                                        <p:tgtEl>
                                          <p:spTgt spid="48"/>
                                        </p:tgtEl>
                                      </p:cBhvr>
                                    </p:animEffect>
                                  </p:childTnLst>
                                </p:cTn>
                              </p:par>
                            </p:childTnLst>
                          </p:cTn>
                        </p:par>
                        <p:par>
                          <p:cTn id="12" fill="hold">
                            <p:stCondLst>
                              <p:cond delay="2000"/>
                            </p:stCondLst>
                            <p:childTnLst>
                              <p:par>
                                <p:cTn id="13" presetID="2" presetClass="entr" presetSubtype="8" fill="hold" nodeType="afterEffect">
                                  <p:stCondLst>
                                    <p:cond delay="0"/>
                                  </p:stCondLst>
                                  <p:childTnLst>
                                    <p:set>
                                      <p:cBhvr>
                                        <p:cTn id="14" dur="1" fill="hold">
                                          <p:stCondLst>
                                            <p:cond delay="0"/>
                                          </p:stCondLst>
                                        </p:cTn>
                                        <p:tgtEl>
                                          <p:spTgt spid="33"/>
                                        </p:tgtEl>
                                        <p:attrNameLst>
                                          <p:attrName>style.visibility</p:attrName>
                                        </p:attrNameLst>
                                      </p:cBhvr>
                                      <p:to>
                                        <p:strVal val="visible"/>
                                      </p:to>
                                    </p:set>
                                    <p:anim calcmode="lin" valueType="num">
                                      <p:cBhvr additive="base">
                                        <p:cTn id="15" dur="500" fill="hold"/>
                                        <p:tgtEl>
                                          <p:spTgt spid="33"/>
                                        </p:tgtEl>
                                        <p:attrNameLst>
                                          <p:attrName>ppt_x</p:attrName>
                                        </p:attrNameLst>
                                      </p:cBhvr>
                                      <p:tavLst>
                                        <p:tav tm="0">
                                          <p:val>
                                            <p:strVal val="0-#ppt_w/2"/>
                                          </p:val>
                                        </p:tav>
                                        <p:tav tm="100000">
                                          <p:val>
                                            <p:strVal val="#ppt_x"/>
                                          </p:val>
                                        </p:tav>
                                      </p:tavLst>
                                    </p:anim>
                                    <p:anim calcmode="lin" valueType="num">
                                      <p:cBhvr additive="base">
                                        <p:cTn id="16" dur="500" fill="hold"/>
                                        <p:tgtEl>
                                          <p:spTgt spid="33"/>
                                        </p:tgtEl>
                                        <p:attrNameLst>
                                          <p:attrName>ppt_y</p:attrName>
                                        </p:attrNameLst>
                                      </p:cBhvr>
                                      <p:tavLst>
                                        <p:tav tm="0">
                                          <p:val>
                                            <p:strVal val="#ppt_y"/>
                                          </p:val>
                                        </p:tav>
                                        <p:tav tm="100000">
                                          <p:val>
                                            <p:strVal val="#ppt_y"/>
                                          </p:val>
                                        </p:tav>
                                      </p:tavLst>
                                    </p:anim>
                                  </p:childTnLst>
                                </p:cTn>
                              </p:par>
                            </p:childTnLst>
                          </p:cTn>
                        </p:par>
                        <p:par>
                          <p:cTn id="17" fill="hold">
                            <p:stCondLst>
                              <p:cond delay="2500"/>
                            </p:stCondLst>
                            <p:childTnLst>
                              <p:par>
                                <p:cTn id="18" presetID="16" presetClass="entr" presetSubtype="21" fill="hold" nodeType="afterEffect">
                                  <p:stCondLst>
                                    <p:cond delay="0"/>
                                  </p:stCondLst>
                                  <p:childTnLst>
                                    <p:set>
                                      <p:cBhvr>
                                        <p:cTn id="19" dur="1" fill="hold">
                                          <p:stCondLst>
                                            <p:cond delay="0"/>
                                          </p:stCondLst>
                                        </p:cTn>
                                        <p:tgtEl>
                                          <p:spTgt spid="3">
                                            <p:txEl>
                                              <p:pRg st="0" end="0"/>
                                            </p:txEl>
                                          </p:spTgt>
                                        </p:tgtEl>
                                        <p:attrNameLst>
                                          <p:attrName>style.visibility</p:attrName>
                                        </p:attrNameLst>
                                      </p:cBhvr>
                                      <p:to>
                                        <p:strVal val="visible"/>
                                      </p:to>
                                    </p:set>
                                    <p:animEffect transition="in" filter="barn(inVertical)">
                                      <p:cBhvr>
                                        <p:cTn id="20" dur="500"/>
                                        <p:tgtEl>
                                          <p:spTgt spid="3">
                                            <p:txEl>
                                              <p:pRg st="0" end="0"/>
                                            </p:txEl>
                                          </p:spTgt>
                                        </p:tgtEl>
                                      </p:cBhvr>
                                    </p:animEffect>
                                  </p:childTnLst>
                                </p:cTn>
                              </p:par>
                            </p:childTnLst>
                          </p:cTn>
                        </p:par>
                        <p:par>
                          <p:cTn id="21" fill="hold">
                            <p:stCondLst>
                              <p:cond delay="3000"/>
                            </p:stCondLst>
                            <p:childTnLst>
                              <p:par>
                                <p:cTn id="22" presetID="16" presetClass="entr" presetSubtype="21" fill="hold" nodeType="afterEffect">
                                  <p:stCondLst>
                                    <p:cond delay="0"/>
                                  </p:stCondLst>
                                  <p:childTnLst>
                                    <p:set>
                                      <p:cBhvr>
                                        <p:cTn id="23" dur="1" fill="hold">
                                          <p:stCondLst>
                                            <p:cond delay="0"/>
                                          </p:stCondLst>
                                        </p:cTn>
                                        <p:tgtEl>
                                          <p:spTgt spid="3">
                                            <p:txEl>
                                              <p:pRg st="1" end="1"/>
                                            </p:txEl>
                                          </p:spTgt>
                                        </p:tgtEl>
                                        <p:attrNameLst>
                                          <p:attrName>style.visibility</p:attrName>
                                        </p:attrNameLst>
                                      </p:cBhvr>
                                      <p:to>
                                        <p:strVal val="visible"/>
                                      </p:to>
                                    </p:set>
                                    <p:animEffect transition="in" filter="barn(inVertical)">
                                      <p:cBhvr>
                                        <p:cTn id="24" dur="500"/>
                                        <p:tgtEl>
                                          <p:spTgt spid="3">
                                            <p:txEl>
                                              <p:pRg st="1" end="1"/>
                                            </p:txEl>
                                          </p:spTgt>
                                        </p:tgtEl>
                                      </p:cBhvr>
                                    </p:animEffect>
                                  </p:childTnLst>
                                </p:cTn>
                              </p:par>
                            </p:childTnLst>
                          </p:cTn>
                        </p:par>
                        <p:par>
                          <p:cTn id="25" fill="hold">
                            <p:stCondLst>
                              <p:cond delay="3500"/>
                            </p:stCondLst>
                            <p:childTnLst>
                              <p:par>
                                <p:cTn id="26" presetID="2" presetClass="entr" presetSubtype="8" fill="hold" grpId="0" nodeType="afterEffect">
                                  <p:stCondLst>
                                    <p:cond delay="0"/>
                                  </p:stCondLst>
                                  <p:childTnLst>
                                    <p:set>
                                      <p:cBhvr>
                                        <p:cTn id="27" dur="1" fill="hold">
                                          <p:stCondLst>
                                            <p:cond delay="0"/>
                                          </p:stCondLst>
                                        </p:cTn>
                                        <p:tgtEl>
                                          <p:spTgt spid="2"/>
                                        </p:tgtEl>
                                        <p:attrNameLst>
                                          <p:attrName>style.visibility</p:attrName>
                                        </p:attrNameLst>
                                      </p:cBhvr>
                                      <p:to>
                                        <p:strVal val="visible"/>
                                      </p:to>
                                    </p:set>
                                    <p:anim calcmode="lin" valueType="num">
                                      <p:cBhvr additive="base">
                                        <p:cTn id="28" dur="500" fill="hold"/>
                                        <p:tgtEl>
                                          <p:spTgt spid="2"/>
                                        </p:tgtEl>
                                        <p:attrNameLst>
                                          <p:attrName>ppt_x</p:attrName>
                                        </p:attrNameLst>
                                      </p:cBhvr>
                                      <p:tavLst>
                                        <p:tav tm="0">
                                          <p:val>
                                            <p:strVal val="0-#ppt_w/2"/>
                                          </p:val>
                                        </p:tav>
                                        <p:tav tm="100000">
                                          <p:val>
                                            <p:strVal val="#ppt_x"/>
                                          </p:val>
                                        </p:tav>
                                      </p:tavLst>
                                    </p:anim>
                                    <p:anim calcmode="lin" valueType="num">
                                      <p:cBhvr additive="base">
                                        <p:cTn id="29"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p:bldP spid="48" grpId="0"/>
      <p:bldGraphic spid="2" grpId="0">
        <p:bldAsOne/>
      </p:bldGraphic>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2"/>
          <a:stretch>
            <a:fillRect/>
          </a:stretch>
        </p:blipFill>
        <p:spPr>
          <a:xfrm rot="16200000">
            <a:off x="145169" y="-145167"/>
            <a:ext cx="1268414" cy="1558750"/>
          </a:xfrm>
          <a:prstGeom prst="rect">
            <a:avLst/>
          </a:prstGeom>
        </p:spPr>
      </p:pic>
      <p:sp>
        <p:nvSpPr>
          <p:cNvPr id="9" name="文字方塊 8">
            <a:extLst>
              <a:ext uri="{FF2B5EF4-FFF2-40B4-BE49-F238E27FC236}">
                <a16:creationId xmlns:a16="http://schemas.microsoft.com/office/drawing/2014/main" id="{81D0666A-D96D-4B5B-9036-192FA53FE435}"/>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cxnSp>
        <p:nvCxnSpPr>
          <p:cNvPr id="33" name="直接连接符 33">
            <a:extLst>
              <a:ext uri="{FF2B5EF4-FFF2-40B4-BE49-F238E27FC236}">
                <a16:creationId xmlns:a16="http://schemas.microsoft.com/office/drawing/2014/main" id="{DFF80DCD-8EF0-4D2F-8380-59FA348D932C}"/>
              </a:ext>
            </a:extLst>
          </p:cNvPr>
          <p:cNvCxnSpPr/>
          <p:nvPr/>
        </p:nvCxnSpPr>
        <p:spPr>
          <a:xfrm>
            <a:off x="1177167" y="1046746"/>
            <a:ext cx="10585176"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6" name="標題 1"/>
          <p:cNvSpPr txBox="1">
            <a:spLocks/>
          </p:cNvSpPr>
          <p:nvPr/>
        </p:nvSpPr>
        <p:spPr>
          <a:xfrm>
            <a:off x="918901" y="278155"/>
            <a:ext cx="5288853"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7-1 </a:t>
            </a:r>
            <a:r>
              <a:rPr lang="zh-TW" altLang="en-US" sz="2400" b="1" dirty="0">
                <a:solidFill>
                  <a:srgbClr val="E06741"/>
                </a:solidFill>
              </a:rPr>
              <a:t>實務案例</a:t>
            </a:r>
            <a:r>
              <a:rPr lang="en-US" altLang="zh-TW" sz="2400" b="1" dirty="0">
                <a:solidFill>
                  <a:srgbClr val="E06741"/>
                </a:solidFill>
              </a:rPr>
              <a:t>-</a:t>
            </a:r>
            <a:r>
              <a:rPr lang="zh-TW" altLang="en-US" sz="2400" b="1" dirty="0">
                <a:solidFill>
                  <a:srgbClr val="E06741"/>
                </a:solidFill>
              </a:rPr>
              <a:t>食品安全管理</a:t>
            </a:r>
          </a:p>
          <a:p>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sp>
        <p:nvSpPr>
          <p:cNvPr id="48" name="文字方塊 47">
            <a:extLst>
              <a:ext uri="{FF2B5EF4-FFF2-40B4-BE49-F238E27FC236}">
                <a16:creationId xmlns:a16="http://schemas.microsoft.com/office/drawing/2014/main" id="{AD7F4831-1A36-4A2F-ACBE-344F724510DC}"/>
              </a:ext>
            </a:extLst>
          </p:cNvPr>
          <p:cNvSpPr txBox="1"/>
          <p:nvPr/>
        </p:nvSpPr>
        <p:spPr>
          <a:xfrm>
            <a:off x="5438954" y="350242"/>
            <a:ext cx="2242922"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-2</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案例區塊鍊運用</a:t>
            </a:r>
          </a:p>
        </p:txBody>
      </p:sp>
      <p:sp>
        <p:nvSpPr>
          <p:cNvPr id="10" name="文字方塊 9">
            <a:extLst>
              <a:ext uri="{FF2B5EF4-FFF2-40B4-BE49-F238E27FC236}">
                <a16:creationId xmlns:a16="http://schemas.microsoft.com/office/drawing/2014/main" id="{BF94E171-0176-49DD-BE6C-DB2D96B94A88}"/>
              </a:ext>
            </a:extLst>
          </p:cNvPr>
          <p:cNvSpPr txBox="1"/>
          <p:nvPr/>
        </p:nvSpPr>
        <p:spPr>
          <a:xfrm>
            <a:off x="1272425" y="1224001"/>
            <a:ext cx="7141903" cy="1200329"/>
          </a:xfrm>
          <a:prstGeom prst="rect">
            <a:avLst/>
          </a:prstGeom>
          <a:noFill/>
        </p:spPr>
        <p:txBody>
          <a:bodyPr wrap="square" rtlCol="0">
            <a:spAutoFit/>
          </a:bodyPr>
          <a:lstStyle/>
          <a:p>
            <a:pPr marL="342900" indent="-342900">
              <a:lnSpc>
                <a:spcPct val="150000"/>
              </a:lnSpc>
              <a:buBlip>
                <a:blip r:embed="rId3"/>
              </a:buBlip>
            </a:pPr>
            <a:r>
              <a:rPr lang="en-US" altLang="zh-TW" sz="2400" b="1" dirty="0" err="1">
                <a:solidFill>
                  <a:schemeClr val="tx1">
                    <a:lumMod val="75000"/>
                    <a:lumOff val="25000"/>
                  </a:schemeClr>
                </a:solidFill>
                <a:latin typeface="微軟正黑體" panose="020B0604030504040204" pitchFamily="34" charset="-120"/>
                <a:ea typeface="微軟正黑體" panose="020B0604030504040204" pitchFamily="34" charset="-120"/>
              </a:rPr>
              <a:t>WalMart</a:t>
            </a: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豬肉供應鏈傳統生態流程</a:t>
            </a:r>
            <a:r>
              <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t>(</a:t>
            </a: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三階段八步驟</a:t>
            </a:r>
            <a:r>
              <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t>)</a:t>
            </a:r>
          </a:p>
          <a:p>
            <a:pPr marL="800100" lvl="1" indent="-342900">
              <a:lnSpc>
                <a:spcPct val="150000"/>
              </a:lnSpc>
              <a:buBlip>
                <a:blip r:embed="rId3"/>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第二階段：屠宰物流</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graphicFrame>
        <p:nvGraphicFramePr>
          <p:cNvPr id="11" name="資料庫圖表 10"/>
          <p:cNvGraphicFramePr/>
          <p:nvPr>
            <p:extLst>
              <p:ext uri="{D42A27DB-BD31-4B8C-83A1-F6EECF244321}">
                <p14:modId xmlns:p14="http://schemas.microsoft.com/office/powerpoint/2010/main" val="2827519724"/>
              </p:ext>
            </p:extLst>
          </p:nvPr>
        </p:nvGraphicFramePr>
        <p:xfrm>
          <a:off x="918901" y="2318327"/>
          <a:ext cx="10746626" cy="4567167"/>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1604415133"/>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circle(in)">
                                      <p:cBhvr>
                                        <p:cTn id="7" dur="1500"/>
                                        <p:tgtEl>
                                          <p:spTgt spid="46"/>
                                        </p:tgtEl>
                                      </p:cBhvr>
                                    </p:animEffect>
                                  </p:childTnLst>
                                </p:cTn>
                              </p:par>
                            </p:childTnLst>
                          </p:cTn>
                        </p:par>
                        <p:par>
                          <p:cTn id="8" fill="hold">
                            <p:stCondLst>
                              <p:cond delay="1500"/>
                            </p:stCondLst>
                            <p:childTnLst>
                              <p:par>
                                <p:cTn id="9" presetID="16" presetClass="entr" presetSubtype="21" fill="hold" grpId="0" nodeType="afterEffect">
                                  <p:stCondLst>
                                    <p:cond delay="0"/>
                                  </p:stCondLst>
                                  <p:childTnLst>
                                    <p:set>
                                      <p:cBhvr>
                                        <p:cTn id="10" dur="1" fill="hold">
                                          <p:stCondLst>
                                            <p:cond delay="0"/>
                                          </p:stCondLst>
                                        </p:cTn>
                                        <p:tgtEl>
                                          <p:spTgt spid="48"/>
                                        </p:tgtEl>
                                        <p:attrNameLst>
                                          <p:attrName>style.visibility</p:attrName>
                                        </p:attrNameLst>
                                      </p:cBhvr>
                                      <p:to>
                                        <p:strVal val="visible"/>
                                      </p:to>
                                    </p:set>
                                    <p:animEffect transition="in" filter="barn(inVertical)">
                                      <p:cBhvr>
                                        <p:cTn id="11" dur="500"/>
                                        <p:tgtEl>
                                          <p:spTgt spid="48"/>
                                        </p:tgtEl>
                                      </p:cBhvr>
                                    </p:animEffect>
                                  </p:childTnLst>
                                </p:cTn>
                              </p:par>
                            </p:childTnLst>
                          </p:cTn>
                        </p:par>
                        <p:par>
                          <p:cTn id="12" fill="hold">
                            <p:stCondLst>
                              <p:cond delay="2000"/>
                            </p:stCondLst>
                            <p:childTnLst>
                              <p:par>
                                <p:cTn id="13" presetID="2" presetClass="entr" presetSubtype="8" fill="hold" nodeType="afterEffect">
                                  <p:stCondLst>
                                    <p:cond delay="0"/>
                                  </p:stCondLst>
                                  <p:childTnLst>
                                    <p:set>
                                      <p:cBhvr>
                                        <p:cTn id="14" dur="1" fill="hold">
                                          <p:stCondLst>
                                            <p:cond delay="0"/>
                                          </p:stCondLst>
                                        </p:cTn>
                                        <p:tgtEl>
                                          <p:spTgt spid="33"/>
                                        </p:tgtEl>
                                        <p:attrNameLst>
                                          <p:attrName>style.visibility</p:attrName>
                                        </p:attrNameLst>
                                      </p:cBhvr>
                                      <p:to>
                                        <p:strVal val="visible"/>
                                      </p:to>
                                    </p:set>
                                    <p:anim calcmode="lin" valueType="num">
                                      <p:cBhvr additive="base">
                                        <p:cTn id="15" dur="500" fill="hold"/>
                                        <p:tgtEl>
                                          <p:spTgt spid="33"/>
                                        </p:tgtEl>
                                        <p:attrNameLst>
                                          <p:attrName>ppt_x</p:attrName>
                                        </p:attrNameLst>
                                      </p:cBhvr>
                                      <p:tavLst>
                                        <p:tav tm="0">
                                          <p:val>
                                            <p:strVal val="0-#ppt_w/2"/>
                                          </p:val>
                                        </p:tav>
                                        <p:tav tm="100000">
                                          <p:val>
                                            <p:strVal val="#ppt_x"/>
                                          </p:val>
                                        </p:tav>
                                      </p:tavLst>
                                    </p:anim>
                                    <p:anim calcmode="lin" valueType="num">
                                      <p:cBhvr additive="base">
                                        <p:cTn id="16" dur="500" fill="hold"/>
                                        <p:tgtEl>
                                          <p:spTgt spid="33"/>
                                        </p:tgtEl>
                                        <p:attrNameLst>
                                          <p:attrName>ppt_y</p:attrName>
                                        </p:attrNameLst>
                                      </p:cBhvr>
                                      <p:tavLst>
                                        <p:tav tm="0">
                                          <p:val>
                                            <p:strVal val="#ppt_y"/>
                                          </p:val>
                                        </p:tav>
                                        <p:tav tm="100000">
                                          <p:val>
                                            <p:strVal val="#ppt_y"/>
                                          </p:val>
                                        </p:tav>
                                      </p:tavLst>
                                    </p:anim>
                                  </p:childTnLst>
                                </p:cTn>
                              </p:par>
                            </p:childTnLst>
                          </p:cTn>
                        </p:par>
                        <p:par>
                          <p:cTn id="17" fill="hold">
                            <p:stCondLst>
                              <p:cond delay="2500"/>
                            </p:stCondLst>
                            <p:childTnLst>
                              <p:par>
                                <p:cTn id="18" presetID="16" presetClass="entr" presetSubtype="21" fill="hold" nodeType="afterEffect">
                                  <p:stCondLst>
                                    <p:cond delay="0"/>
                                  </p:stCondLst>
                                  <p:childTnLst>
                                    <p:set>
                                      <p:cBhvr>
                                        <p:cTn id="19" dur="1" fill="hold">
                                          <p:stCondLst>
                                            <p:cond delay="0"/>
                                          </p:stCondLst>
                                        </p:cTn>
                                        <p:tgtEl>
                                          <p:spTgt spid="10">
                                            <p:txEl>
                                              <p:pRg st="0" end="0"/>
                                            </p:txEl>
                                          </p:spTgt>
                                        </p:tgtEl>
                                        <p:attrNameLst>
                                          <p:attrName>style.visibility</p:attrName>
                                        </p:attrNameLst>
                                      </p:cBhvr>
                                      <p:to>
                                        <p:strVal val="visible"/>
                                      </p:to>
                                    </p:set>
                                    <p:animEffect transition="in" filter="barn(inVertical)">
                                      <p:cBhvr>
                                        <p:cTn id="20" dur="500"/>
                                        <p:tgtEl>
                                          <p:spTgt spid="10">
                                            <p:txEl>
                                              <p:pRg st="0" end="0"/>
                                            </p:txEl>
                                          </p:spTgt>
                                        </p:tgtEl>
                                      </p:cBhvr>
                                    </p:animEffect>
                                  </p:childTnLst>
                                </p:cTn>
                              </p:par>
                            </p:childTnLst>
                          </p:cTn>
                        </p:par>
                        <p:par>
                          <p:cTn id="21" fill="hold">
                            <p:stCondLst>
                              <p:cond delay="3000"/>
                            </p:stCondLst>
                            <p:childTnLst>
                              <p:par>
                                <p:cTn id="22" presetID="16" presetClass="entr" presetSubtype="21" fill="hold" nodeType="afterEffect">
                                  <p:stCondLst>
                                    <p:cond delay="0"/>
                                  </p:stCondLst>
                                  <p:childTnLst>
                                    <p:set>
                                      <p:cBhvr>
                                        <p:cTn id="23" dur="1" fill="hold">
                                          <p:stCondLst>
                                            <p:cond delay="0"/>
                                          </p:stCondLst>
                                        </p:cTn>
                                        <p:tgtEl>
                                          <p:spTgt spid="10">
                                            <p:txEl>
                                              <p:pRg st="1" end="1"/>
                                            </p:txEl>
                                          </p:spTgt>
                                        </p:tgtEl>
                                        <p:attrNameLst>
                                          <p:attrName>style.visibility</p:attrName>
                                        </p:attrNameLst>
                                      </p:cBhvr>
                                      <p:to>
                                        <p:strVal val="visible"/>
                                      </p:to>
                                    </p:set>
                                    <p:animEffect transition="in" filter="barn(inVertical)">
                                      <p:cBhvr>
                                        <p:cTn id="24" dur="500"/>
                                        <p:tgtEl>
                                          <p:spTgt spid="10">
                                            <p:txEl>
                                              <p:pRg st="1" end="1"/>
                                            </p:txEl>
                                          </p:spTgt>
                                        </p:tgtEl>
                                      </p:cBhvr>
                                    </p:animEffect>
                                  </p:childTnLst>
                                </p:cTn>
                              </p:par>
                            </p:childTnLst>
                          </p:cTn>
                        </p:par>
                        <p:par>
                          <p:cTn id="25" fill="hold">
                            <p:stCondLst>
                              <p:cond delay="3500"/>
                            </p:stCondLst>
                            <p:childTnLst>
                              <p:par>
                                <p:cTn id="26" presetID="2" presetClass="entr" presetSubtype="8" fill="hold" grpId="0" nodeType="afterEffect">
                                  <p:stCondLst>
                                    <p:cond delay="0"/>
                                  </p:stCondLst>
                                  <p:childTnLst>
                                    <p:set>
                                      <p:cBhvr>
                                        <p:cTn id="27" dur="1" fill="hold">
                                          <p:stCondLst>
                                            <p:cond delay="0"/>
                                          </p:stCondLst>
                                        </p:cTn>
                                        <p:tgtEl>
                                          <p:spTgt spid="11"/>
                                        </p:tgtEl>
                                        <p:attrNameLst>
                                          <p:attrName>style.visibility</p:attrName>
                                        </p:attrNameLst>
                                      </p:cBhvr>
                                      <p:to>
                                        <p:strVal val="visible"/>
                                      </p:to>
                                    </p:set>
                                    <p:anim calcmode="lin" valueType="num">
                                      <p:cBhvr additive="base">
                                        <p:cTn id="28" dur="500" fill="hold"/>
                                        <p:tgtEl>
                                          <p:spTgt spid="11"/>
                                        </p:tgtEl>
                                        <p:attrNameLst>
                                          <p:attrName>ppt_x</p:attrName>
                                        </p:attrNameLst>
                                      </p:cBhvr>
                                      <p:tavLst>
                                        <p:tav tm="0">
                                          <p:val>
                                            <p:strVal val="0-#ppt_w/2"/>
                                          </p:val>
                                        </p:tav>
                                        <p:tav tm="100000">
                                          <p:val>
                                            <p:strVal val="#ppt_x"/>
                                          </p:val>
                                        </p:tav>
                                      </p:tavLst>
                                    </p:anim>
                                    <p:anim calcmode="lin" valueType="num">
                                      <p:cBhvr additive="base">
                                        <p:cTn id="29" dur="500" fill="hold"/>
                                        <p:tgtEl>
                                          <p:spTgt spid="1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p:bldP spid="48" grpId="0"/>
      <p:bldGraphic spid="11" grpId="0">
        <p:bldAsOne/>
      </p:bldGraphic>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2"/>
          <a:stretch>
            <a:fillRect/>
          </a:stretch>
        </p:blipFill>
        <p:spPr>
          <a:xfrm rot="16200000">
            <a:off x="145169" y="-145167"/>
            <a:ext cx="1268414" cy="1558750"/>
          </a:xfrm>
          <a:prstGeom prst="rect">
            <a:avLst/>
          </a:prstGeom>
        </p:spPr>
      </p:pic>
      <p:sp>
        <p:nvSpPr>
          <p:cNvPr id="9" name="文字方塊 8">
            <a:extLst>
              <a:ext uri="{FF2B5EF4-FFF2-40B4-BE49-F238E27FC236}">
                <a16:creationId xmlns:a16="http://schemas.microsoft.com/office/drawing/2014/main" id="{81D0666A-D96D-4B5B-9036-192FA53FE435}"/>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cxnSp>
        <p:nvCxnSpPr>
          <p:cNvPr id="33" name="直接连接符 33">
            <a:extLst>
              <a:ext uri="{FF2B5EF4-FFF2-40B4-BE49-F238E27FC236}">
                <a16:creationId xmlns:a16="http://schemas.microsoft.com/office/drawing/2014/main" id="{DFF80DCD-8EF0-4D2F-8380-59FA348D932C}"/>
              </a:ext>
            </a:extLst>
          </p:cNvPr>
          <p:cNvCxnSpPr/>
          <p:nvPr/>
        </p:nvCxnSpPr>
        <p:spPr>
          <a:xfrm>
            <a:off x="1177167" y="1046746"/>
            <a:ext cx="10585176"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6" name="標題 1"/>
          <p:cNvSpPr txBox="1">
            <a:spLocks/>
          </p:cNvSpPr>
          <p:nvPr/>
        </p:nvSpPr>
        <p:spPr>
          <a:xfrm>
            <a:off x="918901" y="278155"/>
            <a:ext cx="5288853"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7-1 </a:t>
            </a:r>
            <a:r>
              <a:rPr lang="zh-TW" altLang="en-US" sz="2400" b="1" dirty="0">
                <a:solidFill>
                  <a:srgbClr val="E06741"/>
                </a:solidFill>
              </a:rPr>
              <a:t>實務案例</a:t>
            </a:r>
            <a:r>
              <a:rPr lang="en-US" altLang="zh-TW" sz="2400" b="1" dirty="0">
                <a:solidFill>
                  <a:srgbClr val="E06741"/>
                </a:solidFill>
              </a:rPr>
              <a:t>-</a:t>
            </a:r>
            <a:r>
              <a:rPr lang="zh-TW" altLang="en-US" sz="2400" b="1" dirty="0">
                <a:solidFill>
                  <a:srgbClr val="E06741"/>
                </a:solidFill>
              </a:rPr>
              <a:t>食品安全管理</a:t>
            </a:r>
          </a:p>
          <a:p>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sp>
        <p:nvSpPr>
          <p:cNvPr id="48" name="文字方塊 47">
            <a:extLst>
              <a:ext uri="{FF2B5EF4-FFF2-40B4-BE49-F238E27FC236}">
                <a16:creationId xmlns:a16="http://schemas.microsoft.com/office/drawing/2014/main" id="{AD7F4831-1A36-4A2F-ACBE-344F724510DC}"/>
              </a:ext>
            </a:extLst>
          </p:cNvPr>
          <p:cNvSpPr txBox="1"/>
          <p:nvPr/>
        </p:nvSpPr>
        <p:spPr>
          <a:xfrm>
            <a:off x="5438954" y="350242"/>
            <a:ext cx="2242922"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-2</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案例區塊鍊運用</a:t>
            </a:r>
          </a:p>
        </p:txBody>
      </p:sp>
      <p:sp>
        <p:nvSpPr>
          <p:cNvPr id="10" name="文字方塊 9">
            <a:extLst>
              <a:ext uri="{FF2B5EF4-FFF2-40B4-BE49-F238E27FC236}">
                <a16:creationId xmlns:a16="http://schemas.microsoft.com/office/drawing/2014/main" id="{BF94E171-0176-49DD-BE6C-DB2D96B94A88}"/>
              </a:ext>
            </a:extLst>
          </p:cNvPr>
          <p:cNvSpPr txBox="1"/>
          <p:nvPr/>
        </p:nvSpPr>
        <p:spPr>
          <a:xfrm>
            <a:off x="1272425" y="1224001"/>
            <a:ext cx="7141903" cy="1200329"/>
          </a:xfrm>
          <a:prstGeom prst="rect">
            <a:avLst/>
          </a:prstGeom>
          <a:noFill/>
        </p:spPr>
        <p:txBody>
          <a:bodyPr wrap="square" rtlCol="0">
            <a:spAutoFit/>
          </a:bodyPr>
          <a:lstStyle/>
          <a:p>
            <a:pPr marL="342900" indent="-342900">
              <a:lnSpc>
                <a:spcPct val="150000"/>
              </a:lnSpc>
              <a:buBlip>
                <a:blip r:embed="rId3"/>
              </a:buBlip>
            </a:pPr>
            <a:r>
              <a:rPr lang="en-US" altLang="zh-TW" sz="2400" b="1" dirty="0" err="1">
                <a:solidFill>
                  <a:schemeClr val="tx1">
                    <a:lumMod val="75000"/>
                    <a:lumOff val="25000"/>
                  </a:schemeClr>
                </a:solidFill>
                <a:latin typeface="微軟正黑體" panose="020B0604030504040204" pitchFamily="34" charset="-120"/>
                <a:ea typeface="微軟正黑體" panose="020B0604030504040204" pitchFamily="34" charset="-120"/>
              </a:rPr>
              <a:t>WalMart</a:t>
            </a: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豬肉供應鏈傳統生態流程</a:t>
            </a:r>
            <a:r>
              <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t>(</a:t>
            </a: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三階段八步驟</a:t>
            </a:r>
            <a:r>
              <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t>)</a:t>
            </a:r>
          </a:p>
          <a:p>
            <a:pPr marL="800100" lvl="1" indent="-342900">
              <a:lnSpc>
                <a:spcPct val="150000"/>
              </a:lnSpc>
              <a:buBlip>
                <a:blip r:embed="rId3"/>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第三階段：行銷</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graphicFrame>
        <p:nvGraphicFramePr>
          <p:cNvPr id="11" name="資料庫圖表 10"/>
          <p:cNvGraphicFramePr/>
          <p:nvPr>
            <p:extLst>
              <p:ext uri="{D42A27DB-BD31-4B8C-83A1-F6EECF244321}">
                <p14:modId xmlns:p14="http://schemas.microsoft.com/office/powerpoint/2010/main" val="4179327984"/>
              </p:ext>
            </p:extLst>
          </p:nvPr>
        </p:nvGraphicFramePr>
        <p:xfrm>
          <a:off x="2223388" y="2424330"/>
          <a:ext cx="7968732" cy="4106656"/>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102638516"/>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circle(in)">
                                      <p:cBhvr>
                                        <p:cTn id="7" dur="1500"/>
                                        <p:tgtEl>
                                          <p:spTgt spid="46"/>
                                        </p:tgtEl>
                                      </p:cBhvr>
                                    </p:animEffect>
                                  </p:childTnLst>
                                </p:cTn>
                              </p:par>
                            </p:childTnLst>
                          </p:cTn>
                        </p:par>
                        <p:par>
                          <p:cTn id="8" fill="hold">
                            <p:stCondLst>
                              <p:cond delay="1500"/>
                            </p:stCondLst>
                            <p:childTnLst>
                              <p:par>
                                <p:cTn id="9" presetID="16" presetClass="entr" presetSubtype="21" fill="hold" grpId="0" nodeType="afterEffect">
                                  <p:stCondLst>
                                    <p:cond delay="0"/>
                                  </p:stCondLst>
                                  <p:childTnLst>
                                    <p:set>
                                      <p:cBhvr>
                                        <p:cTn id="10" dur="1" fill="hold">
                                          <p:stCondLst>
                                            <p:cond delay="0"/>
                                          </p:stCondLst>
                                        </p:cTn>
                                        <p:tgtEl>
                                          <p:spTgt spid="48"/>
                                        </p:tgtEl>
                                        <p:attrNameLst>
                                          <p:attrName>style.visibility</p:attrName>
                                        </p:attrNameLst>
                                      </p:cBhvr>
                                      <p:to>
                                        <p:strVal val="visible"/>
                                      </p:to>
                                    </p:set>
                                    <p:animEffect transition="in" filter="barn(inVertical)">
                                      <p:cBhvr>
                                        <p:cTn id="11" dur="500"/>
                                        <p:tgtEl>
                                          <p:spTgt spid="48"/>
                                        </p:tgtEl>
                                      </p:cBhvr>
                                    </p:animEffect>
                                  </p:childTnLst>
                                </p:cTn>
                              </p:par>
                            </p:childTnLst>
                          </p:cTn>
                        </p:par>
                        <p:par>
                          <p:cTn id="12" fill="hold">
                            <p:stCondLst>
                              <p:cond delay="2000"/>
                            </p:stCondLst>
                            <p:childTnLst>
                              <p:par>
                                <p:cTn id="13" presetID="2" presetClass="entr" presetSubtype="8" fill="hold" nodeType="afterEffect">
                                  <p:stCondLst>
                                    <p:cond delay="0"/>
                                  </p:stCondLst>
                                  <p:childTnLst>
                                    <p:set>
                                      <p:cBhvr>
                                        <p:cTn id="14" dur="1" fill="hold">
                                          <p:stCondLst>
                                            <p:cond delay="0"/>
                                          </p:stCondLst>
                                        </p:cTn>
                                        <p:tgtEl>
                                          <p:spTgt spid="33"/>
                                        </p:tgtEl>
                                        <p:attrNameLst>
                                          <p:attrName>style.visibility</p:attrName>
                                        </p:attrNameLst>
                                      </p:cBhvr>
                                      <p:to>
                                        <p:strVal val="visible"/>
                                      </p:to>
                                    </p:set>
                                    <p:anim calcmode="lin" valueType="num">
                                      <p:cBhvr additive="base">
                                        <p:cTn id="15" dur="500" fill="hold"/>
                                        <p:tgtEl>
                                          <p:spTgt spid="33"/>
                                        </p:tgtEl>
                                        <p:attrNameLst>
                                          <p:attrName>ppt_x</p:attrName>
                                        </p:attrNameLst>
                                      </p:cBhvr>
                                      <p:tavLst>
                                        <p:tav tm="0">
                                          <p:val>
                                            <p:strVal val="0-#ppt_w/2"/>
                                          </p:val>
                                        </p:tav>
                                        <p:tav tm="100000">
                                          <p:val>
                                            <p:strVal val="#ppt_x"/>
                                          </p:val>
                                        </p:tav>
                                      </p:tavLst>
                                    </p:anim>
                                    <p:anim calcmode="lin" valueType="num">
                                      <p:cBhvr additive="base">
                                        <p:cTn id="16" dur="500" fill="hold"/>
                                        <p:tgtEl>
                                          <p:spTgt spid="33"/>
                                        </p:tgtEl>
                                        <p:attrNameLst>
                                          <p:attrName>ppt_y</p:attrName>
                                        </p:attrNameLst>
                                      </p:cBhvr>
                                      <p:tavLst>
                                        <p:tav tm="0">
                                          <p:val>
                                            <p:strVal val="#ppt_y"/>
                                          </p:val>
                                        </p:tav>
                                        <p:tav tm="100000">
                                          <p:val>
                                            <p:strVal val="#ppt_y"/>
                                          </p:val>
                                        </p:tav>
                                      </p:tavLst>
                                    </p:anim>
                                  </p:childTnLst>
                                </p:cTn>
                              </p:par>
                            </p:childTnLst>
                          </p:cTn>
                        </p:par>
                        <p:par>
                          <p:cTn id="17" fill="hold">
                            <p:stCondLst>
                              <p:cond delay="2500"/>
                            </p:stCondLst>
                            <p:childTnLst>
                              <p:par>
                                <p:cTn id="18" presetID="16" presetClass="entr" presetSubtype="21" fill="hold" nodeType="afterEffect">
                                  <p:stCondLst>
                                    <p:cond delay="0"/>
                                  </p:stCondLst>
                                  <p:childTnLst>
                                    <p:set>
                                      <p:cBhvr>
                                        <p:cTn id="19" dur="1" fill="hold">
                                          <p:stCondLst>
                                            <p:cond delay="0"/>
                                          </p:stCondLst>
                                        </p:cTn>
                                        <p:tgtEl>
                                          <p:spTgt spid="10">
                                            <p:txEl>
                                              <p:pRg st="0" end="0"/>
                                            </p:txEl>
                                          </p:spTgt>
                                        </p:tgtEl>
                                        <p:attrNameLst>
                                          <p:attrName>style.visibility</p:attrName>
                                        </p:attrNameLst>
                                      </p:cBhvr>
                                      <p:to>
                                        <p:strVal val="visible"/>
                                      </p:to>
                                    </p:set>
                                    <p:animEffect transition="in" filter="barn(inVertical)">
                                      <p:cBhvr>
                                        <p:cTn id="20" dur="500"/>
                                        <p:tgtEl>
                                          <p:spTgt spid="10">
                                            <p:txEl>
                                              <p:pRg st="0" end="0"/>
                                            </p:txEl>
                                          </p:spTgt>
                                        </p:tgtEl>
                                      </p:cBhvr>
                                    </p:animEffect>
                                  </p:childTnLst>
                                </p:cTn>
                              </p:par>
                            </p:childTnLst>
                          </p:cTn>
                        </p:par>
                        <p:par>
                          <p:cTn id="21" fill="hold">
                            <p:stCondLst>
                              <p:cond delay="3000"/>
                            </p:stCondLst>
                            <p:childTnLst>
                              <p:par>
                                <p:cTn id="22" presetID="16" presetClass="entr" presetSubtype="21" fill="hold" nodeType="afterEffect">
                                  <p:stCondLst>
                                    <p:cond delay="0"/>
                                  </p:stCondLst>
                                  <p:childTnLst>
                                    <p:set>
                                      <p:cBhvr>
                                        <p:cTn id="23" dur="1" fill="hold">
                                          <p:stCondLst>
                                            <p:cond delay="0"/>
                                          </p:stCondLst>
                                        </p:cTn>
                                        <p:tgtEl>
                                          <p:spTgt spid="10">
                                            <p:txEl>
                                              <p:pRg st="1" end="1"/>
                                            </p:txEl>
                                          </p:spTgt>
                                        </p:tgtEl>
                                        <p:attrNameLst>
                                          <p:attrName>style.visibility</p:attrName>
                                        </p:attrNameLst>
                                      </p:cBhvr>
                                      <p:to>
                                        <p:strVal val="visible"/>
                                      </p:to>
                                    </p:set>
                                    <p:animEffect transition="in" filter="barn(inVertical)">
                                      <p:cBhvr>
                                        <p:cTn id="24" dur="500"/>
                                        <p:tgtEl>
                                          <p:spTgt spid="10">
                                            <p:txEl>
                                              <p:pRg st="1" end="1"/>
                                            </p:txEl>
                                          </p:spTgt>
                                        </p:tgtEl>
                                      </p:cBhvr>
                                    </p:animEffect>
                                  </p:childTnLst>
                                </p:cTn>
                              </p:par>
                            </p:childTnLst>
                          </p:cTn>
                        </p:par>
                        <p:par>
                          <p:cTn id="25" fill="hold">
                            <p:stCondLst>
                              <p:cond delay="3500"/>
                            </p:stCondLst>
                            <p:childTnLst>
                              <p:par>
                                <p:cTn id="26" presetID="2" presetClass="entr" presetSubtype="8" fill="hold" grpId="0" nodeType="afterEffect">
                                  <p:stCondLst>
                                    <p:cond delay="0"/>
                                  </p:stCondLst>
                                  <p:childTnLst>
                                    <p:set>
                                      <p:cBhvr>
                                        <p:cTn id="27" dur="1" fill="hold">
                                          <p:stCondLst>
                                            <p:cond delay="0"/>
                                          </p:stCondLst>
                                        </p:cTn>
                                        <p:tgtEl>
                                          <p:spTgt spid="11"/>
                                        </p:tgtEl>
                                        <p:attrNameLst>
                                          <p:attrName>style.visibility</p:attrName>
                                        </p:attrNameLst>
                                      </p:cBhvr>
                                      <p:to>
                                        <p:strVal val="visible"/>
                                      </p:to>
                                    </p:set>
                                    <p:anim calcmode="lin" valueType="num">
                                      <p:cBhvr additive="base">
                                        <p:cTn id="28" dur="500" fill="hold"/>
                                        <p:tgtEl>
                                          <p:spTgt spid="11"/>
                                        </p:tgtEl>
                                        <p:attrNameLst>
                                          <p:attrName>ppt_x</p:attrName>
                                        </p:attrNameLst>
                                      </p:cBhvr>
                                      <p:tavLst>
                                        <p:tav tm="0">
                                          <p:val>
                                            <p:strVal val="0-#ppt_w/2"/>
                                          </p:val>
                                        </p:tav>
                                        <p:tav tm="100000">
                                          <p:val>
                                            <p:strVal val="#ppt_x"/>
                                          </p:val>
                                        </p:tav>
                                      </p:tavLst>
                                    </p:anim>
                                    <p:anim calcmode="lin" valueType="num">
                                      <p:cBhvr additive="base">
                                        <p:cTn id="29" dur="500" fill="hold"/>
                                        <p:tgtEl>
                                          <p:spTgt spid="1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p:bldP spid="48" grpId="0"/>
      <p:bldGraphic spid="11" grpId="0">
        <p:bldAsOne/>
      </p:bldGraphic>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圖片 1"/>
          <p:cNvPicPr>
            <a:picLocks noChangeAspect="1"/>
          </p:cNvPicPr>
          <p:nvPr/>
        </p:nvPicPr>
        <p:blipFill>
          <a:blip r:embed="rId2">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431123" y="2565621"/>
            <a:ext cx="7553261" cy="4030769"/>
          </a:xfrm>
          <a:prstGeom prst="rect">
            <a:avLst/>
          </a:prstGeom>
        </p:spPr>
      </p:pic>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3"/>
          <a:stretch>
            <a:fillRect/>
          </a:stretch>
        </p:blipFill>
        <p:spPr>
          <a:xfrm rot="16200000">
            <a:off x="145169" y="-145167"/>
            <a:ext cx="1268414" cy="1558750"/>
          </a:xfrm>
          <a:prstGeom prst="rect">
            <a:avLst/>
          </a:prstGeom>
        </p:spPr>
      </p:pic>
      <p:sp>
        <p:nvSpPr>
          <p:cNvPr id="9" name="文字方塊 8">
            <a:extLst>
              <a:ext uri="{FF2B5EF4-FFF2-40B4-BE49-F238E27FC236}">
                <a16:creationId xmlns:a16="http://schemas.microsoft.com/office/drawing/2014/main" id="{81D0666A-D96D-4B5B-9036-192FA53FE435}"/>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cxnSp>
        <p:nvCxnSpPr>
          <p:cNvPr id="33" name="直接连接符 33">
            <a:extLst>
              <a:ext uri="{FF2B5EF4-FFF2-40B4-BE49-F238E27FC236}">
                <a16:creationId xmlns:a16="http://schemas.microsoft.com/office/drawing/2014/main" id="{DFF80DCD-8EF0-4D2F-8380-59FA348D932C}"/>
              </a:ext>
            </a:extLst>
          </p:cNvPr>
          <p:cNvCxnSpPr/>
          <p:nvPr/>
        </p:nvCxnSpPr>
        <p:spPr>
          <a:xfrm>
            <a:off x="1177167" y="1046746"/>
            <a:ext cx="10585176"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6" name="標題 1"/>
          <p:cNvSpPr txBox="1">
            <a:spLocks/>
          </p:cNvSpPr>
          <p:nvPr/>
        </p:nvSpPr>
        <p:spPr>
          <a:xfrm>
            <a:off x="918901" y="278155"/>
            <a:ext cx="5288853"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7-1 </a:t>
            </a:r>
            <a:r>
              <a:rPr lang="zh-TW" altLang="en-US" sz="2400" b="1" dirty="0">
                <a:solidFill>
                  <a:srgbClr val="E06741"/>
                </a:solidFill>
              </a:rPr>
              <a:t>實務案例</a:t>
            </a:r>
            <a:r>
              <a:rPr lang="en-US" altLang="zh-TW" sz="2400" b="1" dirty="0">
                <a:solidFill>
                  <a:srgbClr val="E06741"/>
                </a:solidFill>
              </a:rPr>
              <a:t>-</a:t>
            </a:r>
            <a:r>
              <a:rPr lang="zh-TW" altLang="en-US" sz="2400" b="1" dirty="0">
                <a:solidFill>
                  <a:srgbClr val="E06741"/>
                </a:solidFill>
              </a:rPr>
              <a:t>食品安全管理</a:t>
            </a:r>
          </a:p>
          <a:p>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sp>
        <p:nvSpPr>
          <p:cNvPr id="48" name="文字方塊 47">
            <a:extLst>
              <a:ext uri="{FF2B5EF4-FFF2-40B4-BE49-F238E27FC236}">
                <a16:creationId xmlns:a16="http://schemas.microsoft.com/office/drawing/2014/main" id="{AD7F4831-1A36-4A2F-ACBE-344F724510DC}"/>
              </a:ext>
            </a:extLst>
          </p:cNvPr>
          <p:cNvSpPr txBox="1"/>
          <p:nvPr/>
        </p:nvSpPr>
        <p:spPr>
          <a:xfrm>
            <a:off x="5438954" y="350242"/>
            <a:ext cx="2242922"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-2</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案例區塊鍊運用</a:t>
            </a:r>
          </a:p>
        </p:txBody>
      </p:sp>
      <p:sp>
        <p:nvSpPr>
          <p:cNvPr id="10" name="文字方塊 9">
            <a:extLst>
              <a:ext uri="{FF2B5EF4-FFF2-40B4-BE49-F238E27FC236}">
                <a16:creationId xmlns:a16="http://schemas.microsoft.com/office/drawing/2014/main" id="{BF94E171-0176-49DD-BE6C-DB2D96B94A88}"/>
              </a:ext>
            </a:extLst>
          </p:cNvPr>
          <p:cNvSpPr txBox="1"/>
          <p:nvPr/>
        </p:nvSpPr>
        <p:spPr>
          <a:xfrm>
            <a:off x="1346316" y="1165020"/>
            <a:ext cx="10189902" cy="1754326"/>
          </a:xfrm>
          <a:prstGeom prst="rect">
            <a:avLst/>
          </a:prstGeom>
          <a:noFill/>
        </p:spPr>
        <p:txBody>
          <a:bodyPr wrap="square" rtlCol="0">
            <a:spAutoFit/>
          </a:bodyPr>
          <a:lstStyle/>
          <a:p>
            <a:pPr marL="342900" indent="-342900">
              <a:lnSpc>
                <a:spcPct val="150000"/>
              </a:lnSpc>
              <a:buBlip>
                <a:blip r:embed="rId4"/>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食品出現安全問題時，肉品的履歷追蹤成為最關鍵，在傳統的供應鏈生態流程的作業下， </a:t>
            </a:r>
            <a:r>
              <a:rPr lang="en-US" altLang="zh-TW" sz="2400" b="1" dirty="0" err="1">
                <a:solidFill>
                  <a:schemeClr val="tx1">
                    <a:lumMod val="75000"/>
                    <a:lumOff val="25000"/>
                  </a:schemeClr>
                </a:solidFill>
                <a:latin typeface="微軟正黑體" panose="020B0604030504040204" pitchFamily="34" charset="-120"/>
                <a:ea typeface="微軟正黑體" panose="020B0604030504040204" pitchFamily="34" charset="-120"/>
              </a:rPr>
              <a:t>WalMart</a:t>
            </a:r>
            <a:r>
              <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t> </a:t>
            </a: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傳統食品履歷追蹤流程，與供應鏈的生態流程相反</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240756188"/>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circle(in)">
                                      <p:cBhvr>
                                        <p:cTn id="7" dur="1500"/>
                                        <p:tgtEl>
                                          <p:spTgt spid="46"/>
                                        </p:tgtEl>
                                      </p:cBhvr>
                                    </p:animEffect>
                                  </p:childTnLst>
                                </p:cTn>
                              </p:par>
                            </p:childTnLst>
                          </p:cTn>
                        </p:par>
                        <p:par>
                          <p:cTn id="8" fill="hold">
                            <p:stCondLst>
                              <p:cond delay="1500"/>
                            </p:stCondLst>
                            <p:childTnLst>
                              <p:par>
                                <p:cTn id="9" presetID="16" presetClass="entr" presetSubtype="21" fill="hold" grpId="0" nodeType="afterEffect">
                                  <p:stCondLst>
                                    <p:cond delay="0"/>
                                  </p:stCondLst>
                                  <p:childTnLst>
                                    <p:set>
                                      <p:cBhvr>
                                        <p:cTn id="10" dur="1" fill="hold">
                                          <p:stCondLst>
                                            <p:cond delay="0"/>
                                          </p:stCondLst>
                                        </p:cTn>
                                        <p:tgtEl>
                                          <p:spTgt spid="48"/>
                                        </p:tgtEl>
                                        <p:attrNameLst>
                                          <p:attrName>style.visibility</p:attrName>
                                        </p:attrNameLst>
                                      </p:cBhvr>
                                      <p:to>
                                        <p:strVal val="visible"/>
                                      </p:to>
                                    </p:set>
                                    <p:animEffect transition="in" filter="barn(inVertical)">
                                      <p:cBhvr>
                                        <p:cTn id="11" dur="500"/>
                                        <p:tgtEl>
                                          <p:spTgt spid="48"/>
                                        </p:tgtEl>
                                      </p:cBhvr>
                                    </p:animEffect>
                                  </p:childTnLst>
                                </p:cTn>
                              </p:par>
                            </p:childTnLst>
                          </p:cTn>
                        </p:par>
                        <p:par>
                          <p:cTn id="12" fill="hold">
                            <p:stCondLst>
                              <p:cond delay="2000"/>
                            </p:stCondLst>
                            <p:childTnLst>
                              <p:par>
                                <p:cTn id="13" presetID="2" presetClass="entr" presetSubtype="8" fill="hold" nodeType="afterEffect">
                                  <p:stCondLst>
                                    <p:cond delay="0"/>
                                  </p:stCondLst>
                                  <p:childTnLst>
                                    <p:set>
                                      <p:cBhvr>
                                        <p:cTn id="14" dur="1" fill="hold">
                                          <p:stCondLst>
                                            <p:cond delay="0"/>
                                          </p:stCondLst>
                                        </p:cTn>
                                        <p:tgtEl>
                                          <p:spTgt spid="33"/>
                                        </p:tgtEl>
                                        <p:attrNameLst>
                                          <p:attrName>style.visibility</p:attrName>
                                        </p:attrNameLst>
                                      </p:cBhvr>
                                      <p:to>
                                        <p:strVal val="visible"/>
                                      </p:to>
                                    </p:set>
                                    <p:anim calcmode="lin" valueType="num">
                                      <p:cBhvr additive="base">
                                        <p:cTn id="15" dur="500" fill="hold"/>
                                        <p:tgtEl>
                                          <p:spTgt spid="33"/>
                                        </p:tgtEl>
                                        <p:attrNameLst>
                                          <p:attrName>ppt_x</p:attrName>
                                        </p:attrNameLst>
                                      </p:cBhvr>
                                      <p:tavLst>
                                        <p:tav tm="0">
                                          <p:val>
                                            <p:strVal val="0-#ppt_w/2"/>
                                          </p:val>
                                        </p:tav>
                                        <p:tav tm="100000">
                                          <p:val>
                                            <p:strVal val="#ppt_x"/>
                                          </p:val>
                                        </p:tav>
                                      </p:tavLst>
                                    </p:anim>
                                    <p:anim calcmode="lin" valueType="num">
                                      <p:cBhvr additive="base">
                                        <p:cTn id="16" dur="500" fill="hold"/>
                                        <p:tgtEl>
                                          <p:spTgt spid="33"/>
                                        </p:tgtEl>
                                        <p:attrNameLst>
                                          <p:attrName>ppt_y</p:attrName>
                                        </p:attrNameLst>
                                      </p:cBhvr>
                                      <p:tavLst>
                                        <p:tav tm="0">
                                          <p:val>
                                            <p:strVal val="#ppt_y"/>
                                          </p:val>
                                        </p:tav>
                                        <p:tav tm="100000">
                                          <p:val>
                                            <p:strVal val="#ppt_y"/>
                                          </p:val>
                                        </p:tav>
                                      </p:tavLst>
                                    </p:anim>
                                  </p:childTnLst>
                                </p:cTn>
                              </p:par>
                            </p:childTnLst>
                          </p:cTn>
                        </p:par>
                        <p:par>
                          <p:cTn id="17" fill="hold">
                            <p:stCondLst>
                              <p:cond delay="2500"/>
                            </p:stCondLst>
                            <p:childTnLst>
                              <p:par>
                                <p:cTn id="18" presetID="16" presetClass="entr" presetSubtype="21" fill="hold" nodeType="afterEffect">
                                  <p:stCondLst>
                                    <p:cond delay="0"/>
                                  </p:stCondLst>
                                  <p:childTnLst>
                                    <p:set>
                                      <p:cBhvr>
                                        <p:cTn id="19" dur="1" fill="hold">
                                          <p:stCondLst>
                                            <p:cond delay="0"/>
                                          </p:stCondLst>
                                        </p:cTn>
                                        <p:tgtEl>
                                          <p:spTgt spid="10">
                                            <p:txEl>
                                              <p:pRg st="0" end="0"/>
                                            </p:txEl>
                                          </p:spTgt>
                                        </p:tgtEl>
                                        <p:attrNameLst>
                                          <p:attrName>style.visibility</p:attrName>
                                        </p:attrNameLst>
                                      </p:cBhvr>
                                      <p:to>
                                        <p:strVal val="visible"/>
                                      </p:to>
                                    </p:set>
                                    <p:animEffect transition="in" filter="barn(inVertical)">
                                      <p:cBhvr>
                                        <p:cTn id="20" dur="500"/>
                                        <p:tgtEl>
                                          <p:spTgt spid="10">
                                            <p:txEl>
                                              <p:pRg st="0" end="0"/>
                                            </p:txEl>
                                          </p:spTgt>
                                        </p:tgtEl>
                                      </p:cBhvr>
                                    </p:animEffect>
                                  </p:childTnLst>
                                </p:cTn>
                              </p:par>
                            </p:childTnLst>
                          </p:cTn>
                        </p:par>
                        <p:par>
                          <p:cTn id="21" fill="hold">
                            <p:stCondLst>
                              <p:cond delay="3000"/>
                            </p:stCondLst>
                            <p:childTnLst>
                              <p:par>
                                <p:cTn id="22" presetID="53" presetClass="entr" presetSubtype="16" fill="hold" nodeType="afterEffect">
                                  <p:stCondLst>
                                    <p:cond delay="0"/>
                                  </p:stCondLst>
                                  <p:childTnLst>
                                    <p:set>
                                      <p:cBhvr>
                                        <p:cTn id="23" dur="1" fill="hold">
                                          <p:stCondLst>
                                            <p:cond delay="0"/>
                                          </p:stCondLst>
                                        </p:cTn>
                                        <p:tgtEl>
                                          <p:spTgt spid="2"/>
                                        </p:tgtEl>
                                        <p:attrNameLst>
                                          <p:attrName>style.visibility</p:attrName>
                                        </p:attrNameLst>
                                      </p:cBhvr>
                                      <p:to>
                                        <p:strVal val="visible"/>
                                      </p:to>
                                    </p:set>
                                    <p:anim calcmode="lin" valueType="num">
                                      <p:cBhvr>
                                        <p:cTn id="24" dur="500" fill="hold"/>
                                        <p:tgtEl>
                                          <p:spTgt spid="2"/>
                                        </p:tgtEl>
                                        <p:attrNameLst>
                                          <p:attrName>ppt_w</p:attrName>
                                        </p:attrNameLst>
                                      </p:cBhvr>
                                      <p:tavLst>
                                        <p:tav tm="0">
                                          <p:val>
                                            <p:fltVal val="0"/>
                                          </p:val>
                                        </p:tav>
                                        <p:tav tm="100000">
                                          <p:val>
                                            <p:strVal val="#ppt_w"/>
                                          </p:val>
                                        </p:tav>
                                      </p:tavLst>
                                    </p:anim>
                                    <p:anim calcmode="lin" valueType="num">
                                      <p:cBhvr>
                                        <p:cTn id="25" dur="500" fill="hold"/>
                                        <p:tgtEl>
                                          <p:spTgt spid="2"/>
                                        </p:tgtEl>
                                        <p:attrNameLst>
                                          <p:attrName>ppt_h</p:attrName>
                                        </p:attrNameLst>
                                      </p:cBhvr>
                                      <p:tavLst>
                                        <p:tav tm="0">
                                          <p:val>
                                            <p:fltVal val="0"/>
                                          </p:val>
                                        </p:tav>
                                        <p:tav tm="100000">
                                          <p:val>
                                            <p:strVal val="#ppt_h"/>
                                          </p:val>
                                        </p:tav>
                                      </p:tavLst>
                                    </p:anim>
                                    <p:animEffect transition="in" filter="fade">
                                      <p:cBhvr>
                                        <p:cTn id="26"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p:bldP spid="4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2"/>
          <a:stretch>
            <a:fillRect/>
          </a:stretch>
        </p:blipFill>
        <p:spPr>
          <a:xfrm rot="16200000">
            <a:off x="145169" y="-145167"/>
            <a:ext cx="1268414" cy="1558750"/>
          </a:xfrm>
          <a:prstGeom prst="rect">
            <a:avLst/>
          </a:prstGeom>
        </p:spPr>
      </p:pic>
      <p:sp>
        <p:nvSpPr>
          <p:cNvPr id="9" name="文字方塊 8">
            <a:extLst>
              <a:ext uri="{FF2B5EF4-FFF2-40B4-BE49-F238E27FC236}">
                <a16:creationId xmlns:a16="http://schemas.microsoft.com/office/drawing/2014/main" id="{81D0666A-D96D-4B5B-9036-192FA53FE435}"/>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cxnSp>
        <p:nvCxnSpPr>
          <p:cNvPr id="33" name="直接连接符 33">
            <a:extLst>
              <a:ext uri="{FF2B5EF4-FFF2-40B4-BE49-F238E27FC236}">
                <a16:creationId xmlns:a16="http://schemas.microsoft.com/office/drawing/2014/main" id="{DFF80DCD-8EF0-4D2F-8380-59FA348D932C}"/>
              </a:ext>
            </a:extLst>
          </p:cNvPr>
          <p:cNvCxnSpPr/>
          <p:nvPr/>
        </p:nvCxnSpPr>
        <p:spPr>
          <a:xfrm>
            <a:off x="1177167" y="1046746"/>
            <a:ext cx="10585176"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6" name="標題 1"/>
          <p:cNvSpPr txBox="1">
            <a:spLocks/>
          </p:cNvSpPr>
          <p:nvPr/>
        </p:nvSpPr>
        <p:spPr>
          <a:xfrm>
            <a:off x="918901" y="278155"/>
            <a:ext cx="5288853"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7-1 </a:t>
            </a:r>
            <a:r>
              <a:rPr lang="zh-TW" altLang="en-US" sz="2400" b="1" dirty="0">
                <a:solidFill>
                  <a:srgbClr val="E06741"/>
                </a:solidFill>
              </a:rPr>
              <a:t>實務案例</a:t>
            </a:r>
            <a:r>
              <a:rPr lang="en-US" altLang="zh-TW" sz="2400" b="1" dirty="0">
                <a:solidFill>
                  <a:srgbClr val="E06741"/>
                </a:solidFill>
              </a:rPr>
              <a:t>-</a:t>
            </a:r>
            <a:r>
              <a:rPr lang="zh-TW" altLang="en-US" sz="2400" b="1" dirty="0">
                <a:solidFill>
                  <a:srgbClr val="E06741"/>
                </a:solidFill>
              </a:rPr>
              <a:t>食品安全管理</a:t>
            </a:r>
          </a:p>
          <a:p>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sp>
        <p:nvSpPr>
          <p:cNvPr id="48" name="文字方塊 47">
            <a:extLst>
              <a:ext uri="{FF2B5EF4-FFF2-40B4-BE49-F238E27FC236}">
                <a16:creationId xmlns:a16="http://schemas.microsoft.com/office/drawing/2014/main" id="{AD7F4831-1A36-4A2F-ACBE-344F724510DC}"/>
              </a:ext>
            </a:extLst>
          </p:cNvPr>
          <p:cNvSpPr txBox="1"/>
          <p:nvPr/>
        </p:nvSpPr>
        <p:spPr>
          <a:xfrm>
            <a:off x="5438954" y="350242"/>
            <a:ext cx="2242922"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-2</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案例區塊鍊運用</a:t>
            </a:r>
          </a:p>
        </p:txBody>
      </p:sp>
      <p:sp>
        <p:nvSpPr>
          <p:cNvPr id="10" name="文字方塊 9">
            <a:extLst>
              <a:ext uri="{FF2B5EF4-FFF2-40B4-BE49-F238E27FC236}">
                <a16:creationId xmlns:a16="http://schemas.microsoft.com/office/drawing/2014/main" id="{BF94E171-0176-49DD-BE6C-DB2D96B94A88}"/>
              </a:ext>
            </a:extLst>
          </p:cNvPr>
          <p:cNvSpPr txBox="1"/>
          <p:nvPr/>
        </p:nvSpPr>
        <p:spPr>
          <a:xfrm>
            <a:off x="1177167" y="1518943"/>
            <a:ext cx="9663430" cy="2862322"/>
          </a:xfrm>
          <a:prstGeom prst="rect">
            <a:avLst/>
          </a:prstGeom>
          <a:noFill/>
        </p:spPr>
        <p:txBody>
          <a:bodyPr wrap="square" rtlCol="0">
            <a:spAutoFit/>
          </a:bodyPr>
          <a:lstStyle/>
          <a:p>
            <a:pPr marL="342900" indent="-342900">
              <a:lnSpc>
                <a:spcPct val="150000"/>
              </a:lnSpc>
              <a:buBlip>
                <a:blip r:embed="rId3"/>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為能有效解決食品履歷追蹤成本過高之問題，</a:t>
            </a:r>
            <a:r>
              <a:rPr lang="en-US" altLang="zh-TW" sz="2400" b="1" dirty="0" err="1">
                <a:solidFill>
                  <a:schemeClr val="tx1">
                    <a:lumMod val="75000"/>
                    <a:lumOff val="25000"/>
                  </a:schemeClr>
                </a:solidFill>
                <a:latin typeface="微軟正黑體" panose="020B0604030504040204" pitchFamily="34" charset="-120"/>
                <a:ea typeface="微軟正黑體" panose="020B0604030504040204" pitchFamily="34" charset="-120"/>
              </a:rPr>
              <a:t>WalMart</a:t>
            </a:r>
            <a:r>
              <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t> </a:t>
            </a: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食品廠商開創一個食品履歷追蹤區塊鏈交易平台</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342900" indent="-342900">
              <a:lnSpc>
                <a:spcPct val="150000"/>
              </a:lnSpc>
              <a:buBlip>
                <a:blip r:embed="rId3"/>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區塊鏈交易平台所提供的交易服務項目概區分為兩部分</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800100" lvl="1" indent="-342900">
              <a:lnSpc>
                <a:spcPct val="150000"/>
              </a:lnSpc>
              <a:buBlip>
                <a:blip r:embed="rId3"/>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節點的交易資訊存取部分</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800100" lvl="1" indent="-342900">
              <a:lnSpc>
                <a:spcPct val="150000"/>
              </a:lnSpc>
              <a:buBlip>
                <a:blip r:embed="rId3"/>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交易資訊追蹤部分</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pic>
        <p:nvPicPr>
          <p:cNvPr id="12" name="圖片 11">
            <a:extLst>
              <a:ext uri="{FF2B5EF4-FFF2-40B4-BE49-F238E27FC236}">
                <a16:creationId xmlns:a16="http://schemas.microsoft.com/office/drawing/2014/main" id="{A4A0AAA9-F516-48F5-94AD-4FEA5BA6CBC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962517" y="4273786"/>
            <a:ext cx="2584214" cy="2584214"/>
          </a:xfrm>
          <a:prstGeom prst="rect">
            <a:avLst/>
          </a:prstGeom>
        </p:spPr>
      </p:pic>
    </p:spTree>
    <p:extLst>
      <p:ext uri="{BB962C8B-B14F-4D97-AF65-F5344CB8AC3E}">
        <p14:creationId xmlns:p14="http://schemas.microsoft.com/office/powerpoint/2010/main" val="4117590595"/>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circle(in)">
                                      <p:cBhvr>
                                        <p:cTn id="7" dur="1500"/>
                                        <p:tgtEl>
                                          <p:spTgt spid="46"/>
                                        </p:tgtEl>
                                      </p:cBhvr>
                                    </p:animEffect>
                                  </p:childTnLst>
                                </p:cTn>
                              </p:par>
                            </p:childTnLst>
                          </p:cTn>
                        </p:par>
                        <p:par>
                          <p:cTn id="8" fill="hold">
                            <p:stCondLst>
                              <p:cond delay="1500"/>
                            </p:stCondLst>
                            <p:childTnLst>
                              <p:par>
                                <p:cTn id="9" presetID="16" presetClass="entr" presetSubtype="21" fill="hold" grpId="0" nodeType="afterEffect">
                                  <p:stCondLst>
                                    <p:cond delay="0"/>
                                  </p:stCondLst>
                                  <p:childTnLst>
                                    <p:set>
                                      <p:cBhvr>
                                        <p:cTn id="10" dur="1" fill="hold">
                                          <p:stCondLst>
                                            <p:cond delay="0"/>
                                          </p:stCondLst>
                                        </p:cTn>
                                        <p:tgtEl>
                                          <p:spTgt spid="48"/>
                                        </p:tgtEl>
                                        <p:attrNameLst>
                                          <p:attrName>style.visibility</p:attrName>
                                        </p:attrNameLst>
                                      </p:cBhvr>
                                      <p:to>
                                        <p:strVal val="visible"/>
                                      </p:to>
                                    </p:set>
                                    <p:animEffect transition="in" filter="barn(inVertical)">
                                      <p:cBhvr>
                                        <p:cTn id="11" dur="500"/>
                                        <p:tgtEl>
                                          <p:spTgt spid="48"/>
                                        </p:tgtEl>
                                      </p:cBhvr>
                                    </p:animEffect>
                                  </p:childTnLst>
                                </p:cTn>
                              </p:par>
                            </p:childTnLst>
                          </p:cTn>
                        </p:par>
                        <p:par>
                          <p:cTn id="12" fill="hold">
                            <p:stCondLst>
                              <p:cond delay="2000"/>
                            </p:stCondLst>
                            <p:childTnLst>
                              <p:par>
                                <p:cTn id="13" presetID="2" presetClass="entr" presetSubtype="8" fill="hold" nodeType="afterEffect">
                                  <p:stCondLst>
                                    <p:cond delay="0"/>
                                  </p:stCondLst>
                                  <p:childTnLst>
                                    <p:set>
                                      <p:cBhvr>
                                        <p:cTn id="14" dur="1" fill="hold">
                                          <p:stCondLst>
                                            <p:cond delay="0"/>
                                          </p:stCondLst>
                                        </p:cTn>
                                        <p:tgtEl>
                                          <p:spTgt spid="33"/>
                                        </p:tgtEl>
                                        <p:attrNameLst>
                                          <p:attrName>style.visibility</p:attrName>
                                        </p:attrNameLst>
                                      </p:cBhvr>
                                      <p:to>
                                        <p:strVal val="visible"/>
                                      </p:to>
                                    </p:set>
                                    <p:anim calcmode="lin" valueType="num">
                                      <p:cBhvr additive="base">
                                        <p:cTn id="15" dur="500" fill="hold"/>
                                        <p:tgtEl>
                                          <p:spTgt spid="33"/>
                                        </p:tgtEl>
                                        <p:attrNameLst>
                                          <p:attrName>ppt_x</p:attrName>
                                        </p:attrNameLst>
                                      </p:cBhvr>
                                      <p:tavLst>
                                        <p:tav tm="0">
                                          <p:val>
                                            <p:strVal val="0-#ppt_w/2"/>
                                          </p:val>
                                        </p:tav>
                                        <p:tav tm="100000">
                                          <p:val>
                                            <p:strVal val="#ppt_x"/>
                                          </p:val>
                                        </p:tav>
                                      </p:tavLst>
                                    </p:anim>
                                    <p:anim calcmode="lin" valueType="num">
                                      <p:cBhvr additive="base">
                                        <p:cTn id="16" dur="500" fill="hold"/>
                                        <p:tgtEl>
                                          <p:spTgt spid="33"/>
                                        </p:tgtEl>
                                        <p:attrNameLst>
                                          <p:attrName>ppt_y</p:attrName>
                                        </p:attrNameLst>
                                      </p:cBhvr>
                                      <p:tavLst>
                                        <p:tav tm="0">
                                          <p:val>
                                            <p:strVal val="#ppt_y"/>
                                          </p:val>
                                        </p:tav>
                                        <p:tav tm="100000">
                                          <p:val>
                                            <p:strVal val="#ppt_y"/>
                                          </p:val>
                                        </p:tav>
                                      </p:tavLst>
                                    </p:anim>
                                  </p:childTnLst>
                                </p:cTn>
                              </p:par>
                            </p:childTnLst>
                          </p:cTn>
                        </p:par>
                        <p:par>
                          <p:cTn id="17" fill="hold">
                            <p:stCondLst>
                              <p:cond delay="2500"/>
                            </p:stCondLst>
                            <p:childTnLst>
                              <p:par>
                                <p:cTn id="18" presetID="16" presetClass="entr" presetSubtype="21" fill="hold" nodeType="afterEffect">
                                  <p:stCondLst>
                                    <p:cond delay="0"/>
                                  </p:stCondLst>
                                  <p:childTnLst>
                                    <p:set>
                                      <p:cBhvr>
                                        <p:cTn id="19" dur="1" fill="hold">
                                          <p:stCondLst>
                                            <p:cond delay="0"/>
                                          </p:stCondLst>
                                        </p:cTn>
                                        <p:tgtEl>
                                          <p:spTgt spid="10">
                                            <p:txEl>
                                              <p:pRg st="0" end="0"/>
                                            </p:txEl>
                                          </p:spTgt>
                                        </p:tgtEl>
                                        <p:attrNameLst>
                                          <p:attrName>style.visibility</p:attrName>
                                        </p:attrNameLst>
                                      </p:cBhvr>
                                      <p:to>
                                        <p:strVal val="visible"/>
                                      </p:to>
                                    </p:set>
                                    <p:animEffect transition="in" filter="barn(inVertical)">
                                      <p:cBhvr>
                                        <p:cTn id="20" dur="500"/>
                                        <p:tgtEl>
                                          <p:spTgt spid="10">
                                            <p:txEl>
                                              <p:pRg st="0" end="0"/>
                                            </p:txEl>
                                          </p:spTgt>
                                        </p:tgtEl>
                                      </p:cBhvr>
                                    </p:animEffect>
                                  </p:childTnLst>
                                </p:cTn>
                              </p:par>
                            </p:childTnLst>
                          </p:cTn>
                        </p:par>
                        <p:par>
                          <p:cTn id="21" fill="hold">
                            <p:stCondLst>
                              <p:cond delay="3000"/>
                            </p:stCondLst>
                            <p:childTnLst>
                              <p:par>
                                <p:cTn id="22" presetID="16" presetClass="entr" presetSubtype="21" fill="hold" nodeType="afterEffect">
                                  <p:stCondLst>
                                    <p:cond delay="0"/>
                                  </p:stCondLst>
                                  <p:childTnLst>
                                    <p:set>
                                      <p:cBhvr>
                                        <p:cTn id="23" dur="1" fill="hold">
                                          <p:stCondLst>
                                            <p:cond delay="0"/>
                                          </p:stCondLst>
                                        </p:cTn>
                                        <p:tgtEl>
                                          <p:spTgt spid="10">
                                            <p:txEl>
                                              <p:pRg st="1" end="1"/>
                                            </p:txEl>
                                          </p:spTgt>
                                        </p:tgtEl>
                                        <p:attrNameLst>
                                          <p:attrName>style.visibility</p:attrName>
                                        </p:attrNameLst>
                                      </p:cBhvr>
                                      <p:to>
                                        <p:strVal val="visible"/>
                                      </p:to>
                                    </p:set>
                                    <p:animEffect transition="in" filter="barn(inVertical)">
                                      <p:cBhvr>
                                        <p:cTn id="24" dur="500"/>
                                        <p:tgtEl>
                                          <p:spTgt spid="10">
                                            <p:txEl>
                                              <p:pRg st="1" end="1"/>
                                            </p:txEl>
                                          </p:spTgt>
                                        </p:tgtEl>
                                      </p:cBhvr>
                                    </p:animEffect>
                                  </p:childTnLst>
                                </p:cTn>
                              </p:par>
                            </p:childTnLst>
                          </p:cTn>
                        </p:par>
                        <p:par>
                          <p:cTn id="25" fill="hold">
                            <p:stCondLst>
                              <p:cond delay="3500"/>
                            </p:stCondLst>
                            <p:childTnLst>
                              <p:par>
                                <p:cTn id="26" presetID="16" presetClass="entr" presetSubtype="21" fill="hold" nodeType="afterEffect">
                                  <p:stCondLst>
                                    <p:cond delay="0"/>
                                  </p:stCondLst>
                                  <p:childTnLst>
                                    <p:set>
                                      <p:cBhvr>
                                        <p:cTn id="27" dur="1" fill="hold">
                                          <p:stCondLst>
                                            <p:cond delay="0"/>
                                          </p:stCondLst>
                                        </p:cTn>
                                        <p:tgtEl>
                                          <p:spTgt spid="10">
                                            <p:txEl>
                                              <p:pRg st="2" end="2"/>
                                            </p:txEl>
                                          </p:spTgt>
                                        </p:tgtEl>
                                        <p:attrNameLst>
                                          <p:attrName>style.visibility</p:attrName>
                                        </p:attrNameLst>
                                      </p:cBhvr>
                                      <p:to>
                                        <p:strVal val="visible"/>
                                      </p:to>
                                    </p:set>
                                    <p:animEffect transition="in" filter="barn(inVertical)">
                                      <p:cBhvr>
                                        <p:cTn id="28" dur="500"/>
                                        <p:tgtEl>
                                          <p:spTgt spid="10">
                                            <p:txEl>
                                              <p:pRg st="2" end="2"/>
                                            </p:txEl>
                                          </p:spTgt>
                                        </p:tgtEl>
                                      </p:cBhvr>
                                    </p:animEffect>
                                  </p:childTnLst>
                                </p:cTn>
                              </p:par>
                            </p:childTnLst>
                          </p:cTn>
                        </p:par>
                        <p:par>
                          <p:cTn id="29" fill="hold">
                            <p:stCondLst>
                              <p:cond delay="4000"/>
                            </p:stCondLst>
                            <p:childTnLst>
                              <p:par>
                                <p:cTn id="30" presetID="16" presetClass="entr" presetSubtype="21" fill="hold" nodeType="afterEffect">
                                  <p:stCondLst>
                                    <p:cond delay="0"/>
                                  </p:stCondLst>
                                  <p:childTnLst>
                                    <p:set>
                                      <p:cBhvr>
                                        <p:cTn id="31" dur="1" fill="hold">
                                          <p:stCondLst>
                                            <p:cond delay="0"/>
                                          </p:stCondLst>
                                        </p:cTn>
                                        <p:tgtEl>
                                          <p:spTgt spid="10">
                                            <p:txEl>
                                              <p:pRg st="3" end="3"/>
                                            </p:txEl>
                                          </p:spTgt>
                                        </p:tgtEl>
                                        <p:attrNameLst>
                                          <p:attrName>style.visibility</p:attrName>
                                        </p:attrNameLst>
                                      </p:cBhvr>
                                      <p:to>
                                        <p:strVal val="visible"/>
                                      </p:to>
                                    </p:set>
                                    <p:animEffect transition="in" filter="barn(inVertical)">
                                      <p:cBhvr>
                                        <p:cTn id="32" dur="500"/>
                                        <p:tgtEl>
                                          <p:spTgt spid="10">
                                            <p:txEl>
                                              <p:pRg st="3" end="3"/>
                                            </p:txEl>
                                          </p:spTgt>
                                        </p:tgtEl>
                                      </p:cBhvr>
                                    </p:animEffect>
                                  </p:childTnLst>
                                </p:cTn>
                              </p:par>
                            </p:childTnLst>
                          </p:cTn>
                        </p:par>
                        <p:par>
                          <p:cTn id="33" fill="hold">
                            <p:stCondLst>
                              <p:cond delay="4500"/>
                            </p:stCondLst>
                            <p:childTnLst>
                              <p:par>
                                <p:cTn id="34" presetID="2" presetClass="entr" presetSubtype="4" fill="hold" nodeType="afterEffect">
                                  <p:stCondLst>
                                    <p:cond delay="0"/>
                                  </p:stCondLst>
                                  <p:childTnLst>
                                    <p:set>
                                      <p:cBhvr>
                                        <p:cTn id="35" dur="1" fill="hold">
                                          <p:stCondLst>
                                            <p:cond delay="0"/>
                                          </p:stCondLst>
                                        </p:cTn>
                                        <p:tgtEl>
                                          <p:spTgt spid="12"/>
                                        </p:tgtEl>
                                        <p:attrNameLst>
                                          <p:attrName>style.visibility</p:attrName>
                                        </p:attrNameLst>
                                      </p:cBhvr>
                                      <p:to>
                                        <p:strVal val="visible"/>
                                      </p:to>
                                    </p:set>
                                    <p:anim calcmode="lin" valueType="num">
                                      <p:cBhvr additive="base">
                                        <p:cTn id="36" dur="500" fill="hold"/>
                                        <p:tgtEl>
                                          <p:spTgt spid="12"/>
                                        </p:tgtEl>
                                        <p:attrNameLst>
                                          <p:attrName>ppt_x</p:attrName>
                                        </p:attrNameLst>
                                      </p:cBhvr>
                                      <p:tavLst>
                                        <p:tav tm="0">
                                          <p:val>
                                            <p:strVal val="#ppt_x"/>
                                          </p:val>
                                        </p:tav>
                                        <p:tav tm="100000">
                                          <p:val>
                                            <p:strVal val="#ppt_x"/>
                                          </p:val>
                                        </p:tav>
                                      </p:tavLst>
                                    </p:anim>
                                    <p:anim calcmode="lin" valueType="num">
                                      <p:cBhvr additive="base">
                                        <p:cTn id="37"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p:bldP spid="4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2"/>
          <a:stretch>
            <a:fillRect/>
          </a:stretch>
        </p:blipFill>
        <p:spPr>
          <a:xfrm rot="16200000">
            <a:off x="145169" y="-145167"/>
            <a:ext cx="1268414" cy="1558750"/>
          </a:xfrm>
          <a:prstGeom prst="rect">
            <a:avLst/>
          </a:prstGeom>
        </p:spPr>
      </p:pic>
      <p:sp>
        <p:nvSpPr>
          <p:cNvPr id="9" name="文字方塊 8">
            <a:extLst>
              <a:ext uri="{FF2B5EF4-FFF2-40B4-BE49-F238E27FC236}">
                <a16:creationId xmlns:a16="http://schemas.microsoft.com/office/drawing/2014/main" id="{81D0666A-D96D-4B5B-9036-192FA53FE435}"/>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cxnSp>
        <p:nvCxnSpPr>
          <p:cNvPr id="33" name="直接连接符 33">
            <a:extLst>
              <a:ext uri="{FF2B5EF4-FFF2-40B4-BE49-F238E27FC236}">
                <a16:creationId xmlns:a16="http://schemas.microsoft.com/office/drawing/2014/main" id="{DFF80DCD-8EF0-4D2F-8380-59FA348D932C}"/>
              </a:ext>
            </a:extLst>
          </p:cNvPr>
          <p:cNvCxnSpPr/>
          <p:nvPr/>
        </p:nvCxnSpPr>
        <p:spPr>
          <a:xfrm>
            <a:off x="1177167" y="1046746"/>
            <a:ext cx="10585176"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6" name="標題 1"/>
          <p:cNvSpPr txBox="1">
            <a:spLocks/>
          </p:cNvSpPr>
          <p:nvPr/>
        </p:nvSpPr>
        <p:spPr>
          <a:xfrm>
            <a:off x="918901" y="278155"/>
            <a:ext cx="5288853"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7-1 </a:t>
            </a:r>
            <a:r>
              <a:rPr lang="zh-TW" altLang="en-US" sz="2400" b="1" dirty="0">
                <a:solidFill>
                  <a:srgbClr val="E06741"/>
                </a:solidFill>
              </a:rPr>
              <a:t>實務案例</a:t>
            </a:r>
            <a:r>
              <a:rPr lang="en-US" altLang="zh-TW" sz="2400" b="1" dirty="0">
                <a:solidFill>
                  <a:srgbClr val="E06741"/>
                </a:solidFill>
              </a:rPr>
              <a:t>-</a:t>
            </a:r>
            <a:r>
              <a:rPr lang="zh-TW" altLang="en-US" sz="2400" b="1" dirty="0">
                <a:solidFill>
                  <a:srgbClr val="E06741"/>
                </a:solidFill>
              </a:rPr>
              <a:t>食品安全管理</a:t>
            </a:r>
          </a:p>
          <a:p>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sp>
        <p:nvSpPr>
          <p:cNvPr id="48" name="文字方塊 47">
            <a:extLst>
              <a:ext uri="{FF2B5EF4-FFF2-40B4-BE49-F238E27FC236}">
                <a16:creationId xmlns:a16="http://schemas.microsoft.com/office/drawing/2014/main" id="{AD7F4831-1A36-4A2F-ACBE-344F724510DC}"/>
              </a:ext>
            </a:extLst>
          </p:cNvPr>
          <p:cNvSpPr txBox="1"/>
          <p:nvPr/>
        </p:nvSpPr>
        <p:spPr>
          <a:xfrm>
            <a:off x="5438954" y="350242"/>
            <a:ext cx="2242922"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-2</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案例區塊鍊運用</a:t>
            </a:r>
          </a:p>
        </p:txBody>
      </p:sp>
      <p:sp>
        <p:nvSpPr>
          <p:cNvPr id="10" name="文字方塊 9">
            <a:extLst>
              <a:ext uri="{FF2B5EF4-FFF2-40B4-BE49-F238E27FC236}">
                <a16:creationId xmlns:a16="http://schemas.microsoft.com/office/drawing/2014/main" id="{BF94E171-0176-49DD-BE6C-DB2D96B94A88}"/>
              </a:ext>
            </a:extLst>
          </p:cNvPr>
          <p:cNvSpPr txBox="1"/>
          <p:nvPr/>
        </p:nvSpPr>
        <p:spPr>
          <a:xfrm>
            <a:off x="1177167" y="1816567"/>
            <a:ext cx="9663430" cy="578492"/>
          </a:xfrm>
          <a:prstGeom prst="rect">
            <a:avLst/>
          </a:prstGeom>
          <a:noFill/>
        </p:spPr>
        <p:txBody>
          <a:bodyPr wrap="square" rtlCol="0">
            <a:spAutoFit/>
          </a:bodyPr>
          <a:lstStyle/>
          <a:p>
            <a:pPr marL="342900" indent="-342900">
              <a:lnSpc>
                <a:spcPct val="150000"/>
              </a:lnSpc>
              <a:buBlip>
                <a:blip r:embed="rId3"/>
              </a:buBlip>
            </a:pP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sp>
        <p:nvSpPr>
          <p:cNvPr id="12" name="文字方塊 11">
            <a:extLst>
              <a:ext uri="{FF2B5EF4-FFF2-40B4-BE49-F238E27FC236}">
                <a16:creationId xmlns:a16="http://schemas.microsoft.com/office/drawing/2014/main" id="{BF94E171-0176-49DD-BE6C-DB2D96B94A88}"/>
              </a:ext>
            </a:extLst>
          </p:cNvPr>
          <p:cNvSpPr txBox="1"/>
          <p:nvPr/>
        </p:nvSpPr>
        <p:spPr>
          <a:xfrm>
            <a:off x="1177167" y="1340502"/>
            <a:ext cx="9663430" cy="2862322"/>
          </a:xfrm>
          <a:prstGeom prst="rect">
            <a:avLst/>
          </a:prstGeom>
          <a:noFill/>
        </p:spPr>
        <p:txBody>
          <a:bodyPr wrap="square" rtlCol="0">
            <a:spAutoFit/>
          </a:bodyPr>
          <a:lstStyle/>
          <a:p>
            <a:pPr marL="342900" indent="-342900">
              <a:lnSpc>
                <a:spcPct val="150000"/>
              </a:lnSpc>
              <a:buBlip>
                <a:blip r:embed="rId3"/>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交易資訊存取部分：</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800100" lvl="1" indent="-342900">
              <a:lnSpc>
                <a:spcPct val="150000"/>
              </a:lnSpc>
              <a:buBlip>
                <a:blip r:embed="rId3"/>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藉由各節點（</a:t>
            </a:r>
            <a:r>
              <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t>Peer</a:t>
            </a: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）在平台上的交易紀錄中，將其交易資訊全程儲存與公布於區塊鏈的交易平台，讓每一個節點都可以知道交易的紀錄與過程，儲存的每筆交易資訊內容可包含食品來源和食品認證狀況。</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pic>
        <p:nvPicPr>
          <p:cNvPr id="11" name="圖片 10" descr="一張含有 時鐘, 物件 的圖片&#10;&#10;描述是以非常高的可信度產生">
            <a:extLst>
              <a:ext uri="{FF2B5EF4-FFF2-40B4-BE49-F238E27FC236}">
                <a16:creationId xmlns:a16="http://schemas.microsoft.com/office/drawing/2014/main" id="{8815C33F-C97E-49F1-88ED-274EEEA6121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097148" y="4202824"/>
            <a:ext cx="1992384" cy="1992384"/>
          </a:xfrm>
          <a:prstGeom prst="rect">
            <a:avLst/>
          </a:prstGeom>
        </p:spPr>
      </p:pic>
    </p:spTree>
    <p:extLst>
      <p:ext uri="{BB962C8B-B14F-4D97-AF65-F5344CB8AC3E}">
        <p14:creationId xmlns:p14="http://schemas.microsoft.com/office/powerpoint/2010/main" val="3860092088"/>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circle(in)">
                                      <p:cBhvr>
                                        <p:cTn id="7" dur="1500"/>
                                        <p:tgtEl>
                                          <p:spTgt spid="46"/>
                                        </p:tgtEl>
                                      </p:cBhvr>
                                    </p:animEffect>
                                  </p:childTnLst>
                                </p:cTn>
                              </p:par>
                            </p:childTnLst>
                          </p:cTn>
                        </p:par>
                        <p:par>
                          <p:cTn id="8" fill="hold">
                            <p:stCondLst>
                              <p:cond delay="1500"/>
                            </p:stCondLst>
                            <p:childTnLst>
                              <p:par>
                                <p:cTn id="9" presetID="16" presetClass="entr" presetSubtype="21" fill="hold" grpId="0" nodeType="afterEffect">
                                  <p:stCondLst>
                                    <p:cond delay="0"/>
                                  </p:stCondLst>
                                  <p:childTnLst>
                                    <p:set>
                                      <p:cBhvr>
                                        <p:cTn id="10" dur="1" fill="hold">
                                          <p:stCondLst>
                                            <p:cond delay="0"/>
                                          </p:stCondLst>
                                        </p:cTn>
                                        <p:tgtEl>
                                          <p:spTgt spid="48"/>
                                        </p:tgtEl>
                                        <p:attrNameLst>
                                          <p:attrName>style.visibility</p:attrName>
                                        </p:attrNameLst>
                                      </p:cBhvr>
                                      <p:to>
                                        <p:strVal val="visible"/>
                                      </p:to>
                                    </p:set>
                                    <p:animEffect transition="in" filter="barn(inVertical)">
                                      <p:cBhvr>
                                        <p:cTn id="11" dur="500"/>
                                        <p:tgtEl>
                                          <p:spTgt spid="48"/>
                                        </p:tgtEl>
                                      </p:cBhvr>
                                    </p:animEffect>
                                  </p:childTnLst>
                                </p:cTn>
                              </p:par>
                            </p:childTnLst>
                          </p:cTn>
                        </p:par>
                        <p:par>
                          <p:cTn id="12" fill="hold">
                            <p:stCondLst>
                              <p:cond delay="2000"/>
                            </p:stCondLst>
                            <p:childTnLst>
                              <p:par>
                                <p:cTn id="13" presetID="2" presetClass="entr" presetSubtype="8" fill="hold" nodeType="afterEffect">
                                  <p:stCondLst>
                                    <p:cond delay="0"/>
                                  </p:stCondLst>
                                  <p:childTnLst>
                                    <p:set>
                                      <p:cBhvr>
                                        <p:cTn id="14" dur="1" fill="hold">
                                          <p:stCondLst>
                                            <p:cond delay="0"/>
                                          </p:stCondLst>
                                        </p:cTn>
                                        <p:tgtEl>
                                          <p:spTgt spid="33"/>
                                        </p:tgtEl>
                                        <p:attrNameLst>
                                          <p:attrName>style.visibility</p:attrName>
                                        </p:attrNameLst>
                                      </p:cBhvr>
                                      <p:to>
                                        <p:strVal val="visible"/>
                                      </p:to>
                                    </p:set>
                                    <p:anim calcmode="lin" valueType="num">
                                      <p:cBhvr additive="base">
                                        <p:cTn id="15" dur="500" fill="hold"/>
                                        <p:tgtEl>
                                          <p:spTgt spid="33"/>
                                        </p:tgtEl>
                                        <p:attrNameLst>
                                          <p:attrName>ppt_x</p:attrName>
                                        </p:attrNameLst>
                                      </p:cBhvr>
                                      <p:tavLst>
                                        <p:tav tm="0">
                                          <p:val>
                                            <p:strVal val="0-#ppt_w/2"/>
                                          </p:val>
                                        </p:tav>
                                        <p:tav tm="100000">
                                          <p:val>
                                            <p:strVal val="#ppt_x"/>
                                          </p:val>
                                        </p:tav>
                                      </p:tavLst>
                                    </p:anim>
                                    <p:anim calcmode="lin" valueType="num">
                                      <p:cBhvr additive="base">
                                        <p:cTn id="16" dur="500" fill="hold"/>
                                        <p:tgtEl>
                                          <p:spTgt spid="33"/>
                                        </p:tgtEl>
                                        <p:attrNameLst>
                                          <p:attrName>ppt_y</p:attrName>
                                        </p:attrNameLst>
                                      </p:cBhvr>
                                      <p:tavLst>
                                        <p:tav tm="0">
                                          <p:val>
                                            <p:strVal val="#ppt_y"/>
                                          </p:val>
                                        </p:tav>
                                        <p:tav tm="100000">
                                          <p:val>
                                            <p:strVal val="#ppt_y"/>
                                          </p:val>
                                        </p:tav>
                                      </p:tavLst>
                                    </p:anim>
                                  </p:childTnLst>
                                </p:cTn>
                              </p:par>
                            </p:childTnLst>
                          </p:cTn>
                        </p:par>
                        <p:par>
                          <p:cTn id="17" fill="hold">
                            <p:stCondLst>
                              <p:cond delay="2500"/>
                            </p:stCondLst>
                            <p:childTnLst>
                              <p:par>
                                <p:cTn id="18" presetID="16" presetClass="entr" presetSubtype="21" fill="hold" nodeType="afterEffect" nodePh="1">
                                  <p:stCondLst>
                                    <p:cond delay="0"/>
                                  </p:stCondLst>
                                  <p:endCondLst>
                                    <p:cond evt="begin" delay="0">
                                      <p:tn val="18"/>
                                    </p:cond>
                                  </p:endCondLst>
                                  <p:childTnLst>
                                    <p:set>
                                      <p:cBhvr>
                                        <p:cTn id="19" dur="1" fill="hold">
                                          <p:stCondLst>
                                            <p:cond delay="0"/>
                                          </p:stCondLst>
                                        </p:cTn>
                                        <p:tgtEl>
                                          <p:spTgt spid="10">
                                            <p:txEl>
                                              <p:pRg st="0" end="0"/>
                                            </p:txEl>
                                          </p:spTgt>
                                        </p:tgtEl>
                                        <p:attrNameLst>
                                          <p:attrName>style.visibility</p:attrName>
                                        </p:attrNameLst>
                                      </p:cBhvr>
                                      <p:to>
                                        <p:strVal val="visible"/>
                                      </p:to>
                                    </p:set>
                                    <p:animEffect transition="in" filter="barn(inVertical)">
                                      <p:cBhvr>
                                        <p:cTn id="20" dur="500"/>
                                        <p:tgtEl>
                                          <p:spTgt spid="10">
                                            <p:txEl>
                                              <p:pRg st="0" end="0"/>
                                            </p:txEl>
                                          </p:spTgt>
                                        </p:tgtEl>
                                      </p:cBhvr>
                                    </p:animEffect>
                                  </p:childTnLst>
                                </p:cTn>
                              </p:par>
                            </p:childTnLst>
                          </p:cTn>
                        </p:par>
                        <p:par>
                          <p:cTn id="21" fill="hold">
                            <p:stCondLst>
                              <p:cond delay="3000"/>
                            </p:stCondLst>
                            <p:childTnLst>
                              <p:par>
                                <p:cTn id="22" presetID="16" presetClass="entr" presetSubtype="21" fill="hold" nodeType="afterEffect">
                                  <p:stCondLst>
                                    <p:cond delay="0"/>
                                  </p:stCondLst>
                                  <p:childTnLst>
                                    <p:set>
                                      <p:cBhvr>
                                        <p:cTn id="23" dur="1" fill="hold">
                                          <p:stCondLst>
                                            <p:cond delay="0"/>
                                          </p:stCondLst>
                                        </p:cTn>
                                        <p:tgtEl>
                                          <p:spTgt spid="12">
                                            <p:txEl>
                                              <p:pRg st="0" end="0"/>
                                            </p:txEl>
                                          </p:spTgt>
                                        </p:tgtEl>
                                        <p:attrNameLst>
                                          <p:attrName>style.visibility</p:attrName>
                                        </p:attrNameLst>
                                      </p:cBhvr>
                                      <p:to>
                                        <p:strVal val="visible"/>
                                      </p:to>
                                    </p:set>
                                    <p:animEffect transition="in" filter="barn(inVertical)">
                                      <p:cBhvr>
                                        <p:cTn id="24" dur="500"/>
                                        <p:tgtEl>
                                          <p:spTgt spid="12">
                                            <p:txEl>
                                              <p:pRg st="0" end="0"/>
                                            </p:txEl>
                                          </p:spTgt>
                                        </p:tgtEl>
                                      </p:cBhvr>
                                    </p:animEffect>
                                  </p:childTnLst>
                                </p:cTn>
                              </p:par>
                            </p:childTnLst>
                          </p:cTn>
                        </p:par>
                        <p:par>
                          <p:cTn id="25" fill="hold">
                            <p:stCondLst>
                              <p:cond delay="3500"/>
                            </p:stCondLst>
                            <p:childTnLst>
                              <p:par>
                                <p:cTn id="26" presetID="16" presetClass="entr" presetSubtype="21" fill="hold" nodeType="afterEffect">
                                  <p:stCondLst>
                                    <p:cond delay="0"/>
                                  </p:stCondLst>
                                  <p:childTnLst>
                                    <p:set>
                                      <p:cBhvr>
                                        <p:cTn id="27" dur="1" fill="hold">
                                          <p:stCondLst>
                                            <p:cond delay="0"/>
                                          </p:stCondLst>
                                        </p:cTn>
                                        <p:tgtEl>
                                          <p:spTgt spid="12">
                                            <p:txEl>
                                              <p:pRg st="1" end="1"/>
                                            </p:txEl>
                                          </p:spTgt>
                                        </p:tgtEl>
                                        <p:attrNameLst>
                                          <p:attrName>style.visibility</p:attrName>
                                        </p:attrNameLst>
                                      </p:cBhvr>
                                      <p:to>
                                        <p:strVal val="visible"/>
                                      </p:to>
                                    </p:set>
                                    <p:animEffect transition="in" filter="barn(inVertical)">
                                      <p:cBhvr>
                                        <p:cTn id="28" dur="500"/>
                                        <p:tgtEl>
                                          <p:spTgt spid="12">
                                            <p:txEl>
                                              <p:pRg st="1" end="1"/>
                                            </p:txEl>
                                          </p:spTgt>
                                        </p:tgtEl>
                                      </p:cBhvr>
                                    </p:animEffect>
                                  </p:childTnLst>
                                </p:cTn>
                              </p:par>
                            </p:childTnLst>
                          </p:cTn>
                        </p:par>
                        <p:par>
                          <p:cTn id="29" fill="hold">
                            <p:stCondLst>
                              <p:cond delay="4000"/>
                            </p:stCondLst>
                            <p:childTnLst>
                              <p:par>
                                <p:cTn id="30" presetID="53" presetClass="entr" presetSubtype="16" fill="hold" nodeType="afterEffect">
                                  <p:stCondLst>
                                    <p:cond delay="0"/>
                                  </p:stCondLst>
                                  <p:childTnLst>
                                    <p:set>
                                      <p:cBhvr>
                                        <p:cTn id="31" dur="1" fill="hold">
                                          <p:stCondLst>
                                            <p:cond delay="0"/>
                                          </p:stCondLst>
                                        </p:cTn>
                                        <p:tgtEl>
                                          <p:spTgt spid="11"/>
                                        </p:tgtEl>
                                        <p:attrNameLst>
                                          <p:attrName>style.visibility</p:attrName>
                                        </p:attrNameLst>
                                      </p:cBhvr>
                                      <p:to>
                                        <p:strVal val="visible"/>
                                      </p:to>
                                    </p:set>
                                    <p:anim calcmode="lin" valueType="num">
                                      <p:cBhvr>
                                        <p:cTn id="32" dur="500" fill="hold"/>
                                        <p:tgtEl>
                                          <p:spTgt spid="11"/>
                                        </p:tgtEl>
                                        <p:attrNameLst>
                                          <p:attrName>ppt_w</p:attrName>
                                        </p:attrNameLst>
                                      </p:cBhvr>
                                      <p:tavLst>
                                        <p:tav tm="0">
                                          <p:val>
                                            <p:fltVal val="0"/>
                                          </p:val>
                                        </p:tav>
                                        <p:tav tm="100000">
                                          <p:val>
                                            <p:strVal val="#ppt_w"/>
                                          </p:val>
                                        </p:tav>
                                      </p:tavLst>
                                    </p:anim>
                                    <p:anim calcmode="lin" valueType="num">
                                      <p:cBhvr>
                                        <p:cTn id="33" dur="500" fill="hold"/>
                                        <p:tgtEl>
                                          <p:spTgt spid="11"/>
                                        </p:tgtEl>
                                        <p:attrNameLst>
                                          <p:attrName>ppt_h</p:attrName>
                                        </p:attrNameLst>
                                      </p:cBhvr>
                                      <p:tavLst>
                                        <p:tav tm="0">
                                          <p:val>
                                            <p:fltVal val="0"/>
                                          </p:val>
                                        </p:tav>
                                        <p:tav tm="100000">
                                          <p:val>
                                            <p:strVal val="#ppt_h"/>
                                          </p:val>
                                        </p:tav>
                                      </p:tavLst>
                                    </p:anim>
                                    <p:animEffect transition="in" filter="fade">
                                      <p:cBhvr>
                                        <p:cTn id="34"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p:bldP spid="4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2"/>
          <a:stretch>
            <a:fillRect/>
          </a:stretch>
        </p:blipFill>
        <p:spPr>
          <a:xfrm rot="16200000">
            <a:off x="145169" y="-145167"/>
            <a:ext cx="1268414" cy="1558750"/>
          </a:xfrm>
          <a:prstGeom prst="rect">
            <a:avLst/>
          </a:prstGeom>
        </p:spPr>
      </p:pic>
      <p:sp>
        <p:nvSpPr>
          <p:cNvPr id="9" name="文字方塊 8">
            <a:extLst>
              <a:ext uri="{FF2B5EF4-FFF2-40B4-BE49-F238E27FC236}">
                <a16:creationId xmlns:a16="http://schemas.microsoft.com/office/drawing/2014/main" id="{81D0666A-D96D-4B5B-9036-192FA53FE435}"/>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cxnSp>
        <p:nvCxnSpPr>
          <p:cNvPr id="33" name="直接连接符 33">
            <a:extLst>
              <a:ext uri="{FF2B5EF4-FFF2-40B4-BE49-F238E27FC236}">
                <a16:creationId xmlns:a16="http://schemas.microsoft.com/office/drawing/2014/main" id="{DFF80DCD-8EF0-4D2F-8380-59FA348D932C}"/>
              </a:ext>
            </a:extLst>
          </p:cNvPr>
          <p:cNvCxnSpPr/>
          <p:nvPr/>
        </p:nvCxnSpPr>
        <p:spPr>
          <a:xfrm>
            <a:off x="1177167" y="1046746"/>
            <a:ext cx="10585176"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6" name="標題 1"/>
          <p:cNvSpPr txBox="1">
            <a:spLocks/>
          </p:cNvSpPr>
          <p:nvPr/>
        </p:nvSpPr>
        <p:spPr>
          <a:xfrm>
            <a:off x="918901" y="278155"/>
            <a:ext cx="5288853"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7-1 </a:t>
            </a:r>
            <a:r>
              <a:rPr lang="zh-TW" altLang="en-US" sz="2400" b="1" dirty="0">
                <a:solidFill>
                  <a:srgbClr val="E06741"/>
                </a:solidFill>
              </a:rPr>
              <a:t>實務案例</a:t>
            </a:r>
            <a:r>
              <a:rPr lang="en-US" altLang="zh-TW" sz="2400" b="1" dirty="0">
                <a:solidFill>
                  <a:srgbClr val="E06741"/>
                </a:solidFill>
              </a:rPr>
              <a:t>-</a:t>
            </a:r>
            <a:r>
              <a:rPr lang="zh-TW" altLang="en-US" sz="2400" b="1" dirty="0">
                <a:solidFill>
                  <a:srgbClr val="E06741"/>
                </a:solidFill>
              </a:rPr>
              <a:t>食品安全管理</a:t>
            </a:r>
          </a:p>
          <a:p>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sp>
        <p:nvSpPr>
          <p:cNvPr id="48" name="文字方塊 47">
            <a:extLst>
              <a:ext uri="{FF2B5EF4-FFF2-40B4-BE49-F238E27FC236}">
                <a16:creationId xmlns:a16="http://schemas.microsoft.com/office/drawing/2014/main" id="{AD7F4831-1A36-4A2F-ACBE-344F724510DC}"/>
              </a:ext>
            </a:extLst>
          </p:cNvPr>
          <p:cNvSpPr txBox="1"/>
          <p:nvPr/>
        </p:nvSpPr>
        <p:spPr>
          <a:xfrm>
            <a:off x="5438954" y="350242"/>
            <a:ext cx="2242922"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-2</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案例區塊鍊運用</a:t>
            </a:r>
          </a:p>
        </p:txBody>
      </p:sp>
      <p:sp>
        <p:nvSpPr>
          <p:cNvPr id="10" name="文字方塊 9">
            <a:extLst>
              <a:ext uri="{FF2B5EF4-FFF2-40B4-BE49-F238E27FC236}">
                <a16:creationId xmlns:a16="http://schemas.microsoft.com/office/drawing/2014/main" id="{BF94E171-0176-49DD-BE6C-DB2D96B94A88}"/>
              </a:ext>
            </a:extLst>
          </p:cNvPr>
          <p:cNvSpPr txBox="1"/>
          <p:nvPr/>
        </p:nvSpPr>
        <p:spPr>
          <a:xfrm>
            <a:off x="1177167" y="1816567"/>
            <a:ext cx="9663430" cy="578492"/>
          </a:xfrm>
          <a:prstGeom prst="rect">
            <a:avLst/>
          </a:prstGeom>
          <a:noFill/>
        </p:spPr>
        <p:txBody>
          <a:bodyPr wrap="square" rtlCol="0">
            <a:spAutoFit/>
          </a:bodyPr>
          <a:lstStyle/>
          <a:p>
            <a:pPr marL="342900" indent="-342900">
              <a:lnSpc>
                <a:spcPct val="150000"/>
              </a:lnSpc>
              <a:buBlip>
                <a:blip r:embed="rId3"/>
              </a:buBlip>
            </a:pP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sp>
        <p:nvSpPr>
          <p:cNvPr id="12" name="文字方塊 11">
            <a:extLst>
              <a:ext uri="{FF2B5EF4-FFF2-40B4-BE49-F238E27FC236}">
                <a16:creationId xmlns:a16="http://schemas.microsoft.com/office/drawing/2014/main" id="{BF94E171-0176-49DD-BE6C-DB2D96B94A88}"/>
              </a:ext>
            </a:extLst>
          </p:cNvPr>
          <p:cNvSpPr txBox="1"/>
          <p:nvPr/>
        </p:nvSpPr>
        <p:spPr>
          <a:xfrm>
            <a:off x="1177167" y="1340502"/>
            <a:ext cx="9663430" cy="2308324"/>
          </a:xfrm>
          <a:prstGeom prst="rect">
            <a:avLst/>
          </a:prstGeom>
          <a:noFill/>
        </p:spPr>
        <p:txBody>
          <a:bodyPr wrap="square" rtlCol="0">
            <a:spAutoFit/>
          </a:bodyPr>
          <a:lstStyle/>
          <a:p>
            <a:pPr marL="342900" indent="-342900">
              <a:lnSpc>
                <a:spcPct val="150000"/>
              </a:lnSpc>
              <a:buBlip>
                <a:blip r:embed="rId3"/>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食品履歷追蹤部分：</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800100" lvl="1" indent="-342900">
              <a:lnSpc>
                <a:spcPct val="150000"/>
              </a:lnSpc>
              <a:buBlip>
                <a:blip r:embed="rId3"/>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遇到食品安全問題時，可以直接透過食品履歷追蹤區塊鏈平台 ，對食品的交易流程進行追蹤調查及瞭解交易狀況，如此可以節省調查的時效外，亦可縮短追蹤的成本。</a:t>
            </a:r>
          </a:p>
        </p:txBody>
      </p:sp>
      <p:pic>
        <p:nvPicPr>
          <p:cNvPr id="11" name="圖片 10">
            <a:extLst>
              <a:ext uri="{FF2B5EF4-FFF2-40B4-BE49-F238E27FC236}">
                <a16:creationId xmlns:a16="http://schemas.microsoft.com/office/drawing/2014/main" id="{A6E256E0-71A7-4F7F-825D-17B9679605D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249125" y="3942581"/>
            <a:ext cx="2346245" cy="2346245"/>
          </a:xfrm>
          <a:prstGeom prst="rect">
            <a:avLst/>
          </a:prstGeom>
        </p:spPr>
      </p:pic>
    </p:spTree>
    <p:extLst>
      <p:ext uri="{BB962C8B-B14F-4D97-AF65-F5344CB8AC3E}">
        <p14:creationId xmlns:p14="http://schemas.microsoft.com/office/powerpoint/2010/main" val="3265530606"/>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circle(in)">
                                      <p:cBhvr>
                                        <p:cTn id="7" dur="1500"/>
                                        <p:tgtEl>
                                          <p:spTgt spid="46"/>
                                        </p:tgtEl>
                                      </p:cBhvr>
                                    </p:animEffect>
                                  </p:childTnLst>
                                </p:cTn>
                              </p:par>
                            </p:childTnLst>
                          </p:cTn>
                        </p:par>
                        <p:par>
                          <p:cTn id="8" fill="hold">
                            <p:stCondLst>
                              <p:cond delay="1500"/>
                            </p:stCondLst>
                            <p:childTnLst>
                              <p:par>
                                <p:cTn id="9" presetID="16" presetClass="entr" presetSubtype="21" fill="hold" grpId="0" nodeType="afterEffect">
                                  <p:stCondLst>
                                    <p:cond delay="0"/>
                                  </p:stCondLst>
                                  <p:childTnLst>
                                    <p:set>
                                      <p:cBhvr>
                                        <p:cTn id="10" dur="1" fill="hold">
                                          <p:stCondLst>
                                            <p:cond delay="0"/>
                                          </p:stCondLst>
                                        </p:cTn>
                                        <p:tgtEl>
                                          <p:spTgt spid="48"/>
                                        </p:tgtEl>
                                        <p:attrNameLst>
                                          <p:attrName>style.visibility</p:attrName>
                                        </p:attrNameLst>
                                      </p:cBhvr>
                                      <p:to>
                                        <p:strVal val="visible"/>
                                      </p:to>
                                    </p:set>
                                    <p:animEffect transition="in" filter="barn(inVertical)">
                                      <p:cBhvr>
                                        <p:cTn id="11" dur="500"/>
                                        <p:tgtEl>
                                          <p:spTgt spid="48"/>
                                        </p:tgtEl>
                                      </p:cBhvr>
                                    </p:animEffect>
                                  </p:childTnLst>
                                </p:cTn>
                              </p:par>
                            </p:childTnLst>
                          </p:cTn>
                        </p:par>
                        <p:par>
                          <p:cTn id="12" fill="hold">
                            <p:stCondLst>
                              <p:cond delay="2000"/>
                            </p:stCondLst>
                            <p:childTnLst>
                              <p:par>
                                <p:cTn id="13" presetID="2" presetClass="entr" presetSubtype="8" fill="hold" nodeType="afterEffect">
                                  <p:stCondLst>
                                    <p:cond delay="0"/>
                                  </p:stCondLst>
                                  <p:childTnLst>
                                    <p:set>
                                      <p:cBhvr>
                                        <p:cTn id="14" dur="1" fill="hold">
                                          <p:stCondLst>
                                            <p:cond delay="0"/>
                                          </p:stCondLst>
                                        </p:cTn>
                                        <p:tgtEl>
                                          <p:spTgt spid="33"/>
                                        </p:tgtEl>
                                        <p:attrNameLst>
                                          <p:attrName>style.visibility</p:attrName>
                                        </p:attrNameLst>
                                      </p:cBhvr>
                                      <p:to>
                                        <p:strVal val="visible"/>
                                      </p:to>
                                    </p:set>
                                    <p:anim calcmode="lin" valueType="num">
                                      <p:cBhvr additive="base">
                                        <p:cTn id="15" dur="500" fill="hold"/>
                                        <p:tgtEl>
                                          <p:spTgt spid="33"/>
                                        </p:tgtEl>
                                        <p:attrNameLst>
                                          <p:attrName>ppt_x</p:attrName>
                                        </p:attrNameLst>
                                      </p:cBhvr>
                                      <p:tavLst>
                                        <p:tav tm="0">
                                          <p:val>
                                            <p:strVal val="0-#ppt_w/2"/>
                                          </p:val>
                                        </p:tav>
                                        <p:tav tm="100000">
                                          <p:val>
                                            <p:strVal val="#ppt_x"/>
                                          </p:val>
                                        </p:tav>
                                      </p:tavLst>
                                    </p:anim>
                                    <p:anim calcmode="lin" valueType="num">
                                      <p:cBhvr additive="base">
                                        <p:cTn id="16" dur="500" fill="hold"/>
                                        <p:tgtEl>
                                          <p:spTgt spid="33"/>
                                        </p:tgtEl>
                                        <p:attrNameLst>
                                          <p:attrName>ppt_y</p:attrName>
                                        </p:attrNameLst>
                                      </p:cBhvr>
                                      <p:tavLst>
                                        <p:tav tm="0">
                                          <p:val>
                                            <p:strVal val="#ppt_y"/>
                                          </p:val>
                                        </p:tav>
                                        <p:tav tm="100000">
                                          <p:val>
                                            <p:strVal val="#ppt_y"/>
                                          </p:val>
                                        </p:tav>
                                      </p:tavLst>
                                    </p:anim>
                                  </p:childTnLst>
                                </p:cTn>
                              </p:par>
                            </p:childTnLst>
                          </p:cTn>
                        </p:par>
                        <p:par>
                          <p:cTn id="17" fill="hold">
                            <p:stCondLst>
                              <p:cond delay="2500"/>
                            </p:stCondLst>
                            <p:childTnLst>
                              <p:par>
                                <p:cTn id="18" presetID="16" presetClass="entr" presetSubtype="21" fill="hold" nodeType="afterEffect" nodePh="1">
                                  <p:stCondLst>
                                    <p:cond delay="0"/>
                                  </p:stCondLst>
                                  <p:endCondLst>
                                    <p:cond evt="begin" delay="0">
                                      <p:tn val="18"/>
                                    </p:cond>
                                  </p:endCondLst>
                                  <p:childTnLst>
                                    <p:set>
                                      <p:cBhvr>
                                        <p:cTn id="19" dur="1" fill="hold">
                                          <p:stCondLst>
                                            <p:cond delay="0"/>
                                          </p:stCondLst>
                                        </p:cTn>
                                        <p:tgtEl>
                                          <p:spTgt spid="10">
                                            <p:txEl>
                                              <p:pRg st="0" end="0"/>
                                            </p:txEl>
                                          </p:spTgt>
                                        </p:tgtEl>
                                        <p:attrNameLst>
                                          <p:attrName>style.visibility</p:attrName>
                                        </p:attrNameLst>
                                      </p:cBhvr>
                                      <p:to>
                                        <p:strVal val="visible"/>
                                      </p:to>
                                    </p:set>
                                    <p:animEffect transition="in" filter="barn(inVertical)">
                                      <p:cBhvr>
                                        <p:cTn id="20" dur="500"/>
                                        <p:tgtEl>
                                          <p:spTgt spid="10">
                                            <p:txEl>
                                              <p:pRg st="0" end="0"/>
                                            </p:txEl>
                                          </p:spTgt>
                                        </p:tgtEl>
                                      </p:cBhvr>
                                    </p:animEffect>
                                  </p:childTnLst>
                                </p:cTn>
                              </p:par>
                            </p:childTnLst>
                          </p:cTn>
                        </p:par>
                        <p:par>
                          <p:cTn id="21" fill="hold">
                            <p:stCondLst>
                              <p:cond delay="3000"/>
                            </p:stCondLst>
                            <p:childTnLst>
                              <p:par>
                                <p:cTn id="22" presetID="16" presetClass="entr" presetSubtype="21" fill="hold" nodeType="afterEffect">
                                  <p:stCondLst>
                                    <p:cond delay="0"/>
                                  </p:stCondLst>
                                  <p:childTnLst>
                                    <p:set>
                                      <p:cBhvr>
                                        <p:cTn id="23" dur="1" fill="hold">
                                          <p:stCondLst>
                                            <p:cond delay="0"/>
                                          </p:stCondLst>
                                        </p:cTn>
                                        <p:tgtEl>
                                          <p:spTgt spid="12">
                                            <p:txEl>
                                              <p:pRg st="0" end="0"/>
                                            </p:txEl>
                                          </p:spTgt>
                                        </p:tgtEl>
                                        <p:attrNameLst>
                                          <p:attrName>style.visibility</p:attrName>
                                        </p:attrNameLst>
                                      </p:cBhvr>
                                      <p:to>
                                        <p:strVal val="visible"/>
                                      </p:to>
                                    </p:set>
                                    <p:animEffect transition="in" filter="barn(inVertical)">
                                      <p:cBhvr>
                                        <p:cTn id="24" dur="500"/>
                                        <p:tgtEl>
                                          <p:spTgt spid="12">
                                            <p:txEl>
                                              <p:pRg st="0" end="0"/>
                                            </p:txEl>
                                          </p:spTgt>
                                        </p:tgtEl>
                                      </p:cBhvr>
                                    </p:animEffect>
                                  </p:childTnLst>
                                </p:cTn>
                              </p:par>
                            </p:childTnLst>
                          </p:cTn>
                        </p:par>
                        <p:par>
                          <p:cTn id="25" fill="hold">
                            <p:stCondLst>
                              <p:cond delay="3500"/>
                            </p:stCondLst>
                            <p:childTnLst>
                              <p:par>
                                <p:cTn id="26" presetID="16" presetClass="entr" presetSubtype="21" fill="hold" nodeType="afterEffect">
                                  <p:stCondLst>
                                    <p:cond delay="0"/>
                                  </p:stCondLst>
                                  <p:childTnLst>
                                    <p:set>
                                      <p:cBhvr>
                                        <p:cTn id="27" dur="1" fill="hold">
                                          <p:stCondLst>
                                            <p:cond delay="0"/>
                                          </p:stCondLst>
                                        </p:cTn>
                                        <p:tgtEl>
                                          <p:spTgt spid="12">
                                            <p:txEl>
                                              <p:pRg st="1" end="1"/>
                                            </p:txEl>
                                          </p:spTgt>
                                        </p:tgtEl>
                                        <p:attrNameLst>
                                          <p:attrName>style.visibility</p:attrName>
                                        </p:attrNameLst>
                                      </p:cBhvr>
                                      <p:to>
                                        <p:strVal val="visible"/>
                                      </p:to>
                                    </p:set>
                                    <p:animEffect transition="in" filter="barn(inVertical)">
                                      <p:cBhvr>
                                        <p:cTn id="28" dur="500"/>
                                        <p:tgtEl>
                                          <p:spTgt spid="12">
                                            <p:txEl>
                                              <p:pRg st="1" end="1"/>
                                            </p:txEl>
                                          </p:spTgt>
                                        </p:tgtEl>
                                      </p:cBhvr>
                                    </p:animEffect>
                                  </p:childTnLst>
                                </p:cTn>
                              </p:par>
                            </p:childTnLst>
                          </p:cTn>
                        </p:par>
                        <p:par>
                          <p:cTn id="29" fill="hold">
                            <p:stCondLst>
                              <p:cond delay="4000"/>
                            </p:stCondLst>
                            <p:childTnLst>
                              <p:par>
                                <p:cTn id="30" presetID="53" presetClass="entr" presetSubtype="16" fill="hold" nodeType="afterEffect">
                                  <p:stCondLst>
                                    <p:cond delay="0"/>
                                  </p:stCondLst>
                                  <p:childTnLst>
                                    <p:set>
                                      <p:cBhvr>
                                        <p:cTn id="31" dur="1" fill="hold">
                                          <p:stCondLst>
                                            <p:cond delay="0"/>
                                          </p:stCondLst>
                                        </p:cTn>
                                        <p:tgtEl>
                                          <p:spTgt spid="11"/>
                                        </p:tgtEl>
                                        <p:attrNameLst>
                                          <p:attrName>style.visibility</p:attrName>
                                        </p:attrNameLst>
                                      </p:cBhvr>
                                      <p:to>
                                        <p:strVal val="visible"/>
                                      </p:to>
                                    </p:set>
                                    <p:anim calcmode="lin" valueType="num">
                                      <p:cBhvr>
                                        <p:cTn id="32" dur="500" fill="hold"/>
                                        <p:tgtEl>
                                          <p:spTgt spid="11"/>
                                        </p:tgtEl>
                                        <p:attrNameLst>
                                          <p:attrName>ppt_w</p:attrName>
                                        </p:attrNameLst>
                                      </p:cBhvr>
                                      <p:tavLst>
                                        <p:tav tm="0">
                                          <p:val>
                                            <p:fltVal val="0"/>
                                          </p:val>
                                        </p:tav>
                                        <p:tav tm="100000">
                                          <p:val>
                                            <p:strVal val="#ppt_w"/>
                                          </p:val>
                                        </p:tav>
                                      </p:tavLst>
                                    </p:anim>
                                    <p:anim calcmode="lin" valueType="num">
                                      <p:cBhvr>
                                        <p:cTn id="33" dur="500" fill="hold"/>
                                        <p:tgtEl>
                                          <p:spTgt spid="11"/>
                                        </p:tgtEl>
                                        <p:attrNameLst>
                                          <p:attrName>ppt_h</p:attrName>
                                        </p:attrNameLst>
                                      </p:cBhvr>
                                      <p:tavLst>
                                        <p:tav tm="0">
                                          <p:val>
                                            <p:fltVal val="0"/>
                                          </p:val>
                                        </p:tav>
                                        <p:tav tm="100000">
                                          <p:val>
                                            <p:strVal val="#ppt_h"/>
                                          </p:val>
                                        </p:tav>
                                      </p:tavLst>
                                    </p:anim>
                                    <p:animEffect transition="in" filter="fade">
                                      <p:cBhvr>
                                        <p:cTn id="34"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p:bldP spid="4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2"/>
          <a:stretch>
            <a:fillRect/>
          </a:stretch>
        </p:blipFill>
        <p:spPr>
          <a:xfrm rot="16200000">
            <a:off x="145169" y="-145167"/>
            <a:ext cx="1268414" cy="1558750"/>
          </a:xfrm>
          <a:prstGeom prst="rect">
            <a:avLst/>
          </a:prstGeom>
        </p:spPr>
      </p:pic>
      <p:sp>
        <p:nvSpPr>
          <p:cNvPr id="9" name="文字方塊 8">
            <a:extLst>
              <a:ext uri="{FF2B5EF4-FFF2-40B4-BE49-F238E27FC236}">
                <a16:creationId xmlns:a16="http://schemas.microsoft.com/office/drawing/2014/main" id="{81D0666A-D96D-4B5B-9036-192FA53FE435}"/>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cxnSp>
        <p:nvCxnSpPr>
          <p:cNvPr id="33" name="直接连接符 33">
            <a:extLst>
              <a:ext uri="{FF2B5EF4-FFF2-40B4-BE49-F238E27FC236}">
                <a16:creationId xmlns:a16="http://schemas.microsoft.com/office/drawing/2014/main" id="{DFF80DCD-8EF0-4D2F-8380-59FA348D932C}"/>
              </a:ext>
            </a:extLst>
          </p:cNvPr>
          <p:cNvCxnSpPr/>
          <p:nvPr/>
        </p:nvCxnSpPr>
        <p:spPr>
          <a:xfrm>
            <a:off x="1177167" y="1046746"/>
            <a:ext cx="10585176"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6" name="標題 1"/>
          <p:cNvSpPr txBox="1">
            <a:spLocks/>
          </p:cNvSpPr>
          <p:nvPr/>
        </p:nvSpPr>
        <p:spPr>
          <a:xfrm>
            <a:off x="918901" y="278155"/>
            <a:ext cx="5288853"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7-1 </a:t>
            </a:r>
            <a:r>
              <a:rPr lang="zh-TW" altLang="en-US" sz="2400" b="1" dirty="0">
                <a:solidFill>
                  <a:srgbClr val="E06741"/>
                </a:solidFill>
              </a:rPr>
              <a:t>實務案例</a:t>
            </a:r>
            <a:r>
              <a:rPr lang="en-US" altLang="zh-TW" sz="2400" b="1" dirty="0">
                <a:solidFill>
                  <a:srgbClr val="E06741"/>
                </a:solidFill>
              </a:rPr>
              <a:t>-</a:t>
            </a:r>
            <a:r>
              <a:rPr lang="zh-TW" altLang="en-US" sz="2400" b="1" dirty="0">
                <a:solidFill>
                  <a:srgbClr val="E06741"/>
                </a:solidFill>
              </a:rPr>
              <a:t>食品安全管理</a:t>
            </a:r>
          </a:p>
          <a:p>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sp>
        <p:nvSpPr>
          <p:cNvPr id="48" name="文字方塊 47">
            <a:extLst>
              <a:ext uri="{FF2B5EF4-FFF2-40B4-BE49-F238E27FC236}">
                <a16:creationId xmlns:a16="http://schemas.microsoft.com/office/drawing/2014/main" id="{AD7F4831-1A36-4A2F-ACBE-344F724510DC}"/>
              </a:ext>
            </a:extLst>
          </p:cNvPr>
          <p:cNvSpPr txBox="1"/>
          <p:nvPr/>
        </p:nvSpPr>
        <p:spPr>
          <a:xfrm>
            <a:off x="5438954" y="350242"/>
            <a:ext cx="2242922"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-2</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案例區塊鍊運用</a:t>
            </a:r>
          </a:p>
        </p:txBody>
      </p:sp>
      <p:sp>
        <p:nvSpPr>
          <p:cNvPr id="10" name="文字方塊 9">
            <a:extLst>
              <a:ext uri="{FF2B5EF4-FFF2-40B4-BE49-F238E27FC236}">
                <a16:creationId xmlns:a16="http://schemas.microsoft.com/office/drawing/2014/main" id="{BF94E171-0176-49DD-BE6C-DB2D96B94A88}"/>
              </a:ext>
            </a:extLst>
          </p:cNvPr>
          <p:cNvSpPr txBox="1"/>
          <p:nvPr/>
        </p:nvSpPr>
        <p:spPr>
          <a:xfrm>
            <a:off x="1177167" y="1816567"/>
            <a:ext cx="9663430" cy="578492"/>
          </a:xfrm>
          <a:prstGeom prst="rect">
            <a:avLst/>
          </a:prstGeom>
          <a:noFill/>
        </p:spPr>
        <p:txBody>
          <a:bodyPr wrap="square" rtlCol="0">
            <a:spAutoFit/>
          </a:bodyPr>
          <a:lstStyle/>
          <a:p>
            <a:pPr marL="342900" indent="-342900">
              <a:lnSpc>
                <a:spcPct val="150000"/>
              </a:lnSpc>
              <a:buBlip>
                <a:blip r:embed="rId3"/>
              </a:buBlip>
            </a:pP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pic>
        <p:nvPicPr>
          <p:cNvPr id="2" name="圖片 1"/>
          <p:cNvPicPr>
            <a:picLocks noChangeAspect="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2259680" y="1152750"/>
            <a:ext cx="7672640" cy="5375375"/>
          </a:xfrm>
          <a:prstGeom prst="rect">
            <a:avLst/>
          </a:prstGeom>
        </p:spPr>
      </p:pic>
    </p:spTree>
    <p:extLst>
      <p:ext uri="{BB962C8B-B14F-4D97-AF65-F5344CB8AC3E}">
        <p14:creationId xmlns:p14="http://schemas.microsoft.com/office/powerpoint/2010/main" val="3067064798"/>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circle(in)">
                                      <p:cBhvr>
                                        <p:cTn id="7" dur="1500"/>
                                        <p:tgtEl>
                                          <p:spTgt spid="46"/>
                                        </p:tgtEl>
                                      </p:cBhvr>
                                    </p:animEffect>
                                  </p:childTnLst>
                                </p:cTn>
                              </p:par>
                            </p:childTnLst>
                          </p:cTn>
                        </p:par>
                        <p:par>
                          <p:cTn id="8" fill="hold">
                            <p:stCondLst>
                              <p:cond delay="1500"/>
                            </p:stCondLst>
                            <p:childTnLst>
                              <p:par>
                                <p:cTn id="9" presetID="16" presetClass="entr" presetSubtype="21" fill="hold" grpId="0" nodeType="afterEffect">
                                  <p:stCondLst>
                                    <p:cond delay="0"/>
                                  </p:stCondLst>
                                  <p:childTnLst>
                                    <p:set>
                                      <p:cBhvr>
                                        <p:cTn id="10" dur="1" fill="hold">
                                          <p:stCondLst>
                                            <p:cond delay="0"/>
                                          </p:stCondLst>
                                        </p:cTn>
                                        <p:tgtEl>
                                          <p:spTgt spid="48"/>
                                        </p:tgtEl>
                                        <p:attrNameLst>
                                          <p:attrName>style.visibility</p:attrName>
                                        </p:attrNameLst>
                                      </p:cBhvr>
                                      <p:to>
                                        <p:strVal val="visible"/>
                                      </p:to>
                                    </p:set>
                                    <p:animEffect transition="in" filter="barn(inVertical)">
                                      <p:cBhvr>
                                        <p:cTn id="11" dur="500"/>
                                        <p:tgtEl>
                                          <p:spTgt spid="48"/>
                                        </p:tgtEl>
                                      </p:cBhvr>
                                    </p:animEffect>
                                  </p:childTnLst>
                                </p:cTn>
                              </p:par>
                            </p:childTnLst>
                          </p:cTn>
                        </p:par>
                        <p:par>
                          <p:cTn id="12" fill="hold">
                            <p:stCondLst>
                              <p:cond delay="2000"/>
                            </p:stCondLst>
                            <p:childTnLst>
                              <p:par>
                                <p:cTn id="13" presetID="2" presetClass="entr" presetSubtype="8" fill="hold" nodeType="afterEffect">
                                  <p:stCondLst>
                                    <p:cond delay="0"/>
                                  </p:stCondLst>
                                  <p:childTnLst>
                                    <p:set>
                                      <p:cBhvr>
                                        <p:cTn id="14" dur="1" fill="hold">
                                          <p:stCondLst>
                                            <p:cond delay="0"/>
                                          </p:stCondLst>
                                        </p:cTn>
                                        <p:tgtEl>
                                          <p:spTgt spid="33"/>
                                        </p:tgtEl>
                                        <p:attrNameLst>
                                          <p:attrName>style.visibility</p:attrName>
                                        </p:attrNameLst>
                                      </p:cBhvr>
                                      <p:to>
                                        <p:strVal val="visible"/>
                                      </p:to>
                                    </p:set>
                                    <p:anim calcmode="lin" valueType="num">
                                      <p:cBhvr additive="base">
                                        <p:cTn id="15" dur="500" fill="hold"/>
                                        <p:tgtEl>
                                          <p:spTgt spid="33"/>
                                        </p:tgtEl>
                                        <p:attrNameLst>
                                          <p:attrName>ppt_x</p:attrName>
                                        </p:attrNameLst>
                                      </p:cBhvr>
                                      <p:tavLst>
                                        <p:tav tm="0">
                                          <p:val>
                                            <p:strVal val="0-#ppt_w/2"/>
                                          </p:val>
                                        </p:tav>
                                        <p:tav tm="100000">
                                          <p:val>
                                            <p:strVal val="#ppt_x"/>
                                          </p:val>
                                        </p:tav>
                                      </p:tavLst>
                                    </p:anim>
                                    <p:anim calcmode="lin" valueType="num">
                                      <p:cBhvr additive="base">
                                        <p:cTn id="16" dur="500" fill="hold"/>
                                        <p:tgtEl>
                                          <p:spTgt spid="33"/>
                                        </p:tgtEl>
                                        <p:attrNameLst>
                                          <p:attrName>ppt_y</p:attrName>
                                        </p:attrNameLst>
                                      </p:cBhvr>
                                      <p:tavLst>
                                        <p:tav tm="0">
                                          <p:val>
                                            <p:strVal val="#ppt_y"/>
                                          </p:val>
                                        </p:tav>
                                        <p:tav tm="100000">
                                          <p:val>
                                            <p:strVal val="#ppt_y"/>
                                          </p:val>
                                        </p:tav>
                                      </p:tavLst>
                                    </p:anim>
                                  </p:childTnLst>
                                </p:cTn>
                              </p:par>
                            </p:childTnLst>
                          </p:cTn>
                        </p:par>
                        <p:par>
                          <p:cTn id="17" fill="hold">
                            <p:stCondLst>
                              <p:cond delay="2500"/>
                            </p:stCondLst>
                            <p:childTnLst>
                              <p:par>
                                <p:cTn id="18" presetID="53" presetClass="entr" presetSubtype="16" fill="hold" nodeType="afterEffect">
                                  <p:stCondLst>
                                    <p:cond delay="0"/>
                                  </p:stCondLst>
                                  <p:childTnLst>
                                    <p:set>
                                      <p:cBhvr>
                                        <p:cTn id="19" dur="1" fill="hold">
                                          <p:stCondLst>
                                            <p:cond delay="0"/>
                                          </p:stCondLst>
                                        </p:cTn>
                                        <p:tgtEl>
                                          <p:spTgt spid="2"/>
                                        </p:tgtEl>
                                        <p:attrNameLst>
                                          <p:attrName>style.visibility</p:attrName>
                                        </p:attrNameLst>
                                      </p:cBhvr>
                                      <p:to>
                                        <p:strVal val="visible"/>
                                      </p:to>
                                    </p:set>
                                    <p:anim calcmode="lin" valueType="num">
                                      <p:cBhvr>
                                        <p:cTn id="20" dur="500" fill="hold"/>
                                        <p:tgtEl>
                                          <p:spTgt spid="2"/>
                                        </p:tgtEl>
                                        <p:attrNameLst>
                                          <p:attrName>ppt_w</p:attrName>
                                        </p:attrNameLst>
                                      </p:cBhvr>
                                      <p:tavLst>
                                        <p:tav tm="0">
                                          <p:val>
                                            <p:fltVal val="0"/>
                                          </p:val>
                                        </p:tav>
                                        <p:tav tm="100000">
                                          <p:val>
                                            <p:strVal val="#ppt_w"/>
                                          </p:val>
                                        </p:tav>
                                      </p:tavLst>
                                    </p:anim>
                                    <p:anim calcmode="lin" valueType="num">
                                      <p:cBhvr>
                                        <p:cTn id="21" dur="500" fill="hold"/>
                                        <p:tgtEl>
                                          <p:spTgt spid="2"/>
                                        </p:tgtEl>
                                        <p:attrNameLst>
                                          <p:attrName>ppt_h</p:attrName>
                                        </p:attrNameLst>
                                      </p:cBhvr>
                                      <p:tavLst>
                                        <p:tav tm="0">
                                          <p:val>
                                            <p:fltVal val="0"/>
                                          </p:val>
                                        </p:tav>
                                        <p:tav tm="100000">
                                          <p:val>
                                            <p:strVal val="#ppt_h"/>
                                          </p:val>
                                        </p:tav>
                                      </p:tavLst>
                                    </p:anim>
                                    <p:animEffect transition="in" filter="fade">
                                      <p:cBhvr>
                                        <p:cTn id="2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p:bldP spid="48"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2"/>
          <a:stretch>
            <a:fillRect/>
          </a:stretch>
        </p:blipFill>
        <p:spPr>
          <a:xfrm rot="16200000">
            <a:off x="145169" y="-145167"/>
            <a:ext cx="1268414" cy="1558750"/>
          </a:xfrm>
          <a:prstGeom prst="rect">
            <a:avLst/>
          </a:prstGeom>
        </p:spPr>
      </p:pic>
      <p:sp>
        <p:nvSpPr>
          <p:cNvPr id="9" name="文字方塊 8">
            <a:extLst>
              <a:ext uri="{FF2B5EF4-FFF2-40B4-BE49-F238E27FC236}">
                <a16:creationId xmlns:a16="http://schemas.microsoft.com/office/drawing/2014/main" id="{81D0666A-D96D-4B5B-9036-192FA53FE435}"/>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cxnSp>
        <p:nvCxnSpPr>
          <p:cNvPr id="33" name="直接连接符 33">
            <a:extLst>
              <a:ext uri="{FF2B5EF4-FFF2-40B4-BE49-F238E27FC236}">
                <a16:creationId xmlns:a16="http://schemas.microsoft.com/office/drawing/2014/main" id="{DFF80DCD-8EF0-4D2F-8380-59FA348D932C}"/>
              </a:ext>
            </a:extLst>
          </p:cNvPr>
          <p:cNvCxnSpPr/>
          <p:nvPr/>
        </p:nvCxnSpPr>
        <p:spPr>
          <a:xfrm>
            <a:off x="1177167" y="1046746"/>
            <a:ext cx="10585176"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6" name="標題 1"/>
          <p:cNvSpPr txBox="1">
            <a:spLocks/>
          </p:cNvSpPr>
          <p:nvPr/>
        </p:nvSpPr>
        <p:spPr>
          <a:xfrm>
            <a:off x="918901" y="278155"/>
            <a:ext cx="5288853"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7-1 </a:t>
            </a:r>
            <a:r>
              <a:rPr lang="zh-TW" altLang="en-US" sz="2400" b="1" dirty="0">
                <a:solidFill>
                  <a:srgbClr val="E06741"/>
                </a:solidFill>
              </a:rPr>
              <a:t>實務案例</a:t>
            </a:r>
            <a:r>
              <a:rPr lang="en-US" altLang="zh-TW" sz="2400" b="1" dirty="0">
                <a:solidFill>
                  <a:srgbClr val="E06741"/>
                </a:solidFill>
              </a:rPr>
              <a:t>-</a:t>
            </a:r>
            <a:r>
              <a:rPr lang="zh-TW" altLang="en-US" sz="2400" b="1" dirty="0">
                <a:solidFill>
                  <a:srgbClr val="E06741"/>
                </a:solidFill>
              </a:rPr>
              <a:t>食品安全管理</a:t>
            </a:r>
          </a:p>
          <a:p>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sp>
        <p:nvSpPr>
          <p:cNvPr id="48" name="文字方塊 47">
            <a:extLst>
              <a:ext uri="{FF2B5EF4-FFF2-40B4-BE49-F238E27FC236}">
                <a16:creationId xmlns:a16="http://schemas.microsoft.com/office/drawing/2014/main" id="{AD7F4831-1A36-4A2F-ACBE-344F724510DC}"/>
              </a:ext>
            </a:extLst>
          </p:cNvPr>
          <p:cNvSpPr txBox="1"/>
          <p:nvPr/>
        </p:nvSpPr>
        <p:spPr>
          <a:xfrm>
            <a:off x="5438954" y="350242"/>
            <a:ext cx="2242922"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-2</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案例區塊鍊運用</a:t>
            </a:r>
          </a:p>
        </p:txBody>
      </p:sp>
      <p:sp>
        <p:nvSpPr>
          <p:cNvPr id="10" name="文字方塊 9">
            <a:extLst>
              <a:ext uri="{FF2B5EF4-FFF2-40B4-BE49-F238E27FC236}">
                <a16:creationId xmlns:a16="http://schemas.microsoft.com/office/drawing/2014/main" id="{BF94E171-0176-49DD-BE6C-DB2D96B94A88}"/>
              </a:ext>
            </a:extLst>
          </p:cNvPr>
          <p:cNvSpPr txBox="1"/>
          <p:nvPr/>
        </p:nvSpPr>
        <p:spPr>
          <a:xfrm>
            <a:off x="1177167" y="1816567"/>
            <a:ext cx="9663430" cy="578492"/>
          </a:xfrm>
          <a:prstGeom prst="rect">
            <a:avLst/>
          </a:prstGeom>
          <a:noFill/>
        </p:spPr>
        <p:txBody>
          <a:bodyPr wrap="square" rtlCol="0">
            <a:spAutoFit/>
          </a:bodyPr>
          <a:lstStyle/>
          <a:p>
            <a:pPr marL="342900" indent="-342900">
              <a:lnSpc>
                <a:spcPct val="150000"/>
              </a:lnSpc>
              <a:buBlip>
                <a:blip r:embed="rId3"/>
              </a:buBlip>
            </a:pP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sp>
        <p:nvSpPr>
          <p:cNvPr id="12" name="文字方塊 11">
            <a:extLst>
              <a:ext uri="{FF2B5EF4-FFF2-40B4-BE49-F238E27FC236}">
                <a16:creationId xmlns:a16="http://schemas.microsoft.com/office/drawing/2014/main" id="{BF94E171-0176-49DD-BE6C-DB2D96B94A88}"/>
              </a:ext>
            </a:extLst>
          </p:cNvPr>
          <p:cNvSpPr txBox="1"/>
          <p:nvPr/>
        </p:nvSpPr>
        <p:spPr>
          <a:xfrm>
            <a:off x="1558750" y="1340502"/>
            <a:ext cx="9598875" cy="2862322"/>
          </a:xfrm>
          <a:prstGeom prst="rect">
            <a:avLst/>
          </a:prstGeom>
          <a:noFill/>
        </p:spPr>
        <p:txBody>
          <a:bodyPr wrap="square" rtlCol="0">
            <a:spAutoFit/>
          </a:bodyPr>
          <a:lstStyle/>
          <a:p>
            <a:pPr marL="342900" indent="-342900">
              <a:lnSpc>
                <a:spcPct val="150000"/>
              </a:lnSpc>
              <a:buBlip>
                <a:blip r:embed="rId3"/>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進一步比較傳統食品履歷的交易流程與採用食品履歷區塊鏈的交易流程間的差異。</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342900" indent="-342900">
              <a:lnSpc>
                <a:spcPct val="150000"/>
              </a:lnSpc>
              <a:buBlip>
                <a:blip r:embed="rId3"/>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由圖 </a:t>
            </a:r>
            <a:r>
              <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t>7-4 </a:t>
            </a: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和圖 </a:t>
            </a:r>
            <a:r>
              <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t>7-5 </a:t>
            </a: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所顯示可知，食品履歷追蹤區塊鏈技術的應用對於食品來源的交易流程與過程，可從平台上的紀錄予以得知，確實可以達到省時的效果，以及降低成本的目標。</a:t>
            </a:r>
          </a:p>
        </p:txBody>
      </p:sp>
      <p:pic>
        <p:nvPicPr>
          <p:cNvPr id="11" name="圖片 10"/>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614603" y="3835196"/>
            <a:ext cx="2543022" cy="2543022"/>
          </a:xfrm>
          <a:prstGeom prst="rect">
            <a:avLst/>
          </a:prstGeom>
        </p:spPr>
      </p:pic>
    </p:spTree>
    <p:extLst>
      <p:ext uri="{BB962C8B-B14F-4D97-AF65-F5344CB8AC3E}">
        <p14:creationId xmlns:p14="http://schemas.microsoft.com/office/powerpoint/2010/main" val="2497634964"/>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circle(in)">
                                      <p:cBhvr>
                                        <p:cTn id="7" dur="1500"/>
                                        <p:tgtEl>
                                          <p:spTgt spid="46"/>
                                        </p:tgtEl>
                                      </p:cBhvr>
                                    </p:animEffect>
                                  </p:childTnLst>
                                </p:cTn>
                              </p:par>
                            </p:childTnLst>
                          </p:cTn>
                        </p:par>
                        <p:par>
                          <p:cTn id="8" fill="hold">
                            <p:stCondLst>
                              <p:cond delay="1500"/>
                            </p:stCondLst>
                            <p:childTnLst>
                              <p:par>
                                <p:cTn id="9" presetID="16" presetClass="entr" presetSubtype="21" fill="hold" grpId="0" nodeType="afterEffect">
                                  <p:stCondLst>
                                    <p:cond delay="0"/>
                                  </p:stCondLst>
                                  <p:childTnLst>
                                    <p:set>
                                      <p:cBhvr>
                                        <p:cTn id="10" dur="1" fill="hold">
                                          <p:stCondLst>
                                            <p:cond delay="0"/>
                                          </p:stCondLst>
                                        </p:cTn>
                                        <p:tgtEl>
                                          <p:spTgt spid="48"/>
                                        </p:tgtEl>
                                        <p:attrNameLst>
                                          <p:attrName>style.visibility</p:attrName>
                                        </p:attrNameLst>
                                      </p:cBhvr>
                                      <p:to>
                                        <p:strVal val="visible"/>
                                      </p:to>
                                    </p:set>
                                    <p:animEffect transition="in" filter="barn(inVertical)">
                                      <p:cBhvr>
                                        <p:cTn id="11" dur="500"/>
                                        <p:tgtEl>
                                          <p:spTgt spid="48"/>
                                        </p:tgtEl>
                                      </p:cBhvr>
                                    </p:animEffect>
                                  </p:childTnLst>
                                </p:cTn>
                              </p:par>
                            </p:childTnLst>
                          </p:cTn>
                        </p:par>
                        <p:par>
                          <p:cTn id="12" fill="hold">
                            <p:stCondLst>
                              <p:cond delay="2000"/>
                            </p:stCondLst>
                            <p:childTnLst>
                              <p:par>
                                <p:cTn id="13" presetID="2" presetClass="entr" presetSubtype="8" fill="hold" nodeType="afterEffect">
                                  <p:stCondLst>
                                    <p:cond delay="0"/>
                                  </p:stCondLst>
                                  <p:childTnLst>
                                    <p:set>
                                      <p:cBhvr>
                                        <p:cTn id="14" dur="1" fill="hold">
                                          <p:stCondLst>
                                            <p:cond delay="0"/>
                                          </p:stCondLst>
                                        </p:cTn>
                                        <p:tgtEl>
                                          <p:spTgt spid="33"/>
                                        </p:tgtEl>
                                        <p:attrNameLst>
                                          <p:attrName>style.visibility</p:attrName>
                                        </p:attrNameLst>
                                      </p:cBhvr>
                                      <p:to>
                                        <p:strVal val="visible"/>
                                      </p:to>
                                    </p:set>
                                    <p:anim calcmode="lin" valueType="num">
                                      <p:cBhvr additive="base">
                                        <p:cTn id="15" dur="500" fill="hold"/>
                                        <p:tgtEl>
                                          <p:spTgt spid="33"/>
                                        </p:tgtEl>
                                        <p:attrNameLst>
                                          <p:attrName>ppt_x</p:attrName>
                                        </p:attrNameLst>
                                      </p:cBhvr>
                                      <p:tavLst>
                                        <p:tav tm="0">
                                          <p:val>
                                            <p:strVal val="0-#ppt_w/2"/>
                                          </p:val>
                                        </p:tav>
                                        <p:tav tm="100000">
                                          <p:val>
                                            <p:strVal val="#ppt_x"/>
                                          </p:val>
                                        </p:tav>
                                      </p:tavLst>
                                    </p:anim>
                                    <p:anim calcmode="lin" valueType="num">
                                      <p:cBhvr additive="base">
                                        <p:cTn id="16" dur="500" fill="hold"/>
                                        <p:tgtEl>
                                          <p:spTgt spid="33"/>
                                        </p:tgtEl>
                                        <p:attrNameLst>
                                          <p:attrName>ppt_y</p:attrName>
                                        </p:attrNameLst>
                                      </p:cBhvr>
                                      <p:tavLst>
                                        <p:tav tm="0">
                                          <p:val>
                                            <p:strVal val="#ppt_y"/>
                                          </p:val>
                                        </p:tav>
                                        <p:tav tm="100000">
                                          <p:val>
                                            <p:strVal val="#ppt_y"/>
                                          </p:val>
                                        </p:tav>
                                      </p:tavLst>
                                    </p:anim>
                                  </p:childTnLst>
                                </p:cTn>
                              </p:par>
                            </p:childTnLst>
                          </p:cTn>
                        </p:par>
                        <p:par>
                          <p:cTn id="17" fill="hold">
                            <p:stCondLst>
                              <p:cond delay="2500"/>
                            </p:stCondLst>
                            <p:childTnLst>
                              <p:par>
                                <p:cTn id="18" presetID="16" presetClass="entr" presetSubtype="21" fill="hold" nodeType="afterEffect" nodePh="1">
                                  <p:stCondLst>
                                    <p:cond delay="0"/>
                                  </p:stCondLst>
                                  <p:endCondLst>
                                    <p:cond evt="begin" delay="0">
                                      <p:tn val="18"/>
                                    </p:cond>
                                  </p:endCondLst>
                                  <p:childTnLst>
                                    <p:set>
                                      <p:cBhvr>
                                        <p:cTn id="19" dur="1" fill="hold">
                                          <p:stCondLst>
                                            <p:cond delay="0"/>
                                          </p:stCondLst>
                                        </p:cTn>
                                        <p:tgtEl>
                                          <p:spTgt spid="10">
                                            <p:txEl>
                                              <p:pRg st="0" end="0"/>
                                            </p:txEl>
                                          </p:spTgt>
                                        </p:tgtEl>
                                        <p:attrNameLst>
                                          <p:attrName>style.visibility</p:attrName>
                                        </p:attrNameLst>
                                      </p:cBhvr>
                                      <p:to>
                                        <p:strVal val="visible"/>
                                      </p:to>
                                    </p:set>
                                    <p:animEffect transition="in" filter="barn(inVertical)">
                                      <p:cBhvr>
                                        <p:cTn id="20" dur="500"/>
                                        <p:tgtEl>
                                          <p:spTgt spid="10">
                                            <p:txEl>
                                              <p:pRg st="0" end="0"/>
                                            </p:txEl>
                                          </p:spTgt>
                                        </p:tgtEl>
                                      </p:cBhvr>
                                    </p:animEffect>
                                  </p:childTnLst>
                                </p:cTn>
                              </p:par>
                            </p:childTnLst>
                          </p:cTn>
                        </p:par>
                        <p:par>
                          <p:cTn id="21" fill="hold">
                            <p:stCondLst>
                              <p:cond delay="3000"/>
                            </p:stCondLst>
                            <p:childTnLst>
                              <p:par>
                                <p:cTn id="22" presetID="16" presetClass="entr" presetSubtype="21" fill="hold" nodeType="afterEffect">
                                  <p:stCondLst>
                                    <p:cond delay="0"/>
                                  </p:stCondLst>
                                  <p:childTnLst>
                                    <p:set>
                                      <p:cBhvr>
                                        <p:cTn id="23" dur="1" fill="hold">
                                          <p:stCondLst>
                                            <p:cond delay="0"/>
                                          </p:stCondLst>
                                        </p:cTn>
                                        <p:tgtEl>
                                          <p:spTgt spid="12">
                                            <p:txEl>
                                              <p:pRg st="0" end="0"/>
                                            </p:txEl>
                                          </p:spTgt>
                                        </p:tgtEl>
                                        <p:attrNameLst>
                                          <p:attrName>style.visibility</p:attrName>
                                        </p:attrNameLst>
                                      </p:cBhvr>
                                      <p:to>
                                        <p:strVal val="visible"/>
                                      </p:to>
                                    </p:set>
                                    <p:animEffect transition="in" filter="barn(inVertical)">
                                      <p:cBhvr>
                                        <p:cTn id="24" dur="500"/>
                                        <p:tgtEl>
                                          <p:spTgt spid="12">
                                            <p:txEl>
                                              <p:pRg st="0" end="0"/>
                                            </p:txEl>
                                          </p:spTgt>
                                        </p:tgtEl>
                                      </p:cBhvr>
                                    </p:animEffect>
                                  </p:childTnLst>
                                </p:cTn>
                              </p:par>
                            </p:childTnLst>
                          </p:cTn>
                        </p:par>
                        <p:par>
                          <p:cTn id="25" fill="hold">
                            <p:stCondLst>
                              <p:cond delay="3500"/>
                            </p:stCondLst>
                            <p:childTnLst>
                              <p:par>
                                <p:cTn id="26" presetID="16" presetClass="entr" presetSubtype="21" fill="hold" nodeType="afterEffect">
                                  <p:stCondLst>
                                    <p:cond delay="0"/>
                                  </p:stCondLst>
                                  <p:childTnLst>
                                    <p:set>
                                      <p:cBhvr>
                                        <p:cTn id="27" dur="1" fill="hold">
                                          <p:stCondLst>
                                            <p:cond delay="0"/>
                                          </p:stCondLst>
                                        </p:cTn>
                                        <p:tgtEl>
                                          <p:spTgt spid="12">
                                            <p:txEl>
                                              <p:pRg st="1" end="1"/>
                                            </p:txEl>
                                          </p:spTgt>
                                        </p:tgtEl>
                                        <p:attrNameLst>
                                          <p:attrName>style.visibility</p:attrName>
                                        </p:attrNameLst>
                                      </p:cBhvr>
                                      <p:to>
                                        <p:strVal val="visible"/>
                                      </p:to>
                                    </p:set>
                                    <p:animEffect transition="in" filter="barn(inVertical)">
                                      <p:cBhvr>
                                        <p:cTn id="28" dur="500"/>
                                        <p:tgtEl>
                                          <p:spTgt spid="12">
                                            <p:txEl>
                                              <p:pRg st="1" end="1"/>
                                            </p:txEl>
                                          </p:spTgt>
                                        </p:tgtEl>
                                      </p:cBhvr>
                                    </p:animEffect>
                                  </p:childTnLst>
                                </p:cTn>
                              </p:par>
                            </p:childTnLst>
                          </p:cTn>
                        </p:par>
                        <p:par>
                          <p:cTn id="29" fill="hold">
                            <p:stCondLst>
                              <p:cond delay="4000"/>
                            </p:stCondLst>
                            <p:childTnLst>
                              <p:par>
                                <p:cTn id="30" presetID="2" presetClass="entr" presetSubtype="12" fill="hold" nodeType="afterEffect">
                                  <p:stCondLst>
                                    <p:cond delay="0"/>
                                  </p:stCondLst>
                                  <p:childTnLst>
                                    <p:set>
                                      <p:cBhvr>
                                        <p:cTn id="31" dur="1" fill="hold">
                                          <p:stCondLst>
                                            <p:cond delay="0"/>
                                          </p:stCondLst>
                                        </p:cTn>
                                        <p:tgtEl>
                                          <p:spTgt spid="11"/>
                                        </p:tgtEl>
                                        <p:attrNameLst>
                                          <p:attrName>style.visibility</p:attrName>
                                        </p:attrNameLst>
                                      </p:cBhvr>
                                      <p:to>
                                        <p:strVal val="visible"/>
                                      </p:to>
                                    </p:set>
                                    <p:anim calcmode="lin" valueType="num">
                                      <p:cBhvr additive="base">
                                        <p:cTn id="32" dur="500" fill="hold"/>
                                        <p:tgtEl>
                                          <p:spTgt spid="11"/>
                                        </p:tgtEl>
                                        <p:attrNameLst>
                                          <p:attrName>ppt_x</p:attrName>
                                        </p:attrNameLst>
                                      </p:cBhvr>
                                      <p:tavLst>
                                        <p:tav tm="0">
                                          <p:val>
                                            <p:strVal val="0-#ppt_w/2"/>
                                          </p:val>
                                        </p:tav>
                                        <p:tav tm="100000">
                                          <p:val>
                                            <p:strVal val="#ppt_x"/>
                                          </p:val>
                                        </p:tav>
                                      </p:tavLst>
                                    </p:anim>
                                    <p:anim calcmode="lin" valueType="num">
                                      <p:cBhvr additive="base">
                                        <p:cTn id="33"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p:bldP spid="48"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2"/>
          <a:stretch>
            <a:fillRect/>
          </a:stretch>
        </p:blipFill>
        <p:spPr>
          <a:xfrm rot="16200000">
            <a:off x="145169" y="-145167"/>
            <a:ext cx="1268414" cy="1558750"/>
          </a:xfrm>
          <a:prstGeom prst="rect">
            <a:avLst/>
          </a:prstGeom>
        </p:spPr>
      </p:pic>
      <p:sp>
        <p:nvSpPr>
          <p:cNvPr id="9" name="文字方塊 8">
            <a:extLst>
              <a:ext uri="{FF2B5EF4-FFF2-40B4-BE49-F238E27FC236}">
                <a16:creationId xmlns:a16="http://schemas.microsoft.com/office/drawing/2014/main" id="{81D0666A-D96D-4B5B-9036-192FA53FE435}"/>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cxnSp>
        <p:nvCxnSpPr>
          <p:cNvPr id="33" name="直接连接符 33">
            <a:extLst>
              <a:ext uri="{FF2B5EF4-FFF2-40B4-BE49-F238E27FC236}">
                <a16:creationId xmlns:a16="http://schemas.microsoft.com/office/drawing/2014/main" id="{DFF80DCD-8EF0-4D2F-8380-59FA348D932C}"/>
              </a:ext>
            </a:extLst>
          </p:cNvPr>
          <p:cNvCxnSpPr/>
          <p:nvPr/>
        </p:nvCxnSpPr>
        <p:spPr>
          <a:xfrm>
            <a:off x="1177167" y="1046746"/>
            <a:ext cx="10585176"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6" name="標題 1"/>
          <p:cNvSpPr txBox="1">
            <a:spLocks/>
          </p:cNvSpPr>
          <p:nvPr/>
        </p:nvSpPr>
        <p:spPr>
          <a:xfrm>
            <a:off x="918901" y="278155"/>
            <a:ext cx="5288853"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7-1 </a:t>
            </a:r>
            <a:r>
              <a:rPr lang="zh-TW" altLang="en-US" sz="2400" b="1" dirty="0">
                <a:solidFill>
                  <a:srgbClr val="E06741"/>
                </a:solidFill>
              </a:rPr>
              <a:t>實務案例</a:t>
            </a:r>
            <a:r>
              <a:rPr lang="en-US" altLang="zh-TW" sz="2400" b="1" dirty="0">
                <a:solidFill>
                  <a:srgbClr val="E06741"/>
                </a:solidFill>
              </a:rPr>
              <a:t>-</a:t>
            </a:r>
            <a:r>
              <a:rPr lang="zh-TW" altLang="en-US" sz="2400" b="1" dirty="0">
                <a:solidFill>
                  <a:srgbClr val="E06741"/>
                </a:solidFill>
              </a:rPr>
              <a:t>食品安全管理</a:t>
            </a:r>
          </a:p>
          <a:p>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sp>
        <p:nvSpPr>
          <p:cNvPr id="48" name="文字方塊 47">
            <a:extLst>
              <a:ext uri="{FF2B5EF4-FFF2-40B4-BE49-F238E27FC236}">
                <a16:creationId xmlns:a16="http://schemas.microsoft.com/office/drawing/2014/main" id="{AD7F4831-1A36-4A2F-ACBE-344F724510DC}"/>
              </a:ext>
            </a:extLst>
          </p:cNvPr>
          <p:cNvSpPr txBox="1"/>
          <p:nvPr/>
        </p:nvSpPr>
        <p:spPr>
          <a:xfrm>
            <a:off x="5438954" y="350242"/>
            <a:ext cx="2242922"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-2</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案例區塊鍊運用</a:t>
            </a:r>
          </a:p>
        </p:txBody>
      </p:sp>
      <p:sp>
        <p:nvSpPr>
          <p:cNvPr id="10" name="文字方塊 9">
            <a:extLst>
              <a:ext uri="{FF2B5EF4-FFF2-40B4-BE49-F238E27FC236}">
                <a16:creationId xmlns:a16="http://schemas.microsoft.com/office/drawing/2014/main" id="{BF94E171-0176-49DD-BE6C-DB2D96B94A88}"/>
              </a:ext>
            </a:extLst>
          </p:cNvPr>
          <p:cNvSpPr txBox="1"/>
          <p:nvPr/>
        </p:nvSpPr>
        <p:spPr>
          <a:xfrm>
            <a:off x="1177167" y="1816567"/>
            <a:ext cx="9663430" cy="578492"/>
          </a:xfrm>
          <a:prstGeom prst="rect">
            <a:avLst/>
          </a:prstGeom>
          <a:noFill/>
        </p:spPr>
        <p:txBody>
          <a:bodyPr wrap="square" rtlCol="0">
            <a:spAutoFit/>
          </a:bodyPr>
          <a:lstStyle/>
          <a:p>
            <a:pPr marL="342900" indent="-342900">
              <a:lnSpc>
                <a:spcPct val="150000"/>
              </a:lnSpc>
              <a:buBlip>
                <a:blip r:embed="rId3"/>
              </a:buBlip>
            </a:pP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pic>
        <p:nvPicPr>
          <p:cNvPr id="2" name="圖片 1" descr="畫面剪輯"/>
          <p:cNvPicPr>
            <a:picLocks noChangeAspect="1"/>
          </p:cNvPicPr>
          <p:nvPr/>
        </p:nvPicPr>
        <p:blipFill>
          <a:blip r:embed="rId4">
            <a:clrChange>
              <a:clrFrom>
                <a:srgbClr val="FFFFFF"/>
              </a:clrFrom>
              <a:clrTo>
                <a:srgbClr val="FFFFFF">
                  <a:alpha val="0"/>
                </a:srgbClr>
              </a:clrTo>
            </a:clrChange>
            <a:extLst>
              <a:ext uri="{BEBA8EAE-BF5A-486C-A8C5-ECC9F3942E4B}">
                <a14:imgProps xmlns:a14="http://schemas.microsoft.com/office/drawing/2010/main">
                  <a14:imgLayer r:embed="rId5">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1981893" y="1518943"/>
            <a:ext cx="8858704" cy="4762043"/>
          </a:xfrm>
          <a:prstGeom prst="rect">
            <a:avLst/>
          </a:prstGeom>
        </p:spPr>
      </p:pic>
    </p:spTree>
    <p:extLst>
      <p:ext uri="{BB962C8B-B14F-4D97-AF65-F5344CB8AC3E}">
        <p14:creationId xmlns:p14="http://schemas.microsoft.com/office/powerpoint/2010/main" val="3386352139"/>
      </p:ext>
    </p:extLst>
  </p:cSld>
  <p:clrMapOvr>
    <a:masterClrMapping/>
  </p:clrMapOvr>
  <mc:AlternateContent xmlns:mc="http://schemas.openxmlformats.org/markup-compatibility/2006" xmlns:p14="http://schemas.microsoft.com/office/powerpoint/2010/main">
    <mc:Choice Requires="p14">
      <p:transition spd="slow" p14:dur="1250">
        <p14:flip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circle(in)">
                                      <p:cBhvr>
                                        <p:cTn id="7" dur="1500"/>
                                        <p:tgtEl>
                                          <p:spTgt spid="46"/>
                                        </p:tgtEl>
                                      </p:cBhvr>
                                    </p:animEffect>
                                  </p:childTnLst>
                                </p:cTn>
                              </p:par>
                            </p:childTnLst>
                          </p:cTn>
                        </p:par>
                        <p:par>
                          <p:cTn id="8" fill="hold">
                            <p:stCondLst>
                              <p:cond delay="1500"/>
                            </p:stCondLst>
                            <p:childTnLst>
                              <p:par>
                                <p:cTn id="9" presetID="16" presetClass="entr" presetSubtype="21" fill="hold" grpId="0" nodeType="afterEffect">
                                  <p:stCondLst>
                                    <p:cond delay="0"/>
                                  </p:stCondLst>
                                  <p:childTnLst>
                                    <p:set>
                                      <p:cBhvr>
                                        <p:cTn id="10" dur="1" fill="hold">
                                          <p:stCondLst>
                                            <p:cond delay="0"/>
                                          </p:stCondLst>
                                        </p:cTn>
                                        <p:tgtEl>
                                          <p:spTgt spid="48"/>
                                        </p:tgtEl>
                                        <p:attrNameLst>
                                          <p:attrName>style.visibility</p:attrName>
                                        </p:attrNameLst>
                                      </p:cBhvr>
                                      <p:to>
                                        <p:strVal val="visible"/>
                                      </p:to>
                                    </p:set>
                                    <p:animEffect transition="in" filter="barn(inVertical)">
                                      <p:cBhvr>
                                        <p:cTn id="11" dur="500"/>
                                        <p:tgtEl>
                                          <p:spTgt spid="48"/>
                                        </p:tgtEl>
                                      </p:cBhvr>
                                    </p:animEffect>
                                  </p:childTnLst>
                                </p:cTn>
                              </p:par>
                            </p:childTnLst>
                          </p:cTn>
                        </p:par>
                        <p:par>
                          <p:cTn id="12" fill="hold">
                            <p:stCondLst>
                              <p:cond delay="2000"/>
                            </p:stCondLst>
                            <p:childTnLst>
                              <p:par>
                                <p:cTn id="13" presetID="2" presetClass="entr" presetSubtype="8" fill="hold" nodeType="afterEffect">
                                  <p:stCondLst>
                                    <p:cond delay="0"/>
                                  </p:stCondLst>
                                  <p:childTnLst>
                                    <p:set>
                                      <p:cBhvr>
                                        <p:cTn id="14" dur="1" fill="hold">
                                          <p:stCondLst>
                                            <p:cond delay="0"/>
                                          </p:stCondLst>
                                        </p:cTn>
                                        <p:tgtEl>
                                          <p:spTgt spid="33"/>
                                        </p:tgtEl>
                                        <p:attrNameLst>
                                          <p:attrName>style.visibility</p:attrName>
                                        </p:attrNameLst>
                                      </p:cBhvr>
                                      <p:to>
                                        <p:strVal val="visible"/>
                                      </p:to>
                                    </p:set>
                                    <p:anim calcmode="lin" valueType="num">
                                      <p:cBhvr additive="base">
                                        <p:cTn id="15" dur="500" fill="hold"/>
                                        <p:tgtEl>
                                          <p:spTgt spid="33"/>
                                        </p:tgtEl>
                                        <p:attrNameLst>
                                          <p:attrName>ppt_x</p:attrName>
                                        </p:attrNameLst>
                                      </p:cBhvr>
                                      <p:tavLst>
                                        <p:tav tm="0">
                                          <p:val>
                                            <p:strVal val="0-#ppt_w/2"/>
                                          </p:val>
                                        </p:tav>
                                        <p:tav tm="100000">
                                          <p:val>
                                            <p:strVal val="#ppt_x"/>
                                          </p:val>
                                        </p:tav>
                                      </p:tavLst>
                                    </p:anim>
                                    <p:anim calcmode="lin" valueType="num">
                                      <p:cBhvr additive="base">
                                        <p:cTn id="16" dur="500" fill="hold"/>
                                        <p:tgtEl>
                                          <p:spTgt spid="33"/>
                                        </p:tgtEl>
                                        <p:attrNameLst>
                                          <p:attrName>ppt_y</p:attrName>
                                        </p:attrNameLst>
                                      </p:cBhvr>
                                      <p:tavLst>
                                        <p:tav tm="0">
                                          <p:val>
                                            <p:strVal val="#ppt_y"/>
                                          </p:val>
                                        </p:tav>
                                        <p:tav tm="100000">
                                          <p:val>
                                            <p:strVal val="#ppt_y"/>
                                          </p:val>
                                        </p:tav>
                                      </p:tavLst>
                                    </p:anim>
                                  </p:childTnLst>
                                </p:cTn>
                              </p:par>
                            </p:childTnLst>
                          </p:cTn>
                        </p:par>
                        <p:par>
                          <p:cTn id="17" fill="hold">
                            <p:stCondLst>
                              <p:cond delay="2500"/>
                            </p:stCondLst>
                            <p:childTnLst>
                              <p:par>
                                <p:cTn id="18" presetID="53" presetClass="entr" presetSubtype="16" fill="hold" nodeType="afterEffect">
                                  <p:stCondLst>
                                    <p:cond delay="0"/>
                                  </p:stCondLst>
                                  <p:childTnLst>
                                    <p:set>
                                      <p:cBhvr>
                                        <p:cTn id="19" dur="1" fill="hold">
                                          <p:stCondLst>
                                            <p:cond delay="0"/>
                                          </p:stCondLst>
                                        </p:cTn>
                                        <p:tgtEl>
                                          <p:spTgt spid="2"/>
                                        </p:tgtEl>
                                        <p:attrNameLst>
                                          <p:attrName>style.visibility</p:attrName>
                                        </p:attrNameLst>
                                      </p:cBhvr>
                                      <p:to>
                                        <p:strVal val="visible"/>
                                      </p:to>
                                    </p:set>
                                    <p:anim calcmode="lin" valueType="num">
                                      <p:cBhvr>
                                        <p:cTn id="20" dur="500" fill="hold"/>
                                        <p:tgtEl>
                                          <p:spTgt spid="2"/>
                                        </p:tgtEl>
                                        <p:attrNameLst>
                                          <p:attrName>ppt_w</p:attrName>
                                        </p:attrNameLst>
                                      </p:cBhvr>
                                      <p:tavLst>
                                        <p:tav tm="0">
                                          <p:val>
                                            <p:fltVal val="0"/>
                                          </p:val>
                                        </p:tav>
                                        <p:tav tm="100000">
                                          <p:val>
                                            <p:strVal val="#ppt_w"/>
                                          </p:val>
                                        </p:tav>
                                      </p:tavLst>
                                    </p:anim>
                                    <p:anim calcmode="lin" valueType="num">
                                      <p:cBhvr>
                                        <p:cTn id="21" dur="500" fill="hold"/>
                                        <p:tgtEl>
                                          <p:spTgt spid="2"/>
                                        </p:tgtEl>
                                        <p:attrNameLst>
                                          <p:attrName>ppt_h</p:attrName>
                                        </p:attrNameLst>
                                      </p:cBhvr>
                                      <p:tavLst>
                                        <p:tav tm="0">
                                          <p:val>
                                            <p:fltVal val="0"/>
                                          </p:val>
                                        </p:tav>
                                        <p:tav tm="100000">
                                          <p:val>
                                            <p:strVal val="#ppt_h"/>
                                          </p:val>
                                        </p:tav>
                                      </p:tavLst>
                                    </p:anim>
                                    <p:animEffect transition="in" filter="fade">
                                      <p:cBhvr>
                                        <p:cTn id="2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p:bldP spid="48"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2"/>
          <a:stretch>
            <a:fillRect/>
          </a:stretch>
        </p:blipFill>
        <p:spPr>
          <a:xfrm rot="16200000">
            <a:off x="145169" y="-145167"/>
            <a:ext cx="1268414" cy="1558750"/>
          </a:xfrm>
          <a:prstGeom prst="rect">
            <a:avLst/>
          </a:prstGeom>
        </p:spPr>
      </p:pic>
      <p:sp>
        <p:nvSpPr>
          <p:cNvPr id="9" name="文字方塊 8">
            <a:extLst>
              <a:ext uri="{FF2B5EF4-FFF2-40B4-BE49-F238E27FC236}">
                <a16:creationId xmlns:a16="http://schemas.microsoft.com/office/drawing/2014/main" id="{81D0666A-D96D-4B5B-9036-192FA53FE435}"/>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cxnSp>
        <p:nvCxnSpPr>
          <p:cNvPr id="33" name="直接连接符 33">
            <a:extLst>
              <a:ext uri="{FF2B5EF4-FFF2-40B4-BE49-F238E27FC236}">
                <a16:creationId xmlns:a16="http://schemas.microsoft.com/office/drawing/2014/main" id="{DFF80DCD-8EF0-4D2F-8380-59FA348D932C}"/>
              </a:ext>
            </a:extLst>
          </p:cNvPr>
          <p:cNvCxnSpPr/>
          <p:nvPr/>
        </p:nvCxnSpPr>
        <p:spPr>
          <a:xfrm>
            <a:off x="1177167" y="1046746"/>
            <a:ext cx="10585176"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6" name="標題 1"/>
          <p:cNvSpPr txBox="1">
            <a:spLocks/>
          </p:cNvSpPr>
          <p:nvPr/>
        </p:nvSpPr>
        <p:spPr>
          <a:xfrm>
            <a:off x="918901" y="278155"/>
            <a:ext cx="5288853"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7-1 </a:t>
            </a:r>
            <a:r>
              <a:rPr lang="zh-TW" altLang="en-US" sz="2400" b="1" dirty="0">
                <a:solidFill>
                  <a:srgbClr val="E06741"/>
                </a:solidFill>
              </a:rPr>
              <a:t>實務案例</a:t>
            </a:r>
            <a:r>
              <a:rPr lang="en-US" altLang="zh-TW" sz="2400" b="1" dirty="0">
                <a:solidFill>
                  <a:srgbClr val="E06741"/>
                </a:solidFill>
              </a:rPr>
              <a:t>-</a:t>
            </a:r>
            <a:r>
              <a:rPr lang="zh-TW" altLang="en-US" sz="2400" b="1" dirty="0">
                <a:solidFill>
                  <a:srgbClr val="E06741"/>
                </a:solidFill>
              </a:rPr>
              <a:t>食品安全管理</a:t>
            </a:r>
          </a:p>
          <a:p>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sp>
        <p:nvSpPr>
          <p:cNvPr id="48" name="文字方塊 47">
            <a:extLst>
              <a:ext uri="{FF2B5EF4-FFF2-40B4-BE49-F238E27FC236}">
                <a16:creationId xmlns:a16="http://schemas.microsoft.com/office/drawing/2014/main" id="{AD7F4831-1A36-4A2F-ACBE-344F724510DC}"/>
              </a:ext>
            </a:extLst>
          </p:cNvPr>
          <p:cNvSpPr txBox="1"/>
          <p:nvPr/>
        </p:nvSpPr>
        <p:spPr>
          <a:xfrm>
            <a:off x="5438954" y="350242"/>
            <a:ext cx="2242922"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-2</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案例區塊鍊運用</a:t>
            </a:r>
          </a:p>
        </p:txBody>
      </p:sp>
      <p:sp>
        <p:nvSpPr>
          <p:cNvPr id="10" name="文字方塊 9">
            <a:extLst>
              <a:ext uri="{FF2B5EF4-FFF2-40B4-BE49-F238E27FC236}">
                <a16:creationId xmlns:a16="http://schemas.microsoft.com/office/drawing/2014/main" id="{BF94E171-0176-49DD-BE6C-DB2D96B94A88}"/>
              </a:ext>
            </a:extLst>
          </p:cNvPr>
          <p:cNvSpPr txBox="1"/>
          <p:nvPr/>
        </p:nvSpPr>
        <p:spPr>
          <a:xfrm>
            <a:off x="1177167" y="1816567"/>
            <a:ext cx="9663430" cy="578492"/>
          </a:xfrm>
          <a:prstGeom prst="rect">
            <a:avLst/>
          </a:prstGeom>
          <a:noFill/>
        </p:spPr>
        <p:txBody>
          <a:bodyPr wrap="square" rtlCol="0">
            <a:spAutoFit/>
          </a:bodyPr>
          <a:lstStyle/>
          <a:p>
            <a:pPr marL="342900" indent="-342900">
              <a:lnSpc>
                <a:spcPct val="150000"/>
              </a:lnSpc>
              <a:buBlip>
                <a:blip r:embed="rId3"/>
              </a:buBlip>
            </a:pP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pic>
        <p:nvPicPr>
          <p:cNvPr id="2" name="圖片 1" descr="畫面剪輯"/>
          <p:cNvPicPr>
            <a:picLocks noChangeAspect="1"/>
          </p:cNvPicPr>
          <p:nvPr/>
        </p:nvPicPr>
        <p:blipFill>
          <a:blip r:embed="rId4">
            <a:clrChange>
              <a:clrFrom>
                <a:srgbClr val="FFFFFF"/>
              </a:clrFrom>
              <a:clrTo>
                <a:srgbClr val="FFFFFF">
                  <a:alpha val="0"/>
                </a:srgbClr>
              </a:clrTo>
            </a:clrChange>
            <a:extLst>
              <a:ext uri="{BEBA8EAE-BF5A-486C-A8C5-ECC9F3942E4B}">
                <a14:imgProps xmlns:a14="http://schemas.microsoft.com/office/drawing/2010/main">
                  <a14:imgLayer r:embed="rId5">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2214846" y="1245025"/>
            <a:ext cx="7732717" cy="5245191"/>
          </a:xfrm>
          <a:prstGeom prst="rect">
            <a:avLst/>
          </a:prstGeom>
        </p:spPr>
      </p:pic>
    </p:spTree>
    <p:extLst>
      <p:ext uri="{BB962C8B-B14F-4D97-AF65-F5344CB8AC3E}">
        <p14:creationId xmlns:p14="http://schemas.microsoft.com/office/powerpoint/2010/main" val="3987575697"/>
      </p:ext>
    </p:extLst>
  </p:cSld>
  <p:clrMapOvr>
    <a:masterClrMapping/>
  </p:clrMapOvr>
  <p:transition spd="med">
    <p:pull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circle(in)">
                                      <p:cBhvr>
                                        <p:cTn id="7" dur="1500"/>
                                        <p:tgtEl>
                                          <p:spTgt spid="46"/>
                                        </p:tgtEl>
                                      </p:cBhvr>
                                    </p:animEffect>
                                  </p:childTnLst>
                                </p:cTn>
                              </p:par>
                            </p:childTnLst>
                          </p:cTn>
                        </p:par>
                        <p:par>
                          <p:cTn id="8" fill="hold">
                            <p:stCondLst>
                              <p:cond delay="1500"/>
                            </p:stCondLst>
                            <p:childTnLst>
                              <p:par>
                                <p:cTn id="9" presetID="16" presetClass="entr" presetSubtype="21" fill="hold" grpId="0" nodeType="afterEffect">
                                  <p:stCondLst>
                                    <p:cond delay="0"/>
                                  </p:stCondLst>
                                  <p:childTnLst>
                                    <p:set>
                                      <p:cBhvr>
                                        <p:cTn id="10" dur="1" fill="hold">
                                          <p:stCondLst>
                                            <p:cond delay="0"/>
                                          </p:stCondLst>
                                        </p:cTn>
                                        <p:tgtEl>
                                          <p:spTgt spid="48"/>
                                        </p:tgtEl>
                                        <p:attrNameLst>
                                          <p:attrName>style.visibility</p:attrName>
                                        </p:attrNameLst>
                                      </p:cBhvr>
                                      <p:to>
                                        <p:strVal val="visible"/>
                                      </p:to>
                                    </p:set>
                                    <p:animEffect transition="in" filter="barn(inVertical)">
                                      <p:cBhvr>
                                        <p:cTn id="11" dur="500"/>
                                        <p:tgtEl>
                                          <p:spTgt spid="48"/>
                                        </p:tgtEl>
                                      </p:cBhvr>
                                    </p:animEffect>
                                  </p:childTnLst>
                                </p:cTn>
                              </p:par>
                            </p:childTnLst>
                          </p:cTn>
                        </p:par>
                        <p:par>
                          <p:cTn id="12" fill="hold">
                            <p:stCondLst>
                              <p:cond delay="2000"/>
                            </p:stCondLst>
                            <p:childTnLst>
                              <p:par>
                                <p:cTn id="13" presetID="2" presetClass="entr" presetSubtype="8" fill="hold" nodeType="afterEffect">
                                  <p:stCondLst>
                                    <p:cond delay="0"/>
                                  </p:stCondLst>
                                  <p:childTnLst>
                                    <p:set>
                                      <p:cBhvr>
                                        <p:cTn id="14" dur="1" fill="hold">
                                          <p:stCondLst>
                                            <p:cond delay="0"/>
                                          </p:stCondLst>
                                        </p:cTn>
                                        <p:tgtEl>
                                          <p:spTgt spid="33"/>
                                        </p:tgtEl>
                                        <p:attrNameLst>
                                          <p:attrName>style.visibility</p:attrName>
                                        </p:attrNameLst>
                                      </p:cBhvr>
                                      <p:to>
                                        <p:strVal val="visible"/>
                                      </p:to>
                                    </p:set>
                                    <p:anim calcmode="lin" valueType="num">
                                      <p:cBhvr additive="base">
                                        <p:cTn id="15" dur="500" fill="hold"/>
                                        <p:tgtEl>
                                          <p:spTgt spid="33"/>
                                        </p:tgtEl>
                                        <p:attrNameLst>
                                          <p:attrName>ppt_x</p:attrName>
                                        </p:attrNameLst>
                                      </p:cBhvr>
                                      <p:tavLst>
                                        <p:tav tm="0">
                                          <p:val>
                                            <p:strVal val="0-#ppt_w/2"/>
                                          </p:val>
                                        </p:tav>
                                        <p:tav tm="100000">
                                          <p:val>
                                            <p:strVal val="#ppt_x"/>
                                          </p:val>
                                        </p:tav>
                                      </p:tavLst>
                                    </p:anim>
                                    <p:anim calcmode="lin" valueType="num">
                                      <p:cBhvr additive="base">
                                        <p:cTn id="16" dur="500" fill="hold"/>
                                        <p:tgtEl>
                                          <p:spTgt spid="33"/>
                                        </p:tgtEl>
                                        <p:attrNameLst>
                                          <p:attrName>ppt_y</p:attrName>
                                        </p:attrNameLst>
                                      </p:cBhvr>
                                      <p:tavLst>
                                        <p:tav tm="0">
                                          <p:val>
                                            <p:strVal val="#ppt_y"/>
                                          </p:val>
                                        </p:tav>
                                        <p:tav tm="100000">
                                          <p:val>
                                            <p:strVal val="#ppt_y"/>
                                          </p:val>
                                        </p:tav>
                                      </p:tavLst>
                                    </p:anim>
                                  </p:childTnLst>
                                </p:cTn>
                              </p:par>
                            </p:childTnLst>
                          </p:cTn>
                        </p:par>
                        <p:par>
                          <p:cTn id="17" fill="hold">
                            <p:stCondLst>
                              <p:cond delay="2500"/>
                            </p:stCondLst>
                            <p:childTnLst>
                              <p:par>
                                <p:cTn id="18" presetID="53" presetClass="entr" presetSubtype="16" fill="hold" nodeType="afterEffect">
                                  <p:stCondLst>
                                    <p:cond delay="0"/>
                                  </p:stCondLst>
                                  <p:childTnLst>
                                    <p:set>
                                      <p:cBhvr>
                                        <p:cTn id="19" dur="1" fill="hold">
                                          <p:stCondLst>
                                            <p:cond delay="0"/>
                                          </p:stCondLst>
                                        </p:cTn>
                                        <p:tgtEl>
                                          <p:spTgt spid="2"/>
                                        </p:tgtEl>
                                        <p:attrNameLst>
                                          <p:attrName>style.visibility</p:attrName>
                                        </p:attrNameLst>
                                      </p:cBhvr>
                                      <p:to>
                                        <p:strVal val="visible"/>
                                      </p:to>
                                    </p:set>
                                    <p:anim calcmode="lin" valueType="num">
                                      <p:cBhvr>
                                        <p:cTn id="20" dur="500" fill="hold"/>
                                        <p:tgtEl>
                                          <p:spTgt spid="2"/>
                                        </p:tgtEl>
                                        <p:attrNameLst>
                                          <p:attrName>ppt_w</p:attrName>
                                        </p:attrNameLst>
                                      </p:cBhvr>
                                      <p:tavLst>
                                        <p:tav tm="0">
                                          <p:val>
                                            <p:fltVal val="0"/>
                                          </p:val>
                                        </p:tav>
                                        <p:tav tm="100000">
                                          <p:val>
                                            <p:strVal val="#ppt_w"/>
                                          </p:val>
                                        </p:tav>
                                      </p:tavLst>
                                    </p:anim>
                                    <p:anim calcmode="lin" valueType="num">
                                      <p:cBhvr>
                                        <p:cTn id="21" dur="500" fill="hold"/>
                                        <p:tgtEl>
                                          <p:spTgt spid="2"/>
                                        </p:tgtEl>
                                        <p:attrNameLst>
                                          <p:attrName>ppt_h</p:attrName>
                                        </p:attrNameLst>
                                      </p:cBhvr>
                                      <p:tavLst>
                                        <p:tav tm="0">
                                          <p:val>
                                            <p:fltVal val="0"/>
                                          </p:val>
                                        </p:tav>
                                        <p:tav tm="100000">
                                          <p:val>
                                            <p:strVal val="#ppt_h"/>
                                          </p:val>
                                        </p:tav>
                                      </p:tavLst>
                                    </p:anim>
                                    <p:animEffect transition="in" filter="fade">
                                      <p:cBhvr>
                                        <p:cTn id="2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p:bldP spid="48"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2"/>
          <a:stretch>
            <a:fillRect/>
          </a:stretch>
        </p:blipFill>
        <p:spPr>
          <a:xfrm rot="16200000">
            <a:off x="145169" y="-145167"/>
            <a:ext cx="1268414" cy="1558750"/>
          </a:xfrm>
          <a:prstGeom prst="rect">
            <a:avLst/>
          </a:prstGeom>
        </p:spPr>
      </p:pic>
      <p:sp>
        <p:nvSpPr>
          <p:cNvPr id="9" name="文字方塊 8">
            <a:extLst>
              <a:ext uri="{FF2B5EF4-FFF2-40B4-BE49-F238E27FC236}">
                <a16:creationId xmlns:a16="http://schemas.microsoft.com/office/drawing/2014/main" id="{81D0666A-D96D-4B5B-9036-192FA53FE435}"/>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cxnSp>
        <p:nvCxnSpPr>
          <p:cNvPr id="33" name="直接连接符 33">
            <a:extLst>
              <a:ext uri="{FF2B5EF4-FFF2-40B4-BE49-F238E27FC236}">
                <a16:creationId xmlns:a16="http://schemas.microsoft.com/office/drawing/2014/main" id="{DFF80DCD-8EF0-4D2F-8380-59FA348D932C}"/>
              </a:ext>
            </a:extLst>
          </p:cNvPr>
          <p:cNvCxnSpPr/>
          <p:nvPr/>
        </p:nvCxnSpPr>
        <p:spPr>
          <a:xfrm>
            <a:off x="1177167" y="1046746"/>
            <a:ext cx="10585176"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6" name="標題 1"/>
          <p:cNvSpPr txBox="1">
            <a:spLocks/>
          </p:cNvSpPr>
          <p:nvPr/>
        </p:nvSpPr>
        <p:spPr>
          <a:xfrm>
            <a:off x="918901" y="278155"/>
            <a:ext cx="5288853"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7-1 </a:t>
            </a:r>
            <a:r>
              <a:rPr lang="zh-TW" altLang="en-US" sz="2400" b="1" dirty="0">
                <a:solidFill>
                  <a:srgbClr val="E06741"/>
                </a:solidFill>
              </a:rPr>
              <a:t>實務案例</a:t>
            </a:r>
            <a:r>
              <a:rPr lang="en-US" altLang="zh-TW" sz="2400" b="1" dirty="0">
                <a:solidFill>
                  <a:srgbClr val="E06741"/>
                </a:solidFill>
              </a:rPr>
              <a:t>-</a:t>
            </a:r>
            <a:r>
              <a:rPr lang="zh-TW" altLang="en-US" sz="2400" b="1" dirty="0">
                <a:solidFill>
                  <a:srgbClr val="E06741"/>
                </a:solidFill>
              </a:rPr>
              <a:t>食品安全管理</a:t>
            </a:r>
          </a:p>
          <a:p>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sp>
        <p:nvSpPr>
          <p:cNvPr id="48" name="文字方塊 47">
            <a:extLst>
              <a:ext uri="{FF2B5EF4-FFF2-40B4-BE49-F238E27FC236}">
                <a16:creationId xmlns:a16="http://schemas.microsoft.com/office/drawing/2014/main" id="{AD7F4831-1A36-4A2F-ACBE-344F724510DC}"/>
              </a:ext>
            </a:extLst>
          </p:cNvPr>
          <p:cNvSpPr txBox="1"/>
          <p:nvPr/>
        </p:nvSpPr>
        <p:spPr>
          <a:xfrm>
            <a:off x="5438954" y="350242"/>
            <a:ext cx="960519"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-3</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結論</a:t>
            </a:r>
          </a:p>
        </p:txBody>
      </p:sp>
      <p:sp>
        <p:nvSpPr>
          <p:cNvPr id="10" name="文字方塊 9">
            <a:extLst>
              <a:ext uri="{FF2B5EF4-FFF2-40B4-BE49-F238E27FC236}">
                <a16:creationId xmlns:a16="http://schemas.microsoft.com/office/drawing/2014/main" id="{BF94E171-0176-49DD-BE6C-DB2D96B94A88}"/>
              </a:ext>
            </a:extLst>
          </p:cNvPr>
          <p:cNvSpPr txBox="1"/>
          <p:nvPr/>
        </p:nvSpPr>
        <p:spPr>
          <a:xfrm>
            <a:off x="1177167" y="1816567"/>
            <a:ext cx="9663430" cy="578492"/>
          </a:xfrm>
          <a:prstGeom prst="rect">
            <a:avLst/>
          </a:prstGeom>
          <a:noFill/>
        </p:spPr>
        <p:txBody>
          <a:bodyPr wrap="square" rtlCol="0">
            <a:spAutoFit/>
          </a:bodyPr>
          <a:lstStyle/>
          <a:p>
            <a:pPr marL="342900" indent="-342900">
              <a:lnSpc>
                <a:spcPct val="150000"/>
              </a:lnSpc>
              <a:buBlip>
                <a:blip r:embed="rId3"/>
              </a:buBlip>
            </a:pP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sp>
        <p:nvSpPr>
          <p:cNvPr id="12" name="文字方塊 11">
            <a:extLst>
              <a:ext uri="{FF2B5EF4-FFF2-40B4-BE49-F238E27FC236}">
                <a16:creationId xmlns:a16="http://schemas.microsoft.com/office/drawing/2014/main" id="{BF94E171-0176-49DD-BE6C-DB2D96B94A88}"/>
              </a:ext>
            </a:extLst>
          </p:cNvPr>
          <p:cNvSpPr txBox="1"/>
          <p:nvPr/>
        </p:nvSpPr>
        <p:spPr>
          <a:xfrm>
            <a:off x="1264285" y="1383763"/>
            <a:ext cx="9663430" cy="3970318"/>
          </a:xfrm>
          <a:prstGeom prst="rect">
            <a:avLst/>
          </a:prstGeom>
          <a:noFill/>
        </p:spPr>
        <p:txBody>
          <a:bodyPr wrap="square" rtlCol="0">
            <a:spAutoFit/>
          </a:bodyPr>
          <a:lstStyle/>
          <a:p>
            <a:pPr marL="342900" indent="-342900">
              <a:lnSpc>
                <a:spcPct val="150000"/>
              </a:lnSpc>
              <a:buBlip>
                <a:blip r:embed="rId3"/>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消費者或 </a:t>
            </a:r>
            <a:r>
              <a:rPr lang="en-US" altLang="zh-TW" sz="2400" b="1" dirty="0" err="1">
                <a:solidFill>
                  <a:schemeClr val="tx1">
                    <a:lumMod val="75000"/>
                    <a:lumOff val="25000"/>
                  </a:schemeClr>
                </a:solidFill>
                <a:latin typeface="微軟正黑體" panose="020B0604030504040204" pitchFamily="34" charset="-120"/>
                <a:ea typeface="微軟正黑體" panose="020B0604030504040204" pitchFamily="34" charset="-120"/>
              </a:rPr>
              <a:t>WalMart</a:t>
            </a:r>
            <a:r>
              <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t> </a:t>
            </a:r>
          </a:p>
          <a:p>
            <a:pPr marL="800100" lvl="1" indent="-342900">
              <a:lnSpc>
                <a:spcPct val="150000"/>
              </a:lnSpc>
              <a:buBlip>
                <a:blip r:embed="rId3"/>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透過平台去獲得過去的每一筆交易資訊與交易紀錄，而且因為平台上是屬於開放式且透明的，整體的流程可以清楚地的被紀錄，不用擔心資訊會遺漏或遺失。</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800100" lvl="1" indent="-342900">
              <a:lnSpc>
                <a:spcPct val="150000"/>
              </a:lnSpc>
              <a:buBlip>
                <a:blip r:embed="rId3"/>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並透過在區塊鏈所提供的不可篡改性、不可否認性、可追蹤性、私密性、正確性及完整性等技術的應用，致使食品安全上的產銷履歷可以更加安全、有效率及值得信任。</a:t>
            </a:r>
          </a:p>
        </p:txBody>
      </p:sp>
      <p:pic>
        <p:nvPicPr>
          <p:cNvPr id="11" name="圖片 10" descr="一張含有 樂高, 玩具 的圖片&#10;&#10;描述是以高可信度產生">
            <a:extLst>
              <a:ext uri="{FF2B5EF4-FFF2-40B4-BE49-F238E27FC236}">
                <a16:creationId xmlns:a16="http://schemas.microsoft.com/office/drawing/2014/main" id="{B3800395-AF8F-4D03-A9D3-DE5A52DA436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949376" y="4931923"/>
            <a:ext cx="1956677" cy="1956677"/>
          </a:xfrm>
          <a:prstGeom prst="rect">
            <a:avLst/>
          </a:prstGeom>
        </p:spPr>
      </p:pic>
    </p:spTree>
    <p:extLst>
      <p:ext uri="{BB962C8B-B14F-4D97-AF65-F5344CB8AC3E}">
        <p14:creationId xmlns:p14="http://schemas.microsoft.com/office/powerpoint/2010/main" val="3612393816"/>
      </p:ext>
    </p:extLst>
  </p:cSld>
  <p:clrMapOvr>
    <a:masterClrMapping/>
  </p:clrMapOvr>
  <p:transition spd="slow">
    <p:pull dir="l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circle(in)">
                                      <p:cBhvr>
                                        <p:cTn id="7" dur="1500"/>
                                        <p:tgtEl>
                                          <p:spTgt spid="46"/>
                                        </p:tgtEl>
                                      </p:cBhvr>
                                    </p:animEffect>
                                  </p:childTnLst>
                                </p:cTn>
                              </p:par>
                            </p:childTnLst>
                          </p:cTn>
                        </p:par>
                        <p:par>
                          <p:cTn id="8" fill="hold">
                            <p:stCondLst>
                              <p:cond delay="1500"/>
                            </p:stCondLst>
                            <p:childTnLst>
                              <p:par>
                                <p:cTn id="9" presetID="16" presetClass="entr" presetSubtype="21" fill="hold" grpId="0" nodeType="afterEffect">
                                  <p:stCondLst>
                                    <p:cond delay="0"/>
                                  </p:stCondLst>
                                  <p:childTnLst>
                                    <p:set>
                                      <p:cBhvr>
                                        <p:cTn id="10" dur="1" fill="hold">
                                          <p:stCondLst>
                                            <p:cond delay="0"/>
                                          </p:stCondLst>
                                        </p:cTn>
                                        <p:tgtEl>
                                          <p:spTgt spid="48"/>
                                        </p:tgtEl>
                                        <p:attrNameLst>
                                          <p:attrName>style.visibility</p:attrName>
                                        </p:attrNameLst>
                                      </p:cBhvr>
                                      <p:to>
                                        <p:strVal val="visible"/>
                                      </p:to>
                                    </p:set>
                                    <p:animEffect transition="in" filter="barn(inVertical)">
                                      <p:cBhvr>
                                        <p:cTn id="11" dur="500"/>
                                        <p:tgtEl>
                                          <p:spTgt spid="48"/>
                                        </p:tgtEl>
                                      </p:cBhvr>
                                    </p:animEffect>
                                  </p:childTnLst>
                                </p:cTn>
                              </p:par>
                            </p:childTnLst>
                          </p:cTn>
                        </p:par>
                        <p:par>
                          <p:cTn id="12" fill="hold">
                            <p:stCondLst>
                              <p:cond delay="2000"/>
                            </p:stCondLst>
                            <p:childTnLst>
                              <p:par>
                                <p:cTn id="13" presetID="2" presetClass="entr" presetSubtype="8" fill="hold" nodeType="afterEffect">
                                  <p:stCondLst>
                                    <p:cond delay="0"/>
                                  </p:stCondLst>
                                  <p:childTnLst>
                                    <p:set>
                                      <p:cBhvr>
                                        <p:cTn id="14" dur="1" fill="hold">
                                          <p:stCondLst>
                                            <p:cond delay="0"/>
                                          </p:stCondLst>
                                        </p:cTn>
                                        <p:tgtEl>
                                          <p:spTgt spid="33"/>
                                        </p:tgtEl>
                                        <p:attrNameLst>
                                          <p:attrName>style.visibility</p:attrName>
                                        </p:attrNameLst>
                                      </p:cBhvr>
                                      <p:to>
                                        <p:strVal val="visible"/>
                                      </p:to>
                                    </p:set>
                                    <p:anim calcmode="lin" valueType="num">
                                      <p:cBhvr additive="base">
                                        <p:cTn id="15" dur="500" fill="hold"/>
                                        <p:tgtEl>
                                          <p:spTgt spid="33"/>
                                        </p:tgtEl>
                                        <p:attrNameLst>
                                          <p:attrName>ppt_x</p:attrName>
                                        </p:attrNameLst>
                                      </p:cBhvr>
                                      <p:tavLst>
                                        <p:tav tm="0">
                                          <p:val>
                                            <p:strVal val="0-#ppt_w/2"/>
                                          </p:val>
                                        </p:tav>
                                        <p:tav tm="100000">
                                          <p:val>
                                            <p:strVal val="#ppt_x"/>
                                          </p:val>
                                        </p:tav>
                                      </p:tavLst>
                                    </p:anim>
                                    <p:anim calcmode="lin" valueType="num">
                                      <p:cBhvr additive="base">
                                        <p:cTn id="16" dur="500" fill="hold"/>
                                        <p:tgtEl>
                                          <p:spTgt spid="33"/>
                                        </p:tgtEl>
                                        <p:attrNameLst>
                                          <p:attrName>ppt_y</p:attrName>
                                        </p:attrNameLst>
                                      </p:cBhvr>
                                      <p:tavLst>
                                        <p:tav tm="0">
                                          <p:val>
                                            <p:strVal val="#ppt_y"/>
                                          </p:val>
                                        </p:tav>
                                        <p:tav tm="100000">
                                          <p:val>
                                            <p:strVal val="#ppt_y"/>
                                          </p:val>
                                        </p:tav>
                                      </p:tavLst>
                                    </p:anim>
                                  </p:childTnLst>
                                </p:cTn>
                              </p:par>
                            </p:childTnLst>
                          </p:cTn>
                        </p:par>
                        <p:par>
                          <p:cTn id="17" fill="hold">
                            <p:stCondLst>
                              <p:cond delay="2500"/>
                            </p:stCondLst>
                            <p:childTnLst>
                              <p:par>
                                <p:cTn id="18" presetID="16" presetClass="entr" presetSubtype="21" fill="hold" nodeType="afterEffect" nodePh="1">
                                  <p:stCondLst>
                                    <p:cond delay="0"/>
                                  </p:stCondLst>
                                  <p:endCondLst>
                                    <p:cond evt="begin" delay="0">
                                      <p:tn val="18"/>
                                    </p:cond>
                                  </p:endCondLst>
                                  <p:childTnLst>
                                    <p:set>
                                      <p:cBhvr>
                                        <p:cTn id="19" dur="1" fill="hold">
                                          <p:stCondLst>
                                            <p:cond delay="0"/>
                                          </p:stCondLst>
                                        </p:cTn>
                                        <p:tgtEl>
                                          <p:spTgt spid="10">
                                            <p:txEl>
                                              <p:pRg st="0" end="0"/>
                                            </p:txEl>
                                          </p:spTgt>
                                        </p:tgtEl>
                                        <p:attrNameLst>
                                          <p:attrName>style.visibility</p:attrName>
                                        </p:attrNameLst>
                                      </p:cBhvr>
                                      <p:to>
                                        <p:strVal val="visible"/>
                                      </p:to>
                                    </p:set>
                                    <p:animEffect transition="in" filter="barn(inVertical)">
                                      <p:cBhvr>
                                        <p:cTn id="20" dur="500"/>
                                        <p:tgtEl>
                                          <p:spTgt spid="10">
                                            <p:txEl>
                                              <p:pRg st="0" end="0"/>
                                            </p:txEl>
                                          </p:spTgt>
                                        </p:tgtEl>
                                      </p:cBhvr>
                                    </p:animEffect>
                                  </p:childTnLst>
                                </p:cTn>
                              </p:par>
                            </p:childTnLst>
                          </p:cTn>
                        </p:par>
                        <p:par>
                          <p:cTn id="21" fill="hold">
                            <p:stCondLst>
                              <p:cond delay="3000"/>
                            </p:stCondLst>
                            <p:childTnLst>
                              <p:par>
                                <p:cTn id="22" presetID="16" presetClass="entr" presetSubtype="21" fill="hold" nodeType="afterEffect">
                                  <p:stCondLst>
                                    <p:cond delay="0"/>
                                  </p:stCondLst>
                                  <p:childTnLst>
                                    <p:set>
                                      <p:cBhvr>
                                        <p:cTn id="23" dur="1" fill="hold">
                                          <p:stCondLst>
                                            <p:cond delay="0"/>
                                          </p:stCondLst>
                                        </p:cTn>
                                        <p:tgtEl>
                                          <p:spTgt spid="12">
                                            <p:txEl>
                                              <p:pRg st="0" end="0"/>
                                            </p:txEl>
                                          </p:spTgt>
                                        </p:tgtEl>
                                        <p:attrNameLst>
                                          <p:attrName>style.visibility</p:attrName>
                                        </p:attrNameLst>
                                      </p:cBhvr>
                                      <p:to>
                                        <p:strVal val="visible"/>
                                      </p:to>
                                    </p:set>
                                    <p:animEffect transition="in" filter="barn(inVertical)">
                                      <p:cBhvr>
                                        <p:cTn id="24" dur="500"/>
                                        <p:tgtEl>
                                          <p:spTgt spid="12">
                                            <p:txEl>
                                              <p:pRg st="0" end="0"/>
                                            </p:txEl>
                                          </p:spTgt>
                                        </p:tgtEl>
                                      </p:cBhvr>
                                    </p:animEffect>
                                  </p:childTnLst>
                                </p:cTn>
                              </p:par>
                            </p:childTnLst>
                          </p:cTn>
                        </p:par>
                        <p:par>
                          <p:cTn id="25" fill="hold">
                            <p:stCondLst>
                              <p:cond delay="3500"/>
                            </p:stCondLst>
                            <p:childTnLst>
                              <p:par>
                                <p:cTn id="26" presetID="16" presetClass="entr" presetSubtype="21" fill="hold" nodeType="afterEffect">
                                  <p:stCondLst>
                                    <p:cond delay="0"/>
                                  </p:stCondLst>
                                  <p:childTnLst>
                                    <p:set>
                                      <p:cBhvr>
                                        <p:cTn id="27" dur="1" fill="hold">
                                          <p:stCondLst>
                                            <p:cond delay="0"/>
                                          </p:stCondLst>
                                        </p:cTn>
                                        <p:tgtEl>
                                          <p:spTgt spid="12">
                                            <p:txEl>
                                              <p:pRg st="1" end="1"/>
                                            </p:txEl>
                                          </p:spTgt>
                                        </p:tgtEl>
                                        <p:attrNameLst>
                                          <p:attrName>style.visibility</p:attrName>
                                        </p:attrNameLst>
                                      </p:cBhvr>
                                      <p:to>
                                        <p:strVal val="visible"/>
                                      </p:to>
                                    </p:set>
                                    <p:animEffect transition="in" filter="barn(inVertical)">
                                      <p:cBhvr>
                                        <p:cTn id="28" dur="500"/>
                                        <p:tgtEl>
                                          <p:spTgt spid="12">
                                            <p:txEl>
                                              <p:pRg st="1" end="1"/>
                                            </p:txEl>
                                          </p:spTgt>
                                        </p:tgtEl>
                                      </p:cBhvr>
                                    </p:animEffect>
                                  </p:childTnLst>
                                </p:cTn>
                              </p:par>
                            </p:childTnLst>
                          </p:cTn>
                        </p:par>
                        <p:par>
                          <p:cTn id="29" fill="hold">
                            <p:stCondLst>
                              <p:cond delay="4000"/>
                            </p:stCondLst>
                            <p:childTnLst>
                              <p:par>
                                <p:cTn id="30" presetID="16" presetClass="entr" presetSubtype="21" fill="hold" nodeType="afterEffect">
                                  <p:stCondLst>
                                    <p:cond delay="0"/>
                                  </p:stCondLst>
                                  <p:childTnLst>
                                    <p:set>
                                      <p:cBhvr>
                                        <p:cTn id="31" dur="1" fill="hold">
                                          <p:stCondLst>
                                            <p:cond delay="0"/>
                                          </p:stCondLst>
                                        </p:cTn>
                                        <p:tgtEl>
                                          <p:spTgt spid="12">
                                            <p:txEl>
                                              <p:pRg st="2" end="2"/>
                                            </p:txEl>
                                          </p:spTgt>
                                        </p:tgtEl>
                                        <p:attrNameLst>
                                          <p:attrName>style.visibility</p:attrName>
                                        </p:attrNameLst>
                                      </p:cBhvr>
                                      <p:to>
                                        <p:strVal val="visible"/>
                                      </p:to>
                                    </p:set>
                                    <p:animEffect transition="in" filter="barn(inVertical)">
                                      <p:cBhvr>
                                        <p:cTn id="32" dur="500"/>
                                        <p:tgtEl>
                                          <p:spTgt spid="12">
                                            <p:txEl>
                                              <p:pRg st="2" end="2"/>
                                            </p:txEl>
                                          </p:spTgt>
                                        </p:tgtEl>
                                      </p:cBhvr>
                                    </p:animEffect>
                                  </p:childTnLst>
                                </p:cTn>
                              </p:par>
                            </p:childTnLst>
                          </p:cTn>
                        </p:par>
                        <p:par>
                          <p:cTn id="33" fill="hold">
                            <p:stCondLst>
                              <p:cond delay="4500"/>
                            </p:stCondLst>
                            <p:childTnLst>
                              <p:par>
                                <p:cTn id="34" presetID="2" presetClass="entr" presetSubtype="4" fill="hold" nodeType="afterEffect">
                                  <p:stCondLst>
                                    <p:cond delay="0"/>
                                  </p:stCondLst>
                                  <p:childTnLst>
                                    <p:set>
                                      <p:cBhvr>
                                        <p:cTn id="35" dur="1" fill="hold">
                                          <p:stCondLst>
                                            <p:cond delay="0"/>
                                          </p:stCondLst>
                                        </p:cTn>
                                        <p:tgtEl>
                                          <p:spTgt spid="11"/>
                                        </p:tgtEl>
                                        <p:attrNameLst>
                                          <p:attrName>style.visibility</p:attrName>
                                        </p:attrNameLst>
                                      </p:cBhvr>
                                      <p:to>
                                        <p:strVal val="visible"/>
                                      </p:to>
                                    </p:set>
                                    <p:anim calcmode="lin" valueType="num">
                                      <p:cBhvr additive="base">
                                        <p:cTn id="36" dur="500" fill="hold"/>
                                        <p:tgtEl>
                                          <p:spTgt spid="11"/>
                                        </p:tgtEl>
                                        <p:attrNameLst>
                                          <p:attrName>ppt_x</p:attrName>
                                        </p:attrNameLst>
                                      </p:cBhvr>
                                      <p:tavLst>
                                        <p:tav tm="0">
                                          <p:val>
                                            <p:strVal val="#ppt_x"/>
                                          </p:val>
                                        </p:tav>
                                        <p:tav tm="100000">
                                          <p:val>
                                            <p:strVal val="#ppt_x"/>
                                          </p:val>
                                        </p:tav>
                                      </p:tavLst>
                                    </p:anim>
                                    <p:anim calcmode="lin" valueType="num">
                                      <p:cBhvr additive="base">
                                        <p:cTn id="37"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p:bldP spid="48"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2"/>
          <a:stretch>
            <a:fillRect/>
          </a:stretch>
        </p:blipFill>
        <p:spPr>
          <a:xfrm rot="16200000">
            <a:off x="145169" y="-145167"/>
            <a:ext cx="1268414" cy="1558750"/>
          </a:xfrm>
          <a:prstGeom prst="rect">
            <a:avLst/>
          </a:prstGeom>
        </p:spPr>
      </p:pic>
      <p:sp>
        <p:nvSpPr>
          <p:cNvPr id="9" name="文字方塊 8">
            <a:extLst>
              <a:ext uri="{FF2B5EF4-FFF2-40B4-BE49-F238E27FC236}">
                <a16:creationId xmlns:a16="http://schemas.microsoft.com/office/drawing/2014/main" id="{81D0666A-D96D-4B5B-9036-192FA53FE435}"/>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cxnSp>
        <p:nvCxnSpPr>
          <p:cNvPr id="33" name="直接连接符 33">
            <a:extLst>
              <a:ext uri="{FF2B5EF4-FFF2-40B4-BE49-F238E27FC236}">
                <a16:creationId xmlns:a16="http://schemas.microsoft.com/office/drawing/2014/main" id="{DFF80DCD-8EF0-4D2F-8380-59FA348D932C}"/>
              </a:ext>
            </a:extLst>
          </p:cNvPr>
          <p:cNvCxnSpPr/>
          <p:nvPr/>
        </p:nvCxnSpPr>
        <p:spPr>
          <a:xfrm>
            <a:off x="1177167" y="1046746"/>
            <a:ext cx="10585176"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6" name="標題 1"/>
          <p:cNvSpPr txBox="1">
            <a:spLocks/>
          </p:cNvSpPr>
          <p:nvPr/>
        </p:nvSpPr>
        <p:spPr>
          <a:xfrm>
            <a:off x="854426" y="112999"/>
            <a:ext cx="5288853"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7-2 </a:t>
            </a:r>
            <a:r>
              <a:rPr lang="zh-TW" altLang="en-US" sz="2400" b="1" dirty="0">
                <a:solidFill>
                  <a:srgbClr val="E06741"/>
                </a:solidFill>
              </a:rPr>
              <a:t>實務案例</a:t>
            </a:r>
            <a:r>
              <a:rPr lang="en-US" altLang="zh-TW" sz="2400" b="1" dirty="0">
                <a:solidFill>
                  <a:srgbClr val="E06741"/>
                </a:solidFill>
              </a:rPr>
              <a:t>-</a:t>
            </a:r>
            <a:r>
              <a:rPr lang="zh-TW" altLang="en-US" sz="2400" b="1" dirty="0">
                <a:solidFill>
                  <a:srgbClr val="E06741"/>
                </a:solidFill>
              </a:rPr>
              <a:t>漁產履歷</a:t>
            </a:r>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sp>
        <p:nvSpPr>
          <p:cNvPr id="48" name="文字方塊 47">
            <a:extLst>
              <a:ext uri="{FF2B5EF4-FFF2-40B4-BE49-F238E27FC236}">
                <a16:creationId xmlns:a16="http://schemas.microsoft.com/office/drawing/2014/main" id="{AD7F4831-1A36-4A2F-ACBE-344F724510DC}"/>
              </a:ext>
            </a:extLst>
          </p:cNvPr>
          <p:cNvSpPr txBox="1"/>
          <p:nvPr/>
        </p:nvSpPr>
        <p:spPr>
          <a:xfrm>
            <a:off x="5130089" y="350241"/>
            <a:ext cx="1473480"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-1</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案例介紹</a:t>
            </a:r>
          </a:p>
        </p:txBody>
      </p:sp>
      <p:sp>
        <p:nvSpPr>
          <p:cNvPr id="10" name="文字方塊 9">
            <a:extLst>
              <a:ext uri="{FF2B5EF4-FFF2-40B4-BE49-F238E27FC236}">
                <a16:creationId xmlns:a16="http://schemas.microsoft.com/office/drawing/2014/main" id="{BF94E171-0176-49DD-BE6C-DB2D96B94A88}"/>
              </a:ext>
            </a:extLst>
          </p:cNvPr>
          <p:cNvSpPr txBox="1"/>
          <p:nvPr/>
        </p:nvSpPr>
        <p:spPr>
          <a:xfrm>
            <a:off x="1177167" y="1816567"/>
            <a:ext cx="9663430" cy="578492"/>
          </a:xfrm>
          <a:prstGeom prst="rect">
            <a:avLst/>
          </a:prstGeom>
          <a:noFill/>
        </p:spPr>
        <p:txBody>
          <a:bodyPr wrap="square" rtlCol="0">
            <a:spAutoFit/>
          </a:bodyPr>
          <a:lstStyle/>
          <a:p>
            <a:pPr marL="342900" indent="-342900">
              <a:lnSpc>
                <a:spcPct val="150000"/>
              </a:lnSpc>
              <a:buBlip>
                <a:blip r:embed="rId3"/>
              </a:buBlip>
            </a:pP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sp>
        <p:nvSpPr>
          <p:cNvPr id="12" name="文字方塊 11">
            <a:extLst>
              <a:ext uri="{FF2B5EF4-FFF2-40B4-BE49-F238E27FC236}">
                <a16:creationId xmlns:a16="http://schemas.microsoft.com/office/drawing/2014/main" id="{BF94E171-0176-49DD-BE6C-DB2D96B94A88}"/>
              </a:ext>
            </a:extLst>
          </p:cNvPr>
          <p:cNvSpPr txBox="1"/>
          <p:nvPr/>
        </p:nvSpPr>
        <p:spPr>
          <a:xfrm>
            <a:off x="1311564" y="1346961"/>
            <a:ext cx="9663430" cy="2862322"/>
          </a:xfrm>
          <a:prstGeom prst="rect">
            <a:avLst/>
          </a:prstGeom>
          <a:noFill/>
        </p:spPr>
        <p:txBody>
          <a:bodyPr wrap="square" rtlCol="0">
            <a:spAutoFit/>
          </a:bodyPr>
          <a:lstStyle/>
          <a:p>
            <a:pPr marL="342900" indent="-342900">
              <a:lnSpc>
                <a:spcPct val="150000"/>
              </a:lnSpc>
              <a:buBlip>
                <a:blip r:embed="rId3"/>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導入原因</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lvl="1">
              <a:lnSpc>
                <a:spcPct val="150000"/>
              </a:lnSpc>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人工養殖石斑魚繁殖是由人工方式進行育苗養殖時，關鍵技術是營養的供應、病原的防治及育苗環境的控制。傳統石斑魚產銷經營易造成管理漏洞，無法實質管控石斑魚的品質，也無法追蹤石斑魚產出的履歷。</a:t>
            </a:r>
          </a:p>
        </p:txBody>
      </p:sp>
      <p:pic>
        <p:nvPicPr>
          <p:cNvPr id="11" name="圖片 10"/>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080975" y="4209283"/>
            <a:ext cx="1894019" cy="1894019"/>
          </a:xfrm>
          <a:prstGeom prst="rect">
            <a:avLst/>
          </a:prstGeom>
        </p:spPr>
      </p:pic>
    </p:spTree>
    <p:extLst>
      <p:ext uri="{BB962C8B-B14F-4D97-AF65-F5344CB8AC3E}">
        <p14:creationId xmlns:p14="http://schemas.microsoft.com/office/powerpoint/2010/main" val="3333325006"/>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circle(in)">
                                      <p:cBhvr>
                                        <p:cTn id="7" dur="1500"/>
                                        <p:tgtEl>
                                          <p:spTgt spid="46"/>
                                        </p:tgtEl>
                                      </p:cBhvr>
                                    </p:animEffect>
                                  </p:childTnLst>
                                </p:cTn>
                              </p:par>
                            </p:childTnLst>
                          </p:cTn>
                        </p:par>
                        <p:par>
                          <p:cTn id="8" fill="hold">
                            <p:stCondLst>
                              <p:cond delay="1500"/>
                            </p:stCondLst>
                            <p:childTnLst>
                              <p:par>
                                <p:cTn id="9" presetID="16" presetClass="entr" presetSubtype="21" fill="hold" grpId="0" nodeType="afterEffect">
                                  <p:stCondLst>
                                    <p:cond delay="0"/>
                                  </p:stCondLst>
                                  <p:childTnLst>
                                    <p:set>
                                      <p:cBhvr>
                                        <p:cTn id="10" dur="1" fill="hold">
                                          <p:stCondLst>
                                            <p:cond delay="0"/>
                                          </p:stCondLst>
                                        </p:cTn>
                                        <p:tgtEl>
                                          <p:spTgt spid="48"/>
                                        </p:tgtEl>
                                        <p:attrNameLst>
                                          <p:attrName>style.visibility</p:attrName>
                                        </p:attrNameLst>
                                      </p:cBhvr>
                                      <p:to>
                                        <p:strVal val="visible"/>
                                      </p:to>
                                    </p:set>
                                    <p:animEffect transition="in" filter="barn(inVertical)">
                                      <p:cBhvr>
                                        <p:cTn id="11" dur="500"/>
                                        <p:tgtEl>
                                          <p:spTgt spid="48"/>
                                        </p:tgtEl>
                                      </p:cBhvr>
                                    </p:animEffect>
                                  </p:childTnLst>
                                </p:cTn>
                              </p:par>
                            </p:childTnLst>
                          </p:cTn>
                        </p:par>
                        <p:par>
                          <p:cTn id="12" fill="hold">
                            <p:stCondLst>
                              <p:cond delay="2000"/>
                            </p:stCondLst>
                            <p:childTnLst>
                              <p:par>
                                <p:cTn id="13" presetID="2" presetClass="entr" presetSubtype="8" fill="hold" nodeType="afterEffect">
                                  <p:stCondLst>
                                    <p:cond delay="0"/>
                                  </p:stCondLst>
                                  <p:childTnLst>
                                    <p:set>
                                      <p:cBhvr>
                                        <p:cTn id="14" dur="1" fill="hold">
                                          <p:stCondLst>
                                            <p:cond delay="0"/>
                                          </p:stCondLst>
                                        </p:cTn>
                                        <p:tgtEl>
                                          <p:spTgt spid="33"/>
                                        </p:tgtEl>
                                        <p:attrNameLst>
                                          <p:attrName>style.visibility</p:attrName>
                                        </p:attrNameLst>
                                      </p:cBhvr>
                                      <p:to>
                                        <p:strVal val="visible"/>
                                      </p:to>
                                    </p:set>
                                    <p:anim calcmode="lin" valueType="num">
                                      <p:cBhvr additive="base">
                                        <p:cTn id="15" dur="500" fill="hold"/>
                                        <p:tgtEl>
                                          <p:spTgt spid="33"/>
                                        </p:tgtEl>
                                        <p:attrNameLst>
                                          <p:attrName>ppt_x</p:attrName>
                                        </p:attrNameLst>
                                      </p:cBhvr>
                                      <p:tavLst>
                                        <p:tav tm="0">
                                          <p:val>
                                            <p:strVal val="0-#ppt_w/2"/>
                                          </p:val>
                                        </p:tav>
                                        <p:tav tm="100000">
                                          <p:val>
                                            <p:strVal val="#ppt_x"/>
                                          </p:val>
                                        </p:tav>
                                      </p:tavLst>
                                    </p:anim>
                                    <p:anim calcmode="lin" valueType="num">
                                      <p:cBhvr additive="base">
                                        <p:cTn id="16" dur="500" fill="hold"/>
                                        <p:tgtEl>
                                          <p:spTgt spid="33"/>
                                        </p:tgtEl>
                                        <p:attrNameLst>
                                          <p:attrName>ppt_y</p:attrName>
                                        </p:attrNameLst>
                                      </p:cBhvr>
                                      <p:tavLst>
                                        <p:tav tm="0">
                                          <p:val>
                                            <p:strVal val="#ppt_y"/>
                                          </p:val>
                                        </p:tav>
                                        <p:tav tm="100000">
                                          <p:val>
                                            <p:strVal val="#ppt_y"/>
                                          </p:val>
                                        </p:tav>
                                      </p:tavLst>
                                    </p:anim>
                                  </p:childTnLst>
                                </p:cTn>
                              </p:par>
                            </p:childTnLst>
                          </p:cTn>
                        </p:par>
                        <p:par>
                          <p:cTn id="17" fill="hold">
                            <p:stCondLst>
                              <p:cond delay="2500"/>
                            </p:stCondLst>
                            <p:childTnLst>
                              <p:par>
                                <p:cTn id="18" presetID="16" presetClass="entr" presetSubtype="21" fill="hold" nodeType="afterEffect" nodePh="1">
                                  <p:stCondLst>
                                    <p:cond delay="0"/>
                                  </p:stCondLst>
                                  <p:endCondLst>
                                    <p:cond evt="begin" delay="0">
                                      <p:tn val="18"/>
                                    </p:cond>
                                  </p:endCondLst>
                                  <p:childTnLst>
                                    <p:set>
                                      <p:cBhvr>
                                        <p:cTn id="19" dur="1" fill="hold">
                                          <p:stCondLst>
                                            <p:cond delay="0"/>
                                          </p:stCondLst>
                                        </p:cTn>
                                        <p:tgtEl>
                                          <p:spTgt spid="10">
                                            <p:txEl>
                                              <p:pRg st="0" end="0"/>
                                            </p:txEl>
                                          </p:spTgt>
                                        </p:tgtEl>
                                        <p:attrNameLst>
                                          <p:attrName>style.visibility</p:attrName>
                                        </p:attrNameLst>
                                      </p:cBhvr>
                                      <p:to>
                                        <p:strVal val="visible"/>
                                      </p:to>
                                    </p:set>
                                    <p:animEffect transition="in" filter="barn(inVertical)">
                                      <p:cBhvr>
                                        <p:cTn id="20" dur="500"/>
                                        <p:tgtEl>
                                          <p:spTgt spid="10">
                                            <p:txEl>
                                              <p:pRg st="0" end="0"/>
                                            </p:txEl>
                                          </p:spTgt>
                                        </p:tgtEl>
                                      </p:cBhvr>
                                    </p:animEffect>
                                  </p:childTnLst>
                                </p:cTn>
                              </p:par>
                            </p:childTnLst>
                          </p:cTn>
                        </p:par>
                        <p:par>
                          <p:cTn id="21" fill="hold">
                            <p:stCondLst>
                              <p:cond delay="3000"/>
                            </p:stCondLst>
                            <p:childTnLst>
                              <p:par>
                                <p:cTn id="22" presetID="16" presetClass="entr" presetSubtype="21" fill="hold" nodeType="afterEffect">
                                  <p:stCondLst>
                                    <p:cond delay="0"/>
                                  </p:stCondLst>
                                  <p:childTnLst>
                                    <p:set>
                                      <p:cBhvr>
                                        <p:cTn id="23" dur="1" fill="hold">
                                          <p:stCondLst>
                                            <p:cond delay="0"/>
                                          </p:stCondLst>
                                        </p:cTn>
                                        <p:tgtEl>
                                          <p:spTgt spid="12">
                                            <p:txEl>
                                              <p:pRg st="0" end="0"/>
                                            </p:txEl>
                                          </p:spTgt>
                                        </p:tgtEl>
                                        <p:attrNameLst>
                                          <p:attrName>style.visibility</p:attrName>
                                        </p:attrNameLst>
                                      </p:cBhvr>
                                      <p:to>
                                        <p:strVal val="visible"/>
                                      </p:to>
                                    </p:set>
                                    <p:animEffect transition="in" filter="barn(inVertical)">
                                      <p:cBhvr>
                                        <p:cTn id="24" dur="500"/>
                                        <p:tgtEl>
                                          <p:spTgt spid="12">
                                            <p:txEl>
                                              <p:pRg st="0" end="0"/>
                                            </p:txEl>
                                          </p:spTgt>
                                        </p:tgtEl>
                                      </p:cBhvr>
                                    </p:animEffect>
                                  </p:childTnLst>
                                </p:cTn>
                              </p:par>
                            </p:childTnLst>
                          </p:cTn>
                        </p:par>
                        <p:par>
                          <p:cTn id="25" fill="hold">
                            <p:stCondLst>
                              <p:cond delay="3500"/>
                            </p:stCondLst>
                            <p:childTnLst>
                              <p:par>
                                <p:cTn id="26" presetID="16" presetClass="entr" presetSubtype="21" fill="hold" nodeType="afterEffect">
                                  <p:stCondLst>
                                    <p:cond delay="0"/>
                                  </p:stCondLst>
                                  <p:childTnLst>
                                    <p:set>
                                      <p:cBhvr>
                                        <p:cTn id="27" dur="1" fill="hold">
                                          <p:stCondLst>
                                            <p:cond delay="0"/>
                                          </p:stCondLst>
                                        </p:cTn>
                                        <p:tgtEl>
                                          <p:spTgt spid="12">
                                            <p:txEl>
                                              <p:pRg st="1" end="1"/>
                                            </p:txEl>
                                          </p:spTgt>
                                        </p:tgtEl>
                                        <p:attrNameLst>
                                          <p:attrName>style.visibility</p:attrName>
                                        </p:attrNameLst>
                                      </p:cBhvr>
                                      <p:to>
                                        <p:strVal val="visible"/>
                                      </p:to>
                                    </p:set>
                                    <p:animEffect transition="in" filter="barn(inVertical)">
                                      <p:cBhvr>
                                        <p:cTn id="28" dur="500"/>
                                        <p:tgtEl>
                                          <p:spTgt spid="12">
                                            <p:txEl>
                                              <p:pRg st="1" end="1"/>
                                            </p:txEl>
                                          </p:spTgt>
                                        </p:tgtEl>
                                      </p:cBhvr>
                                    </p:animEffect>
                                  </p:childTnLst>
                                </p:cTn>
                              </p:par>
                            </p:childTnLst>
                          </p:cTn>
                        </p:par>
                        <p:par>
                          <p:cTn id="29" fill="hold">
                            <p:stCondLst>
                              <p:cond delay="4000"/>
                            </p:stCondLst>
                            <p:childTnLst>
                              <p:par>
                                <p:cTn id="30" presetID="2" presetClass="entr" presetSubtype="12" fill="hold" nodeType="afterEffect">
                                  <p:stCondLst>
                                    <p:cond delay="0"/>
                                  </p:stCondLst>
                                  <p:childTnLst>
                                    <p:set>
                                      <p:cBhvr>
                                        <p:cTn id="31" dur="1" fill="hold">
                                          <p:stCondLst>
                                            <p:cond delay="0"/>
                                          </p:stCondLst>
                                        </p:cTn>
                                        <p:tgtEl>
                                          <p:spTgt spid="11"/>
                                        </p:tgtEl>
                                        <p:attrNameLst>
                                          <p:attrName>style.visibility</p:attrName>
                                        </p:attrNameLst>
                                      </p:cBhvr>
                                      <p:to>
                                        <p:strVal val="visible"/>
                                      </p:to>
                                    </p:set>
                                    <p:anim calcmode="lin" valueType="num">
                                      <p:cBhvr additive="base">
                                        <p:cTn id="32" dur="500" fill="hold"/>
                                        <p:tgtEl>
                                          <p:spTgt spid="11"/>
                                        </p:tgtEl>
                                        <p:attrNameLst>
                                          <p:attrName>ppt_x</p:attrName>
                                        </p:attrNameLst>
                                      </p:cBhvr>
                                      <p:tavLst>
                                        <p:tav tm="0">
                                          <p:val>
                                            <p:strVal val="0-#ppt_w/2"/>
                                          </p:val>
                                        </p:tav>
                                        <p:tav tm="100000">
                                          <p:val>
                                            <p:strVal val="#ppt_x"/>
                                          </p:val>
                                        </p:tav>
                                      </p:tavLst>
                                    </p:anim>
                                    <p:anim calcmode="lin" valueType="num">
                                      <p:cBhvr additive="base">
                                        <p:cTn id="33"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p:bldP spid="48"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2"/>
          <a:stretch>
            <a:fillRect/>
          </a:stretch>
        </p:blipFill>
        <p:spPr>
          <a:xfrm rot="16200000">
            <a:off x="145169" y="-145167"/>
            <a:ext cx="1268414" cy="1558750"/>
          </a:xfrm>
          <a:prstGeom prst="rect">
            <a:avLst/>
          </a:prstGeom>
        </p:spPr>
      </p:pic>
      <p:sp>
        <p:nvSpPr>
          <p:cNvPr id="9" name="文字方塊 8">
            <a:extLst>
              <a:ext uri="{FF2B5EF4-FFF2-40B4-BE49-F238E27FC236}">
                <a16:creationId xmlns:a16="http://schemas.microsoft.com/office/drawing/2014/main" id="{81D0666A-D96D-4B5B-9036-192FA53FE435}"/>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cxnSp>
        <p:nvCxnSpPr>
          <p:cNvPr id="33" name="直接连接符 33">
            <a:extLst>
              <a:ext uri="{FF2B5EF4-FFF2-40B4-BE49-F238E27FC236}">
                <a16:creationId xmlns:a16="http://schemas.microsoft.com/office/drawing/2014/main" id="{DFF80DCD-8EF0-4D2F-8380-59FA348D932C}"/>
              </a:ext>
            </a:extLst>
          </p:cNvPr>
          <p:cNvCxnSpPr/>
          <p:nvPr/>
        </p:nvCxnSpPr>
        <p:spPr>
          <a:xfrm>
            <a:off x="1177167" y="1046746"/>
            <a:ext cx="10585176"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6" name="標題 1"/>
          <p:cNvSpPr txBox="1">
            <a:spLocks/>
          </p:cNvSpPr>
          <p:nvPr/>
        </p:nvSpPr>
        <p:spPr>
          <a:xfrm>
            <a:off x="854426" y="112999"/>
            <a:ext cx="5288853"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7-2 </a:t>
            </a:r>
            <a:r>
              <a:rPr lang="zh-TW" altLang="en-US" sz="2400" b="1" dirty="0">
                <a:solidFill>
                  <a:srgbClr val="E06741"/>
                </a:solidFill>
              </a:rPr>
              <a:t>實務案例</a:t>
            </a:r>
            <a:r>
              <a:rPr lang="en-US" altLang="zh-TW" sz="2400" b="1" dirty="0">
                <a:solidFill>
                  <a:srgbClr val="E06741"/>
                </a:solidFill>
              </a:rPr>
              <a:t>-</a:t>
            </a:r>
            <a:r>
              <a:rPr lang="zh-TW" altLang="en-US" sz="2400" b="1" dirty="0">
                <a:solidFill>
                  <a:srgbClr val="E06741"/>
                </a:solidFill>
              </a:rPr>
              <a:t>漁產履歷</a:t>
            </a:r>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sp>
        <p:nvSpPr>
          <p:cNvPr id="48" name="文字方塊 47">
            <a:extLst>
              <a:ext uri="{FF2B5EF4-FFF2-40B4-BE49-F238E27FC236}">
                <a16:creationId xmlns:a16="http://schemas.microsoft.com/office/drawing/2014/main" id="{AD7F4831-1A36-4A2F-ACBE-344F724510DC}"/>
              </a:ext>
            </a:extLst>
          </p:cNvPr>
          <p:cNvSpPr txBox="1"/>
          <p:nvPr/>
        </p:nvSpPr>
        <p:spPr>
          <a:xfrm>
            <a:off x="5130089" y="350241"/>
            <a:ext cx="1473480"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-1</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案例介紹</a:t>
            </a:r>
          </a:p>
        </p:txBody>
      </p:sp>
      <p:sp>
        <p:nvSpPr>
          <p:cNvPr id="10" name="文字方塊 9">
            <a:extLst>
              <a:ext uri="{FF2B5EF4-FFF2-40B4-BE49-F238E27FC236}">
                <a16:creationId xmlns:a16="http://schemas.microsoft.com/office/drawing/2014/main" id="{BF94E171-0176-49DD-BE6C-DB2D96B94A88}"/>
              </a:ext>
            </a:extLst>
          </p:cNvPr>
          <p:cNvSpPr txBox="1"/>
          <p:nvPr/>
        </p:nvSpPr>
        <p:spPr>
          <a:xfrm>
            <a:off x="1177167" y="1816567"/>
            <a:ext cx="9663430" cy="578492"/>
          </a:xfrm>
          <a:prstGeom prst="rect">
            <a:avLst/>
          </a:prstGeom>
          <a:noFill/>
        </p:spPr>
        <p:txBody>
          <a:bodyPr wrap="square" rtlCol="0">
            <a:spAutoFit/>
          </a:bodyPr>
          <a:lstStyle/>
          <a:p>
            <a:pPr marL="342900" indent="-342900">
              <a:lnSpc>
                <a:spcPct val="150000"/>
              </a:lnSpc>
              <a:buBlip>
                <a:blip r:embed="rId3"/>
              </a:buBlip>
            </a:pP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sp>
        <p:nvSpPr>
          <p:cNvPr id="12" name="文字方塊 11">
            <a:extLst>
              <a:ext uri="{FF2B5EF4-FFF2-40B4-BE49-F238E27FC236}">
                <a16:creationId xmlns:a16="http://schemas.microsoft.com/office/drawing/2014/main" id="{BF94E171-0176-49DD-BE6C-DB2D96B94A88}"/>
              </a:ext>
            </a:extLst>
          </p:cNvPr>
          <p:cNvSpPr txBox="1"/>
          <p:nvPr/>
        </p:nvSpPr>
        <p:spPr>
          <a:xfrm>
            <a:off x="1311564" y="2175622"/>
            <a:ext cx="9663430" cy="2862322"/>
          </a:xfrm>
          <a:prstGeom prst="rect">
            <a:avLst/>
          </a:prstGeom>
          <a:noFill/>
        </p:spPr>
        <p:txBody>
          <a:bodyPr wrap="square" rtlCol="0">
            <a:spAutoFit/>
          </a:bodyPr>
          <a:lstStyle/>
          <a:p>
            <a:pPr marL="342900" indent="-342900">
              <a:lnSpc>
                <a:spcPct val="150000"/>
              </a:lnSpc>
              <a:buBlip>
                <a:blip r:embed="rId3"/>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石斑魚養殖透過區塊鏈技術之效果</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lvl="1">
              <a:lnSpc>
                <a:spcPct val="150000"/>
              </a:lnSpc>
            </a:pPr>
            <a:r>
              <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t>1.</a:t>
            </a: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提供產出的追溯來源與交易資訊</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lvl="1">
              <a:lnSpc>
                <a:spcPct val="150000"/>
              </a:lnSpc>
            </a:pPr>
            <a:r>
              <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t>2.</a:t>
            </a: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交易作業更快速、更有效率</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lvl="1">
              <a:lnSpc>
                <a:spcPct val="150000"/>
              </a:lnSpc>
            </a:pPr>
            <a:r>
              <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t>3.</a:t>
            </a: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提高產銷經營模式及降低經營成本。</a:t>
            </a:r>
          </a:p>
          <a:p>
            <a:pPr marL="342900" indent="-342900">
              <a:lnSpc>
                <a:spcPct val="150000"/>
              </a:lnSpc>
              <a:buBlip>
                <a:blip r:embed="rId3"/>
              </a:buBlip>
            </a:pPr>
            <a:endPar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pic>
        <p:nvPicPr>
          <p:cNvPr id="13" name="圖片 1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825896" y="2105813"/>
            <a:ext cx="2761782" cy="2761782"/>
          </a:xfrm>
          <a:prstGeom prst="rect">
            <a:avLst/>
          </a:prstGeom>
        </p:spPr>
      </p:pic>
    </p:spTree>
    <p:extLst>
      <p:ext uri="{BB962C8B-B14F-4D97-AF65-F5344CB8AC3E}">
        <p14:creationId xmlns:p14="http://schemas.microsoft.com/office/powerpoint/2010/main" val="1503402855"/>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circle(in)">
                                      <p:cBhvr>
                                        <p:cTn id="7" dur="1500"/>
                                        <p:tgtEl>
                                          <p:spTgt spid="46"/>
                                        </p:tgtEl>
                                      </p:cBhvr>
                                    </p:animEffect>
                                  </p:childTnLst>
                                </p:cTn>
                              </p:par>
                            </p:childTnLst>
                          </p:cTn>
                        </p:par>
                        <p:par>
                          <p:cTn id="8" fill="hold">
                            <p:stCondLst>
                              <p:cond delay="1500"/>
                            </p:stCondLst>
                            <p:childTnLst>
                              <p:par>
                                <p:cTn id="9" presetID="16" presetClass="entr" presetSubtype="21" fill="hold" grpId="0" nodeType="afterEffect">
                                  <p:stCondLst>
                                    <p:cond delay="0"/>
                                  </p:stCondLst>
                                  <p:childTnLst>
                                    <p:set>
                                      <p:cBhvr>
                                        <p:cTn id="10" dur="1" fill="hold">
                                          <p:stCondLst>
                                            <p:cond delay="0"/>
                                          </p:stCondLst>
                                        </p:cTn>
                                        <p:tgtEl>
                                          <p:spTgt spid="48"/>
                                        </p:tgtEl>
                                        <p:attrNameLst>
                                          <p:attrName>style.visibility</p:attrName>
                                        </p:attrNameLst>
                                      </p:cBhvr>
                                      <p:to>
                                        <p:strVal val="visible"/>
                                      </p:to>
                                    </p:set>
                                    <p:animEffect transition="in" filter="barn(inVertical)">
                                      <p:cBhvr>
                                        <p:cTn id="11" dur="500"/>
                                        <p:tgtEl>
                                          <p:spTgt spid="48"/>
                                        </p:tgtEl>
                                      </p:cBhvr>
                                    </p:animEffect>
                                  </p:childTnLst>
                                </p:cTn>
                              </p:par>
                            </p:childTnLst>
                          </p:cTn>
                        </p:par>
                        <p:par>
                          <p:cTn id="12" fill="hold">
                            <p:stCondLst>
                              <p:cond delay="2000"/>
                            </p:stCondLst>
                            <p:childTnLst>
                              <p:par>
                                <p:cTn id="13" presetID="2" presetClass="entr" presetSubtype="8" fill="hold" nodeType="afterEffect">
                                  <p:stCondLst>
                                    <p:cond delay="0"/>
                                  </p:stCondLst>
                                  <p:childTnLst>
                                    <p:set>
                                      <p:cBhvr>
                                        <p:cTn id="14" dur="1" fill="hold">
                                          <p:stCondLst>
                                            <p:cond delay="0"/>
                                          </p:stCondLst>
                                        </p:cTn>
                                        <p:tgtEl>
                                          <p:spTgt spid="33"/>
                                        </p:tgtEl>
                                        <p:attrNameLst>
                                          <p:attrName>style.visibility</p:attrName>
                                        </p:attrNameLst>
                                      </p:cBhvr>
                                      <p:to>
                                        <p:strVal val="visible"/>
                                      </p:to>
                                    </p:set>
                                    <p:anim calcmode="lin" valueType="num">
                                      <p:cBhvr additive="base">
                                        <p:cTn id="15" dur="500" fill="hold"/>
                                        <p:tgtEl>
                                          <p:spTgt spid="33"/>
                                        </p:tgtEl>
                                        <p:attrNameLst>
                                          <p:attrName>ppt_x</p:attrName>
                                        </p:attrNameLst>
                                      </p:cBhvr>
                                      <p:tavLst>
                                        <p:tav tm="0">
                                          <p:val>
                                            <p:strVal val="0-#ppt_w/2"/>
                                          </p:val>
                                        </p:tav>
                                        <p:tav tm="100000">
                                          <p:val>
                                            <p:strVal val="#ppt_x"/>
                                          </p:val>
                                        </p:tav>
                                      </p:tavLst>
                                    </p:anim>
                                    <p:anim calcmode="lin" valueType="num">
                                      <p:cBhvr additive="base">
                                        <p:cTn id="16" dur="500" fill="hold"/>
                                        <p:tgtEl>
                                          <p:spTgt spid="33"/>
                                        </p:tgtEl>
                                        <p:attrNameLst>
                                          <p:attrName>ppt_y</p:attrName>
                                        </p:attrNameLst>
                                      </p:cBhvr>
                                      <p:tavLst>
                                        <p:tav tm="0">
                                          <p:val>
                                            <p:strVal val="#ppt_y"/>
                                          </p:val>
                                        </p:tav>
                                        <p:tav tm="100000">
                                          <p:val>
                                            <p:strVal val="#ppt_y"/>
                                          </p:val>
                                        </p:tav>
                                      </p:tavLst>
                                    </p:anim>
                                  </p:childTnLst>
                                </p:cTn>
                              </p:par>
                            </p:childTnLst>
                          </p:cTn>
                        </p:par>
                        <p:par>
                          <p:cTn id="17" fill="hold">
                            <p:stCondLst>
                              <p:cond delay="2500"/>
                            </p:stCondLst>
                            <p:childTnLst>
                              <p:par>
                                <p:cTn id="18" presetID="16" presetClass="entr" presetSubtype="21" fill="hold" nodeType="afterEffect" nodePh="1">
                                  <p:stCondLst>
                                    <p:cond delay="0"/>
                                  </p:stCondLst>
                                  <p:endCondLst>
                                    <p:cond evt="begin" delay="0">
                                      <p:tn val="18"/>
                                    </p:cond>
                                  </p:endCondLst>
                                  <p:childTnLst>
                                    <p:set>
                                      <p:cBhvr>
                                        <p:cTn id="19" dur="1" fill="hold">
                                          <p:stCondLst>
                                            <p:cond delay="0"/>
                                          </p:stCondLst>
                                        </p:cTn>
                                        <p:tgtEl>
                                          <p:spTgt spid="10">
                                            <p:txEl>
                                              <p:pRg st="0" end="0"/>
                                            </p:txEl>
                                          </p:spTgt>
                                        </p:tgtEl>
                                        <p:attrNameLst>
                                          <p:attrName>style.visibility</p:attrName>
                                        </p:attrNameLst>
                                      </p:cBhvr>
                                      <p:to>
                                        <p:strVal val="visible"/>
                                      </p:to>
                                    </p:set>
                                    <p:animEffect transition="in" filter="barn(inVertical)">
                                      <p:cBhvr>
                                        <p:cTn id="20" dur="500"/>
                                        <p:tgtEl>
                                          <p:spTgt spid="10">
                                            <p:txEl>
                                              <p:pRg st="0" end="0"/>
                                            </p:txEl>
                                          </p:spTgt>
                                        </p:tgtEl>
                                      </p:cBhvr>
                                    </p:animEffect>
                                  </p:childTnLst>
                                </p:cTn>
                              </p:par>
                            </p:childTnLst>
                          </p:cTn>
                        </p:par>
                        <p:par>
                          <p:cTn id="21" fill="hold">
                            <p:stCondLst>
                              <p:cond delay="3000"/>
                            </p:stCondLst>
                            <p:childTnLst>
                              <p:par>
                                <p:cTn id="22" presetID="16" presetClass="entr" presetSubtype="21" fill="hold" nodeType="afterEffect">
                                  <p:stCondLst>
                                    <p:cond delay="0"/>
                                  </p:stCondLst>
                                  <p:childTnLst>
                                    <p:set>
                                      <p:cBhvr>
                                        <p:cTn id="23" dur="1" fill="hold">
                                          <p:stCondLst>
                                            <p:cond delay="0"/>
                                          </p:stCondLst>
                                        </p:cTn>
                                        <p:tgtEl>
                                          <p:spTgt spid="12">
                                            <p:txEl>
                                              <p:pRg st="0" end="0"/>
                                            </p:txEl>
                                          </p:spTgt>
                                        </p:tgtEl>
                                        <p:attrNameLst>
                                          <p:attrName>style.visibility</p:attrName>
                                        </p:attrNameLst>
                                      </p:cBhvr>
                                      <p:to>
                                        <p:strVal val="visible"/>
                                      </p:to>
                                    </p:set>
                                    <p:animEffect transition="in" filter="barn(inVertical)">
                                      <p:cBhvr>
                                        <p:cTn id="24" dur="500"/>
                                        <p:tgtEl>
                                          <p:spTgt spid="12">
                                            <p:txEl>
                                              <p:pRg st="0" end="0"/>
                                            </p:txEl>
                                          </p:spTgt>
                                        </p:tgtEl>
                                      </p:cBhvr>
                                    </p:animEffect>
                                  </p:childTnLst>
                                </p:cTn>
                              </p:par>
                            </p:childTnLst>
                          </p:cTn>
                        </p:par>
                        <p:par>
                          <p:cTn id="25" fill="hold">
                            <p:stCondLst>
                              <p:cond delay="3500"/>
                            </p:stCondLst>
                            <p:childTnLst>
                              <p:par>
                                <p:cTn id="26" presetID="16" presetClass="entr" presetSubtype="21" fill="hold" nodeType="afterEffect">
                                  <p:stCondLst>
                                    <p:cond delay="0"/>
                                  </p:stCondLst>
                                  <p:childTnLst>
                                    <p:set>
                                      <p:cBhvr>
                                        <p:cTn id="27" dur="1" fill="hold">
                                          <p:stCondLst>
                                            <p:cond delay="0"/>
                                          </p:stCondLst>
                                        </p:cTn>
                                        <p:tgtEl>
                                          <p:spTgt spid="12">
                                            <p:txEl>
                                              <p:pRg st="1" end="1"/>
                                            </p:txEl>
                                          </p:spTgt>
                                        </p:tgtEl>
                                        <p:attrNameLst>
                                          <p:attrName>style.visibility</p:attrName>
                                        </p:attrNameLst>
                                      </p:cBhvr>
                                      <p:to>
                                        <p:strVal val="visible"/>
                                      </p:to>
                                    </p:set>
                                    <p:animEffect transition="in" filter="barn(inVertical)">
                                      <p:cBhvr>
                                        <p:cTn id="28" dur="500"/>
                                        <p:tgtEl>
                                          <p:spTgt spid="12">
                                            <p:txEl>
                                              <p:pRg st="1" end="1"/>
                                            </p:txEl>
                                          </p:spTgt>
                                        </p:tgtEl>
                                      </p:cBhvr>
                                    </p:animEffect>
                                  </p:childTnLst>
                                </p:cTn>
                              </p:par>
                            </p:childTnLst>
                          </p:cTn>
                        </p:par>
                        <p:par>
                          <p:cTn id="29" fill="hold">
                            <p:stCondLst>
                              <p:cond delay="4000"/>
                            </p:stCondLst>
                            <p:childTnLst>
                              <p:par>
                                <p:cTn id="30" presetID="16" presetClass="entr" presetSubtype="21" fill="hold" nodeType="afterEffect">
                                  <p:stCondLst>
                                    <p:cond delay="0"/>
                                  </p:stCondLst>
                                  <p:childTnLst>
                                    <p:set>
                                      <p:cBhvr>
                                        <p:cTn id="31" dur="1" fill="hold">
                                          <p:stCondLst>
                                            <p:cond delay="0"/>
                                          </p:stCondLst>
                                        </p:cTn>
                                        <p:tgtEl>
                                          <p:spTgt spid="12">
                                            <p:txEl>
                                              <p:pRg st="2" end="2"/>
                                            </p:txEl>
                                          </p:spTgt>
                                        </p:tgtEl>
                                        <p:attrNameLst>
                                          <p:attrName>style.visibility</p:attrName>
                                        </p:attrNameLst>
                                      </p:cBhvr>
                                      <p:to>
                                        <p:strVal val="visible"/>
                                      </p:to>
                                    </p:set>
                                    <p:animEffect transition="in" filter="barn(inVertical)">
                                      <p:cBhvr>
                                        <p:cTn id="32" dur="500"/>
                                        <p:tgtEl>
                                          <p:spTgt spid="12">
                                            <p:txEl>
                                              <p:pRg st="2" end="2"/>
                                            </p:txEl>
                                          </p:spTgt>
                                        </p:tgtEl>
                                      </p:cBhvr>
                                    </p:animEffect>
                                  </p:childTnLst>
                                </p:cTn>
                              </p:par>
                            </p:childTnLst>
                          </p:cTn>
                        </p:par>
                        <p:par>
                          <p:cTn id="33" fill="hold">
                            <p:stCondLst>
                              <p:cond delay="4500"/>
                            </p:stCondLst>
                            <p:childTnLst>
                              <p:par>
                                <p:cTn id="34" presetID="16" presetClass="entr" presetSubtype="21" fill="hold" nodeType="afterEffect">
                                  <p:stCondLst>
                                    <p:cond delay="0"/>
                                  </p:stCondLst>
                                  <p:childTnLst>
                                    <p:set>
                                      <p:cBhvr>
                                        <p:cTn id="35" dur="1" fill="hold">
                                          <p:stCondLst>
                                            <p:cond delay="0"/>
                                          </p:stCondLst>
                                        </p:cTn>
                                        <p:tgtEl>
                                          <p:spTgt spid="12">
                                            <p:txEl>
                                              <p:pRg st="3" end="3"/>
                                            </p:txEl>
                                          </p:spTgt>
                                        </p:tgtEl>
                                        <p:attrNameLst>
                                          <p:attrName>style.visibility</p:attrName>
                                        </p:attrNameLst>
                                      </p:cBhvr>
                                      <p:to>
                                        <p:strVal val="visible"/>
                                      </p:to>
                                    </p:set>
                                    <p:animEffect transition="in" filter="barn(inVertical)">
                                      <p:cBhvr>
                                        <p:cTn id="36" dur="500"/>
                                        <p:tgtEl>
                                          <p:spTgt spid="12">
                                            <p:txEl>
                                              <p:pRg st="3" end="3"/>
                                            </p:txEl>
                                          </p:spTgt>
                                        </p:tgtEl>
                                      </p:cBhvr>
                                    </p:animEffect>
                                  </p:childTnLst>
                                </p:cTn>
                              </p:par>
                            </p:childTnLst>
                          </p:cTn>
                        </p:par>
                        <p:par>
                          <p:cTn id="37" fill="hold">
                            <p:stCondLst>
                              <p:cond delay="5000"/>
                            </p:stCondLst>
                            <p:childTnLst>
                              <p:par>
                                <p:cTn id="38" presetID="2" presetClass="entr" presetSubtype="4" fill="hold" nodeType="afterEffect">
                                  <p:stCondLst>
                                    <p:cond delay="0"/>
                                  </p:stCondLst>
                                  <p:childTnLst>
                                    <p:set>
                                      <p:cBhvr>
                                        <p:cTn id="39" dur="1" fill="hold">
                                          <p:stCondLst>
                                            <p:cond delay="0"/>
                                          </p:stCondLst>
                                        </p:cTn>
                                        <p:tgtEl>
                                          <p:spTgt spid="13"/>
                                        </p:tgtEl>
                                        <p:attrNameLst>
                                          <p:attrName>style.visibility</p:attrName>
                                        </p:attrNameLst>
                                      </p:cBhvr>
                                      <p:to>
                                        <p:strVal val="visible"/>
                                      </p:to>
                                    </p:set>
                                    <p:anim calcmode="lin" valueType="num">
                                      <p:cBhvr additive="base">
                                        <p:cTn id="40" dur="500" fill="hold"/>
                                        <p:tgtEl>
                                          <p:spTgt spid="13"/>
                                        </p:tgtEl>
                                        <p:attrNameLst>
                                          <p:attrName>ppt_x</p:attrName>
                                        </p:attrNameLst>
                                      </p:cBhvr>
                                      <p:tavLst>
                                        <p:tav tm="0">
                                          <p:val>
                                            <p:strVal val="#ppt_x"/>
                                          </p:val>
                                        </p:tav>
                                        <p:tav tm="100000">
                                          <p:val>
                                            <p:strVal val="#ppt_x"/>
                                          </p:val>
                                        </p:tav>
                                      </p:tavLst>
                                    </p:anim>
                                    <p:anim calcmode="lin" valueType="num">
                                      <p:cBhvr additive="base">
                                        <p:cTn id="41"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p:bldP spid="48"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2"/>
          <a:stretch>
            <a:fillRect/>
          </a:stretch>
        </p:blipFill>
        <p:spPr>
          <a:xfrm rot="16200000">
            <a:off x="145169" y="-145167"/>
            <a:ext cx="1268414" cy="1558750"/>
          </a:xfrm>
          <a:prstGeom prst="rect">
            <a:avLst/>
          </a:prstGeom>
        </p:spPr>
      </p:pic>
      <p:sp>
        <p:nvSpPr>
          <p:cNvPr id="9" name="文字方塊 8">
            <a:extLst>
              <a:ext uri="{FF2B5EF4-FFF2-40B4-BE49-F238E27FC236}">
                <a16:creationId xmlns:a16="http://schemas.microsoft.com/office/drawing/2014/main" id="{81D0666A-D96D-4B5B-9036-192FA53FE435}"/>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cxnSp>
        <p:nvCxnSpPr>
          <p:cNvPr id="33" name="直接连接符 33">
            <a:extLst>
              <a:ext uri="{FF2B5EF4-FFF2-40B4-BE49-F238E27FC236}">
                <a16:creationId xmlns:a16="http://schemas.microsoft.com/office/drawing/2014/main" id="{DFF80DCD-8EF0-4D2F-8380-59FA348D932C}"/>
              </a:ext>
            </a:extLst>
          </p:cNvPr>
          <p:cNvCxnSpPr/>
          <p:nvPr/>
        </p:nvCxnSpPr>
        <p:spPr>
          <a:xfrm>
            <a:off x="1177167" y="1046746"/>
            <a:ext cx="10585176"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6" name="標題 1"/>
          <p:cNvSpPr txBox="1">
            <a:spLocks/>
          </p:cNvSpPr>
          <p:nvPr/>
        </p:nvSpPr>
        <p:spPr>
          <a:xfrm>
            <a:off x="854426" y="112999"/>
            <a:ext cx="5288853"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7-2 </a:t>
            </a:r>
            <a:r>
              <a:rPr lang="zh-TW" altLang="en-US" sz="2400" b="1" dirty="0">
                <a:solidFill>
                  <a:srgbClr val="E06741"/>
                </a:solidFill>
              </a:rPr>
              <a:t>實務案例</a:t>
            </a:r>
            <a:r>
              <a:rPr lang="en-US" altLang="zh-TW" sz="2400" b="1" dirty="0">
                <a:solidFill>
                  <a:srgbClr val="E06741"/>
                </a:solidFill>
              </a:rPr>
              <a:t>-</a:t>
            </a:r>
            <a:r>
              <a:rPr lang="zh-TW" altLang="en-US" sz="2400" b="1" dirty="0">
                <a:solidFill>
                  <a:srgbClr val="E06741"/>
                </a:solidFill>
              </a:rPr>
              <a:t>漁產履歷</a:t>
            </a:r>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sp>
        <p:nvSpPr>
          <p:cNvPr id="48" name="文字方塊 47">
            <a:extLst>
              <a:ext uri="{FF2B5EF4-FFF2-40B4-BE49-F238E27FC236}">
                <a16:creationId xmlns:a16="http://schemas.microsoft.com/office/drawing/2014/main" id="{AD7F4831-1A36-4A2F-ACBE-344F724510DC}"/>
              </a:ext>
            </a:extLst>
          </p:cNvPr>
          <p:cNvSpPr txBox="1"/>
          <p:nvPr/>
        </p:nvSpPr>
        <p:spPr>
          <a:xfrm>
            <a:off x="5130089" y="350241"/>
            <a:ext cx="2242922"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-2</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案例區塊鍊運用</a:t>
            </a:r>
          </a:p>
        </p:txBody>
      </p:sp>
      <p:sp>
        <p:nvSpPr>
          <p:cNvPr id="10" name="文字方塊 9">
            <a:extLst>
              <a:ext uri="{FF2B5EF4-FFF2-40B4-BE49-F238E27FC236}">
                <a16:creationId xmlns:a16="http://schemas.microsoft.com/office/drawing/2014/main" id="{BF94E171-0176-49DD-BE6C-DB2D96B94A88}"/>
              </a:ext>
            </a:extLst>
          </p:cNvPr>
          <p:cNvSpPr txBox="1"/>
          <p:nvPr/>
        </p:nvSpPr>
        <p:spPr>
          <a:xfrm>
            <a:off x="1177167" y="1816567"/>
            <a:ext cx="9663430" cy="578492"/>
          </a:xfrm>
          <a:prstGeom prst="rect">
            <a:avLst/>
          </a:prstGeom>
          <a:noFill/>
        </p:spPr>
        <p:txBody>
          <a:bodyPr wrap="square" rtlCol="0">
            <a:spAutoFit/>
          </a:bodyPr>
          <a:lstStyle/>
          <a:p>
            <a:pPr marL="342900" indent="-342900">
              <a:lnSpc>
                <a:spcPct val="150000"/>
              </a:lnSpc>
              <a:buBlip>
                <a:blip r:embed="rId3"/>
              </a:buBlip>
            </a:pP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sp>
        <p:nvSpPr>
          <p:cNvPr id="12" name="文字方塊 11">
            <a:extLst>
              <a:ext uri="{FF2B5EF4-FFF2-40B4-BE49-F238E27FC236}">
                <a16:creationId xmlns:a16="http://schemas.microsoft.com/office/drawing/2014/main" id="{BF94E171-0176-49DD-BE6C-DB2D96B94A88}"/>
              </a:ext>
            </a:extLst>
          </p:cNvPr>
          <p:cNvSpPr txBox="1"/>
          <p:nvPr/>
        </p:nvSpPr>
        <p:spPr>
          <a:xfrm>
            <a:off x="1177167" y="1340202"/>
            <a:ext cx="9663430" cy="646331"/>
          </a:xfrm>
          <a:prstGeom prst="rect">
            <a:avLst/>
          </a:prstGeom>
          <a:noFill/>
        </p:spPr>
        <p:txBody>
          <a:bodyPr wrap="square" rtlCol="0">
            <a:spAutoFit/>
          </a:bodyPr>
          <a:lstStyle/>
          <a:p>
            <a:pPr marL="342900" indent="-342900">
              <a:lnSpc>
                <a:spcPct val="150000"/>
              </a:lnSpc>
              <a:buBlip>
                <a:blip r:embed="rId3"/>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傳統經營模式</a:t>
            </a: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sym typeface="Wingdings" panose="05000000000000000000" pitchFamily="2" charset="2"/>
              </a:rPr>
              <a:t>：</a:t>
            </a:r>
            <a:r>
              <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sym typeface="Wingdings" panose="05000000000000000000" pitchFamily="2" charset="2"/>
              </a:rPr>
              <a:t>(</a:t>
            </a: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sym typeface="Wingdings" panose="05000000000000000000" pitchFamily="2" charset="2"/>
              </a:rPr>
              <a:t>三階段七步驟</a:t>
            </a:r>
            <a:r>
              <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sym typeface="Wingdings" panose="05000000000000000000" pitchFamily="2" charset="2"/>
              </a:rPr>
              <a:t>)</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pic>
        <p:nvPicPr>
          <p:cNvPr id="2" name="圖片 1" descr="畫面剪輯"/>
          <p:cNvPicPr>
            <a:picLocks noChangeAspect="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922111" y="1816568"/>
            <a:ext cx="8442336" cy="4697008"/>
          </a:xfrm>
          <a:prstGeom prst="rect">
            <a:avLst/>
          </a:prstGeom>
        </p:spPr>
      </p:pic>
    </p:spTree>
    <p:extLst>
      <p:ext uri="{BB962C8B-B14F-4D97-AF65-F5344CB8AC3E}">
        <p14:creationId xmlns:p14="http://schemas.microsoft.com/office/powerpoint/2010/main" val="4001184738"/>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circle(in)">
                                      <p:cBhvr>
                                        <p:cTn id="7" dur="1500"/>
                                        <p:tgtEl>
                                          <p:spTgt spid="46"/>
                                        </p:tgtEl>
                                      </p:cBhvr>
                                    </p:animEffect>
                                  </p:childTnLst>
                                </p:cTn>
                              </p:par>
                            </p:childTnLst>
                          </p:cTn>
                        </p:par>
                        <p:par>
                          <p:cTn id="8" fill="hold">
                            <p:stCondLst>
                              <p:cond delay="1500"/>
                            </p:stCondLst>
                            <p:childTnLst>
                              <p:par>
                                <p:cTn id="9" presetID="16" presetClass="entr" presetSubtype="21" fill="hold" grpId="0" nodeType="afterEffect">
                                  <p:stCondLst>
                                    <p:cond delay="0"/>
                                  </p:stCondLst>
                                  <p:childTnLst>
                                    <p:set>
                                      <p:cBhvr>
                                        <p:cTn id="10" dur="1" fill="hold">
                                          <p:stCondLst>
                                            <p:cond delay="0"/>
                                          </p:stCondLst>
                                        </p:cTn>
                                        <p:tgtEl>
                                          <p:spTgt spid="48"/>
                                        </p:tgtEl>
                                        <p:attrNameLst>
                                          <p:attrName>style.visibility</p:attrName>
                                        </p:attrNameLst>
                                      </p:cBhvr>
                                      <p:to>
                                        <p:strVal val="visible"/>
                                      </p:to>
                                    </p:set>
                                    <p:animEffect transition="in" filter="barn(inVertical)">
                                      <p:cBhvr>
                                        <p:cTn id="11" dur="500"/>
                                        <p:tgtEl>
                                          <p:spTgt spid="48"/>
                                        </p:tgtEl>
                                      </p:cBhvr>
                                    </p:animEffect>
                                  </p:childTnLst>
                                </p:cTn>
                              </p:par>
                            </p:childTnLst>
                          </p:cTn>
                        </p:par>
                        <p:par>
                          <p:cTn id="12" fill="hold">
                            <p:stCondLst>
                              <p:cond delay="2000"/>
                            </p:stCondLst>
                            <p:childTnLst>
                              <p:par>
                                <p:cTn id="13" presetID="2" presetClass="entr" presetSubtype="8" fill="hold" nodeType="afterEffect">
                                  <p:stCondLst>
                                    <p:cond delay="0"/>
                                  </p:stCondLst>
                                  <p:childTnLst>
                                    <p:set>
                                      <p:cBhvr>
                                        <p:cTn id="14" dur="1" fill="hold">
                                          <p:stCondLst>
                                            <p:cond delay="0"/>
                                          </p:stCondLst>
                                        </p:cTn>
                                        <p:tgtEl>
                                          <p:spTgt spid="33"/>
                                        </p:tgtEl>
                                        <p:attrNameLst>
                                          <p:attrName>style.visibility</p:attrName>
                                        </p:attrNameLst>
                                      </p:cBhvr>
                                      <p:to>
                                        <p:strVal val="visible"/>
                                      </p:to>
                                    </p:set>
                                    <p:anim calcmode="lin" valueType="num">
                                      <p:cBhvr additive="base">
                                        <p:cTn id="15" dur="500" fill="hold"/>
                                        <p:tgtEl>
                                          <p:spTgt spid="33"/>
                                        </p:tgtEl>
                                        <p:attrNameLst>
                                          <p:attrName>ppt_x</p:attrName>
                                        </p:attrNameLst>
                                      </p:cBhvr>
                                      <p:tavLst>
                                        <p:tav tm="0">
                                          <p:val>
                                            <p:strVal val="0-#ppt_w/2"/>
                                          </p:val>
                                        </p:tav>
                                        <p:tav tm="100000">
                                          <p:val>
                                            <p:strVal val="#ppt_x"/>
                                          </p:val>
                                        </p:tav>
                                      </p:tavLst>
                                    </p:anim>
                                    <p:anim calcmode="lin" valueType="num">
                                      <p:cBhvr additive="base">
                                        <p:cTn id="16" dur="500" fill="hold"/>
                                        <p:tgtEl>
                                          <p:spTgt spid="33"/>
                                        </p:tgtEl>
                                        <p:attrNameLst>
                                          <p:attrName>ppt_y</p:attrName>
                                        </p:attrNameLst>
                                      </p:cBhvr>
                                      <p:tavLst>
                                        <p:tav tm="0">
                                          <p:val>
                                            <p:strVal val="#ppt_y"/>
                                          </p:val>
                                        </p:tav>
                                        <p:tav tm="100000">
                                          <p:val>
                                            <p:strVal val="#ppt_y"/>
                                          </p:val>
                                        </p:tav>
                                      </p:tavLst>
                                    </p:anim>
                                  </p:childTnLst>
                                </p:cTn>
                              </p:par>
                            </p:childTnLst>
                          </p:cTn>
                        </p:par>
                        <p:par>
                          <p:cTn id="17" fill="hold">
                            <p:stCondLst>
                              <p:cond delay="2500"/>
                            </p:stCondLst>
                            <p:childTnLst>
                              <p:par>
                                <p:cTn id="18" presetID="16" presetClass="entr" presetSubtype="21" fill="hold" nodeType="afterEffect">
                                  <p:stCondLst>
                                    <p:cond delay="0"/>
                                  </p:stCondLst>
                                  <p:childTnLst>
                                    <p:set>
                                      <p:cBhvr>
                                        <p:cTn id="19" dur="1" fill="hold">
                                          <p:stCondLst>
                                            <p:cond delay="0"/>
                                          </p:stCondLst>
                                        </p:cTn>
                                        <p:tgtEl>
                                          <p:spTgt spid="12">
                                            <p:txEl>
                                              <p:pRg st="0" end="0"/>
                                            </p:txEl>
                                          </p:spTgt>
                                        </p:tgtEl>
                                        <p:attrNameLst>
                                          <p:attrName>style.visibility</p:attrName>
                                        </p:attrNameLst>
                                      </p:cBhvr>
                                      <p:to>
                                        <p:strVal val="visible"/>
                                      </p:to>
                                    </p:set>
                                    <p:animEffect transition="in" filter="barn(inVertical)">
                                      <p:cBhvr>
                                        <p:cTn id="20" dur="500"/>
                                        <p:tgtEl>
                                          <p:spTgt spid="12">
                                            <p:txEl>
                                              <p:pRg st="0" end="0"/>
                                            </p:txEl>
                                          </p:spTgt>
                                        </p:tgtEl>
                                      </p:cBhvr>
                                    </p:animEffect>
                                  </p:childTnLst>
                                </p:cTn>
                              </p:par>
                            </p:childTnLst>
                          </p:cTn>
                        </p:par>
                        <p:par>
                          <p:cTn id="21" fill="hold">
                            <p:stCondLst>
                              <p:cond delay="3000"/>
                            </p:stCondLst>
                            <p:childTnLst>
                              <p:par>
                                <p:cTn id="22" presetID="53" presetClass="entr" presetSubtype="16" fill="hold" nodeType="afterEffect">
                                  <p:stCondLst>
                                    <p:cond delay="0"/>
                                  </p:stCondLst>
                                  <p:childTnLst>
                                    <p:set>
                                      <p:cBhvr>
                                        <p:cTn id="23" dur="1" fill="hold">
                                          <p:stCondLst>
                                            <p:cond delay="0"/>
                                          </p:stCondLst>
                                        </p:cTn>
                                        <p:tgtEl>
                                          <p:spTgt spid="2"/>
                                        </p:tgtEl>
                                        <p:attrNameLst>
                                          <p:attrName>style.visibility</p:attrName>
                                        </p:attrNameLst>
                                      </p:cBhvr>
                                      <p:to>
                                        <p:strVal val="visible"/>
                                      </p:to>
                                    </p:set>
                                    <p:anim calcmode="lin" valueType="num">
                                      <p:cBhvr>
                                        <p:cTn id="24" dur="500" fill="hold"/>
                                        <p:tgtEl>
                                          <p:spTgt spid="2"/>
                                        </p:tgtEl>
                                        <p:attrNameLst>
                                          <p:attrName>ppt_w</p:attrName>
                                        </p:attrNameLst>
                                      </p:cBhvr>
                                      <p:tavLst>
                                        <p:tav tm="0">
                                          <p:val>
                                            <p:fltVal val="0"/>
                                          </p:val>
                                        </p:tav>
                                        <p:tav tm="100000">
                                          <p:val>
                                            <p:strVal val="#ppt_w"/>
                                          </p:val>
                                        </p:tav>
                                      </p:tavLst>
                                    </p:anim>
                                    <p:anim calcmode="lin" valueType="num">
                                      <p:cBhvr>
                                        <p:cTn id="25" dur="500" fill="hold"/>
                                        <p:tgtEl>
                                          <p:spTgt spid="2"/>
                                        </p:tgtEl>
                                        <p:attrNameLst>
                                          <p:attrName>ppt_h</p:attrName>
                                        </p:attrNameLst>
                                      </p:cBhvr>
                                      <p:tavLst>
                                        <p:tav tm="0">
                                          <p:val>
                                            <p:fltVal val="0"/>
                                          </p:val>
                                        </p:tav>
                                        <p:tav tm="100000">
                                          <p:val>
                                            <p:strVal val="#ppt_h"/>
                                          </p:val>
                                        </p:tav>
                                      </p:tavLst>
                                    </p:anim>
                                    <p:animEffect transition="in" filter="fade">
                                      <p:cBhvr>
                                        <p:cTn id="26"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p:bldP spid="48"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2"/>
          <a:stretch>
            <a:fillRect/>
          </a:stretch>
        </p:blipFill>
        <p:spPr>
          <a:xfrm rot="16200000">
            <a:off x="145169" y="-145167"/>
            <a:ext cx="1268414" cy="1558750"/>
          </a:xfrm>
          <a:prstGeom prst="rect">
            <a:avLst/>
          </a:prstGeom>
        </p:spPr>
      </p:pic>
      <p:sp>
        <p:nvSpPr>
          <p:cNvPr id="9" name="文字方塊 8">
            <a:extLst>
              <a:ext uri="{FF2B5EF4-FFF2-40B4-BE49-F238E27FC236}">
                <a16:creationId xmlns:a16="http://schemas.microsoft.com/office/drawing/2014/main" id="{81D0666A-D96D-4B5B-9036-192FA53FE435}"/>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cxnSp>
        <p:nvCxnSpPr>
          <p:cNvPr id="33" name="直接连接符 33">
            <a:extLst>
              <a:ext uri="{FF2B5EF4-FFF2-40B4-BE49-F238E27FC236}">
                <a16:creationId xmlns:a16="http://schemas.microsoft.com/office/drawing/2014/main" id="{DFF80DCD-8EF0-4D2F-8380-59FA348D932C}"/>
              </a:ext>
            </a:extLst>
          </p:cNvPr>
          <p:cNvCxnSpPr/>
          <p:nvPr/>
        </p:nvCxnSpPr>
        <p:spPr>
          <a:xfrm>
            <a:off x="1177167" y="1046746"/>
            <a:ext cx="10585176"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6" name="標題 1"/>
          <p:cNvSpPr txBox="1">
            <a:spLocks/>
          </p:cNvSpPr>
          <p:nvPr/>
        </p:nvSpPr>
        <p:spPr>
          <a:xfrm>
            <a:off x="854426" y="112999"/>
            <a:ext cx="5288853"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7-2 </a:t>
            </a:r>
            <a:r>
              <a:rPr lang="zh-TW" altLang="en-US" sz="2400" b="1" dirty="0">
                <a:solidFill>
                  <a:srgbClr val="E06741"/>
                </a:solidFill>
              </a:rPr>
              <a:t>實務案例</a:t>
            </a:r>
            <a:r>
              <a:rPr lang="en-US" altLang="zh-TW" sz="2400" b="1" dirty="0">
                <a:solidFill>
                  <a:srgbClr val="E06741"/>
                </a:solidFill>
              </a:rPr>
              <a:t>-</a:t>
            </a:r>
            <a:r>
              <a:rPr lang="zh-TW" altLang="en-US" sz="2400" b="1" dirty="0">
                <a:solidFill>
                  <a:srgbClr val="E06741"/>
                </a:solidFill>
              </a:rPr>
              <a:t>漁產履歷</a:t>
            </a:r>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sp>
        <p:nvSpPr>
          <p:cNvPr id="48" name="文字方塊 47">
            <a:extLst>
              <a:ext uri="{FF2B5EF4-FFF2-40B4-BE49-F238E27FC236}">
                <a16:creationId xmlns:a16="http://schemas.microsoft.com/office/drawing/2014/main" id="{AD7F4831-1A36-4A2F-ACBE-344F724510DC}"/>
              </a:ext>
            </a:extLst>
          </p:cNvPr>
          <p:cNvSpPr txBox="1"/>
          <p:nvPr/>
        </p:nvSpPr>
        <p:spPr>
          <a:xfrm>
            <a:off x="5130089" y="350241"/>
            <a:ext cx="2242922"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-2</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案例區塊鍊運用</a:t>
            </a:r>
          </a:p>
        </p:txBody>
      </p:sp>
      <p:sp>
        <p:nvSpPr>
          <p:cNvPr id="10" name="文字方塊 9">
            <a:extLst>
              <a:ext uri="{FF2B5EF4-FFF2-40B4-BE49-F238E27FC236}">
                <a16:creationId xmlns:a16="http://schemas.microsoft.com/office/drawing/2014/main" id="{BF94E171-0176-49DD-BE6C-DB2D96B94A88}"/>
              </a:ext>
            </a:extLst>
          </p:cNvPr>
          <p:cNvSpPr txBox="1"/>
          <p:nvPr/>
        </p:nvSpPr>
        <p:spPr>
          <a:xfrm>
            <a:off x="1177167" y="1816567"/>
            <a:ext cx="9663430" cy="578492"/>
          </a:xfrm>
          <a:prstGeom prst="rect">
            <a:avLst/>
          </a:prstGeom>
          <a:noFill/>
        </p:spPr>
        <p:txBody>
          <a:bodyPr wrap="square" rtlCol="0">
            <a:spAutoFit/>
          </a:bodyPr>
          <a:lstStyle/>
          <a:p>
            <a:pPr marL="342900" indent="-342900">
              <a:lnSpc>
                <a:spcPct val="150000"/>
              </a:lnSpc>
              <a:buBlip>
                <a:blip r:embed="rId3"/>
              </a:buBlip>
            </a:pP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sp>
        <p:nvSpPr>
          <p:cNvPr id="11" name="文字方塊 10">
            <a:extLst>
              <a:ext uri="{FF2B5EF4-FFF2-40B4-BE49-F238E27FC236}">
                <a16:creationId xmlns:a16="http://schemas.microsoft.com/office/drawing/2014/main" id="{BF94E171-0176-49DD-BE6C-DB2D96B94A88}"/>
              </a:ext>
            </a:extLst>
          </p:cNvPr>
          <p:cNvSpPr txBox="1"/>
          <p:nvPr/>
        </p:nvSpPr>
        <p:spPr>
          <a:xfrm>
            <a:off x="1102904" y="1069808"/>
            <a:ext cx="9663430" cy="1200329"/>
          </a:xfrm>
          <a:prstGeom prst="rect">
            <a:avLst/>
          </a:prstGeom>
          <a:noFill/>
        </p:spPr>
        <p:txBody>
          <a:bodyPr wrap="square" rtlCol="0">
            <a:spAutoFit/>
          </a:bodyPr>
          <a:lstStyle/>
          <a:p>
            <a:pPr marL="342900" indent="-342900">
              <a:lnSpc>
                <a:spcPct val="150000"/>
              </a:lnSpc>
              <a:buBlip>
                <a:blip r:embed="rId3"/>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傳統經營模式</a:t>
            </a: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sym typeface="Wingdings" panose="05000000000000000000" pitchFamily="2" charset="2"/>
              </a:rPr>
              <a:t>：</a:t>
            </a:r>
            <a:r>
              <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sym typeface="Wingdings" panose="05000000000000000000" pitchFamily="2" charset="2"/>
              </a:rPr>
              <a:t>(</a:t>
            </a: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sym typeface="Wingdings" panose="05000000000000000000" pitchFamily="2" charset="2"/>
              </a:rPr>
              <a:t>三階段七步驟</a:t>
            </a:r>
            <a:r>
              <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sym typeface="Wingdings" panose="05000000000000000000" pitchFamily="2" charset="2"/>
              </a:rPr>
              <a:t>)</a:t>
            </a:r>
          </a:p>
          <a:p>
            <a:pPr marL="800100" lvl="1" indent="-342900">
              <a:lnSpc>
                <a:spcPct val="150000"/>
              </a:lnSpc>
              <a:buBlip>
                <a:blip r:embed="rId3"/>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sym typeface="Wingdings" panose="05000000000000000000" pitchFamily="2" charset="2"/>
              </a:rPr>
              <a:t>第一階段：養殖</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graphicFrame>
        <p:nvGraphicFramePr>
          <p:cNvPr id="2" name="資料庫圖表 1"/>
          <p:cNvGraphicFramePr/>
          <p:nvPr>
            <p:extLst>
              <p:ext uri="{D42A27DB-BD31-4B8C-83A1-F6EECF244321}">
                <p14:modId xmlns:p14="http://schemas.microsoft.com/office/powerpoint/2010/main" val="2135695432"/>
              </p:ext>
            </p:extLst>
          </p:nvPr>
        </p:nvGraphicFramePr>
        <p:xfrm>
          <a:off x="518204" y="1381640"/>
          <a:ext cx="11250149" cy="607887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2068316700"/>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circle(in)">
                                      <p:cBhvr>
                                        <p:cTn id="7" dur="1500"/>
                                        <p:tgtEl>
                                          <p:spTgt spid="46"/>
                                        </p:tgtEl>
                                      </p:cBhvr>
                                    </p:animEffect>
                                  </p:childTnLst>
                                </p:cTn>
                              </p:par>
                            </p:childTnLst>
                          </p:cTn>
                        </p:par>
                        <p:par>
                          <p:cTn id="8" fill="hold">
                            <p:stCondLst>
                              <p:cond delay="1500"/>
                            </p:stCondLst>
                            <p:childTnLst>
                              <p:par>
                                <p:cTn id="9" presetID="16" presetClass="entr" presetSubtype="21" fill="hold" grpId="0" nodeType="afterEffect">
                                  <p:stCondLst>
                                    <p:cond delay="0"/>
                                  </p:stCondLst>
                                  <p:childTnLst>
                                    <p:set>
                                      <p:cBhvr>
                                        <p:cTn id="10" dur="1" fill="hold">
                                          <p:stCondLst>
                                            <p:cond delay="0"/>
                                          </p:stCondLst>
                                        </p:cTn>
                                        <p:tgtEl>
                                          <p:spTgt spid="48"/>
                                        </p:tgtEl>
                                        <p:attrNameLst>
                                          <p:attrName>style.visibility</p:attrName>
                                        </p:attrNameLst>
                                      </p:cBhvr>
                                      <p:to>
                                        <p:strVal val="visible"/>
                                      </p:to>
                                    </p:set>
                                    <p:animEffect transition="in" filter="barn(inVertical)">
                                      <p:cBhvr>
                                        <p:cTn id="11" dur="500"/>
                                        <p:tgtEl>
                                          <p:spTgt spid="48"/>
                                        </p:tgtEl>
                                      </p:cBhvr>
                                    </p:animEffect>
                                  </p:childTnLst>
                                </p:cTn>
                              </p:par>
                            </p:childTnLst>
                          </p:cTn>
                        </p:par>
                        <p:par>
                          <p:cTn id="12" fill="hold">
                            <p:stCondLst>
                              <p:cond delay="2000"/>
                            </p:stCondLst>
                            <p:childTnLst>
                              <p:par>
                                <p:cTn id="13" presetID="2" presetClass="entr" presetSubtype="8" fill="hold" nodeType="afterEffect">
                                  <p:stCondLst>
                                    <p:cond delay="0"/>
                                  </p:stCondLst>
                                  <p:childTnLst>
                                    <p:set>
                                      <p:cBhvr>
                                        <p:cTn id="14" dur="1" fill="hold">
                                          <p:stCondLst>
                                            <p:cond delay="0"/>
                                          </p:stCondLst>
                                        </p:cTn>
                                        <p:tgtEl>
                                          <p:spTgt spid="33"/>
                                        </p:tgtEl>
                                        <p:attrNameLst>
                                          <p:attrName>style.visibility</p:attrName>
                                        </p:attrNameLst>
                                      </p:cBhvr>
                                      <p:to>
                                        <p:strVal val="visible"/>
                                      </p:to>
                                    </p:set>
                                    <p:anim calcmode="lin" valueType="num">
                                      <p:cBhvr additive="base">
                                        <p:cTn id="15" dur="500" fill="hold"/>
                                        <p:tgtEl>
                                          <p:spTgt spid="33"/>
                                        </p:tgtEl>
                                        <p:attrNameLst>
                                          <p:attrName>ppt_x</p:attrName>
                                        </p:attrNameLst>
                                      </p:cBhvr>
                                      <p:tavLst>
                                        <p:tav tm="0">
                                          <p:val>
                                            <p:strVal val="0-#ppt_w/2"/>
                                          </p:val>
                                        </p:tav>
                                        <p:tav tm="100000">
                                          <p:val>
                                            <p:strVal val="#ppt_x"/>
                                          </p:val>
                                        </p:tav>
                                      </p:tavLst>
                                    </p:anim>
                                    <p:anim calcmode="lin" valueType="num">
                                      <p:cBhvr additive="base">
                                        <p:cTn id="16" dur="500" fill="hold"/>
                                        <p:tgtEl>
                                          <p:spTgt spid="33"/>
                                        </p:tgtEl>
                                        <p:attrNameLst>
                                          <p:attrName>ppt_y</p:attrName>
                                        </p:attrNameLst>
                                      </p:cBhvr>
                                      <p:tavLst>
                                        <p:tav tm="0">
                                          <p:val>
                                            <p:strVal val="#ppt_y"/>
                                          </p:val>
                                        </p:tav>
                                        <p:tav tm="100000">
                                          <p:val>
                                            <p:strVal val="#ppt_y"/>
                                          </p:val>
                                        </p:tav>
                                      </p:tavLst>
                                    </p:anim>
                                  </p:childTnLst>
                                </p:cTn>
                              </p:par>
                            </p:childTnLst>
                          </p:cTn>
                        </p:par>
                        <p:par>
                          <p:cTn id="17" fill="hold">
                            <p:stCondLst>
                              <p:cond delay="2500"/>
                            </p:stCondLst>
                            <p:childTnLst>
                              <p:par>
                                <p:cTn id="18" presetID="16" presetClass="entr" presetSubtype="21" fill="hold" nodeType="afterEffect" nodePh="1">
                                  <p:stCondLst>
                                    <p:cond delay="0"/>
                                  </p:stCondLst>
                                  <p:endCondLst>
                                    <p:cond evt="begin" delay="0">
                                      <p:tn val="18"/>
                                    </p:cond>
                                  </p:endCondLst>
                                  <p:childTnLst>
                                    <p:set>
                                      <p:cBhvr>
                                        <p:cTn id="19" dur="1" fill="hold">
                                          <p:stCondLst>
                                            <p:cond delay="0"/>
                                          </p:stCondLst>
                                        </p:cTn>
                                        <p:tgtEl>
                                          <p:spTgt spid="10">
                                            <p:txEl>
                                              <p:pRg st="0" end="0"/>
                                            </p:txEl>
                                          </p:spTgt>
                                        </p:tgtEl>
                                        <p:attrNameLst>
                                          <p:attrName>style.visibility</p:attrName>
                                        </p:attrNameLst>
                                      </p:cBhvr>
                                      <p:to>
                                        <p:strVal val="visible"/>
                                      </p:to>
                                    </p:set>
                                    <p:animEffect transition="in" filter="barn(inVertical)">
                                      <p:cBhvr>
                                        <p:cTn id="20" dur="500"/>
                                        <p:tgtEl>
                                          <p:spTgt spid="10">
                                            <p:txEl>
                                              <p:pRg st="0" end="0"/>
                                            </p:txEl>
                                          </p:spTgt>
                                        </p:tgtEl>
                                      </p:cBhvr>
                                    </p:animEffect>
                                  </p:childTnLst>
                                </p:cTn>
                              </p:par>
                            </p:childTnLst>
                          </p:cTn>
                        </p:par>
                        <p:par>
                          <p:cTn id="21" fill="hold">
                            <p:stCondLst>
                              <p:cond delay="3000"/>
                            </p:stCondLst>
                            <p:childTnLst>
                              <p:par>
                                <p:cTn id="22" presetID="16" presetClass="entr" presetSubtype="21" fill="hold" nodeType="afterEffect">
                                  <p:stCondLst>
                                    <p:cond delay="0"/>
                                  </p:stCondLst>
                                  <p:childTnLst>
                                    <p:set>
                                      <p:cBhvr>
                                        <p:cTn id="23" dur="1" fill="hold">
                                          <p:stCondLst>
                                            <p:cond delay="0"/>
                                          </p:stCondLst>
                                        </p:cTn>
                                        <p:tgtEl>
                                          <p:spTgt spid="11">
                                            <p:txEl>
                                              <p:pRg st="0" end="0"/>
                                            </p:txEl>
                                          </p:spTgt>
                                        </p:tgtEl>
                                        <p:attrNameLst>
                                          <p:attrName>style.visibility</p:attrName>
                                        </p:attrNameLst>
                                      </p:cBhvr>
                                      <p:to>
                                        <p:strVal val="visible"/>
                                      </p:to>
                                    </p:set>
                                    <p:animEffect transition="in" filter="barn(inVertical)">
                                      <p:cBhvr>
                                        <p:cTn id="24" dur="500"/>
                                        <p:tgtEl>
                                          <p:spTgt spid="11">
                                            <p:txEl>
                                              <p:pRg st="0" end="0"/>
                                            </p:txEl>
                                          </p:spTgt>
                                        </p:tgtEl>
                                      </p:cBhvr>
                                    </p:animEffect>
                                  </p:childTnLst>
                                </p:cTn>
                              </p:par>
                            </p:childTnLst>
                          </p:cTn>
                        </p:par>
                        <p:par>
                          <p:cTn id="25" fill="hold">
                            <p:stCondLst>
                              <p:cond delay="3500"/>
                            </p:stCondLst>
                            <p:childTnLst>
                              <p:par>
                                <p:cTn id="26" presetID="16" presetClass="entr" presetSubtype="21" fill="hold" nodeType="afterEffect">
                                  <p:stCondLst>
                                    <p:cond delay="0"/>
                                  </p:stCondLst>
                                  <p:childTnLst>
                                    <p:set>
                                      <p:cBhvr>
                                        <p:cTn id="27" dur="1" fill="hold">
                                          <p:stCondLst>
                                            <p:cond delay="0"/>
                                          </p:stCondLst>
                                        </p:cTn>
                                        <p:tgtEl>
                                          <p:spTgt spid="11">
                                            <p:txEl>
                                              <p:pRg st="1" end="1"/>
                                            </p:txEl>
                                          </p:spTgt>
                                        </p:tgtEl>
                                        <p:attrNameLst>
                                          <p:attrName>style.visibility</p:attrName>
                                        </p:attrNameLst>
                                      </p:cBhvr>
                                      <p:to>
                                        <p:strVal val="visible"/>
                                      </p:to>
                                    </p:set>
                                    <p:animEffect transition="in" filter="barn(inVertical)">
                                      <p:cBhvr>
                                        <p:cTn id="28" dur="500"/>
                                        <p:tgtEl>
                                          <p:spTgt spid="11">
                                            <p:txEl>
                                              <p:pRg st="1" end="1"/>
                                            </p:txEl>
                                          </p:spTgt>
                                        </p:tgtEl>
                                      </p:cBhvr>
                                    </p:animEffect>
                                  </p:childTnLst>
                                </p:cTn>
                              </p:par>
                            </p:childTnLst>
                          </p:cTn>
                        </p:par>
                        <p:par>
                          <p:cTn id="29" fill="hold">
                            <p:stCondLst>
                              <p:cond delay="4000"/>
                            </p:stCondLst>
                            <p:childTnLst>
                              <p:par>
                                <p:cTn id="30" presetID="2" presetClass="entr" presetSubtype="8" fill="hold" grpId="0" nodeType="afterEffect">
                                  <p:stCondLst>
                                    <p:cond delay="0"/>
                                  </p:stCondLst>
                                  <p:childTnLst>
                                    <p:set>
                                      <p:cBhvr>
                                        <p:cTn id="31" dur="1" fill="hold">
                                          <p:stCondLst>
                                            <p:cond delay="0"/>
                                          </p:stCondLst>
                                        </p:cTn>
                                        <p:tgtEl>
                                          <p:spTgt spid="2"/>
                                        </p:tgtEl>
                                        <p:attrNameLst>
                                          <p:attrName>style.visibility</p:attrName>
                                        </p:attrNameLst>
                                      </p:cBhvr>
                                      <p:to>
                                        <p:strVal val="visible"/>
                                      </p:to>
                                    </p:set>
                                    <p:anim calcmode="lin" valueType="num">
                                      <p:cBhvr additive="base">
                                        <p:cTn id="32" dur="500" fill="hold"/>
                                        <p:tgtEl>
                                          <p:spTgt spid="2"/>
                                        </p:tgtEl>
                                        <p:attrNameLst>
                                          <p:attrName>ppt_x</p:attrName>
                                        </p:attrNameLst>
                                      </p:cBhvr>
                                      <p:tavLst>
                                        <p:tav tm="0">
                                          <p:val>
                                            <p:strVal val="0-#ppt_w/2"/>
                                          </p:val>
                                        </p:tav>
                                        <p:tav tm="100000">
                                          <p:val>
                                            <p:strVal val="#ppt_x"/>
                                          </p:val>
                                        </p:tav>
                                      </p:tavLst>
                                    </p:anim>
                                    <p:anim calcmode="lin" valueType="num">
                                      <p:cBhvr additive="base">
                                        <p:cTn id="33"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p:bldP spid="48" grpId="0"/>
      <p:bldGraphic spid="2" grpId="0">
        <p:bldAsOne/>
      </p:bldGraphic>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2"/>
          <a:stretch>
            <a:fillRect/>
          </a:stretch>
        </p:blipFill>
        <p:spPr>
          <a:xfrm rot="16200000">
            <a:off x="145169" y="-145167"/>
            <a:ext cx="1268414" cy="1558750"/>
          </a:xfrm>
          <a:prstGeom prst="rect">
            <a:avLst/>
          </a:prstGeom>
        </p:spPr>
      </p:pic>
      <p:sp>
        <p:nvSpPr>
          <p:cNvPr id="9" name="文字方塊 8">
            <a:extLst>
              <a:ext uri="{FF2B5EF4-FFF2-40B4-BE49-F238E27FC236}">
                <a16:creationId xmlns:a16="http://schemas.microsoft.com/office/drawing/2014/main" id="{81D0666A-D96D-4B5B-9036-192FA53FE435}"/>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cxnSp>
        <p:nvCxnSpPr>
          <p:cNvPr id="33" name="直接连接符 33">
            <a:extLst>
              <a:ext uri="{FF2B5EF4-FFF2-40B4-BE49-F238E27FC236}">
                <a16:creationId xmlns:a16="http://schemas.microsoft.com/office/drawing/2014/main" id="{DFF80DCD-8EF0-4D2F-8380-59FA348D932C}"/>
              </a:ext>
            </a:extLst>
          </p:cNvPr>
          <p:cNvCxnSpPr/>
          <p:nvPr/>
        </p:nvCxnSpPr>
        <p:spPr>
          <a:xfrm>
            <a:off x="1177167" y="1046746"/>
            <a:ext cx="10585176"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6" name="標題 1"/>
          <p:cNvSpPr txBox="1">
            <a:spLocks/>
          </p:cNvSpPr>
          <p:nvPr/>
        </p:nvSpPr>
        <p:spPr>
          <a:xfrm>
            <a:off x="854426" y="112999"/>
            <a:ext cx="5288853"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7-2 </a:t>
            </a:r>
            <a:r>
              <a:rPr lang="zh-TW" altLang="en-US" sz="2400" b="1" dirty="0">
                <a:solidFill>
                  <a:srgbClr val="E06741"/>
                </a:solidFill>
              </a:rPr>
              <a:t>實務案例</a:t>
            </a:r>
            <a:r>
              <a:rPr lang="en-US" altLang="zh-TW" sz="2400" b="1" dirty="0">
                <a:solidFill>
                  <a:srgbClr val="E06741"/>
                </a:solidFill>
              </a:rPr>
              <a:t>-</a:t>
            </a:r>
            <a:r>
              <a:rPr lang="zh-TW" altLang="en-US" sz="2400" b="1" dirty="0">
                <a:solidFill>
                  <a:srgbClr val="E06741"/>
                </a:solidFill>
              </a:rPr>
              <a:t>漁產履歷</a:t>
            </a:r>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sp>
        <p:nvSpPr>
          <p:cNvPr id="48" name="文字方塊 47">
            <a:extLst>
              <a:ext uri="{FF2B5EF4-FFF2-40B4-BE49-F238E27FC236}">
                <a16:creationId xmlns:a16="http://schemas.microsoft.com/office/drawing/2014/main" id="{AD7F4831-1A36-4A2F-ACBE-344F724510DC}"/>
              </a:ext>
            </a:extLst>
          </p:cNvPr>
          <p:cNvSpPr txBox="1"/>
          <p:nvPr/>
        </p:nvSpPr>
        <p:spPr>
          <a:xfrm>
            <a:off x="5130089" y="350241"/>
            <a:ext cx="2242922"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-2</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案例區塊鍊運用</a:t>
            </a:r>
          </a:p>
        </p:txBody>
      </p:sp>
      <p:sp>
        <p:nvSpPr>
          <p:cNvPr id="10" name="文字方塊 9">
            <a:extLst>
              <a:ext uri="{FF2B5EF4-FFF2-40B4-BE49-F238E27FC236}">
                <a16:creationId xmlns:a16="http://schemas.microsoft.com/office/drawing/2014/main" id="{BF94E171-0176-49DD-BE6C-DB2D96B94A88}"/>
              </a:ext>
            </a:extLst>
          </p:cNvPr>
          <p:cNvSpPr txBox="1"/>
          <p:nvPr/>
        </p:nvSpPr>
        <p:spPr>
          <a:xfrm>
            <a:off x="1177167" y="1816567"/>
            <a:ext cx="9663430" cy="578492"/>
          </a:xfrm>
          <a:prstGeom prst="rect">
            <a:avLst/>
          </a:prstGeom>
          <a:noFill/>
        </p:spPr>
        <p:txBody>
          <a:bodyPr wrap="square" rtlCol="0">
            <a:spAutoFit/>
          </a:bodyPr>
          <a:lstStyle/>
          <a:p>
            <a:pPr marL="342900" indent="-342900">
              <a:lnSpc>
                <a:spcPct val="150000"/>
              </a:lnSpc>
              <a:buBlip>
                <a:blip r:embed="rId3"/>
              </a:buBlip>
            </a:pP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sp>
        <p:nvSpPr>
          <p:cNvPr id="11" name="文字方塊 10">
            <a:extLst>
              <a:ext uri="{FF2B5EF4-FFF2-40B4-BE49-F238E27FC236}">
                <a16:creationId xmlns:a16="http://schemas.microsoft.com/office/drawing/2014/main" id="{BF94E171-0176-49DD-BE6C-DB2D96B94A88}"/>
              </a:ext>
            </a:extLst>
          </p:cNvPr>
          <p:cNvSpPr txBox="1"/>
          <p:nvPr/>
        </p:nvSpPr>
        <p:spPr>
          <a:xfrm>
            <a:off x="1102904" y="1069808"/>
            <a:ext cx="9663430" cy="1200329"/>
          </a:xfrm>
          <a:prstGeom prst="rect">
            <a:avLst/>
          </a:prstGeom>
          <a:noFill/>
        </p:spPr>
        <p:txBody>
          <a:bodyPr wrap="square" rtlCol="0">
            <a:spAutoFit/>
          </a:bodyPr>
          <a:lstStyle/>
          <a:p>
            <a:pPr marL="342900" indent="-342900">
              <a:lnSpc>
                <a:spcPct val="150000"/>
              </a:lnSpc>
              <a:buBlip>
                <a:blip r:embed="rId3"/>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傳統經營模式</a:t>
            </a: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sym typeface="Wingdings" panose="05000000000000000000" pitchFamily="2" charset="2"/>
              </a:rPr>
              <a:t>：</a:t>
            </a:r>
            <a:r>
              <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sym typeface="Wingdings" panose="05000000000000000000" pitchFamily="2" charset="2"/>
              </a:rPr>
              <a:t>(</a:t>
            </a: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sym typeface="Wingdings" panose="05000000000000000000" pitchFamily="2" charset="2"/>
              </a:rPr>
              <a:t>三階段七步驟</a:t>
            </a:r>
            <a:r>
              <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sym typeface="Wingdings" panose="05000000000000000000" pitchFamily="2" charset="2"/>
              </a:rPr>
              <a:t>)</a:t>
            </a:r>
          </a:p>
          <a:p>
            <a:pPr marL="800100" lvl="1" indent="-342900">
              <a:lnSpc>
                <a:spcPct val="150000"/>
              </a:lnSpc>
              <a:buBlip>
                <a:blip r:embed="rId3"/>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sym typeface="Wingdings" panose="05000000000000000000" pitchFamily="2" charset="2"/>
              </a:rPr>
              <a:t>第二階段：物流</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graphicFrame>
        <p:nvGraphicFramePr>
          <p:cNvPr id="2" name="資料庫圖表 1"/>
          <p:cNvGraphicFramePr/>
          <p:nvPr>
            <p:extLst>
              <p:ext uri="{D42A27DB-BD31-4B8C-83A1-F6EECF244321}">
                <p14:modId xmlns:p14="http://schemas.microsoft.com/office/powerpoint/2010/main" val="564465780"/>
              </p:ext>
            </p:extLst>
          </p:nvPr>
        </p:nvGraphicFramePr>
        <p:xfrm>
          <a:off x="2230581" y="2270137"/>
          <a:ext cx="7730837" cy="406600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197836747"/>
      </p:ext>
    </p:extLst>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circle(in)">
                                      <p:cBhvr>
                                        <p:cTn id="7" dur="1500"/>
                                        <p:tgtEl>
                                          <p:spTgt spid="46"/>
                                        </p:tgtEl>
                                      </p:cBhvr>
                                    </p:animEffect>
                                  </p:childTnLst>
                                </p:cTn>
                              </p:par>
                            </p:childTnLst>
                          </p:cTn>
                        </p:par>
                        <p:par>
                          <p:cTn id="8" fill="hold">
                            <p:stCondLst>
                              <p:cond delay="1500"/>
                            </p:stCondLst>
                            <p:childTnLst>
                              <p:par>
                                <p:cTn id="9" presetID="16" presetClass="entr" presetSubtype="21" fill="hold" grpId="0" nodeType="afterEffect">
                                  <p:stCondLst>
                                    <p:cond delay="0"/>
                                  </p:stCondLst>
                                  <p:childTnLst>
                                    <p:set>
                                      <p:cBhvr>
                                        <p:cTn id="10" dur="1" fill="hold">
                                          <p:stCondLst>
                                            <p:cond delay="0"/>
                                          </p:stCondLst>
                                        </p:cTn>
                                        <p:tgtEl>
                                          <p:spTgt spid="48"/>
                                        </p:tgtEl>
                                        <p:attrNameLst>
                                          <p:attrName>style.visibility</p:attrName>
                                        </p:attrNameLst>
                                      </p:cBhvr>
                                      <p:to>
                                        <p:strVal val="visible"/>
                                      </p:to>
                                    </p:set>
                                    <p:animEffect transition="in" filter="barn(inVertical)">
                                      <p:cBhvr>
                                        <p:cTn id="11" dur="500"/>
                                        <p:tgtEl>
                                          <p:spTgt spid="48"/>
                                        </p:tgtEl>
                                      </p:cBhvr>
                                    </p:animEffect>
                                  </p:childTnLst>
                                </p:cTn>
                              </p:par>
                            </p:childTnLst>
                          </p:cTn>
                        </p:par>
                        <p:par>
                          <p:cTn id="12" fill="hold">
                            <p:stCondLst>
                              <p:cond delay="2000"/>
                            </p:stCondLst>
                            <p:childTnLst>
                              <p:par>
                                <p:cTn id="13" presetID="2" presetClass="entr" presetSubtype="8" fill="hold" nodeType="afterEffect">
                                  <p:stCondLst>
                                    <p:cond delay="0"/>
                                  </p:stCondLst>
                                  <p:childTnLst>
                                    <p:set>
                                      <p:cBhvr>
                                        <p:cTn id="14" dur="1" fill="hold">
                                          <p:stCondLst>
                                            <p:cond delay="0"/>
                                          </p:stCondLst>
                                        </p:cTn>
                                        <p:tgtEl>
                                          <p:spTgt spid="33"/>
                                        </p:tgtEl>
                                        <p:attrNameLst>
                                          <p:attrName>style.visibility</p:attrName>
                                        </p:attrNameLst>
                                      </p:cBhvr>
                                      <p:to>
                                        <p:strVal val="visible"/>
                                      </p:to>
                                    </p:set>
                                    <p:anim calcmode="lin" valueType="num">
                                      <p:cBhvr additive="base">
                                        <p:cTn id="15" dur="500" fill="hold"/>
                                        <p:tgtEl>
                                          <p:spTgt spid="33"/>
                                        </p:tgtEl>
                                        <p:attrNameLst>
                                          <p:attrName>ppt_x</p:attrName>
                                        </p:attrNameLst>
                                      </p:cBhvr>
                                      <p:tavLst>
                                        <p:tav tm="0">
                                          <p:val>
                                            <p:strVal val="0-#ppt_w/2"/>
                                          </p:val>
                                        </p:tav>
                                        <p:tav tm="100000">
                                          <p:val>
                                            <p:strVal val="#ppt_x"/>
                                          </p:val>
                                        </p:tav>
                                      </p:tavLst>
                                    </p:anim>
                                    <p:anim calcmode="lin" valueType="num">
                                      <p:cBhvr additive="base">
                                        <p:cTn id="16" dur="500" fill="hold"/>
                                        <p:tgtEl>
                                          <p:spTgt spid="33"/>
                                        </p:tgtEl>
                                        <p:attrNameLst>
                                          <p:attrName>ppt_y</p:attrName>
                                        </p:attrNameLst>
                                      </p:cBhvr>
                                      <p:tavLst>
                                        <p:tav tm="0">
                                          <p:val>
                                            <p:strVal val="#ppt_y"/>
                                          </p:val>
                                        </p:tav>
                                        <p:tav tm="100000">
                                          <p:val>
                                            <p:strVal val="#ppt_y"/>
                                          </p:val>
                                        </p:tav>
                                      </p:tavLst>
                                    </p:anim>
                                  </p:childTnLst>
                                </p:cTn>
                              </p:par>
                            </p:childTnLst>
                          </p:cTn>
                        </p:par>
                        <p:par>
                          <p:cTn id="17" fill="hold">
                            <p:stCondLst>
                              <p:cond delay="2500"/>
                            </p:stCondLst>
                            <p:childTnLst>
                              <p:par>
                                <p:cTn id="18" presetID="16" presetClass="entr" presetSubtype="21" fill="hold" nodeType="afterEffect" nodePh="1">
                                  <p:stCondLst>
                                    <p:cond delay="0"/>
                                  </p:stCondLst>
                                  <p:endCondLst>
                                    <p:cond evt="begin" delay="0">
                                      <p:tn val="18"/>
                                    </p:cond>
                                  </p:endCondLst>
                                  <p:childTnLst>
                                    <p:set>
                                      <p:cBhvr>
                                        <p:cTn id="19" dur="1" fill="hold">
                                          <p:stCondLst>
                                            <p:cond delay="0"/>
                                          </p:stCondLst>
                                        </p:cTn>
                                        <p:tgtEl>
                                          <p:spTgt spid="10">
                                            <p:txEl>
                                              <p:pRg st="0" end="0"/>
                                            </p:txEl>
                                          </p:spTgt>
                                        </p:tgtEl>
                                        <p:attrNameLst>
                                          <p:attrName>style.visibility</p:attrName>
                                        </p:attrNameLst>
                                      </p:cBhvr>
                                      <p:to>
                                        <p:strVal val="visible"/>
                                      </p:to>
                                    </p:set>
                                    <p:animEffect transition="in" filter="barn(inVertical)">
                                      <p:cBhvr>
                                        <p:cTn id="20" dur="500"/>
                                        <p:tgtEl>
                                          <p:spTgt spid="10">
                                            <p:txEl>
                                              <p:pRg st="0" end="0"/>
                                            </p:txEl>
                                          </p:spTgt>
                                        </p:tgtEl>
                                      </p:cBhvr>
                                    </p:animEffect>
                                  </p:childTnLst>
                                </p:cTn>
                              </p:par>
                            </p:childTnLst>
                          </p:cTn>
                        </p:par>
                        <p:par>
                          <p:cTn id="21" fill="hold">
                            <p:stCondLst>
                              <p:cond delay="3000"/>
                            </p:stCondLst>
                            <p:childTnLst>
                              <p:par>
                                <p:cTn id="22" presetID="16" presetClass="entr" presetSubtype="21" fill="hold" nodeType="afterEffect">
                                  <p:stCondLst>
                                    <p:cond delay="0"/>
                                  </p:stCondLst>
                                  <p:childTnLst>
                                    <p:set>
                                      <p:cBhvr>
                                        <p:cTn id="23" dur="1" fill="hold">
                                          <p:stCondLst>
                                            <p:cond delay="0"/>
                                          </p:stCondLst>
                                        </p:cTn>
                                        <p:tgtEl>
                                          <p:spTgt spid="11">
                                            <p:txEl>
                                              <p:pRg st="0" end="0"/>
                                            </p:txEl>
                                          </p:spTgt>
                                        </p:tgtEl>
                                        <p:attrNameLst>
                                          <p:attrName>style.visibility</p:attrName>
                                        </p:attrNameLst>
                                      </p:cBhvr>
                                      <p:to>
                                        <p:strVal val="visible"/>
                                      </p:to>
                                    </p:set>
                                    <p:animEffect transition="in" filter="barn(inVertical)">
                                      <p:cBhvr>
                                        <p:cTn id="24" dur="500"/>
                                        <p:tgtEl>
                                          <p:spTgt spid="11">
                                            <p:txEl>
                                              <p:pRg st="0" end="0"/>
                                            </p:txEl>
                                          </p:spTgt>
                                        </p:tgtEl>
                                      </p:cBhvr>
                                    </p:animEffect>
                                  </p:childTnLst>
                                </p:cTn>
                              </p:par>
                            </p:childTnLst>
                          </p:cTn>
                        </p:par>
                        <p:par>
                          <p:cTn id="25" fill="hold">
                            <p:stCondLst>
                              <p:cond delay="3500"/>
                            </p:stCondLst>
                            <p:childTnLst>
                              <p:par>
                                <p:cTn id="26" presetID="16" presetClass="entr" presetSubtype="21" fill="hold" nodeType="afterEffect">
                                  <p:stCondLst>
                                    <p:cond delay="0"/>
                                  </p:stCondLst>
                                  <p:childTnLst>
                                    <p:set>
                                      <p:cBhvr>
                                        <p:cTn id="27" dur="1" fill="hold">
                                          <p:stCondLst>
                                            <p:cond delay="0"/>
                                          </p:stCondLst>
                                        </p:cTn>
                                        <p:tgtEl>
                                          <p:spTgt spid="11">
                                            <p:txEl>
                                              <p:pRg st="1" end="1"/>
                                            </p:txEl>
                                          </p:spTgt>
                                        </p:tgtEl>
                                        <p:attrNameLst>
                                          <p:attrName>style.visibility</p:attrName>
                                        </p:attrNameLst>
                                      </p:cBhvr>
                                      <p:to>
                                        <p:strVal val="visible"/>
                                      </p:to>
                                    </p:set>
                                    <p:animEffect transition="in" filter="barn(inVertical)">
                                      <p:cBhvr>
                                        <p:cTn id="28" dur="500"/>
                                        <p:tgtEl>
                                          <p:spTgt spid="11">
                                            <p:txEl>
                                              <p:pRg st="1" end="1"/>
                                            </p:txEl>
                                          </p:spTgt>
                                        </p:tgtEl>
                                      </p:cBhvr>
                                    </p:animEffect>
                                  </p:childTnLst>
                                </p:cTn>
                              </p:par>
                            </p:childTnLst>
                          </p:cTn>
                        </p:par>
                        <p:par>
                          <p:cTn id="29" fill="hold">
                            <p:stCondLst>
                              <p:cond delay="4000"/>
                            </p:stCondLst>
                            <p:childTnLst>
                              <p:par>
                                <p:cTn id="30" presetID="2" presetClass="entr" presetSubtype="8" fill="hold" grpId="0" nodeType="afterEffect">
                                  <p:stCondLst>
                                    <p:cond delay="0"/>
                                  </p:stCondLst>
                                  <p:childTnLst>
                                    <p:set>
                                      <p:cBhvr>
                                        <p:cTn id="31" dur="1" fill="hold">
                                          <p:stCondLst>
                                            <p:cond delay="0"/>
                                          </p:stCondLst>
                                        </p:cTn>
                                        <p:tgtEl>
                                          <p:spTgt spid="2"/>
                                        </p:tgtEl>
                                        <p:attrNameLst>
                                          <p:attrName>style.visibility</p:attrName>
                                        </p:attrNameLst>
                                      </p:cBhvr>
                                      <p:to>
                                        <p:strVal val="visible"/>
                                      </p:to>
                                    </p:set>
                                    <p:anim calcmode="lin" valueType="num">
                                      <p:cBhvr additive="base">
                                        <p:cTn id="32" dur="500" fill="hold"/>
                                        <p:tgtEl>
                                          <p:spTgt spid="2"/>
                                        </p:tgtEl>
                                        <p:attrNameLst>
                                          <p:attrName>ppt_x</p:attrName>
                                        </p:attrNameLst>
                                      </p:cBhvr>
                                      <p:tavLst>
                                        <p:tav tm="0">
                                          <p:val>
                                            <p:strVal val="0-#ppt_w/2"/>
                                          </p:val>
                                        </p:tav>
                                        <p:tav tm="100000">
                                          <p:val>
                                            <p:strVal val="#ppt_x"/>
                                          </p:val>
                                        </p:tav>
                                      </p:tavLst>
                                    </p:anim>
                                    <p:anim calcmode="lin" valueType="num">
                                      <p:cBhvr additive="base">
                                        <p:cTn id="33"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p:bldP spid="48" grpId="0"/>
      <p:bldGraphic spid="2" grpId="0">
        <p:bldAsOne/>
      </p:bldGraphic>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2"/>
          <a:stretch>
            <a:fillRect/>
          </a:stretch>
        </p:blipFill>
        <p:spPr>
          <a:xfrm rot="16200000">
            <a:off x="145169" y="-145167"/>
            <a:ext cx="1268414" cy="1558750"/>
          </a:xfrm>
          <a:prstGeom prst="rect">
            <a:avLst/>
          </a:prstGeom>
        </p:spPr>
      </p:pic>
      <p:sp>
        <p:nvSpPr>
          <p:cNvPr id="9" name="文字方塊 8">
            <a:extLst>
              <a:ext uri="{FF2B5EF4-FFF2-40B4-BE49-F238E27FC236}">
                <a16:creationId xmlns:a16="http://schemas.microsoft.com/office/drawing/2014/main" id="{81D0666A-D96D-4B5B-9036-192FA53FE435}"/>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cxnSp>
        <p:nvCxnSpPr>
          <p:cNvPr id="33" name="直接连接符 33">
            <a:extLst>
              <a:ext uri="{FF2B5EF4-FFF2-40B4-BE49-F238E27FC236}">
                <a16:creationId xmlns:a16="http://schemas.microsoft.com/office/drawing/2014/main" id="{DFF80DCD-8EF0-4D2F-8380-59FA348D932C}"/>
              </a:ext>
            </a:extLst>
          </p:cNvPr>
          <p:cNvCxnSpPr/>
          <p:nvPr/>
        </p:nvCxnSpPr>
        <p:spPr>
          <a:xfrm>
            <a:off x="1177167" y="1046746"/>
            <a:ext cx="10585176"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6" name="標題 1"/>
          <p:cNvSpPr txBox="1">
            <a:spLocks/>
          </p:cNvSpPr>
          <p:nvPr/>
        </p:nvSpPr>
        <p:spPr>
          <a:xfrm>
            <a:off x="854426" y="112999"/>
            <a:ext cx="5288853"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7-2 </a:t>
            </a:r>
            <a:r>
              <a:rPr lang="zh-TW" altLang="en-US" sz="2400" b="1" dirty="0">
                <a:solidFill>
                  <a:srgbClr val="E06741"/>
                </a:solidFill>
              </a:rPr>
              <a:t>實務案例</a:t>
            </a:r>
            <a:r>
              <a:rPr lang="en-US" altLang="zh-TW" sz="2400" b="1" dirty="0">
                <a:solidFill>
                  <a:srgbClr val="E06741"/>
                </a:solidFill>
              </a:rPr>
              <a:t>-</a:t>
            </a:r>
            <a:r>
              <a:rPr lang="zh-TW" altLang="en-US" sz="2400" b="1" dirty="0">
                <a:solidFill>
                  <a:srgbClr val="E06741"/>
                </a:solidFill>
              </a:rPr>
              <a:t>漁產履歷</a:t>
            </a:r>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sp>
        <p:nvSpPr>
          <p:cNvPr id="48" name="文字方塊 47">
            <a:extLst>
              <a:ext uri="{FF2B5EF4-FFF2-40B4-BE49-F238E27FC236}">
                <a16:creationId xmlns:a16="http://schemas.microsoft.com/office/drawing/2014/main" id="{AD7F4831-1A36-4A2F-ACBE-344F724510DC}"/>
              </a:ext>
            </a:extLst>
          </p:cNvPr>
          <p:cNvSpPr txBox="1"/>
          <p:nvPr/>
        </p:nvSpPr>
        <p:spPr>
          <a:xfrm>
            <a:off x="5130089" y="350241"/>
            <a:ext cx="2242922"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-2</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案例區塊鍊運用</a:t>
            </a:r>
          </a:p>
        </p:txBody>
      </p:sp>
      <p:sp>
        <p:nvSpPr>
          <p:cNvPr id="10" name="文字方塊 9">
            <a:extLst>
              <a:ext uri="{FF2B5EF4-FFF2-40B4-BE49-F238E27FC236}">
                <a16:creationId xmlns:a16="http://schemas.microsoft.com/office/drawing/2014/main" id="{BF94E171-0176-49DD-BE6C-DB2D96B94A88}"/>
              </a:ext>
            </a:extLst>
          </p:cNvPr>
          <p:cNvSpPr txBox="1"/>
          <p:nvPr/>
        </p:nvSpPr>
        <p:spPr>
          <a:xfrm>
            <a:off x="1177167" y="1816567"/>
            <a:ext cx="9663430" cy="578492"/>
          </a:xfrm>
          <a:prstGeom prst="rect">
            <a:avLst/>
          </a:prstGeom>
          <a:noFill/>
        </p:spPr>
        <p:txBody>
          <a:bodyPr wrap="square" rtlCol="0">
            <a:spAutoFit/>
          </a:bodyPr>
          <a:lstStyle/>
          <a:p>
            <a:pPr marL="342900" indent="-342900">
              <a:lnSpc>
                <a:spcPct val="150000"/>
              </a:lnSpc>
              <a:buBlip>
                <a:blip r:embed="rId3"/>
              </a:buBlip>
            </a:pP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sp>
        <p:nvSpPr>
          <p:cNvPr id="11" name="文字方塊 10">
            <a:extLst>
              <a:ext uri="{FF2B5EF4-FFF2-40B4-BE49-F238E27FC236}">
                <a16:creationId xmlns:a16="http://schemas.microsoft.com/office/drawing/2014/main" id="{BF94E171-0176-49DD-BE6C-DB2D96B94A88}"/>
              </a:ext>
            </a:extLst>
          </p:cNvPr>
          <p:cNvSpPr txBox="1"/>
          <p:nvPr/>
        </p:nvSpPr>
        <p:spPr>
          <a:xfrm>
            <a:off x="1102904" y="1069808"/>
            <a:ext cx="9663430" cy="1200329"/>
          </a:xfrm>
          <a:prstGeom prst="rect">
            <a:avLst/>
          </a:prstGeom>
          <a:noFill/>
        </p:spPr>
        <p:txBody>
          <a:bodyPr wrap="square" rtlCol="0">
            <a:spAutoFit/>
          </a:bodyPr>
          <a:lstStyle/>
          <a:p>
            <a:pPr marL="342900" indent="-342900">
              <a:lnSpc>
                <a:spcPct val="150000"/>
              </a:lnSpc>
              <a:buBlip>
                <a:blip r:embed="rId3"/>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傳統經營模式</a:t>
            </a: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sym typeface="Wingdings" panose="05000000000000000000" pitchFamily="2" charset="2"/>
              </a:rPr>
              <a:t>：</a:t>
            </a:r>
            <a:r>
              <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sym typeface="Wingdings" panose="05000000000000000000" pitchFamily="2" charset="2"/>
              </a:rPr>
              <a:t>(</a:t>
            </a: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sym typeface="Wingdings" panose="05000000000000000000" pitchFamily="2" charset="2"/>
              </a:rPr>
              <a:t>三階段七步驟</a:t>
            </a:r>
            <a:r>
              <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sym typeface="Wingdings" panose="05000000000000000000" pitchFamily="2" charset="2"/>
              </a:rPr>
              <a:t>)</a:t>
            </a:r>
          </a:p>
          <a:p>
            <a:pPr marL="800100" lvl="1" indent="-342900">
              <a:lnSpc>
                <a:spcPct val="150000"/>
              </a:lnSpc>
              <a:buBlip>
                <a:blip r:embed="rId3"/>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sym typeface="Wingdings" panose="05000000000000000000" pitchFamily="2" charset="2"/>
              </a:rPr>
              <a:t>第三階段：銷售</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graphicFrame>
        <p:nvGraphicFramePr>
          <p:cNvPr id="2" name="資料庫圖表 1"/>
          <p:cNvGraphicFramePr/>
          <p:nvPr>
            <p:extLst>
              <p:ext uri="{D42A27DB-BD31-4B8C-83A1-F6EECF244321}">
                <p14:modId xmlns:p14="http://schemas.microsoft.com/office/powerpoint/2010/main" val="2759607737"/>
              </p:ext>
            </p:extLst>
          </p:nvPr>
        </p:nvGraphicFramePr>
        <p:xfrm>
          <a:off x="4412801" y="2105813"/>
          <a:ext cx="2801805" cy="4491297"/>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133268020"/>
      </p:ext>
    </p:extLst>
  </p:cSld>
  <p:clrMapOvr>
    <a:masterClrMapping/>
  </p:clrMapOvr>
  <p:transition spd="med">
    <p:pull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circle(in)">
                                      <p:cBhvr>
                                        <p:cTn id="7" dur="1500"/>
                                        <p:tgtEl>
                                          <p:spTgt spid="46"/>
                                        </p:tgtEl>
                                      </p:cBhvr>
                                    </p:animEffect>
                                  </p:childTnLst>
                                </p:cTn>
                              </p:par>
                            </p:childTnLst>
                          </p:cTn>
                        </p:par>
                        <p:par>
                          <p:cTn id="8" fill="hold">
                            <p:stCondLst>
                              <p:cond delay="1500"/>
                            </p:stCondLst>
                            <p:childTnLst>
                              <p:par>
                                <p:cTn id="9" presetID="16" presetClass="entr" presetSubtype="21" fill="hold" grpId="0" nodeType="afterEffect">
                                  <p:stCondLst>
                                    <p:cond delay="0"/>
                                  </p:stCondLst>
                                  <p:childTnLst>
                                    <p:set>
                                      <p:cBhvr>
                                        <p:cTn id="10" dur="1" fill="hold">
                                          <p:stCondLst>
                                            <p:cond delay="0"/>
                                          </p:stCondLst>
                                        </p:cTn>
                                        <p:tgtEl>
                                          <p:spTgt spid="48"/>
                                        </p:tgtEl>
                                        <p:attrNameLst>
                                          <p:attrName>style.visibility</p:attrName>
                                        </p:attrNameLst>
                                      </p:cBhvr>
                                      <p:to>
                                        <p:strVal val="visible"/>
                                      </p:to>
                                    </p:set>
                                    <p:animEffect transition="in" filter="barn(inVertical)">
                                      <p:cBhvr>
                                        <p:cTn id="11" dur="500"/>
                                        <p:tgtEl>
                                          <p:spTgt spid="48"/>
                                        </p:tgtEl>
                                      </p:cBhvr>
                                    </p:animEffect>
                                  </p:childTnLst>
                                </p:cTn>
                              </p:par>
                            </p:childTnLst>
                          </p:cTn>
                        </p:par>
                        <p:par>
                          <p:cTn id="12" fill="hold">
                            <p:stCondLst>
                              <p:cond delay="2000"/>
                            </p:stCondLst>
                            <p:childTnLst>
                              <p:par>
                                <p:cTn id="13" presetID="2" presetClass="entr" presetSubtype="8" fill="hold" nodeType="afterEffect">
                                  <p:stCondLst>
                                    <p:cond delay="0"/>
                                  </p:stCondLst>
                                  <p:childTnLst>
                                    <p:set>
                                      <p:cBhvr>
                                        <p:cTn id="14" dur="1" fill="hold">
                                          <p:stCondLst>
                                            <p:cond delay="0"/>
                                          </p:stCondLst>
                                        </p:cTn>
                                        <p:tgtEl>
                                          <p:spTgt spid="33"/>
                                        </p:tgtEl>
                                        <p:attrNameLst>
                                          <p:attrName>style.visibility</p:attrName>
                                        </p:attrNameLst>
                                      </p:cBhvr>
                                      <p:to>
                                        <p:strVal val="visible"/>
                                      </p:to>
                                    </p:set>
                                    <p:anim calcmode="lin" valueType="num">
                                      <p:cBhvr additive="base">
                                        <p:cTn id="15" dur="500" fill="hold"/>
                                        <p:tgtEl>
                                          <p:spTgt spid="33"/>
                                        </p:tgtEl>
                                        <p:attrNameLst>
                                          <p:attrName>ppt_x</p:attrName>
                                        </p:attrNameLst>
                                      </p:cBhvr>
                                      <p:tavLst>
                                        <p:tav tm="0">
                                          <p:val>
                                            <p:strVal val="0-#ppt_w/2"/>
                                          </p:val>
                                        </p:tav>
                                        <p:tav tm="100000">
                                          <p:val>
                                            <p:strVal val="#ppt_x"/>
                                          </p:val>
                                        </p:tav>
                                      </p:tavLst>
                                    </p:anim>
                                    <p:anim calcmode="lin" valueType="num">
                                      <p:cBhvr additive="base">
                                        <p:cTn id="16" dur="500" fill="hold"/>
                                        <p:tgtEl>
                                          <p:spTgt spid="33"/>
                                        </p:tgtEl>
                                        <p:attrNameLst>
                                          <p:attrName>ppt_y</p:attrName>
                                        </p:attrNameLst>
                                      </p:cBhvr>
                                      <p:tavLst>
                                        <p:tav tm="0">
                                          <p:val>
                                            <p:strVal val="#ppt_y"/>
                                          </p:val>
                                        </p:tav>
                                        <p:tav tm="100000">
                                          <p:val>
                                            <p:strVal val="#ppt_y"/>
                                          </p:val>
                                        </p:tav>
                                      </p:tavLst>
                                    </p:anim>
                                  </p:childTnLst>
                                </p:cTn>
                              </p:par>
                            </p:childTnLst>
                          </p:cTn>
                        </p:par>
                        <p:par>
                          <p:cTn id="17" fill="hold">
                            <p:stCondLst>
                              <p:cond delay="2500"/>
                            </p:stCondLst>
                            <p:childTnLst>
                              <p:par>
                                <p:cTn id="18" presetID="16" presetClass="entr" presetSubtype="21" fill="hold" nodeType="afterEffect" nodePh="1">
                                  <p:stCondLst>
                                    <p:cond delay="0"/>
                                  </p:stCondLst>
                                  <p:endCondLst>
                                    <p:cond evt="begin" delay="0">
                                      <p:tn val="18"/>
                                    </p:cond>
                                  </p:endCondLst>
                                  <p:childTnLst>
                                    <p:set>
                                      <p:cBhvr>
                                        <p:cTn id="19" dur="1" fill="hold">
                                          <p:stCondLst>
                                            <p:cond delay="0"/>
                                          </p:stCondLst>
                                        </p:cTn>
                                        <p:tgtEl>
                                          <p:spTgt spid="10">
                                            <p:txEl>
                                              <p:pRg st="0" end="0"/>
                                            </p:txEl>
                                          </p:spTgt>
                                        </p:tgtEl>
                                        <p:attrNameLst>
                                          <p:attrName>style.visibility</p:attrName>
                                        </p:attrNameLst>
                                      </p:cBhvr>
                                      <p:to>
                                        <p:strVal val="visible"/>
                                      </p:to>
                                    </p:set>
                                    <p:animEffect transition="in" filter="barn(inVertical)">
                                      <p:cBhvr>
                                        <p:cTn id="20" dur="500"/>
                                        <p:tgtEl>
                                          <p:spTgt spid="10">
                                            <p:txEl>
                                              <p:pRg st="0" end="0"/>
                                            </p:txEl>
                                          </p:spTgt>
                                        </p:tgtEl>
                                      </p:cBhvr>
                                    </p:animEffect>
                                  </p:childTnLst>
                                </p:cTn>
                              </p:par>
                            </p:childTnLst>
                          </p:cTn>
                        </p:par>
                        <p:par>
                          <p:cTn id="21" fill="hold">
                            <p:stCondLst>
                              <p:cond delay="3000"/>
                            </p:stCondLst>
                            <p:childTnLst>
                              <p:par>
                                <p:cTn id="22" presetID="16" presetClass="entr" presetSubtype="21" fill="hold" nodeType="afterEffect">
                                  <p:stCondLst>
                                    <p:cond delay="0"/>
                                  </p:stCondLst>
                                  <p:childTnLst>
                                    <p:set>
                                      <p:cBhvr>
                                        <p:cTn id="23" dur="1" fill="hold">
                                          <p:stCondLst>
                                            <p:cond delay="0"/>
                                          </p:stCondLst>
                                        </p:cTn>
                                        <p:tgtEl>
                                          <p:spTgt spid="11">
                                            <p:txEl>
                                              <p:pRg st="0" end="0"/>
                                            </p:txEl>
                                          </p:spTgt>
                                        </p:tgtEl>
                                        <p:attrNameLst>
                                          <p:attrName>style.visibility</p:attrName>
                                        </p:attrNameLst>
                                      </p:cBhvr>
                                      <p:to>
                                        <p:strVal val="visible"/>
                                      </p:to>
                                    </p:set>
                                    <p:animEffect transition="in" filter="barn(inVertical)">
                                      <p:cBhvr>
                                        <p:cTn id="24" dur="500"/>
                                        <p:tgtEl>
                                          <p:spTgt spid="11">
                                            <p:txEl>
                                              <p:pRg st="0" end="0"/>
                                            </p:txEl>
                                          </p:spTgt>
                                        </p:tgtEl>
                                      </p:cBhvr>
                                    </p:animEffect>
                                  </p:childTnLst>
                                </p:cTn>
                              </p:par>
                            </p:childTnLst>
                          </p:cTn>
                        </p:par>
                        <p:par>
                          <p:cTn id="25" fill="hold">
                            <p:stCondLst>
                              <p:cond delay="3500"/>
                            </p:stCondLst>
                            <p:childTnLst>
                              <p:par>
                                <p:cTn id="26" presetID="16" presetClass="entr" presetSubtype="21" fill="hold" nodeType="afterEffect">
                                  <p:stCondLst>
                                    <p:cond delay="0"/>
                                  </p:stCondLst>
                                  <p:childTnLst>
                                    <p:set>
                                      <p:cBhvr>
                                        <p:cTn id="27" dur="1" fill="hold">
                                          <p:stCondLst>
                                            <p:cond delay="0"/>
                                          </p:stCondLst>
                                        </p:cTn>
                                        <p:tgtEl>
                                          <p:spTgt spid="11">
                                            <p:txEl>
                                              <p:pRg st="1" end="1"/>
                                            </p:txEl>
                                          </p:spTgt>
                                        </p:tgtEl>
                                        <p:attrNameLst>
                                          <p:attrName>style.visibility</p:attrName>
                                        </p:attrNameLst>
                                      </p:cBhvr>
                                      <p:to>
                                        <p:strVal val="visible"/>
                                      </p:to>
                                    </p:set>
                                    <p:animEffect transition="in" filter="barn(inVertical)">
                                      <p:cBhvr>
                                        <p:cTn id="28" dur="500"/>
                                        <p:tgtEl>
                                          <p:spTgt spid="11">
                                            <p:txEl>
                                              <p:pRg st="1" end="1"/>
                                            </p:txEl>
                                          </p:spTgt>
                                        </p:tgtEl>
                                      </p:cBhvr>
                                    </p:animEffect>
                                  </p:childTnLst>
                                </p:cTn>
                              </p:par>
                            </p:childTnLst>
                          </p:cTn>
                        </p:par>
                        <p:par>
                          <p:cTn id="29" fill="hold">
                            <p:stCondLst>
                              <p:cond delay="4000"/>
                            </p:stCondLst>
                            <p:childTnLst>
                              <p:par>
                                <p:cTn id="30" presetID="2" presetClass="entr" presetSubtype="8" fill="hold" grpId="0" nodeType="afterEffect">
                                  <p:stCondLst>
                                    <p:cond delay="0"/>
                                  </p:stCondLst>
                                  <p:childTnLst>
                                    <p:set>
                                      <p:cBhvr>
                                        <p:cTn id="31" dur="1" fill="hold">
                                          <p:stCondLst>
                                            <p:cond delay="0"/>
                                          </p:stCondLst>
                                        </p:cTn>
                                        <p:tgtEl>
                                          <p:spTgt spid="2"/>
                                        </p:tgtEl>
                                        <p:attrNameLst>
                                          <p:attrName>style.visibility</p:attrName>
                                        </p:attrNameLst>
                                      </p:cBhvr>
                                      <p:to>
                                        <p:strVal val="visible"/>
                                      </p:to>
                                    </p:set>
                                    <p:anim calcmode="lin" valueType="num">
                                      <p:cBhvr additive="base">
                                        <p:cTn id="32" dur="500" fill="hold"/>
                                        <p:tgtEl>
                                          <p:spTgt spid="2"/>
                                        </p:tgtEl>
                                        <p:attrNameLst>
                                          <p:attrName>ppt_x</p:attrName>
                                        </p:attrNameLst>
                                      </p:cBhvr>
                                      <p:tavLst>
                                        <p:tav tm="0">
                                          <p:val>
                                            <p:strVal val="0-#ppt_w/2"/>
                                          </p:val>
                                        </p:tav>
                                        <p:tav tm="100000">
                                          <p:val>
                                            <p:strVal val="#ppt_x"/>
                                          </p:val>
                                        </p:tav>
                                      </p:tavLst>
                                    </p:anim>
                                    <p:anim calcmode="lin" valueType="num">
                                      <p:cBhvr additive="base">
                                        <p:cTn id="33"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p:bldP spid="48" grpId="0"/>
      <p:bldGraphic spid="2" grpId="0">
        <p:bldAsOne/>
      </p:bldGraphic>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2"/>
          <a:stretch>
            <a:fillRect/>
          </a:stretch>
        </p:blipFill>
        <p:spPr>
          <a:xfrm rot="16200000">
            <a:off x="145169" y="-145167"/>
            <a:ext cx="1268414" cy="1558750"/>
          </a:xfrm>
          <a:prstGeom prst="rect">
            <a:avLst/>
          </a:prstGeom>
        </p:spPr>
      </p:pic>
      <p:sp>
        <p:nvSpPr>
          <p:cNvPr id="9" name="文字方塊 8">
            <a:extLst>
              <a:ext uri="{FF2B5EF4-FFF2-40B4-BE49-F238E27FC236}">
                <a16:creationId xmlns:a16="http://schemas.microsoft.com/office/drawing/2014/main" id="{81D0666A-D96D-4B5B-9036-192FA53FE435}"/>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cxnSp>
        <p:nvCxnSpPr>
          <p:cNvPr id="33" name="直接连接符 33">
            <a:extLst>
              <a:ext uri="{FF2B5EF4-FFF2-40B4-BE49-F238E27FC236}">
                <a16:creationId xmlns:a16="http://schemas.microsoft.com/office/drawing/2014/main" id="{DFF80DCD-8EF0-4D2F-8380-59FA348D932C}"/>
              </a:ext>
            </a:extLst>
          </p:cNvPr>
          <p:cNvCxnSpPr/>
          <p:nvPr/>
        </p:nvCxnSpPr>
        <p:spPr>
          <a:xfrm>
            <a:off x="1177167" y="1046746"/>
            <a:ext cx="10585176"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6" name="標題 1"/>
          <p:cNvSpPr txBox="1">
            <a:spLocks/>
          </p:cNvSpPr>
          <p:nvPr/>
        </p:nvSpPr>
        <p:spPr>
          <a:xfrm>
            <a:off x="854426" y="112999"/>
            <a:ext cx="5288853"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7-2 </a:t>
            </a:r>
            <a:r>
              <a:rPr lang="zh-TW" altLang="en-US" sz="2400" b="1" dirty="0">
                <a:solidFill>
                  <a:srgbClr val="E06741"/>
                </a:solidFill>
              </a:rPr>
              <a:t>實務案例</a:t>
            </a:r>
            <a:r>
              <a:rPr lang="en-US" altLang="zh-TW" sz="2400" b="1" dirty="0">
                <a:solidFill>
                  <a:srgbClr val="E06741"/>
                </a:solidFill>
              </a:rPr>
              <a:t>-</a:t>
            </a:r>
            <a:r>
              <a:rPr lang="zh-TW" altLang="en-US" sz="2400" b="1" dirty="0">
                <a:solidFill>
                  <a:srgbClr val="E06741"/>
                </a:solidFill>
              </a:rPr>
              <a:t>漁產履歷</a:t>
            </a:r>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sp>
        <p:nvSpPr>
          <p:cNvPr id="48" name="文字方塊 47">
            <a:extLst>
              <a:ext uri="{FF2B5EF4-FFF2-40B4-BE49-F238E27FC236}">
                <a16:creationId xmlns:a16="http://schemas.microsoft.com/office/drawing/2014/main" id="{AD7F4831-1A36-4A2F-ACBE-344F724510DC}"/>
              </a:ext>
            </a:extLst>
          </p:cNvPr>
          <p:cNvSpPr txBox="1"/>
          <p:nvPr/>
        </p:nvSpPr>
        <p:spPr>
          <a:xfrm>
            <a:off x="5130089" y="350241"/>
            <a:ext cx="2242922"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-2</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案例區塊鍊運用</a:t>
            </a:r>
          </a:p>
        </p:txBody>
      </p:sp>
      <p:sp>
        <p:nvSpPr>
          <p:cNvPr id="10" name="文字方塊 9">
            <a:extLst>
              <a:ext uri="{FF2B5EF4-FFF2-40B4-BE49-F238E27FC236}">
                <a16:creationId xmlns:a16="http://schemas.microsoft.com/office/drawing/2014/main" id="{BF94E171-0176-49DD-BE6C-DB2D96B94A88}"/>
              </a:ext>
            </a:extLst>
          </p:cNvPr>
          <p:cNvSpPr txBox="1"/>
          <p:nvPr/>
        </p:nvSpPr>
        <p:spPr>
          <a:xfrm>
            <a:off x="1177167" y="1816567"/>
            <a:ext cx="9663430" cy="578492"/>
          </a:xfrm>
          <a:prstGeom prst="rect">
            <a:avLst/>
          </a:prstGeom>
          <a:noFill/>
        </p:spPr>
        <p:txBody>
          <a:bodyPr wrap="square" rtlCol="0">
            <a:spAutoFit/>
          </a:bodyPr>
          <a:lstStyle/>
          <a:p>
            <a:pPr marL="342900" indent="-342900">
              <a:lnSpc>
                <a:spcPct val="150000"/>
              </a:lnSpc>
              <a:buBlip>
                <a:blip r:embed="rId3"/>
              </a:buBlip>
            </a:pP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sp>
        <p:nvSpPr>
          <p:cNvPr id="11" name="文字方塊 10">
            <a:extLst>
              <a:ext uri="{FF2B5EF4-FFF2-40B4-BE49-F238E27FC236}">
                <a16:creationId xmlns:a16="http://schemas.microsoft.com/office/drawing/2014/main" id="{BF94E171-0176-49DD-BE6C-DB2D96B94A88}"/>
              </a:ext>
            </a:extLst>
          </p:cNvPr>
          <p:cNvSpPr txBox="1"/>
          <p:nvPr/>
        </p:nvSpPr>
        <p:spPr>
          <a:xfrm>
            <a:off x="1102904" y="1069808"/>
            <a:ext cx="9663430" cy="578492"/>
          </a:xfrm>
          <a:prstGeom prst="rect">
            <a:avLst/>
          </a:prstGeom>
          <a:noFill/>
        </p:spPr>
        <p:txBody>
          <a:bodyPr wrap="square" rtlCol="0">
            <a:spAutoFit/>
          </a:bodyPr>
          <a:lstStyle/>
          <a:p>
            <a:pPr marL="342900" indent="-342900">
              <a:lnSpc>
                <a:spcPct val="150000"/>
              </a:lnSpc>
              <a:buBlip>
                <a:blip r:embed="rId3"/>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傳統產銷流程</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sym typeface="Wingdings" panose="05000000000000000000" pitchFamily="2" charset="2"/>
            </a:endParaRPr>
          </a:p>
        </p:txBody>
      </p:sp>
      <p:pic>
        <p:nvPicPr>
          <p:cNvPr id="3" name="圖片 2" descr="畫面剪輯"/>
          <p:cNvPicPr>
            <a:picLocks noChangeAspect="1"/>
          </p:cNvPicPr>
          <p:nvPr/>
        </p:nvPicPr>
        <p:blipFill rotWithShape="1">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b="11958"/>
          <a:stretch/>
        </p:blipFill>
        <p:spPr>
          <a:xfrm>
            <a:off x="2725983" y="1313254"/>
            <a:ext cx="7212344" cy="5331046"/>
          </a:xfrm>
          <a:prstGeom prst="rect">
            <a:avLst/>
          </a:prstGeom>
        </p:spPr>
      </p:pic>
    </p:spTree>
    <p:extLst>
      <p:ext uri="{BB962C8B-B14F-4D97-AF65-F5344CB8AC3E}">
        <p14:creationId xmlns:p14="http://schemas.microsoft.com/office/powerpoint/2010/main" val="2326807233"/>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circle(in)">
                                      <p:cBhvr>
                                        <p:cTn id="7" dur="1500"/>
                                        <p:tgtEl>
                                          <p:spTgt spid="46"/>
                                        </p:tgtEl>
                                      </p:cBhvr>
                                    </p:animEffect>
                                  </p:childTnLst>
                                </p:cTn>
                              </p:par>
                            </p:childTnLst>
                          </p:cTn>
                        </p:par>
                        <p:par>
                          <p:cTn id="8" fill="hold">
                            <p:stCondLst>
                              <p:cond delay="1500"/>
                            </p:stCondLst>
                            <p:childTnLst>
                              <p:par>
                                <p:cTn id="9" presetID="16" presetClass="entr" presetSubtype="21" fill="hold" grpId="0" nodeType="afterEffect">
                                  <p:stCondLst>
                                    <p:cond delay="0"/>
                                  </p:stCondLst>
                                  <p:childTnLst>
                                    <p:set>
                                      <p:cBhvr>
                                        <p:cTn id="10" dur="1" fill="hold">
                                          <p:stCondLst>
                                            <p:cond delay="0"/>
                                          </p:stCondLst>
                                        </p:cTn>
                                        <p:tgtEl>
                                          <p:spTgt spid="48"/>
                                        </p:tgtEl>
                                        <p:attrNameLst>
                                          <p:attrName>style.visibility</p:attrName>
                                        </p:attrNameLst>
                                      </p:cBhvr>
                                      <p:to>
                                        <p:strVal val="visible"/>
                                      </p:to>
                                    </p:set>
                                    <p:animEffect transition="in" filter="barn(inVertical)">
                                      <p:cBhvr>
                                        <p:cTn id="11" dur="500"/>
                                        <p:tgtEl>
                                          <p:spTgt spid="48"/>
                                        </p:tgtEl>
                                      </p:cBhvr>
                                    </p:animEffect>
                                  </p:childTnLst>
                                </p:cTn>
                              </p:par>
                            </p:childTnLst>
                          </p:cTn>
                        </p:par>
                        <p:par>
                          <p:cTn id="12" fill="hold">
                            <p:stCondLst>
                              <p:cond delay="2000"/>
                            </p:stCondLst>
                            <p:childTnLst>
                              <p:par>
                                <p:cTn id="13" presetID="2" presetClass="entr" presetSubtype="8" fill="hold" nodeType="afterEffect">
                                  <p:stCondLst>
                                    <p:cond delay="0"/>
                                  </p:stCondLst>
                                  <p:childTnLst>
                                    <p:set>
                                      <p:cBhvr>
                                        <p:cTn id="14" dur="1" fill="hold">
                                          <p:stCondLst>
                                            <p:cond delay="0"/>
                                          </p:stCondLst>
                                        </p:cTn>
                                        <p:tgtEl>
                                          <p:spTgt spid="33"/>
                                        </p:tgtEl>
                                        <p:attrNameLst>
                                          <p:attrName>style.visibility</p:attrName>
                                        </p:attrNameLst>
                                      </p:cBhvr>
                                      <p:to>
                                        <p:strVal val="visible"/>
                                      </p:to>
                                    </p:set>
                                    <p:anim calcmode="lin" valueType="num">
                                      <p:cBhvr additive="base">
                                        <p:cTn id="15" dur="500" fill="hold"/>
                                        <p:tgtEl>
                                          <p:spTgt spid="33"/>
                                        </p:tgtEl>
                                        <p:attrNameLst>
                                          <p:attrName>ppt_x</p:attrName>
                                        </p:attrNameLst>
                                      </p:cBhvr>
                                      <p:tavLst>
                                        <p:tav tm="0">
                                          <p:val>
                                            <p:strVal val="0-#ppt_w/2"/>
                                          </p:val>
                                        </p:tav>
                                        <p:tav tm="100000">
                                          <p:val>
                                            <p:strVal val="#ppt_x"/>
                                          </p:val>
                                        </p:tav>
                                      </p:tavLst>
                                    </p:anim>
                                    <p:anim calcmode="lin" valueType="num">
                                      <p:cBhvr additive="base">
                                        <p:cTn id="16" dur="500" fill="hold"/>
                                        <p:tgtEl>
                                          <p:spTgt spid="33"/>
                                        </p:tgtEl>
                                        <p:attrNameLst>
                                          <p:attrName>ppt_y</p:attrName>
                                        </p:attrNameLst>
                                      </p:cBhvr>
                                      <p:tavLst>
                                        <p:tav tm="0">
                                          <p:val>
                                            <p:strVal val="#ppt_y"/>
                                          </p:val>
                                        </p:tav>
                                        <p:tav tm="100000">
                                          <p:val>
                                            <p:strVal val="#ppt_y"/>
                                          </p:val>
                                        </p:tav>
                                      </p:tavLst>
                                    </p:anim>
                                  </p:childTnLst>
                                </p:cTn>
                              </p:par>
                            </p:childTnLst>
                          </p:cTn>
                        </p:par>
                        <p:par>
                          <p:cTn id="17" fill="hold">
                            <p:stCondLst>
                              <p:cond delay="2500"/>
                            </p:stCondLst>
                            <p:childTnLst>
                              <p:par>
                                <p:cTn id="18" presetID="16" presetClass="entr" presetSubtype="21" fill="hold" nodeType="afterEffect" nodePh="1">
                                  <p:stCondLst>
                                    <p:cond delay="0"/>
                                  </p:stCondLst>
                                  <p:endCondLst>
                                    <p:cond evt="begin" delay="0">
                                      <p:tn val="18"/>
                                    </p:cond>
                                  </p:endCondLst>
                                  <p:childTnLst>
                                    <p:set>
                                      <p:cBhvr>
                                        <p:cTn id="19" dur="1" fill="hold">
                                          <p:stCondLst>
                                            <p:cond delay="0"/>
                                          </p:stCondLst>
                                        </p:cTn>
                                        <p:tgtEl>
                                          <p:spTgt spid="10">
                                            <p:txEl>
                                              <p:pRg st="0" end="0"/>
                                            </p:txEl>
                                          </p:spTgt>
                                        </p:tgtEl>
                                        <p:attrNameLst>
                                          <p:attrName>style.visibility</p:attrName>
                                        </p:attrNameLst>
                                      </p:cBhvr>
                                      <p:to>
                                        <p:strVal val="visible"/>
                                      </p:to>
                                    </p:set>
                                    <p:animEffect transition="in" filter="barn(inVertical)">
                                      <p:cBhvr>
                                        <p:cTn id="20" dur="500"/>
                                        <p:tgtEl>
                                          <p:spTgt spid="10">
                                            <p:txEl>
                                              <p:pRg st="0" end="0"/>
                                            </p:txEl>
                                          </p:spTgt>
                                        </p:tgtEl>
                                      </p:cBhvr>
                                    </p:animEffect>
                                  </p:childTnLst>
                                </p:cTn>
                              </p:par>
                            </p:childTnLst>
                          </p:cTn>
                        </p:par>
                        <p:par>
                          <p:cTn id="21" fill="hold">
                            <p:stCondLst>
                              <p:cond delay="3000"/>
                            </p:stCondLst>
                            <p:childTnLst>
                              <p:par>
                                <p:cTn id="22" presetID="16" presetClass="entr" presetSubtype="21" fill="hold" nodeType="afterEffect">
                                  <p:stCondLst>
                                    <p:cond delay="0"/>
                                  </p:stCondLst>
                                  <p:childTnLst>
                                    <p:set>
                                      <p:cBhvr>
                                        <p:cTn id="23" dur="1" fill="hold">
                                          <p:stCondLst>
                                            <p:cond delay="0"/>
                                          </p:stCondLst>
                                        </p:cTn>
                                        <p:tgtEl>
                                          <p:spTgt spid="11">
                                            <p:txEl>
                                              <p:pRg st="0" end="0"/>
                                            </p:txEl>
                                          </p:spTgt>
                                        </p:tgtEl>
                                        <p:attrNameLst>
                                          <p:attrName>style.visibility</p:attrName>
                                        </p:attrNameLst>
                                      </p:cBhvr>
                                      <p:to>
                                        <p:strVal val="visible"/>
                                      </p:to>
                                    </p:set>
                                    <p:animEffect transition="in" filter="barn(inVertical)">
                                      <p:cBhvr>
                                        <p:cTn id="24" dur="500"/>
                                        <p:tgtEl>
                                          <p:spTgt spid="11">
                                            <p:txEl>
                                              <p:pRg st="0" end="0"/>
                                            </p:txEl>
                                          </p:spTgt>
                                        </p:tgtEl>
                                      </p:cBhvr>
                                    </p:animEffect>
                                  </p:childTnLst>
                                </p:cTn>
                              </p:par>
                            </p:childTnLst>
                          </p:cTn>
                        </p:par>
                        <p:par>
                          <p:cTn id="25" fill="hold">
                            <p:stCondLst>
                              <p:cond delay="3500"/>
                            </p:stCondLst>
                            <p:childTnLst>
                              <p:par>
                                <p:cTn id="26" presetID="53" presetClass="entr" presetSubtype="16" fill="hold" nodeType="afterEffect">
                                  <p:stCondLst>
                                    <p:cond delay="0"/>
                                  </p:stCondLst>
                                  <p:childTnLst>
                                    <p:set>
                                      <p:cBhvr>
                                        <p:cTn id="27" dur="1" fill="hold">
                                          <p:stCondLst>
                                            <p:cond delay="0"/>
                                          </p:stCondLst>
                                        </p:cTn>
                                        <p:tgtEl>
                                          <p:spTgt spid="3"/>
                                        </p:tgtEl>
                                        <p:attrNameLst>
                                          <p:attrName>style.visibility</p:attrName>
                                        </p:attrNameLst>
                                      </p:cBhvr>
                                      <p:to>
                                        <p:strVal val="visible"/>
                                      </p:to>
                                    </p:set>
                                    <p:anim calcmode="lin" valueType="num">
                                      <p:cBhvr>
                                        <p:cTn id="28" dur="500" fill="hold"/>
                                        <p:tgtEl>
                                          <p:spTgt spid="3"/>
                                        </p:tgtEl>
                                        <p:attrNameLst>
                                          <p:attrName>ppt_w</p:attrName>
                                        </p:attrNameLst>
                                      </p:cBhvr>
                                      <p:tavLst>
                                        <p:tav tm="0">
                                          <p:val>
                                            <p:fltVal val="0"/>
                                          </p:val>
                                        </p:tav>
                                        <p:tav tm="100000">
                                          <p:val>
                                            <p:strVal val="#ppt_w"/>
                                          </p:val>
                                        </p:tav>
                                      </p:tavLst>
                                    </p:anim>
                                    <p:anim calcmode="lin" valueType="num">
                                      <p:cBhvr>
                                        <p:cTn id="29" dur="500" fill="hold"/>
                                        <p:tgtEl>
                                          <p:spTgt spid="3"/>
                                        </p:tgtEl>
                                        <p:attrNameLst>
                                          <p:attrName>ppt_h</p:attrName>
                                        </p:attrNameLst>
                                      </p:cBhvr>
                                      <p:tavLst>
                                        <p:tav tm="0">
                                          <p:val>
                                            <p:fltVal val="0"/>
                                          </p:val>
                                        </p:tav>
                                        <p:tav tm="100000">
                                          <p:val>
                                            <p:strVal val="#ppt_h"/>
                                          </p:val>
                                        </p:tav>
                                      </p:tavLst>
                                    </p:anim>
                                    <p:animEffect transition="in" filter="fade">
                                      <p:cBhvr>
                                        <p:cTn id="30"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p:bldP spid="48"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2"/>
          <a:stretch>
            <a:fillRect/>
          </a:stretch>
        </p:blipFill>
        <p:spPr>
          <a:xfrm rot="16200000">
            <a:off x="145169" y="-145167"/>
            <a:ext cx="1268414" cy="1558750"/>
          </a:xfrm>
          <a:prstGeom prst="rect">
            <a:avLst/>
          </a:prstGeom>
        </p:spPr>
      </p:pic>
      <p:sp>
        <p:nvSpPr>
          <p:cNvPr id="9" name="文字方塊 8">
            <a:extLst>
              <a:ext uri="{FF2B5EF4-FFF2-40B4-BE49-F238E27FC236}">
                <a16:creationId xmlns:a16="http://schemas.microsoft.com/office/drawing/2014/main" id="{81D0666A-D96D-4B5B-9036-192FA53FE435}"/>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cxnSp>
        <p:nvCxnSpPr>
          <p:cNvPr id="33" name="直接连接符 33">
            <a:extLst>
              <a:ext uri="{FF2B5EF4-FFF2-40B4-BE49-F238E27FC236}">
                <a16:creationId xmlns:a16="http://schemas.microsoft.com/office/drawing/2014/main" id="{DFF80DCD-8EF0-4D2F-8380-59FA348D932C}"/>
              </a:ext>
            </a:extLst>
          </p:cNvPr>
          <p:cNvCxnSpPr/>
          <p:nvPr/>
        </p:nvCxnSpPr>
        <p:spPr>
          <a:xfrm>
            <a:off x="1177167" y="1046746"/>
            <a:ext cx="10585176"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6" name="標題 1"/>
          <p:cNvSpPr txBox="1">
            <a:spLocks/>
          </p:cNvSpPr>
          <p:nvPr/>
        </p:nvSpPr>
        <p:spPr>
          <a:xfrm>
            <a:off x="854426" y="112999"/>
            <a:ext cx="5288853"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7-2 </a:t>
            </a:r>
            <a:r>
              <a:rPr lang="zh-TW" altLang="en-US" sz="2400" b="1" dirty="0">
                <a:solidFill>
                  <a:srgbClr val="E06741"/>
                </a:solidFill>
              </a:rPr>
              <a:t>實務案例</a:t>
            </a:r>
            <a:r>
              <a:rPr lang="en-US" altLang="zh-TW" sz="2400" b="1" dirty="0">
                <a:solidFill>
                  <a:srgbClr val="E06741"/>
                </a:solidFill>
              </a:rPr>
              <a:t>-</a:t>
            </a:r>
            <a:r>
              <a:rPr lang="zh-TW" altLang="en-US" sz="2400" b="1" dirty="0">
                <a:solidFill>
                  <a:srgbClr val="E06741"/>
                </a:solidFill>
              </a:rPr>
              <a:t>漁產履歷</a:t>
            </a:r>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sp>
        <p:nvSpPr>
          <p:cNvPr id="48" name="文字方塊 47">
            <a:extLst>
              <a:ext uri="{FF2B5EF4-FFF2-40B4-BE49-F238E27FC236}">
                <a16:creationId xmlns:a16="http://schemas.microsoft.com/office/drawing/2014/main" id="{AD7F4831-1A36-4A2F-ACBE-344F724510DC}"/>
              </a:ext>
            </a:extLst>
          </p:cNvPr>
          <p:cNvSpPr txBox="1"/>
          <p:nvPr/>
        </p:nvSpPr>
        <p:spPr>
          <a:xfrm>
            <a:off x="5130089" y="350241"/>
            <a:ext cx="2242922"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-2</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案例區塊鍊運用</a:t>
            </a:r>
          </a:p>
        </p:txBody>
      </p:sp>
      <p:sp>
        <p:nvSpPr>
          <p:cNvPr id="10" name="文字方塊 9">
            <a:extLst>
              <a:ext uri="{FF2B5EF4-FFF2-40B4-BE49-F238E27FC236}">
                <a16:creationId xmlns:a16="http://schemas.microsoft.com/office/drawing/2014/main" id="{BF94E171-0176-49DD-BE6C-DB2D96B94A88}"/>
              </a:ext>
            </a:extLst>
          </p:cNvPr>
          <p:cNvSpPr txBox="1"/>
          <p:nvPr/>
        </p:nvSpPr>
        <p:spPr>
          <a:xfrm>
            <a:off x="1177167" y="1816567"/>
            <a:ext cx="9663430" cy="578492"/>
          </a:xfrm>
          <a:prstGeom prst="rect">
            <a:avLst/>
          </a:prstGeom>
          <a:noFill/>
        </p:spPr>
        <p:txBody>
          <a:bodyPr wrap="square" rtlCol="0">
            <a:spAutoFit/>
          </a:bodyPr>
          <a:lstStyle/>
          <a:p>
            <a:pPr marL="342900" indent="-342900">
              <a:lnSpc>
                <a:spcPct val="150000"/>
              </a:lnSpc>
              <a:buBlip>
                <a:blip r:embed="rId3"/>
              </a:buBlip>
            </a:pP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sp>
        <p:nvSpPr>
          <p:cNvPr id="11" name="文字方塊 10">
            <a:extLst>
              <a:ext uri="{FF2B5EF4-FFF2-40B4-BE49-F238E27FC236}">
                <a16:creationId xmlns:a16="http://schemas.microsoft.com/office/drawing/2014/main" id="{BF94E171-0176-49DD-BE6C-DB2D96B94A88}"/>
              </a:ext>
            </a:extLst>
          </p:cNvPr>
          <p:cNvSpPr txBox="1"/>
          <p:nvPr/>
        </p:nvSpPr>
        <p:spPr>
          <a:xfrm>
            <a:off x="1419835" y="1934457"/>
            <a:ext cx="9663430" cy="2862322"/>
          </a:xfrm>
          <a:prstGeom prst="rect">
            <a:avLst/>
          </a:prstGeom>
          <a:noFill/>
        </p:spPr>
        <p:txBody>
          <a:bodyPr wrap="square" rtlCol="0">
            <a:spAutoFit/>
          </a:bodyPr>
          <a:lstStyle/>
          <a:p>
            <a:pPr marL="342900" indent="-342900">
              <a:lnSpc>
                <a:spcPct val="150000"/>
              </a:lnSpc>
              <a:buBlip>
                <a:blip r:embed="rId3"/>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傳統產銷流程問題</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800100" lvl="1" indent="-342900">
              <a:lnSpc>
                <a:spcPct val="150000"/>
              </a:lnSpc>
              <a:buBlip>
                <a:blip r:embed="rId3"/>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sym typeface="Wingdings" panose="05000000000000000000" pitchFamily="2" charset="2"/>
              </a:rPr>
              <a:t>關係甚多廠商與產業</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sym typeface="Wingdings" panose="05000000000000000000" pitchFamily="2" charset="2"/>
            </a:endParaRPr>
          </a:p>
          <a:p>
            <a:pPr marL="800100" lvl="1" indent="-342900">
              <a:lnSpc>
                <a:spcPct val="150000"/>
              </a:lnSpc>
              <a:buBlip>
                <a:blip r:embed="rId3"/>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sym typeface="Wingdings" panose="05000000000000000000" pitchFamily="2" charset="2"/>
              </a:rPr>
              <a:t>經銷的過程費時與費力</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sym typeface="Wingdings" panose="05000000000000000000" pitchFamily="2" charset="2"/>
            </a:endParaRPr>
          </a:p>
          <a:p>
            <a:pPr marL="800100" lvl="1" indent="-342900">
              <a:lnSpc>
                <a:spcPct val="150000"/>
              </a:lnSpc>
              <a:buBlip>
                <a:blip r:embed="rId3"/>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sym typeface="Wingdings" panose="05000000000000000000" pitchFamily="2" charset="2"/>
              </a:rPr>
              <a:t>養殖業者在成本與人力上的增加</a:t>
            </a:r>
          </a:p>
          <a:p>
            <a:pPr marL="342900" indent="-342900">
              <a:lnSpc>
                <a:spcPct val="150000"/>
              </a:lnSpc>
              <a:buBlip>
                <a:blip r:embed="rId3"/>
              </a:buBlip>
            </a:pP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sym typeface="Wingdings" panose="05000000000000000000" pitchFamily="2" charset="2"/>
            </a:endParaRPr>
          </a:p>
        </p:txBody>
      </p:sp>
      <p:pic>
        <p:nvPicPr>
          <p:cNvPr id="12" name="圖片 1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966953" y="1934457"/>
            <a:ext cx="2442813" cy="2442813"/>
          </a:xfrm>
          <a:prstGeom prst="rect">
            <a:avLst/>
          </a:prstGeom>
        </p:spPr>
      </p:pic>
    </p:spTree>
    <p:extLst>
      <p:ext uri="{BB962C8B-B14F-4D97-AF65-F5344CB8AC3E}">
        <p14:creationId xmlns:p14="http://schemas.microsoft.com/office/powerpoint/2010/main" val="1186771381"/>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circle(in)">
                                      <p:cBhvr>
                                        <p:cTn id="7" dur="1500"/>
                                        <p:tgtEl>
                                          <p:spTgt spid="46"/>
                                        </p:tgtEl>
                                      </p:cBhvr>
                                    </p:animEffect>
                                  </p:childTnLst>
                                </p:cTn>
                              </p:par>
                            </p:childTnLst>
                          </p:cTn>
                        </p:par>
                        <p:par>
                          <p:cTn id="8" fill="hold">
                            <p:stCondLst>
                              <p:cond delay="1500"/>
                            </p:stCondLst>
                            <p:childTnLst>
                              <p:par>
                                <p:cTn id="9" presetID="16" presetClass="entr" presetSubtype="21" fill="hold" grpId="0" nodeType="afterEffect">
                                  <p:stCondLst>
                                    <p:cond delay="0"/>
                                  </p:stCondLst>
                                  <p:childTnLst>
                                    <p:set>
                                      <p:cBhvr>
                                        <p:cTn id="10" dur="1" fill="hold">
                                          <p:stCondLst>
                                            <p:cond delay="0"/>
                                          </p:stCondLst>
                                        </p:cTn>
                                        <p:tgtEl>
                                          <p:spTgt spid="48"/>
                                        </p:tgtEl>
                                        <p:attrNameLst>
                                          <p:attrName>style.visibility</p:attrName>
                                        </p:attrNameLst>
                                      </p:cBhvr>
                                      <p:to>
                                        <p:strVal val="visible"/>
                                      </p:to>
                                    </p:set>
                                    <p:animEffect transition="in" filter="barn(inVertical)">
                                      <p:cBhvr>
                                        <p:cTn id="11" dur="500"/>
                                        <p:tgtEl>
                                          <p:spTgt spid="48"/>
                                        </p:tgtEl>
                                      </p:cBhvr>
                                    </p:animEffect>
                                  </p:childTnLst>
                                </p:cTn>
                              </p:par>
                            </p:childTnLst>
                          </p:cTn>
                        </p:par>
                        <p:par>
                          <p:cTn id="12" fill="hold">
                            <p:stCondLst>
                              <p:cond delay="2000"/>
                            </p:stCondLst>
                            <p:childTnLst>
                              <p:par>
                                <p:cTn id="13" presetID="2" presetClass="entr" presetSubtype="8" fill="hold" nodeType="afterEffect">
                                  <p:stCondLst>
                                    <p:cond delay="0"/>
                                  </p:stCondLst>
                                  <p:childTnLst>
                                    <p:set>
                                      <p:cBhvr>
                                        <p:cTn id="14" dur="1" fill="hold">
                                          <p:stCondLst>
                                            <p:cond delay="0"/>
                                          </p:stCondLst>
                                        </p:cTn>
                                        <p:tgtEl>
                                          <p:spTgt spid="33"/>
                                        </p:tgtEl>
                                        <p:attrNameLst>
                                          <p:attrName>style.visibility</p:attrName>
                                        </p:attrNameLst>
                                      </p:cBhvr>
                                      <p:to>
                                        <p:strVal val="visible"/>
                                      </p:to>
                                    </p:set>
                                    <p:anim calcmode="lin" valueType="num">
                                      <p:cBhvr additive="base">
                                        <p:cTn id="15" dur="500" fill="hold"/>
                                        <p:tgtEl>
                                          <p:spTgt spid="33"/>
                                        </p:tgtEl>
                                        <p:attrNameLst>
                                          <p:attrName>ppt_x</p:attrName>
                                        </p:attrNameLst>
                                      </p:cBhvr>
                                      <p:tavLst>
                                        <p:tav tm="0">
                                          <p:val>
                                            <p:strVal val="0-#ppt_w/2"/>
                                          </p:val>
                                        </p:tav>
                                        <p:tav tm="100000">
                                          <p:val>
                                            <p:strVal val="#ppt_x"/>
                                          </p:val>
                                        </p:tav>
                                      </p:tavLst>
                                    </p:anim>
                                    <p:anim calcmode="lin" valueType="num">
                                      <p:cBhvr additive="base">
                                        <p:cTn id="16" dur="500" fill="hold"/>
                                        <p:tgtEl>
                                          <p:spTgt spid="33"/>
                                        </p:tgtEl>
                                        <p:attrNameLst>
                                          <p:attrName>ppt_y</p:attrName>
                                        </p:attrNameLst>
                                      </p:cBhvr>
                                      <p:tavLst>
                                        <p:tav tm="0">
                                          <p:val>
                                            <p:strVal val="#ppt_y"/>
                                          </p:val>
                                        </p:tav>
                                        <p:tav tm="100000">
                                          <p:val>
                                            <p:strVal val="#ppt_y"/>
                                          </p:val>
                                        </p:tav>
                                      </p:tavLst>
                                    </p:anim>
                                  </p:childTnLst>
                                </p:cTn>
                              </p:par>
                            </p:childTnLst>
                          </p:cTn>
                        </p:par>
                        <p:par>
                          <p:cTn id="17" fill="hold">
                            <p:stCondLst>
                              <p:cond delay="2500"/>
                            </p:stCondLst>
                            <p:childTnLst>
                              <p:par>
                                <p:cTn id="18" presetID="16" presetClass="entr" presetSubtype="21" fill="hold" nodeType="afterEffect" nodePh="1">
                                  <p:stCondLst>
                                    <p:cond delay="0"/>
                                  </p:stCondLst>
                                  <p:endCondLst>
                                    <p:cond evt="begin" delay="0">
                                      <p:tn val="18"/>
                                    </p:cond>
                                  </p:endCondLst>
                                  <p:childTnLst>
                                    <p:set>
                                      <p:cBhvr>
                                        <p:cTn id="19" dur="1" fill="hold">
                                          <p:stCondLst>
                                            <p:cond delay="0"/>
                                          </p:stCondLst>
                                        </p:cTn>
                                        <p:tgtEl>
                                          <p:spTgt spid="10">
                                            <p:txEl>
                                              <p:pRg st="0" end="0"/>
                                            </p:txEl>
                                          </p:spTgt>
                                        </p:tgtEl>
                                        <p:attrNameLst>
                                          <p:attrName>style.visibility</p:attrName>
                                        </p:attrNameLst>
                                      </p:cBhvr>
                                      <p:to>
                                        <p:strVal val="visible"/>
                                      </p:to>
                                    </p:set>
                                    <p:animEffect transition="in" filter="barn(inVertical)">
                                      <p:cBhvr>
                                        <p:cTn id="20" dur="500"/>
                                        <p:tgtEl>
                                          <p:spTgt spid="10">
                                            <p:txEl>
                                              <p:pRg st="0" end="0"/>
                                            </p:txEl>
                                          </p:spTgt>
                                        </p:tgtEl>
                                      </p:cBhvr>
                                    </p:animEffect>
                                  </p:childTnLst>
                                </p:cTn>
                              </p:par>
                            </p:childTnLst>
                          </p:cTn>
                        </p:par>
                        <p:par>
                          <p:cTn id="21" fill="hold">
                            <p:stCondLst>
                              <p:cond delay="3000"/>
                            </p:stCondLst>
                            <p:childTnLst>
                              <p:par>
                                <p:cTn id="22" presetID="16" presetClass="entr" presetSubtype="21" fill="hold" nodeType="afterEffect">
                                  <p:stCondLst>
                                    <p:cond delay="0"/>
                                  </p:stCondLst>
                                  <p:childTnLst>
                                    <p:set>
                                      <p:cBhvr>
                                        <p:cTn id="23" dur="1" fill="hold">
                                          <p:stCondLst>
                                            <p:cond delay="0"/>
                                          </p:stCondLst>
                                        </p:cTn>
                                        <p:tgtEl>
                                          <p:spTgt spid="11">
                                            <p:txEl>
                                              <p:pRg st="0" end="0"/>
                                            </p:txEl>
                                          </p:spTgt>
                                        </p:tgtEl>
                                        <p:attrNameLst>
                                          <p:attrName>style.visibility</p:attrName>
                                        </p:attrNameLst>
                                      </p:cBhvr>
                                      <p:to>
                                        <p:strVal val="visible"/>
                                      </p:to>
                                    </p:set>
                                    <p:animEffect transition="in" filter="barn(inVertical)">
                                      <p:cBhvr>
                                        <p:cTn id="24" dur="500"/>
                                        <p:tgtEl>
                                          <p:spTgt spid="11">
                                            <p:txEl>
                                              <p:pRg st="0" end="0"/>
                                            </p:txEl>
                                          </p:spTgt>
                                        </p:tgtEl>
                                      </p:cBhvr>
                                    </p:animEffect>
                                  </p:childTnLst>
                                </p:cTn>
                              </p:par>
                            </p:childTnLst>
                          </p:cTn>
                        </p:par>
                        <p:par>
                          <p:cTn id="25" fill="hold">
                            <p:stCondLst>
                              <p:cond delay="3500"/>
                            </p:stCondLst>
                            <p:childTnLst>
                              <p:par>
                                <p:cTn id="26" presetID="16" presetClass="entr" presetSubtype="21" fill="hold" nodeType="afterEffect">
                                  <p:stCondLst>
                                    <p:cond delay="0"/>
                                  </p:stCondLst>
                                  <p:childTnLst>
                                    <p:set>
                                      <p:cBhvr>
                                        <p:cTn id="27" dur="1" fill="hold">
                                          <p:stCondLst>
                                            <p:cond delay="0"/>
                                          </p:stCondLst>
                                        </p:cTn>
                                        <p:tgtEl>
                                          <p:spTgt spid="11">
                                            <p:txEl>
                                              <p:pRg st="1" end="1"/>
                                            </p:txEl>
                                          </p:spTgt>
                                        </p:tgtEl>
                                        <p:attrNameLst>
                                          <p:attrName>style.visibility</p:attrName>
                                        </p:attrNameLst>
                                      </p:cBhvr>
                                      <p:to>
                                        <p:strVal val="visible"/>
                                      </p:to>
                                    </p:set>
                                    <p:animEffect transition="in" filter="barn(inVertical)">
                                      <p:cBhvr>
                                        <p:cTn id="28" dur="500"/>
                                        <p:tgtEl>
                                          <p:spTgt spid="11">
                                            <p:txEl>
                                              <p:pRg st="1" end="1"/>
                                            </p:txEl>
                                          </p:spTgt>
                                        </p:tgtEl>
                                      </p:cBhvr>
                                    </p:animEffect>
                                  </p:childTnLst>
                                </p:cTn>
                              </p:par>
                            </p:childTnLst>
                          </p:cTn>
                        </p:par>
                        <p:par>
                          <p:cTn id="29" fill="hold">
                            <p:stCondLst>
                              <p:cond delay="4000"/>
                            </p:stCondLst>
                            <p:childTnLst>
                              <p:par>
                                <p:cTn id="30" presetID="16" presetClass="entr" presetSubtype="21" fill="hold" nodeType="afterEffect">
                                  <p:stCondLst>
                                    <p:cond delay="0"/>
                                  </p:stCondLst>
                                  <p:childTnLst>
                                    <p:set>
                                      <p:cBhvr>
                                        <p:cTn id="31" dur="1" fill="hold">
                                          <p:stCondLst>
                                            <p:cond delay="0"/>
                                          </p:stCondLst>
                                        </p:cTn>
                                        <p:tgtEl>
                                          <p:spTgt spid="11">
                                            <p:txEl>
                                              <p:pRg st="2" end="2"/>
                                            </p:txEl>
                                          </p:spTgt>
                                        </p:tgtEl>
                                        <p:attrNameLst>
                                          <p:attrName>style.visibility</p:attrName>
                                        </p:attrNameLst>
                                      </p:cBhvr>
                                      <p:to>
                                        <p:strVal val="visible"/>
                                      </p:to>
                                    </p:set>
                                    <p:animEffect transition="in" filter="barn(inVertical)">
                                      <p:cBhvr>
                                        <p:cTn id="32" dur="500"/>
                                        <p:tgtEl>
                                          <p:spTgt spid="11">
                                            <p:txEl>
                                              <p:pRg st="2" end="2"/>
                                            </p:txEl>
                                          </p:spTgt>
                                        </p:tgtEl>
                                      </p:cBhvr>
                                    </p:animEffect>
                                  </p:childTnLst>
                                </p:cTn>
                              </p:par>
                            </p:childTnLst>
                          </p:cTn>
                        </p:par>
                        <p:par>
                          <p:cTn id="33" fill="hold">
                            <p:stCondLst>
                              <p:cond delay="4500"/>
                            </p:stCondLst>
                            <p:childTnLst>
                              <p:par>
                                <p:cTn id="34" presetID="16" presetClass="entr" presetSubtype="21" fill="hold" nodeType="afterEffect">
                                  <p:stCondLst>
                                    <p:cond delay="0"/>
                                  </p:stCondLst>
                                  <p:childTnLst>
                                    <p:set>
                                      <p:cBhvr>
                                        <p:cTn id="35" dur="1" fill="hold">
                                          <p:stCondLst>
                                            <p:cond delay="0"/>
                                          </p:stCondLst>
                                        </p:cTn>
                                        <p:tgtEl>
                                          <p:spTgt spid="11">
                                            <p:txEl>
                                              <p:pRg st="3" end="3"/>
                                            </p:txEl>
                                          </p:spTgt>
                                        </p:tgtEl>
                                        <p:attrNameLst>
                                          <p:attrName>style.visibility</p:attrName>
                                        </p:attrNameLst>
                                      </p:cBhvr>
                                      <p:to>
                                        <p:strVal val="visible"/>
                                      </p:to>
                                    </p:set>
                                    <p:animEffect transition="in" filter="barn(inVertical)">
                                      <p:cBhvr>
                                        <p:cTn id="36" dur="500"/>
                                        <p:tgtEl>
                                          <p:spTgt spid="11">
                                            <p:txEl>
                                              <p:pRg st="3" end="3"/>
                                            </p:txEl>
                                          </p:spTgt>
                                        </p:tgtEl>
                                      </p:cBhvr>
                                    </p:animEffect>
                                  </p:childTnLst>
                                </p:cTn>
                              </p:par>
                            </p:childTnLst>
                          </p:cTn>
                        </p:par>
                        <p:par>
                          <p:cTn id="37" fill="hold">
                            <p:stCondLst>
                              <p:cond delay="5000"/>
                            </p:stCondLst>
                            <p:childTnLst>
                              <p:par>
                                <p:cTn id="38" presetID="2" presetClass="entr" presetSubtype="12" fill="hold" nodeType="afterEffect">
                                  <p:stCondLst>
                                    <p:cond delay="0"/>
                                  </p:stCondLst>
                                  <p:childTnLst>
                                    <p:set>
                                      <p:cBhvr>
                                        <p:cTn id="39" dur="1" fill="hold">
                                          <p:stCondLst>
                                            <p:cond delay="0"/>
                                          </p:stCondLst>
                                        </p:cTn>
                                        <p:tgtEl>
                                          <p:spTgt spid="12"/>
                                        </p:tgtEl>
                                        <p:attrNameLst>
                                          <p:attrName>style.visibility</p:attrName>
                                        </p:attrNameLst>
                                      </p:cBhvr>
                                      <p:to>
                                        <p:strVal val="visible"/>
                                      </p:to>
                                    </p:set>
                                    <p:anim calcmode="lin" valueType="num">
                                      <p:cBhvr additive="base">
                                        <p:cTn id="40" dur="500" fill="hold"/>
                                        <p:tgtEl>
                                          <p:spTgt spid="12"/>
                                        </p:tgtEl>
                                        <p:attrNameLst>
                                          <p:attrName>ppt_x</p:attrName>
                                        </p:attrNameLst>
                                      </p:cBhvr>
                                      <p:tavLst>
                                        <p:tav tm="0">
                                          <p:val>
                                            <p:strVal val="0-#ppt_w/2"/>
                                          </p:val>
                                        </p:tav>
                                        <p:tav tm="100000">
                                          <p:val>
                                            <p:strVal val="#ppt_x"/>
                                          </p:val>
                                        </p:tav>
                                      </p:tavLst>
                                    </p:anim>
                                    <p:anim calcmode="lin" valueType="num">
                                      <p:cBhvr additive="base">
                                        <p:cTn id="41"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p:bldP spid="48"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2"/>
          <a:stretch>
            <a:fillRect/>
          </a:stretch>
        </p:blipFill>
        <p:spPr>
          <a:xfrm rot="16200000">
            <a:off x="145169" y="-145167"/>
            <a:ext cx="1268414" cy="1558750"/>
          </a:xfrm>
          <a:prstGeom prst="rect">
            <a:avLst/>
          </a:prstGeom>
        </p:spPr>
      </p:pic>
      <p:sp>
        <p:nvSpPr>
          <p:cNvPr id="9" name="文字方塊 8">
            <a:extLst>
              <a:ext uri="{FF2B5EF4-FFF2-40B4-BE49-F238E27FC236}">
                <a16:creationId xmlns:a16="http://schemas.microsoft.com/office/drawing/2014/main" id="{81D0666A-D96D-4B5B-9036-192FA53FE435}"/>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cxnSp>
        <p:nvCxnSpPr>
          <p:cNvPr id="33" name="直接连接符 33">
            <a:extLst>
              <a:ext uri="{FF2B5EF4-FFF2-40B4-BE49-F238E27FC236}">
                <a16:creationId xmlns:a16="http://schemas.microsoft.com/office/drawing/2014/main" id="{DFF80DCD-8EF0-4D2F-8380-59FA348D932C}"/>
              </a:ext>
            </a:extLst>
          </p:cNvPr>
          <p:cNvCxnSpPr/>
          <p:nvPr/>
        </p:nvCxnSpPr>
        <p:spPr>
          <a:xfrm>
            <a:off x="1177167" y="1046746"/>
            <a:ext cx="10585176"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6" name="標題 1"/>
          <p:cNvSpPr txBox="1">
            <a:spLocks/>
          </p:cNvSpPr>
          <p:nvPr/>
        </p:nvSpPr>
        <p:spPr>
          <a:xfrm>
            <a:off x="854426" y="112999"/>
            <a:ext cx="5288853"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7-2 </a:t>
            </a:r>
            <a:r>
              <a:rPr lang="zh-TW" altLang="en-US" sz="2400" b="1" dirty="0">
                <a:solidFill>
                  <a:srgbClr val="E06741"/>
                </a:solidFill>
              </a:rPr>
              <a:t>實務案例</a:t>
            </a:r>
            <a:r>
              <a:rPr lang="en-US" altLang="zh-TW" sz="2400" b="1" dirty="0">
                <a:solidFill>
                  <a:srgbClr val="E06741"/>
                </a:solidFill>
              </a:rPr>
              <a:t>-</a:t>
            </a:r>
            <a:r>
              <a:rPr lang="zh-TW" altLang="en-US" sz="2400" b="1" dirty="0">
                <a:solidFill>
                  <a:srgbClr val="E06741"/>
                </a:solidFill>
              </a:rPr>
              <a:t>漁產履歷</a:t>
            </a:r>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sp>
        <p:nvSpPr>
          <p:cNvPr id="48" name="文字方塊 47">
            <a:extLst>
              <a:ext uri="{FF2B5EF4-FFF2-40B4-BE49-F238E27FC236}">
                <a16:creationId xmlns:a16="http://schemas.microsoft.com/office/drawing/2014/main" id="{AD7F4831-1A36-4A2F-ACBE-344F724510DC}"/>
              </a:ext>
            </a:extLst>
          </p:cNvPr>
          <p:cNvSpPr txBox="1"/>
          <p:nvPr/>
        </p:nvSpPr>
        <p:spPr>
          <a:xfrm>
            <a:off x="5130089" y="350241"/>
            <a:ext cx="2242922"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-2</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案例區塊鍊運用</a:t>
            </a:r>
          </a:p>
        </p:txBody>
      </p:sp>
      <p:sp>
        <p:nvSpPr>
          <p:cNvPr id="10" name="文字方塊 9">
            <a:extLst>
              <a:ext uri="{FF2B5EF4-FFF2-40B4-BE49-F238E27FC236}">
                <a16:creationId xmlns:a16="http://schemas.microsoft.com/office/drawing/2014/main" id="{BF94E171-0176-49DD-BE6C-DB2D96B94A88}"/>
              </a:ext>
            </a:extLst>
          </p:cNvPr>
          <p:cNvSpPr txBox="1"/>
          <p:nvPr/>
        </p:nvSpPr>
        <p:spPr>
          <a:xfrm>
            <a:off x="1177167" y="1816567"/>
            <a:ext cx="9663430" cy="578492"/>
          </a:xfrm>
          <a:prstGeom prst="rect">
            <a:avLst/>
          </a:prstGeom>
          <a:noFill/>
        </p:spPr>
        <p:txBody>
          <a:bodyPr wrap="square" rtlCol="0">
            <a:spAutoFit/>
          </a:bodyPr>
          <a:lstStyle/>
          <a:p>
            <a:pPr marL="342900" indent="-342900">
              <a:lnSpc>
                <a:spcPct val="150000"/>
              </a:lnSpc>
              <a:buBlip>
                <a:blip r:embed="rId3"/>
              </a:buBlip>
            </a:pP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sp>
        <p:nvSpPr>
          <p:cNvPr id="12" name="文字方塊 11">
            <a:extLst>
              <a:ext uri="{FF2B5EF4-FFF2-40B4-BE49-F238E27FC236}">
                <a16:creationId xmlns:a16="http://schemas.microsoft.com/office/drawing/2014/main" id="{BF94E171-0176-49DD-BE6C-DB2D96B94A88}"/>
              </a:ext>
            </a:extLst>
          </p:cNvPr>
          <p:cNvSpPr txBox="1"/>
          <p:nvPr/>
        </p:nvSpPr>
        <p:spPr>
          <a:xfrm>
            <a:off x="1369954" y="1126559"/>
            <a:ext cx="4962122" cy="646331"/>
          </a:xfrm>
          <a:prstGeom prst="rect">
            <a:avLst/>
          </a:prstGeom>
          <a:noFill/>
        </p:spPr>
        <p:txBody>
          <a:bodyPr wrap="square" rtlCol="0">
            <a:spAutoFit/>
          </a:bodyPr>
          <a:lstStyle/>
          <a:p>
            <a:pPr marL="342900" indent="-342900">
              <a:lnSpc>
                <a:spcPct val="150000"/>
              </a:lnSpc>
              <a:buBlip>
                <a:blip r:embed="rId3"/>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區塊鏈機制石斑魚產銷交易流程</a:t>
            </a:r>
          </a:p>
        </p:txBody>
      </p:sp>
      <p:pic>
        <p:nvPicPr>
          <p:cNvPr id="2" name="圖片 1" descr="畫面剪輯"/>
          <p:cNvPicPr>
            <a:picLocks noChangeAspect="1"/>
          </p:cNvPicPr>
          <p:nvPr/>
        </p:nvPicPr>
        <p:blipFill rotWithShape="1">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b="12699"/>
          <a:stretch/>
        </p:blipFill>
        <p:spPr>
          <a:xfrm>
            <a:off x="2698272" y="1543342"/>
            <a:ext cx="6621220" cy="5053048"/>
          </a:xfrm>
          <a:prstGeom prst="rect">
            <a:avLst/>
          </a:prstGeom>
        </p:spPr>
      </p:pic>
    </p:spTree>
    <p:extLst>
      <p:ext uri="{BB962C8B-B14F-4D97-AF65-F5344CB8AC3E}">
        <p14:creationId xmlns:p14="http://schemas.microsoft.com/office/powerpoint/2010/main" val="2626856303"/>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circle(in)">
                                      <p:cBhvr>
                                        <p:cTn id="7" dur="1500"/>
                                        <p:tgtEl>
                                          <p:spTgt spid="46"/>
                                        </p:tgtEl>
                                      </p:cBhvr>
                                    </p:animEffect>
                                  </p:childTnLst>
                                </p:cTn>
                              </p:par>
                            </p:childTnLst>
                          </p:cTn>
                        </p:par>
                        <p:par>
                          <p:cTn id="8" fill="hold">
                            <p:stCondLst>
                              <p:cond delay="1500"/>
                            </p:stCondLst>
                            <p:childTnLst>
                              <p:par>
                                <p:cTn id="9" presetID="16" presetClass="entr" presetSubtype="21" fill="hold" grpId="0" nodeType="afterEffect">
                                  <p:stCondLst>
                                    <p:cond delay="0"/>
                                  </p:stCondLst>
                                  <p:childTnLst>
                                    <p:set>
                                      <p:cBhvr>
                                        <p:cTn id="10" dur="1" fill="hold">
                                          <p:stCondLst>
                                            <p:cond delay="0"/>
                                          </p:stCondLst>
                                        </p:cTn>
                                        <p:tgtEl>
                                          <p:spTgt spid="48"/>
                                        </p:tgtEl>
                                        <p:attrNameLst>
                                          <p:attrName>style.visibility</p:attrName>
                                        </p:attrNameLst>
                                      </p:cBhvr>
                                      <p:to>
                                        <p:strVal val="visible"/>
                                      </p:to>
                                    </p:set>
                                    <p:animEffect transition="in" filter="barn(inVertical)">
                                      <p:cBhvr>
                                        <p:cTn id="11" dur="500"/>
                                        <p:tgtEl>
                                          <p:spTgt spid="48"/>
                                        </p:tgtEl>
                                      </p:cBhvr>
                                    </p:animEffect>
                                  </p:childTnLst>
                                </p:cTn>
                              </p:par>
                            </p:childTnLst>
                          </p:cTn>
                        </p:par>
                        <p:par>
                          <p:cTn id="12" fill="hold">
                            <p:stCondLst>
                              <p:cond delay="2000"/>
                            </p:stCondLst>
                            <p:childTnLst>
                              <p:par>
                                <p:cTn id="13" presetID="2" presetClass="entr" presetSubtype="8" fill="hold" nodeType="afterEffect">
                                  <p:stCondLst>
                                    <p:cond delay="0"/>
                                  </p:stCondLst>
                                  <p:childTnLst>
                                    <p:set>
                                      <p:cBhvr>
                                        <p:cTn id="14" dur="1" fill="hold">
                                          <p:stCondLst>
                                            <p:cond delay="0"/>
                                          </p:stCondLst>
                                        </p:cTn>
                                        <p:tgtEl>
                                          <p:spTgt spid="33"/>
                                        </p:tgtEl>
                                        <p:attrNameLst>
                                          <p:attrName>style.visibility</p:attrName>
                                        </p:attrNameLst>
                                      </p:cBhvr>
                                      <p:to>
                                        <p:strVal val="visible"/>
                                      </p:to>
                                    </p:set>
                                    <p:anim calcmode="lin" valueType="num">
                                      <p:cBhvr additive="base">
                                        <p:cTn id="15" dur="500" fill="hold"/>
                                        <p:tgtEl>
                                          <p:spTgt spid="33"/>
                                        </p:tgtEl>
                                        <p:attrNameLst>
                                          <p:attrName>ppt_x</p:attrName>
                                        </p:attrNameLst>
                                      </p:cBhvr>
                                      <p:tavLst>
                                        <p:tav tm="0">
                                          <p:val>
                                            <p:strVal val="0-#ppt_w/2"/>
                                          </p:val>
                                        </p:tav>
                                        <p:tav tm="100000">
                                          <p:val>
                                            <p:strVal val="#ppt_x"/>
                                          </p:val>
                                        </p:tav>
                                      </p:tavLst>
                                    </p:anim>
                                    <p:anim calcmode="lin" valueType="num">
                                      <p:cBhvr additive="base">
                                        <p:cTn id="16" dur="500" fill="hold"/>
                                        <p:tgtEl>
                                          <p:spTgt spid="33"/>
                                        </p:tgtEl>
                                        <p:attrNameLst>
                                          <p:attrName>ppt_y</p:attrName>
                                        </p:attrNameLst>
                                      </p:cBhvr>
                                      <p:tavLst>
                                        <p:tav tm="0">
                                          <p:val>
                                            <p:strVal val="#ppt_y"/>
                                          </p:val>
                                        </p:tav>
                                        <p:tav tm="100000">
                                          <p:val>
                                            <p:strVal val="#ppt_y"/>
                                          </p:val>
                                        </p:tav>
                                      </p:tavLst>
                                    </p:anim>
                                  </p:childTnLst>
                                </p:cTn>
                              </p:par>
                            </p:childTnLst>
                          </p:cTn>
                        </p:par>
                        <p:par>
                          <p:cTn id="17" fill="hold">
                            <p:stCondLst>
                              <p:cond delay="2500"/>
                            </p:stCondLst>
                            <p:childTnLst>
                              <p:par>
                                <p:cTn id="18" presetID="16" presetClass="entr" presetSubtype="21" fill="hold" nodeType="afterEffect" nodePh="1">
                                  <p:stCondLst>
                                    <p:cond delay="0"/>
                                  </p:stCondLst>
                                  <p:endCondLst>
                                    <p:cond evt="begin" delay="0">
                                      <p:tn val="18"/>
                                    </p:cond>
                                  </p:endCondLst>
                                  <p:childTnLst>
                                    <p:set>
                                      <p:cBhvr>
                                        <p:cTn id="19" dur="1" fill="hold">
                                          <p:stCondLst>
                                            <p:cond delay="0"/>
                                          </p:stCondLst>
                                        </p:cTn>
                                        <p:tgtEl>
                                          <p:spTgt spid="10">
                                            <p:txEl>
                                              <p:pRg st="0" end="0"/>
                                            </p:txEl>
                                          </p:spTgt>
                                        </p:tgtEl>
                                        <p:attrNameLst>
                                          <p:attrName>style.visibility</p:attrName>
                                        </p:attrNameLst>
                                      </p:cBhvr>
                                      <p:to>
                                        <p:strVal val="visible"/>
                                      </p:to>
                                    </p:set>
                                    <p:animEffect transition="in" filter="barn(inVertical)">
                                      <p:cBhvr>
                                        <p:cTn id="20" dur="500"/>
                                        <p:tgtEl>
                                          <p:spTgt spid="10">
                                            <p:txEl>
                                              <p:pRg st="0" end="0"/>
                                            </p:txEl>
                                          </p:spTgt>
                                        </p:tgtEl>
                                      </p:cBhvr>
                                    </p:animEffect>
                                  </p:childTnLst>
                                </p:cTn>
                              </p:par>
                            </p:childTnLst>
                          </p:cTn>
                        </p:par>
                        <p:par>
                          <p:cTn id="21" fill="hold">
                            <p:stCondLst>
                              <p:cond delay="3000"/>
                            </p:stCondLst>
                            <p:childTnLst>
                              <p:par>
                                <p:cTn id="22" presetID="16" presetClass="entr" presetSubtype="21" fill="hold" grpId="0" nodeType="after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barn(inVertical)">
                                      <p:cBhvr>
                                        <p:cTn id="24" dur="500"/>
                                        <p:tgtEl>
                                          <p:spTgt spid="12"/>
                                        </p:tgtEl>
                                      </p:cBhvr>
                                    </p:animEffect>
                                  </p:childTnLst>
                                </p:cTn>
                              </p:par>
                            </p:childTnLst>
                          </p:cTn>
                        </p:par>
                        <p:par>
                          <p:cTn id="25" fill="hold">
                            <p:stCondLst>
                              <p:cond delay="3500"/>
                            </p:stCondLst>
                            <p:childTnLst>
                              <p:par>
                                <p:cTn id="26" presetID="53" presetClass="entr" presetSubtype="16" fill="hold" nodeType="afterEffect">
                                  <p:stCondLst>
                                    <p:cond delay="0"/>
                                  </p:stCondLst>
                                  <p:childTnLst>
                                    <p:set>
                                      <p:cBhvr>
                                        <p:cTn id="27" dur="1" fill="hold">
                                          <p:stCondLst>
                                            <p:cond delay="0"/>
                                          </p:stCondLst>
                                        </p:cTn>
                                        <p:tgtEl>
                                          <p:spTgt spid="2"/>
                                        </p:tgtEl>
                                        <p:attrNameLst>
                                          <p:attrName>style.visibility</p:attrName>
                                        </p:attrNameLst>
                                      </p:cBhvr>
                                      <p:to>
                                        <p:strVal val="visible"/>
                                      </p:to>
                                    </p:set>
                                    <p:anim calcmode="lin" valueType="num">
                                      <p:cBhvr>
                                        <p:cTn id="28" dur="500" fill="hold"/>
                                        <p:tgtEl>
                                          <p:spTgt spid="2"/>
                                        </p:tgtEl>
                                        <p:attrNameLst>
                                          <p:attrName>ppt_w</p:attrName>
                                        </p:attrNameLst>
                                      </p:cBhvr>
                                      <p:tavLst>
                                        <p:tav tm="0">
                                          <p:val>
                                            <p:fltVal val="0"/>
                                          </p:val>
                                        </p:tav>
                                        <p:tav tm="100000">
                                          <p:val>
                                            <p:strVal val="#ppt_w"/>
                                          </p:val>
                                        </p:tav>
                                      </p:tavLst>
                                    </p:anim>
                                    <p:anim calcmode="lin" valueType="num">
                                      <p:cBhvr>
                                        <p:cTn id="29" dur="500" fill="hold"/>
                                        <p:tgtEl>
                                          <p:spTgt spid="2"/>
                                        </p:tgtEl>
                                        <p:attrNameLst>
                                          <p:attrName>ppt_h</p:attrName>
                                        </p:attrNameLst>
                                      </p:cBhvr>
                                      <p:tavLst>
                                        <p:tav tm="0">
                                          <p:val>
                                            <p:fltVal val="0"/>
                                          </p:val>
                                        </p:tav>
                                        <p:tav tm="100000">
                                          <p:val>
                                            <p:strVal val="#ppt_h"/>
                                          </p:val>
                                        </p:tav>
                                      </p:tavLst>
                                    </p:anim>
                                    <p:animEffect transition="in" filter="fade">
                                      <p:cBhvr>
                                        <p:cTn id="30"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p:bldP spid="48" grpId="0"/>
      <p:bldP spid="12"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2"/>
          <a:stretch>
            <a:fillRect/>
          </a:stretch>
        </p:blipFill>
        <p:spPr>
          <a:xfrm rot="16200000">
            <a:off x="145169" y="-145167"/>
            <a:ext cx="1268414" cy="1558750"/>
          </a:xfrm>
          <a:prstGeom prst="rect">
            <a:avLst/>
          </a:prstGeom>
        </p:spPr>
      </p:pic>
      <p:sp>
        <p:nvSpPr>
          <p:cNvPr id="9" name="文字方塊 8">
            <a:extLst>
              <a:ext uri="{FF2B5EF4-FFF2-40B4-BE49-F238E27FC236}">
                <a16:creationId xmlns:a16="http://schemas.microsoft.com/office/drawing/2014/main" id="{81D0666A-D96D-4B5B-9036-192FA53FE435}"/>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cxnSp>
        <p:nvCxnSpPr>
          <p:cNvPr id="33" name="直接连接符 33">
            <a:extLst>
              <a:ext uri="{FF2B5EF4-FFF2-40B4-BE49-F238E27FC236}">
                <a16:creationId xmlns:a16="http://schemas.microsoft.com/office/drawing/2014/main" id="{DFF80DCD-8EF0-4D2F-8380-59FA348D932C}"/>
              </a:ext>
            </a:extLst>
          </p:cNvPr>
          <p:cNvCxnSpPr/>
          <p:nvPr/>
        </p:nvCxnSpPr>
        <p:spPr>
          <a:xfrm>
            <a:off x="1177167" y="1046746"/>
            <a:ext cx="10585176"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6" name="標題 1"/>
          <p:cNvSpPr txBox="1">
            <a:spLocks/>
          </p:cNvSpPr>
          <p:nvPr/>
        </p:nvSpPr>
        <p:spPr>
          <a:xfrm>
            <a:off x="854426" y="112999"/>
            <a:ext cx="5288853"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7-2 </a:t>
            </a:r>
            <a:r>
              <a:rPr lang="zh-TW" altLang="en-US" sz="2400" b="1" dirty="0">
                <a:solidFill>
                  <a:srgbClr val="E06741"/>
                </a:solidFill>
              </a:rPr>
              <a:t>實務案例</a:t>
            </a:r>
            <a:r>
              <a:rPr lang="en-US" altLang="zh-TW" sz="2400" b="1" dirty="0">
                <a:solidFill>
                  <a:srgbClr val="E06741"/>
                </a:solidFill>
              </a:rPr>
              <a:t>-</a:t>
            </a:r>
            <a:r>
              <a:rPr lang="zh-TW" altLang="en-US" sz="2400" b="1" dirty="0">
                <a:solidFill>
                  <a:srgbClr val="E06741"/>
                </a:solidFill>
              </a:rPr>
              <a:t>漁產履歷</a:t>
            </a:r>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sp>
        <p:nvSpPr>
          <p:cNvPr id="48" name="文字方塊 47">
            <a:extLst>
              <a:ext uri="{FF2B5EF4-FFF2-40B4-BE49-F238E27FC236}">
                <a16:creationId xmlns:a16="http://schemas.microsoft.com/office/drawing/2014/main" id="{AD7F4831-1A36-4A2F-ACBE-344F724510DC}"/>
              </a:ext>
            </a:extLst>
          </p:cNvPr>
          <p:cNvSpPr txBox="1"/>
          <p:nvPr/>
        </p:nvSpPr>
        <p:spPr>
          <a:xfrm>
            <a:off x="5130089" y="350241"/>
            <a:ext cx="2242922"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-2</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案例區塊鍊運用</a:t>
            </a:r>
          </a:p>
        </p:txBody>
      </p:sp>
      <p:sp>
        <p:nvSpPr>
          <p:cNvPr id="10" name="文字方塊 9">
            <a:extLst>
              <a:ext uri="{FF2B5EF4-FFF2-40B4-BE49-F238E27FC236}">
                <a16:creationId xmlns:a16="http://schemas.microsoft.com/office/drawing/2014/main" id="{BF94E171-0176-49DD-BE6C-DB2D96B94A88}"/>
              </a:ext>
            </a:extLst>
          </p:cNvPr>
          <p:cNvSpPr txBox="1"/>
          <p:nvPr/>
        </p:nvSpPr>
        <p:spPr>
          <a:xfrm>
            <a:off x="1177167" y="1816567"/>
            <a:ext cx="9663430" cy="578492"/>
          </a:xfrm>
          <a:prstGeom prst="rect">
            <a:avLst/>
          </a:prstGeom>
          <a:noFill/>
        </p:spPr>
        <p:txBody>
          <a:bodyPr wrap="square" rtlCol="0">
            <a:spAutoFit/>
          </a:bodyPr>
          <a:lstStyle/>
          <a:p>
            <a:pPr marL="342900" indent="-342900">
              <a:lnSpc>
                <a:spcPct val="150000"/>
              </a:lnSpc>
              <a:buBlip>
                <a:blip r:embed="rId3"/>
              </a:buBlip>
            </a:pP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sp>
        <p:nvSpPr>
          <p:cNvPr id="12" name="文字方塊 11">
            <a:extLst>
              <a:ext uri="{FF2B5EF4-FFF2-40B4-BE49-F238E27FC236}">
                <a16:creationId xmlns:a16="http://schemas.microsoft.com/office/drawing/2014/main" id="{BF94E171-0176-49DD-BE6C-DB2D96B94A88}"/>
              </a:ext>
            </a:extLst>
          </p:cNvPr>
          <p:cNvSpPr txBox="1"/>
          <p:nvPr/>
        </p:nvSpPr>
        <p:spPr>
          <a:xfrm>
            <a:off x="1326793" y="1014535"/>
            <a:ext cx="4962122" cy="1200329"/>
          </a:xfrm>
          <a:prstGeom prst="rect">
            <a:avLst/>
          </a:prstGeom>
          <a:noFill/>
        </p:spPr>
        <p:txBody>
          <a:bodyPr wrap="square" rtlCol="0">
            <a:spAutoFit/>
          </a:bodyPr>
          <a:lstStyle/>
          <a:p>
            <a:pPr marL="342900" indent="-342900">
              <a:lnSpc>
                <a:spcPct val="150000"/>
              </a:lnSpc>
              <a:buBlip>
                <a:blip r:embed="rId3"/>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區塊鏈機制石斑魚產銷交易流程</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800100" lvl="1" indent="-342900">
              <a:lnSpc>
                <a:spcPct val="150000"/>
              </a:lnSpc>
              <a:buBlip>
                <a:blip r:embed="rId3"/>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生產交易資訊部分：</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sp>
        <p:nvSpPr>
          <p:cNvPr id="4" name="橢圓 3"/>
          <p:cNvSpPr/>
          <p:nvPr/>
        </p:nvSpPr>
        <p:spPr>
          <a:xfrm>
            <a:off x="478105" y="2485276"/>
            <a:ext cx="1930400" cy="186574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2000" b="1" dirty="0">
                <a:solidFill>
                  <a:schemeClr val="bg1"/>
                </a:solidFill>
                <a:latin typeface="微軟正黑體" panose="020B0604030504040204" pitchFamily="34" charset="-120"/>
                <a:ea typeface="微軟正黑體" panose="020B0604030504040204" pitchFamily="34" charset="-120"/>
              </a:rPr>
              <a:t>魚苗業者（</a:t>
            </a:r>
            <a:r>
              <a:rPr lang="en-US" altLang="zh-TW" sz="2000" b="1" dirty="0">
                <a:solidFill>
                  <a:schemeClr val="bg1"/>
                </a:solidFill>
                <a:latin typeface="微軟正黑體" panose="020B0604030504040204" pitchFamily="34" charset="-120"/>
                <a:ea typeface="微軟正黑體" panose="020B0604030504040204" pitchFamily="34" charset="-120"/>
              </a:rPr>
              <a:t>P2</a:t>
            </a:r>
            <a:r>
              <a:rPr lang="zh-TW" altLang="en-US" sz="2000" b="1" dirty="0">
                <a:solidFill>
                  <a:schemeClr val="bg1"/>
                </a:solidFill>
                <a:latin typeface="微軟正黑體" panose="020B0604030504040204" pitchFamily="34" charset="-120"/>
                <a:ea typeface="微軟正黑體" panose="020B0604030504040204" pitchFamily="34" charset="-120"/>
              </a:rPr>
              <a:t>）</a:t>
            </a:r>
            <a:endParaRPr lang="zh-TW" altLang="en-US" sz="2000" dirty="0">
              <a:solidFill>
                <a:schemeClr val="bg1"/>
              </a:solidFill>
            </a:endParaRPr>
          </a:p>
        </p:txBody>
      </p:sp>
      <p:sp>
        <p:nvSpPr>
          <p:cNvPr id="13" name="橢圓 12"/>
          <p:cNvSpPr/>
          <p:nvPr/>
        </p:nvSpPr>
        <p:spPr>
          <a:xfrm>
            <a:off x="3530558" y="2472074"/>
            <a:ext cx="1930400" cy="186574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2000" b="1" dirty="0">
                <a:solidFill>
                  <a:schemeClr val="bg1"/>
                </a:solidFill>
                <a:latin typeface="微軟正黑體" panose="020B0604030504040204" pitchFamily="34" charset="-120"/>
                <a:ea typeface="微軟正黑體" panose="020B0604030504040204" pitchFamily="34" charset="-120"/>
              </a:rPr>
              <a:t>認證機構（</a:t>
            </a:r>
            <a:r>
              <a:rPr lang="en-US" altLang="zh-TW" sz="2000" b="1" dirty="0">
                <a:solidFill>
                  <a:schemeClr val="bg1"/>
                </a:solidFill>
                <a:latin typeface="微軟正黑體" panose="020B0604030504040204" pitchFamily="34" charset="-120"/>
                <a:ea typeface="微軟正黑體" panose="020B0604030504040204" pitchFamily="34" charset="-120"/>
              </a:rPr>
              <a:t>P1</a:t>
            </a:r>
            <a:r>
              <a:rPr lang="zh-TW" altLang="en-US" b="1" dirty="0">
                <a:solidFill>
                  <a:schemeClr val="bg1"/>
                </a:solidFill>
                <a:latin typeface="微軟正黑體" panose="020B0604030504040204" pitchFamily="34" charset="-120"/>
                <a:ea typeface="微軟正黑體" panose="020B0604030504040204" pitchFamily="34" charset="-120"/>
              </a:rPr>
              <a:t>）</a:t>
            </a:r>
            <a:endParaRPr lang="zh-TW" altLang="en-US" dirty="0">
              <a:solidFill>
                <a:schemeClr val="bg1"/>
              </a:solidFill>
            </a:endParaRPr>
          </a:p>
        </p:txBody>
      </p:sp>
      <p:sp>
        <p:nvSpPr>
          <p:cNvPr id="14" name="橢圓 13"/>
          <p:cNvSpPr/>
          <p:nvPr/>
        </p:nvSpPr>
        <p:spPr>
          <a:xfrm>
            <a:off x="6426467" y="3506389"/>
            <a:ext cx="1930400" cy="186574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2000" b="1" dirty="0">
                <a:solidFill>
                  <a:schemeClr val="bg1"/>
                </a:solidFill>
                <a:latin typeface="微軟正黑體" panose="020B0604030504040204" pitchFamily="34" charset="-120"/>
                <a:ea typeface="微軟正黑體" panose="020B0604030504040204" pitchFamily="34" charset="-120"/>
              </a:rPr>
              <a:t>養殖業者 （</a:t>
            </a:r>
            <a:r>
              <a:rPr lang="en-US" altLang="zh-TW" sz="2000" b="1" dirty="0">
                <a:solidFill>
                  <a:schemeClr val="bg1"/>
                </a:solidFill>
                <a:latin typeface="微軟正黑體" panose="020B0604030504040204" pitchFamily="34" charset="-120"/>
                <a:ea typeface="微軟正黑體" panose="020B0604030504040204" pitchFamily="34" charset="-120"/>
              </a:rPr>
              <a:t>P3</a:t>
            </a:r>
            <a:r>
              <a:rPr lang="zh-TW" altLang="en-US" b="1" dirty="0">
                <a:solidFill>
                  <a:schemeClr val="bg1"/>
                </a:solidFill>
                <a:latin typeface="微軟正黑體" panose="020B0604030504040204" pitchFamily="34" charset="-120"/>
                <a:ea typeface="微軟正黑體" panose="020B0604030504040204" pitchFamily="34" charset="-120"/>
              </a:rPr>
              <a:t>）</a:t>
            </a:r>
            <a:endParaRPr lang="zh-TW" altLang="en-US" dirty="0">
              <a:solidFill>
                <a:schemeClr val="bg1"/>
              </a:solidFill>
            </a:endParaRPr>
          </a:p>
        </p:txBody>
      </p:sp>
      <p:sp>
        <p:nvSpPr>
          <p:cNvPr id="15" name="橢圓 14"/>
          <p:cNvSpPr/>
          <p:nvPr/>
        </p:nvSpPr>
        <p:spPr>
          <a:xfrm>
            <a:off x="9478920" y="3506389"/>
            <a:ext cx="1930400" cy="186574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2000" b="1" dirty="0">
                <a:solidFill>
                  <a:schemeClr val="bg1"/>
                </a:solidFill>
                <a:latin typeface="微軟正黑體" panose="020B0604030504040204" pitchFamily="34" charset="-120"/>
                <a:ea typeface="微軟正黑體" panose="020B0604030504040204" pitchFamily="34" charset="-120"/>
              </a:rPr>
              <a:t>飼料業者</a:t>
            </a:r>
            <a:endParaRPr lang="en-US" altLang="zh-TW" sz="2000" b="1" dirty="0">
              <a:solidFill>
                <a:schemeClr val="bg1"/>
              </a:solidFill>
              <a:latin typeface="微軟正黑體" panose="020B0604030504040204" pitchFamily="34" charset="-120"/>
              <a:ea typeface="微軟正黑體" panose="020B0604030504040204" pitchFamily="34" charset="-120"/>
            </a:endParaRPr>
          </a:p>
          <a:p>
            <a:pPr algn="ctr"/>
            <a:r>
              <a:rPr lang="en-US" altLang="zh-TW" sz="2000" b="1" dirty="0">
                <a:solidFill>
                  <a:schemeClr val="bg1"/>
                </a:solidFill>
                <a:latin typeface="微軟正黑體" panose="020B0604030504040204" pitchFamily="34" charset="-120"/>
                <a:ea typeface="微軟正黑體" panose="020B0604030504040204" pitchFamily="34" charset="-120"/>
              </a:rPr>
              <a:t>(P4)</a:t>
            </a:r>
            <a:r>
              <a:rPr lang="zh-TW" altLang="en-US" sz="2000" b="1" dirty="0">
                <a:solidFill>
                  <a:schemeClr val="bg1"/>
                </a:solidFill>
                <a:latin typeface="微軟正黑體" panose="020B0604030504040204" pitchFamily="34" charset="-120"/>
                <a:ea typeface="微軟正黑體" panose="020B0604030504040204" pitchFamily="34" charset="-120"/>
              </a:rPr>
              <a:t> </a:t>
            </a:r>
            <a:endParaRPr lang="zh-TW" altLang="en-US" sz="2000" dirty="0">
              <a:solidFill>
                <a:schemeClr val="bg1"/>
              </a:solidFill>
            </a:endParaRPr>
          </a:p>
        </p:txBody>
      </p:sp>
      <p:sp>
        <p:nvSpPr>
          <p:cNvPr id="5" name="加號 4"/>
          <p:cNvSpPr/>
          <p:nvPr/>
        </p:nvSpPr>
        <p:spPr>
          <a:xfrm>
            <a:off x="8704411" y="3489345"/>
            <a:ext cx="406400" cy="406400"/>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 name="向右箭號 5"/>
          <p:cNvSpPr/>
          <p:nvPr/>
        </p:nvSpPr>
        <p:spPr>
          <a:xfrm>
            <a:off x="2738943" y="3168934"/>
            <a:ext cx="576939" cy="49842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7" name="向右箭號 16"/>
          <p:cNvSpPr/>
          <p:nvPr/>
        </p:nvSpPr>
        <p:spPr>
          <a:xfrm>
            <a:off x="5747824" y="3155732"/>
            <a:ext cx="576939" cy="49842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 name="矩形 1"/>
          <p:cNvSpPr/>
          <p:nvPr/>
        </p:nvSpPr>
        <p:spPr>
          <a:xfrm>
            <a:off x="245953" y="4468964"/>
            <a:ext cx="2492990" cy="369332"/>
          </a:xfrm>
          <a:prstGeom prst="rect">
            <a:avLst/>
          </a:prstGeom>
        </p:spPr>
        <p:txBody>
          <a:bodyPr wrap="none">
            <a:spAutoFit/>
          </a:bodyPr>
          <a:lstStyle/>
          <a:p>
            <a:r>
              <a:rPr lang="zh-TW" altLang="en-US" b="1" dirty="0">
                <a:solidFill>
                  <a:schemeClr val="tx1">
                    <a:lumMod val="75000"/>
                    <a:lumOff val="25000"/>
                  </a:schemeClr>
                </a:solidFill>
                <a:latin typeface="微軟正黑體" panose="020B0604030504040204" pitchFamily="34" charset="-120"/>
                <a:ea typeface="微軟正黑體" panose="020B0604030504040204" pitchFamily="34" charset="-120"/>
              </a:rPr>
              <a:t>石斑魚的魚苗培育作業</a:t>
            </a:r>
            <a:endParaRPr lang="zh-TW" altLang="en-US" dirty="0"/>
          </a:p>
        </p:txBody>
      </p:sp>
      <p:sp>
        <p:nvSpPr>
          <p:cNvPr id="3" name="矩形 2"/>
          <p:cNvSpPr/>
          <p:nvPr/>
        </p:nvSpPr>
        <p:spPr>
          <a:xfrm>
            <a:off x="3712253" y="4468964"/>
            <a:ext cx="1569660" cy="369332"/>
          </a:xfrm>
          <a:prstGeom prst="rect">
            <a:avLst/>
          </a:prstGeom>
        </p:spPr>
        <p:txBody>
          <a:bodyPr wrap="none">
            <a:spAutoFit/>
          </a:bodyPr>
          <a:lstStyle/>
          <a:p>
            <a:r>
              <a:rPr lang="zh-TW" altLang="en-US" b="1" dirty="0">
                <a:solidFill>
                  <a:schemeClr val="tx1">
                    <a:lumMod val="75000"/>
                    <a:lumOff val="25000"/>
                  </a:schemeClr>
                </a:solidFill>
                <a:latin typeface="微軟正黑體" panose="020B0604030504040204" pitchFamily="34" charset="-120"/>
                <a:ea typeface="微軟正黑體" panose="020B0604030504040204" pitchFamily="34" charset="-120"/>
              </a:rPr>
              <a:t>品種確認作業</a:t>
            </a:r>
            <a:endParaRPr lang="zh-TW" altLang="en-US" dirty="0"/>
          </a:p>
        </p:txBody>
      </p:sp>
      <p:sp>
        <p:nvSpPr>
          <p:cNvPr id="7" name="矩形 6"/>
          <p:cNvSpPr/>
          <p:nvPr/>
        </p:nvSpPr>
        <p:spPr>
          <a:xfrm>
            <a:off x="5859611" y="5513637"/>
            <a:ext cx="6096000" cy="1200329"/>
          </a:xfrm>
          <a:prstGeom prst="rect">
            <a:avLst/>
          </a:prstGeom>
        </p:spPr>
        <p:txBody>
          <a:bodyPr>
            <a:spAutoFit/>
          </a:bodyPr>
          <a:lstStyle/>
          <a:p>
            <a:r>
              <a:rPr lang="en-US" altLang="zh-TW" b="1" dirty="0">
                <a:solidFill>
                  <a:schemeClr val="tx1">
                    <a:lumMod val="75000"/>
                    <a:lumOff val="25000"/>
                  </a:schemeClr>
                </a:solidFill>
                <a:latin typeface="微軟正黑體" panose="020B0604030504040204" pitchFamily="34" charset="-120"/>
                <a:ea typeface="微軟正黑體" panose="020B0604030504040204" pitchFamily="34" charset="-120"/>
              </a:rPr>
              <a:t>1.</a:t>
            </a:r>
            <a:r>
              <a:rPr lang="zh-TW" altLang="en-US" b="1" dirty="0">
                <a:solidFill>
                  <a:schemeClr val="tx1">
                    <a:lumMod val="75000"/>
                    <a:lumOff val="25000"/>
                  </a:schemeClr>
                </a:solidFill>
                <a:latin typeface="微軟正黑體" panose="020B0604030504040204" pitchFamily="34" charset="-120"/>
                <a:ea typeface="微軟正黑體" panose="020B0604030504040204" pitchFamily="34" charset="-120"/>
              </a:rPr>
              <a:t>養殖業者為確保養殖過程順利，與飼料業者合作，取得適當的飼料進行養殖作業</a:t>
            </a:r>
            <a:endParaRPr lang="en-US" altLang="zh-TW" b="1" dirty="0">
              <a:solidFill>
                <a:schemeClr val="tx1">
                  <a:lumMod val="75000"/>
                  <a:lumOff val="25000"/>
                </a:schemeClr>
              </a:solidFill>
              <a:latin typeface="微軟正黑體" panose="020B0604030504040204" pitchFamily="34" charset="-120"/>
              <a:ea typeface="微軟正黑體" panose="020B0604030504040204" pitchFamily="34" charset="-120"/>
            </a:endParaRPr>
          </a:p>
          <a:p>
            <a:r>
              <a:rPr lang="en-US" altLang="zh-TW" b="1" dirty="0">
                <a:solidFill>
                  <a:schemeClr val="tx1">
                    <a:lumMod val="75000"/>
                    <a:lumOff val="25000"/>
                  </a:schemeClr>
                </a:solidFill>
                <a:latin typeface="微軟正黑體" panose="020B0604030504040204" pitchFamily="34" charset="-120"/>
                <a:ea typeface="微軟正黑體" panose="020B0604030504040204" pitchFamily="34" charset="-120"/>
              </a:rPr>
              <a:t>2.</a:t>
            </a:r>
            <a:r>
              <a:rPr lang="zh-TW" altLang="en-US" b="1" dirty="0">
                <a:solidFill>
                  <a:schemeClr val="tx1">
                    <a:lumMod val="75000"/>
                    <a:lumOff val="25000"/>
                  </a:schemeClr>
                </a:solidFill>
                <a:latin typeface="微軟正黑體" panose="020B0604030504040204" pitchFamily="34" charset="-120"/>
                <a:ea typeface="微軟正黑體" panose="020B0604030504040204" pitchFamily="34" charset="-120"/>
              </a:rPr>
              <a:t>在出售前須經由認證機構確保人工養殖的石斑魚的安全性，隨即才進行石斑魚販售的作業</a:t>
            </a:r>
            <a:endParaRPr lang="zh-TW" altLang="en-US" dirty="0"/>
          </a:p>
        </p:txBody>
      </p:sp>
      <p:sp>
        <p:nvSpPr>
          <p:cNvPr id="19" name="橢圓 18"/>
          <p:cNvSpPr/>
          <p:nvPr/>
        </p:nvSpPr>
        <p:spPr>
          <a:xfrm>
            <a:off x="7944997" y="1343142"/>
            <a:ext cx="1930400" cy="186574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2000" b="1" dirty="0">
                <a:solidFill>
                  <a:schemeClr val="bg1"/>
                </a:solidFill>
                <a:latin typeface="微軟正黑體" panose="020B0604030504040204" pitchFamily="34" charset="-120"/>
                <a:ea typeface="微軟正黑體" panose="020B0604030504040204" pitchFamily="34" charset="-120"/>
              </a:rPr>
              <a:t>認證機構（</a:t>
            </a:r>
            <a:r>
              <a:rPr lang="en-US" altLang="zh-TW" sz="2000" b="1" dirty="0">
                <a:solidFill>
                  <a:schemeClr val="bg1"/>
                </a:solidFill>
                <a:latin typeface="微軟正黑體" panose="020B0604030504040204" pitchFamily="34" charset="-120"/>
                <a:ea typeface="微軟正黑體" panose="020B0604030504040204" pitchFamily="34" charset="-120"/>
              </a:rPr>
              <a:t>P1</a:t>
            </a:r>
            <a:r>
              <a:rPr lang="zh-TW" altLang="en-US" b="1" dirty="0">
                <a:solidFill>
                  <a:schemeClr val="bg1"/>
                </a:solidFill>
                <a:latin typeface="微軟正黑體" panose="020B0604030504040204" pitchFamily="34" charset="-120"/>
                <a:ea typeface="微軟正黑體" panose="020B0604030504040204" pitchFamily="34" charset="-120"/>
              </a:rPr>
              <a:t>）</a:t>
            </a:r>
            <a:endParaRPr lang="zh-TW" altLang="en-US" dirty="0">
              <a:solidFill>
                <a:schemeClr val="bg1"/>
              </a:solidFill>
            </a:endParaRPr>
          </a:p>
        </p:txBody>
      </p:sp>
    </p:spTree>
    <p:extLst>
      <p:ext uri="{BB962C8B-B14F-4D97-AF65-F5344CB8AC3E}">
        <p14:creationId xmlns:p14="http://schemas.microsoft.com/office/powerpoint/2010/main" val="1876900670"/>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circle(in)">
                                      <p:cBhvr>
                                        <p:cTn id="7" dur="1500"/>
                                        <p:tgtEl>
                                          <p:spTgt spid="46"/>
                                        </p:tgtEl>
                                      </p:cBhvr>
                                    </p:animEffect>
                                  </p:childTnLst>
                                </p:cTn>
                              </p:par>
                            </p:childTnLst>
                          </p:cTn>
                        </p:par>
                        <p:par>
                          <p:cTn id="8" fill="hold">
                            <p:stCondLst>
                              <p:cond delay="1500"/>
                            </p:stCondLst>
                            <p:childTnLst>
                              <p:par>
                                <p:cTn id="9" presetID="16" presetClass="entr" presetSubtype="21" fill="hold" grpId="0" nodeType="afterEffect">
                                  <p:stCondLst>
                                    <p:cond delay="0"/>
                                  </p:stCondLst>
                                  <p:childTnLst>
                                    <p:set>
                                      <p:cBhvr>
                                        <p:cTn id="10" dur="1" fill="hold">
                                          <p:stCondLst>
                                            <p:cond delay="0"/>
                                          </p:stCondLst>
                                        </p:cTn>
                                        <p:tgtEl>
                                          <p:spTgt spid="48"/>
                                        </p:tgtEl>
                                        <p:attrNameLst>
                                          <p:attrName>style.visibility</p:attrName>
                                        </p:attrNameLst>
                                      </p:cBhvr>
                                      <p:to>
                                        <p:strVal val="visible"/>
                                      </p:to>
                                    </p:set>
                                    <p:animEffect transition="in" filter="barn(inVertical)">
                                      <p:cBhvr>
                                        <p:cTn id="11" dur="500"/>
                                        <p:tgtEl>
                                          <p:spTgt spid="48"/>
                                        </p:tgtEl>
                                      </p:cBhvr>
                                    </p:animEffect>
                                  </p:childTnLst>
                                </p:cTn>
                              </p:par>
                            </p:childTnLst>
                          </p:cTn>
                        </p:par>
                        <p:par>
                          <p:cTn id="12" fill="hold">
                            <p:stCondLst>
                              <p:cond delay="2000"/>
                            </p:stCondLst>
                            <p:childTnLst>
                              <p:par>
                                <p:cTn id="13" presetID="2" presetClass="entr" presetSubtype="8" fill="hold" nodeType="afterEffect">
                                  <p:stCondLst>
                                    <p:cond delay="0"/>
                                  </p:stCondLst>
                                  <p:childTnLst>
                                    <p:set>
                                      <p:cBhvr>
                                        <p:cTn id="14" dur="1" fill="hold">
                                          <p:stCondLst>
                                            <p:cond delay="0"/>
                                          </p:stCondLst>
                                        </p:cTn>
                                        <p:tgtEl>
                                          <p:spTgt spid="33"/>
                                        </p:tgtEl>
                                        <p:attrNameLst>
                                          <p:attrName>style.visibility</p:attrName>
                                        </p:attrNameLst>
                                      </p:cBhvr>
                                      <p:to>
                                        <p:strVal val="visible"/>
                                      </p:to>
                                    </p:set>
                                    <p:anim calcmode="lin" valueType="num">
                                      <p:cBhvr additive="base">
                                        <p:cTn id="15" dur="500" fill="hold"/>
                                        <p:tgtEl>
                                          <p:spTgt spid="33"/>
                                        </p:tgtEl>
                                        <p:attrNameLst>
                                          <p:attrName>ppt_x</p:attrName>
                                        </p:attrNameLst>
                                      </p:cBhvr>
                                      <p:tavLst>
                                        <p:tav tm="0">
                                          <p:val>
                                            <p:strVal val="0-#ppt_w/2"/>
                                          </p:val>
                                        </p:tav>
                                        <p:tav tm="100000">
                                          <p:val>
                                            <p:strVal val="#ppt_x"/>
                                          </p:val>
                                        </p:tav>
                                      </p:tavLst>
                                    </p:anim>
                                    <p:anim calcmode="lin" valueType="num">
                                      <p:cBhvr additive="base">
                                        <p:cTn id="16" dur="500" fill="hold"/>
                                        <p:tgtEl>
                                          <p:spTgt spid="33"/>
                                        </p:tgtEl>
                                        <p:attrNameLst>
                                          <p:attrName>ppt_y</p:attrName>
                                        </p:attrNameLst>
                                      </p:cBhvr>
                                      <p:tavLst>
                                        <p:tav tm="0">
                                          <p:val>
                                            <p:strVal val="#ppt_y"/>
                                          </p:val>
                                        </p:tav>
                                        <p:tav tm="100000">
                                          <p:val>
                                            <p:strVal val="#ppt_y"/>
                                          </p:val>
                                        </p:tav>
                                      </p:tavLst>
                                    </p:anim>
                                  </p:childTnLst>
                                </p:cTn>
                              </p:par>
                            </p:childTnLst>
                          </p:cTn>
                        </p:par>
                        <p:par>
                          <p:cTn id="17" fill="hold">
                            <p:stCondLst>
                              <p:cond delay="2500"/>
                            </p:stCondLst>
                            <p:childTnLst>
                              <p:par>
                                <p:cTn id="18" presetID="16" presetClass="entr" presetSubtype="21" fill="hold" nodeType="afterEffect" nodePh="1">
                                  <p:stCondLst>
                                    <p:cond delay="0"/>
                                  </p:stCondLst>
                                  <p:endCondLst>
                                    <p:cond evt="begin" delay="0">
                                      <p:tn val="18"/>
                                    </p:cond>
                                  </p:endCondLst>
                                  <p:childTnLst>
                                    <p:set>
                                      <p:cBhvr>
                                        <p:cTn id="19" dur="1" fill="hold">
                                          <p:stCondLst>
                                            <p:cond delay="0"/>
                                          </p:stCondLst>
                                        </p:cTn>
                                        <p:tgtEl>
                                          <p:spTgt spid="10">
                                            <p:txEl>
                                              <p:pRg st="0" end="0"/>
                                            </p:txEl>
                                          </p:spTgt>
                                        </p:tgtEl>
                                        <p:attrNameLst>
                                          <p:attrName>style.visibility</p:attrName>
                                        </p:attrNameLst>
                                      </p:cBhvr>
                                      <p:to>
                                        <p:strVal val="visible"/>
                                      </p:to>
                                    </p:set>
                                    <p:animEffect transition="in" filter="barn(inVertical)">
                                      <p:cBhvr>
                                        <p:cTn id="20" dur="500"/>
                                        <p:tgtEl>
                                          <p:spTgt spid="10">
                                            <p:txEl>
                                              <p:pRg st="0" end="0"/>
                                            </p:txEl>
                                          </p:spTgt>
                                        </p:tgtEl>
                                      </p:cBhvr>
                                    </p:animEffect>
                                  </p:childTnLst>
                                </p:cTn>
                              </p:par>
                            </p:childTnLst>
                          </p:cTn>
                        </p:par>
                        <p:par>
                          <p:cTn id="21" fill="hold">
                            <p:stCondLst>
                              <p:cond delay="3000"/>
                            </p:stCondLst>
                            <p:childTnLst>
                              <p:par>
                                <p:cTn id="22" presetID="16" presetClass="entr" presetSubtype="21" fill="hold" grpId="0" nodeType="after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barn(inVertical)">
                                      <p:cBhvr>
                                        <p:cTn id="24" dur="500"/>
                                        <p:tgtEl>
                                          <p:spTgt spid="12"/>
                                        </p:tgtEl>
                                      </p:cBhvr>
                                    </p:animEffect>
                                  </p:childTnLst>
                                </p:cTn>
                              </p:par>
                            </p:childTnLst>
                          </p:cTn>
                        </p:par>
                        <p:par>
                          <p:cTn id="25" fill="hold">
                            <p:stCondLst>
                              <p:cond delay="3500"/>
                            </p:stCondLst>
                            <p:childTnLst>
                              <p:par>
                                <p:cTn id="26" presetID="2" presetClass="entr" presetSubtype="8" fill="hold" grpId="0" nodeType="afterEffect">
                                  <p:stCondLst>
                                    <p:cond delay="0"/>
                                  </p:stCondLst>
                                  <p:childTnLst>
                                    <p:set>
                                      <p:cBhvr>
                                        <p:cTn id="27" dur="1" fill="hold">
                                          <p:stCondLst>
                                            <p:cond delay="0"/>
                                          </p:stCondLst>
                                        </p:cTn>
                                        <p:tgtEl>
                                          <p:spTgt spid="4"/>
                                        </p:tgtEl>
                                        <p:attrNameLst>
                                          <p:attrName>style.visibility</p:attrName>
                                        </p:attrNameLst>
                                      </p:cBhvr>
                                      <p:to>
                                        <p:strVal val="visible"/>
                                      </p:to>
                                    </p:set>
                                    <p:anim calcmode="lin" valueType="num">
                                      <p:cBhvr additive="base">
                                        <p:cTn id="28" dur="500" fill="hold"/>
                                        <p:tgtEl>
                                          <p:spTgt spid="4"/>
                                        </p:tgtEl>
                                        <p:attrNameLst>
                                          <p:attrName>ppt_x</p:attrName>
                                        </p:attrNameLst>
                                      </p:cBhvr>
                                      <p:tavLst>
                                        <p:tav tm="0">
                                          <p:val>
                                            <p:strVal val="0-#ppt_w/2"/>
                                          </p:val>
                                        </p:tav>
                                        <p:tav tm="100000">
                                          <p:val>
                                            <p:strVal val="#ppt_x"/>
                                          </p:val>
                                        </p:tav>
                                      </p:tavLst>
                                    </p:anim>
                                    <p:anim calcmode="lin" valueType="num">
                                      <p:cBhvr additive="base">
                                        <p:cTn id="29" dur="500" fill="hold"/>
                                        <p:tgtEl>
                                          <p:spTgt spid="4"/>
                                        </p:tgtEl>
                                        <p:attrNameLst>
                                          <p:attrName>ppt_y</p:attrName>
                                        </p:attrNameLst>
                                      </p:cBhvr>
                                      <p:tavLst>
                                        <p:tav tm="0">
                                          <p:val>
                                            <p:strVal val="#ppt_y"/>
                                          </p:val>
                                        </p:tav>
                                        <p:tav tm="100000">
                                          <p:val>
                                            <p:strVal val="#ppt_y"/>
                                          </p:val>
                                        </p:tav>
                                      </p:tavLst>
                                    </p:anim>
                                  </p:childTnLst>
                                </p:cTn>
                              </p:par>
                            </p:childTnLst>
                          </p:cTn>
                        </p:par>
                        <p:par>
                          <p:cTn id="30" fill="hold">
                            <p:stCondLst>
                              <p:cond delay="4000"/>
                            </p:stCondLst>
                            <p:childTnLst>
                              <p:par>
                                <p:cTn id="31" presetID="2" presetClass="entr" presetSubtype="8" fill="hold" grpId="0" nodeType="afterEffect">
                                  <p:stCondLst>
                                    <p:cond delay="0"/>
                                  </p:stCondLst>
                                  <p:childTnLst>
                                    <p:set>
                                      <p:cBhvr>
                                        <p:cTn id="32" dur="1" fill="hold">
                                          <p:stCondLst>
                                            <p:cond delay="0"/>
                                          </p:stCondLst>
                                        </p:cTn>
                                        <p:tgtEl>
                                          <p:spTgt spid="6"/>
                                        </p:tgtEl>
                                        <p:attrNameLst>
                                          <p:attrName>style.visibility</p:attrName>
                                        </p:attrNameLst>
                                      </p:cBhvr>
                                      <p:to>
                                        <p:strVal val="visible"/>
                                      </p:to>
                                    </p:set>
                                    <p:anim calcmode="lin" valueType="num">
                                      <p:cBhvr additive="base">
                                        <p:cTn id="33" dur="500" fill="hold"/>
                                        <p:tgtEl>
                                          <p:spTgt spid="6"/>
                                        </p:tgtEl>
                                        <p:attrNameLst>
                                          <p:attrName>ppt_x</p:attrName>
                                        </p:attrNameLst>
                                      </p:cBhvr>
                                      <p:tavLst>
                                        <p:tav tm="0">
                                          <p:val>
                                            <p:strVal val="0-#ppt_w/2"/>
                                          </p:val>
                                        </p:tav>
                                        <p:tav tm="100000">
                                          <p:val>
                                            <p:strVal val="#ppt_x"/>
                                          </p:val>
                                        </p:tav>
                                      </p:tavLst>
                                    </p:anim>
                                    <p:anim calcmode="lin" valueType="num">
                                      <p:cBhvr additive="base">
                                        <p:cTn id="34" dur="500" fill="hold"/>
                                        <p:tgtEl>
                                          <p:spTgt spid="6"/>
                                        </p:tgtEl>
                                        <p:attrNameLst>
                                          <p:attrName>ppt_y</p:attrName>
                                        </p:attrNameLst>
                                      </p:cBhvr>
                                      <p:tavLst>
                                        <p:tav tm="0">
                                          <p:val>
                                            <p:strVal val="#ppt_y"/>
                                          </p:val>
                                        </p:tav>
                                        <p:tav tm="100000">
                                          <p:val>
                                            <p:strVal val="#ppt_y"/>
                                          </p:val>
                                        </p:tav>
                                      </p:tavLst>
                                    </p:anim>
                                  </p:childTnLst>
                                </p:cTn>
                              </p:par>
                            </p:childTnLst>
                          </p:cTn>
                        </p:par>
                        <p:par>
                          <p:cTn id="35" fill="hold">
                            <p:stCondLst>
                              <p:cond delay="4500"/>
                            </p:stCondLst>
                            <p:childTnLst>
                              <p:par>
                                <p:cTn id="36" presetID="2" presetClass="entr" presetSubtype="8" fill="hold" grpId="0" nodeType="afterEffect">
                                  <p:stCondLst>
                                    <p:cond delay="0"/>
                                  </p:stCondLst>
                                  <p:childTnLst>
                                    <p:set>
                                      <p:cBhvr>
                                        <p:cTn id="37" dur="1" fill="hold">
                                          <p:stCondLst>
                                            <p:cond delay="0"/>
                                          </p:stCondLst>
                                        </p:cTn>
                                        <p:tgtEl>
                                          <p:spTgt spid="13"/>
                                        </p:tgtEl>
                                        <p:attrNameLst>
                                          <p:attrName>style.visibility</p:attrName>
                                        </p:attrNameLst>
                                      </p:cBhvr>
                                      <p:to>
                                        <p:strVal val="visible"/>
                                      </p:to>
                                    </p:set>
                                    <p:anim calcmode="lin" valueType="num">
                                      <p:cBhvr additive="base">
                                        <p:cTn id="38" dur="500" fill="hold"/>
                                        <p:tgtEl>
                                          <p:spTgt spid="13"/>
                                        </p:tgtEl>
                                        <p:attrNameLst>
                                          <p:attrName>ppt_x</p:attrName>
                                        </p:attrNameLst>
                                      </p:cBhvr>
                                      <p:tavLst>
                                        <p:tav tm="0">
                                          <p:val>
                                            <p:strVal val="0-#ppt_w/2"/>
                                          </p:val>
                                        </p:tav>
                                        <p:tav tm="100000">
                                          <p:val>
                                            <p:strVal val="#ppt_x"/>
                                          </p:val>
                                        </p:tav>
                                      </p:tavLst>
                                    </p:anim>
                                    <p:anim calcmode="lin" valueType="num">
                                      <p:cBhvr additive="base">
                                        <p:cTn id="39" dur="500" fill="hold"/>
                                        <p:tgtEl>
                                          <p:spTgt spid="13"/>
                                        </p:tgtEl>
                                        <p:attrNameLst>
                                          <p:attrName>ppt_y</p:attrName>
                                        </p:attrNameLst>
                                      </p:cBhvr>
                                      <p:tavLst>
                                        <p:tav tm="0">
                                          <p:val>
                                            <p:strVal val="#ppt_y"/>
                                          </p:val>
                                        </p:tav>
                                        <p:tav tm="100000">
                                          <p:val>
                                            <p:strVal val="#ppt_y"/>
                                          </p:val>
                                        </p:tav>
                                      </p:tavLst>
                                    </p:anim>
                                  </p:childTnLst>
                                </p:cTn>
                              </p:par>
                            </p:childTnLst>
                          </p:cTn>
                        </p:par>
                        <p:par>
                          <p:cTn id="40" fill="hold">
                            <p:stCondLst>
                              <p:cond delay="5000"/>
                            </p:stCondLst>
                            <p:childTnLst>
                              <p:par>
                                <p:cTn id="41" presetID="2" presetClass="entr" presetSubtype="8" fill="hold" grpId="0" nodeType="afterEffect">
                                  <p:stCondLst>
                                    <p:cond delay="0"/>
                                  </p:stCondLst>
                                  <p:childTnLst>
                                    <p:set>
                                      <p:cBhvr>
                                        <p:cTn id="42" dur="1" fill="hold">
                                          <p:stCondLst>
                                            <p:cond delay="0"/>
                                          </p:stCondLst>
                                        </p:cTn>
                                        <p:tgtEl>
                                          <p:spTgt spid="17"/>
                                        </p:tgtEl>
                                        <p:attrNameLst>
                                          <p:attrName>style.visibility</p:attrName>
                                        </p:attrNameLst>
                                      </p:cBhvr>
                                      <p:to>
                                        <p:strVal val="visible"/>
                                      </p:to>
                                    </p:set>
                                    <p:anim calcmode="lin" valueType="num">
                                      <p:cBhvr additive="base">
                                        <p:cTn id="43" dur="500" fill="hold"/>
                                        <p:tgtEl>
                                          <p:spTgt spid="17"/>
                                        </p:tgtEl>
                                        <p:attrNameLst>
                                          <p:attrName>ppt_x</p:attrName>
                                        </p:attrNameLst>
                                      </p:cBhvr>
                                      <p:tavLst>
                                        <p:tav tm="0">
                                          <p:val>
                                            <p:strVal val="0-#ppt_w/2"/>
                                          </p:val>
                                        </p:tav>
                                        <p:tav tm="100000">
                                          <p:val>
                                            <p:strVal val="#ppt_x"/>
                                          </p:val>
                                        </p:tav>
                                      </p:tavLst>
                                    </p:anim>
                                    <p:anim calcmode="lin" valueType="num">
                                      <p:cBhvr additive="base">
                                        <p:cTn id="44" dur="500" fill="hold"/>
                                        <p:tgtEl>
                                          <p:spTgt spid="17"/>
                                        </p:tgtEl>
                                        <p:attrNameLst>
                                          <p:attrName>ppt_y</p:attrName>
                                        </p:attrNameLst>
                                      </p:cBhvr>
                                      <p:tavLst>
                                        <p:tav tm="0">
                                          <p:val>
                                            <p:strVal val="#ppt_y"/>
                                          </p:val>
                                        </p:tav>
                                        <p:tav tm="100000">
                                          <p:val>
                                            <p:strVal val="#ppt_y"/>
                                          </p:val>
                                        </p:tav>
                                      </p:tavLst>
                                    </p:anim>
                                  </p:childTnLst>
                                </p:cTn>
                              </p:par>
                            </p:childTnLst>
                          </p:cTn>
                        </p:par>
                        <p:par>
                          <p:cTn id="45" fill="hold">
                            <p:stCondLst>
                              <p:cond delay="5500"/>
                            </p:stCondLst>
                            <p:childTnLst>
                              <p:par>
                                <p:cTn id="46" presetID="53" presetClass="entr" presetSubtype="16" fill="hold" grpId="0" nodeType="afterEffect">
                                  <p:stCondLst>
                                    <p:cond delay="0"/>
                                  </p:stCondLst>
                                  <p:childTnLst>
                                    <p:set>
                                      <p:cBhvr>
                                        <p:cTn id="47" dur="1" fill="hold">
                                          <p:stCondLst>
                                            <p:cond delay="0"/>
                                          </p:stCondLst>
                                        </p:cTn>
                                        <p:tgtEl>
                                          <p:spTgt spid="14"/>
                                        </p:tgtEl>
                                        <p:attrNameLst>
                                          <p:attrName>style.visibility</p:attrName>
                                        </p:attrNameLst>
                                      </p:cBhvr>
                                      <p:to>
                                        <p:strVal val="visible"/>
                                      </p:to>
                                    </p:set>
                                    <p:anim calcmode="lin" valueType="num">
                                      <p:cBhvr>
                                        <p:cTn id="48" dur="500" fill="hold"/>
                                        <p:tgtEl>
                                          <p:spTgt spid="14"/>
                                        </p:tgtEl>
                                        <p:attrNameLst>
                                          <p:attrName>ppt_w</p:attrName>
                                        </p:attrNameLst>
                                      </p:cBhvr>
                                      <p:tavLst>
                                        <p:tav tm="0">
                                          <p:val>
                                            <p:fltVal val="0"/>
                                          </p:val>
                                        </p:tav>
                                        <p:tav tm="100000">
                                          <p:val>
                                            <p:strVal val="#ppt_w"/>
                                          </p:val>
                                        </p:tav>
                                      </p:tavLst>
                                    </p:anim>
                                    <p:anim calcmode="lin" valueType="num">
                                      <p:cBhvr>
                                        <p:cTn id="49" dur="500" fill="hold"/>
                                        <p:tgtEl>
                                          <p:spTgt spid="14"/>
                                        </p:tgtEl>
                                        <p:attrNameLst>
                                          <p:attrName>ppt_h</p:attrName>
                                        </p:attrNameLst>
                                      </p:cBhvr>
                                      <p:tavLst>
                                        <p:tav tm="0">
                                          <p:val>
                                            <p:fltVal val="0"/>
                                          </p:val>
                                        </p:tav>
                                        <p:tav tm="100000">
                                          <p:val>
                                            <p:strVal val="#ppt_h"/>
                                          </p:val>
                                        </p:tav>
                                      </p:tavLst>
                                    </p:anim>
                                    <p:animEffect transition="in" filter="fade">
                                      <p:cBhvr>
                                        <p:cTn id="50" dur="500"/>
                                        <p:tgtEl>
                                          <p:spTgt spid="14"/>
                                        </p:tgtEl>
                                      </p:cBhvr>
                                    </p:animEffect>
                                  </p:childTnLst>
                                </p:cTn>
                              </p:par>
                            </p:childTnLst>
                          </p:cTn>
                        </p:par>
                        <p:par>
                          <p:cTn id="51" fill="hold">
                            <p:stCondLst>
                              <p:cond delay="6000"/>
                            </p:stCondLst>
                            <p:childTnLst>
                              <p:par>
                                <p:cTn id="52" presetID="53" presetClass="entr" presetSubtype="16" fill="hold" grpId="0" nodeType="afterEffect">
                                  <p:stCondLst>
                                    <p:cond delay="0"/>
                                  </p:stCondLst>
                                  <p:childTnLst>
                                    <p:set>
                                      <p:cBhvr>
                                        <p:cTn id="53" dur="1" fill="hold">
                                          <p:stCondLst>
                                            <p:cond delay="0"/>
                                          </p:stCondLst>
                                        </p:cTn>
                                        <p:tgtEl>
                                          <p:spTgt spid="19"/>
                                        </p:tgtEl>
                                        <p:attrNameLst>
                                          <p:attrName>style.visibility</p:attrName>
                                        </p:attrNameLst>
                                      </p:cBhvr>
                                      <p:to>
                                        <p:strVal val="visible"/>
                                      </p:to>
                                    </p:set>
                                    <p:anim calcmode="lin" valueType="num">
                                      <p:cBhvr>
                                        <p:cTn id="54" dur="500" fill="hold"/>
                                        <p:tgtEl>
                                          <p:spTgt spid="19"/>
                                        </p:tgtEl>
                                        <p:attrNameLst>
                                          <p:attrName>ppt_w</p:attrName>
                                        </p:attrNameLst>
                                      </p:cBhvr>
                                      <p:tavLst>
                                        <p:tav tm="0">
                                          <p:val>
                                            <p:fltVal val="0"/>
                                          </p:val>
                                        </p:tav>
                                        <p:tav tm="100000">
                                          <p:val>
                                            <p:strVal val="#ppt_w"/>
                                          </p:val>
                                        </p:tav>
                                      </p:tavLst>
                                    </p:anim>
                                    <p:anim calcmode="lin" valueType="num">
                                      <p:cBhvr>
                                        <p:cTn id="55" dur="500" fill="hold"/>
                                        <p:tgtEl>
                                          <p:spTgt spid="19"/>
                                        </p:tgtEl>
                                        <p:attrNameLst>
                                          <p:attrName>ppt_h</p:attrName>
                                        </p:attrNameLst>
                                      </p:cBhvr>
                                      <p:tavLst>
                                        <p:tav tm="0">
                                          <p:val>
                                            <p:fltVal val="0"/>
                                          </p:val>
                                        </p:tav>
                                        <p:tav tm="100000">
                                          <p:val>
                                            <p:strVal val="#ppt_h"/>
                                          </p:val>
                                        </p:tav>
                                      </p:tavLst>
                                    </p:anim>
                                    <p:animEffect transition="in" filter="fade">
                                      <p:cBhvr>
                                        <p:cTn id="56" dur="500"/>
                                        <p:tgtEl>
                                          <p:spTgt spid="19"/>
                                        </p:tgtEl>
                                      </p:cBhvr>
                                    </p:animEffect>
                                  </p:childTnLst>
                                </p:cTn>
                              </p:par>
                            </p:childTnLst>
                          </p:cTn>
                        </p:par>
                        <p:par>
                          <p:cTn id="57" fill="hold">
                            <p:stCondLst>
                              <p:cond delay="6500"/>
                            </p:stCondLst>
                            <p:childTnLst>
                              <p:par>
                                <p:cTn id="58" presetID="53" presetClass="entr" presetSubtype="16" fill="hold" grpId="0" nodeType="afterEffect">
                                  <p:stCondLst>
                                    <p:cond delay="0"/>
                                  </p:stCondLst>
                                  <p:childTnLst>
                                    <p:set>
                                      <p:cBhvr>
                                        <p:cTn id="59" dur="1" fill="hold">
                                          <p:stCondLst>
                                            <p:cond delay="0"/>
                                          </p:stCondLst>
                                        </p:cTn>
                                        <p:tgtEl>
                                          <p:spTgt spid="15"/>
                                        </p:tgtEl>
                                        <p:attrNameLst>
                                          <p:attrName>style.visibility</p:attrName>
                                        </p:attrNameLst>
                                      </p:cBhvr>
                                      <p:to>
                                        <p:strVal val="visible"/>
                                      </p:to>
                                    </p:set>
                                    <p:anim calcmode="lin" valueType="num">
                                      <p:cBhvr>
                                        <p:cTn id="60" dur="500" fill="hold"/>
                                        <p:tgtEl>
                                          <p:spTgt spid="15"/>
                                        </p:tgtEl>
                                        <p:attrNameLst>
                                          <p:attrName>ppt_w</p:attrName>
                                        </p:attrNameLst>
                                      </p:cBhvr>
                                      <p:tavLst>
                                        <p:tav tm="0">
                                          <p:val>
                                            <p:fltVal val="0"/>
                                          </p:val>
                                        </p:tav>
                                        <p:tav tm="100000">
                                          <p:val>
                                            <p:strVal val="#ppt_w"/>
                                          </p:val>
                                        </p:tav>
                                      </p:tavLst>
                                    </p:anim>
                                    <p:anim calcmode="lin" valueType="num">
                                      <p:cBhvr>
                                        <p:cTn id="61" dur="500" fill="hold"/>
                                        <p:tgtEl>
                                          <p:spTgt spid="15"/>
                                        </p:tgtEl>
                                        <p:attrNameLst>
                                          <p:attrName>ppt_h</p:attrName>
                                        </p:attrNameLst>
                                      </p:cBhvr>
                                      <p:tavLst>
                                        <p:tav tm="0">
                                          <p:val>
                                            <p:fltVal val="0"/>
                                          </p:val>
                                        </p:tav>
                                        <p:tav tm="100000">
                                          <p:val>
                                            <p:strVal val="#ppt_h"/>
                                          </p:val>
                                        </p:tav>
                                      </p:tavLst>
                                    </p:anim>
                                    <p:animEffect transition="in" filter="fade">
                                      <p:cBhvr>
                                        <p:cTn id="62" dur="500"/>
                                        <p:tgtEl>
                                          <p:spTgt spid="15"/>
                                        </p:tgtEl>
                                      </p:cBhvr>
                                    </p:animEffect>
                                  </p:childTnLst>
                                </p:cTn>
                              </p:par>
                            </p:childTnLst>
                          </p:cTn>
                        </p:par>
                        <p:par>
                          <p:cTn id="63" fill="hold">
                            <p:stCondLst>
                              <p:cond delay="7000"/>
                            </p:stCondLst>
                            <p:childTnLst>
                              <p:par>
                                <p:cTn id="64" presetID="53" presetClass="entr" presetSubtype="16" fill="hold" grpId="0" nodeType="afterEffect">
                                  <p:stCondLst>
                                    <p:cond delay="0"/>
                                  </p:stCondLst>
                                  <p:childTnLst>
                                    <p:set>
                                      <p:cBhvr>
                                        <p:cTn id="65" dur="1" fill="hold">
                                          <p:stCondLst>
                                            <p:cond delay="0"/>
                                          </p:stCondLst>
                                        </p:cTn>
                                        <p:tgtEl>
                                          <p:spTgt spid="5"/>
                                        </p:tgtEl>
                                        <p:attrNameLst>
                                          <p:attrName>style.visibility</p:attrName>
                                        </p:attrNameLst>
                                      </p:cBhvr>
                                      <p:to>
                                        <p:strVal val="visible"/>
                                      </p:to>
                                    </p:set>
                                    <p:anim calcmode="lin" valueType="num">
                                      <p:cBhvr>
                                        <p:cTn id="66" dur="500" fill="hold"/>
                                        <p:tgtEl>
                                          <p:spTgt spid="5"/>
                                        </p:tgtEl>
                                        <p:attrNameLst>
                                          <p:attrName>ppt_w</p:attrName>
                                        </p:attrNameLst>
                                      </p:cBhvr>
                                      <p:tavLst>
                                        <p:tav tm="0">
                                          <p:val>
                                            <p:fltVal val="0"/>
                                          </p:val>
                                        </p:tav>
                                        <p:tav tm="100000">
                                          <p:val>
                                            <p:strVal val="#ppt_w"/>
                                          </p:val>
                                        </p:tav>
                                      </p:tavLst>
                                    </p:anim>
                                    <p:anim calcmode="lin" valueType="num">
                                      <p:cBhvr>
                                        <p:cTn id="67" dur="500" fill="hold"/>
                                        <p:tgtEl>
                                          <p:spTgt spid="5"/>
                                        </p:tgtEl>
                                        <p:attrNameLst>
                                          <p:attrName>ppt_h</p:attrName>
                                        </p:attrNameLst>
                                      </p:cBhvr>
                                      <p:tavLst>
                                        <p:tav tm="0">
                                          <p:val>
                                            <p:fltVal val="0"/>
                                          </p:val>
                                        </p:tav>
                                        <p:tav tm="100000">
                                          <p:val>
                                            <p:strVal val="#ppt_h"/>
                                          </p:val>
                                        </p:tav>
                                      </p:tavLst>
                                    </p:anim>
                                    <p:animEffect transition="in" filter="fade">
                                      <p:cBhvr>
                                        <p:cTn id="68" dur="500"/>
                                        <p:tgtEl>
                                          <p:spTgt spid="5"/>
                                        </p:tgtEl>
                                      </p:cBhvr>
                                    </p:animEffect>
                                  </p:childTnLst>
                                </p:cTn>
                              </p:par>
                            </p:childTnLst>
                          </p:cTn>
                        </p:par>
                        <p:par>
                          <p:cTn id="69" fill="hold">
                            <p:stCondLst>
                              <p:cond delay="7500"/>
                            </p:stCondLst>
                            <p:childTnLst>
                              <p:par>
                                <p:cTn id="70" presetID="16" presetClass="entr" presetSubtype="21" fill="hold" grpId="0" nodeType="afterEffect">
                                  <p:stCondLst>
                                    <p:cond delay="0"/>
                                  </p:stCondLst>
                                  <p:childTnLst>
                                    <p:set>
                                      <p:cBhvr>
                                        <p:cTn id="71" dur="1" fill="hold">
                                          <p:stCondLst>
                                            <p:cond delay="0"/>
                                          </p:stCondLst>
                                        </p:cTn>
                                        <p:tgtEl>
                                          <p:spTgt spid="2"/>
                                        </p:tgtEl>
                                        <p:attrNameLst>
                                          <p:attrName>style.visibility</p:attrName>
                                        </p:attrNameLst>
                                      </p:cBhvr>
                                      <p:to>
                                        <p:strVal val="visible"/>
                                      </p:to>
                                    </p:set>
                                    <p:animEffect transition="in" filter="barn(inVertical)">
                                      <p:cBhvr>
                                        <p:cTn id="72" dur="500"/>
                                        <p:tgtEl>
                                          <p:spTgt spid="2"/>
                                        </p:tgtEl>
                                      </p:cBhvr>
                                    </p:animEffect>
                                  </p:childTnLst>
                                </p:cTn>
                              </p:par>
                            </p:childTnLst>
                          </p:cTn>
                        </p:par>
                        <p:par>
                          <p:cTn id="73" fill="hold">
                            <p:stCondLst>
                              <p:cond delay="8000"/>
                            </p:stCondLst>
                            <p:childTnLst>
                              <p:par>
                                <p:cTn id="74" presetID="16" presetClass="entr" presetSubtype="21" fill="hold" grpId="0" nodeType="afterEffect">
                                  <p:stCondLst>
                                    <p:cond delay="0"/>
                                  </p:stCondLst>
                                  <p:childTnLst>
                                    <p:set>
                                      <p:cBhvr>
                                        <p:cTn id="75" dur="1" fill="hold">
                                          <p:stCondLst>
                                            <p:cond delay="0"/>
                                          </p:stCondLst>
                                        </p:cTn>
                                        <p:tgtEl>
                                          <p:spTgt spid="3"/>
                                        </p:tgtEl>
                                        <p:attrNameLst>
                                          <p:attrName>style.visibility</p:attrName>
                                        </p:attrNameLst>
                                      </p:cBhvr>
                                      <p:to>
                                        <p:strVal val="visible"/>
                                      </p:to>
                                    </p:set>
                                    <p:animEffect transition="in" filter="barn(inVertical)">
                                      <p:cBhvr>
                                        <p:cTn id="76" dur="500"/>
                                        <p:tgtEl>
                                          <p:spTgt spid="3"/>
                                        </p:tgtEl>
                                      </p:cBhvr>
                                    </p:animEffect>
                                  </p:childTnLst>
                                </p:cTn>
                              </p:par>
                            </p:childTnLst>
                          </p:cTn>
                        </p:par>
                        <p:par>
                          <p:cTn id="77" fill="hold">
                            <p:stCondLst>
                              <p:cond delay="8500"/>
                            </p:stCondLst>
                            <p:childTnLst>
                              <p:par>
                                <p:cTn id="78" presetID="16" presetClass="entr" presetSubtype="21" fill="hold" grpId="0" nodeType="afterEffect">
                                  <p:stCondLst>
                                    <p:cond delay="0"/>
                                  </p:stCondLst>
                                  <p:childTnLst>
                                    <p:set>
                                      <p:cBhvr>
                                        <p:cTn id="79" dur="1" fill="hold">
                                          <p:stCondLst>
                                            <p:cond delay="0"/>
                                          </p:stCondLst>
                                        </p:cTn>
                                        <p:tgtEl>
                                          <p:spTgt spid="7"/>
                                        </p:tgtEl>
                                        <p:attrNameLst>
                                          <p:attrName>style.visibility</p:attrName>
                                        </p:attrNameLst>
                                      </p:cBhvr>
                                      <p:to>
                                        <p:strVal val="visible"/>
                                      </p:to>
                                    </p:set>
                                    <p:animEffect transition="in" filter="barn(inVertical)">
                                      <p:cBhvr>
                                        <p:cTn id="80"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p:bldP spid="48" grpId="0"/>
      <p:bldP spid="12" grpId="0"/>
      <p:bldP spid="4" grpId="0" animBg="1"/>
      <p:bldP spid="13" grpId="0" animBg="1"/>
      <p:bldP spid="14" grpId="0" animBg="1"/>
      <p:bldP spid="15" grpId="0" animBg="1"/>
      <p:bldP spid="5" grpId="0" animBg="1"/>
      <p:bldP spid="6" grpId="0" animBg="1"/>
      <p:bldP spid="17" grpId="0" animBg="1"/>
      <p:bldP spid="2" grpId="0"/>
      <p:bldP spid="3" grpId="0"/>
      <p:bldP spid="7" grpId="0"/>
      <p:bldP spid="19"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2"/>
          <a:stretch>
            <a:fillRect/>
          </a:stretch>
        </p:blipFill>
        <p:spPr>
          <a:xfrm rot="16200000">
            <a:off x="145169" y="-145167"/>
            <a:ext cx="1268414" cy="1558750"/>
          </a:xfrm>
          <a:prstGeom prst="rect">
            <a:avLst/>
          </a:prstGeom>
        </p:spPr>
      </p:pic>
      <p:sp>
        <p:nvSpPr>
          <p:cNvPr id="9" name="文字方塊 8">
            <a:extLst>
              <a:ext uri="{FF2B5EF4-FFF2-40B4-BE49-F238E27FC236}">
                <a16:creationId xmlns:a16="http://schemas.microsoft.com/office/drawing/2014/main" id="{81D0666A-D96D-4B5B-9036-192FA53FE435}"/>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cxnSp>
        <p:nvCxnSpPr>
          <p:cNvPr id="33" name="直接连接符 33">
            <a:extLst>
              <a:ext uri="{FF2B5EF4-FFF2-40B4-BE49-F238E27FC236}">
                <a16:creationId xmlns:a16="http://schemas.microsoft.com/office/drawing/2014/main" id="{DFF80DCD-8EF0-4D2F-8380-59FA348D932C}"/>
              </a:ext>
            </a:extLst>
          </p:cNvPr>
          <p:cNvCxnSpPr/>
          <p:nvPr/>
        </p:nvCxnSpPr>
        <p:spPr>
          <a:xfrm>
            <a:off x="1177167" y="1046746"/>
            <a:ext cx="10585176"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6" name="標題 1"/>
          <p:cNvSpPr txBox="1">
            <a:spLocks/>
          </p:cNvSpPr>
          <p:nvPr/>
        </p:nvSpPr>
        <p:spPr>
          <a:xfrm>
            <a:off x="854426" y="112999"/>
            <a:ext cx="5288853"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7-2 </a:t>
            </a:r>
            <a:r>
              <a:rPr lang="zh-TW" altLang="en-US" sz="2400" b="1" dirty="0">
                <a:solidFill>
                  <a:srgbClr val="E06741"/>
                </a:solidFill>
              </a:rPr>
              <a:t>實務案例</a:t>
            </a:r>
            <a:r>
              <a:rPr lang="en-US" altLang="zh-TW" sz="2400" b="1" dirty="0">
                <a:solidFill>
                  <a:srgbClr val="E06741"/>
                </a:solidFill>
              </a:rPr>
              <a:t>-</a:t>
            </a:r>
            <a:r>
              <a:rPr lang="zh-TW" altLang="en-US" sz="2400" b="1" dirty="0">
                <a:solidFill>
                  <a:srgbClr val="E06741"/>
                </a:solidFill>
              </a:rPr>
              <a:t>漁產履歷</a:t>
            </a:r>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sp>
        <p:nvSpPr>
          <p:cNvPr id="48" name="文字方塊 47">
            <a:extLst>
              <a:ext uri="{FF2B5EF4-FFF2-40B4-BE49-F238E27FC236}">
                <a16:creationId xmlns:a16="http://schemas.microsoft.com/office/drawing/2014/main" id="{AD7F4831-1A36-4A2F-ACBE-344F724510DC}"/>
              </a:ext>
            </a:extLst>
          </p:cNvPr>
          <p:cNvSpPr txBox="1"/>
          <p:nvPr/>
        </p:nvSpPr>
        <p:spPr>
          <a:xfrm>
            <a:off x="5130089" y="350241"/>
            <a:ext cx="2242922"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-2</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案例區塊鍊運用</a:t>
            </a:r>
          </a:p>
        </p:txBody>
      </p:sp>
      <p:sp>
        <p:nvSpPr>
          <p:cNvPr id="10" name="文字方塊 9">
            <a:extLst>
              <a:ext uri="{FF2B5EF4-FFF2-40B4-BE49-F238E27FC236}">
                <a16:creationId xmlns:a16="http://schemas.microsoft.com/office/drawing/2014/main" id="{BF94E171-0176-49DD-BE6C-DB2D96B94A88}"/>
              </a:ext>
            </a:extLst>
          </p:cNvPr>
          <p:cNvSpPr txBox="1"/>
          <p:nvPr/>
        </p:nvSpPr>
        <p:spPr>
          <a:xfrm>
            <a:off x="1177167" y="1816567"/>
            <a:ext cx="9663430" cy="578492"/>
          </a:xfrm>
          <a:prstGeom prst="rect">
            <a:avLst/>
          </a:prstGeom>
          <a:noFill/>
        </p:spPr>
        <p:txBody>
          <a:bodyPr wrap="square" rtlCol="0">
            <a:spAutoFit/>
          </a:bodyPr>
          <a:lstStyle/>
          <a:p>
            <a:pPr marL="342900" indent="-342900">
              <a:lnSpc>
                <a:spcPct val="150000"/>
              </a:lnSpc>
              <a:buBlip>
                <a:blip r:embed="rId3"/>
              </a:buBlip>
            </a:pP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sp>
        <p:nvSpPr>
          <p:cNvPr id="12" name="文字方塊 11">
            <a:extLst>
              <a:ext uri="{FF2B5EF4-FFF2-40B4-BE49-F238E27FC236}">
                <a16:creationId xmlns:a16="http://schemas.microsoft.com/office/drawing/2014/main" id="{BF94E171-0176-49DD-BE6C-DB2D96B94A88}"/>
              </a:ext>
            </a:extLst>
          </p:cNvPr>
          <p:cNvSpPr txBox="1"/>
          <p:nvPr/>
        </p:nvSpPr>
        <p:spPr>
          <a:xfrm>
            <a:off x="1289428" y="1042692"/>
            <a:ext cx="4962122" cy="1200329"/>
          </a:xfrm>
          <a:prstGeom prst="rect">
            <a:avLst/>
          </a:prstGeom>
          <a:noFill/>
        </p:spPr>
        <p:txBody>
          <a:bodyPr wrap="square" rtlCol="0">
            <a:spAutoFit/>
          </a:bodyPr>
          <a:lstStyle/>
          <a:p>
            <a:pPr marL="342900" indent="-342900">
              <a:lnSpc>
                <a:spcPct val="150000"/>
              </a:lnSpc>
              <a:buBlip>
                <a:blip r:embed="rId3"/>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區塊鏈機制石斑魚產銷交易流程</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800100" lvl="1" indent="-342900">
              <a:lnSpc>
                <a:spcPct val="150000"/>
              </a:lnSpc>
              <a:buBlip>
                <a:blip r:embed="rId3"/>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出貨交易資訊部分：</a:t>
            </a:r>
          </a:p>
        </p:txBody>
      </p:sp>
      <p:sp>
        <p:nvSpPr>
          <p:cNvPr id="14" name="橢圓 13"/>
          <p:cNvSpPr/>
          <p:nvPr/>
        </p:nvSpPr>
        <p:spPr>
          <a:xfrm>
            <a:off x="304284" y="3132092"/>
            <a:ext cx="1930400" cy="186574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2000" b="1" dirty="0">
                <a:solidFill>
                  <a:schemeClr val="bg1"/>
                </a:solidFill>
                <a:latin typeface="微軟正黑體" panose="020B0604030504040204" pitchFamily="34" charset="-120"/>
                <a:ea typeface="微軟正黑體" panose="020B0604030504040204" pitchFamily="34" charset="-120"/>
              </a:rPr>
              <a:t>養殖業者 （</a:t>
            </a:r>
            <a:r>
              <a:rPr lang="en-US" altLang="zh-TW" sz="2000" b="1" dirty="0">
                <a:solidFill>
                  <a:schemeClr val="bg1"/>
                </a:solidFill>
                <a:latin typeface="微軟正黑體" panose="020B0604030504040204" pitchFamily="34" charset="-120"/>
                <a:ea typeface="微軟正黑體" panose="020B0604030504040204" pitchFamily="34" charset="-120"/>
              </a:rPr>
              <a:t>P3</a:t>
            </a:r>
            <a:r>
              <a:rPr lang="zh-TW" altLang="en-US" b="1" dirty="0">
                <a:solidFill>
                  <a:schemeClr val="bg1"/>
                </a:solidFill>
                <a:latin typeface="微軟正黑體" panose="020B0604030504040204" pitchFamily="34" charset="-120"/>
                <a:ea typeface="微軟正黑體" panose="020B0604030504040204" pitchFamily="34" charset="-120"/>
              </a:rPr>
              <a:t>）</a:t>
            </a:r>
            <a:endParaRPr lang="zh-TW" altLang="en-US" dirty="0">
              <a:solidFill>
                <a:schemeClr val="bg1"/>
              </a:solidFill>
            </a:endParaRPr>
          </a:p>
        </p:txBody>
      </p:sp>
      <p:sp>
        <p:nvSpPr>
          <p:cNvPr id="20" name="向右箭號 19"/>
          <p:cNvSpPr/>
          <p:nvPr/>
        </p:nvSpPr>
        <p:spPr>
          <a:xfrm rot="19466003">
            <a:off x="2243624" y="2958173"/>
            <a:ext cx="576939" cy="49842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1" name="向右箭號 20"/>
          <p:cNvSpPr/>
          <p:nvPr/>
        </p:nvSpPr>
        <p:spPr>
          <a:xfrm>
            <a:off x="2376505" y="3811304"/>
            <a:ext cx="576939" cy="49842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22" name="向右箭號 21"/>
          <p:cNvSpPr/>
          <p:nvPr/>
        </p:nvSpPr>
        <p:spPr>
          <a:xfrm rot="2224128">
            <a:off x="2255186" y="4676396"/>
            <a:ext cx="576939" cy="45746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1" name="圓角矩形 10"/>
          <p:cNvSpPr/>
          <p:nvPr/>
        </p:nvSpPr>
        <p:spPr>
          <a:xfrm>
            <a:off x="2934582" y="2427001"/>
            <a:ext cx="2641600" cy="77585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2000" b="1" dirty="0">
                <a:solidFill>
                  <a:schemeClr val="bg1"/>
                </a:solidFill>
                <a:latin typeface="微軟正黑體" panose="020B0604030504040204" pitchFamily="34" charset="-120"/>
                <a:ea typeface="微軟正黑體" panose="020B0604030504040204" pitchFamily="34" charset="-120"/>
              </a:rPr>
              <a:t>食品加工廠（</a:t>
            </a:r>
            <a:r>
              <a:rPr lang="en-US" altLang="zh-TW" sz="2000" b="1" dirty="0">
                <a:solidFill>
                  <a:schemeClr val="bg1"/>
                </a:solidFill>
                <a:latin typeface="微軟正黑體" panose="020B0604030504040204" pitchFamily="34" charset="-120"/>
                <a:ea typeface="微軟正黑體" panose="020B0604030504040204" pitchFamily="34" charset="-120"/>
              </a:rPr>
              <a:t>P5</a:t>
            </a:r>
            <a:r>
              <a:rPr lang="zh-TW" altLang="en-US" sz="2000" b="1" dirty="0">
                <a:solidFill>
                  <a:schemeClr val="bg1"/>
                </a:solidFill>
                <a:latin typeface="微軟正黑體" panose="020B0604030504040204" pitchFamily="34" charset="-120"/>
                <a:ea typeface="微軟正黑體" panose="020B0604030504040204" pitchFamily="34" charset="-120"/>
              </a:rPr>
              <a:t>）</a:t>
            </a:r>
            <a:endParaRPr lang="zh-TW" altLang="en-US" sz="2000" dirty="0">
              <a:solidFill>
                <a:schemeClr val="bg1"/>
              </a:solidFill>
            </a:endParaRPr>
          </a:p>
        </p:txBody>
      </p:sp>
      <p:sp>
        <p:nvSpPr>
          <p:cNvPr id="28" name="圓角矩形 27"/>
          <p:cNvSpPr/>
          <p:nvPr/>
        </p:nvSpPr>
        <p:spPr>
          <a:xfrm>
            <a:off x="6554546" y="3614205"/>
            <a:ext cx="2641600" cy="77585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b="1" dirty="0">
                <a:solidFill>
                  <a:schemeClr val="bg1"/>
                </a:solidFill>
                <a:latin typeface="微軟正黑體" panose="020B0604030504040204" pitchFamily="34" charset="-120"/>
                <a:ea typeface="微軟正黑體" panose="020B0604030504040204" pitchFamily="34" charset="-120"/>
              </a:rPr>
              <a:t>網路平台（</a:t>
            </a:r>
            <a:r>
              <a:rPr lang="en-US" altLang="zh-TW" b="1" dirty="0">
                <a:solidFill>
                  <a:schemeClr val="bg1"/>
                </a:solidFill>
                <a:latin typeface="微軟正黑體" panose="020B0604030504040204" pitchFamily="34" charset="-120"/>
                <a:ea typeface="微軟正黑體" panose="020B0604030504040204" pitchFamily="34" charset="-120"/>
              </a:rPr>
              <a:t>P8</a:t>
            </a:r>
            <a:r>
              <a:rPr lang="zh-TW" altLang="en-US" b="1" dirty="0">
                <a:solidFill>
                  <a:schemeClr val="bg1"/>
                </a:solidFill>
                <a:latin typeface="微軟正黑體" panose="020B0604030504040204" pitchFamily="34" charset="-120"/>
                <a:ea typeface="微軟正黑體" panose="020B0604030504040204" pitchFamily="34" charset="-120"/>
              </a:rPr>
              <a:t>）</a:t>
            </a:r>
            <a:endParaRPr lang="zh-TW" altLang="en-US" dirty="0">
              <a:solidFill>
                <a:schemeClr val="bg1"/>
              </a:solidFill>
            </a:endParaRPr>
          </a:p>
        </p:txBody>
      </p:sp>
      <p:sp>
        <p:nvSpPr>
          <p:cNvPr id="29" name="圓角矩形 28"/>
          <p:cNvSpPr/>
          <p:nvPr/>
        </p:nvSpPr>
        <p:spPr>
          <a:xfrm>
            <a:off x="2953444" y="4892399"/>
            <a:ext cx="2641600" cy="77585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2000" b="1" dirty="0">
                <a:solidFill>
                  <a:schemeClr val="bg1"/>
                </a:solidFill>
                <a:latin typeface="微軟正黑體" panose="020B0604030504040204" pitchFamily="34" charset="-120"/>
                <a:ea typeface="微軟正黑體" panose="020B0604030504040204" pitchFamily="34" charset="-120"/>
              </a:rPr>
              <a:t>批發商（</a:t>
            </a:r>
            <a:r>
              <a:rPr lang="en-US" altLang="zh-TW" sz="2000" b="1" dirty="0">
                <a:solidFill>
                  <a:schemeClr val="bg1"/>
                </a:solidFill>
                <a:latin typeface="微軟正黑體" panose="020B0604030504040204" pitchFamily="34" charset="-120"/>
                <a:ea typeface="微軟正黑體" panose="020B0604030504040204" pitchFamily="34" charset="-120"/>
              </a:rPr>
              <a:t>P7</a:t>
            </a:r>
            <a:r>
              <a:rPr lang="zh-TW" altLang="en-US" sz="2000" b="1" dirty="0">
                <a:solidFill>
                  <a:schemeClr val="bg1"/>
                </a:solidFill>
                <a:latin typeface="微軟正黑體" panose="020B0604030504040204" pitchFamily="34" charset="-120"/>
                <a:ea typeface="微軟正黑體" panose="020B0604030504040204" pitchFamily="34" charset="-120"/>
              </a:rPr>
              <a:t>）</a:t>
            </a:r>
            <a:endParaRPr lang="zh-TW" altLang="en-US" sz="2000" dirty="0">
              <a:solidFill>
                <a:schemeClr val="bg1"/>
              </a:solidFill>
            </a:endParaRPr>
          </a:p>
        </p:txBody>
      </p:sp>
      <p:sp>
        <p:nvSpPr>
          <p:cNvPr id="30" name="圓角矩形 29"/>
          <p:cNvSpPr/>
          <p:nvPr/>
        </p:nvSpPr>
        <p:spPr>
          <a:xfrm>
            <a:off x="3095265" y="3643729"/>
            <a:ext cx="2641600" cy="77585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2000" b="1" dirty="0">
                <a:solidFill>
                  <a:schemeClr val="bg1"/>
                </a:solidFill>
                <a:latin typeface="微軟正黑體" panose="020B0604030504040204" pitchFamily="34" charset="-120"/>
                <a:ea typeface="微軟正黑體" panose="020B0604030504040204" pitchFamily="34" charset="-120"/>
              </a:rPr>
              <a:t>零售商（</a:t>
            </a:r>
            <a:r>
              <a:rPr lang="en-US" altLang="zh-TW" sz="2000" b="1" dirty="0">
                <a:solidFill>
                  <a:schemeClr val="bg1"/>
                </a:solidFill>
                <a:latin typeface="微軟正黑體" panose="020B0604030504040204" pitchFamily="34" charset="-120"/>
                <a:ea typeface="微軟正黑體" panose="020B0604030504040204" pitchFamily="34" charset="-120"/>
              </a:rPr>
              <a:t>P6</a:t>
            </a:r>
            <a:r>
              <a:rPr lang="zh-TW" altLang="en-US" sz="2000" b="1" dirty="0">
                <a:solidFill>
                  <a:schemeClr val="bg1"/>
                </a:solidFill>
                <a:latin typeface="微軟正黑體" panose="020B0604030504040204" pitchFamily="34" charset="-120"/>
                <a:ea typeface="微軟正黑體" panose="020B0604030504040204" pitchFamily="34" charset="-120"/>
              </a:rPr>
              <a:t>）</a:t>
            </a:r>
            <a:endParaRPr lang="zh-TW" altLang="en-US" sz="2000" dirty="0">
              <a:solidFill>
                <a:schemeClr val="bg1"/>
              </a:solidFill>
            </a:endParaRPr>
          </a:p>
        </p:txBody>
      </p:sp>
      <p:sp>
        <p:nvSpPr>
          <p:cNvPr id="31" name="向右箭號 30"/>
          <p:cNvSpPr/>
          <p:nvPr/>
        </p:nvSpPr>
        <p:spPr>
          <a:xfrm>
            <a:off x="5847705" y="3748082"/>
            <a:ext cx="576939" cy="49842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4" name="向右箭號 33"/>
          <p:cNvSpPr/>
          <p:nvPr/>
        </p:nvSpPr>
        <p:spPr>
          <a:xfrm>
            <a:off x="5720412" y="2562067"/>
            <a:ext cx="576939" cy="49842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5" name="向右箭號 34"/>
          <p:cNvSpPr/>
          <p:nvPr/>
        </p:nvSpPr>
        <p:spPr>
          <a:xfrm>
            <a:off x="5752721" y="5049472"/>
            <a:ext cx="576939" cy="49842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36" name="圓角矩形 35"/>
          <p:cNvSpPr/>
          <p:nvPr/>
        </p:nvSpPr>
        <p:spPr>
          <a:xfrm>
            <a:off x="6424644" y="4873589"/>
            <a:ext cx="2641600" cy="77585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b="1" dirty="0">
                <a:solidFill>
                  <a:schemeClr val="bg1"/>
                </a:solidFill>
                <a:latin typeface="微軟正黑體" panose="020B0604030504040204" pitchFamily="34" charset="-120"/>
                <a:ea typeface="微軟正黑體" panose="020B0604030504040204" pitchFamily="34" charset="-120"/>
              </a:rPr>
              <a:t>消費者（</a:t>
            </a:r>
            <a:r>
              <a:rPr lang="en-US" altLang="zh-TW" b="1" dirty="0">
                <a:solidFill>
                  <a:schemeClr val="bg1"/>
                </a:solidFill>
                <a:latin typeface="微軟正黑體" panose="020B0604030504040204" pitchFamily="34" charset="-120"/>
                <a:ea typeface="微軟正黑體" panose="020B0604030504040204" pitchFamily="34" charset="-120"/>
              </a:rPr>
              <a:t>P9</a:t>
            </a:r>
            <a:r>
              <a:rPr lang="zh-TW" altLang="en-US" b="1" dirty="0">
                <a:solidFill>
                  <a:schemeClr val="bg1"/>
                </a:solidFill>
                <a:latin typeface="微軟正黑體" panose="020B0604030504040204" pitchFamily="34" charset="-120"/>
                <a:ea typeface="微軟正黑體" panose="020B0604030504040204" pitchFamily="34" charset="-120"/>
              </a:rPr>
              <a:t>）</a:t>
            </a:r>
            <a:endParaRPr lang="zh-TW" altLang="en-US" dirty="0">
              <a:solidFill>
                <a:schemeClr val="bg1"/>
              </a:solidFill>
            </a:endParaRPr>
          </a:p>
        </p:txBody>
      </p:sp>
      <p:sp>
        <p:nvSpPr>
          <p:cNvPr id="37" name="圓角矩形 36"/>
          <p:cNvSpPr/>
          <p:nvPr/>
        </p:nvSpPr>
        <p:spPr>
          <a:xfrm>
            <a:off x="6469755" y="2398067"/>
            <a:ext cx="2641600" cy="77585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b="1" dirty="0">
                <a:solidFill>
                  <a:schemeClr val="bg1"/>
                </a:solidFill>
                <a:latin typeface="微軟正黑體" panose="020B0604030504040204" pitchFamily="34" charset="-120"/>
                <a:ea typeface="微軟正黑體" panose="020B0604030504040204" pitchFamily="34" charset="-120"/>
              </a:rPr>
              <a:t>消費者（</a:t>
            </a:r>
            <a:r>
              <a:rPr lang="en-US" altLang="zh-TW" b="1" dirty="0">
                <a:solidFill>
                  <a:schemeClr val="bg1"/>
                </a:solidFill>
                <a:latin typeface="微軟正黑體" panose="020B0604030504040204" pitchFamily="34" charset="-120"/>
                <a:ea typeface="微軟正黑體" panose="020B0604030504040204" pitchFamily="34" charset="-120"/>
              </a:rPr>
              <a:t>P9</a:t>
            </a:r>
            <a:r>
              <a:rPr lang="zh-TW" altLang="en-US" b="1" dirty="0">
                <a:solidFill>
                  <a:schemeClr val="bg1"/>
                </a:solidFill>
                <a:latin typeface="微軟正黑體" panose="020B0604030504040204" pitchFamily="34" charset="-120"/>
                <a:ea typeface="微軟正黑體" panose="020B0604030504040204" pitchFamily="34" charset="-120"/>
              </a:rPr>
              <a:t>）</a:t>
            </a:r>
            <a:endParaRPr lang="zh-TW" altLang="en-US" dirty="0">
              <a:solidFill>
                <a:schemeClr val="bg1"/>
              </a:solidFill>
            </a:endParaRPr>
          </a:p>
        </p:txBody>
      </p:sp>
      <p:sp>
        <p:nvSpPr>
          <p:cNvPr id="38" name="圓角矩形 37"/>
          <p:cNvSpPr/>
          <p:nvPr/>
        </p:nvSpPr>
        <p:spPr>
          <a:xfrm>
            <a:off x="10040869" y="3612370"/>
            <a:ext cx="1987192" cy="81591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b="1" dirty="0">
                <a:solidFill>
                  <a:schemeClr val="bg1"/>
                </a:solidFill>
                <a:latin typeface="微軟正黑體" panose="020B0604030504040204" pitchFamily="34" charset="-120"/>
                <a:ea typeface="微軟正黑體" panose="020B0604030504040204" pitchFamily="34" charset="-120"/>
              </a:rPr>
              <a:t>消費者（</a:t>
            </a:r>
            <a:r>
              <a:rPr lang="en-US" altLang="zh-TW" b="1" dirty="0">
                <a:solidFill>
                  <a:schemeClr val="bg1"/>
                </a:solidFill>
                <a:latin typeface="微軟正黑體" panose="020B0604030504040204" pitchFamily="34" charset="-120"/>
                <a:ea typeface="微軟正黑體" panose="020B0604030504040204" pitchFamily="34" charset="-120"/>
              </a:rPr>
              <a:t>P9</a:t>
            </a:r>
            <a:r>
              <a:rPr lang="zh-TW" altLang="en-US" b="1" dirty="0">
                <a:solidFill>
                  <a:schemeClr val="bg1"/>
                </a:solidFill>
                <a:latin typeface="微軟正黑體" panose="020B0604030504040204" pitchFamily="34" charset="-120"/>
                <a:ea typeface="微軟正黑體" panose="020B0604030504040204" pitchFamily="34" charset="-120"/>
              </a:rPr>
              <a:t>）</a:t>
            </a:r>
            <a:endParaRPr lang="zh-TW" altLang="en-US" dirty="0">
              <a:solidFill>
                <a:schemeClr val="bg1"/>
              </a:solidFill>
            </a:endParaRPr>
          </a:p>
        </p:txBody>
      </p:sp>
      <p:sp>
        <p:nvSpPr>
          <p:cNvPr id="39" name="向右箭號 38"/>
          <p:cNvSpPr/>
          <p:nvPr/>
        </p:nvSpPr>
        <p:spPr>
          <a:xfrm>
            <a:off x="9326048" y="3732889"/>
            <a:ext cx="576939" cy="49842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3961416123"/>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circle(in)">
                                      <p:cBhvr>
                                        <p:cTn id="7" dur="1500"/>
                                        <p:tgtEl>
                                          <p:spTgt spid="46"/>
                                        </p:tgtEl>
                                      </p:cBhvr>
                                    </p:animEffect>
                                  </p:childTnLst>
                                </p:cTn>
                              </p:par>
                            </p:childTnLst>
                          </p:cTn>
                        </p:par>
                        <p:par>
                          <p:cTn id="8" fill="hold">
                            <p:stCondLst>
                              <p:cond delay="1500"/>
                            </p:stCondLst>
                            <p:childTnLst>
                              <p:par>
                                <p:cTn id="9" presetID="16" presetClass="entr" presetSubtype="21" fill="hold" grpId="0" nodeType="afterEffect">
                                  <p:stCondLst>
                                    <p:cond delay="0"/>
                                  </p:stCondLst>
                                  <p:childTnLst>
                                    <p:set>
                                      <p:cBhvr>
                                        <p:cTn id="10" dur="1" fill="hold">
                                          <p:stCondLst>
                                            <p:cond delay="0"/>
                                          </p:stCondLst>
                                        </p:cTn>
                                        <p:tgtEl>
                                          <p:spTgt spid="48"/>
                                        </p:tgtEl>
                                        <p:attrNameLst>
                                          <p:attrName>style.visibility</p:attrName>
                                        </p:attrNameLst>
                                      </p:cBhvr>
                                      <p:to>
                                        <p:strVal val="visible"/>
                                      </p:to>
                                    </p:set>
                                    <p:animEffect transition="in" filter="barn(inVertical)">
                                      <p:cBhvr>
                                        <p:cTn id="11" dur="500"/>
                                        <p:tgtEl>
                                          <p:spTgt spid="48"/>
                                        </p:tgtEl>
                                      </p:cBhvr>
                                    </p:animEffect>
                                  </p:childTnLst>
                                </p:cTn>
                              </p:par>
                            </p:childTnLst>
                          </p:cTn>
                        </p:par>
                        <p:par>
                          <p:cTn id="12" fill="hold">
                            <p:stCondLst>
                              <p:cond delay="2000"/>
                            </p:stCondLst>
                            <p:childTnLst>
                              <p:par>
                                <p:cTn id="13" presetID="2" presetClass="entr" presetSubtype="8" fill="hold" nodeType="afterEffect">
                                  <p:stCondLst>
                                    <p:cond delay="0"/>
                                  </p:stCondLst>
                                  <p:childTnLst>
                                    <p:set>
                                      <p:cBhvr>
                                        <p:cTn id="14" dur="1" fill="hold">
                                          <p:stCondLst>
                                            <p:cond delay="0"/>
                                          </p:stCondLst>
                                        </p:cTn>
                                        <p:tgtEl>
                                          <p:spTgt spid="33"/>
                                        </p:tgtEl>
                                        <p:attrNameLst>
                                          <p:attrName>style.visibility</p:attrName>
                                        </p:attrNameLst>
                                      </p:cBhvr>
                                      <p:to>
                                        <p:strVal val="visible"/>
                                      </p:to>
                                    </p:set>
                                    <p:anim calcmode="lin" valueType="num">
                                      <p:cBhvr additive="base">
                                        <p:cTn id="15" dur="500" fill="hold"/>
                                        <p:tgtEl>
                                          <p:spTgt spid="33"/>
                                        </p:tgtEl>
                                        <p:attrNameLst>
                                          <p:attrName>ppt_x</p:attrName>
                                        </p:attrNameLst>
                                      </p:cBhvr>
                                      <p:tavLst>
                                        <p:tav tm="0">
                                          <p:val>
                                            <p:strVal val="0-#ppt_w/2"/>
                                          </p:val>
                                        </p:tav>
                                        <p:tav tm="100000">
                                          <p:val>
                                            <p:strVal val="#ppt_x"/>
                                          </p:val>
                                        </p:tav>
                                      </p:tavLst>
                                    </p:anim>
                                    <p:anim calcmode="lin" valueType="num">
                                      <p:cBhvr additive="base">
                                        <p:cTn id="16" dur="500" fill="hold"/>
                                        <p:tgtEl>
                                          <p:spTgt spid="33"/>
                                        </p:tgtEl>
                                        <p:attrNameLst>
                                          <p:attrName>ppt_y</p:attrName>
                                        </p:attrNameLst>
                                      </p:cBhvr>
                                      <p:tavLst>
                                        <p:tav tm="0">
                                          <p:val>
                                            <p:strVal val="#ppt_y"/>
                                          </p:val>
                                        </p:tav>
                                        <p:tav tm="100000">
                                          <p:val>
                                            <p:strVal val="#ppt_y"/>
                                          </p:val>
                                        </p:tav>
                                      </p:tavLst>
                                    </p:anim>
                                  </p:childTnLst>
                                </p:cTn>
                              </p:par>
                            </p:childTnLst>
                          </p:cTn>
                        </p:par>
                        <p:par>
                          <p:cTn id="17" fill="hold">
                            <p:stCondLst>
                              <p:cond delay="2500"/>
                            </p:stCondLst>
                            <p:childTnLst>
                              <p:par>
                                <p:cTn id="18" presetID="16" presetClass="entr" presetSubtype="21" fill="hold" nodeType="afterEffect" nodePh="1">
                                  <p:stCondLst>
                                    <p:cond delay="0"/>
                                  </p:stCondLst>
                                  <p:endCondLst>
                                    <p:cond evt="begin" delay="0">
                                      <p:tn val="18"/>
                                    </p:cond>
                                  </p:endCondLst>
                                  <p:childTnLst>
                                    <p:set>
                                      <p:cBhvr>
                                        <p:cTn id="19" dur="1" fill="hold">
                                          <p:stCondLst>
                                            <p:cond delay="0"/>
                                          </p:stCondLst>
                                        </p:cTn>
                                        <p:tgtEl>
                                          <p:spTgt spid="10">
                                            <p:txEl>
                                              <p:pRg st="0" end="0"/>
                                            </p:txEl>
                                          </p:spTgt>
                                        </p:tgtEl>
                                        <p:attrNameLst>
                                          <p:attrName>style.visibility</p:attrName>
                                        </p:attrNameLst>
                                      </p:cBhvr>
                                      <p:to>
                                        <p:strVal val="visible"/>
                                      </p:to>
                                    </p:set>
                                    <p:animEffect transition="in" filter="barn(inVertical)">
                                      <p:cBhvr>
                                        <p:cTn id="20" dur="500"/>
                                        <p:tgtEl>
                                          <p:spTgt spid="10">
                                            <p:txEl>
                                              <p:pRg st="0" end="0"/>
                                            </p:txEl>
                                          </p:spTgt>
                                        </p:tgtEl>
                                      </p:cBhvr>
                                    </p:animEffect>
                                  </p:childTnLst>
                                </p:cTn>
                              </p:par>
                            </p:childTnLst>
                          </p:cTn>
                        </p:par>
                        <p:par>
                          <p:cTn id="21" fill="hold">
                            <p:stCondLst>
                              <p:cond delay="3000"/>
                            </p:stCondLst>
                            <p:childTnLst>
                              <p:par>
                                <p:cTn id="22" presetID="16" presetClass="entr" presetSubtype="21" fill="hold" grpId="0" nodeType="after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barn(inVertical)">
                                      <p:cBhvr>
                                        <p:cTn id="24" dur="500"/>
                                        <p:tgtEl>
                                          <p:spTgt spid="12"/>
                                        </p:tgtEl>
                                      </p:cBhvr>
                                    </p:animEffect>
                                  </p:childTnLst>
                                </p:cTn>
                              </p:par>
                            </p:childTnLst>
                          </p:cTn>
                        </p:par>
                        <p:par>
                          <p:cTn id="25" fill="hold">
                            <p:stCondLst>
                              <p:cond delay="3500"/>
                            </p:stCondLst>
                            <p:childTnLst>
                              <p:par>
                                <p:cTn id="26" presetID="53" presetClass="entr" presetSubtype="16" fill="hold" grpId="0" nodeType="afterEffect">
                                  <p:stCondLst>
                                    <p:cond delay="0"/>
                                  </p:stCondLst>
                                  <p:childTnLst>
                                    <p:set>
                                      <p:cBhvr>
                                        <p:cTn id="27" dur="1" fill="hold">
                                          <p:stCondLst>
                                            <p:cond delay="0"/>
                                          </p:stCondLst>
                                        </p:cTn>
                                        <p:tgtEl>
                                          <p:spTgt spid="14"/>
                                        </p:tgtEl>
                                        <p:attrNameLst>
                                          <p:attrName>style.visibility</p:attrName>
                                        </p:attrNameLst>
                                      </p:cBhvr>
                                      <p:to>
                                        <p:strVal val="visible"/>
                                      </p:to>
                                    </p:set>
                                    <p:anim calcmode="lin" valueType="num">
                                      <p:cBhvr>
                                        <p:cTn id="28" dur="500" fill="hold"/>
                                        <p:tgtEl>
                                          <p:spTgt spid="14"/>
                                        </p:tgtEl>
                                        <p:attrNameLst>
                                          <p:attrName>ppt_w</p:attrName>
                                        </p:attrNameLst>
                                      </p:cBhvr>
                                      <p:tavLst>
                                        <p:tav tm="0">
                                          <p:val>
                                            <p:fltVal val="0"/>
                                          </p:val>
                                        </p:tav>
                                        <p:tav tm="100000">
                                          <p:val>
                                            <p:strVal val="#ppt_w"/>
                                          </p:val>
                                        </p:tav>
                                      </p:tavLst>
                                    </p:anim>
                                    <p:anim calcmode="lin" valueType="num">
                                      <p:cBhvr>
                                        <p:cTn id="29" dur="500" fill="hold"/>
                                        <p:tgtEl>
                                          <p:spTgt spid="14"/>
                                        </p:tgtEl>
                                        <p:attrNameLst>
                                          <p:attrName>ppt_h</p:attrName>
                                        </p:attrNameLst>
                                      </p:cBhvr>
                                      <p:tavLst>
                                        <p:tav tm="0">
                                          <p:val>
                                            <p:fltVal val="0"/>
                                          </p:val>
                                        </p:tav>
                                        <p:tav tm="100000">
                                          <p:val>
                                            <p:strVal val="#ppt_h"/>
                                          </p:val>
                                        </p:tav>
                                      </p:tavLst>
                                    </p:anim>
                                    <p:animEffect transition="in" filter="fade">
                                      <p:cBhvr>
                                        <p:cTn id="30" dur="500"/>
                                        <p:tgtEl>
                                          <p:spTgt spid="14"/>
                                        </p:tgtEl>
                                      </p:cBhvr>
                                    </p:animEffect>
                                  </p:childTnLst>
                                </p:cTn>
                              </p:par>
                            </p:childTnLst>
                          </p:cTn>
                        </p:par>
                        <p:par>
                          <p:cTn id="31" fill="hold">
                            <p:stCondLst>
                              <p:cond delay="4000"/>
                            </p:stCondLst>
                            <p:childTnLst>
                              <p:par>
                                <p:cTn id="32" presetID="2" presetClass="entr" presetSubtype="12" fill="hold" grpId="0" nodeType="afterEffect">
                                  <p:stCondLst>
                                    <p:cond delay="0"/>
                                  </p:stCondLst>
                                  <p:childTnLst>
                                    <p:set>
                                      <p:cBhvr>
                                        <p:cTn id="33" dur="1" fill="hold">
                                          <p:stCondLst>
                                            <p:cond delay="0"/>
                                          </p:stCondLst>
                                        </p:cTn>
                                        <p:tgtEl>
                                          <p:spTgt spid="20"/>
                                        </p:tgtEl>
                                        <p:attrNameLst>
                                          <p:attrName>style.visibility</p:attrName>
                                        </p:attrNameLst>
                                      </p:cBhvr>
                                      <p:to>
                                        <p:strVal val="visible"/>
                                      </p:to>
                                    </p:set>
                                    <p:anim calcmode="lin" valueType="num">
                                      <p:cBhvr additive="base">
                                        <p:cTn id="34" dur="500" fill="hold"/>
                                        <p:tgtEl>
                                          <p:spTgt spid="20"/>
                                        </p:tgtEl>
                                        <p:attrNameLst>
                                          <p:attrName>ppt_x</p:attrName>
                                        </p:attrNameLst>
                                      </p:cBhvr>
                                      <p:tavLst>
                                        <p:tav tm="0">
                                          <p:val>
                                            <p:strVal val="0-#ppt_w/2"/>
                                          </p:val>
                                        </p:tav>
                                        <p:tav tm="100000">
                                          <p:val>
                                            <p:strVal val="#ppt_x"/>
                                          </p:val>
                                        </p:tav>
                                      </p:tavLst>
                                    </p:anim>
                                    <p:anim calcmode="lin" valueType="num">
                                      <p:cBhvr additive="base">
                                        <p:cTn id="35" dur="500" fill="hold"/>
                                        <p:tgtEl>
                                          <p:spTgt spid="20"/>
                                        </p:tgtEl>
                                        <p:attrNameLst>
                                          <p:attrName>ppt_y</p:attrName>
                                        </p:attrNameLst>
                                      </p:cBhvr>
                                      <p:tavLst>
                                        <p:tav tm="0">
                                          <p:val>
                                            <p:strVal val="1+#ppt_h/2"/>
                                          </p:val>
                                        </p:tav>
                                        <p:tav tm="100000">
                                          <p:val>
                                            <p:strVal val="#ppt_y"/>
                                          </p:val>
                                        </p:tav>
                                      </p:tavLst>
                                    </p:anim>
                                  </p:childTnLst>
                                </p:cTn>
                              </p:par>
                            </p:childTnLst>
                          </p:cTn>
                        </p:par>
                        <p:par>
                          <p:cTn id="36" fill="hold">
                            <p:stCondLst>
                              <p:cond delay="4500"/>
                            </p:stCondLst>
                            <p:childTnLst>
                              <p:par>
                                <p:cTn id="37" presetID="2" presetClass="entr" presetSubtype="8" fill="hold" grpId="0" nodeType="afterEffect">
                                  <p:stCondLst>
                                    <p:cond delay="0"/>
                                  </p:stCondLst>
                                  <p:childTnLst>
                                    <p:set>
                                      <p:cBhvr>
                                        <p:cTn id="38" dur="1" fill="hold">
                                          <p:stCondLst>
                                            <p:cond delay="0"/>
                                          </p:stCondLst>
                                        </p:cTn>
                                        <p:tgtEl>
                                          <p:spTgt spid="11"/>
                                        </p:tgtEl>
                                        <p:attrNameLst>
                                          <p:attrName>style.visibility</p:attrName>
                                        </p:attrNameLst>
                                      </p:cBhvr>
                                      <p:to>
                                        <p:strVal val="visible"/>
                                      </p:to>
                                    </p:set>
                                    <p:anim calcmode="lin" valueType="num">
                                      <p:cBhvr additive="base">
                                        <p:cTn id="39" dur="500" fill="hold"/>
                                        <p:tgtEl>
                                          <p:spTgt spid="11"/>
                                        </p:tgtEl>
                                        <p:attrNameLst>
                                          <p:attrName>ppt_x</p:attrName>
                                        </p:attrNameLst>
                                      </p:cBhvr>
                                      <p:tavLst>
                                        <p:tav tm="0">
                                          <p:val>
                                            <p:strVal val="0-#ppt_w/2"/>
                                          </p:val>
                                        </p:tav>
                                        <p:tav tm="100000">
                                          <p:val>
                                            <p:strVal val="#ppt_x"/>
                                          </p:val>
                                        </p:tav>
                                      </p:tavLst>
                                    </p:anim>
                                    <p:anim calcmode="lin" valueType="num">
                                      <p:cBhvr additive="base">
                                        <p:cTn id="40" dur="500" fill="hold"/>
                                        <p:tgtEl>
                                          <p:spTgt spid="11"/>
                                        </p:tgtEl>
                                        <p:attrNameLst>
                                          <p:attrName>ppt_y</p:attrName>
                                        </p:attrNameLst>
                                      </p:cBhvr>
                                      <p:tavLst>
                                        <p:tav tm="0">
                                          <p:val>
                                            <p:strVal val="#ppt_y"/>
                                          </p:val>
                                        </p:tav>
                                        <p:tav tm="100000">
                                          <p:val>
                                            <p:strVal val="#ppt_y"/>
                                          </p:val>
                                        </p:tav>
                                      </p:tavLst>
                                    </p:anim>
                                  </p:childTnLst>
                                </p:cTn>
                              </p:par>
                            </p:childTnLst>
                          </p:cTn>
                        </p:par>
                        <p:par>
                          <p:cTn id="41" fill="hold">
                            <p:stCondLst>
                              <p:cond delay="5000"/>
                            </p:stCondLst>
                            <p:childTnLst>
                              <p:par>
                                <p:cTn id="42" presetID="2" presetClass="entr" presetSubtype="8" fill="hold" grpId="0" nodeType="afterEffect">
                                  <p:stCondLst>
                                    <p:cond delay="0"/>
                                  </p:stCondLst>
                                  <p:childTnLst>
                                    <p:set>
                                      <p:cBhvr>
                                        <p:cTn id="43" dur="1" fill="hold">
                                          <p:stCondLst>
                                            <p:cond delay="0"/>
                                          </p:stCondLst>
                                        </p:cTn>
                                        <p:tgtEl>
                                          <p:spTgt spid="34"/>
                                        </p:tgtEl>
                                        <p:attrNameLst>
                                          <p:attrName>style.visibility</p:attrName>
                                        </p:attrNameLst>
                                      </p:cBhvr>
                                      <p:to>
                                        <p:strVal val="visible"/>
                                      </p:to>
                                    </p:set>
                                    <p:anim calcmode="lin" valueType="num">
                                      <p:cBhvr additive="base">
                                        <p:cTn id="44" dur="500" fill="hold"/>
                                        <p:tgtEl>
                                          <p:spTgt spid="34"/>
                                        </p:tgtEl>
                                        <p:attrNameLst>
                                          <p:attrName>ppt_x</p:attrName>
                                        </p:attrNameLst>
                                      </p:cBhvr>
                                      <p:tavLst>
                                        <p:tav tm="0">
                                          <p:val>
                                            <p:strVal val="0-#ppt_w/2"/>
                                          </p:val>
                                        </p:tav>
                                        <p:tav tm="100000">
                                          <p:val>
                                            <p:strVal val="#ppt_x"/>
                                          </p:val>
                                        </p:tav>
                                      </p:tavLst>
                                    </p:anim>
                                    <p:anim calcmode="lin" valueType="num">
                                      <p:cBhvr additive="base">
                                        <p:cTn id="45" dur="500" fill="hold"/>
                                        <p:tgtEl>
                                          <p:spTgt spid="34"/>
                                        </p:tgtEl>
                                        <p:attrNameLst>
                                          <p:attrName>ppt_y</p:attrName>
                                        </p:attrNameLst>
                                      </p:cBhvr>
                                      <p:tavLst>
                                        <p:tav tm="0">
                                          <p:val>
                                            <p:strVal val="#ppt_y"/>
                                          </p:val>
                                        </p:tav>
                                        <p:tav tm="100000">
                                          <p:val>
                                            <p:strVal val="#ppt_y"/>
                                          </p:val>
                                        </p:tav>
                                      </p:tavLst>
                                    </p:anim>
                                  </p:childTnLst>
                                </p:cTn>
                              </p:par>
                            </p:childTnLst>
                          </p:cTn>
                        </p:par>
                        <p:par>
                          <p:cTn id="46" fill="hold">
                            <p:stCondLst>
                              <p:cond delay="5500"/>
                            </p:stCondLst>
                            <p:childTnLst>
                              <p:par>
                                <p:cTn id="47" presetID="2" presetClass="entr" presetSubtype="8" fill="hold" grpId="0" nodeType="afterEffect">
                                  <p:stCondLst>
                                    <p:cond delay="0"/>
                                  </p:stCondLst>
                                  <p:childTnLst>
                                    <p:set>
                                      <p:cBhvr>
                                        <p:cTn id="48" dur="1" fill="hold">
                                          <p:stCondLst>
                                            <p:cond delay="0"/>
                                          </p:stCondLst>
                                        </p:cTn>
                                        <p:tgtEl>
                                          <p:spTgt spid="37"/>
                                        </p:tgtEl>
                                        <p:attrNameLst>
                                          <p:attrName>style.visibility</p:attrName>
                                        </p:attrNameLst>
                                      </p:cBhvr>
                                      <p:to>
                                        <p:strVal val="visible"/>
                                      </p:to>
                                    </p:set>
                                    <p:anim calcmode="lin" valueType="num">
                                      <p:cBhvr additive="base">
                                        <p:cTn id="49" dur="500" fill="hold"/>
                                        <p:tgtEl>
                                          <p:spTgt spid="37"/>
                                        </p:tgtEl>
                                        <p:attrNameLst>
                                          <p:attrName>ppt_x</p:attrName>
                                        </p:attrNameLst>
                                      </p:cBhvr>
                                      <p:tavLst>
                                        <p:tav tm="0">
                                          <p:val>
                                            <p:strVal val="0-#ppt_w/2"/>
                                          </p:val>
                                        </p:tav>
                                        <p:tav tm="100000">
                                          <p:val>
                                            <p:strVal val="#ppt_x"/>
                                          </p:val>
                                        </p:tav>
                                      </p:tavLst>
                                    </p:anim>
                                    <p:anim calcmode="lin" valueType="num">
                                      <p:cBhvr additive="base">
                                        <p:cTn id="50" dur="500" fill="hold"/>
                                        <p:tgtEl>
                                          <p:spTgt spid="37"/>
                                        </p:tgtEl>
                                        <p:attrNameLst>
                                          <p:attrName>ppt_y</p:attrName>
                                        </p:attrNameLst>
                                      </p:cBhvr>
                                      <p:tavLst>
                                        <p:tav tm="0">
                                          <p:val>
                                            <p:strVal val="#ppt_y"/>
                                          </p:val>
                                        </p:tav>
                                        <p:tav tm="100000">
                                          <p:val>
                                            <p:strVal val="#ppt_y"/>
                                          </p:val>
                                        </p:tav>
                                      </p:tavLst>
                                    </p:anim>
                                  </p:childTnLst>
                                </p:cTn>
                              </p:par>
                            </p:childTnLst>
                          </p:cTn>
                        </p:par>
                        <p:par>
                          <p:cTn id="51" fill="hold">
                            <p:stCondLst>
                              <p:cond delay="6000"/>
                            </p:stCondLst>
                            <p:childTnLst>
                              <p:par>
                                <p:cTn id="52" presetID="2" presetClass="entr" presetSubtype="8" fill="hold" grpId="0" nodeType="afterEffect">
                                  <p:stCondLst>
                                    <p:cond delay="0"/>
                                  </p:stCondLst>
                                  <p:childTnLst>
                                    <p:set>
                                      <p:cBhvr>
                                        <p:cTn id="53" dur="1" fill="hold">
                                          <p:stCondLst>
                                            <p:cond delay="0"/>
                                          </p:stCondLst>
                                        </p:cTn>
                                        <p:tgtEl>
                                          <p:spTgt spid="21"/>
                                        </p:tgtEl>
                                        <p:attrNameLst>
                                          <p:attrName>style.visibility</p:attrName>
                                        </p:attrNameLst>
                                      </p:cBhvr>
                                      <p:to>
                                        <p:strVal val="visible"/>
                                      </p:to>
                                    </p:set>
                                    <p:anim calcmode="lin" valueType="num">
                                      <p:cBhvr additive="base">
                                        <p:cTn id="54" dur="500" fill="hold"/>
                                        <p:tgtEl>
                                          <p:spTgt spid="21"/>
                                        </p:tgtEl>
                                        <p:attrNameLst>
                                          <p:attrName>ppt_x</p:attrName>
                                        </p:attrNameLst>
                                      </p:cBhvr>
                                      <p:tavLst>
                                        <p:tav tm="0">
                                          <p:val>
                                            <p:strVal val="0-#ppt_w/2"/>
                                          </p:val>
                                        </p:tav>
                                        <p:tav tm="100000">
                                          <p:val>
                                            <p:strVal val="#ppt_x"/>
                                          </p:val>
                                        </p:tav>
                                      </p:tavLst>
                                    </p:anim>
                                    <p:anim calcmode="lin" valueType="num">
                                      <p:cBhvr additive="base">
                                        <p:cTn id="55" dur="500" fill="hold"/>
                                        <p:tgtEl>
                                          <p:spTgt spid="21"/>
                                        </p:tgtEl>
                                        <p:attrNameLst>
                                          <p:attrName>ppt_y</p:attrName>
                                        </p:attrNameLst>
                                      </p:cBhvr>
                                      <p:tavLst>
                                        <p:tav tm="0">
                                          <p:val>
                                            <p:strVal val="#ppt_y"/>
                                          </p:val>
                                        </p:tav>
                                        <p:tav tm="100000">
                                          <p:val>
                                            <p:strVal val="#ppt_y"/>
                                          </p:val>
                                        </p:tav>
                                      </p:tavLst>
                                    </p:anim>
                                  </p:childTnLst>
                                </p:cTn>
                              </p:par>
                            </p:childTnLst>
                          </p:cTn>
                        </p:par>
                        <p:par>
                          <p:cTn id="56" fill="hold">
                            <p:stCondLst>
                              <p:cond delay="6500"/>
                            </p:stCondLst>
                            <p:childTnLst>
                              <p:par>
                                <p:cTn id="57" presetID="2" presetClass="entr" presetSubtype="8" fill="hold" grpId="0" nodeType="afterEffect">
                                  <p:stCondLst>
                                    <p:cond delay="0"/>
                                  </p:stCondLst>
                                  <p:childTnLst>
                                    <p:set>
                                      <p:cBhvr>
                                        <p:cTn id="58" dur="1" fill="hold">
                                          <p:stCondLst>
                                            <p:cond delay="0"/>
                                          </p:stCondLst>
                                        </p:cTn>
                                        <p:tgtEl>
                                          <p:spTgt spid="30"/>
                                        </p:tgtEl>
                                        <p:attrNameLst>
                                          <p:attrName>style.visibility</p:attrName>
                                        </p:attrNameLst>
                                      </p:cBhvr>
                                      <p:to>
                                        <p:strVal val="visible"/>
                                      </p:to>
                                    </p:set>
                                    <p:anim calcmode="lin" valueType="num">
                                      <p:cBhvr additive="base">
                                        <p:cTn id="59" dur="500" fill="hold"/>
                                        <p:tgtEl>
                                          <p:spTgt spid="30"/>
                                        </p:tgtEl>
                                        <p:attrNameLst>
                                          <p:attrName>ppt_x</p:attrName>
                                        </p:attrNameLst>
                                      </p:cBhvr>
                                      <p:tavLst>
                                        <p:tav tm="0">
                                          <p:val>
                                            <p:strVal val="0-#ppt_w/2"/>
                                          </p:val>
                                        </p:tav>
                                        <p:tav tm="100000">
                                          <p:val>
                                            <p:strVal val="#ppt_x"/>
                                          </p:val>
                                        </p:tav>
                                      </p:tavLst>
                                    </p:anim>
                                    <p:anim calcmode="lin" valueType="num">
                                      <p:cBhvr additive="base">
                                        <p:cTn id="60" dur="500" fill="hold"/>
                                        <p:tgtEl>
                                          <p:spTgt spid="30"/>
                                        </p:tgtEl>
                                        <p:attrNameLst>
                                          <p:attrName>ppt_y</p:attrName>
                                        </p:attrNameLst>
                                      </p:cBhvr>
                                      <p:tavLst>
                                        <p:tav tm="0">
                                          <p:val>
                                            <p:strVal val="#ppt_y"/>
                                          </p:val>
                                        </p:tav>
                                        <p:tav tm="100000">
                                          <p:val>
                                            <p:strVal val="#ppt_y"/>
                                          </p:val>
                                        </p:tav>
                                      </p:tavLst>
                                    </p:anim>
                                  </p:childTnLst>
                                </p:cTn>
                              </p:par>
                            </p:childTnLst>
                          </p:cTn>
                        </p:par>
                        <p:par>
                          <p:cTn id="61" fill="hold">
                            <p:stCondLst>
                              <p:cond delay="7000"/>
                            </p:stCondLst>
                            <p:childTnLst>
                              <p:par>
                                <p:cTn id="62" presetID="2" presetClass="entr" presetSubtype="8" fill="hold" grpId="0" nodeType="afterEffect">
                                  <p:stCondLst>
                                    <p:cond delay="0"/>
                                  </p:stCondLst>
                                  <p:childTnLst>
                                    <p:set>
                                      <p:cBhvr>
                                        <p:cTn id="63" dur="1" fill="hold">
                                          <p:stCondLst>
                                            <p:cond delay="0"/>
                                          </p:stCondLst>
                                        </p:cTn>
                                        <p:tgtEl>
                                          <p:spTgt spid="31"/>
                                        </p:tgtEl>
                                        <p:attrNameLst>
                                          <p:attrName>style.visibility</p:attrName>
                                        </p:attrNameLst>
                                      </p:cBhvr>
                                      <p:to>
                                        <p:strVal val="visible"/>
                                      </p:to>
                                    </p:set>
                                    <p:anim calcmode="lin" valueType="num">
                                      <p:cBhvr additive="base">
                                        <p:cTn id="64" dur="500" fill="hold"/>
                                        <p:tgtEl>
                                          <p:spTgt spid="31"/>
                                        </p:tgtEl>
                                        <p:attrNameLst>
                                          <p:attrName>ppt_x</p:attrName>
                                        </p:attrNameLst>
                                      </p:cBhvr>
                                      <p:tavLst>
                                        <p:tav tm="0">
                                          <p:val>
                                            <p:strVal val="0-#ppt_w/2"/>
                                          </p:val>
                                        </p:tav>
                                        <p:tav tm="100000">
                                          <p:val>
                                            <p:strVal val="#ppt_x"/>
                                          </p:val>
                                        </p:tav>
                                      </p:tavLst>
                                    </p:anim>
                                    <p:anim calcmode="lin" valueType="num">
                                      <p:cBhvr additive="base">
                                        <p:cTn id="65" dur="500" fill="hold"/>
                                        <p:tgtEl>
                                          <p:spTgt spid="31"/>
                                        </p:tgtEl>
                                        <p:attrNameLst>
                                          <p:attrName>ppt_y</p:attrName>
                                        </p:attrNameLst>
                                      </p:cBhvr>
                                      <p:tavLst>
                                        <p:tav tm="0">
                                          <p:val>
                                            <p:strVal val="#ppt_y"/>
                                          </p:val>
                                        </p:tav>
                                        <p:tav tm="100000">
                                          <p:val>
                                            <p:strVal val="#ppt_y"/>
                                          </p:val>
                                        </p:tav>
                                      </p:tavLst>
                                    </p:anim>
                                  </p:childTnLst>
                                </p:cTn>
                              </p:par>
                            </p:childTnLst>
                          </p:cTn>
                        </p:par>
                        <p:par>
                          <p:cTn id="66" fill="hold">
                            <p:stCondLst>
                              <p:cond delay="7500"/>
                            </p:stCondLst>
                            <p:childTnLst>
                              <p:par>
                                <p:cTn id="67" presetID="2" presetClass="entr" presetSubtype="8" fill="hold" grpId="0" nodeType="afterEffect">
                                  <p:stCondLst>
                                    <p:cond delay="0"/>
                                  </p:stCondLst>
                                  <p:childTnLst>
                                    <p:set>
                                      <p:cBhvr>
                                        <p:cTn id="68" dur="1" fill="hold">
                                          <p:stCondLst>
                                            <p:cond delay="0"/>
                                          </p:stCondLst>
                                        </p:cTn>
                                        <p:tgtEl>
                                          <p:spTgt spid="28"/>
                                        </p:tgtEl>
                                        <p:attrNameLst>
                                          <p:attrName>style.visibility</p:attrName>
                                        </p:attrNameLst>
                                      </p:cBhvr>
                                      <p:to>
                                        <p:strVal val="visible"/>
                                      </p:to>
                                    </p:set>
                                    <p:anim calcmode="lin" valueType="num">
                                      <p:cBhvr additive="base">
                                        <p:cTn id="69" dur="500" fill="hold"/>
                                        <p:tgtEl>
                                          <p:spTgt spid="28"/>
                                        </p:tgtEl>
                                        <p:attrNameLst>
                                          <p:attrName>ppt_x</p:attrName>
                                        </p:attrNameLst>
                                      </p:cBhvr>
                                      <p:tavLst>
                                        <p:tav tm="0">
                                          <p:val>
                                            <p:strVal val="0-#ppt_w/2"/>
                                          </p:val>
                                        </p:tav>
                                        <p:tav tm="100000">
                                          <p:val>
                                            <p:strVal val="#ppt_x"/>
                                          </p:val>
                                        </p:tav>
                                      </p:tavLst>
                                    </p:anim>
                                    <p:anim calcmode="lin" valueType="num">
                                      <p:cBhvr additive="base">
                                        <p:cTn id="70" dur="500" fill="hold"/>
                                        <p:tgtEl>
                                          <p:spTgt spid="28"/>
                                        </p:tgtEl>
                                        <p:attrNameLst>
                                          <p:attrName>ppt_y</p:attrName>
                                        </p:attrNameLst>
                                      </p:cBhvr>
                                      <p:tavLst>
                                        <p:tav tm="0">
                                          <p:val>
                                            <p:strVal val="#ppt_y"/>
                                          </p:val>
                                        </p:tav>
                                        <p:tav tm="100000">
                                          <p:val>
                                            <p:strVal val="#ppt_y"/>
                                          </p:val>
                                        </p:tav>
                                      </p:tavLst>
                                    </p:anim>
                                  </p:childTnLst>
                                </p:cTn>
                              </p:par>
                            </p:childTnLst>
                          </p:cTn>
                        </p:par>
                        <p:par>
                          <p:cTn id="71" fill="hold">
                            <p:stCondLst>
                              <p:cond delay="8000"/>
                            </p:stCondLst>
                            <p:childTnLst>
                              <p:par>
                                <p:cTn id="72" presetID="2" presetClass="entr" presetSubtype="8" fill="hold" grpId="0" nodeType="afterEffect">
                                  <p:stCondLst>
                                    <p:cond delay="0"/>
                                  </p:stCondLst>
                                  <p:childTnLst>
                                    <p:set>
                                      <p:cBhvr>
                                        <p:cTn id="73" dur="1" fill="hold">
                                          <p:stCondLst>
                                            <p:cond delay="0"/>
                                          </p:stCondLst>
                                        </p:cTn>
                                        <p:tgtEl>
                                          <p:spTgt spid="39"/>
                                        </p:tgtEl>
                                        <p:attrNameLst>
                                          <p:attrName>style.visibility</p:attrName>
                                        </p:attrNameLst>
                                      </p:cBhvr>
                                      <p:to>
                                        <p:strVal val="visible"/>
                                      </p:to>
                                    </p:set>
                                    <p:anim calcmode="lin" valueType="num">
                                      <p:cBhvr additive="base">
                                        <p:cTn id="74" dur="500" fill="hold"/>
                                        <p:tgtEl>
                                          <p:spTgt spid="39"/>
                                        </p:tgtEl>
                                        <p:attrNameLst>
                                          <p:attrName>ppt_x</p:attrName>
                                        </p:attrNameLst>
                                      </p:cBhvr>
                                      <p:tavLst>
                                        <p:tav tm="0">
                                          <p:val>
                                            <p:strVal val="0-#ppt_w/2"/>
                                          </p:val>
                                        </p:tav>
                                        <p:tav tm="100000">
                                          <p:val>
                                            <p:strVal val="#ppt_x"/>
                                          </p:val>
                                        </p:tav>
                                      </p:tavLst>
                                    </p:anim>
                                    <p:anim calcmode="lin" valueType="num">
                                      <p:cBhvr additive="base">
                                        <p:cTn id="75" dur="500" fill="hold"/>
                                        <p:tgtEl>
                                          <p:spTgt spid="39"/>
                                        </p:tgtEl>
                                        <p:attrNameLst>
                                          <p:attrName>ppt_y</p:attrName>
                                        </p:attrNameLst>
                                      </p:cBhvr>
                                      <p:tavLst>
                                        <p:tav tm="0">
                                          <p:val>
                                            <p:strVal val="#ppt_y"/>
                                          </p:val>
                                        </p:tav>
                                        <p:tav tm="100000">
                                          <p:val>
                                            <p:strVal val="#ppt_y"/>
                                          </p:val>
                                        </p:tav>
                                      </p:tavLst>
                                    </p:anim>
                                  </p:childTnLst>
                                </p:cTn>
                              </p:par>
                            </p:childTnLst>
                          </p:cTn>
                        </p:par>
                        <p:par>
                          <p:cTn id="76" fill="hold">
                            <p:stCondLst>
                              <p:cond delay="8500"/>
                            </p:stCondLst>
                            <p:childTnLst>
                              <p:par>
                                <p:cTn id="77" presetID="2" presetClass="entr" presetSubtype="8" fill="hold" grpId="0" nodeType="afterEffect">
                                  <p:stCondLst>
                                    <p:cond delay="0"/>
                                  </p:stCondLst>
                                  <p:childTnLst>
                                    <p:set>
                                      <p:cBhvr>
                                        <p:cTn id="78" dur="1" fill="hold">
                                          <p:stCondLst>
                                            <p:cond delay="0"/>
                                          </p:stCondLst>
                                        </p:cTn>
                                        <p:tgtEl>
                                          <p:spTgt spid="38"/>
                                        </p:tgtEl>
                                        <p:attrNameLst>
                                          <p:attrName>style.visibility</p:attrName>
                                        </p:attrNameLst>
                                      </p:cBhvr>
                                      <p:to>
                                        <p:strVal val="visible"/>
                                      </p:to>
                                    </p:set>
                                    <p:anim calcmode="lin" valueType="num">
                                      <p:cBhvr additive="base">
                                        <p:cTn id="79" dur="500" fill="hold"/>
                                        <p:tgtEl>
                                          <p:spTgt spid="38"/>
                                        </p:tgtEl>
                                        <p:attrNameLst>
                                          <p:attrName>ppt_x</p:attrName>
                                        </p:attrNameLst>
                                      </p:cBhvr>
                                      <p:tavLst>
                                        <p:tav tm="0">
                                          <p:val>
                                            <p:strVal val="0-#ppt_w/2"/>
                                          </p:val>
                                        </p:tav>
                                        <p:tav tm="100000">
                                          <p:val>
                                            <p:strVal val="#ppt_x"/>
                                          </p:val>
                                        </p:tav>
                                      </p:tavLst>
                                    </p:anim>
                                    <p:anim calcmode="lin" valueType="num">
                                      <p:cBhvr additive="base">
                                        <p:cTn id="80" dur="500" fill="hold"/>
                                        <p:tgtEl>
                                          <p:spTgt spid="38"/>
                                        </p:tgtEl>
                                        <p:attrNameLst>
                                          <p:attrName>ppt_y</p:attrName>
                                        </p:attrNameLst>
                                      </p:cBhvr>
                                      <p:tavLst>
                                        <p:tav tm="0">
                                          <p:val>
                                            <p:strVal val="#ppt_y"/>
                                          </p:val>
                                        </p:tav>
                                        <p:tav tm="100000">
                                          <p:val>
                                            <p:strVal val="#ppt_y"/>
                                          </p:val>
                                        </p:tav>
                                      </p:tavLst>
                                    </p:anim>
                                  </p:childTnLst>
                                </p:cTn>
                              </p:par>
                            </p:childTnLst>
                          </p:cTn>
                        </p:par>
                        <p:par>
                          <p:cTn id="81" fill="hold">
                            <p:stCondLst>
                              <p:cond delay="9000"/>
                            </p:stCondLst>
                            <p:childTnLst>
                              <p:par>
                                <p:cTn id="82" presetID="2" presetClass="entr" presetSubtype="9" fill="hold" grpId="0" nodeType="afterEffect">
                                  <p:stCondLst>
                                    <p:cond delay="0"/>
                                  </p:stCondLst>
                                  <p:childTnLst>
                                    <p:set>
                                      <p:cBhvr>
                                        <p:cTn id="83" dur="1" fill="hold">
                                          <p:stCondLst>
                                            <p:cond delay="0"/>
                                          </p:stCondLst>
                                        </p:cTn>
                                        <p:tgtEl>
                                          <p:spTgt spid="22"/>
                                        </p:tgtEl>
                                        <p:attrNameLst>
                                          <p:attrName>style.visibility</p:attrName>
                                        </p:attrNameLst>
                                      </p:cBhvr>
                                      <p:to>
                                        <p:strVal val="visible"/>
                                      </p:to>
                                    </p:set>
                                    <p:anim calcmode="lin" valueType="num">
                                      <p:cBhvr additive="base">
                                        <p:cTn id="84" dur="500" fill="hold"/>
                                        <p:tgtEl>
                                          <p:spTgt spid="22"/>
                                        </p:tgtEl>
                                        <p:attrNameLst>
                                          <p:attrName>ppt_x</p:attrName>
                                        </p:attrNameLst>
                                      </p:cBhvr>
                                      <p:tavLst>
                                        <p:tav tm="0">
                                          <p:val>
                                            <p:strVal val="0-#ppt_w/2"/>
                                          </p:val>
                                        </p:tav>
                                        <p:tav tm="100000">
                                          <p:val>
                                            <p:strVal val="#ppt_x"/>
                                          </p:val>
                                        </p:tav>
                                      </p:tavLst>
                                    </p:anim>
                                    <p:anim calcmode="lin" valueType="num">
                                      <p:cBhvr additive="base">
                                        <p:cTn id="85" dur="500" fill="hold"/>
                                        <p:tgtEl>
                                          <p:spTgt spid="22"/>
                                        </p:tgtEl>
                                        <p:attrNameLst>
                                          <p:attrName>ppt_y</p:attrName>
                                        </p:attrNameLst>
                                      </p:cBhvr>
                                      <p:tavLst>
                                        <p:tav tm="0">
                                          <p:val>
                                            <p:strVal val="0-#ppt_h/2"/>
                                          </p:val>
                                        </p:tav>
                                        <p:tav tm="100000">
                                          <p:val>
                                            <p:strVal val="#ppt_y"/>
                                          </p:val>
                                        </p:tav>
                                      </p:tavLst>
                                    </p:anim>
                                  </p:childTnLst>
                                </p:cTn>
                              </p:par>
                            </p:childTnLst>
                          </p:cTn>
                        </p:par>
                        <p:par>
                          <p:cTn id="86" fill="hold">
                            <p:stCondLst>
                              <p:cond delay="9500"/>
                            </p:stCondLst>
                            <p:childTnLst>
                              <p:par>
                                <p:cTn id="87" presetID="2" presetClass="entr" presetSubtype="4" fill="hold" grpId="0" nodeType="afterEffect">
                                  <p:stCondLst>
                                    <p:cond delay="0"/>
                                  </p:stCondLst>
                                  <p:childTnLst>
                                    <p:set>
                                      <p:cBhvr>
                                        <p:cTn id="88" dur="1" fill="hold">
                                          <p:stCondLst>
                                            <p:cond delay="0"/>
                                          </p:stCondLst>
                                        </p:cTn>
                                        <p:tgtEl>
                                          <p:spTgt spid="29"/>
                                        </p:tgtEl>
                                        <p:attrNameLst>
                                          <p:attrName>style.visibility</p:attrName>
                                        </p:attrNameLst>
                                      </p:cBhvr>
                                      <p:to>
                                        <p:strVal val="visible"/>
                                      </p:to>
                                    </p:set>
                                    <p:anim calcmode="lin" valueType="num">
                                      <p:cBhvr additive="base">
                                        <p:cTn id="89" dur="500" fill="hold"/>
                                        <p:tgtEl>
                                          <p:spTgt spid="29"/>
                                        </p:tgtEl>
                                        <p:attrNameLst>
                                          <p:attrName>ppt_x</p:attrName>
                                        </p:attrNameLst>
                                      </p:cBhvr>
                                      <p:tavLst>
                                        <p:tav tm="0">
                                          <p:val>
                                            <p:strVal val="#ppt_x"/>
                                          </p:val>
                                        </p:tav>
                                        <p:tav tm="100000">
                                          <p:val>
                                            <p:strVal val="#ppt_x"/>
                                          </p:val>
                                        </p:tav>
                                      </p:tavLst>
                                    </p:anim>
                                    <p:anim calcmode="lin" valueType="num">
                                      <p:cBhvr additive="base">
                                        <p:cTn id="90" dur="500" fill="hold"/>
                                        <p:tgtEl>
                                          <p:spTgt spid="29"/>
                                        </p:tgtEl>
                                        <p:attrNameLst>
                                          <p:attrName>ppt_y</p:attrName>
                                        </p:attrNameLst>
                                      </p:cBhvr>
                                      <p:tavLst>
                                        <p:tav tm="0">
                                          <p:val>
                                            <p:strVal val="1+#ppt_h/2"/>
                                          </p:val>
                                        </p:tav>
                                        <p:tav tm="100000">
                                          <p:val>
                                            <p:strVal val="#ppt_y"/>
                                          </p:val>
                                        </p:tav>
                                      </p:tavLst>
                                    </p:anim>
                                  </p:childTnLst>
                                </p:cTn>
                              </p:par>
                            </p:childTnLst>
                          </p:cTn>
                        </p:par>
                        <p:par>
                          <p:cTn id="91" fill="hold">
                            <p:stCondLst>
                              <p:cond delay="10000"/>
                            </p:stCondLst>
                            <p:childTnLst>
                              <p:par>
                                <p:cTn id="92" presetID="2" presetClass="entr" presetSubtype="4" fill="hold" grpId="0" nodeType="afterEffect">
                                  <p:stCondLst>
                                    <p:cond delay="0"/>
                                  </p:stCondLst>
                                  <p:childTnLst>
                                    <p:set>
                                      <p:cBhvr>
                                        <p:cTn id="93" dur="1" fill="hold">
                                          <p:stCondLst>
                                            <p:cond delay="0"/>
                                          </p:stCondLst>
                                        </p:cTn>
                                        <p:tgtEl>
                                          <p:spTgt spid="35"/>
                                        </p:tgtEl>
                                        <p:attrNameLst>
                                          <p:attrName>style.visibility</p:attrName>
                                        </p:attrNameLst>
                                      </p:cBhvr>
                                      <p:to>
                                        <p:strVal val="visible"/>
                                      </p:to>
                                    </p:set>
                                    <p:anim calcmode="lin" valueType="num">
                                      <p:cBhvr additive="base">
                                        <p:cTn id="94" dur="500" fill="hold"/>
                                        <p:tgtEl>
                                          <p:spTgt spid="35"/>
                                        </p:tgtEl>
                                        <p:attrNameLst>
                                          <p:attrName>ppt_x</p:attrName>
                                        </p:attrNameLst>
                                      </p:cBhvr>
                                      <p:tavLst>
                                        <p:tav tm="0">
                                          <p:val>
                                            <p:strVal val="#ppt_x"/>
                                          </p:val>
                                        </p:tav>
                                        <p:tav tm="100000">
                                          <p:val>
                                            <p:strVal val="#ppt_x"/>
                                          </p:val>
                                        </p:tav>
                                      </p:tavLst>
                                    </p:anim>
                                    <p:anim calcmode="lin" valueType="num">
                                      <p:cBhvr additive="base">
                                        <p:cTn id="95" dur="500" fill="hold"/>
                                        <p:tgtEl>
                                          <p:spTgt spid="35"/>
                                        </p:tgtEl>
                                        <p:attrNameLst>
                                          <p:attrName>ppt_y</p:attrName>
                                        </p:attrNameLst>
                                      </p:cBhvr>
                                      <p:tavLst>
                                        <p:tav tm="0">
                                          <p:val>
                                            <p:strVal val="1+#ppt_h/2"/>
                                          </p:val>
                                        </p:tav>
                                        <p:tav tm="100000">
                                          <p:val>
                                            <p:strVal val="#ppt_y"/>
                                          </p:val>
                                        </p:tav>
                                      </p:tavLst>
                                    </p:anim>
                                  </p:childTnLst>
                                </p:cTn>
                              </p:par>
                            </p:childTnLst>
                          </p:cTn>
                        </p:par>
                        <p:par>
                          <p:cTn id="96" fill="hold">
                            <p:stCondLst>
                              <p:cond delay="10500"/>
                            </p:stCondLst>
                            <p:childTnLst>
                              <p:par>
                                <p:cTn id="97" presetID="2" presetClass="entr" presetSubtype="4" fill="hold" grpId="0" nodeType="afterEffect">
                                  <p:stCondLst>
                                    <p:cond delay="0"/>
                                  </p:stCondLst>
                                  <p:childTnLst>
                                    <p:set>
                                      <p:cBhvr>
                                        <p:cTn id="98" dur="1" fill="hold">
                                          <p:stCondLst>
                                            <p:cond delay="0"/>
                                          </p:stCondLst>
                                        </p:cTn>
                                        <p:tgtEl>
                                          <p:spTgt spid="36"/>
                                        </p:tgtEl>
                                        <p:attrNameLst>
                                          <p:attrName>style.visibility</p:attrName>
                                        </p:attrNameLst>
                                      </p:cBhvr>
                                      <p:to>
                                        <p:strVal val="visible"/>
                                      </p:to>
                                    </p:set>
                                    <p:anim calcmode="lin" valueType="num">
                                      <p:cBhvr additive="base">
                                        <p:cTn id="99" dur="500" fill="hold"/>
                                        <p:tgtEl>
                                          <p:spTgt spid="36"/>
                                        </p:tgtEl>
                                        <p:attrNameLst>
                                          <p:attrName>ppt_x</p:attrName>
                                        </p:attrNameLst>
                                      </p:cBhvr>
                                      <p:tavLst>
                                        <p:tav tm="0">
                                          <p:val>
                                            <p:strVal val="#ppt_x"/>
                                          </p:val>
                                        </p:tav>
                                        <p:tav tm="100000">
                                          <p:val>
                                            <p:strVal val="#ppt_x"/>
                                          </p:val>
                                        </p:tav>
                                      </p:tavLst>
                                    </p:anim>
                                    <p:anim calcmode="lin" valueType="num">
                                      <p:cBhvr additive="base">
                                        <p:cTn id="100" dur="500" fill="hold"/>
                                        <p:tgtEl>
                                          <p:spTgt spid="3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p:bldP spid="48" grpId="0"/>
      <p:bldP spid="12" grpId="0"/>
      <p:bldP spid="14" grpId="0" animBg="1"/>
      <p:bldP spid="20" grpId="0" animBg="1"/>
      <p:bldP spid="21" grpId="0" animBg="1"/>
      <p:bldP spid="22" grpId="0" animBg="1"/>
      <p:bldP spid="11" grpId="0" animBg="1"/>
      <p:bldP spid="28" grpId="0" animBg="1"/>
      <p:bldP spid="29" grpId="0" animBg="1"/>
      <p:bldP spid="30" grpId="0" animBg="1"/>
      <p:bldP spid="31" grpId="0" animBg="1"/>
      <p:bldP spid="34" grpId="0" animBg="1"/>
      <p:bldP spid="35" grpId="0" animBg="1"/>
      <p:bldP spid="36" grpId="0" animBg="1"/>
      <p:bldP spid="37" grpId="0" animBg="1"/>
      <p:bldP spid="38" grpId="0" animBg="1"/>
      <p:bldP spid="39"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2"/>
          <a:stretch>
            <a:fillRect/>
          </a:stretch>
        </p:blipFill>
        <p:spPr>
          <a:xfrm rot="16200000">
            <a:off x="145169" y="-145167"/>
            <a:ext cx="1268414" cy="1558750"/>
          </a:xfrm>
          <a:prstGeom prst="rect">
            <a:avLst/>
          </a:prstGeom>
        </p:spPr>
      </p:pic>
      <p:sp>
        <p:nvSpPr>
          <p:cNvPr id="9" name="文字方塊 8">
            <a:extLst>
              <a:ext uri="{FF2B5EF4-FFF2-40B4-BE49-F238E27FC236}">
                <a16:creationId xmlns:a16="http://schemas.microsoft.com/office/drawing/2014/main" id="{81D0666A-D96D-4B5B-9036-192FA53FE435}"/>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cxnSp>
        <p:nvCxnSpPr>
          <p:cNvPr id="33" name="直接连接符 33">
            <a:extLst>
              <a:ext uri="{FF2B5EF4-FFF2-40B4-BE49-F238E27FC236}">
                <a16:creationId xmlns:a16="http://schemas.microsoft.com/office/drawing/2014/main" id="{DFF80DCD-8EF0-4D2F-8380-59FA348D932C}"/>
              </a:ext>
            </a:extLst>
          </p:cNvPr>
          <p:cNvCxnSpPr/>
          <p:nvPr/>
        </p:nvCxnSpPr>
        <p:spPr>
          <a:xfrm>
            <a:off x="1177167" y="1046746"/>
            <a:ext cx="10585176"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6" name="標題 1"/>
          <p:cNvSpPr txBox="1">
            <a:spLocks/>
          </p:cNvSpPr>
          <p:nvPr/>
        </p:nvSpPr>
        <p:spPr>
          <a:xfrm>
            <a:off x="854426" y="112999"/>
            <a:ext cx="5288853"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7-2 </a:t>
            </a:r>
            <a:r>
              <a:rPr lang="zh-TW" altLang="en-US" sz="2400" b="1" dirty="0">
                <a:solidFill>
                  <a:srgbClr val="E06741"/>
                </a:solidFill>
              </a:rPr>
              <a:t>實務案例</a:t>
            </a:r>
            <a:r>
              <a:rPr lang="en-US" altLang="zh-TW" sz="2400" b="1" dirty="0">
                <a:solidFill>
                  <a:srgbClr val="E06741"/>
                </a:solidFill>
              </a:rPr>
              <a:t>-</a:t>
            </a:r>
            <a:r>
              <a:rPr lang="zh-TW" altLang="en-US" sz="2400" b="1" dirty="0">
                <a:solidFill>
                  <a:srgbClr val="E06741"/>
                </a:solidFill>
              </a:rPr>
              <a:t>漁產履歷</a:t>
            </a:r>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sp>
        <p:nvSpPr>
          <p:cNvPr id="48" name="文字方塊 47">
            <a:extLst>
              <a:ext uri="{FF2B5EF4-FFF2-40B4-BE49-F238E27FC236}">
                <a16:creationId xmlns:a16="http://schemas.microsoft.com/office/drawing/2014/main" id="{AD7F4831-1A36-4A2F-ACBE-344F724510DC}"/>
              </a:ext>
            </a:extLst>
          </p:cNvPr>
          <p:cNvSpPr txBox="1"/>
          <p:nvPr/>
        </p:nvSpPr>
        <p:spPr>
          <a:xfrm>
            <a:off x="5130089" y="350241"/>
            <a:ext cx="2242922"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-2</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案例區塊鍊運用</a:t>
            </a:r>
          </a:p>
        </p:txBody>
      </p:sp>
      <p:sp>
        <p:nvSpPr>
          <p:cNvPr id="10" name="文字方塊 9">
            <a:extLst>
              <a:ext uri="{FF2B5EF4-FFF2-40B4-BE49-F238E27FC236}">
                <a16:creationId xmlns:a16="http://schemas.microsoft.com/office/drawing/2014/main" id="{BF94E171-0176-49DD-BE6C-DB2D96B94A88}"/>
              </a:ext>
            </a:extLst>
          </p:cNvPr>
          <p:cNvSpPr txBox="1"/>
          <p:nvPr/>
        </p:nvSpPr>
        <p:spPr>
          <a:xfrm>
            <a:off x="1177167" y="1816567"/>
            <a:ext cx="9663430" cy="578492"/>
          </a:xfrm>
          <a:prstGeom prst="rect">
            <a:avLst/>
          </a:prstGeom>
          <a:noFill/>
        </p:spPr>
        <p:txBody>
          <a:bodyPr wrap="square" rtlCol="0">
            <a:spAutoFit/>
          </a:bodyPr>
          <a:lstStyle/>
          <a:p>
            <a:pPr marL="342900" indent="-342900">
              <a:lnSpc>
                <a:spcPct val="150000"/>
              </a:lnSpc>
              <a:buBlip>
                <a:blip r:embed="rId3"/>
              </a:buBlip>
            </a:pP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sp>
        <p:nvSpPr>
          <p:cNvPr id="12" name="文字方塊 11">
            <a:extLst>
              <a:ext uri="{FF2B5EF4-FFF2-40B4-BE49-F238E27FC236}">
                <a16:creationId xmlns:a16="http://schemas.microsoft.com/office/drawing/2014/main" id="{BF94E171-0176-49DD-BE6C-DB2D96B94A88}"/>
              </a:ext>
            </a:extLst>
          </p:cNvPr>
          <p:cNvSpPr txBox="1"/>
          <p:nvPr/>
        </p:nvSpPr>
        <p:spPr>
          <a:xfrm>
            <a:off x="4990608" y="2002867"/>
            <a:ext cx="9076373" cy="2308324"/>
          </a:xfrm>
          <a:prstGeom prst="rect">
            <a:avLst/>
          </a:prstGeom>
          <a:noFill/>
        </p:spPr>
        <p:txBody>
          <a:bodyPr wrap="square" rtlCol="0">
            <a:spAutoFit/>
          </a:bodyPr>
          <a:lstStyle/>
          <a:p>
            <a:pPr marL="342900" indent="-342900">
              <a:lnSpc>
                <a:spcPct val="150000"/>
              </a:lnSpc>
              <a:buBlip>
                <a:blip r:embed="rId3"/>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區塊鏈機制石斑魚產銷交易優點</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914400" lvl="1" indent="-457200">
              <a:lnSpc>
                <a:spcPct val="150000"/>
              </a:lnSpc>
              <a:buFont typeface="+mj-lt"/>
              <a:buAutoNum type="arabicPeriod"/>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節省繁瑣的程序，進而提高作業效率</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914400" lvl="1" indent="-457200">
              <a:lnSpc>
                <a:spcPct val="150000"/>
              </a:lnSpc>
              <a:buFont typeface="+mj-lt"/>
              <a:buAutoNum type="arabicPeriod"/>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省去相關時間與人力</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914400" lvl="1" indent="-457200">
              <a:lnSpc>
                <a:spcPct val="150000"/>
              </a:lnSpc>
              <a:buFont typeface="+mj-lt"/>
              <a:buAutoNum type="arabicPeriod"/>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預估可節省養殖業者的經營成本</a:t>
            </a:r>
          </a:p>
        </p:txBody>
      </p:sp>
      <p:pic>
        <p:nvPicPr>
          <p:cNvPr id="11" name="圖片 10"/>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937576" y="1941947"/>
            <a:ext cx="2292624" cy="2292624"/>
          </a:xfrm>
          <a:prstGeom prst="rect">
            <a:avLst/>
          </a:prstGeom>
        </p:spPr>
      </p:pic>
    </p:spTree>
    <p:extLst>
      <p:ext uri="{BB962C8B-B14F-4D97-AF65-F5344CB8AC3E}">
        <p14:creationId xmlns:p14="http://schemas.microsoft.com/office/powerpoint/2010/main" val="1475998808"/>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circle(in)">
                                      <p:cBhvr>
                                        <p:cTn id="7" dur="1500"/>
                                        <p:tgtEl>
                                          <p:spTgt spid="46"/>
                                        </p:tgtEl>
                                      </p:cBhvr>
                                    </p:animEffect>
                                  </p:childTnLst>
                                </p:cTn>
                              </p:par>
                            </p:childTnLst>
                          </p:cTn>
                        </p:par>
                        <p:par>
                          <p:cTn id="8" fill="hold">
                            <p:stCondLst>
                              <p:cond delay="1500"/>
                            </p:stCondLst>
                            <p:childTnLst>
                              <p:par>
                                <p:cTn id="9" presetID="22" presetClass="entr" presetSubtype="4" fill="hold" grpId="0" nodeType="afterEffect">
                                  <p:stCondLst>
                                    <p:cond delay="0"/>
                                  </p:stCondLst>
                                  <p:childTnLst>
                                    <p:set>
                                      <p:cBhvr>
                                        <p:cTn id="10" dur="1" fill="hold">
                                          <p:stCondLst>
                                            <p:cond delay="0"/>
                                          </p:stCondLst>
                                        </p:cTn>
                                        <p:tgtEl>
                                          <p:spTgt spid="48"/>
                                        </p:tgtEl>
                                        <p:attrNameLst>
                                          <p:attrName>style.visibility</p:attrName>
                                        </p:attrNameLst>
                                      </p:cBhvr>
                                      <p:to>
                                        <p:strVal val="visible"/>
                                      </p:to>
                                    </p:set>
                                    <p:animEffect transition="in" filter="wipe(down)">
                                      <p:cBhvr>
                                        <p:cTn id="11" dur="500"/>
                                        <p:tgtEl>
                                          <p:spTgt spid="48"/>
                                        </p:tgtEl>
                                      </p:cBhvr>
                                    </p:animEffect>
                                  </p:childTnLst>
                                </p:cTn>
                              </p:par>
                            </p:childTnLst>
                          </p:cTn>
                        </p:par>
                        <p:par>
                          <p:cTn id="12" fill="hold">
                            <p:stCondLst>
                              <p:cond delay="2000"/>
                            </p:stCondLst>
                            <p:childTnLst>
                              <p:par>
                                <p:cTn id="13" presetID="2" presetClass="entr" presetSubtype="8" fill="hold" nodeType="afterEffect">
                                  <p:stCondLst>
                                    <p:cond delay="0"/>
                                  </p:stCondLst>
                                  <p:childTnLst>
                                    <p:set>
                                      <p:cBhvr>
                                        <p:cTn id="14" dur="1" fill="hold">
                                          <p:stCondLst>
                                            <p:cond delay="0"/>
                                          </p:stCondLst>
                                        </p:cTn>
                                        <p:tgtEl>
                                          <p:spTgt spid="33"/>
                                        </p:tgtEl>
                                        <p:attrNameLst>
                                          <p:attrName>style.visibility</p:attrName>
                                        </p:attrNameLst>
                                      </p:cBhvr>
                                      <p:to>
                                        <p:strVal val="visible"/>
                                      </p:to>
                                    </p:set>
                                    <p:anim calcmode="lin" valueType="num">
                                      <p:cBhvr additive="base">
                                        <p:cTn id="15" dur="500" fill="hold"/>
                                        <p:tgtEl>
                                          <p:spTgt spid="33"/>
                                        </p:tgtEl>
                                        <p:attrNameLst>
                                          <p:attrName>ppt_x</p:attrName>
                                        </p:attrNameLst>
                                      </p:cBhvr>
                                      <p:tavLst>
                                        <p:tav tm="0">
                                          <p:val>
                                            <p:strVal val="0-#ppt_w/2"/>
                                          </p:val>
                                        </p:tav>
                                        <p:tav tm="100000">
                                          <p:val>
                                            <p:strVal val="#ppt_x"/>
                                          </p:val>
                                        </p:tav>
                                      </p:tavLst>
                                    </p:anim>
                                    <p:anim calcmode="lin" valueType="num">
                                      <p:cBhvr additive="base">
                                        <p:cTn id="16" dur="500" fill="hold"/>
                                        <p:tgtEl>
                                          <p:spTgt spid="33"/>
                                        </p:tgtEl>
                                        <p:attrNameLst>
                                          <p:attrName>ppt_y</p:attrName>
                                        </p:attrNameLst>
                                      </p:cBhvr>
                                      <p:tavLst>
                                        <p:tav tm="0">
                                          <p:val>
                                            <p:strVal val="#ppt_y"/>
                                          </p:val>
                                        </p:tav>
                                        <p:tav tm="100000">
                                          <p:val>
                                            <p:strVal val="#ppt_y"/>
                                          </p:val>
                                        </p:tav>
                                      </p:tavLst>
                                    </p:anim>
                                  </p:childTnLst>
                                </p:cTn>
                              </p:par>
                            </p:childTnLst>
                          </p:cTn>
                        </p:par>
                        <p:par>
                          <p:cTn id="17" fill="hold">
                            <p:stCondLst>
                              <p:cond delay="2500"/>
                            </p:stCondLst>
                            <p:childTnLst>
                              <p:par>
                                <p:cTn id="18" presetID="16" presetClass="entr" presetSubtype="21" fill="hold" nodeType="afterEffect" nodePh="1">
                                  <p:stCondLst>
                                    <p:cond delay="0"/>
                                  </p:stCondLst>
                                  <p:endCondLst>
                                    <p:cond evt="begin" delay="0">
                                      <p:tn val="18"/>
                                    </p:cond>
                                  </p:endCondLst>
                                  <p:childTnLst>
                                    <p:set>
                                      <p:cBhvr>
                                        <p:cTn id="19" dur="1" fill="hold">
                                          <p:stCondLst>
                                            <p:cond delay="0"/>
                                          </p:stCondLst>
                                        </p:cTn>
                                        <p:tgtEl>
                                          <p:spTgt spid="10">
                                            <p:txEl>
                                              <p:pRg st="0" end="0"/>
                                            </p:txEl>
                                          </p:spTgt>
                                        </p:tgtEl>
                                        <p:attrNameLst>
                                          <p:attrName>style.visibility</p:attrName>
                                        </p:attrNameLst>
                                      </p:cBhvr>
                                      <p:to>
                                        <p:strVal val="visible"/>
                                      </p:to>
                                    </p:set>
                                    <p:animEffect transition="in" filter="barn(inVertical)">
                                      <p:cBhvr>
                                        <p:cTn id="20" dur="500"/>
                                        <p:tgtEl>
                                          <p:spTgt spid="10">
                                            <p:txEl>
                                              <p:pRg st="0" end="0"/>
                                            </p:txEl>
                                          </p:spTgt>
                                        </p:tgtEl>
                                      </p:cBhvr>
                                    </p:animEffect>
                                  </p:childTnLst>
                                </p:cTn>
                              </p:par>
                            </p:childTnLst>
                          </p:cTn>
                        </p:par>
                        <p:par>
                          <p:cTn id="21" fill="hold">
                            <p:stCondLst>
                              <p:cond delay="3000"/>
                            </p:stCondLst>
                            <p:childTnLst>
                              <p:par>
                                <p:cTn id="22" presetID="16" presetClass="entr" presetSubtype="21" fill="hold" grpId="0" nodeType="after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barn(inVertical)">
                                      <p:cBhvr>
                                        <p:cTn id="24" dur="500"/>
                                        <p:tgtEl>
                                          <p:spTgt spid="12"/>
                                        </p:tgtEl>
                                      </p:cBhvr>
                                    </p:animEffect>
                                  </p:childTnLst>
                                </p:cTn>
                              </p:par>
                            </p:childTnLst>
                          </p:cTn>
                        </p:par>
                        <p:par>
                          <p:cTn id="25" fill="hold">
                            <p:stCondLst>
                              <p:cond delay="3500"/>
                            </p:stCondLst>
                            <p:childTnLst>
                              <p:par>
                                <p:cTn id="26" presetID="2" presetClass="entr" presetSubtype="8" fill="hold" nodeType="afterEffect">
                                  <p:stCondLst>
                                    <p:cond delay="0"/>
                                  </p:stCondLst>
                                  <p:childTnLst>
                                    <p:set>
                                      <p:cBhvr>
                                        <p:cTn id="27" dur="1" fill="hold">
                                          <p:stCondLst>
                                            <p:cond delay="0"/>
                                          </p:stCondLst>
                                        </p:cTn>
                                        <p:tgtEl>
                                          <p:spTgt spid="11"/>
                                        </p:tgtEl>
                                        <p:attrNameLst>
                                          <p:attrName>style.visibility</p:attrName>
                                        </p:attrNameLst>
                                      </p:cBhvr>
                                      <p:to>
                                        <p:strVal val="visible"/>
                                      </p:to>
                                    </p:set>
                                    <p:anim calcmode="lin" valueType="num">
                                      <p:cBhvr additive="base">
                                        <p:cTn id="28" dur="500" fill="hold"/>
                                        <p:tgtEl>
                                          <p:spTgt spid="11"/>
                                        </p:tgtEl>
                                        <p:attrNameLst>
                                          <p:attrName>ppt_x</p:attrName>
                                        </p:attrNameLst>
                                      </p:cBhvr>
                                      <p:tavLst>
                                        <p:tav tm="0">
                                          <p:val>
                                            <p:strVal val="0-#ppt_w/2"/>
                                          </p:val>
                                        </p:tav>
                                        <p:tav tm="100000">
                                          <p:val>
                                            <p:strVal val="#ppt_x"/>
                                          </p:val>
                                        </p:tav>
                                      </p:tavLst>
                                    </p:anim>
                                    <p:anim calcmode="lin" valueType="num">
                                      <p:cBhvr additive="base">
                                        <p:cTn id="29" dur="500" fill="hold"/>
                                        <p:tgtEl>
                                          <p:spTgt spid="1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p:bldP spid="48" grpId="0"/>
      <p:bldP spid="12"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2"/>
          <a:stretch>
            <a:fillRect/>
          </a:stretch>
        </p:blipFill>
        <p:spPr>
          <a:xfrm rot="16200000">
            <a:off x="145169" y="-145167"/>
            <a:ext cx="1268414" cy="1558750"/>
          </a:xfrm>
          <a:prstGeom prst="rect">
            <a:avLst/>
          </a:prstGeom>
        </p:spPr>
      </p:pic>
      <p:sp>
        <p:nvSpPr>
          <p:cNvPr id="9" name="文字方塊 8">
            <a:extLst>
              <a:ext uri="{FF2B5EF4-FFF2-40B4-BE49-F238E27FC236}">
                <a16:creationId xmlns:a16="http://schemas.microsoft.com/office/drawing/2014/main" id="{81D0666A-D96D-4B5B-9036-192FA53FE435}"/>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cxnSp>
        <p:nvCxnSpPr>
          <p:cNvPr id="33" name="直接连接符 33">
            <a:extLst>
              <a:ext uri="{FF2B5EF4-FFF2-40B4-BE49-F238E27FC236}">
                <a16:creationId xmlns:a16="http://schemas.microsoft.com/office/drawing/2014/main" id="{DFF80DCD-8EF0-4D2F-8380-59FA348D932C}"/>
              </a:ext>
            </a:extLst>
          </p:cNvPr>
          <p:cNvCxnSpPr/>
          <p:nvPr/>
        </p:nvCxnSpPr>
        <p:spPr>
          <a:xfrm>
            <a:off x="1177167" y="1046746"/>
            <a:ext cx="10585176"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6" name="標題 1"/>
          <p:cNvSpPr txBox="1">
            <a:spLocks/>
          </p:cNvSpPr>
          <p:nvPr/>
        </p:nvSpPr>
        <p:spPr>
          <a:xfrm>
            <a:off x="854426" y="112999"/>
            <a:ext cx="5288853"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7-2 </a:t>
            </a:r>
            <a:r>
              <a:rPr lang="zh-TW" altLang="en-US" sz="2400" b="1" dirty="0">
                <a:solidFill>
                  <a:srgbClr val="E06741"/>
                </a:solidFill>
              </a:rPr>
              <a:t>實務案例</a:t>
            </a:r>
            <a:r>
              <a:rPr lang="en-US" altLang="zh-TW" sz="2400" b="1" dirty="0">
                <a:solidFill>
                  <a:srgbClr val="E06741"/>
                </a:solidFill>
              </a:rPr>
              <a:t>-</a:t>
            </a:r>
            <a:r>
              <a:rPr lang="zh-TW" altLang="en-US" sz="2400" b="1" dirty="0">
                <a:solidFill>
                  <a:srgbClr val="E06741"/>
                </a:solidFill>
              </a:rPr>
              <a:t>漁產履歷</a:t>
            </a:r>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sp>
        <p:nvSpPr>
          <p:cNvPr id="48" name="文字方塊 47">
            <a:extLst>
              <a:ext uri="{FF2B5EF4-FFF2-40B4-BE49-F238E27FC236}">
                <a16:creationId xmlns:a16="http://schemas.microsoft.com/office/drawing/2014/main" id="{AD7F4831-1A36-4A2F-ACBE-344F724510DC}"/>
              </a:ext>
            </a:extLst>
          </p:cNvPr>
          <p:cNvSpPr txBox="1"/>
          <p:nvPr/>
        </p:nvSpPr>
        <p:spPr>
          <a:xfrm>
            <a:off x="5120852" y="350241"/>
            <a:ext cx="2242922"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-2</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案例區塊鍊運用</a:t>
            </a:r>
          </a:p>
        </p:txBody>
      </p:sp>
      <p:sp>
        <p:nvSpPr>
          <p:cNvPr id="10" name="文字方塊 9">
            <a:extLst>
              <a:ext uri="{FF2B5EF4-FFF2-40B4-BE49-F238E27FC236}">
                <a16:creationId xmlns:a16="http://schemas.microsoft.com/office/drawing/2014/main" id="{BF94E171-0176-49DD-BE6C-DB2D96B94A88}"/>
              </a:ext>
            </a:extLst>
          </p:cNvPr>
          <p:cNvSpPr txBox="1"/>
          <p:nvPr/>
        </p:nvSpPr>
        <p:spPr>
          <a:xfrm>
            <a:off x="1177167" y="1816567"/>
            <a:ext cx="9663430" cy="578492"/>
          </a:xfrm>
          <a:prstGeom prst="rect">
            <a:avLst/>
          </a:prstGeom>
          <a:noFill/>
        </p:spPr>
        <p:txBody>
          <a:bodyPr wrap="square" rtlCol="0">
            <a:spAutoFit/>
          </a:bodyPr>
          <a:lstStyle/>
          <a:p>
            <a:pPr marL="342900" indent="-342900">
              <a:lnSpc>
                <a:spcPct val="150000"/>
              </a:lnSpc>
              <a:buBlip>
                <a:blip r:embed="rId3"/>
              </a:buBlip>
            </a:pP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sp>
        <p:nvSpPr>
          <p:cNvPr id="12" name="文字方塊 11">
            <a:extLst>
              <a:ext uri="{FF2B5EF4-FFF2-40B4-BE49-F238E27FC236}">
                <a16:creationId xmlns:a16="http://schemas.microsoft.com/office/drawing/2014/main" id="{BF94E171-0176-49DD-BE6C-DB2D96B94A88}"/>
              </a:ext>
            </a:extLst>
          </p:cNvPr>
          <p:cNvSpPr txBox="1"/>
          <p:nvPr/>
        </p:nvSpPr>
        <p:spPr>
          <a:xfrm>
            <a:off x="975466" y="1046746"/>
            <a:ext cx="9602212" cy="646331"/>
          </a:xfrm>
          <a:prstGeom prst="rect">
            <a:avLst/>
          </a:prstGeom>
          <a:noFill/>
        </p:spPr>
        <p:txBody>
          <a:bodyPr wrap="square" rtlCol="0">
            <a:spAutoFit/>
          </a:bodyPr>
          <a:lstStyle/>
          <a:p>
            <a:pPr marL="342900" indent="-342900">
              <a:lnSpc>
                <a:spcPct val="150000"/>
              </a:lnSpc>
              <a:buBlip>
                <a:blip r:embed="rId3"/>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傳統石斑魚產銷作業交易流程與導區塊鏈之產銷交易流程間之差異</a:t>
            </a:r>
          </a:p>
        </p:txBody>
      </p:sp>
      <p:pic>
        <p:nvPicPr>
          <p:cNvPr id="2" name="圖片 1" descr="畫面剪輯"/>
          <p:cNvPicPr>
            <a:picLocks noChangeAspect="1"/>
          </p:cNvPicPr>
          <p:nvPr/>
        </p:nvPicPr>
        <p:blipFill>
          <a:blip r:embed="rId4">
            <a:clrChange>
              <a:clrFrom>
                <a:srgbClr val="FFFFFF"/>
              </a:clrFrom>
              <a:clrTo>
                <a:srgbClr val="FFFFFF">
                  <a:alpha val="0"/>
                </a:srgbClr>
              </a:clrTo>
            </a:clrChange>
            <a:extLst>
              <a:ext uri="{BEBA8EAE-BF5A-486C-A8C5-ECC9F3942E4B}">
                <a14:imgProps xmlns:a14="http://schemas.microsoft.com/office/drawing/2010/main">
                  <a14:imgLayer r:embed="rId5">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975466" y="1727786"/>
            <a:ext cx="7196159" cy="4875160"/>
          </a:xfrm>
          <a:prstGeom prst="rect">
            <a:avLst/>
          </a:prstGeom>
        </p:spPr>
      </p:pic>
      <p:sp>
        <p:nvSpPr>
          <p:cNvPr id="3" name="矩形 2"/>
          <p:cNvSpPr/>
          <p:nvPr/>
        </p:nvSpPr>
        <p:spPr>
          <a:xfrm>
            <a:off x="8440097" y="1727786"/>
            <a:ext cx="2818075" cy="4524315"/>
          </a:xfrm>
          <a:prstGeom prst="rect">
            <a:avLst/>
          </a:prstGeom>
        </p:spPr>
        <p:txBody>
          <a:bodyPr wrap="square">
            <a:spAutoFit/>
          </a:bodyPr>
          <a:lstStyle/>
          <a:p>
            <a:pPr marL="285750" indent="-285750">
              <a:lnSpc>
                <a:spcPct val="150000"/>
              </a:lnSpc>
              <a:buBlip>
                <a:blip r:embed="rId6"/>
              </a:buBlip>
            </a:pPr>
            <a:r>
              <a:rPr lang="zh-TW" altLang="en-US" sz="2000" dirty="0"/>
              <a:t>銷售完成全程耗費將近一個月的時間</a:t>
            </a:r>
            <a:endParaRPr lang="en-US" altLang="zh-TW" sz="2000" dirty="0"/>
          </a:p>
          <a:p>
            <a:pPr marL="285750" indent="-285750">
              <a:lnSpc>
                <a:spcPct val="150000"/>
              </a:lnSpc>
              <a:buBlip>
                <a:blip r:embed="rId6"/>
              </a:buBlip>
            </a:pPr>
            <a:r>
              <a:rPr lang="zh-TW" altLang="en-US" sz="2000" dirty="0"/>
              <a:t>如此顯示在傳統的石斑魚交易過程中，較難得知過去檢驗的數據與銷售的過程</a:t>
            </a:r>
            <a:endParaRPr lang="en-US" altLang="zh-TW" sz="2000" dirty="0"/>
          </a:p>
          <a:p>
            <a:pPr marL="285750" indent="-285750">
              <a:lnSpc>
                <a:spcPct val="150000"/>
              </a:lnSpc>
              <a:buBlip>
                <a:blip r:embed="rId6"/>
              </a:buBlip>
            </a:pPr>
            <a:r>
              <a:rPr lang="zh-TW" altLang="en-US" sz="2000" dirty="0"/>
              <a:t>若遇食安問題，便需耗費人力進行調查，勢將增加調查的難度</a:t>
            </a:r>
          </a:p>
          <a:p>
            <a:r>
              <a:rPr lang="zh-TW" altLang="en-US" dirty="0"/>
              <a:t> </a:t>
            </a:r>
          </a:p>
        </p:txBody>
      </p:sp>
    </p:spTree>
    <p:extLst>
      <p:ext uri="{BB962C8B-B14F-4D97-AF65-F5344CB8AC3E}">
        <p14:creationId xmlns:p14="http://schemas.microsoft.com/office/powerpoint/2010/main" val="4071048506"/>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circle(in)">
                                      <p:cBhvr>
                                        <p:cTn id="7" dur="1500"/>
                                        <p:tgtEl>
                                          <p:spTgt spid="46"/>
                                        </p:tgtEl>
                                      </p:cBhvr>
                                    </p:animEffect>
                                  </p:childTnLst>
                                </p:cTn>
                              </p:par>
                            </p:childTnLst>
                          </p:cTn>
                        </p:par>
                        <p:par>
                          <p:cTn id="8" fill="hold">
                            <p:stCondLst>
                              <p:cond delay="1500"/>
                            </p:stCondLst>
                            <p:childTnLst>
                              <p:par>
                                <p:cTn id="9" presetID="22" presetClass="entr" presetSubtype="4" fill="hold" grpId="0" nodeType="afterEffect">
                                  <p:stCondLst>
                                    <p:cond delay="0"/>
                                  </p:stCondLst>
                                  <p:childTnLst>
                                    <p:set>
                                      <p:cBhvr>
                                        <p:cTn id="10" dur="1" fill="hold">
                                          <p:stCondLst>
                                            <p:cond delay="0"/>
                                          </p:stCondLst>
                                        </p:cTn>
                                        <p:tgtEl>
                                          <p:spTgt spid="48"/>
                                        </p:tgtEl>
                                        <p:attrNameLst>
                                          <p:attrName>style.visibility</p:attrName>
                                        </p:attrNameLst>
                                      </p:cBhvr>
                                      <p:to>
                                        <p:strVal val="visible"/>
                                      </p:to>
                                    </p:set>
                                    <p:animEffect transition="in" filter="wipe(down)">
                                      <p:cBhvr>
                                        <p:cTn id="11" dur="500"/>
                                        <p:tgtEl>
                                          <p:spTgt spid="48"/>
                                        </p:tgtEl>
                                      </p:cBhvr>
                                    </p:animEffect>
                                  </p:childTnLst>
                                </p:cTn>
                              </p:par>
                            </p:childTnLst>
                          </p:cTn>
                        </p:par>
                        <p:par>
                          <p:cTn id="12" fill="hold">
                            <p:stCondLst>
                              <p:cond delay="2000"/>
                            </p:stCondLst>
                            <p:childTnLst>
                              <p:par>
                                <p:cTn id="13" presetID="16" presetClass="entr" presetSubtype="21" fill="hold" nodeType="afterEffect">
                                  <p:stCondLst>
                                    <p:cond delay="0"/>
                                  </p:stCondLst>
                                  <p:childTnLst>
                                    <p:set>
                                      <p:cBhvr>
                                        <p:cTn id="14" dur="1" fill="hold">
                                          <p:stCondLst>
                                            <p:cond delay="0"/>
                                          </p:stCondLst>
                                        </p:cTn>
                                        <p:tgtEl>
                                          <p:spTgt spid="48">
                                            <p:txEl>
                                              <p:pRg st="0" end="0"/>
                                            </p:txEl>
                                          </p:spTgt>
                                        </p:tgtEl>
                                        <p:attrNameLst>
                                          <p:attrName>style.visibility</p:attrName>
                                        </p:attrNameLst>
                                      </p:cBhvr>
                                      <p:to>
                                        <p:strVal val="visible"/>
                                      </p:to>
                                    </p:set>
                                    <p:animEffect transition="in" filter="barn(inVertical)">
                                      <p:cBhvr>
                                        <p:cTn id="15" dur="500"/>
                                        <p:tgtEl>
                                          <p:spTgt spid="48">
                                            <p:txEl>
                                              <p:pRg st="0" end="0"/>
                                            </p:txEl>
                                          </p:spTgt>
                                        </p:tgtEl>
                                      </p:cBhvr>
                                    </p:animEffect>
                                  </p:childTnLst>
                                </p:cTn>
                              </p:par>
                            </p:childTnLst>
                          </p:cTn>
                        </p:par>
                        <p:par>
                          <p:cTn id="16" fill="hold">
                            <p:stCondLst>
                              <p:cond delay="2500"/>
                            </p:stCondLst>
                            <p:childTnLst>
                              <p:par>
                                <p:cTn id="17" presetID="2" presetClass="entr" presetSubtype="8" fill="hold" nodeType="afterEffect">
                                  <p:stCondLst>
                                    <p:cond delay="0"/>
                                  </p:stCondLst>
                                  <p:childTnLst>
                                    <p:set>
                                      <p:cBhvr>
                                        <p:cTn id="18" dur="1" fill="hold">
                                          <p:stCondLst>
                                            <p:cond delay="0"/>
                                          </p:stCondLst>
                                        </p:cTn>
                                        <p:tgtEl>
                                          <p:spTgt spid="33"/>
                                        </p:tgtEl>
                                        <p:attrNameLst>
                                          <p:attrName>style.visibility</p:attrName>
                                        </p:attrNameLst>
                                      </p:cBhvr>
                                      <p:to>
                                        <p:strVal val="visible"/>
                                      </p:to>
                                    </p:set>
                                    <p:anim calcmode="lin" valueType="num">
                                      <p:cBhvr additive="base">
                                        <p:cTn id="19" dur="500" fill="hold"/>
                                        <p:tgtEl>
                                          <p:spTgt spid="33"/>
                                        </p:tgtEl>
                                        <p:attrNameLst>
                                          <p:attrName>ppt_x</p:attrName>
                                        </p:attrNameLst>
                                      </p:cBhvr>
                                      <p:tavLst>
                                        <p:tav tm="0">
                                          <p:val>
                                            <p:strVal val="0-#ppt_w/2"/>
                                          </p:val>
                                        </p:tav>
                                        <p:tav tm="100000">
                                          <p:val>
                                            <p:strVal val="#ppt_x"/>
                                          </p:val>
                                        </p:tav>
                                      </p:tavLst>
                                    </p:anim>
                                    <p:anim calcmode="lin" valueType="num">
                                      <p:cBhvr additive="base">
                                        <p:cTn id="20" dur="500" fill="hold"/>
                                        <p:tgtEl>
                                          <p:spTgt spid="33"/>
                                        </p:tgtEl>
                                        <p:attrNameLst>
                                          <p:attrName>ppt_y</p:attrName>
                                        </p:attrNameLst>
                                      </p:cBhvr>
                                      <p:tavLst>
                                        <p:tav tm="0">
                                          <p:val>
                                            <p:strVal val="#ppt_y"/>
                                          </p:val>
                                        </p:tav>
                                        <p:tav tm="100000">
                                          <p:val>
                                            <p:strVal val="#ppt_y"/>
                                          </p:val>
                                        </p:tav>
                                      </p:tavLst>
                                    </p:anim>
                                  </p:childTnLst>
                                </p:cTn>
                              </p:par>
                            </p:childTnLst>
                          </p:cTn>
                        </p:par>
                        <p:par>
                          <p:cTn id="21" fill="hold">
                            <p:stCondLst>
                              <p:cond delay="3000"/>
                            </p:stCondLst>
                            <p:childTnLst>
                              <p:par>
                                <p:cTn id="22" presetID="16" presetClass="entr" presetSubtype="21" fill="hold" nodeType="afterEffect" nodePh="1">
                                  <p:stCondLst>
                                    <p:cond delay="0"/>
                                  </p:stCondLst>
                                  <p:endCondLst>
                                    <p:cond evt="begin" delay="0">
                                      <p:tn val="22"/>
                                    </p:cond>
                                  </p:endCondLst>
                                  <p:childTnLst>
                                    <p:set>
                                      <p:cBhvr>
                                        <p:cTn id="23" dur="1" fill="hold">
                                          <p:stCondLst>
                                            <p:cond delay="0"/>
                                          </p:stCondLst>
                                        </p:cTn>
                                        <p:tgtEl>
                                          <p:spTgt spid="10">
                                            <p:txEl>
                                              <p:pRg st="0" end="0"/>
                                            </p:txEl>
                                          </p:spTgt>
                                        </p:tgtEl>
                                        <p:attrNameLst>
                                          <p:attrName>style.visibility</p:attrName>
                                        </p:attrNameLst>
                                      </p:cBhvr>
                                      <p:to>
                                        <p:strVal val="visible"/>
                                      </p:to>
                                    </p:set>
                                    <p:animEffect transition="in" filter="barn(inVertical)">
                                      <p:cBhvr>
                                        <p:cTn id="24" dur="500"/>
                                        <p:tgtEl>
                                          <p:spTgt spid="10">
                                            <p:txEl>
                                              <p:pRg st="0" end="0"/>
                                            </p:txEl>
                                          </p:spTgt>
                                        </p:tgtEl>
                                      </p:cBhvr>
                                    </p:animEffect>
                                  </p:childTnLst>
                                </p:cTn>
                              </p:par>
                            </p:childTnLst>
                          </p:cTn>
                        </p:par>
                        <p:par>
                          <p:cTn id="25" fill="hold">
                            <p:stCondLst>
                              <p:cond delay="3500"/>
                            </p:stCondLst>
                            <p:childTnLst>
                              <p:par>
                                <p:cTn id="26" presetID="16" presetClass="entr" presetSubtype="21" fill="hold" grpId="0" nodeType="after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barn(inVertical)">
                                      <p:cBhvr>
                                        <p:cTn id="28" dur="500"/>
                                        <p:tgtEl>
                                          <p:spTgt spid="12"/>
                                        </p:tgtEl>
                                      </p:cBhvr>
                                    </p:animEffect>
                                  </p:childTnLst>
                                </p:cTn>
                              </p:par>
                            </p:childTnLst>
                          </p:cTn>
                        </p:par>
                        <p:par>
                          <p:cTn id="29" fill="hold">
                            <p:stCondLst>
                              <p:cond delay="4000"/>
                            </p:stCondLst>
                            <p:childTnLst>
                              <p:par>
                                <p:cTn id="30" presetID="53" presetClass="entr" presetSubtype="16" fill="hold" nodeType="afterEffect">
                                  <p:stCondLst>
                                    <p:cond delay="0"/>
                                  </p:stCondLst>
                                  <p:childTnLst>
                                    <p:set>
                                      <p:cBhvr>
                                        <p:cTn id="31" dur="1" fill="hold">
                                          <p:stCondLst>
                                            <p:cond delay="0"/>
                                          </p:stCondLst>
                                        </p:cTn>
                                        <p:tgtEl>
                                          <p:spTgt spid="2"/>
                                        </p:tgtEl>
                                        <p:attrNameLst>
                                          <p:attrName>style.visibility</p:attrName>
                                        </p:attrNameLst>
                                      </p:cBhvr>
                                      <p:to>
                                        <p:strVal val="visible"/>
                                      </p:to>
                                    </p:set>
                                    <p:anim calcmode="lin" valueType="num">
                                      <p:cBhvr>
                                        <p:cTn id="32" dur="500" fill="hold"/>
                                        <p:tgtEl>
                                          <p:spTgt spid="2"/>
                                        </p:tgtEl>
                                        <p:attrNameLst>
                                          <p:attrName>ppt_w</p:attrName>
                                        </p:attrNameLst>
                                      </p:cBhvr>
                                      <p:tavLst>
                                        <p:tav tm="0">
                                          <p:val>
                                            <p:fltVal val="0"/>
                                          </p:val>
                                        </p:tav>
                                        <p:tav tm="100000">
                                          <p:val>
                                            <p:strVal val="#ppt_w"/>
                                          </p:val>
                                        </p:tav>
                                      </p:tavLst>
                                    </p:anim>
                                    <p:anim calcmode="lin" valueType="num">
                                      <p:cBhvr>
                                        <p:cTn id="33" dur="500" fill="hold"/>
                                        <p:tgtEl>
                                          <p:spTgt spid="2"/>
                                        </p:tgtEl>
                                        <p:attrNameLst>
                                          <p:attrName>ppt_h</p:attrName>
                                        </p:attrNameLst>
                                      </p:cBhvr>
                                      <p:tavLst>
                                        <p:tav tm="0">
                                          <p:val>
                                            <p:fltVal val="0"/>
                                          </p:val>
                                        </p:tav>
                                        <p:tav tm="100000">
                                          <p:val>
                                            <p:strVal val="#ppt_h"/>
                                          </p:val>
                                        </p:tav>
                                      </p:tavLst>
                                    </p:anim>
                                    <p:animEffect transition="in" filter="fade">
                                      <p:cBhvr>
                                        <p:cTn id="34" dur="500"/>
                                        <p:tgtEl>
                                          <p:spTgt spid="2"/>
                                        </p:tgtEl>
                                      </p:cBhvr>
                                    </p:animEffect>
                                  </p:childTnLst>
                                </p:cTn>
                              </p:par>
                            </p:childTnLst>
                          </p:cTn>
                        </p:par>
                        <p:par>
                          <p:cTn id="35" fill="hold">
                            <p:stCondLst>
                              <p:cond delay="4500"/>
                            </p:stCondLst>
                            <p:childTnLst>
                              <p:par>
                                <p:cTn id="36" presetID="16" presetClass="entr" presetSubtype="21" fill="hold" nodeType="afterEffect">
                                  <p:stCondLst>
                                    <p:cond delay="0"/>
                                  </p:stCondLst>
                                  <p:childTnLst>
                                    <p:set>
                                      <p:cBhvr>
                                        <p:cTn id="37" dur="1" fill="hold">
                                          <p:stCondLst>
                                            <p:cond delay="0"/>
                                          </p:stCondLst>
                                        </p:cTn>
                                        <p:tgtEl>
                                          <p:spTgt spid="3">
                                            <p:txEl>
                                              <p:pRg st="0" end="0"/>
                                            </p:txEl>
                                          </p:spTgt>
                                        </p:tgtEl>
                                        <p:attrNameLst>
                                          <p:attrName>style.visibility</p:attrName>
                                        </p:attrNameLst>
                                      </p:cBhvr>
                                      <p:to>
                                        <p:strVal val="visible"/>
                                      </p:to>
                                    </p:set>
                                    <p:animEffect transition="in" filter="barn(inVertical)">
                                      <p:cBhvr>
                                        <p:cTn id="38" dur="500"/>
                                        <p:tgtEl>
                                          <p:spTgt spid="3">
                                            <p:txEl>
                                              <p:pRg st="0" end="0"/>
                                            </p:txEl>
                                          </p:spTgt>
                                        </p:tgtEl>
                                      </p:cBhvr>
                                    </p:animEffect>
                                  </p:childTnLst>
                                </p:cTn>
                              </p:par>
                            </p:childTnLst>
                          </p:cTn>
                        </p:par>
                        <p:par>
                          <p:cTn id="39" fill="hold">
                            <p:stCondLst>
                              <p:cond delay="5000"/>
                            </p:stCondLst>
                            <p:childTnLst>
                              <p:par>
                                <p:cTn id="40" presetID="16" presetClass="entr" presetSubtype="21" fill="hold" nodeType="afterEffect">
                                  <p:stCondLst>
                                    <p:cond delay="0"/>
                                  </p:stCondLst>
                                  <p:childTnLst>
                                    <p:set>
                                      <p:cBhvr>
                                        <p:cTn id="41" dur="1" fill="hold">
                                          <p:stCondLst>
                                            <p:cond delay="0"/>
                                          </p:stCondLst>
                                        </p:cTn>
                                        <p:tgtEl>
                                          <p:spTgt spid="3">
                                            <p:txEl>
                                              <p:pRg st="1" end="1"/>
                                            </p:txEl>
                                          </p:spTgt>
                                        </p:tgtEl>
                                        <p:attrNameLst>
                                          <p:attrName>style.visibility</p:attrName>
                                        </p:attrNameLst>
                                      </p:cBhvr>
                                      <p:to>
                                        <p:strVal val="visible"/>
                                      </p:to>
                                    </p:set>
                                    <p:animEffect transition="in" filter="barn(inVertical)">
                                      <p:cBhvr>
                                        <p:cTn id="42" dur="500"/>
                                        <p:tgtEl>
                                          <p:spTgt spid="3">
                                            <p:txEl>
                                              <p:pRg st="1" end="1"/>
                                            </p:txEl>
                                          </p:spTgt>
                                        </p:tgtEl>
                                      </p:cBhvr>
                                    </p:animEffect>
                                  </p:childTnLst>
                                </p:cTn>
                              </p:par>
                            </p:childTnLst>
                          </p:cTn>
                        </p:par>
                        <p:par>
                          <p:cTn id="43" fill="hold">
                            <p:stCondLst>
                              <p:cond delay="5500"/>
                            </p:stCondLst>
                            <p:childTnLst>
                              <p:par>
                                <p:cTn id="44" presetID="16" presetClass="entr" presetSubtype="21" fill="hold" nodeType="afterEffect">
                                  <p:stCondLst>
                                    <p:cond delay="0"/>
                                  </p:stCondLst>
                                  <p:childTnLst>
                                    <p:set>
                                      <p:cBhvr>
                                        <p:cTn id="45" dur="1" fill="hold">
                                          <p:stCondLst>
                                            <p:cond delay="0"/>
                                          </p:stCondLst>
                                        </p:cTn>
                                        <p:tgtEl>
                                          <p:spTgt spid="3">
                                            <p:txEl>
                                              <p:pRg st="2" end="2"/>
                                            </p:txEl>
                                          </p:spTgt>
                                        </p:tgtEl>
                                        <p:attrNameLst>
                                          <p:attrName>style.visibility</p:attrName>
                                        </p:attrNameLst>
                                      </p:cBhvr>
                                      <p:to>
                                        <p:strVal val="visible"/>
                                      </p:to>
                                    </p:set>
                                    <p:animEffect transition="in" filter="barn(inVertical)">
                                      <p:cBhvr>
                                        <p:cTn id="46"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p:bldP spid="48" grpId="0"/>
      <p:bldP spid="12"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2"/>
          <a:stretch>
            <a:fillRect/>
          </a:stretch>
        </p:blipFill>
        <p:spPr>
          <a:xfrm rot="16200000">
            <a:off x="145169" y="-145167"/>
            <a:ext cx="1268414" cy="1558750"/>
          </a:xfrm>
          <a:prstGeom prst="rect">
            <a:avLst/>
          </a:prstGeom>
        </p:spPr>
      </p:pic>
      <p:sp>
        <p:nvSpPr>
          <p:cNvPr id="9" name="文字方塊 8">
            <a:extLst>
              <a:ext uri="{FF2B5EF4-FFF2-40B4-BE49-F238E27FC236}">
                <a16:creationId xmlns:a16="http://schemas.microsoft.com/office/drawing/2014/main" id="{81D0666A-D96D-4B5B-9036-192FA53FE435}"/>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cxnSp>
        <p:nvCxnSpPr>
          <p:cNvPr id="33" name="直接连接符 33">
            <a:extLst>
              <a:ext uri="{FF2B5EF4-FFF2-40B4-BE49-F238E27FC236}">
                <a16:creationId xmlns:a16="http://schemas.microsoft.com/office/drawing/2014/main" id="{DFF80DCD-8EF0-4D2F-8380-59FA348D932C}"/>
              </a:ext>
            </a:extLst>
          </p:cNvPr>
          <p:cNvCxnSpPr/>
          <p:nvPr/>
        </p:nvCxnSpPr>
        <p:spPr>
          <a:xfrm>
            <a:off x="1177167" y="1046746"/>
            <a:ext cx="10585176"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6" name="標題 1"/>
          <p:cNvSpPr txBox="1">
            <a:spLocks/>
          </p:cNvSpPr>
          <p:nvPr/>
        </p:nvSpPr>
        <p:spPr>
          <a:xfrm>
            <a:off x="854426" y="112999"/>
            <a:ext cx="5288853"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7-2 </a:t>
            </a:r>
            <a:r>
              <a:rPr lang="zh-TW" altLang="en-US" sz="2400" b="1" dirty="0">
                <a:solidFill>
                  <a:srgbClr val="E06741"/>
                </a:solidFill>
              </a:rPr>
              <a:t>實務案例</a:t>
            </a:r>
            <a:r>
              <a:rPr lang="en-US" altLang="zh-TW" sz="2400" b="1" dirty="0">
                <a:solidFill>
                  <a:srgbClr val="E06741"/>
                </a:solidFill>
              </a:rPr>
              <a:t>-</a:t>
            </a:r>
            <a:r>
              <a:rPr lang="zh-TW" altLang="en-US" sz="2400" b="1" dirty="0">
                <a:solidFill>
                  <a:srgbClr val="E06741"/>
                </a:solidFill>
              </a:rPr>
              <a:t>漁產履歷</a:t>
            </a:r>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sp>
        <p:nvSpPr>
          <p:cNvPr id="48" name="文字方塊 47">
            <a:extLst>
              <a:ext uri="{FF2B5EF4-FFF2-40B4-BE49-F238E27FC236}">
                <a16:creationId xmlns:a16="http://schemas.microsoft.com/office/drawing/2014/main" id="{AD7F4831-1A36-4A2F-ACBE-344F724510DC}"/>
              </a:ext>
            </a:extLst>
          </p:cNvPr>
          <p:cNvSpPr txBox="1"/>
          <p:nvPr/>
        </p:nvSpPr>
        <p:spPr>
          <a:xfrm>
            <a:off x="5130089" y="350241"/>
            <a:ext cx="2242922"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-2</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案例區塊鍊運用</a:t>
            </a:r>
          </a:p>
        </p:txBody>
      </p:sp>
      <p:sp>
        <p:nvSpPr>
          <p:cNvPr id="10" name="文字方塊 9">
            <a:extLst>
              <a:ext uri="{FF2B5EF4-FFF2-40B4-BE49-F238E27FC236}">
                <a16:creationId xmlns:a16="http://schemas.microsoft.com/office/drawing/2014/main" id="{BF94E171-0176-49DD-BE6C-DB2D96B94A88}"/>
              </a:ext>
            </a:extLst>
          </p:cNvPr>
          <p:cNvSpPr txBox="1"/>
          <p:nvPr/>
        </p:nvSpPr>
        <p:spPr>
          <a:xfrm>
            <a:off x="1177167" y="1816567"/>
            <a:ext cx="9663430" cy="578492"/>
          </a:xfrm>
          <a:prstGeom prst="rect">
            <a:avLst/>
          </a:prstGeom>
          <a:noFill/>
        </p:spPr>
        <p:txBody>
          <a:bodyPr wrap="square" rtlCol="0">
            <a:spAutoFit/>
          </a:bodyPr>
          <a:lstStyle/>
          <a:p>
            <a:pPr marL="342900" indent="-342900">
              <a:lnSpc>
                <a:spcPct val="150000"/>
              </a:lnSpc>
              <a:buBlip>
                <a:blip r:embed="rId3"/>
              </a:buBlip>
            </a:pP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pic>
        <p:nvPicPr>
          <p:cNvPr id="2" name="圖片 1" descr="畫面剪輯"/>
          <p:cNvPicPr>
            <a:picLocks noChangeAspect="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570267" y="1381414"/>
            <a:ext cx="7818069" cy="4982441"/>
          </a:xfrm>
          <a:prstGeom prst="rect">
            <a:avLst/>
          </a:prstGeom>
        </p:spPr>
      </p:pic>
      <p:sp>
        <p:nvSpPr>
          <p:cNvPr id="14" name="文字方塊 13">
            <a:extLst>
              <a:ext uri="{FF2B5EF4-FFF2-40B4-BE49-F238E27FC236}">
                <a16:creationId xmlns:a16="http://schemas.microsoft.com/office/drawing/2014/main" id="{BF94E171-0176-49DD-BE6C-DB2D96B94A88}"/>
              </a:ext>
            </a:extLst>
          </p:cNvPr>
          <p:cNvSpPr txBox="1"/>
          <p:nvPr/>
        </p:nvSpPr>
        <p:spPr>
          <a:xfrm>
            <a:off x="8388336" y="1611012"/>
            <a:ext cx="3111753" cy="3970318"/>
          </a:xfrm>
          <a:prstGeom prst="rect">
            <a:avLst/>
          </a:prstGeom>
          <a:noFill/>
        </p:spPr>
        <p:txBody>
          <a:bodyPr wrap="square" rtlCol="0">
            <a:spAutoFit/>
          </a:bodyPr>
          <a:lstStyle/>
          <a:p>
            <a:pPr marL="342900" indent="-342900">
              <a:lnSpc>
                <a:spcPct val="150000"/>
              </a:lnSpc>
              <a:buBlip>
                <a:blip r:embed="rId3"/>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此階段所有的產銷履歷驗證資訊，會被紀錄於區塊鏈交易平台，供各節點使用者查詢且不得被篡改。</a:t>
            </a:r>
          </a:p>
          <a:p>
            <a:pPr>
              <a:lnSpc>
                <a:spcPct val="150000"/>
              </a:lnSpc>
            </a:pP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2565359619"/>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circle(in)">
                                      <p:cBhvr>
                                        <p:cTn id="7" dur="1500"/>
                                        <p:tgtEl>
                                          <p:spTgt spid="46"/>
                                        </p:tgtEl>
                                      </p:cBhvr>
                                    </p:animEffect>
                                  </p:childTnLst>
                                </p:cTn>
                              </p:par>
                            </p:childTnLst>
                          </p:cTn>
                        </p:par>
                        <p:par>
                          <p:cTn id="8" fill="hold">
                            <p:stCondLst>
                              <p:cond delay="1500"/>
                            </p:stCondLst>
                            <p:childTnLst>
                              <p:par>
                                <p:cTn id="9" presetID="16" presetClass="entr" presetSubtype="21" fill="hold" grpId="0" nodeType="afterEffect">
                                  <p:stCondLst>
                                    <p:cond delay="0"/>
                                  </p:stCondLst>
                                  <p:childTnLst>
                                    <p:set>
                                      <p:cBhvr>
                                        <p:cTn id="10" dur="1" fill="hold">
                                          <p:stCondLst>
                                            <p:cond delay="0"/>
                                          </p:stCondLst>
                                        </p:cTn>
                                        <p:tgtEl>
                                          <p:spTgt spid="48"/>
                                        </p:tgtEl>
                                        <p:attrNameLst>
                                          <p:attrName>style.visibility</p:attrName>
                                        </p:attrNameLst>
                                      </p:cBhvr>
                                      <p:to>
                                        <p:strVal val="visible"/>
                                      </p:to>
                                    </p:set>
                                    <p:animEffect transition="in" filter="barn(inVertical)">
                                      <p:cBhvr>
                                        <p:cTn id="11" dur="500"/>
                                        <p:tgtEl>
                                          <p:spTgt spid="48"/>
                                        </p:tgtEl>
                                      </p:cBhvr>
                                    </p:animEffect>
                                  </p:childTnLst>
                                </p:cTn>
                              </p:par>
                            </p:childTnLst>
                          </p:cTn>
                        </p:par>
                        <p:par>
                          <p:cTn id="12" fill="hold">
                            <p:stCondLst>
                              <p:cond delay="2000"/>
                            </p:stCondLst>
                            <p:childTnLst>
                              <p:par>
                                <p:cTn id="13" presetID="2" presetClass="entr" presetSubtype="8" fill="hold" nodeType="afterEffect">
                                  <p:stCondLst>
                                    <p:cond delay="0"/>
                                  </p:stCondLst>
                                  <p:childTnLst>
                                    <p:set>
                                      <p:cBhvr>
                                        <p:cTn id="14" dur="1" fill="hold">
                                          <p:stCondLst>
                                            <p:cond delay="0"/>
                                          </p:stCondLst>
                                        </p:cTn>
                                        <p:tgtEl>
                                          <p:spTgt spid="33"/>
                                        </p:tgtEl>
                                        <p:attrNameLst>
                                          <p:attrName>style.visibility</p:attrName>
                                        </p:attrNameLst>
                                      </p:cBhvr>
                                      <p:to>
                                        <p:strVal val="visible"/>
                                      </p:to>
                                    </p:set>
                                    <p:anim calcmode="lin" valueType="num">
                                      <p:cBhvr additive="base">
                                        <p:cTn id="15" dur="500" fill="hold"/>
                                        <p:tgtEl>
                                          <p:spTgt spid="33"/>
                                        </p:tgtEl>
                                        <p:attrNameLst>
                                          <p:attrName>ppt_x</p:attrName>
                                        </p:attrNameLst>
                                      </p:cBhvr>
                                      <p:tavLst>
                                        <p:tav tm="0">
                                          <p:val>
                                            <p:strVal val="0-#ppt_w/2"/>
                                          </p:val>
                                        </p:tav>
                                        <p:tav tm="100000">
                                          <p:val>
                                            <p:strVal val="#ppt_x"/>
                                          </p:val>
                                        </p:tav>
                                      </p:tavLst>
                                    </p:anim>
                                    <p:anim calcmode="lin" valueType="num">
                                      <p:cBhvr additive="base">
                                        <p:cTn id="16" dur="500" fill="hold"/>
                                        <p:tgtEl>
                                          <p:spTgt spid="33"/>
                                        </p:tgtEl>
                                        <p:attrNameLst>
                                          <p:attrName>ppt_y</p:attrName>
                                        </p:attrNameLst>
                                      </p:cBhvr>
                                      <p:tavLst>
                                        <p:tav tm="0">
                                          <p:val>
                                            <p:strVal val="#ppt_y"/>
                                          </p:val>
                                        </p:tav>
                                        <p:tav tm="100000">
                                          <p:val>
                                            <p:strVal val="#ppt_y"/>
                                          </p:val>
                                        </p:tav>
                                      </p:tavLst>
                                    </p:anim>
                                  </p:childTnLst>
                                </p:cTn>
                              </p:par>
                            </p:childTnLst>
                          </p:cTn>
                        </p:par>
                        <p:par>
                          <p:cTn id="17" fill="hold">
                            <p:stCondLst>
                              <p:cond delay="2500"/>
                            </p:stCondLst>
                            <p:childTnLst>
                              <p:par>
                                <p:cTn id="18" presetID="16" presetClass="entr" presetSubtype="21" fill="hold" nodeType="afterEffect" nodePh="1">
                                  <p:stCondLst>
                                    <p:cond delay="0"/>
                                  </p:stCondLst>
                                  <p:endCondLst>
                                    <p:cond evt="begin" delay="0">
                                      <p:tn val="18"/>
                                    </p:cond>
                                  </p:endCondLst>
                                  <p:childTnLst>
                                    <p:set>
                                      <p:cBhvr>
                                        <p:cTn id="19" dur="1" fill="hold">
                                          <p:stCondLst>
                                            <p:cond delay="0"/>
                                          </p:stCondLst>
                                        </p:cTn>
                                        <p:tgtEl>
                                          <p:spTgt spid="10">
                                            <p:txEl>
                                              <p:pRg st="0" end="0"/>
                                            </p:txEl>
                                          </p:spTgt>
                                        </p:tgtEl>
                                        <p:attrNameLst>
                                          <p:attrName>style.visibility</p:attrName>
                                        </p:attrNameLst>
                                      </p:cBhvr>
                                      <p:to>
                                        <p:strVal val="visible"/>
                                      </p:to>
                                    </p:set>
                                    <p:animEffect transition="in" filter="barn(inVertical)">
                                      <p:cBhvr>
                                        <p:cTn id="20" dur="500"/>
                                        <p:tgtEl>
                                          <p:spTgt spid="10">
                                            <p:txEl>
                                              <p:pRg st="0" end="0"/>
                                            </p:txEl>
                                          </p:spTgt>
                                        </p:tgtEl>
                                      </p:cBhvr>
                                    </p:animEffect>
                                  </p:childTnLst>
                                </p:cTn>
                              </p:par>
                            </p:childTnLst>
                          </p:cTn>
                        </p:par>
                        <p:par>
                          <p:cTn id="21" fill="hold">
                            <p:stCondLst>
                              <p:cond delay="3000"/>
                            </p:stCondLst>
                            <p:childTnLst>
                              <p:par>
                                <p:cTn id="22" presetID="53" presetClass="entr" presetSubtype="16" fill="hold" nodeType="afterEffect">
                                  <p:stCondLst>
                                    <p:cond delay="0"/>
                                  </p:stCondLst>
                                  <p:childTnLst>
                                    <p:set>
                                      <p:cBhvr>
                                        <p:cTn id="23" dur="1" fill="hold">
                                          <p:stCondLst>
                                            <p:cond delay="0"/>
                                          </p:stCondLst>
                                        </p:cTn>
                                        <p:tgtEl>
                                          <p:spTgt spid="2"/>
                                        </p:tgtEl>
                                        <p:attrNameLst>
                                          <p:attrName>style.visibility</p:attrName>
                                        </p:attrNameLst>
                                      </p:cBhvr>
                                      <p:to>
                                        <p:strVal val="visible"/>
                                      </p:to>
                                    </p:set>
                                    <p:anim calcmode="lin" valueType="num">
                                      <p:cBhvr>
                                        <p:cTn id="24" dur="500" fill="hold"/>
                                        <p:tgtEl>
                                          <p:spTgt spid="2"/>
                                        </p:tgtEl>
                                        <p:attrNameLst>
                                          <p:attrName>ppt_w</p:attrName>
                                        </p:attrNameLst>
                                      </p:cBhvr>
                                      <p:tavLst>
                                        <p:tav tm="0">
                                          <p:val>
                                            <p:fltVal val="0"/>
                                          </p:val>
                                        </p:tav>
                                        <p:tav tm="100000">
                                          <p:val>
                                            <p:strVal val="#ppt_w"/>
                                          </p:val>
                                        </p:tav>
                                      </p:tavLst>
                                    </p:anim>
                                    <p:anim calcmode="lin" valueType="num">
                                      <p:cBhvr>
                                        <p:cTn id="25" dur="500" fill="hold"/>
                                        <p:tgtEl>
                                          <p:spTgt spid="2"/>
                                        </p:tgtEl>
                                        <p:attrNameLst>
                                          <p:attrName>ppt_h</p:attrName>
                                        </p:attrNameLst>
                                      </p:cBhvr>
                                      <p:tavLst>
                                        <p:tav tm="0">
                                          <p:val>
                                            <p:fltVal val="0"/>
                                          </p:val>
                                        </p:tav>
                                        <p:tav tm="100000">
                                          <p:val>
                                            <p:strVal val="#ppt_h"/>
                                          </p:val>
                                        </p:tav>
                                      </p:tavLst>
                                    </p:anim>
                                    <p:animEffect transition="in" filter="fade">
                                      <p:cBhvr>
                                        <p:cTn id="26" dur="500"/>
                                        <p:tgtEl>
                                          <p:spTgt spid="2"/>
                                        </p:tgtEl>
                                      </p:cBhvr>
                                    </p:animEffect>
                                  </p:childTnLst>
                                </p:cTn>
                              </p:par>
                            </p:childTnLst>
                          </p:cTn>
                        </p:par>
                        <p:par>
                          <p:cTn id="27" fill="hold">
                            <p:stCondLst>
                              <p:cond delay="3500"/>
                            </p:stCondLst>
                            <p:childTnLst>
                              <p:par>
                                <p:cTn id="28" presetID="16" presetClass="entr" presetSubtype="21" fill="hold" grpId="0" nodeType="after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barn(inVertical)">
                                      <p:cBhvr>
                                        <p:cTn id="30"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p:bldP spid="48" grpId="0"/>
      <p:bldP spid="14"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2"/>
          <a:stretch>
            <a:fillRect/>
          </a:stretch>
        </p:blipFill>
        <p:spPr>
          <a:xfrm rot="16200000">
            <a:off x="145169" y="-145167"/>
            <a:ext cx="1268414" cy="1558750"/>
          </a:xfrm>
          <a:prstGeom prst="rect">
            <a:avLst/>
          </a:prstGeom>
        </p:spPr>
      </p:pic>
      <p:sp>
        <p:nvSpPr>
          <p:cNvPr id="9" name="文字方塊 8">
            <a:extLst>
              <a:ext uri="{FF2B5EF4-FFF2-40B4-BE49-F238E27FC236}">
                <a16:creationId xmlns:a16="http://schemas.microsoft.com/office/drawing/2014/main" id="{81D0666A-D96D-4B5B-9036-192FA53FE435}"/>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cxnSp>
        <p:nvCxnSpPr>
          <p:cNvPr id="33" name="直接连接符 33">
            <a:extLst>
              <a:ext uri="{FF2B5EF4-FFF2-40B4-BE49-F238E27FC236}">
                <a16:creationId xmlns:a16="http://schemas.microsoft.com/office/drawing/2014/main" id="{DFF80DCD-8EF0-4D2F-8380-59FA348D932C}"/>
              </a:ext>
            </a:extLst>
          </p:cNvPr>
          <p:cNvCxnSpPr/>
          <p:nvPr/>
        </p:nvCxnSpPr>
        <p:spPr>
          <a:xfrm>
            <a:off x="1177167" y="1046746"/>
            <a:ext cx="10585176"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6" name="標題 1"/>
          <p:cNvSpPr txBox="1">
            <a:spLocks/>
          </p:cNvSpPr>
          <p:nvPr/>
        </p:nvSpPr>
        <p:spPr>
          <a:xfrm>
            <a:off x="854426" y="112999"/>
            <a:ext cx="5288853"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7-2 </a:t>
            </a:r>
            <a:r>
              <a:rPr lang="zh-TW" altLang="en-US" sz="2400" b="1" dirty="0">
                <a:solidFill>
                  <a:srgbClr val="E06741"/>
                </a:solidFill>
              </a:rPr>
              <a:t>實務案例</a:t>
            </a:r>
            <a:r>
              <a:rPr lang="en-US" altLang="zh-TW" sz="2400" b="1" dirty="0">
                <a:solidFill>
                  <a:srgbClr val="E06741"/>
                </a:solidFill>
              </a:rPr>
              <a:t>-</a:t>
            </a:r>
            <a:r>
              <a:rPr lang="zh-TW" altLang="en-US" sz="2400" b="1" dirty="0">
                <a:solidFill>
                  <a:srgbClr val="E06741"/>
                </a:solidFill>
              </a:rPr>
              <a:t>漁產履歷</a:t>
            </a:r>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sp>
        <p:nvSpPr>
          <p:cNvPr id="48" name="文字方塊 47">
            <a:extLst>
              <a:ext uri="{FF2B5EF4-FFF2-40B4-BE49-F238E27FC236}">
                <a16:creationId xmlns:a16="http://schemas.microsoft.com/office/drawing/2014/main" id="{AD7F4831-1A36-4A2F-ACBE-344F724510DC}"/>
              </a:ext>
            </a:extLst>
          </p:cNvPr>
          <p:cNvSpPr txBox="1"/>
          <p:nvPr/>
        </p:nvSpPr>
        <p:spPr>
          <a:xfrm>
            <a:off x="5130089" y="350241"/>
            <a:ext cx="2242922"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-2</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案例區塊鍊運用</a:t>
            </a:r>
          </a:p>
        </p:txBody>
      </p:sp>
      <p:sp>
        <p:nvSpPr>
          <p:cNvPr id="10" name="文字方塊 9">
            <a:extLst>
              <a:ext uri="{FF2B5EF4-FFF2-40B4-BE49-F238E27FC236}">
                <a16:creationId xmlns:a16="http://schemas.microsoft.com/office/drawing/2014/main" id="{BF94E171-0176-49DD-BE6C-DB2D96B94A88}"/>
              </a:ext>
            </a:extLst>
          </p:cNvPr>
          <p:cNvSpPr txBox="1"/>
          <p:nvPr/>
        </p:nvSpPr>
        <p:spPr>
          <a:xfrm>
            <a:off x="1177167" y="1816567"/>
            <a:ext cx="9663430" cy="578492"/>
          </a:xfrm>
          <a:prstGeom prst="rect">
            <a:avLst/>
          </a:prstGeom>
          <a:noFill/>
        </p:spPr>
        <p:txBody>
          <a:bodyPr wrap="square" rtlCol="0">
            <a:spAutoFit/>
          </a:bodyPr>
          <a:lstStyle/>
          <a:p>
            <a:pPr marL="342900" indent="-342900">
              <a:lnSpc>
                <a:spcPct val="150000"/>
              </a:lnSpc>
              <a:buBlip>
                <a:blip r:embed="rId3"/>
              </a:buBlip>
            </a:pP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pic>
        <p:nvPicPr>
          <p:cNvPr id="3" name="圖片 2" descr="畫面剪輯"/>
          <p:cNvPicPr>
            <a:picLocks noChangeAspect="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400519" y="1505658"/>
            <a:ext cx="7819200" cy="4635753"/>
          </a:xfrm>
          <a:prstGeom prst="rect">
            <a:avLst/>
          </a:prstGeom>
        </p:spPr>
      </p:pic>
      <p:sp>
        <p:nvSpPr>
          <p:cNvPr id="11" name="文字方塊 10">
            <a:extLst>
              <a:ext uri="{FF2B5EF4-FFF2-40B4-BE49-F238E27FC236}">
                <a16:creationId xmlns:a16="http://schemas.microsoft.com/office/drawing/2014/main" id="{BF94E171-0176-49DD-BE6C-DB2D96B94A88}"/>
              </a:ext>
            </a:extLst>
          </p:cNvPr>
          <p:cNvSpPr txBox="1"/>
          <p:nvPr/>
        </p:nvSpPr>
        <p:spPr>
          <a:xfrm>
            <a:off x="8340711" y="1505658"/>
            <a:ext cx="3111753" cy="3970318"/>
          </a:xfrm>
          <a:prstGeom prst="rect">
            <a:avLst/>
          </a:prstGeom>
          <a:noFill/>
        </p:spPr>
        <p:txBody>
          <a:bodyPr wrap="square" rtlCol="0">
            <a:spAutoFit/>
          </a:bodyPr>
          <a:lstStyle/>
          <a:p>
            <a:pPr marL="342900" indent="-342900">
              <a:lnSpc>
                <a:spcPct val="150000"/>
              </a:lnSpc>
              <a:buBlip>
                <a:blip r:embed="rId3"/>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中間銷售的交易資訊，會被紀錄於區塊鏈交易平台</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342900" indent="-342900">
              <a:lnSpc>
                <a:spcPct val="150000"/>
              </a:lnSpc>
              <a:buBlip>
                <a:blip r:embed="rId3"/>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驗證機構做出之結果也會被存放至交易平台之上，提供使用者參考與查詢</a:t>
            </a:r>
          </a:p>
        </p:txBody>
      </p:sp>
    </p:spTree>
    <p:extLst>
      <p:ext uri="{BB962C8B-B14F-4D97-AF65-F5344CB8AC3E}">
        <p14:creationId xmlns:p14="http://schemas.microsoft.com/office/powerpoint/2010/main" val="1989195060"/>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circle(in)">
                                      <p:cBhvr>
                                        <p:cTn id="7" dur="1500"/>
                                        <p:tgtEl>
                                          <p:spTgt spid="46"/>
                                        </p:tgtEl>
                                      </p:cBhvr>
                                    </p:animEffect>
                                  </p:childTnLst>
                                </p:cTn>
                              </p:par>
                            </p:childTnLst>
                          </p:cTn>
                        </p:par>
                        <p:par>
                          <p:cTn id="8" fill="hold">
                            <p:stCondLst>
                              <p:cond delay="1500"/>
                            </p:stCondLst>
                            <p:childTnLst>
                              <p:par>
                                <p:cTn id="9" presetID="22" presetClass="entr" presetSubtype="4" fill="hold" grpId="0" nodeType="afterEffect">
                                  <p:stCondLst>
                                    <p:cond delay="0"/>
                                  </p:stCondLst>
                                  <p:childTnLst>
                                    <p:set>
                                      <p:cBhvr>
                                        <p:cTn id="10" dur="1" fill="hold">
                                          <p:stCondLst>
                                            <p:cond delay="0"/>
                                          </p:stCondLst>
                                        </p:cTn>
                                        <p:tgtEl>
                                          <p:spTgt spid="48"/>
                                        </p:tgtEl>
                                        <p:attrNameLst>
                                          <p:attrName>style.visibility</p:attrName>
                                        </p:attrNameLst>
                                      </p:cBhvr>
                                      <p:to>
                                        <p:strVal val="visible"/>
                                      </p:to>
                                    </p:set>
                                    <p:animEffect transition="in" filter="wipe(down)">
                                      <p:cBhvr>
                                        <p:cTn id="11" dur="500"/>
                                        <p:tgtEl>
                                          <p:spTgt spid="48"/>
                                        </p:tgtEl>
                                      </p:cBhvr>
                                    </p:animEffect>
                                  </p:childTnLst>
                                </p:cTn>
                              </p:par>
                            </p:childTnLst>
                          </p:cTn>
                        </p:par>
                        <p:par>
                          <p:cTn id="12" fill="hold">
                            <p:stCondLst>
                              <p:cond delay="2000"/>
                            </p:stCondLst>
                            <p:childTnLst>
                              <p:par>
                                <p:cTn id="13" presetID="2" presetClass="entr" presetSubtype="8" fill="hold" nodeType="afterEffect">
                                  <p:stCondLst>
                                    <p:cond delay="0"/>
                                  </p:stCondLst>
                                  <p:childTnLst>
                                    <p:set>
                                      <p:cBhvr>
                                        <p:cTn id="14" dur="1" fill="hold">
                                          <p:stCondLst>
                                            <p:cond delay="0"/>
                                          </p:stCondLst>
                                        </p:cTn>
                                        <p:tgtEl>
                                          <p:spTgt spid="33"/>
                                        </p:tgtEl>
                                        <p:attrNameLst>
                                          <p:attrName>style.visibility</p:attrName>
                                        </p:attrNameLst>
                                      </p:cBhvr>
                                      <p:to>
                                        <p:strVal val="visible"/>
                                      </p:to>
                                    </p:set>
                                    <p:anim calcmode="lin" valueType="num">
                                      <p:cBhvr additive="base">
                                        <p:cTn id="15" dur="500" fill="hold"/>
                                        <p:tgtEl>
                                          <p:spTgt spid="33"/>
                                        </p:tgtEl>
                                        <p:attrNameLst>
                                          <p:attrName>ppt_x</p:attrName>
                                        </p:attrNameLst>
                                      </p:cBhvr>
                                      <p:tavLst>
                                        <p:tav tm="0">
                                          <p:val>
                                            <p:strVal val="0-#ppt_w/2"/>
                                          </p:val>
                                        </p:tav>
                                        <p:tav tm="100000">
                                          <p:val>
                                            <p:strVal val="#ppt_x"/>
                                          </p:val>
                                        </p:tav>
                                      </p:tavLst>
                                    </p:anim>
                                    <p:anim calcmode="lin" valueType="num">
                                      <p:cBhvr additive="base">
                                        <p:cTn id="16" dur="500" fill="hold"/>
                                        <p:tgtEl>
                                          <p:spTgt spid="33"/>
                                        </p:tgtEl>
                                        <p:attrNameLst>
                                          <p:attrName>ppt_y</p:attrName>
                                        </p:attrNameLst>
                                      </p:cBhvr>
                                      <p:tavLst>
                                        <p:tav tm="0">
                                          <p:val>
                                            <p:strVal val="#ppt_y"/>
                                          </p:val>
                                        </p:tav>
                                        <p:tav tm="100000">
                                          <p:val>
                                            <p:strVal val="#ppt_y"/>
                                          </p:val>
                                        </p:tav>
                                      </p:tavLst>
                                    </p:anim>
                                  </p:childTnLst>
                                </p:cTn>
                              </p:par>
                            </p:childTnLst>
                          </p:cTn>
                        </p:par>
                        <p:par>
                          <p:cTn id="17" fill="hold">
                            <p:stCondLst>
                              <p:cond delay="2500"/>
                            </p:stCondLst>
                            <p:childTnLst>
                              <p:par>
                                <p:cTn id="18" presetID="16" presetClass="entr" presetSubtype="21" fill="hold" nodeType="afterEffect" nodePh="1">
                                  <p:stCondLst>
                                    <p:cond delay="0"/>
                                  </p:stCondLst>
                                  <p:endCondLst>
                                    <p:cond evt="begin" delay="0">
                                      <p:tn val="18"/>
                                    </p:cond>
                                  </p:endCondLst>
                                  <p:childTnLst>
                                    <p:set>
                                      <p:cBhvr>
                                        <p:cTn id="19" dur="1" fill="hold">
                                          <p:stCondLst>
                                            <p:cond delay="0"/>
                                          </p:stCondLst>
                                        </p:cTn>
                                        <p:tgtEl>
                                          <p:spTgt spid="10">
                                            <p:txEl>
                                              <p:pRg st="0" end="0"/>
                                            </p:txEl>
                                          </p:spTgt>
                                        </p:tgtEl>
                                        <p:attrNameLst>
                                          <p:attrName>style.visibility</p:attrName>
                                        </p:attrNameLst>
                                      </p:cBhvr>
                                      <p:to>
                                        <p:strVal val="visible"/>
                                      </p:to>
                                    </p:set>
                                    <p:animEffect transition="in" filter="barn(inVertical)">
                                      <p:cBhvr>
                                        <p:cTn id="20" dur="500"/>
                                        <p:tgtEl>
                                          <p:spTgt spid="10">
                                            <p:txEl>
                                              <p:pRg st="0" end="0"/>
                                            </p:txEl>
                                          </p:spTgt>
                                        </p:tgtEl>
                                      </p:cBhvr>
                                    </p:animEffect>
                                  </p:childTnLst>
                                </p:cTn>
                              </p:par>
                            </p:childTnLst>
                          </p:cTn>
                        </p:par>
                        <p:par>
                          <p:cTn id="21" fill="hold">
                            <p:stCondLst>
                              <p:cond delay="3000"/>
                            </p:stCondLst>
                            <p:childTnLst>
                              <p:par>
                                <p:cTn id="22" presetID="53" presetClass="entr" presetSubtype="16" fill="hold" nodeType="afterEffect">
                                  <p:stCondLst>
                                    <p:cond delay="0"/>
                                  </p:stCondLst>
                                  <p:childTnLst>
                                    <p:set>
                                      <p:cBhvr>
                                        <p:cTn id="23" dur="1" fill="hold">
                                          <p:stCondLst>
                                            <p:cond delay="0"/>
                                          </p:stCondLst>
                                        </p:cTn>
                                        <p:tgtEl>
                                          <p:spTgt spid="3"/>
                                        </p:tgtEl>
                                        <p:attrNameLst>
                                          <p:attrName>style.visibility</p:attrName>
                                        </p:attrNameLst>
                                      </p:cBhvr>
                                      <p:to>
                                        <p:strVal val="visible"/>
                                      </p:to>
                                    </p:set>
                                    <p:anim calcmode="lin" valueType="num">
                                      <p:cBhvr>
                                        <p:cTn id="24" dur="500" fill="hold"/>
                                        <p:tgtEl>
                                          <p:spTgt spid="3"/>
                                        </p:tgtEl>
                                        <p:attrNameLst>
                                          <p:attrName>ppt_w</p:attrName>
                                        </p:attrNameLst>
                                      </p:cBhvr>
                                      <p:tavLst>
                                        <p:tav tm="0">
                                          <p:val>
                                            <p:fltVal val="0"/>
                                          </p:val>
                                        </p:tav>
                                        <p:tav tm="100000">
                                          <p:val>
                                            <p:strVal val="#ppt_w"/>
                                          </p:val>
                                        </p:tav>
                                      </p:tavLst>
                                    </p:anim>
                                    <p:anim calcmode="lin" valueType="num">
                                      <p:cBhvr>
                                        <p:cTn id="25" dur="500" fill="hold"/>
                                        <p:tgtEl>
                                          <p:spTgt spid="3"/>
                                        </p:tgtEl>
                                        <p:attrNameLst>
                                          <p:attrName>ppt_h</p:attrName>
                                        </p:attrNameLst>
                                      </p:cBhvr>
                                      <p:tavLst>
                                        <p:tav tm="0">
                                          <p:val>
                                            <p:fltVal val="0"/>
                                          </p:val>
                                        </p:tav>
                                        <p:tav tm="100000">
                                          <p:val>
                                            <p:strVal val="#ppt_h"/>
                                          </p:val>
                                        </p:tav>
                                      </p:tavLst>
                                    </p:anim>
                                    <p:animEffect transition="in" filter="fade">
                                      <p:cBhvr>
                                        <p:cTn id="26" dur="500"/>
                                        <p:tgtEl>
                                          <p:spTgt spid="3"/>
                                        </p:tgtEl>
                                      </p:cBhvr>
                                    </p:animEffect>
                                  </p:childTnLst>
                                </p:cTn>
                              </p:par>
                            </p:childTnLst>
                          </p:cTn>
                        </p:par>
                        <p:par>
                          <p:cTn id="27" fill="hold">
                            <p:stCondLst>
                              <p:cond delay="3500"/>
                            </p:stCondLst>
                            <p:childTnLst>
                              <p:par>
                                <p:cTn id="28" presetID="16" presetClass="entr" presetSubtype="21" fill="hold" grpId="0" nodeType="after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barn(inVertical)">
                                      <p:cBhvr>
                                        <p:cTn id="30"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p:bldP spid="48" grpId="0"/>
      <p:bldP spid="11"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2"/>
          <a:stretch>
            <a:fillRect/>
          </a:stretch>
        </p:blipFill>
        <p:spPr>
          <a:xfrm rot="16200000">
            <a:off x="145169" y="-145167"/>
            <a:ext cx="1268414" cy="1558750"/>
          </a:xfrm>
          <a:prstGeom prst="rect">
            <a:avLst/>
          </a:prstGeom>
        </p:spPr>
      </p:pic>
      <p:sp>
        <p:nvSpPr>
          <p:cNvPr id="9" name="文字方塊 8">
            <a:extLst>
              <a:ext uri="{FF2B5EF4-FFF2-40B4-BE49-F238E27FC236}">
                <a16:creationId xmlns:a16="http://schemas.microsoft.com/office/drawing/2014/main" id="{81D0666A-D96D-4B5B-9036-192FA53FE435}"/>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cxnSp>
        <p:nvCxnSpPr>
          <p:cNvPr id="33" name="直接连接符 33">
            <a:extLst>
              <a:ext uri="{FF2B5EF4-FFF2-40B4-BE49-F238E27FC236}">
                <a16:creationId xmlns:a16="http://schemas.microsoft.com/office/drawing/2014/main" id="{DFF80DCD-8EF0-4D2F-8380-59FA348D932C}"/>
              </a:ext>
            </a:extLst>
          </p:cNvPr>
          <p:cNvCxnSpPr/>
          <p:nvPr/>
        </p:nvCxnSpPr>
        <p:spPr>
          <a:xfrm>
            <a:off x="1177167" y="1046746"/>
            <a:ext cx="10585176"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6" name="標題 1"/>
          <p:cNvSpPr txBox="1">
            <a:spLocks/>
          </p:cNvSpPr>
          <p:nvPr/>
        </p:nvSpPr>
        <p:spPr>
          <a:xfrm>
            <a:off x="854426" y="112999"/>
            <a:ext cx="5288853"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7-2 </a:t>
            </a:r>
            <a:r>
              <a:rPr lang="zh-TW" altLang="en-US" sz="2400" b="1" dirty="0">
                <a:solidFill>
                  <a:srgbClr val="E06741"/>
                </a:solidFill>
              </a:rPr>
              <a:t>實務案例</a:t>
            </a:r>
            <a:r>
              <a:rPr lang="en-US" altLang="zh-TW" sz="2400" b="1" dirty="0">
                <a:solidFill>
                  <a:srgbClr val="E06741"/>
                </a:solidFill>
              </a:rPr>
              <a:t>-</a:t>
            </a:r>
            <a:r>
              <a:rPr lang="zh-TW" altLang="en-US" sz="2400" b="1" dirty="0">
                <a:solidFill>
                  <a:srgbClr val="E06741"/>
                </a:solidFill>
              </a:rPr>
              <a:t>漁產履歷</a:t>
            </a:r>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sp>
        <p:nvSpPr>
          <p:cNvPr id="48" name="文字方塊 47">
            <a:extLst>
              <a:ext uri="{FF2B5EF4-FFF2-40B4-BE49-F238E27FC236}">
                <a16:creationId xmlns:a16="http://schemas.microsoft.com/office/drawing/2014/main" id="{AD7F4831-1A36-4A2F-ACBE-344F724510DC}"/>
              </a:ext>
            </a:extLst>
          </p:cNvPr>
          <p:cNvSpPr txBox="1"/>
          <p:nvPr/>
        </p:nvSpPr>
        <p:spPr>
          <a:xfrm>
            <a:off x="5130089" y="350241"/>
            <a:ext cx="2242922"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-2</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案例區塊鍊運用</a:t>
            </a:r>
          </a:p>
        </p:txBody>
      </p:sp>
      <p:sp>
        <p:nvSpPr>
          <p:cNvPr id="10" name="文字方塊 9">
            <a:extLst>
              <a:ext uri="{FF2B5EF4-FFF2-40B4-BE49-F238E27FC236}">
                <a16:creationId xmlns:a16="http://schemas.microsoft.com/office/drawing/2014/main" id="{BF94E171-0176-49DD-BE6C-DB2D96B94A88}"/>
              </a:ext>
            </a:extLst>
          </p:cNvPr>
          <p:cNvSpPr txBox="1"/>
          <p:nvPr/>
        </p:nvSpPr>
        <p:spPr>
          <a:xfrm>
            <a:off x="1177167" y="1816567"/>
            <a:ext cx="9663430" cy="578492"/>
          </a:xfrm>
          <a:prstGeom prst="rect">
            <a:avLst/>
          </a:prstGeom>
          <a:noFill/>
        </p:spPr>
        <p:txBody>
          <a:bodyPr wrap="square" rtlCol="0">
            <a:spAutoFit/>
          </a:bodyPr>
          <a:lstStyle/>
          <a:p>
            <a:pPr marL="342900" indent="-342900">
              <a:lnSpc>
                <a:spcPct val="150000"/>
              </a:lnSpc>
              <a:buBlip>
                <a:blip r:embed="rId3"/>
              </a:buBlip>
            </a:pP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pic>
        <p:nvPicPr>
          <p:cNvPr id="2" name="圖片 1" descr="畫面剪輯"/>
          <p:cNvPicPr>
            <a:picLocks noChangeAspect="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461943" y="1381415"/>
            <a:ext cx="7819200" cy="4862163"/>
          </a:xfrm>
          <a:prstGeom prst="rect">
            <a:avLst/>
          </a:prstGeom>
        </p:spPr>
      </p:pic>
      <p:sp>
        <p:nvSpPr>
          <p:cNvPr id="11" name="文字方塊 10">
            <a:extLst>
              <a:ext uri="{FF2B5EF4-FFF2-40B4-BE49-F238E27FC236}">
                <a16:creationId xmlns:a16="http://schemas.microsoft.com/office/drawing/2014/main" id="{BF94E171-0176-49DD-BE6C-DB2D96B94A88}"/>
              </a:ext>
            </a:extLst>
          </p:cNvPr>
          <p:cNvSpPr txBox="1"/>
          <p:nvPr/>
        </p:nvSpPr>
        <p:spPr>
          <a:xfrm>
            <a:off x="8367283" y="1521666"/>
            <a:ext cx="3111753" cy="3970318"/>
          </a:xfrm>
          <a:prstGeom prst="rect">
            <a:avLst/>
          </a:prstGeom>
          <a:noFill/>
        </p:spPr>
        <p:txBody>
          <a:bodyPr wrap="square" rtlCol="0">
            <a:spAutoFit/>
          </a:bodyPr>
          <a:lstStyle/>
          <a:p>
            <a:pPr marL="342900" indent="-342900">
              <a:lnSpc>
                <a:spcPct val="150000"/>
              </a:lnSpc>
              <a:buBlip>
                <a:blip r:embed="rId3"/>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消費者可以透過區塊鏈的交易平台所提供之交易資訊，查詢石斑魚的產銷履歷的整體過程，亦包含了過程中安全驗證結果</a:t>
            </a:r>
          </a:p>
        </p:txBody>
      </p:sp>
    </p:spTree>
    <p:extLst>
      <p:ext uri="{BB962C8B-B14F-4D97-AF65-F5344CB8AC3E}">
        <p14:creationId xmlns:p14="http://schemas.microsoft.com/office/powerpoint/2010/main" val="3782821563"/>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circle(in)">
                                      <p:cBhvr>
                                        <p:cTn id="7" dur="1500"/>
                                        <p:tgtEl>
                                          <p:spTgt spid="46"/>
                                        </p:tgtEl>
                                      </p:cBhvr>
                                    </p:animEffect>
                                  </p:childTnLst>
                                </p:cTn>
                              </p:par>
                            </p:childTnLst>
                          </p:cTn>
                        </p:par>
                        <p:par>
                          <p:cTn id="8" fill="hold">
                            <p:stCondLst>
                              <p:cond delay="1500"/>
                            </p:stCondLst>
                            <p:childTnLst>
                              <p:par>
                                <p:cTn id="9" presetID="16" presetClass="entr" presetSubtype="21" fill="hold" grpId="0" nodeType="afterEffect">
                                  <p:stCondLst>
                                    <p:cond delay="0"/>
                                  </p:stCondLst>
                                  <p:childTnLst>
                                    <p:set>
                                      <p:cBhvr>
                                        <p:cTn id="10" dur="1" fill="hold">
                                          <p:stCondLst>
                                            <p:cond delay="0"/>
                                          </p:stCondLst>
                                        </p:cTn>
                                        <p:tgtEl>
                                          <p:spTgt spid="48"/>
                                        </p:tgtEl>
                                        <p:attrNameLst>
                                          <p:attrName>style.visibility</p:attrName>
                                        </p:attrNameLst>
                                      </p:cBhvr>
                                      <p:to>
                                        <p:strVal val="visible"/>
                                      </p:to>
                                    </p:set>
                                    <p:animEffect transition="in" filter="barn(inVertical)">
                                      <p:cBhvr>
                                        <p:cTn id="11" dur="500"/>
                                        <p:tgtEl>
                                          <p:spTgt spid="48"/>
                                        </p:tgtEl>
                                      </p:cBhvr>
                                    </p:animEffect>
                                  </p:childTnLst>
                                </p:cTn>
                              </p:par>
                            </p:childTnLst>
                          </p:cTn>
                        </p:par>
                        <p:par>
                          <p:cTn id="12" fill="hold">
                            <p:stCondLst>
                              <p:cond delay="2000"/>
                            </p:stCondLst>
                            <p:childTnLst>
                              <p:par>
                                <p:cTn id="13" presetID="2" presetClass="entr" presetSubtype="8" fill="hold" nodeType="afterEffect">
                                  <p:stCondLst>
                                    <p:cond delay="0"/>
                                  </p:stCondLst>
                                  <p:childTnLst>
                                    <p:set>
                                      <p:cBhvr>
                                        <p:cTn id="14" dur="1" fill="hold">
                                          <p:stCondLst>
                                            <p:cond delay="0"/>
                                          </p:stCondLst>
                                        </p:cTn>
                                        <p:tgtEl>
                                          <p:spTgt spid="33"/>
                                        </p:tgtEl>
                                        <p:attrNameLst>
                                          <p:attrName>style.visibility</p:attrName>
                                        </p:attrNameLst>
                                      </p:cBhvr>
                                      <p:to>
                                        <p:strVal val="visible"/>
                                      </p:to>
                                    </p:set>
                                    <p:anim calcmode="lin" valueType="num">
                                      <p:cBhvr additive="base">
                                        <p:cTn id="15" dur="500" fill="hold"/>
                                        <p:tgtEl>
                                          <p:spTgt spid="33"/>
                                        </p:tgtEl>
                                        <p:attrNameLst>
                                          <p:attrName>ppt_x</p:attrName>
                                        </p:attrNameLst>
                                      </p:cBhvr>
                                      <p:tavLst>
                                        <p:tav tm="0">
                                          <p:val>
                                            <p:strVal val="0-#ppt_w/2"/>
                                          </p:val>
                                        </p:tav>
                                        <p:tav tm="100000">
                                          <p:val>
                                            <p:strVal val="#ppt_x"/>
                                          </p:val>
                                        </p:tav>
                                      </p:tavLst>
                                    </p:anim>
                                    <p:anim calcmode="lin" valueType="num">
                                      <p:cBhvr additive="base">
                                        <p:cTn id="16" dur="500" fill="hold"/>
                                        <p:tgtEl>
                                          <p:spTgt spid="33"/>
                                        </p:tgtEl>
                                        <p:attrNameLst>
                                          <p:attrName>ppt_y</p:attrName>
                                        </p:attrNameLst>
                                      </p:cBhvr>
                                      <p:tavLst>
                                        <p:tav tm="0">
                                          <p:val>
                                            <p:strVal val="#ppt_y"/>
                                          </p:val>
                                        </p:tav>
                                        <p:tav tm="100000">
                                          <p:val>
                                            <p:strVal val="#ppt_y"/>
                                          </p:val>
                                        </p:tav>
                                      </p:tavLst>
                                    </p:anim>
                                  </p:childTnLst>
                                </p:cTn>
                              </p:par>
                            </p:childTnLst>
                          </p:cTn>
                        </p:par>
                        <p:par>
                          <p:cTn id="17" fill="hold">
                            <p:stCondLst>
                              <p:cond delay="2500"/>
                            </p:stCondLst>
                            <p:childTnLst>
                              <p:par>
                                <p:cTn id="18" presetID="16" presetClass="entr" presetSubtype="21" fill="hold" nodeType="afterEffect" nodePh="1">
                                  <p:stCondLst>
                                    <p:cond delay="0"/>
                                  </p:stCondLst>
                                  <p:endCondLst>
                                    <p:cond evt="begin" delay="0">
                                      <p:tn val="18"/>
                                    </p:cond>
                                  </p:endCondLst>
                                  <p:childTnLst>
                                    <p:set>
                                      <p:cBhvr>
                                        <p:cTn id="19" dur="1" fill="hold">
                                          <p:stCondLst>
                                            <p:cond delay="0"/>
                                          </p:stCondLst>
                                        </p:cTn>
                                        <p:tgtEl>
                                          <p:spTgt spid="10">
                                            <p:txEl>
                                              <p:pRg st="0" end="0"/>
                                            </p:txEl>
                                          </p:spTgt>
                                        </p:tgtEl>
                                        <p:attrNameLst>
                                          <p:attrName>style.visibility</p:attrName>
                                        </p:attrNameLst>
                                      </p:cBhvr>
                                      <p:to>
                                        <p:strVal val="visible"/>
                                      </p:to>
                                    </p:set>
                                    <p:animEffect transition="in" filter="barn(inVertical)">
                                      <p:cBhvr>
                                        <p:cTn id="20" dur="500"/>
                                        <p:tgtEl>
                                          <p:spTgt spid="10">
                                            <p:txEl>
                                              <p:pRg st="0" end="0"/>
                                            </p:txEl>
                                          </p:spTgt>
                                        </p:tgtEl>
                                      </p:cBhvr>
                                    </p:animEffect>
                                  </p:childTnLst>
                                </p:cTn>
                              </p:par>
                            </p:childTnLst>
                          </p:cTn>
                        </p:par>
                        <p:par>
                          <p:cTn id="21" fill="hold">
                            <p:stCondLst>
                              <p:cond delay="3000"/>
                            </p:stCondLst>
                            <p:childTnLst>
                              <p:par>
                                <p:cTn id="22" presetID="53" presetClass="entr" presetSubtype="16" fill="hold" nodeType="afterEffect">
                                  <p:stCondLst>
                                    <p:cond delay="0"/>
                                  </p:stCondLst>
                                  <p:childTnLst>
                                    <p:set>
                                      <p:cBhvr>
                                        <p:cTn id="23" dur="1" fill="hold">
                                          <p:stCondLst>
                                            <p:cond delay="0"/>
                                          </p:stCondLst>
                                        </p:cTn>
                                        <p:tgtEl>
                                          <p:spTgt spid="2"/>
                                        </p:tgtEl>
                                        <p:attrNameLst>
                                          <p:attrName>style.visibility</p:attrName>
                                        </p:attrNameLst>
                                      </p:cBhvr>
                                      <p:to>
                                        <p:strVal val="visible"/>
                                      </p:to>
                                    </p:set>
                                    <p:anim calcmode="lin" valueType="num">
                                      <p:cBhvr>
                                        <p:cTn id="24" dur="500" fill="hold"/>
                                        <p:tgtEl>
                                          <p:spTgt spid="2"/>
                                        </p:tgtEl>
                                        <p:attrNameLst>
                                          <p:attrName>ppt_w</p:attrName>
                                        </p:attrNameLst>
                                      </p:cBhvr>
                                      <p:tavLst>
                                        <p:tav tm="0">
                                          <p:val>
                                            <p:fltVal val="0"/>
                                          </p:val>
                                        </p:tav>
                                        <p:tav tm="100000">
                                          <p:val>
                                            <p:strVal val="#ppt_w"/>
                                          </p:val>
                                        </p:tav>
                                      </p:tavLst>
                                    </p:anim>
                                    <p:anim calcmode="lin" valueType="num">
                                      <p:cBhvr>
                                        <p:cTn id="25" dur="500" fill="hold"/>
                                        <p:tgtEl>
                                          <p:spTgt spid="2"/>
                                        </p:tgtEl>
                                        <p:attrNameLst>
                                          <p:attrName>ppt_h</p:attrName>
                                        </p:attrNameLst>
                                      </p:cBhvr>
                                      <p:tavLst>
                                        <p:tav tm="0">
                                          <p:val>
                                            <p:fltVal val="0"/>
                                          </p:val>
                                        </p:tav>
                                        <p:tav tm="100000">
                                          <p:val>
                                            <p:strVal val="#ppt_h"/>
                                          </p:val>
                                        </p:tav>
                                      </p:tavLst>
                                    </p:anim>
                                    <p:animEffect transition="in" filter="fade">
                                      <p:cBhvr>
                                        <p:cTn id="26" dur="500"/>
                                        <p:tgtEl>
                                          <p:spTgt spid="2"/>
                                        </p:tgtEl>
                                      </p:cBhvr>
                                    </p:animEffect>
                                  </p:childTnLst>
                                </p:cTn>
                              </p:par>
                            </p:childTnLst>
                          </p:cTn>
                        </p:par>
                        <p:par>
                          <p:cTn id="27" fill="hold">
                            <p:stCondLst>
                              <p:cond delay="3500"/>
                            </p:stCondLst>
                            <p:childTnLst>
                              <p:par>
                                <p:cTn id="28" presetID="16" presetClass="entr" presetSubtype="21" fill="hold" grpId="0" nodeType="after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barn(inVertical)">
                                      <p:cBhvr>
                                        <p:cTn id="30"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p:bldP spid="48" grpId="0"/>
      <p:bldP spid="11"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2"/>
          <a:stretch>
            <a:fillRect/>
          </a:stretch>
        </p:blipFill>
        <p:spPr>
          <a:xfrm rot="16200000">
            <a:off x="145169" y="-145167"/>
            <a:ext cx="1268414" cy="1558750"/>
          </a:xfrm>
          <a:prstGeom prst="rect">
            <a:avLst/>
          </a:prstGeom>
        </p:spPr>
      </p:pic>
      <p:sp>
        <p:nvSpPr>
          <p:cNvPr id="9" name="文字方塊 8">
            <a:extLst>
              <a:ext uri="{FF2B5EF4-FFF2-40B4-BE49-F238E27FC236}">
                <a16:creationId xmlns:a16="http://schemas.microsoft.com/office/drawing/2014/main" id="{81D0666A-D96D-4B5B-9036-192FA53FE435}"/>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cxnSp>
        <p:nvCxnSpPr>
          <p:cNvPr id="33" name="直接连接符 33">
            <a:extLst>
              <a:ext uri="{FF2B5EF4-FFF2-40B4-BE49-F238E27FC236}">
                <a16:creationId xmlns:a16="http://schemas.microsoft.com/office/drawing/2014/main" id="{DFF80DCD-8EF0-4D2F-8380-59FA348D932C}"/>
              </a:ext>
            </a:extLst>
          </p:cNvPr>
          <p:cNvCxnSpPr/>
          <p:nvPr/>
        </p:nvCxnSpPr>
        <p:spPr>
          <a:xfrm>
            <a:off x="1177167" y="1046746"/>
            <a:ext cx="10585176"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6" name="標題 1"/>
          <p:cNvSpPr txBox="1">
            <a:spLocks/>
          </p:cNvSpPr>
          <p:nvPr/>
        </p:nvSpPr>
        <p:spPr>
          <a:xfrm>
            <a:off x="854426" y="112999"/>
            <a:ext cx="5288853"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7-2 </a:t>
            </a:r>
            <a:r>
              <a:rPr lang="zh-TW" altLang="en-US" sz="2400" b="1" dirty="0">
                <a:solidFill>
                  <a:srgbClr val="E06741"/>
                </a:solidFill>
              </a:rPr>
              <a:t>實務案例</a:t>
            </a:r>
            <a:r>
              <a:rPr lang="en-US" altLang="zh-TW" sz="2400" b="1" dirty="0">
                <a:solidFill>
                  <a:srgbClr val="E06741"/>
                </a:solidFill>
              </a:rPr>
              <a:t>-</a:t>
            </a:r>
            <a:r>
              <a:rPr lang="zh-TW" altLang="en-US" sz="2400" b="1" dirty="0">
                <a:solidFill>
                  <a:srgbClr val="E06741"/>
                </a:solidFill>
              </a:rPr>
              <a:t>漁產履歷</a:t>
            </a:r>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sp>
        <p:nvSpPr>
          <p:cNvPr id="48" name="文字方塊 47">
            <a:extLst>
              <a:ext uri="{FF2B5EF4-FFF2-40B4-BE49-F238E27FC236}">
                <a16:creationId xmlns:a16="http://schemas.microsoft.com/office/drawing/2014/main" id="{AD7F4831-1A36-4A2F-ACBE-344F724510DC}"/>
              </a:ext>
            </a:extLst>
          </p:cNvPr>
          <p:cNvSpPr txBox="1"/>
          <p:nvPr/>
        </p:nvSpPr>
        <p:spPr>
          <a:xfrm>
            <a:off x="5130089" y="350241"/>
            <a:ext cx="2242922"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-2</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案例區塊鍊運用</a:t>
            </a:r>
          </a:p>
        </p:txBody>
      </p:sp>
      <p:sp>
        <p:nvSpPr>
          <p:cNvPr id="10" name="文字方塊 9">
            <a:extLst>
              <a:ext uri="{FF2B5EF4-FFF2-40B4-BE49-F238E27FC236}">
                <a16:creationId xmlns:a16="http://schemas.microsoft.com/office/drawing/2014/main" id="{BF94E171-0176-49DD-BE6C-DB2D96B94A88}"/>
              </a:ext>
            </a:extLst>
          </p:cNvPr>
          <p:cNvSpPr txBox="1"/>
          <p:nvPr/>
        </p:nvSpPr>
        <p:spPr>
          <a:xfrm>
            <a:off x="1177167" y="1816567"/>
            <a:ext cx="9663430" cy="578492"/>
          </a:xfrm>
          <a:prstGeom prst="rect">
            <a:avLst/>
          </a:prstGeom>
          <a:noFill/>
        </p:spPr>
        <p:txBody>
          <a:bodyPr wrap="square" rtlCol="0">
            <a:spAutoFit/>
          </a:bodyPr>
          <a:lstStyle/>
          <a:p>
            <a:pPr marL="342900" indent="-342900">
              <a:lnSpc>
                <a:spcPct val="150000"/>
              </a:lnSpc>
              <a:buBlip>
                <a:blip r:embed="rId3"/>
              </a:buBlip>
            </a:pP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sp>
        <p:nvSpPr>
          <p:cNvPr id="12" name="文字方塊 11">
            <a:extLst>
              <a:ext uri="{FF2B5EF4-FFF2-40B4-BE49-F238E27FC236}">
                <a16:creationId xmlns:a16="http://schemas.microsoft.com/office/drawing/2014/main" id="{BF94E171-0176-49DD-BE6C-DB2D96B94A88}"/>
              </a:ext>
            </a:extLst>
          </p:cNvPr>
          <p:cNvSpPr txBox="1"/>
          <p:nvPr/>
        </p:nvSpPr>
        <p:spPr>
          <a:xfrm>
            <a:off x="1177167" y="1381414"/>
            <a:ext cx="9076373" cy="2308324"/>
          </a:xfrm>
          <a:prstGeom prst="rect">
            <a:avLst/>
          </a:prstGeom>
          <a:noFill/>
        </p:spPr>
        <p:txBody>
          <a:bodyPr wrap="square" rtlCol="0">
            <a:spAutoFit/>
          </a:bodyPr>
          <a:lstStyle/>
          <a:p>
            <a:pPr marL="342900" indent="-342900">
              <a:lnSpc>
                <a:spcPct val="150000"/>
              </a:lnSpc>
              <a:buBlip>
                <a:blip r:embed="rId3"/>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導入區域鍊之效果</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914400" lvl="1" indent="-457200">
              <a:lnSpc>
                <a:spcPct val="150000"/>
              </a:lnSpc>
              <a:buFont typeface="+mj-lt"/>
              <a:buAutoNum type="arabicPeriod"/>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整體石斑魚的交易過程，可以快速的被查詢</a:t>
            </a:r>
          </a:p>
          <a:p>
            <a:pPr marL="914400" lvl="1" indent="-457200">
              <a:lnSpc>
                <a:spcPct val="150000"/>
              </a:lnSpc>
              <a:buFont typeface="+mj-lt"/>
              <a:buAutoNum type="arabicPeriod"/>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石斑魚的產銷履歷可被詳細紀錄</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914400" lvl="1" indent="-457200">
              <a:lnSpc>
                <a:spcPct val="150000"/>
              </a:lnSpc>
              <a:buFont typeface="+mj-lt"/>
              <a:buAutoNum type="arabicPeriod"/>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對於食品來源的追蹤有極大的助益</a:t>
            </a:r>
          </a:p>
        </p:txBody>
      </p:sp>
      <p:pic>
        <p:nvPicPr>
          <p:cNvPr id="11" name="圖片 10"/>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200973" y="3164879"/>
            <a:ext cx="2543022" cy="2543022"/>
          </a:xfrm>
          <a:prstGeom prst="rect">
            <a:avLst/>
          </a:prstGeom>
        </p:spPr>
      </p:pic>
    </p:spTree>
    <p:extLst>
      <p:ext uri="{BB962C8B-B14F-4D97-AF65-F5344CB8AC3E}">
        <p14:creationId xmlns:p14="http://schemas.microsoft.com/office/powerpoint/2010/main" val="3001392809"/>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circle(in)">
                                      <p:cBhvr>
                                        <p:cTn id="7" dur="1500"/>
                                        <p:tgtEl>
                                          <p:spTgt spid="46"/>
                                        </p:tgtEl>
                                      </p:cBhvr>
                                    </p:animEffect>
                                  </p:childTnLst>
                                </p:cTn>
                              </p:par>
                            </p:childTnLst>
                          </p:cTn>
                        </p:par>
                        <p:par>
                          <p:cTn id="8" fill="hold">
                            <p:stCondLst>
                              <p:cond delay="1500"/>
                            </p:stCondLst>
                            <p:childTnLst>
                              <p:par>
                                <p:cTn id="9" presetID="16" presetClass="entr" presetSubtype="21" fill="hold" grpId="0" nodeType="afterEffect">
                                  <p:stCondLst>
                                    <p:cond delay="0"/>
                                  </p:stCondLst>
                                  <p:childTnLst>
                                    <p:set>
                                      <p:cBhvr>
                                        <p:cTn id="10" dur="1" fill="hold">
                                          <p:stCondLst>
                                            <p:cond delay="0"/>
                                          </p:stCondLst>
                                        </p:cTn>
                                        <p:tgtEl>
                                          <p:spTgt spid="48"/>
                                        </p:tgtEl>
                                        <p:attrNameLst>
                                          <p:attrName>style.visibility</p:attrName>
                                        </p:attrNameLst>
                                      </p:cBhvr>
                                      <p:to>
                                        <p:strVal val="visible"/>
                                      </p:to>
                                    </p:set>
                                    <p:animEffect transition="in" filter="barn(inVertical)">
                                      <p:cBhvr>
                                        <p:cTn id="11" dur="500"/>
                                        <p:tgtEl>
                                          <p:spTgt spid="48"/>
                                        </p:tgtEl>
                                      </p:cBhvr>
                                    </p:animEffect>
                                  </p:childTnLst>
                                </p:cTn>
                              </p:par>
                            </p:childTnLst>
                          </p:cTn>
                        </p:par>
                        <p:par>
                          <p:cTn id="12" fill="hold">
                            <p:stCondLst>
                              <p:cond delay="2000"/>
                            </p:stCondLst>
                            <p:childTnLst>
                              <p:par>
                                <p:cTn id="13" presetID="2" presetClass="entr" presetSubtype="8" fill="hold" nodeType="afterEffect">
                                  <p:stCondLst>
                                    <p:cond delay="0"/>
                                  </p:stCondLst>
                                  <p:childTnLst>
                                    <p:set>
                                      <p:cBhvr>
                                        <p:cTn id="14" dur="1" fill="hold">
                                          <p:stCondLst>
                                            <p:cond delay="0"/>
                                          </p:stCondLst>
                                        </p:cTn>
                                        <p:tgtEl>
                                          <p:spTgt spid="33"/>
                                        </p:tgtEl>
                                        <p:attrNameLst>
                                          <p:attrName>style.visibility</p:attrName>
                                        </p:attrNameLst>
                                      </p:cBhvr>
                                      <p:to>
                                        <p:strVal val="visible"/>
                                      </p:to>
                                    </p:set>
                                    <p:anim calcmode="lin" valueType="num">
                                      <p:cBhvr additive="base">
                                        <p:cTn id="15" dur="500" fill="hold"/>
                                        <p:tgtEl>
                                          <p:spTgt spid="33"/>
                                        </p:tgtEl>
                                        <p:attrNameLst>
                                          <p:attrName>ppt_x</p:attrName>
                                        </p:attrNameLst>
                                      </p:cBhvr>
                                      <p:tavLst>
                                        <p:tav tm="0">
                                          <p:val>
                                            <p:strVal val="0-#ppt_w/2"/>
                                          </p:val>
                                        </p:tav>
                                        <p:tav tm="100000">
                                          <p:val>
                                            <p:strVal val="#ppt_x"/>
                                          </p:val>
                                        </p:tav>
                                      </p:tavLst>
                                    </p:anim>
                                    <p:anim calcmode="lin" valueType="num">
                                      <p:cBhvr additive="base">
                                        <p:cTn id="16" dur="500" fill="hold"/>
                                        <p:tgtEl>
                                          <p:spTgt spid="33"/>
                                        </p:tgtEl>
                                        <p:attrNameLst>
                                          <p:attrName>ppt_y</p:attrName>
                                        </p:attrNameLst>
                                      </p:cBhvr>
                                      <p:tavLst>
                                        <p:tav tm="0">
                                          <p:val>
                                            <p:strVal val="#ppt_y"/>
                                          </p:val>
                                        </p:tav>
                                        <p:tav tm="100000">
                                          <p:val>
                                            <p:strVal val="#ppt_y"/>
                                          </p:val>
                                        </p:tav>
                                      </p:tavLst>
                                    </p:anim>
                                  </p:childTnLst>
                                </p:cTn>
                              </p:par>
                            </p:childTnLst>
                          </p:cTn>
                        </p:par>
                        <p:par>
                          <p:cTn id="17" fill="hold">
                            <p:stCondLst>
                              <p:cond delay="2500"/>
                            </p:stCondLst>
                            <p:childTnLst>
                              <p:par>
                                <p:cTn id="18" presetID="16" presetClass="entr" presetSubtype="21" fill="hold" nodeType="afterEffect" nodePh="1">
                                  <p:stCondLst>
                                    <p:cond delay="0"/>
                                  </p:stCondLst>
                                  <p:endCondLst>
                                    <p:cond evt="begin" delay="0">
                                      <p:tn val="18"/>
                                    </p:cond>
                                  </p:endCondLst>
                                  <p:childTnLst>
                                    <p:set>
                                      <p:cBhvr>
                                        <p:cTn id="19" dur="1" fill="hold">
                                          <p:stCondLst>
                                            <p:cond delay="0"/>
                                          </p:stCondLst>
                                        </p:cTn>
                                        <p:tgtEl>
                                          <p:spTgt spid="10">
                                            <p:txEl>
                                              <p:pRg st="0" end="0"/>
                                            </p:txEl>
                                          </p:spTgt>
                                        </p:tgtEl>
                                        <p:attrNameLst>
                                          <p:attrName>style.visibility</p:attrName>
                                        </p:attrNameLst>
                                      </p:cBhvr>
                                      <p:to>
                                        <p:strVal val="visible"/>
                                      </p:to>
                                    </p:set>
                                    <p:animEffect transition="in" filter="barn(inVertical)">
                                      <p:cBhvr>
                                        <p:cTn id="20" dur="500"/>
                                        <p:tgtEl>
                                          <p:spTgt spid="10">
                                            <p:txEl>
                                              <p:pRg st="0" end="0"/>
                                            </p:txEl>
                                          </p:spTgt>
                                        </p:tgtEl>
                                      </p:cBhvr>
                                    </p:animEffect>
                                  </p:childTnLst>
                                </p:cTn>
                              </p:par>
                            </p:childTnLst>
                          </p:cTn>
                        </p:par>
                        <p:par>
                          <p:cTn id="21" fill="hold">
                            <p:stCondLst>
                              <p:cond delay="3000"/>
                            </p:stCondLst>
                            <p:childTnLst>
                              <p:par>
                                <p:cTn id="22" presetID="16" presetClass="entr" presetSubtype="21" fill="hold" grpId="0" nodeType="after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barn(inVertical)">
                                      <p:cBhvr>
                                        <p:cTn id="24" dur="500"/>
                                        <p:tgtEl>
                                          <p:spTgt spid="12"/>
                                        </p:tgtEl>
                                      </p:cBhvr>
                                    </p:animEffect>
                                  </p:childTnLst>
                                </p:cTn>
                              </p:par>
                            </p:childTnLst>
                          </p:cTn>
                        </p:par>
                        <p:par>
                          <p:cTn id="25" fill="hold">
                            <p:stCondLst>
                              <p:cond delay="3500"/>
                            </p:stCondLst>
                            <p:childTnLst>
                              <p:par>
                                <p:cTn id="26" presetID="2" presetClass="entr" presetSubtype="12" fill="hold" nodeType="afterEffect">
                                  <p:stCondLst>
                                    <p:cond delay="0"/>
                                  </p:stCondLst>
                                  <p:childTnLst>
                                    <p:set>
                                      <p:cBhvr>
                                        <p:cTn id="27" dur="1" fill="hold">
                                          <p:stCondLst>
                                            <p:cond delay="0"/>
                                          </p:stCondLst>
                                        </p:cTn>
                                        <p:tgtEl>
                                          <p:spTgt spid="11"/>
                                        </p:tgtEl>
                                        <p:attrNameLst>
                                          <p:attrName>style.visibility</p:attrName>
                                        </p:attrNameLst>
                                      </p:cBhvr>
                                      <p:to>
                                        <p:strVal val="visible"/>
                                      </p:to>
                                    </p:set>
                                    <p:anim calcmode="lin" valueType="num">
                                      <p:cBhvr additive="base">
                                        <p:cTn id="28" dur="500" fill="hold"/>
                                        <p:tgtEl>
                                          <p:spTgt spid="11"/>
                                        </p:tgtEl>
                                        <p:attrNameLst>
                                          <p:attrName>ppt_x</p:attrName>
                                        </p:attrNameLst>
                                      </p:cBhvr>
                                      <p:tavLst>
                                        <p:tav tm="0">
                                          <p:val>
                                            <p:strVal val="0-#ppt_w/2"/>
                                          </p:val>
                                        </p:tav>
                                        <p:tav tm="100000">
                                          <p:val>
                                            <p:strVal val="#ppt_x"/>
                                          </p:val>
                                        </p:tav>
                                      </p:tavLst>
                                    </p:anim>
                                    <p:anim calcmode="lin" valueType="num">
                                      <p:cBhvr additive="base">
                                        <p:cTn id="29"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p:bldP spid="48" grpId="0"/>
      <p:bldP spid="12"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2"/>
          <a:stretch>
            <a:fillRect/>
          </a:stretch>
        </p:blipFill>
        <p:spPr>
          <a:xfrm rot="16200000">
            <a:off x="145169" y="-145167"/>
            <a:ext cx="1268414" cy="1558750"/>
          </a:xfrm>
          <a:prstGeom prst="rect">
            <a:avLst/>
          </a:prstGeom>
        </p:spPr>
      </p:pic>
      <p:sp>
        <p:nvSpPr>
          <p:cNvPr id="9" name="文字方塊 8">
            <a:extLst>
              <a:ext uri="{FF2B5EF4-FFF2-40B4-BE49-F238E27FC236}">
                <a16:creationId xmlns:a16="http://schemas.microsoft.com/office/drawing/2014/main" id="{81D0666A-D96D-4B5B-9036-192FA53FE435}"/>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cxnSp>
        <p:nvCxnSpPr>
          <p:cNvPr id="33" name="直接连接符 33">
            <a:extLst>
              <a:ext uri="{FF2B5EF4-FFF2-40B4-BE49-F238E27FC236}">
                <a16:creationId xmlns:a16="http://schemas.microsoft.com/office/drawing/2014/main" id="{DFF80DCD-8EF0-4D2F-8380-59FA348D932C}"/>
              </a:ext>
            </a:extLst>
          </p:cNvPr>
          <p:cNvCxnSpPr/>
          <p:nvPr/>
        </p:nvCxnSpPr>
        <p:spPr>
          <a:xfrm>
            <a:off x="1177167" y="1046746"/>
            <a:ext cx="10585176"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6" name="標題 1"/>
          <p:cNvSpPr txBox="1">
            <a:spLocks/>
          </p:cNvSpPr>
          <p:nvPr/>
        </p:nvSpPr>
        <p:spPr>
          <a:xfrm>
            <a:off x="854426" y="112999"/>
            <a:ext cx="5288853"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7-2 </a:t>
            </a:r>
            <a:r>
              <a:rPr lang="zh-TW" altLang="en-US" sz="2400" b="1" dirty="0">
                <a:solidFill>
                  <a:srgbClr val="E06741"/>
                </a:solidFill>
              </a:rPr>
              <a:t>實務案例</a:t>
            </a:r>
            <a:r>
              <a:rPr lang="en-US" altLang="zh-TW" sz="2400" b="1" dirty="0">
                <a:solidFill>
                  <a:srgbClr val="E06741"/>
                </a:solidFill>
              </a:rPr>
              <a:t>-</a:t>
            </a:r>
            <a:r>
              <a:rPr lang="zh-TW" altLang="en-US" sz="2400" b="1" dirty="0">
                <a:solidFill>
                  <a:srgbClr val="E06741"/>
                </a:solidFill>
              </a:rPr>
              <a:t>漁產履歷</a:t>
            </a:r>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sp>
        <p:nvSpPr>
          <p:cNvPr id="48" name="文字方塊 47">
            <a:extLst>
              <a:ext uri="{FF2B5EF4-FFF2-40B4-BE49-F238E27FC236}">
                <a16:creationId xmlns:a16="http://schemas.microsoft.com/office/drawing/2014/main" id="{AD7F4831-1A36-4A2F-ACBE-344F724510DC}"/>
              </a:ext>
            </a:extLst>
          </p:cNvPr>
          <p:cNvSpPr txBox="1"/>
          <p:nvPr/>
        </p:nvSpPr>
        <p:spPr>
          <a:xfrm>
            <a:off x="5130089" y="350241"/>
            <a:ext cx="960519"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-3</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結論</a:t>
            </a:r>
          </a:p>
        </p:txBody>
      </p:sp>
      <p:sp>
        <p:nvSpPr>
          <p:cNvPr id="10" name="文字方塊 9">
            <a:extLst>
              <a:ext uri="{FF2B5EF4-FFF2-40B4-BE49-F238E27FC236}">
                <a16:creationId xmlns:a16="http://schemas.microsoft.com/office/drawing/2014/main" id="{BF94E171-0176-49DD-BE6C-DB2D96B94A88}"/>
              </a:ext>
            </a:extLst>
          </p:cNvPr>
          <p:cNvSpPr txBox="1"/>
          <p:nvPr/>
        </p:nvSpPr>
        <p:spPr>
          <a:xfrm>
            <a:off x="1177167" y="1816567"/>
            <a:ext cx="9663430" cy="578492"/>
          </a:xfrm>
          <a:prstGeom prst="rect">
            <a:avLst/>
          </a:prstGeom>
          <a:noFill/>
        </p:spPr>
        <p:txBody>
          <a:bodyPr wrap="square" rtlCol="0">
            <a:spAutoFit/>
          </a:bodyPr>
          <a:lstStyle/>
          <a:p>
            <a:pPr marL="342900" indent="-342900">
              <a:lnSpc>
                <a:spcPct val="150000"/>
              </a:lnSpc>
              <a:buBlip>
                <a:blip r:embed="rId3"/>
              </a:buBlip>
            </a:pP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sp>
        <p:nvSpPr>
          <p:cNvPr id="12" name="文字方塊 11">
            <a:extLst>
              <a:ext uri="{FF2B5EF4-FFF2-40B4-BE49-F238E27FC236}">
                <a16:creationId xmlns:a16="http://schemas.microsoft.com/office/drawing/2014/main" id="{BF94E171-0176-49DD-BE6C-DB2D96B94A88}"/>
              </a:ext>
            </a:extLst>
          </p:cNvPr>
          <p:cNvSpPr txBox="1"/>
          <p:nvPr/>
        </p:nvSpPr>
        <p:spPr>
          <a:xfrm>
            <a:off x="1434609" y="1327567"/>
            <a:ext cx="8549901" cy="3416320"/>
          </a:xfrm>
          <a:prstGeom prst="rect">
            <a:avLst/>
          </a:prstGeom>
          <a:noFill/>
        </p:spPr>
        <p:txBody>
          <a:bodyPr wrap="square" rtlCol="0">
            <a:spAutoFit/>
          </a:bodyPr>
          <a:lstStyle/>
          <a:p>
            <a:pPr marL="342900" indent="-342900">
              <a:lnSpc>
                <a:spcPct val="150000"/>
              </a:lnSpc>
              <a:buBlip>
                <a:blip r:embed="rId3"/>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消費者或養殖業者</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800100" lvl="1" indent="-342900">
              <a:lnSpc>
                <a:spcPct val="150000"/>
              </a:lnSpc>
              <a:buBlip>
                <a:blip r:embed="rId3"/>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能透過區塊鏈交易平台去追蹤每筆交易的資訊</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800100" lvl="1" indent="-342900">
              <a:lnSpc>
                <a:spcPct val="150000"/>
              </a:lnSpc>
              <a:buBlip>
                <a:blip r:embed="rId3"/>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透過區塊鏈所提供的不可篡改性、不可否認性、可追蹤性、私密性、正確性及完整性，使生產及出貨作業交易上更加安全、有效率及值得信任。</a:t>
            </a:r>
          </a:p>
          <a:p>
            <a:pPr marL="800100" lvl="1" indent="-342900">
              <a:lnSpc>
                <a:spcPct val="150000"/>
              </a:lnSpc>
              <a:buBlip>
                <a:blip r:embed="rId3"/>
              </a:buBlip>
            </a:pP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pic>
        <p:nvPicPr>
          <p:cNvPr id="11" name="圖片 10" descr="一張含有 信箋, 文字, 名片 的圖片&#10;&#10;描述是以高可信度產生">
            <a:extLst>
              <a:ext uri="{FF2B5EF4-FFF2-40B4-BE49-F238E27FC236}">
                <a16:creationId xmlns:a16="http://schemas.microsoft.com/office/drawing/2014/main" id="{C8248B84-06D6-4DA8-AFA5-963BBB7FF33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686801" y="3744944"/>
            <a:ext cx="2741926" cy="2741926"/>
          </a:xfrm>
          <a:prstGeom prst="rect">
            <a:avLst/>
          </a:prstGeom>
        </p:spPr>
      </p:pic>
    </p:spTree>
    <p:extLst>
      <p:ext uri="{BB962C8B-B14F-4D97-AF65-F5344CB8AC3E}">
        <p14:creationId xmlns:p14="http://schemas.microsoft.com/office/powerpoint/2010/main" val="4052218200"/>
      </p:ext>
    </p:extLst>
  </p:cSld>
  <p:clrMapOvr>
    <a:masterClrMapping/>
  </p:clrMapOvr>
  <mc:AlternateContent xmlns:mc="http://schemas.openxmlformats.org/markup-compatibility/2006" xmlns:p14="http://schemas.microsoft.com/office/powerpoint/2010/main">
    <mc:Choice Requires="p14">
      <p:transition spd="slow" p14:dur="1250">
        <p14:flip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circle(in)">
                                      <p:cBhvr>
                                        <p:cTn id="7" dur="1500"/>
                                        <p:tgtEl>
                                          <p:spTgt spid="46"/>
                                        </p:tgtEl>
                                      </p:cBhvr>
                                    </p:animEffect>
                                  </p:childTnLst>
                                </p:cTn>
                              </p:par>
                            </p:childTnLst>
                          </p:cTn>
                        </p:par>
                        <p:par>
                          <p:cTn id="8" fill="hold">
                            <p:stCondLst>
                              <p:cond delay="1500"/>
                            </p:stCondLst>
                            <p:childTnLst>
                              <p:par>
                                <p:cTn id="9" presetID="16" presetClass="entr" presetSubtype="21" fill="hold" grpId="0" nodeType="afterEffect">
                                  <p:stCondLst>
                                    <p:cond delay="0"/>
                                  </p:stCondLst>
                                  <p:childTnLst>
                                    <p:set>
                                      <p:cBhvr>
                                        <p:cTn id="10" dur="1" fill="hold">
                                          <p:stCondLst>
                                            <p:cond delay="0"/>
                                          </p:stCondLst>
                                        </p:cTn>
                                        <p:tgtEl>
                                          <p:spTgt spid="48"/>
                                        </p:tgtEl>
                                        <p:attrNameLst>
                                          <p:attrName>style.visibility</p:attrName>
                                        </p:attrNameLst>
                                      </p:cBhvr>
                                      <p:to>
                                        <p:strVal val="visible"/>
                                      </p:to>
                                    </p:set>
                                    <p:animEffect transition="in" filter="barn(inVertical)">
                                      <p:cBhvr>
                                        <p:cTn id="11" dur="500"/>
                                        <p:tgtEl>
                                          <p:spTgt spid="48"/>
                                        </p:tgtEl>
                                      </p:cBhvr>
                                    </p:animEffect>
                                  </p:childTnLst>
                                </p:cTn>
                              </p:par>
                            </p:childTnLst>
                          </p:cTn>
                        </p:par>
                        <p:par>
                          <p:cTn id="12" fill="hold">
                            <p:stCondLst>
                              <p:cond delay="2000"/>
                            </p:stCondLst>
                            <p:childTnLst>
                              <p:par>
                                <p:cTn id="13" presetID="2" presetClass="entr" presetSubtype="8" fill="hold" nodeType="afterEffect">
                                  <p:stCondLst>
                                    <p:cond delay="0"/>
                                  </p:stCondLst>
                                  <p:childTnLst>
                                    <p:set>
                                      <p:cBhvr>
                                        <p:cTn id="14" dur="1" fill="hold">
                                          <p:stCondLst>
                                            <p:cond delay="0"/>
                                          </p:stCondLst>
                                        </p:cTn>
                                        <p:tgtEl>
                                          <p:spTgt spid="33"/>
                                        </p:tgtEl>
                                        <p:attrNameLst>
                                          <p:attrName>style.visibility</p:attrName>
                                        </p:attrNameLst>
                                      </p:cBhvr>
                                      <p:to>
                                        <p:strVal val="visible"/>
                                      </p:to>
                                    </p:set>
                                    <p:anim calcmode="lin" valueType="num">
                                      <p:cBhvr additive="base">
                                        <p:cTn id="15" dur="500" fill="hold"/>
                                        <p:tgtEl>
                                          <p:spTgt spid="33"/>
                                        </p:tgtEl>
                                        <p:attrNameLst>
                                          <p:attrName>ppt_x</p:attrName>
                                        </p:attrNameLst>
                                      </p:cBhvr>
                                      <p:tavLst>
                                        <p:tav tm="0">
                                          <p:val>
                                            <p:strVal val="0-#ppt_w/2"/>
                                          </p:val>
                                        </p:tav>
                                        <p:tav tm="100000">
                                          <p:val>
                                            <p:strVal val="#ppt_x"/>
                                          </p:val>
                                        </p:tav>
                                      </p:tavLst>
                                    </p:anim>
                                    <p:anim calcmode="lin" valueType="num">
                                      <p:cBhvr additive="base">
                                        <p:cTn id="16" dur="500" fill="hold"/>
                                        <p:tgtEl>
                                          <p:spTgt spid="33"/>
                                        </p:tgtEl>
                                        <p:attrNameLst>
                                          <p:attrName>ppt_y</p:attrName>
                                        </p:attrNameLst>
                                      </p:cBhvr>
                                      <p:tavLst>
                                        <p:tav tm="0">
                                          <p:val>
                                            <p:strVal val="#ppt_y"/>
                                          </p:val>
                                        </p:tav>
                                        <p:tav tm="100000">
                                          <p:val>
                                            <p:strVal val="#ppt_y"/>
                                          </p:val>
                                        </p:tav>
                                      </p:tavLst>
                                    </p:anim>
                                  </p:childTnLst>
                                </p:cTn>
                              </p:par>
                            </p:childTnLst>
                          </p:cTn>
                        </p:par>
                        <p:par>
                          <p:cTn id="17" fill="hold">
                            <p:stCondLst>
                              <p:cond delay="2500"/>
                            </p:stCondLst>
                            <p:childTnLst>
                              <p:par>
                                <p:cTn id="18" presetID="16" presetClass="entr" presetSubtype="21" fill="hold" nodeType="afterEffect" nodePh="1">
                                  <p:stCondLst>
                                    <p:cond delay="0"/>
                                  </p:stCondLst>
                                  <p:endCondLst>
                                    <p:cond evt="begin" delay="0">
                                      <p:tn val="18"/>
                                    </p:cond>
                                  </p:endCondLst>
                                  <p:childTnLst>
                                    <p:set>
                                      <p:cBhvr>
                                        <p:cTn id="19" dur="1" fill="hold">
                                          <p:stCondLst>
                                            <p:cond delay="0"/>
                                          </p:stCondLst>
                                        </p:cTn>
                                        <p:tgtEl>
                                          <p:spTgt spid="10">
                                            <p:txEl>
                                              <p:pRg st="0" end="0"/>
                                            </p:txEl>
                                          </p:spTgt>
                                        </p:tgtEl>
                                        <p:attrNameLst>
                                          <p:attrName>style.visibility</p:attrName>
                                        </p:attrNameLst>
                                      </p:cBhvr>
                                      <p:to>
                                        <p:strVal val="visible"/>
                                      </p:to>
                                    </p:set>
                                    <p:animEffect transition="in" filter="barn(inVertical)">
                                      <p:cBhvr>
                                        <p:cTn id="20" dur="500"/>
                                        <p:tgtEl>
                                          <p:spTgt spid="10">
                                            <p:txEl>
                                              <p:pRg st="0" end="0"/>
                                            </p:txEl>
                                          </p:spTgt>
                                        </p:tgtEl>
                                      </p:cBhvr>
                                    </p:animEffect>
                                  </p:childTnLst>
                                </p:cTn>
                              </p:par>
                            </p:childTnLst>
                          </p:cTn>
                        </p:par>
                        <p:par>
                          <p:cTn id="21" fill="hold">
                            <p:stCondLst>
                              <p:cond delay="3000"/>
                            </p:stCondLst>
                            <p:childTnLst>
                              <p:par>
                                <p:cTn id="22" presetID="16" presetClass="entr" presetSubtype="21" fill="hold" grpId="0" nodeType="after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barn(inVertical)">
                                      <p:cBhvr>
                                        <p:cTn id="24" dur="500"/>
                                        <p:tgtEl>
                                          <p:spTgt spid="12"/>
                                        </p:tgtEl>
                                      </p:cBhvr>
                                    </p:animEffect>
                                  </p:childTnLst>
                                </p:cTn>
                              </p:par>
                            </p:childTnLst>
                          </p:cTn>
                        </p:par>
                        <p:par>
                          <p:cTn id="25" fill="hold">
                            <p:stCondLst>
                              <p:cond delay="3500"/>
                            </p:stCondLst>
                            <p:childTnLst>
                              <p:par>
                                <p:cTn id="26" presetID="16" presetClass="entr" presetSubtype="37" fill="hold" nodeType="after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barn(outVertical)">
                                      <p:cBhvr>
                                        <p:cTn id="28"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p:bldP spid="48" grpId="0"/>
      <p:bldP spid="12"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2"/>
          <a:stretch>
            <a:fillRect/>
          </a:stretch>
        </p:blipFill>
        <p:spPr>
          <a:xfrm rot="16200000">
            <a:off x="145169" y="-145167"/>
            <a:ext cx="1268414" cy="1558750"/>
          </a:xfrm>
          <a:prstGeom prst="rect">
            <a:avLst/>
          </a:prstGeom>
        </p:spPr>
      </p:pic>
      <p:sp>
        <p:nvSpPr>
          <p:cNvPr id="9" name="文字方塊 8">
            <a:extLst>
              <a:ext uri="{FF2B5EF4-FFF2-40B4-BE49-F238E27FC236}">
                <a16:creationId xmlns:a16="http://schemas.microsoft.com/office/drawing/2014/main" id="{81D0666A-D96D-4B5B-9036-192FA53FE435}"/>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cxnSp>
        <p:nvCxnSpPr>
          <p:cNvPr id="33" name="直接连接符 33">
            <a:extLst>
              <a:ext uri="{FF2B5EF4-FFF2-40B4-BE49-F238E27FC236}">
                <a16:creationId xmlns:a16="http://schemas.microsoft.com/office/drawing/2014/main" id="{DFF80DCD-8EF0-4D2F-8380-59FA348D932C}"/>
              </a:ext>
            </a:extLst>
          </p:cNvPr>
          <p:cNvCxnSpPr/>
          <p:nvPr/>
        </p:nvCxnSpPr>
        <p:spPr>
          <a:xfrm>
            <a:off x="1177167" y="1046746"/>
            <a:ext cx="10585176"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6" name="標題 1"/>
          <p:cNvSpPr txBox="1">
            <a:spLocks/>
          </p:cNvSpPr>
          <p:nvPr/>
        </p:nvSpPr>
        <p:spPr>
          <a:xfrm>
            <a:off x="854426" y="112999"/>
            <a:ext cx="5288853"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7-3 </a:t>
            </a:r>
            <a:r>
              <a:rPr lang="zh-TW" altLang="en-US" sz="2400" b="1" dirty="0">
                <a:solidFill>
                  <a:srgbClr val="E06741"/>
                </a:solidFill>
              </a:rPr>
              <a:t>實務案例</a:t>
            </a:r>
            <a:r>
              <a:rPr lang="en-US" altLang="zh-TW" sz="2400" b="1" dirty="0">
                <a:solidFill>
                  <a:srgbClr val="E06741"/>
                </a:solidFill>
              </a:rPr>
              <a:t>-</a:t>
            </a:r>
            <a:r>
              <a:rPr lang="zh-TW" altLang="en-US" sz="2400" b="1" dirty="0">
                <a:solidFill>
                  <a:srgbClr val="E06741"/>
                </a:solidFill>
              </a:rPr>
              <a:t>農產履歷</a:t>
            </a:r>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sp>
        <p:nvSpPr>
          <p:cNvPr id="48" name="文字方塊 47">
            <a:extLst>
              <a:ext uri="{FF2B5EF4-FFF2-40B4-BE49-F238E27FC236}">
                <a16:creationId xmlns:a16="http://schemas.microsoft.com/office/drawing/2014/main" id="{AD7F4831-1A36-4A2F-ACBE-344F724510DC}"/>
              </a:ext>
            </a:extLst>
          </p:cNvPr>
          <p:cNvSpPr txBox="1"/>
          <p:nvPr/>
        </p:nvSpPr>
        <p:spPr>
          <a:xfrm>
            <a:off x="5130089" y="350241"/>
            <a:ext cx="1473480"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-1</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案例介紹</a:t>
            </a:r>
          </a:p>
        </p:txBody>
      </p:sp>
      <p:sp>
        <p:nvSpPr>
          <p:cNvPr id="10" name="文字方塊 9">
            <a:extLst>
              <a:ext uri="{FF2B5EF4-FFF2-40B4-BE49-F238E27FC236}">
                <a16:creationId xmlns:a16="http://schemas.microsoft.com/office/drawing/2014/main" id="{BF94E171-0176-49DD-BE6C-DB2D96B94A88}"/>
              </a:ext>
            </a:extLst>
          </p:cNvPr>
          <p:cNvSpPr txBox="1"/>
          <p:nvPr/>
        </p:nvSpPr>
        <p:spPr>
          <a:xfrm>
            <a:off x="1177167" y="1816567"/>
            <a:ext cx="9663430" cy="578492"/>
          </a:xfrm>
          <a:prstGeom prst="rect">
            <a:avLst/>
          </a:prstGeom>
          <a:noFill/>
        </p:spPr>
        <p:txBody>
          <a:bodyPr wrap="square" rtlCol="0">
            <a:spAutoFit/>
          </a:bodyPr>
          <a:lstStyle/>
          <a:p>
            <a:pPr marL="342900" indent="-342900">
              <a:lnSpc>
                <a:spcPct val="150000"/>
              </a:lnSpc>
              <a:buBlip>
                <a:blip r:embed="rId3"/>
              </a:buBlip>
            </a:pP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sp>
        <p:nvSpPr>
          <p:cNvPr id="12" name="文字方塊 11">
            <a:extLst>
              <a:ext uri="{FF2B5EF4-FFF2-40B4-BE49-F238E27FC236}">
                <a16:creationId xmlns:a16="http://schemas.microsoft.com/office/drawing/2014/main" id="{BF94E171-0176-49DD-BE6C-DB2D96B94A88}"/>
              </a:ext>
            </a:extLst>
          </p:cNvPr>
          <p:cNvSpPr txBox="1"/>
          <p:nvPr/>
        </p:nvSpPr>
        <p:spPr>
          <a:xfrm>
            <a:off x="1434609" y="1327567"/>
            <a:ext cx="8549901" cy="4524315"/>
          </a:xfrm>
          <a:prstGeom prst="rect">
            <a:avLst/>
          </a:prstGeom>
          <a:noFill/>
        </p:spPr>
        <p:txBody>
          <a:bodyPr wrap="square" rtlCol="0">
            <a:spAutoFit/>
          </a:bodyPr>
          <a:lstStyle/>
          <a:p>
            <a:pPr marL="342900" indent="-342900">
              <a:lnSpc>
                <a:spcPct val="150000"/>
              </a:lnSpc>
              <a:buBlip>
                <a:blip r:embed="rId3"/>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導入原因</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800100" lvl="1" indent="-342900">
              <a:lnSpc>
                <a:spcPct val="150000"/>
              </a:lnSpc>
              <a:buBlip>
                <a:blip r:embed="rId3"/>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層出不窮的農產品安全事件</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800100" lvl="1" indent="-342900">
              <a:lnSpc>
                <a:spcPct val="150000"/>
              </a:lnSpc>
              <a:buBlip>
                <a:blip r:embed="rId3"/>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落實永續農業的精神</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342900" indent="-342900">
              <a:lnSpc>
                <a:spcPct val="150000"/>
              </a:lnSpc>
              <a:buBlip>
                <a:blip r:embed="rId3"/>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目前國際對於農產品管制以 </a:t>
            </a:r>
            <a:r>
              <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t>GAP</a:t>
            </a: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a:t>
            </a:r>
            <a:r>
              <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t>Good Agriculture Practice</a:t>
            </a: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 和 </a:t>
            </a:r>
            <a:r>
              <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t>Traceability </a:t>
            </a: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等兩項規範為主</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800100" lvl="1" indent="-342900">
              <a:lnSpc>
                <a:spcPct val="150000"/>
              </a:lnSpc>
              <a:buBlip>
                <a:blip r:embed="rId3"/>
              </a:buBlip>
            </a:pPr>
            <a:r>
              <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t>GAP </a:t>
            </a: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的實施及驗證在於降低生產過程及產品的風險</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800100" lvl="1" indent="-342900">
              <a:lnSpc>
                <a:spcPct val="150000"/>
              </a:lnSpc>
              <a:buBlip>
                <a:blip r:embed="rId3"/>
              </a:buBlip>
            </a:pPr>
            <a:r>
              <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t>Traceability </a:t>
            </a: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的實施及驗證在於明確賦予農產品的產銷流程。</a:t>
            </a:r>
          </a:p>
        </p:txBody>
      </p:sp>
      <p:pic>
        <p:nvPicPr>
          <p:cNvPr id="11" name="圖片 10"/>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757067" y="1343142"/>
            <a:ext cx="1625464" cy="1625464"/>
          </a:xfrm>
          <a:prstGeom prst="rect">
            <a:avLst/>
          </a:prstGeom>
        </p:spPr>
      </p:pic>
    </p:spTree>
    <p:extLst>
      <p:ext uri="{BB962C8B-B14F-4D97-AF65-F5344CB8AC3E}">
        <p14:creationId xmlns:p14="http://schemas.microsoft.com/office/powerpoint/2010/main" val="3521827793"/>
      </p:ext>
    </p:extLst>
  </p:cSld>
  <p:clrMapOvr>
    <a:masterClrMapping/>
  </p:clrMapOvr>
  <p:transition spd="med">
    <p:pull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circle(in)">
                                      <p:cBhvr>
                                        <p:cTn id="7" dur="1500"/>
                                        <p:tgtEl>
                                          <p:spTgt spid="46"/>
                                        </p:tgtEl>
                                      </p:cBhvr>
                                    </p:animEffect>
                                  </p:childTnLst>
                                </p:cTn>
                              </p:par>
                            </p:childTnLst>
                          </p:cTn>
                        </p:par>
                        <p:par>
                          <p:cTn id="8" fill="hold">
                            <p:stCondLst>
                              <p:cond delay="1500"/>
                            </p:stCondLst>
                            <p:childTnLst>
                              <p:par>
                                <p:cTn id="9" presetID="16" presetClass="entr" presetSubtype="21" fill="hold" grpId="0" nodeType="afterEffect">
                                  <p:stCondLst>
                                    <p:cond delay="0"/>
                                  </p:stCondLst>
                                  <p:childTnLst>
                                    <p:set>
                                      <p:cBhvr>
                                        <p:cTn id="10" dur="1" fill="hold">
                                          <p:stCondLst>
                                            <p:cond delay="0"/>
                                          </p:stCondLst>
                                        </p:cTn>
                                        <p:tgtEl>
                                          <p:spTgt spid="48"/>
                                        </p:tgtEl>
                                        <p:attrNameLst>
                                          <p:attrName>style.visibility</p:attrName>
                                        </p:attrNameLst>
                                      </p:cBhvr>
                                      <p:to>
                                        <p:strVal val="visible"/>
                                      </p:to>
                                    </p:set>
                                    <p:animEffect transition="in" filter="barn(inVertical)">
                                      <p:cBhvr>
                                        <p:cTn id="11" dur="500"/>
                                        <p:tgtEl>
                                          <p:spTgt spid="48"/>
                                        </p:tgtEl>
                                      </p:cBhvr>
                                    </p:animEffect>
                                  </p:childTnLst>
                                </p:cTn>
                              </p:par>
                            </p:childTnLst>
                          </p:cTn>
                        </p:par>
                        <p:par>
                          <p:cTn id="12" fill="hold">
                            <p:stCondLst>
                              <p:cond delay="2000"/>
                            </p:stCondLst>
                            <p:childTnLst>
                              <p:par>
                                <p:cTn id="13" presetID="2" presetClass="entr" presetSubtype="8" fill="hold" nodeType="afterEffect">
                                  <p:stCondLst>
                                    <p:cond delay="0"/>
                                  </p:stCondLst>
                                  <p:childTnLst>
                                    <p:set>
                                      <p:cBhvr>
                                        <p:cTn id="14" dur="1" fill="hold">
                                          <p:stCondLst>
                                            <p:cond delay="0"/>
                                          </p:stCondLst>
                                        </p:cTn>
                                        <p:tgtEl>
                                          <p:spTgt spid="33"/>
                                        </p:tgtEl>
                                        <p:attrNameLst>
                                          <p:attrName>style.visibility</p:attrName>
                                        </p:attrNameLst>
                                      </p:cBhvr>
                                      <p:to>
                                        <p:strVal val="visible"/>
                                      </p:to>
                                    </p:set>
                                    <p:anim calcmode="lin" valueType="num">
                                      <p:cBhvr additive="base">
                                        <p:cTn id="15" dur="500" fill="hold"/>
                                        <p:tgtEl>
                                          <p:spTgt spid="33"/>
                                        </p:tgtEl>
                                        <p:attrNameLst>
                                          <p:attrName>ppt_x</p:attrName>
                                        </p:attrNameLst>
                                      </p:cBhvr>
                                      <p:tavLst>
                                        <p:tav tm="0">
                                          <p:val>
                                            <p:strVal val="0-#ppt_w/2"/>
                                          </p:val>
                                        </p:tav>
                                        <p:tav tm="100000">
                                          <p:val>
                                            <p:strVal val="#ppt_x"/>
                                          </p:val>
                                        </p:tav>
                                      </p:tavLst>
                                    </p:anim>
                                    <p:anim calcmode="lin" valueType="num">
                                      <p:cBhvr additive="base">
                                        <p:cTn id="16" dur="500" fill="hold"/>
                                        <p:tgtEl>
                                          <p:spTgt spid="33"/>
                                        </p:tgtEl>
                                        <p:attrNameLst>
                                          <p:attrName>ppt_y</p:attrName>
                                        </p:attrNameLst>
                                      </p:cBhvr>
                                      <p:tavLst>
                                        <p:tav tm="0">
                                          <p:val>
                                            <p:strVal val="#ppt_y"/>
                                          </p:val>
                                        </p:tav>
                                        <p:tav tm="100000">
                                          <p:val>
                                            <p:strVal val="#ppt_y"/>
                                          </p:val>
                                        </p:tav>
                                      </p:tavLst>
                                    </p:anim>
                                  </p:childTnLst>
                                </p:cTn>
                              </p:par>
                            </p:childTnLst>
                          </p:cTn>
                        </p:par>
                        <p:par>
                          <p:cTn id="17" fill="hold">
                            <p:stCondLst>
                              <p:cond delay="2500"/>
                            </p:stCondLst>
                            <p:childTnLst>
                              <p:par>
                                <p:cTn id="18" presetID="16" presetClass="entr" presetSubtype="21" fill="hold" nodeType="afterEffect" nodePh="1">
                                  <p:stCondLst>
                                    <p:cond delay="0"/>
                                  </p:stCondLst>
                                  <p:endCondLst>
                                    <p:cond evt="begin" delay="0">
                                      <p:tn val="18"/>
                                    </p:cond>
                                  </p:endCondLst>
                                  <p:childTnLst>
                                    <p:set>
                                      <p:cBhvr>
                                        <p:cTn id="19" dur="1" fill="hold">
                                          <p:stCondLst>
                                            <p:cond delay="0"/>
                                          </p:stCondLst>
                                        </p:cTn>
                                        <p:tgtEl>
                                          <p:spTgt spid="10">
                                            <p:txEl>
                                              <p:pRg st="0" end="0"/>
                                            </p:txEl>
                                          </p:spTgt>
                                        </p:tgtEl>
                                        <p:attrNameLst>
                                          <p:attrName>style.visibility</p:attrName>
                                        </p:attrNameLst>
                                      </p:cBhvr>
                                      <p:to>
                                        <p:strVal val="visible"/>
                                      </p:to>
                                    </p:set>
                                    <p:animEffect transition="in" filter="barn(inVertical)">
                                      <p:cBhvr>
                                        <p:cTn id="20" dur="500"/>
                                        <p:tgtEl>
                                          <p:spTgt spid="10">
                                            <p:txEl>
                                              <p:pRg st="0" end="0"/>
                                            </p:txEl>
                                          </p:spTgt>
                                        </p:tgtEl>
                                      </p:cBhvr>
                                    </p:animEffect>
                                  </p:childTnLst>
                                </p:cTn>
                              </p:par>
                            </p:childTnLst>
                          </p:cTn>
                        </p:par>
                        <p:par>
                          <p:cTn id="21" fill="hold">
                            <p:stCondLst>
                              <p:cond delay="3000"/>
                            </p:stCondLst>
                            <p:childTnLst>
                              <p:par>
                                <p:cTn id="22" presetID="16" presetClass="entr" presetSubtype="21" fill="hold" grpId="0" nodeType="after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barn(inVertical)">
                                      <p:cBhvr>
                                        <p:cTn id="24" dur="500"/>
                                        <p:tgtEl>
                                          <p:spTgt spid="12"/>
                                        </p:tgtEl>
                                      </p:cBhvr>
                                    </p:animEffect>
                                  </p:childTnLst>
                                </p:cTn>
                              </p:par>
                            </p:childTnLst>
                          </p:cTn>
                        </p:par>
                        <p:par>
                          <p:cTn id="25" fill="hold">
                            <p:stCondLst>
                              <p:cond delay="3500"/>
                            </p:stCondLst>
                            <p:childTnLst>
                              <p:par>
                                <p:cTn id="26" presetID="2" presetClass="entr" presetSubtype="4" fill="hold" nodeType="afterEffect">
                                  <p:stCondLst>
                                    <p:cond delay="0"/>
                                  </p:stCondLst>
                                  <p:childTnLst>
                                    <p:set>
                                      <p:cBhvr>
                                        <p:cTn id="27" dur="1" fill="hold">
                                          <p:stCondLst>
                                            <p:cond delay="0"/>
                                          </p:stCondLst>
                                        </p:cTn>
                                        <p:tgtEl>
                                          <p:spTgt spid="11"/>
                                        </p:tgtEl>
                                        <p:attrNameLst>
                                          <p:attrName>style.visibility</p:attrName>
                                        </p:attrNameLst>
                                      </p:cBhvr>
                                      <p:to>
                                        <p:strVal val="visible"/>
                                      </p:to>
                                    </p:set>
                                    <p:anim calcmode="lin" valueType="num">
                                      <p:cBhvr additive="base">
                                        <p:cTn id="28" dur="500" fill="hold"/>
                                        <p:tgtEl>
                                          <p:spTgt spid="11"/>
                                        </p:tgtEl>
                                        <p:attrNameLst>
                                          <p:attrName>ppt_x</p:attrName>
                                        </p:attrNameLst>
                                      </p:cBhvr>
                                      <p:tavLst>
                                        <p:tav tm="0">
                                          <p:val>
                                            <p:strVal val="#ppt_x"/>
                                          </p:val>
                                        </p:tav>
                                        <p:tav tm="100000">
                                          <p:val>
                                            <p:strVal val="#ppt_x"/>
                                          </p:val>
                                        </p:tav>
                                      </p:tavLst>
                                    </p:anim>
                                    <p:anim calcmode="lin" valueType="num">
                                      <p:cBhvr additive="base">
                                        <p:cTn id="29"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p:bldP spid="48" grpId="0"/>
      <p:bldP spid="12"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2"/>
          <a:stretch>
            <a:fillRect/>
          </a:stretch>
        </p:blipFill>
        <p:spPr>
          <a:xfrm rot="16200000">
            <a:off x="145169" y="-145167"/>
            <a:ext cx="1268414" cy="1558750"/>
          </a:xfrm>
          <a:prstGeom prst="rect">
            <a:avLst/>
          </a:prstGeom>
        </p:spPr>
      </p:pic>
      <p:sp>
        <p:nvSpPr>
          <p:cNvPr id="9" name="文字方塊 8">
            <a:extLst>
              <a:ext uri="{FF2B5EF4-FFF2-40B4-BE49-F238E27FC236}">
                <a16:creationId xmlns:a16="http://schemas.microsoft.com/office/drawing/2014/main" id="{81D0666A-D96D-4B5B-9036-192FA53FE435}"/>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cxnSp>
        <p:nvCxnSpPr>
          <p:cNvPr id="33" name="直接连接符 33">
            <a:extLst>
              <a:ext uri="{FF2B5EF4-FFF2-40B4-BE49-F238E27FC236}">
                <a16:creationId xmlns:a16="http://schemas.microsoft.com/office/drawing/2014/main" id="{DFF80DCD-8EF0-4D2F-8380-59FA348D932C}"/>
              </a:ext>
            </a:extLst>
          </p:cNvPr>
          <p:cNvCxnSpPr/>
          <p:nvPr/>
        </p:nvCxnSpPr>
        <p:spPr>
          <a:xfrm>
            <a:off x="1177167" y="1046746"/>
            <a:ext cx="10585176"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6" name="標題 1"/>
          <p:cNvSpPr txBox="1">
            <a:spLocks/>
          </p:cNvSpPr>
          <p:nvPr/>
        </p:nvSpPr>
        <p:spPr>
          <a:xfrm>
            <a:off x="854426" y="112999"/>
            <a:ext cx="5288853"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7-3 </a:t>
            </a:r>
            <a:r>
              <a:rPr lang="zh-TW" altLang="en-US" sz="2400" b="1" dirty="0">
                <a:solidFill>
                  <a:srgbClr val="E06741"/>
                </a:solidFill>
              </a:rPr>
              <a:t>實務案例</a:t>
            </a:r>
            <a:r>
              <a:rPr lang="en-US" altLang="zh-TW" sz="2400" b="1" dirty="0">
                <a:solidFill>
                  <a:srgbClr val="E06741"/>
                </a:solidFill>
              </a:rPr>
              <a:t>-</a:t>
            </a:r>
            <a:r>
              <a:rPr lang="zh-TW" altLang="en-US" sz="2400" b="1" dirty="0">
                <a:solidFill>
                  <a:srgbClr val="E06741"/>
                </a:solidFill>
              </a:rPr>
              <a:t>農產履歷</a:t>
            </a:r>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sp>
        <p:nvSpPr>
          <p:cNvPr id="48" name="文字方塊 47">
            <a:extLst>
              <a:ext uri="{FF2B5EF4-FFF2-40B4-BE49-F238E27FC236}">
                <a16:creationId xmlns:a16="http://schemas.microsoft.com/office/drawing/2014/main" id="{AD7F4831-1A36-4A2F-ACBE-344F724510DC}"/>
              </a:ext>
            </a:extLst>
          </p:cNvPr>
          <p:cNvSpPr txBox="1"/>
          <p:nvPr/>
        </p:nvSpPr>
        <p:spPr>
          <a:xfrm>
            <a:off x="5130089" y="350241"/>
            <a:ext cx="1473480"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-1</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案例介紹</a:t>
            </a:r>
          </a:p>
        </p:txBody>
      </p:sp>
      <p:sp>
        <p:nvSpPr>
          <p:cNvPr id="10" name="文字方塊 9">
            <a:extLst>
              <a:ext uri="{FF2B5EF4-FFF2-40B4-BE49-F238E27FC236}">
                <a16:creationId xmlns:a16="http://schemas.microsoft.com/office/drawing/2014/main" id="{BF94E171-0176-49DD-BE6C-DB2D96B94A88}"/>
              </a:ext>
            </a:extLst>
          </p:cNvPr>
          <p:cNvSpPr txBox="1"/>
          <p:nvPr/>
        </p:nvSpPr>
        <p:spPr>
          <a:xfrm>
            <a:off x="1177167" y="1816567"/>
            <a:ext cx="9663430" cy="578492"/>
          </a:xfrm>
          <a:prstGeom prst="rect">
            <a:avLst/>
          </a:prstGeom>
          <a:noFill/>
        </p:spPr>
        <p:txBody>
          <a:bodyPr wrap="square" rtlCol="0">
            <a:spAutoFit/>
          </a:bodyPr>
          <a:lstStyle/>
          <a:p>
            <a:pPr marL="342900" indent="-342900">
              <a:lnSpc>
                <a:spcPct val="150000"/>
              </a:lnSpc>
              <a:buBlip>
                <a:blip r:embed="rId3"/>
              </a:buBlip>
            </a:pP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sp>
        <p:nvSpPr>
          <p:cNvPr id="12" name="文字方塊 11">
            <a:extLst>
              <a:ext uri="{FF2B5EF4-FFF2-40B4-BE49-F238E27FC236}">
                <a16:creationId xmlns:a16="http://schemas.microsoft.com/office/drawing/2014/main" id="{BF94E171-0176-49DD-BE6C-DB2D96B94A88}"/>
              </a:ext>
            </a:extLst>
          </p:cNvPr>
          <p:cNvSpPr txBox="1"/>
          <p:nvPr/>
        </p:nvSpPr>
        <p:spPr>
          <a:xfrm>
            <a:off x="1270713" y="1283989"/>
            <a:ext cx="9011718" cy="5078313"/>
          </a:xfrm>
          <a:prstGeom prst="rect">
            <a:avLst/>
          </a:prstGeom>
          <a:noFill/>
        </p:spPr>
        <p:txBody>
          <a:bodyPr wrap="square" rtlCol="0">
            <a:spAutoFit/>
          </a:bodyPr>
          <a:lstStyle/>
          <a:p>
            <a:pPr marL="342900" indent="-342900">
              <a:lnSpc>
                <a:spcPct val="150000"/>
              </a:lnSpc>
              <a:buBlip>
                <a:blip r:embed="rId3"/>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台灣目前對於農產品的管制作為</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800100" lvl="1" indent="-342900">
              <a:lnSpc>
                <a:spcPct val="150000"/>
              </a:lnSpc>
              <a:buBlip>
                <a:blip r:embed="rId3"/>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將 </a:t>
            </a:r>
            <a:r>
              <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t>GAP </a:t>
            </a: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和 </a:t>
            </a:r>
            <a:r>
              <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t>Traceability </a:t>
            </a: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等兩項規範予以結合，推行了「農產品生產及驗證管理法」， 並依法建立起專屬於台灣地區的 </a:t>
            </a:r>
            <a:r>
              <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t>GAP</a:t>
            </a: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，稱為台灣良好農業規範</a:t>
            </a:r>
            <a:r>
              <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t>TGAP</a:t>
            </a:r>
          </a:p>
          <a:p>
            <a:pPr marL="342900" indent="-342900">
              <a:lnSpc>
                <a:spcPct val="150000"/>
              </a:lnSpc>
              <a:buBlip>
                <a:blip r:embed="rId3"/>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農產履歷追蹤重要性提升</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1257300" lvl="2" indent="-342900">
              <a:lnSpc>
                <a:spcPct val="150000"/>
              </a:lnSpc>
              <a:buBlip>
                <a:blip r:embed="rId3"/>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將區塊鏈技術應用於農產品履歷追蹤的平台架構之上</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1257300" lvl="2" indent="-342900">
              <a:lnSpc>
                <a:spcPct val="150000"/>
              </a:lnSpc>
              <a:buBlip>
                <a:blip r:embed="rId3"/>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可為農產品的安全管理帶來幫助，</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1257300" lvl="2" indent="-342900">
              <a:lnSpc>
                <a:spcPct val="150000"/>
              </a:lnSpc>
              <a:buBlip>
                <a:blip r:embed="rId3"/>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亦可提高農產品物流傳送的速度，為農夫帶來更大收益。</a:t>
            </a:r>
          </a:p>
          <a:p>
            <a:pPr marL="1257300" lvl="2" indent="-342900">
              <a:lnSpc>
                <a:spcPct val="150000"/>
              </a:lnSpc>
              <a:buBlip>
                <a:blip r:embed="rId3"/>
              </a:buBlip>
            </a:pP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pic>
        <p:nvPicPr>
          <p:cNvPr id="11" name="圖片 10" descr="一張含有 向量圖形 的圖片&#10;&#10;描述是以高可信度產生">
            <a:extLst>
              <a:ext uri="{FF2B5EF4-FFF2-40B4-BE49-F238E27FC236}">
                <a16:creationId xmlns:a16="http://schemas.microsoft.com/office/drawing/2014/main" id="{D4B95FA6-7580-47D0-9367-17D1C26C29F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375977" y="5014090"/>
            <a:ext cx="1648450" cy="1648450"/>
          </a:xfrm>
          <a:prstGeom prst="rect">
            <a:avLst/>
          </a:prstGeom>
        </p:spPr>
      </p:pic>
    </p:spTree>
    <p:extLst>
      <p:ext uri="{BB962C8B-B14F-4D97-AF65-F5344CB8AC3E}">
        <p14:creationId xmlns:p14="http://schemas.microsoft.com/office/powerpoint/2010/main" val="973122912"/>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circle(in)">
                                      <p:cBhvr>
                                        <p:cTn id="7" dur="1500"/>
                                        <p:tgtEl>
                                          <p:spTgt spid="46"/>
                                        </p:tgtEl>
                                      </p:cBhvr>
                                    </p:animEffect>
                                  </p:childTnLst>
                                </p:cTn>
                              </p:par>
                            </p:childTnLst>
                          </p:cTn>
                        </p:par>
                        <p:par>
                          <p:cTn id="8" fill="hold">
                            <p:stCondLst>
                              <p:cond delay="1500"/>
                            </p:stCondLst>
                            <p:childTnLst>
                              <p:par>
                                <p:cTn id="9" presetID="16" presetClass="entr" presetSubtype="21" fill="hold" grpId="0" nodeType="afterEffect">
                                  <p:stCondLst>
                                    <p:cond delay="0"/>
                                  </p:stCondLst>
                                  <p:childTnLst>
                                    <p:set>
                                      <p:cBhvr>
                                        <p:cTn id="10" dur="1" fill="hold">
                                          <p:stCondLst>
                                            <p:cond delay="0"/>
                                          </p:stCondLst>
                                        </p:cTn>
                                        <p:tgtEl>
                                          <p:spTgt spid="48"/>
                                        </p:tgtEl>
                                        <p:attrNameLst>
                                          <p:attrName>style.visibility</p:attrName>
                                        </p:attrNameLst>
                                      </p:cBhvr>
                                      <p:to>
                                        <p:strVal val="visible"/>
                                      </p:to>
                                    </p:set>
                                    <p:animEffect transition="in" filter="barn(inVertical)">
                                      <p:cBhvr>
                                        <p:cTn id="11" dur="500"/>
                                        <p:tgtEl>
                                          <p:spTgt spid="48"/>
                                        </p:tgtEl>
                                      </p:cBhvr>
                                    </p:animEffect>
                                  </p:childTnLst>
                                </p:cTn>
                              </p:par>
                            </p:childTnLst>
                          </p:cTn>
                        </p:par>
                        <p:par>
                          <p:cTn id="12" fill="hold">
                            <p:stCondLst>
                              <p:cond delay="2000"/>
                            </p:stCondLst>
                            <p:childTnLst>
                              <p:par>
                                <p:cTn id="13" presetID="2" presetClass="entr" presetSubtype="8" fill="hold" nodeType="afterEffect">
                                  <p:stCondLst>
                                    <p:cond delay="0"/>
                                  </p:stCondLst>
                                  <p:childTnLst>
                                    <p:set>
                                      <p:cBhvr>
                                        <p:cTn id="14" dur="1" fill="hold">
                                          <p:stCondLst>
                                            <p:cond delay="0"/>
                                          </p:stCondLst>
                                        </p:cTn>
                                        <p:tgtEl>
                                          <p:spTgt spid="33"/>
                                        </p:tgtEl>
                                        <p:attrNameLst>
                                          <p:attrName>style.visibility</p:attrName>
                                        </p:attrNameLst>
                                      </p:cBhvr>
                                      <p:to>
                                        <p:strVal val="visible"/>
                                      </p:to>
                                    </p:set>
                                    <p:anim calcmode="lin" valueType="num">
                                      <p:cBhvr additive="base">
                                        <p:cTn id="15" dur="500" fill="hold"/>
                                        <p:tgtEl>
                                          <p:spTgt spid="33"/>
                                        </p:tgtEl>
                                        <p:attrNameLst>
                                          <p:attrName>ppt_x</p:attrName>
                                        </p:attrNameLst>
                                      </p:cBhvr>
                                      <p:tavLst>
                                        <p:tav tm="0">
                                          <p:val>
                                            <p:strVal val="0-#ppt_w/2"/>
                                          </p:val>
                                        </p:tav>
                                        <p:tav tm="100000">
                                          <p:val>
                                            <p:strVal val="#ppt_x"/>
                                          </p:val>
                                        </p:tav>
                                      </p:tavLst>
                                    </p:anim>
                                    <p:anim calcmode="lin" valueType="num">
                                      <p:cBhvr additive="base">
                                        <p:cTn id="16" dur="500" fill="hold"/>
                                        <p:tgtEl>
                                          <p:spTgt spid="33"/>
                                        </p:tgtEl>
                                        <p:attrNameLst>
                                          <p:attrName>ppt_y</p:attrName>
                                        </p:attrNameLst>
                                      </p:cBhvr>
                                      <p:tavLst>
                                        <p:tav tm="0">
                                          <p:val>
                                            <p:strVal val="#ppt_y"/>
                                          </p:val>
                                        </p:tav>
                                        <p:tav tm="100000">
                                          <p:val>
                                            <p:strVal val="#ppt_y"/>
                                          </p:val>
                                        </p:tav>
                                      </p:tavLst>
                                    </p:anim>
                                  </p:childTnLst>
                                </p:cTn>
                              </p:par>
                            </p:childTnLst>
                          </p:cTn>
                        </p:par>
                        <p:par>
                          <p:cTn id="17" fill="hold">
                            <p:stCondLst>
                              <p:cond delay="2500"/>
                            </p:stCondLst>
                            <p:childTnLst>
                              <p:par>
                                <p:cTn id="18" presetID="16" presetClass="entr" presetSubtype="21" fill="hold" nodeType="afterEffect" nodePh="1">
                                  <p:stCondLst>
                                    <p:cond delay="0"/>
                                  </p:stCondLst>
                                  <p:endCondLst>
                                    <p:cond evt="begin" delay="0">
                                      <p:tn val="18"/>
                                    </p:cond>
                                  </p:endCondLst>
                                  <p:childTnLst>
                                    <p:set>
                                      <p:cBhvr>
                                        <p:cTn id="19" dur="1" fill="hold">
                                          <p:stCondLst>
                                            <p:cond delay="0"/>
                                          </p:stCondLst>
                                        </p:cTn>
                                        <p:tgtEl>
                                          <p:spTgt spid="10">
                                            <p:txEl>
                                              <p:pRg st="0" end="0"/>
                                            </p:txEl>
                                          </p:spTgt>
                                        </p:tgtEl>
                                        <p:attrNameLst>
                                          <p:attrName>style.visibility</p:attrName>
                                        </p:attrNameLst>
                                      </p:cBhvr>
                                      <p:to>
                                        <p:strVal val="visible"/>
                                      </p:to>
                                    </p:set>
                                    <p:animEffect transition="in" filter="barn(inVertical)">
                                      <p:cBhvr>
                                        <p:cTn id="20" dur="500"/>
                                        <p:tgtEl>
                                          <p:spTgt spid="10">
                                            <p:txEl>
                                              <p:pRg st="0" end="0"/>
                                            </p:txEl>
                                          </p:spTgt>
                                        </p:tgtEl>
                                      </p:cBhvr>
                                    </p:animEffect>
                                  </p:childTnLst>
                                </p:cTn>
                              </p:par>
                            </p:childTnLst>
                          </p:cTn>
                        </p:par>
                        <p:par>
                          <p:cTn id="21" fill="hold">
                            <p:stCondLst>
                              <p:cond delay="3000"/>
                            </p:stCondLst>
                            <p:childTnLst>
                              <p:par>
                                <p:cTn id="22" presetID="16" presetClass="entr" presetSubtype="21" fill="hold" grpId="0" nodeType="after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barn(inVertical)">
                                      <p:cBhvr>
                                        <p:cTn id="24" dur="500"/>
                                        <p:tgtEl>
                                          <p:spTgt spid="12"/>
                                        </p:tgtEl>
                                      </p:cBhvr>
                                    </p:animEffect>
                                  </p:childTnLst>
                                </p:cTn>
                              </p:par>
                            </p:childTnLst>
                          </p:cTn>
                        </p:par>
                        <p:par>
                          <p:cTn id="25" fill="hold">
                            <p:stCondLst>
                              <p:cond delay="3500"/>
                            </p:stCondLst>
                            <p:childTnLst>
                              <p:par>
                                <p:cTn id="26" presetID="53" presetClass="entr" presetSubtype="16" fill="hold" nodeType="afterEffect">
                                  <p:stCondLst>
                                    <p:cond delay="0"/>
                                  </p:stCondLst>
                                  <p:childTnLst>
                                    <p:set>
                                      <p:cBhvr>
                                        <p:cTn id="27" dur="1" fill="hold">
                                          <p:stCondLst>
                                            <p:cond delay="0"/>
                                          </p:stCondLst>
                                        </p:cTn>
                                        <p:tgtEl>
                                          <p:spTgt spid="11"/>
                                        </p:tgtEl>
                                        <p:attrNameLst>
                                          <p:attrName>style.visibility</p:attrName>
                                        </p:attrNameLst>
                                      </p:cBhvr>
                                      <p:to>
                                        <p:strVal val="visible"/>
                                      </p:to>
                                    </p:set>
                                    <p:anim calcmode="lin" valueType="num">
                                      <p:cBhvr>
                                        <p:cTn id="28" dur="500" fill="hold"/>
                                        <p:tgtEl>
                                          <p:spTgt spid="11"/>
                                        </p:tgtEl>
                                        <p:attrNameLst>
                                          <p:attrName>ppt_w</p:attrName>
                                        </p:attrNameLst>
                                      </p:cBhvr>
                                      <p:tavLst>
                                        <p:tav tm="0">
                                          <p:val>
                                            <p:fltVal val="0"/>
                                          </p:val>
                                        </p:tav>
                                        <p:tav tm="100000">
                                          <p:val>
                                            <p:strVal val="#ppt_w"/>
                                          </p:val>
                                        </p:tav>
                                      </p:tavLst>
                                    </p:anim>
                                    <p:anim calcmode="lin" valueType="num">
                                      <p:cBhvr>
                                        <p:cTn id="29" dur="500" fill="hold"/>
                                        <p:tgtEl>
                                          <p:spTgt spid="11"/>
                                        </p:tgtEl>
                                        <p:attrNameLst>
                                          <p:attrName>ppt_h</p:attrName>
                                        </p:attrNameLst>
                                      </p:cBhvr>
                                      <p:tavLst>
                                        <p:tav tm="0">
                                          <p:val>
                                            <p:fltVal val="0"/>
                                          </p:val>
                                        </p:tav>
                                        <p:tav tm="100000">
                                          <p:val>
                                            <p:strVal val="#ppt_h"/>
                                          </p:val>
                                        </p:tav>
                                      </p:tavLst>
                                    </p:anim>
                                    <p:animEffect transition="in" filter="fade">
                                      <p:cBhvr>
                                        <p:cTn id="30"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p:bldP spid="48" grpId="0"/>
      <p:bldP spid="12"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2"/>
          <a:stretch>
            <a:fillRect/>
          </a:stretch>
        </p:blipFill>
        <p:spPr>
          <a:xfrm rot="16200000">
            <a:off x="145169" y="-145167"/>
            <a:ext cx="1268414" cy="1558750"/>
          </a:xfrm>
          <a:prstGeom prst="rect">
            <a:avLst/>
          </a:prstGeom>
        </p:spPr>
      </p:pic>
      <p:sp>
        <p:nvSpPr>
          <p:cNvPr id="9" name="文字方塊 8">
            <a:extLst>
              <a:ext uri="{FF2B5EF4-FFF2-40B4-BE49-F238E27FC236}">
                <a16:creationId xmlns:a16="http://schemas.microsoft.com/office/drawing/2014/main" id="{81D0666A-D96D-4B5B-9036-192FA53FE435}"/>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cxnSp>
        <p:nvCxnSpPr>
          <p:cNvPr id="33" name="直接连接符 33">
            <a:extLst>
              <a:ext uri="{FF2B5EF4-FFF2-40B4-BE49-F238E27FC236}">
                <a16:creationId xmlns:a16="http://schemas.microsoft.com/office/drawing/2014/main" id="{DFF80DCD-8EF0-4D2F-8380-59FA348D932C}"/>
              </a:ext>
            </a:extLst>
          </p:cNvPr>
          <p:cNvCxnSpPr/>
          <p:nvPr/>
        </p:nvCxnSpPr>
        <p:spPr>
          <a:xfrm>
            <a:off x="1177167" y="1046746"/>
            <a:ext cx="10585176"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6" name="標題 1"/>
          <p:cNvSpPr txBox="1">
            <a:spLocks/>
          </p:cNvSpPr>
          <p:nvPr/>
        </p:nvSpPr>
        <p:spPr>
          <a:xfrm>
            <a:off x="854426" y="112999"/>
            <a:ext cx="5288853"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7-3 </a:t>
            </a:r>
            <a:r>
              <a:rPr lang="zh-TW" altLang="en-US" sz="2400" b="1" dirty="0">
                <a:solidFill>
                  <a:srgbClr val="E06741"/>
                </a:solidFill>
              </a:rPr>
              <a:t>實務案例</a:t>
            </a:r>
            <a:r>
              <a:rPr lang="en-US" altLang="zh-TW" sz="2400" b="1" dirty="0">
                <a:solidFill>
                  <a:srgbClr val="E06741"/>
                </a:solidFill>
              </a:rPr>
              <a:t>-</a:t>
            </a:r>
            <a:r>
              <a:rPr lang="zh-TW" altLang="en-US" sz="2400" b="1" dirty="0">
                <a:solidFill>
                  <a:srgbClr val="E06741"/>
                </a:solidFill>
              </a:rPr>
              <a:t>農產履歷</a:t>
            </a:r>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sp>
        <p:nvSpPr>
          <p:cNvPr id="48" name="文字方塊 47">
            <a:extLst>
              <a:ext uri="{FF2B5EF4-FFF2-40B4-BE49-F238E27FC236}">
                <a16:creationId xmlns:a16="http://schemas.microsoft.com/office/drawing/2014/main" id="{AD7F4831-1A36-4A2F-ACBE-344F724510DC}"/>
              </a:ext>
            </a:extLst>
          </p:cNvPr>
          <p:cNvSpPr txBox="1"/>
          <p:nvPr/>
        </p:nvSpPr>
        <p:spPr>
          <a:xfrm>
            <a:off x="5130089" y="350241"/>
            <a:ext cx="2242922"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-2</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案例區塊鍊運用</a:t>
            </a:r>
          </a:p>
        </p:txBody>
      </p:sp>
      <p:sp>
        <p:nvSpPr>
          <p:cNvPr id="10" name="文字方塊 9">
            <a:extLst>
              <a:ext uri="{FF2B5EF4-FFF2-40B4-BE49-F238E27FC236}">
                <a16:creationId xmlns:a16="http://schemas.microsoft.com/office/drawing/2014/main" id="{BF94E171-0176-49DD-BE6C-DB2D96B94A88}"/>
              </a:ext>
            </a:extLst>
          </p:cNvPr>
          <p:cNvSpPr txBox="1"/>
          <p:nvPr/>
        </p:nvSpPr>
        <p:spPr>
          <a:xfrm>
            <a:off x="1177167" y="1816567"/>
            <a:ext cx="9663430" cy="578492"/>
          </a:xfrm>
          <a:prstGeom prst="rect">
            <a:avLst/>
          </a:prstGeom>
          <a:noFill/>
        </p:spPr>
        <p:txBody>
          <a:bodyPr wrap="square" rtlCol="0">
            <a:spAutoFit/>
          </a:bodyPr>
          <a:lstStyle/>
          <a:p>
            <a:pPr marL="342900" indent="-342900">
              <a:lnSpc>
                <a:spcPct val="150000"/>
              </a:lnSpc>
              <a:buBlip>
                <a:blip r:embed="rId3"/>
              </a:buBlip>
            </a:pP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sp>
        <p:nvSpPr>
          <p:cNvPr id="12" name="文字方塊 11">
            <a:extLst>
              <a:ext uri="{FF2B5EF4-FFF2-40B4-BE49-F238E27FC236}">
                <a16:creationId xmlns:a16="http://schemas.microsoft.com/office/drawing/2014/main" id="{BF94E171-0176-49DD-BE6C-DB2D96B94A88}"/>
              </a:ext>
            </a:extLst>
          </p:cNvPr>
          <p:cNvSpPr txBox="1"/>
          <p:nvPr/>
        </p:nvSpPr>
        <p:spPr>
          <a:xfrm>
            <a:off x="1270713" y="1381414"/>
            <a:ext cx="9011718" cy="2794483"/>
          </a:xfrm>
          <a:prstGeom prst="rect">
            <a:avLst/>
          </a:prstGeom>
          <a:noFill/>
        </p:spPr>
        <p:txBody>
          <a:bodyPr wrap="square" rtlCol="0">
            <a:spAutoFit/>
          </a:bodyPr>
          <a:lstStyle/>
          <a:p>
            <a:pPr marL="342900" indent="-342900">
              <a:lnSpc>
                <a:spcPct val="150000"/>
              </a:lnSpc>
              <a:buBlip>
                <a:blip r:embed="rId3"/>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依據「產銷履歷農產品驗證管理辦法」第 </a:t>
            </a:r>
            <a:r>
              <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t>2 </a:t>
            </a: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條第 </a:t>
            </a:r>
            <a:r>
              <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t>1 </a:t>
            </a: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款的</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800100" lvl="1" indent="-342900">
              <a:lnSpc>
                <a:spcPct val="150000"/>
              </a:lnSpc>
              <a:buBlip>
                <a:blip r:embed="rId3"/>
              </a:buBlip>
            </a:pPr>
            <a:r>
              <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t>TGAP </a:t>
            </a: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係指「農產品之產製過程，依照中央主管機關訂定之標準化作業流程及模式進行生產作業，有效排除風險因素，降低環境負荷，以確保農產品安全與品質」之作業規範。</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342900" indent="-342900">
              <a:lnSpc>
                <a:spcPct val="150000"/>
              </a:lnSpc>
              <a:buBlip>
                <a:blip r:embed="rId3"/>
              </a:buBlip>
            </a:pPr>
            <a:endPar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pic>
        <p:nvPicPr>
          <p:cNvPr id="11" name="圖片 10">
            <a:extLst>
              <a:ext uri="{FF2B5EF4-FFF2-40B4-BE49-F238E27FC236}">
                <a16:creationId xmlns:a16="http://schemas.microsoft.com/office/drawing/2014/main" id="{3831A1A3-856F-433E-A711-4E5F07DBD27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984391" y="3994875"/>
            <a:ext cx="2341833" cy="2341833"/>
          </a:xfrm>
          <a:prstGeom prst="rect">
            <a:avLst/>
          </a:prstGeom>
        </p:spPr>
      </p:pic>
    </p:spTree>
    <p:extLst>
      <p:ext uri="{BB962C8B-B14F-4D97-AF65-F5344CB8AC3E}">
        <p14:creationId xmlns:p14="http://schemas.microsoft.com/office/powerpoint/2010/main" val="792901953"/>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circle(in)">
                                      <p:cBhvr>
                                        <p:cTn id="7" dur="1500"/>
                                        <p:tgtEl>
                                          <p:spTgt spid="46"/>
                                        </p:tgtEl>
                                      </p:cBhvr>
                                    </p:animEffect>
                                  </p:childTnLst>
                                </p:cTn>
                              </p:par>
                            </p:childTnLst>
                          </p:cTn>
                        </p:par>
                        <p:par>
                          <p:cTn id="8" fill="hold">
                            <p:stCondLst>
                              <p:cond delay="1500"/>
                            </p:stCondLst>
                            <p:childTnLst>
                              <p:par>
                                <p:cTn id="9" presetID="16" presetClass="entr" presetSubtype="21" fill="hold" grpId="0" nodeType="afterEffect">
                                  <p:stCondLst>
                                    <p:cond delay="0"/>
                                  </p:stCondLst>
                                  <p:childTnLst>
                                    <p:set>
                                      <p:cBhvr>
                                        <p:cTn id="10" dur="1" fill="hold">
                                          <p:stCondLst>
                                            <p:cond delay="0"/>
                                          </p:stCondLst>
                                        </p:cTn>
                                        <p:tgtEl>
                                          <p:spTgt spid="48"/>
                                        </p:tgtEl>
                                        <p:attrNameLst>
                                          <p:attrName>style.visibility</p:attrName>
                                        </p:attrNameLst>
                                      </p:cBhvr>
                                      <p:to>
                                        <p:strVal val="visible"/>
                                      </p:to>
                                    </p:set>
                                    <p:animEffect transition="in" filter="barn(inVertical)">
                                      <p:cBhvr>
                                        <p:cTn id="11" dur="500"/>
                                        <p:tgtEl>
                                          <p:spTgt spid="48"/>
                                        </p:tgtEl>
                                      </p:cBhvr>
                                    </p:animEffect>
                                  </p:childTnLst>
                                </p:cTn>
                              </p:par>
                            </p:childTnLst>
                          </p:cTn>
                        </p:par>
                        <p:par>
                          <p:cTn id="12" fill="hold">
                            <p:stCondLst>
                              <p:cond delay="2000"/>
                            </p:stCondLst>
                            <p:childTnLst>
                              <p:par>
                                <p:cTn id="13" presetID="2" presetClass="entr" presetSubtype="8" fill="hold" nodeType="afterEffect">
                                  <p:stCondLst>
                                    <p:cond delay="0"/>
                                  </p:stCondLst>
                                  <p:childTnLst>
                                    <p:set>
                                      <p:cBhvr>
                                        <p:cTn id="14" dur="1" fill="hold">
                                          <p:stCondLst>
                                            <p:cond delay="0"/>
                                          </p:stCondLst>
                                        </p:cTn>
                                        <p:tgtEl>
                                          <p:spTgt spid="33"/>
                                        </p:tgtEl>
                                        <p:attrNameLst>
                                          <p:attrName>style.visibility</p:attrName>
                                        </p:attrNameLst>
                                      </p:cBhvr>
                                      <p:to>
                                        <p:strVal val="visible"/>
                                      </p:to>
                                    </p:set>
                                    <p:anim calcmode="lin" valueType="num">
                                      <p:cBhvr additive="base">
                                        <p:cTn id="15" dur="500" fill="hold"/>
                                        <p:tgtEl>
                                          <p:spTgt spid="33"/>
                                        </p:tgtEl>
                                        <p:attrNameLst>
                                          <p:attrName>ppt_x</p:attrName>
                                        </p:attrNameLst>
                                      </p:cBhvr>
                                      <p:tavLst>
                                        <p:tav tm="0">
                                          <p:val>
                                            <p:strVal val="0-#ppt_w/2"/>
                                          </p:val>
                                        </p:tav>
                                        <p:tav tm="100000">
                                          <p:val>
                                            <p:strVal val="#ppt_x"/>
                                          </p:val>
                                        </p:tav>
                                      </p:tavLst>
                                    </p:anim>
                                    <p:anim calcmode="lin" valueType="num">
                                      <p:cBhvr additive="base">
                                        <p:cTn id="16" dur="500" fill="hold"/>
                                        <p:tgtEl>
                                          <p:spTgt spid="33"/>
                                        </p:tgtEl>
                                        <p:attrNameLst>
                                          <p:attrName>ppt_y</p:attrName>
                                        </p:attrNameLst>
                                      </p:cBhvr>
                                      <p:tavLst>
                                        <p:tav tm="0">
                                          <p:val>
                                            <p:strVal val="#ppt_y"/>
                                          </p:val>
                                        </p:tav>
                                        <p:tav tm="100000">
                                          <p:val>
                                            <p:strVal val="#ppt_y"/>
                                          </p:val>
                                        </p:tav>
                                      </p:tavLst>
                                    </p:anim>
                                  </p:childTnLst>
                                </p:cTn>
                              </p:par>
                            </p:childTnLst>
                          </p:cTn>
                        </p:par>
                        <p:par>
                          <p:cTn id="17" fill="hold">
                            <p:stCondLst>
                              <p:cond delay="2500"/>
                            </p:stCondLst>
                            <p:childTnLst>
                              <p:par>
                                <p:cTn id="18" presetID="16" presetClass="entr" presetSubtype="21" fill="hold" nodeType="afterEffect" nodePh="1">
                                  <p:stCondLst>
                                    <p:cond delay="0"/>
                                  </p:stCondLst>
                                  <p:endCondLst>
                                    <p:cond evt="begin" delay="0">
                                      <p:tn val="18"/>
                                    </p:cond>
                                  </p:endCondLst>
                                  <p:childTnLst>
                                    <p:set>
                                      <p:cBhvr>
                                        <p:cTn id="19" dur="1" fill="hold">
                                          <p:stCondLst>
                                            <p:cond delay="0"/>
                                          </p:stCondLst>
                                        </p:cTn>
                                        <p:tgtEl>
                                          <p:spTgt spid="10">
                                            <p:txEl>
                                              <p:pRg st="0" end="0"/>
                                            </p:txEl>
                                          </p:spTgt>
                                        </p:tgtEl>
                                        <p:attrNameLst>
                                          <p:attrName>style.visibility</p:attrName>
                                        </p:attrNameLst>
                                      </p:cBhvr>
                                      <p:to>
                                        <p:strVal val="visible"/>
                                      </p:to>
                                    </p:set>
                                    <p:animEffect transition="in" filter="barn(inVertical)">
                                      <p:cBhvr>
                                        <p:cTn id="20" dur="500"/>
                                        <p:tgtEl>
                                          <p:spTgt spid="10">
                                            <p:txEl>
                                              <p:pRg st="0" end="0"/>
                                            </p:txEl>
                                          </p:spTgt>
                                        </p:tgtEl>
                                      </p:cBhvr>
                                    </p:animEffect>
                                  </p:childTnLst>
                                </p:cTn>
                              </p:par>
                            </p:childTnLst>
                          </p:cTn>
                        </p:par>
                        <p:par>
                          <p:cTn id="21" fill="hold">
                            <p:stCondLst>
                              <p:cond delay="3000"/>
                            </p:stCondLst>
                            <p:childTnLst>
                              <p:par>
                                <p:cTn id="22" presetID="16" presetClass="entr" presetSubtype="21" fill="hold" grpId="0" nodeType="after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barn(inVertical)">
                                      <p:cBhvr>
                                        <p:cTn id="24" dur="500"/>
                                        <p:tgtEl>
                                          <p:spTgt spid="12"/>
                                        </p:tgtEl>
                                      </p:cBhvr>
                                    </p:animEffect>
                                  </p:childTnLst>
                                </p:cTn>
                              </p:par>
                            </p:childTnLst>
                          </p:cTn>
                        </p:par>
                        <p:par>
                          <p:cTn id="25" fill="hold">
                            <p:stCondLst>
                              <p:cond delay="3500"/>
                            </p:stCondLst>
                            <p:childTnLst>
                              <p:par>
                                <p:cTn id="26" presetID="53" presetClass="entr" presetSubtype="16" fill="hold" nodeType="afterEffect">
                                  <p:stCondLst>
                                    <p:cond delay="0"/>
                                  </p:stCondLst>
                                  <p:childTnLst>
                                    <p:set>
                                      <p:cBhvr>
                                        <p:cTn id="27" dur="1" fill="hold">
                                          <p:stCondLst>
                                            <p:cond delay="0"/>
                                          </p:stCondLst>
                                        </p:cTn>
                                        <p:tgtEl>
                                          <p:spTgt spid="11"/>
                                        </p:tgtEl>
                                        <p:attrNameLst>
                                          <p:attrName>style.visibility</p:attrName>
                                        </p:attrNameLst>
                                      </p:cBhvr>
                                      <p:to>
                                        <p:strVal val="visible"/>
                                      </p:to>
                                    </p:set>
                                    <p:anim calcmode="lin" valueType="num">
                                      <p:cBhvr>
                                        <p:cTn id="28" dur="500" fill="hold"/>
                                        <p:tgtEl>
                                          <p:spTgt spid="11"/>
                                        </p:tgtEl>
                                        <p:attrNameLst>
                                          <p:attrName>ppt_w</p:attrName>
                                        </p:attrNameLst>
                                      </p:cBhvr>
                                      <p:tavLst>
                                        <p:tav tm="0">
                                          <p:val>
                                            <p:fltVal val="0"/>
                                          </p:val>
                                        </p:tav>
                                        <p:tav tm="100000">
                                          <p:val>
                                            <p:strVal val="#ppt_w"/>
                                          </p:val>
                                        </p:tav>
                                      </p:tavLst>
                                    </p:anim>
                                    <p:anim calcmode="lin" valueType="num">
                                      <p:cBhvr>
                                        <p:cTn id="29" dur="500" fill="hold"/>
                                        <p:tgtEl>
                                          <p:spTgt spid="11"/>
                                        </p:tgtEl>
                                        <p:attrNameLst>
                                          <p:attrName>ppt_h</p:attrName>
                                        </p:attrNameLst>
                                      </p:cBhvr>
                                      <p:tavLst>
                                        <p:tav tm="0">
                                          <p:val>
                                            <p:fltVal val="0"/>
                                          </p:val>
                                        </p:tav>
                                        <p:tav tm="100000">
                                          <p:val>
                                            <p:strVal val="#ppt_h"/>
                                          </p:val>
                                        </p:tav>
                                      </p:tavLst>
                                    </p:anim>
                                    <p:animEffect transition="in" filter="fade">
                                      <p:cBhvr>
                                        <p:cTn id="30"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p:bldP spid="48" grpId="0"/>
      <p:bldP spid="12"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2"/>
          <a:stretch>
            <a:fillRect/>
          </a:stretch>
        </p:blipFill>
        <p:spPr>
          <a:xfrm rot="16200000">
            <a:off x="145169" y="-145167"/>
            <a:ext cx="1268414" cy="1558750"/>
          </a:xfrm>
          <a:prstGeom prst="rect">
            <a:avLst/>
          </a:prstGeom>
        </p:spPr>
      </p:pic>
      <p:sp>
        <p:nvSpPr>
          <p:cNvPr id="9" name="文字方塊 8">
            <a:extLst>
              <a:ext uri="{FF2B5EF4-FFF2-40B4-BE49-F238E27FC236}">
                <a16:creationId xmlns:a16="http://schemas.microsoft.com/office/drawing/2014/main" id="{81D0666A-D96D-4B5B-9036-192FA53FE435}"/>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cxnSp>
        <p:nvCxnSpPr>
          <p:cNvPr id="33" name="直接连接符 33">
            <a:extLst>
              <a:ext uri="{FF2B5EF4-FFF2-40B4-BE49-F238E27FC236}">
                <a16:creationId xmlns:a16="http://schemas.microsoft.com/office/drawing/2014/main" id="{DFF80DCD-8EF0-4D2F-8380-59FA348D932C}"/>
              </a:ext>
            </a:extLst>
          </p:cNvPr>
          <p:cNvCxnSpPr/>
          <p:nvPr/>
        </p:nvCxnSpPr>
        <p:spPr>
          <a:xfrm>
            <a:off x="1177167" y="1046746"/>
            <a:ext cx="10585176"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6" name="標題 1"/>
          <p:cNvSpPr txBox="1">
            <a:spLocks/>
          </p:cNvSpPr>
          <p:nvPr/>
        </p:nvSpPr>
        <p:spPr>
          <a:xfrm>
            <a:off x="854426" y="112999"/>
            <a:ext cx="5288853"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7-3 </a:t>
            </a:r>
            <a:r>
              <a:rPr lang="zh-TW" altLang="en-US" sz="2400" b="1" dirty="0">
                <a:solidFill>
                  <a:srgbClr val="E06741"/>
                </a:solidFill>
              </a:rPr>
              <a:t>實務案例</a:t>
            </a:r>
            <a:r>
              <a:rPr lang="en-US" altLang="zh-TW" sz="2400" b="1" dirty="0">
                <a:solidFill>
                  <a:srgbClr val="E06741"/>
                </a:solidFill>
              </a:rPr>
              <a:t>-</a:t>
            </a:r>
            <a:r>
              <a:rPr lang="zh-TW" altLang="en-US" sz="2400" b="1" dirty="0">
                <a:solidFill>
                  <a:srgbClr val="E06741"/>
                </a:solidFill>
              </a:rPr>
              <a:t>農產履歷</a:t>
            </a:r>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sp>
        <p:nvSpPr>
          <p:cNvPr id="48" name="文字方塊 47">
            <a:extLst>
              <a:ext uri="{FF2B5EF4-FFF2-40B4-BE49-F238E27FC236}">
                <a16:creationId xmlns:a16="http://schemas.microsoft.com/office/drawing/2014/main" id="{AD7F4831-1A36-4A2F-ACBE-344F724510DC}"/>
              </a:ext>
            </a:extLst>
          </p:cNvPr>
          <p:cNvSpPr txBox="1"/>
          <p:nvPr/>
        </p:nvSpPr>
        <p:spPr>
          <a:xfrm>
            <a:off x="5130089" y="350241"/>
            <a:ext cx="2242922"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-2</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案例區塊鍊運用</a:t>
            </a:r>
          </a:p>
        </p:txBody>
      </p:sp>
      <p:sp>
        <p:nvSpPr>
          <p:cNvPr id="10" name="文字方塊 9">
            <a:extLst>
              <a:ext uri="{FF2B5EF4-FFF2-40B4-BE49-F238E27FC236}">
                <a16:creationId xmlns:a16="http://schemas.microsoft.com/office/drawing/2014/main" id="{BF94E171-0176-49DD-BE6C-DB2D96B94A88}"/>
              </a:ext>
            </a:extLst>
          </p:cNvPr>
          <p:cNvSpPr txBox="1"/>
          <p:nvPr/>
        </p:nvSpPr>
        <p:spPr>
          <a:xfrm>
            <a:off x="1177167" y="1816567"/>
            <a:ext cx="9663430" cy="578492"/>
          </a:xfrm>
          <a:prstGeom prst="rect">
            <a:avLst/>
          </a:prstGeom>
          <a:noFill/>
        </p:spPr>
        <p:txBody>
          <a:bodyPr wrap="square" rtlCol="0">
            <a:spAutoFit/>
          </a:bodyPr>
          <a:lstStyle/>
          <a:p>
            <a:pPr marL="342900" indent="-342900">
              <a:lnSpc>
                <a:spcPct val="150000"/>
              </a:lnSpc>
              <a:buBlip>
                <a:blip r:embed="rId3"/>
              </a:buBlip>
            </a:pP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sp>
        <p:nvSpPr>
          <p:cNvPr id="3" name="圓角矩形 2"/>
          <p:cNvSpPr/>
          <p:nvPr/>
        </p:nvSpPr>
        <p:spPr>
          <a:xfrm>
            <a:off x="1177167" y="2179241"/>
            <a:ext cx="2960724" cy="85898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2000" b="1" dirty="0">
                <a:solidFill>
                  <a:schemeClr val="bg1"/>
                </a:solidFill>
                <a:latin typeface="微軟正黑體" panose="020B0604030504040204" pitchFamily="34" charset="-120"/>
                <a:ea typeface="微軟正黑體" panose="020B0604030504040204" pitchFamily="34" charset="-120"/>
              </a:rPr>
              <a:t>生產紀錄審查</a:t>
            </a:r>
            <a:endParaRPr lang="zh-TW" altLang="en-US" sz="2000" dirty="0">
              <a:solidFill>
                <a:schemeClr val="bg1"/>
              </a:solidFill>
            </a:endParaRPr>
          </a:p>
        </p:txBody>
      </p:sp>
      <p:sp>
        <p:nvSpPr>
          <p:cNvPr id="11" name="圓角矩形 10"/>
          <p:cNvSpPr/>
          <p:nvPr/>
        </p:nvSpPr>
        <p:spPr>
          <a:xfrm>
            <a:off x="1177167" y="3971508"/>
            <a:ext cx="2960724" cy="85898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2000" b="1" dirty="0">
                <a:solidFill>
                  <a:schemeClr val="bg1"/>
                </a:solidFill>
                <a:latin typeface="微軟正黑體" panose="020B0604030504040204" pitchFamily="34" charset="-120"/>
                <a:ea typeface="微軟正黑體" panose="020B0604030504040204" pitchFamily="34" charset="-120"/>
              </a:rPr>
              <a:t>品質管理系統審查</a:t>
            </a:r>
          </a:p>
        </p:txBody>
      </p:sp>
      <p:sp>
        <p:nvSpPr>
          <p:cNvPr id="4" name="矩形 3"/>
          <p:cNvSpPr/>
          <p:nvPr/>
        </p:nvSpPr>
        <p:spPr>
          <a:xfrm>
            <a:off x="1510025" y="4828415"/>
            <a:ext cx="2399062" cy="1703351"/>
          </a:xfrm>
          <a:prstGeom prst="rect">
            <a:avLst/>
          </a:prstGeom>
        </p:spPr>
        <p:txBody>
          <a:bodyPr wrap="square">
            <a:spAutoFit/>
          </a:bodyPr>
          <a:lstStyle/>
          <a:p>
            <a:pPr marL="342900" indent="-342900">
              <a:lnSpc>
                <a:spcPct val="150000"/>
              </a:lnSpc>
              <a:buFont typeface="+mj-lt"/>
              <a:buAutoNum type="arabicPeriod"/>
            </a:pPr>
            <a:r>
              <a:rPr lang="zh-TW" altLang="en-US" b="1" dirty="0">
                <a:solidFill>
                  <a:schemeClr val="tx1">
                    <a:lumMod val="75000"/>
                    <a:lumOff val="25000"/>
                  </a:schemeClr>
                </a:solidFill>
                <a:latin typeface="微軟正黑體" panose="020B0604030504040204" pitchFamily="34" charset="-120"/>
                <a:ea typeface="微軟正黑體" panose="020B0604030504040204" pitchFamily="34" charset="-120"/>
              </a:rPr>
              <a:t>文件審查</a:t>
            </a:r>
            <a:endParaRPr lang="en-US" altLang="zh-TW"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342900" indent="-342900">
              <a:lnSpc>
                <a:spcPct val="150000"/>
              </a:lnSpc>
              <a:buFont typeface="+mj-lt"/>
              <a:buAutoNum type="arabicPeriod"/>
            </a:pPr>
            <a:r>
              <a:rPr lang="zh-TW" altLang="en-US" b="1" dirty="0">
                <a:solidFill>
                  <a:schemeClr val="tx1">
                    <a:lumMod val="75000"/>
                    <a:lumOff val="25000"/>
                  </a:schemeClr>
                </a:solidFill>
                <a:latin typeface="微軟正黑體" panose="020B0604030504040204" pitchFamily="34" charset="-120"/>
                <a:ea typeface="微軟正黑體" panose="020B0604030504040204" pitchFamily="34" charset="-120"/>
              </a:rPr>
              <a:t>現場操作情形</a:t>
            </a:r>
            <a:endParaRPr lang="en-US" altLang="zh-TW"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342900" indent="-342900">
              <a:lnSpc>
                <a:spcPct val="150000"/>
              </a:lnSpc>
              <a:buFont typeface="+mj-lt"/>
              <a:buAutoNum type="arabicPeriod"/>
            </a:pPr>
            <a:r>
              <a:rPr lang="zh-TW" altLang="en-US" b="1" dirty="0">
                <a:solidFill>
                  <a:schemeClr val="tx1">
                    <a:lumMod val="75000"/>
                    <a:lumOff val="25000"/>
                  </a:schemeClr>
                </a:solidFill>
                <a:latin typeface="微軟正黑體" panose="020B0604030504040204" pitchFamily="34" charset="-120"/>
                <a:ea typeface="微軟正黑體" panose="020B0604030504040204" pitchFamily="34" charset="-120"/>
              </a:rPr>
              <a:t>人員能力稽核確認</a:t>
            </a:r>
            <a:endParaRPr lang="en-US" altLang="zh-TW"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342900" indent="-342900">
              <a:lnSpc>
                <a:spcPct val="150000"/>
              </a:lnSpc>
              <a:buFont typeface="+mj-lt"/>
              <a:buAutoNum type="arabicPeriod"/>
            </a:pPr>
            <a:r>
              <a:rPr lang="zh-TW" altLang="en-US" b="1" dirty="0">
                <a:solidFill>
                  <a:schemeClr val="tx1">
                    <a:lumMod val="75000"/>
                    <a:lumOff val="25000"/>
                  </a:schemeClr>
                </a:solidFill>
                <a:latin typeface="微軟正黑體" panose="020B0604030504040204" pitchFamily="34" charset="-120"/>
                <a:ea typeface="微軟正黑體" panose="020B0604030504040204" pitchFamily="34" charset="-120"/>
              </a:rPr>
              <a:t>產品的抽樣檢驗</a:t>
            </a:r>
            <a:endParaRPr lang="zh-TW" altLang="en-US" dirty="0"/>
          </a:p>
        </p:txBody>
      </p:sp>
      <p:sp>
        <p:nvSpPr>
          <p:cNvPr id="6" name="加號 5"/>
          <p:cNvSpPr/>
          <p:nvPr/>
        </p:nvSpPr>
        <p:spPr>
          <a:xfrm>
            <a:off x="2269601" y="3164879"/>
            <a:ext cx="775855" cy="719831"/>
          </a:xfrm>
          <a:prstGeom prst="mathPlu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5" name="文字方塊 14">
            <a:extLst>
              <a:ext uri="{FF2B5EF4-FFF2-40B4-BE49-F238E27FC236}">
                <a16:creationId xmlns:a16="http://schemas.microsoft.com/office/drawing/2014/main" id="{BF94E171-0176-49DD-BE6C-DB2D96B94A88}"/>
              </a:ext>
            </a:extLst>
          </p:cNvPr>
          <p:cNvSpPr txBox="1"/>
          <p:nvPr/>
        </p:nvSpPr>
        <p:spPr>
          <a:xfrm>
            <a:off x="1083627" y="1310135"/>
            <a:ext cx="9011718" cy="646331"/>
          </a:xfrm>
          <a:prstGeom prst="rect">
            <a:avLst/>
          </a:prstGeom>
          <a:noFill/>
        </p:spPr>
        <p:txBody>
          <a:bodyPr wrap="square" rtlCol="0">
            <a:spAutoFit/>
          </a:bodyPr>
          <a:lstStyle/>
          <a:p>
            <a:pPr marL="342900" indent="-342900">
              <a:lnSpc>
                <a:spcPct val="150000"/>
              </a:lnSpc>
              <a:buBlip>
                <a:blip r:embed="rId3"/>
              </a:buBlip>
            </a:pPr>
            <a:r>
              <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t>TGAP</a:t>
            </a: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驗證程序</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sp>
        <p:nvSpPr>
          <p:cNvPr id="7" name="向右箭號 6"/>
          <p:cNvSpPr/>
          <p:nvPr/>
        </p:nvSpPr>
        <p:spPr>
          <a:xfrm>
            <a:off x="4313382" y="3282540"/>
            <a:ext cx="932873" cy="45571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3" name="圓角矩形 12"/>
          <p:cNvSpPr/>
          <p:nvPr/>
        </p:nvSpPr>
        <p:spPr>
          <a:xfrm>
            <a:off x="5367424" y="3169917"/>
            <a:ext cx="1551709" cy="68095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b="1" dirty="0">
                <a:latin typeface="微軟正黑體" panose="020B0604030504040204" pitchFamily="34" charset="-120"/>
                <a:ea typeface="微軟正黑體" panose="020B0604030504040204" pitchFamily="34" charset="-120"/>
              </a:rPr>
              <a:t>審議決定</a:t>
            </a:r>
          </a:p>
        </p:txBody>
      </p:sp>
      <p:sp>
        <p:nvSpPr>
          <p:cNvPr id="14" name="向右箭號 13"/>
          <p:cNvSpPr/>
          <p:nvPr/>
        </p:nvSpPr>
        <p:spPr>
          <a:xfrm>
            <a:off x="7121236" y="3282540"/>
            <a:ext cx="757382" cy="42187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6" name="圓角矩形 15"/>
          <p:cNvSpPr/>
          <p:nvPr/>
        </p:nvSpPr>
        <p:spPr>
          <a:xfrm>
            <a:off x="8049610" y="3209310"/>
            <a:ext cx="1191491" cy="56833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b="1" dirty="0">
                <a:latin typeface="微軟正黑體" panose="020B0604030504040204" pitchFamily="34" charset="-120"/>
                <a:ea typeface="微軟正黑體" panose="020B0604030504040204" pitchFamily="34" charset="-120"/>
              </a:rPr>
              <a:t>通過</a:t>
            </a:r>
          </a:p>
        </p:txBody>
      </p:sp>
      <p:sp>
        <p:nvSpPr>
          <p:cNvPr id="20" name="向右箭號 19"/>
          <p:cNvSpPr/>
          <p:nvPr/>
        </p:nvSpPr>
        <p:spPr>
          <a:xfrm>
            <a:off x="9412093" y="3282540"/>
            <a:ext cx="757382" cy="42187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17" name="圓角矩形 16"/>
          <p:cNvSpPr/>
          <p:nvPr/>
        </p:nvSpPr>
        <p:spPr>
          <a:xfrm>
            <a:off x="10371578" y="2410329"/>
            <a:ext cx="1533237" cy="222892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b="1" dirty="0">
                <a:latin typeface="微軟正黑體" panose="020B0604030504040204" pitchFamily="34" charset="-120"/>
                <a:ea typeface="微軟正黑體" panose="020B0604030504040204" pitchFamily="34" charset="-120"/>
              </a:rPr>
              <a:t>每年至少一次定期或不定期追蹤檢查</a:t>
            </a:r>
          </a:p>
        </p:txBody>
      </p:sp>
      <p:sp>
        <p:nvSpPr>
          <p:cNvPr id="18" name="文字方塊 17"/>
          <p:cNvSpPr txBox="1"/>
          <p:nvPr/>
        </p:nvSpPr>
        <p:spPr>
          <a:xfrm>
            <a:off x="4527793" y="4553020"/>
            <a:ext cx="1436923" cy="646331"/>
          </a:xfrm>
          <a:prstGeom prst="rect">
            <a:avLst/>
          </a:prstGeom>
          <a:noFill/>
        </p:spPr>
        <p:txBody>
          <a:bodyPr wrap="square" rtlCol="0">
            <a:spAutoFit/>
          </a:bodyPr>
          <a:lstStyle/>
          <a:p>
            <a:r>
              <a:rPr lang="zh-TW" altLang="en-US" dirty="0"/>
              <a:t>缺失經農民矯正完成後</a:t>
            </a:r>
          </a:p>
        </p:txBody>
      </p:sp>
      <p:cxnSp>
        <p:nvCxnSpPr>
          <p:cNvPr id="21" name="肘形接點 20"/>
          <p:cNvCxnSpPr/>
          <p:nvPr/>
        </p:nvCxnSpPr>
        <p:spPr>
          <a:xfrm rot="16200000" flipH="1">
            <a:off x="4522632" y="3800024"/>
            <a:ext cx="915179" cy="576298"/>
          </a:xfrm>
          <a:prstGeom prst="bentConnector3">
            <a:avLst>
              <a:gd name="adj1" fmla="val 50000"/>
            </a:avLst>
          </a:prstGeom>
          <a:ln>
            <a:tailEnd type="triangl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278251608"/>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circle(in)">
                                      <p:cBhvr>
                                        <p:cTn id="7" dur="1500"/>
                                        <p:tgtEl>
                                          <p:spTgt spid="46"/>
                                        </p:tgtEl>
                                      </p:cBhvr>
                                    </p:animEffect>
                                  </p:childTnLst>
                                </p:cTn>
                              </p:par>
                            </p:childTnLst>
                          </p:cTn>
                        </p:par>
                        <p:par>
                          <p:cTn id="8" fill="hold">
                            <p:stCondLst>
                              <p:cond delay="1500"/>
                            </p:stCondLst>
                            <p:childTnLst>
                              <p:par>
                                <p:cTn id="9" presetID="16" presetClass="entr" presetSubtype="21" fill="hold" grpId="0" nodeType="afterEffect">
                                  <p:stCondLst>
                                    <p:cond delay="0"/>
                                  </p:stCondLst>
                                  <p:childTnLst>
                                    <p:set>
                                      <p:cBhvr>
                                        <p:cTn id="10" dur="1" fill="hold">
                                          <p:stCondLst>
                                            <p:cond delay="0"/>
                                          </p:stCondLst>
                                        </p:cTn>
                                        <p:tgtEl>
                                          <p:spTgt spid="48"/>
                                        </p:tgtEl>
                                        <p:attrNameLst>
                                          <p:attrName>style.visibility</p:attrName>
                                        </p:attrNameLst>
                                      </p:cBhvr>
                                      <p:to>
                                        <p:strVal val="visible"/>
                                      </p:to>
                                    </p:set>
                                    <p:animEffect transition="in" filter="barn(inVertical)">
                                      <p:cBhvr>
                                        <p:cTn id="11" dur="500"/>
                                        <p:tgtEl>
                                          <p:spTgt spid="48"/>
                                        </p:tgtEl>
                                      </p:cBhvr>
                                    </p:animEffect>
                                  </p:childTnLst>
                                </p:cTn>
                              </p:par>
                            </p:childTnLst>
                          </p:cTn>
                        </p:par>
                        <p:par>
                          <p:cTn id="12" fill="hold">
                            <p:stCondLst>
                              <p:cond delay="2000"/>
                            </p:stCondLst>
                            <p:childTnLst>
                              <p:par>
                                <p:cTn id="13" presetID="2" presetClass="entr" presetSubtype="8" fill="hold" nodeType="afterEffect">
                                  <p:stCondLst>
                                    <p:cond delay="0"/>
                                  </p:stCondLst>
                                  <p:childTnLst>
                                    <p:set>
                                      <p:cBhvr>
                                        <p:cTn id="14" dur="1" fill="hold">
                                          <p:stCondLst>
                                            <p:cond delay="0"/>
                                          </p:stCondLst>
                                        </p:cTn>
                                        <p:tgtEl>
                                          <p:spTgt spid="33"/>
                                        </p:tgtEl>
                                        <p:attrNameLst>
                                          <p:attrName>style.visibility</p:attrName>
                                        </p:attrNameLst>
                                      </p:cBhvr>
                                      <p:to>
                                        <p:strVal val="visible"/>
                                      </p:to>
                                    </p:set>
                                    <p:anim calcmode="lin" valueType="num">
                                      <p:cBhvr additive="base">
                                        <p:cTn id="15" dur="500" fill="hold"/>
                                        <p:tgtEl>
                                          <p:spTgt spid="33"/>
                                        </p:tgtEl>
                                        <p:attrNameLst>
                                          <p:attrName>ppt_x</p:attrName>
                                        </p:attrNameLst>
                                      </p:cBhvr>
                                      <p:tavLst>
                                        <p:tav tm="0">
                                          <p:val>
                                            <p:strVal val="0-#ppt_w/2"/>
                                          </p:val>
                                        </p:tav>
                                        <p:tav tm="100000">
                                          <p:val>
                                            <p:strVal val="#ppt_x"/>
                                          </p:val>
                                        </p:tav>
                                      </p:tavLst>
                                    </p:anim>
                                    <p:anim calcmode="lin" valueType="num">
                                      <p:cBhvr additive="base">
                                        <p:cTn id="16" dur="500" fill="hold"/>
                                        <p:tgtEl>
                                          <p:spTgt spid="33"/>
                                        </p:tgtEl>
                                        <p:attrNameLst>
                                          <p:attrName>ppt_y</p:attrName>
                                        </p:attrNameLst>
                                      </p:cBhvr>
                                      <p:tavLst>
                                        <p:tav tm="0">
                                          <p:val>
                                            <p:strVal val="#ppt_y"/>
                                          </p:val>
                                        </p:tav>
                                        <p:tav tm="100000">
                                          <p:val>
                                            <p:strVal val="#ppt_y"/>
                                          </p:val>
                                        </p:tav>
                                      </p:tavLst>
                                    </p:anim>
                                  </p:childTnLst>
                                </p:cTn>
                              </p:par>
                            </p:childTnLst>
                          </p:cTn>
                        </p:par>
                        <p:par>
                          <p:cTn id="17" fill="hold">
                            <p:stCondLst>
                              <p:cond delay="2500"/>
                            </p:stCondLst>
                            <p:childTnLst>
                              <p:par>
                                <p:cTn id="18" presetID="16" presetClass="entr" presetSubtype="21" fill="hold" nodeType="afterEffect" nodePh="1">
                                  <p:stCondLst>
                                    <p:cond delay="0"/>
                                  </p:stCondLst>
                                  <p:endCondLst>
                                    <p:cond evt="begin" delay="0">
                                      <p:tn val="18"/>
                                    </p:cond>
                                  </p:endCondLst>
                                  <p:childTnLst>
                                    <p:set>
                                      <p:cBhvr>
                                        <p:cTn id="19" dur="1" fill="hold">
                                          <p:stCondLst>
                                            <p:cond delay="0"/>
                                          </p:stCondLst>
                                        </p:cTn>
                                        <p:tgtEl>
                                          <p:spTgt spid="10">
                                            <p:txEl>
                                              <p:pRg st="0" end="0"/>
                                            </p:txEl>
                                          </p:spTgt>
                                        </p:tgtEl>
                                        <p:attrNameLst>
                                          <p:attrName>style.visibility</p:attrName>
                                        </p:attrNameLst>
                                      </p:cBhvr>
                                      <p:to>
                                        <p:strVal val="visible"/>
                                      </p:to>
                                    </p:set>
                                    <p:animEffect transition="in" filter="barn(inVertical)">
                                      <p:cBhvr>
                                        <p:cTn id="20" dur="500"/>
                                        <p:tgtEl>
                                          <p:spTgt spid="10">
                                            <p:txEl>
                                              <p:pRg st="0" end="0"/>
                                            </p:txEl>
                                          </p:spTgt>
                                        </p:tgtEl>
                                      </p:cBhvr>
                                    </p:animEffect>
                                  </p:childTnLst>
                                </p:cTn>
                              </p:par>
                            </p:childTnLst>
                          </p:cTn>
                        </p:par>
                        <p:par>
                          <p:cTn id="21" fill="hold">
                            <p:stCondLst>
                              <p:cond delay="3000"/>
                            </p:stCondLst>
                            <p:childTnLst>
                              <p:par>
                                <p:cTn id="22" presetID="16" presetClass="entr" presetSubtype="21" fill="hold" grpId="0" nodeType="afterEffect">
                                  <p:stCondLst>
                                    <p:cond delay="0"/>
                                  </p:stCondLst>
                                  <p:childTnLst>
                                    <p:set>
                                      <p:cBhvr>
                                        <p:cTn id="23" dur="1" fill="hold">
                                          <p:stCondLst>
                                            <p:cond delay="0"/>
                                          </p:stCondLst>
                                        </p:cTn>
                                        <p:tgtEl>
                                          <p:spTgt spid="15"/>
                                        </p:tgtEl>
                                        <p:attrNameLst>
                                          <p:attrName>style.visibility</p:attrName>
                                        </p:attrNameLst>
                                      </p:cBhvr>
                                      <p:to>
                                        <p:strVal val="visible"/>
                                      </p:to>
                                    </p:set>
                                    <p:animEffect transition="in" filter="barn(inVertical)">
                                      <p:cBhvr>
                                        <p:cTn id="24" dur="500"/>
                                        <p:tgtEl>
                                          <p:spTgt spid="15"/>
                                        </p:tgtEl>
                                      </p:cBhvr>
                                    </p:animEffect>
                                  </p:childTnLst>
                                </p:cTn>
                              </p:par>
                            </p:childTnLst>
                          </p:cTn>
                        </p:par>
                        <p:par>
                          <p:cTn id="25" fill="hold">
                            <p:stCondLst>
                              <p:cond delay="3500"/>
                            </p:stCondLst>
                            <p:childTnLst>
                              <p:par>
                                <p:cTn id="26" presetID="53" presetClass="entr" presetSubtype="16" fill="hold" grpId="0" nodeType="afterEffect">
                                  <p:stCondLst>
                                    <p:cond delay="0"/>
                                  </p:stCondLst>
                                  <p:childTnLst>
                                    <p:set>
                                      <p:cBhvr>
                                        <p:cTn id="27" dur="1" fill="hold">
                                          <p:stCondLst>
                                            <p:cond delay="0"/>
                                          </p:stCondLst>
                                        </p:cTn>
                                        <p:tgtEl>
                                          <p:spTgt spid="3"/>
                                        </p:tgtEl>
                                        <p:attrNameLst>
                                          <p:attrName>style.visibility</p:attrName>
                                        </p:attrNameLst>
                                      </p:cBhvr>
                                      <p:to>
                                        <p:strVal val="visible"/>
                                      </p:to>
                                    </p:set>
                                    <p:anim calcmode="lin" valueType="num">
                                      <p:cBhvr>
                                        <p:cTn id="28" dur="500" fill="hold"/>
                                        <p:tgtEl>
                                          <p:spTgt spid="3"/>
                                        </p:tgtEl>
                                        <p:attrNameLst>
                                          <p:attrName>ppt_w</p:attrName>
                                        </p:attrNameLst>
                                      </p:cBhvr>
                                      <p:tavLst>
                                        <p:tav tm="0">
                                          <p:val>
                                            <p:fltVal val="0"/>
                                          </p:val>
                                        </p:tav>
                                        <p:tav tm="100000">
                                          <p:val>
                                            <p:strVal val="#ppt_w"/>
                                          </p:val>
                                        </p:tav>
                                      </p:tavLst>
                                    </p:anim>
                                    <p:anim calcmode="lin" valueType="num">
                                      <p:cBhvr>
                                        <p:cTn id="29" dur="500" fill="hold"/>
                                        <p:tgtEl>
                                          <p:spTgt spid="3"/>
                                        </p:tgtEl>
                                        <p:attrNameLst>
                                          <p:attrName>ppt_h</p:attrName>
                                        </p:attrNameLst>
                                      </p:cBhvr>
                                      <p:tavLst>
                                        <p:tav tm="0">
                                          <p:val>
                                            <p:fltVal val="0"/>
                                          </p:val>
                                        </p:tav>
                                        <p:tav tm="100000">
                                          <p:val>
                                            <p:strVal val="#ppt_h"/>
                                          </p:val>
                                        </p:tav>
                                      </p:tavLst>
                                    </p:anim>
                                    <p:animEffect transition="in" filter="fade">
                                      <p:cBhvr>
                                        <p:cTn id="30" dur="500"/>
                                        <p:tgtEl>
                                          <p:spTgt spid="3"/>
                                        </p:tgtEl>
                                      </p:cBhvr>
                                    </p:animEffect>
                                  </p:childTnLst>
                                </p:cTn>
                              </p:par>
                            </p:childTnLst>
                          </p:cTn>
                        </p:par>
                        <p:par>
                          <p:cTn id="31" fill="hold">
                            <p:stCondLst>
                              <p:cond delay="4000"/>
                            </p:stCondLst>
                            <p:childTnLst>
                              <p:par>
                                <p:cTn id="32" presetID="53" presetClass="entr" presetSubtype="16" fill="hold" grpId="0" nodeType="afterEffect">
                                  <p:stCondLst>
                                    <p:cond delay="0"/>
                                  </p:stCondLst>
                                  <p:childTnLst>
                                    <p:set>
                                      <p:cBhvr>
                                        <p:cTn id="33" dur="1" fill="hold">
                                          <p:stCondLst>
                                            <p:cond delay="0"/>
                                          </p:stCondLst>
                                        </p:cTn>
                                        <p:tgtEl>
                                          <p:spTgt spid="6"/>
                                        </p:tgtEl>
                                        <p:attrNameLst>
                                          <p:attrName>style.visibility</p:attrName>
                                        </p:attrNameLst>
                                      </p:cBhvr>
                                      <p:to>
                                        <p:strVal val="visible"/>
                                      </p:to>
                                    </p:set>
                                    <p:anim calcmode="lin" valueType="num">
                                      <p:cBhvr>
                                        <p:cTn id="34" dur="500" fill="hold"/>
                                        <p:tgtEl>
                                          <p:spTgt spid="6"/>
                                        </p:tgtEl>
                                        <p:attrNameLst>
                                          <p:attrName>ppt_w</p:attrName>
                                        </p:attrNameLst>
                                      </p:cBhvr>
                                      <p:tavLst>
                                        <p:tav tm="0">
                                          <p:val>
                                            <p:fltVal val="0"/>
                                          </p:val>
                                        </p:tav>
                                        <p:tav tm="100000">
                                          <p:val>
                                            <p:strVal val="#ppt_w"/>
                                          </p:val>
                                        </p:tav>
                                      </p:tavLst>
                                    </p:anim>
                                    <p:anim calcmode="lin" valueType="num">
                                      <p:cBhvr>
                                        <p:cTn id="35" dur="500" fill="hold"/>
                                        <p:tgtEl>
                                          <p:spTgt spid="6"/>
                                        </p:tgtEl>
                                        <p:attrNameLst>
                                          <p:attrName>ppt_h</p:attrName>
                                        </p:attrNameLst>
                                      </p:cBhvr>
                                      <p:tavLst>
                                        <p:tav tm="0">
                                          <p:val>
                                            <p:fltVal val="0"/>
                                          </p:val>
                                        </p:tav>
                                        <p:tav tm="100000">
                                          <p:val>
                                            <p:strVal val="#ppt_h"/>
                                          </p:val>
                                        </p:tav>
                                      </p:tavLst>
                                    </p:anim>
                                    <p:animEffect transition="in" filter="fade">
                                      <p:cBhvr>
                                        <p:cTn id="36" dur="500"/>
                                        <p:tgtEl>
                                          <p:spTgt spid="6"/>
                                        </p:tgtEl>
                                      </p:cBhvr>
                                    </p:animEffect>
                                  </p:childTnLst>
                                </p:cTn>
                              </p:par>
                            </p:childTnLst>
                          </p:cTn>
                        </p:par>
                        <p:par>
                          <p:cTn id="37" fill="hold">
                            <p:stCondLst>
                              <p:cond delay="4500"/>
                            </p:stCondLst>
                            <p:childTnLst>
                              <p:par>
                                <p:cTn id="38" presetID="53" presetClass="entr" presetSubtype="16" fill="hold" grpId="0" nodeType="afterEffect">
                                  <p:stCondLst>
                                    <p:cond delay="0"/>
                                  </p:stCondLst>
                                  <p:childTnLst>
                                    <p:set>
                                      <p:cBhvr>
                                        <p:cTn id="39" dur="1" fill="hold">
                                          <p:stCondLst>
                                            <p:cond delay="0"/>
                                          </p:stCondLst>
                                        </p:cTn>
                                        <p:tgtEl>
                                          <p:spTgt spid="11"/>
                                        </p:tgtEl>
                                        <p:attrNameLst>
                                          <p:attrName>style.visibility</p:attrName>
                                        </p:attrNameLst>
                                      </p:cBhvr>
                                      <p:to>
                                        <p:strVal val="visible"/>
                                      </p:to>
                                    </p:set>
                                    <p:anim calcmode="lin" valueType="num">
                                      <p:cBhvr>
                                        <p:cTn id="40" dur="500" fill="hold"/>
                                        <p:tgtEl>
                                          <p:spTgt spid="11"/>
                                        </p:tgtEl>
                                        <p:attrNameLst>
                                          <p:attrName>ppt_w</p:attrName>
                                        </p:attrNameLst>
                                      </p:cBhvr>
                                      <p:tavLst>
                                        <p:tav tm="0">
                                          <p:val>
                                            <p:fltVal val="0"/>
                                          </p:val>
                                        </p:tav>
                                        <p:tav tm="100000">
                                          <p:val>
                                            <p:strVal val="#ppt_w"/>
                                          </p:val>
                                        </p:tav>
                                      </p:tavLst>
                                    </p:anim>
                                    <p:anim calcmode="lin" valueType="num">
                                      <p:cBhvr>
                                        <p:cTn id="41" dur="500" fill="hold"/>
                                        <p:tgtEl>
                                          <p:spTgt spid="11"/>
                                        </p:tgtEl>
                                        <p:attrNameLst>
                                          <p:attrName>ppt_h</p:attrName>
                                        </p:attrNameLst>
                                      </p:cBhvr>
                                      <p:tavLst>
                                        <p:tav tm="0">
                                          <p:val>
                                            <p:fltVal val="0"/>
                                          </p:val>
                                        </p:tav>
                                        <p:tav tm="100000">
                                          <p:val>
                                            <p:strVal val="#ppt_h"/>
                                          </p:val>
                                        </p:tav>
                                      </p:tavLst>
                                    </p:anim>
                                    <p:animEffect transition="in" filter="fade">
                                      <p:cBhvr>
                                        <p:cTn id="42" dur="500"/>
                                        <p:tgtEl>
                                          <p:spTgt spid="11"/>
                                        </p:tgtEl>
                                      </p:cBhvr>
                                    </p:animEffect>
                                  </p:childTnLst>
                                </p:cTn>
                              </p:par>
                            </p:childTnLst>
                          </p:cTn>
                        </p:par>
                        <p:par>
                          <p:cTn id="43" fill="hold">
                            <p:stCondLst>
                              <p:cond delay="5000"/>
                            </p:stCondLst>
                            <p:childTnLst>
                              <p:par>
                                <p:cTn id="44" presetID="2" presetClass="entr" presetSubtype="8" fill="hold" grpId="0" nodeType="afterEffect">
                                  <p:stCondLst>
                                    <p:cond delay="0"/>
                                  </p:stCondLst>
                                  <p:childTnLst>
                                    <p:set>
                                      <p:cBhvr>
                                        <p:cTn id="45" dur="1" fill="hold">
                                          <p:stCondLst>
                                            <p:cond delay="0"/>
                                          </p:stCondLst>
                                        </p:cTn>
                                        <p:tgtEl>
                                          <p:spTgt spid="7"/>
                                        </p:tgtEl>
                                        <p:attrNameLst>
                                          <p:attrName>style.visibility</p:attrName>
                                        </p:attrNameLst>
                                      </p:cBhvr>
                                      <p:to>
                                        <p:strVal val="visible"/>
                                      </p:to>
                                    </p:set>
                                    <p:anim calcmode="lin" valueType="num">
                                      <p:cBhvr additive="base">
                                        <p:cTn id="46" dur="500" fill="hold"/>
                                        <p:tgtEl>
                                          <p:spTgt spid="7"/>
                                        </p:tgtEl>
                                        <p:attrNameLst>
                                          <p:attrName>ppt_x</p:attrName>
                                        </p:attrNameLst>
                                      </p:cBhvr>
                                      <p:tavLst>
                                        <p:tav tm="0">
                                          <p:val>
                                            <p:strVal val="0-#ppt_w/2"/>
                                          </p:val>
                                        </p:tav>
                                        <p:tav tm="100000">
                                          <p:val>
                                            <p:strVal val="#ppt_x"/>
                                          </p:val>
                                        </p:tav>
                                      </p:tavLst>
                                    </p:anim>
                                    <p:anim calcmode="lin" valueType="num">
                                      <p:cBhvr additive="base">
                                        <p:cTn id="47" dur="500" fill="hold"/>
                                        <p:tgtEl>
                                          <p:spTgt spid="7"/>
                                        </p:tgtEl>
                                        <p:attrNameLst>
                                          <p:attrName>ppt_y</p:attrName>
                                        </p:attrNameLst>
                                      </p:cBhvr>
                                      <p:tavLst>
                                        <p:tav tm="0">
                                          <p:val>
                                            <p:strVal val="#ppt_y"/>
                                          </p:val>
                                        </p:tav>
                                        <p:tav tm="100000">
                                          <p:val>
                                            <p:strVal val="#ppt_y"/>
                                          </p:val>
                                        </p:tav>
                                      </p:tavLst>
                                    </p:anim>
                                  </p:childTnLst>
                                </p:cTn>
                              </p:par>
                            </p:childTnLst>
                          </p:cTn>
                        </p:par>
                        <p:par>
                          <p:cTn id="48" fill="hold">
                            <p:stCondLst>
                              <p:cond delay="5500"/>
                            </p:stCondLst>
                            <p:childTnLst>
                              <p:par>
                                <p:cTn id="49" presetID="2" presetClass="entr" presetSubtype="8" fill="hold" grpId="0" nodeType="afterEffect">
                                  <p:stCondLst>
                                    <p:cond delay="0"/>
                                  </p:stCondLst>
                                  <p:childTnLst>
                                    <p:set>
                                      <p:cBhvr>
                                        <p:cTn id="50" dur="1" fill="hold">
                                          <p:stCondLst>
                                            <p:cond delay="0"/>
                                          </p:stCondLst>
                                        </p:cTn>
                                        <p:tgtEl>
                                          <p:spTgt spid="13"/>
                                        </p:tgtEl>
                                        <p:attrNameLst>
                                          <p:attrName>style.visibility</p:attrName>
                                        </p:attrNameLst>
                                      </p:cBhvr>
                                      <p:to>
                                        <p:strVal val="visible"/>
                                      </p:to>
                                    </p:set>
                                    <p:anim calcmode="lin" valueType="num">
                                      <p:cBhvr additive="base">
                                        <p:cTn id="51" dur="500" fill="hold"/>
                                        <p:tgtEl>
                                          <p:spTgt spid="13"/>
                                        </p:tgtEl>
                                        <p:attrNameLst>
                                          <p:attrName>ppt_x</p:attrName>
                                        </p:attrNameLst>
                                      </p:cBhvr>
                                      <p:tavLst>
                                        <p:tav tm="0">
                                          <p:val>
                                            <p:strVal val="0-#ppt_w/2"/>
                                          </p:val>
                                        </p:tav>
                                        <p:tav tm="100000">
                                          <p:val>
                                            <p:strVal val="#ppt_x"/>
                                          </p:val>
                                        </p:tav>
                                      </p:tavLst>
                                    </p:anim>
                                    <p:anim calcmode="lin" valueType="num">
                                      <p:cBhvr additive="base">
                                        <p:cTn id="52" dur="500" fill="hold"/>
                                        <p:tgtEl>
                                          <p:spTgt spid="13"/>
                                        </p:tgtEl>
                                        <p:attrNameLst>
                                          <p:attrName>ppt_y</p:attrName>
                                        </p:attrNameLst>
                                      </p:cBhvr>
                                      <p:tavLst>
                                        <p:tav tm="0">
                                          <p:val>
                                            <p:strVal val="#ppt_y"/>
                                          </p:val>
                                        </p:tav>
                                        <p:tav tm="100000">
                                          <p:val>
                                            <p:strVal val="#ppt_y"/>
                                          </p:val>
                                        </p:tav>
                                      </p:tavLst>
                                    </p:anim>
                                  </p:childTnLst>
                                </p:cTn>
                              </p:par>
                            </p:childTnLst>
                          </p:cTn>
                        </p:par>
                        <p:par>
                          <p:cTn id="53" fill="hold">
                            <p:stCondLst>
                              <p:cond delay="6000"/>
                            </p:stCondLst>
                            <p:childTnLst>
                              <p:par>
                                <p:cTn id="54" presetID="2" presetClass="entr" presetSubtype="8" fill="hold" grpId="0" nodeType="afterEffect">
                                  <p:stCondLst>
                                    <p:cond delay="0"/>
                                  </p:stCondLst>
                                  <p:childTnLst>
                                    <p:set>
                                      <p:cBhvr>
                                        <p:cTn id="55" dur="1" fill="hold">
                                          <p:stCondLst>
                                            <p:cond delay="0"/>
                                          </p:stCondLst>
                                        </p:cTn>
                                        <p:tgtEl>
                                          <p:spTgt spid="14"/>
                                        </p:tgtEl>
                                        <p:attrNameLst>
                                          <p:attrName>style.visibility</p:attrName>
                                        </p:attrNameLst>
                                      </p:cBhvr>
                                      <p:to>
                                        <p:strVal val="visible"/>
                                      </p:to>
                                    </p:set>
                                    <p:anim calcmode="lin" valueType="num">
                                      <p:cBhvr additive="base">
                                        <p:cTn id="56" dur="500" fill="hold"/>
                                        <p:tgtEl>
                                          <p:spTgt spid="14"/>
                                        </p:tgtEl>
                                        <p:attrNameLst>
                                          <p:attrName>ppt_x</p:attrName>
                                        </p:attrNameLst>
                                      </p:cBhvr>
                                      <p:tavLst>
                                        <p:tav tm="0">
                                          <p:val>
                                            <p:strVal val="0-#ppt_w/2"/>
                                          </p:val>
                                        </p:tav>
                                        <p:tav tm="100000">
                                          <p:val>
                                            <p:strVal val="#ppt_x"/>
                                          </p:val>
                                        </p:tav>
                                      </p:tavLst>
                                    </p:anim>
                                    <p:anim calcmode="lin" valueType="num">
                                      <p:cBhvr additive="base">
                                        <p:cTn id="57" dur="500" fill="hold"/>
                                        <p:tgtEl>
                                          <p:spTgt spid="14"/>
                                        </p:tgtEl>
                                        <p:attrNameLst>
                                          <p:attrName>ppt_y</p:attrName>
                                        </p:attrNameLst>
                                      </p:cBhvr>
                                      <p:tavLst>
                                        <p:tav tm="0">
                                          <p:val>
                                            <p:strVal val="#ppt_y"/>
                                          </p:val>
                                        </p:tav>
                                        <p:tav tm="100000">
                                          <p:val>
                                            <p:strVal val="#ppt_y"/>
                                          </p:val>
                                        </p:tav>
                                      </p:tavLst>
                                    </p:anim>
                                  </p:childTnLst>
                                </p:cTn>
                              </p:par>
                            </p:childTnLst>
                          </p:cTn>
                        </p:par>
                        <p:par>
                          <p:cTn id="58" fill="hold">
                            <p:stCondLst>
                              <p:cond delay="6500"/>
                            </p:stCondLst>
                            <p:childTnLst>
                              <p:par>
                                <p:cTn id="59" presetID="2" presetClass="entr" presetSubtype="8" fill="hold" grpId="0" nodeType="afterEffect">
                                  <p:stCondLst>
                                    <p:cond delay="0"/>
                                  </p:stCondLst>
                                  <p:childTnLst>
                                    <p:set>
                                      <p:cBhvr>
                                        <p:cTn id="60" dur="1" fill="hold">
                                          <p:stCondLst>
                                            <p:cond delay="0"/>
                                          </p:stCondLst>
                                        </p:cTn>
                                        <p:tgtEl>
                                          <p:spTgt spid="16"/>
                                        </p:tgtEl>
                                        <p:attrNameLst>
                                          <p:attrName>style.visibility</p:attrName>
                                        </p:attrNameLst>
                                      </p:cBhvr>
                                      <p:to>
                                        <p:strVal val="visible"/>
                                      </p:to>
                                    </p:set>
                                    <p:anim calcmode="lin" valueType="num">
                                      <p:cBhvr additive="base">
                                        <p:cTn id="61" dur="500" fill="hold"/>
                                        <p:tgtEl>
                                          <p:spTgt spid="16"/>
                                        </p:tgtEl>
                                        <p:attrNameLst>
                                          <p:attrName>ppt_x</p:attrName>
                                        </p:attrNameLst>
                                      </p:cBhvr>
                                      <p:tavLst>
                                        <p:tav tm="0">
                                          <p:val>
                                            <p:strVal val="0-#ppt_w/2"/>
                                          </p:val>
                                        </p:tav>
                                        <p:tav tm="100000">
                                          <p:val>
                                            <p:strVal val="#ppt_x"/>
                                          </p:val>
                                        </p:tav>
                                      </p:tavLst>
                                    </p:anim>
                                    <p:anim calcmode="lin" valueType="num">
                                      <p:cBhvr additive="base">
                                        <p:cTn id="62" dur="500" fill="hold"/>
                                        <p:tgtEl>
                                          <p:spTgt spid="16"/>
                                        </p:tgtEl>
                                        <p:attrNameLst>
                                          <p:attrName>ppt_y</p:attrName>
                                        </p:attrNameLst>
                                      </p:cBhvr>
                                      <p:tavLst>
                                        <p:tav tm="0">
                                          <p:val>
                                            <p:strVal val="#ppt_y"/>
                                          </p:val>
                                        </p:tav>
                                        <p:tav tm="100000">
                                          <p:val>
                                            <p:strVal val="#ppt_y"/>
                                          </p:val>
                                        </p:tav>
                                      </p:tavLst>
                                    </p:anim>
                                  </p:childTnLst>
                                </p:cTn>
                              </p:par>
                            </p:childTnLst>
                          </p:cTn>
                        </p:par>
                        <p:par>
                          <p:cTn id="63" fill="hold">
                            <p:stCondLst>
                              <p:cond delay="7000"/>
                            </p:stCondLst>
                            <p:childTnLst>
                              <p:par>
                                <p:cTn id="64" presetID="2" presetClass="entr" presetSubtype="8" fill="hold" grpId="0" nodeType="afterEffect">
                                  <p:stCondLst>
                                    <p:cond delay="0"/>
                                  </p:stCondLst>
                                  <p:childTnLst>
                                    <p:set>
                                      <p:cBhvr>
                                        <p:cTn id="65" dur="1" fill="hold">
                                          <p:stCondLst>
                                            <p:cond delay="0"/>
                                          </p:stCondLst>
                                        </p:cTn>
                                        <p:tgtEl>
                                          <p:spTgt spid="20"/>
                                        </p:tgtEl>
                                        <p:attrNameLst>
                                          <p:attrName>style.visibility</p:attrName>
                                        </p:attrNameLst>
                                      </p:cBhvr>
                                      <p:to>
                                        <p:strVal val="visible"/>
                                      </p:to>
                                    </p:set>
                                    <p:anim calcmode="lin" valueType="num">
                                      <p:cBhvr additive="base">
                                        <p:cTn id="66" dur="500" fill="hold"/>
                                        <p:tgtEl>
                                          <p:spTgt spid="20"/>
                                        </p:tgtEl>
                                        <p:attrNameLst>
                                          <p:attrName>ppt_x</p:attrName>
                                        </p:attrNameLst>
                                      </p:cBhvr>
                                      <p:tavLst>
                                        <p:tav tm="0">
                                          <p:val>
                                            <p:strVal val="0-#ppt_w/2"/>
                                          </p:val>
                                        </p:tav>
                                        <p:tav tm="100000">
                                          <p:val>
                                            <p:strVal val="#ppt_x"/>
                                          </p:val>
                                        </p:tav>
                                      </p:tavLst>
                                    </p:anim>
                                    <p:anim calcmode="lin" valueType="num">
                                      <p:cBhvr additive="base">
                                        <p:cTn id="67" dur="500" fill="hold"/>
                                        <p:tgtEl>
                                          <p:spTgt spid="20"/>
                                        </p:tgtEl>
                                        <p:attrNameLst>
                                          <p:attrName>ppt_y</p:attrName>
                                        </p:attrNameLst>
                                      </p:cBhvr>
                                      <p:tavLst>
                                        <p:tav tm="0">
                                          <p:val>
                                            <p:strVal val="#ppt_y"/>
                                          </p:val>
                                        </p:tav>
                                        <p:tav tm="100000">
                                          <p:val>
                                            <p:strVal val="#ppt_y"/>
                                          </p:val>
                                        </p:tav>
                                      </p:tavLst>
                                    </p:anim>
                                  </p:childTnLst>
                                </p:cTn>
                              </p:par>
                            </p:childTnLst>
                          </p:cTn>
                        </p:par>
                        <p:par>
                          <p:cTn id="68" fill="hold">
                            <p:stCondLst>
                              <p:cond delay="7500"/>
                            </p:stCondLst>
                            <p:childTnLst>
                              <p:par>
                                <p:cTn id="69" presetID="2" presetClass="entr" presetSubtype="8" fill="hold" grpId="0" nodeType="afterEffect">
                                  <p:stCondLst>
                                    <p:cond delay="0"/>
                                  </p:stCondLst>
                                  <p:childTnLst>
                                    <p:set>
                                      <p:cBhvr>
                                        <p:cTn id="70" dur="1" fill="hold">
                                          <p:stCondLst>
                                            <p:cond delay="0"/>
                                          </p:stCondLst>
                                        </p:cTn>
                                        <p:tgtEl>
                                          <p:spTgt spid="17"/>
                                        </p:tgtEl>
                                        <p:attrNameLst>
                                          <p:attrName>style.visibility</p:attrName>
                                        </p:attrNameLst>
                                      </p:cBhvr>
                                      <p:to>
                                        <p:strVal val="visible"/>
                                      </p:to>
                                    </p:set>
                                    <p:anim calcmode="lin" valueType="num">
                                      <p:cBhvr additive="base">
                                        <p:cTn id="71" dur="500" fill="hold"/>
                                        <p:tgtEl>
                                          <p:spTgt spid="17"/>
                                        </p:tgtEl>
                                        <p:attrNameLst>
                                          <p:attrName>ppt_x</p:attrName>
                                        </p:attrNameLst>
                                      </p:cBhvr>
                                      <p:tavLst>
                                        <p:tav tm="0">
                                          <p:val>
                                            <p:strVal val="0-#ppt_w/2"/>
                                          </p:val>
                                        </p:tav>
                                        <p:tav tm="100000">
                                          <p:val>
                                            <p:strVal val="#ppt_x"/>
                                          </p:val>
                                        </p:tav>
                                      </p:tavLst>
                                    </p:anim>
                                    <p:anim calcmode="lin" valueType="num">
                                      <p:cBhvr additive="base">
                                        <p:cTn id="72" dur="500" fill="hold"/>
                                        <p:tgtEl>
                                          <p:spTgt spid="17"/>
                                        </p:tgtEl>
                                        <p:attrNameLst>
                                          <p:attrName>ppt_y</p:attrName>
                                        </p:attrNameLst>
                                      </p:cBhvr>
                                      <p:tavLst>
                                        <p:tav tm="0">
                                          <p:val>
                                            <p:strVal val="#ppt_y"/>
                                          </p:val>
                                        </p:tav>
                                        <p:tav tm="100000">
                                          <p:val>
                                            <p:strVal val="#ppt_y"/>
                                          </p:val>
                                        </p:tav>
                                      </p:tavLst>
                                    </p:anim>
                                  </p:childTnLst>
                                </p:cTn>
                              </p:par>
                            </p:childTnLst>
                          </p:cTn>
                        </p:par>
                        <p:par>
                          <p:cTn id="73" fill="hold">
                            <p:stCondLst>
                              <p:cond delay="8000"/>
                            </p:stCondLst>
                            <p:childTnLst>
                              <p:par>
                                <p:cTn id="74" presetID="16" presetClass="entr" presetSubtype="21" fill="hold" nodeType="afterEffect">
                                  <p:stCondLst>
                                    <p:cond delay="0"/>
                                  </p:stCondLst>
                                  <p:childTnLst>
                                    <p:set>
                                      <p:cBhvr>
                                        <p:cTn id="75" dur="1" fill="hold">
                                          <p:stCondLst>
                                            <p:cond delay="0"/>
                                          </p:stCondLst>
                                        </p:cTn>
                                        <p:tgtEl>
                                          <p:spTgt spid="21"/>
                                        </p:tgtEl>
                                        <p:attrNameLst>
                                          <p:attrName>style.visibility</p:attrName>
                                        </p:attrNameLst>
                                      </p:cBhvr>
                                      <p:to>
                                        <p:strVal val="visible"/>
                                      </p:to>
                                    </p:set>
                                    <p:animEffect transition="in" filter="barn(inVertical)">
                                      <p:cBhvr>
                                        <p:cTn id="76" dur="500"/>
                                        <p:tgtEl>
                                          <p:spTgt spid="21"/>
                                        </p:tgtEl>
                                      </p:cBhvr>
                                    </p:animEffect>
                                  </p:childTnLst>
                                </p:cTn>
                              </p:par>
                            </p:childTnLst>
                          </p:cTn>
                        </p:par>
                        <p:par>
                          <p:cTn id="77" fill="hold">
                            <p:stCondLst>
                              <p:cond delay="8500"/>
                            </p:stCondLst>
                            <p:childTnLst>
                              <p:par>
                                <p:cTn id="78" presetID="16" presetClass="entr" presetSubtype="21" fill="hold" grpId="0" nodeType="afterEffect">
                                  <p:stCondLst>
                                    <p:cond delay="0"/>
                                  </p:stCondLst>
                                  <p:childTnLst>
                                    <p:set>
                                      <p:cBhvr>
                                        <p:cTn id="79" dur="1" fill="hold">
                                          <p:stCondLst>
                                            <p:cond delay="0"/>
                                          </p:stCondLst>
                                        </p:cTn>
                                        <p:tgtEl>
                                          <p:spTgt spid="18"/>
                                        </p:tgtEl>
                                        <p:attrNameLst>
                                          <p:attrName>style.visibility</p:attrName>
                                        </p:attrNameLst>
                                      </p:cBhvr>
                                      <p:to>
                                        <p:strVal val="visible"/>
                                      </p:to>
                                    </p:set>
                                    <p:animEffect transition="in" filter="barn(inVertical)">
                                      <p:cBhvr>
                                        <p:cTn id="80" dur="500"/>
                                        <p:tgtEl>
                                          <p:spTgt spid="18"/>
                                        </p:tgtEl>
                                      </p:cBhvr>
                                    </p:animEffect>
                                  </p:childTnLst>
                                </p:cTn>
                              </p:par>
                            </p:childTnLst>
                          </p:cTn>
                        </p:par>
                        <p:par>
                          <p:cTn id="81" fill="hold">
                            <p:stCondLst>
                              <p:cond delay="9000"/>
                            </p:stCondLst>
                            <p:childTnLst>
                              <p:par>
                                <p:cTn id="82" presetID="16" presetClass="entr" presetSubtype="37" fill="hold" grpId="0" nodeType="afterEffect">
                                  <p:stCondLst>
                                    <p:cond delay="0"/>
                                  </p:stCondLst>
                                  <p:childTnLst>
                                    <p:set>
                                      <p:cBhvr>
                                        <p:cTn id="83" dur="1" fill="hold">
                                          <p:stCondLst>
                                            <p:cond delay="0"/>
                                          </p:stCondLst>
                                        </p:cTn>
                                        <p:tgtEl>
                                          <p:spTgt spid="4"/>
                                        </p:tgtEl>
                                        <p:attrNameLst>
                                          <p:attrName>style.visibility</p:attrName>
                                        </p:attrNameLst>
                                      </p:cBhvr>
                                      <p:to>
                                        <p:strVal val="visible"/>
                                      </p:to>
                                    </p:set>
                                    <p:animEffect transition="in" filter="barn(outVertical)">
                                      <p:cBhvr>
                                        <p:cTn id="84"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p:bldP spid="48" grpId="0"/>
      <p:bldP spid="3" grpId="0" animBg="1"/>
      <p:bldP spid="11" grpId="0" animBg="1"/>
      <p:bldP spid="4" grpId="0"/>
      <p:bldP spid="6" grpId="0" animBg="1"/>
      <p:bldP spid="15" grpId="0"/>
      <p:bldP spid="7" grpId="0" animBg="1"/>
      <p:bldP spid="13" grpId="0" animBg="1"/>
      <p:bldP spid="14" grpId="0" animBg="1"/>
      <p:bldP spid="16" grpId="0" animBg="1"/>
      <p:bldP spid="20" grpId="0" animBg="1"/>
      <p:bldP spid="17" grpId="0" animBg="1"/>
      <p:bldP spid="18"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2"/>
          <a:stretch>
            <a:fillRect/>
          </a:stretch>
        </p:blipFill>
        <p:spPr>
          <a:xfrm rot="16200000">
            <a:off x="145169" y="-145167"/>
            <a:ext cx="1268414" cy="1558750"/>
          </a:xfrm>
          <a:prstGeom prst="rect">
            <a:avLst/>
          </a:prstGeom>
        </p:spPr>
      </p:pic>
      <p:sp>
        <p:nvSpPr>
          <p:cNvPr id="9" name="文字方塊 8">
            <a:extLst>
              <a:ext uri="{FF2B5EF4-FFF2-40B4-BE49-F238E27FC236}">
                <a16:creationId xmlns:a16="http://schemas.microsoft.com/office/drawing/2014/main" id="{81D0666A-D96D-4B5B-9036-192FA53FE435}"/>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cxnSp>
        <p:nvCxnSpPr>
          <p:cNvPr id="33" name="直接连接符 33">
            <a:extLst>
              <a:ext uri="{FF2B5EF4-FFF2-40B4-BE49-F238E27FC236}">
                <a16:creationId xmlns:a16="http://schemas.microsoft.com/office/drawing/2014/main" id="{DFF80DCD-8EF0-4D2F-8380-59FA348D932C}"/>
              </a:ext>
            </a:extLst>
          </p:cNvPr>
          <p:cNvCxnSpPr/>
          <p:nvPr/>
        </p:nvCxnSpPr>
        <p:spPr>
          <a:xfrm>
            <a:off x="1177167" y="1046746"/>
            <a:ext cx="10585176"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6" name="標題 1"/>
          <p:cNvSpPr txBox="1">
            <a:spLocks/>
          </p:cNvSpPr>
          <p:nvPr/>
        </p:nvSpPr>
        <p:spPr>
          <a:xfrm>
            <a:off x="854426" y="112999"/>
            <a:ext cx="5288853"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7-3 </a:t>
            </a:r>
            <a:r>
              <a:rPr lang="zh-TW" altLang="en-US" sz="2400" b="1" dirty="0">
                <a:solidFill>
                  <a:srgbClr val="E06741"/>
                </a:solidFill>
              </a:rPr>
              <a:t>實務案例</a:t>
            </a:r>
            <a:r>
              <a:rPr lang="en-US" altLang="zh-TW" sz="2400" b="1" dirty="0">
                <a:solidFill>
                  <a:srgbClr val="E06741"/>
                </a:solidFill>
              </a:rPr>
              <a:t>-</a:t>
            </a:r>
            <a:r>
              <a:rPr lang="zh-TW" altLang="en-US" sz="2400" b="1" dirty="0">
                <a:solidFill>
                  <a:srgbClr val="E06741"/>
                </a:solidFill>
              </a:rPr>
              <a:t>農產履歷</a:t>
            </a:r>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sp>
        <p:nvSpPr>
          <p:cNvPr id="48" name="文字方塊 47">
            <a:extLst>
              <a:ext uri="{FF2B5EF4-FFF2-40B4-BE49-F238E27FC236}">
                <a16:creationId xmlns:a16="http://schemas.microsoft.com/office/drawing/2014/main" id="{AD7F4831-1A36-4A2F-ACBE-344F724510DC}"/>
              </a:ext>
            </a:extLst>
          </p:cNvPr>
          <p:cNvSpPr txBox="1"/>
          <p:nvPr/>
        </p:nvSpPr>
        <p:spPr>
          <a:xfrm>
            <a:off x="5130089" y="350241"/>
            <a:ext cx="2242922"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-2</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案例區塊鍊運用</a:t>
            </a:r>
          </a:p>
        </p:txBody>
      </p:sp>
      <p:sp>
        <p:nvSpPr>
          <p:cNvPr id="10" name="文字方塊 9">
            <a:extLst>
              <a:ext uri="{FF2B5EF4-FFF2-40B4-BE49-F238E27FC236}">
                <a16:creationId xmlns:a16="http://schemas.microsoft.com/office/drawing/2014/main" id="{BF94E171-0176-49DD-BE6C-DB2D96B94A88}"/>
              </a:ext>
            </a:extLst>
          </p:cNvPr>
          <p:cNvSpPr txBox="1"/>
          <p:nvPr/>
        </p:nvSpPr>
        <p:spPr>
          <a:xfrm>
            <a:off x="1177167" y="1816567"/>
            <a:ext cx="9663430" cy="578492"/>
          </a:xfrm>
          <a:prstGeom prst="rect">
            <a:avLst/>
          </a:prstGeom>
          <a:noFill/>
        </p:spPr>
        <p:txBody>
          <a:bodyPr wrap="square" rtlCol="0">
            <a:spAutoFit/>
          </a:bodyPr>
          <a:lstStyle/>
          <a:p>
            <a:pPr marL="342900" indent="-342900">
              <a:lnSpc>
                <a:spcPct val="150000"/>
              </a:lnSpc>
              <a:buBlip>
                <a:blip r:embed="rId3"/>
              </a:buBlip>
            </a:pP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sp>
        <p:nvSpPr>
          <p:cNvPr id="12" name="文字方塊 11">
            <a:extLst>
              <a:ext uri="{FF2B5EF4-FFF2-40B4-BE49-F238E27FC236}">
                <a16:creationId xmlns:a16="http://schemas.microsoft.com/office/drawing/2014/main" id="{BF94E171-0176-49DD-BE6C-DB2D96B94A88}"/>
              </a:ext>
            </a:extLst>
          </p:cNvPr>
          <p:cNvSpPr txBox="1"/>
          <p:nvPr/>
        </p:nvSpPr>
        <p:spPr>
          <a:xfrm>
            <a:off x="1379191" y="1283989"/>
            <a:ext cx="9353464" cy="4524315"/>
          </a:xfrm>
          <a:prstGeom prst="rect">
            <a:avLst/>
          </a:prstGeom>
          <a:noFill/>
        </p:spPr>
        <p:txBody>
          <a:bodyPr wrap="square" rtlCol="0">
            <a:spAutoFit/>
          </a:bodyPr>
          <a:lstStyle/>
          <a:p>
            <a:pPr marL="342900" indent="-342900">
              <a:lnSpc>
                <a:spcPct val="150000"/>
              </a:lnSpc>
              <a:buBlip>
                <a:blip r:embed="rId3"/>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問題：</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800100" lvl="1" indent="-342900">
              <a:lnSpc>
                <a:spcPct val="150000"/>
              </a:lnSpc>
              <a:buBlip>
                <a:blip r:embed="rId3"/>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台灣農業生產規模零碎，鮮少農民有能力依上述做法進行檢驗</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342900" indent="-342900">
              <a:lnSpc>
                <a:spcPct val="150000"/>
              </a:lnSpc>
              <a:buBlip>
                <a:blip r:embed="rId3"/>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解決辦法：</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800100" lvl="1" indent="-342900">
              <a:lnSpc>
                <a:spcPct val="150000"/>
              </a:lnSpc>
              <a:buBlip>
                <a:blip r:embed="rId3"/>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農委會統一建立農產品產銷履歷追溯系統，農民只要能跨過對於使用資訊介面陌生的門檻，有能力將生產過程重要流程分批次上傳到追溯系統，並利用系統提供的服務列印標籤與出貨即可。</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342900" indent="-342900">
              <a:lnSpc>
                <a:spcPct val="150000"/>
              </a:lnSpc>
              <a:buBlip>
                <a:blip r:embed="rId3"/>
              </a:buBlip>
            </a:pP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pic>
        <p:nvPicPr>
          <p:cNvPr id="11" name="圖片 10" descr="一張含有 樂高 的圖片&#10;&#10;描述是以高可信度產生">
            <a:extLst>
              <a:ext uri="{FF2B5EF4-FFF2-40B4-BE49-F238E27FC236}">
                <a16:creationId xmlns:a16="http://schemas.microsoft.com/office/drawing/2014/main" id="{C088A239-05F6-403F-BB38-F6908FB4760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489275" y="4955309"/>
            <a:ext cx="1902691" cy="1902691"/>
          </a:xfrm>
          <a:prstGeom prst="rect">
            <a:avLst/>
          </a:prstGeom>
        </p:spPr>
      </p:pic>
    </p:spTree>
    <p:extLst>
      <p:ext uri="{BB962C8B-B14F-4D97-AF65-F5344CB8AC3E}">
        <p14:creationId xmlns:p14="http://schemas.microsoft.com/office/powerpoint/2010/main" val="2974311644"/>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circle(in)">
                                      <p:cBhvr>
                                        <p:cTn id="7" dur="1500"/>
                                        <p:tgtEl>
                                          <p:spTgt spid="46"/>
                                        </p:tgtEl>
                                      </p:cBhvr>
                                    </p:animEffect>
                                  </p:childTnLst>
                                </p:cTn>
                              </p:par>
                            </p:childTnLst>
                          </p:cTn>
                        </p:par>
                        <p:par>
                          <p:cTn id="8" fill="hold">
                            <p:stCondLst>
                              <p:cond delay="1500"/>
                            </p:stCondLst>
                            <p:childTnLst>
                              <p:par>
                                <p:cTn id="9" presetID="16" presetClass="entr" presetSubtype="21" fill="hold" grpId="0" nodeType="afterEffect">
                                  <p:stCondLst>
                                    <p:cond delay="0"/>
                                  </p:stCondLst>
                                  <p:childTnLst>
                                    <p:set>
                                      <p:cBhvr>
                                        <p:cTn id="10" dur="1" fill="hold">
                                          <p:stCondLst>
                                            <p:cond delay="0"/>
                                          </p:stCondLst>
                                        </p:cTn>
                                        <p:tgtEl>
                                          <p:spTgt spid="48"/>
                                        </p:tgtEl>
                                        <p:attrNameLst>
                                          <p:attrName>style.visibility</p:attrName>
                                        </p:attrNameLst>
                                      </p:cBhvr>
                                      <p:to>
                                        <p:strVal val="visible"/>
                                      </p:to>
                                    </p:set>
                                    <p:animEffect transition="in" filter="barn(inVertical)">
                                      <p:cBhvr>
                                        <p:cTn id="11" dur="500"/>
                                        <p:tgtEl>
                                          <p:spTgt spid="48"/>
                                        </p:tgtEl>
                                      </p:cBhvr>
                                    </p:animEffect>
                                  </p:childTnLst>
                                </p:cTn>
                              </p:par>
                            </p:childTnLst>
                          </p:cTn>
                        </p:par>
                        <p:par>
                          <p:cTn id="12" fill="hold">
                            <p:stCondLst>
                              <p:cond delay="2000"/>
                            </p:stCondLst>
                            <p:childTnLst>
                              <p:par>
                                <p:cTn id="13" presetID="2" presetClass="entr" presetSubtype="8" fill="hold" nodeType="afterEffect">
                                  <p:stCondLst>
                                    <p:cond delay="0"/>
                                  </p:stCondLst>
                                  <p:childTnLst>
                                    <p:set>
                                      <p:cBhvr>
                                        <p:cTn id="14" dur="1" fill="hold">
                                          <p:stCondLst>
                                            <p:cond delay="0"/>
                                          </p:stCondLst>
                                        </p:cTn>
                                        <p:tgtEl>
                                          <p:spTgt spid="33"/>
                                        </p:tgtEl>
                                        <p:attrNameLst>
                                          <p:attrName>style.visibility</p:attrName>
                                        </p:attrNameLst>
                                      </p:cBhvr>
                                      <p:to>
                                        <p:strVal val="visible"/>
                                      </p:to>
                                    </p:set>
                                    <p:anim calcmode="lin" valueType="num">
                                      <p:cBhvr additive="base">
                                        <p:cTn id="15" dur="500" fill="hold"/>
                                        <p:tgtEl>
                                          <p:spTgt spid="33"/>
                                        </p:tgtEl>
                                        <p:attrNameLst>
                                          <p:attrName>ppt_x</p:attrName>
                                        </p:attrNameLst>
                                      </p:cBhvr>
                                      <p:tavLst>
                                        <p:tav tm="0">
                                          <p:val>
                                            <p:strVal val="0-#ppt_w/2"/>
                                          </p:val>
                                        </p:tav>
                                        <p:tav tm="100000">
                                          <p:val>
                                            <p:strVal val="#ppt_x"/>
                                          </p:val>
                                        </p:tav>
                                      </p:tavLst>
                                    </p:anim>
                                    <p:anim calcmode="lin" valueType="num">
                                      <p:cBhvr additive="base">
                                        <p:cTn id="16" dur="500" fill="hold"/>
                                        <p:tgtEl>
                                          <p:spTgt spid="33"/>
                                        </p:tgtEl>
                                        <p:attrNameLst>
                                          <p:attrName>ppt_y</p:attrName>
                                        </p:attrNameLst>
                                      </p:cBhvr>
                                      <p:tavLst>
                                        <p:tav tm="0">
                                          <p:val>
                                            <p:strVal val="#ppt_y"/>
                                          </p:val>
                                        </p:tav>
                                        <p:tav tm="100000">
                                          <p:val>
                                            <p:strVal val="#ppt_y"/>
                                          </p:val>
                                        </p:tav>
                                      </p:tavLst>
                                    </p:anim>
                                  </p:childTnLst>
                                </p:cTn>
                              </p:par>
                            </p:childTnLst>
                          </p:cTn>
                        </p:par>
                        <p:par>
                          <p:cTn id="17" fill="hold">
                            <p:stCondLst>
                              <p:cond delay="2500"/>
                            </p:stCondLst>
                            <p:childTnLst>
                              <p:par>
                                <p:cTn id="18" presetID="16" presetClass="entr" presetSubtype="21" fill="hold" nodeType="afterEffect" nodePh="1">
                                  <p:stCondLst>
                                    <p:cond delay="0"/>
                                  </p:stCondLst>
                                  <p:endCondLst>
                                    <p:cond evt="begin" delay="0">
                                      <p:tn val="18"/>
                                    </p:cond>
                                  </p:endCondLst>
                                  <p:childTnLst>
                                    <p:set>
                                      <p:cBhvr>
                                        <p:cTn id="19" dur="1" fill="hold">
                                          <p:stCondLst>
                                            <p:cond delay="0"/>
                                          </p:stCondLst>
                                        </p:cTn>
                                        <p:tgtEl>
                                          <p:spTgt spid="10">
                                            <p:txEl>
                                              <p:pRg st="0" end="0"/>
                                            </p:txEl>
                                          </p:spTgt>
                                        </p:tgtEl>
                                        <p:attrNameLst>
                                          <p:attrName>style.visibility</p:attrName>
                                        </p:attrNameLst>
                                      </p:cBhvr>
                                      <p:to>
                                        <p:strVal val="visible"/>
                                      </p:to>
                                    </p:set>
                                    <p:animEffect transition="in" filter="barn(inVertical)">
                                      <p:cBhvr>
                                        <p:cTn id="20" dur="500"/>
                                        <p:tgtEl>
                                          <p:spTgt spid="10">
                                            <p:txEl>
                                              <p:pRg st="0" end="0"/>
                                            </p:txEl>
                                          </p:spTgt>
                                        </p:tgtEl>
                                      </p:cBhvr>
                                    </p:animEffect>
                                  </p:childTnLst>
                                </p:cTn>
                              </p:par>
                            </p:childTnLst>
                          </p:cTn>
                        </p:par>
                        <p:par>
                          <p:cTn id="21" fill="hold">
                            <p:stCondLst>
                              <p:cond delay="3000"/>
                            </p:stCondLst>
                            <p:childTnLst>
                              <p:par>
                                <p:cTn id="22" presetID="16" presetClass="entr" presetSubtype="21" fill="hold" grpId="0" nodeType="after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barn(inVertical)">
                                      <p:cBhvr>
                                        <p:cTn id="24" dur="500"/>
                                        <p:tgtEl>
                                          <p:spTgt spid="12"/>
                                        </p:tgtEl>
                                      </p:cBhvr>
                                    </p:animEffect>
                                  </p:childTnLst>
                                </p:cTn>
                              </p:par>
                            </p:childTnLst>
                          </p:cTn>
                        </p:par>
                        <p:par>
                          <p:cTn id="25" fill="hold">
                            <p:stCondLst>
                              <p:cond delay="3500"/>
                            </p:stCondLst>
                            <p:childTnLst>
                              <p:par>
                                <p:cTn id="26" presetID="2" presetClass="entr" presetSubtype="4" fill="hold" nodeType="afterEffect">
                                  <p:stCondLst>
                                    <p:cond delay="0"/>
                                  </p:stCondLst>
                                  <p:childTnLst>
                                    <p:set>
                                      <p:cBhvr>
                                        <p:cTn id="27" dur="1" fill="hold">
                                          <p:stCondLst>
                                            <p:cond delay="0"/>
                                          </p:stCondLst>
                                        </p:cTn>
                                        <p:tgtEl>
                                          <p:spTgt spid="11"/>
                                        </p:tgtEl>
                                        <p:attrNameLst>
                                          <p:attrName>style.visibility</p:attrName>
                                        </p:attrNameLst>
                                      </p:cBhvr>
                                      <p:to>
                                        <p:strVal val="visible"/>
                                      </p:to>
                                    </p:set>
                                    <p:anim calcmode="lin" valueType="num">
                                      <p:cBhvr additive="base">
                                        <p:cTn id="28" dur="500" fill="hold"/>
                                        <p:tgtEl>
                                          <p:spTgt spid="11"/>
                                        </p:tgtEl>
                                        <p:attrNameLst>
                                          <p:attrName>ppt_x</p:attrName>
                                        </p:attrNameLst>
                                      </p:cBhvr>
                                      <p:tavLst>
                                        <p:tav tm="0">
                                          <p:val>
                                            <p:strVal val="#ppt_x"/>
                                          </p:val>
                                        </p:tav>
                                        <p:tav tm="100000">
                                          <p:val>
                                            <p:strVal val="#ppt_x"/>
                                          </p:val>
                                        </p:tav>
                                      </p:tavLst>
                                    </p:anim>
                                    <p:anim calcmode="lin" valueType="num">
                                      <p:cBhvr additive="base">
                                        <p:cTn id="29"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p:bldP spid="48" grpId="0"/>
      <p:bldP spid="12"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2"/>
          <a:stretch>
            <a:fillRect/>
          </a:stretch>
        </p:blipFill>
        <p:spPr>
          <a:xfrm rot="16200000">
            <a:off x="145169" y="-145167"/>
            <a:ext cx="1268414" cy="1558750"/>
          </a:xfrm>
          <a:prstGeom prst="rect">
            <a:avLst/>
          </a:prstGeom>
        </p:spPr>
      </p:pic>
      <p:sp>
        <p:nvSpPr>
          <p:cNvPr id="9" name="文字方塊 8">
            <a:extLst>
              <a:ext uri="{FF2B5EF4-FFF2-40B4-BE49-F238E27FC236}">
                <a16:creationId xmlns:a16="http://schemas.microsoft.com/office/drawing/2014/main" id="{81D0666A-D96D-4B5B-9036-192FA53FE435}"/>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cxnSp>
        <p:nvCxnSpPr>
          <p:cNvPr id="33" name="直接连接符 33">
            <a:extLst>
              <a:ext uri="{FF2B5EF4-FFF2-40B4-BE49-F238E27FC236}">
                <a16:creationId xmlns:a16="http://schemas.microsoft.com/office/drawing/2014/main" id="{DFF80DCD-8EF0-4D2F-8380-59FA348D932C}"/>
              </a:ext>
            </a:extLst>
          </p:cNvPr>
          <p:cNvCxnSpPr/>
          <p:nvPr/>
        </p:nvCxnSpPr>
        <p:spPr>
          <a:xfrm>
            <a:off x="1177167" y="1046746"/>
            <a:ext cx="10585176"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6" name="標題 1"/>
          <p:cNvSpPr txBox="1">
            <a:spLocks/>
          </p:cNvSpPr>
          <p:nvPr/>
        </p:nvSpPr>
        <p:spPr>
          <a:xfrm>
            <a:off x="854426" y="112999"/>
            <a:ext cx="5288853"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7-3 </a:t>
            </a:r>
            <a:r>
              <a:rPr lang="zh-TW" altLang="en-US" sz="2400" b="1" dirty="0">
                <a:solidFill>
                  <a:srgbClr val="E06741"/>
                </a:solidFill>
              </a:rPr>
              <a:t>實務案例</a:t>
            </a:r>
            <a:r>
              <a:rPr lang="en-US" altLang="zh-TW" sz="2400" b="1" dirty="0">
                <a:solidFill>
                  <a:srgbClr val="E06741"/>
                </a:solidFill>
              </a:rPr>
              <a:t>-</a:t>
            </a:r>
            <a:r>
              <a:rPr lang="zh-TW" altLang="en-US" sz="2400" b="1" dirty="0">
                <a:solidFill>
                  <a:srgbClr val="E06741"/>
                </a:solidFill>
              </a:rPr>
              <a:t>農產履歷</a:t>
            </a:r>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sp>
        <p:nvSpPr>
          <p:cNvPr id="48" name="文字方塊 47">
            <a:extLst>
              <a:ext uri="{FF2B5EF4-FFF2-40B4-BE49-F238E27FC236}">
                <a16:creationId xmlns:a16="http://schemas.microsoft.com/office/drawing/2014/main" id="{AD7F4831-1A36-4A2F-ACBE-344F724510DC}"/>
              </a:ext>
            </a:extLst>
          </p:cNvPr>
          <p:cNvSpPr txBox="1"/>
          <p:nvPr/>
        </p:nvSpPr>
        <p:spPr>
          <a:xfrm>
            <a:off x="5130089" y="350241"/>
            <a:ext cx="2242922"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-2</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案例區塊鍊運用</a:t>
            </a:r>
          </a:p>
        </p:txBody>
      </p:sp>
      <p:sp>
        <p:nvSpPr>
          <p:cNvPr id="10" name="文字方塊 9">
            <a:extLst>
              <a:ext uri="{FF2B5EF4-FFF2-40B4-BE49-F238E27FC236}">
                <a16:creationId xmlns:a16="http://schemas.microsoft.com/office/drawing/2014/main" id="{BF94E171-0176-49DD-BE6C-DB2D96B94A88}"/>
              </a:ext>
            </a:extLst>
          </p:cNvPr>
          <p:cNvSpPr txBox="1"/>
          <p:nvPr/>
        </p:nvSpPr>
        <p:spPr>
          <a:xfrm>
            <a:off x="944857" y="1046746"/>
            <a:ext cx="9663430" cy="578492"/>
          </a:xfrm>
          <a:prstGeom prst="rect">
            <a:avLst/>
          </a:prstGeom>
          <a:noFill/>
        </p:spPr>
        <p:txBody>
          <a:bodyPr wrap="square" rtlCol="0">
            <a:spAutoFit/>
          </a:bodyPr>
          <a:lstStyle/>
          <a:p>
            <a:pPr marL="342900" indent="-342900">
              <a:lnSpc>
                <a:spcPct val="150000"/>
              </a:lnSpc>
              <a:buBlip>
                <a:blip r:embed="rId3"/>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傳統農業銷售模式</a:t>
            </a:r>
            <a:r>
              <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t>vs</a:t>
            </a: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現代農業銷售模式</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graphicFrame>
        <p:nvGraphicFramePr>
          <p:cNvPr id="4" name="資料庫圖表 3"/>
          <p:cNvGraphicFramePr/>
          <p:nvPr>
            <p:extLst>
              <p:ext uri="{D42A27DB-BD31-4B8C-83A1-F6EECF244321}">
                <p14:modId xmlns:p14="http://schemas.microsoft.com/office/powerpoint/2010/main" val="3989756496"/>
              </p:ext>
            </p:extLst>
          </p:nvPr>
        </p:nvGraphicFramePr>
        <p:xfrm>
          <a:off x="1707630" y="1802060"/>
          <a:ext cx="8776740" cy="4156686"/>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1166669240"/>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circle(in)">
                                      <p:cBhvr>
                                        <p:cTn id="7" dur="1500"/>
                                        <p:tgtEl>
                                          <p:spTgt spid="46"/>
                                        </p:tgtEl>
                                      </p:cBhvr>
                                    </p:animEffect>
                                  </p:childTnLst>
                                </p:cTn>
                              </p:par>
                            </p:childTnLst>
                          </p:cTn>
                        </p:par>
                        <p:par>
                          <p:cTn id="8" fill="hold">
                            <p:stCondLst>
                              <p:cond delay="1500"/>
                            </p:stCondLst>
                            <p:childTnLst>
                              <p:par>
                                <p:cTn id="9" presetID="16" presetClass="entr" presetSubtype="21" fill="hold" grpId="0" nodeType="afterEffect">
                                  <p:stCondLst>
                                    <p:cond delay="0"/>
                                  </p:stCondLst>
                                  <p:childTnLst>
                                    <p:set>
                                      <p:cBhvr>
                                        <p:cTn id="10" dur="1" fill="hold">
                                          <p:stCondLst>
                                            <p:cond delay="0"/>
                                          </p:stCondLst>
                                        </p:cTn>
                                        <p:tgtEl>
                                          <p:spTgt spid="48"/>
                                        </p:tgtEl>
                                        <p:attrNameLst>
                                          <p:attrName>style.visibility</p:attrName>
                                        </p:attrNameLst>
                                      </p:cBhvr>
                                      <p:to>
                                        <p:strVal val="visible"/>
                                      </p:to>
                                    </p:set>
                                    <p:animEffect transition="in" filter="barn(inVertical)">
                                      <p:cBhvr>
                                        <p:cTn id="11" dur="500"/>
                                        <p:tgtEl>
                                          <p:spTgt spid="48"/>
                                        </p:tgtEl>
                                      </p:cBhvr>
                                    </p:animEffect>
                                  </p:childTnLst>
                                </p:cTn>
                              </p:par>
                            </p:childTnLst>
                          </p:cTn>
                        </p:par>
                        <p:par>
                          <p:cTn id="12" fill="hold">
                            <p:stCondLst>
                              <p:cond delay="2000"/>
                            </p:stCondLst>
                            <p:childTnLst>
                              <p:par>
                                <p:cTn id="13" presetID="2" presetClass="entr" presetSubtype="8" fill="hold" nodeType="afterEffect">
                                  <p:stCondLst>
                                    <p:cond delay="0"/>
                                  </p:stCondLst>
                                  <p:childTnLst>
                                    <p:set>
                                      <p:cBhvr>
                                        <p:cTn id="14" dur="1" fill="hold">
                                          <p:stCondLst>
                                            <p:cond delay="0"/>
                                          </p:stCondLst>
                                        </p:cTn>
                                        <p:tgtEl>
                                          <p:spTgt spid="33"/>
                                        </p:tgtEl>
                                        <p:attrNameLst>
                                          <p:attrName>style.visibility</p:attrName>
                                        </p:attrNameLst>
                                      </p:cBhvr>
                                      <p:to>
                                        <p:strVal val="visible"/>
                                      </p:to>
                                    </p:set>
                                    <p:anim calcmode="lin" valueType="num">
                                      <p:cBhvr additive="base">
                                        <p:cTn id="15" dur="500" fill="hold"/>
                                        <p:tgtEl>
                                          <p:spTgt spid="33"/>
                                        </p:tgtEl>
                                        <p:attrNameLst>
                                          <p:attrName>ppt_x</p:attrName>
                                        </p:attrNameLst>
                                      </p:cBhvr>
                                      <p:tavLst>
                                        <p:tav tm="0">
                                          <p:val>
                                            <p:strVal val="0-#ppt_w/2"/>
                                          </p:val>
                                        </p:tav>
                                        <p:tav tm="100000">
                                          <p:val>
                                            <p:strVal val="#ppt_x"/>
                                          </p:val>
                                        </p:tav>
                                      </p:tavLst>
                                    </p:anim>
                                    <p:anim calcmode="lin" valueType="num">
                                      <p:cBhvr additive="base">
                                        <p:cTn id="16" dur="500" fill="hold"/>
                                        <p:tgtEl>
                                          <p:spTgt spid="33"/>
                                        </p:tgtEl>
                                        <p:attrNameLst>
                                          <p:attrName>ppt_y</p:attrName>
                                        </p:attrNameLst>
                                      </p:cBhvr>
                                      <p:tavLst>
                                        <p:tav tm="0">
                                          <p:val>
                                            <p:strVal val="#ppt_y"/>
                                          </p:val>
                                        </p:tav>
                                        <p:tav tm="100000">
                                          <p:val>
                                            <p:strVal val="#ppt_y"/>
                                          </p:val>
                                        </p:tav>
                                      </p:tavLst>
                                    </p:anim>
                                  </p:childTnLst>
                                </p:cTn>
                              </p:par>
                            </p:childTnLst>
                          </p:cTn>
                        </p:par>
                        <p:par>
                          <p:cTn id="17" fill="hold">
                            <p:stCondLst>
                              <p:cond delay="2500"/>
                            </p:stCondLst>
                            <p:childTnLst>
                              <p:par>
                                <p:cTn id="18" presetID="16" presetClass="entr" presetSubtype="21" fill="hold" nodeType="afterEffect">
                                  <p:stCondLst>
                                    <p:cond delay="0"/>
                                  </p:stCondLst>
                                  <p:childTnLst>
                                    <p:set>
                                      <p:cBhvr>
                                        <p:cTn id="19" dur="1" fill="hold">
                                          <p:stCondLst>
                                            <p:cond delay="0"/>
                                          </p:stCondLst>
                                        </p:cTn>
                                        <p:tgtEl>
                                          <p:spTgt spid="10">
                                            <p:txEl>
                                              <p:pRg st="0" end="0"/>
                                            </p:txEl>
                                          </p:spTgt>
                                        </p:tgtEl>
                                        <p:attrNameLst>
                                          <p:attrName>style.visibility</p:attrName>
                                        </p:attrNameLst>
                                      </p:cBhvr>
                                      <p:to>
                                        <p:strVal val="visible"/>
                                      </p:to>
                                    </p:set>
                                    <p:animEffect transition="in" filter="barn(inVertical)">
                                      <p:cBhvr>
                                        <p:cTn id="20" dur="500"/>
                                        <p:tgtEl>
                                          <p:spTgt spid="10">
                                            <p:txEl>
                                              <p:pRg st="0" end="0"/>
                                            </p:txEl>
                                          </p:spTgt>
                                        </p:tgtEl>
                                      </p:cBhvr>
                                    </p:animEffect>
                                  </p:childTnLst>
                                </p:cTn>
                              </p:par>
                            </p:childTnLst>
                          </p:cTn>
                        </p:par>
                        <p:par>
                          <p:cTn id="21" fill="hold">
                            <p:stCondLst>
                              <p:cond delay="3000"/>
                            </p:stCondLst>
                            <p:childTnLst>
                              <p:par>
                                <p:cTn id="22" presetID="53" presetClass="entr" presetSubtype="16" fill="hold" grpId="0" nodeType="afterEffect">
                                  <p:stCondLst>
                                    <p:cond delay="0"/>
                                  </p:stCondLst>
                                  <p:childTnLst>
                                    <p:set>
                                      <p:cBhvr>
                                        <p:cTn id="23" dur="1" fill="hold">
                                          <p:stCondLst>
                                            <p:cond delay="0"/>
                                          </p:stCondLst>
                                        </p:cTn>
                                        <p:tgtEl>
                                          <p:spTgt spid="4"/>
                                        </p:tgtEl>
                                        <p:attrNameLst>
                                          <p:attrName>style.visibility</p:attrName>
                                        </p:attrNameLst>
                                      </p:cBhvr>
                                      <p:to>
                                        <p:strVal val="visible"/>
                                      </p:to>
                                    </p:set>
                                    <p:anim calcmode="lin" valueType="num">
                                      <p:cBhvr>
                                        <p:cTn id="24" dur="500" fill="hold"/>
                                        <p:tgtEl>
                                          <p:spTgt spid="4"/>
                                        </p:tgtEl>
                                        <p:attrNameLst>
                                          <p:attrName>ppt_w</p:attrName>
                                        </p:attrNameLst>
                                      </p:cBhvr>
                                      <p:tavLst>
                                        <p:tav tm="0">
                                          <p:val>
                                            <p:fltVal val="0"/>
                                          </p:val>
                                        </p:tav>
                                        <p:tav tm="100000">
                                          <p:val>
                                            <p:strVal val="#ppt_w"/>
                                          </p:val>
                                        </p:tav>
                                      </p:tavLst>
                                    </p:anim>
                                    <p:anim calcmode="lin" valueType="num">
                                      <p:cBhvr>
                                        <p:cTn id="25" dur="500" fill="hold"/>
                                        <p:tgtEl>
                                          <p:spTgt spid="4"/>
                                        </p:tgtEl>
                                        <p:attrNameLst>
                                          <p:attrName>ppt_h</p:attrName>
                                        </p:attrNameLst>
                                      </p:cBhvr>
                                      <p:tavLst>
                                        <p:tav tm="0">
                                          <p:val>
                                            <p:fltVal val="0"/>
                                          </p:val>
                                        </p:tav>
                                        <p:tav tm="100000">
                                          <p:val>
                                            <p:strVal val="#ppt_h"/>
                                          </p:val>
                                        </p:tav>
                                      </p:tavLst>
                                    </p:anim>
                                    <p:animEffect transition="in" filter="fade">
                                      <p:cBhvr>
                                        <p:cTn id="26"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p:bldP spid="48" grpId="0"/>
      <p:bldGraphic spid="4" grpId="0">
        <p:bldAsOne/>
      </p:bldGraphic>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2"/>
          <a:stretch>
            <a:fillRect/>
          </a:stretch>
        </p:blipFill>
        <p:spPr>
          <a:xfrm rot="16200000">
            <a:off x="145169" y="-145167"/>
            <a:ext cx="1268414" cy="1558750"/>
          </a:xfrm>
          <a:prstGeom prst="rect">
            <a:avLst/>
          </a:prstGeom>
        </p:spPr>
      </p:pic>
      <p:sp>
        <p:nvSpPr>
          <p:cNvPr id="9" name="文字方塊 8">
            <a:extLst>
              <a:ext uri="{FF2B5EF4-FFF2-40B4-BE49-F238E27FC236}">
                <a16:creationId xmlns:a16="http://schemas.microsoft.com/office/drawing/2014/main" id="{81D0666A-D96D-4B5B-9036-192FA53FE435}"/>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cxnSp>
        <p:nvCxnSpPr>
          <p:cNvPr id="33" name="直接连接符 33">
            <a:extLst>
              <a:ext uri="{FF2B5EF4-FFF2-40B4-BE49-F238E27FC236}">
                <a16:creationId xmlns:a16="http://schemas.microsoft.com/office/drawing/2014/main" id="{DFF80DCD-8EF0-4D2F-8380-59FA348D932C}"/>
              </a:ext>
            </a:extLst>
          </p:cNvPr>
          <p:cNvCxnSpPr/>
          <p:nvPr/>
        </p:nvCxnSpPr>
        <p:spPr>
          <a:xfrm>
            <a:off x="1177167" y="1046746"/>
            <a:ext cx="10585176"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6" name="標題 1"/>
          <p:cNvSpPr txBox="1">
            <a:spLocks/>
          </p:cNvSpPr>
          <p:nvPr/>
        </p:nvSpPr>
        <p:spPr>
          <a:xfrm>
            <a:off x="854426" y="112999"/>
            <a:ext cx="5288853"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7-3 </a:t>
            </a:r>
            <a:r>
              <a:rPr lang="zh-TW" altLang="en-US" sz="2400" b="1" dirty="0">
                <a:solidFill>
                  <a:srgbClr val="E06741"/>
                </a:solidFill>
              </a:rPr>
              <a:t>實務案例</a:t>
            </a:r>
            <a:r>
              <a:rPr lang="en-US" altLang="zh-TW" sz="2400" b="1" dirty="0">
                <a:solidFill>
                  <a:srgbClr val="E06741"/>
                </a:solidFill>
              </a:rPr>
              <a:t>-</a:t>
            </a:r>
            <a:r>
              <a:rPr lang="zh-TW" altLang="en-US" sz="2400" b="1" dirty="0">
                <a:solidFill>
                  <a:srgbClr val="E06741"/>
                </a:solidFill>
              </a:rPr>
              <a:t>農產履歷</a:t>
            </a:r>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sp>
        <p:nvSpPr>
          <p:cNvPr id="48" name="文字方塊 47">
            <a:extLst>
              <a:ext uri="{FF2B5EF4-FFF2-40B4-BE49-F238E27FC236}">
                <a16:creationId xmlns:a16="http://schemas.microsoft.com/office/drawing/2014/main" id="{AD7F4831-1A36-4A2F-ACBE-344F724510DC}"/>
              </a:ext>
            </a:extLst>
          </p:cNvPr>
          <p:cNvSpPr txBox="1"/>
          <p:nvPr/>
        </p:nvSpPr>
        <p:spPr>
          <a:xfrm>
            <a:off x="5130089" y="350241"/>
            <a:ext cx="2242922"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-2</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案例區塊鍊運用</a:t>
            </a:r>
          </a:p>
        </p:txBody>
      </p:sp>
      <p:sp>
        <p:nvSpPr>
          <p:cNvPr id="10" name="文字方塊 9">
            <a:extLst>
              <a:ext uri="{FF2B5EF4-FFF2-40B4-BE49-F238E27FC236}">
                <a16:creationId xmlns:a16="http://schemas.microsoft.com/office/drawing/2014/main" id="{BF94E171-0176-49DD-BE6C-DB2D96B94A88}"/>
              </a:ext>
            </a:extLst>
          </p:cNvPr>
          <p:cNvSpPr txBox="1"/>
          <p:nvPr/>
        </p:nvSpPr>
        <p:spPr>
          <a:xfrm>
            <a:off x="1177167" y="1816567"/>
            <a:ext cx="9663430" cy="578492"/>
          </a:xfrm>
          <a:prstGeom prst="rect">
            <a:avLst/>
          </a:prstGeom>
          <a:noFill/>
        </p:spPr>
        <p:txBody>
          <a:bodyPr wrap="square" rtlCol="0">
            <a:spAutoFit/>
          </a:bodyPr>
          <a:lstStyle/>
          <a:p>
            <a:pPr marL="342900" indent="-342900">
              <a:lnSpc>
                <a:spcPct val="150000"/>
              </a:lnSpc>
              <a:buBlip>
                <a:blip r:embed="rId3"/>
              </a:buBlip>
            </a:pP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grpSp>
        <p:nvGrpSpPr>
          <p:cNvPr id="11" name="群組 10"/>
          <p:cNvGrpSpPr/>
          <p:nvPr/>
        </p:nvGrpSpPr>
        <p:grpSpPr>
          <a:xfrm>
            <a:off x="930906" y="1226302"/>
            <a:ext cx="7270667" cy="5305380"/>
            <a:chOff x="246085" y="94961"/>
            <a:chExt cx="8658227" cy="6632885"/>
          </a:xfrm>
        </p:grpSpPr>
        <p:grpSp>
          <p:nvGrpSpPr>
            <p:cNvPr id="13" name="群組 12"/>
            <p:cNvGrpSpPr/>
            <p:nvPr/>
          </p:nvGrpSpPr>
          <p:grpSpPr>
            <a:xfrm>
              <a:off x="246085" y="1268760"/>
              <a:ext cx="1120989" cy="3810873"/>
              <a:chOff x="468494" y="2684820"/>
              <a:chExt cx="904965" cy="2184340"/>
            </a:xfrm>
            <a:solidFill>
              <a:srgbClr val="7CF8DD"/>
            </a:solidFill>
          </p:grpSpPr>
          <p:sp>
            <p:nvSpPr>
              <p:cNvPr id="70" name="圓角矩形 69"/>
              <p:cNvSpPr/>
              <p:nvPr/>
            </p:nvSpPr>
            <p:spPr>
              <a:xfrm>
                <a:off x="479376" y="2684820"/>
                <a:ext cx="792088" cy="2184340"/>
              </a:xfrm>
              <a:prstGeom prst="round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600" b="1">
                  <a:solidFill>
                    <a:schemeClr val="tx1">
                      <a:lumMod val="75000"/>
                      <a:lumOff val="25000"/>
                    </a:schemeClr>
                  </a:solidFill>
                  <a:latin typeface="微軟正黑體" panose="020B0604030504040204" pitchFamily="34" charset="-120"/>
                  <a:ea typeface="微軟正黑體" panose="020B0604030504040204" pitchFamily="34" charset="-120"/>
                </a:endParaRPr>
              </a:p>
            </p:txBody>
          </p:sp>
          <p:sp>
            <p:nvSpPr>
              <p:cNvPr id="71" name="文字方塊 70"/>
              <p:cNvSpPr txBox="1"/>
              <p:nvPr/>
            </p:nvSpPr>
            <p:spPr>
              <a:xfrm>
                <a:off x="468494" y="3029051"/>
                <a:ext cx="904965" cy="1521831"/>
              </a:xfrm>
              <a:prstGeom prst="rect">
                <a:avLst/>
              </a:prstGeom>
              <a:noFill/>
            </p:spPr>
            <p:txBody>
              <a:bodyPr wrap="square" rtlCol="0">
                <a:spAutoFit/>
              </a:bodyPr>
              <a:lstStyle/>
              <a:p>
                <a:r>
                  <a:rPr lang="zh-TW" altLang="en-US" sz="1600" b="1" dirty="0">
                    <a:solidFill>
                      <a:schemeClr val="tx1">
                        <a:lumMod val="75000"/>
                        <a:lumOff val="25000"/>
                      </a:schemeClr>
                    </a:solidFill>
                    <a:latin typeface="微軟正黑體" panose="020B0604030504040204" pitchFamily="34" charset="-120"/>
                    <a:ea typeface="微軟正黑體" panose="020B0604030504040204" pitchFamily="34" charset="-120"/>
                  </a:rPr>
                  <a:t>農戶甲</a:t>
                </a:r>
                <a:endParaRPr lang="en-US" altLang="zh-TW" sz="16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r>
                  <a:rPr lang="zh-TW" altLang="en-US" sz="1600" b="1" dirty="0">
                    <a:solidFill>
                      <a:schemeClr val="tx1">
                        <a:lumMod val="75000"/>
                        <a:lumOff val="25000"/>
                      </a:schemeClr>
                    </a:solidFill>
                    <a:latin typeface="微軟正黑體" panose="020B0604030504040204" pitchFamily="34" charset="-120"/>
                    <a:ea typeface="微軟正黑體" panose="020B0604030504040204" pitchFamily="34" charset="-120"/>
                  </a:rPr>
                  <a:t>農戶乙</a:t>
                </a:r>
              </a:p>
              <a:p>
                <a:r>
                  <a:rPr lang="zh-TW" altLang="en-US" sz="1600" b="1" dirty="0">
                    <a:solidFill>
                      <a:schemeClr val="tx1">
                        <a:lumMod val="75000"/>
                        <a:lumOff val="25000"/>
                      </a:schemeClr>
                    </a:solidFill>
                    <a:latin typeface="微軟正黑體" panose="020B0604030504040204" pitchFamily="34" charset="-120"/>
                    <a:ea typeface="微軟正黑體" panose="020B0604030504040204" pitchFamily="34" charset="-120"/>
                  </a:rPr>
                  <a:t>農戶丙</a:t>
                </a:r>
              </a:p>
              <a:p>
                <a:r>
                  <a:rPr lang="zh-TW" altLang="en-US" sz="1600" b="1" dirty="0">
                    <a:solidFill>
                      <a:schemeClr val="tx1">
                        <a:lumMod val="75000"/>
                        <a:lumOff val="25000"/>
                      </a:schemeClr>
                    </a:solidFill>
                    <a:latin typeface="微軟正黑體" panose="020B0604030504040204" pitchFamily="34" charset="-120"/>
                    <a:ea typeface="微軟正黑體" panose="020B0604030504040204" pitchFamily="34" charset="-120"/>
                  </a:rPr>
                  <a:t>農戶丁</a:t>
                </a:r>
              </a:p>
              <a:p>
                <a:r>
                  <a:rPr lang="zh-TW" altLang="en-US" sz="1600" b="1" dirty="0">
                    <a:solidFill>
                      <a:schemeClr val="tx1">
                        <a:lumMod val="75000"/>
                        <a:lumOff val="25000"/>
                      </a:schemeClr>
                    </a:solidFill>
                    <a:latin typeface="微軟正黑體" panose="020B0604030504040204" pitchFamily="34" charset="-120"/>
                    <a:ea typeface="微軟正黑體" panose="020B0604030504040204" pitchFamily="34" charset="-120"/>
                  </a:rPr>
                  <a:t>農戶戊</a:t>
                </a:r>
              </a:p>
              <a:p>
                <a:r>
                  <a:rPr lang="zh-TW" altLang="en-US" sz="1600" b="1" dirty="0">
                    <a:solidFill>
                      <a:schemeClr val="tx1">
                        <a:lumMod val="75000"/>
                        <a:lumOff val="25000"/>
                      </a:schemeClr>
                    </a:solidFill>
                    <a:latin typeface="微軟正黑體" panose="020B0604030504040204" pitchFamily="34" charset="-120"/>
                    <a:ea typeface="微軟正黑體" panose="020B0604030504040204" pitchFamily="34" charset="-120"/>
                  </a:rPr>
                  <a:t>農戶己</a:t>
                </a:r>
                <a:endParaRPr lang="en-US" altLang="zh-TW" sz="16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algn="ctr"/>
                <a:r>
                  <a:rPr lang="en-US" altLang="zh-TW" sz="1600" b="1" dirty="0">
                    <a:solidFill>
                      <a:schemeClr val="tx1">
                        <a:lumMod val="75000"/>
                        <a:lumOff val="25000"/>
                      </a:schemeClr>
                    </a:solidFill>
                    <a:latin typeface="微軟正黑體" panose="020B0604030504040204" pitchFamily="34" charset="-120"/>
                    <a:ea typeface="微軟正黑體" panose="020B0604030504040204" pitchFamily="34" charset="-120"/>
                  </a:rPr>
                  <a:t>……….</a:t>
                </a:r>
                <a:endParaRPr lang="zh-TW" altLang="en-US" sz="16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endParaRPr lang="zh-TW" altLang="en-US" sz="1600" b="1" dirty="0">
                  <a:latin typeface="微軟正黑體" panose="020B0604030504040204" pitchFamily="34" charset="-120"/>
                  <a:ea typeface="微軟正黑體" panose="020B0604030504040204" pitchFamily="34" charset="-120"/>
                </a:endParaRPr>
              </a:p>
            </p:txBody>
          </p:sp>
        </p:grpSp>
        <p:sp>
          <p:nvSpPr>
            <p:cNvPr id="14" name="矩形 13"/>
            <p:cNvSpPr/>
            <p:nvPr/>
          </p:nvSpPr>
          <p:spPr>
            <a:xfrm>
              <a:off x="1796258" y="3044046"/>
              <a:ext cx="1080120" cy="720080"/>
            </a:xfrm>
            <a:prstGeom prst="rect">
              <a:avLst/>
            </a:pr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600" b="1" dirty="0">
                  <a:solidFill>
                    <a:schemeClr val="tx1"/>
                  </a:solidFill>
                  <a:latin typeface="微軟正黑體" panose="020B0604030504040204" pitchFamily="34" charset="-120"/>
                  <a:ea typeface="微軟正黑體" panose="020B0604030504040204" pitchFamily="34" charset="-120"/>
                </a:rPr>
                <a:t>合作社</a:t>
              </a:r>
            </a:p>
          </p:txBody>
        </p:sp>
        <p:sp>
          <p:nvSpPr>
            <p:cNvPr id="15" name="矩形 14"/>
            <p:cNvSpPr/>
            <p:nvPr/>
          </p:nvSpPr>
          <p:spPr>
            <a:xfrm>
              <a:off x="1796164" y="4101488"/>
              <a:ext cx="1080120" cy="1204399"/>
            </a:xfrm>
            <a:prstGeom prst="rect">
              <a:avLst/>
            </a:prstGeom>
            <a:solidFill>
              <a:srgbClr val="A8D1F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600" b="1" dirty="0">
                  <a:solidFill>
                    <a:schemeClr val="tx1"/>
                  </a:solidFill>
                  <a:latin typeface="微軟正黑體" panose="020B0604030504040204" pitchFamily="34" charset="-120"/>
                  <a:ea typeface="微軟正黑體" panose="020B0604030504040204" pitchFamily="34" charset="-120"/>
                </a:rPr>
                <a:t>農會</a:t>
              </a:r>
            </a:p>
          </p:txBody>
        </p:sp>
        <p:sp>
          <p:nvSpPr>
            <p:cNvPr id="16" name="矩形 15"/>
            <p:cNvSpPr/>
            <p:nvPr/>
          </p:nvSpPr>
          <p:spPr>
            <a:xfrm>
              <a:off x="3869870" y="177489"/>
              <a:ext cx="718099" cy="1332531"/>
            </a:xfrm>
            <a:prstGeom prst="rect">
              <a:avLst/>
            </a:prstGeom>
            <a:solidFill>
              <a:srgbClr val="B4DAB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600" b="1" dirty="0">
                  <a:solidFill>
                    <a:schemeClr val="tx1"/>
                  </a:solidFill>
                  <a:latin typeface="微軟正黑體" panose="020B0604030504040204" pitchFamily="34" charset="-120"/>
                  <a:ea typeface="微軟正黑體" panose="020B0604030504040204" pitchFamily="34" charset="-120"/>
                </a:rPr>
                <a:t>拍</a:t>
              </a:r>
              <a:endParaRPr lang="en-US" altLang="zh-TW" sz="1600" b="1" dirty="0">
                <a:solidFill>
                  <a:schemeClr val="tx1"/>
                </a:solidFill>
                <a:latin typeface="微軟正黑體" panose="020B0604030504040204" pitchFamily="34" charset="-120"/>
                <a:ea typeface="微軟正黑體" panose="020B0604030504040204" pitchFamily="34" charset="-120"/>
              </a:endParaRPr>
            </a:p>
            <a:p>
              <a:pPr algn="ctr"/>
              <a:r>
                <a:rPr lang="zh-TW" altLang="en-US" sz="1600" b="1" dirty="0">
                  <a:solidFill>
                    <a:schemeClr val="tx1"/>
                  </a:solidFill>
                  <a:latin typeface="微軟正黑體" panose="020B0604030504040204" pitchFamily="34" charset="-120"/>
                  <a:ea typeface="微軟正黑體" panose="020B0604030504040204" pitchFamily="34" charset="-120"/>
                </a:rPr>
                <a:t>賣</a:t>
              </a:r>
              <a:endParaRPr lang="en-US" altLang="zh-TW" sz="1600" b="1" dirty="0">
                <a:solidFill>
                  <a:schemeClr val="tx1"/>
                </a:solidFill>
                <a:latin typeface="微軟正黑體" panose="020B0604030504040204" pitchFamily="34" charset="-120"/>
                <a:ea typeface="微軟正黑體" panose="020B0604030504040204" pitchFamily="34" charset="-120"/>
              </a:endParaRPr>
            </a:p>
            <a:p>
              <a:pPr algn="ctr"/>
              <a:r>
                <a:rPr lang="zh-TW" altLang="en-US" sz="1600" b="1" dirty="0">
                  <a:solidFill>
                    <a:schemeClr val="tx1"/>
                  </a:solidFill>
                  <a:latin typeface="微軟正黑體" panose="020B0604030504040204" pitchFamily="34" charset="-120"/>
                  <a:ea typeface="微軟正黑體" panose="020B0604030504040204" pitchFamily="34" charset="-120"/>
                </a:rPr>
                <a:t>市</a:t>
              </a:r>
              <a:endParaRPr lang="en-US" altLang="zh-TW" sz="1600" b="1" dirty="0">
                <a:solidFill>
                  <a:schemeClr val="tx1"/>
                </a:solidFill>
                <a:latin typeface="微軟正黑體" panose="020B0604030504040204" pitchFamily="34" charset="-120"/>
                <a:ea typeface="微軟正黑體" panose="020B0604030504040204" pitchFamily="34" charset="-120"/>
              </a:endParaRPr>
            </a:p>
            <a:p>
              <a:pPr algn="ctr"/>
              <a:r>
                <a:rPr lang="zh-TW" altLang="en-US" sz="1600" b="1" dirty="0">
                  <a:solidFill>
                    <a:schemeClr val="tx1"/>
                  </a:solidFill>
                  <a:latin typeface="微軟正黑體" panose="020B0604030504040204" pitchFamily="34" charset="-120"/>
                  <a:ea typeface="微軟正黑體" panose="020B0604030504040204" pitchFamily="34" charset="-120"/>
                </a:rPr>
                <a:t>場</a:t>
              </a:r>
            </a:p>
          </p:txBody>
        </p:sp>
        <p:sp>
          <p:nvSpPr>
            <p:cNvPr id="17" name="矩形 16"/>
            <p:cNvSpPr/>
            <p:nvPr/>
          </p:nvSpPr>
          <p:spPr>
            <a:xfrm>
              <a:off x="5075078" y="116632"/>
              <a:ext cx="661464" cy="1487559"/>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600" b="1" dirty="0">
                  <a:solidFill>
                    <a:schemeClr val="tx1"/>
                  </a:solidFill>
                  <a:latin typeface="微軟正黑體" panose="020B0604030504040204" pitchFamily="34" charset="-120"/>
                  <a:ea typeface="微軟正黑體" panose="020B0604030504040204" pitchFamily="34" charset="-120"/>
                </a:rPr>
                <a:t>行</a:t>
              </a:r>
              <a:endParaRPr lang="en-US" altLang="zh-TW" sz="1600" b="1" dirty="0">
                <a:solidFill>
                  <a:schemeClr val="tx1"/>
                </a:solidFill>
                <a:latin typeface="微軟正黑體" panose="020B0604030504040204" pitchFamily="34" charset="-120"/>
                <a:ea typeface="微軟正黑體" panose="020B0604030504040204" pitchFamily="34" charset="-120"/>
              </a:endParaRPr>
            </a:p>
            <a:p>
              <a:pPr algn="ctr"/>
              <a:r>
                <a:rPr lang="zh-TW" altLang="en-US" sz="1600" b="1" dirty="0">
                  <a:solidFill>
                    <a:schemeClr val="tx1"/>
                  </a:solidFill>
                  <a:latin typeface="微軟正黑體" panose="020B0604030504040204" pitchFamily="34" charset="-120"/>
                  <a:ea typeface="微軟正黑體" panose="020B0604030504040204" pitchFamily="34" charset="-120"/>
                </a:rPr>
                <a:t>口</a:t>
              </a:r>
            </a:p>
          </p:txBody>
        </p:sp>
        <p:sp>
          <p:nvSpPr>
            <p:cNvPr id="18" name="矩形 17"/>
            <p:cNvSpPr/>
            <p:nvPr/>
          </p:nvSpPr>
          <p:spPr>
            <a:xfrm>
              <a:off x="6528048" y="94961"/>
              <a:ext cx="810255" cy="1509230"/>
            </a:xfrm>
            <a:prstGeom prst="rect">
              <a:avLst/>
            </a:prstGeom>
            <a:solidFill>
              <a:srgbClr val="F8F3D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600" b="1" dirty="0">
                  <a:solidFill>
                    <a:schemeClr val="tx1"/>
                  </a:solidFill>
                  <a:latin typeface="微軟正黑體" panose="020B0604030504040204" pitchFamily="34" charset="-120"/>
                  <a:ea typeface="微軟正黑體" panose="020B0604030504040204" pitchFamily="34" charset="-120"/>
                </a:rPr>
                <a:t>團體或</a:t>
              </a:r>
              <a:endParaRPr lang="en-US" altLang="zh-TW" sz="1600" b="1" dirty="0">
                <a:solidFill>
                  <a:schemeClr val="tx1"/>
                </a:solidFill>
                <a:latin typeface="微軟正黑體" panose="020B0604030504040204" pitchFamily="34" charset="-120"/>
                <a:ea typeface="微軟正黑體" panose="020B0604030504040204" pitchFamily="34" charset="-120"/>
              </a:endParaRPr>
            </a:p>
            <a:p>
              <a:pPr algn="ctr"/>
              <a:r>
                <a:rPr lang="zh-TW" altLang="en-US" sz="1600" b="1" dirty="0">
                  <a:solidFill>
                    <a:schemeClr val="tx1"/>
                  </a:solidFill>
                  <a:latin typeface="微軟正黑體" panose="020B0604030504040204" pitchFamily="34" charset="-120"/>
                  <a:ea typeface="微軟正黑體" panose="020B0604030504040204" pitchFamily="34" charset="-120"/>
                </a:rPr>
                <a:t>餐廳</a:t>
              </a:r>
            </a:p>
          </p:txBody>
        </p:sp>
        <p:sp>
          <p:nvSpPr>
            <p:cNvPr id="19" name="矩形 18"/>
            <p:cNvSpPr/>
            <p:nvPr/>
          </p:nvSpPr>
          <p:spPr>
            <a:xfrm>
              <a:off x="6563093" y="3548270"/>
              <a:ext cx="665418" cy="1235169"/>
            </a:xfrm>
            <a:prstGeom prst="rect">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600" b="1" dirty="0">
                  <a:solidFill>
                    <a:schemeClr val="tx1"/>
                  </a:solidFill>
                  <a:latin typeface="微軟正黑體" panose="020B0604030504040204" pitchFamily="34" charset="-120"/>
                  <a:ea typeface="微軟正黑體" panose="020B0604030504040204" pitchFamily="34" charset="-120"/>
                </a:rPr>
                <a:t>零售市場</a:t>
              </a:r>
            </a:p>
          </p:txBody>
        </p:sp>
        <p:sp>
          <p:nvSpPr>
            <p:cNvPr id="20" name="矩形 19"/>
            <p:cNvSpPr/>
            <p:nvPr/>
          </p:nvSpPr>
          <p:spPr>
            <a:xfrm>
              <a:off x="3839101" y="3428150"/>
              <a:ext cx="792709" cy="1730228"/>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600" b="1" dirty="0">
                  <a:solidFill>
                    <a:schemeClr val="tx1"/>
                  </a:solidFill>
                  <a:latin typeface="微軟正黑體" panose="020B0604030504040204" pitchFamily="34" charset="-120"/>
                  <a:ea typeface="微軟正黑體" panose="020B0604030504040204" pitchFamily="34" charset="-120"/>
                </a:rPr>
                <a:t>大</a:t>
              </a:r>
              <a:endParaRPr lang="en-US" altLang="zh-TW" sz="1600" b="1" dirty="0">
                <a:solidFill>
                  <a:schemeClr val="tx1"/>
                </a:solidFill>
                <a:latin typeface="微軟正黑體" panose="020B0604030504040204" pitchFamily="34" charset="-120"/>
                <a:ea typeface="微軟正黑體" panose="020B0604030504040204" pitchFamily="34" charset="-120"/>
              </a:endParaRPr>
            </a:p>
            <a:p>
              <a:pPr algn="ctr"/>
              <a:r>
                <a:rPr lang="zh-TW" altLang="en-US" sz="1600" b="1" dirty="0">
                  <a:solidFill>
                    <a:schemeClr val="tx1"/>
                  </a:solidFill>
                  <a:latin typeface="微軟正黑體" panose="020B0604030504040204" pitchFamily="34" charset="-120"/>
                  <a:ea typeface="微軟正黑體" panose="020B0604030504040204" pitchFamily="34" charset="-120"/>
                </a:rPr>
                <a:t>集</a:t>
              </a:r>
              <a:endParaRPr lang="en-US" altLang="zh-TW" sz="1600" b="1" dirty="0">
                <a:solidFill>
                  <a:schemeClr val="tx1"/>
                </a:solidFill>
                <a:latin typeface="微軟正黑體" panose="020B0604030504040204" pitchFamily="34" charset="-120"/>
                <a:ea typeface="微軟正黑體" panose="020B0604030504040204" pitchFamily="34" charset="-120"/>
              </a:endParaRPr>
            </a:p>
            <a:p>
              <a:pPr algn="ctr"/>
              <a:r>
                <a:rPr lang="zh-TW" altLang="en-US" sz="1600" b="1" dirty="0">
                  <a:solidFill>
                    <a:schemeClr val="tx1"/>
                  </a:solidFill>
                  <a:latin typeface="微軟正黑體" panose="020B0604030504040204" pitchFamily="34" charset="-120"/>
                  <a:ea typeface="微軟正黑體" panose="020B0604030504040204" pitchFamily="34" charset="-120"/>
                </a:rPr>
                <a:t>貨</a:t>
              </a:r>
              <a:endParaRPr lang="en-US" altLang="zh-TW" sz="1600" b="1" dirty="0">
                <a:solidFill>
                  <a:schemeClr val="tx1"/>
                </a:solidFill>
                <a:latin typeface="微軟正黑體" panose="020B0604030504040204" pitchFamily="34" charset="-120"/>
                <a:ea typeface="微軟正黑體" panose="020B0604030504040204" pitchFamily="34" charset="-120"/>
              </a:endParaRPr>
            </a:p>
            <a:p>
              <a:pPr algn="ctr"/>
              <a:r>
                <a:rPr lang="zh-TW" altLang="en-US" sz="1600" b="1" dirty="0">
                  <a:solidFill>
                    <a:schemeClr val="tx1"/>
                  </a:solidFill>
                  <a:latin typeface="微軟正黑體" panose="020B0604030504040204" pitchFamily="34" charset="-120"/>
                  <a:ea typeface="微軟正黑體" panose="020B0604030504040204" pitchFamily="34" charset="-120"/>
                </a:rPr>
                <a:t>商</a:t>
              </a:r>
            </a:p>
          </p:txBody>
        </p:sp>
        <p:sp>
          <p:nvSpPr>
            <p:cNvPr id="21" name="矩形 20"/>
            <p:cNvSpPr/>
            <p:nvPr/>
          </p:nvSpPr>
          <p:spPr>
            <a:xfrm>
              <a:off x="5071408" y="2448742"/>
              <a:ext cx="665134" cy="2184004"/>
            </a:xfrm>
            <a:prstGeom prst="rect">
              <a:avLst/>
            </a:prstGeom>
            <a:solidFill>
              <a:srgbClr val="F7C65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600" b="1" dirty="0">
                  <a:solidFill>
                    <a:schemeClr val="tx1"/>
                  </a:solidFill>
                  <a:latin typeface="微軟正黑體" panose="020B0604030504040204" pitchFamily="34" charset="-120"/>
                  <a:ea typeface="微軟正黑體" panose="020B0604030504040204" pitchFamily="34" charset="-120"/>
                </a:rPr>
                <a:t>大</a:t>
              </a:r>
              <a:endParaRPr lang="en-US" altLang="zh-TW" sz="1600" b="1" dirty="0">
                <a:solidFill>
                  <a:schemeClr val="tx1"/>
                </a:solidFill>
                <a:latin typeface="微軟正黑體" panose="020B0604030504040204" pitchFamily="34" charset="-120"/>
                <a:ea typeface="微軟正黑體" panose="020B0604030504040204" pitchFamily="34" charset="-120"/>
              </a:endParaRPr>
            </a:p>
            <a:p>
              <a:pPr algn="ctr"/>
              <a:r>
                <a:rPr lang="zh-TW" altLang="en-US" sz="1600" b="1" dirty="0">
                  <a:solidFill>
                    <a:schemeClr val="tx1"/>
                  </a:solidFill>
                  <a:latin typeface="微軟正黑體" panose="020B0604030504040204" pitchFamily="34" charset="-120"/>
                  <a:ea typeface="微軟正黑體" panose="020B0604030504040204" pitchFamily="34" charset="-120"/>
                </a:rPr>
                <a:t>型</a:t>
              </a:r>
              <a:endParaRPr lang="en-US" altLang="zh-TW" sz="1600" b="1" dirty="0">
                <a:solidFill>
                  <a:schemeClr val="tx1"/>
                </a:solidFill>
                <a:latin typeface="微軟正黑體" panose="020B0604030504040204" pitchFamily="34" charset="-120"/>
                <a:ea typeface="微軟正黑體" panose="020B0604030504040204" pitchFamily="34" charset="-120"/>
              </a:endParaRPr>
            </a:p>
            <a:p>
              <a:pPr algn="ctr"/>
              <a:r>
                <a:rPr lang="zh-TW" altLang="en-US" sz="1600" b="1" dirty="0">
                  <a:solidFill>
                    <a:schemeClr val="tx1"/>
                  </a:solidFill>
                  <a:latin typeface="微軟正黑體" panose="020B0604030504040204" pitchFamily="34" charset="-120"/>
                  <a:ea typeface="微軟正黑體" panose="020B0604030504040204" pitchFamily="34" charset="-120"/>
                </a:rPr>
                <a:t>賣</a:t>
              </a:r>
              <a:endParaRPr lang="en-US" altLang="zh-TW" sz="1600" b="1" dirty="0">
                <a:solidFill>
                  <a:schemeClr val="tx1"/>
                </a:solidFill>
                <a:latin typeface="微軟正黑體" panose="020B0604030504040204" pitchFamily="34" charset="-120"/>
                <a:ea typeface="微軟正黑體" panose="020B0604030504040204" pitchFamily="34" charset="-120"/>
              </a:endParaRPr>
            </a:p>
            <a:p>
              <a:pPr algn="ctr"/>
              <a:r>
                <a:rPr lang="zh-TW" altLang="en-US" sz="1600" b="1" dirty="0">
                  <a:solidFill>
                    <a:schemeClr val="tx1"/>
                  </a:solidFill>
                  <a:latin typeface="微軟正黑體" panose="020B0604030504040204" pitchFamily="34" charset="-120"/>
                  <a:ea typeface="微軟正黑體" panose="020B0604030504040204" pitchFamily="34" charset="-120"/>
                </a:rPr>
                <a:t>場</a:t>
              </a:r>
            </a:p>
          </p:txBody>
        </p:sp>
        <p:sp>
          <p:nvSpPr>
            <p:cNvPr id="22" name="矩形 21"/>
            <p:cNvSpPr/>
            <p:nvPr/>
          </p:nvSpPr>
          <p:spPr>
            <a:xfrm>
              <a:off x="1788861" y="1869318"/>
              <a:ext cx="1187363" cy="68651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600" b="1" dirty="0">
                  <a:solidFill>
                    <a:schemeClr val="bg1"/>
                  </a:solidFill>
                  <a:latin typeface="微軟正黑體" panose="020B0604030504040204" pitchFamily="34" charset="-120"/>
                  <a:ea typeface="微軟正黑體" panose="020B0604030504040204" pitchFamily="34" charset="-120"/>
                </a:rPr>
                <a:t>小集貨商</a:t>
              </a:r>
            </a:p>
          </p:txBody>
        </p:sp>
        <p:sp>
          <p:nvSpPr>
            <p:cNvPr id="23" name="矩形 22"/>
            <p:cNvSpPr/>
            <p:nvPr/>
          </p:nvSpPr>
          <p:spPr>
            <a:xfrm>
              <a:off x="8040216" y="2132855"/>
              <a:ext cx="864096" cy="2726209"/>
            </a:xfrm>
            <a:prstGeom prst="rect">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1600" b="1" dirty="0">
                  <a:solidFill>
                    <a:schemeClr val="bg1"/>
                  </a:solidFill>
                  <a:latin typeface="微軟正黑體" panose="020B0604030504040204" pitchFamily="34" charset="-120"/>
                  <a:ea typeface="微軟正黑體" panose="020B0604030504040204" pitchFamily="34" charset="-120"/>
                </a:rPr>
                <a:t>消</a:t>
              </a:r>
              <a:endParaRPr lang="en-US" altLang="zh-TW" sz="1600" b="1" dirty="0">
                <a:solidFill>
                  <a:schemeClr val="bg1"/>
                </a:solidFill>
                <a:latin typeface="微軟正黑體" panose="020B0604030504040204" pitchFamily="34" charset="-120"/>
                <a:ea typeface="微軟正黑體" panose="020B0604030504040204" pitchFamily="34" charset="-120"/>
              </a:endParaRPr>
            </a:p>
            <a:p>
              <a:pPr algn="ctr"/>
              <a:r>
                <a:rPr lang="zh-TW" altLang="en-US" sz="1600" b="1" dirty="0">
                  <a:solidFill>
                    <a:schemeClr val="bg1"/>
                  </a:solidFill>
                  <a:latin typeface="微軟正黑體" panose="020B0604030504040204" pitchFamily="34" charset="-120"/>
                  <a:ea typeface="微軟正黑體" panose="020B0604030504040204" pitchFamily="34" charset="-120"/>
                </a:rPr>
                <a:t>費</a:t>
              </a:r>
              <a:endParaRPr lang="en-US" altLang="zh-TW" sz="1600" b="1" dirty="0">
                <a:solidFill>
                  <a:schemeClr val="bg1"/>
                </a:solidFill>
                <a:latin typeface="微軟正黑體" panose="020B0604030504040204" pitchFamily="34" charset="-120"/>
                <a:ea typeface="微軟正黑體" panose="020B0604030504040204" pitchFamily="34" charset="-120"/>
              </a:endParaRPr>
            </a:p>
            <a:p>
              <a:pPr algn="ctr"/>
              <a:r>
                <a:rPr lang="zh-TW" altLang="en-US" sz="1600" b="1" dirty="0">
                  <a:solidFill>
                    <a:schemeClr val="bg1"/>
                  </a:solidFill>
                  <a:latin typeface="微軟正黑體" panose="020B0604030504040204" pitchFamily="34" charset="-120"/>
                  <a:ea typeface="微軟正黑體" panose="020B0604030504040204" pitchFamily="34" charset="-120"/>
                </a:rPr>
                <a:t>者</a:t>
              </a:r>
            </a:p>
          </p:txBody>
        </p:sp>
        <p:grpSp>
          <p:nvGrpSpPr>
            <p:cNvPr id="24" name="群組 23"/>
            <p:cNvGrpSpPr/>
            <p:nvPr/>
          </p:nvGrpSpPr>
          <p:grpSpPr>
            <a:xfrm>
              <a:off x="353771" y="5804355"/>
              <a:ext cx="3505032" cy="923491"/>
              <a:chOff x="4583832" y="5564932"/>
              <a:chExt cx="3569438" cy="923491"/>
            </a:xfrm>
          </p:grpSpPr>
          <p:sp>
            <p:nvSpPr>
              <p:cNvPr id="66" name="文字方塊 65"/>
              <p:cNvSpPr txBox="1"/>
              <p:nvPr/>
            </p:nvSpPr>
            <p:spPr>
              <a:xfrm>
                <a:off x="4583832" y="5564932"/>
                <a:ext cx="2232248" cy="923491"/>
              </a:xfrm>
              <a:prstGeom prst="rect">
                <a:avLst/>
              </a:prstGeom>
              <a:noFill/>
            </p:spPr>
            <p:txBody>
              <a:bodyPr wrap="square" rtlCol="0">
                <a:spAutoFit/>
              </a:bodyPr>
              <a:lstStyle/>
              <a:p>
                <a:r>
                  <a:rPr lang="zh-TW" altLang="en-US" sz="1400" b="1" dirty="0">
                    <a:latin typeface="微軟正黑體" panose="020B0604030504040204" pitchFamily="34" charset="-120"/>
                    <a:ea typeface="微軟正黑體" panose="020B0604030504040204" pitchFamily="34" charset="-120"/>
                  </a:rPr>
                  <a:t>零售市場產銷流程：</a:t>
                </a:r>
                <a:endParaRPr lang="en-US" altLang="zh-TW" sz="1400" b="1" dirty="0">
                  <a:latin typeface="微軟正黑體" panose="020B0604030504040204" pitchFamily="34" charset="-120"/>
                  <a:ea typeface="微軟正黑體" panose="020B0604030504040204" pitchFamily="34" charset="-120"/>
                </a:endParaRPr>
              </a:p>
              <a:p>
                <a:r>
                  <a:rPr lang="zh-TW" altLang="en-US" sz="1400" b="1" dirty="0">
                    <a:latin typeface="微軟正黑體" panose="020B0604030504040204" pitchFamily="34" charset="-120"/>
                    <a:ea typeface="微軟正黑體" panose="020B0604030504040204" pitchFamily="34" charset="-120"/>
                  </a:rPr>
                  <a:t>大型賣場產銷流程：</a:t>
                </a:r>
                <a:endParaRPr lang="en-US" altLang="zh-TW" sz="1400" b="1" dirty="0">
                  <a:latin typeface="微軟正黑體" panose="020B0604030504040204" pitchFamily="34" charset="-120"/>
                  <a:ea typeface="微軟正黑體" panose="020B0604030504040204" pitchFamily="34" charset="-120"/>
                </a:endParaRPr>
              </a:p>
              <a:p>
                <a:r>
                  <a:rPr lang="zh-TW" altLang="en-US" sz="1400" b="1" dirty="0">
                    <a:latin typeface="微軟正黑體" panose="020B0604030504040204" pitchFamily="34" charset="-120"/>
                    <a:ea typeface="微軟正黑體" panose="020B0604030504040204" pitchFamily="34" charset="-120"/>
                  </a:rPr>
                  <a:t>小農直銷產銷流程：</a:t>
                </a:r>
              </a:p>
            </p:txBody>
          </p:sp>
          <p:cxnSp>
            <p:nvCxnSpPr>
              <p:cNvPr id="67" name="直線單箭頭接點 66"/>
              <p:cNvCxnSpPr/>
              <p:nvPr/>
            </p:nvCxnSpPr>
            <p:spPr>
              <a:xfrm flipV="1">
                <a:off x="6816080" y="5715043"/>
                <a:ext cx="1337190" cy="18214"/>
              </a:xfrm>
              <a:prstGeom prst="straightConnector1">
                <a:avLst/>
              </a:prstGeom>
              <a:ln w="38100">
                <a:solidFill>
                  <a:srgbClr val="C00000"/>
                </a:solidFill>
                <a:prstDash val="sysDot"/>
                <a:tailEnd type="arrow"/>
              </a:ln>
            </p:spPr>
            <p:style>
              <a:lnRef idx="1">
                <a:schemeClr val="accent1"/>
              </a:lnRef>
              <a:fillRef idx="0">
                <a:schemeClr val="accent1"/>
              </a:fillRef>
              <a:effectRef idx="0">
                <a:schemeClr val="accent1"/>
              </a:effectRef>
              <a:fontRef idx="minor">
                <a:schemeClr val="tx1"/>
              </a:fontRef>
            </p:style>
          </p:cxnSp>
          <p:cxnSp>
            <p:nvCxnSpPr>
              <p:cNvPr id="68" name="直線單箭頭接點 67"/>
              <p:cNvCxnSpPr/>
              <p:nvPr/>
            </p:nvCxnSpPr>
            <p:spPr>
              <a:xfrm flipV="1">
                <a:off x="6816080" y="6003075"/>
                <a:ext cx="1337190" cy="18213"/>
              </a:xfrm>
              <a:prstGeom prst="straightConnector1">
                <a:avLst/>
              </a:prstGeom>
              <a:ln w="38100">
                <a:solidFill>
                  <a:srgbClr val="0066FF"/>
                </a:solidFill>
                <a:prstDash val="dash"/>
                <a:tailEnd type="arrow"/>
              </a:ln>
            </p:spPr>
            <p:style>
              <a:lnRef idx="1">
                <a:schemeClr val="accent1"/>
              </a:lnRef>
              <a:fillRef idx="0">
                <a:schemeClr val="accent1"/>
              </a:fillRef>
              <a:effectRef idx="0">
                <a:schemeClr val="accent1"/>
              </a:effectRef>
              <a:fontRef idx="minor">
                <a:schemeClr val="tx1"/>
              </a:fontRef>
            </p:style>
          </p:cxnSp>
          <p:cxnSp>
            <p:nvCxnSpPr>
              <p:cNvPr id="69" name="直線單箭頭接點 68"/>
              <p:cNvCxnSpPr/>
              <p:nvPr/>
            </p:nvCxnSpPr>
            <p:spPr>
              <a:xfrm flipV="1">
                <a:off x="6853565" y="6291107"/>
                <a:ext cx="1299705" cy="18213"/>
              </a:xfrm>
              <a:prstGeom prst="straightConnector1">
                <a:avLst/>
              </a:prstGeom>
              <a:ln w="41275">
                <a:solidFill>
                  <a:srgbClr val="7030A0"/>
                </a:solidFill>
                <a:prstDash val="lgDashDot"/>
                <a:tailEnd type="arrow"/>
              </a:ln>
            </p:spPr>
            <p:style>
              <a:lnRef idx="1">
                <a:schemeClr val="accent1"/>
              </a:lnRef>
              <a:fillRef idx="0">
                <a:schemeClr val="accent1"/>
              </a:fillRef>
              <a:effectRef idx="0">
                <a:schemeClr val="accent1"/>
              </a:effectRef>
              <a:fontRef idx="minor">
                <a:schemeClr val="tx1"/>
              </a:fontRef>
            </p:style>
          </p:cxnSp>
        </p:grpSp>
        <p:cxnSp>
          <p:nvCxnSpPr>
            <p:cNvPr id="25" name="直線單箭頭接點 24"/>
            <p:cNvCxnSpPr/>
            <p:nvPr/>
          </p:nvCxnSpPr>
          <p:spPr>
            <a:xfrm>
              <a:off x="750148" y="5550781"/>
              <a:ext cx="7722116" cy="0"/>
            </a:xfrm>
            <a:prstGeom prst="straightConnector1">
              <a:avLst/>
            </a:prstGeom>
            <a:ln w="41275">
              <a:solidFill>
                <a:srgbClr val="9500B8"/>
              </a:solidFill>
              <a:prstDash val="lgDashDot"/>
              <a:tailEnd type="none"/>
            </a:ln>
          </p:spPr>
          <p:style>
            <a:lnRef idx="1">
              <a:schemeClr val="accent1"/>
            </a:lnRef>
            <a:fillRef idx="0">
              <a:schemeClr val="accent1"/>
            </a:fillRef>
            <a:effectRef idx="0">
              <a:schemeClr val="accent1"/>
            </a:effectRef>
            <a:fontRef idx="minor">
              <a:schemeClr val="tx1"/>
            </a:fontRef>
          </p:style>
        </p:cxnSp>
        <p:cxnSp>
          <p:nvCxnSpPr>
            <p:cNvPr id="26" name="直線單箭頭接點 25"/>
            <p:cNvCxnSpPr/>
            <p:nvPr/>
          </p:nvCxnSpPr>
          <p:spPr>
            <a:xfrm flipH="1" flipV="1">
              <a:off x="8472263" y="4868810"/>
              <a:ext cx="1" cy="681972"/>
            </a:xfrm>
            <a:prstGeom prst="straightConnector1">
              <a:avLst/>
            </a:prstGeom>
            <a:ln w="41275">
              <a:solidFill>
                <a:srgbClr val="9500B8"/>
              </a:solidFill>
              <a:prstDash val="lgDashDot"/>
              <a:tailEnd type="arrow"/>
            </a:ln>
          </p:spPr>
          <p:style>
            <a:lnRef idx="1">
              <a:schemeClr val="accent1"/>
            </a:lnRef>
            <a:fillRef idx="0">
              <a:schemeClr val="accent1"/>
            </a:fillRef>
            <a:effectRef idx="0">
              <a:schemeClr val="accent1"/>
            </a:effectRef>
            <a:fontRef idx="minor">
              <a:schemeClr val="tx1"/>
            </a:fontRef>
          </p:style>
        </p:cxnSp>
        <p:cxnSp>
          <p:nvCxnSpPr>
            <p:cNvPr id="27" name="直線單箭頭接點 26"/>
            <p:cNvCxnSpPr/>
            <p:nvPr/>
          </p:nvCxnSpPr>
          <p:spPr>
            <a:xfrm>
              <a:off x="750148" y="5079633"/>
              <a:ext cx="0" cy="455286"/>
            </a:xfrm>
            <a:prstGeom prst="straightConnector1">
              <a:avLst/>
            </a:prstGeom>
            <a:ln w="41275">
              <a:solidFill>
                <a:srgbClr val="9500B8"/>
              </a:solidFill>
              <a:prstDash val="dashDot"/>
              <a:tailEnd type="none"/>
            </a:ln>
          </p:spPr>
          <p:style>
            <a:lnRef idx="1">
              <a:schemeClr val="accent1"/>
            </a:lnRef>
            <a:fillRef idx="0">
              <a:schemeClr val="accent1"/>
            </a:fillRef>
            <a:effectRef idx="0">
              <a:schemeClr val="accent1"/>
            </a:effectRef>
            <a:fontRef idx="minor">
              <a:schemeClr val="tx1"/>
            </a:fontRef>
          </p:style>
        </p:cxnSp>
        <p:cxnSp>
          <p:nvCxnSpPr>
            <p:cNvPr id="28" name="直線單箭頭接點 27"/>
            <p:cNvCxnSpPr/>
            <p:nvPr/>
          </p:nvCxnSpPr>
          <p:spPr>
            <a:xfrm>
              <a:off x="1260153" y="1623176"/>
              <a:ext cx="2656685" cy="14625"/>
            </a:xfrm>
            <a:prstGeom prst="straightConnector1">
              <a:avLst/>
            </a:prstGeom>
            <a:ln w="38100">
              <a:solidFill>
                <a:srgbClr val="C00000"/>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29" name="直線單箭頭接點 28"/>
            <p:cNvCxnSpPr/>
            <p:nvPr/>
          </p:nvCxnSpPr>
          <p:spPr>
            <a:xfrm flipV="1">
              <a:off x="1277710" y="3175785"/>
              <a:ext cx="462780" cy="1"/>
            </a:xfrm>
            <a:prstGeom prst="straightConnector1">
              <a:avLst/>
            </a:prstGeom>
            <a:ln w="38100">
              <a:solidFill>
                <a:srgbClr val="C00000"/>
              </a:solidFill>
              <a:prstDash val="sysDot"/>
              <a:tailEnd type="arrow"/>
            </a:ln>
          </p:spPr>
          <p:style>
            <a:lnRef idx="1">
              <a:schemeClr val="accent1"/>
            </a:lnRef>
            <a:fillRef idx="0">
              <a:schemeClr val="accent1"/>
            </a:fillRef>
            <a:effectRef idx="0">
              <a:schemeClr val="accent1"/>
            </a:effectRef>
            <a:fontRef idx="minor">
              <a:schemeClr val="tx1"/>
            </a:fontRef>
          </p:style>
        </p:cxnSp>
        <p:cxnSp>
          <p:nvCxnSpPr>
            <p:cNvPr id="30" name="直線單箭頭接點 29"/>
            <p:cNvCxnSpPr/>
            <p:nvPr/>
          </p:nvCxnSpPr>
          <p:spPr>
            <a:xfrm flipV="1">
              <a:off x="1314925" y="4240184"/>
              <a:ext cx="462780" cy="1"/>
            </a:xfrm>
            <a:prstGeom prst="straightConnector1">
              <a:avLst/>
            </a:prstGeom>
            <a:ln w="38100">
              <a:solidFill>
                <a:srgbClr val="C00000"/>
              </a:solidFill>
              <a:prstDash val="sysDot"/>
              <a:tailEnd type="arrow"/>
            </a:ln>
          </p:spPr>
          <p:style>
            <a:lnRef idx="1">
              <a:schemeClr val="accent1"/>
            </a:lnRef>
            <a:fillRef idx="0">
              <a:schemeClr val="accent1"/>
            </a:fillRef>
            <a:effectRef idx="0">
              <a:schemeClr val="accent1"/>
            </a:effectRef>
            <a:fontRef idx="minor">
              <a:schemeClr val="tx1"/>
            </a:fontRef>
          </p:style>
        </p:cxnSp>
        <p:cxnSp>
          <p:nvCxnSpPr>
            <p:cNvPr id="31" name="直線單箭頭接點 30"/>
            <p:cNvCxnSpPr/>
            <p:nvPr/>
          </p:nvCxnSpPr>
          <p:spPr>
            <a:xfrm flipH="1" flipV="1">
              <a:off x="4482103" y="2132856"/>
              <a:ext cx="14988" cy="1221322"/>
            </a:xfrm>
            <a:prstGeom prst="straightConnector1">
              <a:avLst/>
            </a:prstGeom>
            <a:ln w="38100">
              <a:solidFill>
                <a:srgbClr val="C00000"/>
              </a:solidFill>
              <a:prstDash val="sysDot"/>
              <a:tailEnd type="none"/>
            </a:ln>
          </p:spPr>
          <p:style>
            <a:lnRef idx="1">
              <a:schemeClr val="accent1"/>
            </a:lnRef>
            <a:fillRef idx="0">
              <a:schemeClr val="accent1"/>
            </a:fillRef>
            <a:effectRef idx="0">
              <a:schemeClr val="accent1"/>
            </a:effectRef>
            <a:fontRef idx="minor">
              <a:schemeClr val="tx1"/>
            </a:fontRef>
          </p:style>
        </p:cxnSp>
        <p:grpSp>
          <p:nvGrpSpPr>
            <p:cNvPr id="32" name="群組 31"/>
            <p:cNvGrpSpPr/>
            <p:nvPr/>
          </p:nvGrpSpPr>
          <p:grpSpPr>
            <a:xfrm flipH="1">
              <a:off x="2920595" y="1276312"/>
              <a:ext cx="524721" cy="3232461"/>
              <a:chOff x="3288302" y="4117295"/>
              <a:chExt cx="320939" cy="929884"/>
            </a:xfrm>
          </p:grpSpPr>
          <p:cxnSp>
            <p:nvCxnSpPr>
              <p:cNvPr id="64" name="直線單箭頭接點 63"/>
              <p:cNvCxnSpPr/>
              <p:nvPr/>
            </p:nvCxnSpPr>
            <p:spPr>
              <a:xfrm rot="16200000" flipH="1" flipV="1">
                <a:off x="3448771" y="4886709"/>
                <a:ext cx="1" cy="320939"/>
              </a:xfrm>
              <a:prstGeom prst="straightConnector1">
                <a:avLst/>
              </a:prstGeom>
              <a:ln w="38100">
                <a:solidFill>
                  <a:srgbClr val="C00000"/>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65" name="直線單箭頭接點 64"/>
              <p:cNvCxnSpPr/>
              <p:nvPr/>
            </p:nvCxnSpPr>
            <p:spPr>
              <a:xfrm flipV="1">
                <a:off x="3294155" y="4117295"/>
                <a:ext cx="2681" cy="929883"/>
              </a:xfrm>
              <a:prstGeom prst="straightConnector1">
                <a:avLst/>
              </a:prstGeom>
              <a:ln w="38100">
                <a:solidFill>
                  <a:srgbClr val="C00000"/>
                </a:solidFill>
                <a:prstDash val="sysDot"/>
                <a:tailEnd type="none"/>
              </a:ln>
            </p:spPr>
            <p:style>
              <a:lnRef idx="1">
                <a:schemeClr val="accent1"/>
              </a:lnRef>
              <a:fillRef idx="0">
                <a:schemeClr val="accent1"/>
              </a:fillRef>
              <a:effectRef idx="0">
                <a:schemeClr val="accent1"/>
              </a:effectRef>
              <a:fontRef idx="minor">
                <a:schemeClr val="tx1"/>
              </a:fontRef>
            </p:style>
          </p:cxnSp>
        </p:grpSp>
        <p:cxnSp>
          <p:nvCxnSpPr>
            <p:cNvPr id="34" name="直線單箭頭接點 33"/>
            <p:cNvCxnSpPr/>
            <p:nvPr/>
          </p:nvCxnSpPr>
          <p:spPr>
            <a:xfrm flipV="1">
              <a:off x="2889034" y="3082265"/>
              <a:ext cx="211391" cy="8981"/>
            </a:xfrm>
            <a:prstGeom prst="straightConnector1">
              <a:avLst/>
            </a:prstGeom>
            <a:ln w="38100">
              <a:solidFill>
                <a:srgbClr val="C00000"/>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35" name="直線單箭頭接點 34"/>
            <p:cNvCxnSpPr/>
            <p:nvPr/>
          </p:nvCxnSpPr>
          <p:spPr>
            <a:xfrm flipV="1">
              <a:off x="3411306" y="1260448"/>
              <a:ext cx="462780" cy="1"/>
            </a:xfrm>
            <a:prstGeom prst="straightConnector1">
              <a:avLst/>
            </a:prstGeom>
            <a:ln w="38100">
              <a:solidFill>
                <a:srgbClr val="C00000"/>
              </a:solidFill>
              <a:prstDash val="sysDot"/>
              <a:tailEnd type="arrow"/>
            </a:ln>
          </p:spPr>
          <p:style>
            <a:lnRef idx="1">
              <a:schemeClr val="accent1"/>
            </a:lnRef>
            <a:fillRef idx="0">
              <a:schemeClr val="accent1"/>
            </a:fillRef>
            <a:effectRef idx="0">
              <a:schemeClr val="accent1"/>
            </a:effectRef>
            <a:fontRef idx="minor">
              <a:schemeClr val="tx1"/>
            </a:fontRef>
          </p:style>
        </p:cxnSp>
        <p:cxnSp>
          <p:nvCxnSpPr>
            <p:cNvPr id="36" name="直線單箭頭接點 35"/>
            <p:cNvCxnSpPr/>
            <p:nvPr/>
          </p:nvCxnSpPr>
          <p:spPr>
            <a:xfrm>
              <a:off x="5763455" y="620688"/>
              <a:ext cx="720080" cy="0"/>
            </a:xfrm>
            <a:prstGeom prst="straightConnector1">
              <a:avLst/>
            </a:prstGeom>
            <a:ln w="38100">
              <a:solidFill>
                <a:srgbClr val="C00000"/>
              </a:solidFill>
              <a:prstDash val="sysDot"/>
              <a:tailEnd type="arrow"/>
            </a:ln>
          </p:spPr>
          <p:style>
            <a:lnRef idx="1">
              <a:schemeClr val="accent1"/>
            </a:lnRef>
            <a:fillRef idx="0">
              <a:schemeClr val="accent1"/>
            </a:fillRef>
            <a:effectRef idx="0">
              <a:schemeClr val="accent1"/>
            </a:effectRef>
            <a:fontRef idx="minor">
              <a:schemeClr val="tx1"/>
            </a:fontRef>
          </p:style>
        </p:cxnSp>
        <p:grpSp>
          <p:nvGrpSpPr>
            <p:cNvPr id="37" name="群組 36"/>
            <p:cNvGrpSpPr/>
            <p:nvPr/>
          </p:nvGrpSpPr>
          <p:grpSpPr>
            <a:xfrm>
              <a:off x="7231690" y="548679"/>
              <a:ext cx="1240573" cy="1566753"/>
              <a:chOff x="7137604" y="596382"/>
              <a:chExt cx="1496970" cy="1545337"/>
            </a:xfrm>
          </p:grpSpPr>
          <p:cxnSp>
            <p:nvCxnSpPr>
              <p:cNvPr id="62" name="直線單箭頭接點 61"/>
              <p:cNvCxnSpPr/>
              <p:nvPr/>
            </p:nvCxnSpPr>
            <p:spPr>
              <a:xfrm>
                <a:off x="7137604" y="596382"/>
                <a:ext cx="1482933" cy="6248"/>
              </a:xfrm>
              <a:prstGeom prst="straightConnector1">
                <a:avLst/>
              </a:prstGeom>
              <a:ln w="38100">
                <a:solidFill>
                  <a:srgbClr val="C00000"/>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63" name="直線單箭頭接點 62"/>
              <p:cNvCxnSpPr/>
              <p:nvPr/>
            </p:nvCxnSpPr>
            <p:spPr>
              <a:xfrm>
                <a:off x="8620537" y="596382"/>
                <a:ext cx="14037" cy="1545337"/>
              </a:xfrm>
              <a:prstGeom prst="straightConnector1">
                <a:avLst/>
              </a:prstGeom>
              <a:ln w="38100">
                <a:solidFill>
                  <a:srgbClr val="C00000"/>
                </a:solidFill>
                <a:prstDash val="sysDot"/>
                <a:tailEnd type="arrow"/>
              </a:ln>
            </p:spPr>
            <p:style>
              <a:lnRef idx="1">
                <a:schemeClr val="accent1"/>
              </a:lnRef>
              <a:fillRef idx="0">
                <a:schemeClr val="accent1"/>
              </a:fillRef>
              <a:effectRef idx="0">
                <a:schemeClr val="accent1"/>
              </a:effectRef>
              <a:fontRef idx="minor">
                <a:schemeClr val="tx1"/>
              </a:fontRef>
            </p:style>
          </p:cxnSp>
        </p:grpSp>
        <p:cxnSp>
          <p:nvCxnSpPr>
            <p:cNvPr id="38" name="直線單箭頭接點 37"/>
            <p:cNvCxnSpPr/>
            <p:nvPr/>
          </p:nvCxnSpPr>
          <p:spPr>
            <a:xfrm flipV="1">
              <a:off x="4587969" y="650952"/>
              <a:ext cx="462780" cy="1"/>
            </a:xfrm>
            <a:prstGeom prst="straightConnector1">
              <a:avLst/>
            </a:prstGeom>
            <a:ln w="38100">
              <a:solidFill>
                <a:srgbClr val="C00000"/>
              </a:solidFill>
              <a:prstDash val="sysDot"/>
              <a:tailEnd type="arrow"/>
            </a:ln>
          </p:spPr>
          <p:style>
            <a:lnRef idx="1">
              <a:schemeClr val="accent1"/>
            </a:lnRef>
            <a:fillRef idx="0">
              <a:schemeClr val="accent1"/>
            </a:fillRef>
            <a:effectRef idx="0">
              <a:schemeClr val="accent1"/>
            </a:effectRef>
            <a:fontRef idx="minor">
              <a:schemeClr val="tx1"/>
            </a:fontRef>
          </p:style>
        </p:cxnSp>
        <p:cxnSp>
          <p:nvCxnSpPr>
            <p:cNvPr id="39" name="直線單箭頭接點 38"/>
            <p:cNvCxnSpPr/>
            <p:nvPr/>
          </p:nvCxnSpPr>
          <p:spPr>
            <a:xfrm flipV="1">
              <a:off x="4563630" y="1177077"/>
              <a:ext cx="462780" cy="1"/>
            </a:xfrm>
            <a:prstGeom prst="straightConnector1">
              <a:avLst/>
            </a:prstGeom>
            <a:ln w="38100">
              <a:solidFill>
                <a:srgbClr val="C00000"/>
              </a:solidFill>
              <a:prstDash val="sysDot"/>
              <a:tailEnd type="arrow"/>
            </a:ln>
          </p:spPr>
          <p:style>
            <a:lnRef idx="1">
              <a:schemeClr val="accent1"/>
            </a:lnRef>
            <a:fillRef idx="0">
              <a:schemeClr val="accent1"/>
            </a:fillRef>
            <a:effectRef idx="0">
              <a:schemeClr val="accent1"/>
            </a:effectRef>
            <a:fontRef idx="minor">
              <a:schemeClr val="tx1"/>
            </a:fontRef>
          </p:style>
        </p:cxnSp>
        <p:cxnSp>
          <p:nvCxnSpPr>
            <p:cNvPr id="40" name="直線單箭頭接點 39"/>
            <p:cNvCxnSpPr/>
            <p:nvPr/>
          </p:nvCxnSpPr>
          <p:spPr>
            <a:xfrm>
              <a:off x="5758052" y="1144410"/>
              <a:ext cx="351311" cy="1"/>
            </a:xfrm>
            <a:prstGeom prst="straightConnector1">
              <a:avLst/>
            </a:prstGeom>
            <a:ln w="38100">
              <a:solidFill>
                <a:srgbClr val="C00000"/>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41" name="直線單箭頭接點 40"/>
            <p:cNvCxnSpPr/>
            <p:nvPr/>
          </p:nvCxnSpPr>
          <p:spPr>
            <a:xfrm>
              <a:off x="3165238" y="650952"/>
              <a:ext cx="703387" cy="0"/>
            </a:xfrm>
            <a:prstGeom prst="straightConnector1">
              <a:avLst/>
            </a:prstGeom>
            <a:ln w="38100">
              <a:solidFill>
                <a:srgbClr val="C00000"/>
              </a:solidFill>
              <a:prstDash val="sysDot"/>
              <a:tailEnd type="arrow"/>
            </a:ln>
          </p:spPr>
          <p:style>
            <a:lnRef idx="1">
              <a:schemeClr val="accent1"/>
            </a:lnRef>
            <a:fillRef idx="0">
              <a:schemeClr val="accent1"/>
            </a:fillRef>
            <a:effectRef idx="0">
              <a:schemeClr val="accent1"/>
            </a:effectRef>
            <a:fontRef idx="minor">
              <a:schemeClr val="tx1"/>
            </a:fontRef>
          </p:style>
        </p:cxnSp>
        <p:cxnSp>
          <p:nvCxnSpPr>
            <p:cNvPr id="42" name="直線單箭頭接點 41"/>
            <p:cNvCxnSpPr/>
            <p:nvPr/>
          </p:nvCxnSpPr>
          <p:spPr>
            <a:xfrm flipH="1" flipV="1">
              <a:off x="3131871" y="620688"/>
              <a:ext cx="2294" cy="2436118"/>
            </a:xfrm>
            <a:prstGeom prst="straightConnector1">
              <a:avLst/>
            </a:prstGeom>
            <a:ln w="38100">
              <a:solidFill>
                <a:srgbClr val="C00000"/>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43" name="直線單箭頭接點 42"/>
            <p:cNvCxnSpPr/>
            <p:nvPr/>
          </p:nvCxnSpPr>
          <p:spPr>
            <a:xfrm flipH="1" flipV="1">
              <a:off x="6106835" y="1177077"/>
              <a:ext cx="16660" cy="2974477"/>
            </a:xfrm>
            <a:prstGeom prst="straightConnector1">
              <a:avLst/>
            </a:prstGeom>
            <a:ln w="38100">
              <a:solidFill>
                <a:srgbClr val="C00000"/>
              </a:solidFill>
              <a:prstDash val="sysDot"/>
              <a:tailEnd type="none"/>
            </a:ln>
          </p:spPr>
          <p:style>
            <a:lnRef idx="1">
              <a:schemeClr val="accent1"/>
            </a:lnRef>
            <a:fillRef idx="0">
              <a:schemeClr val="accent1"/>
            </a:fillRef>
            <a:effectRef idx="0">
              <a:schemeClr val="accent1"/>
            </a:effectRef>
            <a:fontRef idx="minor">
              <a:schemeClr val="tx1"/>
            </a:fontRef>
          </p:style>
        </p:cxnSp>
        <p:cxnSp>
          <p:nvCxnSpPr>
            <p:cNvPr id="44" name="直線單箭頭接點 43"/>
            <p:cNvCxnSpPr/>
            <p:nvPr/>
          </p:nvCxnSpPr>
          <p:spPr>
            <a:xfrm>
              <a:off x="7274860" y="4155758"/>
              <a:ext cx="692471" cy="0"/>
            </a:xfrm>
            <a:prstGeom prst="straightConnector1">
              <a:avLst/>
            </a:prstGeom>
            <a:ln w="38100">
              <a:solidFill>
                <a:srgbClr val="C00000"/>
              </a:solidFill>
              <a:prstDash val="sysDot"/>
              <a:tailEnd type="arrow"/>
            </a:ln>
          </p:spPr>
          <p:style>
            <a:lnRef idx="1">
              <a:schemeClr val="accent1"/>
            </a:lnRef>
            <a:fillRef idx="0">
              <a:schemeClr val="accent1"/>
            </a:fillRef>
            <a:effectRef idx="0">
              <a:schemeClr val="accent1"/>
            </a:effectRef>
            <a:fontRef idx="minor">
              <a:schemeClr val="tx1"/>
            </a:fontRef>
          </p:style>
        </p:cxnSp>
        <p:cxnSp>
          <p:nvCxnSpPr>
            <p:cNvPr id="45" name="直線單箭頭接點 44"/>
            <p:cNvCxnSpPr/>
            <p:nvPr/>
          </p:nvCxnSpPr>
          <p:spPr>
            <a:xfrm>
              <a:off x="6220599" y="4151552"/>
              <a:ext cx="329670" cy="0"/>
            </a:xfrm>
            <a:prstGeom prst="straightConnector1">
              <a:avLst/>
            </a:prstGeom>
            <a:ln w="38100">
              <a:solidFill>
                <a:srgbClr val="C00000"/>
              </a:solidFill>
              <a:prstDash val="sysDot"/>
              <a:tailEnd type="arrow"/>
            </a:ln>
          </p:spPr>
          <p:style>
            <a:lnRef idx="1">
              <a:schemeClr val="accent1"/>
            </a:lnRef>
            <a:fillRef idx="0">
              <a:schemeClr val="accent1"/>
            </a:fillRef>
            <a:effectRef idx="0">
              <a:schemeClr val="accent1"/>
            </a:effectRef>
            <a:fontRef idx="minor">
              <a:schemeClr val="tx1"/>
            </a:fontRef>
          </p:style>
        </p:cxnSp>
        <p:cxnSp>
          <p:nvCxnSpPr>
            <p:cNvPr id="47" name="直線單箭頭接點 46"/>
            <p:cNvCxnSpPr/>
            <p:nvPr/>
          </p:nvCxnSpPr>
          <p:spPr>
            <a:xfrm>
              <a:off x="1260291" y="2115433"/>
              <a:ext cx="512028" cy="17423"/>
            </a:xfrm>
            <a:prstGeom prst="straightConnector1">
              <a:avLst/>
            </a:prstGeom>
            <a:ln w="38100">
              <a:solidFill>
                <a:srgbClr val="0066FF"/>
              </a:solidFill>
              <a:prstDash val="dash"/>
              <a:tailEnd type="arrow"/>
            </a:ln>
          </p:spPr>
          <p:style>
            <a:lnRef idx="1">
              <a:schemeClr val="accent1"/>
            </a:lnRef>
            <a:fillRef idx="0">
              <a:schemeClr val="accent1"/>
            </a:fillRef>
            <a:effectRef idx="0">
              <a:schemeClr val="accent1"/>
            </a:effectRef>
            <a:fontRef idx="minor">
              <a:schemeClr val="tx1"/>
            </a:fontRef>
          </p:style>
        </p:cxnSp>
        <p:cxnSp>
          <p:nvCxnSpPr>
            <p:cNvPr id="49" name="直線單箭頭接點 48"/>
            <p:cNvCxnSpPr/>
            <p:nvPr/>
          </p:nvCxnSpPr>
          <p:spPr>
            <a:xfrm>
              <a:off x="1269209" y="4751287"/>
              <a:ext cx="512028" cy="17423"/>
            </a:xfrm>
            <a:prstGeom prst="straightConnector1">
              <a:avLst/>
            </a:prstGeom>
            <a:ln w="38100">
              <a:solidFill>
                <a:srgbClr val="0066FF"/>
              </a:solidFill>
              <a:prstDash val="dash"/>
              <a:tailEnd type="arrow"/>
            </a:ln>
          </p:spPr>
          <p:style>
            <a:lnRef idx="1">
              <a:schemeClr val="accent1"/>
            </a:lnRef>
            <a:fillRef idx="0">
              <a:schemeClr val="accent1"/>
            </a:fillRef>
            <a:effectRef idx="0">
              <a:schemeClr val="accent1"/>
            </a:effectRef>
            <a:fontRef idx="minor">
              <a:schemeClr val="tx1"/>
            </a:fontRef>
          </p:style>
        </p:cxnSp>
        <p:cxnSp>
          <p:nvCxnSpPr>
            <p:cNvPr id="50" name="直線單箭頭接點 49"/>
            <p:cNvCxnSpPr/>
            <p:nvPr/>
          </p:nvCxnSpPr>
          <p:spPr>
            <a:xfrm>
              <a:off x="1253086" y="3516936"/>
              <a:ext cx="512028" cy="17423"/>
            </a:xfrm>
            <a:prstGeom prst="straightConnector1">
              <a:avLst/>
            </a:prstGeom>
            <a:ln w="38100">
              <a:solidFill>
                <a:srgbClr val="0066FF"/>
              </a:solidFill>
              <a:prstDash val="dash"/>
              <a:tailEnd type="arrow"/>
            </a:ln>
          </p:spPr>
          <p:style>
            <a:lnRef idx="1">
              <a:schemeClr val="accent1"/>
            </a:lnRef>
            <a:fillRef idx="0">
              <a:schemeClr val="accent1"/>
            </a:fillRef>
            <a:effectRef idx="0">
              <a:schemeClr val="accent1"/>
            </a:effectRef>
            <a:fontRef idx="minor">
              <a:schemeClr val="tx1"/>
            </a:fontRef>
          </p:style>
        </p:cxnSp>
        <p:cxnSp>
          <p:nvCxnSpPr>
            <p:cNvPr id="51" name="直線單箭頭接點 50"/>
            <p:cNvCxnSpPr/>
            <p:nvPr/>
          </p:nvCxnSpPr>
          <p:spPr>
            <a:xfrm>
              <a:off x="2987324" y="2202662"/>
              <a:ext cx="1234893" cy="10354"/>
            </a:xfrm>
            <a:prstGeom prst="straightConnector1">
              <a:avLst/>
            </a:prstGeom>
            <a:ln w="38100">
              <a:solidFill>
                <a:srgbClr val="0066FF"/>
              </a:solidFill>
              <a:prstDash val="dash"/>
              <a:tailEnd type="none"/>
            </a:ln>
          </p:spPr>
          <p:style>
            <a:lnRef idx="1">
              <a:schemeClr val="accent1"/>
            </a:lnRef>
            <a:fillRef idx="0">
              <a:schemeClr val="accent1"/>
            </a:fillRef>
            <a:effectRef idx="0">
              <a:schemeClr val="accent1"/>
            </a:effectRef>
            <a:fontRef idx="minor">
              <a:schemeClr val="tx1"/>
            </a:fontRef>
          </p:style>
        </p:cxnSp>
        <p:cxnSp>
          <p:nvCxnSpPr>
            <p:cNvPr id="52" name="直線單箭頭接點 51"/>
            <p:cNvCxnSpPr/>
            <p:nvPr/>
          </p:nvCxnSpPr>
          <p:spPr>
            <a:xfrm flipV="1">
              <a:off x="2850801" y="4802075"/>
              <a:ext cx="988300" cy="5585"/>
            </a:xfrm>
            <a:prstGeom prst="straightConnector1">
              <a:avLst/>
            </a:prstGeom>
            <a:ln w="38100">
              <a:solidFill>
                <a:srgbClr val="0066FF"/>
              </a:solidFill>
              <a:prstDash val="dash"/>
              <a:tailEnd type="arrow"/>
            </a:ln>
          </p:spPr>
          <p:style>
            <a:lnRef idx="1">
              <a:schemeClr val="accent1"/>
            </a:lnRef>
            <a:fillRef idx="0">
              <a:schemeClr val="accent1"/>
            </a:fillRef>
            <a:effectRef idx="0">
              <a:schemeClr val="accent1"/>
            </a:effectRef>
            <a:fontRef idx="minor">
              <a:schemeClr val="tx1"/>
            </a:fontRef>
          </p:style>
        </p:cxnSp>
        <p:cxnSp>
          <p:nvCxnSpPr>
            <p:cNvPr id="53" name="直線單箭頭接點 52"/>
            <p:cNvCxnSpPr/>
            <p:nvPr/>
          </p:nvCxnSpPr>
          <p:spPr>
            <a:xfrm>
              <a:off x="2881863" y="3503226"/>
              <a:ext cx="973155" cy="29807"/>
            </a:xfrm>
            <a:prstGeom prst="straightConnector1">
              <a:avLst/>
            </a:prstGeom>
            <a:ln w="38100">
              <a:solidFill>
                <a:srgbClr val="0066FF"/>
              </a:solidFill>
              <a:prstDash val="dash"/>
              <a:tailEnd type="arrow"/>
            </a:ln>
          </p:spPr>
          <p:style>
            <a:lnRef idx="1">
              <a:schemeClr val="accent1"/>
            </a:lnRef>
            <a:fillRef idx="0">
              <a:schemeClr val="accent1"/>
            </a:fillRef>
            <a:effectRef idx="0">
              <a:schemeClr val="accent1"/>
            </a:effectRef>
            <a:fontRef idx="minor">
              <a:schemeClr val="tx1"/>
            </a:fontRef>
          </p:style>
        </p:cxnSp>
        <p:cxnSp>
          <p:nvCxnSpPr>
            <p:cNvPr id="54" name="直線單箭頭接點 53"/>
            <p:cNvCxnSpPr/>
            <p:nvPr/>
          </p:nvCxnSpPr>
          <p:spPr>
            <a:xfrm>
              <a:off x="4248097" y="2205821"/>
              <a:ext cx="231" cy="1205976"/>
            </a:xfrm>
            <a:prstGeom prst="straightConnector1">
              <a:avLst/>
            </a:prstGeom>
            <a:ln w="38100">
              <a:solidFill>
                <a:srgbClr val="0066FF"/>
              </a:solidFill>
              <a:prstDash val="dash"/>
              <a:tailEnd type="arrow"/>
            </a:ln>
          </p:spPr>
          <p:style>
            <a:lnRef idx="1">
              <a:schemeClr val="accent1"/>
            </a:lnRef>
            <a:fillRef idx="0">
              <a:schemeClr val="accent1"/>
            </a:fillRef>
            <a:effectRef idx="0">
              <a:schemeClr val="accent1"/>
            </a:effectRef>
            <a:fontRef idx="minor">
              <a:schemeClr val="tx1"/>
            </a:fontRef>
          </p:style>
        </p:cxnSp>
        <p:cxnSp>
          <p:nvCxnSpPr>
            <p:cNvPr id="55" name="直線單箭頭接點 54"/>
            <p:cNvCxnSpPr/>
            <p:nvPr/>
          </p:nvCxnSpPr>
          <p:spPr>
            <a:xfrm>
              <a:off x="5758052" y="2864524"/>
              <a:ext cx="1121817" cy="12600"/>
            </a:xfrm>
            <a:prstGeom prst="straightConnector1">
              <a:avLst/>
            </a:prstGeom>
            <a:ln w="38100">
              <a:solidFill>
                <a:srgbClr val="0066FF"/>
              </a:solidFill>
              <a:prstDash val="dash"/>
              <a:tailEnd type="none"/>
            </a:ln>
          </p:spPr>
          <p:style>
            <a:lnRef idx="1">
              <a:schemeClr val="accent1"/>
            </a:lnRef>
            <a:fillRef idx="0">
              <a:schemeClr val="accent1"/>
            </a:fillRef>
            <a:effectRef idx="0">
              <a:schemeClr val="accent1"/>
            </a:effectRef>
            <a:fontRef idx="minor">
              <a:schemeClr val="tx1"/>
            </a:fontRef>
          </p:style>
        </p:cxnSp>
        <p:cxnSp>
          <p:nvCxnSpPr>
            <p:cNvPr id="56" name="直線單箭頭接點 55"/>
            <p:cNvCxnSpPr>
              <a:endCxn id="18" idx="2"/>
            </p:cNvCxnSpPr>
            <p:nvPr/>
          </p:nvCxnSpPr>
          <p:spPr>
            <a:xfrm flipV="1">
              <a:off x="6871648" y="1604191"/>
              <a:ext cx="61527" cy="1260333"/>
            </a:xfrm>
            <a:prstGeom prst="straightConnector1">
              <a:avLst/>
            </a:prstGeom>
            <a:ln w="38100">
              <a:solidFill>
                <a:srgbClr val="0066FF"/>
              </a:solidFill>
              <a:prstDash val="dash"/>
              <a:tailEnd type="arrow"/>
            </a:ln>
          </p:spPr>
          <p:style>
            <a:lnRef idx="1">
              <a:schemeClr val="accent1"/>
            </a:lnRef>
            <a:fillRef idx="0">
              <a:schemeClr val="accent1"/>
            </a:fillRef>
            <a:effectRef idx="0">
              <a:schemeClr val="accent1"/>
            </a:effectRef>
            <a:fontRef idx="minor">
              <a:schemeClr val="tx1"/>
            </a:fontRef>
          </p:style>
        </p:cxnSp>
        <p:cxnSp>
          <p:nvCxnSpPr>
            <p:cNvPr id="57" name="直線單箭頭接點 56"/>
            <p:cNvCxnSpPr/>
            <p:nvPr/>
          </p:nvCxnSpPr>
          <p:spPr>
            <a:xfrm>
              <a:off x="4631810" y="4108031"/>
              <a:ext cx="478927" cy="350"/>
            </a:xfrm>
            <a:prstGeom prst="straightConnector1">
              <a:avLst/>
            </a:prstGeom>
            <a:ln w="38100">
              <a:solidFill>
                <a:srgbClr val="0066FF"/>
              </a:solidFill>
              <a:prstDash val="dash"/>
              <a:tailEnd type="arrow"/>
            </a:ln>
          </p:spPr>
          <p:style>
            <a:lnRef idx="1">
              <a:schemeClr val="accent1"/>
            </a:lnRef>
            <a:fillRef idx="0">
              <a:schemeClr val="accent1"/>
            </a:fillRef>
            <a:effectRef idx="0">
              <a:schemeClr val="accent1"/>
            </a:effectRef>
            <a:fontRef idx="minor">
              <a:schemeClr val="tx1"/>
            </a:fontRef>
          </p:style>
        </p:cxnSp>
        <p:cxnSp>
          <p:nvCxnSpPr>
            <p:cNvPr id="58" name="直線單箭頭接點 57"/>
            <p:cNvCxnSpPr/>
            <p:nvPr/>
          </p:nvCxnSpPr>
          <p:spPr>
            <a:xfrm>
              <a:off x="5736542" y="3424163"/>
              <a:ext cx="2209279" cy="0"/>
            </a:xfrm>
            <a:prstGeom prst="straightConnector1">
              <a:avLst/>
            </a:prstGeom>
            <a:ln w="38100">
              <a:solidFill>
                <a:srgbClr val="0066FF"/>
              </a:solidFill>
              <a:prstDash val="dash"/>
              <a:tailEnd type="arrow"/>
            </a:ln>
          </p:spPr>
          <p:style>
            <a:lnRef idx="1">
              <a:schemeClr val="accent1"/>
            </a:lnRef>
            <a:fillRef idx="0">
              <a:schemeClr val="accent1"/>
            </a:fillRef>
            <a:effectRef idx="0">
              <a:schemeClr val="accent1"/>
            </a:effectRef>
            <a:fontRef idx="minor">
              <a:schemeClr val="tx1"/>
            </a:fontRef>
          </p:style>
        </p:cxnSp>
        <p:cxnSp>
          <p:nvCxnSpPr>
            <p:cNvPr id="59" name="直線單箭頭接點 58"/>
            <p:cNvCxnSpPr/>
            <p:nvPr/>
          </p:nvCxnSpPr>
          <p:spPr>
            <a:xfrm>
              <a:off x="3901304" y="1664133"/>
              <a:ext cx="16530" cy="1759938"/>
            </a:xfrm>
            <a:prstGeom prst="straightConnector1">
              <a:avLst/>
            </a:prstGeom>
            <a:ln w="38100">
              <a:solidFill>
                <a:srgbClr val="C00000"/>
              </a:solidFill>
              <a:prstDash val="sysDot"/>
              <a:tailEnd type="arrow"/>
            </a:ln>
          </p:spPr>
          <p:style>
            <a:lnRef idx="1">
              <a:schemeClr val="accent1"/>
            </a:lnRef>
            <a:fillRef idx="0">
              <a:schemeClr val="accent1"/>
            </a:fillRef>
            <a:effectRef idx="0">
              <a:schemeClr val="accent1"/>
            </a:effectRef>
            <a:fontRef idx="minor">
              <a:schemeClr val="tx1"/>
            </a:fontRef>
          </p:style>
        </p:cxnSp>
        <p:cxnSp>
          <p:nvCxnSpPr>
            <p:cNvPr id="60" name="直線單箭頭接點 59"/>
            <p:cNvCxnSpPr/>
            <p:nvPr/>
          </p:nvCxnSpPr>
          <p:spPr>
            <a:xfrm flipV="1">
              <a:off x="5415182" y="1562544"/>
              <a:ext cx="1514" cy="434050"/>
            </a:xfrm>
            <a:prstGeom prst="straightConnector1">
              <a:avLst/>
            </a:prstGeom>
            <a:ln w="38100">
              <a:solidFill>
                <a:srgbClr val="C00000"/>
              </a:solidFill>
              <a:prstDash val="sysDot"/>
              <a:tailEnd type="arrow"/>
            </a:ln>
          </p:spPr>
          <p:style>
            <a:lnRef idx="1">
              <a:schemeClr val="accent1"/>
            </a:lnRef>
            <a:fillRef idx="0">
              <a:schemeClr val="accent1"/>
            </a:fillRef>
            <a:effectRef idx="0">
              <a:schemeClr val="accent1"/>
            </a:effectRef>
            <a:fontRef idx="minor">
              <a:schemeClr val="tx1"/>
            </a:fontRef>
          </p:style>
        </p:cxnSp>
        <p:cxnSp>
          <p:nvCxnSpPr>
            <p:cNvPr id="61" name="直線單箭頭接點 60"/>
            <p:cNvCxnSpPr/>
            <p:nvPr/>
          </p:nvCxnSpPr>
          <p:spPr>
            <a:xfrm flipV="1">
              <a:off x="4463328" y="2088703"/>
              <a:ext cx="951854" cy="14280"/>
            </a:xfrm>
            <a:prstGeom prst="straightConnector1">
              <a:avLst/>
            </a:prstGeom>
            <a:ln w="38100">
              <a:solidFill>
                <a:srgbClr val="C00000"/>
              </a:solidFill>
              <a:prstDash val="sysDot"/>
              <a:tailEnd type="none"/>
            </a:ln>
          </p:spPr>
          <p:style>
            <a:lnRef idx="1">
              <a:schemeClr val="accent1"/>
            </a:lnRef>
            <a:fillRef idx="0">
              <a:schemeClr val="accent1"/>
            </a:fillRef>
            <a:effectRef idx="0">
              <a:schemeClr val="accent1"/>
            </a:effectRef>
            <a:fontRef idx="minor">
              <a:schemeClr val="tx1"/>
            </a:fontRef>
          </p:style>
        </p:cxnSp>
      </p:grpSp>
      <p:sp>
        <p:nvSpPr>
          <p:cNvPr id="4" name="矩形 3"/>
          <p:cNvSpPr/>
          <p:nvPr/>
        </p:nvSpPr>
        <p:spPr>
          <a:xfrm>
            <a:off x="8553259" y="1416876"/>
            <a:ext cx="3209084" cy="2862322"/>
          </a:xfrm>
          <a:prstGeom prst="rect">
            <a:avLst/>
          </a:prstGeom>
        </p:spPr>
        <p:txBody>
          <a:bodyPr wrap="square">
            <a:spAutoFit/>
          </a:bodyPr>
          <a:lstStyle/>
          <a:p>
            <a:pPr marL="342900" indent="-342900">
              <a:lnSpc>
                <a:spcPct val="150000"/>
              </a:lnSpc>
              <a:buBlip>
                <a:blip r:embed="rId4"/>
              </a:buBlip>
            </a:pPr>
            <a:r>
              <a:rPr lang="zh-TW" altLang="en-US" sz="2000" b="1" dirty="0">
                <a:latin typeface="微軟正黑體" panose="020B0604030504040204" pitchFamily="34" charset="-120"/>
                <a:ea typeface="微軟正黑體" panose="020B0604030504040204" pitchFamily="34" charset="-120"/>
              </a:rPr>
              <a:t>當經銷商為了滿足較大消費市場的需求時，可能會囤積農產品，此時在囤積的過程則容易造成不同農產品的品質安全問題。</a:t>
            </a:r>
          </a:p>
        </p:txBody>
      </p:sp>
    </p:spTree>
    <p:extLst>
      <p:ext uri="{BB962C8B-B14F-4D97-AF65-F5344CB8AC3E}">
        <p14:creationId xmlns:p14="http://schemas.microsoft.com/office/powerpoint/2010/main" val="20178257"/>
      </p:ext>
    </p:extLst>
  </p:cSld>
  <p:clrMapOvr>
    <a:masterClrMapping/>
  </p:clrMapOvr>
  <p:transition spd="slow">
    <p:pull dir="lu"/>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circle(in)">
                                      <p:cBhvr>
                                        <p:cTn id="7" dur="1500"/>
                                        <p:tgtEl>
                                          <p:spTgt spid="46"/>
                                        </p:tgtEl>
                                      </p:cBhvr>
                                    </p:animEffect>
                                  </p:childTnLst>
                                </p:cTn>
                              </p:par>
                            </p:childTnLst>
                          </p:cTn>
                        </p:par>
                        <p:par>
                          <p:cTn id="8" fill="hold">
                            <p:stCondLst>
                              <p:cond delay="1500"/>
                            </p:stCondLst>
                            <p:childTnLst>
                              <p:par>
                                <p:cTn id="9" presetID="16" presetClass="entr" presetSubtype="21" fill="hold" grpId="0" nodeType="afterEffect">
                                  <p:stCondLst>
                                    <p:cond delay="0"/>
                                  </p:stCondLst>
                                  <p:childTnLst>
                                    <p:set>
                                      <p:cBhvr>
                                        <p:cTn id="10" dur="1" fill="hold">
                                          <p:stCondLst>
                                            <p:cond delay="0"/>
                                          </p:stCondLst>
                                        </p:cTn>
                                        <p:tgtEl>
                                          <p:spTgt spid="48"/>
                                        </p:tgtEl>
                                        <p:attrNameLst>
                                          <p:attrName>style.visibility</p:attrName>
                                        </p:attrNameLst>
                                      </p:cBhvr>
                                      <p:to>
                                        <p:strVal val="visible"/>
                                      </p:to>
                                    </p:set>
                                    <p:animEffect transition="in" filter="barn(inVertical)">
                                      <p:cBhvr>
                                        <p:cTn id="11" dur="500"/>
                                        <p:tgtEl>
                                          <p:spTgt spid="48"/>
                                        </p:tgtEl>
                                      </p:cBhvr>
                                    </p:animEffect>
                                  </p:childTnLst>
                                </p:cTn>
                              </p:par>
                            </p:childTnLst>
                          </p:cTn>
                        </p:par>
                        <p:par>
                          <p:cTn id="12" fill="hold">
                            <p:stCondLst>
                              <p:cond delay="2000"/>
                            </p:stCondLst>
                            <p:childTnLst>
                              <p:par>
                                <p:cTn id="13" presetID="2" presetClass="entr" presetSubtype="8" fill="hold" nodeType="afterEffect">
                                  <p:stCondLst>
                                    <p:cond delay="0"/>
                                  </p:stCondLst>
                                  <p:childTnLst>
                                    <p:set>
                                      <p:cBhvr>
                                        <p:cTn id="14" dur="1" fill="hold">
                                          <p:stCondLst>
                                            <p:cond delay="0"/>
                                          </p:stCondLst>
                                        </p:cTn>
                                        <p:tgtEl>
                                          <p:spTgt spid="33"/>
                                        </p:tgtEl>
                                        <p:attrNameLst>
                                          <p:attrName>style.visibility</p:attrName>
                                        </p:attrNameLst>
                                      </p:cBhvr>
                                      <p:to>
                                        <p:strVal val="visible"/>
                                      </p:to>
                                    </p:set>
                                    <p:anim calcmode="lin" valueType="num">
                                      <p:cBhvr additive="base">
                                        <p:cTn id="15" dur="500" fill="hold"/>
                                        <p:tgtEl>
                                          <p:spTgt spid="33"/>
                                        </p:tgtEl>
                                        <p:attrNameLst>
                                          <p:attrName>ppt_x</p:attrName>
                                        </p:attrNameLst>
                                      </p:cBhvr>
                                      <p:tavLst>
                                        <p:tav tm="0">
                                          <p:val>
                                            <p:strVal val="0-#ppt_w/2"/>
                                          </p:val>
                                        </p:tav>
                                        <p:tav tm="100000">
                                          <p:val>
                                            <p:strVal val="#ppt_x"/>
                                          </p:val>
                                        </p:tav>
                                      </p:tavLst>
                                    </p:anim>
                                    <p:anim calcmode="lin" valueType="num">
                                      <p:cBhvr additive="base">
                                        <p:cTn id="16" dur="500" fill="hold"/>
                                        <p:tgtEl>
                                          <p:spTgt spid="33"/>
                                        </p:tgtEl>
                                        <p:attrNameLst>
                                          <p:attrName>ppt_y</p:attrName>
                                        </p:attrNameLst>
                                      </p:cBhvr>
                                      <p:tavLst>
                                        <p:tav tm="0">
                                          <p:val>
                                            <p:strVal val="#ppt_y"/>
                                          </p:val>
                                        </p:tav>
                                        <p:tav tm="100000">
                                          <p:val>
                                            <p:strVal val="#ppt_y"/>
                                          </p:val>
                                        </p:tav>
                                      </p:tavLst>
                                    </p:anim>
                                  </p:childTnLst>
                                </p:cTn>
                              </p:par>
                            </p:childTnLst>
                          </p:cTn>
                        </p:par>
                        <p:par>
                          <p:cTn id="17" fill="hold">
                            <p:stCondLst>
                              <p:cond delay="2500"/>
                            </p:stCondLst>
                            <p:childTnLst>
                              <p:par>
                                <p:cTn id="18" presetID="16" presetClass="entr" presetSubtype="21" fill="hold" nodeType="afterEffect" nodePh="1">
                                  <p:stCondLst>
                                    <p:cond delay="0"/>
                                  </p:stCondLst>
                                  <p:endCondLst>
                                    <p:cond evt="begin" delay="0">
                                      <p:tn val="18"/>
                                    </p:cond>
                                  </p:endCondLst>
                                  <p:childTnLst>
                                    <p:set>
                                      <p:cBhvr>
                                        <p:cTn id="19" dur="1" fill="hold">
                                          <p:stCondLst>
                                            <p:cond delay="0"/>
                                          </p:stCondLst>
                                        </p:cTn>
                                        <p:tgtEl>
                                          <p:spTgt spid="10">
                                            <p:txEl>
                                              <p:pRg st="0" end="0"/>
                                            </p:txEl>
                                          </p:spTgt>
                                        </p:tgtEl>
                                        <p:attrNameLst>
                                          <p:attrName>style.visibility</p:attrName>
                                        </p:attrNameLst>
                                      </p:cBhvr>
                                      <p:to>
                                        <p:strVal val="visible"/>
                                      </p:to>
                                    </p:set>
                                    <p:animEffect transition="in" filter="barn(inVertical)">
                                      <p:cBhvr>
                                        <p:cTn id="20" dur="500"/>
                                        <p:tgtEl>
                                          <p:spTgt spid="10">
                                            <p:txEl>
                                              <p:pRg st="0" end="0"/>
                                            </p:txEl>
                                          </p:spTgt>
                                        </p:tgtEl>
                                      </p:cBhvr>
                                    </p:animEffect>
                                  </p:childTnLst>
                                </p:cTn>
                              </p:par>
                            </p:childTnLst>
                          </p:cTn>
                        </p:par>
                        <p:par>
                          <p:cTn id="21" fill="hold">
                            <p:stCondLst>
                              <p:cond delay="3000"/>
                            </p:stCondLst>
                            <p:childTnLst>
                              <p:par>
                                <p:cTn id="22" presetID="53" presetClass="entr" presetSubtype="16" fill="hold" nodeType="afterEffect">
                                  <p:stCondLst>
                                    <p:cond delay="0"/>
                                  </p:stCondLst>
                                  <p:childTnLst>
                                    <p:set>
                                      <p:cBhvr>
                                        <p:cTn id="23" dur="1" fill="hold">
                                          <p:stCondLst>
                                            <p:cond delay="0"/>
                                          </p:stCondLst>
                                        </p:cTn>
                                        <p:tgtEl>
                                          <p:spTgt spid="11"/>
                                        </p:tgtEl>
                                        <p:attrNameLst>
                                          <p:attrName>style.visibility</p:attrName>
                                        </p:attrNameLst>
                                      </p:cBhvr>
                                      <p:to>
                                        <p:strVal val="visible"/>
                                      </p:to>
                                    </p:set>
                                    <p:anim calcmode="lin" valueType="num">
                                      <p:cBhvr>
                                        <p:cTn id="24" dur="500" fill="hold"/>
                                        <p:tgtEl>
                                          <p:spTgt spid="11"/>
                                        </p:tgtEl>
                                        <p:attrNameLst>
                                          <p:attrName>ppt_w</p:attrName>
                                        </p:attrNameLst>
                                      </p:cBhvr>
                                      <p:tavLst>
                                        <p:tav tm="0">
                                          <p:val>
                                            <p:fltVal val="0"/>
                                          </p:val>
                                        </p:tav>
                                        <p:tav tm="100000">
                                          <p:val>
                                            <p:strVal val="#ppt_w"/>
                                          </p:val>
                                        </p:tav>
                                      </p:tavLst>
                                    </p:anim>
                                    <p:anim calcmode="lin" valueType="num">
                                      <p:cBhvr>
                                        <p:cTn id="25" dur="500" fill="hold"/>
                                        <p:tgtEl>
                                          <p:spTgt spid="11"/>
                                        </p:tgtEl>
                                        <p:attrNameLst>
                                          <p:attrName>ppt_h</p:attrName>
                                        </p:attrNameLst>
                                      </p:cBhvr>
                                      <p:tavLst>
                                        <p:tav tm="0">
                                          <p:val>
                                            <p:fltVal val="0"/>
                                          </p:val>
                                        </p:tav>
                                        <p:tav tm="100000">
                                          <p:val>
                                            <p:strVal val="#ppt_h"/>
                                          </p:val>
                                        </p:tav>
                                      </p:tavLst>
                                    </p:anim>
                                    <p:animEffect transition="in" filter="fade">
                                      <p:cBhvr>
                                        <p:cTn id="26" dur="500"/>
                                        <p:tgtEl>
                                          <p:spTgt spid="11"/>
                                        </p:tgtEl>
                                      </p:cBhvr>
                                    </p:animEffect>
                                  </p:childTnLst>
                                </p:cTn>
                              </p:par>
                            </p:childTnLst>
                          </p:cTn>
                        </p:par>
                        <p:par>
                          <p:cTn id="27" fill="hold">
                            <p:stCondLst>
                              <p:cond delay="3500"/>
                            </p:stCondLst>
                            <p:childTnLst>
                              <p:par>
                                <p:cTn id="28" presetID="16" presetClass="entr" presetSubtype="37" fill="hold" nodeType="afterEffect">
                                  <p:stCondLst>
                                    <p:cond delay="0"/>
                                  </p:stCondLst>
                                  <p:childTnLst>
                                    <p:set>
                                      <p:cBhvr>
                                        <p:cTn id="29" dur="1" fill="hold">
                                          <p:stCondLst>
                                            <p:cond delay="0"/>
                                          </p:stCondLst>
                                        </p:cTn>
                                        <p:tgtEl>
                                          <p:spTgt spid="4">
                                            <p:txEl>
                                              <p:pRg st="0" end="0"/>
                                            </p:txEl>
                                          </p:spTgt>
                                        </p:tgtEl>
                                        <p:attrNameLst>
                                          <p:attrName>style.visibility</p:attrName>
                                        </p:attrNameLst>
                                      </p:cBhvr>
                                      <p:to>
                                        <p:strVal val="visible"/>
                                      </p:to>
                                    </p:set>
                                    <p:animEffect transition="in" filter="barn(outVertical)">
                                      <p:cBhvr>
                                        <p:cTn id="30" dur="5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p:bldP spid="48"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2"/>
          <a:stretch>
            <a:fillRect/>
          </a:stretch>
        </p:blipFill>
        <p:spPr>
          <a:xfrm rot="16200000">
            <a:off x="145169" y="-145167"/>
            <a:ext cx="1268414" cy="1558750"/>
          </a:xfrm>
          <a:prstGeom prst="rect">
            <a:avLst/>
          </a:prstGeom>
        </p:spPr>
      </p:pic>
      <p:sp>
        <p:nvSpPr>
          <p:cNvPr id="9" name="文字方塊 8">
            <a:extLst>
              <a:ext uri="{FF2B5EF4-FFF2-40B4-BE49-F238E27FC236}">
                <a16:creationId xmlns:a16="http://schemas.microsoft.com/office/drawing/2014/main" id="{81D0666A-D96D-4B5B-9036-192FA53FE435}"/>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cxnSp>
        <p:nvCxnSpPr>
          <p:cNvPr id="33" name="直接连接符 33">
            <a:extLst>
              <a:ext uri="{FF2B5EF4-FFF2-40B4-BE49-F238E27FC236}">
                <a16:creationId xmlns:a16="http://schemas.microsoft.com/office/drawing/2014/main" id="{DFF80DCD-8EF0-4D2F-8380-59FA348D932C}"/>
              </a:ext>
            </a:extLst>
          </p:cNvPr>
          <p:cNvCxnSpPr/>
          <p:nvPr/>
        </p:nvCxnSpPr>
        <p:spPr>
          <a:xfrm>
            <a:off x="1177167" y="1046746"/>
            <a:ext cx="10585176"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6" name="標題 1"/>
          <p:cNvSpPr txBox="1">
            <a:spLocks/>
          </p:cNvSpPr>
          <p:nvPr/>
        </p:nvSpPr>
        <p:spPr>
          <a:xfrm>
            <a:off x="854426" y="112999"/>
            <a:ext cx="5288853"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7-3 </a:t>
            </a:r>
            <a:r>
              <a:rPr lang="zh-TW" altLang="en-US" sz="2400" b="1" dirty="0">
                <a:solidFill>
                  <a:srgbClr val="E06741"/>
                </a:solidFill>
              </a:rPr>
              <a:t>實務案例</a:t>
            </a:r>
            <a:r>
              <a:rPr lang="en-US" altLang="zh-TW" sz="2400" b="1" dirty="0">
                <a:solidFill>
                  <a:srgbClr val="E06741"/>
                </a:solidFill>
              </a:rPr>
              <a:t>-</a:t>
            </a:r>
            <a:r>
              <a:rPr lang="zh-TW" altLang="en-US" sz="2400" b="1" dirty="0">
                <a:solidFill>
                  <a:srgbClr val="E06741"/>
                </a:solidFill>
              </a:rPr>
              <a:t>農產履歷</a:t>
            </a:r>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sp>
        <p:nvSpPr>
          <p:cNvPr id="48" name="文字方塊 47">
            <a:extLst>
              <a:ext uri="{FF2B5EF4-FFF2-40B4-BE49-F238E27FC236}">
                <a16:creationId xmlns:a16="http://schemas.microsoft.com/office/drawing/2014/main" id="{AD7F4831-1A36-4A2F-ACBE-344F724510DC}"/>
              </a:ext>
            </a:extLst>
          </p:cNvPr>
          <p:cNvSpPr txBox="1"/>
          <p:nvPr/>
        </p:nvSpPr>
        <p:spPr>
          <a:xfrm>
            <a:off x="5130089" y="350241"/>
            <a:ext cx="2242922"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-2</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案例區塊鍊運用</a:t>
            </a:r>
          </a:p>
        </p:txBody>
      </p:sp>
      <p:sp>
        <p:nvSpPr>
          <p:cNvPr id="10" name="文字方塊 9">
            <a:extLst>
              <a:ext uri="{FF2B5EF4-FFF2-40B4-BE49-F238E27FC236}">
                <a16:creationId xmlns:a16="http://schemas.microsoft.com/office/drawing/2014/main" id="{BF94E171-0176-49DD-BE6C-DB2D96B94A88}"/>
              </a:ext>
            </a:extLst>
          </p:cNvPr>
          <p:cNvSpPr txBox="1"/>
          <p:nvPr/>
        </p:nvSpPr>
        <p:spPr>
          <a:xfrm>
            <a:off x="1177167" y="1816567"/>
            <a:ext cx="9663430" cy="578492"/>
          </a:xfrm>
          <a:prstGeom prst="rect">
            <a:avLst/>
          </a:prstGeom>
          <a:noFill/>
        </p:spPr>
        <p:txBody>
          <a:bodyPr wrap="square" rtlCol="0">
            <a:spAutoFit/>
          </a:bodyPr>
          <a:lstStyle/>
          <a:p>
            <a:pPr marL="342900" indent="-342900">
              <a:lnSpc>
                <a:spcPct val="150000"/>
              </a:lnSpc>
              <a:buBlip>
                <a:blip r:embed="rId3"/>
              </a:buBlip>
            </a:pP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sp>
        <p:nvSpPr>
          <p:cNvPr id="12" name="文字方塊 11">
            <a:extLst>
              <a:ext uri="{FF2B5EF4-FFF2-40B4-BE49-F238E27FC236}">
                <a16:creationId xmlns:a16="http://schemas.microsoft.com/office/drawing/2014/main" id="{BF94E171-0176-49DD-BE6C-DB2D96B94A88}"/>
              </a:ext>
            </a:extLst>
          </p:cNvPr>
          <p:cNvSpPr txBox="1"/>
          <p:nvPr/>
        </p:nvSpPr>
        <p:spPr>
          <a:xfrm>
            <a:off x="1177167" y="1480981"/>
            <a:ext cx="9353464" cy="2308324"/>
          </a:xfrm>
          <a:prstGeom prst="rect">
            <a:avLst/>
          </a:prstGeom>
          <a:noFill/>
        </p:spPr>
        <p:txBody>
          <a:bodyPr wrap="square" rtlCol="0">
            <a:spAutoFit/>
          </a:bodyPr>
          <a:lstStyle/>
          <a:p>
            <a:pPr marL="342900" indent="-342900">
              <a:lnSpc>
                <a:spcPct val="150000"/>
              </a:lnSpc>
              <a:buBlip>
                <a:blip r:embed="rId3"/>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問題：</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800100" lvl="1" indent="-342900">
              <a:lnSpc>
                <a:spcPct val="150000"/>
              </a:lnSpc>
              <a:buBlip>
                <a:blip r:embed="rId3"/>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當市場上農產品質出問題時，受害者往往是農夫及民眾。</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800100" lvl="1" indent="-342900">
              <a:lnSpc>
                <a:spcPct val="150000"/>
              </a:lnSpc>
              <a:buBlip>
                <a:blip r:embed="rId3"/>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能有效保障農產品的品質，並且兼具保護民眾與農夫的權益，建立農產品的產銷履歷是有其必要性。</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pic>
        <p:nvPicPr>
          <p:cNvPr id="11" name="圖片 10" descr="一張含有 樂高, 玩具 的圖片&#10;&#10;描述是以高可信度產生">
            <a:extLst>
              <a:ext uri="{FF2B5EF4-FFF2-40B4-BE49-F238E27FC236}">
                <a16:creationId xmlns:a16="http://schemas.microsoft.com/office/drawing/2014/main" id="{B3800395-AF8F-4D03-A9D3-DE5A52DA436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090408" y="3789305"/>
            <a:ext cx="2466808" cy="2466808"/>
          </a:xfrm>
          <a:prstGeom prst="rect">
            <a:avLst/>
          </a:prstGeom>
        </p:spPr>
      </p:pic>
    </p:spTree>
    <p:extLst>
      <p:ext uri="{BB962C8B-B14F-4D97-AF65-F5344CB8AC3E}">
        <p14:creationId xmlns:p14="http://schemas.microsoft.com/office/powerpoint/2010/main" val="2864857476"/>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circle(in)">
                                      <p:cBhvr>
                                        <p:cTn id="7" dur="1500"/>
                                        <p:tgtEl>
                                          <p:spTgt spid="46"/>
                                        </p:tgtEl>
                                      </p:cBhvr>
                                    </p:animEffect>
                                  </p:childTnLst>
                                </p:cTn>
                              </p:par>
                            </p:childTnLst>
                          </p:cTn>
                        </p:par>
                        <p:par>
                          <p:cTn id="8" fill="hold">
                            <p:stCondLst>
                              <p:cond delay="1500"/>
                            </p:stCondLst>
                            <p:childTnLst>
                              <p:par>
                                <p:cTn id="9" presetID="16" presetClass="entr" presetSubtype="21" fill="hold" grpId="0" nodeType="afterEffect">
                                  <p:stCondLst>
                                    <p:cond delay="0"/>
                                  </p:stCondLst>
                                  <p:childTnLst>
                                    <p:set>
                                      <p:cBhvr>
                                        <p:cTn id="10" dur="1" fill="hold">
                                          <p:stCondLst>
                                            <p:cond delay="0"/>
                                          </p:stCondLst>
                                        </p:cTn>
                                        <p:tgtEl>
                                          <p:spTgt spid="48"/>
                                        </p:tgtEl>
                                        <p:attrNameLst>
                                          <p:attrName>style.visibility</p:attrName>
                                        </p:attrNameLst>
                                      </p:cBhvr>
                                      <p:to>
                                        <p:strVal val="visible"/>
                                      </p:to>
                                    </p:set>
                                    <p:animEffect transition="in" filter="barn(inVertical)">
                                      <p:cBhvr>
                                        <p:cTn id="11" dur="500"/>
                                        <p:tgtEl>
                                          <p:spTgt spid="48"/>
                                        </p:tgtEl>
                                      </p:cBhvr>
                                    </p:animEffect>
                                  </p:childTnLst>
                                </p:cTn>
                              </p:par>
                            </p:childTnLst>
                          </p:cTn>
                        </p:par>
                        <p:par>
                          <p:cTn id="12" fill="hold">
                            <p:stCondLst>
                              <p:cond delay="2000"/>
                            </p:stCondLst>
                            <p:childTnLst>
                              <p:par>
                                <p:cTn id="13" presetID="2" presetClass="entr" presetSubtype="8" fill="hold" nodeType="afterEffect">
                                  <p:stCondLst>
                                    <p:cond delay="0"/>
                                  </p:stCondLst>
                                  <p:childTnLst>
                                    <p:set>
                                      <p:cBhvr>
                                        <p:cTn id="14" dur="1" fill="hold">
                                          <p:stCondLst>
                                            <p:cond delay="0"/>
                                          </p:stCondLst>
                                        </p:cTn>
                                        <p:tgtEl>
                                          <p:spTgt spid="33"/>
                                        </p:tgtEl>
                                        <p:attrNameLst>
                                          <p:attrName>style.visibility</p:attrName>
                                        </p:attrNameLst>
                                      </p:cBhvr>
                                      <p:to>
                                        <p:strVal val="visible"/>
                                      </p:to>
                                    </p:set>
                                    <p:anim calcmode="lin" valueType="num">
                                      <p:cBhvr additive="base">
                                        <p:cTn id="15" dur="500" fill="hold"/>
                                        <p:tgtEl>
                                          <p:spTgt spid="33"/>
                                        </p:tgtEl>
                                        <p:attrNameLst>
                                          <p:attrName>ppt_x</p:attrName>
                                        </p:attrNameLst>
                                      </p:cBhvr>
                                      <p:tavLst>
                                        <p:tav tm="0">
                                          <p:val>
                                            <p:strVal val="0-#ppt_w/2"/>
                                          </p:val>
                                        </p:tav>
                                        <p:tav tm="100000">
                                          <p:val>
                                            <p:strVal val="#ppt_x"/>
                                          </p:val>
                                        </p:tav>
                                      </p:tavLst>
                                    </p:anim>
                                    <p:anim calcmode="lin" valueType="num">
                                      <p:cBhvr additive="base">
                                        <p:cTn id="16" dur="500" fill="hold"/>
                                        <p:tgtEl>
                                          <p:spTgt spid="33"/>
                                        </p:tgtEl>
                                        <p:attrNameLst>
                                          <p:attrName>ppt_y</p:attrName>
                                        </p:attrNameLst>
                                      </p:cBhvr>
                                      <p:tavLst>
                                        <p:tav tm="0">
                                          <p:val>
                                            <p:strVal val="#ppt_y"/>
                                          </p:val>
                                        </p:tav>
                                        <p:tav tm="100000">
                                          <p:val>
                                            <p:strVal val="#ppt_y"/>
                                          </p:val>
                                        </p:tav>
                                      </p:tavLst>
                                    </p:anim>
                                  </p:childTnLst>
                                </p:cTn>
                              </p:par>
                            </p:childTnLst>
                          </p:cTn>
                        </p:par>
                        <p:par>
                          <p:cTn id="17" fill="hold">
                            <p:stCondLst>
                              <p:cond delay="2500"/>
                            </p:stCondLst>
                            <p:childTnLst>
                              <p:par>
                                <p:cTn id="18" presetID="16" presetClass="entr" presetSubtype="21" fill="hold" nodeType="afterEffect" nodePh="1">
                                  <p:stCondLst>
                                    <p:cond delay="0"/>
                                  </p:stCondLst>
                                  <p:endCondLst>
                                    <p:cond evt="begin" delay="0">
                                      <p:tn val="18"/>
                                    </p:cond>
                                  </p:endCondLst>
                                  <p:childTnLst>
                                    <p:set>
                                      <p:cBhvr>
                                        <p:cTn id="19" dur="1" fill="hold">
                                          <p:stCondLst>
                                            <p:cond delay="0"/>
                                          </p:stCondLst>
                                        </p:cTn>
                                        <p:tgtEl>
                                          <p:spTgt spid="10">
                                            <p:txEl>
                                              <p:pRg st="0" end="0"/>
                                            </p:txEl>
                                          </p:spTgt>
                                        </p:tgtEl>
                                        <p:attrNameLst>
                                          <p:attrName>style.visibility</p:attrName>
                                        </p:attrNameLst>
                                      </p:cBhvr>
                                      <p:to>
                                        <p:strVal val="visible"/>
                                      </p:to>
                                    </p:set>
                                    <p:animEffect transition="in" filter="barn(inVertical)">
                                      <p:cBhvr>
                                        <p:cTn id="20" dur="500"/>
                                        <p:tgtEl>
                                          <p:spTgt spid="10">
                                            <p:txEl>
                                              <p:pRg st="0" end="0"/>
                                            </p:txEl>
                                          </p:spTgt>
                                        </p:tgtEl>
                                      </p:cBhvr>
                                    </p:animEffect>
                                  </p:childTnLst>
                                </p:cTn>
                              </p:par>
                            </p:childTnLst>
                          </p:cTn>
                        </p:par>
                        <p:par>
                          <p:cTn id="21" fill="hold">
                            <p:stCondLst>
                              <p:cond delay="3000"/>
                            </p:stCondLst>
                            <p:childTnLst>
                              <p:par>
                                <p:cTn id="22" presetID="16" presetClass="entr" presetSubtype="21" fill="hold" grpId="0" nodeType="after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barn(inVertical)">
                                      <p:cBhvr>
                                        <p:cTn id="24" dur="500"/>
                                        <p:tgtEl>
                                          <p:spTgt spid="12"/>
                                        </p:tgtEl>
                                      </p:cBhvr>
                                    </p:animEffect>
                                  </p:childTnLst>
                                </p:cTn>
                              </p:par>
                            </p:childTnLst>
                          </p:cTn>
                        </p:par>
                        <p:par>
                          <p:cTn id="25" fill="hold">
                            <p:stCondLst>
                              <p:cond delay="3500"/>
                            </p:stCondLst>
                            <p:childTnLst>
                              <p:par>
                                <p:cTn id="26" presetID="2" presetClass="entr" presetSubtype="4" fill="hold" nodeType="afterEffect">
                                  <p:stCondLst>
                                    <p:cond delay="0"/>
                                  </p:stCondLst>
                                  <p:childTnLst>
                                    <p:set>
                                      <p:cBhvr>
                                        <p:cTn id="27" dur="1" fill="hold">
                                          <p:stCondLst>
                                            <p:cond delay="0"/>
                                          </p:stCondLst>
                                        </p:cTn>
                                        <p:tgtEl>
                                          <p:spTgt spid="11"/>
                                        </p:tgtEl>
                                        <p:attrNameLst>
                                          <p:attrName>style.visibility</p:attrName>
                                        </p:attrNameLst>
                                      </p:cBhvr>
                                      <p:to>
                                        <p:strVal val="visible"/>
                                      </p:to>
                                    </p:set>
                                    <p:anim calcmode="lin" valueType="num">
                                      <p:cBhvr additive="base">
                                        <p:cTn id="28" dur="500" fill="hold"/>
                                        <p:tgtEl>
                                          <p:spTgt spid="11"/>
                                        </p:tgtEl>
                                        <p:attrNameLst>
                                          <p:attrName>ppt_x</p:attrName>
                                        </p:attrNameLst>
                                      </p:cBhvr>
                                      <p:tavLst>
                                        <p:tav tm="0">
                                          <p:val>
                                            <p:strVal val="#ppt_x"/>
                                          </p:val>
                                        </p:tav>
                                        <p:tav tm="100000">
                                          <p:val>
                                            <p:strVal val="#ppt_x"/>
                                          </p:val>
                                        </p:tav>
                                      </p:tavLst>
                                    </p:anim>
                                    <p:anim calcmode="lin" valueType="num">
                                      <p:cBhvr additive="base">
                                        <p:cTn id="29"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p:bldP spid="48" grpId="0"/>
      <p:bldP spid="12"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2"/>
          <a:stretch>
            <a:fillRect/>
          </a:stretch>
        </p:blipFill>
        <p:spPr>
          <a:xfrm rot="16200000">
            <a:off x="145169" y="-145167"/>
            <a:ext cx="1268414" cy="1558750"/>
          </a:xfrm>
          <a:prstGeom prst="rect">
            <a:avLst/>
          </a:prstGeom>
        </p:spPr>
      </p:pic>
      <p:sp>
        <p:nvSpPr>
          <p:cNvPr id="9" name="文字方塊 8">
            <a:extLst>
              <a:ext uri="{FF2B5EF4-FFF2-40B4-BE49-F238E27FC236}">
                <a16:creationId xmlns:a16="http://schemas.microsoft.com/office/drawing/2014/main" id="{81D0666A-D96D-4B5B-9036-192FA53FE435}"/>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cxnSp>
        <p:nvCxnSpPr>
          <p:cNvPr id="33" name="直接连接符 33">
            <a:extLst>
              <a:ext uri="{FF2B5EF4-FFF2-40B4-BE49-F238E27FC236}">
                <a16:creationId xmlns:a16="http://schemas.microsoft.com/office/drawing/2014/main" id="{DFF80DCD-8EF0-4D2F-8380-59FA348D932C}"/>
              </a:ext>
            </a:extLst>
          </p:cNvPr>
          <p:cNvCxnSpPr/>
          <p:nvPr/>
        </p:nvCxnSpPr>
        <p:spPr>
          <a:xfrm>
            <a:off x="1177167" y="1046746"/>
            <a:ext cx="10585176"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6" name="標題 1"/>
          <p:cNvSpPr txBox="1">
            <a:spLocks/>
          </p:cNvSpPr>
          <p:nvPr/>
        </p:nvSpPr>
        <p:spPr>
          <a:xfrm>
            <a:off x="854426" y="112999"/>
            <a:ext cx="5288853"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7-3 </a:t>
            </a:r>
            <a:r>
              <a:rPr lang="zh-TW" altLang="en-US" sz="2400" b="1" dirty="0">
                <a:solidFill>
                  <a:srgbClr val="E06741"/>
                </a:solidFill>
              </a:rPr>
              <a:t>實務案例</a:t>
            </a:r>
            <a:r>
              <a:rPr lang="en-US" altLang="zh-TW" sz="2400" b="1" dirty="0">
                <a:solidFill>
                  <a:srgbClr val="E06741"/>
                </a:solidFill>
              </a:rPr>
              <a:t>-</a:t>
            </a:r>
            <a:r>
              <a:rPr lang="zh-TW" altLang="en-US" sz="2400" b="1" dirty="0">
                <a:solidFill>
                  <a:srgbClr val="E06741"/>
                </a:solidFill>
              </a:rPr>
              <a:t>農產履歷</a:t>
            </a:r>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sp>
        <p:nvSpPr>
          <p:cNvPr id="48" name="文字方塊 47">
            <a:extLst>
              <a:ext uri="{FF2B5EF4-FFF2-40B4-BE49-F238E27FC236}">
                <a16:creationId xmlns:a16="http://schemas.microsoft.com/office/drawing/2014/main" id="{AD7F4831-1A36-4A2F-ACBE-344F724510DC}"/>
              </a:ext>
            </a:extLst>
          </p:cNvPr>
          <p:cNvSpPr txBox="1"/>
          <p:nvPr/>
        </p:nvSpPr>
        <p:spPr>
          <a:xfrm>
            <a:off x="5130089" y="350241"/>
            <a:ext cx="2242922"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-2</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案例區塊鍊運用</a:t>
            </a:r>
          </a:p>
        </p:txBody>
      </p:sp>
      <p:sp>
        <p:nvSpPr>
          <p:cNvPr id="10" name="文字方塊 9">
            <a:extLst>
              <a:ext uri="{FF2B5EF4-FFF2-40B4-BE49-F238E27FC236}">
                <a16:creationId xmlns:a16="http://schemas.microsoft.com/office/drawing/2014/main" id="{BF94E171-0176-49DD-BE6C-DB2D96B94A88}"/>
              </a:ext>
            </a:extLst>
          </p:cNvPr>
          <p:cNvSpPr txBox="1"/>
          <p:nvPr/>
        </p:nvSpPr>
        <p:spPr>
          <a:xfrm>
            <a:off x="1177909" y="1816484"/>
            <a:ext cx="9663430" cy="578492"/>
          </a:xfrm>
          <a:prstGeom prst="rect">
            <a:avLst/>
          </a:prstGeom>
          <a:noFill/>
        </p:spPr>
        <p:txBody>
          <a:bodyPr wrap="square" rtlCol="0">
            <a:spAutoFit/>
          </a:bodyPr>
          <a:lstStyle/>
          <a:p>
            <a:pPr marL="342900" indent="-342900">
              <a:lnSpc>
                <a:spcPct val="150000"/>
              </a:lnSpc>
              <a:buBlip>
                <a:blip r:embed="rId3"/>
              </a:buBlip>
            </a:pP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sp>
        <p:nvSpPr>
          <p:cNvPr id="12" name="文字方塊 11">
            <a:extLst>
              <a:ext uri="{FF2B5EF4-FFF2-40B4-BE49-F238E27FC236}">
                <a16:creationId xmlns:a16="http://schemas.microsoft.com/office/drawing/2014/main" id="{BF94E171-0176-49DD-BE6C-DB2D96B94A88}"/>
              </a:ext>
            </a:extLst>
          </p:cNvPr>
          <p:cNvSpPr txBox="1"/>
          <p:nvPr/>
        </p:nvSpPr>
        <p:spPr>
          <a:xfrm>
            <a:off x="1099839" y="1105899"/>
            <a:ext cx="9909905" cy="578492"/>
          </a:xfrm>
          <a:prstGeom prst="rect">
            <a:avLst/>
          </a:prstGeom>
          <a:noFill/>
        </p:spPr>
        <p:txBody>
          <a:bodyPr wrap="square" rtlCol="0">
            <a:spAutoFit/>
          </a:bodyPr>
          <a:lstStyle/>
          <a:p>
            <a:pPr marL="342900" indent="-342900">
              <a:lnSpc>
                <a:spcPct val="150000"/>
              </a:lnSpc>
              <a:buBlip>
                <a:blip r:embed="rId3"/>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現行方法：可以從上、下 游的管道逐一追蹤農產品的生產過程資訊</a:t>
            </a:r>
          </a:p>
        </p:txBody>
      </p:sp>
      <p:grpSp>
        <p:nvGrpSpPr>
          <p:cNvPr id="11" name="群組 10"/>
          <p:cNvGrpSpPr/>
          <p:nvPr/>
        </p:nvGrpSpPr>
        <p:grpSpPr>
          <a:xfrm>
            <a:off x="1099840" y="1800527"/>
            <a:ext cx="10503303" cy="4254071"/>
            <a:chOff x="153693" y="554601"/>
            <a:chExt cx="11955979" cy="5693274"/>
          </a:xfrm>
        </p:grpSpPr>
        <p:sp>
          <p:nvSpPr>
            <p:cNvPr id="13" name="文字方塊 12"/>
            <p:cNvSpPr txBox="1"/>
            <p:nvPr/>
          </p:nvSpPr>
          <p:spPr>
            <a:xfrm>
              <a:off x="1822193" y="554601"/>
              <a:ext cx="1564849" cy="947372"/>
            </a:xfrm>
            <a:prstGeom prst="rect">
              <a:avLst/>
            </a:prstGeom>
            <a:noFill/>
            <a:ln>
              <a:noFill/>
            </a:ln>
          </p:spPr>
          <p:txBody>
            <a:bodyPr wrap="square" rtlCol="0">
              <a:spAutoFit/>
            </a:bodyPr>
            <a:lstStyle/>
            <a:p>
              <a:r>
                <a:rPr lang="zh-TW" altLang="en-US" sz="2000" b="1" dirty="0">
                  <a:solidFill>
                    <a:srgbClr val="7030A0"/>
                  </a:solidFill>
                  <a:latin typeface="微軟正黑體" panose="020B0604030504040204" pitchFamily="34" charset="-120"/>
                  <a:ea typeface="微軟正黑體" panose="020B0604030504040204" pitchFamily="34" charset="-120"/>
                </a:rPr>
                <a:t>追蹤紀錄</a:t>
              </a:r>
              <a:endParaRPr lang="en-US" altLang="zh-TW" sz="2000" b="1" dirty="0">
                <a:solidFill>
                  <a:srgbClr val="7030A0"/>
                </a:solidFill>
                <a:latin typeface="微軟正黑體" panose="020B0604030504040204" pitchFamily="34" charset="-120"/>
                <a:ea typeface="微軟正黑體" panose="020B0604030504040204" pitchFamily="34" charset="-120"/>
              </a:endParaRPr>
            </a:p>
            <a:p>
              <a:r>
                <a:rPr lang="zh-TW" altLang="en-US" sz="2000" b="1" dirty="0">
                  <a:solidFill>
                    <a:srgbClr val="7030A0"/>
                  </a:solidFill>
                  <a:latin typeface="微軟正黑體" panose="020B0604030504040204" pitchFamily="34" charset="-120"/>
                  <a:ea typeface="微軟正黑體" panose="020B0604030504040204" pitchFamily="34" charset="-120"/>
                </a:rPr>
                <a:t>生產履歷</a:t>
              </a:r>
              <a:endParaRPr lang="zh-TW" altLang="en-US" sz="2000" dirty="0">
                <a:solidFill>
                  <a:srgbClr val="7030A0"/>
                </a:solidFill>
                <a:latin typeface="微軟正黑體" panose="020B0604030504040204" pitchFamily="34" charset="-120"/>
                <a:ea typeface="微軟正黑體" panose="020B0604030504040204" pitchFamily="34" charset="-120"/>
              </a:endParaRPr>
            </a:p>
          </p:txBody>
        </p:sp>
        <p:grpSp>
          <p:nvGrpSpPr>
            <p:cNvPr id="14" name="群組 13"/>
            <p:cNvGrpSpPr/>
            <p:nvPr/>
          </p:nvGrpSpPr>
          <p:grpSpPr>
            <a:xfrm>
              <a:off x="515178" y="1211613"/>
              <a:ext cx="11118800" cy="1440193"/>
              <a:chOff x="443170" y="1844824"/>
              <a:chExt cx="11118800" cy="1440193"/>
            </a:xfrm>
          </p:grpSpPr>
          <p:sp>
            <p:nvSpPr>
              <p:cNvPr id="52" name="橢圓 51"/>
              <p:cNvSpPr/>
              <p:nvPr/>
            </p:nvSpPr>
            <p:spPr>
              <a:xfrm>
                <a:off x="2860175" y="1844824"/>
                <a:ext cx="1659928" cy="1355439"/>
              </a:xfrm>
              <a:prstGeom prst="ellipse">
                <a:avLst/>
              </a:prstGeo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3" name="文字方塊 52"/>
              <p:cNvSpPr txBox="1"/>
              <p:nvPr/>
            </p:nvSpPr>
            <p:spPr>
              <a:xfrm>
                <a:off x="2810641" y="2077042"/>
                <a:ext cx="1781297" cy="957824"/>
              </a:xfrm>
              <a:prstGeom prst="rect">
                <a:avLst/>
              </a:prstGeom>
              <a:noFill/>
              <a:ln>
                <a:noFill/>
              </a:ln>
            </p:spPr>
            <p:txBody>
              <a:bodyPr wrap="square" rtlCol="0">
                <a:spAutoFit/>
              </a:bodyPr>
              <a:lstStyle/>
              <a:p>
                <a:pPr algn="ctr"/>
                <a:r>
                  <a:rPr lang="zh-TW" altLang="en-US" sz="2000" b="1" dirty="0">
                    <a:solidFill>
                      <a:schemeClr val="bg1"/>
                    </a:solidFill>
                    <a:latin typeface="微軟正黑體" panose="020B0604030504040204" pitchFamily="34" charset="-120"/>
                    <a:ea typeface="微軟正黑體" panose="020B0604030504040204" pitchFamily="34" charset="-120"/>
                  </a:rPr>
                  <a:t>農產品</a:t>
                </a:r>
                <a:endParaRPr lang="en-US" altLang="zh-TW" sz="2000" b="1" dirty="0">
                  <a:solidFill>
                    <a:schemeClr val="bg1"/>
                  </a:solidFill>
                  <a:latin typeface="微軟正黑體" panose="020B0604030504040204" pitchFamily="34" charset="-120"/>
                  <a:ea typeface="微軟正黑體" panose="020B0604030504040204" pitchFamily="34" charset="-120"/>
                </a:endParaRPr>
              </a:p>
              <a:p>
                <a:pPr algn="ctr"/>
                <a:r>
                  <a:rPr lang="zh-TW" altLang="en-US" sz="2000" b="1" dirty="0">
                    <a:solidFill>
                      <a:schemeClr val="bg1"/>
                    </a:solidFill>
                    <a:latin typeface="微軟正黑體" panose="020B0604030504040204" pitchFamily="34" charset="-120"/>
                    <a:ea typeface="微軟正黑體" panose="020B0604030504040204" pitchFamily="34" charset="-120"/>
                  </a:rPr>
                  <a:t>的加工階段</a:t>
                </a:r>
              </a:p>
            </p:txBody>
          </p:sp>
          <p:grpSp>
            <p:nvGrpSpPr>
              <p:cNvPr id="54" name="群組 53"/>
              <p:cNvGrpSpPr/>
              <p:nvPr/>
            </p:nvGrpSpPr>
            <p:grpSpPr>
              <a:xfrm>
                <a:off x="443170" y="1929578"/>
                <a:ext cx="1732338" cy="1355439"/>
                <a:chOff x="1271344" y="620689"/>
                <a:chExt cx="1728431" cy="974614"/>
              </a:xfrm>
            </p:grpSpPr>
            <p:sp>
              <p:nvSpPr>
                <p:cNvPr id="61" name="橢圓 60"/>
                <p:cNvSpPr/>
                <p:nvPr/>
              </p:nvSpPr>
              <p:spPr>
                <a:xfrm>
                  <a:off x="1307468" y="620689"/>
                  <a:ext cx="1656184" cy="974614"/>
                </a:xfrm>
                <a:prstGeom prst="ellipse">
                  <a:avLst/>
                </a:prstGeo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2" name="文字方塊 61"/>
                <p:cNvSpPr txBox="1"/>
                <p:nvPr/>
              </p:nvSpPr>
              <p:spPr>
                <a:xfrm>
                  <a:off x="1271344" y="735413"/>
                  <a:ext cx="1728431" cy="681198"/>
                </a:xfrm>
                <a:prstGeom prst="rect">
                  <a:avLst/>
                </a:prstGeom>
                <a:noFill/>
                <a:ln>
                  <a:noFill/>
                </a:ln>
              </p:spPr>
              <p:txBody>
                <a:bodyPr wrap="square" rtlCol="0">
                  <a:spAutoFit/>
                </a:bodyPr>
                <a:lstStyle/>
                <a:p>
                  <a:pPr algn="ctr"/>
                  <a:r>
                    <a:rPr lang="zh-TW" altLang="en-US" sz="2000" b="1" dirty="0">
                      <a:solidFill>
                        <a:schemeClr val="bg1"/>
                      </a:solidFill>
                      <a:latin typeface="微軟正黑體" panose="020B0604030504040204" pitchFamily="34" charset="-120"/>
                      <a:ea typeface="微軟正黑體" panose="020B0604030504040204" pitchFamily="34" charset="-120"/>
                    </a:rPr>
                    <a:t>農產品</a:t>
                  </a:r>
                  <a:endParaRPr lang="en-US" altLang="zh-TW" sz="2000" b="1" dirty="0">
                    <a:solidFill>
                      <a:schemeClr val="bg1"/>
                    </a:solidFill>
                    <a:latin typeface="微軟正黑體" panose="020B0604030504040204" pitchFamily="34" charset="-120"/>
                    <a:ea typeface="微軟正黑體" panose="020B0604030504040204" pitchFamily="34" charset="-120"/>
                  </a:endParaRPr>
                </a:p>
                <a:p>
                  <a:r>
                    <a:rPr lang="zh-TW" altLang="en-US" sz="2000" b="1" dirty="0">
                      <a:solidFill>
                        <a:schemeClr val="bg1"/>
                      </a:solidFill>
                      <a:latin typeface="微軟正黑體" panose="020B0604030504040204" pitchFamily="34" charset="-120"/>
                      <a:ea typeface="微軟正黑體" panose="020B0604030504040204" pitchFamily="34" charset="-120"/>
                    </a:rPr>
                    <a:t>的生產階段</a:t>
                  </a:r>
                </a:p>
              </p:txBody>
            </p:sp>
          </p:grpSp>
          <p:sp>
            <p:nvSpPr>
              <p:cNvPr id="55" name="橢圓 54"/>
              <p:cNvSpPr/>
              <p:nvPr/>
            </p:nvSpPr>
            <p:spPr>
              <a:xfrm>
                <a:off x="7596950" y="1868547"/>
                <a:ext cx="1659928" cy="1355439"/>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6" name="文字方塊 55"/>
              <p:cNvSpPr txBox="1"/>
              <p:nvPr/>
            </p:nvSpPr>
            <p:spPr>
              <a:xfrm>
                <a:off x="7544494" y="2049836"/>
                <a:ext cx="1713643" cy="963682"/>
              </a:xfrm>
              <a:prstGeom prst="rect">
                <a:avLst/>
              </a:prstGeom>
              <a:noFill/>
              <a:ln>
                <a:noFill/>
              </a:ln>
            </p:spPr>
            <p:txBody>
              <a:bodyPr wrap="square" rtlCol="0">
                <a:spAutoFit/>
              </a:bodyPr>
              <a:lstStyle/>
              <a:p>
                <a:pPr algn="ctr"/>
                <a:r>
                  <a:rPr lang="zh-TW" altLang="en-US" sz="2000" b="1" dirty="0">
                    <a:solidFill>
                      <a:schemeClr val="bg1"/>
                    </a:solidFill>
                    <a:latin typeface="微軟正黑體" panose="020B0604030504040204" pitchFamily="34" charset="-120"/>
                    <a:ea typeface="微軟正黑體" panose="020B0604030504040204" pitchFamily="34" charset="-120"/>
                  </a:rPr>
                  <a:t>農產品</a:t>
                </a:r>
                <a:endParaRPr lang="en-US" altLang="zh-TW" sz="2000" b="1" dirty="0">
                  <a:solidFill>
                    <a:schemeClr val="bg1"/>
                  </a:solidFill>
                  <a:latin typeface="微軟正黑體" panose="020B0604030504040204" pitchFamily="34" charset="-120"/>
                  <a:ea typeface="微軟正黑體" panose="020B0604030504040204" pitchFamily="34" charset="-120"/>
                </a:endParaRPr>
              </a:p>
              <a:p>
                <a:pPr algn="ctr"/>
                <a:r>
                  <a:rPr lang="zh-TW" altLang="en-US" sz="2000" b="1" dirty="0">
                    <a:solidFill>
                      <a:schemeClr val="bg1"/>
                    </a:solidFill>
                    <a:latin typeface="微軟正黑體" panose="020B0604030504040204" pitchFamily="34" charset="-120"/>
                    <a:ea typeface="微軟正黑體" panose="020B0604030504040204" pitchFamily="34" charset="-120"/>
                  </a:rPr>
                  <a:t>的流通階段</a:t>
                </a:r>
              </a:p>
            </p:txBody>
          </p:sp>
          <p:sp>
            <p:nvSpPr>
              <p:cNvPr id="57" name="橢圓 56"/>
              <p:cNvSpPr/>
              <p:nvPr/>
            </p:nvSpPr>
            <p:spPr>
              <a:xfrm>
                <a:off x="9902042" y="1895759"/>
                <a:ext cx="1659928" cy="1355439"/>
              </a:xfrm>
              <a:prstGeom prst="ellipse">
                <a:avLst/>
              </a:prstGeom>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8" name="文字方塊 57"/>
              <p:cNvSpPr txBox="1"/>
              <p:nvPr/>
            </p:nvSpPr>
            <p:spPr>
              <a:xfrm>
                <a:off x="10010298" y="2301426"/>
                <a:ext cx="1443416" cy="535472"/>
              </a:xfrm>
              <a:prstGeom prst="rect">
                <a:avLst/>
              </a:prstGeom>
              <a:noFill/>
              <a:ln>
                <a:noFill/>
              </a:ln>
            </p:spPr>
            <p:txBody>
              <a:bodyPr wrap="square" rtlCol="0">
                <a:spAutoFit/>
              </a:bodyPr>
              <a:lstStyle/>
              <a:p>
                <a:pPr algn="ctr"/>
                <a:r>
                  <a:rPr lang="zh-TW" altLang="en-US" sz="2000" b="1" dirty="0">
                    <a:solidFill>
                      <a:schemeClr val="bg1"/>
                    </a:solidFill>
                    <a:latin typeface="微軟正黑體" panose="020B0604030504040204" pitchFamily="34" charset="-120"/>
                    <a:ea typeface="微軟正黑體" panose="020B0604030504040204" pitchFamily="34" charset="-120"/>
                  </a:rPr>
                  <a:t>消費者</a:t>
                </a:r>
              </a:p>
            </p:txBody>
          </p:sp>
          <p:sp>
            <p:nvSpPr>
              <p:cNvPr id="59" name="橢圓 58"/>
              <p:cNvSpPr/>
              <p:nvPr/>
            </p:nvSpPr>
            <p:spPr>
              <a:xfrm>
                <a:off x="5228654" y="1844824"/>
                <a:ext cx="1659928" cy="1355439"/>
              </a:xfrm>
              <a:prstGeom prst="ellipse">
                <a:avLst/>
              </a:prstGeom>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TW" altLang="en-US"/>
              </a:p>
            </p:txBody>
          </p:sp>
          <p:sp>
            <p:nvSpPr>
              <p:cNvPr id="60" name="文字方塊 59"/>
              <p:cNvSpPr txBox="1"/>
              <p:nvPr/>
            </p:nvSpPr>
            <p:spPr>
              <a:xfrm>
                <a:off x="5216151" y="2049836"/>
                <a:ext cx="1683179" cy="947372"/>
              </a:xfrm>
              <a:prstGeom prst="rect">
                <a:avLst/>
              </a:prstGeom>
              <a:noFill/>
              <a:ln>
                <a:noFill/>
              </a:ln>
            </p:spPr>
            <p:txBody>
              <a:bodyPr wrap="square" rtlCol="0">
                <a:spAutoFit/>
              </a:bodyPr>
              <a:lstStyle/>
              <a:p>
                <a:pPr algn="ctr"/>
                <a:r>
                  <a:rPr lang="zh-TW" altLang="en-US" sz="2000" b="1" dirty="0">
                    <a:solidFill>
                      <a:schemeClr val="bg1"/>
                    </a:solidFill>
                    <a:latin typeface="微軟正黑體" panose="020B0604030504040204" pitchFamily="34" charset="-120"/>
                    <a:ea typeface="微軟正黑體" panose="020B0604030504040204" pitchFamily="34" charset="-120"/>
                  </a:rPr>
                  <a:t>農產品</a:t>
                </a:r>
                <a:endParaRPr lang="en-US" altLang="zh-TW" sz="2000" b="1" dirty="0">
                  <a:solidFill>
                    <a:schemeClr val="bg1"/>
                  </a:solidFill>
                  <a:latin typeface="微軟正黑體" panose="020B0604030504040204" pitchFamily="34" charset="-120"/>
                  <a:ea typeface="微軟正黑體" panose="020B0604030504040204" pitchFamily="34" charset="-120"/>
                </a:endParaRPr>
              </a:p>
              <a:p>
                <a:pPr algn="ctr"/>
                <a:r>
                  <a:rPr lang="zh-TW" altLang="en-US" sz="2000" b="1" dirty="0">
                    <a:solidFill>
                      <a:schemeClr val="bg1"/>
                    </a:solidFill>
                    <a:latin typeface="微軟正黑體" panose="020B0604030504040204" pitchFamily="34" charset="-120"/>
                    <a:ea typeface="微軟正黑體" panose="020B0604030504040204" pitchFamily="34" charset="-120"/>
                  </a:rPr>
                  <a:t>的零售階段</a:t>
                </a:r>
              </a:p>
            </p:txBody>
          </p:sp>
        </p:grpSp>
        <p:grpSp>
          <p:nvGrpSpPr>
            <p:cNvPr id="15" name="群組 14"/>
            <p:cNvGrpSpPr/>
            <p:nvPr/>
          </p:nvGrpSpPr>
          <p:grpSpPr>
            <a:xfrm>
              <a:off x="153693" y="3871611"/>
              <a:ext cx="2465086" cy="2376264"/>
              <a:chOff x="351095" y="2533047"/>
              <a:chExt cx="2322932" cy="2376264"/>
            </a:xfrm>
          </p:grpSpPr>
          <p:sp>
            <p:nvSpPr>
              <p:cNvPr id="50" name="流程圖: 多重文件 49"/>
              <p:cNvSpPr/>
              <p:nvPr/>
            </p:nvSpPr>
            <p:spPr>
              <a:xfrm>
                <a:off x="511663" y="2533047"/>
                <a:ext cx="1974630" cy="2376264"/>
              </a:xfrm>
              <a:prstGeom prst="flowChartMultidocument">
                <a:avLst/>
              </a:prstGeom>
              <a:gradFill>
                <a:gsLst>
                  <a:gs pos="0">
                    <a:schemeClr val="accent2">
                      <a:lumMod val="0"/>
                      <a:lumOff val="100000"/>
                    </a:schemeClr>
                  </a:gs>
                  <a:gs pos="49000">
                    <a:schemeClr val="accent2">
                      <a:lumMod val="0"/>
                      <a:lumOff val="100000"/>
                    </a:schemeClr>
                  </a:gs>
                  <a:gs pos="100000">
                    <a:schemeClr val="accent2">
                      <a:lumMod val="100000"/>
                    </a:schemeClr>
                  </a:gs>
                </a:gsLst>
                <a:path path="circle">
                  <a:fillToRect l="50000" t="-80000" r="50000" b="18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51" name="文字方塊 50"/>
              <p:cNvSpPr txBox="1"/>
              <p:nvPr/>
            </p:nvSpPr>
            <p:spPr>
              <a:xfrm>
                <a:off x="351095" y="2949786"/>
                <a:ext cx="2322932" cy="1232099"/>
              </a:xfrm>
              <a:prstGeom prst="rect">
                <a:avLst/>
              </a:prstGeom>
              <a:noFill/>
              <a:ln>
                <a:noFill/>
              </a:ln>
            </p:spPr>
            <p:txBody>
              <a:bodyPr wrap="square" rtlCol="0">
                <a:spAutoFit/>
              </a:bodyPr>
              <a:lstStyle/>
              <a:p>
                <a:pPr marL="176213" indent="-84138">
                  <a:lnSpc>
                    <a:spcPct val="150000"/>
                  </a:lnSpc>
                  <a:buClr>
                    <a:schemeClr val="accent1">
                      <a:lumMod val="50000"/>
                    </a:schemeClr>
                  </a:buClr>
                  <a:buFont typeface="Wingdings" panose="05000000000000000000" pitchFamily="2" charset="2"/>
                  <a:buChar char="l"/>
                </a:pPr>
                <a:r>
                  <a:rPr lang="zh-TW" altLang="en-US" b="1" dirty="0">
                    <a:solidFill>
                      <a:srgbClr val="002060"/>
                    </a:solidFill>
                    <a:latin typeface="微軟正黑體" panose="020B0604030504040204" pitchFamily="34" charset="-120"/>
                    <a:ea typeface="微軟正黑體" panose="020B0604030504040204" pitchFamily="34" charset="-120"/>
                  </a:rPr>
                  <a:t>農產品生產紀錄</a:t>
                </a:r>
                <a:endParaRPr lang="en-US" altLang="zh-TW" b="1" dirty="0">
                  <a:solidFill>
                    <a:srgbClr val="002060"/>
                  </a:solidFill>
                  <a:latin typeface="微軟正黑體" panose="020B0604030504040204" pitchFamily="34" charset="-120"/>
                  <a:ea typeface="微軟正黑體" panose="020B0604030504040204" pitchFamily="34" charset="-120"/>
                </a:endParaRPr>
              </a:p>
              <a:p>
                <a:pPr marL="176213" indent="-84138">
                  <a:lnSpc>
                    <a:spcPct val="150000"/>
                  </a:lnSpc>
                  <a:buClr>
                    <a:schemeClr val="accent1">
                      <a:lumMod val="50000"/>
                    </a:schemeClr>
                  </a:buClr>
                  <a:buFont typeface="Wingdings" panose="05000000000000000000" pitchFamily="2" charset="2"/>
                  <a:buChar char="l"/>
                </a:pPr>
                <a:r>
                  <a:rPr lang="zh-TW" altLang="en-US" b="1" dirty="0">
                    <a:solidFill>
                      <a:srgbClr val="002060"/>
                    </a:solidFill>
                    <a:latin typeface="微軟正黑體" panose="020B0604030504040204" pitchFamily="34" charset="-120"/>
                    <a:ea typeface="微軟正黑體" panose="020B0604030504040204" pitchFamily="34" charset="-120"/>
                  </a:rPr>
                  <a:t>出貨紀錄</a:t>
                </a:r>
                <a:endParaRPr lang="en-US" altLang="zh-TW" b="1" dirty="0">
                  <a:solidFill>
                    <a:srgbClr val="002060"/>
                  </a:solidFill>
                  <a:latin typeface="微軟正黑體" panose="020B0604030504040204" pitchFamily="34" charset="-120"/>
                  <a:ea typeface="微軟正黑體" panose="020B0604030504040204" pitchFamily="34" charset="-120"/>
                </a:endParaRPr>
              </a:p>
              <a:p>
                <a:endParaRPr lang="zh-TW" altLang="en-US" b="1" dirty="0">
                  <a:latin typeface="+mj-ea"/>
                  <a:ea typeface="+mj-ea"/>
                </a:endParaRPr>
              </a:p>
            </p:txBody>
          </p:sp>
        </p:grpSp>
        <p:grpSp>
          <p:nvGrpSpPr>
            <p:cNvPr id="16" name="群組 15"/>
            <p:cNvGrpSpPr/>
            <p:nvPr/>
          </p:nvGrpSpPr>
          <p:grpSpPr>
            <a:xfrm>
              <a:off x="7426118" y="3658971"/>
              <a:ext cx="2312866" cy="2376264"/>
              <a:chOff x="395437" y="2342971"/>
              <a:chExt cx="2179490" cy="2376264"/>
            </a:xfrm>
          </p:grpSpPr>
          <p:sp>
            <p:nvSpPr>
              <p:cNvPr id="47" name="流程圖: 多重文件 46"/>
              <p:cNvSpPr/>
              <p:nvPr/>
            </p:nvSpPr>
            <p:spPr>
              <a:xfrm>
                <a:off x="419060" y="2342971"/>
                <a:ext cx="1974630" cy="2376264"/>
              </a:xfrm>
              <a:prstGeom prst="flowChartMultidocument">
                <a:avLst/>
              </a:prstGeom>
              <a:gradFill>
                <a:gsLst>
                  <a:gs pos="0">
                    <a:schemeClr val="accent2">
                      <a:lumMod val="0"/>
                      <a:lumOff val="100000"/>
                    </a:schemeClr>
                  </a:gs>
                  <a:gs pos="49000">
                    <a:schemeClr val="accent2">
                      <a:lumMod val="0"/>
                      <a:lumOff val="100000"/>
                    </a:schemeClr>
                  </a:gs>
                  <a:gs pos="100000">
                    <a:schemeClr val="accent2">
                      <a:lumMod val="100000"/>
                    </a:schemeClr>
                  </a:gs>
                </a:gsLst>
                <a:path path="circle">
                  <a:fillToRect l="50000" t="-80000" r="50000" b="18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9" name="文字方塊 48"/>
              <p:cNvSpPr txBox="1"/>
              <p:nvPr/>
            </p:nvSpPr>
            <p:spPr>
              <a:xfrm>
                <a:off x="395437" y="2725987"/>
                <a:ext cx="2179490" cy="1322005"/>
              </a:xfrm>
              <a:prstGeom prst="rect">
                <a:avLst/>
              </a:prstGeom>
              <a:noFill/>
              <a:ln>
                <a:noFill/>
              </a:ln>
            </p:spPr>
            <p:txBody>
              <a:bodyPr wrap="square" rtlCol="0">
                <a:spAutoFit/>
              </a:bodyPr>
              <a:lstStyle/>
              <a:p>
                <a:pPr marL="176213" indent="-84138">
                  <a:lnSpc>
                    <a:spcPct val="150000"/>
                  </a:lnSpc>
                  <a:buClr>
                    <a:schemeClr val="accent1">
                      <a:lumMod val="50000"/>
                    </a:schemeClr>
                  </a:buClr>
                  <a:buFont typeface="Wingdings" panose="05000000000000000000" pitchFamily="2" charset="2"/>
                  <a:buChar char="l"/>
                </a:pPr>
                <a:r>
                  <a:rPr lang="zh-TW" altLang="en-US" b="1" dirty="0">
                    <a:solidFill>
                      <a:srgbClr val="002060"/>
                    </a:solidFill>
                    <a:latin typeface="微軟正黑體" panose="020B0604030504040204" pitchFamily="34" charset="-120"/>
                    <a:ea typeface="微軟正黑體" panose="020B0604030504040204" pitchFamily="34" charset="-120"/>
                  </a:rPr>
                  <a:t>製品進貨紀錄</a:t>
                </a:r>
                <a:endParaRPr lang="en-US" altLang="zh-TW" b="1" dirty="0">
                  <a:solidFill>
                    <a:srgbClr val="002060"/>
                  </a:solidFill>
                  <a:latin typeface="微軟正黑體" panose="020B0604030504040204" pitchFamily="34" charset="-120"/>
                  <a:ea typeface="微軟正黑體" panose="020B0604030504040204" pitchFamily="34" charset="-120"/>
                </a:endParaRPr>
              </a:p>
              <a:p>
                <a:pPr marL="176213" indent="-84138">
                  <a:lnSpc>
                    <a:spcPct val="150000"/>
                  </a:lnSpc>
                  <a:buClr>
                    <a:schemeClr val="accent1">
                      <a:lumMod val="50000"/>
                    </a:schemeClr>
                  </a:buClr>
                  <a:buFont typeface="Wingdings" panose="05000000000000000000" pitchFamily="2" charset="2"/>
                  <a:buChar char="l"/>
                </a:pPr>
                <a:r>
                  <a:rPr lang="zh-TW" altLang="en-US" b="1" dirty="0">
                    <a:solidFill>
                      <a:srgbClr val="002060"/>
                    </a:solidFill>
                    <a:latin typeface="微軟正黑體" panose="020B0604030504040204" pitchFamily="34" charset="-120"/>
                    <a:ea typeface="微軟正黑體" panose="020B0604030504040204" pitchFamily="34" charset="-120"/>
                  </a:rPr>
                  <a:t>販賣紀錄</a:t>
                </a:r>
                <a:endParaRPr lang="en-US" altLang="zh-TW" b="1" dirty="0">
                  <a:solidFill>
                    <a:srgbClr val="002060"/>
                  </a:solidFill>
                  <a:latin typeface="微軟正黑體" panose="020B0604030504040204" pitchFamily="34" charset="-120"/>
                  <a:ea typeface="微軟正黑體" panose="020B0604030504040204" pitchFamily="34" charset="-120"/>
                </a:endParaRPr>
              </a:p>
              <a:p>
                <a:pPr marL="176213" indent="-84138">
                  <a:lnSpc>
                    <a:spcPct val="150000"/>
                  </a:lnSpc>
                  <a:buClr>
                    <a:schemeClr val="accent1">
                      <a:lumMod val="50000"/>
                    </a:schemeClr>
                  </a:buClr>
                  <a:buFont typeface="Wingdings" panose="05000000000000000000" pitchFamily="2" charset="2"/>
                  <a:buChar char="l"/>
                </a:pPr>
                <a:r>
                  <a:rPr lang="zh-TW" altLang="en-US" b="1" dirty="0">
                    <a:solidFill>
                      <a:srgbClr val="002060"/>
                    </a:solidFill>
                    <a:latin typeface="微軟正黑體" panose="020B0604030504040204" pitchFamily="34" charset="-120"/>
                    <a:ea typeface="微軟正黑體" panose="020B0604030504040204" pitchFamily="34" charset="-120"/>
                  </a:rPr>
                  <a:t>附帶紀錄</a:t>
                </a:r>
                <a:endParaRPr lang="en-US" altLang="zh-TW" b="1" dirty="0">
                  <a:solidFill>
                    <a:srgbClr val="002060"/>
                  </a:solidFill>
                  <a:latin typeface="微軟正黑體" panose="020B0604030504040204" pitchFamily="34" charset="-120"/>
                  <a:ea typeface="微軟正黑體" panose="020B0604030504040204" pitchFamily="34" charset="-120"/>
                </a:endParaRPr>
              </a:p>
            </p:txBody>
          </p:sp>
        </p:grpSp>
        <p:grpSp>
          <p:nvGrpSpPr>
            <p:cNvPr id="17" name="群組 16"/>
            <p:cNvGrpSpPr/>
            <p:nvPr/>
          </p:nvGrpSpPr>
          <p:grpSpPr>
            <a:xfrm>
              <a:off x="9796806" y="3692968"/>
              <a:ext cx="2312866" cy="2376264"/>
              <a:chOff x="318750" y="2376968"/>
              <a:chExt cx="2179490" cy="2376264"/>
            </a:xfrm>
          </p:grpSpPr>
          <p:sp>
            <p:nvSpPr>
              <p:cNvPr id="44" name="流程圖: 多重文件 43"/>
              <p:cNvSpPr/>
              <p:nvPr/>
            </p:nvSpPr>
            <p:spPr>
              <a:xfrm>
                <a:off x="324904" y="2376968"/>
                <a:ext cx="1974630" cy="2376264"/>
              </a:xfrm>
              <a:prstGeom prst="flowChartMultidocument">
                <a:avLst/>
              </a:prstGeom>
              <a:gradFill>
                <a:gsLst>
                  <a:gs pos="0">
                    <a:schemeClr val="accent2">
                      <a:lumMod val="0"/>
                      <a:lumOff val="100000"/>
                    </a:schemeClr>
                  </a:gs>
                  <a:gs pos="49000">
                    <a:schemeClr val="accent2">
                      <a:lumMod val="0"/>
                      <a:lumOff val="100000"/>
                    </a:schemeClr>
                  </a:gs>
                  <a:gs pos="100000">
                    <a:schemeClr val="accent2">
                      <a:lumMod val="100000"/>
                    </a:schemeClr>
                  </a:gs>
                </a:gsLst>
                <a:path path="circle">
                  <a:fillToRect l="50000" t="-80000" r="50000" b="18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5" name="文字方塊 44"/>
              <p:cNvSpPr txBox="1"/>
              <p:nvPr/>
            </p:nvSpPr>
            <p:spPr>
              <a:xfrm>
                <a:off x="318750" y="2823568"/>
                <a:ext cx="2179490" cy="663437"/>
              </a:xfrm>
              <a:prstGeom prst="rect">
                <a:avLst/>
              </a:prstGeom>
              <a:noFill/>
              <a:ln>
                <a:noFill/>
              </a:ln>
            </p:spPr>
            <p:txBody>
              <a:bodyPr wrap="square" rtlCol="0">
                <a:spAutoFit/>
              </a:bodyPr>
              <a:lstStyle/>
              <a:p>
                <a:pPr marL="176213" indent="-84138">
                  <a:buClr>
                    <a:schemeClr val="accent1">
                      <a:lumMod val="50000"/>
                    </a:schemeClr>
                  </a:buClr>
                  <a:buFont typeface="Wingdings" panose="05000000000000000000" pitchFamily="2" charset="2"/>
                  <a:buChar char="l"/>
                </a:pPr>
                <a:r>
                  <a:rPr lang="zh-TW" altLang="en-US" b="1" dirty="0">
                    <a:solidFill>
                      <a:srgbClr val="002060"/>
                    </a:solidFill>
                    <a:latin typeface="微軟正黑體" panose="020B0604030504040204" pitchFamily="34" charset="-120"/>
                    <a:ea typeface="微軟正黑體" panose="020B0604030504040204" pitchFamily="34" charset="-120"/>
                  </a:rPr>
                  <a:t>資訊查詢</a:t>
                </a:r>
              </a:p>
              <a:p>
                <a:endParaRPr lang="zh-TW" altLang="en-US" b="1" dirty="0">
                  <a:latin typeface="+mj-ea"/>
                  <a:ea typeface="+mj-ea"/>
                </a:endParaRPr>
              </a:p>
            </p:txBody>
          </p:sp>
        </p:grpSp>
        <p:grpSp>
          <p:nvGrpSpPr>
            <p:cNvPr id="18" name="群組 17"/>
            <p:cNvGrpSpPr/>
            <p:nvPr/>
          </p:nvGrpSpPr>
          <p:grpSpPr>
            <a:xfrm>
              <a:off x="2490298" y="3727248"/>
              <a:ext cx="2312866" cy="2376264"/>
              <a:chOff x="267128" y="2411248"/>
              <a:chExt cx="2179490" cy="2376264"/>
            </a:xfrm>
          </p:grpSpPr>
          <p:sp>
            <p:nvSpPr>
              <p:cNvPr id="42" name="流程圖: 多重文件 41"/>
              <p:cNvSpPr/>
              <p:nvPr/>
            </p:nvSpPr>
            <p:spPr>
              <a:xfrm>
                <a:off x="378486" y="2411248"/>
                <a:ext cx="1974630" cy="2376264"/>
              </a:xfrm>
              <a:prstGeom prst="flowChartMultidocument">
                <a:avLst/>
              </a:prstGeom>
              <a:gradFill>
                <a:gsLst>
                  <a:gs pos="0">
                    <a:schemeClr val="accent2">
                      <a:lumMod val="0"/>
                      <a:lumOff val="100000"/>
                    </a:schemeClr>
                  </a:gs>
                  <a:gs pos="49000">
                    <a:schemeClr val="accent2">
                      <a:lumMod val="0"/>
                      <a:lumOff val="100000"/>
                    </a:schemeClr>
                  </a:gs>
                  <a:gs pos="100000">
                    <a:schemeClr val="accent2">
                      <a:lumMod val="100000"/>
                    </a:schemeClr>
                  </a:gs>
                </a:gsLst>
                <a:path path="circle">
                  <a:fillToRect l="50000" t="-80000" r="50000" b="18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3" name="文字方塊 42"/>
              <p:cNvSpPr txBox="1"/>
              <p:nvPr/>
            </p:nvSpPr>
            <p:spPr>
              <a:xfrm>
                <a:off x="267128" y="2826073"/>
                <a:ext cx="2179490" cy="1322005"/>
              </a:xfrm>
              <a:prstGeom prst="rect">
                <a:avLst/>
              </a:prstGeom>
              <a:noFill/>
              <a:ln>
                <a:noFill/>
              </a:ln>
            </p:spPr>
            <p:txBody>
              <a:bodyPr wrap="square" rtlCol="0">
                <a:spAutoFit/>
              </a:bodyPr>
              <a:lstStyle/>
              <a:p>
                <a:pPr marL="176213" indent="-84138">
                  <a:lnSpc>
                    <a:spcPct val="150000"/>
                  </a:lnSpc>
                  <a:buClr>
                    <a:schemeClr val="accent1">
                      <a:lumMod val="50000"/>
                    </a:schemeClr>
                  </a:buClr>
                  <a:buFont typeface="Wingdings" panose="05000000000000000000" pitchFamily="2" charset="2"/>
                  <a:buChar char="l"/>
                </a:pPr>
                <a:r>
                  <a:rPr lang="zh-TW" altLang="en-US" b="1" dirty="0">
                    <a:solidFill>
                      <a:srgbClr val="002060"/>
                    </a:solidFill>
                    <a:latin typeface="微軟正黑體" panose="020B0604030504040204" pitchFamily="34" charset="-120"/>
                    <a:ea typeface="微軟正黑體" panose="020B0604030504040204" pitchFamily="34" charset="-120"/>
                  </a:rPr>
                  <a:t>進貨紀錄</a:t>
                </a:r>
                <a:endParaRPr lang="en-US" altLang="zh-TW" b="1" dirty="0">
                  <a:solidFill>
                    <a:srgbClr val="002060"/>
                  </a:solidFill>
                  <a:latin typeface="微軟正黑體" panose="020B0604030504040204" pitchFamily="34" charset="-120"/>
                  <a:ea typeface="微軟正黑體" panose="020B0604030504040204" pitchFamily="34" charset="-120"/>
                </a:endParaRPr>
              </a:p>
              <a:p>
                <a:pPr marL="176213" indent="-84138">
                  <a:lnSpc>
                    <a:spcPct val="150000"/>
                  </a:lnSpc>
                  <a:buClr>
                    <a:schemeClr val="accent1">
                      <a:lumMod val="50000"/>
                    </a:schemeClr>
                  </a:buClr>
                  <a:buFont typeface="Wingdings" panose="05000000000000000000" pitchFamily="2" charset="2"/>
                  <a:buChar char="l"/>
                </a:pPr>
                <a:r>
                  <a:rPr lang="zh-TW" altLang="en-US" b="1" dirty="0">
                    <a:solidFill>
                      <a:srgbClr val="002060"/>
                    </a:solidFill>
                    <a:latin typeface="微軟正黑體" panose="020B0604030504040204" pitchFamily="34" charset="-120"/>
                    <a:ea typeface="微軟正黑體" panose="020B0604030504040204" pitchFamily="34" charset="-120"/>
                  </a:rPr>
                  <a:t>加工製造紀錄</a:t>
                </a:r>
                <a:endParaRPr lang="en-US" altLang="zh-TW" b="1" dirty="0">
                  <a:solidFill>
                    <a:srgbClr val="002060"/>
                  </a:solidFill>
                  <a:latin typeface="微軟正黑體" panose="020B0604030504040204" pitchFamily="34" charset="-120"/>
                  <a:ea typeface="微軟正黑體" panose="020B0604030504040204" pitchFamily="34" charset="-120"/>
                </a:endParaRPr>
              </a:p>
              <a:p>
                <a:pPr marL="176213" indent="-84138">
                  <a:lnSpc>
                    <a:spcPct val="150000"/>
                  </a:lnSpc>
                  <a:buClr>
                    <a:schemeClr val="accent1">
                      <a:lumMod val="50000"/>
                    </a:schemeClr>
                  </a:buClr>
                  <a:buFont typeface="Wingdings" panose="05000000000000000000" pitchFamily="2" charset="2"/>
                  <a:buChar char="l"/>
                </a:pPr>
                <a:r>
                  <a:rPr lang="zh-TW" altLang="en-US" b="1" dirty="0">
                    <a:solidFill>
                      <a:srgbClr val="002060"/>
                    </a:solidFill>
                    <a:latin typeface="微軟正黑體" panose="020B0604030504040204" pitchFamily="34" charset="-120"/>
                    <a:ea typeface="微軟正黑體" panose="020B0604030504040204" pitchFamily="34" charset="-120"/>
                  </a:rPr>
                  <a:t>出貨紀錄</a:t>
                </a:r>
              </a:p>
            </p:txBody>
          </p:sp>
        </p:grpSp>
        <p:grpSp>
          <p:nvGrpSpPr>
            <p:cNvPr id="19" name="群組 18"/>
            <p:cNvGrpSpPr/>
            <p:nvPr/>
          </p:nvGrpSpPr>
          <p:grpSpPr>
            <a:xfrm>
              <a:off x="4962689" y="3727248"/>
              <a:ext cx="2312866" cy="2376264"/>
              <a:chOff x="447121" y="2411248"/>
              <a:chExt cx="2179490" cy="2376264"/>
            </a:xfrm>
          </p:grpSpPr>
          <p:sp>
            <p:nvSpPr>
              <p:cNvPr id="40" name="流程圖: 多重文件 39"/>
              <p:cNvSpPr/>
              <p:nvPr/>
            </p:nvSpPr>
            <p:spPr>
              <a:xfrm>
                <a:off x="489725" y="2411248"/>
                <a:ext cx="1974630" cy="2376264"/>
              </a:xfrm>
              <a:prstGeom prst="flowChartMultidocument">
                <a:avLst/>
              </a:prstGeom>
              <a:gradFill>
                <a:gsLst>
                  <a:gs pos="0">
                    <a:schemeClr val="accent2">
                      <a:lumMod val="0"/>
                      <a:lumOff val="100000"/>
                    </a:schemeClr>
                  </a:gs>
                  <a:gs pos="49000">
                    <a:schemeClr val="accent2">
                      <a:lumMod val="0"/>
                      <a:lumOff val="100000"/>
                    </a:schemeClr>
                  </a:gs>
                  <a:gs pos="100000">
                    <a:schemeClr val="accent2">
                      <a:lumMod val="100000"/>
                    </a:schemeClr>
                  </a:gs>
                </a:gsLst>
                <a:path path="circle">
                  <a:fillToRect l="50000" t="-80000" r="50000" b="18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41" name="文字方塊 40"/>
              <p:cNvSpPr txBox="1"/>
              <p:nvPr/>
            </p:nvSpPr>
            <p:spPr>
              <a:xfrm>
                <a:off x="447121" y="2787987"/>
                <a:ext cx="2179490" cy="1658594"/>
              </a:xfrm>
              <a:prstGeom prst="rect">
                <a:avLst/>
              </a:prstGeom>
              <a:noFill/>
              <a:ln>
                <a:noFill/>
              </a:ln>
            </p:spPr>
            <p:txBody>
              <a:bodyPr wrap="square" rtlCol="0">
                <a:spAutoFit/>
              </a:bodyPr>
              <a:lstStyle/>
              <a:p>
                <a:pPr marL="176213" indent="-84138">
                  <a:lnSpc>
                    <a:spcPct val="150000"/>
                  </a:lnSpc>
                  <a:buClr>
                    <a:schemeClr val="accent1">
                      <a:lumMod val="50000"/>
                    </a:schemeClr>
                  </a:buClr>
                  <a:buFont typeface="Wingdings" panose="05000000000000000000" pitchFamily="2" charset="2"/>
                  <a:buChar char="l"/>
                </a:pPr>
                <a:r>
                  <a:rPr lang="zh-TW" altLang="en-US" b="1" dirty="0">
                    <a:solidFill>
                      <a:srgbClr val="002060"/>
                    </a:solidFill>
                    <a:latin typeface="微軟正黑體" panose="020B0604030504040204" pitchFamily="34" charset="-120"/>
                    <a:ea typeface="微軟正黑體" panose="020B0604030504040204" pitchFamily="34" charset="-120"/>
                  </a:rPr>
                  <a:t>製品進貨紀錄</a:t>
                </a:r>
                <a:endParaRPr lang="en-US" altLang="zh-TW" b="1" dirty="0">
                  <a:solidFill>
                    <a:srgbClr val="002060"/>
                  </a:solidFill>
                  <a:latin typeface="微軟正黑體" panose="020B0604030504040204" pitchFamily="34" charset="-120"/>
                  <a:ea typeface="微軟正黑體" panose="020B0604030504040204" pitchFamily="34" charset="-120"/>
                </a:endParaRPr>
              </a:p>
              <a:p>
                <a:pPr marL="176213" indent="-84138">
                  <a:lnSpc>
                    <a:spcPct val="150000"/>
                  </a:lnSpc>
                  <a:buClr>
                    <a:schemeClr val="accent1">
                      <a:lumMod val="50000"/>
                    </a:schemeClr>
                  </a:buClr>
                  <a:buFont typeface="Wingdings" panose="05000000000000000000" pitchFamily="2" charset="2"/>
                  <a:buChar char="l"/>
                </a:pPr>
                <a:r>
                  <a:rPr lang="zh-TW" altLang="en-US" b="1" dirty="0">
                    <a:solidFill>
                      <a:srgbClr val="002060"/>
                    </a:solidFill>
                    <a:latin typeface="微軟正黑體" panose="020B0604030504040204" pitchFamily="34" charset="-120"/>
                    <a:ea typeface="微軟正黑體" panose="020B0604030504040204" pitchFamily="34" charset="-120"/>
                  </a:rPr>
                  <a:t>製品處理紀錄</a:t>
                </a:r>
                <a:endParaRPr lang="en-US" altLang="zh-TW" b="1" dirty="0">
                  <a:solidFill>
                    <a:srgbClr val="002060"/>
                  </a:solidFill>
                  <a:latin typeface="微軟正黑體" panose="020B0604030504040204" pitchFamily="34" charset="-120"/>
                  <a:ea typeface="微軟正黑體" panose="020B0604030504040204" pitchFamily="34" charset="-120"/>
                </a:endParaRPr>
              </a:p>
              <a:p>
                <a:pPr marL="176213" indent="-84138">
                  <a:lnSpc>
                    <a:spcPct val="150000"/>
                  </a:lnSpc>
                  <a:buClr>
                    <a:schemeClr val="accent1">
                      <a:lumMod val="50000"/>
                    </a:schemeClr>
                  </a:buClr>
                  <a:buFont typeface="Wingdings" panose="05000000000000000000" pitchFamily="2" charset="2"/>
                  <a:buChar char="l"/>
                </a:pPr>
                <a:r>
                  <a:rPr lang="zh-TW" altLang="en-US" b="1" dirty="0">
                    <a:solidFill>
                      <a:srgbClr val="002060"/>
                    </a:solidFill>
                    <a:latin typeface="微軟正黑體" panose="020B0604030504040204" pitchFamily="34" charset="-120"/>
                    <a:ea typeface="微軟正黑體" panose="020B0604030504040204" pitchFamily="34" charset="-120"/>
                  </a:rPr>
                  <a:t>出貨紀錄</a:t>
                </a:r>
                <a:endParaRPr lang="zh-TW" altLang="en-US" b="1" dirty="0">
                  <a:latin typeface="微軟正黑體" panose="020B0604030504040204" pitchFamily="34" charset="-120"/>
                  <a:ea typeface="微軟正黑體" panose="020B0604030504040204" pitchFamily="34" charset="-120"/>
                </a:endParaRPr>
              </a:p>
              <a:p>
                <a:endParaRPr lang="zh-TW" altLang="en-US" b="1" dirty="0">
                  <a:latin typeface="+mj-ea"/>
                  <a:ea typeface="+mj-ea"/>
                </a:endParaRPr>
              </a:p>
            </p:txBody>
          </p:sp>
        </p:grpSp>
        <p:grpSp>
          <p:nvGrpSpPr>
            <p:cNvPr id="20" name="群組 19"/>
            <p:cNvGrpSpPr/>
            <p:nvPr/>
          </p:nvGrpSpPr>
          <p:grpSpPr>
            <a:xfrm>
              <a:off x="1109933" y="2811300"/>
              <a:ext cx="10067365" cy="904885"/>
              <a:chOff x="1109933" y="3293193"/>
              <a:chExt cx="10067365" cy="734341"/>
            </a:xfrm>
          </p:grpSpPr>
          <p:sp>
            <p:nvSpPr>
              <p:cNvPr id="35" name="向右箭號 34"/>
              <p:cNvSpPr/>
              <p:nvPr/>
            </p:nvSpPr>
            <p:spPr>
              <a:xfrm rot="16200000">
                <a:off x="1038732" y="3410825"/>
                <a:ext cx="687910" cy="545508"/>
              </a:xfrm>
              <a:prstGeom prst="stripedRightArrow">
                <a:avLst/>
              </a:prstGeom>
              <a:ln>
                <a:noFill/>
              </a:ln>
            </p:spPr>
            <p:style>
              <a:lnRef idx="1">
                <a:schemeClr val="accent5"/>
              </a:lnRef>
              <a:fillRef idx="3">
                <a:schemeClr val="accent5"/>
              </a:fillRef>
              <a:effectRef idx="2">
                <a:schemeClr val="accent5"/>
              </a:effectRef>
              <a:fontRef idx="minor">
                <a:schemeClr val="lt1"/>
              </a:fontRef>
            </p:style>
            <p:txBody>
              <a:bodyPr rtlCol="0" anchor="ctr"/>
              <a:lstStyle/>
              <a:p>
                <a:pPr algn="ctr"/>
                <a:endParaRPr lang="zh-TW" altLang="en-US"/>
              </a:p>
            </p:txBody>
          </p:sp>
          <p:sp>
            <p:nvSpPr>
              <p:cNvPr id="36" name="向右箭號 35"/>
              <p:cNvSpPr/>
              <p:nvPr/>
            </p:nvSpPr>
            <p:spPr>
              <a:xfrm rot="16200000">
                <a:off x="5798991" y="3391983"/>
                <a:ext cx="687910" cy="545508"/>
              </a:xfrm>
              <a:prstGeom prst="stripedRightArrow">
                <a:avLst/>
              </a:prstGeom>
              <a:ln>
                <a:noFill/>
              </a:ln>
            </p:spPr>
            <p:style>
              <a:lnRef idx="1">
                <a:schemeClr val="accent5"/>
              </a:lnRef>
              <a:fillRef idx="3">
                <a:schemeClr val="accent5"/>
              </a:fillRef>
              <a:effectRef idx="2">
                <a:schemeClr val="accent5"/>
              </a:effectRef>
              <a:fontRef idx="minor">
                <a:schemeClr val="lt1"/>
              </a:fontRef>
            </p:style>
            <p:txBody>
              <a:bodyPr rtlCol="0" anchor="ctr"/>
              <a:lstStyle/>
              <a:p>
                <a:pPr algn="ctr"/>
                <a:endParaRPr lang="zh-TW" altLang="en-US"/>
              </a:p>
            </p:txBody>
          </p:sp>
          <p:sp>
            <p:nvSpPr>
              <p:cNvPr id="37" name="向右箭號 36"/>
              <p:cNvSpPr/>
              <p:nvPr/>
            </p:nvSpPr>
            <p:spPr>
              <a:xfrm rot="16200000">
                <a:off x="10560589" y="3364394"/>
                <a:ext cx="687910" cy="545508"/>
              </a:xfrm>
              <a:prstGeom prst="stripedRightArrow">
                <a:avLst/>
              </a:prstGeom>
              <a:ln>
                <a:noFill/>
              </a:ln>
            </p:spPr>
            <p:style>
              <a:lnRef idx="1">
                <a:schemeClr val="accent5"/>
              </a:lnRef>
              <a:fillRef idx="3">
                <a:schemeClr val="accent5"/>
              </a:fillRef>
              <a:effectRef idx="2">
                <a:schemeClr val="accent5"/>
              </a:effectRef>
              <a:fontRef idx="minor">
                <a:schemeClr val="lt1"/>
              </a:fontRef>
            </p:style>
            <p:txBody>
              <a:bodyPr rtlCol="0" anchor="ctr"/>
              <a:lstStyle/>
              <a:p>
                <a:pPr algn="ctr"/>
                <a:endParaRPr lang="zh-TW" altLang="en-US"/>
              </a:p>
            </p:txBody>
          </p:sp>
          <p:sp>
            <p:nvSpPr>
              <p:cNvPr id="38" name="向右箭號 37"/>
              <p:cNvSpPr/>
              <p:nvPr/>
            </p:nvSpPr>
            <p:spPr>
              <a:xfrm rot="16200000">
                <a:off x="8210788" y="3365334"/>
                <a:ext cx="687910" cy="545508"/>
              </a:xfrm>
              <a:prstGeom prst="stripedRightArrow">
                <a:avLst/>
              </a:prstGeom>
              <a:ln>
                <a:noFill/>
              </a:ln>
            </p:spPr>
            <p:style>
              <a:lnRef idx="1">
                <a:schemeClr val="accent5"/>
              </a:lnRef>
              <a:fillRef idx="3">
                <a:schemeClr val="accent5"/>
              </a:fillRef>
              <a:effectRef idx="2">
                <a:schemeClr val="accent5"/>
              </a:effectRef>
              <a:fontRef idx="minor">
                <a:schemeClr val="lt1"/>
              </a:fontRef>
            </p:style>
            <p:txBody>
              <a:bodyPr rtlCol="0" anchor="ctr"/>
              <a:lstStyle/>
              <a:p>
                <a:pPr algn="ctr"/>
                <a:endParaRPr lang="zh-TW" altLang="en-US"/>
              </a:p>
            </p:txBody>
          </p:sp>
          <p:sp>
            <p:nvSpPr>
              <p:cNvPr id="39" name="向右箭號 38"/>
              <p:cNvSpPr/>
              <p:nvPr/>
            </p:nvSpPr>
            <p:spPr>
              <a:xfrm rot="16200000">
                <a:off x="3387195" y="3391983"/>
                <a:ext cx="687910" cy="545508"/>
              </a:xfrm>
              <a:prstGeom prst="stripedRightArrow">
                <a:avLst/>
              </a:prstGeom>
              <a:ln>
                <a:noFill/>
              </a:ln>
            </p:spPr>
            <p:style>
              <a:lnRef idx="1">
                <a:schemeClr val="accent5"/>
              </a:lnRef>
              <a:fillRef idx="3">
                <a:schemeClr val="accent5"/>
              </a:fillRef>
              <a:effectRef idx="2">
                <a:schemeClr val="accent5"/>
              </a:effectRef>
              <a:fontRef idx="minor">
                <a:schemeClr val="lt1"/>
              </a:fontRef>
            </p:style>
            <p:txBody>
              <a:bodyPr rtlCol="0" anchor="ctr"/>
              <a:lstStyle/>
              <a:p>
                <a:pPr algn="ctr"/>
                <a:endParaRPr lang="zh-TW" altLang="en-US"/>
              </a:p>
            </p:txBody>
          </p:sp>
        </p:grpSp>
        <p:sp>
          <p:nvSpPr>
            <p:cNvPr id="21" name="文字方塊 20"/>
            <p:cNvSpPr txBox="1"/>
            <p:nvPr/>
          </p:nvSpPr>
          <p:spPr>
            <a:xfrm>
              <a:off x="1896696" y="2495329"/>
              <a:ext cx="1580028" cy="410700"/>
            </a:xfrm>
            <a:prstGeom prst="rect">
              <a:avLst/>
            </a:prstGeom>
            <a:noFill/>
            <a:ln>
              <a:noFill/>
            </a:ln>
          </p:spPr>
          <p:txBody>
            <a:bodyPr wrap="square" rtlCol="0">
              <a:spAutoFit/>
            </a:bodyPr>
            <a:lstStyle/>
            <a:p>
              <a:r>
                <a:rPr lang="zh-TW" altLang="en-US" sz="2000" b="1" dirty="0">
                  <a:solidFill>
                    <a:srgbClr val="7030A0"/>
                  </a:solidFill>
                  <a:latin typeface="微軟正黑體" panose="020B0604030504040204" pitchFamily="34" charset="-120"/>
                  <a:ea typeface="微軟正黑體" panose="020B0604030504040204" pitchFamily="34" charset="-120"/>
                </a:rPr>
                <a:t>追溯履歷</a:t>
              </a:r>
              <a:endParaRPr lang="zh-TW" altLang="en-US" sz="2000" dirty="0">
                <a:solidFill>
                  <a:srgbClr val="7030A0"/>
                </a:solidFill>
                <a:latin typeface="微軟正黑體" panose="020B0604030504040204" pitchFamily="34" charset="-120"/>
                <a:ea typeface="微軟正黑體" panose="020B0604030504040204" pitchFamily="34" charset="-120"/>
              </a:endParaRPr>
            </a:p>
          </p:txBody>
        </p:sp>
        <p:grpSp>
          <p:nvGrpSpPr>
            <p:cNvPr id="22" name="群組 21"/>
            <p:cNvGrpSpPr/>
            <p:nvPr/>
          </p:nvGrpSpPr>
          <p:grpSpPr>
            <a:xfrm>
              <a:off x="9397986" y="1801684"/>
              <a:ext cx="576064" cy="175296"/>
              <a:chOff x="3863752" y="836711"/>
              <a:chExt cx="892026" cy="216025"/>
            </a:xfrm>
          </p:grpSpPr>
          <p:cxnSp>
            <p:nvCxnSpPr>
              <p:cNvPr id="32" name="直線單箭頭接點 31"/>
              <p:cNvCxnSpPr/>
              <p:nvPr/>
            </p:nvCxnSpPr>
            <p:spPr>
              <a:xfrm>
                <a:off x="3863752" y="836711"/>
                <a:ext cx="892026" cy="0"/>
              </a:xfrm>
              <a:prstGeom prst="straightConnector1">
                <a:avLst/>
              </a:prstGeom>
              <a:ln w="38100" cmpd="sng">
                <a:noFill/>
                <a:prstDash val="solid"/>
                <a:tailEnd type="arrow"/>
              </a:ln>
            </p:spPr>
            <p:style>
              <a:lnRef idx="1">
                <a:schemeClr val="accent1"/>
              </a:lnRef>
              <a:fillRef idx="0">
                <a:schemeClr val="accent1"/>
              </a:fillRef>
              <a:effectRef idx="0">
                <a:schemeClr val="accent1"/>
              </a:effectRef>
              <a:fontRef idx="minor">
                <a:schemeClr val="tx1"/>
              </a:fontRef>
            </p:style>
          </p:cxnSp>
          <p:cxnSp>
            <p:nvCxnSpPr>
              <p:cNvPr id="34" name="直線單箭頭接點 33"/>
              <p:cNvCxnSpPr/>
              <p:nvPr/>
            </p:nvCxnSpPr>
            <p:spPr>
              <a:xfrm flipH="1">
                <a:off x="3863752" y="1052736"/>
                <a:ext cx="892026" cy="0"/>
              </a:xfrm>
              <a:prstGeom prst="straightConnector1">
                <a:avLst/>
              </a:prstGeom>
              <a:ln w="38100" cmpd="sng">
                <a:noFill/>
                <a:prstDash val="solid"/>
                <a:tailEnd type="arrow"/>
              </a:ln>
            </p:spPr>
            <p:style>
              <a:lnRef idx="1">
                <a:schemeClr val="accent1"/>
              </a:lnRef>
              <a:fillRef idx="0">
                <a:schemeClr val="accent1"/>
              </a:fillRef>
              <a:effectRef idx="0">
                <a:schemeClr val="accent1"/>
              </a:effectRef>
              <a:fontRef idx="minor">
                <a:schemeClr val="tx1"/>
              </a:fontRef>
            </p:style>
          </p:cxnSp>
        </p:grpSp>
        <p:grpSp>
          <p:nvGrpSpPr>
            <p:cNvPr id="23" name="群組 22"/>
            <p:cNvGrpSpPr/>
            <p:nvPr/>
          </p:nvGrpSpPr>
          <p:grpSpPr>
            <a:xfrm>
              <a:off x="7040439" y="1801684"/>
              <a:ext cx="576064" cy="175296"/>
              <a:chOff x="3863752" y="836711"/>
              <a:chExt cx="892026" cy="216025"/>
            </a:xfrm>
          </p:grpSpPr>
          <p:cxnSp>
            <p:nvCxnSpPr>
              <p:cNvPr id="30" name="直線單箭頭接點 29"/>
              <p:cNvCxnSpPr/>
              <p:nvPr/>
            </p:nvCxnSpPr>
            <p:spPr>
              <a:xfrm>
                <a:off x="3863752" y="836711"/>
                <a:ext cx="892026" cy="0"/>
              </a:xfrm>
              <a:prstGeom prst="straightConnector1">
                <a:avLst/>
              </a:prstGeom>
              <a:ln w="38100" cmpd="sng">
                <a:noFill/>
                <a:prstDash val="solid"/>
                <a:tailEnd type="arrow"/>
              </a:ln>
            </p:spPr>
            <p:style>
              <a:lnRef idx="1">
                <a:schemeClr val="accent1"/>
              </a:lnRef>
              <a:fillRef idx="0">
                <a:schemeClr val="accent1"/>
              </a:fillRef>
              <a:effectRef idx="0">
                <a:schemeClr val="accent1"/>
              </a:effectRef>
              <a:fontRef idx="minor">
                <a:schemeClr val="tx1"/>
              </a:fontRef>
            </p:style>
          </p:cxnSp>
          <p:cxnSp>
            <p:nvCxnSpPr>
              <p:cNvPr id="31" name="直線單箭頭接點 30"/>
              <p:cNvCxnSpPr/>
              <p:nvPr/>
            </p:nvCxnSpPr>
            <p:spPr>
              <a:xfrm flipH="1">
                <a:off x="3863752" y="1052736"/>
                <a:ext cx="892026" cy="0"/>
              </a:xfrm>
              <a:prstGeom prst="straightConnector1">
                <a:avLst/>
              </a:prstGeom>
              <a:ln w="38100" cmpd="sng">
                <a:noFill/>
                <a:prstDash val="solid"/>
                <a:tailEnd type="arrow"/>
              </a:ln>
            </p:spPr>
            <p:style>
              <a:lnRef idx="1">
                <a:schemeClr val="accent1"/>
              </a:lnRef>
              <a:fillRef idx="0">
                <a:schemeClr val="accent1"/>
              </a:fillRef>
              <a:effectRef idx="0">
                <a:schemeClr val="accent1"/>
              </a:effectRef>
              <a:fontRef idx="minor">
                <a:schemeClr val="tx1"/>
              </a:fontRef>
            </p:style>
          </p:cxnSp>
        </p:grpSp>
        <p:grpSp>
          <p:nvGrpSpPr>
            <p:cNvPr id="24" name="群組 23"/>
            <p:cNvGrpSpPr/>
            <p:nvPr/>
          </p:nvGrpSpPr>
          <p:grpSpPr>
            <a:xfrm>
              <a:off x="4652103" y="1737759"/>
              <a:ext cx="576064" cy="175296"/>
              <a:chOff x="3863752" y="836711"/>
              <a:chExt cx="892026" cy="216025"/>
            </a:xfrm>
          </p:grpSpPr>
          <p:cxnSp>
            <p:nvCxnSpPr>
              <p:cNvPr id="28" name="直線單箭頭接點 27"/>
              <p:cNvCxnSpPr/>
              <p:nvPr/>
            </p:nvCxnSpPr>
            <p:spPr>
              <a:xfrm>
                <a:off x="3863752" y="836711"/>
                <a:ext cx="892026" cy="0"/>
              </a:xfrm>
              <a:prstGeom prst="straightConnector1">
                <a:avLst/>
              </a:prstGeom>
              <a:ln w="38100" cmpd="sng">
                <a:noFill/>
                <a:prstDash val="solid"/>
                <a:tailEnd type="arrow"/>
              </a:ln>
            </p:spPr>
            <p:style>
              <a:lnRef idx="1">
                <a:schemeClr val="accent1"/>
              </a:lnRef>
              <a:fillRef idx="0">
                <a:schemeClr val="accent1"/>
              </a:fillRef>
              <a:effectRef idx="0">
                <a:schemeClr val="accent1"/>
              </a:effectRef>
              <a:fontRef idx="minor">
                <a:schemeClr val="tx1"/>
              </a:fontRef>
            </p:style>
          </p:cxnSp>
          <p:cxnSp>
            <p:nvCxnSpPr>
              <p:cNvPr id="29" name="直線單箭頭接點 28"/>
              <p:cNvCxnSpPr/>
              <p:nvPr/>
            </p:nvCxnSpPr>
            <p:spPr>
              <a:xfrm flipH="1">
                <a:off x="3863752" y="1052736"/>
                <a:ext cx="892026" cy="0"/>
              </a:xfrm>
              <a:prstGeom prst="straightConnector1">
                <a:avLst/>
              </a:prstGeom>
              <a:ln w="38100" cmpd="sng">
                <a:noFill/>
                <a:prstDash val="solid"/>
                <a:tailEnd type="arrow"/>
              </a:ln>
            </p:spPr>
            <p:style>
              <a:lnRef idx="1">
                <a:schemeClr val="accent1"/>
              </a:lnRef>
              <a:fillRef idx="0">
                <a:schemeClr val="accent1"/>
              </a:fillRef>
              <a:effectRef idx="0">
                <a:schemeClr val="accent1"/>
              </a:effectRef>
              <a:fontRef idx="minor">
                <a:schemeClr val="tx1"/>
              </a:fontRef>
            </p:style>
          </p:cxnSp>
        </p:grpSp>
        <p:grpSp>
          <p:nvGrpSpPr>
            <p:cNvPr id="25" name="群組 24"/>
            <p:cNvGrpSpPr/>
            <p:nvPr/>
          </p:nvGrpSpPr>
          <p:grpSpPr>
            <a:xfrm>
              <a:off x="2294082" y="1714036"/>
              <a:ext cx="576064" cy="175296"/>
              <a:chOff x="3863752" y="836711"/>
              <a:chExt cx="892026" cy="216025"/>
            </a:xfrm>
          </p:grpSpPr>
          <p:cxnSp>
            <p:nvCxnSpPr>
              <p:cNvPr id="26" name="直線單箭頭接點 25"/>
              <p:cNvCxnSpPr/>
              <p:nvPr/>
            </p:nvCxnSpPr>
            <p:spPr>
              <a:xfrm>
                <a:off x="3863752" y="836711"/>
                <a:ext cx="892026" cy="0"/>
              </a:xfrm>
              <a:prstGeom prst="straightConnector1">
                <a:avLst/>
              </a:prstGeom>
              <a:ln w="38100" cmpd="sng">
                <a:noFill/>
                <a:prstDash val="solid"/>
                <a:tailEnd type="arrow"/>
              </a:ln>
            </p:spPr>
            <p:style>
              <a:lnRef idx="1">
                <a:schemeClr val="accent1"/>
              </a:lnRef>
              <a:fillRef idx="0">
                <a:schemeClr val="accent1"/>
              </a:fillRef>
              <a:effectRef idx="0">
                <a:schemeClr val="accent1"/>
              </a:effectRef>
              <a:fontRef idx="minor">
                <a:schemeClr val="tx1"/>
              </a:fontRef>
            </p:style>
          </p:cxnSp>
          <p:cxnSp>
            <p:nvCxnSpPr>
              <p:cNvPr id="27" name="直線單箭頭接點 26"/>
              <p:cNvCxnSpPr/>
              <p:nvPr/>
            </p:nvCxnSpPr>
            <p:spPr>
              <a:xfrm flipH="1">
                <a:off x="3863752" y="1052736"/>
                <a:ext cx="892026" cy="0"/>
              </a:xfrm>
              <a:prstGeom prst="straightConnector1">
                <a:avLst/>
              </a:prstGeom>
              <a:ln w="38100" cmpd="sng">
                <a:noFill/>
                <a:prstDash val="solid"/>
                <a:tailEnd type="arrow"/>
              </a:ln>
            </p:spPr>
            <p:style>
              <a:lnRef idx="1">
                <a:schemeClr val="accent1"/>
              </a:lnRef>
              <a:fillRef idx="0">
                <a:schemeClr val="accent1"/>
              </a:fillRef>
              <a:effectRef idx="0">
                <a:schemeClr val="accent1"/>
              </a:effectRef>
              <a:fontRef idx="minor">
                <a:schemeClr val="tx1"/>
              </a:fontRef>
            </p:style>
          </p:cxnSp>
        </p:grpSp>
      </p:grpSp>
    </p:spTree>
    <p:extLst>
      <p:ext uri="{BB962C8B-B14F-4D97-AF65-F5344CB8AC3E}">
        <p14:creationId xmlns:p14="http://schemas.microsoft.com/office/powerpoint/2010/main" val="3258208318"/>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circle(in)">
                                      <p:cBhvr>
                                        <p:cTn id="7" dur="1500"/>
                                        <p:tgtEl>
                                          <p:spTgt spid="46"/>
                                        </p:tgtEl>
                                      </p:cBhvr>
                                    </p:animEffect>
                                  </p:childTnLst>
                                </p:cTn>
                              </p:par>
                            </p:childTnLst>
                          </p:cTn>
                        </p:par>
                        <p:par>
                          <p:cTn id="8" fill="hold">
                            <p:stCondLst>
                              <p:cond delay="1500"/>
                            </p:stCondLst>
                            <p:childTnLst>
                              <p:par>
                                <p:cTn id="9" presetID="16" presetClass="entr" presetSubtype="21" fill="hold" grpId="0" nodeType="afterEffect">
                                  <p:stCondLst>
                                    <p:cond delay="0"/>
                                  </p:stCondLst>
                                  <p:childTnLst>
                                    <p:set>
                                      <p:cBhvr>
                                        <p:cTn id="10" dur="1" fill="hold">
                                          <p:stCondLst>
                                            <p:cond delay="0"/>
                                          </p:stCondLst>
                                        </p:cTn>
                                        <p:tgtEl>
                                          <p:spTgt spid="48"/>
                                        </p:tgtEl>
                                        <p:attrNameLst>
                                          <p:attrName>style.visibility</p:attrName>
                                        </p:attrNameLst>
                                      </p:cBhvr>
                                      <p:to>
                                        <p:strVal val="visible"/>
                                      </p:to>
                                    </p:set>
                                    <p:animEffect transition="in" filter="barn(inVertical)">
                                      <p:cBhvr>
                                        <p:cTn id="11" dur="500"/>
                                        <p:tgtEl>
                                          <p:spTgt spid="48"/>
                                        </p:tgtEl>
                                      </p:cBhvr>
                                    </p:animEffect>
                                  </p:childTnLst>
                                </p:cTn>
                              </p:par>
                            </p:childTnLst>
                          </p:cTn>
                        </p:par>
                        <p:par>
                          <p:cTn id="12" fill="hold">
                            <p:stCondLst>
                              <p:cond delay="2000"/>
                            </p:stCondLst>
                            <p:childTnLst>
                              <p:par>
                                <p:cTn id="13" presetID="2" presetClass="entr" presetSubtype="8" fill="hold" nodeType="afterEffect">
                                  <p:stCondLst>
                                    <p:cond delay="0"/>
                                  </p:stCondLst>
                                  <p:childTnLst>
                                    <p:set>
                                      <p:cBhvr>
                                        <p:cTn id="14" dur="1" fill="hold">
                                          <p:stCondLst>
                                            <p:cond delay="0"/>
                                          </p:stCondLst>
                                        </p:cTn>
                                        <p:tgtEl>
                                          <p:spTgt spid="33"/>
                                        </p:tgtEl>
                                        <p:attrNameLst>
                                          <p:attrName>style.visibility</p:attrName>
                                        </p:attrNameLst>
                                      </p:cBhvr>
                                      <p:to>
                                        <p:strVal val="visible"/>
                                      </p:to>
                                    </p:set>
                                    <p:anim calcmode="lin" valueType="num">
                                      <p:cBhvr additive="base">
                                        <p:cTn id="15" dur="500" fill="hold"/>
                                        <p:tgtEl>
                                          <p:spTgt spid="33"/>
                                        </p:tgtEl>
                                        <p:attrNameLst>
                                          <p:attrName>ppt_x</p:attrName>
                                        </p:attrNameLst>
                                      </p:cBhvr>
                                      <p:tavLst>
                                        <p:tav tm="0">
                                          <p:val>
                                            <p:strVal val="0-#ppt_w/2"/>
                                          </p:val>
                                        </p:tav>
                                        <p:tav tm="100000">
                                          <p:val>
                                            <p:strVal val="#ppt_x"/>
                                          </p:val>
                                        </p:tav>
                                      </p:tavLst>
                                    </p:anim>
                                    <p:anim calcmode="lin" valueType="num">
                                      <p:cBhvr additive="base">
                                        <p:cTn id="16" dur="500" fill="hold"/>
                                        <p:tgtEl>
                                          <p:spTgt spid="33"/>
                                        </p:tgtEl>
                                        <p:attrNameLst>
                                          <p:attrName>ppt_y</p:attrName>
                                        </p:attrNameLst>
                                      </p:cBhvr>
                                      <p:tavLst>
                                        <p:tav tm="0">
                                          <p:val>
                                            <p:strVal val="#ppt_y"/>
                                          </p:val>
                                        </p:tav>
                                        <p:tav tm="100000">
                                          <p:val>
                                            <p:strVal val="#ppt_y"/>
                                          </p:val>
                                        </p:tav>
                                      </p:tavLst>
                                    </p:anim>
                                  </p:childTnLst>
                                </p:cTn>
                              </p:par>
                            </p:childTnLst>
                          </p:cTn>
                        </p:par>
                        <p:par>
                          <p:cTn id="17" fill="hold">
                            <p:stCondLst>
                              <p:cond delay="2500"/>
                            </p:stCondLst>
                            <p:childTnLst>
                              <p:par>
                                <p:cTn id="18" presetID="16" presetClass="entr" presetSubtype="21" fill="hold" nodeType="afterEffect" nodePh="1">
                                  <p:stCondLst>
                                    <p:cond delay="0"/>
                                  </p:stCondLst>
                                  <p:endCondLst>
                                    <p:cond evt="begin" delay="0">
                                      <p:tn val="18"/>
                                    </p:cond>
                                  </p:endCondLst>
                                  <p:childTnLst>
                                    <p:set>
                                      <p:cBhvr>
                                        <p:cTn id="19" dur="1" fill="hold">
                                          <p:stCondLst>
                                            <p:cond delay="0"/>
                                          </p:stCondLst>
                                        </p:cTn>
                                        <p:tgtEl>
                                          <p:spTgt spid="10">
                                            <p:txEl>
                                              <p:pRg st="0" end="0"/>
                                            </p:txEl>
                                          </p:spTgt>
                                        </p:tgtEl>
                                        <p:attrNameLst>
                                          <p:attrName>style.visibility</p:attrName>
                                        </p:attrNameLst>
                                      </p:cBhvr>
                                      <p:to>
                                        <p:strVal val="visible"/>
                                      </p:to>
                                    </p:set>
                                    <p:animEffect transition="in" filter="barn(inVertical)">
                                      <p:cBhvr>
                                        <p:cTn id="20" dur="500"/>
                                        <p:tgtEl>
                                          <p:spTgt spid="10">
                                            <p:txEl>
                                              <p:pRg st="0" end="0"/>
                                            </p:txEl>
                                          </p:spTgt>
                                        </p:tgtEl>
                                      </p:cBhvr>
                                    </p:animEffect>
                                  </p:childTnLst>
                                </p:cTn>
                              </p:par>
                            </p:childTnLst>
                          </p:cTn>
                        </p:par>
                        <p:par>
                          <p:cTn id="21" fill="hold">
                            <p:stCondLst>
                              <p:cond delay="3000"/>
                            </p:stCondLst>
                            <p:childTnLst>
                              <p:par>
                                <p:cTn id="22" presetID="16" presetClass="entr" presetSubtype="21" fill="hold" grpId="0" nodeType="after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barn(inVertical)">
                                      <p:cBhvr>
                                        <p:cTn id="24" dur="500"/>
                                        <p:tgtEl>
                                          <p:spTgt spid="12"/>
                                        </p:tgtEl>
                                      </p:cBhvr>
                                    </p:animEffect>
                                  </p:childTnLst>
                                </p:cTn>
                              </p:par>
                            </p:childTnLst>
                          </p:cTn>
                        </p:par>
                        <p:par>
                          <p:cTn id="25" fill="hold">
                            <p:stCondLst>
                              <p:cond delay="3500"/>
                            </p:stCondLst>
                            <p:childTnLst>
                              <p:par>
                                <p:cTn id="26" presetID="16" presetClass="entr" presetSubtype="42" fill="hold" nodeType="after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barn(outHorizontal)">
                                      <p:cBhvr>
                                        <p:cTn id="28"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p:bldP spid="48" grpId="0"/>
      <p:bldP spid="12"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2"/>
          <a:stretch>
            <a:fillRect/>
          </a:stretch>
        </p:blipFill>
        <p:spPr>
          <a:xfrm rot="16200000">
            <a:off x="145169" y="-145167"/>
            <a:ext cx="1268414" cy="1558750"/>
          </a:xfrm>
          <a:prstGeom prst="rect">
            <a:avLst/>
          </a:prstGeom>
        </p:spPr>
      </p:pic>
      <p:sp>
        <p:nvSpPr>
          <p:cNvPr id="9" name="文字方塊 8">
            <a:extLst>
              <a:ext uri="{FF2B5EF4-FFF2-40B4-BE49-F238E27FC236}">
                <a16:creationId xmlns:a16="http://schemas.microsoft.com/office/drawing/2014/main" id="{81D0666A-D96D-4B5B-9036-192FA53FE435}"/>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cxnSp>
        <p:nvCxnSpPr>
          <p:cNvPr id="33" name="直接连接符 33">
            <a:extLst>
              <a:ext uri="{FF2B5EF4-FFF2-40B4-BE49-F238E27FC236}">
                <a16:creationId xmlns:a16="http://schemas.microsoft.com/office/drawing/2014/main" id="{DFF80DCD-8EF0-4D2F-8380-59FA348D932C}"/>
              </a:ext>
            </a:extLst>
          </p:cNvPr>
          <p:cNvCxnSpPr/>
          <p:nvPr/>
        </p:nvCxnSpPr>
        <p:spPr>
          <a:xfrm>
            <a:off x="1177167" y="1046746"/>
            <a:ext cx="10585176"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6" name="標題 1"/>
          <p:cNvSpPr txBox="1">
            <a:spLocks/>
          </p:cNvSpPr>
          <p:nvPr/>
        </p:nvSpPr>
        <p:spPr>
          <a:xfrm>
            <a:off x="854426" y="112999"/>
            <a:ext cx="5288853"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7-3 </a:t>
            </a:r>
            <a:r>
              <a:rPr lang="zh-TW" altLang="en-US" sz="2400" b="1" dirty="0">
                <a:solidFill>
                  <a:srgbClr val="E06741"/>
                </a:solidFill>
              </a:rPr>
              <a:t>實務案例</a:t>
            </a:r>
            <a:r>
              <a:rPr lang="en-US" altLang="zh-TW" sz="2400" b="1" dirty="0">
                <a:solidFill>
                  <a:srgbClr val="E06741"/>
                </a:solidFill>
              </a:rPr>
              <a:t>-</a:t>
            </a:r>
            <a:r>
              <a:rPr lang="zh-TW" altLang="en-US" sz="2400" b="1" dirty="0">
                <a:solidFill>
                  <a:srgbClr val="E06741"/>
                </a:solidFill>
              </a:rPr>
              <a:t>農產履歷</a:t>
            </a:r>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sp>
        <p:nvSpPr>
          <p:cNvPr id="48" name="文字方塊 47">
            <a:extLst>
              <a:ext uri="{FF2B5EF4-FFF2-40B4-BE49-F238E27FC236}">
                <a16:creationId xmlns:a16="http://schemas.microsoft.com/office/drawing/2014/main" id="{AD7F4831-1A36-4A2F-ACBE-344F724510DC}"/>
              </a:ext>
            </a:extLst>
          </p:cNvPr>
          <p:cNvSpPr txBox="1"/>
          <p:nvPr/>
        </p:nvSpPr>
        <p:spPr>
          <a:xfrm>
            <a:off x="5130089" y="350241"/>
            <a:ext cx="2242922"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-2</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案例區塊鍊運用</a:t>
            </a:r>
          </a:p>
        </p:txBody>
      </p:sp>
      <p:sp>
        <p:nvSpPr>
          <p:cNvPr id="10" name="文字方塊 9">
            <a:extLst>
              <a:ext uri="{FF2B5EF4-FFF2-40B4-BE49-F238E27FC236}">
                <a16:creationId xmlns:a16="http://schemas.microsoft.com/office/drawing/2014/main" id="{BF94E171-0176-49DD-BE6C-DB2D96B94A88}"/>
              </a:ext>
            </a:extLst>
          </p:cNvPr>
          <p:cNvSpPr txBox="1"/>
          <p:nvPr/>
        </p:nvSpPr>
        <p:spPr>
          <a:xfrm>
            <a:off x="1177909" y="1816484"/>
            <a:ext cx="9663430" cy="578492"/>
          </a:xfrm>
          <a:prstGeom prst="rect">
            <a:avLst/>
          </a:prstGeom>
          <a:noFill/>
        </p:spPr>
        <p:txBody>
          <a:bodyPr wrap="square" rtlCol="0">
            <a:spAutoFit/>
          </a:bodyPr>
          <a:lstStyle/>
          <a:p>
            <a:pPr marL="342900" indent="-342900">
              <a:lnSpc>
                <a:spcPct val="150000"/>
              </a:lnSpc>
              <a:buBlip>
                <a:blip r:embed="rId3"/>
              </a:buBlip>
            </a:pP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sp>
        <p:nvSpPr>
          <p:cNvPr id="12" name="文字方塊 11">
            <a:extLst>
              <a:ext uri="{FF2B5EF4-FFF2-40B4-BE49-F238E27FC236}">
                <a16:creationId xmlns:a16="http://schemas.microsoft.com/office/drawing/2014/main" id="{BF94E171-0176-49DD-BE6C-DB2D96B94A88}"/>
              </a:ext>
            </a:extLst>
          </p:cNvPr>
          <p:cNvSpPr txBox="1"/>
          <p:nvPr/>
        </p:nvSpPr>
        <p:spPr>
          <a:xfrm>
            <a:off x="1054671" y="1100593"/>
            <a:ext cx="9909905" cy="3970318"/>
          </a:xfrm>
          <a:prstGeom prst="rect">
            <a:avLst/>
          </a:prstGeom>
          <a:noFill/>
        </p:spPr>
        <p:txBody>
          <a:bodyPr wrap="square" rtlCol="0">
            <a:spAutoFit/>
          </a:bodyPr>
          <a:lstStyle/>
          <a:p>
            <a:pPr marL="342900" indent="-342900">
              <a:lnSpc>
                <a:spcPct val="150000"/>
              </a:lnSpc>
              <a:buBlip>
                <a:blip r:embed="rId3"/>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現行方法：區分為</a:t>
            </a:r>
            <a:r>
              <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t>5</a:t>
            </a: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階段</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800100" lvl="1" indent="-342900">
              <a:lnSpc>
                <a:spcPct val="150000"/>
              </a:lnSpc>
              <a:buBlip>
                <a:blip r:embed="rId3"/>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第</a:t>
            </a:r>
            <a:r>
              <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t>1</a:t>
            </a: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階段：農產品生產</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1371600" lvl="2" indent="-457200">
              <a:lnSpc>
                <a:spcPct val="150000"/>
              </a:lnSpc>
              <a:buFont typeface="+mj-lt"/>
              <a:buAutoNum type="arabicPeriod"/>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生產紀錄：</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lvl="3">
              <a:lnSpc>
                <a:spcPct val="150000"/>
              </a:lnSpc>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生產者姓名、農場概要、農產品品種名稱、作業型態、作業履歷、資材施用日期紀錄。</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1371600" lvl="2" indent="-457200">
              <a:lnSpc>
                <a:spcPct val="150000"/>
              </a:lnSpc>
              <a:buFont typeface="+mj-lt"/>
              <a:buAutoNum type="arabicPeriod"/>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出貨紀錄：</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lvl="3">
              <a:lnSpc>
                <a:spcPct val="150000"/>
              </a:lnSpc>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農產品的出貨數量、出貨日期、農產品的品種、出貨地點</a:t>
            </a:r>
          </a:p>
        </p:txBody>
      </p:sp>
    </p:spTree>
    <p:extLst>
      <p:ext uri="{BB962C8B-B14F-4D97-AF65-F5344CB8AC3E}">
        <p14:creationId xmlns:p14="http://schemas.microsoft.com/office/powerpoint/2010/main" val="3640512734"/>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500"/>
                            </p:stCondLst>
                            <p:childTnLst>
                              <p:par>
                                <p:cTn id="5" presetID="6" presetClass="entr" presetSubtype="16" fill="hold" grpId="0" nodeType="after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circle(in)">
                                      <p:cBhvr>
                                        <p:cTn id="7" dur="1500"/>
                                        <p:tgtEl>
                                          <p:spTgt spid="46"/>
                                        </p:tgtEl>
                                      </p:cBhvr>
                                    </p:animEffect>
                                  </p:childTnLst>
                                </p:cTn>
                              </p:par>
                            </p:childTnLst>
                          </p:cTn>
                        </p:par>
                        <p:par>
                          <p:cTn id="8" fill="hold">
                            <p:stCondLst>
                              <p:cond delay="2000"/>
                            </p:stCondLst>
                            <p:childTnLst>
                              <p:par>
                                <p:cTn id="9" presetID="16" presetClass="entr" presetSubtype="21" fill="hold" grpId="0" nodeType="afterEffect">
                                  <p:stCondLst>
                                    <p:cond delay="0"/>
                                  </p:stCondLst>
                                  <p:childTnLst>
                                    <p:set>
                                      <p:cBhvr>
                                        <p:cTn id="10" dur="1" fill="hold">
                                          <p:stCondLst>
                                            <p:cond delay="0"/>
                                          </p:stCondLst>
                                        </p:cTn>
                                        <p:tgtEl>
                                          <p:spTgt spid="48"/>
                                        </p:tgtEl>
                                        <p:attrNameLst>
                                          <p:attrName>style.visibility</p:attrName>
                                        </p:attrNameLst>
                                      </p:cBhvr>
                                      <p:to>
                                        <p:strVal val="visible"/>
                                      </p:to>
                                    </p:set>
                                    <p:animEffect transition="in" filter="barn(inVertical)">
                                      <p:cBhvr>
                                        <p:cTn id="11" dur="500"/>
                                        <p:tgtEl>
                                          <p:spTgt spid="48"/>
                                        </p:tgtEl>
                                      </p:cBhvr>
                                    </p:animEffect>
                                  </p:childTnLst>
                                </p:cTn>
                              </p:par>
                            </p:childTnLst>
                          </p:cTn>
                        </p:par>
                        <p:par>
                          <p:cTn id="12" fill="hold">
                            <p:stCondLst>
                              <p:cond delay="2500"/>
                            </p:stCondLst>
                            <p:childTnLst>
                              <p:par>
                                <p:cTn id="13" presetID="2" presetClass="entr" presetSubtype="8" fill="hold" nodeType="afterEffect">
                                  <p:stCondLst>
                                    <p:cond delay="0"/>
                                  </p:stCondLst>
                                  <p:childTnLst>
                                    <p:set>
                                      <p:cBhvr>
                                        <p:cTn id="14" dur="1" fill="hold">
                                          <p:stCondLst>
                                            <p:cond delay="0"/>
                                          </p:stCondLst>
                                        </p:cTn>
                                        <p:tgtEl>
                                          <p:spTgt spid="33"/>
                                        </p:tgtEl>
                                        <p:attrNameLst>
                                          <p:attrName>style.visibility</p:attrName>
                                        </p:attrNameLst>
                                      </p:cBhvr>
                                      <p:to>
                                        <p:strVal val="visible"/>
                                      </p:to>
                                    </p:set>
                                    <p:anim calcmode="lin" valueType="num">
                                      <p:cBhvr additive="base">
                                        <p:cTn id="15" dur="500" fill="hold"/>
                                        <p:tgtEl>
                                          <p:spTgt spid="33"/>
                                        </p:tgtEl>
                                        <p:attrNameLst>
                                          <p:attrName>ppt_x</p:attrName>
                                        </p:attrNameLst>
                                      </p:cBhvr>
                                      <p:tavLst>
                                        <p:tav tm="0">
                                          <p:val>
                                            <p:strVal val="0-#ppt_w/2"/>
                                          </p:val>
                                        </p:tav>
                                        <p:tav tm="100000">
                                          <p:val>
                                            <p:strVal val="#ppt_x"/>
                                          </p:val>
                                        </p:tav>
                                      </p:tavLst>
                                    </p:anim>
                                    <p:anim calcmode="lin" valueType="num">
                                      <p:cBhvr additive="base">
                                        <p:cTn id="16" dur="500" fill="hold"/>
                                        <p:tgtEl>
                                          <p:spTgt spid="33"/>
                                        </p:tgtEl>
                                        <p:attrNameLst>
                                          <p:attrName>ppt_y</p:attrName>
                                        </p:attrNameLst>
                                      </p:cBhvr>
                                      <p:tavLst>
                                        <p:tav tm="0">
                                          <p:val>
                                            <p:strVal val="#ppt_y"/>
                                          </p:val>
                                        </p:tav>
                                        <p:tav tm="100000">
                                          <p:val>
                                            <p:strVal val="#ppt_y"/>
                                          </p:val>
                                        </p:tav>
                                      </p:tavLst>
                                    </p:anim>
                                  </p:childTnLst>
                                </p:cTn>
                              </p:par>
                            </p:childTnLst>
                          </p:cTn>
                        </p:par>
                        <p:par>
                          <p:cTn id="17" fill="hold">
                            <p:stCondLst>
                              <p:cond delay="3000"/>
                            </p:stCondLst>
                            <p:childTnLst>
                              <p:par>
                                <p:cTn id="18" presetID="16" presetClass="entr" presetSubtype="21" fill="hold" nodeType="afterEffect" nodePh="1">
                                  <p:stCondLst>
                                    <p:cond delay="0"/>
                                  </p:stCondLst>
                                  <p:endCondLst>
                                    <p:cond evt="begin" delay="0">
                                      <p:tn val="18"/>
                                    </p:cond>
                                  </p:endCondLst>
                                  <p:childTnLst>
                                    <p:set>
                                      <p:cBhvr>
                                        <p:cTn id="19" dur="1" fill="hold">
                                          <p:stCondLst>
                                            <p:cond delay="0"/>
                                          </p:stCondLst>
                                        </p:cTn>
                                        <p:tgtEl>
                                          <p:spTgt spid="10">
                                            <p:txEl>
                                              <p:pRg st="0" end="0"/>
                                            </p:txEl>
                                          </p:spTgt>
                                        </p:tgtEl>
                                        <p:attrNameLst>
                                          <p:attrName>style.visibility</p:attrName>
                                        </p:attrNameLst>
                                      </p:cBhvr>
                                      <p:to>
                                        <p:strVal val="visible"/>
                                      </p:to>
                                    </p:set>
                                    <p:animEffect transition="in" filter="barn(inVertical)">
                                      <p:cBhvr>
                                        <p:cTn id="20" dur="500"/>
                                        <p:tgtEl>
                                          <p:spTgt spid="10">
                                            <p:txEl>
                                              <p:pRg st="0" end="0"/>
                                            </p:txEl>
                                          </p:spTgt>
                                        </p:tgtEl>
                                      </p:cBhvr>
                                    </p:animEffect>
                                  </p:childTnLst>
                                </p:cTn>
                              </p:par>
                            </p:childTnLst>
                          </p:cTn>
                        </p:par>
                        <p:par>
                          <p:cTn id="21" fill="hold">
                            <p:stCondLst>
                              <p:cond delay="3500"/>
                            </p:stCondLst>
                            <p:childTnLst>
                              <p:par>
                                <p:cTn id="22" presetID="16" presetClass="entr" presetSubtype="21" fill="hold" grpId="0" nodeType="after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barn(inVertical)">
                                      <p:cBhvr>
                                        <p:cTn id="24"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p:bldP spid="48" grpId="0"/>
      <p:bldP spid="12"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2"/>
          <a:stretch>
            <a:fillRect/>
          </a:stretch>
        </p:blipFill>
        <p:spPr>
          <a:xfrm rot="16200000">
            <a:off x="145169" y="-145167"/>
            <a:ext cx="1268414" cy="1558750"/>
          </a:xfrm>
          <a:prstGeom prst="rect">
            <a:avLst/>
          </a:prstGeom>
        </p:spPr>
      </p:pic>
      <p:sp>
        <p:nvSpPr>
          <p:cNvPr id="9" name="文字方塊 8">
            <a:extLst>
              <a:ext uri="{FF2B5EF4-FFF2-40B4-BE49-F238E27FC236}">
                <a16:creationId xmlns:a16="http://schemas.microsoft.com/office/drawing/2014/main" id="{81D0666A-D96D-4B5B-9036-192FA53FE435}"/>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cxnSp>
        <p:nvCxnSpPr>
          <p:cNvPr id="33" name="直接连接符 33">
            <a:extLst>
              <a:ext uri="{FF2B5EF4-FFF2-40B4-BE49-F238E27FC236}">
                <a16:creationId xmlns:a16="http://schemas.microsoft.com/office/drawing/2014/main" id="{DFF80DCD-8EF0-4D2F-8380-59FA348D932C}"/>
              </a:ext>
            </a:extLst>
          </p:cNvPr>
          <p:cNvCxnSpPr/>
          <p:nvPr/>
        </p:nvCxnSpPr>
        <p:spPr>
          <a:xfrm>
            <a:off x="1177167" y="1046746"/>
            <a:ext cx="10585176"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6" name="標題 1"/>
          <p:cNvSpPr txBox="1">
            <a:spLocks/>
          </p:cNvSpPr>
          <p:nvPr/>
        </p:nvSpPr>
        <p:spPr>
          <a:xfrm>
            <a:off x="854426" y="112999"/>
            <a:ext cx="5288853"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7-3 </a:t>
            </a:r>
            <a:r>
              <a:rPr lang="zh-TW" altLang="en-US" sz="2400" b="1" dirty="0">
                <a:solidFill>
                  <a:srgbClr val="E06741"/>
                </a:solidFill>
              </a:rPr>
              <a:t>實務案例</a:t>
            </a:r>
            <a:r>
              <a:rPr lang="en-US" altLang="zh-TW" sz="2400" b="1" dirty="0">
                <a:solidFill>
                  <a:srgbClr val="E06741"/>
                </a:solidFill>
              </a:rPr>
              <a:t>-</a:t>
            </a:r>
            <a:r>
              <a:rPr lang="zh-TW" altLang="en-US" sz="2400" b="1" dirty="0">
                <a:solidFill>
                  <a:srgbClr val="E06741"/>
                </a:solidFill>
              </a:rPr>
              <a:t>農產履歷</a:t>
            </a:r>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sp>
        <p:nvSpPr>
          <p:cNvPr id="48" name="文字方塊 47">
            <a:extLst>
              <a:ext uri="{FF2B5EF4-FFF2-40B4-BE49-F238E27FC236}">
                <a16:creationId xmlns:a16="http://schemas.microsoft.com/office/drawing/2014/main" id="{AD7F4831-1A36-4A2F-ACBE-344F724510DC}"/>
              </a:ext>
            </a:extLst>
          </p:cNvPr>
          <p:cNvSpPr txBox="1"/>
          <p:nvPr/>
        </p:nvSpPr>
        <p:spPr>
          <a:xfrm>
            <a:off x="5130089" y="350241"/>
            <a:ext cx="2242922"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-2</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案例區塊鍊運用</a:t>
            </a:r>
          </a:p>
        </p:txBody>
      </p:sp>
      <p:sp>
        <p:nvSpPr>
          <p:cNvPr id="10" name="文字方塊 9">
            <a:extLst>
              <a:ext uri="{FF2B5EF4-FFF2-40B4-BE49-F238E27FC236}">
                <a16:creationId xmlns:a16="http://schemas.microsoft.com/office/drawing/2014/main" id="{BF94E171-0176-49DD-BE6C-DB2D96B94A88}"/>
              </a:ext>
            </a:extLst>
          </p:cNvPr>
          <p:cNvSpPr txBox="1"/>
          <p:nvPr/>
        </p:nvSpPr>
        <p:spPr>
          <a:xfrm>
            <a:off x="1177909" y="1816484"/>
            <a:ext cx="9663430" cy="578492"/>
          </a:xfrm>
          <a:prstGeom prst="rect">
            <a:avLst/>
          </a:prstGeom>
          <a:noFill/>
        </p:spPr>
        <p:txBody>
          <a:bodyPr wrap="square" rtlCol="0">
            <a:spAutoFit/>
          </a:bodyPr>
          <a:lstStyle/>
          <a:p>
            <a:pPr marL="342900" indent="-342900">
              <a:lnSpc>
                <a:spcPct val="150000"/>
              </a:lnSpc>
              <a:buBlip>
                <a:blip r:embed="rId3"/>
              </a:buBlip>
            </a:pP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sp>
        <p:nvSpPr>
          <p:cNvPr id="12" name="文字方塊 11">
            <a:extLst>
              <a:ext uri="{FF2B5EF4-FFF2-40B4-BE49-F238E27FC236}">
                <a16:creationId xmlns:a16="http://schemas.microsoft.com/office/drawing/2014/main" id="{BF94E171-0176-49DD-BE6C-DB2D96B94A88}"/>
              </a:ext>
            </a:extLst>
          </p:cNvPr>
          <p:cNvSpPr txBox="1"/>
          <p:nvPr/>
        </p:nvSpPr>
        <p:spPr>
          <a:xfrm>
            <a:off x="1054671" y="1100593"/>
            <a:ext cx="10149038" cy="4524315"/>
          </a:xfrm>
          <a:prstGeom prst="rect">
            <a:avLst/>
          </a:prstGeom>
          <a:noFill/>
        </p:spPr>
        <p:txBody>
          <a:bodyPr wrap="square" rtlCol="0">
            <a:spAutoFit/>
          </a:bodyPr>
          <a:lstStyle/>
          <a:p>
            <a:pPr marL="342900" indent="-342900">
              <a:lnSpc>
                <a:spcPct val="150000"/>
              </a:lnSpc>
              <a:buBlip>
                <a:blip r:embed="rId3"/>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現行方法：區分為</a:t>
            </a:r>
            <a:r>
              <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t>5</a:t>
            </a: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階段</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800100" lvl="1" indent="-342900">
              <a:lnSpc>
                <a:spcPct val="150000"/>
              </a:lnSpc>
              <a:buBlip>
                <a:blip r:embed="rId3"/>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第</a:t>
            </a:r>
            <a:r>
              <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t>2</a:t>
            </a: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階段：農產品加工</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1371600" lvl="2" indent="-457200">
              <a:lnSpc>
                <a:spcPct val="150000"/>
              </a:lnSpc>
              <a:buFont typeface="+mj-lt"/>
              <a:buAutoNum type="arabicPeriod"/>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進貨紀錄：</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lvl="3">
              <a:lnSpc>
                <a:spcPct val="150000"/>
              </a:lnSpc>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進貨重量、進貨日期、進貨數量、進貨農產品項目</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1371600" lvl="2" indent="-457200">
              <a:lnSpc>
                <a:spcPct val="150000"/>
              </a:lnSpc>
              <a:buFont typeface="+mj-lt"/>
              <a:buAutoNum type="arabicPeriod"/>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加工製造紀錄：</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lvl="3">
              <a:lnSpc>
                <a:spcPct val="150000"/>
              </a:lnSpc>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加工的農產品項目、加工管理、農產品加工數量</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1371600" lvl="2" indent="-457200">
              <a:lnSpc>
                <a:spcPct val="150000"/>
              </a:lnSpc>
              <a:buFont typeface="+mj-lt"/>
              <a:buAutoNum type="arabicPeriod"/>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出貨紀錄：</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lvl="3">
              <a:lnSpc>
                <a:spcPct val="150000"/>
              </a:lnSpc>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農產品的出貨數量、出貨日期、農產品的品種、出貨地點</a:t>
            </a:r>
          </a:p>
        </p:txBody>
      </p:sp>
    </p:spTree>
    <p:extLst>
      <p:ext uri="{BB962C8B-B14F-4D97-AF65-F5344CB8AC3E}">
        <p14:creationId xmlns:p14="http://schemas.microsoft.com/office/powerpoint/2010/main" val="890248212"/>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circle(in)">
                                      <p:cBhvr>
                                        <p:cTn id="7" dur="1500"/>
                                        <p:tgtEl>
                                          <p:spTgt spid="46"/>
                                        </p:tgtEl>
                                      </p:cBhvr>
                                    </p:animEffect>
                                  </p:childTnLst>
                                </p:cTn>
                              </p:par>
                            </p:childTnLst>
                          </p:cTn>
                        </p:par>
                        <p:par>
                          <p:cTn id="8" fill="hold">
                            <p:stCondLst>
                              <p:cond delay="1500"/>
                            </p:stCondLst>
                            <p:childTnLst>
                              <p:par>
                                <p:cTn id="9" presetID="16" presetClass="entr" presetSubtype="21" fill="hold" grpId="0" nodeType="afterEffect">
                                  <p:stCondLst>
                                    <p:cond delay="0"/>
                                  </p:stCondLst>
                                  <p:childTnLst>
                                    <p:set>
                                      <p:cBhvr>
                                        <p:cTn id="10" dur="1" fill="hold">
                                          <p:stCondLst>
                                            <p:cond delay="0"/>
                                          </p:stCondLst>
                                        </p:cTn>
                                        <p:tgtEl>
                                          <p:spTgt spid="48"/>
                                        </p:tgtEl>
                                        <p:attrNameLst>
                                          <p:attrName>style.visibility</p:attrName>
                                        </p:attrNameLst>
                                      </p:cBhvr>
                                      <p:to>
                                        <p:strVal val="visible"/>
                                      </p:to>
                                    </p:set>
                                    <p:animEffect transition="in" filter="barn(inVertical)">
                                      <p:cBhvr>
                                        <p:cTn id="11" dur="500"/>
                                        <p:tgtEl>
                                          <p:spTgt spid="48"/>
                                        </p:tgtEl>
                                      </p:cBhvr>
                                    </p:animEffect>
                                  </p:childTnLst>
                                </p:cTn>
                              </p:par>
                            </p:childTnLst>
                          </p:cTn>
                        </p:par>
                        <p:par>
                          <p:cTn id="12" fill="hold">
                            <p:stCondLst>
                              <p:cond delay="2000"/>
                            </p:stCondLst>
                            <p:childTnLst>
                              <p:par>
                                <p:cTn id="13" presetID="2" presetClass="entr" presetSubtype="8" fill="hold" nodeType="afterEffect">
                                  <p:stCondLst>
                                    <p:cond delay="0"/>
                                  </p:stCondLst>
                                  <p:childTnLst>
                                    <p:set>
                                      <p:cBhvr>
                                        <p:cTn id="14" dur="1" fill="hold">
                                          <p:stCondLst>
                                            <p:cond delay="0"/>
                                          </p:stCondLst>
                                        </p:cTn>
                                        <p:tgtEl>
                                          <p:spTgt spid="33"/>
                                        </p:tgtEl>
                                        <p:attrNameLst>
                                          <p:attrName>style.visibility</p:attrName>
                                        </p:attrNameLst>
                                      </p:cBhvr>
                                      <p:to>
                                        <p:strVal val="visible"/>
                                      </p:to>
                                    </p:set>
                                    <p:anim calcmode="lin" valueType="num">
                                      <p:cBhvr additive="base">
                                        <p:cTn id="15" dur="500" fill="hold"/>
                                        <p:tgtEl>
                                          <p:spTgt spid="33"/>
                                        </p:tgtEl>
                                        <p:attrNameLst>
                                          <p:attrName>ppt_x</p:attrName>
                                        </p:attrNameLst>
                                      </p:cBhvr>
                                      <p:tavLst>
                                        <p:tav tm="0">
                                          <p:val>
                                            <p:strVal val="0-#ppt_w/2"/>
                                          </p:val>
                                        </p:tav>
                                        <p:tav tm="100000">
                                          <p:val>
                                            <p:strVal val="#ppt_x"/>
                                          </p:val>
                                        </p:tav>
                                      </p:tavLst>
                                    </p:anim>
                                    <p:anim calcmode="lin" valueType="num">
                                      <p:cBhvr additive="base">
                                        <p:cTn id="16" dur="500" fill="hold"/>
                                        <p:tgtEl>
                                          <p:spTgt spid="33"/>
                                        </p:tgtEl>
                                        <p:attrNameLst>
                                          <p:attrName>ppt_y</p:attrName>
                                        </p:attrNameLst>
                                      </p:cBhvr>
                                      <p:tavLst>
                                        <p:tav tm="0">
                                          <p:val>
                                            <p:strVal val="#ppt_y"/>
                                          </p:val>
                                        </p:tav>
                                        <p:tav tm="100000">
                                          <p:val>
                                            <p:strVal val="#ppt_y"/>
                                          </p:val>
                                        </p:tav>
                                      </p:tavLst>
                                    </p:anim>
                                  </p:childTnLst>
                                </p:cTn>
                              </p:par>
                            </p:childTnLst>
                          </p:cTn>
                        </p:par>
                        <p:par>
                          <p:cTn id="17" fill="hold">
                            <p:stCondLst>
                              <p:cond delay="2500"/>
                            </p:stCondLst>
                            <p:childTnLst>
                              <p:par>
                                <p:cTn id="18" presetID="16" presetClass="entr" presetSubtype="21" fill="hold" nodeType="afterEffect" nodePh="1">
                                  <p:stCondLst>
                                    <p:cond delay="0"/>
                                  </p:stCondLst>
                                  <p:endCondLst>
                                    <p:cond evt="begin" delay="0">
                                      <p:tn val="18"/>
                                    </p:cond>
                                  </p:endCondLst>
                                  <p:childTnLst>
                                    <p:set>
                                      <p:cBhvr>
                                        <p:cTn id="19" dur="1" fill="hold">
                                          <p:stCondLst>
                                            <p:cond delay="0"/>
                                          </p:stCondLst>
                                        </p:cTn>
                                        <p:tgtEl>
                                          <p:spTgt spid="10">
                                            <p:txEl>
                                              <p:pRg st="0" end="0"/>
                                            </p:txEl>
                                          </p:spTgt>
                                        </p:tgtEl>
                                        <p:attrNameLst>
                                          <p:attrName>style.visibility</p:attrName>
                                        </p:attrNameLst>
                                      </p:cBhvr>
                                      <p:to>
                                        <p:strVal val="visible"/>
                                      </p:to>
                                    </p:set>
                                    <p:animEffect transition="in" filter="barn(inVertical)">
                                      <p:cBhvr>
                                        <p:cTn id="20" dur="500"/>
                                        <p:tgtEl>
                                          <p:spTgt spid="10">
                                            <p:txEl>
                                              <p:pRg st="0" end="0"/>
                                            </p:txEl>
                                          </p:spTgt>
                                        </p:tgtEl>
                                      </p:cBhvr>
                                    </p:animEffect>
                                  </p:childTnLst>
                                </p:cTn>
                              </p:par>
                            </p:childTnLst>
                          </p:cTn>
                        </p:par>
                        <p:par>
                          <p:cTn id="21" fill="hold">
                            <p:stCondLst>
                              <p:cond delay="3000"/>
                            </p:stCondLst>
                            <p:childTnLst>
                              <p:par>
                                <p:cTn id="22" presetID="16" presetClass="entr" presetSubtype="21" fill="hold" grpId="0" nodeType="after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barn(inVertical)">
                                      <p:cBhvr>
                                        <p:cTn id="24"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p:bldP spid="48" grpId="0"/>
      <p:bldP spid="12"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2"/>
          <a:stretch>
            <a:fillRect/>
          </a:stretch>
        </p:blipFill>
        <p:spPr>
          <a:xfrm rot="16200000">
            <a:off x="145169" y="-145167"/>
            <a:ext cx="1268414" cy="1558750"/>
          </a:xfrm>
          <a:prstGeom prst="rect">
            <a:avLst/>
          </a:prstGeom>
        </p:spPr>
      </p:pic>
      <p:sp>
        <p:nvSpPr>
          <p:cNvPr id="9" name="文字方塊 8">
            <a:extLst>
              <a:ext uri="{FF2B5EF4-FFF2-40B4-BE49-F238E27FC236}">
                <a16:creationId xmlns:a16="http://schemas.microsoft.com/office/drawing/2014/main" id="{81D0666A-D96D-4B5B-9036-192FA53FE435}"/>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cxnSp>
        <p:nvCxnSpPr>
          <p:cNvPr id="33" name="直接连接符 33">
            <a:extLst>
              <a:ext uri="{FF2B5EF4-FFF2-40B4-BE49-F238E27FC236}">
                <a16:creationId xmlns:a16="http://schemas.microsoft.com/office/drawing/2014/main" id="{DFF80DCD-8EF0-4D2F-8380-59FA348D932C}"/>
              </a:ext>
            </a:extLst>
          </p:cNvPr>
          <p:cNvCxnSpPr/>
          <p:nvPr/>
        </p:nvCxnSpPr>
        <p:spPr>
          <a:xfrm>
            <a:off x="1177167" y="1046746"/>
            <a:ext cx="10585176"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6" name="標題 1"/>
          <p:cNvSpPr txBox="1">
            <a:spLocks/>
          </p:cNvSpPr>
          <p:nvPr/>
        </p:nvSpPr>
        <p:spPr>
          <a:xfrm>
            <a:off x="854426" y="112999"/>
            <a:ext cx="5288853"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7-3 </a:t>
            </a:r>
            <a:r>
              <a:rPr lang="zh-TW" altLang="en-US" sz="2400" b="1" dirty="0">
                <a:solidFill>
                  <a:srgbClr val="E06741"/>
                </a:solidFill>
              </a:rPr>
              <a:t>實務案例</a:t>
            </a:r>
            <a:r>
              <a:rPr lang="en-US" altLang="zh-TW" sz="2400" b="1" dirty="0">
                <a:solidFill>
                  <a:srgbClr val="E06741"/>
                </a:solidFill>
              </a:rPr>
              <a:t>-</a:t>
            </a:r>
            <a:r>
              <a:rPr lang="zh-TW" altLang="en-US" sz="2400" b="1" dirty="0">
                <a:solidFill>
                  <a:srgbClr val="E06741"/>
                </a:solidFill>
              </a:rPr>
              <a:t>農產履歷</a:t>
            </a:r>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sp>
        <p:nvSpPr>
          <p:cNvPr id="48" name="文字方塊 47">
            <a:extLst>
              <a:ext uri="{FF2B5EF4-FFF2-40B4-BE49-F238E27FC236}">
                <a16:creationId xmlns:a16="http://schemas.microsoft.com/office/drawing/2014/main" id="{AD7F4831-1A36-4A2F-ACBE-344F724510DC}"/>
              </a:ext>
            </a:extLst>
          </p:cNvPr>
          <p:cNvSpPr txBox="1"/>
          <p:nvPr/>
        </p:nvSpPr>
        <p:spPr>
          <a:xfrm>
            <a:off x="5130089" y="350241"/>
            <a:ext cx="2242922"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-2</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案例區塊鍊運用</a:t>
            </a:r>
          </a:p>
        </p:txBody>
      </p:sp>
      <p:sp>
        <p:nvSpPr>
          <p:cNvPr id="10" name="文字方塊 9">
            <a:extLst>
              <a:ext uri="{FF2B5EF4-FFF2-40B4-BE49-F238E27FC236}">
                <a16:creationId xmlns:a16="http://schemas.microsoft.com/office/drawing/2014/main" id="{BF94E171-0176-49DD-BE6C-DB2D96B94A88}"/>
              </a:ext>
            </a:extLst>
          </p:cNvPr>
          <p:cNvSpPr txBox="1"/>
          <p:nvPr/>
        </p:nvSpPr>
        <p:spPr>
          <a:xfrm>
            <a:off x="1177909" y="1816484"/>
            <a:ext cx="9663430" cy="578492"/>
          </a:xfrm>
          <a:prstGeom prst="rect">
            <a:avLst/>
          </a:prstGeom>
          <a:noFill/>
        </p:spPr>
        <p:txBody>
          <a:bodyPr wrap="square" rtlCol="0">
            <a:spAutoFit/>
          </a:bodyPr>
          <a:lstStyle/>
          <a:p>
            <a:pPr marL="342900" indent="-342900">
              <a:lnSpc>
                <a:spcPct val="150000"/>
              </a:lnSpc>
              <a:buBlip>
                <a:blip r:embed="rId3"/>
              </a:buBlip>
            </a:pP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sp>
        <p:nvSpPr>
          <p:cNvPr id="12" name="文字方塊 11">
            <a:extLst>
              <a:ext uri="{FF2B5EF4-FFF2-40B4-BE49-F238E27FC236}">
                <a16:creationId xmlns:a16="http://schemas.microsoft.com/office/drawing/2014/main" id="{BF94E171-0176-49DD-BE6C-DB2D96B94A88}"/>
              </a:ext>
            </a:extLst>
          </p:cNvPr>
          <p:cNvSpPr txBox="1"/>
          <p:nvPr/>
        </p:nvSpPr>
        <p:spPr>
          <a:xfrm>
            <a:off x="1054671" y="1100593"/>
            <a:ext cx="9909905" cy="4524315"/>
          </a:xfrm>
          <a:prstGeom prst="rect">
            <a:avLst/>
          </a:prstGeom>
          <a:noFill/>
        </p:spPr>
        <p:txBody>
          <a:bodyPr wrap="square" rtlCol="0">
            <a:spAutoFit/>
          </a:bodyPr>
          <a:lstStyle/>
          <a:p>
            <a:pPr marL="342900" indent="-342900">
              <a:lnSpc>
                <a:spcPct val="150000"/>
              </a:lnSpc>
              <a:buBlip>
                <a:blip r:embed="rId3"/>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現行方法：區分為</a:t>
            </a:r>
            <a:r>
              <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t>5</a:t>
            </a: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階段</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800100" lvl="1" indent="-342900">
              <a:lnSpc>
                <a:spcPct val="150000"/>
              </a:lnSpc>
              <a:buBlip>
                <a:blip r:embed="rId3"/>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第</a:t>
            </a:r>
            <a:r>
              <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t>3</a:t>
            </a: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階段：農產品零售</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1371600" lvl="2" indent="-457200">
              <a:lnSpc>
                <a:spcPct val="150000"/>
              </a:lnSpc>
              <a:buFont typeface="+mj-lt"/>
              <a:buAutoNum type="arabicPeriod"/>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製品進貨紀錄：</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lvl="3">
              <a:lnSpc>
                <a:spcPct val="150000"/>
              </a:lnSpc>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加工製品的進貨重量、日期、數量、項目</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1371600" lvl="2" indent="-457200">
              <a:lnSpc>
                <a:spcPct val="150000"/>
              </a:lnSpc>
              <a:buFont typeface="+mj-lt"/>
              <a:buAutoNum type="arabicPeriod"/>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製品管理紀錄：</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lvl="3">
              <a:lnSpc>
                <a:spcPct val="150000"/>
              </a:lnSpc>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加工製品倉儲溫度、位置存放、日期</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1371600" lvl="2" indent="-457200">
              <a:lnSpc>
                <a:spcPct val="150000"/>
              </a:lnSpc>
              <a:buFont typeface="+mj-lt"/>
              <a:buAutoNum type="arabicPeriod"/>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出貨紀錄：</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lvl="3">
              <a:lnSpc>
                <a:spcPct val="150000"/>
              </a:lnSpc>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加工製品的出貨數量、出貨日期、農產品的品種、出貨地點</a:t>
            </a:r>
          </a:p>
        </p:txBody>
      </p:sp>
    </p:spTree>
    <p:extLst>
      <p:ext uri="{BB962C8B-B14F-4D97-AF65-F5344CB8AC3E}">
        <p14:creationId xmlns:p14="http://schemas.microsoft.com/office/powerpoint/2010/main" val="1882611952"/>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circle(in)">
                                      <p:cBhvr>
                                        <p:cTn id="7" dur="1500"/>
                                        <p:tgtEl>
                                          <p:spTgt spid="46"/>
                                        </p:tgtEl>
                                      </p:cBhvr>
                                    </p:animEffect>
                                  </p:childTnLst>
                                </p:cTn>
                              </p:par>
                            </p:childTnLst>
                          </p:cTn>
                        </p:par>
                        <p:par>
                          <p:cTn id="8" fill="hold">
                            <p:stCondLst>
                              <p:cond delay="1500"/>
                            </p:stCondLst>
                            <p:childTnLst>
                              <p:par>
                                <p:cTn id="9" presetID="16" presetClass="entr" presetSubtype="21" fill="hold" grpId="0" nodeType="afterEffect">
                                  <p:stCondLst>
                                    <p:cond delay="0"/>
                                  </p:stCondLst>
                                  <p:childTnLst>
                                    <p:set>
                                      <p:cBhvr>
                                        <p:cTn id="10" dur="1" fill="hold">
                                          <p:stCondLst>
                                            <p:cond delay="0"/>
                                          </p:stCondLst>
                                        </p:cTn>
                                        <p:tgtEl>
                                          <p:spTgt spid="48"/>
                                        </p:tgtEl>
                                        <p:attrNameLst>
                                          <p:attrName>style.visibility</p:attrName>
                                        </p:attrNameLst>
                                      </p:cBhvr>
                                      <p:to>
                                        <p:strVal val="visible"/>
                                      </p:to>
                                    </p:set>
                                    <p:animEffect transition="in" filter="barn(inVertical)">
                                      <p:cBhvr>
                                        <p:cTn id="11" dur="500"/>
                                        <p:tgtEl>
                                          <p:spTgt spid="48"/>
                                        </p:tgtEl>
                                      </p:cBhvr>
                                    </p:animEffect>
                                  </p:childTnLst>
                                </p:cTn>
                              </p:par>
                            </p:childTnLst>
                          </p:cTn>
                        </p:par>
                        <p:par>
                          <p:cTn id="12" fill="hold">
                            <p:stCondLst>
                              <p:cond delay="2000"/>
                            </p:stCondLst>
                            <p:childTnLst>
                              <p:par>
                                <p:cTn id="13" presetID="2" presetClass="entr" presetSubtype="8" fill="hold" nodeType="afterEffect">
                                  <p:stCondLst>
                                    <p:cond delay="0"/>
                                  </p:stCondLst>
                                  <p:childTnLst>
                                    <p:set>
                                      <p:cBhvr>
                                        <p:cTn id="14" dur="1" fill="hold">
                                          <p:stCondLst>
                                            <p:cond delay="0"/>
                                          </p:stCondLst>
                                        </p:cTn>
                                        <p:tgtEl>
                                          <p:spTgt spid="33"/>
                                        </p:tgtEl>
                                        <p:attrNameLst>
                                          <p:attrName>style.visibility</p:attrName>
                                        </p:attrNameLst>
                                      </p:cBhvr>
                                      <p:to>
                                        <p:strVal val="visible"/>
                                      </p:to>
                                    </p:set>
                                    <p:anim calcmode="lin" valueType="num">
                                      <p:cBhvr additive="base">
                                        <p:cTn id="15" dur="500" fill="hold"/>
                                        <p:tgtEl>
                                          <p:spTgt spid="33"/>
                                        </p:tgtEl>
                                        <p:attrNameLst>
                                          <p:attrName>ppt_x</p:attrName>
                                        </p:attrNameLst>
                                      </p:cBhvr>
                                      <p:tavLst>
                                        <p:tav tm="0">
                                          <p:val>
                                            <p:strVal val="0-#ppt_w/2"/>
                                          </p:val>
                                        </p:tav>
                                        <p:tav tm="100000">
                                          <p:val>
                                            <p:strVal val="#ppt_x"/>
                                          </p:val>
                                        </p:tav>
                                      </p:tavLst>
                                    </p:anim>
                                    <p:anim calcmode="lin" valueType="num">
                                      <p:cBhvr additive="base">
                                        <p:cTn id="16" dur="500" fill="hold"/>
                                        <p:tgtEl>
                                          <p:spTgt spid="33"/>
                                        </p:tgtEl>
                                        <p:attrNameLst>
                                          <p:attrName>ppt_y</p:attrName>
                                        </p:attrNameLst>
                                      </p:cBhvr>
                                      <p:tavLst>
                                        <p:tav tm="0">
                                          <p:val>
                                            <p:strVal val="#ppt_y"/>
                                          </p:val>
                                        </p:tav>
                                        <p:tav tm="100000">
                                          <p:val>
                                            <p:strVal val="#ppt_y"/>
                                          </p:val>
                                        </p:tav>
                                      </p:tavLst>
                                    </p:anim>
                                  </p:childTnLst>
                                </p:cTn>
                              </p:par>
                            </p:childTnLst>
                          </p:cTn>
                        </p:par>
                        <p:par>
                          <p:cTn id="17" fill="hold">
                            <p:stCondLst>
                              <p:cond delay="2500"/>
                            </p:stCondLst>
                            <p:childTnLst>
                              <p:par>
                                <p:cTn id="18" presetID="16" presetClass="entr" presetSubtype="21" fill="hold" nodeType="afterEffect" nodePh="1">
                                  <p:stCondLst>
                                    <p:cond delay="0"/>
                                  </p:stCondLst>
                                  <p:endCondLst>
                                    <p:cond evt="begin" delay="0">
                                      <p:tn val="18"/>
                                    </p:cond>
                                  </p:endCondLst>
                                  <p:childTnLst>
                                    <p:set>
                                      <p:cBhvr>
                                        <p:cTn id="19" dur="1" fill="hold">
                                          <p:stCondLst>
                                            <p:cond delay="0"/>
                                          </p:stCondLst>
                                        </p:cTn>
                                        <p:tgtEl>
                                          <p:spTgt spid="10">
                                            <p:txEl>
                                              <p:pRg st="0" end="0"/>
                                            </p:txEl>
                                          </p:spTgt>
                                        </p:tgtEl>
                                        <p:attrNameLst>
                                          <p:attrName>style.visibility</p:attrName>
                                        </p:attrNameLst>
                                      </p:cBhvr>
                                      <p:to>
                                        <p:strVal val="visible"/>
                                      </p:to>
                                    </p:set>
                                    <p:animEffect transition="in" filter="barn(inVertical)">
                                      <p:cBhvr>
                                        <p:cTn id="20" dur="500"/>
                                        <p:tgtEl>
                                          <p:spTgt spid="10">
                                            <p:txEl>
                                              <p:pRg st="0" end="0"/>
                                            </p:txEl>
                                          </p:spTgt>
                                        </p:tgtEl>
                                      </p:cBhvr>
                                    </p:animEffect>
                                  </p:childTnLst>
                                </p:cTn>
                              </p:par>
                            </p:childTnLst>
                          </p:cTn>
                        </p:par>
                        <p:par>
                          <p:cTn id="21" fill="hold">
                            <p:stCondLst>
                              <p:cond delay="3000"/>
                            </p:stCondLst>
                            <p:childTnLst>
                              <p:par>
                                <p:cTn id="22" presetID="16" presetClass="entr" presetSubtype="21" fill="hold" grpId="0" nodeType="after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barn(inVertical)">
                                      <p:cBhvr>
                                        <p:cTn id="24"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p:bldP spid="48" grpId="0"/>
      <p:bldP spid="12"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2"/>
          <a:stretch>
            <a:fillRect/>
          </a:stretch>
        </p:blipFill>
        <p:spPr>
          <a:xfrm rot="16200000">
            <a:off x="145169" y="-145167"/>
            <a:ext cx="1268414" cy="1558750"/>
          </a:xfrm>
          <a:prstGeom prst="rect">
            <a:avLst/>
          </a:prstGeom>
        </p:spPr>
      </p:pic>
      <p:sp>
        <p:nvSpPr>
          <p:cNvPr id="9" name="文字方塊 8">
            <a:extLst>
              <a:ext uri="{FF2B5EF4-FFF2-40B4-BE49-F238E27FC236}">
                <a16:creationId xmlns:a16="http://schemas.microsoft.com/office/drawing/2014/main" id="{81D0666A-D96D-4B5B-9036-192FA53FE435}"/>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cxnSp>
        <p:nvCxnSpPr>
          <p:cNvPr id="33" name="直接连接符 33">
            <a:extLst>
              <a:ext uri="{FF2B5EF4-FFF2-40B4-BE49-F238E27FC236}">
                <a16:creationId xmlns:a16="http://schemas.microsoft.com/office/drawing/2014/main" id="{DFF80DCD-8EF0-4D2F-8380-59FA348D932C}"/>
              </a:ext>
            </a:extLst>
          </p:cNvPr>
          <p:cNvCxnSpPr/>
          <p:nvPr/>
        </p:nvCxnSpPr>
        <p:spPr>
          <a:xfrm>
            <a:off x="1177167" y="1046746"/>
            <a:ext cx="10585176"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6" name="標題 1"/>
          <p:cNvSpPr txBox="1">
            <a:spLocks/>
          </p:cNvSpPr>
          <p:nvPr/>
        </p:nvSpPr>
        <p:spPr>
          <a:xfrm>
            <a:off x="854426" y="112999"/>
            <a:ext cx="5288853"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7-3 </a:t>
            </a:r>
            <a:r>
              <a:rPr lang="zh-TW" altLang="en-US" sz="2400" b="1" dirty="0">
                <a:solidFill>
                  <a:srgbClr val="E06741"/>
                </a:solidFill>
              </a:rPr>
              <a:t>實務案例</a:t>
            </a:r>
            <a:r>
              <a:rPr lang="en-US" altLang="zh-TW" sz="2400" b="1" dirty="0">
                <a:solidFill>
                  <a:srgbClr val="E06741"/>
                </a:solidFill>
              </a:rPr>
              <a:t>-</a:t>
            </a:r>
            <a:r>
              <a:rPr lang="zh-TW" altLang="en-US" sz="2400" b="1" dirty="0">
                <a:solidFill>
                  <a:srgbClr val="E06741"/>
                </a:solidFill>
              </a:rPr>
              <a:t>農產履歷</a:t>
            </a:r>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sp>
        <p:nvSpPr>
          <p:cNvPr id="48" name="文字方塊 47">
            <a:extLst>
              <a:ext uri="{FF2B5EF4-FFF2-40B4-BE49-F238E27FC236}">
                <a16:creationId xmlns:a16="http://schemas.microsoft.com/office/drawing/2014/main" id="{AD7F4831-1A36-4A2F-ACBE-344F724510DC}"/>
              </a:ext>
            </a:extLst>
          </p:cNvPr>
          <p:cNvSpPr txBox="1"/>
          <p:nvPr/>
        </p:nvSpPr>
        <p:spPr>
          <a:xfrm>
            <a:off x="5130089" y="350241"/>
            <a:ext cx="2242922"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-2</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案例區塊鍊運用</a:t>
            </a:r>
          </a:p>
        </p:txBody>
      </p:sp>
      <p:sp>
        <p:nvSpPr>
          <p:cNvPr id="10" name="文字方塊 9">
            <a:extLst>
              <a:ext uri="{FF2B5EF4-FFF2-40B4-BE49-F238E27FC236}">
                <a16:creationId xmlns:a16="http://schemas.microsoft.com/office/drawing/2014/main" id="{BF94E171-0176-49DD-BE6C-DB2D96B94A88}"/>
              </a:ext>
            </a:extLst>
          </p:cNvPr>
          <p:cNvSpPr txBox="1"/>
          <p:nvPr/>
        </p:nvSpPr>
        <p:spPr>
          <a:xfrm>
            <a:off x="1177909" y="1816484"/>
            <a:ext cx="9663430" cy="578492"/>
          </a:xfrm>
          <a:prstGeom prst="rect">
            <a:avLst/>
          </a:prstGeom>
          <a:noFill/>
        </p:spPr>
        <p:txBody>
          <a:bodyPr wrap="square" rtlCol="0">
            <a:spAutoFit/>
          </a:bodyPr>
          <a:lstStyle/>
          <a:p>
            <a:pPr marL="342900" indent="-342900">
              <a:lnSpc>
                <a:spcPct val="150000"/>
              </a:lnSpc>
              <a:buBlip>
                <a:blip r:embed="rId3"/>
              </a:buBlip>
            </a:pP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sp>
        <p:nvSpPr>
          <p:cNvPr id="12" name="文字方塊 11">
            <a:extLst>
              <a:ext uri="{FF2B5EF4-FFF2-40B4-BE49-F238E27FC236}">
                <a16:creationId xmlns:a16="http://schemas.microsoft.com/office/drawing/2014/main" id="{BF94E171-0176-49DD-BE6C-DB2D96B94A88}"/>
              </a:ext>
            </a:extLst>
          </p:cNvPr>
          <p:cNvSpPr txBox="1"/>
          <p:nvPr/>
        </p:nvSpPr>
        <p:spPr>
          <a:xfrm>
            <a:off x="1054671" y="1100593"/>
            <a:ext cx="9909905" cy="5078313"/>
          </a:xfrm>
          <a:prstGeom prst="rect">
            <a:avLst/>
          </a:prstGeom>
          <a:noFill/>
        </p:spPr>
        <p:txBody>
          <a:bodyPr wrap="square" rtlCol="0">
            <a:spAutoFit/>
          </a:bodyPr>
          <a:lstStyle/>
          <a:p>
            <a:pPr marL="342900" indent="-342900">
              <a:lnSpc>
                <a:spcPct val="150000"/>
              </a:lnSpc>
              <a:buBlip>
                <a:blip r:embed="rId3"/>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現行方法：區分為</a:t>
            </a:r>
            <a:r>
              <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t>5</a:t>
            </a: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階段</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800100" lvl="1" indent="-342900">
              <a:lnSpc>
                <a:spcPct val="150000"/>
              </a:lnSpc>
              <a:buBlip>
                <a:blip r:embed="rId3"/>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第</a:t>
            </a:r>
            <a:r>
              <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t>4</a:t>
            </a: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階段：農產品流通</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1371600" lvl="2" indent="-457200">
              <a:lnSpc>
                <a:spcPct val="150000"/>
              </a:lnSpc>
              <a:buFont typeface="+mj-lt"/>
              <a:buAutoNum type="arabicPeriod"/>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製品進貨紀錄：</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lvl="3">
              <a:lnSpc>
                <a:spcPct val="150000"/>
              </a:lnSpc>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加工製品的進貨重量、日期、數量、項目</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1371600" lvl="2" indent="-457200">
              <a:lnSpc>
                <a:spcPct val="150000"/>
              </a:lnSpc>
              <a:buFont typeface="+mj-lt"/>
              <a:buAutoNum type="arabicPeriod"/>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販售紀錄：</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lvl="3">
              <a:lnSpc>
                <a:spcPct val="150000"/>
              </a:lnSpc>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經銷商、販售日期、販售項目、販售地點</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800100" lvl="1" indent="-342900">
              <a:lnSpc>
                <a:spcPct val="150000"/>
              </a:lnSpc>
              <a:buBlip>
                <a:blip r:embed="rId3"/>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第</a:t>
            </a:r>
            <a:r>
              <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t>5</a:t>
            </a: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階段：消費者</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1257300" lvl="2" indent="-342900">
              <a:lnSpc>
                <a:spcPct val="150000"/>
              </a:lnSpc>
              <a:buBlip>
                <a:blip r:embed="rId3"/>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整體的流程會依階段進行紀錄，消費者依其需求可以進行資訊查詢。</a:t>
            </a:r>
          </a:p>
        </p:txBody>
      </p:sp>
    </p:spTree>
    <p:extLst>
      <p:ext uri="{BB962C8B-B14F-4D97-AF65-F5344CB8AC3E}">
        <p14:creationId xmlns:p14="http://schemas.microsoft.com/office/powerpoint/2010/main" val="426280642"/>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circle(in)">
                                      <p:cBhvr>
                                        <p:cTn id="7" dur="1500"/>
                                        <p:tgtEl>
                                          <p:spTgt spid="46"/>
                                        </p:tgtEl>
                                      </p:cBhvr>
                                    </p:animEffect>
                                  </p:childTnLst>
                                </p:cTn>
                              </p:par>
                            </p:childTnLst>
                          </p:cTn>
                        </p:par>
                        <p:par>
                          <p:cTn id="8" fill="hold">
                            <p:stCondLst>
                              <p:cond delay="1500"/>
                            </p:stCondLst>
                            <p:childTnLst>
                              <p:par>
                                <p:cTn id="9" presetID="16" presetClass="entr" presetSubtype="21" fill="hold" grpId="0" nodeType="afterEffect">
                                  <p:stCondLst>
                                    <p:cond delay="0"/>
                                  </p:stCondLst>
                                  <p:childTnLst>
                                    <p:set>
                                      <p:cBhvr>
                                        <p:cTn id="10" dur="1" fill="hold">
                                          <p:stCondLst>
                                            <p:cond delay="0"/>
                                          </p:stCondLst>
                                        </p:cTn>
                                        <p:tgtEl>
                                          <p:spTgt spid="48"/>
                                        </p:tgtEl>
                                        <p:attrNameLst>
                                          <p:attrName>style.visibility</p:attrName>
                                        </p:attrNameLst>
                                      </p:cBhvr>
                                      <p:to>
                                        <p:strVal val="visible"/>
                                      </p:to>
                                    </p:set>
                                    <p:animEffect transition="in" filter="barn(inVertical)">
                                      <p:cBhvr>
                                        <p:cTn id="11" dur="500"/>
                                        <p:tgtEl>
                                          <p:spTgt spid="48"/>
                                        </p:tgtEl>
                                      </p:cBhvr>
                                    </p:animEffect>
                                  </p:childTnLst>
                                </p:cTn>
                              </p:par>
                            </p:childTnLst>
                          </p:cTn>
                        </p:par>
                        <p:par>
                          <p:cTn id="12" fill="hold">
                            <p:stCondLst>
                              <p:cond delay="2000"/>
                            </p:stCondLst>
                            <p:childTnLst>
                              <p:par>
                                <p:cTn id="13" presetID="2" presetClass="entr" presetSubtype="8" fill="hold" nodeType="afterEffect">
                                  <p:stCondLst>
                                    <p:cond delay="0"/>
                                  </p:stCondLst>
                                  <p:childTnLst>
                                    <p:set>
                                      <p:cBhvr>
                                        <p:cTn id="14" dur="1" fill="hold">
                                          <p:stCondLst>
                                            <p:cond delay="0"/>
                                          </p:stCondLst>
                                        </p:cTn>
                                        <p:tgtEl>
                                          <p:spTgt spid="33"/>
                                        </p:tgtEl>
                                        <p:attrNameLst>
                                          <p:attrName>style.visibility</p:attrName>
                                        </p:attrNameLst>
                                      </p:cBhvr>
                                      <p:to>
                                        <p:strVal val="visible"/>
                                      </p:to>
                                    </p:set>
                                    <p:anim calcmode="lin" valueType="num">
                                      <p:cBhvr additive="base">
                                        <p:cTn id="15" dur="500" fill="hold"/>
                                        <p:tgtEl>
                                          <p:spTgt spid="33"/>
                                        </p:tgtEl>
                                        <p:attrNameLst>
                                          <p:attrName>ppt_x</p:attrName>
                                        </p:attrNameLst>
                                      </p:cBhvr>
                                      <p:tavLst>
                                        <p:tav tm="0">
                                          <p:val>
                                            <p:strVal val="0-#ppt_w/2"/>
                                          </p:val>
                                        </p:tav>
                                        <p:tav tm="100000">
                                          <p:val>
                                            <p:strVal val="#ppt_x"/>
                                          </p:val>
                                        </p:tav>
                                      </p:tavLst>
                                    </p:anim>
                                    <p:anim calcmode="lin" valueType="num">
                                      <p:cBhvr additive="base">
                                        <p:cTn id="16" dur="500" fill="hold"/>
                                        <p:tgtEl>
                                          <p:spTgt spid="33"/>
                                        </p:tgtEl>
                                        <p:attrNameLst>
                                          <p:attrName>ppt_y</p:attrName>
                                        </p:attrNameLst>
                                      </p:cBhvr>
                                      <p:tavLst>
                                        <p:tav tm="0">
                                          <p:val>
                                            <p:strVal val="#ppt_y"/>
                                          </p:val>
                                        </p:tav>
                                        <p:tav tm="100000">
                                          <p:val>
                                            <p:strVal val="#ppt_y"/>
                                          </p:val>
                                        </p:tav>
                                      </p:tavLst>
                                    </p:anim>
                                  </p:childTnLst>
                                </p:cTn>
                              </p:par>
                            </p:childTnLst>
                          </p:cTn>
                        </p:par>
                        <p:par>
                          <p:cTn id="17" fill="hold">
                            <p:stCondLst>
                              <p:cond delay="2500"/>
                            </p:stCondLst>
                            <p:childTnLst>
                              <p:par>
                                <p:cTn id="18" presetID="16" presetClass="entr" presetSubtype="21" fill="hold" nodeType="afterEffect" nodePh="1">
                                  <p:stCondLst>
                                    <p:cond delay="0"/>
                                  </p:stCondLst>
                                  <p:endCondLst>
                                    <p:cond evt="begin" delay="0">
                                      <p:tn val="18"/>
                                    </p:cond>
                                  </p:endCondLst>
                                  <p:childTnLst>
                                    <p:set>
                                      <p:cBhvr>
                                        <p:cTn id="19" dur="1" fill="hold">
                                          <p:stCondLst>
                                            <p:cond delay="0"/>
                                          </p:stCondLst>
                                        </p:cTn>
                                        <p:tgtEl>
                                          <p:spTgt spid="10">
                                            <p:txEl>
                                              <p:pRg st="0" end="0"/>
                                            </p:txEl>
                                          </p:spTgt>
                                        </p:tgtEl>
                                        <p:attrNameLst>
                                          <p:attrName>style.visibility</p:attrName>
                                        </p:attrNameLst>
                                      </p:cBhvr>
                                      <p:to>
                                        <p:strVal val="visible"/>
                                      </p:to>
                                    </p:set>
                                    <p:animEffect transition="in" filter="barn(inVertical)">
                                      <p:cBhvr>
                                        <p:cTn id="20" dur="500"/>
                                        <p:tgtEl>
                                          <p:spTgt spid="10">
                                            <p:txEl>
                                              <p:pRg st="0" end="0"/>
                                            </p:txEl>
                                          </p:spTgt>
                                        </p:tgtEl>
                                      </p:cBhvr>
                                    </p:animEffect>
                                  </p:childTnLst>
                                </p:cTn>
                              </p:par>
                            </p:childTnLst>
                          </p:cTn>
                        </p:par>
                        <p:par>
                          <p:cTn id="21" fill="hold">
                            <p:stCondLst>
                              <p:cond delay="3000"/>
                            </p:stCondLst>
                            <p:childTnLst>
                              <p:par>
                                <p:cTn id="22" presetID="16" presetClass="entr" presetSubtype="21" fill="hold" grpId="0" nodeType="after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barn(inVertical)">
                                      <p:cBhvr>
                                        <p:cTn id="24"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p:bldP spid="48" grpId="0"/>
      <p:bldP spid="12"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2"/>
          <a:stretch>
            <a:fillRect/>
          </a:stretch>
        </p:blipFill>
        <p:spPr>
          <a:xfrm rot="16200000">
            <a:off x="145169" y="-145167"/>
            <a:ext cx="1268414" cy="1558750"/>
          </a:xfrm>
          <a:prstGeom prst="rect">
            <a:avLst/>
          </a:prstGeom>
        </p:spPr>
      </p:pic>
      <p:sp>
        <p:nvSpPr>
          <p:cNvPr id="9" name="文字方塊 8">
            <a:extLst>
              <a:ext uri="{FF2B5EF4-FFF2-40B4-BE49-F238E27FC236}">
                <a16:creationId xmlns:a16="http://schemas.microsoft.com/office/drawing/2014/main" id="{81D0666A-D96D-4B5B-9036-192FA53FE435}"/>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cxnSp>
        <p:nvCxnSpPr>
          <p:cNvPr id="33" name="直接连接符 33">
            <a:extLst>
              <a:ext uri="{FF2B5EF4-FFF2-40B4-BE49-F238E27FC236}">
                <a16:creationId xmlns:a16="http://schemas.microsoft.com/office/drawing/2014/main" id="{DFF80DCD-8EF0-4D2F-8380-59FA348D932C}"/>
              </a:ext>
            </a:extLst>
          </p:cNvPr>
          <p:cNvCxnSpPr/>
          <p:nvPr/>
        </p:nvCxnSpPr>
        <p:spPr>
          <a:xfrm>
            <a:off x="1177167" y="1046746"/>
            <a:ext cx="10585176"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6" name="標題 1"/>
          <p:cNvSpPr txBox="1">
            <a:spLocks/>
          </p:cNvSpPr>
          <p:nvPr/>
        </p:nvSpPr>
        <p:spPr>
          <a:xfrm>
            <a:off x="854426" y="112999"/>
            <a:ext cx="5288853"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7-3 </a:t>
            </a:r>
            <a:r>
              <a:rPr lang="zh-TW" altLang="en-US" sz="2400" b="1" dirty="0">
                <a:solidFill>
                  <a:srgbClr val="E06741"/>
                </a:solidFill>
              </a:rPr>
              <a:t>實務案例</a:t>
            </a:r>
            <a:r>
              <a:rPr lang="en-US" altLang="zh-TW" sz="2400" b="1" dirty="0">
                <a:solidFill>
                  <a:srgbClr val="E06741"/>
                </a:solidFill>
              </a:rPr>
              <a:t>-</a:t>
            </a:r>
            <a:r>
              <a:rPr lang="zh-TW" altLang="en-US" sz="2400" b="1" dirty="0">
                <a:solidFill>
                  <a:srgbClr val="E06741"/>
                </a:solidFill>
              </a:rPr>
              <a:t>農產履歷</a:t>
            </a:r>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sp>
        <p:nvSpPr>
          <p:cNvPr id="48" name="文字方塊 47">
            <a:extLst>
              <a:ext uri="{FF2B5EF4-FFF2-40B4-BE49-F238E27FC236}">
                <a16:creationId xmlns:a16="http://schemas.microsoft.com/office/drawing/2014/main" id="{AD7F4831-1A36-4A2F-ACBE-344F724510DC}"/>
              </a:ext>
            </a:extLst>
          </p:cNvPr>
          <p:cNvSpPr txBox="1"/>
          <p:nvPr/>
        </p:nvSpPr>
        <p:spPr>
          <a:xfrm>
            <a:off x="5130089" y="350241"/>
            <a:ext cx="2242922"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-2</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案例區塊鍊運用</a:t>
            </a:r>
          </a:p>
        </p:txBody>
      </p:sp>
      <p:sp>
        <p:nvSpPr>
          <p:cNvPr id="10" name="文字方塊 9">
            <a:extLst>
              <a:ext uri="{FF2B5EF4-FFF2-40B4-BE49-F238E27FC236}">
                <a16:creationId xmlns:a16="http://schemas.microsoft.com/office/drawing/2014/main" id="{BF94E171-0176-49DD-BE6C-DB2D96B94A88}"/>
              </a:ext>
            </a:extLst>
          </p:cNvPr>
          <p:cNvSpPr txBox="1"/>
          <p:nvPr/>
        </p:nvSpPr>
        <p:spPr>
          <a:xfrm>
            <a:off x="1177909" y="1816484"/>
            <a:ext cx="9663430" cy="578492"/>
          </a:xfrm>
          <a:prstGeom prst="rect">
            <a:avLst/>
          </a:prstGeom>
          <a:noFill/>
        </p:spPr>
        <p:txBody>
          <a:bodyPr wrap="square" rtlCol="0">
            <a:spAutoFit/>
          </a:bodyPr>
          <a:lstStyle/>
          <a:p>
            <a:pPr marL="342900" indent="-342900">
              <a:lnSpc>
                <a:spcPct val="150000"/>
              </a:lnSpc>
              <a:buBlip>
                <a:blip r:embed="rId3"/>
              </a:buBlip>
            </a:pP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sp>
        <p:nvSpPr>
          <p:cNvPr id="12" name="文字方塊 11">
            <a:extLst>
              <a:ext uri="{FF2B5EF4-FFF2-40B4-BE49-F238E27FC236}">
                <a16:creationId xmlns:a16="http://schemas.microsoft.com/office/drawing/2014/main" id="{BF94E171-0176-49DD-BE6C-DB2D96B94A88}"/>
              </a:ext>
            </a:extLst>
          </p:cNvPr>
          <p:cNvSpPr txBox="1"/>
          <p:nvPr/>
        </p:nvSpPr>
        <p:spPr>
          <a:xfrm>
            <a:off x="1558751" y="1505657"/>
            <a:ext cx="8588093" cy="1754326"/>
          </a:xfrm>
          <a:prstGeom prst="rect">
            <a:avLst/>
          </a:prstGeom>
          <a:noFill/>
        </p:spPr>
        <p:txBody>
          <a:bodyPr wrap="square" rtlCol="0">
            <a:spAutoFit/>
          </a:bodyPr>
          <a:lstStyle/>
          <a:p>
            <a:pPr marL="342900" indent="-342900">
              <a:lnSpc>
                <a:spcPct val="150000"/>
              </a:lnSpc>
              <a:buBlip>
                <a:blip r:embed="rId3"/>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現行方法問題</a:t>
            </a:r>
            <a:r>
              <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rPr>
              <a:t>:</a:t>
            </a:r>
          </a:p>
          <a:p>
            <a:pPr marL="800100" lvl="1" indent="-342900">
              <a:lnSpc>
                <a:spcPct val="150000"/>
              </a:lnSpc>
              <a:buBlip>
                <a:blip r:embed="rId3"/>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包含的每一個階段均需耗費不少時間予以完成紀錄作業</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800100" lvl="1" indent="-342900">
              <a:lnSpc>
                <a:spcPct val="150000"/>
              </a:lnSpc>
              <a:buBlip>
                <a:blip r:embed="rId3"/>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當農產品的品項非常繁雜時，將會造成資訊紀錄的困難</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pic>
        <p:nvPicPr>
          <p:cNvPr id="11" name="圖片 10">
            <a:extLst>
              <a:ext uri="{FF2B5EF4-FFF2-40B4-BE49-F238E27FC236}">
                <a16:creationId xmlns:a16="http://schemas.microsoft.com/office/drawing/2014/main" id="{5F4AAED8-1F0B-435F-92F4-9C64B48C002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547059" y="2943045"/>
            <a:ext cx="3987651" cy="3987651"/>
          </a:xfrm>
          <a:prstGeom prst="rect">
            <a:avLst/>
          </a:prstGeom>
        </p:spPr>
      </p:pic>
    </p:spTree>
    <p:extLst>
      <p:ext uri="{BB962C8B-B14F-4D97-AF65-F5344CB8AC3E}">
        <p14:creationId xmlns:p14="http://schemas.microsoft.com/office/powerpoint/2010/main" val="2878130192"/>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33"/>
                                        </p:tgtEl>
                                        <p:attrNameLst>
                                          <p:attrName>style.visibility</p:attrName>
                                        </p:attrNameLst>
                                      </p:cBhvr>
                                      <p:to>
                                        <p:strVal val="visible"/>
                                      </p:to>
                                    </p:set>
                                    <p:anim calcmode="lin" valueType="num">
                                      <p:cBhvr additive="base">
                                        <p:cTn id="7" dur="500" fill="hold"/>
                                        <p:tgtEl>
                                          <p:spTgt spid="33"/>
                                        </p:tgtEl>
                                        <p:attrNameLst>
                                          <p:attrName>ppt_x</p:attrName>
                                        </p:attrNameLst>
                                      </p:cBhvr>
                                      <p:tavLst>
                                        <p:tav tm="0">
                                          <p:val>
                                            <p:strVal val="0-#ppt_w/2"/>
                                          </p:val>
                                        </p:tav>
                                        <p:tav tm="100000">
                                          <p:val>
                                            <p:strVal val="#ppt_x"/>
                                          </p:val>
                                        </p:tav>
                                      </p:tavLst>
                                    </p:anim>
                                    <p:anim calcmode="lin" valueType="num">
                                      <p:cBhvr additive="base">
                                        <p:cTn id="8" dur="500" fill="hold"/>
                                        <p:tgtEl>
                                          <p:spTgt spid="33"/>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6" presetClass="entr" presetSubtype="16" fill="hold" grpId="0" nodeType="afterEffect">
                                  <p:stCondLst>
                                    <p:cond delay="0"/>
                                  </p:stCondLst>
                                  <p:childTnLst>
                                    <p:set>
                                      <p:cBhvr>
                                        <p:cTn id="11" dur="1" fill="hold">
                                          <p:stCondLst>
                                            <p:cond delay="0"/>
                                          </p:stCondLst>
                                        </p:cTn>
                                        <p:tgtEl>
                                          <p:spTgt spid="46"/>
                                        </p:tgtEl>
                                        <p:attrNameLst>
                                          <p:attrName>style.visibility</p:attrName>
                                        </p:attrNameLst>
                                      </p:cBhvr>
                                      <p:to>
                                        <p:strVal val="visible"/>
                                      </p:to>
                                    </p:set>
                                    <p:animEffect transition="in" filter="circle(in)">
                                      <p:cBhvr>
                                        <p:cTn id="12" dur="1500"/>
                                        <p:tgtEl>
                                          <p:spTgt spid="46"/>
                                        </p:tgtEl>
                                      </p:cBhvr>
                                    </p:animEffect>
                                  </p:childTnLst>
                                </p:cTn>
                              </p:par>
                            </p:childTnLst>
                          </p:cTn>
                        </p:par>
                        <p:par>
                          <p:cTn id="13" fill="hold">
                            <p:stCondLst>
                              <p:cond delay="2000"/>
                            </p:stCondLst>
                            <p:childTnLst>
                              <p:par>
                                <p:cTn id="14" presetID="16" presetClass="entr" presetSubtype="21" fill="hold" grpId="0" nodeType="afterEffect">
                                  <p:stCondLst>
                                    <p:cond delay="0"/>
                                  </p:stCondLst>
                                  <p:childTnLst>
                                    <p:set>
                                      <p:cBhvr>
                                        <p:cTn id="15" dur="1" fill="hold">
                                          <p:stCondLst>
                                            <p:cond delay="0"/>
                                          </p:stCondLst>
                                        </p:cTn>
                                        <p:tgtEl>
                                          <p:spTgt spid="48"/>
                                        </p:tgtEl>
                                        <p:attrNameLst>
                                          <p:attrName>style.visibility</p:attrName>
                                        </p:attrNameLst>
                                      </p:cBhvr>
                                      <p:to>
                                        <p:strVal val="visible"/>
                                      </p:to>
                                    </p:set>
                                    <p:animEffect transition="in" filter="barn(inVertical)">
                                      <p:cBhvr>
                                        <p:cTn id="16" dur="500"/>
                                        <p:tgtEl>
                                          <p:spTgt spid="48"/>
                                        </p:tgtEl>
                                      </p:cBhvr>
                                    </p:animEffect>
                                  </p:childTnLst>
                                </p:cTn>
                              </p:par>
                            </p:childTnLst>
                          </p:cTn>
                        </p:par>
                        <p:par>
                          <p:cTn id="17" fill="hold">
                            <p:stCondLst>
                              <p:cond delay="2500"/>
                            </p:stCondLst>
                            <p:childTnLst>
                              <p:par>
                                <p:cTn id="18" presetID="16" presetClass="entr" presetSubtype="21" fill="hold" nodeType="afterEffect" nodePh="1">
                                  <p:stCondLst>
                                    <p:cond delay="0"/>
                                  </p:stCondLst>
                                  <p:endCondLst>
                                    <p:cond evt="begin" delay="0">
                                      <p:tn val="18"/>
                                    </p:cond>
                                  </p:endCondLst>
                                  <p:childTnLst>
                                    <p:set>
                                      <p:cBhvr>
                                        <p:cTn id="19" dur="1" fill="hold">
                                          <p:stCondLst>
                                            <p:cond delay="0"/>
                                          </p:stCondLst>
                                        </p:cTn>
                                        <p:tgtEl>
                                          <p:spTgt spid="10">
                                            <p:txEl>
                                              <p:pRg st="0" end="0"/>
                                            </p:txEl>
                                          </p:spTgt>
                                        </p:tgtEl>
                                        <p:attrNameLst>
                                          <p:attrName>style.visibility</p:attrName>
                                        </p:attrNameLst>
                                      </p:cBhvr>
                                      <p:to>
                                        <p:strVal val="visible"/>
                                      </p:to>
                                    </p:set>
                                    <p:animEffect transition="in" filter="barn(inVertical)">
                                      <p:cBhvr>
                                        <p:cTn id="20" dur="500"/>
                                        <p:tgtEl>
                                          <p:spTgt spid="10">
                                            <p:txEl>
                                              <p:pRg st="0" end="0"/>
                                            </p:txEl>
                                          </p:spTgt>
                                        </p:tgtEl>
                                      </p:cBhvr>
                                    </p:animEffect>
                                  </p:childTnLst>
                                </p:cTn>
                              </p:par>
                            </p:childTnLst>
                          </p:cTn>
                        </p:par>
                        <p:par>
                          <p:cTn id="21" fill="hold">
                            <p:stCondLst>
                              <p:cond delay="3000"/>
                            </p:stCondLst>
                            <p:childTnLst>
                              <p:par>
                                <p:cTn id="22" presetID="16" presetClass="entr" presetSubtype="21" fill="hold" grpId="0" nodeType="after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barn(inVertical)">
                                      <p:cBhvr>
                                        <p:cTn id="24" dur="500"/>
                                        <p:tgtEl>
                                          <p:spTgt spid="12"/>
                                        </p:tgtEl>
                                      </p:cBhvr>
                                    </p:animEffect>
                                  </p:childTnLst>
                                </p:cTn>
                              </p:par>
                            </p:childTnLst>
                          </p:cTn>
                        </p:par>
                        <p:par>
                          <p:cTn id="25" fill="hold">
                            <p:stCondLst>
                              <p:cond delay="3500"/>
                            </p:stCondLst>
                            <p:childTnLst>
                              <p:par>
                                <p:cTn id="26" presetID="53" presetClass="entr" presetSubtype="16" fill="hold" nodeType="afterEffect">
                                  <p:stCondLst>
                                    <p:cond delay="0"/>
                                  </p:stCondLst>
                                  <p:childTnLst>
                                    <p:set>
                                      <p:cBhvr>
                                        <p:cTn id="27" dur="1" fill="hold">
                                          <p:stCondLst>
                                            <p:cond delay="0"/>
                                          </p:stCondLst>
                                        </p:cTn>
                                        <p:tgtEl>
                                          <p:spTgt spid="11"/>
                                        </p:tgtEl>
                                        <p:attrNameLst>
                                          <p:attrName>style.visibility</p:attrName>
                                        </p:attrNameLst>
                                      </p:cBhvr>
                                      <p:to>
                                        <p:strVal val="visible"/>
                                      </p:to>
                                    </p:set>
                                    <p:anim calcmode="lin" valueType="num">
                                      <p:cBhvr>
                                        <p:cTn id="28" dur="500" fill="hold"/>
                                        <p:tgtEl>
                                          <p:spTgt spid="11"/>
                                        </p:tgtEl>
                                        <p:attrNameLst>
                                          <p:attrName>ppt_w</p:attrName>
                                        </p:attrNameLst>
                                      </p:cBhvr>
                                      <p:tavLst>
                                        <p:tav tm="0">
                                          <p:val>
                                            <p:fltVal val="0"/>
                                          </p:val>
                                        </p:tav>
                                        <p:tav tm="100000">
                                          <p:val>
                                            <p:strVal val="#ppt_w"/>
                                          </p:val>
                                        </p:tav>
                                      </p:tavLst>
                                    </p:anim>
                                    <p:anim calcmode="lin" valueType="num">
                                      <p:cBhvr>
                                        <p:cTn id="29" dur="500" fill="hold"/>
                                        <p:tgtEl>
                                          <p:spTgt spid="11"/>
                                        </p:tgtEl>
                                        <p:attrNameLst>
                                          <p:attrName>ppt_h</p:attrName>
                                        </p:attrNameLst>
                                      </p:cBhvr>
                                      <p:tavLst>
                                        <p:tav tm="0">
                                          <p:val>
                                            <p:fltVal val="0"/>
                                          </p:val>
                                        </p:tav>
                                        <p:tav tm="100000">
                                          <p:val>
                                            <p:strVal val="#ppt_h"/>
                                          </p:val>
                                        </p:tav>
                                      </p:tavLst>
                                    </p:anim>
                                    <p:animEffect transition="in" filter="fade">
                                      <p:cBhvr>
                                        <p:cTn id="30"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p:bldP spid="48" grpId="0"/>
      <p:bldP spid="12"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2"/>
          <a:stretch>
            <a:fillRect/>
          </a:stretch>
        </p:blipFill>
        <p:spPr>
          <a:xfrm rot="16200000">
            <a:off x="145169" y="-145167"/>
            <a:ext cx="1268414" cy="1558750"/>
          </a:xfrm>
          <a:prstGeom prst="rect">
            <a:avLst/>
          </a:prstGeom>
        </p:spPr>
      </p:pic>
      <p:sp>
        <p:nvSpPr>
          <p:cNvPr id="9" name="文字方塊 8">
            <a:extLst>
              <a:ext uri="{FF2B5EF4-FFF2-40B4-BE49-F238E27FC236}">
                <a16:creationId xmlns:a16="http://schemas.microsoft.com/office/drawing/2014/main" id="{81D0666A-D96D-4B5B-9036-192FA53FE435}"/>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cxnSp>
        <p:nvCxnSpPr>
          <p:cNvPr id="33" name="直接连接符 33">
            <a:extLst>
              <a:ext uri="{FF2B5EF4-FFF2-40B4-BE49-F238E27FC236}">
                <a16:creationId xmlns:a16="http://schemas.microsoft.com/office/drawing/2014/main" id="{DFF80DCD-8EF0-4D2F-8380-59FA348D932C}"/>
              </a:ext>
            </a:extLst>
          </p:cNvPr>
          <p:cNvCxnSpPr/>
          <p:nvPr/>
        </p:nvCxnSpPr>
        <p:spPr>
          <a:xfrm>
            <a:off x="1177167" y="1046746"/>
            <a:ext cx="10585176"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6" name="標題 1"/>
          <p:cNvSpPr txBox="1">
            <a:spLocks/>
          </p:cNvSpPr>
          <p:nvPr/>
        </p:nvSpPr>
        <p:spPr>
          <a:xfrm>
            <a:off x="854426" y="112999"/>
            <a:ext cx="5288853"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7-3 </a:t>
            </a:r>
            <a:r>
              <a:rPr lang="zh-TW" altLang="en-US" sz="2400" b="1" dirty="0">
                <a:solidFill>
                  <a:srgbClr val="E06741"/>
                </a:solidFill>
              </a:rPr>
              <a:t>實務案例</a:t>
            </a:r>
            <a:r>
              <a:rPr lang="en-US" altLang="zh-TW" sz="2400" b="1" dirty="0">
                <a:solidFill>
                  <a:srgbClr val="E06741"/>
                </a:solidFill>
              </a:rPr>
              <a:t>-</a:t>
            </a:r>
            <a:r>
              <a:rPr lang="zh-TW" altLang="en-US" sz="2400" b="1" dirty="0">
                <a:solidFill>
                  <a:srgbClr val="E06741"/>
                </a:solidFill>
              </a:rPr>
              <a:t>農產履歷</a:t>
            </a:r>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sp>
        <p:nvSpPr>
          <p:cNvPr id="48" name="文字方塊 47">
            <a:extLst>
              <a:ext uri="{FF2B5EF4-FFF2-40B4-BE49-F238E27FC236}">
                <a16:creationId xmlns:a16="http://schemas.microsoft.com/office/drawing/2014/main" id="{AD7F4831-1A36-4A2F-ACBE-344F724510DC}"/>
              </a:ext>
            </a:extLst>
          </p:cNvPr>
          <p:cNvSpPr txBox="1"/>
          <p:nvPr/>
        </p:nvSpPr>
        <p:spPr>
          <a:xfrm>
            <a:off x="5130089" y="350241"/>
            <a:ext cx="2242922"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-2</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案例區塊鍊運用</a:t>
            </a:r>
          </a:p>
        </p:txBody>
      </p:sp>
      <p:sp>
        <p:nvSpPr>
          <p:cNvPr id="10" name="文字方塊 9">
            <a:extLst>
              <a:ext uri="{FF2B5EF4-FFF2-40B4-BE49-F238E27FC236}">
                <a16:creationId xmlns:a16="http://schemas.microsoft.com/office/drawing/2014/main" id="{BF94E171-0176-49DD-BE6C-DB2D96B94A88}"/>
              </a:ext>
            </a:extLst>
          </p:cNvPr>
          <p:cNvSpPr txBox="1"/>
          <p:nvPr/>
        </p:nvSpPr>
        <p:spPr>
          <a:xfrm>
            <a:off x="1177909" y="1816484"/>
            <a:ext cx="9663430" cy="578492"/>
          </a:xfrm>
          <a:prstGeom prst="rect">
            <a:avLst/>
          </a:prstGeom>
          <a:noFill/>
        </p:spPr>
        <p:txBody>
          <a:bodyPr wrap="square" rtlCol="0">
            <a:spAutoFit/>
          </a:bodyPr>
          <a:lstStyle/>
          <a:p>
            <a:pPr marL="342900" indent="-342900">
              <a:lnSpc>
                <a:spcPct val="150000"/>
              </a:lnSpc>
              <a:buBlip>
                <a:blip r:embed="rId3"/>
              </a:buBlip>
            </a:pP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sp>
        <p:nvSpPr>
          <p:cNvPr id="12" name="文字方塊 11">
            <a:extLst>
              <a:ext uri="{FF2B5EF4-FFF2-40B4-BE49-F238E27FC236}">
                <a16:creationId xmlns:a16="http://schemas.microsoft.com/office/drawing/2014/main" id="{BF94E171-0176-49DD-BE6C-DB2D96B94A88}"/>
              </a:ext>
            </a:extLst>
          </p:cNvPr>
          <p:cNvSpPr txBox="1"/>
          <p:nvPr/>
        </p:nvSpPr>
        <p:spPr>
          <a:xfrm>
            <a:off x="1054671" y="1100593"/>
            <a:ext cx="9909905" cy="646331"/>
          </a:xfrm>
          <a:prstGeom prst="rect">
            <a:avLst/>
          </a:prstGeom>
          <a:noFill/>
        </p:spPr>
        <p:txBody>
          <a:bodyPr wrap="square" rtlCol="0">
            <a:spAutoFit/>
          </a:bodyPr>
          <a:lstStyle/>
          <a:p>
            <a:pPr marL="342900" indent="-342900">
              <a:lnSpc>
                <a:spcPct val="150000"/>
              </a:lnSpc>
              <a:buBlip>
                <a:blip r:embed="rId3"/>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馬鈴薯的傳統產銷交易為例</a:t>
            </a:r>
          </a:p>
        </p:txBody>
      </p:sp>
      <p:pic>
        <p:nvPicPr>
          <p:cNvPr id="2" name="圖片 1"/>
          <p:cNvPicPr>
            <a:picLocks noChangeAspect="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272901" y="1646061"/>
            <a:ext cx="5575821" cy="4950329"/>
          </a:xfrm>
          <a:prstGeom prst="rect">
            <a:avLst/>
          </a:prstGeom>
        </p:spPr>
      </p:pic>
      <p:sp>
        <p:nvSpPr>
          <p:cNvPr id="3" name="矩形 2"/>
          <p:cNvSpPr/>
          <p:nvPr/>
        </p:nvSpPr>
        <p:spPr>
          <a:xfrm>
            <a:off x="6943714" y="1859923"/>
            <a:ext cx="5006109" cy="1938992"/>
          </a:xfrm>
          <a:prstGeom prst="rect">
            <a:avLst/>
          </a:prstGeom>
        </p:spPr>
        <p:txBody>
          <a:bodyPr wrap="square">
            <a:spAutoFit/>
          </a:bodyPr>
          <a:lstStyle/>
          <a:p>
            <a:pPr marL="342900" indent="-342900">
              <a:lnSpc>
                <a:spcPct val="150000"/>
              </a:lnSpc>
              <a:buBlip>
                <a:blip r:embed="rId5"/>
              </a:buBlip>
            </a:pPr>
            <a:r>
              <a:rPr lang="zh-TW" altLang="en-US" sz="2000" b="1" dirty="0">
                <a:solidFill>
                  <a:schemeClr val="tx1">
                    <a:lumMod val="75000"/>
                    <a:lumOff val="25000"/>
                  </a:schemeClr>
                </a:solidFill>
                <a:latin typeface="微軟正黑體" panose="020B0604030504040204" pitchFamily="34" charset="-120"/>
                <a:ea typeface="微軟正黑體" panose="020B0604030504040204" pitchFamily="34" charset="-120"/>
              </a:rPr>
              <a:t>傳統的馬鈴薯產銷作業的交易流程</a:t>
            </a:r>
            <a:endParaRPr lang="en-US" altLang="zh-TW" sz="20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457200" indent="-457200">
              <a:lnSpc>
                <a:spcPct val="150000"/>
              </a:lnSpc>
              <a:buFont typeface="+mj-lt"/>
              <a:buAutoNum type="arabicPeriod"/>
            </a:pPr>
            <a:r>
              <a:rPr lang="zh-TW" altLang="en-US" sz="2000" b="1" dirty="0">
                <a:solidFill>
                  <a:schemeClr val="tx1">
                    <a:lumMod val="75000"/>
                    <a:lumOff val="25000"/>
                  </a:schemeClr>
                </a:solidFill>
                <a:latin typeface="微軟正黑體" panose="020B0604030504040204" pitchFamily="34" charset="-120"/>
                <a:ea typeface="微軟正黑體" panose="020B0604030504040204" pitchFamily="34" charset="-120"/>
              </a:rPr>
              <a:t>關係甚多廠商與產業</a:t>
            </a:r>
            <a:endParaRPr lang="en-US" altLang="zh-TW" sz="20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457200" indent="-457200">
              <a:lnSpc>
                <a:spcPct val="150000"/>
              </a:lnSpc>
              <a:buFont typeface="+mj-lt"/>
              <a:buAutoNum type="arabicPeriod"/>
            </a:pPr>
            <a:r>
              <a:rPr lang="zh-TW" altLang="en-US" sz="2000" b="1" dirty="0">
                <a:solidFill>
                  <a:schemeClr val="tx1">
                    <a:lumMod val="75000"/>
                    <a:lumOff val="25000"/>
                  </a:schemeClr>
                </a:solidFill>
                <a:latin typeface="微軟正黑體" panose="020B0604030504040204" pitchFamily="34" charset="-120"/>
                <a:ea typeface="微軟正黑體" panose="020B0604030504040204" pitchFamily="34" charset="-120"/>
              </a:rPr>
              <a:t>經銷的過程亦是費時與費力</a:t>
            </a:r>
            <a:endParaRPr lang="en-US" altLang="zh-TW" sz="20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457200" indent="-457200">
              <a:lnSpc>
                <a:spcPct val="150000"/>
              </a:lnSpc>
              <a:buFont typeface="+mj-lt"/>
              <a:buAutoNum type="arabicPeriod"/>
            </a:pPr>
            <a:r>
              <a:rPr lang="zh-TW" altLang="en-US" sz="2000" b="1" dirty="0">
                <a:solidFill>
                  <a:schemeClr val="tx1">
                    <a:lumMod val="75000"/>
                    <a:lumOff val="25000"/>
                  </a:schemeClr>
                </a:solidFill>
                <a:latin typeface="微軟正黑體" panose="020B0604030504040204" pitchFamily="34" charset="-120"/>
                <a:ea typeface="微軟正黑體" panose="020B0604030504040204" pitchFamily="34" charset="-120"/>
              </a:rPr>
              <a:t>易造成種植業者在成本與人力上的增加</a:t>
            </a:r>
          </a:p>
        </p:txBody>
      </p:sp>
    </p:spTree>
    <p:extLst>
      <p:ext uri="{BB962C8B-B14F-4D97-AF65-F5344CB8AC3E}">
        <p14:creationId xmlns:p14="http://schemas.microsoft.com/office/powerpoint/2010/main" val="693225093"/>
      </p:ext>
    </p:extLst>
  </p:cSld>
  <p:clrMapOvr>
    <a:masterClrMapping/>
  </p:clrMapOvr>
  <mc:AlternateContent xmlns:mc="http://schemas.openxmlformats.org/markup-compatibility/2006" xmlns:p14="http://schemas.microsoft.com/office/powerpoint/2010/main">
    <mc:Choice Requires="p14">
      <p:transition spd="slow" p14:dur="1600">
        <p14:prism isInverted="1"/>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circle(in)">
                                      <p:cBhvr>
                                        <p:cTn id="7" dur="1500"/>
                                        <p:tgtEl>
                                          <p:spTgt spid="46"/>
                                        </p:tgtEl>
                                      </p:cBhvr>
                                    </p:animEffect>
                                  </p:childTnLst>
                                </p:cTn>
                              </p:par>
                            </p:childTnLst>
                          </p:cTn>
                        </p:par>
                        <p:par>
                          <p:cTn id="8" fill="hold">
                            <p:stCondLst>
                              <p:cond delay="1500"/>
                            </p:stCondLst>
                            <p:childTnLst>
                              <p:par>
                                <p:cTn id="9" presetID="16" presetClass="entr" presetSubtype="21" fill="hold" grpId="0" nodeType="afterEffect">
                                  <p:stCondLst>
                                    <p:cond delay="0"/>
                                  </p:stCondLst>
                                  <p:childTnLst>
                                    <p:set>
                                      <p:cBhvr>
                                        <p:cTn id="10" dur="1" fill="hold">
                                          <p:stCondLst>
                                            <p:cond delay="0"/>
                                          </p:stCondLst>
                                        </p:cTn>
                                        <p:tgtEl>
                                          <p:spTgt spid="48"/>
                                        </p:tgtEl>
                                        <p:attrNameLst>
                                          <p:attrName>style.visibility</p:attrName>
                                        </p:attrNameLst>
                                      </p:cBhvr>
                                      <p:to>
                                        <p:strVal val="visible"/>
                                      </p:to>
                                    </p:set>
                                    <p:animEffect transition="in" filter="barn(inVertical)">
                                      <p:cBhvr>
                                        <p:cTn id="11" dur="500"/>
                                        <p:tgtEl>
                                          <p:spTgt spid="48"/>
                                        </p:tgtEl>
                                      </p:cBhvr>
                                    </p:animEffect>
                                  </p:childTnLst>
                                </p:cTn>
                              </p:par>
                            </p:childTnLst>
                          </p:cTn>
                        </p:par>
                        <p:par>
                          <p:cTn id="12" fill="hold">
                            <p:stCondLst>
                              <p:cond delay="2000"/>
                            </p:stCondLst>
                            <p:childTnLst>
                              <p:par>
                                <p:cTn id="13" presetID="2" presetClass="entr" presetSubtype="8" fill="hold" nodeType="afterEffect">
                                  <p:stCondLst>
                                    <p:cond delay="0"/>
                                  </p:stCondLst>
                                  <p:childTnLst>
                                    <p:set>
                                      <p:cBhvr>
                                        <p:cTn id="14" dur="1" fill="hold">
                                          <p:stCondLst>
                                            <p:cond delay="0"/>
                                          </p:stCondLst>
                                        </p:cTn>
                                        <p:tgtEl>
                                          <p:spTgt spid="33"/>
                                        </p:tgtEl>
                                        <p:attrNameLst>
                                          <p:attrName>style.visibility</p:attrName>
                                        </p:attrNameLst>
                                      </p:cBhvr>
                                      <p:to>
                                        <p:strVal val="visible"/>
                                      </p:to>
                                    </p:set>
                                    <p:anim calcmode="lin" valueType="num">
                                      <p:cBhvr additive="base">
                                        <p:cTn id="15" dur="500" fill="hold"/>
                                        <p:tgtEl>
                                          <p:spTgt spid="33"/>
                                        </p:tgtEl>
                                        <p:attrNameLst>
                                          <p:attrName>ppt_x</p:attrName>
                                        </p:attrNameLst>
                                      </p:cBhvr>
                                      <p:tavLst>
                                        <p:tav tm="0">
                                          <p:val>
                                            <p:strVal val="0-#ppt_w/2"/>
                                          </p:val>
                                        </p:tav>
                                        <p:tav tm="100000">
                                          <p:val>
                                            <p:strVal val="#ppt_x"/>
                                          </p:val>
                                        </p:tav>
                                      </p:tavLst>
                                    </p:anim>
                                    <p:anim calcmode="lin" valueType="num">
                                      <p:cBhvr additive="base">
                                        <p:cTn id="16" dur="500" fill="hold"/>
                                        <p:tgtEl>
                                          <p:spTgt spid="33"/>
                                        </p:tgtEl>
                                        <p:attrNameLst>
                                          <p:attrName>ppt_y</p:attrName>
                                        </p:attrNameLst>
                                      </p:cBhvr>
                                      <p:tavLst>
                                        <p:tav tm="0">
                                          <p:val>
                                            <p:strVal val="#ppt_y"/>
                                          </p:val>
                                        </p:tav>
                                        <p:tav tm="100000">
                                          <p:val>
                                            <p:strVal val="#ppt_y"/>
                                          </p:val>
                                        </p:tav>
                                      </p:tavLst>
                                    </p:anim>
                                  </p:childTnLst>
                                </p:cTn>
                              </p:par>
                            </p:childTnLst>
                          </p:cTn>
                        </p:par>
                        <p:par>
                          <p:cTn id="17" fill="hold">
                            <p:stCondLst>
                              <p:cond delay="2500"/>
                            </p:stCondLst>
                            <p:childTnLst>
                              <p:par>
                                <p:cTn id="18" presetID="16" presetClass="entr" presetSubtype="21" fill="hold" nodeType="afterEffect" nodePh="1">
                                  <p:stCondLst>
                                    <p:cond delay="0"/>
                                  </p:stCondLst>
                                  <p:endCondLst>
                                    <p:cond evt="begin" delay="0">
                                      <p:tn val="18"/>
                                    </p:cond>
                                  </p:endCondLst>
                                  <p:childTnLst>
                                    <p:set>
                                      <p:cBhvr>
                                        <p:cTn id="19" dur="1" fill="hold">
                                          <p:stCondLst>
                                            <p:cond delay="0"/>
                                          </p:stCondLst>
                                        </p:cTn>
                                        <p:tgtEl>
                                          <p:spTgt spid="10">
                                            <p:txEl>
                                              <p:pRg st="0" end="0"/>
                                            </p:txEl>
                                          </p:spTgt>
                                        </p:tgtEl>
                                        <p:attrNameLst>
                                          <p:attrName>style.visibility</p:attrName>
                                        </p:attrNameLst>
                                      </p:cBhvr>
                                      <p:to>
                                        <p:strVal val="visible"/>
                                      </p:to>
                                    </p:set>
                                    <p:animEffect transition="in" filter="barn(inVertical)">
                                      <p:cBhvr>
                                        <p:cTn id="20" dur="500"/>
                                        <p:tgtEl>
                                          <p:spTgt spid="10">
                                            <p:txEl>
                                              <p:pRg st="0" end="0"/>
                                            </p:txEl>
                                          </p:spTgt>
                                        </p:tgtEl>
                                      </p:cBhvr>
                                    </p:animEffect>
                                  </p:childTnLst>
                                </p:cTn>
                              </p:par>
                            </p:childTnLst>
                          </p:cTn>
                        </p:par>
                        <p:par>
                          <p:cTn id="21" fill="hold">
                            <p:stCondLst>
                              <p:cond delay="3000"/>
                            </p:stCondLst>
                            <p:childTnLst>
                              <p:par>
                                <p:cTn id="22" presetID="16" presetClass="entr" presetSubtype="21" fill="hold" grpId="0" nodeType="after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barn(inVertical)">
                                      <p:cBhvr>
                                        <p:cTn id="24" dur="500"/>
                                        <p:tgtEl>
                                          <p:spTgt spid="12"/>
                                        </p:tgtEl>
                                      </p:cBhvr>
                                    </p:animEffect>
                                  </p:childTnLst>
                                </p:cTn>
                              </p:par>
                            </p:childTnLst>
                          </p:cTn>
                        </p:par>
                        <p:par>
                          <p:cTn id="25" fill="hold">
                            <p:stCondLst>
                              <p:cond delay="3500"/>
                            </p:stCondLst>
                            <p:childTnLst>
                              <p:par>
                                <p:cTn id="26" presetID="53" presetClass="entr" presetSubtype="16" fill="hold" nodeType="afterEffect">
                                  <p:stCondLst>
                                    <p:cond delay="0"/>
                                  </p:stCondLst>
                                  <p:childTnLst>
                                    <p:set>
                                      <p:cBhvr>
                                        <p:cTn id="27" dur="1" fill="hold">
                                          <p:stCondLst>
                                            <p:cond delay="0"/>
                                          </p:stCondLst>
                                        </p:cTn>
                                        <p:tgtEl>
                                          <p:spTgt spid="2"/>
                                        </p:tgtEl>
                                        <p:attrNameLst>
                                          <p:attrName>style.visibility</p:attrName>
                                        </p:attrNameLst>
                                      </p:cBhvr>
                                      <p:to>
                                        <p:strVal val="visible"/>
                                      </p:to>
                                    </p:set>
                                    <p:anim calcmode="lin" valueType="num">
                                      <p:cBhvr>
                                        <p:cTn id="28" dur="500" fill="hold"/>
                                        <p:tgtEl>
                                          <p:spTgt spid="2"/>
                                        </p:tgtEl>
                                        <p:attrNameLst>
                                          <p:attrName>ppt_w</p:attrName>
                                        </p:attrNameLst>
                                      </p:cBhvr>
                                      <p:tavLst>
                                        <p:tav tm="0">
                                          <p:val>
                                            <p:fltVal val="0"/>
                                          </p:val>
                                        </p:tav>
                                        <p:tav tm="100000">
                                          <p:val>
                                            <p:strVal val="#ppt_w"/>
                                          </p:val>
                                        </p:tav>
                                      </p:tavLst>
                                    </p:anim>
                                    <p:anim calcmode="lin" valueType="num">
                                      <p:cBhvr>
                                        <p:cTn id="29" dur="500" fill="hold"/>
                                        <p:tgtEl>
                                          <p:spTgt spid="2"/>
                                        </p:tgtEl>
                                        <p:attrNameLst>
                                          <p:attrName>ppt_h</p:attrName>
                                        </p:attrNameLst>
                                      </p:cBhvr>
                                      <p:tavLst>
                                        <p:tav tm="0">
                                          <p:val>
                                            <p:fltVal val="0"/>
                                          </p:val>
                                        </p:tav>
                                        <p:tav tm="100000">
                                          <p:val>
                                            <p:strVal val="#ppt_h"/>
                                          </p:val>
                                        </p:tav>
                                      </p:tavLst>
                                    </p:anim>
                                    <p:animEffect transition="in" filter="fade">
                                      <p:cBhvr>
                                        <p:cTn id="30" dur="500"/>
                                        <p:tgtEl>
                                          <p:spTgt spid="2"/>
                                        </p:tgtEl>
                                      </p:cBhvr>
                                    </p:animEffect>
                                  </p:childTnLst>
                                </p:cTn>
                              </p:par>
                            </p:childTnLst>
                          </p:cTn>
                        </p:par>
                        <p:par>
                          <p:cTn id="31" fill="hold">
                            <p:stCondLst>
                              <p:cond delay="4000"/>
                            </p:stCondLst>
                            <p:childTnLst>
                              <p:par>
                                <p:cTn id="32" presetID="16" presetClass="entr" presetSubtype="37" fill="hold" grpId="0" nodeType="afterEffect">
                                  <p:stCondLst>
                                    <p:cond delay="0"/>
                                  </p:stCondLst>
                                  <p:childTnLst>
                                    <p:set>
                                      <p:cBhvr>
                                        <p:cTn id="33" dur="1" fill="hold">
                                          <p:stCondLst>
                                            <p:cond delay="0"/>
                                          </p:stCondLst>
                                        </p:cTn>
                                        <p:tgtEl>
                                          <p:spTgt spid="3"/>
                                        </p:tgtEl>
                                        <p:attrNameLst>
                                          <p:attrName>style.visibility</p:attrName>
                                        </p:attrNameLst>
                                      </p:cBhvr>
                                      <p:to>
                                        <p:strVal val="visible"/>
                                      </p:to>
                                    </p:set>
                                    <p:animEffect transition="in" filter="barn(outVertical)">
                                      <p:cBhvr>
                                        <p:cTn id="34"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p:bldP spid="48" grpId="0"/>
      <p:bldP spid="12" grpId="0"/>
      <p:bldP spid="3"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2"/>
          <a:stretch>
            <a:fillRect/>
          </a:stretch>
        </p:blipFill>
        <p:spPr>
          <a:xfrm rot="16200000">
            <a:off x="145169" y="-145167"/>
            <a:ext cx="1268414" cy="1558750"/>
          </a:xfrm>
          <a:prstGeom prst="rect">
            <a:avLst/>
          </a:prstGeom>
        </p:spPr>
      </p:pic>
      <p:sp>
        <p:nvSpPr>
          <p:cNvPr id="9" name="文字方塊 8">
            <a:extLst>
              <a:ext uri="{FF2B5EF4-FFF2-40B4-BE49-F238E27FC236}">
                <a16:creationId xmlns:a16="http://schemas.microsoft.com/office/drawing/2014/main" id="{81D0666A-D96D-4B5B-9036-192FA53FE435}"/>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cxnSp>
        <p:nvCxnSpPr>
          <p:cNvPr id="33" name="直接连接符 33">
            <a:extLst>
              <a:ext uri="{FF2B5EF4-FFF2-40B4-BE49-F238E27FC236}">
                <a16:creationId xmlns:a16="http://schemas.microsoft.com/office/drawing/2014/main" id="{DFF80DCD-8EF0-4D2F-8380-59FA348D932C}"/>
              </a:ext>
            </a:extLst>
          </p:cNvPr>
          <p:cNvCxnSpPr/>
          <p:nvPr/>
        </p:nvCxnSpPr>
        <p:spPr>
          <a:xfrm>
            <a:off x="1177167" y="1046746"/>
            <a:ext cx="10585176"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6" name="標題 1"/>
          <p:cNvSpPr txBox="1">
            <a:spLocks/>
          </p:cNvSpPr>
          <p:nvPr/>
        </p:nvSpPr>
        <p:spPr>
          <a:xfrm>
            <a:off x="854426" y="112999"/>
            <a:ext cx="5288853"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7-3 </a:t>
            </a:r>
            <a:r>
              <a:rPr lang="zh-TW" altLang="en-US" sz="2400" b="1" dirty="0">
                <a:solidFill>
                  <a:srgbClr val="E06741"/>
                </a:solidFill>
              </a:rPr>
              <a:t>實務案例</a:t>
            </a:r>
            <a:r>
              <a:rPr lang="en-US" altLang="zh-TW" sz="2400" b="1" dirty="0">
                <a:solidFill>
                  <a:srgbClr val="E06741"/>
                </a:solidFill>
              </a:rPr>
              <a:t>-</a:t>
            </a:r>
            <a:r>
              <a:rPr lang="zh-TW" altLang="en-US" sz="2400" b="1" dirty="0">
                <a:solidFill>
                  <a:srgbClr val="E06741"/>
                </a:solidFill>
              </a:rPr>
              <a:t>農產履歷</a:t>
            </a:r>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sp>
        <p:nvSpPr>
          <p:cNvPr id="48" name="文字方塊 47">
            <a:extLst>
              <a:ext uri="{FF2B5EF4-FFF2-40B4-BE49-F238E27FC236}">
                <a16:creationId xmlns:a16="http://schemas.microsoft.com/office/drawing/2014/main" id="{AD7F4831-1A36-4A2F-ACBE-344F724510DC}"/>
              </a:ext>
            </a:extLst>
          </p:cNvPr>
          <p:cNvSpPr txBox="1"/>
          <p:nvPr/>
        </p:nvSpPr>
        <p:spPr>
          <a:xfrm>
            <a:off x="5130089" y="350241"/>
            <a:ext cx="2242922"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-2</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案例區塊鍊運用</a:t>
            </a:r>
          </a:p>
        </p:txBody>
      </p:sp>
      <p:sp>
        <p:nvSpPr>
          <p:cNvPr id="10" name="文字方塊 9">
            <a:extLst>
              <a:ext uri="{FF2B5EF4-FFF2-40B4-BE49-F238E27FC236}">
                <a16:creationId xmlns:a16="http://schemas.microsoft.com/office/drawing/2014/main" id="{BF94E171-0176-49DD-BE6C-DB2D96B94A88}"/>
              </a:ext>
            </a:extLst>
          </p:cNvPr>
          <p:cNvSpPr txBox="1"/>
          <p:nvPr/>
        </p:nvSpPr>
        <p:spPr>
          <a:xfrm>
            <a:off x="1177909" y="1816484"/>
            <a:ext cx="9663430" cy="578492"/>
          </a:xfrm>
          <a:prstGeom prst="rect">
            <a:avLst/>
          </a:prstGeom>
          <a:noFill/>
        </p:spPr>
        <p:txBody>
          <a:bodyPr wrap="square" rtlCol="0">
            <a:spAutoFit/>
          </a:bodyPr>
          <a:lstStyle/>
          <a:p>
            <a:pPr marL="342900" indent="-342900">
              <a:lnSpc>
                <a:spcPct val="150000"/>
              </a:lnSpc>
              <a:buBlip>
                <a:blip r:embed="rId3"/>
              </a:buBlip>
            </a:pP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sp>
        <p:nvSpPr>
          <p:cNvPr id="12" name="文字方塊 11">
            <a:extLst>
              <a:ext uri="{FF2B5EF4-FFF2-40B4-BE49-F238E27FC236}">
                <a16:creationId xmlns:a16="http://schemas.microsoft.com/office/drawing/2014/main" id="{BF94E171-0176-49DD-BE6C-DB2D96B94A88}"/>
              </a:ext>
            </a:extLst>
          </p:cNvPr>
          <p:cNvSpPr txBox="1"/>
          <p:nvPr/>
        </p:nvSpPr>
        <p:spPr>
          <a:xfrm>
            <a:off x="1054671" y="1100593"/>
            <a:ext cx="9909905" cy="646331"/>
          </a:xfrm>
          <a:prstGeom prst="rect">
            <a:avLst/>
          </a:prstGeom>
          <a:noFill/>
        </p:spPr>
        <p:txBody>
          <a:bodyPr wrap="square" rtlCol="0">
            <a:spAutoFit/>
          </a:bodyPr>
          <a:lstStyle/>
          <a:p>
            <a:pPr marL="342900" indent="-342900">
              <a:lnSpc>
                <a:spcPct val="150000"/>
              </a:lnSpc>
              <a:buBlip>
                <a:blip r:embed="rId3"/>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區域鍊馬鈴薯產銷交易</a:t>
            </a:r>
          </a:p>
        </p:txBody>
      </p:sp>
      <p:pic>
        <p:nvPicPr>
          <p:cNvPr id="4" name="圖片 3"/>
          <p:cNvPicPr>
            <a:picLocks noChangeAspect="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1281719" y="1746924"/>
            <a:ext cx="5737917" cy="4904203"/>
          </a:xfrm>
          <a:prstGeom prst="rect">
            <a:avLst/>
          </a:prstGeom>
        </p:spPr>
      </p:pic>
      <p:sp>
        <p:nvSpPr>
          <p:cNvPr id="5" name="矩形 4"/>
          <p:cNvSpPr/>
          <p:nvPr/>
        </p:nvSpPr>
        <p:spPr>
          <a:xfrm>
            <a:off x="7246684" y="1924578"/>
            <a:ext cx="4825243" cy="2862322"/>
          </a:xfrm>
          <a:prstGeom prst="rect">
            <a:avLst/>
          </a:prstGeom>
        </p:spPr>
        <p:txBody>
          <a:bodyPr wrap="square">
            <a:spAutoFit/>
          </a:bodyPr>
          <a:lstStyle/>
          <a:p>
            <a:pPr>
              <a:lnSpc>
                <a:spcPct val="150000"/>
              </a:lnSpc>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區塊鏈馬鈴薯生產與出貨交易流程</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457200" indent="-457200">
              <a:lnSpc>
                <a:spcPct val="150000"/>
              </a:lnSpc>
              <a:buFont typeface="+mj-lt"/>
              <a:buAutoNum type="arabicPeriod"/>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可以節省很多繁瑣的程序，進而提高作業效率</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457200" indent="-457200">
              <a:lnSpc>
                <a:spcPct val="150000"/>
              </a:lnSpc>
              <a:buFont typeface="+mj-lt"/>
              <a:buAutoNum type="arabicPeriod"/>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省去很多相關時間與人力，預估可以節省農戶的種植成本。</a:t>
            </a:r>
          </a:p>
        </p:txBody>
      </p:sp>
    </p:spTree>
    <p:extLst>
      <p:ext uri="{BB962C8B-B14F-4D97-AF65-F5344CB8AC3E}">
        <p14:creationId xmlns:p14="http://schemas.microsoft.com/office/powerpoint/2010/main" val="3723333070"/>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circle(in)">
                                      <p:cBhvr>
                                        <p:cTn id="7" dur="1500"/>
                                        <p:tgtEl>
                                          <p:spTgt spid="46"/>
                                        </p:tgtEl>
                                      </p:cBhvr>
                                    </p:animEffect>
                                  </p:childTnLst>
                                </p:cTn>
                              </p:par>
                            </p:childTnLst>
                          </p:cTn>
                        </p:par>
                        <p:par>
                          <p:cTn id="8" fill="hold">
                            <p:stCondLst>
                              <p:cond delay="1500"/>
                            </p:stCondLst>
                            <p:childTnLst>
                              <p:par>
                                <p:cTn id="9" presetID="16" presetClass="entr" presetSubtype="21" fill="hold" grpId="0" nodeType="afterEffect">
                                  <p:stCondLst>
                                    <p:cond delay="0"/>
                                  </p:stCondLst>
                                  <p:childTnLst>
                                    <p:set>
                                      <p:cBhvr>
                                        <p:cTn id="10" dur="1" fill="hold">
                                          <p:stCondLst>
                                            <p:cond delay="0"/>
                                          </p:stCondLst>
                                        </p:cTn>
                                        <p:tgtEl>
                                          <p:spTgt spid="48"/>
                                        </p:tgtEl>
                                        <p:attrNameLst>
                                          <p:attrName>style.visibility</p:attrName>
                                        </p:attrNameLst>
                                      </p:cBhvr>
                                      <p:to>
                                        <p:strVal val="visible"/>
                                      </p:to>
                                    </p:set>
                                    <p:animEffect transition="in" filter="barn(inVertical)">
                                      <p:cBhvr>
                                        <p:cTn id="11" dur="500"/>
                                        <p:tgtEl>
                                          <p:spTgt spid="48"/>
                                        </p:tgtEl>
                                      </p:cBhvr>
                                    </p:animEffect>
                                  </p:childTnLst>
                                </p:cTn>
                              </p:par>
                            </p:childTnLst>
                          </p:cTn>
                        </p:par>
                        <p:par>
                          <p:cTn id="12" fill="hold">
                            <p:stCondLst>
                              <p:cond delay="2000"/>
                            </p:stCondLst>
                            <p:childTnLst>
                              <p:par>
                                <p:cTn id="13" presetID="2" presetClass="entr" presetSubtype="8" fill="hold" nodeType="afterEffect">
                                  <p:stCondLst>
                                    <p:cond delay="0"/>
                                  </p:stCondLst>
                                  <p:childTnLst>
                                    <p:set>
                                      <p:cBhvr>
                                        <p:cTn id="14" dur="1" fill="hold">
                                          <p:stCondLst>
                                            <p:cond delay="0"/>
                                          </p:stCondLst>
                                        </p:cTn>
                                        <p:tgtEl>
                                          <p:spTgt spid="33"/>
                                        </p:tgtEl>
                                        <p:attrNameLst>
                                          <p:attrName>style.visibility</p:attrName>
                                        </p:attrNameLst>
                                      </p:cBhvr>
                                      <p:to>
                                        <p:strVal val="visible"/>
                                      </p:to>
                                    </p:set>
                                    <p:anim calcmode="lin" valueType="num">
                                      <p:cBhvr additive="base">
                                        <p:cTn id="15" dur="500" fill="hold"/>
                                        <p:tgtEl>
                                          <p:spTgt spid="33"/>
                                        </p:tgtEl>
                                        <p:attrNameLst>
                                          <p:attrName>ppt_x</p:attrName>
                                        </p:attrNameLst>
                                      </p:cBhvr>
                                      <p:tavLst>
                                        <p:tav tm="0">
                                          <p:val>
                                            <p:strVal val="0-#ppt_w/2"/>
                                          </p:val>
                                        </p:tav>
                                        <p:tav tm="100000">
                                          <p:val>
                                            <p:strVal val="#ppt_x"/>
                                          </p:val>
                                        </p:tav>
                                      </p:tavLst>
                                    </p:anim>
                                    <p:anim calcmode="lin" valueType="num">
                                      <p:cBhvr additive="base">
                                        <p:cTn id="16" dur="500" fill="hold"/>
                                        <p:tgtEl>
                                          <p:spTgt spid="33"/>
                                        </p:tgtEl>
                                        <p:attrNameLst>
                                          <p:attrName>ppt_y</p:attrName>
                                        </p:attrNameLst>
                                      </p:cBhvr>
                                      <p:tavLst>
                                        <p:tav tm="0">
                                          <p:val>
                                            <p:strVal val="#ppt_y"/>
                                          </p:val>
                                        </p:tav>
                                        <p:tav tm="100000">
                                          <p:val>
                                            <p:strVal val="#ppt_y"/>
                                          </p:val>
                                        </p:tav>
                                      </p:tavLst>
                                    </p:anim>
                                  </p:childTnLst>
                                </p:cTn>
                              </p:par>
                            </p:childTnLst>
                          </p:cTn>
                        </p:par>
                        <p:par>
                          <p:cTn id="17" fill="hold">
                            <p:stCondLst>
                              <p:cond delay="2500"/>
                            </p:stCondLst>
                            <p:childTnLst>
                              <p:par>
                                <p:cTn id="18" presetID="16" presetClass="entr" presetSubtype="21" fill="hold" nodeType="afterEffect" nodePh="1">
                                  <p:stCondLst>
                                    <p:cond delay="0"/>
                                  </p:stCondLst>
                                  <p:endCondLst>
                                    <p:cond evt="begin" delay="0">
                                      <p:tn val="18"/>
                                    </p:cond>
                                  </p:endCondLst>
                                  <p:childTnLst>
                                    <p:set>
                                      <p:cBhvr>
                                        <p:cTn id="19" dur="1" fill="hold">
                                          <p:stCondLst>
                                            <p:cond delay="0"/>
                                          </p:stCondLst>
                                        </p:cTn>
                                        <p:tgtEl>
                                          <p:spTgt spid="10">
                                            <p:txEl>
                                              <p:pRg st="0" end="0"/>
                                            </p:txEl>
                                          </p:spTgt>
                                        </p:tgtEl>
                                        <p:attrNameLst>
                                          <p:attrName>style.visibility</p:attrName>
                                        </p:attrNameLst>
                                      </p:cBhvr>
                                      <p:to>
                                        <p:strVal val="visible"/>
                                      </p:to>
                                    </p:set>
                                    <p:animEffect transition="in" filter="barn(inVertical)">
                                      <p:cBhvr>
                                        <p:cTn id="20" dur="500"/>
                                        <p:tgtEl>
                                          <p:spTgt spid="10">
                                            <p:txEl>
                                              <p:pRg st="0" end="0"/>
                                            </p:txEl>
                                          </p:spTgt>
                                        </p:tgtEl>
                                      </p:cBhvr>
                                    </p:animEffect>
                                  </p:childTnLst>
                                </p:cTn>
                              </p:par>
                            </p:childTnLst>
                          </p:cTn>
                        </p:par>
                        <p:par>
                          <p:cTn id="21" fill="hold">
                            <p:stCondLst>
                              <p:cond delay="3000"/>
                            </p:stCondLst>
                            <p:childTnLst>
                              <p:par>
                                <p:cTn id="22" presetID="16" presetClass="entr" presetSubtype="21" fill="hold" grpId="0" nodeType="after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barn(inVertical)">
                                      <p:cBhvr>
                                        <p:cTn id="24" dur="500"/>
                                        <p:tgtEl>
                                          <p:spTgt spid="12"/>
                                        </p:tgtEl>
                                      </p:cBhvr>
                                    </p:animEffect>
                                  </p:childTnLst>
                                </p:cTn>
                              </p:par>
                            </p:childTnLst>
                          </p:cTn>
                        </p:par>
                        <p:par>
                          <p:cTn id="25" fill="hold">
                            <p:stCondLst>
                              <p:cond delay="3500"/>
                            </p:stCondLst>
                            <p:childTnLst>
                              <p:par>
                                <p:cTn id="26" presetID="53" presetClass="entr" presetSubtype="16" fill="hold" nodeType="afterEffect">
                                  <p:stCondLst>
                                    <p:cond delay="0"/>
                                  </p:stCondLst>
                                  <p:childTnLst>
                                    <p:set>
                                      <p:cBhvr>
                                        <p:cTn id="27" dur="1" fill="hold">
                                          <p:stCondLst>
                                            <p:cond delay="0"/>
                                          </p:stCondLst>
                                        </p:cTn>
                                        <p:tgtEl>
                                          <p:spTgt spid="4"/>
                                        </p:tgtEl>
                                        <p:attrNameLst>
                                          <p:attrName>style.visibility</p:attrName>
                                        </p:attrNameLst>
                                      </p:cBhvr>
                                      <p:to>
                                        <p:strVal val="visible"/>
                                      </p:to>
                                    </p:set>
                                    <p:anim calcmode="lin" valueType="num">
                                      <p:cBhvr>
                                        <p:cTn id="28" dur="500" fill="hold"/>
                                        <p:tgtEl>
                                          <p:spTgt spid="4"/>
                                        </p:tgtEl>
                                        <p:attrNameLst>
                                          <p:attrName>ppt_w</p:attrName>
                                        </p:attrNameLst>
                                      </p:cBhvr>
                                      <p:tavLst>
                                        <p:tav tm="0">
                                          <p:val>
                                            <p:fltVal val="0"/>
                                          </p:val>
                                        </p:tav>
                                        <p:tav tm="100000">
                                          <p:val>
                                            <p:strVal val="#ppt_w"/>
                                          </p:val>
                                        </p:tav>
                                      </p:tavLst>
                                    </p:anim>
                                    <p:anim calcmode="lin" valueType="num">
                                      <p:cBhvr>
                                        <p:cTn id="29" dur="500" fill="hold"/>
                                        <p:tgtEl>
                                          <p:spTgt spid="4"/>
                                        </p:tgtEl>
                                        <p:attrNameLst>
                                          <p:attrName>ppt_h</p:attrName>
                                        </p:attrNameLst>
                                      </p:cBhvr>
                                      <p:tavLst>
                                        <p:tav tm="0">
                                          <p:val>
                                            <p:fltVal val="0"/>
                                          </p:val>
                                        </p:tav>
                                        <p:tav tm="100000">
                                          <p:val>
                                            <p:strVal val="#ppt_h"/>
                                          </p:val>
                                        </p:tav>
                                      </p:tavLst>
                                    </p:anim>
                                    <p:animEffect transition="in" filter="fade">
                                      <p:cBhvr>
                                        <p:cTn id="30" dur="500"/>
                                        <p:tgtEl>
                                          <p:spTgt spid="4"/>
                                        </p:tgtEl>
                                      </p:cBhvr>
                                    </p:animEffect>
                                  </p:childTnLst>
                                </p:cTn>
                              </p:par>
                            </p:childTnLst>
                          </p:cTn>
                        </p:par>
                        <p:par>
                          <p:cTn id="31" fill="hold">
                            <p:stCondLst>
                              <p:cond delay="4000"/>
                            </p:stCondLst>
                            <p:childTnLst>
                              <p:par>
                                <p:cTn id="32" presetID="16" presetClass="entr" presetSubtype="21" fill="hold" grpId="0" nodeType="afterEffect">
                                  <p:stCondLst>
                                    <p:cond delay="0"/>
                                  </p:stCondLst>
                                  <p:childTnLst>
                                    <p:set>
                                      <p:cBhvr>
                                        <p:cTn id="33" dur="1" fill="hold">
                                          <p:stCondLst>
                                            <p:cond delay="0"/>
                                          </p:stCondLst>
                                        </p:cTn>
                                        <p:tgtEl>
                                          <p:spTgt spid="5"/>
                                        </p:tgtEl>
                                        <p:attrNameLst>
                                          <p:attrName>style.visibility</p:attrName>
                                        </p:attrNameLst>
                                      </p:cBhvr>
                                      <p:to>
                                        <p:strVal val="visible"/>
                                      </p:to>
                                    </p:set>
                                    <p:animEffect transition="in" filter="barn(inVertical)">
                                      <p:cBhvr>
                                        <p:cTn id="34"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p:bldP spid="48" grpId="0"/>
      <p:bldP spid="12" grpId="0"/>
      <p:bldP spid="5"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2"/>
          <a:stretch>
            <a:fillRect/>
          </a:stretch>
        </p:blipFill>
        <p:spPr>
          <a:xfrm rot="16200000">
            <a:off x="145169" y="-145167"/>
            <a:ext cx="1268414" cy="1558750"/>
          </a:xfrm>
          <a:prstGeom prst="rect">
            <a:avLst/>
          </a:prstGeom>
        </p:spPr>
      </p:pic>
      <p:sp>
        <p:nvSpPr>
          <p:cNvPr id="9" name="文字方塊 8">
            <a:extLst>
              <a:ext uri="{FF2B5EF4-FFF2-40B4-BE49-F238E27FC236}">
                <a16:creationId xmlns:a16="http://schemas.microsoft.com/office/drawing/2014/main" id="{81D0666A-D96D-4B5B-9036-192FA53FE435}"/>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cxnSp>
        <p:nvCxnSpPr>
          <p:cNvPr id="33" name="直接连接符 33">
            <a:extLst>
              <a:ext uri="{FF2B5EF4-FFF2-40B4-BE49-F238E27FC236}">
                <a16:creationId xmlns:a16="http://schemas.microsoft.com/office/drawing/2014/main" id="{DFF80DCD-8EF0-4D2F-8380-59FA348D932C}"/>
              </a:ext>
            </a:extLst>
          </p:cNvPr>
          <p:cNvCxnSpPr/>
          <p:nvPr/>
        </p:nvCxnSpPr>
        <p:spPr>
          <a:xfrm>
            <a:off x="1177167" y="1046746"/>
            <a:ext cx="10585176"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6" name="標題 1"/>
          <p:cNvSpPr txBox="1">
            <a:spLocks/>
          </p:cNvSpPr>
          <p:nvPr/>
        </p:nvSpPr>
        <p:spPr>
          <a:xfrm>
            <a:off x="854426" y="112999"/>
            <a:ext cx="5288853"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7-3 </a:t>
            </a:r>
            <a:r>
              <a:rPr lang="zh-TW" altLang="en-US" sz="2400" b="1" dirty="0">
                <a:solidFill>
                  <a:srgbClr val="E06741"/>
                </a:solidFill>
              </a:rPr>
              <a:t>實務案例</a:t>
            </a:r>
            <a:r>
              <a:rPr lang="en-US" altLang="zh-TW" sz="2400" b="1" dirty="0">
                <a:solidFill>
                  <a:srgbClr val="E06741"/>
                </a:solidFill>
              </a:rPr>
              <a:t>-</a:t>
            </a:r>
            <a:r>
              <a:rPr lang="zh-TW" altLang="en-US" sz="2400" b="1" dirty="0">
                <a:solidFill>
                  <a:srgbClr val="E06741"/>
                </a:solidFill>
              </a:rPr>
              <a:t>農產履歷</a:t>
            </a:r>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sp>
        <p:nvSpPr>
          <p:cNvPr id="48" name="文字方塊 47">
            <a:extLst>
              <a:ext uri="{FF2B5EF4-FFF2-40B4-BE49-F238E27FC236}">
                <a16:creationId xmlns:a16="http://schemas.microsoft.com/office/drawing/2014/main" id="{AD7F4831-1A36-4A2F-ACBE-344F724510DC}"/>
              </a:ext>
            </a:extLst>
          </p:cNvPr>
          <p:cNvSpPr txBox="1"/>
          <p:nvPr/>
        </p:nvSpPr>
        <p:spPr>
          <a:xfrm>
            <a:off x="5130089" y="350241"/>
            <a:ext cx="2242922"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-2</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案例區塊鍊運用</a:t>
            </a:r>
          </a:p>
        </p:txBody>
      </p:sp>
      <p:sp>
        <p:nvSpPr>
          <p:cNvPr id="10" name="文字方塊 9">
            <a:extLst>
              <a:ext uri="{FF2B5EF4-FFF2-40B4-BE49-F238E27FC236}">
                <a16:creationId xmlns:a16="http://schemas.microsoft.com/office/drawing/2014/main" id="{BF94E171-0176-49DD-BE6C-DB2D96B94A88}"/>
              </a:ext>
            </a:extLst>
          </p:cNvPr>
          <p:cNvSpPr txBox="1"/>
          <p:nvPr/>
        </p:nvSpPr>
        <p:spPr>
          <a:xfrm>
            <a:off x="1177167" y="1818274"/>
            <a:ext cx="9663430" cy="578492"/>
          </a:xfrm>
          <a:prstGeom prst="rect">
            <a:avLst/>
          </a:prstGeom>
          <a:noFill/>
        </p:spPr>
        <p:txBody>
          <a:bodyPr wrap="square" rtlCol="0">
            <a:spAutoFit/>
          </a:bodyPr>
          <a:lstStyle/>
          <a:p>
            <a:pPr marL="342900" indent="-342900">
              <a:lnSpc>
                <a:spcPct val="150000"/>
              </a:lnSpc>
              <a:buBlip>
                <a:blip r:embed="rId3"/>
              </a:buBlip>
            </a:pP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sp>
        <p:nvSpPr>
          <p:cNvPr id="12" name="文字方塊 11">
            <a:extLst>
              <a:ext uri="{FF2B5EF4-FFF2-40B4-BE49-F238E27FC236}">
                <a16:creationId xmlns:a16="http://schemas.microsoft.com/office/drawing/2014/main" id="{BF94E171-0176-49DD-BE6C-DB2D96B94A88}"/>
              </a:ext>
            </a:extLst>
          </p:cNvPr>
          <p:cNvSpPr txBox="1"/>
          <p:nvPr/>
        </p:nvSpPr>
        <p:spPr>
          <a:xfrm>
            <a:off x="1054671" y="1100593"/>
            <a:ext cx="9909905" cy="578492"/>
          </a:xfrm>
          <a:prstGeom prst="rect">
            <a:avLst/>
          </a:prstGeom>
          <a:noFill/>
        </p:spPr>
        <p:txBody>
          <a:bodyPr wrap="square" rtlCol="0">
            <a:spAutoFit/>
          </a:bodyPr>
          <a:lstStyle/>
          <a:p>
            <a:pPr marL="342900" indent="-342900">
              <a:lnSpc>
                <a:spcPct val="150000"/>
              </a:lnSpc>
              <a:buBlip>
                <a:blip r:embed="rId3"/>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馬鈴薯模擬交易流程圖比較</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pic>
        <p:nvPicPr>
          <p:cNvPr id="4" name="圖片 3"/>
          <p:cNvPicPr>
            <a:picLocks noChangeAspect="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3326916" y="1679085"/>
            <a:ext cx="5798611" cy="4908774"/>
          </a:xfrm>
          <a:prstGeom prst="rect">
            <a:avLst/>
          </a:prstGeom>
        </p:spPr>
      </p:pic>
      <p:sp>
        <p:nvSpPr>
          <p:cNvPr id="13" name="文字方塊 12">
            <a:extLst>
              <a:ext uri="{FF2B5EF4-FFF2-40B4-BE49-F238E27FC236}">
                <a16:creationId xmlns:a16="http://schemas.microsoft.com/office/drawing/2014/main" id="{BF94E171-0176-49DD-BE6C-DB2D96B94A88}"/>
              </a:ext>
            </a:extLst>
          </p:cNvPr>
          <p:cNvSpPr txBox="1"/>
          <p:nvPr/>
        </p:nvSpPr>
        <p:spPr>
          <a:xfrm>
            <a:off x="1177167" y="1669214"/>
            <a:ext cx="4077506" cy="578492"/>
          </a:xfrm>
          <a:prstGeom prst="rect">
            <a:avLst/>
          </a:prstGeom>
          <a:noFill/>
        </p:spPr>
        <p:txBody>
          <a:bodyPr wrap="square" rtlCol="0">
            <a:spAutoFit/>
          </a:bodyPr>
          <a:lstStyle/>
          <a:p>
            <a:pPr marL="342900" indent="-342900">
              <a:lnSpc>
                <a:spcPct val="150000"/>
              </a:lnSpc>
              <a:buBlip>
                <a:blip r:embed="rId3"/>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傳統生產</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3940180101"/>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circle(in)">
                                      <p:cBhvr>
                                        <p:cTn id="7" dur="1500"/>
                                        <p:tgtEl>
                                          <p:spTgt spid="46"/>
                                        </p:tgtEl>
                                      </p:cBhvr>
                                    </p:animEffect>
                                  </p:childTnLst>
                                </p:cTn>
                              </p:par>
                            </p:childTnLst>
                          </p:cTn>
                        </p:par>
                        <p:par>
                          <p:cTn id="8" fill="hold">
                            <p:stCondLst>
                              <p:cond delay="1500"/>
                            </p:stCondLst>
                            <p:childTnLst>
                              <p:par>
                                <p:cTn id="9" presetID="16" presetClass="entr" presetSubtype="21" fill="hold" grpId="0" nodeType="afterEffect">
                                  <p:stCondLst>
                                    <p:cond delay="0"/>
                                  </p:stCondLst>
                                  <p:childTnLst>
                                    <p:set>
                                      <p:cBhvr>
                                        <p:cTn id="10" dur="1" fill="hold">
                                          <p:stCondLst>
                                            <p:cond delay="0"/>
                                          </p:stCondLst>
                                        </p:cTn>
                                        <p:tgtEl>
                                          <p:spTgt spid="48"/>
                                        </p:tgtEl>
                                        <p:attrNameLst>
                                          <p:attrName>style.visibility</p:attrName>
                                        </p:attrNameLst>
                                      </p:cBhvr>
                                      <p:to>
                                        <p:strVal val="visible"/>
                                      </p:to>
                                    </p:set>
                                    <p:animEffect transition="in" filter="barn(inVertical)">
                                      <p:cBhvr>
                                        <p:cTn id="11" dur="500"/>
                                        <p:tgtEl>
                                          <p:spTgt spid="48"/>
                                        </p:tgtEl>
                                      </p:cBhvr>
                                    </p:animEffect>
                                  </p:childTnLst>
                                </p:cTn>
                              </p:par>
                            </p:childTnLst>
                          </p:cTn>
                        </p:par>
                        <p:par>
                          <p:cTn id="12" fill="hold">
                            <p:stCondLst>
                              <p:cond delay="2000"/>
                            </p:stCondLst>
                            <p:childTnLst>
                              <p:par>
                                <p:cTn id="13" presetID="2" presetClass="entr" presetSubtype="8" fill="hold" nodeType="afterEffect">
                                  <p:stCondLst>
                                    <p:cond delay="0"/>
                                  </p:stCondLst>
                                  <p:childTnLst>
                                    <p:set>
                                      <p:cBhvr>
                                        <p:cTn id="14" dur="1" fill="hold">
                                          <p:stCondLst>
                                            <p:cond delay="0"/>
                                          </p:stCondLst>
                                        </p:cTn>
                                        <p:tgtEl>
                                          <p:spTgt spid="33"/>
                                        </p:tgtEl>
                                        <p:attrNameLst>
                                          <p:attrName>style.visibility</p:attrName>
                                        </p:attrNameLst>
                                      </p:cBhvr>
                                      <p:to>
                                        <p:strVal val="visible"/>
                                      </p:to>
                                    </p:set>
                                    <p:anim calcmode="lin" valueType="num">
                                      <p:cBhvr additive="base">
                                        <p:cTn id="15" dur="500" fill="hold"/>
                                        <p:tgtEl>
                                          <p:spTgt spid="33"/>
                                        </p:tgtEl>
                                        <p:attrNameLst>
                                          <p:attrName>ppt_x</p:attrName>
                                        </p:attrNameLst>
                                      </p:cBhvr>
                                      <p:tavLst>
                                        <p:tav tm="0">
                                          <p:val>
                                            <p:strVal val="0-#ppt_w/2"/>
                                          </p:val>
                                        </p:tav>
                                        <p:tav tm="100000">
                                          <p:val>
                                            <p:strVal val="#ppt_x"/>
                                          </p:val>
                                        </p:tav>
                                      </p:tavLst>
                                    </p:anim>
                                    <p:anim calcmode="lin" valueType="num">
                                      <p:cBhvr additive="base">
                                        <p:cTn id="16" dur="500" fill="hold"/>
                                        <p:tgtEl>
                                          <p:spTgt spid="33"/>
                                        </p:tgtEl>
                                        <p:attrNameLst>
                                          <p:attrName>ppt_y</p:attrName>
                                        </p:attrNameLst>
                                      </p:cBhvr>
                                      <p:tavLst>
                                        <p:tav tm="0">
                                          <p:val>
                                            <p:strVal val="#ppt_y"/>
                                          </p:val>
                                        </p:tav>
                                        <p:tav tm="100000">
                                          <p:val>
                                            <p:strVal val="#ppt_y"/>
                                          </p:val>
                                        </p:tav>
                                      </p:tavLst>
                                    </p:anim>
                                  </p:childTnLst>
                                </p:cTn>
                              </p:par>
                            </p:childTnLst>
                          </p:cTn>
                        </p:par>
                        <p:par>
                          <p:cTn id="17" fill="hold">
                            <p:stCondLst>
                              <p:cond delay="2500"/>
                            </p:stCondLst>
                            <p:childTnLst>
                              <p:par>
                                <p:cTn id="18" presetID="16" presetClass="entr" presetSubtype="21" fill="hold" nodeType="afterEffect" nodePh="1">
                                  <p:stCondLst>
                                    <p:cond delay="0"/>
                                  </p:stCondLst>
                                  <p:endCondLst>
                                    <p:cond evt="begin" delay="0">
                                      <p:tn val="18"/>
                                    </p:cond>
                                  </p:endCondLst>
                                  <p:childTnLst>
                                    <p:set>
                                      <p:cBhvr>
                                        <p:cTn id="19" dur="1" fill="hold">
                                          <p:stCondLst>
                                            <p:cond delay="0"/>
                                          </p:stCondLst>
                                        </p:cTn>
                                        <p:tgtEl>
                                          <p:spTgt spid="10">
                                            <p:txEl>
                                              <p:pRg st="0" end="0"/>
                                            </p:txEl>
                                          </p:spTgt>
                                        </p:tgtEl>
                                        <p:attrNameLst>
                                          <p:attrName>style.visibility</p:attrName>
                                        </p:attrNameLst>
                                      </p:cBhvr>
                                      <p:to>
                                        <p:strVal val="visible"/>
                                      </p:to>
                                    </p:set>
                                    <p:animEffect transition="in" filter="barn(inVertical)">
                                      <p:cBhvr>
                                        <p:cTn id="20" dur="500"/>
                                        <p:tgtEl>
                                          <p:spTgt spid="10">
                                            <p:txEl>
                                              <p:pRg st="0" end="0"/>
                                            </p:txEl>
                                          </p:spTgt>
                                        </p:tgtEl>
                                      </p:cBhvr>
                                    </p:animEffect>
                                  </p:childTnLst>
                                </p:cTn>
                              </p:par>
                            </p:childTnLst>
                          </p:cTn>
                        </p:par>
                        <p:par>
                          <p:cTn id="21" fill="hold">
                            <p:stCondLst>
                              <p:cond delay="3000"/>
                            </p:stCondLst>
                            <p:childTnLst>
                              <p:par>
                                <p:cTn id="22" presetID="16" presetClass="entr" presetSubtype="21" fill="hold" grpId="0" nodeType="after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barn(inVertical)">
                                      <p:cBhvr>
                                        <p:cTn id="24" dur="500"/>
                                        <p:tgtEl>
                                          <p:spTgt spid="12"/>
                                        </p:tgtEl>
                                      </p:cBhvr>
                                    </p:animEffect>
                                  </p:childTnLst>
                                </p:cTn>
                              </p:par>
                            </p:childTnLst>
                          </p:cTn>
                        </p:par>
                        <p:par>
                          <p:cTn id="25" fill="hold">
                            <p:stCondLst>
                              <p:cond delay="3500"/>
                            </p:stCondLst>
                            <p:childTnLst>
                              <p:par>
                                <p:cTn id="26" presetID="16" presetClass="entr" presetSubtype="21" fill="hold" grpId="0" nodeType="after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barn(inVertical)">
                                      <p:cBhvr>
                                        <p:cTn id="28" dur="500"/>
                                        <p:tgtEl>
                                          <p:spTgt spid="13"/>
                                        </p:tgtEl>
                                      </p:cBhvr>
                                    </p:animEffect>
                                  </p:childTnLst>
                                </p:cTn>
                              </p:par>
                            </p:childTnLst>
                          </p:cTn>
                        </p:par>
                        <p:par>
                          <p:cTn id="29" fill="hold">
                            <p:stCondLst>
                              <p:cond delay="4000"/>
                            </p:stCondLst>
                            <p:childTnLst>
                              <p:par>
                                <p:cTn id="30" presetID="53" presetClass="entr" presetSubtype="16" fill="hold" nodeType="afterEffect">
                                  <p:stCondLst>
                                    <p:cond delay="0"/>
                                  </p:stCondLst>
                                  <p:childTnLst>
                                    <p:set>
                                      <p:cBhvr>
                                        <p:cTn id="31" dur="1" fill="hold">
                                          <p:stCondLst>
                                            <p:cond delay="0"/>
                                          </p:stCondLst>
                                        </p:cTn>
                                        <p:tgtEl>
                                          <p:spTgt spid="4"/>
                                        </p:tgtEl>
                                        <p:attrNameLst>
                                          <p:attrName>style.visibility</p:attrName>
                                        </p:attrNameLst>
                                      </p:cBhvr>
                                      <p:to>
                                        <p:strVal val="visible"/>
                                      </p:to>
                                    </p:set>
                                    <p:anim calcmode="lin" valueType="num">
                                      <p:cBhvr>
                                        <p:cTn id="32" dur="500" fill="hold"/>
                                        <p:tgtEl>
                                          <p:spTgt spid="4"/>
                                        </p:tgtEl>
                                        <p:attrNameLst>
                                          <p:attrName>ppt_w</p:attrName>
                                        </p:attrNameLst>
                                      </p:cBhvr>
                                      <p:tavLst>
                                        <p:tav tm="0">
                                          <p:val>
                                            <p:fltVal val="0"/>
                                          </p:val>
                                        </p:tav>
                                        <p:tav tm="100000">
                                          <p:val>
                                            <p:strVal val="#ppt_w"/>
                                          </p:val>
                                        </p:tav>
                                      </p:tavLst>
                                    </p:anim>
                                    <p:anim calcmode="lin" valueType="num">
                                      <p:cBhvr>
                                        <p:cTn id="33" dur="500" fill="hold"/>
                                        <p:tgtEl>
                                          <p:spTgt spid="4"/>
                                        </p:tgtEl>
                                        <p:attrNameLst>
                                          <p:attrName>ppt_h</p:attrName>
                                        </p:attrNameLst>
                                      </p:cBhvr>
                                      <p:tavLst>
                                        <p:tav tm="0">
                                          <p:val>
                                            <p:fltVal val="0"/>
                                          </p:val>
                                        </p:tav>
                                        <p:tav tm="100000">
                                          <p:val>
                                            <p:strVal val="#ppt_h"/>
                                          </p:val>
                                        </p:tav>
                                      </p:tavLst>
                                    </p:anim>
                                    <p:animEffect transition="in" filter="fade">
                                      <p:cBhvr>
                                        <p:cTn id="34"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p:bldP spid="48" grpId="0"/>
      <p:bldP spid="12" grpId="0"/>
      <p:bldP spid="13"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2"/>
          <a:stretch>
            <a:fillRect/>
          </a:stretch>
        </p:blipFill>
        <p:spPr>
          <a:xfrm rot="16200000">
            <a:off x="145169" y="-145167"/>
            <a:ext cx="1268414" cy="1558750"/>
          </a:xfrm>
          <a:prstGeom prst="rect">
            <a:avLst/>
          </a:prstGeom>
        </p:spPr>
      </p:pic>
      <p:sp>
        <p:nvSpPr>
          <p:cNvPr id="9" name="文字方塊 8">
            <a:extLst>
              <a:ext uri="{FF2B5EF4-FFF2-40B4-BE49-F238E27FC236}">
                <a16:creationId xmlns:a16="http://schemas.microsoft.com/office/drawing/2014/main" id="{81D0666A-D96D-4B5B-9036-192FA53FE435}"/>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cxnSp>
        <p:nvCxnSpPr>
          <p:cNvPr id="33" name="直接连接符 33">
            <a:extLst>
              <a:ext uri="{FF2B5EF4-FFF2-40B4-BE49-F238E27FC236}">
                <a16:creationId xmlns:a16="http://schemas.microsoft.com/office/drawing/2014/main" id="{DFF80DCD-8EF0-4D2F-8380-59FA348D932C}"/>
              </a:ext>
            </a:extLst>
          </p:cNvPr>
          <p:cNvCxnSpPr/>
          <p:nvPr/>
        </p:nvCxnSpPr>
        <p:spPr>
          <a:xfrm>
            <a:off x="1177167" y="1046746"/>
            <a:ext cx="10585176"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6" name="標題 1"/>
          <p:cNvSpPr txBox="1">
            <a:spLocks/>
          </p:cNvSpPr>
          <p:nvPr/>
        </p:nvSpPr>
        <p:spPr>
          <a:xfrm>
            <a:off x="854426" y="112999"/>
            <a:ext cx="5288853"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7-3 </a:t>
            </a:r>
            <a:r>
              <a:rPr lang="zh-TW" altLang="en-US" sz="2400" b="1" dirty="0">
                <a:solidFill>
                  <a:srgbClr val="E06741"/>
                </a:solidFill>
              </a:rPr>
              <a:t>實務案例</a:t>
            </a:r>
            <a:r>
              <a:rPr lang="en-US" altLang="zh-TW" sz="2400" b="1" dirty="0">
                <a:solidFill>
                  <a:srgbClr val="E06741"/>
                </a:solidFill>
              </a:rPr>
              <a:t>-</a:t>
            </a:r>
            <a:r>
              <a:rPr lang="zh-TW" altLang="en-US" sz="2400" b="1" dirty="0">
                <a:solidFill>
                  <a:srgbClr val="E06741"/>
                </a:solidFill>
              </a:rPr>
              <a:t>農產履歷</a:t>
            </a:r>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sp>
        <p:nvSpPr>
          <p:cNvPr id="48" name="文字方塊 47">
            <a:extLst>
              <a:ext uri="{FF2B5EF4-FFF2-40B4-BE49-F238E27FC236}">
                <a16:creationId xmlns:a16="http://schemas.microsoft.com/office/drawing/2014/main" id="{AD7F4831-1A36-4A2F-ACBE-344F724510DC}"/>
              </a:ext>
            </a:extLst>
          </p:cNvPr>
          <p:cNvSpPr txBox="1"/>
          <p:nvPr/>
        </p:nvSpPr>
        <p:spPr>
          <a:xfrm>
            <a:off x="5130089" y="350241"/>
            <a:ext cx="2242922"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-2</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案例區塊鍊運用</a:t>
            </a:r>
          </a:p>
        </p:txBody>
      </p:sp>
      <p:sp>
        <p:nvSpPr>
          <p:cNvPr id="10" name="文字方塊 9">
            <a:extLst>
              <a:ext uri="{FF2B5EF4-FFF2-40B4-BE49-F238E27FC236}">
                <a16:creationId xmlns:a16="http://schemas.microsoft.com/office/drawing/2014/main" id="{BF94E171-0176-49DD-BE6C-DB2D96B94A88}"/>
              </a:ext>
            </a:extLst>
          </p:cNvPr>
          <p:cNvSpPr txBox="1"/>
          <p:nvPr/>
        </p:nvSpPr>
        <p:spPr>
          <a:xfrm>
            <a:off x="1177167" y="1818274"/>
            <a:ext cx="9663430" cy="578492"/>
          </a:xfrm>
          <a:prstGeom prst="rect">
            <a:avLst/>
          </a:prstGeom>
          <a:noFill/>
        </p:spPr>
        <p:txBody>
          <a:bodyPr wrap="square" rtlCol="0">
            <a:spAutoFit/>
          </a:bodyPr>
          <a:lstStyle/>
          <a:p>
            <a:pPr marL="342900" indent="-342900">
              <a:lnSpc>
                <a:spcPct val="150000"/>
              </a:lnSpc>
              <a:buBlip>
                <a:blip r:embed="rId3"/>
              </a:buBlip>
            </a:pP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sp>
        <p:nvSpPr>
          <p:cNvPr id="12" name="文字方塊 11">
            <a:extLst>
              <a:ext uri="{FF2B5EF4-FFF2-40B4-BE49-F238E27FC236}">
                <a16:creationId xmlns:a16="http://schemas.microsoft.com/office/drawing/2014/main" id="{BF94E171-0176-49DD-BE6C-DB2D96B94A88}"/>
              </a:ext>
            </a:extLst>
          </p:cNvPr>
          <p:cNvSpPr txBox="1"/>
          <p:nvPr/>
        </p:nvSpPr>
        <p:spPr>
          <a:xfrm>
            <a:off x="1054671" y="1100593"/>
            <a:ext cx="9909905" cy="578492"/>
          </a:xfrm>
          <a:prstGeom prst="rect">
            <a:avLst/>
          </a:prstGeom>
          <a:noFill/>
        </p:spPr>
        <p:txBody>
          <a:bodyPr wrap="square" rtlCol="0">
            <a:spAutoFit/>
          </a:bodyPr>
          <a:lstStyle/>
          <a:p>
            <a:pPr marL="342900" indent="-342900">
              <a:lnSpc>
                <a:spcPct val="150000"/>
              </a:lnSpc>
              <a:buBlip>
                <a:blip r:embed="rId3"/>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馬鈴薯模擬交易流程圖比較</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sp>
        <p:nvSpPr>
          <p:cNvPr id="13" name="文字方塊 12">
            <a:extLst>
              <a:ext uri="{FF2B5EF4-FFF2-40B4-BE49-F238E27FC236}">
                <a16:creationId xmlns:a16="http://schemas.microsoft.com/office/drawing/2014/main" id="{BF94E171-0176-49DD-BE6C-DB2D96B94A88}"/>
              </a:ext>
            </a:extLst>
          </p:cNvPr>
          <p:cNvSpPr txBox="1"/>
          <p:nvPr/>
        </p:nvSpPr>
        <p:spPr>
          <a:xfrm>
            <a:off x="1177167" y="1669214"/>
            <a:ext cx="4077506" cy="578492"/>
          </a:xfrm>
          <a:prstGeom prst="rect">
            <a:avLst/>
          </a:prstGeom>
          <a:noFill/>
        </p:spPr>
        <p:txBody>
          <a:bodyPr wrap="square" rtlCol="0">
            <a:spAutoFit/>
          </a:bodyPr>
          <a:lstStyle/>
          <a:p>
            <a:pPr marL="342900" indent="-342900">
              <a:lnSpc>
                <a:spcPct val="150000"/>
              </a:lnSpc>
              <a:buBlip>
                <a:blip r:embed="rId3"/>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區域鍊生產</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pic>
        <p:nvPicPr>
          <p:cNvPr id="2" name="圖片 1"/>
          <p:cNvPicPr>
            <a:picLocks noChangeAspect="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3215920" y="1792076"/>
            <a:ext cx="8001642" cy="4804314"/>
          </a:xfrm>
          <a:prstGeom prst="rect">
            <a:avLst/>
          </a:prstGeom>
        </p:spPr>
      </p:pic>
    </p:spTree>
    <p:extLst>
      <p:ext uri="{BB962C8B-B14F-4D97-AF65-F5344CB8AC3E}">
        <p14:creationId xmlns:p14="http://schemas.microsoft.com/office/powerpoint/2010/main" val="4179083104"/>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circle(in)">
                                      <p:cBhvr>
                                        <p:cTn id="7" dur="1500"/>
                                        <p:tgtEl>
                                          <p:spTgt spid="46"/>
                                        </p:tgtEl>
                                      </p:cBhvr>
                                    </p:animEffect>
                                  </p:childTnLst>
                                </p:cTn>
                              </p:par>
                            </p:childTnLst>
                          </p:cTn>
                        </p:par>
                        <p:par>
                          <p:cTn id="8" fill="hold">
                            <p:stCondLst>
                              <p:cond delay="1500"/>
                            </p:stCondLst>
                            <p:childTnLst>
                              <p:par>
                                <p:cTn id="9" presetID="16" presetClass="entr" presetSubtype="21" fill="hold" grpId="0" nodeType="afterEffect">
                                  <p:stCondLst>
                                    <p:cond delay="0"/>
                                  </p:stCondLst>
                                  <p:childTnLst>
                                    <p:set>
                                      <p:cBhvr>
                                        <p:cTn id="10" dur="1" fill="hold">
                                          <p:stCondLst>
                                            <p:cond delay="0"/>
                                          </p:stCondLst>
                                        </p:cTn>
                                        <p:tgtEl>
                                          <p:spTgt spid="48"/>
                                        </p:tgtEl>
                                        <p:attrNameLst>
                                          <p:attrName>style.visibility</p:attrName>
                                        </p:attrNameLst>
                                      </p:cBhvr>
                                      <p:to>
                                        <p:strVal val="visible"/>
                                      </p:to>
                                    </p:set>
                                    <p:animEffect transition="in" filter="barn(inVertical)">
                                      <p:cBhvr>
                                        <p:cTn id="11" dur="500"/>
                                        <p:tgtEl>
                                          <p:spTgt spid="48"/>
                                        </p:tgtEl>
                                      </p:cBhvr>
                                    </p:animEffect>
                                  </p:childTnLst>
                                </p:cTn>
                              </p:par>
                            </p:childTnLst>
                          </p:cTn>
                        </p:par>
                        <p:par>
                          <p:cTn id="12" fill="hold">
                            <p:stCondLst>
                              <p:cond delay="2000"/>
                            </p:stCondLst>
                            <p:childTnLst>
                              <p:par>
                                <p:cTn id="13" presetID="2" presetClass="entr" presetSubtype="8" fill="hold" nodeType="afterEffect">
                                  <p:stCondLst>
                                    <p:cond delay="0"/>
                                  </p:stCondLst>
                                  <p:childTnLst>
                                    <p:set>
                                      <p:cBhvr>
                                        <p:cTn id="14" dur="1" fill="hold">
                                          <p:stCondLst>
                                            <p:cond delay="0"/>
                                          </p:stCondLst>
                                        </p:cTn>
                                        <p:tgtEl>
                                          <p:spTgt spid="33"/>
                                        </p:tgtEl>
                                        <p:attrNameLst>
                                          <p:attrName>style.visibility</p:attrName>
                                        </p:attrNameLst>
                                      </p:cBhvr>
                                      <p:to>
                                        <p:strVal val="visible"/>
                                      </p:to>
                                    </p:set>
                                    <p:anim calcmode="lin" valueType="num">
                                      <p:cBhvr additive="base">
                                        <p:cTn id="15" dur="500" fill="hold"/>
                                        <p:tgtEl>
                                          <p:spTgt spid="33"/>
                                        </p:tgtEl>
                                        <p:attrNameLst>
                                          <p:attrName>ppt_x</p:attrName>
                                        </p:attrNameLst>
                                      </p:cBhvr>
                                      <p:tavLst>
                                        <p:tav tm="0">
                                          <p:val>
                                            <p:strVal val="0-#ppt_w/2"/>
                                          </p:val>
                                        </p:tav>
                                        <p:tav tm="100000">
                                          <p:val>
                                            <p:strVal val="#ppt_x"/>
                                          </p:val>
                                        </p:tav>
                                      </p:tavLst>
                                    </p:anim>
                                    <p:anim calcmode="lin" valueType="num">
                                      <p:cBhvr additive="base">
                                        <p:cTn id="16" dur="500" fill="hold"/>
                                        <p:tgtEl>
                                          <p:spTgt spid="33"/>
                                        </p:tgtEl>
                                        <p:attrNameLst>
                                          <p:attrName>ppt_y</p:attrName>
                                        </p:attrNameLst>
                                      </p:cBhvr>
                                      <p:tavLst>
                                        <p:tav tm="0">
                                          <p:val>
                                            <p:strVal val="#ppt_y"/>
                                          </p:val>
                                        </p:tav>
                                        <p:tav tm="100000">
                                          <p:val>
                                            <p:strVal val="#ppt_y"/>
                                          </p:val>
                                        </p:tav>
                                      </p:tavLst>
                                    </p:anim>
                                  </p:childTnLst>
                                </p:cTn>
                              </p:par>
                            </p:childTnLst>
                          </p:cTn>
                        </p:par>
                        <p:par>
                          <p:cTn id="17" fill="hold">
                            <p:stCondLst>
                              <p:cond delay="2500"/>
                            </p:stCondLst>
                            <p:childTnLst>
                              <p:par>
                                <p:cTn id="18" presetID="16" presetClass="entr" presetSubtype="21" fill="hold" nodeType="afterEffect" nodePh="1">
                                  <p:stCondLst>
                                    <p:cond delay="0"/>
                                  </p:stCondLst>
                                  <p:endCondLst>
                                    <p:cond evt="begin" delay="0">
                                      <p:tn val="18"/>
                                    </p:cond>
                                  </p:endCondLst>
                                  <p:childTnLst>
                                    <p:set>
                                      <p:cBhvr>
                                        <p:cTn id="19" dur="1" fill="hold">
                                          <p:stCondLst>
                                            <p:cond delay="0"/>
                                          </p:stCondLst>
                                        </p:cTn>
                                        <p:tgtEl>
                                          <p:spTgt spid="10">
                                            <p:txEl>
                                              <p:pRg st="0" end="0"/>
                                            </p:txEl>
                                          </p:spTgt>
                                        </p:tgtEl>
                                        <p:attrNameLst>
                                          <p:attrName>style.visibility</p:attrName>
                                        </p:attrNameLst>
                                      </p:cBhvr>
                                      <p:to>
                                        <p:strVal val="visible"/>
                                      </p:to>
                                    </p:set>
                                    <p:animEffect transition="in" filter="barn(inVertical)">
                                      <p:cBhvr>
                                        <p:cTn id="20" dur="500"/>
                                        <p:tgtEl>
                                          <p:spTgt spid="10">
                                            <p:txEl>
                                              <p:pRg st="0" end="0"/>
                                            </p:txEl>
                                          </p:spTgt>
                                        </p:tgtEl>
                                      </p:cBhvr>
                                    </p:animEffect>
                                  </p:childTnLst>
                                </p:cTn>
                              </p:par>
                            </p:childTnLst>
                          </p:cTn>
                        </p:par>
                        <p:par>
                          <p:cTn id="21" fill="hold">
                            <p:stCondLst>
                              <p:cond delay="3000"/>
                            </p:stCondLst>
                            <p:childTnLst>
                              <p:par>
                                <p:cTn id="22" presetID="16" presetClass="entr" presetSubtype="21" fill="hold" grpId="0" nodeType="after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barn(inVertical)">
                                      <p:cBhvr>
                                        <p:cTn id="24" dur="500"/>
                                        <p:tgtEl>
                                          <p:spTgt spid="12"/>
                                        </p:tgtEl>
                                      </p:cBhvr>
                                    </p:animEffect>
                                  </p:childTnLst>
                                </p:cTn>
                              </p:par>
                            </p:childTnLst>
                          </p:cTn>
                        </p:par>
                        <p:par>
                          <p:cTn id="25" fill="hold">
                            <p:stCondLst>
                              <p:cond delay="3500"/>
                            </p:stCondLst>
                            <p:childTnLst>
                              <p:par>
                                <p:cTn id="26" presetID="16" presetClass="entr" presetSubtype="21" fill="hold" grpId="0" nodeType="after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barn(inVertical)">
                                      <p:cBhvr>
                                        <p:cTn id="28" dur="500"/>
                                        <p:tgtEl>
                                          <p:spTgt spid="13"/>
                                        </p:tgtEl>
                                      </p:cBhvr>
                                    </p:animEffect>
                                  </p:childTnLst>
                                </p:cTn>
                              </p:par>
                            </p:childTnLst>
                          </p:cTn>
                        </p:par>
                        <p:par>
                          <p:cTn id="29" fill="hold">
                            <p:stCondLst>
                              <p:cond delay="4000"/>
                            </p:stCondLst>
                            <p:childTnLst>
                              <p:par>
                                <p:cTn id="30" presetID="53" presetClass="entr" presetSubtype="16" fill="hold" nodeType="afterEffect">
                                  <p:stCondLst>
                                    <p:cond delay="0"/>
                                  </p:stCondLst>
                                  <p:childTnLst>
                                    <p:set>
                                      <p:cBhvr>
                                        <p:cTn id="31" dur="1" fill="hold">
                                          <p:stCondLst>
                                            <p:cond delay="0"/>
                                          </p:stCondLst>
                                        </p:cTn>
                                        <p:tgtEl>
                                          <p:spTgt spid="2"/>
                                        </p:tgtEl>
                                        <p:attrNameLst>
                                          <p:attrName>style.visibility</p:attrName>
                                        </p:attrNameLst>
                                      </p:cBhvr>
                                      <p:to>
                                        <p:strVal val="visible"/>
                                      </p:to>
                                    </p:set>
                                    <p:anim calcmode="lin" valueType="num">
                                      <p:cBhvr>
                                        <p:cTn id="32" dur="500" fill="hold"/>
                                        <p:tgtEl>
                                          <p:spTgt spid="2"/>
                                        </p:tgtEl>
                                        <p:attrNameLst>
                                          <p:attrName>ppt_w</p:attrName>
                                        </p:attrNameLst>
                                      </p:cBhvr>
                                      <p:tavLst>
                                        <p:tav tm="0">
                                          <p:val>
                                            <p:fltVal val="0"/>
                                          </p:val>
                                        </p:tav>
                                        <p:tav tm="100000">
                                          <p:val>
                                            <p:strVal val="#ppt_w"/>
                                          </p:val>
                                        </p:tav>
                                      </p:tavLst>
                                    </p:anim>
                                    <p:anim calcmode="lin" valueType="num">
                                      <p:cBhvr>
                                        <p:cTn id="33" dur="500" fill="hold"/>
                                        <p:tgtEl>
                                          <p:spTgt spid="2"/>
                                        </p:tgtEl>
                                        <p:attrNameLst>
                                          <p:attrName>ppt_h</p:attrName>
                                        </p:attrNameLst>
                                      </p:cBhvr>
                                      <p:tavLst>
                                        <p:tav tm="0">
                                          <p:val>
                                            <p:fltVal val="0"/>
                                          </p:val>
                                        </p:tav>
                                        <p:tav tm="100000">
                                          <p:val>
                                            <p:strVal val="#ppt_h"/>
                                          </p:val>
                                        </p:tav>
                                      </p:tavLst>
                                    </p:anim>
                                    <p:animEffect transition="in" filter="fade">
                                      <p:cBhvr>
                                        <p:cTn id="34"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p:bldP spid="48" grpId="0"/>
      <p:bldP spid="12" grpId="0"/>
      <p:bldP spid="13"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2"/>
          <a:stretch>
            <a:fillRect/>
          </a:stretch>
        </p:blipFill>
        <p:spPr>
          <a:xfrm rot="16200000">
            <a:off x="145169" y="-145167"/>
            <a:ext cx="1268414" cy="1558750"/>
          </a:xfrm>
          <a:prstGeom prst="rect">
            <a:avLst/>
          </a:prstGeom>
        </p:spPr>
      </p:pic>
      <p:sp>
        <p:nvSpPr>
          <p:cNvPr id="9" name="文字方塊 8">
            <a:extLst>
              <a:ext uri="{FF2B5EF4-FFF2-40B4-BE49-F238E27FC236}">
                <a16:creationId xmlns:a16="http://schemas.microsoft.com/office/drawing/2014/main" id="{81D0666A-D96D-4B5B-9036-192FA53FE435}"/>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cxnSp>
        <p:nvCxnSpPr>
          <p:cNvPr id="33" name="直接连接符 33">
            <a:extLst>
              <a:ext uri="{FF2B5EF4-FFF2-40B4-BE49-F238E27FC236}">
                <a16:creationId xmlns:a16="http://schemas.microsoft.com/office/drawing/2014/main" id="{DFF80DCD-8EF0-4D2F-8380-59FA348D932C}"/>
              </a:ext>
            </a:extLst>
          </p:cNvPr>
          <p:cNvCxnSpPr/>
          <p:nvPr/>
        </p:nvCxnSpPr>
        <p:spPr>
          <a:xfrm>
            <a:off x="1177167" y="1046746"/>
            <a:ext cx="10585176"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6" name="標題 1"/>
          <p:cNvSpPr txBox="1">
            <a:spLocks/>
          </p:cNvSpPr>
          <p:nvPr/>
        </p:nvSpPr>
        <p:spPr>
          <a:xfrm>
            <a:off x="854426" y="112999"/>
            <a:ext cx="5288853"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7-3 </a:t>
            </a:r>
            <a:r>
              <a:rPr lang="zh-TW" altLang="en-US" sz="2400" b="1" dirty="0">
                <a:solidFill>
                  <a:srgbClr val="E06741"/>
                </a:solidFill>
              </a:rPr>
              <a:t>實務案例</a:t>
            </a:r>
            <a:r>
              <a:rPr lang="en-US" altLang="zh-TW" sz="2400" b="1" dirty="0">
                <a:solidFill>
                  <a:srgbClr val="E06741"/>
                </a:solidFill>
              </a:rPr>
              <a:t>-</a:t>
            </a:r>
            <a:r>
              <a:rPr lang="zh-TW" altLang="en-US" sz="2400" b="1" dirty="0">
                <a:solidFill>
                  <a:srgbClr val="E06741"/>
                </a:solidFill>
              </a:rPr>
              <a:t>農產履歷</a:t>
            </a:r>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sp>
        <p:nvSpPr>
          <p:cNvPr id="48" name="文字方塊 47">
            <a:extLst>
              <a:ext uri="{FF2B5EF4-FFF2-40B4-BE49-F238E27FC236}">
                <a16:creationId xmlns:a16="http://schemas.microsoft.com/office/drawing/2014/main" id="{AD7F4831-1A36-4A2F-ACBE-344F724510DC}"/>
              </a:ext>
            </a:extLst>
          </p:cNvPr>
          <p:cNvSpPr txBox="1"/>
          <p:nvPr/>
        </p:nvSpPr>
        <p:spPr>
          <a:xfrm>
            <a:off x="5130089" y="350241"/>
            <a:ext cx="2242922"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-2</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案例區塊鍊運用</a:t>
            </a:r>
          </a:p>
        </p:txBody>
      </p:sp>
      <p:sp>
        <p:nvSpPr>
          <p:cNvPr id="10" name="文字方塊 9">
            <a:extLst>
              <a:ext uri="{FF2B5EF4-FFF2-40B4-BE49-F238E27FC236}">
                <a16:creationId xmlns:a16="http://schemas.microsoft.com/office/drawing/2014/main" id="{BF94E171-0176-49DD-BE6C-DB2D96B94A88}"/>
              </a:ext>
            </a:extLst>
          </p:cNvPr>
          <p:cNvSpPr txBox="1"/>
          <p:nvPr/>
        </p:nvSpPr>
        <p:spPr>
          <a:xfrm>
            <a:off x="1177167" y="1818274"/>
            <a:ext cx="9663430" cy="578492"/>
          </a:xfrm>
          <a:prstGeom prst="rect">
            <a:avLst/>
          </a:prstGeom>
          <a:noFill/>
        </p:spPr>
        <p:txBody>
          <a:bodyPr wrap="square" rtlCol="0">
            <a:spAutoFit/>
          </a:bodyPr>
          <a:lstStyle/>
          <a:p>
            <a:pPr marL="342900" indent="-342900">
              <a:lnSpc>
                <a:spcPct val="150000"/>
              </a:lnSpc>
              <a:buBlip>
                <a:blip r:embed="rId3"/>
              </a:buBlip>
            </a:pP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sp>
        <p:nvSpPr>
          <p:cNvPr id="12" name="文字方塊 11">
            <a:extLst>
              <a:ext uri="{FF2B5EF4-FFF2-40B4-BE49-F238E27FC236}">
                <a16:creationId xmlns:a16="http://schemas.microsoft.com/office/drawing/2014/main" id="{BF94E171-0176-49DD-BE6C-DB2D96B94A88}"/>
              </a:ext>
            </a:extLst>
          </p:cNvPr>
          <p:cNvSpPr txBox="1"/>
          <p:nvPr/>
        </p:nvSpPr>
        <p:spPr>
          <a:xfrm>
            <a:off x="1054671" y="1100593"/>
            <a:ext cx="9909905" cy="578492"/>
          </a:xfrm>
          <a:prstGeom prst="rect">
            <a:avLst/>
          </a:prstGeom>
          <a:noFill/>
        </p:spPr>
        <p:txBody>
          <a:bodyPr wrap="square" rtlCol="0">
            <a:spAutoFit/>
          </a:bodyPr>
          <a:lstStyle/>
          <a:p>
            <a:pPr marL="342900" indent="-342900">
              <a:lnSpc>
                <a:spcPct val="150000"/>
              </a:lnSpc>
              <a:buBlip>
                <a:blip r:embed="rId3"/>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馬鈴薯模擬交易流程圖比較</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sp>
        <p:nvSpPr>
          <p:cNvPr id="13" name="文字方塊 12">
            <a:extLst>
              <a:ext uri="{FF2B5EF4-FFF2-40B4-BE49-F238E27FC236}">
                <a16:creationId xmlns:a16="http://schemas.microsoft.com/office/drawing/2014/main" id="{BF94E171-0176-49DD-BE6C-DB2D96B94A88}"/>
              </a:ext>
            </a:extLst>
          </p:cNvPr>
          <p:cNvSpPr txBox="1"/>
          <p:nvPr/>
        </p:nvSpPr>
        <p:spPr>
          <a:xfrm>
            <a:off x="1177167" y="1669214"/>
            <a:ext cx="4077506" cy="578492"/>
          </a:xfrm>
          <a:prstGeom prst="rect">
            <a:avLst/>
          </a:prstGeom>
          <a:noFill/>
        </p:spPr>
        <p:txBody>
          <a:bodyPr wrap="square" rtlCol="0">
            <a:spAutoFit/>
          </a:bodyPr>
          <a:lstStyle/>
          <a:p>
            <a:pPr marL="342900" indent="-342900">
              <a:lnSpc>
                <a:spcPct val="150000"/>
              </a:lnSpc>
              <a:buBlip>
                <a:blip r:embed="rId3"/>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區域鍊生產</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pic>
        <p:nvPicPr>
          <p:cNvPr id="3" name="圖片 2"/>
          <p:cNvPicPr>
            <a:picLocks noChangeAspect="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3411847" y="1679085"/>
            <a:ext cx="6011207" cy="4758022"/>
          </a:xfrm>
          <a:prstGeom prst="rect">
            <a:avLst/>
          </a:prstGeom>
        </p:spPr>
      </p:pic>
    </p:spTree>
    <p:extLst>
      <p:ext uri="{BB962C8B-B14F-4D97-AF65-F5344CB8AC3E}">
        <p14:creationId xmlns:p14="http://schemas.microsoft.com/office/powerpoint/2010/main" val="1763930732"/>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circle(in)">
                                      <p:cBhvr>
                                        <p:cTn id="7" dur="1500"/>
                                        <p:tgtEl>
                                          <p:spTgt spid="46"/>
                                        </p:tgtEl>
                                      </p:cBhvr>
                                    </p:animEffect>
                                  </p:childTnLst>
                                </p:cTn>
                              </p:par>
                            </p:childTnLst>
                          </p:cTn>
                        </p:par>
                        <p:par>
                          <p:cTn id="8" fill="hold">
                            <p:stCondLst>
                              <p:cond delay="1500"/>
                            </p:stCondLst>
                            <p:childTnLst>
                              <p:par>
                                <p:cTn id="9" presetID="16" presetClass="entr" presetSubtype="21" fill="hold" grpId="0" nodeType="afterEffect">
                                  <p:stCondLst>
                                    <p:cond delay="0"/>
                                  </p:stCondLst>
                                  <p:childTnLst>
                                    <p:set>
                                      <p:cBhvr>
                                        <p:cTn id="10" dur="1" fill="hold">
                                          <p:stCondLst>
                                            <p:cond delay="0"/>
                                          </p:stCondLst>
                                        </p:cTn>
                                        <p:tgtEl>
                                          <p:spTgt spid="48"/>
                                        </p:tgtEl>
                                        <p:attrNameLst>
                                          <p:attrName>style.visibility</p:attrName>
                                        </p:attrNameLst>
                                      </p:cBhvr>
                                      <p:to>
                                        <p:strVal val="visible"/>
                                      </p:to>
                                    </p:set>
                                    <p:animEffect transition="in" filter="barn(inVertical)">
                                      <p:cBhvr>
                                        <p:cTn id="11" dur="500"/>
                                        <p:tgtEl>
                                          <p:spTgt spid="48"/>
                                        </p:tgtEl>
                                      </p:cBhvr>
                                    </p:animEffect>
                                  </p:childTnLst>
                                </p:cTn>
                              </p:par>
                            </p:childTnLst>
                          </p:cTn>
                        </p:par>
                        <p:par>
                          <p:cTn id="12" fill="hold">
                            <p:stCondLst>
                              <p:cond delay="2000"/>
                            </p:stCondLst>
                            <p:childTnLst>
                              <p:par>
                                <p:cTn id="13" presetID="2" presetClass="entr" presetSubtype="8" fill="hold" nodeType="afterEffect">
                                  <p:stCondLst>
                                    <p:cond delay="0"/>
                                  </p:stCondLst>
                                  <p:childTnLst>
                                    <p:set>
                                      <p:cBhvr>
                                        <p:cTn id="14" dur="1" fill="hold">
                                          <p:stCondLst>
                                            <p:cond delay="0"/>
                                          </p:stCondLst>
                                        </p:cTn>
                                        <p:tgtEl>
                                          <p:spTgt spid="33"/>
                                        </p:tgtEl>
                                        <p:attrNameLst>
                                          <p:attrName>style.visibility</p:attrName>
                                        </p:attrNameLst>
                                      </p:cBhvr>
                                      <p:to>
                                        <p:strVal val="visible"/>
                                      </p:to>
                                    </p:set>
                                    <p:anim calcmode="lin" valueType="num">
                                      <p:cBhvr additive="base">
                                        <p:cTn id="15" dur="500" fill="hold"/>
                                        <p:tgtEl>
                                          <p:spTgt spid="33"/>
                                        </p:tgtEl>
                                        <p:attrNameLst>
                                          <p:attrName>ppt_x</p:attrName>
                                        </p:attrNameLst>
                                      </p:cBhvr>
                                      <p:tavLst>
                                        <p:tav tm="0">
                                          <p:val>
                                            <p:strVal val="0-#ppt_w/2"/>
                                          </p:val>
                                        </p:tav>
                                        <p:tav tm="100000">
                                          <p:val>
                                            <p:strVal val="#ppt_x"/>
                                          </p:val>
                                        </p:tav>
                                      </p:tavLst>
                                    </p:anim>
                                    <p:anim calcmode="lin" valueType="num">
                                      <p:cBhvr additive="base">
                                        <p:cTn id="16" dur="500" fill="hold"/>
                                        <p:tgtEl>
                                          <p:spTgt spid="33"/>
                                        </p:tgtEl>
                                        <p:attrNameLst>
                                          <p:attrName>ppt_y</p:attrName>
                                        </p:attrNameLst>
                                      </p:cBhvr>
                                      <p:tavLst>
                                        <p:tav tm="0">
                                          <p:val>
                                            <p:strVal val="#ppt_y"/>
                                          </p:val>
                                        </p:tav>
                                        <p:tav tm="100000">
                                          <p:val>
                                            <p:strVal val="#ppt_y"/>
                                          </p:val>
                                        </p:tav>
                                      </p:tavLst>
                                    </p:anim>
                                  </p:childTnLst>
                                </p:cTn>
                              </p:par>
                            </p:childTnLst>
                          </p:cTn>
                        </p:par>
                        <p:par>
                          <p:cTn id="17" fill="hold">
                            <p:stCondLst>
                              <p:cond delay="2500"/>
                            </p:stCondLst>
                            <p:childTnLst>
                              <p:par>
                                <p:cTn id="18" presetID="16" presetClass="entr" presetSubtype="21" fill="hold" nodeType="afterEffect" nodePh="1">
                                  <p:stCondLst>
                                    <p:cond delay="0"/>
                                  </p:stCondLst>
                                  <p:endCondLst>
                                    <p:cond evt="begin" delay="0">
                                      <p:tn val="18"/>
                                    </p:cond>
                                  </p:endCondLst>
                                  <p:childTnLst>
                                    <p:set>
                                      <p:cBhvr>
                                        <p:cTn id="19" dur="1" fill="hold">
                                          <p:stCondLst>
                                            <p:cond delay="0"/>
                                          </p:stCondLst>
                                        </p:cTn>
                                        <p:tgtEl>
                                          <p:spTgt spid="10">
                                            <p:txEl>
                                              <p:pRg st="0" end="0"/>
                                            </p:txEl>
                                          </p:spTgt>
                                        </p:tgtEl>
                                        <p:attrNameLst>
                                          <p:attrName>style.visibility</p:attrName>
                                        </p:attrNameLst>
                                      </p:cBhvr>
                                      <p:to>
                                        <p:strVal val="visible"/>
                                      </p:to>
                                    </p:set>
                                    <p:animEffect transition="in" filter="barn(inVertical)">
                                      <p:cBhvr>
                                        <p:cTn id="20" dur="500"/>
                                        <p:tgtEl>
                                          <p:spTgt spid="10">
                                            <p:txEl>
                                              <p:pRg st="0" end="0"/>
                                            </p:txEl>
                                          </p:spTgt>
                                        </p:tgtEl>
                                      </p:cBhvr>
                                    </p:animEffect>
                                  </p:childTnLst>
                                </p:cTn>
                              </p:par>
                            </p:childTnLst>
                          </p:cTn>
                        </p:par>
                        <p:par>
                          <p:cTn id="21" fill="hold">
                            <p:stCondLst>
                              <p:cond delay="3000"/>
                            </p:stCondLst>
                            <p:childTnLst>
                              <p:par>
                                <p:cTn id="22" presetID="16" presetClass="entr" presetSubtype="21" fill="hold" grpId="0" nodeType="after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barn(inVertical)">
                                      <p:cBhvr>
                                        <p:cTn id="24" dur="500"/>
                                        <p:tgtEl>
                                          <p:spTgt spid="12"/>
                                        </p:tgtEl>
                                      </p:cBhvr>
                                    </p:animEffect>
                                  </p:childTnLst>
                                </p:cTn>
                              </p:par>
                            </p:childTnLst>
                          </p:cTn>
                        </p:par>
                        <p:par>
                          <p:cTn id="25" fill="hold">
                            <p:stCondLst>
                              <p:cond delay="3500"/>
                            </p:stCondLst>
                            <p:childTnLst>
                              <p:par>
                                <p:cTn id="26" presetID="16" presetClass="entr" presetSubtype="21" fill="hold" grpId="0" nodeType="after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barn(inVertical)">
                                      <p:cBhvr>
                                        <p:cTn id="28" dur="500"/>
                                        <p:tgtEl>
                                          <p:spTgt spid="13"/>
                                        </p:tgtEl>
                                      </p:cBhvr>
                                    </p:animEffect>
                                  </p:childTnLst>
                                </p:cTn>
                              </p:par>
                            </p:childTnLst>
                          </p:cTn>
                        </p:par>
                        <p:par>
                          <p:cTn id="29" fill="hold">
                            <p:stCondLst>
                              <p:cond delay="4000"/>
                            </p:stCondLst>
                            <p:childTnLst>
                              <p:par>
                                <p:cTn id="30" presetID="53" presetClass="entr" presetSubtype="16" fill="hold" nodeType="afterEffect">
                                  <p:stCondLst>
                                    <p:cond delay="0"/>
                                  </p:stCondLst>
                                  <p:childTnLst>
                                    <p:set>
                                      <p:cBhvr>
                                        <p:cTn id="31" dur="1" fill="hold">
                                          <p:stCondLst>
                                            <p:cond delay="0"/>
                                          </p:stCondLst>
                                        </p:cTn>
                                        <p:tgtEl>
                                          <p:spTgt spid="3"/>
                                        </p:tgtEl>
                                        <p:attrNameLst>
                                          <p:attrName>style.visibility</p:attrName>
                                        </p:attrNameLst>
                                      </p:cBhvr>
                                      <p:to>
                                        <p:strVal val="visible"/>
                                      </p:to>
                                    </p:set>
                                    <p:anim calcmode="lin" valueType="num">
                                      <p:cBhvr>
                                        <p:cTn id="32" dur="500" fill="hold"/>
                                        <p:tgtEl>
                                          <p:spTgt spid="3"/>
                                        </p:tgtEl>
                                        <p:attrNameLst>
                                          <p:attrName>ppt_w</p:attrName>
                                        </p:attrNameLst>
                                      </p:cBhvr>
                                      <p:tavLst>
                                        <p:tav tm="0">
                                          <p:val>
                                            <p:fltVal val="0"/>
                                          </p:val>
                                        </p:tav>
                                        <p:tav tm="100000">
                                          <p:val>
                                            <p:strVal val="#ppt_w"/>
                                          </p:val>
                                        </p:tav>
                                      </p:tavLst>
                                    </p:anim>
                                    <p:anim calcmode="lin" valueType="num">
                                      <p:cBhvr>
                                        <p:cTn id="33" dur="500" fill="hold"/>
                                        <p:tgtEl>
                                          <p:spTgt spid="3"/>
                                        </p:tgtEl>
                                        <p:attrNameLst>
                                          <p:attrName>ppt_h</p:attrName>
                                        </p:attrNameLst>
                                      </p:cBhvr>
                                      <p:tavLst>
                                        <p:tav tm="0">
                                          <p:val>
                                            <p:fltVal val="0"/>
                                          </p:val>
                                        </p:tav>
                                        <p:tav tm="100000">
                                          <p:val>
                                            <p:strVal val="#ppt_h"/>
                                          </p:val>
                                        </p:tav>
                                      </p:tavLst>
                                    </p:anim>
                                    <p:animEffect transition="in" filter="fade">
                                      <p:cBhvr>
                                        <p:cTn id="34"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p:bldP spid="48" grpId="0"/>
      <p:bldP spid="12" grpId="0"/>
      <p:bldP spid="13"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2"/>
          <a:stretch>
            <a:fillRect/>
          </a:stretch>
        </p:blipFill>
        <p:spPr>
          <a:xfrm rot="16200000">
            <a:off x="145169" y="-145167"/>
            <a:ext cx="1268414" cy="1558750"/>
          </a:xfrm>
          <a:prstGeom prst="rect">
            <a:avLst/>
          </a:prstGeom>
        </p:spPr>
      </p:pic>
      <p:sp>
        <p:nvSpPr>
          <p:cNvPr id="9" name="文字方塊 8">
            <a:extLst>
              <a:ext uri="{FF2B5EF4-FFF2-40B4-BE49-F238E27FC236}">
                <a16:creationId xmlns:a16="http://schemas.microsoft.com/office/drawing/2014/main" id="{81D0666A-D96D-4B5B-9036-192FA53FE435}"/>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cxnSp>
        <p:nvCxnSpPr>
          <p:cNvPr id="33" name="直接连接符 33">
            <a:extLst>
              <a:ext uri="{FF2B5EF4-FFF2-40B4-BE49-F238E27FC236}">
                <a16:creationId xmlns:a16="http://schemas.microsoft.com/office/drawing/2014/main" id="{DFF80DCD-8EF0-4D2F-8380-59FA348D932C}"/>
              </a:ext>
            </a:extLst>
          </p:cNvPr>
          <p:cNvCxnSpPr/>
          <p:nvPr/>
        </p:nvCxnSpPr>
        <p:spPr>
          <a:xfrm>
            <a:off x="1177167" y="1046746"/>
            <a:ext cx="10585176"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6" name="標題 1"/>
          <p:cNvSpPr txBox="1">
            <a:spLocks/>
          </p:cNvSpPr>
          <p:nvPr/>
        </p:nvSpPr>
        <p:spPr>
          <a:xfrm>
            <a:off x="854426" y="112999"/>
            <a:ext cx="5288853"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7-3 </a:t>
            </a:r>
            <a:r>
              <a:rPr lang="zh-TW" altLang="en-US" sz="2400" b="1" dirty="0">
                <a:solidFill>
                  <a:srgbClr val="E06741"/>
                </a:solidFill>
              </a:rPr>
              <a:t>實務案例</a:t>
            </a:r>
            <a:r>
              <a:rPr lang="en-US" altLang="zh-TW" sz="2400" b="1" dirty="0">
                <a:solidFill>
                  <a:srgbClr val="E06741"/>
                </a:solidFill>
              </a:rPr>
              <a:t>-</a:t>
            </a:r>
            <a:r>
              <a:rPr lang="zh-TW" altLang="en-US" sz="2400" b="1" dirty="0">
                <a:solidFill>
                  <a:srgbClr val="E06741"/>
                </a:solidFill>
              </a:rPr>
              <a:t>農產履歷</a:t>
            </a:r>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sp>
        <p:nvSpPr>
          <p:cNvPr id="48" name="文字方塊 47">
            <a:extLst>
              <a:ext uri="{FF2B5EF4-FFF2-40B4-BE49-F238E27FC236}">
                <a16:creationId xmlns:a16="http://schemas.microsoft.com/office/drawing/2014/main" id="{AD7F4831-1A36-4A2F-ACBE-344F724510DC}"/>
              </a:ext>
            </a:extLst>
          </p:cNvPr>
          <p:cNvSpPr txBox="1"/>
          <p:nvPr/>
        </p:nvSpPr>
        <p:spPr>
          <a:xfrm>
            <a:off x="5130089" y="350241"/>
            <a:ext cx="2242922"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-2</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案例區塊鍊運用</a:t>
            </a:r>
          </a:p>
        </p:txBody>
      </p:sp>
      <p:sp>
        <p:nvSpPr>
          <p:cNvPr id="10" name="文字方塊 9">
            <a:extLst>
              <a:ext uri="{FF2B5EF4-FFF2-40B4-BE49-F238E27FC236}">
                <a16:creationId xmlns:a16="http://schemas.microsoft.com/office/drawing/2014/main" id="{BF94E171-0176-49DD-BE6C-DB2D96B94A88}"/>
              </a:ext>
            </a:extLst>
          </p:cNvPr>
          <p:cNvSpPr txBox="1"/>
          <p:nvPr/>
        </p:nvSpPr>
        <p:spPr>
          <a:xfrm>
            <a:off x="1177167" y="1818274"/>
            <a:ext cx="9663430" cy="578492"/>
          </a:xfrm>
          <a:prstGeom prst="rect">
            <a:avLst/>
          </a:prstGeom>
          <a:noFill/>
        </p:spPr>
        <p:txBody>
          <a:bodyPr wrap="square" rtlCol="0">
            <a:spAutoFit/>
          </a:bodyPr>
          <a:lstStyle/>
          <a:p>
            <a:pPr marL="342900" indent="-342900">
              <a:lnSpc>
                <a:spcPct val="150000"/>
              </a:lnSpc>
              <a:buBlip>
                <a:blip r:embed="rId3"/>
              </a:buBlip>
            </a:pP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sp>
        <p:nvSpPr>
          <p:cNvPr id="12" name="文字方塊 11">
            <a:extLst>
              <a:ext uri="{FF2B5EF4-FFF2-40B4-BE49-F238E27FC236}">
                <a16:creationId xmlns:a16="http://schemas.microsoft.com/office/drawing/2014/main" id="{BF94E171-0176-49DD-BE6C-DB2D96B94A88}"/>
              </a:ext>
            </a:extLst>
          </p:cNvPr>
          <p:cNvSpPr txBox="1"/>
          <p:nvPr/>
        </p:nvSpPr>
        <p:spPr>
          <a:xfrm>
            <a:off x="1054671" y="1100593"/>
            <a:ext cx="9909905" cy="578492"/>
          </a:xfrm>
          <a:prstGeom prst="rect">
            <a:avLst/>
          </a:prstGeom>
          <a:noFill/>
        </p:spPr>
        <p:txBody>
          <a:bodyPr wrap="square" rtlCol="0">
            <a:spAutoFit/>
          </a:bodyPr>
          <a:lstStyle/>
          <a:p>
            <a:pPr marL="342900" indent="-342900">
              <a:lnSpc>
                <a:spcPct val="150000"/>
              </a:lnSpc>
              <a:buBlip>
                <a:blip r:embed="rId3"/>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馬鈴薯模擬交易流程圖比較</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sp>
        <p:nvSpPr>
          <p:cNvPr id="13" name="文字方塊 12">
            <a:extLst>
              <a:ext uri="{FF2B5EF4-FFF2-40B4-BE49-F238E27FC236}">
                <a16:creationId xmlns:a16="http://schemas.microsoft.com/office/drawing/2014/main" id="{BF94E171-0176-49DD-BE6C-DB2D96B94A88}"/>
              </a:ext>
            </a:extLst>
          </p:cNvPr>
          <p:cNvSpPr txBox="1"/>
          <p:nvPr/>
        </p:nvSpPr>
        <p:spPr>
          <a:xfrm>
            <a:off x="1177167" y="1669214"/>
            <a:ext cx="4077506" cy="578492"/>
          </a:xfrm>
          <a:prstGeom prst="rect">
            <a:avLst/>
          </a:prstGeom>
          <a:noFill/>
        </p:spPr>
        <p:txBody>
          <a:bodyPr wrap="square" rtlCol="0">
            <a:spAutoFit/>
          </a:bodyPr>
          <a:lstStyle/>
          <a:p>
            <a:pPr marL="342900" indent="-342900">
              <a:lnSpc>
                <a:spcPct val="150000"/>
              </a:lnSpc>
              <a:buBlip>
                <a:blip r:embed="rId3"/>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區域鍊生產</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pic>
        <p:nvPicPr>
          <p:cNvPr id="4" name="圖片 3"/>
          <p:cNvPicPr>
            <a:picLocks noChangeAspect="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3667661" y="1887049"/>
            <a:ext cx="6923550" cy="4560281"/>
          </a:xfrm>
          <a:prstGeom prst="rect">
            <a:avLst/>
          </a:prstGeom>
        </p:spPr>
      </p:pic>
    </p:spTree>
    <p:extLst>
      <p:ext uri="{BB962C8B-B14F-4D97-AF65-F5344CB8AC3E}">
        <p14:creationId xmlns:p14="http://schemas.microsoft.com/office/powerpoint/2010/main" val="318585829"/>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nodeType="afterEffect">
                                  <p:stCondLst>
                                    <p:cond delay="0"/>
                                  </p:stCondLst>
                                  <p:childTnLst>
                                    <p:set>
                                      <p:cBhvr>
                                        <p:cTn id="6" dur="1" fill="hold">
                                          <p:stCondLst>
                                            <p:cond delay="0"/>
                                          </p:stCondLst>
                                        </p:cTn>
                                        <p:tgtEl>
                                          <p:spTgt spid="33"/>
                                        </p:tgtEl>
                                        <p:attrNameLst>
                                          <p:attrName>style.visibility</p:attrName>
                                        </p:attrNameLst>
                                      </p:cBhvr>
                                      <p:to>
                                        <p:strVal val="visible"/>
                                      </p:to>
                                    </p:set>
                                    <p:anim calcmode="lin" valueType="num">
                                      <p:cBhvr additive="base">
                                        <p:cTn id="7" dur="500" fill="hold"/>
                                        <p:tgtEl>
                                          <p:spTgt spid="33"/>
                                        </p:tgtEl>
                                        <p:attrNameLst>
                                          <p:attrName>ppt_x</p:attrName>
                                        </p:attrNameLst>
                                      </p:cBhvr>
                                      <p:tavLst>
                                        <p:tav tm="0">
                                          <p:val>
                                            <p:strVal val="0-#ppt_w/2"/>
                                          </p:val>
                                        </p:tav>
                                        <p:tav tm="100000">
                                          <p:val>
                                            <p:strVal val="#ppt_x"/>
                                          </p:val>
                                        </p:tav>
                                      </p:tavLst>
                                    </p:anim>
                                    <p:anim calcmode="lin" valueType="num">
                                      <p:cBhvr additive="base">
                                        <p:cTn id="8" dur="500" fill="hold"/>
                                        <p:tgtEl>
                                          <p:spTgt spid="33"/>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6" presetClass="entr" presetSubtype="16" fill="hold" grpId="0" nodeType="afterEffect">
                                  <p:stCondLst>
                                    <p:cond delay="0"/>
                                  </p:stCondLst>
                                  <p:childTnLst>
                                    <p:set>
                                      <p:cBhvr>
                                        <p:cTn id="11" dur="1" fill="hold">
                                          <p:stCondLst>
                                            <p:cond delay="0"/>
                                          </p:stCondLst>
                                        </p:cTn>
                                        <p:tgtEl>
                                          <p:spTgt spid="46"/>
                                        </p:tgtEl>
                                        <p:attrNameLst>
                                          <p:attrName>style.visibility</p:attrName>
                                        </p:attrNameLst>
                                      </p:cBhvr>
                                      <p:to>
                                        <p:strVal val="visible"/>
                                      </p:to>
                                    </p:set>
                                    <p:animEffect transition="in" filter="circle(in)">
                                      <p:cBhvr>
                                        <p:cTn id="12" dur="1500"/>
                                        <p:tgtEl>
                                          <p:spTgt spid="46"/>
                                        </p:tgtEl>
                                      </p:cBhvr>
                                    </p:animEffect>
                                  </p:childTnLst>
                                </p:cTn>
                              </p:par>
                            </p:childTnLst>
                          </p:cTn>
                        </p:par>
                        <p:par>
                          <p:cTn id="13" fill="hold">
                            <p:stCondLst>
                              <p:cond delay="2000"/>
                            </p:stCondLst>
                            <p:childTnLst>
                              <p:par>
                                <p:cTn id="14" presetID="16" presetClass="entr" presetSubtype="21" fill="hold" grpId="0" nodeType="afterEffect">
                                  <p:stCondLst>
                                    <p:cond delay="0"/>
                                  </p:stCondLst>
                                  <p:childTnLst>
                                    <p:set>
                                      <p:cBhvr>
                                        <p:cTn id="15" dur="1" fill="hold">
                                          <p:stCondLst>
                                            <p:cond delay="0"/>
                                          </p:stCondLst>
                                        </p:cTn>
                                        <p:tgtEl>
                                          <p:spTgt spid="48"/>
                                        </p:tgtEl>
                                        <p:attrNameLst>
                                          <p:attrName>style.visibility</p:attrName>
                                        </p:attrNameLst>
                                      </p:cBhvr>
                                      <p:to>
                                        <p:strVal val="visible"/>
                                      </p:to>
                                    </p:set>
                                    <p:animEffect transition="in" filter="barn(inVertical)">
                                      <p:cBhvr>
                                        <p:cTn id="16" dur="500"/>
                                        <p:tgtEl>
                                          <p:spTgt spid="48"/>
                                        </p:tgtEl>
                                      </p:cBhvr>
                                    </p:animEffect>
                                  </p:childTnLst>
                                </p:cTn>
                              </p:par>
                            </p:childTnLst>
                          </p:cTn>
                        </p:par>
                        <p:par>
                          <p:cTn id="17" fill="hold">
                            <p:stCondLst>
                              <p:cond delay="2500"/>
                            </p:stCondLst>
                            <p:childTnLst>
                              <p:par>
                                <p:cTn id="18" presetID="16" presetClass="entr" presetSubtype="21" fill="hold" nodeType="afterEffect" nodePh="1">
                                  <p:stCondLst>
                                    <p:cond delay="0"/>
                                  </p:stCondLst>
                                  <p:endCondLst>
                                    <p:cond evt="begin" delay="0">
                                      <p:tn val="18"/>
                                    </p:cond>
                                  </p:endCondLst>
                                  <p:childTnLst>
                                    <p:set>
                                      <p:cBhvr>
                                        <p:cTn id="19" dur="1" fill="hold">
                                          <p:stCondLst>
                                            <p:cond delay="0"/>
                                          </p:stCondLst>
                                        </p:cTn>
                                        <p:tgtEl>
                                          <p:spTgt spid="10">
                                            <p:txEl>
                                              <p:pRg st="0" end="0"/>
                                            </p:txEl>
                                          </p:spTgt>
                                        </p:tgtEl>
                                        <p:attrNameLst>
                                          <p:attrName>style.visibility</p:attrName>
                                        </p:attrNameLst>
                                      </p:cBhvr>
                                      <p:to>
                                        <p:strVal val="visible"/>
                                      </p:to>
                                    </p:set>
                                    <p:animEffect transition="in" filter="barn(inVertical)">
                                      <p:cBhvr>
                                        <p:cTn id="20" dur="500"/>
                                        <p:tgtEl>
                                          <p:spTgt spid="10">
                                            <p:txEl>
                                              <p:pRg st="0" end="0"/>
                                            </p:txEl>
                                          </p:spTgt>
                                        </p:tgtEl>
                                      </p:cBhvr>
                                    </p:animEffect>
                                  </p:childTnLst>
                                </p:cTn>
                              </p:par>
                            </p:childTnLst>
                          </p:cTn>
                        </p:par>
                        <p:par>
                          <p:cTn id="21" fill="hold">
                            <p:stCondLst>
                              <p:cond delay="3000"/>
                            </p:stCondLst>
                            <p:childTnLst>
                              <p:par>
                                <p:cTn id="22" presetID="16" presetClass="entr" presetSubtype="21" fill="hold" grpId="0" nodeType="after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barn(inVertical)">
                                      <p:cBhvr>
                                        <p:cTn id="24" dur="500"/>
                                        <p:tgtEl>
                                          <p:spTgt spid="12"/>
                                        </p:tgtEl>
                                      </p:cBhvr>
                                    </p:animEffect>
                                  </p:childTnLst>
                                </p:cTn>
                              </p:par>
                            </p:childTnLst>
                          </p:cTn>
                        </p:par>
                        <p:par>
                          <p:cTn id="25" fill="hold">
                            <p:stCondLst>
                              <p:cond delay="3500"/>
                            </p:stCondLst>
                            <p:childTnLst>
                              <p:par>
                                <p:cTn id="26" presetID="16" presetClass="entr" presetSubtype="21" fill="hold" grpId="0" nodeType="after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barn(inVertical)">
                                      <p:cBhvr>
                                        <p:cTn id="28" dur="500"/>
                                        <p:tgtEl>
                                          <p:spTgt spid="13"/>
                                        </p:tgtEl>
                                      </p:cBhvr>
                                    </p:animEffect>
                                  </p:childTnLst>
                                </p:cTn>
                              </p:par>
                            </p:childTnLst>
                          </p:cTn>
                        </p:par>
                        <p:par>
                          <p:cTn id="29" fill="hold">
                            <p:stCondLst>
                              <p:cond delay="4000"/>
                            </p:stCondLst>
                            <p:childTnLst>
                              <p:par>
                                <p:cTn id="30" presetID="53" presetClass="entr" presetSubtype="16" fill="hold" nodeType="afterEffect">
                                  <p:stCondLst>
                                    <p:cond delay="0"/>
                                  </p:stCondLst>
                                  <p:childTnLst>
                                    <p:set>
                                      <p:cBhvr>
                                        <p:cTn id="31" dur="1" fill="hold">
                                          <p:stCondLst>
                                            <p:cond delay="0"/>
                                          </p:stCondLst>
                                        </p:cTn>
                                        <p:tgtEl>
                                          <p:spTgt spid="4"/>
                                        </p:tgtEl>
                                        <p:attrNameLst>
                                          <p:attrName>style.visibility</p:attrName>
                                        </p:attrNameLst>
                                      </p:cBhvr>
                                      <p:to>
                                        <p:strVal val="visible"/>
                                      </p:to>
                                    </p:set>
                                    <p:anim calcmode="lin" valueType="num">
                                      <p:cBhvr>
                                        <p:cTn id="32" dur="500" fill="hold"/>
                                        <p:tgtEl>
                                          <p:spTgt spid="4"/>
                                        </p:tgtEl>
                                        <p:attrNameLst>
                                          <p:attrName>ppt_w</p:attrName>
                                        </p:attrNameLst>
                                      </p:cBhvr>
                                      <p:tavLst>
                                        <p:tav tm="0">
                                          <p:val>
                                            <p:fltVal val="0"/>
                                          </p:val>
                                        </p:tav>
                                        <p:tav tm="100000">
                                          <p:val>
                                            <p:strVal val="#ppt_w"/>
                                          </p:val>
                                        </p:tav>
                                      </p:tavLst>
                                    </p:anim>
                                    <p:anim calcmode="lin" valueType="num">
                                      <p:cBhvr>
                                        <p:cTn id="33" dur="500" fill="hold"/>
                                        <p:tgtEl>
                                          <p:spTgt spid="4"/>
                                        </p:tgtEl>
                                        <p:attrNameLst>
                                          <p:attrName>ppt_h</p:attrName>
                                        </p:attrNameLst>
                                      </p:cBhvr>
                                      <p:tavLst>
                                        <p:tav tm="0">
                                          <p:val>
                                            <p:fltVal val="0"/>
                                          </p:val>
                                        </p:tav>
                                        <p:tav tm="100000">
                                          <p:val>
                                            <p:strVal val="#ppt_h"/>
                                          </p:val>
                                        </p:tav>
                                      </p:tavLst>
                                    </p:anim>
                                    <p:animEffect transition="in" filter="fade">
                                      <p:cBhvr>
                                        <p:cTn id="34"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p:bldP spid="48" grpId="0"/>
      <p:bldP spid="12" grpId="0"/>
      <p:bldP spid="13"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2"/>
          <a:stretch>
            <a:fillRect/>
          </a:stretch>
        </p:blipFill>
        <p:spPr>
          <a:xfrm rot="16200000">
            <a:off x="145169" y="-145167"/>
            <a:ext cx="1268414" cy="1558750"/>
          </a:xfrm>
          <a:prstGeom prst="rect">
            <a:avLst/>
          </a:prstGeom>
        </p:spPr>
      </p:pic>
      <p:sp>
        <p:nvSpPr>
          <p:cNvPr id="9" name="文字方塊 8">
            <a:extLst>
              <a:ext uri="{FF2B5EF4-FFF2-40B4-BE49-F238E27FC236}">
                <a16:creationId xmlns:a16="http://schemas.microsoft.com/office/drawing/2014/main" id="{81D0666A-D96D-4B5B-9036-192FA53FE435}"/>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cxnSp>
        <p:nvCxnSpPr>
          <p:cNvPr id="33" name="直接连接符 33">
            <a:extLst>
              <a:ext uri="{FF2B5EF4-FFF2-40B4-BE49-F238E27FC236}">
                <a16:creationId xmlns:a16="http://schemas.microsoft.com/office/drawing/2014/main" id="{DFF80DCD-8EF0-4D2F-8380-59FA348D932C}"/>
              </a:ext>
            </a:extLst>
          </p:cNvPr>
          <p:cNvCxnSpPr/>
          <p:nvPr/>
        </p:nvCxnSpPr>
        <p:spPr>
          <a:xfrm>
            <a:off x="1177167" y="1046746"/>
            <a:ext cx="10585176"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6" name="標題 1"/>
          <p:cNvSpPr txBox="1">
            <a:spLocks/>
          </p:cNvSpPr>
          <p:nvPr/>
        </p:nvSpPr>
        <p:spPr>
          <a:xfrm>
            <a:off x="854426" y="112999"/>
            <a:ext cx="5288853"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7-3 </a:t>
            </a:r>
            <a:r>
              <a:rPr lang="zh-TW" altLang="en-US" sz="2400" b="1" dirty="0">
                <a:solidFill>
                  <a:srgbClr val="E06741"/>
                </a:solidFill>
              </a:rPr>
              <a:t>實務案例</a:t>
            </a:r>
            <a:r>
              <a:rPr lang="en-US" altLang="zh-TW" sz="2400" b="1" dirty="0">
                <a:solidFill>
                  <a:srgbClr val="E06741"/>
                </a:solidFill>
              </a:rPr>
              <a:t>-</a:t>
            </a:r>
            <a:r>
              <a:rPr lang="zh-TW" altLang="en-US" sz="2400" b="1" dirty="0">
                <a:solidFill>
                  <a:srgbClr val="E06741"/>
                </a:solidFill>
              </a:rPr>
              <a:t>農產履歷</a:t>
            </a:r>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sp>
        <p:nvSpPr>
          <p:cNvPr id="48" name="文字方塊 47">
            <a:extLst>
              <a:ext uri="{FF2B5EF4-FFF2-40B4-BE49-F238E27FC236}">
                <a16:creationId xmlns:a16="http://schemas.microsoft.com/office/drawing/2014/main" id="{AD7F4831-1A36-4A2F-ACBE-344F724510DC}"/>
              </a:ext>
            </a:extLst>
          </p:cNvPr>
          <p:cNvSpPr txBox="1"/>
          <p:nvPr/>
        </p:nvSpPr>
        <p:spPr>
          <a:xfrm>
            <a:off x="5130089" y="350241"/>
            <a:ext cx="2242922"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-2</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案例區塊鍊運用</a:t>
            </a:r>
          </a:p>
        </p:txBody>
      </p:sp>
      <p:sp>
        <p:nvSpPr>
          <p:cNvPr id="10" name="文字方塊 9">
            <a:extLst>
              <a:ext uri="{FF2B5EF4-FFF2-40B4-BE49-F238E27FC236}">
                <a16:creationId xmlns:a16="http://schemas.microsoft.com/office/drawing/2014/main" id="{BF94E171-0176-49DD-BE6C-DB2D96B94A88}"/>
              </a:ext>
            </a:extLst>
          </p:cNvPr>
          <p:cNvSpPr txBox="1"/>
          <p:nvPr/>
        </p:nvSpPr>
        <p:spPr>
          <a:xfrm>
            <a:off x="1177167" y="1818274"/>
            <a:ext cx="9663430" cy="578492"/>
          </a:xfrm>
          <a:prstGeom prst="rect">
            <a:avLst/>
          </a:prstGeom>
          <a:noFill/>
        </p:spPr>
        <p:txBody>
          <a:bodyPr wrap="square" rtlCol="0">
            <a:spAutoFit/>
          </a:bodyPr>
          <a:lstStyle/>
          <a:p>
            <a:pPr marL="342900" indent="-342900">
              <a:lnSpc>
                <a:spcPct val="150000"/>
              </a:lnSpc>
              <a:buBlip>
                <a:blip r:embed="rId3"/>
              </a:buBlip>
            </a:pP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sp>
        <p:nvSpPr>
          <p:cNvPr id="12" name="文字方塊 11">
            <a:extLst>
              <a:ext uri="{FF2B5EF4-FFF2-40B4-BE49-F238E27FC236}">
                <a16:creationId xmlns:a16="http://schemas.microsoft.com/office/drawing/2014/main" id="{BF94E171-0176-49DD-BE6C-DB2D96B94A88}"/>
              </a:ext>
            </a:extLst>
          </p:cNvPr>
          <p:cNvSpPr txBox="1"/>
          <p:nvPr/>
        </p:nvSpPr>
        <p:spPr>
          <a:xfrm>
            <a:off x="1054671" y="1100593"/>
            <a:ext cx="9909905" cy="578492"/>
          </a:xfrm>
          <a:prstGeom prst="rect">
            <a:avLst/>
          </a:prstGeom>
          <a:noFill/>
        </p:spPr>
        <p:txBody>
          <a:bodyPr wrap="square" rtlCol="0">
            <a:spAutoFit/>
          </a:bodyPr>
          <a:lstStyle/>
          <a:p>
            <a:pPr marL="342900" indent="-342900">
              <a:lnSpc>
                <a:spcPct val="150000"/>
              </a:lnSpc>
              <a:buBlip>
                <a:blip r:embed="rId3"/>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馬鈴薯模擬交易流程圖比較</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sp>
        <p:nvSpPr>
          <p:cNvPr id="13" name="文字方塊 12">
            <a:extLst>
              <a:ext uri="{FF2B5EF4-FFF2-40B4-BE49-F238E27FC236}">
                <a16:creationId xmlns:a16="http://schemas.microsoft.com/office/drawing/2014/main" id="{BF94E171-0176-49DD-BE6C-DB2D96B94A88}"/>
              </a:ext>
            </a:extLst>
          </p:cNvPr>
          <p:cNvSpPr txBox="1"/>
          <p:nvPr/>
        </p:nvSpPr>
        <p:spPr>
          <a:xfrm>
            <a:off x="1860658" y="1679085"/>
            <a:ext cx="4077506" cy="578492"/>
          </a:xfrm>
          <a:prstGeom prst="rect">
            <a:avLst/>
          </a:prstGeom>
          <a:noFill/>
        </p:spPr>
        <p:txBody>
          <a:bodyPr wrap="square" rtlCol="0">
            <a:spAutoFit/>
          </a:bodyPr>
          <a:lstStyle/>
          <a:p>
            <a:pPr marL="342900" indent="-342900">
              <a:lnSpc>
                <a:spcPct val="150000"/>
              </a:lnSpc>
              <a:buBlip>
                <a:blip r:embed="rId3"/>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區域鍊生產</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pic>
        <p:nvPicPr>
          <p:cNvPr id="2" name="圖片 1"/>
          <p:cNvPicPr>
            <a:picLocks noChangeAspect="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tretch>
            <a:fillRect/>
          </a:stretch>
        </p:blipFill>
        <p:spPr>
          <a:xfrm>
            <a:off x="5776572" y="1159746"/>
            <a:ext cx="5585924" cy="5689540"/>
          </a:xfrm>
          <a:prstGeom prst="rect">
            <a:avLst/>
          </a:prstGeom>
        </p:spPr>
      </p:pic>
    </p:spTree>
    <p:extLst>
      <p:ext uri="{BB962C8B-B14F-4D97-AF65-F5344CB8AC3E}">
        <p14:creationId xmlns:p14="http://schemas.microsoft.com/office/powerpoint/2010/main" val="3250752377"/>
      </p:ext>
    </p:extLst>
  </p:cSld>
  <p:clrMapOvr>
    <a:masterClrMapping/>
  </p:clrMapOvr>
  <p:transition spd="med">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500"/>
                            </p:stCondLst>
                            <p:childTnLst>
                              <p:par>
                                <p:cTn id="5" presetID="6" presetClass="entr" presetSubtype="16" fill="hold" grpId="0" nodeType="after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circle(in)">
                                      <p:cBhvr>
                                        <p:cTn id="7" dur="1500"/>
                                        <p:tgtEl>
                                          <p:spTgt spid="46"/>
                                        </p:tgtEl>
                                      </p:cBhvr>
                                    </p:animEffect>
                                  </p:childTnLst>
                                </p:cTn>
                              </p:par>
                            </p:childTnLst>
                          </p:cTn>
                        </p:par>
                        <p:par>
                          <p:cTn id="8" fill="hold">
                            <p:stCondLst>
                              <p:cond delay="2000"/>
                            </p:stCondLst>
                            <p:childTnLst>
                              <p:par>
                                <p:cTn id="9" presetID="16" presetClass="entr" presetSubtype="21" fill="hold" grpId="0" nodeType="afterEffect">
                                  <p:stCondLst>
                                    <p:cond delay="0"/>
                                  </p:stCondLst>
                                  <p:childTnLst>
                                    <p:set>
                                      <p:cBhvr>
                                        <p:cTn id="10" dur="1" fill="hold">
                                          <p:stCondLst>
                                            <p:cond delay="0"/>
                                          </p:stCondLst>
                                        </p:cTn>
                                        <p:tgtEl>
                                          <p:spTgt spid="48"/>
                                        </p:tgtEl>
                                        <p:attrNameLst>
                                          <p:attrName>style.visibility</p:attrName>
                                        </p:attrNameLst>
                                      </p:cBhvr>
                                      <p:to>
                                        <p:strVal val="visible"/>
                                      </p:to>
                                    </p:set>
                                    <p:animEffect transition="in" filter="barn(inVertical)">
                                      <p:cBhvr>
                                        <p:cTn id="11" dur="500"/>
                                        <p:tgtEl>
                                          <p:spTgt spid="48"/>
                                        </p:tgtEl>
                                      </p:cBhvr>
                                    </p:animEffect>
                                  </p:childTnLst>
                                </p:cTn>
                              </p:par>
                            </p:childTnLst>
                          </p:cTn>
                        </p:par>
                        <p:par>
                          <p:cTn id="12" fill="hold">
                            <p:stCondLst>
                              <p:cond delay="2500"/>
                            </p:stCondLst>
                            <p:childTnLst>
                              <p:par>
                                <p:cTn id="13" presetID="2" presetClass="entr" presetSubtype="8" fill="hold" nodeType="afterEffect">
                                  <p:stCondLst>
                                    <p:cond delay="0"/>
                                  </p:stCondLst>
                                  <p:childTnLst>
                                    <p:set>
                                      <p:cBhvr>
                                        <p:cTn id="14" dur="1" fill="hold">
                                          <p:stCondLst>
                                            <p:cond delay="0"/>
                                          </p:stCondLst>
                                        </p:cTn>
                                        <p:tgtEl>
                                          <p:spTgt spid="33"/>
                                        </p:tgtEl>
                                        <p:attrNameLst>
                                          <p:attrName>style.visibility</p:attrName>
                                        </p:attrNameLst>
                                      </p:cBhvr>
                                      <p:to>
                                        <p:strVal val="visible"/>
                                      </p:to>
                                    </p:set>
                                    <p:anim calcmode="lin" valueType="num">
                                      <p:cBhvr additive="base">
                                        <p:cTn id="15" dur="500" fill="hold"/>
                                        <p:tgtEl>
                                          <p:spTgt spid="33"/>
                                        </p:tgtEl>
                                        <p:attrNameLst>
                                          <p:attrName>ppt_x</p:attrName>
                                        </p:attrNameLst>
                                      </p:cBhvr>
                                      <p:tavLst>
                                        <p:tav tm="0">
                                          <p:val>
                                            <p:strVal val="0-#ppt_w/2"/>
                                          </p:val>
                                        </p:tav>
                                        <p:tav tm="100000">
                                          <p:val>
                                            <p:strVal val="#ppt_x"/>
                                          </p:val>
                                        </p:tav>
                                      </p:tavLst>
                                    </p:anim>
                                    <p:anim calcmode="lin" valueType="num">
                                      <p:cBhvr additive="base">
                                        <p:cTn id="16" dur="500" fill="hold"/>
                                        <p:tgtEl>
                                          <p:spTgt spid="33"/>
                                        </p:tgtEl>
                                        <p:attrNameLst>
                                          <p:attrName>ppt_y</p:attrName>
                                        </p:attrNameLst>
                                      </p:cBhvr>
                                      <p:tavLst>
                                        <p:tav tm="0">
                                          <p:val>
                                            <p:strVal val="#ppt_y"/>
                                          </p:val>
                                        </p:tav>
                                        <p:tav tm="100000">
                                          <p:val>
                                            <p:strVal val="#ppt_y"/>
                                          </p:val>
                                        </p:tav>
                                      </p:tavLst>
                                    </p:anim>
                                  </p:childTnLst>
                                </p:cTn>
                              </p:par>
                            </p:childTnLst>
                          </p:cTn>
                        </p:par>
                        <p:par>
                          <p:cTn id="17" fill="hold">
                            <p:stCondLst>
                              <p:cond delay="3000"/>
                            </p:stCondLst>
                            <p:childTnLst>
                              <p:par>
                                <p:cTn id="18" presetID="16" presetClass="entr" presetSubtype="21" fill="hold" nodeType="afterEffect" nodePh="1">
                                  <p:stCondLst>
                                    <p:cond delay="0"/>
                                  </p:stCondLst>
                                  <p:endCondLst>
                                    <p:cond evt="begin" delay="0">
                                      <p:tn val="18"/>
                                    </p:cond>
                                  </p:endCondLst>
                                  <p:childTnLst>
                                    <p:set>
                                      <p:cBhvr>
                                        <p:cTn id="19" dur="1" fill="hold">
                                          <p:stCondLst>
                                            <p:cond delay="0"/>
                                          </p:stCondLst>
                                        </p:cTn>
                                        <p:tgtEl>
                                          <p:spTgt spid="10">
                                            <p:txEl>
                                              <p:pRg st="0" end="0"/>
                                            </p:txEl>
                                          </p:spTgt>
                                        </p:tgtEl>
                                        <p:attrNameLst>
                                          <p:attrName>style.visibility</p:attrName>
                                        </p:attrNameLst>
                                      </p:cBhvr>
                                      <p:to>
                                        <p:strVal val="visible"/>
                                      </p:to>
                                    </p:set>
                                    <p:animEffect transition="in" filter="barn(inVertical)">
                                      <p:cBhvr>
                                        <p:cTn id="20" dur="500"/>
                                        <p:tgtEl>
                                          <p:spTgt spid="10">
                                            <p:txEl>
                                              <p:pRg st="0" end="0"/>
                                            </p:txEl>
                                          </p:spTgt>
                                        </p:tgtEl>
                                      </p:cBhvr>
                                    </p:animEffect>
                                  </p:childTnLst>
                                </p:cTn>
                              </p:par>
                            </p:childTnLst>
                          </p:cTn>
                        </p:par>
                        <p:par>
                          <p:cTn id="21" fill="hold">
                            <p:stCondLst>
                              <p:cond delay="3500"/>
                            </p:stCondLst>
                            <p:childTnLst>
                              <p:par>
                                <p:cTn id="22" presetID="16" presetClass="entr" presetSubtype="21" fill="hold" grpId="0" nodeType="after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barn(inVertical)">
                                      <p:cBhvr>
                                        <p:cTn id="24" dur="500"/>
                                        <p:tgtEl>
                                          <p:spTgt spid="12"/>
                                        </p:tgtEl>
                                      </p:cBhvr>
                                    </p:animEffect>
                                  </p:childTnLst>
                                </p:cTn>
                              </p:par>
                            </p:childTnLst>
                          </p:cTn>
                        </p:par>
                        <p:par>
                          <p:cTn id="25" fill="hold">
                            <p:stCondLst>
                              <p:cond delay="4000"/>
                            </p:stCondLst>
                            <p:childTnLst>
                              <p:par>
                                <p:cTn id="26" presetID="16" presetClass="entr" presetSubtype="21" fill="hold" grpId="0" nodeType="after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barn(inVertical)">
                                      <p:cBhvr>
                                        <p:cTn id="28" dur="500"/>
                                        <p:tgtEl>
                                          <p:spTgt spid="13"/>
                                        </p:tgtEl>
                                      </p:cBhvr>
                                    </p:animEffect>
                                  </p:childTnLst>
                                </p:cTn>
                              </p:par>
                            </p:childTnLst>
                          </p:cTn>
                        </p:par>
                        <p:par>
                          <p:cTn id="29" fill="hold">
                            <p:stCondLst>
                              <p:cond delay="4500"/>
                            </p:stCondLst>
                            <p:childTnLst>
                              <p:par>
                                <p:cTn id="30" presetID="53" presetClass="entr" presetSubtype="16" fill="hold" nodeType="afterEffect">
                                  <p:stCondLst>
                                    <p:cond delay="0"/>
                                  </p:stCondLst>
                                  <p:childTnLst>
                                    <p:set>
                                      <p:cBhvr>
                                        <p:cTn id="31" dur="1" fill="hold">
                                          <p:stCondLst>
                                            <p:cond delay="0"/>
                                          </p:stCondLst>
                                        </p:cTn>
                                        <p:tgtEl>
                                          <p:spTgt spid="2"/>
                                        </p:tgtEl>
                                        <p:attrNameLst>
                                          <p:attrName>style.visibility</p:attrName>
                                        </p:attrNameLst>
                                      </p:cBhvr>
                                      <p:to>
                                        <p:strVal val="visible"/>
                                      </p:to>
                                    </p:set>
                                    <p:anim calcmode="lin" valueType="num">
                                      <p:cBhvr>
                                        <p:cTn id="32" dur="500" fill="hold"/>
                                        <p:tgtEl>
                                          <p:spTgt spid="2"/>
                                        </p:tgtEl>
                                        <p:attrNameLst>
                                          <p:attrName>ppt_w</p:attrName>
                                        </p:attrNameLst>
                                      </p:cBhvr>
                                      <p:tavLst>
                                        <p:tav tm="0">
                                          <p:val>
                                            <p:fltVal val="0"/>
                                          </p:val>
                                        </p:tav>
                                        <p:tav tm="100000">
                                          <p:val>
                                            <p:strVal val="#ppt_w"/>
                                          </p:val>
                                        </p:tav>
                                      </p:tavLst>
                                    </p:anim>
                                    <p:anim calcmode="lin" valueType="num">
                                      <p:cBhvr>
                                        <p:cTn id="33" dur="500" fill="hold"/>
                                        <p:tgtEl>
                                          <p:spTgt spid="2"/>
                                        </p:tgtEl>
                                        <p:attrNameLst>
                                          <p:attrName>ppt_h</p:attrName>
                                        </p:attrNameLst>
                                      </p:cBhvr>
                                      <p:tavLst>
                                        <p:tav tm="0">
                                          <p:val>
                                            <p:fltVal val="0"/>
                                          </p:val>
                                        </p:tav>
                                        <p:tav tm="100000">
                                          <p:val>
                                            <p:strVal val="#ppt_h"/>
                                          </p:val>
                                        </p:tav>
                                      </p:tavLst>
                                    </p:anim>
                                    <p:animEffect transition="in" filter="fade">
                                      <p:cBhvr>
                                        <p:cTn id="34"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p:bldP spid="48" grpId="0"/>
      <p:bldP spid="12" grpId="0"/>
      <p:bldP spid="13"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2"/>
          <a:stretch>
            <a:fillRect/>
          </a:stretch>
        </p:blipFill>
        <p:spPr>
          <a:xfrm rot="16200000">
            <a:off x="145169" y="-145167"/>
            <a:ext cx="1268414" cy="1558750"/>
          </a:xfrm>
          <a:prstGeom prst="rect">
            <a:avLst/>
          </a:prstGeom>
        </p:spPr>
      </p:pic>
      <p:sp>
        <p:nvSpPr>
          <p:cNvPr id="9" name="文字方塊 8">
            <a:extLst>
              <a:ext uri="{FF2B5EF4-FFF2-40B4-BE49-F238E27FC236}">
                <a16:creationId xmlns:a16="http://schemas.microsoft.com/office/drawing/2014/main" id="{81D0666A-D96D-4B5B-9036-192FA53FE435}"/>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cxnSp>
        <p:nvCxnSpPr>
          <p:cNvPr id="33" name="直接连接符 33">
            <a:extLst>
              <a:ext uri="{FF2B5EF4-FFF2-40B4-BE49-F238E27FC236}">
                <a16:creationId xmlns:a16="http://schemas.microsoft.com/office/drawing/2014/main" id="{DFF80DCD-8EF0-4D2F-8380-59FA348D932C}"/>
              </a:ext>
            </a:extLst>
          </p:cNvPr>
          <p:cNvCxnSpPr/>
          <p:nvPr/>
        </p:nvCxnSpPr>
        <p:spPr>
          <a:xfrm>
            <a:off x="1177167" y="1046746"/>
            <a:ext cx="10585176"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6" name="標題 1"/>
          <p:cNvSpPr txBox="1">
            <a:spLocks/>
          </p:cNvSpPr>
          <p:nvPr/>
        </p:nvSpPr>
        <p:spPr>
          <a:xfrm>
            <a:off x="854426" y="112999"/>
            <a:ext cx="5288853"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7-3 </a:t>
            </a:r>
            <a:r>
              <a:rPr lang="zh-TW" altLang="en-US" sz="2400" b="1" dirty="0">
                <a:solidFill>
                  <a:srgbClr val="E06741"/>
                </a:solidFill>
              </a:rPr>
              <a:t>實務案例</a:t>
            </a:r>
            <a:r>
              <a:rPr lang="en-US" altLang="zh-TW" sz="2400" b="1" dirty="0">
                <a:solidFill>
                  <a:srgbClr val="E06741"/>
                </a:solidFill>
              </a:rPr>
              <a:t>-</a:t>
            </a:r>
            <a:r>
              <a:rPr lang="zh-TW" altLang="en-US" sz="2400" b="1" dirty="0">
                <a:solidFill>
                  <a:srgbClr val="E06741"/>
                </a:solidFill>
              </a:rPr>
              <a:t>農產履歷</a:t>
            </a:r>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sp>
        <p:nvSpPr>
          <p:cNvPr id="48" name="文字方塊 47">
            <a:extLst>
              <a:ext uri="{FF2B5EF4-FFF2-40B4-BE49-F238E27FC236}">
                <a16:creationId xmlns:a16="http://schemas.microsoft.com/office/drawing/2014/main" id="{AD7F4831-1A36-4A2F-ACBE-344F724510DC}"/>
              </a:ext>
            </a:extLst>
          </p:cNvPr>
          <p:cNvSpPr txBox="1"/>
          <p:nvPr/>
        </p:nvSpPr>
        <p:spPr>
          <a:xfrm>
            <a:off x="5130089" y="350241"/>
            <a:ext cx="960519"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-3</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結論</a:t>
            </a:r>
          </a:p>
        </p:txBody>
      </p:sp>
      <p:sp>
        <p:nvSpPr>
          <p:cNvPr id="10" name="文字方塊 9">
            <a:extLst>
              <a:ext uri="{FF2B5EF4-FFF2-40B4-BE49-F238E27FC236}">
                <a16:creationId xmlns:a16="http://schemas.microsoft.com/office/drawing/2014/main" id="{BF94E171-0176-49DD-BE6C-DB2D96B94A88}"/>
              </a:ext>
            </a:extLst>
          </p:cNvPr>
          <p:cNvSpPr txBox="1"/>
          <p:nvPr/>
        </p:nvSpPr>
        <p:spPr>
          <a:xfrm>
            <a:off x="1177167" y="1818274"/>
            <a:ext cx="9663430" cy="578492"/>
          </a:xfrm>
          <a:prstGeom prst="rect">
            <a:avLst/>
          </a:prstGeom>
          <a:noFill/>
        </p:spPr>
        <p:txBody>
          <a:bodyPr wrap="square" rtlCol="0">
            <a:spAutoFit/>
          </a:bodyPr>
          <a:lstStyle/>
          <a:p>
            <a:pPr marL="342900" indent="-342900">
              <a:lnSpc>
                <a:spcPct val="150000"/>
              </a:lnSpc>
              <a:buBlip>
                <a:blip r:embed="rId3"/>
              </a:buBlip>
            </a:pP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sp>
        <p:nvSpPr>
          <p:cNvPr id="12" name="文字方塊 11">
            <a:extLst>
              <a:ext uri="{FF2B5EF4-FFF2-40B4-BE49-F238E27FC236}">
                <a16:creationId xmlns:a16="http://schemas.microsoft.com/office/drawing/2014/main" id="{BF94E171-0176-49DD-BE6C-DB2D96B94A88}"/>
              </a:ext>
            </a:extLst>
          </p:cNvPr>
          <p:cNvSpPr txBox="1"/>
          <p:nvPr/>
        </p:nvSpPr>
        <p:spPr>
          <a:xfrm>
            <a:off x="1054671" y="1100593"/>
            <a:ext cx="9909905" cy="2862322"/>
          </a:xfrm>
          <a:prstGeom prst="rect">
            <a:avLst/>
          </a:prstGeom>
          <a:noFill/>
        </p:spPr>
        <p:txBody>
          <a:bodyPr wrap="square" rtlCol="0">
            <a:spAutoFit/>
          </a:bodyPr>
          <a:lstStyle/>
          <a:p>
            <a:pPr marL="342900" indent="-342900">
              <a:lnSpc>
                <a:spcPct val="150000"/>
              </a:lnSpc>
              <a:buBlip>
                <a:blip r:embed="rId3"/>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農業產業化過程中，生產地和消費地距離拉遠，如果缺乏完整履歷</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914400" lvl="1" indent="-457200">
              <a:lnSpc>
                <a:spcPct val="150000"/>
              </a:lnSpc>
              <a:buFont typeface="+mj-lt"/>
              <a:buAutoNum type="arabicPeriod"/>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消費者對生產者生產過程無從了解，無形中降低消費者對生產的信任度，並如發生食安問題將無從追朔。</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a:p>
            <a:pPr marL="914400" lvl="1" indent="-457200">
              <a:lnSpc>
                <a:spcPct val="150000"/>
              </a:lnSpc>
              <a:buFont typeface="+mj-lt"/>
              <a:buAutoNum type="arabicPeriod"/>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從農業產銷結構來看，如何擺脫中間得層層剝削，讓農民實質獲益，亦值得關注</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pic>
        <p:nvPicPr>
          <p:cNvPr id="11" name="圖片 10">
            <a:extLst>
              <a:ext uri="{FF2B5EF4-FFF2-40B4-BE49-F238E27FC236}">
                <a16:creationId xmlns:a16="http://schemas.microsoft.com/office/drawing/2014/main" id="{0A9B6A8B-68FE-436A-B45B-951292ECBA4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569733" y="3587479"/>
            <a:ext cx="2782446" cy="2782446"/>
          </a:xfrm>
          <a:prstGeom prst="rect">
            <a:avLst/>
          </a:prstGeom>
        </p:spPr>
      </p:pic>
    </p:spTree>
    <p:extLst>
      <p:ext uri="{BB962C8B-B14F-4D97-AF65-F5344CB8AC3E}">
        <p14:creationId xmlns:p14="http://schemas.microsoft.com/office/powerpoint/2010/main" val="3819896840"/>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circle(in)">
                                      <p:cBhvr>
                                        <p:cTn id="7" dur="1500"/>
                                        <p:tgtEl>
                                          <p:spTgt spid="46"/>
                                        </p:tgtEl>
                                      </p:cBhvr>
                                    </p:animEffect>
                                  </p:childTnLst>
                                </p:cTn>
                              </p:par>
                            </p:childTnLst>
                          </p:cTn>
                        </p:par>
                        <p:par>
                          <p:cTn id="8" fill="hold">
                            <p:stCondLst>
                              <p:cond delay="1500"/>
                            </p:stCondLst>
                            <p:childTnLst>
                              <p:par>
                                <p:cTn id="9" presetID="16" presetClass="entr" presetSubtype="21" fill="hold" grpId="0" nodeType="afterEffect">
                                  <p:stCondLst>
                                    <p:cond delay="0"/>
                                  </p:stCondLst>
                                  <p:childTnLst>
                                    <p:set>
                                      <p:cBhvr>
                                        <p:cTn id="10" dur="1" fill="hold">
                                          <p:stCondLst>
                                            <p:cond delay="0"/>
                                          </p:stCondLst>
                                        </p:cTn>
                                        <p:tgtEl>
                                          <p:spTgt spid="48"/>
                                        </p:tgtEl>
                                        <p:attrNameLst>
                                          <p:attrName>style.visibility</p:attrName>
                                        </p:attrNameLst>
                                      </p:cBhvr>
                                      <p:to>
                                        <p:strVal val="visible"/>
                                      </p:to>
                                    </p:set>
                                    <p:animEffect transition="in" filter="barn(inVertical)">
                                      <p:cBhvr>
                                        <p:cTn id="11" dur="500"/>
                                        <p:tgtEl>
                                          <p:spTgt spid="48"/>
                                        </p:tgtEl>
                                      </p:cBhvr>
                                    </p:animEffect>
                                  </p:childTnLst>
                                </p:cTn>
                              </p:par>
                            </p:childTnLst>
                          </p:cTn>
                        </p:par>
                        <p:par>
                          <p:cTn id="12" fill="hold">
                            <p:stCondLst>
                              <p:cond delay="2000"/>
                            </p:stCondLst>
                            <p:childTnLst>
                              <p:par>
                                <p:cTn id="13" presetID="2" presetClass="entr" presetSubtype="8" fill="hold" nodeType="afterEffect">
                                  <p:stCondLst>
                                    <p:cond delay="0"/>
                                  </p:stCondLst>
                                  <p:childTnLst>
                                    <p:set>
                                      <p:cBhvr>
                                        <p:cTn id="14" dur="1" fill="hold">
                                          <p:stCondLst>
                                            <p:cond delay="0"/>
                                          </p:stCondLst>
                                        </p:cTn>
                                        <p:tgtEl>
                                          <p:spTgt spid="33"/>
                                        </p:tgtEl>
                                        <p:attrNameLst>
                                          <p:attrName>style.visibility</p:attrName>
                                        </p:attrNameLst>
                                      </p:cBhvr>
                                      <p:to>
                                        <p:strVal val="visible"/>
                                      </p:to>
                                    </p:set>
                                    <p:anim calcmode="lin" valueType="num">
                                      <p:cBhvr additive="base">
                                        <p:cTn id="15" dur="500" fill="hold"/>
                                        <p:tgtEl>
                                          <p:spTgt spid="33"/>
                                        </p:tgtEl>
                                        <p:attrNameLst>
                                          <p:attrName>ppt_x</p:attrName>
                                        </p:attrNameLst>
                                      </p:cBhvr>
                                      <p:tavLst>
                                        <p:tav tm="0">
                                          <p:val>
                                            <p:strVal val="0-#ppt_w/2"/>
                                          </p:val>
                                        </p:tav>
                                        <p:tav tm="100000">
                                          <p:val>
                                            <p:strVal val="#ppt_x"/>
                                          </p:val>
                                        </p:tav>
                                      </p:tavLst>
                                    </p:anim>
                                    <p:anim calcmode="lin" valueType="num">
                                      <p:cBhvr additive="base">
                                        <p:cTn id="16" dur="500" fill="hold"/>
                                        <p:tgtEl>
                                          <p:spTgt spid="33"/>
                                        </p:tgtEl>
                                        <p:attrNameLst>
                                          <p:attrName>ppt_y</p:attrName>
                                        </p:attrNameLst>
                                      </p:cBhvr>
                                      <p:tavLst>
                                        <p:tav tm="0">
                                          <p:val>
                                            <p:strVal val="#ppt_y"/>
                                          </p:val>
                                        </p:tav>
                                        <p:tav tm="100000">
                                          <p:val>
                                            <p:strVal val="#ppt_y"/>
                                          </p:val>
                                        </p:tav>
                                      </p:tavLst>
                                    </p:anim>
                                  </p:childTnLst>
                                </p:cTn>
                              </p:par>
                            </p:childTnLst>
                          </p:cTn>
                        </p:par>
                        <p:par>
                          <p:cTn id="17" fill="hold">
                            <p:stCondLst>
                              <p:cond delay="2500"/>
                            </p:stCondLst>
                            <p:childTnLst>
                              <p:par>
                                <p:cTn id="18" presetID="16" presetClass="entr" presetSubtype="21" fill="hold" nodeType="afterEffect" nodePh="1">
                                  <p:stCondLst>
                                    <p:cond delay="0"/>
                                  </p:stCondLst>
                                  <p:endCondLst>
                                    <p:cond evt="begin" delay="0">
                                      <p:tn val="18"/>
                                    </p:cond>
                                  </p:endCondLst>
                                  <p:childTnLst>
                                    <p:set>
                                      <p:cBhvr>
                                        <p:cTn id="19" dur="1" fill="hold">
                                          <p:stCondLst>
                                            <p:cond delay="0"/>
                                          </p:stCondLst>
                                        </p:cTn>
                                        <p:tgtEl>
                                          <p:spTgt spid="10">
                                            <p:txEl>
                                              <p:pRg st="0" end="0"/>
                                            </p:txEl>
                                          </p:spTgt>
                                        </p:tgtEl>
                                        <p:attrNameLst>
                                          <p:attrName>style.visibility</p:attrName>
                                        </p:attrNameLst>
                                      </p:cBhvr>
                                      <p:to>
                                        <p:strVal val="visible"/>
                                      </p:to>
                                    </p:set>
                                    <p:animEffect transition="in" filter="barn(inVertical)">
                                      <p:cBhvr>
                                        <p:cTn id="20" dur="500"/>
                                        <p:tgtEl>
                                          <p:spTgt spid="10">
                                            <p:txEl>
                                              <p:pRg st="0" end="0"/>
                                            </p:txEl>
                                          </p:spTgt>
                                        </p:tgtEl>
                                      </p:cBhvr>
                                    </p:animEffect>
                                  </p:childTnLst>
                                </p:cTn>
                              </p:par>
                            </p:childTnLst>
                          </p:cTn>
                        </p:par>
                        <p:par>
                          <p:cTn id="21" fill="hold">
                            <p:stCondLst>
                              <p:cond delay="3000"/>
                            </p:stCondLst>
                            <p:childTnLst>
                              <p:par>
                                <p:cTn id="22" presetID="16" presetClass="entr" presetSubtype="21" fill="hold" grpId="0" nodeType="after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barn(inVertical)">
                                      <p:cBhvr>
                                        <p:cTn id="24" dur="500"/>
                                        <p:tgtEl>
                                          <p:spTgt spid="12"/>
                                        </p:tgtEl>
                                      </p:cBhvr>
                                    </p:animEffect>
                                  </p:childTnLst>
                                </p:cTn>
                              </p:par>
                            </p:childTnLst>
                          </p:cTn>
                        </p:par>
                        <p:par>
                          <p:cTn id="25" fill="hold">
                            <p:stCondLst>
                              <p:cond delay="3500"/>
                            </p:stCondLst>
                            <p:childTnLst>
                              <p:par>
                                <p:cTn id="26" presetID="53" presetClass="entr" presetSubtype="16" fill="hold" nodeType="afterEffect">
                                  <p:stCondLst>
                                    <p:cond delay="0"/>
                                  </p:stCondLst>
                                  <p:childTnLst>
                                    <p:set>
                                      <p:cBhvr>
                                        <p:cTn id="27" dur="1" fill="hold">
                                          <p:stCondLst>
                                            <p:cond delay="0"/>
                                          </p:stCondLst>
                                        </p:cTn>
                                        <p:tgtEl>
                                          <p:spTgt spid="11"/>
                                        </p:tgtEl>
                                        <p:attrNameLst>
                                          <p:attrName>style.visibility</p:attrName>
                                        </p:attrNameLst>
                                      </p:cBhvr>
                                      <p:to>
                                        <p:strVal val="visible"/>
                                      </p:to>
                                    </p:set>
                                    <p:anim calcmode="lin" valueType="num">
                                      <p:cBhvr>
                                        <p:cTn id="28" dur="500" fill="hold"/>
                                        <p:tgtEl>
                                          <p:spTgt spid="11"/>
                                        </p:tgtEl>
                                        <p:attrNameLst>
                                          <p:attrName>ppt_w</p:attrName>
                                        </p:attrNameLst>
                                      </p:cBhvr>
                                      <p:tavLst>
                                        <p:tav tm="0">
                                          <p:val>
                                            <p:fltVal val="0"/>
                                          </p:val>
                                        </p:tav>
                                        <p:tav tm="100000">
                                          <p:val>
                                            <p:strVal val="#ppt_w"/>
                                          </p:val>
                                        </p:tav>
                                      </p:tavLst>
                                    </p:anim>
                                    <p:anim calcmode="lin" valueType="num">
                                      <p:cBhvr>
                                        <p:cTn id="29" dur="500" fill="hold"/>
                                        <p:tgtEl>
                                          <p:spTgt spid="11"/>
                                        </p:tgtEl>
                                        <p:attrNameLst>
                                          <p:attrName>ppt_h</p:attrName>
                                        </p:attrNameLst>
                                      </p:cBhvr>
                                      <p:tavLst>
                                        <p:tav tm="0">
                                          <p:val>
                                            <p:fltVal val="0"/>
                                          </p:val>
                                        </p:tav>
                                        <p:tav tm="100000">
                                          <p:val>
                                            <p:strVal val="#ppt_h"/>
                                          </p:val>
                                        </p:tav>
                                      </p:tavLst>
                                    </p:anim>
                                    <p:animEffect transition="in" filter="fade">
                                      <p:cBhvr>
                                        <p:cTn id="30"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p:bldP spid="48" grpId="0"/>
      <p:bldP spid="12"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42">
            <a:extLst>
              <a:ext uri="{FF2B5EF4-FFF2-40B4-BE49-F238E27FC236}">
                <a16:creationId xmlns:a16="http://schemas.microsoft.com/office/drawing/2014/main" id="{C8D97DA4-6242-4E73-AEFC-457D04FDC65B}"/>
              </a:ext>
            </a:extLst>
          </p:cNvPr>
          <p:cNvPicPr>
            <a:picLocks noChangeAspect="1"/>
          </p:cNvPicPr>
          <p:nvPr/>
        </p:nvPicPr>
        <p:blipFill>
          <a:blip r:embed="rId2"/>
          <a:stretch>
            <a:fillRect/>
          </a:stretch>
        </p:blipFill>
        <p:spPr>
          <a:xfrm rot="16200000">
            <a:off x="145169" y="-145167"/>
            <a:ext cx="1268414" cy="1558750"/>
          </a:xfrm>
          <a:prstGeom prst="rect">
            <a:avLst/>
          </a:prstGeom>
        </p:spPr>
      </p:pic>
      <p:sp>
        <p:nvSpPr>
          <p:cNvPr id="9" name="文字方塊 8">
            <a:extLst>
              <a:ext uri="{FF2B5EF4-FFF2-40B4-BE49-F238E27FC236}">
                <a16:creationId xmlns:a16="http://schemas.microsoft.com/office/drawing/2014/main" id="{81D0666A-D96D-4B5B-9036-192FA53FE435}"/>
              </a:ext>
            </a:extLst>
          </p:cNvPr>
          <p:cNvSpPr txBox="1"/>
          <p:nvPr/>
        </p:nvSpPr>
        <p:spPr>
          <a:xfrm>
            <a:off x="1558751" y="6596390"/>
            <a:ext cx="4217821" cy="261610"/>
          </a:xfrm>
          <a:prstGeom prst="rect">
            <a:avLst/>
          </a:prstGeom>
          <a:noFill/>
        </p:spPr>
        <p:txBody>
          <a:bodyPr wrap="none" rtlCol="0">
            <a:spAutoFit/>
          </a:bodyPr>
          <a:lstStyle/>
          <a:p>
            <a:r>
              <a:rPr lang="zh-TW" altLang="en-US" sz="1100" dirty="0">
                <a:latin typeface="Microsoft JhengHei Light" panose="020B0304030504040204" pitchFamily="34" charset="-120"/>
                <a:ea typeface="Microsoft JhengHei Light" panose="020B0304030504040204" pitchFamily="34" charset="-120"/>
              </a:rPr>
              <a:t>區塊鏈商業應用概論 實例與分析／新陸書局股份有限公司 發行</a:t>
            </a:r>
          </a:p>
        </p:txBody>
      </p:sp>
      <p:cxnSp>
        <p:nvCxnSpPr>
          <p:cNvPr id="33" name="直接连接符 33">
            <a:extLst>
              <a:ext uri="{FF2B5EF4-FFF2-40B4-BE49-F238E27FC236}">
                <a16:creationId xmlns:a16="http://schemas.microsoft.com/office/drawing/2014/main" id="{DFF80DCD-8EF0-4D2F-8380-59FA348D932C}"/>
              </a:ext>
            </a:extLst>
          </p:cNvPr>
          <p:cNvCxnSpPr/>
          <p:nvPr/>
        </p:nvCxnSpPr>
        <p:spPr>
          <a:xfrm>
            <a:off x="1177167" y="1046746"/>
            <a:ext cx="10585176" cy="0"/>
          </a:xfrm>
          <a:prstGeom prst="line">
            <a:avLst/>
          </a:prstGeom>
          <a:ln w="19050">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46" name="標題 1"/>
          <p:cNvSpPr txBox="1">
            <a:spLocks/>
          </p:cNvSpPr>
          <p:nvPr/>
        </p:nvSpPr>
        <p:spPr>
          <a:xfrm>
            <a:off x="854426" y="112999"/>
            <a:ext cx="5288853" cy="874595"/>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zh-TW" sz="2400" b="1" dirty="0">
                <a:solidFill>
                  <a:srgbClr val="E06741"/>
                </a:solidFill>
              </a:rPr>
              <a:t>7-3 </a:t>
            </a:r>
            <a:r>
              <a:rPr lang="zh-TW" altLang="en-US" sz="2400" b="1" dirty="0">
                <a:solidFill>
                  <a:srgbClr val="E06741"/>
                </a:solidFill>
              </a:rPr>
              <a:t>實務案例</a:t>
            </a:r>
            <a:r>
              <a:rPr lang="en-US" altLang="zh-TW" sz="2400" b="1" dirty="0">
                <a:solidFill>
                  <a:srgbClr val="E06741"/>
                </a:solidFill>
              </a:rPr>
              <a:t>-</a:t>
            </a:r>
            <a:r>
              <a:rPr lang="zh-TW" altLang="en-US" sz="2400" b="1" dirty="0">
                <a:solidFill>
                  <a:srgbClr val="E06741"/>
                </a:solidFill>
              </a:rPr>
              <a:t>農產履歷</a:t>
            </a:r>
            <a:endParaRPr lang="zh-TW" altLang="en-US" sz="2400" dirty="0">
              <a:solidFill>
                <a:srgbClr val="E06741"/>
              </a:solidFill>
              <a:latin typeface="標楷體" panose="03000509000000000000" pitchFamily="65" charset="-120"/>
              <a:ea typeface="標楷體" panose="03000509000000000000" pitchFamily="65" charset="-120"/>
              <a:cs typeface="Times New Roman" panose="02020603050405020304" pitchFamily="18" charset="0"/>
            </a:endParaRPr>
          </a:p>
        </p:txBody>
      </p:sp>
      <p:sp>
        <p:nvSpPr>
          <p:cNvPr id="48" name="文字方塊 47">
            <a:extLst>
              <a:ext uri="{FF2B5EF4-FFF2-40B4-BE49-F238E27FC236}">
                <a16:creationId xmlns:a16="http://schemas.microsoft.com/office/drawing/2014/main" id="{AD7F4831-1A36-4A2F-ACBE-344F724510DC}"/>
              </a:ext>
            </a:extLst>
          </p:cNvPr>
          <p:cNvSpPr txBox="1"/>
          <p:nvPr/>
        </p:nvSpPr>
        <p:spPr>
          <a:xfrm>
            <a:off x="5130089" y="350241"/>
            <a:ext cx="960519" cy="400110"/>
          </a:xfrm>
          <a:prstGeom prst="rect">
            <a:avLst/>
          </a:prstGeom>
          <a:noFill/>
        </p:spPr>
        <p:txBody>
          <a:bodyPr wrap="none" rtlCol="0">
            <a:spAutoFit/>
          </a:bodyPr>
          <a:lstStyle/>
          <a:p>
            <a:r>
              <a:rPr lang="en-US" altLang="zh-TW"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-3</a:t>
            </a:r>
            <a:r>
              <a:rPr lang="zh-TW" altLang="en-US" sz="2000" b="1" dirty="0">
                <a:solidFill>
                  <a:schemeClr val="tx1">
                    <a:lumMod val="65000"/>
                    <a:lumOff val="35000"/>
                  </a:schemeClr>
                </a:solidFill>
                <a:latin typeface="微軟正黑體" panose="020B0604030504040204" pitchFamily="34" charset="-120"/>
                <a:ea typeface="微軟正黑體" panose="020B0604030504040204" pitchFamily="34" charset="-120"/>
                <a:cs typeface="Times New Roman" panose="02020603050405020304" pitchFamily="18" charset="0"/>
              </a:rPr>
              <a:t>結論</a:t>
            </a:r>
          </a:p>
        </p:txBody>
      </p:sp>
      <p:sp>
        <p:nvSpPr>
          <p:cNvPr id="10" name="文字方塊 9">
            <a:extLst>
              <a:ext uri="{FF2B5EF4-FFF2-40B4-BE49-F238E27FC236}">
                <a16:creationId xmlns:a16="http://schemas.microsoft.com/office/drawing/2014/main" id="{BF94E171-0176-49DD-BE6C-DB2D96B94A88}"/>
              </a:ext>
            </a:extLst>
          </p:cNvPr>
          <p:cNvSpPr txBox="1"/>
          <p:nvPr/>
        </p:nvSpPr>
        <p:spPr>
          <a:xfrm>
            <a:off x="1177167" y="1818274"/>
            <a:ext cx="9663430" cy="578492"/>
          </a:xfrm>
          <a:prstGeom prst="rect">
            <a:avLst/>
          </a:prstGeom>
          <a:noFill/>
        </p:spPr>
        <p:txBody>
          <a:bodyPr wrap="square" rtlCol="0">
            <a:spAutoFit/>
          </a:bodyPr>
          <a:lstStyle/>
          <a:p>
            <a:pPr marL="342900" indent="-342900">
              <a:lnSpc>
                <a:spcPct val="150000"/>
              </a:lnSpc>
              <a:buBlip>
                <a:blip r:embed="rId3"/>
              </a:buBlip>
            </a:pP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sp>
        <p:nvSpPr>
          <p:cNvPr id="12" name="文字方塊 11">
            <a:extLst>
              <a:ext uri="{FF2B5EF4-FFF2-40B4-BE49-F238E27FC236}">
                <a16:creationId xmlns:a16="http://schemas.microsoft.com/office/drawing/2014/main" id="{BF94E171-0176-49DD-BE6C-DB2D96B94A88}"/>
              </a:ext>
            </a:extLst>
          </p:cNvPr>
          <p:cNvSpPr txBox="1"/>
          <p:nvPr/>
        </p:nvSpPr>
        <p:spPr>
          <a:xfrm>
            <a:off x="1054671" y="1100593"/>
            <a:ext cx="9909905" cy="578492"/>
          </a:xfrm>
          <a:prstGeom prst="rect">
            <a:avLst/>
          </a:prstGeom>
          <a:noFill/>
        </p:spPr>
        <p:txBody>
          <a:bodyPr wrap="square" rtlCol="0">
            <a:spAutoFit/>
          </a:bodyPr>
          <a:lstStyle/>
          <a:p>
            <a:pPr marL="342900" indent="-342900">
              <a:lnSpc>
                <a:spcPct val="150000"/>
              </a:lnSpc>
              <a:buBlip>
                <a:blip r:embed="rId3"/>
              </a:buBlip>
            </a:pPr>
            <a:r>
              <a:rPr lang="zh-TW" altLang="en-US" sz="2400" b="1" dirty="0">
                <a:solidFill>
                  <a:schemeClr val="tx1">
                    <a:lumMod val="75000"/>
                    <a:lumOff val="25000"/>
                  </a:schemeClr>
                </a:solidFill>
                <a:latin typeface="微軟正黑體" panose="020B0604030504040204" pitchFamily="34" charset="-120"/>
                <a:ea typeface="微軟正黑體" panose="020B0604030504040204" pitchFamily="34" charset="-120"/>
              </a:rPr>
              <a:t>農業區域鍊化三大優勢：</a:t>
            </a:r>
            <a:endParaRPr lang="en-US" altLang="zh-TW" sz="2400" b="1" dirty="0">
              <a:solidFill>
                <a:schemeClr val="tx1">
                  <a:lumMod val="75000"/>
                  <a:lumOff val="25000"/>
                </a:schemeClr>
              </a:solidFill>
              <a:latin typeface="微軟正黑體" panose="020B0604030504040204" pitchFamily="34" charset="-120"/>
              <a:ea typeface="微軟正黑體" panose="020B0604030504040204" pitchFamily="34" charset="-120"/>
            </a:endParaRPr>
          </a:p>
        </p:txBody>
      </p:sp>
      <p:graphicFrame>
        <p:nvGraphicFramePr>
          <p:cNvPr id="2" name="資料庫圖表 1"/>
          <p:cNvGraphicFramePr/>
          <p:nvPr>
            <p:extLst>
              <p:ext uri="{D42A27DB-BD31-4B8C-83A1-F6EECF244321}">
                <p14:modId xmlns:p14="http://schemas.microsoft.com/office/powerpoint/2010/main" val="3463167955"/>
              </p:ext>
            </p:extLst>
          </p:nvPr>
        </p:nvGraphicFramePr>
        <p:xfrm>
          <a:off x="1944882" y="1308528"/>
          <a:ext cx="8128000" cy="5418667"/>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3005702058"/>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500"/>
                            </p:stCondLst>
                            <p:childTnLst>
                              <p:par>
                                <p:cTn id="5" presetID="6" presetClass="entr" presetSubtype="16" fill="hold" grpId="0" nodeType="after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circle(in)">
                                      <p:cBhvr>
                                        <p:cTn id="7" dur="1500"/>
                                        <p:tgtEl>
                                          <p:spTgt spid="46"/>
                                        </p:tgtEl>
                                      </p:cBhvr>
                                    </p:animEffect>
                                  </p:childTnLst>
                                </p:cTn>
                              </p:par>
                            </p:childTnLst>
                          </p:cTn>
                        </p:par>
                        <p:par>
                          <p:cTn id="8" fill="hold">
                            <p:stCondLst>
                              <p:cond delay="2000"/>
                            </p:stCondLst>
                            <p:childTnLst>
                              <p:par>
                                <p:cTn id="9" presetID="16" presetClass="entr" presetSubtype="21" fill="hold" grpId="0" nodeType="afterEffect">
                                  <p:stCondLst>
                                    <p:cond delay="0"/>
                                  </p:stCondLst>
                                  <p:childTnLst>
                                    <p:set>
                                      <p:cBhvr>
                                        <p:cTn id="10" dur="1" fill="hold">
                                          <p:stCondLst>
                                            <p:cond delay="0"/>
                                          </p:stCondLst>
                                        </p:cTn>
                                        <p:tgtEl>
                                          <p:spTgt spid="48"/>
                                        </p:tgtEl>
                                        <p:attrNameLst>
                                          <p:attrName>style.visibility</p:attrName>
                                        </p:attrNameLst>
                                      </p:cBhvr>
                                      <p:to>
                                        <p:strVal val="visible"/>
                                      </p:to>
                                    </p:set>
                                    <p:animEffect transition="in" filter="barn(inVertical)">
                                      <p:cBhvr>
                                        <p:cTn id="11" dur="500"/>
                                        <p:tgtEl>
                                          <p:spTgt spid="48"/>
                                        </p:tgtEl>
                                      </p:cBhvr>
                                    </p:animEffect>
                                  </p:childTnLst>
                                </p:cTn>
                              </p:par>
                            </p:childTnLst>
                          </p:cTn>
                        </p:par>
                        <p:par>
                          <p:cTn id="12" fill="hold">
                            <p:stCondLst>
                              <p:cond delay="2500"/>
                            </p:stCondLst>
                            <p:childTnLst>
                              <p:par>
                                <p:cTn id="13" presetID="2" presetClass="entr" presetSubtype="8" fill="hold" nodeType="afterEffect">
                                  <p:stCondLst>
                                    <p:cond delay="0"/>
                                  </p:stCondLst>
                                  <p:childTnLst>
                                    <p:set>
                                      <p:cBhvr>
                                        <p:cTn id="14" dur="1" fill="hold">
                                          <p:stCondLst>
                                            <p:cond delay="0"/>
                                          </p:stCondLst>
                                        </p:cTn>
                                        <p:tgtEl>
                                          <p:spTgt spid="33"/>
                                        </p:tgtEl>
                                        <p:attrNameLst>
                                          <p:attrName>style.visibility</p:attrName>
                                        </p:attrNameLst>
                                      </p:cBhvr>
                                      <p:to>
                                        <p:strVal val="visible"/>
                                      </p:to>
                                    </p:set>
                                    <p:anim calcmode="lin" valueType="num">
                                      <p:cBhvr additive="base">
                                        <p:cTn id="15" dur="500" fill="hold"/>
                                        <p:tgtEl>
                                          <p:spTgt spid="33"/>
                                        </p:tgtEl>
                                        <p:attrNameLst>
                                          <p:attrName>ppt_x</p:attrName>
                                        </p:attrNameLst>
                                      </p:cBhvr>
                                      <p:tavLst>
                                        <p:tav tm="0">
                                          <p:val>
                                            <p:strVal val="0-#ppt_w/2"/>
                                          </p:val>
                                        </p:tav>
                                        <p:tav tm="100000">
                                          <p:val>
                                            <p:strVal val="#ppt_x"/>
                                          </p:val>
                                        </p:tav>
                                      </p:tavLst>
                                    </p:anim>
                                    <p:anim calcmode="lin" valueType="num">
                                      <p:cBhvr additive="base">
                                        <p:cTn id="16" dur="500" fill="hold"/>
                                        <p:tgtEl>
                                          <p:spTgt spid="33"/>
                                        </p:tgtEl>
                                        <p:attrNameLst>
                                          <p:attrName>ppt_y</p:attrName>
                                        </p:attrNameLst>
                                      </p:cBhvr>
                                      <p:tavLst>
                                        <p:tav tm="0">
                                          <p:val>
                                            <p:strVal val="#ppt_y"/>
                                          </p:val>
                                        </p:tav>
                                        <p:tav tm="100000">
                                          <p:val>
                                            <p:strVal val="#ppt_y"/>
                                          </p:val>
                                        </p:tav>
                                      </p:tavLst>
                                    </p:anim>
                                  </p:childTnLst>
                                </p:cTn>
                              </p:par>
                            </p:childTnLst>
                          </p:cTn>
                        </p:par>
                        <p:par>
                          <p:cTn id="17" fill="hold">
                            <p:stCondLst>
                              <p:cond delay="3000"/>
                            </p:stCondLst>
                            <p:childTnLst>
                              <p:par>
                                <p:cTn id="18" presetID="16" presetClass="entr" presetSubtype="21" fill="hold" nodeType="afterEffect" nodePh="1">
                                  <p:stCondLst>
                                    <p:cond delay="0"/>
                                  </p:stCondLst>
                                  <p:endCondLst>
                                    <p:cond evt="begin" delay="0">
                                      <p:tn val="18"/>
                                    </p:cond>
                                  </p:endCondLst>
                                  <p:childTnLst>
                                    <p:set>
                                      <p:cBhvr>
                                        <p:cTn id="19" dur="1" fill="hold">
                                          <p:stCondLst>
                                            <p:cond delay="0"/>
                                          </p:stCondLst>
                                        </p:cTn>
                                        <p:tgtEl>
                                          <p:spTgt spid="10">
                                            <p:txEl>
                                              <p:pRg st="0" end="0"/>
                                            </p:txEl>
                                          </p:spTgt>
                                        </p:tgtEl>
                                        <p:attrNameLst>
                                          <p:attrName>style.visibility</p:attrName>
                                        </p:attrNameLst>
                                      </p:cBhvr>
                                      <p:to>
                                        <p:strVal val="visible"/>
                                      </p:to>
                                    </p:set>
                                    <p:animEffect transition="in" filter="barn(inVertical)">
                                      <p:cBhvr>
                                        <p:cTn id="20" dur="500"/>
                                        <p:tgtEl>
                                          <p:spTgt spid="10">
                                            <p:txEl>
                                              <p:pRg st="0" end="0"/>
                                            </p:txEl>
                                          </p:spTgt>
                                        </p:tgtEl>
                                      </p:cBhvr>
                                    </p:animEffect>
                                  </p:childTnLst>
                                </p:cTn>
                              </p:par>
                            </p:childTnLst>
                          </p:cTn>
                        </p:par>
                        <p:par>
                          <p:cTn id="21" fill="hold">
                            <p:stCondLst>
                              <p:cond delay="3500"/>
                            </p:stCondLst>
                            <p:childTnLst>
                              <p:par>
                                <p:cTn id="22" presetID="16" presetClass="entr" presetSubtype="21" fill="hold" grpId="0" nodeType="after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barn(inVertical)">
                                      <p:cBhvr>
                                        <p:cTn id="24" dur="500"/>
                                        <p:tgtEl>
                                          <p:spTgt spid="12"/>
                                        </p:tgtEl>
                                      </p:cBhvr>
                                    </p:animEffect>
                                  </p:childTnLst>
                                </p:cTn>
                              </p:par>
                            </p:childTnLst>
                          </p:cTn>
                        </p:par>
                        <p:par>
                          <p:cTn id="25" fill="hold">
                            <p:stCondLst>
                              <p:cond delay="4000"/>
                            </p:stCondLst>
                            <p:childTnLst>
                              <p:par>
                                <p:cTn id="26" presetID="53" presetClass="entr" presetSubtype="16" fill="hold" grpId="0" nodeType="afterEffect">
                                  <p:stCondLst>
                                    <p:cond delay="0"/>
                                  </p:stCondLst>
                                  <p:childTnLst>
                                    <p:set>
                                      <p:cBhvr>
                                        <p:cTn id="27" dur="1" fill="hold">
                                          <p:stCondLst>
                                            <p:cond delay="0"/>
                                          </p:stCondLst>
                                        </p:cTn>
                                        <p:tgtEl>
                                          <p:spTgt spid="2"/>
                                        </p:tgtEl>
                                        <p:attrNameLst>
                                          <p:attrName>style.visibility</p:attrName>
                                        </p:attrNameLst>
                                      </p:cBhvr>
                                      <p:to>
                                        <p:strVal val="visible"/>
                                      </p:to>
                                    </p:set>
                                    <p:anim calcmode="lin" valueType="num">
                                      <p:cBhvr>
                                        <p:cTn id="28" dur="500" fill="hold"/>
                                        <p:tgtEl>
                                          <p:spTgt spid="2"/>
                                        </p:tgtEl>
                                        <p:attrNameLst>
                                          <p:attrName>ppt_w</p:attrName>
                                        </p:attrNameLst>
                                      </p:cBhvr>
                                      <p:tavLst>
                                        <p:tav tm="0">
                                          <p:val>
                                            <p:fltVal val="0"/>
                                          </p:val>
                                        </p:tav>
                                        <p:tav tm="100000">
                                          <p:val>
                                            <p:strVal val="#ppt_w"/>
                                          </p:val>
                                        </p:tav>
                                      </p:tavLst>
                                    </p:anim>
                                    <p:anim calcmode="lin" valueType="num">
                                      <p:cBhvr>
                                        <p:cTn id="29" dur="500" fill="hold"/>
                                        <p:tgtEl>
                                          <p:spTgt spid="2"/>
                                        </p:tgtEl>
                                        <p:attrNameLst>
                                          <p:attrName>ppt_h</p:attrName>
                                        </p:attrNameLst>
                                      </p:cBhvr>
                                      <p:tavLst>
                                        <p:tav tm="0">
                                          <p:val>
                                            <p:fltVal val="0"/>
                                          </p:val>
                                        </p:tav>
                                        <p:tav tm="100000">
                                          <p:val>
                                            <p:strVal val="#ppt_h"/>
                                          </p:val>
                                        </p:tav>
                                      </p:tavLst>
                                    </p:anim>
                                    <p:animEffect transition="in" filter="fade">
                                      <p:cBhvr>
                                        <p:cTn id="30"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p:bldP spid="48" grpId="0"/>
      <p:bldP spid="12" grpId="0"/>
      <p:bldGraphic spid="2" grpId="0">
        <p:bldAsOne/>
      </p:bldGraphic>
    </p:bldLst>
  </p:timing>
</p:sld>
</file>

<file path=ppt/tags/tag1.xml><?xml version="1.0" encoding="utf-8"?>
<p:tagLst xmlns:a="http://schemas.openxmlformats.org/drawingml/2006/main" xmlns:r="http://schemas.openxmlformats.org/officeDocument/2006/relationships" xmlns:p="http://schemas.openxmlformats.org/presentationml/2006/main">
  <p:tag name="ISPRING_PRESENTATION_TITLE" val="PowerPoint 演示文稿"/>
</p:tagLst>
</file>

<file path=ppt/theme/theme1.xml><?xml version="1.0" encoding="utf-8"?>
<a:theme xmlns:a="http://schemas.openxmlformats.org/drawingml/2006/main" name="包图主题2">
  <a:themeElements>
    <a:clrScheme name="自定义 154">
      <a:dk1>
        <a:sysClr val="windowText" lastClr="000000"/>
      </a:dk1>
      <a:lt1>
        <a:sysClr val="window" lastClr="FFFFFF"/>
      </a:lt1>
      <a:dk2>
        <a:srgbClr val="44546A"/>
      </a:dk2>
      <a:lt2>
        <a:srgbClr val="E7E6E6"/>
      </a:lt2>
      <a:accent1>
        <a:srgbClr val="4A5A6F"/>
      </a:accent1>
      <a:accent2>
        <a:srgbClr val="E06741"/>
      </a:accent2>
      <a:accent3>
        <a:srgbClr val="4A5A6F"/>
      </a:accent3>
      <a:accent4>
        <a:srgbClr val="E06741"/>
      </a:accent4>
      <a:accent5>
        <a:srgbClr val="4A5A6F"/>
      </a:accent5>
      <a:accent6>
        <a:srgbClr val="E06741"/>
      </a:accent6>
      <a:hlink>
        <a:srgbClr val="0563C1"/>
      </a:hlink>
      <a:folHlink>
        <a:srgbClr val="954F72"/>
      </a:folHlink>
    </a:clrScheme>
    <a:fontScheme name="自定义 1">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包图主题2" id="{50CFA792-C506-47E4-B272-6A6183483AB3}" vid="{CC1AE437-2F7F-4319-9F22-408F5F8C346F}"/>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3149</TotalTime>
  <Words>4487</Words>
  <Application>Microsoft Office PowerPoint</Application>
  <PresentationFormat>寬螢幕</PresentationFormat>
  <Paragraphs>475</Paragraphs>
  <Slides>60</Slides>
  <Notes>2</Notes>
  <HiddenSlides>0</HiddenSlides>
  <MMClips>0</MMClips>
  <ScaleCrop>false</ScaleCrop>
  <HeadingPairs>
    <vt:vector size="6" baseType="variant">
      <vt:variant>
        <vt:lpstr>使用字型</vt:lpstr>
      </vt:variant>
      <vt:variant>
        <vt:i4>8</vt:i4>
      </vt:variant>
      <vt:variant>
        <vt:lpstr>佈景主題</vt:lpstr>
      </vt:variant>
      <vt:variant>
        <vt:i4>1</vt:i4>
      </vt:variant>
      <vt:variant>
        <vt:lpstr>投影片標題</vt:lpstr>
      </vt:variant>
      <vt:variant>
        <vt:i4>60</vt:i4>
      </vt:variant>
    </vt:vector>
  </HeadingPairs>
  <TitlesOfParts>
    <vt:vector size="69" baseType="lpstr">
      <vt:lpstr>等线</vt:lpstr>
      <vt:lpstr>Microsoft JhengHei Light</vt:lpstr>
      <vt:lpstr>微软雅黑</vt:lpstr>
      <vt:lpstr>微軟正黑體</vt:lpstr>
      <vt:lpstr>標楷體</vt:lpstr>
      <vt:lpstr>Arial</vt:lpstr>
      <vt:lpstr>Times New Roman</vt:lpstr>
      <vt:lpstr>Wingdings</vt:lpstr>
      <vt:lpstr>包图主题2</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http://www.ypppt.com/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优品PPT</dc:creator>
  <cp:keywords>http:/www.ypppt.com</cp:keywords>
  <dc:description>http://www.ypppt.com/</dc:description>
  <cp:lastModifiedBy>張景涵</cp:lastModifiedBy>
  <cp:revision>226</cp:revision>
  <dcterms:created xsi:type="dcterms:W3CDTF">2017-09-04T07:53:30Z</dcterms:created>
  <dcterms:modified xsi:type="dcterms:W3CDTF">2018-07-30T01:33:06Z</dcterms:modified>
</cp:coreProperties>
</file>