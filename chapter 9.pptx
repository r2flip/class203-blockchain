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84" r:id="rId2"/>
    <p:sldId id="257" r:id="rId3"/>
    <p:sldId id="354" r:id="rId4"/>
    <p:sldId id="425" r:id="rId5"/>
    <p:sldId id="424" r:id="rId6"/>
    <p:sldId id="420" r:id="rId7"/>
    <p:sldId id="421" r:id="rId8"/>
    <p:sldId id="431" r:id="rId9"/>
    <p:sldId id="422" r:id="rId10"/>
    <p:sldId id="430" r:id="rId11"/>
    <p:sldId id="423" r:id="rId12"/>
    <p:sldId id="432" r:id="rId13"/>
    <p:sldId id="426" r:id="rId14"/>
    <p:sldId id="433" r:id="rId15"/>
    <p:sldId id="428" r:id="rId16"/>
    <p:sldId id="427" r:id="rId17"/>
    <p:sldId id="429" r:id="rId18"/>
    <p:sldId id="434" r:id="rId19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667E"/>
    <a:srgbClr val="389482"/>
    <a:srgbClr val="3EA491"/>
    <a:srgbClr val="3DA18E"/>
    <a:srgbClr val="318373"/>
    <a:srgbClr val="32AC9D"/>
    <a:srgbClr val="2C7668"/>
    <a:srgbClr val="F9F9F9"/>
    <a:srgbClr val="1F497D"/>
    <a:srgbClr val="D6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23" autoAdjust="0"/>
  </p:normalViewPr>
  <p:slideViewPr>
    <p:cSldViewPr snapToGrid="0" showGuides="1">
      <p:cViewPr varScale="1">
        <p:scale>
          <a:sx n="102" d="100"/>
          <a:sy n="102" d="100"/>
        </p:scale>
        <p:origin x="2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EE2999-3D72-466F-AAFF-ABD521419A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E2F9CAE-89A0-462F-AACC-4257F59BC86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透過</a:t>
          </a:r>
          <a:r>
            <a:rPr lang="en-US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SHA256</a:t>
          </a:r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安全雜湊演算法給予數位文憑一組數字碼</a:t>
          </a:r>
        </a:p>
      </dgm:t>
    </dgm:pt>
    <dgm:pt modelId="{069FFF7D-C35C-443E-A41F-23E4D1C3CC6F}" type="parTrans" cxnId="{67B4C63B-4380-4F2A-B2C6-192ABCDA27DA}">
      <dgm:prSet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99A123-1700-4CEF-82DF-80DE0F747FD9}" type="sibTrans" cxnId="{67B4C63B-4380-4F2A-B2C6-192ABCDA27DA}">
      <dgm:prSet custT="1"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C64B389-C5D8-489E-AAB4-77F69271500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在</a:t>
          </a:r>
          <a:r>
            <a:rPr lang="en-US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OP-RETURN</a:t>
          </a:r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的位置中取得散列函數值（或哈希函數值）</a:t>
          </a:r>
        </a:p>
      </dgm:t>
    </dgm:pt>
    <dgm:pt modelId="{78BE9579-DA6B-488F-95A0-ADE78FD623FD}" type="parTrans" cxnId="{CB60B0EF-2B3C-4435-ACE6-473B9E2E817B}">
      <dgm:prSet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DA05E0-AC3E-49ED-A064-3A2358509516}" type="sibTrans" cxnId="{CB60B0EF-2B3C-4435-ACE6-473B9E2E817B}">
      <dgm:prSet custT="1"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74B6FC2-14CC-415E-AC6D-164A81338B77}" type="pres">
      <dgm:prSet presAssocID="{04EE2999-3D72-466F-AAFF-ABD521419AF4}" presName="Name0" presStyleCnt="0">
        <dgm:presLayoutVars>
          <dgm:dir/>
          <dgm:resizeHandles val="exact"/>
        </dgm:presLayoutVars>
      </dgm:prSet>
      <dgm:spPr/>
    </dgm:pt>
    <dgm:pt modelId="{CBB419AB-295B-4AC9-BB13-2985EA21FE65}" type="pres">
      <dgm:prSet presAssocID="{EE2F9CAE-89A0-462F-AACC-4257F59BC86B}" presName="node" presStyleLbl="node1" presStyleIdx="0" presStyleCnt="2">
        <dgm:presLayoutVars>
          <dgm:bulletEnabled val="1"/>
        </dgm:presLayoutVars>
      </dgm:prSet>
      <dgm:spPr/>
    </dgm:pt>
    <dgm:pt modelId="{6DC3DB55-2E6D-4E9C-86C0-CF22949AE499}" type="pres">
      <dgm:prSet presAssocID="{2D99A123-1700-4CEF-82DF-80DE0F747FD9}" presName="sibTrans" presStyleLbl="sibTrans2D1" presStyleIdx="0" presStyleCnt="1" custScaleX="79023" custScaleY="79023"/>
      <dgm:spPr/>
    </dgm:pt>
    <dgm:pt modelId="{11CEBE87-7503-4820-9EF7-D0DB06996F9A}" type="pres">
      <dgm:prSet presAssocID="{2D99A123-1700-4CEF-82DF-80DE0F747FD9}" presName="connectorText" presStyleLbl="sibTrans2D1" presStyleIdx="0" presStyleCnt="1"/>
      <dgm:spPr/>
    </dgm:pt>
    <dgm:pt modelId="{D5000E0A-0118-4238-8E7F-E7E525C926DF}" type="pres">
      <dgm:prSet presAssocID="{7C64B389-C5D8-489E-AAB4-77F692715005}" presName="node" presStyleLbl="node1" presStyleIdx="1" presStyleCnt="2">
        <dgm:presLayoutVars>
          <dgm:bulletEnabled val="1"/>
        </dgm:presLayoutVars>
      </dgm:prSet>
      <dgm:spPr/>
    </dgm:pt>
  </dgm:ptLst>
  <dgm:cxnLst>
    <dgm:cxn modelId="{961F4F18-5561-4D5F-BB0B-B9EB0DEBD7D9}" type="presOf" srcId="{EE2F9CAE-89A0-462F-AACC-4257F59BC86B}" destId="{CBB419AB-295B-4AC9-BB13-2985EA21FE65}" srcOrd="0" destOrd="0" presId="urn:microsoft.com/office/officeart/2005/8/layout/process1"/>
    <dgm:cxn modelId="{CEF7022E-58EC-4D11-BD7A-F6198C3BD027}" type="presOf" srcId="{04EE2999-3D72-466F-AAFF-ABD521419AF4}" destId="{874B6FC2-14CC-415E-AC6D-164A81338B77}" srcOrd="0" destOrd="0" presId="urn:microsoft.com/office/officeart/2005/8/layout/process1"/>
    <dgm:cxn modelId="{67B4C63B-4380-4F2A-B2C6-192ABCDA27DA}" srcId="{04EE2999-3D72-466F-AAFF-ABD521419AF4}" destId="{EE2F9CAE-89A0-462F-AACC-4257F59BC86B}" srcOrd="0" destOrd="0" parTransId="{069FFF7D-C35C-443E-A41F-23E4D1C3CC6F}" sibTransId="{2D99A123-1700-4CEF-82DF-80DE0F747FD9}"/>
    <dgm:cxn modelId="{49A1B975-73E7-4E7B-910C-0085D099AA21}" type="presOf" srcId="{2D99A123-1700-4CEF-82DF-80DE0F747FD9}" destId="{6DC3DB55-2E6D-4E9C-86C0-CF22949AE499}" srcOrd="0" destOrd="0" presId="urn:microsoft.com/office/officeart/2005/8/layout/process1"/>
    <dgm:cxn modelId="{2019549F-D4D2-4296-B515-E80916D1FEF9}" type="presOf" srcId="{7C64B389-C5D8-489E-AAB4-77F692715005}" destId="{D5000E0A-0118-4238-8E7F-E7E525C926DF}" srcOrd="0" destOrd="0" presId="urn:microsoft.com/office/officeart/2005/8/layout/process1"/>
    <dgm:cxn modelId="{CB60B0EF-2B3C-4435-ACE6-473B9E2E817B}" srcId="{04EE2999-3D72-466F-AAFF-ABD521419AF4}" destId="{7C64B389-C5D8-489E-AAB4-77F692715005}" srcOrd="1" destOrd="0" parTransId="{78BE9579-DA6B-488F-95A0-ADE78FD623FD}" sibTransId="{3EDA05E0-AC3E-49ED-A064-3A2358509516}"/>
    <dgm:cxn modelId="{3518C7FD-F5EC-485A-B896-244620B21B69}" type="presOf" srcId="{2D99A123-1700-4CEF-82DF-80DE0F747FD9}" destId="{11CEBE87-7503-4820-9EF7-D0DB06996F9A}" srcOrd="1" destOrd="0" presId="urn:microsoft.com/office/officeart/2005/8/layout/process1"/>
    <dgm:cxn modelId="{1B4E6486-8AED-4BBF-8F2E-7750D77B384B}" type="presParOf" srcId="{874B6FC2-14CC-415E-AC6D-164A81338B77}" destId="{CBB419AB-295B-4AC9-BB13-2985EA21FE65}" srcOrd="0" destOrd="0" presId="urn:microsoft.com/office/officeart/2005/8/layout/process1"/>
    <dgm:cxn modelId="{0F86FA35-11F0-40A3-A1AF-9E619A288179}" type="presParOf" srcId="{874B6FC2-14CC-415E-AC6D-164A81338B77}" destId="{6DC3DB55-2E6D-4E9C-86C0-CF22949AE499}" srcOrd="1" destOrd="0" presId="urn:microsoft.com/office/officeart/2005/8/layout/process1"/>
    <dgm:cxn modelId="{28003500-28C7-4ABF-A876-B53457E33BAB}" type="presParOf" srcId="{6DC3DB55-2E6D-4E9C-86C0-CF22949AE499}" destId="{11CEBE87-7503-4820-9EF7-D0DB06996F9A}" srcOrd="0" destOrd="0" presId="urn:microsoft.com/office/officeart/2005/8/layout/process1"/>
    <dgm:cxn modelId="{843D56F9-8C7B-4BC3-95C3-A9BA89F6ACB4}" type="presParOf" srcId="{874B6FC2-14CC-415E-AC6D-164A81338B77}" destId="{D5000E0A-0118-4238-8E7F-E7E525C926D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EE2999-3D72-466F-AAFF-ABD521419A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E2F9CAE-89A0-462F-AACC-4257F59BC86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比對數位文憑和區塊鏈系統的散列函數值</a:t>
          </a:r>
        </a:p>
      </dgm:t>
    </dgm:pt>
    <dgm:pt modelId="{069FFF7D-C35C-443E-A41F-23E4D1C3CC6F}" type="parTrans" cxnId="{67B4C63B-4380-4F2A-B2C6-192ABCDA27DA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99A123-1700-4CEF-82DF-80DE0F747FD9}" type="sibTrans" cxnId="{67B4C63B-4380-4F2A-B2C6-192ABCDA27DA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C64B389-C5D8-489E-AAB4-77F69271500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驗證媒體實驗室內的簽章</a:t>
          </a:r>
        </a:p>
      </dgm:t>
    </dgm:pt>
    <dgm:pt modelId="{78BE9579-DA6B-488F-95A0-ADE78FD623FD}" type="parTrans" cxnId="{CB60B0EF-2B3C-4435-ACE6-473B9E2E817B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DA05E0-AC3E-49ED-A064-3A2358509516}" type="sibTrans" cxnId="{CB60B0EF-2B3C-4435-ACE6-473B9E2E817B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1D4A37C-5AFF-4226-AE57-893DDC191CC7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確認發行機構不得篡改</a:t>
          </a:r>
        </a:p>
      </dgm:t>
    </dgm:pt>
    <dgm:pt modelId="{0CDCE4B6-FCBB-4FB4-83CC-6A721BE01A9F}" type="parTrans" cxnId="{E253AA29-AF13-46F9-AB45-C7BFA61ABF31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5CBCB46-886D-4824-A4F5-DD7151CDE21A}" type="sibTrans" cxnId="{E253AA29-AF13-46F9-AB45-C7BFA61ABF31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74B6FC2-14CC-415E-AC6D-164A81338B77}" type="pres">
      <dgm:prSet presAssocID="{04EE2999-3D72-466F-AAFF-ABD521419AF4}" presName="Name0" presStyleCnt="0">
        <dgm:presLayoutVars>
          <dgm:dir/>
          <dgm:resizeHandles val="exact"/>
        </dgm:presLayoutVars>
      </dgm:prSet>
      <dgm:spPr/>
    </dgm:pt>
    <dgm:pt modelId="{CBB419AB-295B-4AC9-BB13-2985EA21FE65}" type="pres">
      <dgm:prSet presAssocID="{EE2F9CAE-89A0-462F-AACC-4257F59BC86B}" presName="node" presStyleLbl="node1" presStyleIdx="0" presStyleCnt="3">
        <dgm:presLayoutVars>
          <dgm:bulletEnabled val="1"/>
        </dgm:presLayoutVars>
      </dgm:prSet>
      <dgm:spPr/>
    </dgm:pt>
    <dgm:pt modelId="{6DC3DB55-2E6D-4E9C-86C0-CF22949AE499}" type="pres">
      <dgm:prSet presAssocID="{2D99A123-1700-4CEF-82DF-80DE0F747FD9}" presName="sibTrans" presStyleLbl="sibTrans2D1" presStyleIdx="0" presStyleCnt="2"/>
      <dgm:spPr/>
    </dgm:pt>
    <dgm:pt modelId="{11CEBE87-7503-4820-9EF7-D0DB06996F9A}" type="pres">
      <dgm:prSet presAssocID="{2D99A123-1700-4CEF-82DF-80DE0F747FD9}" presName="connectorText" presStyleLbl="sibTrans2D1" presStyleIdx="0" presStyleCnt="2"/>
      <dgm:spPr/>
    </dgm:pt>
    <dgm:pt modelId="{D5000E0A-0118-4238-8E7F-E7E525C926DF}" type="pres">
      <dgm:prSet presAssocID="{7C64B389-C5D8-489E-AAB4-77F692715005}" presName="node" presStyleLbl="node1" presStyleIdx="1" presStyleCnt="3" custScaleX="107102">
        <dgm:presLayoutVars>
          <dgm:bulletEnabled val="1"/>
        </dgm:presLayoutVars>
      </dgm:prSet>
      <dgm:spPr/>
    </dgm:pt>
    <dgm:pt modelId="{4EA4A8F4-7403-46B2-8305-1C366D8F8FD8}" type="pres">
      <dgm:prSet presAssocID="{3EDA05E0-AC3E-49ED-A064-3A2358509516}" presName="sibTrans" presStyleLbl="sibTrans2D1" presStyleIdx="1" presStyleCnt="2"/>
      <dgm:spPr/>
    </dgm:pt>
    <dgm:pt modelId="{7744CDE2-EDD2-46DA-8DEB-03988FE363F3}" type="pres">
      <dgm:prSet presAssocID="{3EDA05E0-AC3E-49ED-A064-3A2358509516}" presName="connectorText" presStyleLbl="sibTrans2D1" presStyleIdx="1" presStyleCnt="2"/>
      <dgm:spPr/>
    </dgm:pt>
    <dgm:pt modelId="{9C0B906D-E1BA-47D7-B0E0-826A08F6593B}" type="pres">
      <dgm:prSet presAssocID="{51D4A37C-5AFF-4226-AE57-893DDC191CC7}" presName="node" presStyleLbl="node1" presStyleIdx="2" presStyleCnt="3">
        <dgm:presLayoutVars>
          <dgm:bulletEnabled val="1"/>
        </dgm:presLayoutVars>
      </dgm:prSet>
      <dgm:spPr/>
    </dgm:pt>
  </dgm:ptLst>
  <dgm:cxnLst>
    <dgm:cxn modelId="{FA01B215-EB53-473C-87A4-9722BB39D70E}" type="presOf" srcId="{3EDA05E0-AC3E-49ED-A064-3A2358509516}" destId="{4EA4A8F4-7403-46B2-8305-1C366D8F8FD8}" srcOrd="0" destOrd="0" presId="urn:microsoft.com/office/officeart/2005/8/layout/process1"/>
    <dgm:cxn modelId="{81363816-BE2C-4F24-898C-418DF73E4ECF}" type="presOf" srcId="{51D4A37C-5AFF-4226-AE57-893DDC191CC7}" destId="{9C0B906D-E1BA-47D7-B0E0-826A08F6593B}" srcOrd="0" destOrd="0" presId="urn:microsoft.com/office/officeart/2005/8/layout/process1"/>
    <dgm:cxn modelId="{961F4F18-5561-4D5F-BB0B-B9EB0DEBD7D9}" type="presOf" srcId="{EE2F9CAE-89A0-462F-AACC-4257F59BC86B}" destId="{CBB419AB-295B-4AC9-BB13-2985EA21FE65}" srcOrd="0" destOrd="0" presId="urn:microsoft.com/office/officeart/2005/8/layout/process1"/>
    <dgm:cxn modelId="{E253AA29-AF13-46F9-AB45-C7BFA61ABF31}" srcId="{04EE2999-3D72-466F-AAFF-ABD521419AF4}" destId="{51D4A37C-5AFF-4226-AE57-893DDC191CC7}" srcOrd="2" destOrd="0" parTransId="{0CDCE4B6-FCBB-4FB4-83CC-6A721BE01A9F}" sibTransId="{55CBCB46-886D-4824-A4F5-DD7151CDE21A}"/>
    <dgm:cxn modelId="{CEF7022E-58EC-4D11-BD7A-F6198C3BD027}" type="presOf" srcId="{04EE2999-3D72-466F-AAFF-ABD521419AF4}" destId="{874B6FC2-14CC-415E-AC6D-164A81338B77}" srcOrd="0" destOrd="0" presId="urn:microsoft.com/office/officeart/2005/8/layout/process1"/>
    <dgm:cxn modelId="{67B4C63B-4380-4F2A-B2C6-192ABCDA27DA}" srcId="{04EE2999-3D72-466F-AAFF-ABD521419AF4}" destId="{EE2F9CAE-89A0-462F-AACC-4257F59BC86B}" srcOrd="0" destOrd="0" parTransId="{069FFF7D-C35C-443E-A41F-23E4D1C3CC6F}" sibTransId="{2D99A123-1700-4CEF-82DF-80DE0F747FD9}"/>
    <dgm:cxn modelId="{A5702F4E-FA13-429C-810A-EB6ED31F0BE8}" type="presOf" srcId="{3EDA05E0-AC3E-49ED-A064-3A2358509516}" destId="{7744CDE2-EDD2-46DA-8DEB-03988FE363F3}" srcOrd="1" destOrd="0" presId="urn:microsoft.com/office/officeart/2005/8/layout/process1"/>
    <dgm:cxn modelId="{49A1B975-73E7-4E7B-910C-0085D099AA21}" type="presOf" srcId="{2D99A123-1700-4CEF-82DF-80DE0F747FD9}" destId="{6DC3DB55-2E6D-4E9C-86C0-CF22949AE499}" srcOrd="0" destOrd="0" presId="urn:microsoft.com/office/officeart/2005/8/layout/process1"/>
    <dgm:cxn modelId="{2019549F-D4D2-4296-B515-E80916D1FEF9}" type="presOf" srcId="{7C64B389-C5D8-489E-AAB4-77F692715005}" destId="{D5000E0A-0118-4238-8E7F-E7E525C926DF}" srcOrd="0" destOrd="0" presId="urn:microsoft.com/office/officeart/2005/8/layout/process1"/>
    <dgm:cxn modelId="{CB60B0EF-2B3C-4435-ACE6-473B9E2E817B}" srcId="{04EE2999-3D72-466F-AAFF-ABD521419AF4}" destId="{7C64B389-C5D8-489E-AAB4-77F692715005}" srcOrd="1" destOrd="0" parTransId="{78BE9579-DA6B-488F-95A0-ADE78FD623FD}" sibTransId="{3EDA05E0-AC3E-49ED-A064-3A2358509516}"/>
    <dgm:cxn modelId="{3518C7FD-F5EC-485A-B896-244620B21B69}" type="presOf" srcId="{2D99A123-1700-4CEF-82DF-80DE0F747FD9}" destId="{11CEBE87-7503-4820-9EF7-D0DB06996F9A}" srcOrd="1" destOrd="0" presId="urn:microsoft.com/office/officeart/2005/8/layout/process1"/>
    <dgm:cxn modelId="{1B4E6486-8AED-4BBF-8F2E-7750D77B384B}" type="presParOf" srcId="{874B6FC2-14CC-415E-AC6D-164A81338B77}" destId="{CBB419AB-295B-4AC9-BB13-2985EA21FE65}" srcOrd="0" destOrd="0" presId="urn:microsoft.com/office/officeart/2005/8/layout/process1"/>
    <dgm:cxn modelId="{0F86FA35-11F0-40A3-A1AF-9E619A288179}" type="presParOf" srcId="{874B6FC2-14CC-415E-AC6D-164A81338B77}" destId="{6DC3DB55-2E6D-4E9C-86C0-CF22949AE499}" srcOrd="1" destOrd="0" presId="urn:microsoft.com/office/officeart/2005/8/layout/process1"/>
    <dgm:cxn modelId="{28003500-28C7-4ABF-A876-B53457E33BAB}" type="presParOf" srcId="{6DC3DB55-2E6D-4E9C-86C0-CF22949AE499}" destId="{11CEBE87-7503-4820-9EF7-D0DB06996F9A}" srcOrd="0" destOrd="0" presId="urn:microsoft.com/office/officeart/2005/8/layout/process1"/>
    <dgm:cxn modelId="{843D56F9-8C7B-4BC3-95C3-A9BA89F6ACB4}" type="presParOf" srcId="{874B6FC2-14CC-415E-AC6D-164A81338B77}" destId="{D5000E0A-0118-4238-8E7F-E7E525C926DF}" srcOrd="2" destOrd="0" presId="urn:microsoft.com/office/officeart/2005/8/layout/process1"/>
    <dgm:cxn modelId="{D9F21761-C90B-4C87-B26C-EE8160E0654F}" type="presParOf" srcId="{874B6FC2-14CC-415E-AC6D-164A81338B77}" destId="{4EA4A8F4-7403-46B2-8305-1C366D8F8FD8}" srcOrd="3" destOrd="0" presId="urn:microsoft.com/office/officeart/2005/8/layout/process1"/>
    <dgm:cxn modelId="{56949463-7B52-4408-AB43-1F1BA875E30F}" type="presParOf" srcId="{4EA4A8F4-7403-46B2-8305-1C366D8F8FD8}" destId="{7744CDE2-EDD2-46DA-8DEB-03988FE363F3}" srcOrd="0" destOrd="0" presId="urn:microsoft.com/office/officeart/2005/8/layout/process1"/>
    <dgm:cxn modelId="{B4BE8AED-8152-410C-91DD-DBED42ECE0E0}" type="presParOf" srcId="{874B6FC2-14CC-415E-AC6D-164A81338B77}" destId="{9C0B906D-E1BA-47D7-B0E0-826A08F6593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3AAEDF4-9526-4E7D-8640-1A1BFF12B28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50F5EE8F-0D23-45EE-ACFD-31887384328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學生下載</a:t>
          </a:r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BLOCKCERTS </a:t>
          </a:r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應用程式（即數位文憑區塊鏈平台）</a:t>
          </a:r>
        </a:p>
      </dgm:t>
    </dgm:pt>
    <dgm:pt modelId="{7C78FB68-47F4-4627-82AE-493ACC7428C6}" type="par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0DC3CFA-AC2D-4A80-9EF4-4E862831ADC2}" type="sib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DE2079E-1570-49C5-BFA2-535E1185182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系統產生一對公開金鑰和私密金鑰     </a:t>
          </a:r>
          <a:r>
            <a:rPr lang="en-US" altLang="zh-TW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金鑰為一單項數列，一串數字組成的密碼</a:t>
          </a:r>
          <a:r>
            <a:rPr lang="en-US" altLang="zh-TW" sz="16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C593F584-2831-4F7E-A85C-49DBE32DF285}" type="par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BB4E721-DE28-42BF-8A0A-51DF420438C8}" type="sib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CB68FBB-4F96-48A2-9BC3-8F6327C1AFF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將公鑰傳送給</a:t>
          </a:r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MIT </a:t>
          </a:r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寫入數位紀錄中</a:t>
          </a:r>
        </a:p>
      </dgm:t>
    </dgm:pt>
    <dgm:pt modelId="{03EB73C3-039D-4B85-AB62-92DF553CD53B}" type="par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C6CEFAC-3350-4CC2-8AEE-E283CFDC0600}" type="sib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4A0DD43-31FD-45AF-B68B-66FDA739D84B}" type="pres">
      <dgm:prSet presAssocID="{83AAEDF4-9526-4E7D-8640-1A1BFF12B289}" presName="linearFlow" presStyleCnt="0">
        <dgm:presLayoutVars>
          <dgm:resizeHandles val="exact"/>
        </dgm:presLayoutVars>
      </dgm:prSet>
      <dgm:spPr/>
    </dgm:pt>
    <dgm:pt modelId="{00A11D79-2391-4C2B-9685-A06A90CF37BA}" type="pres">
      <dgm:prSet presAssocID="{50F5EE8F-0D23-45EE-ACFD-31887384328B}" presName="node" presStyleLbl="node1" presStyleIdx="0" presStyleCnt="3" custScaleX="119844">
        <dgm:presLayoutVars>
          <dgm:bulletEnabled val="1"/>
        </dgm:presLayoutVars>
      </dgm:prSet>
      <dgm:spPr/>
    </dgm:pt>
    <dgm:pt modelId="{0CE0370C-438F-4629-A177-4F259674C0FC}" type="pres">
      <dgm:prSet presAssocID="{F0DC3CFA-AC2D-4A80-9EF4-4E862831ADC2}" presName="sibTrans" presStyleLbl="sibTrans2D1" presStyleIdx="0" presStyleCnt="2"/>
      <dgm:spPr/>
    </dgm:pt>
    <dgm:pt modelId="{E7B8CB12-2F03-4D1E-A6A9-0BFFF54F33A7}" type="pres">
      <dgm:prSet presAssocID="{F0DC3CFA-AC2D-4A80-9EF4-4E862831ADC2}" presName="connectorText" presStyleLbl="sibTrans2D1" presStyleIdx="0" presStyleCnt="2"/>
      <dgm:spPr/>
    </dgm:pt>
    <dgm:pt modelId="{EDD39C1A-FBFA-4521-8957-F29C0FD0BF8E}" type="pres">
      <dgm:prSet presAssocID="{7DE2079E-1570-49C5-BFA2-535E11851825}" presName="node" presStyleLbl="node1" presStyleIdx="1" presStyleCnt="3" custScaleX="119844">
        <dgm:presLayoutVars>
          <dgm:bulletEnabled val="1"/>
        </dgm:presLayoutVars>
      </dgm:prSet>
      <dgm:spPr/>
    </dgm:pt>
    <dgm:pt modelId="{3EBA5DCE-EA98-4F76-9CC3-C236CB7366C4}" type="pres">
      <dgm:prSet presAssocID="{2BB4E721-DE28-42BF-8A0A-51DF420438C8}" presName="sibTrans" presStyleLbl="sibTrans2D1" presStyleIdx="1" presStyleCnt="2"/>
      <dgm:spPr/>
    </dgm:pt>
    <dgm:pt modelId="{76F4C333-F379-417B-8828-52567E15DCC9}" type="pres">
      <dgm:prSet presAssocID="{2BB4E721-DE28-42BF-8A0A-51DF420438C8}" presName="connectorText" presStyleLbl="sibTrans2D1" presStyleIdx="1" presStyleCnt="2"/>
      <dgm:spPr/>
    </dgm:pt>
    <dgm:pt modelId="{B374ADA6-B1B1-45BF-B4C2-84F6A1AF5E95}" type="pres">
      <dgm:prSet presAssocID="{DCB68FBB-4F96-48A2-9BC3-8F6327C1AFFF}" presName="node" presStyleLbl="node1" presStyleIdx="2" presStyleCnt="3" custScaleX="121100">
        <dgm:presLayoutVars>
          <dgm:bulletEnabled val="1"/>
        </dgm:presLayoutVars>
      </dgm:prSet>
      <dgm:spPr/>
    </dgm:pt>
  </dgm:ptLst>
  <dgm:cxnLst>
    <dgm:cxn modelId="{29995703-68A6-41CE-A617-E959C809BDB6}" type="presOf" srcId="{DCB68FBB-4F96-48A2-9BC3-8F6327C1AFFF}" destId="{B374ADA6-B1B1-45BF-B4C2-84F6A1AF5E95}" srcOrd="0" destOrd="0" presId="urn:microsoft.com/office/officeart/2005/8/layout/process2"/>
    <dgm:cxn modelId="{16DD6D13-AF0D-42CC-84D3-C2E6A515B6DD}" srcId="{83AAEDF4-9526-4E7D-8640-1A1BFF12B289}" destId="{7DE2079E-1570-49C5-BFA2-535E11851825}" srcOrd="1" destOrd="0" parTransId="{C593F584-2831-4F7E-A85C-49DBE32DF285}" sibTransId="{2BB4E721-DE28-42BF-8A0A-51DF420438C8}"/>
    <dgm:cxn modelId="{71C9C72A-4AB2-49C8-A87F-21AADF1AF8B8}" srcId="{83AAEDF4-9526-4E7D-8640-1A1BFF12B289}" destId="{DCB68FBB-4F96-48A2-9BC3-8F6327C1AFFF}" srcOrd="2" destOrd="0" parTransId="{03EB73C3-039D-4B85-AB62-92DF553CD53B}" sibTransId="{8C6CEFAC-3350-4CC2-8AEE-E283CFDC0600}"/>
    <dgm:cxn modelId="{A7BA1A3E-9215-4856-88F6-1227897A958C}" type="presOf" srcId="{50F5EE8F-0D23-45EE-ACFD-31887384328B}" destId="{00A11D79-2391-4C2B-9685-A06A90CF37BA}" srcOrd="0" destOrd="0" presId="urn:microsoft.com/office/officeart/2005/8/layout/process2"/>
    <dgm:cxn modelId="{9844715F-F3A9-45DB-9434-69FB9C2B3F7D}" type="presOf" srcId="{2BB4E721-DE28-42BF-8A0A-51DF420438C8}" destId="{3EBA5DCE-EA98-4F76-9CC3-C236CB7366C4}" srcOrd="0" destOrd="0" presId="urn:microsoft.com/office/officeart/2005/8/layout/process2"/>
    <dgm:cxn modelId="{72B61688-CC0E-4F5E-B998-ECC52FCE6273}" type="presOf" srcId="{F0DC3CFA-AC2D-4A80-9EF4-4E862831ADC2}" destId="{E7B8CB12-2F03-4D1E-A6A9-0BFFF54F33A7}" srcOrd="1" destOrd="0" presId="urn:microsoft.com/office/officeart/2005/8/layout/process2"/>
    <dgm:cxn modelId="{CE2BBF89-BB62-4A20-B92C-A5F856B4B2BD}" type="presOf" srcId="{2BB4E721-DE28-42BF-8A0A-51DF420438C8}" destId="{76F4C333-F379-417B-8828-52567E15DCC9}" srcOrd="1" destOrd="0" presId="urn:microsoft.com/office/officeart/2005/8/layout/process2"/>
    <dgm:cxn modelId="{6BCEF797-7207-4A2B-8CB7-430313A90B6C}" type="presOf" srcId="{7DE2079E-1570-49C5-BFA2-535E11851825}" destId="{EDD39C1A-FBFA-4521-8957-F29C0FD0BF8E}" srcOrd="0" destOrd="0" presId="urn:microsoft.com/office/officeart/2005/8/layout/process2"/>
    <dgm:cxn modelId="{360FFCDC-C3D5-4AAE-9374-4F01D7FE1EC4}" srcId="{83AAEDF4-9526-4E7D-8640-1A1BFF12B289}" destId="{50F5EE8F-0D23-45EE-ACFD-31887384328B}" srcOrd="0" destOrd="0" parTransId="{7C78FB68-47F4-4627-82AE-493ACC7428C6}" sibTransId="{F0DC3CFA-AC2D-4A80-9EF4-4E862831ADC2}"/>
    <dgm:cxn modelId="{9EB4B6EB-7EAB-4421-AFFA-2580C9EF95CA}" type="presOf" srcId="{83AAEDF4-9526-4E7D-8640-1A1BFF12B289}" destId="{34A0DD43-31FD-45AF-B68B-66FDA739D84B}" srcOrd="0" destOrd="0" presId="urn:microsoft.com/office/officeart/2005/8/layout/process2"/>
    <dgm:cxn modelId="{ECDB5AF4-88B7-4A37-A6FE-B828BE41CB82}" type="presOf" srcId="{F0DC3CFA-AC2D-4A80-9EF4-4E862831ADC2}" destId="{0CE0370C-438F-4629-A177-4F259674C0FC}" srcOrd="0" destOrd="0" presId="urn:microsoft.com/office/officeart/2005/8/layout/process2"/>
    <dgm:cxn modelId="{71A8DB52-94C5-43B5-84D8-296217DB95EC}" type="presParOf" srcId="{34A0DD43-31FD-45AF-B68B-66FDA739D84B}" destId="{00A11D79-2391-4C2B-9685-A06A90CF37BA}" srcOrd="0" destOrd="0" presId="urn:microsoft.com/office/officeart/2005/8/layout/process2"/>
    <dgm:cxn modelId="{3E4C0E86-FD2E-449D-9477-BA6C78CE3C63}" type="presParOf" srcId="{34A0DD43-31FD-45AF-B68B-66FDA739D84B}" destId="{0CE0370C-438F-4629-A177-4F259674C0FC}" srcOrd="1" destOrd="0" presId="urn:microsoft.com/office/officeart/2005/8/layout/process2"/>
    <dgm:cxn modelId="{BDDB5665-98B3-44F6-B861-4D1CE0A90A42}" type="presParOf" srcId="{0CE0370C-438F-4629-A177-4F259674C0FC}" destId="{E7B8CB12-2F03-4D1E-A6A9-0BFFF54F33A7}" srcOrd="0" destOrd="0" presId="urn:microsoft.com/office/officeart/2005/8/layout/process2"/>
    <dgm:cxn modelId="{69237608-14AD-410F-8F5A-0A963DC3C971}" type="presParOf" srcId="{34A0DD43-31FD-45AF-B68B-66FDA739D84B}" destId="{EDD39C1A-FBFA-4521-8957-F29C0FD0BF8E}" srcOrd="2" destOrd="0" presId="urn:microsoft.com/office/officeart/2005/8/layout/process2"/>
    <dgm:cxn modelId="{44A2557B-B04E-4CBA-ABFB-D8B6290FC219}" type="presParOf" srcId="{34A0DD43-31FD-45AF-B68B-66FDA739D84B}" destId="{3EBA5DCE-EA98-4F76-9CC3-C236CB7366C4}" srcOrd="3" destOrd="0" presId="urn:microsoft.com/office/officeart/2005/8/layout/process2"/>
    <dgm:cxn modelId="{D66DF886-94A0-4251-AE4B-708484FDC62E}" type="presParOf" srcId="{3EBA5DCE-EA98-4F76-9CC3-C236CB7366C4}" destId="{76F4C333-F379-417B-8828-52567E15DCC9}" srcOrd="0" destOrd="0" presId="urn:microsoft.com/office/officeart/2005/8/layout/process2"/>
    <dgm:cxn modelId="{75AD8214-6F7E-4D42-9145-50CAC34CAEB3}" type="presParOf" srcId="{34A0DD43-31FD-45AF-B68B-66FDA739D84B}" destId="{B374ADA6-B1B1-45BF-B4C2-84F6A1AF5E95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3AAEDF4-9526-4E7D-8640-1A1BFF12B28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50F5EE8F-0D23-45EE-ACFD-31887384328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於該區塊鏈中加上認證碼</a:t>
          </a:r>
        </a:p>
      </dgm:t>
    </dgm:pt>
    <dgm:pt modelId="{7C78FB68-47F4-4627-82AE-493ACC7428C6}" type="par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0DC3CFA-AC2D-4A80-9EF4-4E862831ADC2}" type="sib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DE2079E-1570-49C5-BFA2-535E1185182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MIT </a:t>
          </a:r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寄出含公鑰的數位文憑</a:t>
          </a:r>
        </a:p>
      </dgm:t>
    </dgm:pt>
    <dgm:pt modelId="{C593F584-2831-4F7E-A85C-49DBE32DF285}" type="par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BB4E721-DE28-42BF-8A0A-51DF420438C8}" type="sib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CB68FBB-4F96-48A2-9BC3-8F6327C1AFF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由學生手機上的私鑰驗證是否為     學生本人</a:t>
          </a:r>
        </a:p>
      </dgm:t>
    </dgm:pt>
    <dgm:pt modelId="{03EB73C3-039D-4B85-AB62-92DF553CD53B}" type="par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C6CEFAC-3350-4CC2-8AEE-E283CFDC0600}" type="sib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A3EFB5D-9FBC-408D-AE25-37890F98F352}" type="pres">
      <dgm:prSet presAssocID="{83AAEDF4-9526-4E7D-8640-1A1BFF12B289}" presName="linearFlow" presStyleCnt="0">
        <dgm:presLayoutVars>
          <dgm:resizeHandles val="exact"/>
        </dgm:presLayoutVars>
      </dgm:prSet>
      <dgm:spPr/>
    </dgm:pt>
    <dgm:pt modelId="{E2DBF797-E456-467B-9150-0035406329CB}" type="pres">
      <dgm:prSet presAssocID="{50F5EE8F-0D23-45EE-ACFD-31887384328B}" presName="node" presStyleLbl="node1" presStyleIdx="0" presStyleCnt="3" custScaleX="183979" custScaleY="82265">
        <dgm:presLayoutVars>
          <dgm:bulletEnabled val="1"/>
        </dgm:presLayoutVars>
      </dgm:prSet>
      <dgm:spPr/>
    </dgm:pt>
    <dgm:pt modelId="{46E490A1-4190-40A7-A2B2-22DDD9F44BC8}" type="pres">
      <dgm:prSet presAssocID="{F0DC3CFA-AC2D-4A80-9EF4-4E862831ADC2}" presName="sibTrans" presStyleLbl="sibTrans2D1" presStyleIdx="0" presStyleCnt="2"/>
      <dgm:spPr/>
    </dgm:pt>
    <dgm:pt modelId="{788F70F3-6910-45F5-BA66-9938F7BFF1CD}" type="pres">
      <dgm:prSet presAssocID="{F0DC3CFA-AC2D-4A80-9EF4-4E862831ADC2}" presName="connectorText" presStyleLbl="sibTrans2D1" presStyleIdx="0" presStyleCnt="2"/>
      <dgm:spPr/>
    </dgm:pt>
    <dgm:pt modelId="{B6290007-74CA-477B-B751-06F9F2AC602E}" type="pres">
      <dgm:prSet presAssocID="{7DE2079E-1570-49C5-BFA2-535E11851825}" presName="node" presStyleLbl="node1" presStyleIdx="1" presStyleCnt="3" custScaleX="183979" custScaleY="75727">
        <dgm:presLayoutVars>
          <dgm:bulletEnabled val="1"/>
        </dgm:presLayoutVars>
      </dgm:prSet>
      <dgm:spPr/>
    </dgm:pt>
    <dgm:pt modelId="{D9208106-98CB-4CEC-89EE-CFA21B2D62E9}" type="pres">
      <dgm:prSet presAssocID="{2BB4E721-DE28-42BF-8A0A-51DF420438C8}" presName="sibTrans" presStyleLbl="sibTrans2D1" presStyleIdx="1" presStyleCnt="2"/>
      <dgm:spPr/>
    </dgm:pt>
    <dgm:pt modelId="{4C1499FA-BFB3-446F-AA14-12FD80FE4780}" type="pres">
      <dgm:prSet presAssocID="{2BB4E721-DE28-42BF-8A0A-51DF420438C8}" presName="connectorText" presStyleLbl="sibTrans2D1" presStyleIdx="1" presStyleCnt="2"/>
      <dgm:spPr/>
    </dgm:pt>
    <dgm:pt modelId="{36C732AF-ABDE-48F5-B2EC-368690779264}" type="pres">
      <dgm:prSet presAssocID="{DCB68FBB-4F96-48A2-9BC3-8F6327C1AFFF}" presName="node" presStyleLbl="node1" presStyleIdx="2" presStyleCnt="3" custScaleX="183082" custScaleY="76275">
        <dgm:presLayoutVars>
          <dgm:bulletEnabled val="1"/>
        </dgm:presLayoutVars>
      </dgm:prSet>
      <dgm:spPr/>
    </dgm:pt>
  </dgm:ptLst>
  <dgm:cxnLst>
    <dgm:cxn modelId="{16DD6D13-AF0D-42CC-84D3-C2E6A515B6DD}" srcId="{83AAEDF4-9526-4E7D-8640-1A1BFF12B289}" destId="{7DE2079E-1570-49C5-BFA2-535E11851825}" srcOrd="1" destOrd="0" parTransId="{C593F584-2831-4F7E-A85C-49DBE32DF285}" sibTransId="{2BB4E721-DE28-42BF-8A0A-51DF420438C8}"/>
    <dgm:cxn modelId="{71C9C72A-4AB2-49C8-A87F-21AADF1AF8B8}" srcId="{83AAEDF4-9526-4E7D-8640-1A1BFF12B289}" destId="{DCB68FBB-4F96-48A2-9BC3-8F6327C1AFFF}" srcOrd="2" destOrd="0" parTransId="{03EB73C3-039D-4B85-AB62-92DF553CD53B}" sibTransId="{8C6CEFAC-3350-4CC2-8AEE-E283CFDC0600}"/>
    <dgm:cxn modelId="{C2F7E461-3042-4D7C-829D-9315FC34356F}" type="presOf" srcId="{F0DC3CFA-AC2D-4A80-9EF4-4E862831ADC2}" destId="{46E490A1-4190-40A7-A2B2-22DDD9F44BC8}" srcOrd="0" destOrd="0" presId="urn:microsoft.com/office/officeart/2005/8/layout/process2"/>
    <dgm:cxn modelId="{B4E6634D-3955-459C-AC68-BB99B57DDE99}" type="presOf" srcId="{83AAEDF4-9526-4E7D-8640-1A1BFF12B289}" destId="{5A3EFB5D-9FBC-408D-AE25-37890F98F352}" srcOrd="0" destOrd="0" presId="urn:microsoft.com/office/officeart/2005/8/layout/process2"/>
    <dgm:cxn modelId="{EACFEE90-31B3-430B-85C6-C94F4397CF3E}" type="presOf" srcId="{DCB68FBB-4F96-48A2-9BC3-8F6327C1AFFF}" destId="{36C732AF-ABDE-48F5-B2EC-368690779264}" srcOrd="0" destOrd="0" presId="urn:microsoft.com/office/officeart/2005/8/layout/process2"/>
    <dgm:cxn modelId="{8DEA66BC-E9E7-4C03-A19B-5F4F2E8DE544}" type="presOf" srcId="{2BB4E721-DE28-42BF-8A0A-51DF420438C8}" destId="{4C1499FA-BFB3-446F-AA14-12FD80FE4780}" srcOrd="1" destOrd="0" presId="urn:microsoft.com/office/officeart/2005/8/layout/process2"/>
    <dgm:cxn modelId="{BBD8DEC6-A70A-4F95-9A9F-B821BDE79920}" type="presOf" srcId="{2BB4E721-DE28-42BF-8A0A-51DF420438C8}" destId="{D9208106-98CB-4CEC-89EE-CFA21B2D62E9}" srcOrd="0" destOrd="0" presId="urn:microsoft.com/office/officeart/2005/8/layout/process2"/>
    <dgm:cxn modelId="{D789D6CA-37CF-4A36-9024-3B525970D7EA}" type="presOf" srcId="{7DE2079E-1570-49C5-BFA2-535E11851825}" destId="{B6290007-74CA-477B-B751-06F9F2AC602E}" srcOrd="0" destOrd="0" presId="urn:microsoft.com/office/officeart/2005/8/layout/process2"/>
    <dgm:cxn modelId="{360FFCDC-C3D5-4AAE-9374-4F01D7FE1EC4}" srcId="{83AAEDF4-9526-4E7D-8640-1A1BFF12B289}" destId="{50F5EE8F-0D23-45EE-ACFD-31887384328B}" srcOrd="0" destOrd="0" parTransId="{7C78FB68-47F4-4627-82AE-493ACC7428C6}" sibTransId="{F0DC3CFA-AC2D-4A80-9EF4-4E862831ADC2}"/>
    <dgm:cxn modelId="{073108E2-8E1B-4A62-A9AF-8F4D0743B4E0}" type="presOf" srcId="{50F5EE8F-0D23-45EE-ACFD-31887384328B}" destId="{E2DBF797-E456-467B-9150-0035406329CB}" srcOrd="0" destOrd="0" presId="urn:microsoft.com/office/officeart/2005/8/layout/process2"/>
    <dgm:cxn modelId="{D58A5BF5-2CB9-4D9C-94A5-9462F91BEBEC}" type="presOf" srcId="{F0DC3CFA-AC2D-4A80-9EF4-4E862831ADC2}" destId="{788F70F3-6910-45F5-BA66-9938F7BFF1CD}" srcOrd="1" destOrd="0" presId="urn:microsoft.com/office/officeart/2005/8/layout/process2"/>
    <dgm:cxn modelId="{E3570717-D3E3-45A4-BF66-47D0FFAAE5CC}" type="presParOf" srcId="{5A3EFB5D-9FBC-408D-AE25-37890F98F352}" destId="{E2DBF797-E456-467B-9150-0035406329CB}" srcOrd="0" destOrd="0" presId="urn:microsoft.com/office/officeart/2005/8/layout/process2"/>
    <dgm:cxn modelId="{79C067D4-76A1-4B61-A4A0-D0247C6D7532}" type="presParOf" srcId="{5A3EFB5D-9FBC-408D-AE25-37890F98F352}" destId="{46E490A1-4190-40A7-A2B2-22DDD9F44BC8}" srcOrd="1" destOrd="0" presId="urn:microsoft.com/office/officeart/2005/8/layout/process2"/>
    <dgm:cxn modelId="{D2DBA496-5D50-4B51-BFB2-660221A63FF1}" type="presParOf" srcId="{46E490A1-4190-40A7-A2B2-22DDD9F44BC8}" destId="{788F70F3-6910-45F5-BA66-9938F7BFF1CD}" srcOrd="0" destOrd="0" presId="urn:microsoft.com/office/officeart/2005/8/layout/process2"/>
    <dgm:cxn modelId="{CC6C944E-8E65-49C9-849F-4B78E215D446}" type="presParOf" srcId="{5A3EFB5D-9FBC-408D-AE25-37890F98F352}" destId="{B6290007-74CA-477B-B751-06F9F2AC602E}" srcOrd="2" destOrd="0" presId="urn:microsoft.com/office/officeart/2005/8/layout/process2"/>
    <dgm:cxn modelId="{87A6ABF8-D214-46BF-8657-9A564644D8DF}" type="presParOf" srcId="{5A3EFB5D-9FBC-408D-AE25-37890F98F352}" destId="{D9208106-98CB-4CEC-89EE-CFA21B2D62E9}" srcOrd="3" destOrd="0" presId="urn:microsoft.com/office/officeart/2005/8/layout/process2"/>
    <dgm:cxn modelId="{CB87CDF2-69B4-4BC0-BE24-4B082E32459F}" type="presParOf" srcId="{D9208106-98CB-4CEC-89EE-CFA21B2D62E9}" destId="{4C1499FA-BFB3-446F-AA14-12FD80FE4780}" srcOrd="0" destOrd="0" presId="urn:microsoft.com/office/officeart/2005/8/layout/process2"/>
    <dgm:cxn modelId="{1BC94039-9D58-4FEA-9A89-85DEC1B3DDED}" type="presParOf" srcId="{5A3EFB5D-9FBC-408D-AE25-37890F98F352}" destId="{36C732AF-ABDE-48F5-B2EC-36869077926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AAEDF4-9526-4E7D-8640-1A1BFF12B28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50F5EE8F-0D23-45EE-ACFD-31887384328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學生下載安裝應用程式（</a:t>
          </a:r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APP</a:t>
          </a:r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</a:p>
      </dgm:t>
    </dgm:pt>
    <dgm:pt modelId="{7C78FB68-47F4-4627-82AE-493ACC7428C6}" type="par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0DC3CFA-AC2D-4A80-9EF4-4E862831ADC2}" type="sib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DE2079E-1570-49C5-BFA2-535E1185182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系統給予認證金鑰，公開金鑰傳送至學校系統，私密金鑰由學生自行保存</a:t>
          </a:r>
        </a:p>
      </dgm:t>
    </dgm:pt>
    <dgm:pt modelId="{C593F584-2831-4F7E-A85C-49DBE32DF285}" type="par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BB4E721-DE28-42BF-8A0A-51DF420438C8}" type="sib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CB68FBB-4F96-48A2-9BC3-8F6327C1AFF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學校收到公開金鑰，登入區塊鏈平台進行紀錄</a:t>
          </a:r>
        </a:p>
      </dgm:t>
    </dgm:pt>
    <dgm:pt modelId="{03EB73C3-039D-4B85-AB62-92DF553CD53B}" type="par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C6CEFAC-3350-4CC2-8AEE-E283CFDC0600}" type="sib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4A0DD43-31FD-45AF-B68B-66FDA739D84B}" type="pres">
      <dgm:prSet presAssocID="{83AAEDF4-9526-4E7D-8640-1A1BFF12B289}" presName="linearFlow" presStyleCnt="0">
        <dgm:presLayoutVars>
          <dgm:resizeHandles val="exact"/>
        </dgm:presLayoutVars>
      </dgm:prSet>
      <dgm:spPr/>
    </dgm:pt>
    <dgm:pt modelId="{00A11D79-2391-4C2B-9685-A06A90CF37BA}" type="pres">
      <dgm:prSet presAssocID="{50F5EE8F-0D23-45EE-ACFD-31887384328B}" presName="node" presStyleLbl="node1" presStyleIdx="0" presStyleCnt="3">
        <dgm:presLayoutVars>
          <dgm:bulletEnabled val="1"/>
        </dgm:presLayoutVars>
      </dgm:prSet>
      <dgm:spPr/>
    </dgm:pt>
    <dgm:pt modelId="{0CE0370C-438F-4629-A177-4F259674C0FC}" type="pres">
      <dgm:prSet presAssocID="{F0DC3CFA-AC2D-4A80-9EF4-4E862831ADC2}" presName="sibTrans" presStyleLbl="sibTrans2D1" presStyleIdx="0" presStyleCnt="2"/>
      <dgm:spPr/>
    </dgm:pt>
    <dgm:pt modelId="{E7B8CB12-2F03-4D1E-A6A9-0BFFF54F33A7}" type="pres">
      <dgm:prSet presAssocID="{F0DC3CFA-AC2D-4A80-9EF4-4E862831ADC2}" presName="connectorText" presStyleLbl="sibTrans2D1" presStyleIdx="0" presStyleCnt="2"/>
      <dgm:spPr/>
    </dgm:pt>
    <dgm:pt modelId="{EDD39C1A-FBFA-4521-8957-F29C0FD0BF8E}" type="pres">
      <dgm:prSet presAssocID="{7DE2079E-1570-49C5-BFA2-535E11851825}" presName="node" presStyleLbl="node1" presStyleIdx="1" presStyleCnt="3">
        <dgm:presLayoutVars>
          <dgm:bulletEnabled val="1"/>
        </dgm:presLayoutVars>
      </dgm:prSet>
      <dgm:spPr/>
    </dgm:pt>
    <dgm:pt modelId="{3EBA5DCE-EA98-4F76-9CC3-C236CB7366C4}" type="pres">
      <dgm:prSet presAssocID="{2BB4E721-DE28-42BF-8A0A-51DF420438C8}" presName="sibTrans" presStyleLbl="sibTrans2D1" presStyleIdx="1" presStyleCnt="2"/>
      <dgm:spPr/>
    </dgm:pt>
    <dgm:pt modelId="{76F4C333-F379-417B-8828-52567E15DCC9}" type="pres">
      <dgm:prSet presAssocID="{2BB4E721-DE28-42BF-8A0A-51DF420438C8}" presName="connectorText" presStyleLbl="sibTrans2D1" presStyleIdx="1" presStyleCnt="2"/>
      <dgm:spPr/>
    </dgm:pt>
    <dgm:pt modelId="{B374ADA6-B1B1-45BF-B4C2-84F6A1AF5E95}" type="pres">
      <dgm:prSet presAssocID="{DCB68FBB-4F96-48A2-9BC3-8F6327C1AFFF}" presName="node" presStyleLbl="node1" presStyleIdx="2" presStyleCnt="3">
        <dgm:presLayoutVars>
          <dgm:bulletEnabled val="1"/>
        </dgm:presLayoutVars>
      </dgm:prSet>
      <dgm:spPr/>
    </dgm:pt>
  </dgm:ptLst>
  <dgm:cxnLst>
    <dgm:cxn modelId="{29995703-68A6-41CE-A617-E959C809BDB6}" type="presOf" srcId="{DCB68FBB-4F96-48A2-9BC3-8F6327C1AFFF}" destId="{B374ADA6-B1B1-45BF-B4C2-84F6A1AF5E95}" srcOrd="0" destOrd="0" presId="urn:microsoft.com/office/officeart/2005/8/layout/process2"/>
    <dgm:cxn modelId="{16DD6D13-AF0D-42CC-84D3-C2E6A515B6DD}" srcId="{83AAEDF4-9526-4E7D-8640-1A1BFF12B289}" destId="{7DE2079E-1570-49C5-BFA2-535E11851825}" srcOrd="1" destOrd="0" parTransId="{C593F584-2831-4F7E-A85C-49DBE32DF285}" sibTransId="{2BB4E721-DE28-42BF-8A0A-51DF420438C8}"/>
    <dgm:cxn modelId="{71C9C72A-4AB2-49C8-A87F-21AADF1AF8B8}" srcId="{83AAEDF4-9526-4E7D-8640-1A1BFF12B289}" destId="{DCB68FBB-4F96-48A2-9BC3-8F6327C1AFFF}" srcOrd="2" destOrd="0" parTransId="{03EB73C3-039D-4B85-AB62-92DF553CD53B}" sibTransId="{8C6CEFAC-3350-4CC2-8AEE-E283CFDC0600}"/>
    <dgm:cxn modelId="{A7BA1A3E-9215-4856-88F6-1227897A958C}" type="presOf" srcId="{50F5EE8F-0D23-45EE-ACFD-31887384328B}" destId="{00A11D79-2391-4C2B-9685-A06A90CF37BA}" srcOrd="0" destOrd="0" presId="urn:microsoft.com/office/officeart/2005/8/layout/process2"/>
    <dgm:cxn modelId="{9844715F-F3A9-45DB-9434-69FB9C2B3F7D}" type="presOf" srcId="{2BB4E721-DE28-42BF-8A0A-51DF420438C8}" destId="{3EBA5DCE-EA98-4F76-9CC3-C236CB7366C4}" srcOrd="0" destOrd="0" presId="urn:microsoft.com/office/officeart/2005/8/layout/process2"/>
    <dgm:cxn modelId="{72B61688-CC0E-4F5E-B998-ECC52FCE6273}" type="presOf" srcId="{F0DC3CFA-AC2D-4A80-9EF4-4E862831ADC2}" destId="{E7B8CB12-2F03-4D1E-A6A9-0BFFF54F33A7}" srcOrd="1" destOrd="0" presId="urn:microsoft.com/office/officeart/2005/8/layout/process2"/>
    <dgm:cxn modelId="{CE2BBF89-BB62-4A20-B92C-A5F856B4B2BD}" type="presOf" srcId="{2BB4E721-DE28-42BF-8A0A-51DF420438C8}" destId="{76F4C333-F379-417B-8828-52567E15DCC9}" srcOrd="1" destOrd="0" presId="urn:microsoft.com/office/officeart/2005/8/layout/process2"/>
    <dgm:cxn modelId="{6BCEF797-7207-4A2B-8CB7-430313A90B6C}" type="presOf" srcId="{7DE2079E-1570-49C5-BFA2-535E11851825}" destId="{EDD39C1A-FBFA-4521-8957-F29C0FD0BF8E}" srcOrd="0" destOrd="0" presId="urn:microsoft.com/office/officeart/2005/8/layout/process2"/>
    <dgm:cxn modelId="{360FFCDC-C3D5-4AAE-9374-4F01D7FE1EC4}" srcId="{83AAEDF4-9526-4E7D-8640-1A1BFF12B289}" destId="{50F5EE8F-0D23-45EE-ACFD-31887384328B}" srcOrd="0" destOrd="0" parTransId="{7C78FB68-47F4-4627-82AE-493ACC7428C6}" sibTransId="{F0DC3CFA-AC2D-4A80-9EF4-4E862831ADC2}"/>
    <dgm:cxn modelId="{9EB4B6EB-7EAB-4421-AFFA-2580C9EF95CA}" type="presOf" srcId="{83AAEDF4-9526-4E7D-8640-1A1BFF12B289}" destId="{34A0DD43-31FD-45AF-B68B-66FDA739D84B}" srcOrd="0" destOrd="0" presId="urn:microsoft.com/office/officeart/2005/8/layout/process2"/>
    <dgm:cxn modelId="{ECDB5AF4-88B7-4A37-A6FE-B828BE41CB82}" type="presOf" srcId="{F0DC3CFA-AC2D-4A80-9EF4-4E862831ADC2}" destId="{0CE0370C-438F-4629-A177-4F259674C0FC}" srcOrd="0" destOrd="0" presId="urn:microsoft.com/office/officeart/2005/8/layout/process2"/>
    <dgm:cxn modelId="{71A8DB52-94C5-43B5-84D8-296217DB95EC}" type="presParOf" srcId="{34A0DD43-31FD-45AF-B68B-66FDA739D84B}" destId="{00A11D79-2391-4C2B-9685-A06A90CF37BA}" srcOrd="0" destOrd="0" presId="urn:microsoft.com/office/officeart/2005/8/layout/process2"/>
    <dgm:cxn modelId="{3E4C0E86-FD2E-449D-9477-BA6C78CE3C63}" type="presParOf" srcId="{34A0DD43-31FD-45AF-B68B-66FDA739D84B}" destId="{0CE0370C-438F-4629-A177-4F259674C0FC}" srcOrd="1" destOrd="0" presId="urn:microsoft.com/office/officeart/2005/8/layout/process2"/>
    <dgm:cxn modelId="{BDDB5665-98B3-44F6-B861-4D1CE0A90A42}" type="presParOf" srcId="{0CE0370C-438F-4629-A177-4F259674C0FC}" destId="{E7B8CB12-2F03-4D1E-A6A9-0BFFF54F33A7}" srcOrd="0" destOrd="0" presId="urn:microsoft.com/office/officeart/2005/8/layout/process2"/>
    <dgm:cxn modelId="{69237608-14AD-410F-8F5A-0A963DC3C971}" type="presParOf" srcId="{34A0DD43-31FD-45AF-B68B-66FDA739D84B}" destId="{EDD39C1A-FBFA-4521-8957-F29C0FD0BF8E}" srcOrd="2" destOrd="0" presId="urn:microsoft.com/office/officeart/2005/8/layout/process2"/>
    <dgm:cxn modelId="{44A2557B-B04E-4CBA-ABFB-D8B6290FC219}" type="presParOf" srcId="{34A0DD43-31FD-45AF-B68B-66FDA739D84B}" destId="{3EBA5DCE-EA98-4F76-9CC3-C236CB7366C4}" srcOrd="3" destOrd="0" presId="urn:microsoft.com/office/officeart/2005/8/layout/process2"/>
    <dgm:cxn modelId="{D66DF886-94A0-4251-AE4B-708484FDC62E}" type="presParOf" srcId="{3EBA5DCE-EA98-4F76-9CC3-C236CB7366C4}" destId="{76F4C333-F379-417B-8828-52567E15DCC9}" srcOrd="0" destOrd="0" presId="urn:microsoft.com/office/officeart/2005/8/layout/process2"/>
    <dgm:cxn modelId="{75AD8214-6F7E-4D42-9145-50CAC34CAEB3}" type="presParOf" srcId="{34A0DD43-31FD-45AF-B68B-66FDA739D84B}" destId="{B374ADA6-B1B1-45BF-B4C2-84F6A1AF5E95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3AAEDF4-9526-4E7D-8640-1A1BFF12B289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50F5EE8F-0D23-45EE-ACFD-31887384328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發送數位文憑至學生的應用程式</a:t>
          </a:r>
        </a:p>
      </dgm:t>
    </dgm:pt>
    <dgm:pt modelId="{7C78FB68-47F4-4627-82AE-493ACC7428C6}" type="par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0DC3CFA-AC2D-4A80-9EF4-4E862831ADC2}" type="sibTrans" cxnId="{360FFCDC-C3D5-4AAE-9374-4F01D7FE1EC4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DE2079E-1570-49C5-BFA2-535E1185182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學生可以用私密金鑰打開數位文憑</a:t>
          </a:r>
        </a:p>
      </dgm:t>
    </dgm:pt>
    <dgm:pt modelId="{C593F584-2831-4F7E-A85C-49DBE32DF285}" type="par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BB4E721-DE28-42BF-8A0A-51DF420438C8}" type="sibTrans" cxnId="{16DD6D13-AF0D-42CC-84D3-C2E6A515B6DD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DCB68FBB-4F96-48A2-9BC3-8F6327C1AFFF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</dgm:spPr>
      <dgm:t>
        <a:bodyPr/>
        <a:lstStyle/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可進行分享或提供企業查驗</a:t>
          </a:r>
        </a:p>
      </dgm:t>
    </dgm:pt>
    <dgm:pt modelId="{03EB73C3-039D-4B85-AB62-92DF553CD53B}" type="par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C6CEFAC-3350-4CC2-8AEE-E283CFDC0600}" type="sibTrans" cxnId="{71C9C72A-4AB2-49C8-A87F-21AADF1AF8B8}">
      <dgm:prSet/>
      <dgm:spPr/>
      <dgm:t>
        <a:bodyPr/>
        <a:lstStyle/>
        <a:p>
          <a:endParaRPr lang="zh-TW" altLang="en-US" b="1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A3EFB5D-9FBC-408D-AE25-37890F98F352}" type="pres">
      <dgm:prSet presAssocID="{83AAEDF4-9526-4E7D-8640-1A1BFF12B289}" presName="linearFlow" presStyleCnt="0">
        <dgm:presLayoutVars>
          <dgm:resizeHandles val="exact"/>
        </dgm:presLayoutVars>
      </dgm:prSet>
      <dgm:spPr/>
    </dgm:pt>
    <dgm:pt modelId="{E2DBF797-E456-467B-9150-0035406329CB}" type="pres">
      <dgm:prSet presAssocID="{50F5EE8F-0D23-45EE-ACFD-31887384328B}" presName="node" presStyleLbl="node1" presStyleIdx="0" presStyleCnt="3" custScaleX="183979">
        <dgm:presLayoutVars>
          <dgm:bulletEnabled val="1"/>
        </dgm:presLayoutVars>
      </dgm:prSet>
      <dgm:spPr/>
    </dgm:pt>
    <dgm:pt modelId="{46E490A1-4190-40A7-A2B2-22DDD9F44BC8}" type="pres">
      <dgm:prSet presAssocID="{F0DC3CFA-AC2D-4A80-9EF4-4E862831ADC2}" presName="sibTrans" presStyleLbl="sibTrans2D1" presStyleIdx="0" presStyleCnt="2"/>
      <dgm:spPr/>
    </dgm:pt>
    <dgm:pt modelId="{788F70F3-6910-45F5-BA66-9938F7BFF1CD}" type="pres">
      <dgm:prSet presAssocID="{F0DC3CFA-AC2D-4A80-9EF4-4E862831ADC2}" presName="connectorText" presStyleLbl="sibTrans2D1" presStyleIdx="0" presStyleCnt="2"/>
      <dgm:spPr/>
    </dgm:pt>
    <dgm:pt modelId="{B6290007-74CA-477B-B751-06F9F2AC602E}" type="pres">
      <dgm:prSet presAssocID="{7DE2079E-1570-49C5-BFA2-535E11851825}" presName="node" presStyleLbl="node1" presStyleIdx="1" presStyleCnt="3" custScaleX="183979">
        <dgm:presLayoutVars>
          <dgm:bulletEnabled val="1"/>
        </dgm:presLayoutVars>
      </dgm:prSet>
      <dgm:spPr/>
    </dgm:pt>
    <dgm:pt modelId="{D9208106-98CB-4CEC-89EE-CFA21B2D62E9}" type="pres">
      <dgm:prSet presAssocID="{2BB4E721-DE28-42BF-8A0A-51DF420438C8}" presName="sibTrans" presStyleLbl="sibTrans2D1" presStyleIdx="1" presStyleCnt="2"/>
      <dgm:spPr/>
    </dgm:pt>
    <dgm:pt modelId="{4C1499FA-BFB3-446F-AA14-12FD80FE4780}" type="pres">
      <dgm:prSet presAssocID="{2BB4E721-DE28-42BF-8A0A-51DF420438C8}" presName="connectorText" presStyleLbl="sibTrans2D1" presStyleIdx="1" presStyleCnt="2"/>
      <dgm:spPr/>
    </dgm:pt>
    <dgm:pt modelId="{36C732AF-ABDE-48F5-B2EC-368690779264}" type="pres">
      <dgm:prSet presAssocID="{DCB68FBB-4F96-48A2-9BC3-8F6327C1AFFF}" presName="node" presStyleLbl="node1" presStyleIdx="2" presStyleCnt="3" custScaleX="183082">
        <dgm:presLayoutVars>
          <dgm:bulletEnabled val="1"/>
        </dgm:presLayoutVars>
      </dgm:prSet>
      <dgm:spPr/>
    </dgm:pt>
  </dgm:ptLst>
  <dgm:cxnLst>
    <dgm:cxn modelId="{16DD6D13-AF0D-42CC-84D3-C2E6A515B6DD}" srcId="{83AAEDF4-9526-4E7D-8640-1A1BFF12B289}" destId="{7DE2079E-1570-49C5-BFA2-535E11851825}" srcOrd="1" destOrd="0" parTransId="{C593F584-2831-4F7E-A85C-49DBE32DF285}" sibTransId="{2BB4E721-DE28-42BF-8A0A-51DF420438C8}"/>
    <dgm:cxn modelId="{71C9C72A-4AB2-49C8-A87F-21AADF1AF8B8}" srcId="{83AAEDF4-9526-4E7D-8640-1A1BFF12B289}" destId="{DCB68FBB-4F96-48A2-9BC3-8F6327C1AFFF}" srcOrd="2" destOrd="0" parTransId="{03EB73C3-039D-4B85-AB62-92DF553CD53B}" sibTransId="{8C6CEFAC-3350-4CC2-8AEE-E283CFDC0600}"/>
    <dgm:cxn modelId="{C2F7E461-3042-4D7C-829D-9315FC34356F}" type="presOf" srcId="{F0DC3CFA-AC2D-4A80-9EF4-4E862831ADC2}" destId="{46E490A1-4190-40A7-A2B2-22DDD9F44BC8}" srcOrd="0" destOrd="0" presId="urn:microsoft.com/office/officeart/2005/8/layout/process2"/>
    <dgm:cxn modelId="{B4E6634D-3955-459C-AC68-BB99B57DDE99}" type="presOf" srcId="{83AAEDF4-9526-4E7D-8640-1A1BFF12B289}" destId="{5A3EFB5D-9FBC-408D-AE25-37890F98F352}" srcOrd="0" destOrd="0" presId="urn:microsoft.com/office/officeart/2005/8/layout/process2"/>
    <dgm:cxn modelId="{EACFEE90-31B3-430B-85C6-C94F4397CF3E}" type="presOf" srcId="{DCB68FBB-4F96-48A2-9BC3-8F6327C1AFFF}" destId="{36C732AF-ABDE-48F5-B2EC-368690779264}" srcOrd="0" destOrd="0" presId="urn:microsoft.com/office/officeart/2005/8/layout/process2"/>
    <dgm:cxn modelId="{8DEA66BC-E9E7-4C03-A19B-5F4F2E8DE544}" type="presOf" srcId="{2BB4E721-DE28-42BF-8A0A-51DF420438C8}" destId="{4C1499FA-BFB3-446F-AA14-12FD80FE4780}" srcOrd="1" destOrd="0" presId="urn:microsoft.com/office/officeart/2005/8/layout/process2"/>
    <dgm:cxn modelId="{BBD8DEC6-A70A-4F95-9A9F-B821BDE79920}" type="presOf" srcId="{2BB4E721-DE28-42BF-8A0A-51DF420438C8}" destId="{D9208106-98CB-4CEC-89EE-CFA21B2D62E9}" srcOrd="0" destOrd="0" presId="urn:microsoft.com/office/officeart/2005/8/layout/process2"/>
    <dgm:cxn modelId="{D789D6CA-37CF-4A36-9024-3B525970D7EA}" type="presOf" srcId="{7DE2079E-1570-49C5-BFA2-535E11851825}" destId="{B6290007-74CA-477B-B751-06F9F2AC602E}" srcOrd="0" destOrd="0" presId="urn:microsoft.com/office/officeart/2005/8/layout/process2"/>
    <dgm:cxn modelId="{360FFCDC-C3D5-4AAE-9374-4F01D7FE1EC4}" srcId="{83AAEDF4-9526-4E7D-8640-1A1BFF12B289}" destId="{50F5EE8F-0D23-45EE-ACFD-31887384328B}" srcOrd="0" destOrd="0" parTransId="{7C78FB68-47F4-4627-82AE-493ACC7428C6}" sibTransId="{F0DC3CFA-AC2D-4A80-9EF4-4E862831ADC2}"/>
    <dgm:cxn modelId="{073108E2-8E1B-4A62-A9AF-8F4D0743B4E0}" type="presOf" srcId="{50F5EE8F-0D23-45EE-ACFD-31887384328B}" destId="{E2DBF797-E456-467B-9150-0035406329CB}" srcOrd="0" destOrd="0" presId="urn:microsoft.com/office/officeart/2005/8/layout/process2"/>
    <dgm:cxn modelId="{D58A5BF5-2CB9-4D9C-94A5-9462F91BEBEC}" type="presOf" srcId="{F0DC3CFA-AC2D-4A80-9EF4-4E862831ADC2}" destId="{788F70F3-6910-45F5-BA66-9938F7BFF1CD}" srcOrd="1" destOrd="0" presId="urn:microsoft.com/office/officeart/2005/8/layout/process2"/>
    <dgm:cxn modelId="{E3570717-D3E3-45A4-BF66-47D0FFAAE5CC}" type="presParOf" srcId="{5A3EFB5D-9FBC-408D-AE25-37890F98F352}" destId="{E2DBF797-E456-467B-9150-0035406329CB}" srcOrd="0" destOrd="0" presId="urn:microsoft.com/office/officeart/2005/8/layout/process2"/>
    <dgm:cxn modelId="{79C067D4-76A1-4B61-A4A0-D0247C6D7532}" type="presParOf" srcId="{5A3EFB5D-9FBC-408D-AE25-37890F98F352}" destId="{46E490A1-4190-40A7-A2B2-22DDD9F44BC8}" srcOrd="1" destOrd="0" presId="urn:microsoft.com/office/officeart/2005/8/layout/process2"/>
    <dgm:cxn modelId="{D2DBA496-5D50-4B51-BFB2-660221A63FF1}" type="presParOf" srcId="{46E490A1-4190-40A7-A2B2-22DDD9F44BC8}" destId="{788F70F3-6910-45F5-BA66-9938F7BFF1CD}" srcOrd="0" destOrd="0" presId="urn:microsoft.com/office/officeart/2005/8/layout/process2"/>
    <dgm:cxn modelId="{CC6C944E-8E65-49C9-849F-4B78E215D446}" type="presParOf" srcId="{5A3EFB5D-9FBC-408D-AE25-37890F98F352}" destId="{B6290007-74CA-477B-B751-06F9F2AC602E}" srcOrd="2" destOrd="0" presId="urn:microsoft.com/office/officeart/2005/8/layout/process2"/>
    <dgm:cxn modelId="{87A6ABF8-D214-46BF-8657-9A564644D8DF}" type="presParOf" srcId="{5A3EFB5D-9FBC-408D-AE25-37890F98F352}" destId="{D9208106-98CB-4CEC-89EE-CFA21B2D62E9}" srcOrd="3" destOrd="0" presId="urn:microsoft.com/office/officeart/2005/8/layout/process2"/>
    <dgm:cxn modelId="{CB87CDF2-69B4-4BC0-BE24-4B082E32459F}" type="presParOf" srcId="{D9208106-98CB-4CEC-89EE-CFA21B2D62E9}" destId="{4C1499FA-BFB3-446F-AA14-12FD80FE4780}" srcOrd="0" destOrd="0" presId="urn:microsoft.com/office/officeart/2005/8/layout/process2"/>
    <dgm:cxn modelId="{1BC94039-9D58-4FEA-9A89-85DEC1B3DDED}" type="presParOf" srcId="{5A3EFB5D-9FBC-408D-AE25-37890F98F352}" destId="{36C732AF-ABDE-48F5-B2EC-368690779264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4EE2999-3D72-466F-AAFF-ABD521419A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E2F9CAE-89A0-462F-AACC-4257F59BC86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US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Distribute Ledger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Distribute Storage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（離散式帳本與資料存取）</a:t>
          </a:r>
          <a:endParaRPr lang="en-US" altLang="zh-TW" sz="1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ctr"/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→避免交易紀錄外洩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ctr"/>
          <a:r>
            <a:rPr lang="en-US" altLang="zh-TW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Identity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（身分驗證程序）</a:t>
          </a:r>
          <a:endParaRPr lang="en-US" altLang="zh-TW" sz="1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algn="ctr"/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→保障客戶隱私與病歷資訊安全性</a:t>
          </a:r>
        </a:p>
      </dgm:t>
    </dgm:pt>
    <dgm:pt modelId="{069FFF7D-C35C-443E-A41F-23E4D1C3CC6F}" type="parTrans" cxnId="{67B4C63B-4380-4F2A-B2C6-192ABCDA27DA}">
      <dgm:prSet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99A123-1700-4CEF-82DF-80DE0F747FD9}" type="sibTrans" cxnId="{67B4C63B-4380-4F2A-B2C6-192ABCDA27DA}">
      <dgm:prSet custT="1"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C64B389-C5D8-489E-AAB4-77F69271500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∙</a:t>
          </a:r>
          <a:r>
            <a:rPr lang="en-US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Hybrid Blockchain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（混合式區塊鏈）</a:t>
          </a:r>
          <a:endParaRPr lang="en-US" altLang="zh-TW" sz="1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結合公有鏈（</a:t>
          </a:r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Public</a:t>
          </a:r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Blockchain</a:t>
          </a:r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）和   私有鏈（</a:t>
          </a:r>
          <a:r>
            <a:rPr lang="en-US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Private Blockchain</a:t>
          </a:r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→保障客戶個人的隱私，打開共享資源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en-US" altLang="en-US" sz="1800" b="1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∙</a:t>
          </a:r>
          <a:r>
            <a:rPr lang="en-US" altLang="zh-TW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Smart Contract</a:t>
          </a:r>
          <a:r>
            <a:rPr lang="zh-TW" altLang="zh-TW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（智慧合約） </a:t>
          </a:r>
          <a:endParaRPr lang="en-US" altLang="zh-TW" sz="1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約束交易的合法性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→提高客戶信心及預防不肖人士存取資訊</a:t>
          </a:r>
        </a:p>
      </dgm:t>
    </dgm:pt>
    <dgm:pt modelId="{78BE9579-DA6B-488F-95A0-ADE78FD623FD}" type="parTrans" cxnId="{CB60B0EF-2B3C-4435-ACE6-473B9E2E817B}">
      <dgm:prSet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DA05E0-AC3E-49ED-A064-3A2358509516}" type="sibTrans" cxnId="{CB60B0EF-2B3C-4435-ACE6-473B9E2E817B}">
      <dgm:prSet custT="1"/>
      <dgm:spPr/>
      <dgm:t>
        <a:bodyPr/>
        <a:lstStyle/>
        <a:p>
          <a:endParaRPr lang="zh-TW" altLang="en-US" sz="1800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74B6FC2-14CC-415E-AC6D-164A81338B77}" type="pres">
      <dgm:prSet presAssocID="{04EE2999-3D72-466F-AAFF-ABD521419AF4}" presName="Name0" presStyleCnt="0">
        <dgm:presLayoutVars>
          <dgm:dir/>
          <dgm:resizeHandles val="exact"/>
        </dgm:presLayoutVars>
      </dgm:prSet>
      <dgm:spPr/>
    </dgm:pt>
    <dgm:pt modelId="{CBB419AB-295B-4AC9-BB13-2985EA21FE65}" type="pres">
      <dgm:prSet presAssocID="{EE2F9CAE-89A0-462F-AACC-4257F59BC86B}" presName="node" presStyleLbl="node1" presStyleIdx="0" presStyleCnt="2" custScaleX="92037">
        <dgm:presLayoutVars>
          <dgm:bulletEnabled val="1"/>
        </dgm:presLayoutVars>
      </dgm:prSet>
      <dgm:spPr/>
    </dgm:pt>
    <dgm:pt modelId="{6DC3DB55-2E6D-4E9C-86C0-CF22949AE499}" type="pres">
      <dgm:prSet presAssocID="{2D99A123-1700-4CEF-82DF-80DE0F747FD9}" presName="sibTrans" presStyleLbl="sibTrans2D1" presStyleIdx="0" presStyleCnt="1" custScaleX="79023" custScaleY="79023"/>
      <dgm:spPr/>
    </dgm:pt>
    <dgm:pt modelId="{11CEBE87-7503-4820-9EF7-D0DB06996F9A}" type="pres">
      <dgm:prSet presAssocID="{2D99A123-1700-4CEF-82DF-80DE0F747FD9}" presName="connectorText" presStyleLbl="sibTrans2D1" presStyleIdx="0" presStyleCnt="1"/>
      <dgm:spPr/>
    </dgm:pt>
    <dgm:pt modelId="{D5000E0A-0118-4238-8E7F-E7E525C926DF}" type="pres">
      <dgm:prSet presAssocID="{7C64B389-C5D8-489E-AAB4-77F692715005}" presName="node" presStyleLbl="node1" presStyleIdx="1" presStyleCnt="2" custScaleX="105887">
        <dgm:presLayoutVars>
          <dgm:bulletEnabled val="1"/>
        </dgm:presLayoutVars>
      </dgm:prSet>
      <dgm:spPr/>
    </dgm:pt>
  </dgm:ptLst>
  <dgm:cxnLst>
    <dgm:cxn modelId="{961F4F18-5561-4D5F-BB0B-B9EB0DEBD7D9}" type="presOf" srcId="{EE2F9CAE-89A0-462F-AACC-4257F59BC86B}" destId="{CBB419AB-295B-4AC9-BB13-2985EA21FE65}" srcOrd="0" destOrd="0" presId="urn:microsoft.com/office/officeart/2005/8/layout/process1"/>
    <dgm:cxn modelId="{CEF7022E-58EC-4D11-BD7A-F6198C3BD027}" type="presOf" srcId="{04EE2999-3D72-466F-AAFF-ABD521419AF4}" destId="{874B6FC2-14CC-415E-AC6D-164A81338B77}" srcOrd="0" destOrd="0" presId="urn:microsoft.com/office/officeart/2005/8/layout/process1"/>
    <dgm:cxn modelId="{67B4C63B-4380-4F2A-B2C6-192ABCDA27DA}" srcId="{04EE2999-3D72-466F-AAFF-ABD521419AF4}" destId="{EE2F9CAE-89A0-462F-AACC-4257F59BC86B}" srcOrd="0" destOrd="0" parTransId="{069FFF7D-C35C-443E-A41F-23E4D1C3CC6F}" sibTransId="{2D99A123-1700-4CEF-82DF-80DE0F747FD9}"/>
    <dgm:cxn modelId="{49A1B975-73E7-4E7B-910C-0085D099AA21}" type="presOf" srcId="{2D99A123-1700-4CEF-82DF-80DE0F747FD9}" destId="{6DC3DB55-2E6D-4E9C-86C0-CF22949AE499}" srcOrd="0" destOrd="0" presId="urn:microsoft.com/office/officeart/2005/8/layout/process1"/>
    <dgm:cxn modelId="{2019549F-D4D2-4296-B515-E80916D1FEF9}" type="presOf" srcId="{7C64B389-C5D8-489E-AAB4-77F692715005}" destId="{D5000E0A-0118-4238-8E7F-E7E525C926DF}" srcOrd="0" destOrd="0" presId="urn:microsoft.com/office/officeart/2005/8/layout/process1"/>
    <dgm:cxn modelId="{CB60B0EF-2B3C-4435-ACE6-473B9E2E817B}" srcId="{04EE2999-3D72-466F-AAFF-ABD521419AF4}" destId="{7C64B389-C5D8-489E-AAB4-77F692715005}" srcOrd="1" destOrd="0" parTransId="{78BE9579-DA6B-488F-95A0-ADE78FD623FD}" sibTransId="{3EDA05E0-AC3E-49ED-A064-3A2358509516}"/>
    <dgm:cxn modelId="{3518C7FD-F5EC-485A-B896-244620B21B69}" type="presOf" srcId="{2D99A123-1700-4CEF-82DF-80DE0F747FD9}" destId="{11CEBE87-7503-4820-9EF7-D0DB06996F9A}" srcOrd="1" destOrd="0" presId="urn:microsoft.com/office/officeart/2005/8/layout/process1"/>
    <dgm:cxn modelId="{1B4E6486-8AED-4BBF-8F2E-7750D77B384B}" type="presParOf" srcId="{874B6FC2-14CC-415E-AC6D-164A81338B77}" destId="{CBB419AB-295B-4AC9-BB13-2985EA21FE65}" srcOrd="0" destOrd="0" presId="urn:microsoft.com/office/officeart/2005/8/layout/process1"/>
    <dgm:cxn modelId="{0F86FA35-11F0-40A3-A1AF-9E619A288179}" type="presParOf" srcId="{874B6FC2-14CC-415E-AC6D-164A81338B77}" destId="{6DC3DB55-2E6D-4E9C-86C0-CF22949AE499}" srcOrd="1" destOrd="0" presId="urn:microsoft.com/office/officeart/2005/8/layout/process1"/>
    <dgm:cxn modelId="{28003500-28C7-4ABF-A876-B53457E33BAB}" type="presParOf" srcId="{6DC3DB55-2E6D-4E9C-86C0-CF22949AE499}" destId="{11CEBE87-7503-4820-9EF7-D0DB06996F9A}" srcOrd="0" destOrd="0" presId="urn:microsoft.com/office/officeart/2005/8/layout/process1"/>
    <dgm:cxn modelId="{843D56F9-8C7B-4BC3-95C3-A9BA89F6ACB4}" type="presParOf" srcId="{874B6FC2-14CC-415E-AC6D-164A81338B77}" destId="{D5000E0A-0118-4238-8E7F-E7E525C926DF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EE2999-3D72-466F-AAFF-ABD521419AF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EE2F9CAE-89A0-462F-AACC-4257F59BC86B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Application Engine   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（應用服務引擎）</a:t>
          </a:r>
          <a:endParaRPr lang="en-US" altLang="zh-TW" sz="1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管理區塊鏈交易紀錄資料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作為布署與運作和應用 程式連結之軟體</a:t>
          </a:r>
        </a:p>
      </dgm:t>
    </dgm:pt>
    <dgm:pt modelId="{069FFF7D-C35C-443E-A41F-23E4D1C3CC6F}" type="parTrans" cxnId="{67B4C63B-4380-4F2A-B2C6-192ABCDA27DA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2D99A123-1700-4CEF-82DF-80DE0F747FD9}" type="sibTrans" cxnId="{67B4C63B-4380-4F2A-B2C6-192ABCDA27DA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C64B389-C5D8-489E-AAB4-77F692715005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RESTful API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（定義流程規範）</a:t>
          </a:r>
          <a:endParaRPr lang="en-US" altLang="zh-TW" sz="1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endParaRPr lang="zh-TW" altLang="en-US" sz="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提供互聯網的應用程序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使用上更簡易便利</a:t>
          </a:r>
        </a:p>
      </dgm:t>
    </dgm:pt>
    <dgm:pt modelId="{78BE9579-DA6B-488F-95A0-ADE78FD623FD}" type="parTrans" cxnId="{CB60B0EF-2B3C-4435-ACE6-473B9E2E817B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3EDA05E0-AC3E-49ED-A064-3A2358509516}" type="sibTrans" cxnId="{CB60B0EF-2B3C-4435-ACE6-473B9E2E817B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1D4A37C-5AFF-4226-AE57-893DDC191CC7}">
      <dgm:prSet phldrT="[文字]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dgm:style>
      </dgm:prSet>
      <dgm:spPr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</dgm:spPr>
      <dgm:t>
        <a:bodyPr/>
        <a:lstStyle/>
        <a:p>
          <a:r>
            <a:rPr lang="en-US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Application Layer</a:t>
          </a:r>
          <a:r>
            <a:rPr lang="zh-TW" altLang="en-US" sz="18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（應用服務層） </a:t>
          </a:r>
          <a:endParaRPr lang="en-US" altLang="zh-TW" sz="1800" b="1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提供應用系統的服務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建立管控機制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可提供資訊傳送、資料庫管理、 系統連結管理等服務</a:t>
          </a:r>
          <a:endParaRPr lang="en-US" altLang="zh-TW" sz="1800" b="1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r>
            <a:rPr lang="zh-TW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強化醫療區塊鏈的功能及服務項目</a:t>
          </a:r>
        </a:p>
      </dgm:t>
    </dgm:pt>
    <dgm:pt modelId="{0CDCE4B6-FCBB-4FB4-83CC-6A721BE01A9F}" type="parTrans" cxnId="{E253AA29-AF13-46F9-AB45-C7BFA61ABF31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5CBCB46-886D-4824-A4F5-DD7151CDE21A}" type="sibTrans" cxnId="{E253AA29-AF13-46F9-AB45-C7BFA61ABF31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74B6FC2-14CC-415E-AC6D-164A81338B77}" type="pres">
      <dgm:prSet presAssocID="{04EE2999-3D72-466F-AAFF-ABD521419AF4}" presName="Name0" presStyleCnt="0">
        <dgm:presLayoutVars>
          <dgm:dir/>
          <dgm:resizeHandles val="exact"/>
        </dgm:presLayoutVars>
      </dgm:prSet>
      <dgm:spPr/>
    </dgm:pt>
    <dgm:pt modelId="{CBB419AB-295B-4AC9-BB13-2985EA21FE65}" type="pres">
      <dgm:prSet presAssocID="{EE2F9CAE-89A0-462F-AACC-4257F59BC86B}" presName="node" presStyleLbl="node1" presStyleIdx="0" presStyleCnt="3" custScaleX="125836" custScaleY="137504">
        <dgm:presLayoutVars>
          <dgm:bulletEnabled val="1"/>
        </dgm:presLayoutVars>
      </dgm:prSet>
      <dgm:spPr/>
    </dgm:pt>
    <dgm:pt modelId="{6DC3DB55-2E6D-4E9C-86C0-CF22949AE499}" type="pres">
      <dgm:prSet presAssocID="{2D99A123-1700-4CEF-82DF-80DE0F747FD9}" presName="sibTrans" presStyleLbl="sibTrans2D1" presStyleIdx="0" presStyleCnt="2"/>
      <dgm:spPr/>
    </dgm:pt>
    <dgm:pt modelId="{11CEBE87-7503-4820-9EF7-D0DB06996F9A}" type="pres">
      <dgm:prSet presAssocID="{2D99A123-1700-4CEF-82DF-80DE0F747FD9}" presName="connectorText" presStyleLbl="sibTrans2D1" presStyleIdx="0" presStyleCnt="2"/>
      <dgm:spPr/>
    </dgm:pt>
    <dgm:pt modelId="{D5000E0A-0118-4238-8E7F-E7E525C926DF}" type="pres">
      <dgm:prSet presAssocID="{7C64B389-C5D8-489E-AAB4-77F692715005}" presName="node" presStyleLbl="node1" presStyleIdx="1" presStyleCnt="3" custScaleX="139371" custScaleY="137202">
        <dgm:presLayoutVars>
          <dgm:bulletEnabled val="1"/>
        </dgm:presLayoutVars>
      </dgm:prSet>
      <dgm:spPr/>
    </dgm:pt>
    <dgm:pt modelId="{4EA4A8F4-7403-46B2-8305-1C366D8F8FD8}" type="pres">
      <dgm:prSet presAssocID="{3EDA05E0-AC3E-49ED-A064-3A2358509516}" presName="sibTrans" presStyleLbl="sibTrans2D1" presStyleIdx="1" presStyleCnt="2"/>
      <dgm:spPr/>
    </dgm:pt>
    <dgm:pt modelId="{7744CDE2-EDD2-46DA-8DEB-03988FE363F3}" type="pres">
      <dgm:prSet presAssocID="{3EDA05E0-AC3E-49ED-A064-3A2358509516}" presName="connectorText" presStyleLbl="sibTrans2D1" presStyleIdx="1" presStyleCnt="2"/>
      <dgm:spPr/>
    </dgm:pt>
    <dgm:pt modelId="{9C0B906D-E1BA-47D7-B0E0-826A08F6593B}" type="pres">
      <dgm:prSet presAssocID="{51D4A37C-5AFF-4226-AE57-893DDC191CC7}" presName="node" presStyleLbl="node1" presStyleIdx="2" presStyleCnt="3" custScaleX="165546" custScaleY="140631">
        <dgm:presLayoutVars>
          <dgm:bulletEnabled val="1"/>
        </dgm:presLayoutVars>
      </dgm:prSet>
      <dgm:spPr/>
    </dgm:pt>
  </dgm:ptLst>
  <dgm:cxnLst>
    <dgm:cxn modelId="{FA01B215-EB53-473C-87A4-9722BB39D70E}" type="presOf" srcId="{3EDA05E0-AC3E-49ED-A064-3A2358509516}" destId="{4EA4A8F4-7403-46B2-8305-1C366D8F8FD8}" srcOrd="0" destOrd="0" presId="urn:microsoft.com/office/officeart/2005/8/layout/process1"/>
    <dgm:cxn modelId="{81363816-BE2C-4F24-898C-418DF73E4ECF}" type="presOf" srcId="{51D4A37C-5AFF-4226-AE57-893DDC191CC7}" destId="{9C0B906D-E1BA-47D7-B0E0-826A08F6593B}" srcOrd="0" destOrd="0" presId="urn:microsoft.com/office/officeart/2005/8/layout/process1"/>
    <dgm:cxn modelId="{961F4F18-5561-4D5F-BB0B-B9EB0DEBD7D9}" type="presOf" srcId="{EE2F9CAE-89A0-462F-AACC-4257F59BC86B}" destId="{CBB419AB-295B-4AC9-BB13-2985EA21FE65}" srcOrd="0" destOrd="0" presId="urn:microsoft.com/office/officeart/2005/8/layout/process1"/>
    <dgm:cxn modelId="{E253AA29-AF13-46F9-AB45-C7BFA61ABF31}" srcId="{04EE2999-3D72-466F-AAFF-ABD521419AF4}" destId="{51D4A37C-5AFF-4226-AE57-893DDC191CC7}" srcOrd="2" destOrd="0" parTransId="{0CDCE4B6-FCBB-4FB4-83CC-6A721BE01A9F}" sibTransId="{55CBCB46-886D-4824-A4F5-DD7151CDE21A}"/>
    <dgm:cxn modelId="{CEF7022E-58EC-4D11-BD7A-F6198C3BD027}" type="presOf" srcId="{04EE2999-3D72-466F-AAFF-ABD521419AF4}" destId="{874B6FC2-14CC-415E-AC6D-164A81338B77}" srcOrd="0" destOrd="0" presId="urn:microsoft.com/office/officeart/2005/8/layout/process1"/>
    <dgm:cxn modelId="{67B4C63B-4380-4F2A-B2C6-192ABCDA27DA}" srcId="{04EE2999-3D72-466F-AAFF-ABD521419AF4}" destId="{EE2F9CAE-89A0-462F-AACC-4257F59BC86B}" srcOrd="0" destOrd="0" parTransId="{069FFF7D-C35C-443E-A41F-23E4D1C3CC6F}" sibTransId="{2D99A123-1700-4CEF-82DF-80DE0F747FD9}"/>
    <dgm:cxn modelId="{A5702F4E-FA13-429C-810A-EB6ED31F0BE8}" type="presOf" srcId="{3EDA05E0-AC3E-49ED-A064-3A2358509516}" destId="{7744CDE2-EDD2-46DA-8DEB-03988FE363F3}" srcOrd="1" destOrd="0" presId="urn:microsoft.com/office/officeart/2005/8/layout/process1"/>
    <dgm:cxn modelId="{49A1B975-73E7-4E7B-910C-0085D099AA21}" type="presOf" srcId="{2D99A123-1700-4CEF-82DF-80DE0F747FD9}" destId="{6DC3DB55-2E6D-4E9C-86C0-CF22949AE499}" srcOrd="0" destOrd="0" presId="urn:microsoft.com/office/officeart/2005/8/layout/process1"/>
    <dgm:cxn modelId="{2019549F-D4D2-4296-B515-E80916D1FEF9}" type="presOf" srcId="{7C64B389-C5D8-489E-AAB4-77F692715005}" destId="{D5000E0A-0118-4238-8E7F-E7E525C926DF}" srcOrd="0" destOrd="0" presId="urn:microsoft.com/office/officeart/2005/8/layout/process1"/>
    <dgm:cxn modelId="{CB60B0EF-2B3C-4435-ACE6-473B9E2E817B}" srcId="{04EE2999-3D72-466F-AAFF-ABD521419AF4}" destId="{7C64B389-C5D8-489E-AAB4-77F692715005}" srcOrd="1" destOrd="0" parTransId="{78BE9579-DA6B-488F-95A0-ADE78FD623FD}" sibTransId="{3EDA05E0-AC3E-49ED-A064-3A2358509516}"/>
    <dgm:cxn modelId="{3518C7FD-F5EC-485A-B896-244620B21B69}" type="presOf" srcId="{2D99A123-1700-4CEF-82DF-80DE0F747FD9}" destId="{11CEBE87-7503-4820-9EF7-D0DB06996F9A}" srcOrd="1" destOrd="0" presId="urn:microsoft.com/office/officeart/2005/8/layout/process1"/>
    <dgm:cxn modelId="{1B4E6486-8AED-4BBF-8F2E-7750D77B384B}" type="presParOf" srcId="{874B6FC2-14CC-415E-AC6D-164A81338B77}" destId="{CBB419AB-295B-4AC9-BB13-2985EA21FE65}" srcOrd="0" destOrd="0" presId="urn:microsoft.com/office/officeart/2005/8/layout/process1"/>
    <dgm:cxn modelId="{0F86FA35-11F0-40A3-A1AF-9E619A288179}" type="presParOf" srcId="{874B6FC2-14CC-415E-AC6D-164A81338B77}" destId="{6DC3DB55-2E6D-4E9C-86C0-CF22949AE499}" srcOrd="1" destOrd="0" presId="urn:microsoft.com/office/officeart/2005/8/layout/process1"/>
    <dgm:cxn modelId="{28003500-28C7-4ABF-A876-B53457E33BAB}" type="presParOf" srcId="{6DC3DB55-2E6D-4E9C-86C0-CF22949AE499}" destId="{11CEBE87-7503-4820-9EF7-D0DB06996F9A}" srcOrd="0" destOrd="0" presId="urn:microsoft.com/office/officeart/2005/8/layout/process1"/>
    <dgm:cxn modelId="{843D56F9-8C7B-4BC3-95C3-A9BA89F6ACB4}" type="presParOf" srcId="{874B6FC2-14CC-415E-AC6D-164A81338B77}" destId="{D5000E0A-0118-4238-8E7F-E7E525C926DF}" srcOrd="2" destOrd="0" presId="urn:microsoft.com/office/officeart/2005/8/layout/process1"/>
    <dgm:cxn modelId="{D9F21761-C90B-4C87-B26C-EE8160E0654F}" type="presParOf" srcId="{874B6FC2-14CC-415E-AC6D-164A81338B77}" destId="{4EA4A8F4-7403-46B2-8305-1C366D8F8FD8}" srcOrd="3" destOrd="0" presId="urn:microsoft.com/office/officeart/2005/8/layout/process1"/>
    <dgm:cxn modelId="{56949463-7B52-4408-AB43-1F1BA875E30F}" type="presParOf" srcId="{4EA4A8F4-7403-46B2-8305-1C366D8F8FD8}" destId="{7744CDE2-EDD2-46DA-8DEB-03988FE363F3}" srcOrd="0" destOrd="0" presId="urn:microsoft.com/office/officeart/2005/8/layout/process1"/>
    <dgm:cxn modelId="{B4BE8AED-8152-410C-91DD-DBED42ECE0E0}" type="presParOf" srcId="{874B6FC2-14CC-415E-AC6D-164A81338B77}" destId="{9C0B906D-E1BA-47D7-B0E0-826A08F6593B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419AB-295B-4AC9-BB13-2985EA21FE65}">
      <dsp:nvSpPr>
        <dsp:cNvPr id="0" name=""/>
        <dsp:cNvSpPr/>
      </dsp:nvSpPr>
      <dsp:spPr>
        <a:xfrm>
          <a:off x="1672" y="0"/>
          <a:ext cx="3567621" cy="138550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透過</a:t>
          </a:r>
          <a:r>
            <a:rPr lang="en-US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SHA256</a:t>
          </a: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安全雜湊演算法給予數位文憑一組數字碼</a:t>
          </a:r>
        </a:p>
      </dsp:txBody>
      <dsp:txXfrm>
        <a:off x="42252" y="40580"/>
        <a:ext cx="3486461" cy="1304348"/>
      </dsp:txXfrm>
    </dsp:sp>
    <dsp:sp modelId="{6DC3DB55-2E6D-4E9C-86C0-CF22949AE499}">
      <dsp:nvSpPr>
        <dsp:cNvPr id="0" name=""/>
        <dsp:cNvSpPr/>
      </dsp:nvSpPr>
      <dsp:spPr>
        <a:xfrm>
          <a:off x="4005384" y="343168"/>
          <a:ext cx="597679" cy="69917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8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005384" y="483002"/>
        <a:ext cx="418375" cy="419503"/>
      </dsp:txXfrm>
    </dsp:sp>
    <dsp:sp modelId="{D5000E0A-0118-4238-8E7F-E7E525C926DF}">
      <dsp:nvSpPr>
        <dsp:cNvPr id="0" name=""/>
        <dsp:cNvSpPr/>
      </dsp:nvSpPr>
      <dsp:spPr>
        <a:xfrm>
          <a:off x="4996342" y="0"/>
          <a:ext cx="3567621" cy="138550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在</a:t>
          </a:r>
          <a:r>
            <a:rPr lang="en-US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OP-RETURN</a:t>
          </a: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的位置中取得散列函數值（或哈希函數值）</a:t>
          </a:r>
        </a:p>
      </dsp:txBody>
      <dsp:txXfrm>
        <a:off x="5036922" y="40580"/>
        <a:ext cx="3486461" cy="13043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419AB-295B-4AC9-BB13-2985EA21FE65}">
      <dsp:nvSpPr>
        <dsp:cNvPr id="0" name=""/>
        <dsp:cNvSpPr/>
      </dsp:nvSpPr>
      <dsp:spPr>
        <a:xfrm>
          <a:off x="626" y="0"/>
          <a:ext cx="2878683" cy="138550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比對數位文憑和區塊鏈系統的散列函數值</a:t>
          </a:r>
        </a:p>
      </dsp:txBody>
      <dsp:txXfrm>
        <a:off x="41206" y="40580"/>
        <a:ext cx="2797523" cy="1304348"/>
      </dsp:txXfrm>
    </dsp:sp>
    <dsp:sp modelId="{6DC3DB55-2E6D-4E9C-86C0-CF22949AE499}">
      <dsp:nvSpPr>
        <dsp:cNvPr id="0" name=""/>
        <dsp:cNvSpPr/>
      </dsp:nvSpPr>
      <dsp:spPr>
        <a:xfrm>
          <a:off x="3167178" y="335797"/>
          <a:ext cx="610280" cy="7139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1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67178" y="478580"/>
        <a:ext cx="427196" cy="428347"/>
      </dsp:txXfrm>
    </dsp:sp>
    <dsp:sp modelId="{D5000E0A-0118-4238-8E7F-E7E525C926DF}">
      <dsp:nvSpPr>
        <dsp:cNvPr id="0" name=""/>
        <dsp:cNvSpPr/>
      </dsp:nvSpPr>
      <dsp:spPr>
        <a:xfrm>
          <a:off x="4030783" y="0"/>
          <a:ext cx="3083127" cy="138550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驗證媒體實驗室內的簽章</a:t>
          </a:r>
        </a:p>
      </dsp:txBody>
      <dsp:txXfrm>
        <a:off x="4071363" y="40580"/>
        <a:ext cx="3001967" cy="1304348"/>
      </dsp:txXfrm>
    </dsp:sp>
    <dsp:sp modelId="{4EA4A8F4-7403-46B2-8305-1C366D8F8FD8}">
      <dsp:nvSpPr>
        <dsp:cNvPr id="0" name=""/>
        <dsp:cNvSpPr/>
      </dsp:nvSpPr>
      <dsp:spPr>
        <a:xfrm>
          <a:off x="7401779" y="335797"/>
          <a:ext cx="610280" cy="71391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21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7401779" y="478580"/>
        <a:ext cx="427196" cy="428347"/>
      </dsp:txXfrm>
    </dsp:sp>
    <dsp:sp modelId="{9C0B906D-E1BA-47D7-B0E0-826A08F6593B}">
      <dsp:nvSpPr>
        <dsp:cNvPr id="0" name=""/>
        <dsp:cNvSpPr/>
      </dsp:nvSpPr>
      <dsp:spPr>
        <a:xfrm>
          <a:off x="8265384" y="0"/>
          <a:ext cx="2878683" cy="1385508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4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0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確認發行機構不得篡改</a:t>
          </a:r>
        </a:p>
      </dsp:txBody>
      <dsp:txXfrm>
        <a:off x="8305964" y="40580"/>
        <a:ext cx="2797523" cy="13043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11D79-2391-4C2B-9685-A06A90CF37BA}">
      <dsp:nvSpPr>
        <dsp:cNvPr id="0" name=""/>
        <dsp:cNvSpPr/>
      </dsp:nvSpPr>
      <dsp:spPr>
        <a:xfrm>
          <a:off x="20676" y="2202"/>
          <a:ext cx="3945790" cy="1126512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學生下載</a:t>
          </a: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BLOCKCERTS </a:t>
          </a: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應用程式（即數位文憑區塊鏈平台）</a:t>
          </a:r>
        </a:p>
      </dsp:txBody>
      <dsp:txXfrm>
        <a:off x="53670" y="35196"/>
        <a:ext cx="3879802" cy="1060524"/>
      </dsp:txXfrm>
    </dsp:sp>
    <dsp:sp modelId="{0CE0370C-438F-4629-A177-4F259674C0FC}">
      <dsp:nvSpPr>
        <dsp:cNvPr id="0" name=""/>
        <dsp:cNvSpPr/>
      </dsp:nvSpPr>
      <dsp:spPr>
        <a:xfrm rot="5400000">
          <a:off x="1782350" y="1156877"/>
          <a:ext cx="422442" cy="506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841493" y="1199121"/>
        <a:ext cx="304158" cy="295709"/>
      </dsp:txXfrm>
    </dsp:sp>
    <dsp:sp modelId="{EDD39C1A-FBFA-4521-8957-F29C0FD0BF8E}">
      <dsp:nvSpPr>
        <dsp:cNvPr id="0" name=""/>
        <dsp:cNvSpPr/>
      </dsp:nvSpPr>
      <dsp:spPr>
        <a:xfrm>
          <a:off x="20676" y="1691971"/>
          <a:ext cx="3945790" cy="1126512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系統產生一對公開金鑰和私密金鑰     </a:t>
          </a:r>
          <a:r>
            <a:rPr lang="en-US" altLang="zh-TW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(</a:t>
          </a:r>
          <a:r>
            <a:rPr lang="zh-TW" altLang="en-US" sz="16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金鑰為一單項數列，一串數字組成的密碼</a:t>
          </a:r>
          <a:r>
            <a:rPr lang="en-US" altLang="zh-TW" sz="16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)</a:t>
          </a:r>
          <a:endParaRPr lang="zh-TW" altLang="en-US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53670" y="1724965"/>
        <a:ext cx="3879802" cy="1060524"/>
      </dsp:txXfrm>
    </dsp:sp>
    <dsp:sp modelId="{3EBA5DCE-EA98-4F76-9CC3-C236CB7366C4}">
      <dsp:nvSpPr>
        <dsp:cNvPr id="0" name=""/>
        <dsp:cNvSpPr/>
      </dsp:nvSpPr>
      <dsp:spPr>
        <a:xfrm rot="5400000">
          <a:off x="1782350" y="2846646"/>
          <a:ext cx="422442" cy="5069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841493" y="2888890"/>
        <a:ext cx="304158" cy="295709"/>
      </dsp:txXfrm>
    </dsp:sp>
    <dsp:sp modelId="{B374ADA6-B1B1-45BF-B4C2-84F6A1AF5E95}">
      <dsp:nvSpPr>
        <dsp:cNvPr id="0" name=""/>
        <dsp:cNvSpPr/>
      </dsp:nvSpPr>
      <dsp:spPr>
        <a:xfrm>
          <a:off x="0" y="3381740"/>
          <a:ext cx="3987144" cy="1126512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將公鑰傳送給</a:t>
          </a: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MIT </a:t>
          </a: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寫入數位紀錄中</a:t>
          </a:r>
        </a:p>
      </dsp:txBody>
      <dsp:txXfrm>
        <a:off x="32994" y="3414734"/>
        <a:ext cx="3921156" cy="10605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BF797-E456-467B-9150-0035406329CB}">
      <dsp:nvSpPr>
        <dsp:cNvPr id="0" name=""/>
        <dsp:cNvSpPr/>
      </dsp:nvSpPr>
      <dsp:spPr>
        <a:xfrm>
          <a:off x="0" y="2509"/>
          <a:ext cx="3914181" cy="1105297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於該區塊鏈中加上認證碼</a:t>
          </a:r>
        </a:p>
      </dsp:txBody>
      <dsp:txXfrm>
        <a:off x="32373" y="34882"/>
        <a:ext cx="3849435" cy="1040551"/>
      </dsp:txXfrm>
    </dsp:sp>
    <dsp:sp modelId="{46E490A1-4190-40A7-A2B2-22DDD9F44BC8}">
      <dsp:nvSpPr>
        <dsp:cNvPr id="0" name=""/>
        <dsp:cNvSpPr/>
      </dsp:nvSpPr>
      <dsp:spPr>
        <a:xfrm rot="5400000">
          <a:off x="1705168" y="1141396"/>
          <a:ext cx="503843" cy="6046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7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775707" y="1191780"/>
        <a:ext cx="362767" cy="352690"/>
      </dsp:txXfrm>
    </dsp:sp>
    <dsp:sp modelId="{B6290007-74CA-477B-B751-06F9F2AC602E}">
      <dsp:nvSpPr>
        <dsp:cNvPr id="0" name=""/>
        <dsp:cNvSpPr/>
      </dsp:nvSpPr>
      <dsp:spPr>
        <a:xfrm>
          <a:off x="0" y="1779597"/>
          <a:ext cx="3914181" cy="1017454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MIT </a:t>
          </a: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寄出含公鑰的數位文憑</a:t>
          </a:r>
        </a:p>
      </dsp:txBody>
      <dsp:txXfrm>
        <a:off x="29800" y="1809397"/>
        <a:ext cx="3854581" cy="957854"/>
      </dsp:txXfrm>
    </dsp:sp>
    <dsp:sp modelId="{D9208106-98CB-4CEC-89EE-CFA21B2D62E9}">
      <dsp:nvSpPr>
        <dsp:cNvPr id="0" name=""/>
        <dsp:cNvSpPr/>
      </dsp:nvSpPr>
      <dsp:spPr>
        <a:xfrm rot="5400000">
          <a:off x="1705168" y="2830641"/>
          <a:ext cx="503843" cy="60461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7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775707" y="2881025"/>
        <a:ext cx="362767" cy="352690"/>
      </dsp:txXfrm>
    </dsp:sp>
    <dsp:sp modelId="{36C732AF-ABDE-48F5-B2EC-368690779264}">
      <dsp:nvSpPr>
        <dsp:cNvPr id="0" name=""/>
        <dsp:cNvSpPr/>
      </dsp:nvSpPr>
      <dsp:spPr>
        <a:xfrm>
          <a:off x="9541" y="3468842"/>
          <a:ext cx="3895097" cy="102481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由學生手機上的私鑰驗證是否為     學生本人</a:t>
          </a:r>
        </a:p>
      </dsp:txBody>
      <dsp:txXfrm>
        <a:off x="39557" y="3498858"/>
        <a:ext cx="3835065" cy="9647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11D79-2391-4C2B-9685-A06A90CF37BA}">
      <dsp:nvSpPr>
        <dsp:cNvPr id="0" name=""/>
        <dsp:cNvSpPr/>
      </dsp:nvSpPr>
      <dsp:spPr>
        <a:xfrm>
          <a:off x="144324" y="0"/>
          <a:ext cx="3890267" cy="112761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學生下載安裝應用程式（</a:t>
          </a: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APP</a:t>
          </a: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</a:p>
      </dsp:txBody>
      <dsp:txXfrm>
        <a:off x="177351" y="33027"/>
        <a:ext cx="3824213" cy="1061559"/>
      </dsp:txXfrm>
    </dsp:sp>
    <dsp:sp modelId="{0CE0370C-438F-4629-A177-4F259674C0FC}">
      <dsp:nvSpPr>
        <dsp:cNvPr id="0" name=""/>
        <dsp:cNvSpPr/>
      </dsp:nvSpPr>
      <dsp:spPr>
        <a:xfrm rot="5400000">
          <a:off x="1878030" y="1155804"/>
          <a:ext cx="422855" cy="507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937230" y="1198089"/>
        <a:ext cx="304456" cy="295999"/>
      </dsp:txXfrm>
    </dsp:sp>
    <dsp:sp modelId="{EDD39C1A-FBFA-4521-8957-F29C0FD0BF8E}">
      <dsp:nvSpPr>
        <dsp:cNvPr id="0" name=""/>
        <dsp:cNvSpPr/>
      </dsp:nvSpPr>
      <dsp:spPr>
        <a:xfrm>
          <a:off x="144324" y="1691420"/>
          <a:ext cx="3890267" cy="112761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系統給予認證金鑰，公開金鑰傳送至學校系統，私密金鑰由學生自行保存</a:t>
          </a:r>
        </a:p>
      </dsp:txBody>
      <dsp:txXfrm>
        <a:off x="177351" y="1724447"/>
        <a:ext cx="3824213" cy="1061559"/>
      </dsp:txXfrm>
    </dsp:sp>
    <dsp:sp modelId="{3EBA5DCE-EA98-4F76-9CC3-C236CB7366C4}">
      <dsp:nvSpPr>
        <dsp:cNvPr id="0" name=""/>
        <dsp:cNvSpPr/>
      </dsp:nvSpPr>
      <dsp:spPr>
        <a:xfrm rot="5400000">
          <a:off x="1878030" y="2847224"/>
          <a:ext cx="422855" cy="5074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1937230" y="2889509"/>
        <a:ext cx="304456" cy="295999"/>
      </dsp:txXfrm>
    </dsp:sp>
    <dsp:sp modelId="{B374ADA6-B1B1-45BF-B4C2-84F6A1AF5E95}">
      <dsp:nvSpPr>
        <dsp:cNvPr id="0" name=""/>
        <dsp:cNvSpPr/>
      </dsp:nvSpPr>
      <dsp:spPr>
        <a:xfrm>
          <a:off x="144324" y="3382841"/>
          <a:ext cx="3890267" cy="1127613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學校收到公開金鑰，登入區塊鏈平台進行紀錄</a:t>
          </a:r>
        </a:p>
      </dsp:txBody>
      <dsp:txXfrm>
        <a:off x="177351" y="3415868"/>
        <a:ext cx="3824213" cy="10615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DBF797-E456-467B-9150-0035406329CB}">
      <dsp:nvSpPr>
        <dsp:cNvPr id="0" name=""/>
        <dsp:cNvSpPr/>
      </dsp:nvSpPr>
      <dsp:spPr>
        <a:xfrm>
          <a:off x="304126" y="0"/>
          <a:ext cx="3864578" cy="1124042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發送數位文憑至學生的應用程式</a:t>
          </a:r>
        </a:p>
      </dsp:txBody>
      <dsp:txXfrm>
        <a:off x="337048" y="32922"/>
        <a:ext cx="3798734" cy="1058198"/>
      </dsp:txXfrm>
    </dsp:sp>
    <dsp:sp modelId="{46E490A1-4190-40A7-A2B2-22DDD9F44BC8}">
      <dsp:nvSpPr>
        <dsp:cNvPr id="0" name=""/>
        <dsp:cNvSpPr/>
      </dsp:nvSpPr>
      <dsp:spPr>
        <a:xfrm rot="5400000">
          <a:off x="2025657" y="1152143"/>
          <a:ext cx="421515" cy="505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2084669" y="1194295"/>
        <a:ext cx="303491" cy="295061"/>
      </dsp:txXfrm>
    </dsp:sp>
    <dsp:sp modelId="{B6290007-74CA-477B-B751-06F9F2AC602E}">
      <dsp:nvSpPr>
        <dsp:cNvPr id="0" name=""/>
        <dsp:cNvSpPr/>
      </dsp:nvSpPr>
      <dsp:spPr>
        <a:xfrm>
          <a:off x="304126" y="1686063"/>
          <a:ext cx="3864578" cy="1124042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學生可以用私密金鑰打開數位文憑</a:t>
          </a:r>
        </a:p>
      </dsp:txBody>
      <dsp:txXfrm>
        <a:off x="337048" y="1718985"/>
        <a:ext cx="3798734" cy="1058198"/>
      </dsp:txXfrm>
    </dsp:sp>
    <dsp:sp modelId="{D9208106-98CB-4CEC-89EE-CFA21B2D62E9}">
      <dsp:nvSpPr>
        <dsp:cNvPr id="0" name=""/>
        <dsp:cNvSpPr/>
      </dsp:nvSpPr>
      <dsp:spPr>
        <a:xfrm rot="5400000">
          <a:off x="2025657" y="2838206"/>
          <a:ext cx="421515" cy="5058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400" b="1" kern="120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 rot="-5400000">
        <a:off x="2084669" y="2880358"/>
        <a:ext cx="303491" cy="295061"/>
      </dsp:txXfrm>
    </dsp:sp>
    <dsp:sp modelId="{36C732AF-ABDE-48F5-B2EC-368690779264}">
      <dsp:nvSpPr>
        <dsp:cNvPr id="0" name=""/>
        <dsp:cNvSpPr/>
      </dsp:nvSpPr>
      <dsp:spPr>
        <a:xfrm>
          <a:off x="313547" y="3372126"/>
          <a:ext cx="3845736" cy="1124042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rgbClr val="32AC9D"/>
          </a:solidFill>
          <a:prstDash val="sysDot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可進行分享或提供企業查驗</a:t>
          </a:r>
        </a:p>
      </dsp:txBody>
      <dsp:txXfrm>
        <a:off x="346469" y="3405048"/>
        <a:ext cx="3779892" cy="10581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419AB-295B-4AC9-BB13-2985EA21FE65}">
      <dsp:nvSpPr>
        <dsp:cNvPr id="0" name=""/>
        <dsp:cNvSpPr/>
      </dsp:nvSpPr>
      <dsp:spPr>
        <a:xfrm>
          <a:off x="9566" y="0"/>
          <a:ext cx="3927969" cy="343774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Distribute Ledger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/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Distribute Storage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（離散式帳本與資料存取）</a:t>
          </a:r>
          <a:endParaRPr lang="en-US" altLang="zh-TW" sz="1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→避免交易紀錄外洩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Identity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（身分驗證程序）</a:t>
          </a:r>
          <a:endParaRPr lang="en-US" altLang="zh-TW" sz="1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→保障客戶隱私與病歷資訊安全性</a:t>
          </a:r>
        </a:p>
      </dsp:txBody>
      <dsp:txXfrm>
        <a:off x="110254" y="100688"/>
        <a:ext cx="3726593" cy="3236370"/>
      </dsp:txXfrm>
    </dsp:sp>
    <dsp:sp modelId="{6DC3DB55-2E6D-4E9C-86C0-CF22949AE499}">
      <dsp:nvSpPr>
        <dsp:cNvPr id="0" name=""/>
        <dsp:cNvSpPr/>
      </dsp:nvSpPr>
      <dsp:spPr>
        <a:xfrm>
          <a:off x="4459214" y="1300676"/>
          <a:ext cx="714981" cy="83639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8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4459214" y="1467955"/>
        <a:ext cx="500487" cy="501835"/>
      </dsp:txXfrm>
    </dsp:sp>
    <dsp:sp modelId="{D5000E0A-0118-4238-8E7F-E7E525C926DF}">
      <dsp:nvSpPr>
        <dsp:cNvPr id="0" name=""/>
        <dsp:cNvSpPr/>
      </dsp:nvSpPr>
      <dsp:spPr>
        <a:xfrm>
          <a:off x="5644661" y="0"/>
          <a:ext cx="4519061" cy="3437746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∙</a:t>
          </a:r>
          <a:r>
            <a:rPr lang="en-US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Hybrid Blockchain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（混合式區塊鏈）</a:t>
          </a:r>
          <a:endParaRPr lang="en-US" altLang="zh-TW" sz="1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結合公有鏈（</a:t>
          </a: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Public</a:t>
          </a: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 </a:t>
          </a: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Blockchain</a:t>
          </a: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）和   私有鏈（</a:t>
          </a:r>
          <a:r>
            <a:rPr lang="en-US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Private Blockchain</a:t>
          </a: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）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→保障客戶個人的隱私，打開共享資源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1" kern="1200" dirty="0">
              <a:solidFill>
                <a:schemeClr val="accent2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∙</a:t>
          </a:r>
          <a:r>
            <a:rPr lang="en-US" altLang="zh-TW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Smart Contract</a:t>
          </a:r>
          <a:r>
            <a:rPr lang="zh-TW" altLang="zh-TW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（智慧合約） </a:t>
          </a:r>
          <a:endParaRPr lang="en-US" altLang="zh-TW" sz="1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約束交易的合法性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→提高客戶信心及預防不肖人士存取資訊</a:t>
          </a:r>
        </a:p>
      </dsp:txBody>
      <dsp:txXfrm>
        <a:off x="5745349" y="100688"/>
        <a:ext cx="4317685" cy="323637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B419AB-295B-4AC9-BB13-2985EA21FE65}">
      <dsp:nvSpPr>
        <dsp:cNvPr id="0" name=""/>
        <dsp:cNvSpPr/>
      </dsp:nvSpPr>
      <dsp:spPr>
        <a:xfrm>
          <a:off x="12657" y="-3638"/>
          <a:ext cx="2876003" cy="3313667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Application Engine   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（應用服務引擎）</a:t>
          </a:r>
          <a:endParaRPr lang="en-US" altLang="zh-TW" sz="1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管理區塊鏈交易紀錄資料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作為布署與運作和應用 程式連結之軟體</a:t>
          </a:r>
        </a:p>
      </dsp:txBody>
      <dsp:txXfrm>
        <a:off x="96892" y="80597"/>
        <a:ext cx="2707533" cy="3145197"/>
      </dsp:txXfrm>
    </dsp:sp>
    <dsp:sp modelId="{6DC3DB55-2E6D-4E9C-86C0-CF22949AE499}">
      <dsp:nvSpPr>
        <dsp:cNvPr id="0" name=""/>
        <dsp:cNvSpPr/>
      </dsp:nvSpPr>
      <dsp:spPr>
        <a:xfrm>
          <a:off x="3117213" y="1369790"/>
          <a:ext cx="484529" cy="5668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3117213" y="1483152"/>
        <a:ext cx="339170" cy="340084"/>
      </dsp:txXfrm>
    </dsp:sp>
    <dsp:sp modelId="{D5000E0A-0118-4238-8E7F-E7E525C926DF}">
      <dsp:nvSpPr>
        <dsp:cNvPr id="0" name=""/>
        <dsp:cNvSpPr/>
      </dsp:nvSpPr>
      <dsp:spPr>
        <a:xfrm>
          <a:off x="3802868" y="0"/>
          <a:ext cx="3185348" cy="3306389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RESTful API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（定義流程規範）</a:t>
          </a:r>
          <a:endParaRPr lang="en-US" altLang="zh-TW" sz="1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提供互聯網的應用程序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使用上更簡易便利</a:t>
          </a:r>
        </a:p>
      </dsp:txBody>
      <dsp:txXfrm>
        <a:off x="3896164" y="93296"/>
        <a:ext cx="2998756" cy="3119797"/>
      </dsp:txXfrm>
    </dsp:sp>
    <dsp:sp modelId="{4EA4A8F4-7403-46B2-8305-1C366D8F8FD8}">
      <dsp:nvSpPr>
        <dsp:cNvPr id="0" name=""/>
        <dsp:cNvSpPr/>
      </dsp:nvSpPr>
      <dsp:spPr>
        <a:xfrm>
          <a:off x="7216768" y="1369790"/>
          <a:ext cx="484529" cy="5668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1600" b="1" kern="1200">
            <a:latin typeface="微軟正黑體" panose="020B0604030504040204" pitchFamily="34" charset="-120"/>
            <a:ea typeface="微軟正黑體" panose="020B0604030504040204" pitchFamily="34" charset="-120"/>
          </a:endParaRPr>
        </a:p>
      </dsp:txBody>
      <dsp:txXfrm>
        <a:off x="7216768" y="1483152"/>
        <a:ext cx="339170" cy="340084"/>
      </dsp:txXfrm>
    </dsp:sp>
    <dsp:sp modelId="{9C0B906D-E1BA-47D7-B0E0-826A08F6593B}">
      <dsp:nvSpPr>
        <dsp:cNvPr id="0" name=""/>
        <dsp:cNvSpPr/>
      </dsp:nvSpPr>
      <dsp:spPr>
        <a:xfrm>
          <a:off x="7902423" y="-41317"/>
          <a:ext cx="3783582" cy="3389024"/>
        </a:xfrm>
        <a:prstGeom prst="roundRect">
          <a:avLst>
            <a:gd name="adj" fmla="val 10000"/>
          </a:avLst>
        </a:prstGeom>
        <a:noFill/>
        <a:ln w="19050" cap="flat" cmpd="sng" algn="ctr">
          <a:solidFill>
            <a:schemeClr val="accent5"/>
          </a:solidFill>
          <a:prstDash val="sysDash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4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Application Layer</a:t>
          </a:r>
          <a:r>
            <a:rPr lang="zh-TW" altLang="en-US" sz="1800" b="1" kern="1200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（應用服務層） </a:t>
          </a:r>
          <a:endParaRPr lang="en-US" altLang="zh-TW" sz="1800" b="1" kern="1200" dirty="0">
            <a:solidFill>
              <a:schemeClr val="tx2"/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提供應用系統的服務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建立管控機制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可提供資訊傳送、資料庫管理、 系統連結管理等服務</a:t>
          </a:r>
          <a:endParaRPr lang="en-US" altLang="zh-TW" sz="1800" b="1" kern="1200" dirty="0">
            <a:solidFill>
              <a:schemeClr val="tx1">
                <a:lumMod val="75000"/>
                <a:lumOff val="25000"/>
              </a:schemeClr>
            </a:solidFill>
            <a:latin typeface="微軟正黑體" panose="020B0604030504040204" pitchFamily="34" charset="-120"/>
            <a:ea typeface="微軟正黑體" panose="020B0604030504040204" pitchFamily="34" charset="-120"/>
          </a:endParaRP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18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rPr>
            <a:t>強化醫療區塊鏈的功能及服務項目</a:t>
          </a:r>
        </a:p>
      </dsp:txBody>
      <dsp:txXfrm>
        <a:off x="8001684" y="57944"/>
        <a:ext cx="3585060" cy="31905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56F87-A81A-4EDE-81AE-3C76F245D5E1}" type="datetimeFigureOut">
              <a:rPr lang="zh-CN" altLang="en-US" smtClean="0"/>
              <a:t>2018/7/27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DC7B0-EBAC-4569-9993-246641655C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002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1272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6168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215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2128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952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085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757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76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033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109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489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0087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689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1544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1523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20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0312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C7B0-EBAC-4569-9993-246641655C4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874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842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10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B3881-3AD9-4248-89BF-3585ADFDE6D3}" type="datetime1">
              <a:rPr lang="zh-TW" altLang="en-US" smtClean="0"/>
              <a:t>2018/7/27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區塊鏈商業應用概論 實例與分析／許孟祥 編著／新陸書局股份有限公司 發行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8A096-46F7-4F4A-8106-40B5A13C16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42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058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openxmlformats.org/officeDocument/2006/relationships/image" Target="../media/image9.png"/><Relationship Id="rId10" Type="http://schemas.openxmlformats.org/officeDocument/2006/relationships/diagramData" Target="../diagrams/data2.xml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11" Type="http://schemas.microsoft.com/office/2007/relationships/hdphoto" Target="../media/hdphoto1.wdp"/><Relationship Id="rId5" Type="http://schemas.openxmlformats.org/officeDocument/2006/relationships/image" Target="../media/image12.jpe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13" Type="http://schemas.microsoft.com/office/2007/relationships/diagramDrawing" Target="../diagrams/drawing4.xml"/><Relationship Id="rId1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diagramColors" Target="../diagrams/colors3.xml"/><Relationship Id="rId12" Type="http://schemas.openxmlformats.org/officeDocument/2006/relationships/diagramColors" Target="../diagrams/colors4.xml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3.xml"/><Relationship Id="rId11" Type="http://schemas.openxmlformats.org/officeDocument/2006/relationships/diagramQuickStyle" Target="../diagrams/quickStyle4.xml"/><Relationship Id="rId5" Type="http://schemas.openxmlformats.org/officeDocument/2006/relationships/diagramLayout" Target="../diagrams/layout3.xml"/><Relationship Id="rId15" Type="http://schemas.openxmlformats.org/officeDocument/2006/relationships/image" Target="../media/image19.png"/><Relationship Id="rId10" Type="http://schemas.openxmlformats.org/officeDocument/2006/relationships/diagramLayout" Target="../diagrams/layout4.xml"/><Relationship Id="rId19" Type="http://schemas.openxmlformats.org/officeDocument/2006/relationships/image" Target="../media/image23.png"/><Relationship Id="rId4" Type="http://schemas.openxmlformats.org/officeDocument/2006/relationships/diagramData" Target="../diagrams/data3.xml"/><Relationship Id="rId9" Type="http://schemas.openxmlformats.org/officeDocument/2006/relationships/diagramData" Target="../diagrams/data4.xml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10" Type="http://schemas.openxmlformats.org/officeDocument/2006/relationships/image" Target="../media/image30.jpg"/><Relationship Id="rId4" Type="http://schemas.openxmlformats.org/officeDocument/2006/relationships/image" Target="../media/image3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13" Type="http://schemas.microsoft.com/office/2007/relationships/diagramDrawing" Target="../diagrams/drawing6.xml"/><Relationship Id="rId18" Type="http://schemas.openxmlformats.org/officeDocument/2006/relationships/image" Target="../media/image34.png"/><Relationship Id="rId3" Type="http://schemas.openxmlformats.org/officeDocument/2006/relationships/image" Target="../media/image2.png"/><Relationship Id="rId21" Type="http://schemas.openxmlformats.org/officeDocument/2006/relationships/image" Target="../media/image35.png"/><Relationship Id="rId7" Type="http://schemas.openxmlformats.org/officeDocument/2006/relationships/diagramColors" Target="../diagrams/colors5.xml"/><Relationship Id="rId12" Type="http://schemas.openxmlformats.org/officeDocument/2006/relationships/diagramColors" Target="../diagrams/colors6.xml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2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5.xml"/><Relationship Id="rId11" Type="http://schemas.openxmlformats.org/officeDocument/2006/relationships/diagramQuickStyle" Target="../diagrams/quickStyle6.xml"/><Relationship Id="rId5" Type="http://schemas.openxmlformats.org/officeDocument/2006/relationships/diagramLayout" Target="../diagrams/layout5.xml"/><Relationship Id="rId15" Type="http://schemas.openxmlformats.org/officeDocument/2006/relationships/image" Target="../media/image31.png"/><Relationship Id="rId10" Type="http://schemas.openxmlformats.org/officeDocument/2006/relationships/diagramLayout" Target="../diagrams/layout6.xml"/><Relationship Id="rId19" Type="http://schemas.openxmlformats.org/officeDocument/2006/relationships/image" Target="../media/image17.png"/><Relationship Id="rId4" Type="http://schemas.openxmlformats.org/officeDocument/2006/relationships/diagramData" Target="../diagrams/data5.xml"/><Relationship Id="rId9" Type="http://schemas.openxmlformats.org/officeDocument/2006/relationships/diagramData" Target="../diagrams/data6.xml"/><Relationship Id="rId14" Type="http://schemas.openxmlformats.org/officeDocument/2006/relationships/image" Target="../media/image18.png"/><Relationship Id="rId22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g"/><Relationship Id="rId3" Type="http://schemas.openxmlformats.org/officeDocument/2006/relationships/image" Target="../media/image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10" Type="http://schemas.openxmlformats.org/officeDocument/2006/relationships/image" Target="../media/image45.png"/><Relationship Id="rId4" Type="http://schemas.openxmlformats.org/officeDocument/2006/relationships/image" Target="../media/image3.png"/><Relationship Id="rId9" Type="http://schemas.openxmlformats.org/officeDocument/2006/relationships/image" Target="../media/image4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7.xml"/><Relationship Id="rId11" Type="http://schemas.openxmlformats.org/officeDocument/2006/relationships/image" Target="../media/image3.png"/><Relationship Id="rId5" Type="http://schemas.openxmlformats.org/officeDocument/2006/relationships/diagramLayout" Target="../diagrams/layout7.xml"/><Relationship Id="rId10" Type="http://schemas.openxmlformats.org/officeDocument/2006/relationships/image" Target="../media/image50.png"/><Relationship Id="rId4" Type="http://schemas.openxmlformats.org/officeDocument/2006/relationships/diagramData" Target="../diagrams/data7.xml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Relationship Id="rId9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5" r="803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10745" y="2280980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zh-TW" altLang="en-US" sz="5400" b="1" dirty="0">
                <a:solidFill>
                  <a:schemeClr val="accent1"/>
                </a:solidFill>
              </a:rPr>
              <a:t>教育與醫療區塊鏈實務</a:t>
            </a:r>
          </a:p>
        </p:txBody>
      </p:sp>
      <p:sp>
        <p:nvSpPr>
          <p:cNvPr id="9" name="矩形 8"/>
          <p:cNvSpPr/>
          <p:nvPr/>
        </p:nvSpPr>
        <p:spPr>
          <a:xfrm>
            <a:off x="2386156" y="1678466"/>
            <a:ext cx="2220480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rgbClr val="4A5A6F"/>
                </a:solidFill>
              </a:rPr>
              <a:t>CHAPTER </a:t>
            </a:r>
            <a:r>
              <a:rPr lang="en-US" altLang="zh-TW" sz="2800" b="1" dirty="0">
                <a:solidFill>
                  <a:srgbClr val="4A5A6F"/>
                </a:solidFill>
              </a:rPr>
              <a:t>9</a:t>
            </a:r>
            <a:endParaRPr lang="zh-CN" altLang="en-US" sz="2800" b="1" dirty="0">
              <a:solidFill>
                <a:srgbClr val="4A5A6F"/>
              </a:solidFill>
            </a:endParaRPr>
          </a:p>
        </p:txBody>
      </p:sp>
      <p:sp>
        <p:nvSpPr>
          <p:cNvPr id="46" name="矩形 23"/>
          <p:cNvSpPr/>
          <p:nvPr/>
        </p:nvSpPr>
        <p:spPr>
          <a:xfrm>
            <a:off x="3329969" y="5032201"/>
            <a:ext cx="189597" cy="242711"/>
          </a:xfrm>
          <a:custGeom>
            <a:avLst/>
            <a:gdLst>
              <a:gd name="connsiteX0" fmla="*/ 11784 w 473070"/>
              <a:gd name="connsiteY0" fmla="*/ 563888 h 605592"/>
              <a:gd name="connsiteX1" fmla="*/ 461073 w 473070"/>
              <a:gd name="connsiteY1" fmla="*/ 563888 h 605592"/>
              <a:gd name="connsiteX2" fmla="*/ 461073 w 473070"/>
              <a:gd name="connsiteY2" fmla="*/ 605592 h 605592"/>
              <a:gd name="connsiteX3" fmla="*/ 11784 w 473070"/>
              <a:gd name="connsiteY3" fmla="*/ 605592 h 605592"/>
              <a:gd name="connsiteX4" fmla="*/ 11784 w 473070"/>
              <a:gd name="connsiteY4" fmla="*/ 500661 h 605592"/>
              <a:gd name="connsiteX5" fmla="*/ 461073 w 473070"/>
              <a:gd name="connsiteY5" fmla="*/ 500661 h 605592"/>
              <a:gd name="connsiteX6" fmla="*/ 461073 w 473070"/>
              <a:gd name="connsiteY6" fmla="*/ 542506 h 605592"/>
              <a:gd name="connsiteX7" fmla="*/ 11784 w 473070"/>
              <a:gd name="connsiteY7" fmla="*/ 542506 h 605592"/>
              <a:gd name="connsiteX8" fmla="*/ 365246 w 473070"/>
              <a:gd name="connsiteY8" fmla="*/ 196807 h 605592"/>
              <a:gd name="connsiteX9" fmla="*/ 407162 w 473070"/>
              <a:gd name="connsiteY9" fmla="*/ 196807 h 605592"/>
              <a:gd name="connsiteX10" fmla="*/ 407162 w 473070"/>
              <a:gd name="connsiteY10" fmla="*/ 467496 h 605592"/>
              <a:gd name="connsiteX11" fmla="*/ 365246 w 473070"/>
              <a:gd name="connsiteY11" fmla="*/ 467496 h 605592"/>
              <a:gd name="connsiteX12" fmla="*/ 215507 w 473070"/>
              <a:gd name="connsiteY12" fmla="*/ 196807 h 605592"/>
              <a:gd name="connsiteX13" fmla="*/ 257352 w 473070"/>
              <a:gd name="connsiteY13" fmla="*/ 196807 h 605592"/>
              <a:gd name="connsiteX14" fmla="*/ 257352 w 473070"/>
              <a:gd name="connsiteY14" fmla="*/ 467496 h 605592"/>
              <a:gd name="connsiteX15" fmla="*/ 215507 w 473070"/>
              <a:gd name="connsiteY15" fmla="*/ 467496 h 605592"/>
              <a:gd name="connsiteX16" fmla="*/ 65767 w 473070"/>
              <a:gd name="connsiteY16" fmla="*/ 196807 h 605592"/>
              <a:gd name="connsiteX17" fmla="*/ 107612 w 473070"/>
              <a:gd name="connsiteY17" fmla="*/ 196807 h 605592"/>
              <a:gd name="connsiteX18" fmla="*/ 107612 w 473070"/>
              <a:gd name="connsiteY18" fmla="*/ 467496 h 605592"/>
              <a:gd name="connsiteX19" fmla="*/ 65767 w 473070"/>
              <a:gd name="connsiteY19" fmla="*/ 467496 h 605592"/>
              <a:gd name="connsiteX20" fmla="*/ 236581 w 473070"/>
              <a:gd name="connsiteY20" fmla="*/ 0 h 605592"/>
              <a:gd name="connsiteX21" fmla="*/ 473070 w 473070"/>
              <a:gd name="connsiteY21" fmla="*/ 164833 h 605592"/>
              <a:gd name="connsiteX22" fmla="*/ 449115 w 473070"/>
              <a:gd name="connsiteY22" fmla="*/ 199135 h 605592"/>
              <a:gd name="connsiteX23" fmla="*/ 236303 w 473070"/>
              <a:gd name="connsiteY23" fmla="*/ 50711 h 605592"/>
              <a:gd name="connsiteX24" fmla="*/ 23491 w 473070"/>
              <a:gd name="connsiteY24" fmla="*/ 194963 h 605592"/>
              <a:gd name="connsiteX25" fmla="*/ 0 w 473070"/>
              <a:gd name="connsiteY25" fmla="*/ 160383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73070" h="605592">
                <a:moveTo>
                  <a:pt x="11784" y="563888"/>
                </a:moveTo>
                <a:lnTo>
                  <a:pt x="461073" y="563888"/>
                </a:lnTo>
                <a:lnTo>
                  <a:pt x="461073" y="605592"/>
                </a:lnTo>
                <a:lnTo>
                  <a:pt x="11784" y="605592"/>
                </a:lnTo>
                <a:close/>
                <a:moveTo>
                  <a:pt x="11784" y="500661"/>
                </a:moveTo>
                <a:lnTo>
                  <a:pt x="461073" y="500661"/>
                </a:lnTo>
                <a:lnTo>
                  <a:pt x="461073" y="542506"/>
                </a:lnTo>
                <a:lnTo>
                  <a:pt x="11784" y="542506"/>
                </a:lnTo>
                <a:close/>
                <a:moveTo>
                  <a:pt x="365246" y="196807"/>
                </a:moveTo>
                <a:lnTo>
                  <a:pt x="407162" y="196807"/>
                </a:lnTo>
                <a:lnTo>
                  <a:pt x="407162" y="467496"/>
                </a:lnTo>
                <a:lnTo>
                  <a:pt x="365246" y="467496"/>
                </a:lnTo>
                <a:close/>
                <a:moveTo>
                  <a:pt x="215507" y="196807"/>
                </a:moveTo>
                <a:lnTo>
                  <a:pt x="257352" y="196807"/>
                </a:lnTo>
                <a:lnTo>
                  <a:pt x="257352" y="467496"/>
                </a:lnTo>
                <a:lnTo>
                  <a:pt x="215507" y="467496"/>
                </a:lnTo>
                <a:close/>
                <a:moveTo>
                  <a:pt x="65767" y="196807"/>
                </a:moveTo>
                <a:lnTo>
                  <a:pt x="107612" y="196807"/>
                </a:lnTo>
                <a:lnTo>
                  <a:pt x="107612" y="467496"/>
                </a:lnTo>
                <a:lnTo>
                  <a:pt x="65767" y="467496"/>
                </a:lnTo>
                <a:close/>
                <a:moveTo>
                  <a:pt x="236581" y="0"/>
                </a:moveTo>
                <a:lnTo>
                  <a:pt x="473070" y="164833"/>
                </a:lnTo>
                <a:lnTo>
                  <a:pt x="449115" y="199135"/>
                </a:lnTo>
                <a:lnTo>
                  <a:pt x="236303" y="50711"/>
                </a:lnTo>
                <a:lnTo>
                  <a:pt x="23491" y="194963"/>
                </a:lnTo>
                <a:lnTo>
                  <a:pt x="0" y="16038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47" name="矩形 35"/>
          <p:cNvSpPr/>
          <p:nvPr/>
        </p:nvSpPr>
        <p:spPr>
          <a:xfrm>
            <a:off x="4863869" y="5032384"/>
            <a:ext cx="242711" cy="242344"/>
          </a:xfrm>
          <a:custGeom>
            <a:avLst/>
            <a:gdLst>
              <a:gd name="connsiteX0" fmla="*/ 303775 w 607639"/>
              <a:gd name="connsiteY0" fmla="*/ 525007 h 606722"/>
              <a:gd name="connsiteX1" fmla="*/ 315710 w 607639"/>
              <a:gd name="connsiteY1" fmla="*/ 536902 h 606722"/>
              <a:gd name="connsiteX2" fmla="*/ 315710 w 607639"/>
              <a:gd name="connsiteY2" fmla="*/ 552347 h 606722"/>
              <a:gd name="connsiteX3" fmla="*/ 303775 w 607639"/>
              <a:gd name="connsiteY3" fmla="*/ 564241 h 606722"/>
              <a:gd name="connsiteX4" fmla="*/ 291929 w 607639"/>
              <a:gd name="connsiteY4" fmla="*/ 552347 h 606722"/>
              <a:gd name="connsiteX5" fmla="*/ 291929 w 607639"/>
              <a:gd name="connsiteY5" fmla="*/ 536902 h 606722"/>
              <a:gd name="connsiteX6" fmla="*/ 303775 w 607639"/>
              <a:gd name="connsiteY6" fmla="*/ 525007 h 606722"/>
              <a:gd name="connsiteX7" fmla="*/ 429885 w 607639"/>
              <a:gd name="connsiteY7" fmla="*/ 509483 h 606722"/>
              <a:gd name="connsiteX8" fmla="*/ 441811 w 607639"/>
              <a:gd name="connsiteY8" fmla="*/ 521409 h 606722"/>
              <a:gd name="connsiteX9" fmla="*/ 429885 w 607639"/>
              <a:gd name="connsiteY9" fmla="*/ 533335 h 606722"/>
              <a:gd name="connsiteX10" fmla="*/ 417959 w 607639"/>
              <a:gd name="connsiteY10" fmla="*/ 521409 h 606722"/>
              <a:gd name="connsiteX11" fmla="*/ 429885 w 607639"/>
              <a:gd name="connsiteY11" fmla="*/ 509483 h 606722"/>
              <a:gd name="connsiteX12" fmla="*/ 177720 w 607639"/>
              <a:gd name="connsiteY12" fmla="*/ 509483 h 606722"/>
              <a:gd name="connsiteX13" fmla="*/ 189611 w 607639"/>
              <a:gd name="connsiteY13" fmla="*/ 521409 h 606722"/>
              <a:gd name="connsiteX14" fmla="*/ 177720 w 607639"/>
              <a:gd name="connsiteY14" fmla="*/ 533335 h 606722"/>
              <a:gd name="connsiteX15" fmla="*/ 165829 w 607639"/>
              <a:gd name="connsiteY15" fmla="*/ 521409 h 606722"/>
              <a:gd name="connsiteX16" fmla="*/ 177720 w 607639"/>
              <a:gd name="connsiteY16" fmla="*/ 509483 h 606722"/>
              <a:gd name="connsiteX17" fmla="*/ 522185 w 607639"/>
              <a:gd name="connsiteY17" fmla="*/ 417324 h 606722"/>
              <a:gd name="connsiteX18" fmla="*/ 534111 w 607639"/>
              <a:gd name="connsiteY18" fmla="*/ 429250 h 606722"/>
              <a:gd name="connsiteX19" fmla="*/ 522185 w 607639"/>
              <a:gd name="connsiteY19" fmla="*/ 441176 h 606722"/>
              <a:gd name="connsiteX20" fmla="*/ 510259 w 607639"/>
              <a:gd name="connsiteY20" fmla="*/ 429250 h 606722"/>
              <a:gd name="connsiteX21" fmla="*/ 522185 w 607639"/>
              <a:gd name="connsiteY21" fmla="*/ 417324 h 606722"/>
              <a:gd name="connsiteX22" fmla="*/ 85420 w 607639"/>
              <a:gd name="connsiteY22" fmla="*/ 417324 h 606722"/>
              <a:gd name="connsiteX23" fmla="*/ 97311 w 607639"/>
              <a:gd name="connsiteY23" fmla="*/ 429250 h 606722"/>
              <a:gd name="connsiteX24" fmla="*/ 85420 w 607639"/>
              <a:gd name="connsiteY24" fmla="*/ 441176 h 606722"/>
              <a:gd name="connsiteX25" fmla="*/ 73529 w 607639"/>
              <a:gd name="connsiteY25" fmla="*/ 429250 h 606722"/>
              <a:gd name="connsiteX26" fmla="*/ 85420 w 607639"/>
              <a:gd name="connsiteY26" fmla="*/ 417324 h 606722"/>
              <a:gd name="connsiteX27" fmla="*/ 537643 w 607639"/>
              <a:gd name="connsiteY27" fmla="*/ 291506 h 606722"/>
              <a:gd name="connsiteX28" fmla="*/ 555628 w 607639"/>
              <a:gd name="connsiteY28" fmla="*/ 291506 h 606722"/>
              <a:gd name="connsiteX29" fmla="*/ 567558 w 607639"/>
              <a:gd name="connsiteY29" fmla="*/ 303316 h 606722"/>
              <a:gd name="connsiteX30" fmla="*/ 555628 w 607639"/>
              <a:gd name="connsiteY30" fmla="*/ 315216 h 606722"/>
              <a:gd name="connsiteX31" fmla="*/ 537643 w 607639"/>
              <a:gd name="connsiteY31" fmla="*/ 315216 h 606722"/>
              <a:gd name="connsiteX32" fmla="*/ 525713 w 607639"/>
              <a:gd name="connsiteY32" fmla="*/ 303316 h 606722"/>
              <a:gd name="connsiteX33" fmla="*/ 537643 w 607639"/>
              <a:gd name="connsiteY33" fmla="*/ 291506 h 606722"/>
              <a:gd name="connsiteX34" fmla="*/ 51991 w 607639"/>
              <a:gd name="connsiteY34" fmla="*/ 291506 h 606722"/>
              <a:gd name="connsiteX35" fmla="*/ 69946 w 607639"/>
              <a:gd name="connsiteY35" fmla="*/ 291506 h 606722"/>
              <a:gd name="connsiteX36" fmla="*/ 81856 w 607639"/>
              <a:gd name="connsiteY36" fmla="*/ 303316 h 606722"/>
              <a:gd name="connsiteX37" fmla="*/ 69946 w 607639"/>
              <a:gd name="connsiteY37" fmla="*/ 315216 h 606722"/>
              <a:gd name="connsiteX38" fmla="*/ 51991 w 607639"/>
              <a:gd name="connsiteY38" fmla="*/ 315216 h 606722"/>
              <a:gd name="connsiteX39" fmla="*/ 40081 w 607639"/>
              <a:gd name="connsiteY39" fmla="*/ 303316 h 606722"/>
              <a:gd name="connsiteX40" fmla="*/ 51991 w 607639"/>
              <a:gd name="connsiteY40" fmla="*/ 291506 h 606722"/>
              <a:gd name="connsiteX41" fmla="*/ 412608 w 607639"/>
              <a:gd name="connsiteY41" fmla="*/ 222096 h 606722"/>
              <a:gd name="connsiteX42" fmla="*/ 345491 w 607639"/>
              <a:gd name="connsiteY42" fmla="*/ 334245 h 606722"/>
              <a:gd name="connsiteX43" fmla="*/ 412608 w 607639"/>
              <a:gd name="connsiteY43" fmla="*/ 334245 h 606722"/>
              <a:gd name="connsiteX44" fmla="*/ 427651 w 607639"/>
              <a:gd name="connsiteY44" fmla="*/ 167533 h 606722"/>
              <a:gd name="connsiteX45" fmla="*/ 436375 w 607639"/>
              <a:gd name="connsiteY45" fmla="*/ 178996 h 606722"/>
              <a:gd name="connsiteX46" fmla="*/ 436375 w 607639"/>
              <a:gd name="connsiteY46" fmla="*/ 334245 h 606722"/>
              <a:gd name="connsiteX47" fmla="*/ 469399 w 607639"/>
              <a:gd name="connsiteY47" fmla="*/ 334245 h 606722"/>
              <a:gd name="connsiteX48" fmla="*/ 481327 w 607639"/>
              <a:gd name="connsiteY48" fmla="*/ 346153 h 606722"/>
              <a:gd name="connsiteX49" fmla="*/ 469399 w 607639"/>
              <a:gd name="connsiteY49" fmla="*/ 357973 h 606722"/>
              <a:gd name="connsiteX50" fmla="*/ 436375 w 607639"/>
              <a:gd name="connsiteY50" fmla="*/ 357973 h 606722"/>
              <a:gd name="connsiteX51" fmla="*/ 436375 w 607639"/>
              <a:gd name="connsiteY51" fmla="*/ 427733 h 606722"/>
              <a:gd name="connsiteX52" fmla="*/ 424536 w 607639"/>
              <a:gd name="connsiteY52" fmla="*/ 439552 h 606722"/>
              <a:gd name="connsiteX53" fmla="*/ 412608 w 607639"/>
              <a:gd name="connsiteY53" fmla="*/ 427733 h 606722"/>
              <a:gd name="connsiteX54" fmla="*/ 412608 w 607639"/>
              <a:gd name="connsiteY54" fmla="*/ 357973 h 606722"/>
              <a:gd name="connsiteX55" fmla="*/ 324573 w 607639"/>
              <a:gd name="connsiteY55" fmla="*/ 357973 h 606722"/>
              <a:gd name="connsiteX56" fmla="*/ 314158 w 607639"/>
              <a:gd name="connsiteY56" fmla="*/ 352019 h 606722"/>
              <a:gd name="connsiteX57" fmla="*/ 314336 w 607639"/>
              <a:gd name="connsiteY57" fmla="*/ 340022 h 606722"/>
              <a:gd name="connsiteX58" fmla="*/ 414299 w 607639"/>
              <a:gd name="connsiteY58" fmla="*/ 172953 h 606722"/>
              <a:gd name="connsiteX59" fmla="*/ 427651 w 607639"/>
              <a:gd name="connsiteY59" fmla="*/ 167533 h 606722"/>
              <a:gd name="connsiteX60" fmla="*/ 216270 w 607639"/>
              <a:gd name="connsiteY60" fmla="*/ 167099 h 606722"/>
              <a:gd name="connsiteX61" fmla="*/ 290518 w 607639"/>
              <a:gd name="connsiteY61" fmla="*/ 241210 h 606722"/>
              <a:gd name="connsiteX62" fmla="*/ 242978 w 607639"/>
              <a:gd name="connsiteY62" fmla="*/ 355754 h 606722"/>
              <a:gd name="connsiteX63" fmla="*/ 182707 w 607639"/>
              <a:gd name="connsiteY63" fmla="*/ 415825 h 606722"/>
              <a:gd name="connsiteX64" fmla="*/ 278588 w 607639"/>
              <a:gd name="connsiteY64" fmla="*/ 415825 h 606722"/>
              <a:gd name="connsiteX65" fmla="*/ 290518 w 607639"/>
              <a:gd name="connsiteY65" fmla="*/ 427734 h 606722"/>
              <a:gd name="connsiteX66" fmla="*/ 278588 w 607639"/>
              <a:gd name="connsiteY66" fmla="*/ 439552 h 606722"/>
              <a:gd name="connsiteX67" fmla="*/ 154040 w 607639"/>
              <a:gd name="connsiteY67" fmla="*/ 439552 h 606722"/>
              <a:gd name="connsiteX68" fmla="*/ 143001 w 607639"/>
              <a:gd name="connsiteY68" fmla="*/ 432265 h 606722"/>
              <a:gd name="connsiteX69" fmla="*/ 145582 w 607639"/>
              <a:gd name="connsiteY69" fmla="*/ 419292 h 606722"/>
              <a:gd name="connsiteX70" fmla="*/ 226152 w 607639"/>
              <a:gd name="connsiteY70" fmla="*/ 338959 h 606722"/>
              <a:gd name="connsiteX71" fmla="*/ 266659 w 607639"/>
              <a:gd name="connsiteY71" fmla="*/ 241210 h 606722"/>
              <a:gd name="connsiteX72" fmla="*/ 216270 w 607639"/>
              <a:gd name="connsiteY72" fmla="*/ 190914 h 606722"/>
              <a:gd name="connsiteX73" fmla="*/ 165880 w 607639"/>
              <a:gd name="connsiteY73" fmla="*/ 241210 h 606722"/>
              <a:gd name="connsiteX74" fmla="*/ 154040 w 607639"/>
              <a:gd name="connsiteY74" fmla="*/ 253029 h 606722"/>
              <a:gd name="connsiteX75" fmla="*/ 142110 w 607639"/>
              <a:gd name="connsiteY75" fmla="*/ 241210 h 606722"/>
              <a:gd name="connsiteX76" fmla="*/ 216270 w 607639"/>
              <a:gd name="connsiteY76" fmla="*/ 167099 h 606722"/>
              <a:gd name="connsiteX77" fmla="*/ 522185 w 607639"/>
              <a:gd name="connsiteY77" fmla="*/ 165547 h 606722"/>
              <a:gd name="connsiteX78" fmla="*/ 534111 w 607639"/>
              <a:gd name="connsiteY78" fmla="*/ 177438 h 606722"/>
              <a:gd name="connsiteX79" fmla="*/ 522185 w 607639"/>
              <a:gd name="connsiteY79" fmla="*/ 189329 h 606722"/>
              <a:gd name="connsiteX80" fmla="*/ 510259 w 607639"/>
              <a:gd name="connsiteY80" fmla="*/ 177438 h 606722"/>
              <a:gd name="connsiteX81" fmla="*/ 522185 w 607639"/>
              <a:gd name="connsiteY81" fmla="*/ 165547 h 606722"/>
              <a:gd name="connsiteX82" fmla="*/ 85420 w 607639"/>
              <a:gd name="connsiteY82" fmla="*/ 165547 h 606722"/>
              <a:gd name="connsiteX83" fmla="*/ 97311 w 607639"/>
              <a:gd name="connsiteY83" fmla="*/ 177438 h 606722"/>
              <a:gd name="connsiteX84" fmla="*/ 85420 w 607639"/>
              <a:gd name="connsiteY84" fmla="*/ 189329 h 606722"/>
              <a:gd name="connsiteX85" fmla="*/ 73529 w 607639"/>
              <a:gd name="connsiteY85" fmla="*/ 177438 h 606722"/>
              <a:gd name="connsiteX86" fmla="*/ 85420 w 607639"/>
              <a:gd name="connsiteY86" fmla="*/ 165547 h 606722"/>
              <a:gd name="connsiteX87" fmla="*/ 429885 w 607639"/>
              <a:gd name="connsiteY87" fmla="*/ 73388 h 606722"/>
              <a:gd name="connsiteX88" fmla="*/ 441811 w 607639"/>
              <a:gd name="connsiteY88" fmla="*/ 85279 h 606722"/>
              <a:gd name="connsiteX89" fmla="*/ 429885 w 607639"/>
              <a:gd name="connsiteY89" fmla="*/ 97170 h 606722"/>
              <a:gd name="connsiteX90" fmla="*/ 417959 w 607639"/>
              <a:gd name="connsiteY90" fmla="*/ 85279 h 606722"/>
              <a:gd name="connsiteX91" fmla="*/ 429885 w 607639"/>
              <a:gd name="connsiteY91" fmla="*/ 73388 h 606722"/>
              <a:gd name="connsiteX92" fmla="*/ 177720 w 607639"/>
              <a:gd name="connsiteY92" fmla="*/ 73388 h 606722"/>
              <a:gd name="connsiteX93" fmla="*/ 189611 w 607639"/>
              <a:gd name="connsiteY93" fmla="*/ 85279 h 606722"/>
              <a:gd name="connsiteX94" fmla="*/ 177720 w 607639"/>
              <a:gd name="connsiteY94" fmla="*/ 97170 h 606722"/>
              <a:gd name="connsiteX95" fmla="*/ 165829 w 607639"/>
              <a:gd name="connsiteY95" fmla="*/ 85279 h 606722"/>
              <a:gd name="connsiteX96" fmla="*/ 177720 w 607639"/>
              <a:gd name="connsiteY96" fmla="*/ 73388 h 606722"/>
              <a:gd name="connsiteX97" fmla="*/ 303775 w 607639"/>
              <a:gd name="connsiteY97" fmla="*/ 42480 h 606722"/>
              <a:gd name="connsiteX98" fmla="*/ 315710 w 607639"/>
              <a:gd name="connsiteY98" fmla="*/ 54396 h 606722"/>
              <a:gd name="connsiteX99" fmla="*/ 315710 w 607639"/>
              <a:gd name="connsiteY99" fmla="*/ 69869 h 606722"/>
              <a:gd name="connsiteX100" fmla="*/ 303775 w 607639"/>
              <a:gd name="connsiteY100" fmla="*/ 81785 h 606722"/>
              <a:gd name="connsiteX101" fmla="*/ 291929 w 607639"/>
              <a:gd name="connsiteY101" fmla="*/ 69869 h 606722"/>
              <a:gd name="connsiteX102" fmla="*/ 291929 w 607639"/>
              <a:gd name="connsiteY102" fmla="*/ 54396 h 606722"/>
              <a:gd name="connsiteX103" fmla="*/ 303775 w 607639"/>
              <a:gd name="connsiteY103" fmla="*/ 42480 h 606722"/>
              <a:gd name="connsiteX104" fmla="*/ 303775 w 607639"/>
              <a:gd name="connsiteY104" fmla="*/ 0 h 606722"/>
              <a:gd name="connsiteX105" fmla="*/ 537058 w 607639"/>
              <a:gd name="connsiteY105" fmla="*/ 108956 h 606722"/>
              <a:gd name="connsiteX106" fmla="*/ 537058 w 607639"/>
              <a:gd name="connsiteY106" fmla="*/ 93048 h 606722"/>
              <a:gd name="connsiteX107" fmla="*/ 548895 w 607639"/>
              <a:gd name="connsiteY107" fmla="*/ 81139 h 606722"/>
              <a:gd name="connsiteX108" fmla="*/ 560822 w 607639"/>
              <a:gd name="connsiteY108" fmla="*/ 93048 h 606722"/>
              <a:gd name="connsiteX109" fmla="*/ 560822 w 607639"/>
              <a:gd name="connsiteY109" fmla="*/ 138994 h 606722"/>
              <a:gd name="connsiteX110" fmla="*/ 548895 w 607639"/>
              <a:gd name="connsiteY110" fmla="*/ 150903 h 606722"/>
              <a:gd name="connsiteX111" fmla="*/ 502880 w 607639"/>
              <a:gd name="connsiteY111" fmla="*/ 150903 h 606722"/>
              <a:gd name="connsiteX112" fmla="*/ 490953 w 607639"/>
              <a:gd name="connsiteY112" fmla="*/ 138994 h 606722"/>
              <a:gd name="connsiteX113" fmla="*/ 502880 w 607639"/>
              <a:gd name="connsiteY113" fmla="*/ 127174 h 606722"/>
              <a:gd name="connsiteX114" fmla="*/ 521126 w 607639"/>
              <a:gd name="connsiteY114" fmla="*/ 127174 h 606722"/>
              <a:gd name="connsiteX115" fmla="*/ 303775 w 607639"/>
              <a:gd name="connsiteY115" fmla="*/ 23728 h 606722"/>
              <a:gd name="connsiteX116" fmla="*/ 23764 w 607639"/>
              <a:gd name="connsiteY116" fmla="*/ 303316 h 606722"/>
              <a:gd name="connsiteX117" fmla="*/ 303775 w 607639"/>
              <a:gd name="connsiteY117" fmla="*/ 582905 h 606722"/>
              <a:gd name="connsiteX118" fmla="*/ 583786 w 607639"/>
              <a:gd name="connsiteY118" fmla="*/ 303316 h 606722"/>
              <a:gd name="connsiteX119" fmla="*/ 573906 w 607639"/>
              <a:gd name="connsiteY119" fmla="*/ 229376 h 606722"/>
              <a:gd name="connsiteX120" fmla="*/ 582273 w 607639"/>
              <a:gd name="connsiteY120" fmla="*/ 214801 h 606722"/>
              <a:gd name="connsiteX121" fmla="*/ 596869 w 607639"/>
              <a:gd name="connsiteY121" fmla="*/ 223066 h 606722"/>
              <a:gd name="connsiteX122" fmla="*/ 607639 w 607639"/>
              <a:gd name="connsiteY122" fmla="*/ 303316 h 606722"/>
              <a:gd name="connsiteX123" fmla="*/ 303775 w 607639"/>
              <a:gd name="connsiteY123" fmla="*/ 606722 h 606722"/>
              <a:gd name="connsiteX124" fmla="*/ 0 w 607639"/>
              <a:gd name="connsiteY124" fmla="*/ 303316 h 606722"/>
              <a:gd name="connsiteX125" fmla="*/ 303775 w 607639"/>
              <a:gd name="connsiteY125" fmla="*/ 0 h 606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607639" h="606722">
                <a:moveTo>
                  <a:pt x="303775" y="525007"/>
                </a:moveTo>
                <a:cubicBezTo>
                  <a:pt x="310366" y="525007"/>
                  <a:pt x="315710" y="530333"/>
                  <a:pt x="315710" y="536902"/>
                </a:cubicBezTo>
                <a:lnTo>
                  <a:pt x="315710" y="552347"/>
                </a:lnTo>
                <a:cubicBezTo>
                  <a:pt x="315710" y="558915"/>
                  <a:pt x="310366" y="564241"/>
                  <a:pt x="303775" y="564241"/>
                </a:cubicBezTo>
                <a:cubicBezTo>
                  <a:pt x="297184" y="564241"/>
                  <a:pt x="291929" y="558915"/>
                  <a:pt x="291929" y="552347"/>
                </a:cubicBezTo>
                <a:lnTo>
                  <a:pt x="291929" y="536902"/>
                </a:lnTo>
                <a:cubicBezTo>
                  <a:pt x="291929" y="530333"/>
                  <a:pt x="297184" y="525007"/>
                  <a:pt x="303775" y="525007"/>
                </a:cubicBezTo>
                <a:close/>
                <a:moveTo>
                  <a:pt x="429885" y="509483"/>
                </a:moveTo>
                <a:cubicBezTo>
                  <a:pt x="436472" y="509483"/>
                  <a:pt x="441811" y="514822"/>
                  <a:pt x="441811" y="521409"/>
                </a:cubicBezTo>
                <a:cubicBezTo>
                  <a:pt x="441811" y="527996"/>
                  <a:pt x="436472" y="533335"/>
                  <a:pt x="429885" y="533335"/>
                </a:cubicBezTo>
                <a:cubicBezTo>
                  <a:pt x="423298" y="533335"/>
                  <a:pt x="417959" y="527996"/>
                  <a:pt x="417959" y="521409"/>
                </a:cubicBezTo>
                <a:cubicBezTo>
                  <a:pt x="417959" y="514822"/>
                  <a:pt x="423298" y="509483"/>
                  <a:pt x="429885" y="509483"/>
                </a:cubicBezTo>
                <a:close/>
                <a:moveTo>
                  <a:pt x="177720" y="509483"/>
                </a:moveTo>
                <a:cubicBezTo>
                  <a:pt x="184287" y="509483"/>
                  <a:pt x="189611" y="514822"/>
                  <a:pt x="189611" y="521409"/>
                </a:cubicBezTo>
                <a:cubicBezTo>
                  <a:pt x="189611" y="527996"/>
                  <a:pt x="184287" y="533335"/>
                  <a:pt x="177720" y="533335"/>
                </a:cubicBezTo>
                <a:cubicBezTo>
                  <a:pt x="171153" y="533335"/>
                  <a:pt x="165829" y="527996"/>
                  <a:pt x="165829" y="521409"/>
                </a:cubicBezTo>
                <a:cubicBezTo>
                  <a:pt x="165829" y="514822"/>
                  <a:pt x="171153" y="509483"/>
                  <a:pt x="177720" y="509483"/>
                </a:cubicBezTo>
                <a:close/>
                <a:moveTo>
                  <a:pt x="522185" y="417324"/>
                </a:moveTo>
                <a:cubicBezTo>
                  <a:pt x="528772" y="417324"/>
                  <a:pt x="534111" y="422663"/>
                  <a:pt x="534111" y="429250"/>
                </a:cubicBezTo>
                <a:cubicBezTo>
                  <a:pt x="534111" y="435837"/>
                  <a:pt x="528772" y="441176"/>
                  <a:pt x="522185" y="441176"/>
                </a:cubicBezTo>
                <a:cubicBezTo>
                  <a:pt x="515598" y="441176"/>
                  <a:pt x="510259" y="435837"/>
                  <a:pt x="510259" y="429250"/>
                </a:cubicBezTo>
                <a:cubicBezTo>
                  <a:pt x="510259" y="422663"/>
                  <a:pt x="515598" y="417324"/>
                  <a:pt x="522185" y="417324"/>
                </a:cubicBezTo>
                <a:close/>
                <a:moveTo>
                  <a:pt x="85420" y="417324"/>
                </a:moveTo>
                <a:cubicBezTo>
                  <a:pt x="91987" y="417324"/>
                  <a:pt x="97311" y="422663"/>
                  <a:pt x="97311" y="429250"/>
                </a:cubicBezTo>
                <a:cubicBezTo>
                  <a:pt x="97311" y="435837"/>
                  <a:pt x="91987" y="441176"/>
                  <a:pt x="85420" y="441176"/>
                </a:cubicBezTo>
                <a:cubicBezTo>
                  <a:pt x="78853" y="441176"/>
                  <a:pt x="73529" y="435837"/>
                  <a:pt x="73529" y="429250"/>
                </a:cubicBezTo>
                <a:cubicBezTo>
                  <a:pt x="73529" y="422663"/>
                  <a:pt x="78853" y="417324"/>
                  <a:pt x="85420" y="417324"/>
                </a:cubicBezTo>
                <a:close/>
                <a:moveTo>
                  <a:pt x="537643" y="291506"/>
                </a:moveTo>
                <a:lnTo>
                  <a:pt x="555628" y="291506"/>
                </a:lnTo>
                <a:cubicBezTo>
                  <a:pt x="562216" y="291506"/>
                  <a:pt x="567558" y="296745"/>
                  <a:pt x="567558" y="303316"/>
                </a:cubicBezTo>
                <a:cubicBezTo>
                  <a:pt x="567558" y="309888"/>
                  <a:pt x="562216" y="315216"/>
                  <a:pt x="555628" y="315216"/>
                </a:cubicBezTo>
                <a:lnTo>
                  <a:pt x="537643" y="315216"/>
                </a:lnTo>
                <a:cubicBezTo>
                  <a:pt x="531055" y="315216"/>
                  <a:pt x="525713" y="309888"/>
                  <a:pt x="525713" y="303316"/>
                </a:cubicBezTo>
                <a:cubicBezTo>
                  <a:pt x="525713" y="296745"/>
                  <a:pt x="531055" y="291506"/>
                  <a:pt x="537643" y="291506"/>
                </a:cubicBezTo>
                <a:close/>
                <a:moveTo>
                  <a:pt x="51991" y="291506"/>
                </a:moveTo>
                <a:lnTo>
                  <a:pt x="69946" y="291506"/>
                </a:lnTo>
                <a:cubicBezTo>
                  <a:pt x="76523" y="291506"/>
                  <a:pt x="81856" y="296745"/>
                  <a:pt x="81856" y="303316"/>
                </a:cubicBezTo>
                <a:cubicBezTo>
                  <a:pt x="81856" y="309888"/>
                  <a:pt x="76523" y="315216"/>
                  <a:pt x="69946" y="315216"/>
                </a:cubicBezTo>
                <a:lnTo>
                  <a:pt x="51991" y="315216"/>
                </a:lnTo>
                <a:cubicBezTo>
                  <a:pt x="45414" y="315216"/>
                  <a:pt x="40081" y="309888"/>
                  <a:pt x="40081" y="303316"/>
                </a:cubicBezTo>
                <a:cubicBezTo>
                  <a:pt x="40081" y="296745"/>
                  <a:pt x="45414" y="291506"/>
                  <a:pt x="51991" y="291506"/>
                </a:cubicBezTo>
                <a:close/>
                <a:moveTo>
                  <a:pt x="412608" y="222096"/>
                </a:moveTo>
                <a:lnTo>
                  <a:pt x="345491" y="334245"/>
                </a:lnTo>
                <a:lnTo>
                  <a:pt x="412608" y="334245"/>
                </a:lnTo>
                <a:close/>
                <a:moveTo>
                  <a:pt x="427651" y="167533"/>
                </a:moveTo>
                <a:cubicBezTo>
                  <a:pt x="432814" y="168954"/>
                  <a:pt x="436375" y="173664"/>
                  <a:pt x="436375" y="178996"/>
                </a:cubicBezTo>
                <a:lnTo>
                  <a:pt x="436375" y="334245"/>
                </a:lnTo>
                <a:lnTo>
                  <a:pt x="469399" y="334245"/>
                </a:lnTo>
                <a:cubicBezTo>
                  <a:pt x="475986" y="334245"/>
                  <a:pt x="481327" y="339577"/>
                  <a:pt x="481327" y="346153"/>
                </a:cubicBezTo>
                <a:cubicBezTo>
                  <a:pt x="481327" y="352641"/>
                  <a:pt x="475986" y="357973"/>
                  <a:pt x="469399" y="357973"/>
                </a:cubicBezTo>
                <a:lnTo>
                  <a:pt x="436375" y="357973"/>
                </a:lnTo>
                <a:lnTo>
                  <a:pt x="436375" y="427733"/>
                </a:lnTo>
                <a:cubicBezTo>
                  <a:pt x="436375" y="434220"/>
                  <a:pt x="431123" y="439552"/>
                  <a:pt x="424536" y="439552"/>
                </a:cubicBezTo>
                <a:cubicBezTo>
                  <a:pt x="417949" y="439552"/>
                  <a:pt x="412608" y="434220"/>
                  <a:pt x="412608" y="427733"/>
                </a:cubicBezTo>
                <a:lnTo>
                  <a:pt x="412608" y="357973"/>
                </a:lnTo>
                <a:lnTo>
                  <a:pt x="324573" y="357973"/>
                </a:lnTo>
                <a:cubicBezTo>
                  <a:pt x="320300" y="357973"/>
                  <a:pt x="316295" y="355662"/>
                  <a:pt x="314158" y="352019"/>
                </a:cubicBezTo>
                <a:cubicBezTo>
                  <a:pt x="312111" y="348286"/>
                  <a:pt x="312111" y="343665"/>
                  <a:pt x="314336" y="340022"/>
                </a:cubicBezTo>
                <a:lnTo>
                  <a:pt x="414299" y="172953"/>
                </a:lnTo>
                <a:cubicBezTo>
                  <a:pt x="417059" y="168332"/>
                  <a:pt x="422489" y="166111"/>
                  <a:pt x="427651" y="167533"/>
                </a:cubicBezTo>
                <a:close/>
                <a:moveTo>
                  <a:pt x="216270" y="167099"/>
                </a:moveTo>
                <a:cubicBezTo>
                  <a:pt x="257222" y="167099"/>
                  <a:pt x="290518" y="200333"/>
                  <a:pt x="290518" y="241210"/>
                </a:cubicBezTo>
                <a:cubicBezTo>
                  <a:pt x="290518" y="284486"/>
                  <a:pt x="273603" y="325097"/>
                  <a:pt x="242978" y="355754"/>
                </a:cubicBezTo>
                <a:lnTo>
                  <a:pt x="182707" y="415825"/>
                </a:lnTo>
                <a:lnTo>
                  <a:pt x="278588" y="415825"/>
                </a:lnTo>
                <a:cubicBezTo>
                  <a:pt x="285176" y="415825"/>
                  <a:pt x="290518" y="421158"/>
                  <a:pt x="290518" y="427734"/>
                </a:cubicBezTo>
                <a:cubicBezTo>
                  <a:pt x="290518" y="434220"/>
                  <a:pt x="285176" y="439552"/>
                  <a:pt x="278588" y="439552"/>
                </a:cubicBezTo>
                <a:lnTo>
                  <a:pt x="154040" y="439552"/>
                </a:lnTo>
                <a:cubicBezTo>
                  <a:pt x="149232" y="439552"/>
                  <a:pt x="144870" y="436709"/>
                  <a:pt x="143001" y="432265"/>
                </a:cubicBezTo>
                <a:cubicBezTo>
                  <a:pt x="141131" y="427822"/>
                  <a:pt x="142199" y="422668"/>
                  <a:pt x="145582" y="419292"/>
                </a:cubicBezTo>
                <a:lnTo>
                  <a:pt x="226152" y="338959"/>
                </a:lnTo>
                <a:cubicBezTo>
                  <a:pt x="252236" y="312834"/>
                  <a:pt x="266659" y="278088"/>
                  <a:pt x="266659" y="241210"/>
                </a:cubicBezTo>
                <a:cubicBezTo>
                  <a:pt x="266659" y="213485"/>
                  <a:pt x="244046" y="190914"/>
                  <a:pt x="216270" y="190914"/>
                </a:cubicBezTo>
                <a:cubicBezTo>
                  <a:pt x="188493" y="190914"/>
                  <a:pt x="165880" y="213485"/>
                  <a:pt x="165880" y="241210"/>
                </a:cubicBezTo>
                <a:cubicBezTo>
                  <a:pt x="165880" y="247786"/>
                  <a:pt x="160539" y="253029"/>
                  <a:pt x="154040" y="253029"/>
                </a:cubicBezTo>
                <a:cubicBezTo>
                  <a:pt x="147452" y="253029"/>
                  <a:pt x="142110" y="247786"/>
                  <a:pt x="142110" y="241210"/>
                </a:cubicBezTo>
                <a:cubicBezTo>
                  <a:pt x="142110" y="200333"/>
                  <a:pt x="175406" y="167099"/>
                  <a:pt x="216270" y="167099"/>
                </a:cubicBezTo>
                <a:close/>
                <a:moveTo>
                  <a:pt x="522185" y="165547"/>
                </a:moveTo>
                <a:cubicBezTo>
                  <a:pt x="528772" y="165547"/>
                  <a:pt x="534111" y="170871"/>
                  <a:pt x="534111" y="177438"/>
                </a:cubicBezTo>
                <a:cubicBezTo>
                  <a:pt x="534111" y="184005"/>
                  <a:pt x="528772" y="189329"/>
                  <a:pt x="522185" y="189329"/>
                </a:cubicBezTo>
                <a:cubicBezTo>
                  <a:pt x="515598" y="189329"/>
                  <a:pt x="510259" y="184005"/>
                  <a:pt x="510259" y="177438"/>
                </a:cubicBezTo>
                <a:cubicBezTo>
                  <a:pt x="510259" y="170871"/>
                  <a:pt x="515598" y="165547"/>
                  <a:pt x="522185" y="165547"/>
                </a:cubicBezTo>
                <a:close/>
                <a:moveTo>
                  <a:pt x="85420" y="165547"/>
                </a:moveTo>
                <a:cubicBezTo>
                  <a:pt x="91987" y="165547"/>
                  <a:pt x="97311" y="170871"/>
                  <a:pt x="97311" y="177438"/>
                </a:cubicBezTo>
                <a:cubicBezTo>
                  <a:pt x="97311" y="184005"/>
                  <a:pt x="91987" y="189329"/>
                  <a:pt x="85420" y="189329"/>
                </a:cubicBezTo>
                <a:cubicBezTo>
                  <a:pt x="78853" y="189329"/>
                  <a:pt x="73529" y="184005"/>
                  <a:pt x="73529" y="177438"/>
                </a:cubicBezTo>
                <a:cubicBezTo>
                  <a:pt x="73529" y="170871"/>
                  <a:pt x="78853" y="165547"/>
                  <a:pt x="85420" y="165547"/>
                </a:cubicBezTo>
                <a:close/>
                <a:moveTo>
                  <a:pt x="429885" y="73388"/>
                </a:moveTo>
                <a:cubicBezTo>
                  <a:pt x="436472" y="73388"/>
                  <a:pt x="441811" y="78712"/>
                  <a:pt x="441811" y="85279"/>
                </a:cubicBezTo>
                <a:cubicBezTo>
                  <a:pt x="441811" y="91846"/>
                  <a:pt x="436472" y="97170"/>
                  <a:pt x="429885" y="97170"/>
                </a:cubicBezTo>
                <a:cubicBezTo>
                  <a:pt x="423298" y="97170"/>
                  <a:pt x="417959" y="91846"/>
                  <a:pt x="417959" y="85279"/>
                </a:cubicBezTo>
                <a:cubicBezTo>
                  <a:pt x="417959" y="78712"/>
                  <a:pt x="423298" y="73388"/>
                  <a:pt x="429885" y="73388"/>
                </a:cubicBezTo>
                <a:close/>
                <a:moveTo>
                  <a:pt x="177720" y="73388"/>
                </a:moveTo>
                <a:cubicBezTo>
                  <a:pt x="184287" y="73388"/>
                  <a:pt x="189611" y="78712"/>
                  <a:pt x="189611" y="85279"/>
                </a:cubicBezTo>
                <a:cubicBezTo>
                  <a:pt x="189611" y="91846"/>
                  <a:pt x="184287" y="97170"/>
                  <a:pt x="177720" y="97170"/>
                </a:cubicBezTo>
                <a:cubicBezTo>
                  <a:pt x="171153" y="97170"/>
                  <a:pt x="165829" y="91846"/>
                  <a:pt x="165829" y="85279"/>
                </a:cubicBezTo>
                <a:cubicBezTo>
                  <a:pt x="165829" y="78712"/>
                  <a:pt x="171153" y="73388"/>
                  <a:pt x="177720" y="73388"/>
                </a:cubicBezTo>
                <a:close/>
                <a:moveTo>
                  <a:pt x="303775" y="42480"/>
                </a:moveTo>
                <a:cubicBezTo>
                  <a:pt x="310366" y="42480"/>
                  <a:pt x="315710" y="47815"/>
                  <a:pt x="315710" y="54396"/>
                </a:cubicBezTo>
                <a:lnTo>
                  <a:pt x="315710" y="69869"/>
                </a:lnTo>
                <a:cubicBezTo>
                  <a:pt x="315710" y="76449"/>
                  <a:pt x="310366" y="81785"/>
                  <a:pt x="303775" y="81785"/>
                </a:cubicBezTo>
                <a:cubicBezTo>
                  <a:pt x="297184" y="81785"/>
                  <a:pt x="291929" y="76449"/>
                  <a:pt x="291929" y="69869"/>
                </a:cubicBezTo>
                <a:lnTo>
                  <a:pt x="291929" y="54396"/>
                </a:lnTo>
                <a:cubicBezTo>
                  <a:pt x="291929" y="47815"/>
                  <a:pt x="297184" y="42480"/>
                  <a:pt x="303775" y="42480"/>
                </a:cubicBezTo>
                <a:close/>
                <a:moveTo>
                  <a:pt x="303775" y="0"/>
                </a:moveTo>
                <a:cubicBezTo>
                  <a:pt x="394204" y="0"/>
                  <a:pt x="479560" y="40347"/>
                  <a:pt x="537058" y="108956"/>
                </a:cubicBezTo>
                <a:lnTo>
                  <a:pt x="537058" y="93048"/>
                </a:lnTo>
                <a:cubicBezTo>
                  <a:pt x="537058" y="86471"/>
                  <a:pt x="542309" y="81139"/>
                  <a:pt x="548895" y="81139"/>
                </a:cubicBezTo>
                <a:cubicBezTo>
                  <a:pt x="555482" y="81139"/>
                  <a:pt x="560822" y="86471"/>
                  <a:pt x="560822" y="93048"/>
                </a:cubicBezTo>
                <a:lnTo>
                  <a:pt x="560822" y="138994"/>
                </a:lnTo>
                <a:cubicBezTo>
                  <a:pt x="560822" y="145570"/>
                  <a:pt x="555482" y="150903"/>
                  <a:pt x="548895" y="150903"/>
                </a:cubicBezTo>
                <a:lnTo>
                  <a:pt x="502880" y="150903"/>
                </a:lnTo>
                <a:cubicBezTo>
                  <a:pt x="496293" y="150903"/>
                  <a:pt x="490953" y="145570"/>
                  <a:pt x="490953" y="138994"/>
                </a:cubicBezTo>
                <a:cubicBezTo>
                  <a:pt x="490953" y="132417"/>
                  <a:pt x="496293" y="127174"/>
                  <a:pt x="502880" y="127174"/>
                </a:cubicBezTo>
                <a:lnTo>
                  <a:pt x="521126" y="127174"/>
                </a:lnTo>
                <a:cubicBezTo>
                  <a:pt x="468168" y="62032"/>
                  <a:pt x="388419" y="23728"/>
                  <a:pt x="303775" y="23728"/>
                </a:cubicBezTo>
                <a:cubicBezTo>
                  <a:pt x="149440" y="23728"/>
                  <a:pt x="23764" y="149214"/>
                  <a:pt x="23764" y="303316"/>
                </a:cubicBezTo>
                <a:cubicBezTo>
                  <a:pt x="23764" y="457508"/>
                  <a:pt x="149440" y="582905"/>
                  <a:pt x="303775" y="582905"/>
                </a:cubicBezTo>
                <a:cubicBezTo>
                  <a:pt x="458199" y="582905"/>
                  <a:pt x="583786" y="457508"/>
                  <a:pt x="583786" y="303316"/>
                </a:cubicBezTo>
                <a:cubicBezTo>
                  <a:pt x="583786" y="278255"/>
                  <a:pt x="580492" y="253371"/>
                  <a:pt x="573906" y="229376"/>
                </a:cubicBezTo>
                <a:cubicBezTo>
                  <a:pt x="572126" y="223066"/>
                  <a:pt x="575864" y="216489"/>
                  <a:pt x="582273" y="214801"/>
                </a:cubicBezTo>
                <a:cubicBezTo>
                  <a:pt x="588592" y="213023"/>
                  <a:pt x="595089" y="216756"/>
                  <a:pt x="596869" y="223066"/>
                </a:cubicBezTo>
                <a:cubicBezTo>
                  <a:pt x="603990" y="249194"/>
                  <a:pt x="607639" y="276122"/>
                  <a:pt x="607639" y="303316"/>
                </a:cubicBezTo>
                <a:cubicBezTo>
                  <a:pt x="607639" y="470572"/>
                  <a:pt x="471283" y="606722"/>
                  <a:pt x="303775" y="606722"/>
                </a:cubicBezTo>
                <a:cubicBezTo>
                  <a:pt x="136267" y="606722"/>
                  <a:pt x="0" y="470572"/>
                  <a:pt x="0" y="303316"/>
                </a:cubicBezTo>
                <a:cubicBezTo>
                  <a:pt x="0" y="136061"/>
                  <a:pt x="136267" y="0"/>
                  <a:pt x="30377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EB95789-1338-4013-A515-04F0F93F710E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</p:spTree>
    <p:extLst>
      <p:ext uri="{BB962C8B-B14F-4D97-AF65-F5344CB8AC3E}">
        <p14:creationId xmlns:p14="http://schemas.microsoft.com/office/powerpoint/2010/main" val="3263882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46" grpId="0" animBg="1"/>
      <p:bldP spid="4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244230" y="0"/>
            <a:ext cx="3947770" cy="48514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810868" y="1351226"/>
            <a:ext cx="3932488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TW" sz="2800" b="1" dirty="0">
                <a:solidFill>
                  <a:schemeClr val="accent6"/>
                </a:solidFill>
              </a:rPr>
              <a:t>9-1</a:t>
            </a:r>
            <a:r>
              <a:rPr lang="zh-TW" altLang="en-US" sz="2800" b="1" dirty="0">
                <a:solidFill>
                  <a:schemeClr val="accent6"/>
                </a:solidFill>
              </a:rPr>
              <a:t> 實務案例─數位文憑</a:t>
            </a:r>
          </a:p>
        </p:txBody>
      </p:sp>
      <p:sp>
        <p:nvSpPr>
          <p:cNvPr id="47" name="矩形 46"/>
          <p:cNvSpPr/>
          <p:nvPr/>
        </p:nvSpPr>
        <p:spPr>
          <a:xfrm>
            <a:off x="1812142" y="2230883"/>
            <a:ext cx="3932488" cy="523220"/>
          </a:xfrm>
          <a:prstGeom prst="rect">
            <a:avLst/>
          </a:prstGeom>
        </p:spPr>
        <p:txBody>
          <a:bodyPr wrap="non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TW" sz="2800" b="1" dirty="0">
                <a:solidFill>
                  <a:schemeClr val="accent6"/>
                </a:solidFill>
              </a:rPr>
              <a:t>9-2</a:t>
            </a:r>
            <a:r>
              <a:rPr lang="zh-TW" altLang="en-US" sz="2800" b="1" dirty="0">
                <a:solidFill>
                  <a:schemeClr val="accent6"/>
                </a:solidFill>
              </a:rPr>
              <a:t> 實務案例─健康醫療</a:t>
            </a:r>
          </a:p>
        </p:txBody>
      </p:sp>
      <p:sp>
        <p:nvSpPr>
          <p:cNvPr id="65" name="文本框 64"/>
          <p:cNvSpPr txBox="1"/>
          <p:nvPr/>
        </p:nvSpPr>
        <p:spPr>
          <a:xfrm rot="5400000">
            <a:off x="5416355" y="2443872"/>
            <a:ext cx="3531736" cy="92333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5400" b="1" dirty="0">
                <a:solidFill>
                  <a:schemeClr val="accent1"/>
                </a:solidFill>
              </a:rPr>
              <a:t>CONTENT</a:t>
            </a:r>
            <a:endParaRPr lang="zh-CN" altLang="en-US" sz="5400" b="1" dirty="0">
              <a:solidFill>
                <a:schemeClr val="accent1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9A2B78-0D0D-4B36-A4E1-F03D659AB278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</p:spTree>
    <p:extLst>
      <p:ext uri="{BB962C8B-B14F-4D97-AF65-F5344CB8AC3E}">
        <p14:creationId xmlns:p14="http://schemas.microsoft.com/office/powerpoint/2010/main" val="383953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7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案例介紹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690069" y="1581083"/>
            <a:ext cx="9596031" cy="2240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在畢業證書發放的過程中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學生須辦完離校手續，方能取得文憑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紙本文憑不具備環保的特性，及能妥善保管的實用性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文本證書的製作成本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2" name="圖片 31">
            <a:extLst>
              <a:ext uri="{FF2B5EF4-FFF2-40B4-BE49-F238E27FC236}">
                <a16:creationId xmlns:a16="http://schemas.microsoft.com/office/drawing/2014/main" id="{141D9EBA-BCBB-4FC8-81D6-E3DF94662C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585" y="4050858"/>
            <a:ext cx="2316242" cy="2316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3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案例介紹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549161" y="1323761"/>
            <a:ext cx="9244527" cy="4641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麻省理工學院（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MIT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BLOCKCERTS Wallet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數位文憑區塊鏈交易平台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創下「數位文憑」的首例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使用區塊鏈技術作為公證人，定位交易紀錄，驗證密鑰並確認紀錄不受更改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微軟正黑體" panose="020B0604030504040204" pitchFamily="34" charset="-120"/>
              <a:buChar char="→"/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可以隨時隨地分享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微軟正黑體" panose="020B0604030504040204" pitchFamily="34" charset="-120"/>
              <a:buChar char="→"/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不需要中介機構認證發行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微軟正黑體" panose="020B0604030504040204" pitchFamily="34" charset="-120"/>
              <a:buChar char="→"/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企業可從交易平台上查驗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MIT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文憑的真實性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 descr="一張含有 向量圖形 的圖片&#10;&#10;描述是以高可信度產生">
            <a:extLst>
              <a:ext uri="{FF2B5EF4-FFF2-40B4-BE49-F238E27FC236}">
                <a16:creationId xmlns:a16="http://schemas.microsoft.com/office/drawing/2014/main" id="{78EC1EEA-5BF6-4444-8832-7E6F3D06CC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491" y="4418920"/>
            <a:ext cx="2439082" cy="243908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F68BFFE-AD34-42F8-AF18-9EEDC7443E33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1" t="37219" r="19847" b="37420"/>
          <a:stretch/>
        </p:blipFill>
        <p:spPr>
          <a:xfrm>
            <a:off x="9100018" y="1921587"/>
            <a:ext cx="1995326" cy="59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851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450104" y="1122479"/>
            <a:ext cx="9596031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BLOCKCERTS Wallet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區塊鏈平台操作步驟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8334478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螢幕擷取畫面 的圖片&#10;&#10;描述是以非常高的可信度產生">
            <a:extLst>
              <a:ext uri="{FF2B5EF4-FFF2-40B4-BE49-F238E27FC236}">
                <a16:creationId xmlns:a16="http://schemas.microsoft.com/office/drawing/2014/main" id="{2F67D47E-7D80-432E-A06D-15B5EFBBDBC2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8FDFB"/>
              </a:clrFrom>
              <a:clrTo>
                <a:srgbClr val="F8FD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177"/>
          <a:stretch/>
        </p:blipFill>
        <p:spPr>
          <a:xfrm>
            <a:off x="1918461" y="1580734"/>
            <a:ext cx="4001572" cy="5015656"/>
          </a:xfrm>
          <a:prstGeom prst="rect">
            <a:avLst/>
          </a:prstGeom>
        </p:spPr>
      </p:pic>
      <p:pic>
        <p:nvPicPr>
          <p:cNvPr id="6" name="圖片 5" descr="一張含有 螢幕擷取畫面 的圖片&#10;&#10;描述是以非常高的可信度產生">
            <a:extLst>
              <a:ext uri="{FF2B5EF4-FFF2-40B4-BE49-F238E27FC236}">
                <a16:creationId xmlns:a16="http://schemas.microsoft.com/office/drawing/2014/main" id="{3502FBA8-7CDA-4D0C-B7AD-3CAFA8FA0E9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FAFAFA"/>
              </a:clrFrom>
              <a:clrTo>
                <a:srgbClr val="FAFA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23" t="26149" b="8729"/>
          <a:stretch/>
        </p:blipFill>
        <p:spPr>
          <a:xfrm>
            <a:off x="5920033" y="1505002"/>
            <a:ext cx="5365570" cy="4903832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131E67F-C9B6-4171-AF04-9DE54A00E4EF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1416E86-4BD0-4B07-A3C1-B7B16B8FCC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351" y="791922"/>
            <a:ext cx="1165090" cy="116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57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177167" y="1308100"/>
            <a:ext cx="9596031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BLOCKCERTS Wallet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區塊鏈平台操作的 </a:t>
            </a: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個步驟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842326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資料庫圖表 12">
            <a:extLst>
              <a:ext uri="{FF2B5EF4-FFF2-40B4-BE49-F238E27FC236}">
                <a16:creationId xmlns:a16="http://schemas.microsoft.com/office/drawing/2014/main" id="{23EEA24D-EAA0-44A1-9EE2-543E42ED0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229900"/>
              </p:ext>
            </p:extLst>
          </p:nvPr>
        </p:nvGraphicFramePr>
        <p:xfrm>
          <a:off x="1619789" y="2486853"/>
          <a:ext cx="8565637" cy="1385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4" name="資料庫圖表 13">
            <a:extLst>
              <a:ext uri="{FF2B5EF4-FFF2-40B4-BE49-F238E27FC236}">
                <a16:creationId xmlns:a16="http://schemas.microsoft.com/office/drawing/2014/main" id="{53307EDB-3042-4E0A-8FB6-C0CD03D80F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77480704"/>
              </p:ext>
            </p:extLst>
          </p:nvPr>
        </p:nvGraphicFramePr>
        <p:xfrm>
          <a:off x="685942" y="4440025"/>
          <a:ext cx="11144695" cy="13855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449EA3C9-163F-4424-90D8-FD2FE7371550}"/>
              </a:ext>
            </a:extLst>
          </p:cNvPr>
          <p:cNvSpPr txBox="1"/>
          <p:nvPr/>
        </p:nvSpPr>
        <p:spPr>
          <a:xfrm>
            <a:off x="1742341" y="2110612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Eras Demi ITC" panose="020B0805030504020804" pitchFamily="34" charset="0"/>
              </a:rPr>
              <a:t>STEP 1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F9E80AF-726D-4315-BB73-E1011B32D079}"/>
              </a:ext>
            </a:extLst>
          </p:cNvPr>
          <p:cNvSpPr txBox="1"/>
          <p:nvPr/>
        </p:nvSpPr>
        <p:spPr>
          <a:xfrm>
            <a:off x="871337" y="4059253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Eras Demi ITC" panose="020B0805030504020804" pitchFamily="34" charset="0"/>
              </a:rPr>
              <a:t>STEP 3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8D2B1D3-B044-4701-9435-4D611021C276}"/>
              </a:ext>
            </a:extLst>
          </p:cNvPr>
          <p:cNvSpPr txBox="1"/>
          <p:nvPr/>
        </p:nvSpPr>
        <p:spPr>
          <a:xfrm>
            <a:off x="9144214" y="4066250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Eras Demi ITC" panose="020B0805030504020804" pitchFamily="34" charset="0"/>
              </a:rPr>
              <a:t>STEP 5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8691502-AFD0-4A29-9FDB-7E221C5248C3}"/>
              </a:ext>
            </a:extLst>
          </p:cNvPr>
          <p:cNvSpPr txBox="1"/>
          <p:nvPr/>
        </p:nvSpPr>
        <p:spPr>
          <a:xfrm>
            <a:off x="4864143" y="4066250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Eras Demi ITC" panose="020B0805030504020804" pitchFamily="34" charset="0"/>
              </a:rPr>
              <a:t>STEP 4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12D9BBF-59A3-4876-B880-0CD717DA5620}"/>
              </a:ext>
            </a:extLst>
          </p:cNvPr>
          <p:cNvSpPr txBox="1"/>
          <p:nvPr/>
        </p:nvSpPr>
        <p:spPr>
          <a:xfrm>
            <a:off x="6780322" y="2121750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Eras Demi ITC" panose="020B0805030504020804" pitchFamily="34" charset="0"/>
              </a:rPr>
              <a:t>STEP 2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C66E17-5FBD-4071-81BD-F95778AF22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95613" y="2829056"/>
            <a:ext cx="603556" cy="701101"/>
          </a:xfrm>
          <a:prstGeom prst="rect">
            <a:avLst/>
          </a:prstGeom>
        </p:spPr>
      </p:pic>
      <p:pic>
        <p:nvPicPr>
          <p:cNvPr id="18" name="圖片 17" descr="一張含有 向量圖形 的圖片&#10;&#10;描述是以高可信度產生">
            <a:extLst>
              <a:ext uri="{FF2B5EF4-FFF2-40B4-BE49-F238E27FC236}">
                <a16:creationId xmlns:a16="http://schemas.microsoft.com/office/drawing/2014/main" id="{1D671F01-786E-4D09-9D34-CBF0B610ABB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6645" y="323892"/>
            <a:ext cx="1813992" cy="1813992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51649729-8262-40B5-A129-7811069E94B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97" y="2265417"/>
            <a:ext cx="1620944" cy="162094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3E0A2A77-3B59-4E3B-BB82-C2779B070497}"/>
              </a:ext>
            </a:extLst>
          </p:cNvPr>
          <p:cNvSpPr txBox="1"/>
          <p:nvPr/>
        </p:nvSpPr>
        <p:spPr>
          <a:xfrm>
            <a:off x="6780857" y="6155594"/>
            <a:ext cx="50497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微軟正黑體" panose="020B0604030504040204" pitchFamily="34" charset="-120"/>
              <a:buChar char="→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完成以上</a:t>
            </a: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個步驟，即成功完成驗證程序</a:t>
            </a:r>
          </a:p>
        </p:txBody>
      </p:sp>
    </p:spTree>
    <p:extLst>
      <p:ext uri="{BB962C8B-B14F-4D97-AF65-F5344CB8AC3E}">
        <p14:creationId xmlns:p14="http://schemas.microsoft.com/office/powerpoint/2010/main" val="115066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5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750"/>
                            </p:stCondLst>
                            <p:childTnLst>
                              <p:par>
                                <p:cTn id="2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250"/>
                            </p:stCondLst>
                            <p:childTnLst>
                              <p:par>
                                <p:cTn id="5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25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2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46" grpId="0"/>
      <p:bldGraphic spid="13" grpId="0">
        <p:bldAsOne/>
      </p:bldGraphic>
      <p:bldGraphic spid="14" grpId="0">
        <p:bldAsOne/>
      </p:bldGraphic>
      <p:bldP spid="16" grpId="0"/>
      <p:bldP spid="17" grpId="0"/>
      <p:bldP spid="19" grpId="0"/>
      <p:bldP spid="20" grpId="0"/>
      <p:bldP spid="21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450104" y="1102426"/>
            <a:ext cx="9596031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BLOCKCERTS Wallet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區塊鏈平台交易流程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7EECD56D-58A8-424C-AF5D-53DE2C635BA7}"/>
              </a:ext>
            </a:extLst>
          </p:cNvPr>
          <p:cNvGrpSpPr/>
          <p:nvPr/>
        </p:nvGrpSpPr>
        <p:grpSpPr>
          <a:xfrm>
            <a:off x="1812926" y="1662235"/>
            <a:ext cx="9429159" cy="4874134"/>
            <a:chOff x="139894" y="327214"/>
            <a:chExt cx="12018696" cy="6212721"/>
          </a:xfrm>
        </p:grpSpPr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1BF953A9-8E7B-417A-96E9-FA19F21C1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894" y="1897603"/>
              <a:ext cx="1396487" cy="986851"/>
            </a:xfrm>
            <a:prstGeom prst="rect">
              <a:avLst/>
            </a:prstGeom>
          </p:spPr>
        </p:pic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AC976B7-4C8D-472B-A947-F568EE955AD8}"/>
                </a:ext>
              </a:extLst>
            </p:cNvPr>
            <p:cNvSpPr txBox="1"/>
            <p:nvPr/>
          </p:nvSpPr>
          <p:spPr>
            <a:xfrm>
              <a:off x="175240" y="1431610"/>
              <a:ext cx="1354763" cy="431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Certificate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4" name="直線單箭頭接點 23">
              <a:extLst>
                <a:ext uri="{FF2B5EF4-FFF2-40B4-BE49-F238E27FC236}">
                  <a16:creationId xmlns:a16="http://schemas.microsoft.com/office/drawing/2014/main" id="{B212F64A-23E6-4E13-9F6B-E0F34FBBF698}"/>
                </a:ext>
              </a:extLst>
            </p:cNvPr>
            <p:cNvCxnSpPr>
              <a:stCxn id="22" idx="3"/>
            </p:cNvCxnSpPr>
            <p:nvPr/>
          </p:nvCxnSpPr>
          <p:spPr>
            <a:xfrm flipV="1">
              <a:off x="1536381" y="2391028"/>
              <a:ext cx="661204" cy="1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25" name="圖片 24">
              <a:extLst>
                <a:ext uri="{FF2B5EF4-FFF2-40B4-BE49-F238E27FC236}">
                  <a16:creationId xmlns:a16="http://schemas.microsoft.com/office/drawing/2014/main" id="{049E59F7-16A6-4BCC-90F6-573F1B126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224128" y="1814401"/>
              <a:ext cx="2002659" cy="1153253"/>
            </a:xfrm>
            <a:prstGeom prst="rect">
              <a:avLst/>
            </a:prstGeom>
          </p:spPr>
        </p:pic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297F771C-8C2F-42A9-830D-9D9EE47770F1}"/>
                </a:ext>
              </a:extLst>
            </p:cNvPr>
            <p:cNvSpPr txBox="1"/>
            <p:nvPr/>
          </p:nvSpPr>
          <p:spPr>
            <a:xfrm>
              <a:off x="2021049" y="1434298"/>
              <a:ext cx="2664695" cy="431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Hash of the Certificate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E9B5E9F2-C554-4B8D-90D4-DDFE2D20E865}"/>
                </a:ext>
              </a:extLst>
            </p:cNvPr>
            <p:cNvGrpSpPr/>
            <p:nvPr/>
          </p:nvGrpSpPr>
          <p:grpSpPr>
            <a:xfrm>
              <a:off x="4783949" y="779391"/>
              <a:ext cx="2936038" cy="4896544"/>
              <a:chOff x="5879976" y="476672"/>
              <a:chExt cx="2936038" cy="4896544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07DC19F2-7830-4030-906D-2C1ABAF83DA4}"/>
                  </a:ext>
                </a:extLst>
              </p:cNvPr>
              <p:cNvSpPr/>
              <p:nvPr/>
            </p:nvSpPr>
            <p:spPr>
              <a:xfrm>
                <a:off x="5879976" y="476672"/>
                <a:ext cx="2936038" cy="1440160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Inputs</a:t>
                </a:r>
              </a:p>
              <a:p>
                <a:pPr marL="625475"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Input from the issuing address with the total Bitcoin needed for the transaction</a:t>
                </a:r>
                <a:endParaRPr lang="zh-TW" altLang="en-US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C2DCFC57-F4BC-4DBC-AE5F-17417E0C8369}"/>
                  </a:ext>
                </a:extLst>
              </p:cNvPr>
              <p:cNvSpPr/>
              <p:nvPr/>
            </p:nvSpPr>
            <p:spPr>
              <a:xfrm>
                <a:off x="5879976" y="1916832"/>
                <a:ext cx="2936038" cy="2867620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Outputs</a:t>
                </a:r>
              </a:p>
              <a:p>
                <a:pPr marL="625475"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Output with $0.01 sent to the recipient’s public key</a:t>
                </a:r>
              </a:p>
              <a:p>
                <a:pPr marL="625475"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Output with $0.01 sent to the revocation public key</a:t>
                </a:r>
              </a:p>
              <a:p>
                <a:pPr marL="625475"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Output with the hash of the certificate store in the </a:t>
                </a:r>
                <a:r>
                  <a:rPr lang="en-US" altLang="zh-TW" sz="13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OP_Return</a:t>
                </a:r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field</a:t>
                </a:r>
                <a:endParaRPr lang="zh-TW" altLang="en-US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29B30040-D04B-4DC4-AFD7-D53672BB2088}"/>
                  </a:ext>
                </a:extLst>
              </p:cNvPr>
              <p:cNvSpPr/>
              <p:nvPr/>
            </p:nvSpPr>
            <p:spPr>
              <a:xfrm>
                <a:off x="5879976" y="4784452"/>
                <a:ext cx="2936038" cy="588764"/>
              </a:xfrm>
              <a:prstGeom prst="rect">
                <a:avLst/>
              </a:prstGeom>
              <a:noFill/>
              <a:ln w="19050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pPr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Fees</a:t>
                </a:r>
              </a:p>
              <a:p>
                <a:pPr marL="625475" algn="just"/>
                <a:r>
                  <a:rPr lang="en-US" altLang="zh-TW" sz="13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Transaction fee</a:t>
                </a:r>
                <a:endParaRPr lang="zh-TW" altLang="en-US" sz="13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29" name="圖片 28">
              <a:extLst>
                <a:ext uri="{FF2B5EF4-FFF2-40B4-BE49-F238E27FC236}">
                  <a16:creationId xmlns:a16="http://schemas.microsoft.com/office/drawing/2014/main" id="{3AFAEB49-D684-4C39-8AA8-79059F5ED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3633" y="2219551"/>
              <a:ext cx="773540" cy="773540"/>
            </a:xfrm>
            <a:prstGeom prst="rect">
              <a:avLst/>
            </a:prstGeom>
          </p:spPr>
        </p:pic>
        <p:pic>
          <p:nvPicPr>
            <p:cNvPr id="30" name="圖片 29">
              <a:extLst>
                <a:ext uri="{FF2B5EF4-FFF2-40B4-BE49-F238E27FC236}">
                  <a16:creationId xmlns:a16="http://schemas.microsoft.com/office/drawing/2014/main" id="{4D8B8A63-788B-4F9E-9FEC-0292AE149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23633" y="3982256"/>
              <a:ext cx="773540" cy="773540"/>
            </a:xfrm>
            <a:prstGeom prst="rect">
              <a:avLst/>
            </a:prstGeom>
          </p:spPr>
        </p:pic>
        <p:pic>
          <p:nvPicPr>
            <p:cNvPr id="31" name="圖片 30">
              <a:extLst>
                <a:ext uri="{FF2B5EF4-FFF2-40B4-BE49-F238E27FC236}">
                  <a16:creationId xmlns:a16="http://schemas.microsoft.com/office/drawing/2014/main" id="{E7F2858C-BF1B-40C6-A91A-633B77FEBAF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0536" y="2391028"/>
              <a:ext cx="773540" cy="773540"/>
            </a:xfrm>
            <a:prstGeom prst="rect">
              <a:avLst/>
            </a:prstGeom>
          </p:spPr>
        </p:pic>
        <p:cxnSp>
          <p:nvCxnSpPr>
            <p:cNvPr id="34" name="直線單箭頭接點 33">
              <a:extLst>
                <a:ext uri="{FF2B5EF4-FFF2-40B4-BE49-F238E27FC236}">
                  <a16:creationId xmlns:a16="http://schemas.microsoft.com/office/drawing/2014/main" id="{6CB0D9F0-37EF-4AB6-9E51-6EFAA43F40D7}"/>
                </a:ext>
              </a:extLst>
            </p:cNvPr>
            <p:cNvCxnSpPr/>
            <p:nvPr/>
          </p:nvCxnSpPr>
          <p:spPr>
            <a:xfrm flipV="1">
              <a:off x="4122745" y="2432627"/>
              <a:ext cx="661204" cy="1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線單箭頭接點 34">
              <a:extLst>
                <a:ext uri="{FF2B5EF4-FFF2-40B4-BE49-F238E27FC236}">
                  <a16:creationId xmlns:a16="http://schemas.microsoft.com/office/drawing/2014/main" id="{47D3519B-5E48-41FA-94BD-AEF7F97FCCFC}"/>
                </a:ext>
              </a:extLst>
            </p:cNvPr>
            <p:cNvCxnSpPr/>
            <p:nvPr/>
          </p:nvCxnSpPr>
          <p:spPr>
            <a:xfrm flipH="1" flipV="1">
              <a:off x="7778241" y="2648943"/>
              <a:ext cx="324000" cy="1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線單箭頭接點 35">
              <a:extLst>
                <a:ext uri="{FF2B5EF4-FFF2-40B4-BE49-F238E27FC236}">
                  <a16:creationId xmlns:a16="http://schemas.microsoft.com/office/drawing/2014/main" id="{BF117CBD-7602-4B6A-9853-4EBACD02D353}"/>
                </a:ext>
              </a:extLst>
            </p:cNvPr>
            <p:cNvCxnSpPr/>
            <p:nvPr/>
          </p:nvCxnSpPr>
          <p:spPr>
            <a:xfrm flipH="1" flipV="1">
              <a:off x="7771155" y="4369026"/>
              <a:ext cx="324000" cy="1"/>
            </a:xfrm>
            <a:prstGeom prst="straightConnector1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直線接點 36">
              <a:extLst>
                <a:ext uri="{FF2B5EF4-FFF2-40B4-BE49-F238E27FC236}">
                  <a16:creationId xmlns:a16="http://schemas.microsoft.com/office/drawing/2014/main" id="{4CB2CD93-CA23-40A3-8EDF-CC195501F7B6}"/>
                </a:ext>
              </a:extLst>
            </p:cNvPr>
            <p:cNvCxnSpPr/>
            <p:nvPr/>
          </p:nvCxnSpPr>
          <p:spPr>
            <a:xfrm flipH="1" flipV="1">
              <a:off x="9984432" y="2777797"/>
              <a:ext cx="806610" cy="1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肘形接點 45">
              <a:extLst>
                <a:ext uri="{FF2B5EF4-FFF2-40B4-BE49-F238E27FC236}">
                  <a16:creationId xmlns:a16="http://schemas.microsoft.com/office/drawing/2014/main" id="{AEC625B2-6EC5-4C96-9E5E-928536621D82}"/>
                </a:ext>
              </a:extLst>
            </p:cNvPr>
            <p:cNvCxnSpPr>
              <a:cxnSpLocks/>
              <a:endCxn id="39" idx="2"/>
            </p:cNvCxnSpPr>
            <p:nvPr/>
          </p:nvCxnSpPr>
          <p:spPr>
            <a:xfrm rot="5400000">
              <a:off x="4986414" y="721686"/>
              <a:ext cx="2277818" cy="7547480"/>
            </a:xfrm>
            <a:prstGeom prst="bentConnector3">
              <a:avLst>
                <a:gd name="adj1" fmla="val 139267"/>
              </a:avLst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39" name="圖片 38" descr="https://i2.read01.com/SIG=gluf1r/3044576a7351386e6979.jpg">
              <a:extLst>
                <a:ext uri="{FF2B5EF4-FFF2-40B4-BE49-F238E27FC236}">
                  <a16:creationId xmlns:a16="http://schemas.microsoft.com/office/drawing/2014/main" id="{63A298A5-2D3C-4005-81EC-19B9BAEB2DE5}"/>
                </a:ext>
              </a:extLst>
            </p:cNvPr>
            <p:cNvPicPr/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1324" y="3847228"/>
              <a:ext cx="4300517" cy="178710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0" name="直線接點 39">
              <a:extLst>
                <a:ext uri="{FF2B5EF4-FFF2-40B4-BE49-F238E27FC236}">
                  <a16:creationId xmlns:a16="http://schemas.microsoft.com/office/drawing/2014/main" id="{FC8B89CF-59DD-4097-A867-543BD10F7DA6}"/>
                </a:ext>
              </a:extLst>
            </p:cNvPr>
            <p:cNvCxnSpPr>
              <a:stCxn id="51" idx="2"/>
            </p:cNvCxnSpPr>
            <p:nvPr/>
          </p:nvCxnSpPr>
          <p:spPr>
            <a:xfrm>
              <a:off x="6251968" y="5675935"/>
              <a:ext cx="0" cy="86400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CC9F919F-6A09-473E-B3AD-1F09C3F97AD8}"/>
                </a:ext>
              </a:extLst>
            </p:cNvPr>
            <p:cNvSpPr txBox="1"/>
            <p:nvPr/>
          </p:nvSpPr>
          <p:spPr>
            <a:xfrm>
              <a:off x="7879829" y="1453706"/>
              <a:ext cx="1368096" cy="745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Recipient</a:t>
              </a:r>
            </a:p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Public Key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3BB7685-EB7A-4F87-B8C1-72B783B2DDBE}"/>
                </a:ext>
              </a:extLst>
            </p:cNvPr>
            <p:cNvSpPr txBox="1"/>
            <p:nvPr/>
          </p:nvSpPr>
          <p:spPr>
            <a:xfrm>
              <a:off x="7903642" y="3265370"/>
              <a:ext cx="1347686" cy="745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Recipient</a:t>
              </a:r>
            </a:p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Public Key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B8A3C1B7-2D69-4034-AB7F-FF57014A2C98}"/>
                </a:ext>
              </a:extLst>
            </p:cNvPr>
            <p:cNvSpPr txBox="1"/>
            <p:nvPr/>
          </p:nvSpPr>
          <p:spPr>
            <a:xfrm>
              <a:off x="9247925" y="1541022"/>
              <a:ext cx="1415760" cy="745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Issuing</a:t>
              </a:r>
            </a:p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Private Key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40105F72-42BD-4C4A-871E-69EB2A86039F}"/>
                </a:ext>
              </a:extLst>
            </p:cNvPr>
            <p:cNvSpPr txBox="1"/>
            <p:nvPr/>
          </p:nvSpPr>
          <p:spPr>
            <a:xfrm>
              <a:off x="10742831" y="1647376"/>
              <a:ext cx="1415759" cy="7453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Issuing</a:t>
              </a:r>
            </a:p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Public Key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47" name="肘形接點 74">
              <a:extLst>
                <a:ext uri="{FF2B5EF4-FFF2-40B4-BE49-F238E27FC236}">
                  <a16:creationId xmlns:a16="http://schemas.microsoft.com/office/drawing/2014/main" id="{2838378A-48F0-4085-9591-6F1221BC095A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8674852" y="406501"/>
              <a:ext cx="1031780" cy="2825002"/>
            </a:xfrm>
            <a:prstGeom prst="bentConnector2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DAC40ADF-4437-4667-9F5A-74084BB568AF}"/>
                </a:ext>
              </a:extLst>
            </p:cNvPr>
            <p:cNvSpPr txBox="1"/>
            <p:nvPr/>
          </p:nvSpPr>
          <p:spPr>
            <a:xfrm>
              <a:off x="4627084" y="327214"/>
              <a:ext cx="3276558" cy="431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Unsigned Bitcoin Transaction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2" name="圖片 51">
            <a:extLst>
              <a:ext uri="{FF2B5EF4-FFF2-40B4-BE49-F238E27FC236}">
                <a16:creationId xmlns:a16="http://schemas.microsoft.com/office/drawing/2014/main" id="{822DBF0A-6218-4179-A5E7-2F3577F54D0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361" y="3199292"/>
            <a:ext cx="378186" cy="37818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785AE178-79D2-4C43-B757-D7D431DC9A1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0453" y="3171597"/>
            <a:ext cx="832604" cy="83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0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10172705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3DECB609-04B5-420C-B7C4-D74D07DB4B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7835947"/>
              </p:ext>
            </p:extLst>
          </p:nvPr>
        </p:nvGraphicFramePr>
        <p:xfrm>
          <a:off x="2015671" y="1621805"/>
          <a:ext cx="3987144" cy="4510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7" name="資料庫圖表 36">
            <a:extLst>
              <a:ext uri="{FF2B5EF4-FFF2-40B4-BE49-F238E27FC236}">
                <a16:creationId xmlns:a16="http://schemas.microsoft.com/office/drawing/2014/main" id="{96492C80-A87E-47E3-A429-B5CCE0FB8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3949524"/>
              </p:ext>
            </p:extLst>
          </p:nvPr>
        </p:nvGraphicFramePr>
        <p:xfrm>
          <a:off x="6612078" y="1896022"/>
          <a:ext cx="3914181" cy="4496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CE45915F-F705-4037-847C-0621A14EC4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3115" y="1408427"/>
            <a:ext cx="512108" cy="426757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426925A-F5AD-4DB1-AD83-8C1040CFF5A6}"/>
              </a:ext>
            </a:extLst>
          </p:cNvPr>
          <p:cNvSpPr txBox="1"/>
          <p:nvPr/>
        </p:nvSpPr>
        <p:spPr>
          <a:xfrm>
            <a:off x="9326251" y="3055360"/>
            <a:ext cx="2749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solidFill>
                  <a:srgbClr val="318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區塊鏈上並未記錄文憑資訊只有</a:t>
            </a:r>
            <a:r>
              <a:rPr lang="en-US" altLang="zh-TW" sz="1600" b="1" dirty="0">
                <a:solidFill>
                  <a:srgbClr val="318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MIT </a:t>
            </a:r>
            <a:r>
              <a:rPr lang="zh-TW" altLang="en-US" sz="1600" b="1" dirty="0">
                <a:solidFill>
                  <a:srgbClr val="31837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建立該紀錄的時戳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AC3F46-6C19-4F68-BB38-D3EE095D1BD8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582" y="2346497"/>
            <a:ext cx="480456" cy="480456"/>
          </a:xfrm>
          <a:prstGeom prst="rect">
            <a:avLst/>
          </a:prstGeom>
        </p:spPr>
      </p:pic>
      <p:pic>
        <p:nvPicPr>
          <p:cNvPr id="17" name="圖片 16" descr="一張含有 向量圖形 的圖片&#10;&#10;描述是以高可信度產生">
            <a:extLst>
              <a:ext uri="{FF2B5EF4-FFF2-40B4-BE49-F238E27FC236}">
                <a16:creationId xmlns:a16="http://schemas.microsoft.com/office/drawing/2014/main" id="{E0FBC9D6-3153-4DFB-ADE3-10A53940DDB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0428" y="3055360"/>
            <a:ext cx="584774" cy="58477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7F86555-871F-4AF2-AF4C-D5792725F11C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3921" y="5648747"/>
            <a:ext cx="633396" cy="633394"/>
          </a:xfrm>
          <a:prstGeom prst="rect">
            <a:avLst/>
          </a:prstGeom>
        </p:spPr>
      </p:pic>
      <p:pic>
        <p:nvPicPr>
          <p:cNvPr id="16" name="圖片 15" descr="一張含有 名片, 文字 的圖片&#10;&#10;描述是以高可信度產生">
            <a:extLst>
              <a:ext uri="{FF2B5EF4-FFF2-40B4-BE49-F238E27FC236}">
                <a16:creationId xmlns:a16="http://schemas.microsoft.com/office/drawing/2014/main" id="{0ED965F8-456D-4345-8BA2-2B768AA5C21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335" y="5872899"/>
            <a:ext cx="681696" cy="681696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22E72EFF-444D-4280-A366-339ACD8A205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576" y="4144106"/>
            <a:ext cx="1005574" cy="1005574"/>
          </a:xfrm>
          <a:prstGeom prst="rect">
            <a:avLst/>
          </a:prstGeom>
        </p:spPr>
      </p:pic>
      <p:pic>
        <p:nvPicPr>
          <p:cNvPr id="19" name="圖片 18" descr="一張含有 向量圖形 的圖片&#10;&#10;描述是以高可信度產生">
            <a:extLst>
              <a:ext uri="{FF2B5EF4-FFF2-40B4-BE49-F238E27FC236}">
                <a16:creationId xmlns:a16="http://schemas.microsoft.com/office/drawing/2014/main" id="{AF6E1222-850D-4507-8CD6-5EA54BC7EDD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30" y="4842387"/>
            <a:ext cx="1439754" cy="143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83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6" grpId="0"/>
      <p:bldGraphic spid="2" grpId="0">
        <p:bldAsOne/>
      </p:bldGraphic>
      <p:bldGraphic spid="37" grpId="0">
        <p:bldAsOne/>
      </p:bldGraphic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205435" y="1009917"/>
            <a:ext cx="9596031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將數位文憑的概念整理成一個綜合性的架構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/>
          <p:nvPr/>
        </p:nvCxnSpPr>
        <p:spPr>
          <a:xfrm>
            <a:off x="1177167" y="1046746"/>
            <a:ext cx="1058517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520D148E-3B02-4058-9CEC-4023E4EE3E9B}"/>
              </a:ext>
            </a:extLst>
          </p:cNvPr>
          <p:cNvGrpSpPr/>
          <p:nvPr/>
        </p:nvGrpSpPr>
        <p:grpSpPr>
          <a:xfrm>
            <a:off x="2053470" y="1541989"/>
            <a:ext cx="8832569" cy="5082242"/>
            <a:chOff x="3881261" y="585211"/>
            <a:chExt cx="8560695" cy="5357872"/>
          </a:xfrm>
        </p:grpSpPr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65DA3E58-D5A7-4A17-9CDD-6B72285F899E}"/>
                </a:ext>
              </a:extLst>
            </p:cNvPr>
            <p:cNvGrpSpPr/>
            <p:nvPr/>
          </p:nvGrpSpPr>
          <p:grpSpPr>
            <a:xfrm>
              <a:off x="3881261" y="585211"/>
              <a:ext cx="4909320" cy="5357872"/>
              <a:chOff x="6431351" y="1259333"/>
              <a:chExt cx="4909320" cy="5357872"/>
            </a:xfrm>
          </p:grpSpPr>
          <p:pic>
            <p:nvPicPr>
              <p:cNvPr id="57" name="圖片 56">
                <a:extLst>
                  <a:ext uri="{FF2B5EF4-FFF2-40B4-BE49-F238E27FC236}">
                    <a16:creationId xmlns:a16="http://schemas.microsoft.com/office/drawing/2014/main" id="{6F9CD9BA-7F8E-4691-8729-9CD4EDA8EF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73477" y="1668247"/>
                <a:ext cx="1356196" cy="1043038"/>
              </a:xfrm>
              <a:prstGeom prst="rect">
                <a:avLst/>
              </a:prstGeom>
            </p:spPr>
          </p:pic>
          <p:grpSp>
            <p:nvGrpSpPr>
              <p:cNvPr id="58" name="群組 57">
                <a:extLst>
                  <a:ext uri="{FF2B5EF4-FFF2-40B4-BE49-F238E27FC236}">
                    <a16:creationId xmlns:a16="http://schemas.microsoft.com/office/drawing/2014/main" id="{181797CB-3C40-4370-85C9-1AD863A028CD}"/>
                  </a:ext>
                </a:extLst>
              </p:cNvPr>
              <p:cNvGrpSpPr/>
              <p:nvPr/>
            </p:nvGrpSpPr>
            <p:grpSpPr>
              <a:xfrm>
                <a:off x="6586196" y="5191320"/>
                <a:ext cx="1425885" cy="1425885"/>
                <a:chOff x="8976318" y="4293096"/>
                <a:chExt cx="1425885" cy="1425885"/>
              </a:xfrm>
            </p:grpSpPr>
            <p:pic>
              <p:nvPicPr>
                <p:cNvPr id="77" name="圖片 76">
                  <a:extLst>
                    <a:ext uri="{FF2B5EF4-FFF2-40B4-BE49-F238E27FC236}">
                      <a16:creationId xmlns:a16="http://schemas.microsoft.com/office/drawing/2014/main" id="{FAA7BCB5-B6D3-4E6A-ACCF-B0F051F524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6318" y="4293096"/>
                  <a:ext cx="1425885" cy="1425885"/>
                </a:xfrm>
                <a:prstGeom prst="rect">
                  <a:avLst/>
                </a:prstGeom>
              </p:spPr>
            </p:pic>
            <p:pic>
              <p:nvPicPr>
                <p:cNvPr id="78" name="圖片 77">
                  <a:extLst>
                    <a:ext uri="{FF2B5EF4-FFF2-40B4-BE49-F238E27FC236}">
                      <a16:creationId xmlns:a16="http://schemas.microsoft.com/office/drawing/2014/main" id="{A0CB7FA9-79C7-458E-A09D-B0086FDF7FE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76000" y="4797152"/>
                  <a:ext cx="447690" cy="456137"/>
                </a:xfrm>
                <a:prstGeom prst="rect">
                  <a:avLst/>
                </a:prstGeom>
              </p:spPr>
            </p:pic>
          </p:grpSp>
          <p:pic>
            <p:nvPicPr>
              <p:cNvPr id="59" name="圖片 58">
                <a:extLst>
                  <a:ext uri="{FF2B5EF4-FFF2-40B4-BE49-F238E27FC236}">
                    <a16:creationId xmlns:a16="http://schemas.microsoft.com/office/drawing/2014/main" id="{A7F08133-09B1-41AB-8DB9-60F3F804C1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482772" y="1577268"/>
                <a:ext cx="1216998" cy="1216998"/>
              </a:xfrm>
              <a:prstGeom prst="rect">
                <a:avLst/>
              </a:prstGeom>
            </p:spPr>
          </p:pic>
          <p:grpSp>
            <p:nvGrpSpPr>
              <p:cNvPr id="60" name="群組 59">
                <a:extLst>
                  <a:ext uri="{FF2B5EF4-FFF2-40B4-BE49-F238E27FC236}">
                    <a16:creationId xmlns:a16="http://schemas.microsoft.com/office/drawing/2014/main" id="{28375171-37C8-44C9-8457-F38326FEFB8A}"/>
                  </a:ext>
                </a:extLst>
              </p:cNvPr>
              <p:cNvGrpSpPr/>
              <p:nvPr/>
            </p:nvGrpSpPr>
            <p:grpSpPr>
              <a:xfrm>
                <a:off x="6854366" y="3641222"/>
                <a:ext cx="3994161" cy="902461"/>
                <a:chOff x="7006838" y="3789039"/>
                <a:chExt cx="3049602" cy="902461"/>
              </a:xfrm>
            </p:grpSpPr>
            <p:pic>
              <p:nvPicPr>
                <p:cNvPr id="75" name="圖片 74">
                  <a:extLst>
                    <a:ext uri="{FF2B5EF4-FFF2-40B4-BE49-F238E27FC236}">
                      <a16:creationId xmlns:a16="http://schemas.microsoft.com/office/drawing/2014/main" id="{2FDC9620-D05A-43AF-A6CB-6330CF17D6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06838" y="3789039"/>
                  <a:ext cx="3049602" cy="902461"/>
                </a:xfrm>
                <a:prstGeom prst="rect">
                  <a:avLst/>
                </a:prstGeom>
              </p:spPr>
            </p:pic>
            <p:sp>
              <p:nvSpPr>
                <p:cNvPr id="76" name="文字方塊 75">
                  <a:extLst>
                    <a:ext uri="{FF2B5EF4-FFF2-40B4-BE49-F238E27FC236}">
                      <a16:creationId xmlns:a16="http://schemas.microsoft.com/office/drawing/2014/main" id="{A845EB1F-E01F-49E4-90A4-680D4969A211}"/>
                    </a:ext>
                  </a:extLst>
                </p:cNvPr>
                <p:cNvSpPr txBox="1"/>
                <p:nvPr/>
              </p:nvSpPr>
              <p:spPr>
                <a:xfrm>
                  <a:off x="7714284" y="4055603"/>
                  <a:ext cx="1634710" cy="421809"/>
                </a:xfrm>
                <a:prstGeom prst="rect">
                  <a:avLst/>
                </a:prstGeom>
                <a:solidFill>
                  <a:srgbClr val="1F497D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TW" sz="2000" b="1" dirty="0" err="1">
                      <a:solidFill>
                        <a:srgbClr val="FFFF00"/>
                      </a:solidFill>
                      <a:latin typeface="Calibri" panose="020F0502020204030204" pitchFamily="34" charset="0"/>
                      <a:cs typeface="Calibri" panose="020F0502020204030204" pitchFamily="34" charset="0"/>
                    </a:rPr>
                    <a:t>BLOCKCHAIN</a:t>
                  </a:r>
                  <a:endParaRPr lang="zh-TW" altLang="en-US" sz="2000" b="1" dirty="0">
                    <a:solidFill>
                      <a:srgbClr val="FFFF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61" name="圖片 60">
                <a:extLst>
                  <a:ext uri="{FF2B5EF4-FFF2-40B4-BE49-F238E27FC236}">
                    <a16:creationId xmlns:a16="http://schemas.microsoft.com/office/drawing/2014/main" id="{8CBF701B-A7B1-43D5-9225-3565A6F1D1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581633" y="5395997"/>
                <a:ext cx="1356196" cy="1043038"/>
              </a:xfrm>
              <a:prstGeom prst="rect">
                <a:avLst/>
              </a:prstGeom>
            </p:spPr>
          </p:pic>
          <p:cxnSp>
            <p:nvCxnSpPr>
              <p:cNvPr id="62" name="直線單箭頭接點 61">
                <a:extLst>
                  <a:ext uri="{FF2B5EF4-FFF2-40B4-BE49-F238E27FC236}">
                    <a16:creationId xmlns:a16="http://schemas.microsoft.com/office/drawing/2014/main" id="{D3830AB6-FDC7-4FCF-825D-FE218E096DE1}"/>
                  </a:ext>
                </a:extLst>
              </p:cNvPr>
              <p:cNvCxnSpPr>
                <a:stCxn id="59" idx="1"/>
                <a:endCxn id="57" idx="3"/>
              </p:cNvCxnSpPr>
              <p:nvPr/>
            </p:nvCxnSpPr>
            <p:spPr>
              <a:xfrm flipH="1">
                <a:off x="8029674" y="2185767"/>
                <a:ext cx="1453098" cy="39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3" name="直線單箭頭接點 62">
                <a:extLst>
                  <a:ext uri="{FF2B5EF4-FFF2-40B4-BE49-F238E27FC236}">
                    <a16:creationId xmlns:a16="http://schemas.microsoft.com/office/drawing/2014/main" id="{7AF691A6-6232-4262-B511-0CE4AC75BB03}"/>
                  </a:ext>
                </a:extLst>
              </p:cNvPr>
              <p:cNvCxnSpPr/>
              <p:nvPr/>
            </p:nvCxnSpPr>
            <p:spPr>
              <a:xfrm>
                <a:off x="7409723" y="3236869"/>
                <a:ext cx="0" cy="3854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4" name="直線單箭頭接點 63">
                <a:extLst>
                  <a:ext uri="{FF2B5EF4-FFF2-40B4-BE49-F238E27FC236}">
                    <a16:creationId xmlns:a16="http://schemas.microsoft.com/office/drawing/2014/main" id="{8FCB132C-0A2B-4F6C-BFE4-9DFB470550D6}"/>
                  </a:ext>
                </a:extLst>
              </p:cNvPr>
              <p:cNvCxnSpPr/>
              <p:nvPr/>
            </p:nvCxnSpPr>
            <p:spPr>
              <a:xfrm>
                <a:off x="7409723" y="4555757"/>
                <a:ext cx="0" cy="6014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5" name="直線單箭頭接點 64">
                <a:extLst>
                  <a:ext uri="{FF2B5EF4-FFF2-40B4-BE49-F238E27FC236}">
                    <a16:creationId xmlns:a16="http://schemas.microsoft.com/office/drawing/2014/main" id="{999BABE1-36B6-4836-9B7C-58C30DD4A459}"/>
                  </a:ext>
                </a:extLst>
              </p:cNvPr>
              <p:cNvCxnSpPr>
                <a:stCxn id="77" idx="3"/>
              </p:cNvCxnSpPr>
              <p:nvPr/>
            </p:nvCxnSpPr>
            <p:spPr>
              <a:xfrm flipV="1">
                <a:off x="8012081" y="5904262"/>
                <a:ext cx="1406675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6" name="直線單箭頭接點 65">
                <a:extLst>
                  <a:ext uri="{FF2B5EF4-FFF2-40B4-BE49-F238E27FC236}">
                    <a16:creationId xmlns:a16="http://schemas.microsoft.com/office/drawing/2014/main" id="{C529398D-A50A-4CD0-9A8A-83BF8A824C72}"/>
                  </a:ext>
                </a:extLst>
              </p:cNvPr>
              <p:cNvCxnSpPr>
                <a:endCxn id="61" idx="0"/>
              </p:cNvCxnSpPr>
              <p:nvPr/>
            </p:nvCxnSpPr>
            <p:spPr>
              <a:xfrm>
                <a:off x="10259731" y="4555757"/>
                <a:ext cx="0" cy="840240"/>
              </a:xfrm>
              <a:prstGeom prst="straightConnector1">
                <a:avLst/>
              </a:prstGeom>
              <a:ln>
                <a:headEnd type="triangle" w="med" len="med"/>
                <a:tailEnd type="triangle" w="med" len="med"/>
              </a:ln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pic>
            <p:nvPicPr>
              <p:cNvPr id="67" name="圖片 66">
                <a:extLst>
                  <a:ext uri="{FF2B5EF4-FFF2-40B4-BE49-F238E27FC236}">
                    <a16:creationId xmlns:a16="http://schemas.microsoft.com/office/drawing/2014/main" id="{687711B4-ED66-48C2-B0AE-77A6CC76D8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clrChange>
                  <a:clrFrom>
                    <a:srgbClr val="F7F8F9"/>
                  </a:clrFrom>
                  <a:clrTo>
                    <a:srgbClr val="F7F8F9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10068252" y="5805801"/>
                <a:ext cx="382958" cy="503519"/>
              </a:xfrm>
              <a:prstGeom prst="rect">
                <a:avLst/>
              </a:prstGeom>
            </p:spPr>
          </p:pic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01B2D391-468F-48A7-AEAB-C42477D8045F}"/>
                  </a:ext>
                </a:extLst>
              </p:cNvPr>
              <p:cNvSpPr txBox="1"/>
              <p:nvPr/>
            </p:nvSpPr>
            <p:spPr>
              <a:xfrm>
                <a:off x="9418756" y="1259333"/>
                <a:ext cx="1773578" cy="356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Recipient(Student)</a:t>
                </a:r>
                <a:endParaRPr lang="zh-TW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7CA3AEEB-E5B0-42A7-8BFE-753FB214CDD6}"/>
                  </a:ext>
                </a:extLst>
              </p:cNvPr>
              <p:cNvSpPr txBox="1"/>
              <p:nvPr/>
            </p:nvSpPr>
            <p:spPr>
              <a:xfrm>
                <a:off x="6731625" y="1289379"/>
                <a:ext cx="1298048" cy="356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Issuer(School)</a:t>
                </a:r>
                <a:endParaRPr lang="zh-TW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12121678-230A-4236-AB9A-EB9C4163582A}"/>
                  </a:ext>
                </a:extLst>
              </p:cNvPr>
              <p:cNvSpPr txBox="1"/>
              <p:nvPr/>
            </p:nvSpPr>
            <p:spPr>
              <a:xfrm>
                <a:off x="6431351" y="2713319"/>
                <a:ext cx="1956743" cy="616490"/>
              </a:xfrm>
              <a:prstGeom prst="rect">
                <a:avLst/>
              </a:prstGeom>
              <a:solidFill>
                <a:srgbClr val="F9F9F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Hash certificate onto the </a:t>
                </a:r>
                <a:r>
                  <a:rPr lang="en-US" altLang="zh-TW" sz="16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Blockchain</a:t>
                </a:r>
                <a:endParaRPr lang="zh-TW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E8676454-6330-427D-AD30-49A0658B445B}"/>
                  </a:ext>
                </a:extLst>
              </p:cNvPr>
              <p:cNvSpPr txBox="1"/>
              <p:nvPr/>
            </p:nvSpPr>
            <p:spPr>
              <a:xfrm>
                <a:off x="9178791" y="2862086"/>
                <a:ext cx="2161880" cy="6164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Send Public Key to Issuer by “adding” them</a:t>
                </a:r>
                <a:endParaRPr lang="zh-TW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7CB8F0B5-318B-48A5-9DC0-B2DC46EC8CA4}"/>
                  </a:ext>
                </a:extLst>
              </p:cNvPr>
              <p:cNvSpPr txBox="1"/>
              <p:nvPr/>
            </p:nvSpPr>
            <p:spPr>
              <a:xfrm>
                <a:off x="9292932" y="4766721"/>
                <a:ext cx="1770716" cy="356915"/>
              </a:xfrm>
              <a:prstGeom prst="rect">
                <a:avLst/>
              </a:prstGeom>
              <a:solidFill>
                <a:srgbClr val="F9F9F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Verification Service</a:t>
                </a:r>
                <a:endParaRPr lang="zh-TW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8EEAF70B-4124-4757-872D-EA9BA2BEAD8F}"/>
                  </a:ext>
                </a:extLst>
              </p:cNvPr>
              <p:cNvSpPr txBox="1"/>
              <p:nvPr/>
            </p:nvSpPr>
            <p:spPr>
              <a:xfrm>
                <a:off x="8328460" y="5560601"/>
                <a:ext cx="673243" cy="356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Share</a:t>
                </a:r>
                <a:endParaRPr lang="zh-TW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6CF76A51-08A0-49B1-BFD1-BBFA24678D83}"/>
                  </a:ext>
                </a:extLst>
              </p:cNvPr>
              <p:cNvSpPr txBox="1"/>
              <p:nvPr/>
            </p:nvSpPr>
            <p:spPr>
              <a:xfrm>
                <a:off x="6621036" y="4667426"/>
                <a:ext cx="1577373" cy="356915"/>
              </a:xfrm>
              <a:prstGeom prst="rect">
                <a:avLst/>
              </a:prstGeom>
              <a:solidFill>
                <a:srgbClr val="F9F9F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16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Send Certificate</a:t>
                </a:r>
                <a:endParaRPr lang="zh-TW" alt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54" name="圖片 53">
              <a:extLst>
                <a:ext uri="{FF2B5EF4-FFF2-40B4-BE49-F238E27FC236}">
                  <a16:creationId xmlns:a16="http://schemas.microsoft.com/office/drawing/2014/main" id="{4DA1A2AF-CE6D-4C9A-AC57-55D36A7F4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80458" y="2288142"/>
              <a:ext cx="3361498" cy="2264950"/>
            </a:xfrm>
            <a:prstGeom prst="rect">
              <a:avLst/>
            </a:prstGeom>
          </p:spPr>
        </p:pic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4D4B3214-C918-47E2-9408-44FF7BADC871}"/>
                </a:ext>
              </a:extLst>
            </p:cNvPr>
            <p:cNvCxnSpPr>
              <a:cxnSpLocks/>
              <a:stCxn id="54" idx="1"/>
              <a:endCxn id="75" idx="3"/>
            </p:cNvCxnSpPr>
            <p:nvPr/>
          </p:nvCxnSpPr>
          <p:spPr>
            <a:xfrm flipH="1" flipV="1">
              <a:off x="8298436" y="3418331"/>
              <a:ext cx="782021" cy="2287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58BB3A55-4158-49D7-AB91-44F214A19662}"/>
                </a:ext>
              </a:extLst>
            </p:cNvPr>
            <p:cNvSpPr txBox="1"/>
            <p:nvPr/>
          </p:nvSpPr>
          <p:spPr>
            <a:xfrm>
              <a:off x="9700406" y="1931227"/>
              <a:ext cx="2028084" cy="356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sz="1600" dirty="0">
                  <a:latin typeface="Calibri" panose="020F0502020204030204" pitchFamily="34" charset="0"/>
                  <a:cs typeface="Calibri" panose="020F0502020204030204" pitchFamily="34" charset="0"/>
                </a:rPr>
                <a:t>Employer</a:t>
              </a:r>
              <a:endParaRPr lang="zh-TW" altLang="en-US" sz="16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21AA74D-6E5D-4AD7-8048-A7D2D33F8475}"/>
              </a:ext>
            </a:extLst>
          </p:cNvPr>
          <p:cNvSpPr txBox="1"/>
          <p:nvPr/>
        </p:nvSpPr>
        <p:spPr>
          <a:xfrm>
            <a:off x="6847015" y="6198246"/>
            <a:ext cx="411539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微軟正黑體" panose="020B0604030504040204" pitchFamily="34" charset="-120"/>
              <a:buChar char="▲"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數位文憑區塊鏈平台交易流程架構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1153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5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46" grpId="0"/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1038952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9-1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實務案例─數位文憑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" name="資料庫圖表 1">
            <a:extLst>
              <a:ext uri="{FF2B5EF4-FFF2-40B4-BE49-F238E27FC236}">
                <a16:creationId xmlns:a16="http://schemas.microsoft.com/office/drawing/2014/main" id="{3DECB609-04B5-420C-B7C4-D74D07DB4B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352017"/>
              </p:ext>
            </p:extLst>
          </p:nvPr>
        </p:nvGraphicFramePr>
        <p:xfrm>
          <a:off x="1393501" y="1499254"/>
          <a:ext cx="4178916" cy="4510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7" name="資料庫圖表 36">
            <a:extLst>
              <a:ext uri="{FF2B5EF4-FFF2-40B4-BE49-F238E27FC236}">
                <a16:creationId xmlns:a16="http://schemas.microsoft.com/office/drawing/2014/main" id="{96492C80-A87E-47E3-A429-B5CCE0FB8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9481929"/>
              </p:ext>
            </p:extLst>
          </p:nvPr>
        </p:nvGraphicFramePr>
        <p:xfrm>
          <a:off x="5936827" y="1803366"/>
          <a:ext cx="4472831" cy="44961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CE45915F-F705-4037-847C-0621A14EC4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17188" y="1285876"/>
            <a:ext cx="512108" cy="42675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663FAC5-DE00-4AFA-98DC-F36703AC01E7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231" y="4920794"/>
            <a:ext cx="1661210" cy="1661210"/>
          </a:xfrm>
          <a:prstGeom prst="rect">
            <a:avLst/>
          </a:prstGeom>
        </p:spPr>
      </p:pic>
      <p:pic>
        <p:nvPicPr>
          <p:cNvPr id="6" name="圖片 5" descr="一張含有 物件 的圖片&#10;&#10;描述是以高可信度產生">
            <a:extLst>
              <a:ext uri="{FF2B5EF4-FFF2-40B4-BE49-F238E27FC236}">
                <a16:creationId xmlns:a16="http://schemas.microsoft.com/office/drawing/2014/main" id="{B676CB3E-785F-40F4-9FA2-F088D4519B4E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251" y="5842252"/>
            <a:ext cx="643114" cy="643114"/>
          </a:xfrm>
          <a:prstGeom prst="rect">
            <a:avLst/>
          </a:prstGeom>
        </p:spPr>
      </p:pic>
      <p:pic>
        <p:nvPicPr>
          <p:cNvPr id="11" name="圖片 10" descr="一張含有 向量圖形, 文字 的圖片&#10;&#10;描述是以高可信度產生">
            <a:extLst>
              <a:ext uri="{FF2B5EF4-FFF2-40B4-BE49-F238E27FC236}">
                <a16:creationId xmlns:a16="http://schemas.microsoft.com/office/drawing/2014/main" id="{FDE89EBE-156F-4428-BA76-F7215EA32BD7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162" y="2462387"/>
            <a:ext cx="533364" cy="533364"/>
          </a:xfrm>
          <a:prstGeom prst="rect">
            <a:avLst/>
          </a:prstGeom>
        </p:spPr>
      </p:pic>
      <p:pic>
        <p:nvPicPr>
          <p:cNvPr id="14" name="圖片 13" descr="一張含有 向量圖形 的圖片&#10;&#10;描述是以高可信度產生">
            <a:extLst>
              <a:ext uri="{FF2B5EF4-FFF2-40B4-BE49-F238E27FC236}">
                <a16:creationId xmlns:a16="http://schemas.microsoft.com/office/drawing/2014/main" id="{8941C6E2-4048-4F1F-B584-A24EAF589045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0823" y="4279766"/>
            <a:ext cx="568846" cy="568846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EA4A446D-6B4E-4062-A6A8-C5D9B61C3E9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01070">
            <a:off x="1201529" y="2789136"/>
            <a:ext cx="832604" cy="832604"/>
          </a:xfrm>
          <a:prstGeom prst="rect">
            <a:avLst/>
          </a:prstGeom>
        </p:spPr>
      </p:pic>
      <p:pic>
        <p:nvPicPr>
          <p:cNvPr id="16" name="圖片 15" descr="一張含有 物件 的圖片&#10;&#10;描述是以高可信度產生">
            <a:extLst>
              <a:ext uri="{FF2B5EF4-FFF2-40B4-BE49-F238E27FC236}">
                <a16:creationId xmlns:a16="http://schemas.microsoft.com/office/drawing/2014/main" id="{3D1735C5-E86D-4DB5-A15B-05D88A31C95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1372" y="2086645"/>
            <a:ext cx="751486" cy="751484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313EB889-6172-46E7-9B18-8BCAFC60E61F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466" y="5652407"/>
            <a:ext cx="821432" cy="82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81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6" grpId="0"/>
      <p:bldGraphic spid="2" grpId="0">
        <p:bldAsOne/>
      </p:bldGraphic>
      <p:bldGraphic spid="37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案例介紹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695492" y="1376436"/>
            <a:ext cx="9046404" cy="4618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rgbClr val="38948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病歷</a:t>
            </a:r>
            <a:endParaRPr lang="en-US" altLang="zh-TW" sz="2400" b="1" dirty="0">
              <a:solidFill>
                <a:srgbClr val="38948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涉及患者個人隱私及醫生的智慧財產權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屬於就診醫院所有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endParaRPr lang="zh-TW" altLang="en-US" sz="7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患者若要將就診紀錄攜出，必須先到原就診醫院提出申請紙本病歷攜出，或向病歷交換中心申請病歷交換作業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5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費時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5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醫療資源的浪費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微軟正黑體" panose="020B0604030504040204" pitchFamily="34" charset="-120"/>
              <a:buChar char="→"/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醫療產業可以引進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區塊鏈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技術，提升醫療紀錄的運用程序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1030468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DF08A53-7184-4C8B-88CE-33857CC726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546" y="1154768"/>
            <a:ext cx="1717150" cy="171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54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4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D7F4831-1A36-4A2F-ACBE-344F724510DC}"/>
              </a:ext>
            </a:extLst>
          </p:cNvPr>
          <p:cNvSpPr txBox="1"/>
          <p:nvPr/>
        </p:nvSpPr>
        <p:spPr>
          <a:xfrm>
            <a:off x="4950485" y="449166"/>
            <a:ext cx="1537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-1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案例介紹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450105" y="1323761"/>
            <a:ext cx="9645244" cy="501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台北醫學大學附設醫院</a:t>
            </a:r>
            <a:endParaRPr lang="en-US" altLang="zh-TW" sz="7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與 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DTCO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合作開發</a:t>
            </a:r>
            <a:r>
              <a:rPr lang="en-US" altLang="zh-TW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phrOS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健康醫療區塊鏈平台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en-US" altLang="zh-TW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phrOS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即客戶</a:t>
            </a:r>
            <a:r>
              <a:rPr lang="zh-TW" altLang="en-US" sz="2400" b="1" dirty="0">
                <a:solidFill>
                  <a:srgbClr val="54667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個人的健康紀錄操作系統</a:t>
            </a:r>
            <a:endParaRPr lang="en-US" altLang="zh-TW" sz="2400" b="1" dirty="0">
              <a:solidFill>
                <a:srgbClr val="54667E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整合客戶的身分驗證、線上授權、離散式交易資訊儲存、聯盟鏈管理等技術的開發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「以人為中心」的個人化醫療體系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智慧健康隨行卡</a:t>
            </a:r>
          </a:p>
          <a:p>
            <a:pPr marL="1257300" lvl="2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為客戶打造一個健康資訊帳戶，儲存個人的健康資訊，提供客戶追蹤健康狀況，形成個人的健康醫療資訊庫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826849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EEEDF95-A798-4C8B-A758-CD6A9D666A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7168" y="393820"/>
            <a:ext cx="1771314" cy="17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476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132312" y="1177544"/>
            <a:ext cx="9596031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4"/>
              </a:buBlip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健康醫療區塊鏈平台之節點硬體設備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1009729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42D8156-7A02-4B86-8F99-078CC28A2F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6156783"/>
              </p:ext>
            </p:extLst>
          </p:nvPr>
        </p:nvGraphicFramePr>
        <p:xfrm>
          <a:off x="943111" y="1864779"/>
          <a:ext cx="10513168" cy="4394813"/>
        </p:xfrm>
        <a:graphic>
          <a:graphicData uri="http://schemas.openxmlformats.org/drawingml/2006/table">
            <a:tbl>
              <a:tblPr firstRow="1" bandRow="1"/>
              <a:tblGrid>
                <a:gridCol w="145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3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008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Blockchain</a:t>
                      </a:r>
                      <a:r>
                        <a:rPr lang="en-US" altLang="zh-TW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Nodes Reference Specification</a:t>
                      </a:r>
                      <a:endParaRPr lang="zh-TW" alt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0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Type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Super Node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Light Node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IoT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Client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Virtual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Machine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490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Hardware</a:t>
                      </a: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Requirement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CPU :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i5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-4460 </a:t>
                      </a: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Memory 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8GB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DDR3</a:t>
                      </a:r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HD</a:t>
                      </a:r>
                      <a:r>
                        <a:rPr lang="zh-TW" alt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1TB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CPU :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Intel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i3-5010U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Memory 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4GB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DDR3L</a:t>
                      </a:r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HD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1TB</a:t>
                      </a:r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CPU</a:t>
                      </a:r>
                      <a:r>
                        <a:rPr lang="zh-TW" alt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ARM Quad Core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baseline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1.2GHz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Memory 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1GB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SD card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64GB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CPU</a:t>
                      </a:r>
                      <a:r>
                        <a:rPr lang="zh-TW" alt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Dual-Core 3.0 GHz</a:t>
                      </a: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Memory 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8GB</a:t>
                      </a:r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  <a:p>
                      <a:pPr algn="just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Storage</a:t>
                      </a:r>
                      <a:r>
                        <a:rPr lang="zh-TW" altLang="en-US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: </a:t>
                      </a:r>
                      <a:r>
                        <a:rPr lang="en-US" altLang="zh-TW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1TB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just"/>
                      <a:endParaRPr lang="en-US" altLang="zh-TW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r>
                        <a:rPr lang="en-US" altLang="zh-TW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Smart</a:t>
                      </a:r>
                      <a:r>
                        <a:rPr lang="en-US" altLang="zh-TW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Contract</a:t>
                      </a:r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algn="ctr"/>
                      <a:endParaRPr lang="zh-TW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3" name="圖片 22">
            <a:extLst>
              <a:ext uri="{FF2B5EF4-FFF2-40B4-BE49-F238E27FC236}">
                <a16:creationId xmlns:a16="http://schemas.microsoft.com/office/drawing/2014/main" id="{19D45A37-544D-4794-AE59-64BF240263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5802" y="3530652"/>
            <a:ext cx="1231162" cy="1231162"/>
          </a:xfrm>
          <a:prstGeom prst="rect">
            <a:avLst/>
          </a:prstGeom>
        </p:spPr>
      </p:pic>
      <p:pic>
        <p:nvPicPr>
          <p:cNvPr id="24" name="圖片 23">
            <a:extLst>
              <a:ext uri="{FF2B5EF4-FFF2-40B4-BE49-F238E27FC236}">
                <a16:creationId xmlns:a16="http://schemas.microsoft.com/office/drawing/2014/main" id="{16C97DE1-5050-4361-A8AE-DC6C740E5C9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398" y="3670987"/>
            <a:ext cx="1140930" cy="868176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268F05A8-8352-4D28-8879-791B8A076F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6674" y="3562302"/>
            <a:ext cx="916095" cy="1120656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79299F90-65AF-451B-9F93-CAACA70210D7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830" y="3365558"/>
            <a:ext cx="1393254" cy="1393254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67BBE843-1575-460D-B8C2-4B9966B36914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522" y="3530652"/>
            <a:ext cx="1177114" cy="1177114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C7BAF2A3-803E-4751-B731-73074A6A0137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4265" y="2032874"/>
            <a:ext cx="1275526" cy="479392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B00EDA70-6FF3-428E-B657-FAD154AE1C4B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</p:spTree>
    <p:extLst>
      <p:ext uri="{BB962C8B-B14F-4D97-AF65-F5344CB8AC3E}">
        <p14:creationId xmlns:p14="http://schemas.microsoft.com/office/powerpoint/2010/main" val="383338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3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648781" y="1662235"/>
            <a:ext cx="9079636" cy="3556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分散式的資料儲存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大型醫院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規模較大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超級節點（</a:t>
            </a:r>
            <a:r>
              <a:rPr lang="en-US" altLang="zh-TW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Super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Node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4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一般性地區醫院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規模較小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→ 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輕量型節點（</a:t>
            </a:r>
            <a:r>
              <a:rPr lang="en-US" altLang="zh-TW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Light Node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4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醫療器材或診所等資料量較小 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→ 迷你型節點（</a:t>
            </a:r>
            <a:r>
              <a:rPr lang="en-US" altLang="zh-TW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IoT Client</a:t>
            </a:r>
            <a:r>
              <a:rPr lang="zh-TW" altLang="en-US" sz="2400" b="1" dirty="0">
                <a:solidFill>
                  <a:schemeClr val="tx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400" b="1" dirty="0">
              <a:solidFill>
                <a:schemeClr val="tx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9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可透過</a:t>
            </a:r>
            <a:r>
              <a:rPr lang="en-US" altLang="zh-TW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phrOS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平台提供病患需要的醫材資訊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微軟正黑體" panose="020B0604030504040204" pitchFamily="34" charset="-120"/>
              <a:buChar char="→"/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物聯網與區塊鏈結合的概念，擴展平台的實用性</a:t>
            </a: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8268491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 descr="一張含有 物件 的圖片&#10;&#10;描述是以非常高的可信度產生">
            <a:extLst>
              <a:ext uri="{FF2B5EF4-FFF2-40B4-BE49-F238E27FC236}">
                <a16:creationId xmlns:a16="http://schemas.microsoft.com/office/drawing/2014/main" id="{25C85F9C-E32E-40C2-8D1A-CFD977DAB0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819" y="372705"/>
            <a:ext cx="1697196" cy="1697196"/>
          </a:xfrm>
          <a:prstGeom prst="rect">
            <a:avLst/>
          </a:prstGeom>
        </p:spPr>
      </p:pic>
      <p:pic>
        <p:nvPicPr>
          <p:cNvPr id="12" name="图片 42">
            <a:extLst>
              <a:ext uri="{FF2B5EF4-FFF2-40B4-BE49-F238E27FC236}">
                <a16:creationId xmlns:a16="http://schemas.microsoft.com/office/drawing/2014/main" id="{EB55E2C3-4C7F-4FD2-9907-C99ED400D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1DD2B6B0-9D8A-4528-A635-C0C3EF7D8C15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</p:spTree>
    <p:extLst>
      <p:ext uri="{BB962C8B-B14F-4D97-AF65-F5344CB8AC3E}">
        <p14:creationId xmlns:p14="http://schemas.microsoft.com/office/powerpoint/2010/main" val="3907901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5923463" y="6183489"/>
            <a:ext cx="421782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微軟正黑體" panose="020B0604030504040204" pitchFamily="34" charset="-120"/>
              <a:buChar char="▲"/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健康醫療區塊鏈平台之軟體架構</a:t>
            </a:r>
            <a:endParaRPr lang="en-US" altLang="zh-TW" sz="20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10200986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00EDA70-6FF3-428E-B657-FAD154AE1C4B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  <p:pic>
        <p:nvPicPr>
          <p:cNvPr id="16" name="Picture 2" descr="https://s4.itho.me/sites/default/files/ying_mu_kuai_zhao_2017-11-10_xia_wu_4.01.09_1.png">
            <a:extLst>
              <a:ext uri="{FF2B5EF4-FFF2-40B4-BE49-F238E27FC236}">
                <a16:creationId xmlns:a16="http://schemas.microsoft.com/office/drawing/2014/main" id="{6CFF35D8-0609-4DC4-8295-1B9C4EC1706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107" y="1465885"/>
            <a:ext cx="8063106" cy="4520134"/>
          </a:xfrm>
          <a:prstGeom prst="rect">
            <a:avLst/>
          </a:prstGeom>
          <a:noFill/>
          <a:extLst/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AE3876C9-BBF1-497F-B48D-1F47B12C1D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38" y="4928734"/>
            <a:ext cx="1667658" cy="166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9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 flipV="1">
            <a:off x="1177167" y="1036206"/>
            <a:ext cx="8513588" cy="105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資料庫圖表 12">
            <a:extLst>
              <a:ext uri="{FF2B5EF4-FFF2-40B4-BE49-F238E27FC236}">
                <a16:creationId xmlns:a16="http://schemas.microsoft.com/office/drawing/2014/main" id="{23EEA24D-EAA0-44A1-9EE2-543E42ED00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736731"/>
              </p:ext>
            </p:extLst>
          </p:nvPr>
        </p:nvGraphicFramePr>
        <p:xfrm>
          <a:off x="658108" y="2654940"/>
          <a:ext cx="10173290" cy="34377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449EA3C9-163F-4424-90D8-FD2FE7371550}"/>
              </a:ext>
            </a:extLst>
          </p:cNvPr>
          <p:cNvSpPr txBox="1"/>
          <p:nvPr/>
        </p:nvSpPr>
        <p:spPr>
          <a:xfrm>
            <a:off x="1261566" y="2176599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Eras Demi ITC" panose="020B0805030504020804" pitchFamily="34" charset="0"/>
              </a:rPr>
              <a:t>STEP 1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12D9BBF-59A3-4876-B880-0CD717DA5620}"/>
              </a:ext>
            </a:extLst>
          </p:cNvPr>
          <p:cNvSpPr txBox="1"/>
          <p:nvPr/>
        </p:nvSpPr>
        <p:spPr>
          <a:xfrm>
            <a:off x="6836880" y="2176599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  <a:latin typeface="Eras Demi ITC" panose="020B0805030504020804" pitchFamily="34" charset="0"/>
              </a:rPr>
              <a:t>STEP 2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FFEC8B5-62F6-4FF1-92A8-EA29CF18C344}"/>
              </a:ext>
            </a:extLst>
          </p:cNvPr>
          <p:cNvSpPr txBox="1"/>
          <p:nvPr/>
        </p:nvSpPr>
        <p:spPr>
          <a:xfrm>
            <a:off x="2491062" y="217659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第一層架構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BC412DA-AF9D-4F34-A0BC-70399E0AB624}"/>
              </a:ext>
            </a:extLst>
          </p:cNvPr>
          <p:cNvSpPr txBox="1"/>
          <p:nvPr/>
        </p:nvSpPr>
        <p:spPr>
          <a:xfrm>
            <a:off x="8579143" y="2176599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第二層架構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B057C4-4C87-40D9-A961-D0656081305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88228" y="3875229"/>
            <a:ext cx="707197" cy="823031"/>
          </a:xfrm>
          <a:prstGeom prst="rect">
            <a:avLst/>
          </a:prstGeom>
        </p:spPr>
      </p:pic>
      <p:pic>
        <p:nvPicPr>
          <p:cNvPr id="7" name="圖片 6" descr="一張含有 名片, 文字 的圖片&#10;&#10;描述是以非常高的可信度產生">
            <a:extLst>
              <a:ext uri="{FF2B5EF4-FFF2-40B4-BE49-F238E27FC236}">
                <a16:creationId xmlns:a16="http://schemas.microsoft.com/office/drawing/2014/main" id="{7BA9AF8D-04E1-4D2C-A6EA-092569FFB7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965" y="276647"/>
            <a:ext cx="1519118" cy="151911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D9323D2B-33FB-4422-9B50-D6A8036823ED}"/>
              </a:ext>
            </a:extLst>
          </p:cNvPr>
          <p:cNvSpPr txBox="1"/>
          <p:nvPr/>
        </p:nvSpPr>
        <p:spPr>
          <a:xfrm>
            <a:off x="1176759" y="1323761"/>
            <a:ext cx="53062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Blip>
                <a:blip r:embed="rId11"/>
              </a:buBlip>
            </a:pP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健康醫療區塊鏈系統平台規劃概區分為</a:t>
            </a:r>
            <a:r>
              <a:rPr lang="en-US" altLang="zh-TW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 </a:t>
            </a:r>
            <a:r>
              <a:rPr lang="zh-TW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層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F0BB916B-33CB-4954-BEB5-D2912793FABD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</p:spTree>
    <p:extLst>
      <p:ext uri="{BB962C8B-B14F-4D97-AF65-F5344CB8AC3E}">
        <p14:creationId xmlns:p14="http://schemas.microsoft.com/office/powerpoint/2010/main" val="218644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Graphic spid="13" grpId="0">
        <p:bldAsOne/>
      </p:bldGraphic>
      <p:bldP spid="16" grpId="0"/>
      <p:bldP spid="21" grpId="0"/>
      <p:bldP spid="2" grpId="0"/>
      <p:bldP spid="18" grpId="0"/>
      <p:bldP spid="15" grpId="0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2">
            <a:extLst>
              <a:ext uri="{FF2B5EF4-FFF2-40B4-BE49-F238E27FC236}">
                <a16:creationId xmlns:a16="http://schemas.microsoft.com/office/drawing/2014/main" id="{C8D97DA4-6242-4E73-AEFC-457D04FD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4" name="資料庫圖表 13">
            <a:extLst>
              <a:ext uri="{FF2B5EF4-FFF2-40B4-BE49-F238E27FC236}">
                <a16:creationId xmlns:a16="http://schemas.microsoft.com/office/drawing/2014/main" id="{53307EDB-3042-4E0A-8FB6-C0CD03D80F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6474515"/>
              </p:ext>
            </p:extLst>
          </p:nvPr>
        </p:nvGraphicFramePr>
        <p:xfrm>
          <a:off x="274947" y="2554854"/>
          <a:ext cx="11698664" cy="330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BF9E80AF-726D-4315-BB73-E1011B32D079}"/>
              </a:ext>
            </a:extLst>
          </p:cNvPr>
          <p:cNvSpPr txBox="1"/>
          <p:nvPr/>
        </p:nvSpPr>
        <p:spPr>
          <a:xfrm>
            <a:off x="358562" y="2027504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3">
                    <a:lumMod val="50000"/>
                  </a:schemeClr>
                </a:solidFill>
                <a:latin typeface="Eras Demi ITC" panose="020B0805030504020804" pitchFamily="34" charset="0"/>
              </a:rPr>
              <a:t>STEP 3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8D2B1D3-B044-4701-9435-4D611021C276}"/>
              </a:ext>
            </a:extLst>
          </p:cNvPr>
          <p:cNvSpPr txBox="1"/>
          <p:nvPr/>
        </p:nvSpPr>
        <p:spPr>
          <a:xfrm>
            <a:off x="8305229" y="2027504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3">
                    <a:lumMod val="50000"/>
                  </a:schemeClr>
                </a:solidFill>
                <a:latin typeface="Eras Demi ITC" panose="020B0805030504020804" pitchFamily="34" charset="0"/>
              </a:rPr>
              <a:t>STEP 5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8691502-AFD0-4A29-9FDB-7E221C5248C3}"/>
              </a:ext>
            </a:extLst>
          </p:cNvPr>
          <p:cNvSpPr txBox="1"/>
          <p:nvPr/>
        </p:nvSpPr>
        <p:spPr>
          <a:xfrm>
            <a:off x="4100568" y="2027504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chemeClr val="accent3">
                    <a:lumMod val="50000"/>
                  </a:schemeClr>
                </a:solidFill>
                <a:latin typeface="Eras Demi ITC" panose="020B0805030504020804" pitchFamily="34" charset="0"/>
              </a:rPr>
              <a:t>STEP 4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E4DCE6C-CBC6-41D1-95DC-3A742F9235E7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06B502D-16D6-4636-8842-610F28BDBA30}"/>
              </a:ext>
            </a:extLst>
          </p:cNvPr>
          <p:cNvSpPr txBox="1"/>
          <p:nvPr/>
        </p:nvSpPr>
        <p:spPr>
          <a:xfrm>
            <a:off x="1547395" y="202750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第三層架構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B84A461D-8F37-4463-B7FA-14B68464CC5D}"/>
              </a:ext>
            </a:extLst>
          </p:cNvPr>
          <p:cNvSpPr txBox="1"/>
          <p:nvPr/>
        </p:nvSpPr>
        <p:spPr>
          <a:xfrm>
            <a:off x="5445440" y="202750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第四層架構</a:t>
            </a: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97A90BF4-69FC-4BED-A797-FEB00D1E1B1D}"/>
              </a:ext>
            </a:extLst>
          </p:cNvPr>
          <p:cNvSpPr txBox="1"/>
          <p:nvPr/>
        </p:nvSpPr>
        <p:spPr>
          <a:xfrm>
            <a:off x="9897941" y="202750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第五層架構</a:t>
            </a:r>
          </a:p>
        </p:txBody>
      </p:sp>
      <p:cxnSp>
        <p:nvCxnSpPr>
          <p:cNvPr id="25" name="直接连接符 33">
            <a:extLst>
              <a:ext uri="{FF2B5EF4-FFF2-40B4-BE49-F238E27FC236}">
                <a16:creationId xmlns:a16="http://schemas.microsoft.com/office/drawing/2014/main" id="{3E3A1C8F-12C7-4E18-8806-28A68E19594B}"/>
              </a:ext>
            </a:extLst>
          </p:cNvPr>
          <p:cNvCxnSpPr>
            <a:cxnSpLocks/>
          </p:cNvCxnSpPr>
          <p:nvPr/>
        </p:nvCxnSpPr>
        <p:spPr>
          <a:xfrm flipV="1">
            <a:off x="1177167" y="1036206"/>
            <a:ext cx="8513588" cy="1054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圖片 26" descr="一張含有 名片, 文字 的圖片&#10;&#10;描述是以非常高的可信度產生">
            <a:extLst>
              <a:ext uri="{FF2B5EF4-FFF2-40B4-BE49-F238E27FC236}">
                <a16:creationId xmlns:a16="http://schemas.microsoft.com/office/drawing/2014/main" id="{D53B1FC7-7EBF-4C5D-9EB5-7C93431D70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7965" y="276647"/>
            <a:ext cx="1519118" cy="1519118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CA9D08BC-0832-4C45-A031-B84B1B6039AA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</p:spTree>
    <p:extLst>
      <p:ext uri="{BB962C8B-B14F-4D97-AF65-F5344CB8AC3E}">
        <p14:creationId xmlns:p14="http://schemas.microsoft.com/office/powerpoint/2010/main" val="191394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Graphic spid="14" grpId="0">
        <p:bldAsOne/>
      </p:bldGraphic>
      <p:bldP spid="17" grpId="0"/>
      <p:bldP spid="19" grpId="0"/>
      <p:bldP spid="20" grpId="0"/>
      <p:bldP spid="22" grpId="0"/>
      <p:bldP spid="23" grpId="0"/>
      <p:bldP spid="24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81D0666A-D96D-4B5B-9036-192FA53FE435}"/>
              </a:ext>
            </a:extLst>
          </p:cNvPr>
          <p:cNvSpPr txBox="1"/>
          <p:nvPr/>
        </p:nvSpPr>
        <p:spPr>
          <a:xfrm>
            <a:off x="1558751" y="6596390"/>
            <a:ext cx="42178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區塊鏈商業應用概論 實例與分析／新陸書局股份有限公司 發行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F94E171-0176-49DD-BE6C-DB2D96B94A88}"/>
              </a:ext>
            </a:extLst>
          </p:cNvPr>
          <p:cNvSpPr txBox="1"/>
          <p:nvPr/>
        </p:nvSpPr>
        <p:spPr>
          <a:xfrm>
            <a:off x="1235890" y="1397609"/>
            <a:ext cx="9720219" cy="4779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zh-TW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phrOS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是一套區塊鏈中介系統，提供應用程式介面（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API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）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讓醫院系統可以進行串接作業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協助醫院將客戶的病歷資料寫入私有鏈中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由院方負責私有鏈內的節點維護與協助客戶開立健康資訊帳戶，並確認病歷的安全跟資訊互通性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endParaRPr lang="en-US" altLang="zh-TW" sz="8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altLang="zh-TW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phrOS</a:t>
            </a:r>
            <a:r>
              <a:rPr lang="en-US" altLang="zh-TW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可以與其他醫院進行區塊連結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依據醫院的資訊能力跟需求進行節點建置</a:t>
            </a:r>
            <a:endParaRPr lang="en-US" altLang="zh-TW" sz="2400" b="1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Blip>
                <a:blip r:embed="rId3"/>
              </a:buBlip>
            </a:pPr>
            <a:r>
              <a:rPr lang="zh-TW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依醫院規模選擇交易紀錄的存取區塊或節點</a:t>
            </a:r>
          </a:p>
        </p:txBody>
      </p:sp>
      <p:cxnSp>
        <p:nvCxnSpPr>
          <p:cNvPr id="33" name="直接连接符 33">
            <a:extLst>
              <a:ext uri="{FF2B5EF4-FFF2-40B4-BE49-F238E27FC236}">
                <a16:creationId xmlns:a16="http://schemas.microsoft.com/office/drawing/2014/main" id="{DFF80DCD-8EF0-4D2F-8380-59FA348D932C}"/>
              </a:ext>
            </a:extLst>
          </p:cNvPr>
          <p:cNvCxnSpPr>
            <a:cxnSpLocks/>
          </p:cNvCxnSpPr>
          <p:nvPr/>
        </p:nvCxnSpPr>
        <p:spPr>
          <a:xfrm>
            <a:off x="1177167" y="1046746"/>
            <a:ext cx="1026697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標題 1">
            <a:extLst>
              <a:ext uri="{FF2B5EF4-FFF2-40B4-BE49-F238E27FC236}">
                <a16:creationId xmlns:a16="http://schemas.microsoft.com/office/drawing/2014/main" id="{C610EB4C-25C3-409C-A0BB-4923D582E285}"/>
              </a:ext>
            </a:extLst>
          </p:cNvPr>
          <p:cNvSpPr txBox="1">
            <a:spLocks/>
          </p:cNvSpPr>
          <p:nvPr/>
        </p:nvSpPr>
        <p:spPr>
          <a:xfrm>
            <a:off x="1450104" y="393820"/>
            <a:ext cx="3643527" cy="874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rgbClr val="E06741"/>
                </a:solidFill>
              </a:rPr>
              <a:t>9-2 </a:t>
            </a:r>
            <a:r>
              <a:rPr lang="zh-TW" altLang="en-US" sz="2400" b="1" dirty="0">
                <a:solidFill>
                  <a:srgbClr val="E06741"/>
                </a:solidFill>
              </a:rPr>
              <a:t>實務案例─健康醫療</a:t>
            </a:r>
          </a:p>
          <a:p>
            <a:endParaRPr lang="zh-TW" altLang="en-US" sz="2400" dirty="0">
              <a:solidFill>
                <a:srgbClr val="E06741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2" name="图片 42">
            <a:extLst>
              <a:ext uri="{FF2B5EF4-FFF2-40B4-BE49-F238E27FC236}">
                <a16:creationId xmlns:a16="http://schemas.microsoft.com/office/drawing/2014/main" id="{EB55E2C3-4C7F-4FD2-9907-C99ED400D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145169" y="-145167"/>
            <a:ext cx="1268414" cy="15587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96195C6-9575-446F-833F-3C79F085C0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397" y="4832706"/>
            <a:ext cx="2155158" cy="2155158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F505857-6BD3-49B2-BDCB-A719352FD38F}"/>
              </a:ext>
            </a:extLst>
          </p:cNvPr>
          <p:cNvSpPr txBox="1"/>
          <p:nvPr/>
        </p:nvSpPr>
        <p:spPr>
          <a:xfrm>
            <a:off x="4950485" y="449166"/>
            <a:ext cx="23070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-2 </a:t>
            </a:r>
            <a:r>
              <a:rPr lang="zh-TW" alt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案例區塊鏈應用</a:t>
            </a:r>
          </a:p>
        </p:txBody>
      </p:sp>
    </p:spTree>
    <p:extLst>
      <p:ext uri="{BB962C8B-B14F-4D97-AF65-F5344CB8AC3E}">
        <p14:creationId xmlns:p14="http://schemas.microsoft.com/office/powerpoint/2010/main" val="87412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6" grpId="0"/>
      <p:bldP spid="1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包图主题2">
  <a:themeElements>
    <a:clrScheme name="自定义 1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A5A6F"/>
      </a:accent1>
      <a:accent2>
        <a:srgbClr val="E06741"/>
      </a:accent2>
      <a:accent3>
        <a:srgbClr val="4A5A6F"/>
      </a:accent3>
      <a:accent4>
        <a:srgbClr val="E06741"/>
      </a:accent4>
      <a:accent5>
        <a:srgbClr val="4A5A6F"/>
      </a:accent5>
      <a:accent6>
        <a:srgbClr val="E06741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3569</TotalTime>
  <Words>1606</Words>
  <Application>Microsoft Office PowerPoint</Application>
  <PresentationFormat>寬螢幕</PresentationFormat>
  <Paragraphs>253</Paragraphs>
  <Slides>18</Slides>
  <Notes>18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9" baseType="lpstr">
      <vt:lpstr>等线</vt:lpstr>
      <vt:lpstr>Microsoft JhengHei Light</vt:lpstr>
      <vt:lpstr>微软雅黑</vt:lpstr>
      <vt:lpstr>微軟正黑體</vt:lpstr>
      <vt:lpstr>新細明體</vt:lpstr>
      <vt:lpstr>標楷體</vt:lpstr>
      <vt:lpstr>Arial</vt:lpstr>
      <vt:lpstr>Calibri</vt:lpstr>
      <vt:lpstr>Eras Demi ITC</vt:lpstr>
      <vt:lpstr>Times New Roman</vt:lpstr>
      <vt:lpstr>包图主题2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http://www.ypppt.com/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張景涵</cp:lastModifiedBy>
  <cp:revision>348</cp:revision>
  <dcterms:created xsi:type="dcterms:W3CDTF">2017-09-04T07:53:30Z</dcterms:created>
  <dcterms:modified xsi:type="dcterms:W3CDTF">2018-07-27T03:21:52Z</dcterms:modified>
</cp:coreProperties>
</file>