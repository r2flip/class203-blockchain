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wdp" ContentType="image/vnd.ms-photo"/>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12.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notesSlides/notesSlide18.xml" ContentType="application/vnd.openxmlformats-officedocument.presentationml.notesSlide+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notesSlides/notesSlide19.xml" ContentType="application/vnd.openxmlformats-officedocument.presentationml.notesSlide+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66"/>
  </p:notesMasterIdLst>
  <p:sldIdLst>
    <p:sldId id="284" r:id="rId2"/>
    <p:sldId id="257" r:id="rId3"/>
    <p:sldId id="285" r:id="rId4"/>
    <p:sldId id="337" r:id="rId5"/>
    <p:sldId id="326" r:id="rId6"/>
    <p:sldId id="338" r:id="rId7"/>
    <p:sldId id="327" r:id="rId8"/>
    <p:sldId id="419" r:id="rId9"/>
    <p:sldId id="420" r:id="rId10"/>
    <p:sldId id="350" r:id="rId11"/>
    <p:sldId id="422" r:id="rId12"/>
    <p:sldId id="421" r:id="rId13"/>
    <p:sldId id="423" r:id="rId14"/>
    <p:sldId id="424" r:id="rId15"/>
    <p:sldId id="425" r:id="rId16"/>
    <p:sldId id="440" r:id="rId17"/>
    <p:sldId id="426" r:id="rId18"/>
    <p:sldId id="432" r:id="rId19"/>
    <p:sldId id="433" r:id="rId20"/>
    <p:sldId id="435" r:id="rId21"/>
    <p:sldId id="436" r:id="rId22"/>
    <p:sldId id="437" r:id="rId23"/>
    <p:sldId id="438" r:id="rId24"/>
    <p:sldId id="439" r:id="rId25"/>
    <p:sldId id="427" r:id="rId26"/>
    <p:sldId id="431" r:id="rId27"/>
    <p:sldId id="441" r:id="rId28"/>
    <p:sldId id="442" r:id="rId29"/>
    <p:sldId id="443" r:id="rId30"/>
    <p:sldId id="444" r:id="rId31"/>
    <p:sldId id="445" r:id="rId32"/>
    <p:sldId id="446" r:id="rId33"/>
    <p:sldId id="449" r:id="rId34"/>
    <p:sldId id="447" r:id="rId35"/>
    <p:sldId id="450" r:id="rId36"/>
    <p:sldId id="451" r:id="rId37"/>
    <p:sldId id="452" r:id="rId38"/>
    <p:sldId id="428" r:id="rId39"/>
    <p:sldId id="453" r:id="rId40"/>
    <p:sldId id="454" r:id="rId41"/>
    <p:sldId id="455" r:id="rId42"/>
    <p:sldId id="456" r:id="rId43"/>
    <p:sldId id="457" r:id="rId44"/>
    <p:sldId id="458" r:id="rId45"/>
    <p:sldId id="460" r:id="rId46"/>
    <p:sldId id="459" r:id="rId47"/>
    <p:sldId id="461" r:id="rId48"/>
    <p:sldId id="462" r:id="rId49"/>
    <p:sldId id="463" r:id="rId50"/>
    <p:sldId id="464" r:id="rId51"/>
    <p:sldId id="465" r:id="rId52"/>
    <p:sldId id="466" r:id="rId53"/>
    <p:sldId id="467" r:id="rId54"/>
    <p:sldId id="473" r:id="rId55"/>
    <p:sldId id="468" r:id="rId56"/>
    <p:sldId id="469" r:id="rId57"/>
    <p:sldId id="470" r:id="rId58"/>
    <p:sldId id="471" r:id="rId59"/>
    <p:sldId id="472" r:id="rId60"/>
    <p:sldId id="336" r:id="rId61"/>
    <p:sldId id="343" r:id="rId62"/>
    <p:sldId id="344" r:id="rId63"/>
    <p:sldId id="345" r:id="rId64"/>
    <p:sldId id="346" r:id="rId65"/>
  </p:sldIdLst>
  <p:sldSz cx="12192000" cy="6858000"/>
  <p:notesSz cx="6858000" cy="9144000"/>
  <p:custDataLst>
    <p:tags r:id="rId67"/>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EFE3CB"/>
    <a:srgbClr val="05AF99"/>
    <a:srgbClr val="669900"/>
    <a:srgbClr val="C6DBB7"/>
    <a:srgbClr val="FFF2C9"/>
    <a:srgbClr val="B6E4E0"/>
    <a:srgbClr val="495B73"/>
    <a:srgbClr val="CAECE9"/>
    <a:srgbClr val="F9F9F9"/>
    <a:srgbClr val="AECC9A"/>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2" autoAdjust="0"/>
    <p:restoredTop sz="94660"/>
  </p:normalViewPr>
  <p:slideViewPr>
    <p:cSldViewPr snapToGrid="0" showGuides="1">
      <p:cViewPr varScale="1">
        <p:scale>
          <a:sx n="104" d="100"/>
          <a:sy n="104" d="100"/>
        </p:scale>
        <p:origin x="198" y="114"/>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slide" Target="slides/slide62.xml"/><Relationship Id="rId68" Type="http://schemas.openxmlformats.org/officeDocument/2006/relationships/presProps" Target="presProps.xml"/><Relationship Id="rId7" Type="http://schemas.openxmlformats.org/officeDocument/2006/relationships/slide" Target="slides/slide6.xml"/><Relationship Id="rId71"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61" Type="http://schemas.openxmlformats.org/officeDocument/2006/relationships/slide" Target="slides/slide60.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viewProps" Target="viewProp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tags" Target="tags/tag1.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theme" Target="theme/theme1.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AD89BF07-152C-424D-8263-D631C004E687}" type="doc">
      <dgm:prSet loTypeId="urn:microsoft.com/office/officeart/2005/8/layout/cycle4" loCatId="cycle" qsTypeId="urn:microsoft.com/office/officeart/2005/8/quickstyle/simple1" qsCatId="simple" csTypeId="urn:microsoft.com/office/officeart/2005/8/colors/accent1_2" csCatId="accent1" phldr="1"/>
      <dgm:spPr/>
      <dgm:t>
        <a:bodyPr/>
        <a:lstStyle/>
        <a:p>
          <a:endParaRPr lang="zh-TW" altLang="en-US"/>
        </a:p>
      </dgm:t>
    </dgm:pt>
    <dgm:pt modelId="{88E56290-1334-4CBC-9B3B-755466850CF6}">
      <dgm:prSet phldrT="[文字]" custT="1">
        <dgm:style>
          <a:lnRef idx="0">
            <a:scrgbClr r="0" g="0" b="0"/>
          </a:lnRef>
          <a:fillRef idx="0">
            <a:scrgbClr r="0" g="0" b="0"/>
          </a:fillRef>
          <a:effectRef idx="0">
            <a:scrgbClr r="0" g="0" b="0"/>
          </a:effectRef>
          <a:fontRef idx="minor">
            <a:schemeClr val="accent4"/>
          </a:fontRef>
        </dgm:style>
      </dgm:prSet>
      <dgm:spPr>
        <a:solidFill>
          <a:schemeClr val="accent2">
            <a:lumMod val="20000"/>
            <a:lumOff val="80000"/>
          </a:schemeClr>
        </a:solidFill>
        <a:ln w="19050" cap="flat" cmpd="sng" algn="ctr">
          <a:noFill/>
          <a:prstDash val="solid"/>
          <a:round/>
          <a:headEnd type="none" w="med" len="med"/>
          <a:tailEnd type="none" w="med" len="med"/>
        </a:ln>
      </dgm:spPr>
      <dgm:t>
        <a:bodyPr/>
        <a:lstStyle/>
        <a:p>
          <a:r>
            <a:rPr lang="zh-TW" altLang="en-US" sz="2400" b="1" dirty="0">
              <a:solidFill>
                <a:schemeClr val="tx1">
                  <a:lumMod val="75000"/>
                  <a:lumOff val="25000"/>
                </a:schemeClr>
              </a:solidFill>
              <a:latin typeface="微軟正黑體" panose="020B0604030504040204" pitchFamily="34" charset="-120"/>
              <a:ea typeface="微軟正黑體" panose="020B0604030504040204" pitchFamily="34" charset="-120"/>
            </a:rPr>
            <a:t>離散式帳本</a:t>
          </a:r>
        </a:p>
      </dgm:t>
    </dgm:pt>
    <dgm:pt modelId="{140EFA15-ADC1-4017-BC01-4885E9965FB7}" type="parTrans" cxnId="{6C995857-1D18-4324-9B67-3A38CEA6EE82}">
      <dgm:prSet/>
      <dgm:spPr/>
      <dgm:t>
        <a:bodyPr/>
        <a:lstStyle/>
        <a:p>
          <a:endParaRPr lang="zh-TW" altLang="en-US" sz="3200" b="1">
            <a:latin typeface="微軟正黑體" panose="020B0604030504040204" pitchFamily="34" charset="-120"/>
            <a:ea typeface="微軟正黑體" panose="020B0604030504040204" pitchFamily="34" charset="-120"/>
          </a:endParaRPr>
        </a:p>
      </dgm:t>
    </dgm:pt>
    <dgm:pt modelId="{9CD56E3F-C04D-4992-A5CE-BA07A88FFAFD}" type="sibTrans" cxnId="{6C995857-1D18-4324-9B67-3A38CEA6EE82}">
      <dgm:prSet/>
      <dgm:spPr/>
      <dgm:t>
        <a:bodyPr/>
        <a:lstStyle/>
        <a:p>
          <a:endParaRPr lang="zh-TW" altLang="en-US" sz="3200" b="1">
            <a:latin typeface="微軟正黑體" panose="020B0604030504040204" pitchFamily="34" charset="-120"/>
            <a:ea typeface="微軟正黑體" panose="020B0604030504040204" pitchFamily="34" charset="-120"/>
          </a:endParaRPr>
        </a:p>
      </dgm:t>
    </dgm:pt>
    <dgm:pt modelId="{8467A78E-3DD4-4615-8796-A5E91471D6C3}">
      <dgm:prSet phldrT="[文字]" custT="1">
        <dgm:style>
          <a:lnRef idx="0">
            <a:scrgbClr r="0" g="0" b="0"/>
          </a:lnRef>
          <a:fillRef idx="0">
            <a:scrgbClr r="0" g="0" b="0"/>
          </a:fillRef>
          <a:effectRef idx="0">
            <a:scrgbClr r="0" g="0" b="0"/>
          </a:effectRef>
          <a:fontRef idx="minor">
            <a:schemeClr val="accent4"/>
          </a:fontRef>
        </dgm:style>
      </dgm:prSet>
      <dgm:spPr>
        <a:solidFill>
          <a:srgbClr val="CAECE9"/>
        </a:solidFill>
        <a:ln w="19050" cap="flat" cmpd="sng" algn="ctr">
          <a:noFill/>
          <a:prstDash val="solid"/>
          <a:round/>
          <a:headEnd type="none" w="med" len="med"/>
          <a:tailEnd type="none" w="med" len="med"/>
        </a:ln>
      </dgm:spPr>
      <dgm:t>
        <a:bodyPr/>
        <a:lstStyle/>
        <a:p>
          <a:r>
            <a:rPr lang="zh-TW" altLang="en-US" sz="2400" b="1" dirty="0">
              <a:solidFill>
                <a:schemeClr val="tx1">
                  <a:lumMod val="75000"/>
                  <a:lumOff val="25000"/>
                </a:schemeClr>
              </a:solidFill>
              <a:latin typeface="微軟正黑體" panose="020B0604030504040204" pitchFamily="34" charset="-120"/>
              <a:ea typeface="微軟正黑體" panose="020B0604030504040204" pitchFamily="34" charset="-120"/>
            </a:rPr>
            <a:t>安全    加密</a:t>
          </a:r>
        </a:p>
      </dgm:t>
    </dgm:pt>
    <dgm:pt modelId="{90CEDF1E-EFA1-4288-8EF0-F3EBFF0B59DB}" type="parTrans" cxnId="{BEF8D38B-B2CD-4EA6-910B-C48DC7EE4594}">
      <dgm:prSet/>
      <dgm:spPr/>
      <dgm:t>
        <a:bodyPr/>
        <a:lstStyle/>
        <a:p>
          <a:endParaRPr lang="zh-TW" altLang="en-US" sz="3200" b="1">
            <a:latin typeface="微軟正黑體" panose="020B0604030504040204" pitchFamily="34" charset="-120"/>
            <a:ea typeface="微軟正黑體" panose="020B0604030504040204" pitchFamily="34" charset="-120"/>
          </a:endParaRPr>
        </a:p>
      </dgm:t>
    </dgm:pt>
    <dgm:pt modelId="{7D38868D-8AEF-4CE2-A8CD-59B5FD64ED60}" type="sibTrans" cxnId="{BEF8D38B-B2CD-4EA6-910B-C48DC7EE4594}">
      <dgm:prSet/>
      <dgm:spPr/>
      <dgm:t>
        <a:bodyPr/>
        <a:lstStyle/>
        <a:p>
          <a:endParaRPr lang="zh-TW" altLang="en-US" sz="3200" b="1">
            <a:latin typeface="微軟正黑體" panose="020B0604030504040204" pitchFamily="34" charset="-120"/>
            <a:ea typeface="微軟正黑體" panose="020B0604030504040204" pitchFamily="34" charset="-120"/>
          </a:endParaRPr>
        </a:p>
      </dgm:t>
    </dgm:pt>
    <dgm:pt modelId="{08819DE6-C0BB-4E8E-8D53-A846EE80EC38}">
      <dgm:prSet phldrT="[文字]" custT="1">
        <dgm:style>
          <a:lnRef idx="0">
            <a:scrgbClr r="0" g="0" b="0"/>
          </a:lnRef>
          <a:fillRef idx="0">
            <a:scrgbClr r="0" g="0" b="0"/>
          </a:fillRef>
          <a:effectRef idx="0">
            <a:scrgbClr r="0" g="0" b="0"/>
          </a:effectRef>
          <a:fontRef idx="minor">
            <a:schemeClr val="accent4"/>
          </a:fontRef>
        </dgm:style>
      </dgm:prSet>
      <dgm:spPr>
        <a:solidFill>
          <a:srgbClr val="C6DBB7"/>
        </a:solidFill>
        <a:ln w="19050" cap="flat" cmpd="sng" algn="ctr">
          <a:noFill/>
          <a:prstDash val="solid"/>
          <a:round/>
          <a:headEnd type="none" w="med" len="med"/>
          <a:tailEnd type="none" w="med" len="med"/>
        </a:ln>
      </dgm:spPr>
      <dgm:t>
        <a:bodyPr/>
        <a:lstStyle/>
        <a:p>
          <a:r>
            <a:rPr lang="zh-TW" altLang="en-US" sz="2400" b="1" dirty="0">
              <a:solidFill>
                <a:schemeClr val="tx1">
                  <a:lumMod val="75000"/>
                  <a:lumOff val="25000"/>
                </a:schemeClr>
              </a:solidFill>
              <a:latin typeface="微軟正黑體" panose="020B0604030504040204" pitchFamily="34" charset="-120"/>
              <a:ea typeface="微軟正黑體" panose="020B0604030504040204" pitchFamily="34" charset="-120"/>
            </a:rPr>
            <a:t>多數決機制</a:t>
          </a:r>
        </a:p>
      </dgm:t>
    </dgm:pt>
    <dgm:pt modelId="{5AD6492C-F68F-43D0-820B-E126CAC2098F}" type="parTrans" cxnId="{AD8EDB2E-E6B4-45D1-B867-0B632C729D5D}">
      <dgm:prSet/>
      <dgm:spPr/>
      <dgm:t>
        <a:bodyPr/>
        <a:lstStyle/>
        <a:p>
          <a:endParaRPr lang="zh-TW" altLang="en-US" sz="3200" b="1">
            <a:latin typeface="微軟正黑體" panose="020B0604030504040204" pitchFamily="34" charset="-120"/>
            <a:ea typeface="微軟正黑體" panose="020B0604030504040204" pitchFamily="34" charset="-120"/>
          </a:endParaRPr>
        </a:p>
      </dgm:t>
    </dgm:pt>
    <dgm:pt modelId="{3DD87AB1-822B-4A1E-98E6-35DD0298F1A6}" type="sibTrans" cxnId="{AD8EDB2E-E6B4-45D1-B867-0B632C729D5D}">
      <dgm:prSet/>
      <dgm:spPr/>
      <dgm:t>
        <a:bodyPr/>
        <a:lstStyle/>
        <a:p>
          <a:endParaRPr lang="zh-TW" altLang="en-US" sz="3200" b="1">
            <a:latin typeface="微軟正黑體" panose="020B0604030504040204" pitchFamily="34" charset="-120"/>
            <a:ea typeface="微軟正黑體" panose="020B0604030504040204" pitchFamily="34" charset="-120"/>
          </a:endParaRPr>
        </a:p>
      </dgm:t>
    </dgm:pt>
    <dgm:pt modelId="{AF09CEEC-390A-4D0E-BD72-80FEBD6CB8A2}">
      <dgm:prSet phldrT="[文字]" custT="1">
        <dgm:style>
          <a:lnRef idx="0">
            <a:scrgbClr r="0" g="0" b="0"/>
          </a:lnRef>
          <a:fillRef idx="0">
            <a:scrgbClr r="0" g="0" b="0"/>
          </a:fillRef>
          <a:effectRef idx="0">
            <a:scrgbClr r="0" g="0" b="0"/>
          </a:effectRef>
          <a:fontRef idx="minor">
            <a:schemeClr val="accent4"/>
          </a:fontRef>
        </dgm:style>
      </dgm:prSet>
      <dgm:spPr>
        <a:solidFill>
          <a:srgbClr val="FFF2C9"/>
        </a:solidFill>
        <a:ln w="19050" cap="flat" cmpd="sng" algn="ctr">
          <a:noFill/>
          <a:prstDash val="solid"/>
          <a:round/>
          <a:headEnd type="none" w="med" len="med"/>
          <a:tailEnd type="none" w="med" len="med"/>
        </a:ln>
      </dgm:spPr>
      <dgm:t>
        <a:bodyPr/>
        <a:lstStyle/>
        <a:p>
          <a:r>
            <a:rPr lang="zh-TW" altLang="en-US" sz="2400" b="1" dirty="0">
              <a:solidFill>
                <a:schemeClr val="tx1">
                  <a:lumMod val="75000"/>
                  <a:lumOff val="25000"/>
                </a:schemeClr>
              </a:solidFill>
              <a:latin typeface="微軟正黑體" panose="020B0604030504040204" pitchFamily="34" charset="-120"/>
              <a:ea typeface="微軟正黑體" panose="020B0604030504040204" pitchFamily="34" charset="-120"/>
            </a:rPr>
            <a:t>智慧    合約</a:t>
          </a:r>
        </a:p>
      </dgm:t>
    </dgm:pt>
    <dgm:pt modelId="{0C45EB07-7718-4B6E-9845-2D3CABAAFEA6}" type="parTrans" cxnId="{90BD77F3-214E-4718-A7C5-FA53AAED8C3A}">
      <dgm:prSet/>
      <dgm:spPr/>
      <dgm:t>
        <a:bodyPr/>
        <a:lstStyle/>
        <a:p>
          <a:endParaRPr lang="zh-TW" altLang="en-US" sz="3200" b="1">
            <a:latin typeface="微軟正黑體" panose="020B0604030504040204" pitchFamily="34" charset="-120"/>
            <a:ea typeface="微軟正黑體" panose="020B0604030504040204" pitchFamily="34" charset="-120"/>
          </a:endParaRPr>
        </a:p>
      </dgm:t>
    </dgm:pt>
    <dgm:pt modelId="{EE5997C9-F77A-40C5-A303-0CC3D2D5E854}" type="sibTrans" cxnId="{90BD77F3-214E-4718-A7C5-FA53AAED8C3A}">
      <dgm:prSet/>
      <dgm:spPr/>
      <dgm:t>
        <a:bodyPr/>
        <a:lstStyle/>
        <a:p>
          <a:endParaRPr lang="zh-TW" altLang="en-US" sz="3200" b="1">
            <a:latin typeface="微軟正黑體" panose="020B0604030504040204" pitchFamily="34" charset="-120"/>
            <a:ea typeface="微軟正黑體" panose="020B0604030504040204" pitchFamily="34" charset="-120"/>
          </a:endParaRPr>
        </a:p>
      </dgm:t>
    </dgm:pt>
    <dgm:pt modelId="{3355939D-69D0-4F39-ADB1-6490314E93D1}" type="pres">
      <dgm:prSet presAssocID="{AD89BF07-152C-424D-8263-D631C004E687}" presName="cycleMatrixDiagram" presStyleCnt="0">
        <dgm:presLayoutVars>
          <dgm:chMax val="1"/>
          <dgm:dir/>
          <dgm:animLvl val="lvl"/>
          <dgm:resizeHandles val="exact"/>
        </dgm:presLayoutVars>
      </dgm:prSet>
      <dgm:spPr/>
    </dgm:pt>
    <dgm:pt modelId="{DD421095-EDB4-48D8-9BAE-5DD2EE3D9AB1}" type="pres">
      <dgm:prSet presAssocID="{AD89BF07-152C-424D-8263-D631C004E687}" presName="children" presStyleCnt="0"/>
      <dgm:spPr/>
    </dgm:pt>
    <dgm:pt modelId="{421661AB-656E-43CD-BC69-F2859BDE0149}" type="pres">
      <dgm:prSet presAssocID="{AD89BF07-152C-424D-8263-D631C004E687}" presName="childPlaceholder" presStyleCnt="0"/>
      <dgm:spPr/>
    </dgm:pt>
    <dgm:pt modelId="{2E28CDE2-9D95-491C-9DA6-63754EAE1CE3}" type="pres">
      <dgm:prSet presAssocID="{AD89BF07-152C-424D-8263-D631C004E687}" presName="circle" presStyleCnt="0"/>
      <dgm:spPr/>
    </dgm:pt>
    <dgm:pt modelId="{D704A76D-2137-4A07-A721-DB702BFC36C0}" type="pres">
      <dgm:prSet presAssocID="{AD89BF07-152C-424D-8263-D631C004E687}" presName="quadrant1" presStyleLbl="node1" presStyleIdx="0" presStyleCnt="4" custLinFactNeighborY="2819">
        <dgm:presLayoutVars>
          <dgm:chMax val="1"/>
          <dgm:bulletEnabled val="1"/>
        </dgm:presLayoutVars>
      </dgm:prSet>
      <dgm:spPr/>
    </dgm:pt>
    <dgm:pt modelId="{42C2D3D6-8E22-485D-BEC7-0504B92FACBA}" type="pres">
      <dgm:prSet presAssocID="{AD89BF07-152C-424D-8263-D631C004E687}" presName="quadrant2" presStyleLbl="node1" presStyleIdx="1" presStyleCnt="4" custLinFactNeighborY="2819">
        <dgm:presLayoutVars>
          <dgm:chMax val="1"/>
          <dgm:bulletEnabled val="1"/>
        </dgm:presLayoutVars>
      </dgm:prSet>
      <dgm:spPr/>
    </dgm:pt>
    <dgm:pt modelId="{6FFD39C2-5A4F-4015-AD69-23E5EEF28394}" type="pres">
      <dgm:prSet presAssocID="{AD89BF07-152C-424D-8263-D631C004E687}" presName="quadrant3" presStyleLbl="node1" presStyleIdx="2" presStyleCnt="4" custLinFactNeighborY="2819">
        <dgm:presLayoutVars>
          <dgm:chMax val="1"/>
          <dgm:bulletEnabled val="1"/>
        </dgm:presLayoutVars>
      </dgm:prSet>
      <dgm:spPr/>
    </dgm:pt>
    <dgm:pt modelId="{54A2694F-2299-472A-8726-77A4AD02DAFE}" type="pres">
      <dgm:prSet presAssocID="{AD89BF07-152C-424D-8263-D631C004E687}" presName="quadrant4" presStyleLbl="node1" presStyleIdx="3" presStyleCnt="4" custLinFactNeighborY="2819">
        <dgm:presLayoutVars>
          <dgm:chMax val="1"/>
          <dgm:bulletEnabled val="1"/>
        </dgm:presLayoutVars>
      </dgm:prSet>
      <dgm:spPr/>
    </dgm:pt>
    <dgm:pt modelId="{63C3646E-8771-4A78-A357-297697DF79A1}" type="pres">
      <dgm:prSet presAssocID="{AD89BF07-152C-424D-8263-D631C004E687}" presName="quadrantPlaceholder" presStyleCnt="0"/>
      <dgm:spPr/>
    </dgm:pt>
    <dgm:pt modelId="{3FCE861D-A82D-4501-AC8B-7A6A1577DC2E}" type="pres">
      <dgm:prSet presAssocID="{AD89BF07-152C-424D-8263-D631C004E687}" presName="center1" presStyleLbl="fgShp" presStyleIdx="0" presStyleCnt="2"/>
      <dgm:spPr/>
    </dgm:pt>
    <dgm:pt modelId="{23CB2F3F-4408-4372-AB09-A711A4570A44}" type="pres">
      <dgm:prSet presAssocID="{AD89BF07-152C-424D-8263-D631C004E687}" presName="center2" presStyleLbl="fgShp" presStyleIdx="1" presStyleCnt="2"/>
      <dgm:spPr/>
    </dgm:pt>
  </dgm:ptLst>
  <dgm:cxnLst>
    <dgm:cxn modelId="{AD8EDB2E-E6B4-45D1-B867-0B632C729D5D}" srcId="{AD89BF07-152C-424D-8263-D631C004E687}" destId="{08819DE6-C0BB-4E8E-8D53-A846EE80EC38}" srcOrd="2" destOrd="0" parTransId="{5AD6492C-F68F-43D0-820B-E126CAC2098F}" sibTransId="{3DD87AB1-822B-4A1E-98E6-35DD0298F1A6}"/>
    <dgm:cxn modelId="{70EC8D46-1A31-46EE-84F5-EE3DB6B9C49A}" type="presOf" srcId="{8467A78E-3DD4-4615-8796-A5E91471D6C3}" destId="{42C2D3D6-8E22-485D-BEC7-0504B92FACBA}" srcOrd="0" destOrd="0" presId="urn:microsoft.com/office/officeart/2005/8/layout/cycle4"/>
    <dgm:cxn modelId="{6C995857-1D18-4324-9B67-3A38CEA6EE82}" srcId="{AD89BF07-152C-424D-8263-D631C004E687}" destId="{88E56290-1334-4CBC-9B3B-755466850CF6}" srcOrd="0" destOrd="0" parTransId="{140EFA15-ADC1-4017-BC01-4885E9965FB7}" sibTransId="{9CD56E3F-C04D-4992-A5CE-BA07A88FFAFD}"/>
    <dgm:cxn modelId="{2CD07289-C51E-4D8C-82A1-13649124E03D}" type="presOf" srcId="{08819DE6-C0BB-4E8E-8D53-A846EE80EC38}" destId="{6FFD39C2-5A4F-4015-AD69-23E5EEF28394}" srcOrd="0" destOrd="0" presId="urn:microsoft.com/office/officeart/2005/8/layout/cycle4"/>
    <dgm:cxn modelId="{BEF8D38B-B2CD-4EA6-910B-C48DC7EE4594}" srcId="{AD89BF07-152C-424D-8263-D631C004E687}" destId="{8467A78E-3DD4-4615-8796-A5E91471D6C3}" srcOrd="1" destOrd="0" parTransId="{90CEDF1E-EFA1-4288-8EF0-F3EBFF0B59DB}" sibTransId="{7D38868D-8AEF-4CE2-A8CD-59B5FD64ED60}"/>
    <dgm:cxn modelId="{6F2CFEC4-4B75-4E66-AB32-43B202618AFE}" type="presOf" srcId="{AF09CEEC-390A-4D0E-BD72-80FEBD6CB8A2}" destId="{54A2694F-2299-472A-8726-77A4AD02DAFE}" srcOrd="0" destOrd="0" presId="urn:microsoft.com/office/officeart/2005/8/layout/cycle4"/>
    <dgm:cxn modelId="{30BB97EC-68B3-4A8B-B5E9-275F8598AA93}" type="presOf" srcId="{88E56290-1334-4CBC-9B3B-755466850CF6}" destId="{D704A76D-2137-4A07-A721-DB702BFC36C0}" srcOrd="0" destOrd="0" presId="urn:microsoft.com/office/officeart/2005/8/layout/cycle4"/>
    <dgm:cxn modelId="{90BD77F3-214E-4718-A7C5-FA53AAED8C3A}" srcId="{AD89BF07-152C-424D-8263-D631C004E687}" destId="{AF09CEEC-390A-4D0E-BD72-80FEBD6CB8A2}" srcOrd="3" destOrd="0" parTransId="{0C45EB07-7718-4B6E-9845-2D3CABAAFEA6}" sibTransId="{EE5997C9-F77A-40C5-A303-0CC3D2D5E854}"/>
    <dgm:cxn modelId="{05241AF5-CA1A-4CDF-BF98-84B7777E0A11}" type="presOf" srcId="{AD89BF07-152C-424D-8263-D631C004E687}" destId="{3355939D-69D0-4F39-ADB1-6490314E93D1}" srcOrd="0" destOrd="0" presId="urn:microsoft.com/office/officeart/2005/8/layout/cycle4"/>
    <dgm:cxn modelId="{47CFC024-ECB4-4644-B040-B4180B9BD56D}" type="presParOf" srcId="{3355939D-69D0-4F39-ADB1-6490314E93D1}" destId="{DD421095-EDB4-48D8-9BAE-5DD2EE3D9AB1}" srcOrd="0" destOrd="0" presId="urn:microsoft.com/office/officeart/2005/8/layout/cycle4"/>
    <dgm:cxn modelId="{45C88732-2E52-4C77-8621-598E84E6AF0E}" type="presParOf" srcId="{DD421095-EDB4-48D8-9BAE-5DD2EE3D9AB1}" destId="{421661AB-656E-43CD-BC69-F2859BDE0149}" srcOrd="0" destOrd="0" presId="urn:microsoft.com/office/officeart/2005/8/layout/cycle4"/>
    <dgm:cxn modelId="{4991E547-7812-4E66-841D-E47BBFAA6C4A}" type="presParOf" srcId="{3355939D-69D0-4F39-ADB1-6490314E93D1}" destId="{2E28CDE2-9D95-491C-9DA6-63754EAE1CE3}" srcOrd="1" destOrd="0" presId="urn:microsoft.com/office/officeart/2005/8/layout/cycle4"/>
    <dgm:cxn modelId="{35D69309-2961-4DF9-89D9-39E50E9649D1}" type="presParOf" srcId="{2E28CDE2-9D95-491C-9DA6-63754EAE1CE3}" destId="{D704A76D-2137-4A07-A721-DB702BFC36C0}" srcOrd="0" destOrd="0" presId="urn:microsoft.com/office/officeart/2005/8/layout/cycle4"/>
    <dgm:cxn modelId="{B6471CB8-0A96-414F-84FC-757056ECF683}" type="presParOf" srcId="{2E28CDE2-9D95-491C-9DA6-63754EAE1CE3}" destId="{42C2D3D6-8E22-485D-BEC7-0504B92FACBA}" srcOrd="1" destOrd="0" presId="urn:microsoft.com/office/officeart/2005/8/layout/cycle4"/>
    <dgm:cxn modelId="{251A074D-BCE2-40F8-81CF-7F9C742377B7}" type="presParOf" srcId="{2E28CDE2-9D95-491C-9DA6-63754EAE1CE3}" destId="{6FFD39C2-5A4F-4015-AD69-23E5EEF28394}" srcOrd="2" destOrd="0" presId="urn:microsoft.com/office/officeart/2005/8/layout/cycle4"/>
    <dgm:cxn modelId="{1CF91B5E-45CF-4A9C-938B-784A75EF4B3B}" type="presParOf" srcId="{2E28CDE2-9D95-491C-9DA6-63754EAE1CE3}" destId="{54A2694F-2299-472A-8726-77A4AD02DAFE}" srcOrd="3" destOrd="0" presId="urn:microsoft.com/office/officeart/2005/8/layout/cycle4"/>
    <dgm:cxn modelId="{A9B2597E-55B3-4B2F-A2DE-990F229FB919}" type="presParOf" srcId="{2E28CDE2-9D95-491C-9DA6-63754EAE1CE3}" destId="{63C3646E-8771-4A78-A357-297697DF79A1}" srcOrd="4" destOrd="0" presId="urn:microsoft.com/office/officeart/2005/8/layout/cycle4"/>
    <dgm:cxn modelId="{32FD303B-0F57-4990-9CF0-24DA74F5B7D7}" type="presParOf" srcId="{3355939D-69D0-4F39-ADB1-6490314E93D1}" destId="{3FCE861D-A82D-4501-AC8B-7A6A1577DC2E}" srcOrd="2" destOrd="0" presId="urn:microsoft.com/office/officeart/2005/8/layout/cycle4"/>
    <dgm:cxn modelId="{AACA664B-023F-4FCD-B6C7-0165B8B207D4}" type="presParOf" srcId="{3355939D-69D0-4F39-ADB1-6490314E93D1}" destId="{23CB2F3F-4408-4372-AB09-A711A4570A44}" srcOrd="3" destOrd="0" presId="urn:microsoft.com/office/officeart/2005/8/layout/cycle4"/>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EE559154-1C96-4AA2-8702-54D03ACD2A05}" type="doc">
      <dgm:prSet loTypeId="urn:microsoft.com/office/officeart/2005/8/layout/list1" loCatId="list" qsTypeId="urn:microsoft.com/office/officeart/2005/8/quickstyle/3d2" qsCatId="3D" csTypeId="urn:microsoft.com/office/officeart/2005/8/colors/colorful1" csCatId="colorful" phldr="1"/>
      <dgm:spPr/>
      <dgm:t>
        <a:bodyPr/>
        <a:lstStyle/>
        <a:p>
          <a:endParaRPr lang="zh-TW" altLang="en-US"/>
        </a:p>
      </dgm:t>
    </dgm:pt>
    <dgm:pt modelId="{A20B0DCC-AA9E-44DE-9D4E-3052C4FFB0F4}">
      <dgm:prSet phldrT="[文字]" custT="1"/>
      <dgm:spPr>
        <a:solidFill>
          <a:schemeClr val="accent2">
            <a:lumMod val="20000"/>
            <a:lumOff val="80000"/>
          </a:schemeClr>
        </a:solidFill>
        <a:scene3d>
          <a:camera prst="orthographicFront"/>
          <a:lightRig rig="threePt" dir="t">
            <a:rot lat="0" lon="0" rev="7500000"/>
          </a:lightRig>
        </a:scene3d>
        <a:sp3d prstMaterial="plastic"/>
      </dgm:spPr>
      <dgm:t>
        <a:bodyPr/>
        <a:lstStyle/>
        <a:p>
          <a:r>
            <a:rPr lang="zh-TW" altLang="en-US" sz="2000" b="1" dirty="0">
              <a:solidFill>
                <a:schemeClr val="tx1"/>
              </a:solidFill>
              <a:latin typeface="微軟正黑體" panose="020B0604030504040204" pitchFamily="34" charset="-120"/>
              <a:ea typeface="微軟正黑體" panose="020B0604030504040204" pitchFamily="34" charset="-120"/>
            </a:rPr>
            <a:t>監管</a:t>
          </a:r>
        </a:p>
      </dgm:t>
    </dgm:pt>
    <dgm:pt modelId="{157FD1AF-075D-425E-BFDD-D1B7E9249990}" type="parTrans" cxnId="{D52C898E-D80F-404F-9F59-B473FDE8F20C}">
      <dgm:prSet/>
      <dgm:spPr/>
      <dgm:t>
        <a:bodyPr/>
        <a:lstStyle/>
        <a:p>
          <a:endParaRPr lang="zh-TW" altLang="en-US" sz="2400" b="1">
            <a:solidFill>
              <a:schemeClr val="tx1"/>
            </a:solidFill>
            <a:latin typeface="微軟正黑體" panose="020B0604030504040204" pitchFamily="34" charset="-120"/>
            <a:ea typeface="微軟正黑體" panose="020B0604030504040204" pitchFamily="34" charset="-120"/>
          </a:endParaRPr>
        </a:p>
      </dgm:t>
    </dgm:pt>
    <dgm:pt modelId="{E024E98E-2885-486A-BB24-4473A90F9F09}" type="sibTrans" cxnId="{D52C898E-D80F-404F-9F59-B473FDE8F20C}">
      <dgm:prSet/>
      <dgm:spPr/>
      <dgm:t>
        <a:bodyPr/>
        <a:lstStyle/>
        <a:p>
          <a:endParaRPr lang="zh-TW" altLang="en-US" sz="2400" b="1">
            <a:solidFill>
              <a:schemeClr val="tx1"/>
            </a:solidFill>
            <a:latin typeface="微軟正黑體" panose="020B0604030504040204" pitchFamily="34" charset="-120"/>
            <a:ea typeface="微軟正黑體" panose="020B0604030504040204" pitchFamily="34" charset="-120"/>
          </a:endParaRPr>
        </a:p>
      </dgm:t>
    </dgm:pt>
    <dgm:pt modelId="{18ABA336-C38C-490A-86A0-A36C45555CCD}">
      <dgm:prSet phldrT="[文字]" custT="1"/>
      <dgm:spPr>
        <a:solidFill>
          <a:srgbClr val="B6E4E0"/>
        </a:solidFill>
        <a:scene3d>
          <a:camera prst="orthographicFront"/>
          <a:lightRig rig="threePt" dir="t">
            <a:rot lat="0" lon="0" rev="7500000"/>
          </a:lightRig>
        </a:scene3d>
        <a:sp3d prstMaterial="plastic"/>
      </dgm:spPr>
      <dgm:t>
        <a:bodyPr/>
        <a:lstStyle/>
        <a:p>
          <a:r>
            <a:rPr lang="zh-TW" altLang="en-US" sz="2000" b="1" dirty="0">
              <a:solidFill>
                <a:schemeClr val="tx1"/>
              </a:solidFill>
              <a:latin typeface="微軟正黑體" panose="020B0604030504040204" pitchFamily="34" charset="-120"/>
              <a:ea typeface="微軟正黑體" panose="020B0604030504040204" pitchFamily="34" charset="-120"/>
            </a:rPr>
            <a:t>資源</a:t>
          </a:r>
        </a:p>
      </dgm:t>
    </dgm:pt>
    <dgm:pt modelId="{AB17FEEF-C8C8-4949-A968-630AC643942E}" type="parTrans" cxnId="{F1123C29-FF33-4CD6-B8E6-DF6B3DCAE15D}">
      <dgm:prSet/>
      <dgm:spPr/>
      <dgm:t>
        <a:bodyPr/>
        <a:lstStyle/>
        <a:p>
          <a:endParaRPr lang="zh-TW" altLang="en-US" sz="2400" b="1">
            <a:solidFill>
              <a:schemeClr val="tx1"/>
            </a:solidFill>
            <a:latin typeface="微軟正黑體" panose="020B0604030504040204" pitchFamily="34" charset="-120"/>
            <a:ea typeface="微軟正黑體" panose="020B0604030504040204" pitchFamily="34" charset="-120"/>
          </a:endParaRPr>
        </a:p>
      </dgm:t>
    </dgm:pt>
    <dgm:pt modelId="{B84424B6-AA95-4F38-8C08-4D756D9A1040}" type="sibTrans" cxnId="{F1123C29-FF33-4CD6-B8E6-DF6B3DCAE15D}">
      <dgm:prSet/>
      <dgm:spPr/>
      <dgm:t>
        <a:bodyPr/>
        <a:lstStyle/>
        <a:p>
          <a:endParaRPr lang="zh-TW" altLang="en-US" sz="2400" b="1">
            <a:solidFill>
              <a:schemeClr val="tx1"/>
            </a:solidFill>
            <a:latin typeface="微軟正黑體" panose="020B0604030504040204" pitchFamily="34" charset="-120"/>
            <a:ea typeface="微軟正黑體" panose="020B0604030504040204" pitchFamily="34" charset="-120"/>
          </a:endParaRPr>
        </a:p>
      </dgm:t>
    </dgm:pt>
    <dgm:pt modelId="{03D3E1F2-9A5A-429F-8894-80276ADBD05A}">
      <dgm:prSet phldrT="[文字]" custT="1"/>
      <dgm:spPr>
        <a:solidFill>
          <a:schemeClr val="accent1">
            <a:lumMod val="40000"/>
            <a:lumOff val="60000"/>
          </a:schemeClr>
        </a:solidFill>
        <a:scene3d>
          <a:camera prst="orthographicFront"/>
          <a:lightRig rig="threePt" dir="t">
            <a:rot lat="0" lon="0" rev="7500000"/>
          </a:lightRig>
        </a:scene3d>
        <a:sp3d prstMaterial="plastic"/>
      </dgm:spPr>
      <dgm:t>
        <a:bodyPr/>
        <a:lstStyle/>
        <a:p>
          <a:r>
            <a:rPr lang="zh-TW" altLang="en-US" sz="2000" b="1" dirty="0">
              <a:solidFill>
                <a:schemeClr val="tx1"/>
              </a:solidFill>
              <a:latin typeface="微軟正黑體" panose="020B0604030504040204" pitchFamily="34" charset="-120"/>
              <a:ea typeface="微軟正黑體" panose="020B0604030504040204" pitchFamily="34" charset="-120"/>
            </a:rPr>
            <a:t>容錯</a:t>
          </a:r>
        </a:p>
      </dgm:t>
    </dgm:pt>
    <dgm:pt modelId="{CBD71143-B9EB-4B07-AC6E-79DAA7DA2125}" type="parTrans" cxnId="{FA143FFE-989B-433F-ADA8-67BF482F10A0}">
      <dgm:prSet/>
      <dgm:spPr/>
      <dgm:t>
        <a:bodyPr/>
        <a:lstStyle/>
        <a:p>
          <a:endParaRPr lang="zh-TW" altLang="en-US" sz="2400" b="1">
            <a:solidFill>
              <a:schemeClr val="tx1"/>
            </a:solidFill>
            <a:latin typeface="微軟正黑體" panose="020B0604030504040204" pitchFamily="34" charset="-120"/>
            <a:ea typeface="微軟正黑體" panose="020B0604030504040204" pitchFamily="34" charset="-120"/>
          </a:endParaRPr>
        </a:p>
      </dgm:t>
    </dgm:pt>
    <dgm:pt modelId="{F565ADD9-8D92-4B93-B34D-D5788AF45765}" type="sibTrans" cxnId="{FA143FFE-989B-433F-ADA8-67BF482F10A0}">
      <dgm:prSet/>
      <dgm:spPr/>
      <dgm:t>
        <a:bodyPr/>
        <a:lstStyle/>
        <a:p>
          <a:endParaRPr lang="zh-TW" altLang="en-US" sz="2400" b="1">
            <a:solidFill>
              <a:schemeClr val="tx1"/>
            </a:solidFill>
            <a:latin typeface="微軟正黑體" panose="020B0604030504040204" pitchFamily="34" charset="-120"/>
            <a:ea typeface="微軟正黑體" panose="020B0604030504040204" pitchFamily="34" charset="-120"/>
          </a:endParaRPr>
        </a:p>
      </dgm:t>
    </dgm:pt>
    <dgm:pt modelId="{93AA7364-E2E1-41A4-9870-057A51FEF3A9}">
      <dgm:prSet custT="1"/>
      <dgm:spPr>
        <a:solidFill>
          <a:srgbClr val="C6DBB7"/>
        </a:solidFill>
        <a:scene3d>
          <a:camera prst="orthographicFront"/>
          <a:lightRig rig="threePt" dir="t">
            <a:rot lat="0" lon="0" rev="7500000"/>
          </a:lightRig>
        </a:scene3d>
        <a:sp3d prstMaterial="plastic"/>
      </dgm:spPr>
      <dgm:t>
        <a:bodyPr/>
        <a:lstStyle/>
        <a:p>
          <a:r>
            <a:rPr lang="zh-TW" altLang="en-US" sz="2000" b="1" dirty="0">
              <a:solidFill>
                <a:schemeClr val="tx1"/>
              </a:solidFill>
              <a:latin typeface="微軟正黑體" panose="020B0604030504040204" pitchFamily="34" charset="-120"/>
              <a:ea typeface="微軟正黑體" panose="020B0604030504040204" pitchFamily="34" charset="-120"/>
            </a:rPr>
            <a:t>效力</a:t>
          </a:r>
        </a:p>
      </dgm:t>
    </dgm:pt>
    <dgm:pt modelId="{15888440-F80E-4793-9F48-4874E956F70F}" type="parTrans" cxnId="{8AC88417-FB6E-4085-A69C-FD420A778736}">
      <dgm:prSet/>
      <dgm:spPr/>
      <dgm:t>
        <a:bodyPr/>
        <a:lstStyle/>
        <a:p>
          <a:endParaRPr lang="zh-TW" altLang="en-US" sz="2400" b="1">
            <a:solidFill>
              <a:schemeClr val="tx1"/>
            </a:solidFill>
            <a:latin typeface="微軟正黑體" panose="020B0604030504040204" pitchFamily="34" charset="-120"/>
            <a:ea typeface="微軟正黑體" panose="020B0604030504040204" pitchFamily="34" charset="-120"/>
          </a:endParaRPr>
        </a:p>
      </dgm:t>
    </dgm:pt>
    <dgm:pt modelId="{8A8FDFC1-57D7-4730-ABEB-7860509A4D34}" type="sibTrans" cxnId="{8AC88417-FB6E-4085-A69C-FD420A778736}">
      <dgm:prSet/>
      <dgm:spPr/>
      <dgm:t>
        <a:bodyPr/>
        <a:lstStyle/>
        <a:p>
          <a:endParaRPr lang="zh-TW" altLang="en-US" sz="2400" b="1">
            <a:solidFill>
              <a:schemeClr val="tx1"/>
            </a:solidFill>
            <a:latin typeface="微軟正黑體" panose="020B0604030504040204" pitchFamily="34" charset="-120"/>
            <a:ea typeface="微軟正黑體" panose="020B0604030504040204" pitchFamily="34" charset="-120"/>
          </a:endParaRPr>
        </a:p>
      </dgm:t>
    </dgm:pt>
    <dgm:pt modelId="{69FAECA4-4367-45B5-9EEC-747992F8652D}">
      <dgm:prSet custT="1"/>
      <dgm:spPr>
        <a:scene3d>
          <a:camera prst="orthographicFront"/>
          <a:lightRig rig="threePt" dir="t">
            <a:rot lat="0" lon="0" rev="7500000"/>
          </a:lightRig>
        </a:scene3d>
      </dgm:spPr>
      <dgm:t>
        <a:bodyPr/>
        <a:lstStyle/>
        <a:p>
          <a:r>
            <a:rPr lang="zh-TW" altLang="en-US" sz="2000" b="1" dirty="0">
              <a:latin typeface="微軟正黑體" panose="020B0604030504040204" pitchFamily="34" charset="-120"/>
              <a:ea typeface="微軟正黑體" panose="020B0604030504040204" pitchFamily="34" charset="-120"/>
            </a:rPr>
            <a:t>節點對資訊進行監管</a:t>
          </a:r>
        </a:p>
      </dgm:t>
    </dgm:pt>
    <dgm:pt modelId="{FAA2E7DE-5D60-43DF-ADD2-54C7625CD574}" type="parTrans" cxnId="{6BC91EF4-FAA2-41D8-9BF9-44E9283D5394}">
      <dgm:prSet/>
      <dgm:spPr/>
      <dgm:t>
        <a:bodyPr/>
        <a:lstStyle/>
        <a:p>
          <a:endParaRPr lang="zh-TW" altLang="en-US" sz="2400" b="1">
            <a:latin typeface="微軟正黑體" panose="020B0604030504040204" pitchFamily="34" charset="-120"/>
            <a:ea typeface="微軟正黑體" panose="020B0604030504040204" pitchFamily="34" charset="-120"/>
          </a:endParaRPr>
        </a:p>
      </dgm:t>
    </dgm:pt>
    <dgm:pt modelId="{FE0CD7B7-5CEB-4EC8-B932-5EA9E8A48CEF}" type="sibTrans" cxnId="{6BC91EF4-FAA2-41D8-9BF9-44E9283D5394}">
      <dgm:prSet/>
      <dgm:spPr/>
      <dgm:t>
        <a:bodyPr/>
        <a:lstStyle/>
        <a:p>
          <a:endParaRPr lang="zh-TW" altLang="en-US" sz="2400" b="1">
            <a:latin typeface="微軟正黑體" panose="020B0604030504040204" pitchFamily="34" charset="-120"/>
            <a:ea typeface="微軟正黑體" panose="020B0604030504040204" pitchFamily="34" charset="-120"/>
          </a:endParaRPr>
        </a:p>
      </dgm:t>
    </dgm:pt>
    <dgm:pt modelId="{0DD0B85B-8E47-4045-877B-6D92A3EF6623}">
      <dgm:prSet custT="1"/>
      <dgm:spPr>
        <a:ln>
          <a:solidFill>
            <a:srgbClr val="669900"/>
          </a:solidFill>
        </a:ln>
        <a:scene3d>
          <a:camera prst="orthographicFront"/>
          <a:lightRig rig="threePt" dir="t">
            <a:rot lat="0" lon="0" rev="7500000"/>
          </a:lightRig>
        </a:scene3d>
      </dgm:spPr>
      <dgm:t>
        <a:bodyPr/>
        <a:lstStyle/>
        <a:p>
          <a:r>
            <a:rPr lang="zh-TW" altLang="en-US" sz="2000" b="1" dirty="0">
              <a:latin typeface="微軟正黑體" panose="020B0604030504040204" pitchFamily="34" charset="-120"/>
              <a:ea typeface="微軟正黑體" panose="020B0604030504040204" pitchFamily="34" charset="-120"/>
            </a:rPr>
            <a:t>共識達成交易效力</a:t>
          </a:r>
        </a:p>
      </dgm:t>
    </dgm:pt>
    <dgm:pt modelId="{2A2C9D9D-7B7F-4DB0-AD84-1A3491771049}" type="parTrans" cxnId="{0ACC3C0F-7308-4CC0-92C3-2E9B3C0B48B2}">
      <dgm:prSet/>
      <dgm:spPr/>
      <dgm:t>
        <a:bodyPr/>
        <a:lstStyle/>
        <a:p>
          <a:endParaRPr lang="zh-TW" altLang="en-US" sz="2400" b="1">
            <a:latin typeface="微軟正黑體" panose="020B0604030504040204" pitchFamily="34" charset="-120"/>
            <a:ea typeface="微軟正黑體" panose="020B0604030504040204" pitchFamily="34" charset="-120"/>
          </a:endParaRPr>
        </a:p>
      </dgm:t>
    </dgm:pt>
    <dgm:pt modelId="{95B93883-2CAE-4D41-A089-C55EE6F94D21}" type="sibTrans" cxnId="{0ACC3C0F-7308-4CC0-92C3-2E9B3C0B48B2}">
      <dgm:prSet/>
      <dgm:spPr/>
      <dgm:t>
        <a:bodyPr/>
        <a:lstStyle/>
        <a:p>
          <a:endParaRPr lang="zh-TW" altLang="en-US" sz="2400" b="1">
            <a:latin typeface="微軟正黑體" panose="020B0604030504040204" pitchFamily="34" charset="-120"/>
            <a:ea typeface="微軟正黑體" panose="020B0604030504040204" pitchFamily="34" charset="-120"/>
          </a:endParaRPr>
        </a:p>
      </dgm:t>
    </dgm:pt>
    <dgm:pt modelId="{8679A1B3-4D98-45FD-A416-8FB797018B56}">
      <dgm:prSet custT="1"/>
      <dgm:spPr>
        <a:ln>
          <a:solidFill>
            <a:srgbClr val="05AF99"/>
          </a:solidFill>
        </a:ln>
        <a:scene3d>
          <a:camera prst="orthographicFront"/>
          <a:lightRig rig="threePt" dir="t">
            <a:rot lat="0" lon="0" rev="7500000"/>
          </a:lightRig>
        </a:scene3d>
      </dgm:spPr>
      <dgm:t>
        <a:bodyPr/>
        <a:lstStyle/>
        <a:p>
          <a:r>
            <a:rPr lang="zh-TW" altLang="en-US" sz="2000" b="1" dirty="0">
              <a:latin typeface="微軟正黑體" panose="020B0604030504040204" pitchFamily="34" charset="-120"/>
              <a:ea typeface="微軟正黑體" panose="020B0604030504040204" pitchFamily="34" charset="-120"/>
            </a:rPr>
            <a:t>網路資源共享</a:t>
          </a:r>
        </a:p>
      </dgm:t>
    </dgm:pt>
    <dgm:pt modelId="{26493463-056A-4FA0-9ADB-D91F6CA57569}" type="parTrans" cxnId="{DB81DD8E-1794-4B83-A1E4-F7ED579E7EE4}">
      <dgm:prSet/>
      <dgm:spPr/>
      <dgm:t>
        <a:bodyPr/>
        <a:lstStyle/>
        <a:p>
          <a:endParaRPr lang="zh-TW" altLang="en-US" sz="2400" b="1">
            <a:latin typeface="微軟正黑體" panose="020B0604030504040204" pitchFamily="34" charset="-120"/>
            <a:ea typeface="微軟正黑體" panose="020B0604030504040204" pitchFamily="34" charset="-120"/>
          </a:endParaRPr>
        </a:p>
      </dgm:t>
    </dgm:pt>
    <dgm:pt modelId="{322AF891-1FDA-4E40-A670-2A970C597451}" type="sibTrans" cxnId="{DB81DD8E-1794-4B83-A1E4-F7ED579E7EE4}">
      <dgm:prSet/>
      <dgm:spPr/>
      <dgm:t>
        <a:bodyPr/>
        <a:lstStyle/>
        <a:p>
          <a:endParaRPr lang="zh-TW" altLang="en-US" sz="2400" b="1">
            <a:latin typeface="微軟正黑體" panose="020B0604030504040204" pitchFamily="34" charset="-120"/>
            <a:ea typeface="微軟正黑體" panose="020B0604030504040204" pitchFamily="34" charset="-120"/>
          </a:endParaRPr>
        </a:p>
      </dgm:t>
    </dgm:pt>
    <dgm:pt modelId="{3E61CCCF-A78E-435A-B090-EA37C12FF248}">
      <dgm:prSet custT="1"/>
      <dgm:spPr>
        <a:scene3d>
          <a:camera prst="orthographicFront"/>
          <a:lightRig rig="threePt" dir="t">
            <a:rot lat="0" lon="0" rev="7500000"/>
          </a:lightRig>
        </a:scene3d>
      </dgm:spPr>
      <dgm:t>
        <a:bodyPr/>
        <a:lstStyle/>
        <a:p>
          <a:r>
            <a:rPr lang="zh-TW" altLang="en-US" sz="2000" b="1" dirty="0">
              <a:latin typeface="微軟正黑體" panose="020B0604030504040204" pitchFamily="34" charset="-120"/>
              <a:ea typeface="微軟正黑體" panose="020B0604030504040204" pitchFamily="34" charset="-120"/>
            </a:rPr>
            <a:t>預防駭客攻擊</a:t>
          </a:r>
        </a:p>
      </dgm:t>
    </dgm:pt>
    <dgm:pt modelId="{CD72B5A0-F5A2-4EF6-A95B-A9744FCBC37C}" type="parTrans" cxnId="{056C400B-5F20-4626-AC9F-FD01FAAA725D}">
      <dgm:prSet/>
      <dgm:spPr/>
      <dgm:t>
        <a:bodyPr/>
        <a:lstStyle/>
        <a:p>
          <a:endParaRPr lang="zh-TW" altLang="en-US" sz="2400" b="1">
            <a:latin typeface="微軟正黑體" panose="020B0604030504040204" pitchFamily="34" charset="-120"/>
            <a:ea typeface="微軟正黑體" panose="020B0604030504040204" pitchFamily="34" charset="-120"/>
          </a:endParaRPr>
        </a:p>
      </dgm:t>
    </dgm:pt>
    <dgm:pt modelId="{EAEC64C0-58B1-4699-AA9C-2548984BAF4E}" type="sibTrans" cxnId="{056C400B-5F20-4626-AC9F-FD01FAAA725D}">
      <dgm:prSet/>
      <dgm:spPr/>
      <dgm:t>
        <a:bodyPr/>
        <a:lstStyle/>
        <a:p>
          <a:endParaRPr lang="zh-TW" altLang="en-US" sz="2400" b="1">
            <a:latin typeface="微軟正黑體" panose="020B0604030504040204" pitchFamily="34" charset="-120"/>
            <a:ea typeface="微軟正黑體" panose="020B0604030504040204" pitchFamily="34" charset="-120"/>
          </a:endParaRPr>
        </a:p>
      </dgm:t>
    </dgm:pt>
    <dgm:pt modelId="{17CBD811-42BE-4A83-992F-8A5AA8030B10}" type="pres">
      <dgm:prSet presAssocID="{EE559154-1C96-4AA2-8702-54D03ACD2A05}" presName="linear" presStyleCnt="0">
        <dgm:presLayoutVars>
          <dgm:dir/>
          <dgm:animLvl val="lvl"/>
          <dgm:resizeHandles val="exact"/>
        </dgm:presLayoutVars>
      </dgm:prSet>
      <dgm:spPr/>
    </dgm:pt>
    <dgm:pt modelId="{B9D65CE6-024C-4542-87ED-BC731D5472D2}" type="pres">
      <dgm:prSet presAssocID="{A20B0DCC-AA9E-44DE-9D4E-3052C4FFB0F4}" presName="parentLin" presStyleCnt="0"/>
      <dgm:spPr/>
    </dgm:pt>
    <dgm:pt modelId="{C4B06C27-421F-4B6B-A865-A3468F6572F3}" type="pres">
      <dgm:prSet presAssocID="{A20B0DCC-AA9E-44DE-9D4E-3052C4FFB0F4}" presName="parentLeftMargin" presStyleLbl="node1" presStyleIdx="0" presStyleCnt="4"/>
      <dgm:spPr/>
    </dgm:pt>
    <dgm:pt modelId="{C7DB47CE-3048-4C2C-B8FD-97E55DCE0E05}" type="pres">
      <dgm:prSet presAssocID="{A20B0DCC-AA9E-44DE-9D4E-3052C4FFB0F4}" presName="parentText" presStyleLbl="node1" presStyleIdx="0" presStyleCnt="4">
        <dgm:presLayoutVars>
          <dgm:chMax val="0"/>
          <dgm:bulletEnabled val="1"/>
        </dgm:presLayoutVars>
      </dgm:prSet>
      <dgm:spPr/>
    </dgm:pt>
    <dgm:pt modelId="{B0C5680F-9E1C-425E-A2F6-C6E3E97FB12D}" type="pres">
      <dgm:prSet presAssocID="{A20B0DCC-AA9E-44DE-9D4E-3052C4FFB0F4}" presName="negativeSpace" presStyleCnt="0"/>
      <dgm:spPr/>
    </dgm:pt>
    <dgm:pt modelId="{CCC64B87-35BF-43BB-AA56-95063A7A2F74}" type="pres">
      <dgm:prSet presAssocID="{A20B0DCC-AA9E-44DE-9D4E-3052C4FFB0F4}" presName="childText" presStyleLbl="conFgAcc1" presStyleIdx="0" presStyleCnt="4">
        <dgm:presLayoutVars>
          <dgm:bulletEnabled val="1"/>
        </dgm:presLayoutVars>
      </dgm:prSet>
      <dgm:spPr/>
    </dgm:pt>
    <dgm:pt modelId="{CC52715D-B5F0-456B-87B3-53F69F7CF129}" type="pres">
      <dgm:prSet presAssocID="{E024E98E-2885-486A-BB24-4473A90F9F09}" presName="spaceBetweenRectangles" presStyleCnt="0"/>
      <dgm:spPr/>
    </dgm:pt>
    <dgm:pt modelId="{F92D890D-E54C-47C4-AFD6-66D6C2DF8199}" type="pres">
      <dgm:prSet presAssocID="{93AA7364-E2E1-41A4-9870-057A51FEF3A9}" presName="parentLin" presStyleCnt="0"/>
      <dgm:spPr/>
    </dgm:pt>
    <dgm:pt modelId="{D7AFE29E-1A5E-4AFB-810C-98757A554887}" type="pres">
      <dgm:prSet presAssocID="{93AA7364-E2E1-41A4-9870-057A51FEF3A9}" presName="parentLeftMargin" presStyleLbl="node1" presStyleIdx="0" presStyleCnt="4"/>
      <dgm:spPr/>
    </dgm:pt>
    <dgm:pt modelId="{7800C96F-0B61-41FB-B7CE-FF09BAE3241E}" type="pres">
      <dgm:prSet presAssocID="{93AA7364-E2E1-41A4-9870-057A51FEF3A9}" presName="parentText" presStyleLbl="node1" presStyleIdx="1" presStyleCnt="4">
        <dgm:presLayoutVars>
          <dgm:chMax val="0"/>
          <dgm:bulletEnabled val="1"/>
        </dgm:presLayoutVars>
      </dgm:prSet>
      <dgm:spPr/>
    </dgm:pt>
    <dgm:pt modelId="{4E040A16-7D6C-4DF5-BCD0-E8C650816F6D}" type="pres">
      <dgm:prSet presAssocID="{93AA7364-E2E1-41A4-9870-057A51FEF3A9}" presName="negativeSpace" presStyleCnt="0"/>
      <dgm:spPr/>
    </dgm:pt>
    <dgm:pt modelId="{5010BDA4-6CDC-4FC1-A274-B9AD050AA5EE}" type="pres">
      <dgm:prSet presAssocID="{93AA7364-E2E1-41A4-9870-057A51FEF3A9}" presName="childText" presStyleLbl="conFgAcc1" presStyleIdx="1" presStyleCnt="4">
        <dgm:presLayoutVars>
          <dgm:bulletEnabled val="1"/>
        </dgm:presLayoutVars>
      </dgm:prSet>
      <dgm:spPr/>
    </dgm:pt>
    <dgm:pt modelId="{399BBDD3-5BD3-4404-AA32-BADDB3719C44}" type="pres">
      <dgm:prSet presAssocID="{8A8FDFC1-57D7-4730-ABEB-7860509A4D34}" presName="spaceBetweenRectangles" presStyleCnt="0"/>
      <dgm:spPr/>
    </dgm:pt>
    <dgm:pt modelId="{CD4F2948-F1B3-4CBE-8D9A-420FFAC568D8}" type="pres">
      <dgm:prSet presAssocID="{18ABA336-C38C-490A-86A0-A36C45555CCD}" presName="parentLin" presStyleCnt="0"/>
      <dgm:spPr/>
    </dgm:pt>
    <dgm:pt modelId="{C12A9327-3105-4AC1-B3BD-FFEE5A72699D}" type="pres">
      <dgm:prSet presAssocID="{18ABA336-C38C-490A-86A0-A36C45555CCD}" presName="parentLeftMargin" presStyleLbl="node1" presStyleIdx="1" presStyleCnt="4"/>
      <dgm:spPr/>
    </dgm:pt>
    <dgm:pt modelId="{77C08C14-9E75-48C2-98FD-760F6629A6E4}" type="pres">
      <dgm:prSet presAssocID="{18ABA336-C38C-490A-86A0-A36C45555CCD}" presName="parentText" presStyleLbl="node1" presStyleIdx="2" presStyleCnt="4">
        <dgm:presLayoutVars>
          <dgm:chMax val="0"/>
          <dgm:bulletEnabled val="1"/>
        </dgm:presLayoutVars>
      </dgm:prSet>
      <dgm:spPr/>
    </dgm:pt>
    <dgm:pt modelId="{FE9EF1A6-3C05-4108-A71D-0F4E064B6AE5}" type="pres">
      <dgm:prSet presAssocID="{18ABA336-C38C-490A-86A0-A36C45555CCD}" presName="negativeSpace" presStyleCnt="0"/>
      <dgm:spPr/>
    </dgm:pt>
    <dgm:pt modelId="{C867FA81-414D-4DD7-BAE0-EB37ED96BDF1}" type="pres">
      <dgm:prSet presAssocID="{18ABA336-C38C-490A-86A0-A36C45555CCD}" presName="childText" presStyleLbl="conFgAcc1" presStyleIdx="2" presStyleCnt="4">
        <dgm:presLayoutVars>
          <dgm:bulletEnabled val="1"/>
        </dgm:presLayoutVars>
      </dgm:prSet>
      <dgm:spPr/>
    </dgm:pt>
    <dgm:pt modelId="{742730AA-EA05-4BE8-959B-FB673CAB8757}" type="pres">
      <dgm:prSet presAssocID="{B84424B6-AA95-4F38-8C08-4D756D9A1040}" presName="spaceBetweenRectangles" presStyleCnt="0"/>
      <dgm:spPr/>
    </dgm:pt>
    <dgm:pt modelId="{C807DF0B-61AA-4D52-AEAC-7612BA98AB9B}" type="pres">
      <dgm:prSet presAssocID="{03D3E1F2-9A5A-429F-8894-80276ADBD05A}" presName="parentLin" presStyleCnt="0"/>
      <dgm:spPr/>
    </dgm:pt>
    <dgm:pt modelId="{552FA52A-2F2A-4783-91EB-8C5A6A138196}" type="pres">
      <dgm:prSet presAssocID="{03D3E1F2-9A5A-429F-8894-80276ADBD05A}" presName="parentLeftMargin" presStyleLbl="node1" presStyleIdx="2" presStyleCnt="4"/>
      <dgm:spPr/>
    </dgm:pt>
    <dgm:pt modelId="{80E09157-F011-4A0D-A2D5-55F095FAA825}" type="pres">
      <dgm:prSet presAssocID="{03D3E1F2-9A5A-429F-8894-80276ADBD05A}" presName="parentText" presStyleLbl="node1" presStyleIdx="3" presStyleCnt="4">
        <dgm:presLayoutVars>
          <dgm:chMax val="0"/>
          <dgm:bulletEnabled val="1"/>
        </dgm:presLayoutVars>
      </dgm:prSet>
      <dgm:spPr/>
    </dgm:pt>
    <dgm:pt modelId="{E5D6C2E2-C4F7-442B-9B70-3C1CEE529077}" type="pres">
      <dgm:prSet presAssocID="{03D3E1F2-9A5A-429F-8894-80276ADBD05A}" presName="negativeSpace" presStyleCnt="0"/>
      <dgm:spPr/>
    </dgm:pt>
    <dgm:pt modelId="{3E5AE9BD-BD0B-48F0-A7E6-403C46DAE9FA}" type="pres">
      <dgm:prSet presAssocID="{03D3E1F2-9A5A-429F-8894-80276ADBD05A}" presName="childText" presStyleLbl="conFgAcc1" presStyleIdx="3" presStyleCnt="4">
        <dgm:presLayoutVars>
          <dgm:bulletEnabled val="1"/>
        </dgm:presLayoutVars>
      </dgm:prSet>
      <dgm:spPr/>
    </dgm:pt>
  </dgm:ptLst>
  <dgm:cxnLst>
    <dgm:cxn modelId="{17567C07-5612-4CA5-98D9-4724540BAB5C}" type="presOf" srcId="{A20B0DCC-AA9E-44DE-9D4E-3052C4FFB0F4}" destId="{C7DB47CE-3048-4C2C-B8FD-97E55DCE0E05}" srcOrd="1" destOrd="0" presId="urn:microsoft.com/office/officeart/2005/8/layout/list1"/>
    <dgm:cxn modelId="{056C400B-5F20-4626-AC9F-FD01FAAA725D}" srcId="{03D3E1F2-9A5A-429F-8894-80276ADBD05A}" destId="{3E61CCCF-A78E-435A-B090-EA37C12FF248}" srcOrd="0" destOrd="0" parTransId="{CD72B5A0-F5A2-4EF6-A95B-A9744FCBC37C}" sibTransId="{EAEC64C0-58B1-4699-AA9C-2548984BAF4E}"/>
    <dgm:cxn modelId="{0ACC3C0F-7308-4CC0-92C3-2E9B3C0B48B2}" srcId="{93AA7364-E2E1-41A4-9870-057A51FEF3A9}" destId="{0DD0B85B-8E47-4045-877B-6D92A3EF6623}" srcOrd="0" destOrd="0" parTransId="{2A2C9D9D-7B7F-4DB0-AD84-1A3491771049}" sibTransId="{95B93883-2CAE-4D41-A089-C55EE6F94D21}"/>
    <dgm:cxn modelId="{8AC88417-FB6E-4085-A69C-FD420A778736}" srcId="{EE559154-1C96-4AA2-8702-54D03ACD2A05}" destId="{93AA7364-E2E1-41A4-9870-057A51FEF3A9}" srcOrd="1" destOrd="0" parTransId="{15888440-F80E-4793-9F48-4874E956F70F}" sibTransId="{8A8FDFC1-57D7-4730-ABEB-7860509A4D34}"/>
    <dgm:cxn modelId="{D8427B1F-5DC2-4CEA-BDF9-5767460C9EB6}" type="presOf" srcId="{8679A1B3-4D98-45FD-A416-8FB797018B56}" destId="{C867FA81-414D-4DD7-BAE0-EB37ED96BDF1}" srcOrd="0" destOrd="0" presId="urn:microsoft.com/office/officeart/2005/8/layout/list1"/>
    <dgm:cxn modelId="{538A9923-45BC-4246-BF13-6D65C02C77EE}" type="presOf" srcId="{93AA7364-E2E1-41A4-9870-057A51FEF3A9}" destId="{D7AFE29E-1A5E-4AFB-810C-98757A554887}" srcOrd="0" destOrd="0" presId="urn:microsoft.com/office/officeart/2005/8/layout/list1"/>
    <dgm:cxn modelId="{F1123C29-FF33-4CD6-B8E6-DF6B3DCAE15D}" srcId="{EE559154-1C96-4AA2-8702-54D03ACD2A05}" destId="{18ABA336-C38C-490A-86A0-A36C45555CCD}" srcOrd="2" destOrd="0" parTransId="{AB17FEEF-C8C8-4949-A968-630AC643942E}" sibTransId="{B84424B6-AA95-4F38-8C08-4D756D9A1040}"/>
    <dgm:cxn modelId="{7359C466-2D30-42FB-83F7-04EB9386BD80}" type="presOf" srcId="{18ABA336-C38C-490A-86A0-A36C45555CCD}" destId="{C12A9327-3105-4AC1-B3BD-FFEE5A72699D}" srcOrd="0" destOrd="0" presId="urn:microsoft.com/office/officeart/2005/8/layout/list1"/>
    <dgm:cxn modelId="{AA100D6A-AA6F-44C9-8236-51B41DDF5378}" type="presOf" srcId="{69FAECA4-4367-45B5-9EEC-747992F8652D}" destId="{CCC64B87-35BF-43BB-AA56-95063A7A2F74}" srcOrd="0" destOrd="0" presId="urn:microsoft.com/office/officeart/2005/8/layout/list1"/>
    <dgm:cxn modelId="{4C50F64E-4CD9-4C14-8D86-9DEC6AF849C7}" type="presOf" srcId="{18ABA336-C38C-490A-86A0-A36C45555CCD}" destId="{77C08C14-9E75-48C2-98FD-760F6629A6E4}" srcOrd="1" destOrd="0" presId="urn:microsoft.com/office/officeart/2005/8/layout/list1"/>
    <dgm:cxn modelId="{D52C898E-D80F-404F-9F59-B473FDE8F20C}" srcId="{EE559154-1C96-4AA2-8702-54D03ACD2A05}" destId="{A20B0DCC-AA9E-44DE-9D4E-3052C4FFB0F4}" srcOrd="0" destOrd="0" parTransId="{157FD1AF-075D-425E-BFDD-D1B7E9249990}" sibTransId="{E024E98E-2885-486A-BB24-4473A90F9F09}"/>
    <dgm:cxn modelId="{DB81DD8E-1794-4B83-A1E4-F7ED579E7EE4}" srcId="{18ABA336-C38C-490A-86A0-A36C45555CCD}" destId="{8679A1B3-4D98-45FD-A416-8FB797018B56}" srcOrd="0" destOrd="0" parTransId="{26493463-056A-4FA0-9ADB-D91F6CA57569}" sibTransId="{322AF891-1FDA-4E40-A670-2A970C597451}"/>
    <dgm:cxn modelId="{429945AA-3637-40F2-8318-C70CC2BBB660}" type="presOf" srcId="{03D3E1F2-9A5A-429F-8894-80276ADBD05A}" destId="{552FA52A-2F2A-4783-91EB-8C5A6A138196}" srcOrd="0" destOrd="0" presId="urn:microsoft.com/office/officeart/2005/8/layout/list1"/>
    <dgm:cxn modelId="{5F735ABB-6368-4AB3-8D0E-6047C49E30DE}" type="presOf" srcId="{93AA7364-E2E1-41A4-9870-057A51FEF3A9}" destId="{7800C96F-0B61-41FB-B7CE-FF09BAE3241E}" srcOrd="1" destOrd="0" presId="urn:microsoft.com/office/officeart/2005/8/layout/list1"/>
    <dgm:cxn modelId="{132533C0-97D3-4291-AB51-FE3A1D74A5FD}" type="presOf" srcId="{0DD0B85B-8E47-4045-877B-6D92A3EF6623}" destId="{5010BDA4-6CDC-4FC1-A274-B9AD050AA5EE}" srcOrd="0" destOrd="0" presId="urn:microsoft.com/office/officeart/2005/8/layout/list1"/>
    <dgm:cxn modelId="{BAEAFCC1-E0A1-46CF-AE76-872CCBCCA019}" type="presOf" srcId="{03D3E1F2-9A5A-429F-8894-80276ADBD05A}" destId="{80E09157-F011-4A0D-A2D5-55F095FAA825}" srcOrd="1" destOrd="0" presId="urn:microsoft.com/office/officeart/2005/8/layout/list1"/>
    <dgm:cxn modelId="{C38CF7DA-64C9-4E74-8DCE-9FE6A15128CF}" type="presOf" srcId="{A20B0DCC-AA9E-44DE-9D4E-3052C4FFB0F4}" destId="{C4B06C27-421F-4B6B-A865-A3468F6572F3}" srcOrd="0" destOrd="0" presId="urn:microsoft.com/office/officeart/2005/8/layout/list1"/>
    <dgm:cxn modelId="{5FC310E9-95DA-44A4-8389-784AF206352C}" type="presOf" srcId="{3E61CCCF-A78E-435A-B090-EA37C12FF248}" destId="{3E5AE9BD-BD0B-48F0-A7E6-403C46DAE9FA}" srcOrd="0" destOrd="0" presId="urn:microsoft.com/office/officeart/2005/8/layout/list1"/>
    <dgm:cxn modelId="{6BC91EF4-FAA2-41D8-9BF9-44E9283D5394}" srcId="{A20B0DCC-AA9E-44DE-9D4E-3052C4FFB0F4}" destId="{69FAECA4-4367-45B5-9EEC-747992F8652D}" srcOrd="0" destOrd="0" parTransId="{FAA2E7DE-5D60-43DF-ADD2-54C7625CD574}" sibTransId="{FE0CD7B7-5CEB-4EC8-B932-5EA9E8A48CEF}"/>
    <dgm:cxn modelId="{4F6740F8-CA16-41C1-8216-0851C0B27DB8}" type="presOf" srcId="{EE559154-1C96-4AA2-8702-54D03ACD2A05}" destId="{17CBD811-42BE-4A83-992F-8A5AA8030B10}" srcOrd="0" destOrd="0" presId="urn:microsoft.com/office/officeart/2005/8/layout/list1"/>
    <dgm:cxn modelId="{FA143FFE-989B-433F-ADA8-67BF482F10A0}" srcId="{EE559154-1C96-4AA2-8702-54D03ACD2A05}" destId="{03D3E1F2-9A5A-429F-8894-80276ADBD05A}" srcOrd="3" destOrd="0" parTransId="{CBD71143-B9EB-4B07-AC6E-79DAA7DA2125}" sibTransId="{F565ADD9-8D92-4B93-B34D-D5788AF45765}"/>
    <dgm:cxn modelId="{B9BA4A49-8B61-48FE-A1EA-8DE730DE83BC}" type="presParOf" srcId="{17CBD811-42BE-4A83-992F-8A5AA8030B10}" destId="{B9D65CE6-024C-4542-87ED-BC731D5472D2}" srcOrd="0" destOrd="0" presId="urn:microsoft.com/office/officeart/2005/8/layout/list1"/>
    <dgm:cxn modelId="{31203534-FF58-41D3-99B6-274DD433E46B}" type="presParOf" srcId="{B9D65CE6-024C-4542-87ED-BC731D5472D2}" destId="{C4B06C27-421F-4B6B-A865-A3468F6572F3}" srcOrd="0" destOrd="0" presId="urn:microsoft.com/office/officeart/2005/8/layout/list1"/>
    <dgm:cxn modelId="{A4C77FD6-CDD5-4288-AD45-7BF0A7BA78AE}" type="presParOf" srcId="{B9D65CE6-024C-4542-87ED-BC731D5472D2}" destId="{C7DB47CE-3048-4C2C-B8FD-97E55DCE0E05}" srcOrd="1" destOrd="0" presId="urn:microsoft.com/office/officeart/2005/8/layout/list1"/>
    <dgm:cxn modelId="{FB3C783E-ACC5-426A-848A-4F91E2C516D3}" type="presParOf" srcId="{17CBD811-42BE-4A83-992F-8A5AA8030B10}" destId="{B0C5680F-9E1C-425E-A2F6-C6E3E97FB12D}" srcOrd="1" destOrd="0" presId="urn:microsoft.com/office/officeart/2005/8/layout/list1"/>
    <dgm:cxn modelId="{7A3F21C5-093F-44C4-8AC0-9C568821B041}" type="presParOf" srcId="{17CBD811-42BE-4A83-992F-8A5AA8030B10}" destId="{CCC64B87-35BF-43BB-AA56-95063A7A2F74}" srcOrd="2" destOrd="0" presId="urn:microsoft.com/office/officeart/2005/8/layout/list1"/>
    <dgm:cxn modelId="{ABE463C2-9485-4AA7-AEE6-3AA69196164D}" type="presParOf" srcId="{17CBD811-42BE-4A83-992F-8A5AA8030B10}" destId="{CC52715D-B5F0-456B-87B3-53F69F7CF129}" srcOrd="3" destOrd="0" presId="urn:microsoft.com/office/officeart/2005/8/layout/list1"/>
    <dgm:cxn modelId="{079D521D-E090-4817-9236-E684C8DB323A}" type="presParOf" srcId="{17CBD811-42BE-4A83-992F-8A5AA8030B10}" destId="{F92D890D-E54C-47C4-AFD6-66D6C2DF8199}" srcOrd="4" destOrd="0" presId="urn:microsoft.com/office/officeart/2005/8/layout/list1"/>
    <dgm:cxn modelId="{CE94BE08-A2E1-4EB6-BE81-B674DD7ED009}" type="presParOf" srcId="{F92D890D-E54C-47C4-AFD6-66D6C2DF8199}" destId="{D7AFE29E-1A5E-4AFB-810C-98757A554887}" srcOrd="0" destOrd="0" presId="urn:microsoft.com/office/officeart/2005/8/layout/list1"/>
    <dgm:cxn modelId="{FCF7A885-78CB-46B8-8C21-1E201597CBED}" type="presParOf" srcId="{F92D890D-E54C-47C4-AFD6-66D6C2DF8199}" destId="{7800C96F-0B61-41FB-B7CE-FF09BAE3241E}" srcOrd="1" destOrd="0" presId="urn:microsoft.com/office/officeart/2005/8/layout/list1"/>
    <dgm:cxn modelId="{8622D850-592A-4F9E-AF21-0AB2F8AAA4CF}" type="presParOf" srcId="{17CBD811-42BE-4A83-992F-8A5AA8030B10}" destId="{4E040A16-7D6C-4DF5-BCD0-E8C650816F6D}" srcOrd="5" destOrd="0" presId="urn:microsoft.com/office/officeart/2005/8/layout/list1"/>
    <dgm:cxn modelId="{BAE05E89-1B13-4C8F-9567-D690F26FAB73}" type="presParOf" srcId="{17CBD811-42BE-4A83-992F-8A5AA8030B10}" destId="{5010BDA4-6CDC-4FC1-A274-B9AD050AA5EE}" srcOrd="6" destOrd="0" presId="urn:microsoft.com/office/officeart/2005/8/layout/list1"/>
    <dgm:cxn modelId="{B5F83F12-1346-4A1A-9E6F-A709F9B6DEF0}" type="presParOf" srcId="{17CBD811-42BE-4A83-992F-8A5AA8030B10}" destId="{399BBDD3-5BD3-4404-AA32-BADDB3719C44}" srcOrd="7" destOrd="0" presId="urn:microsoft.com/office/officeart/2005/8/layout/list1"/>
    <dgm:cxn modelId="{DD70FB9A-F4A6-45B2-A48E-96C419451581}" type="presParOf" srcId="{17CBD811-42BE-4A83-992F-8A5AA8030B10}" destId="{CD4F2948-F1B3-4CBE-8D9A-420FFAC568D8}" srcOrd="8" destOrd="0" presId="urn:microsoft.com/office/officeart/2005/8/layout/list1"/>
    <dgm:cxn modelId="{683CD398-2036-43D8-A844-FE41EDF8254B}" type="presParOf" srcId="{CD4F2948-F1B3-4CBE-8D9A-420FFAC568D8}" destId="{C12A9327-3105-4AC1-B3BD-FFEE5A72699D}" srcOrd="0" destOrd="0" presId="urn:microsoft.com/office/officeart/2005/8/layout/list1"/>
    <dgm:cxn modelId="{7D99EA10-67A8-4471-B1B2-F39753D28E5A}" type="presParOf" srcId="{CD4F2948-F1B3-4CBE-8D9A-420FFAC568D8}" destId="{77C08C14-9E75-48C2-98FD-760F6629A6E4}" srcOrd="1" destOrd="0" presId="urn:microsoft.com/office/officeart/2005/8/layout/list1"/>
    <dgm:cxn modelId="{8A197787-3EA9-4A70-B5F8-4075AE987E4D}" type="presParOf" srcId="{17CBD811-42BE-4A83-992F-8A5AA8030B10}" destId="{FE9EF1A6-3C05-4108-A71D-0F4E064B6AE5}" srcOrd="9" destOrd="0" presId="urn:microsoft.com/office/officeart/2005/8/layout/list1"/>
    <dgm:cxn modelId="{7E92E7A1-D430-40E6-8471-598F2063C95A}" type="presParOf" srcId="{17CBD811-42BE-4A83-992F-8A5AA8030B10}" destId="{C867FA81-414D-4DD7-BAE0-EB37ED96BDF1}" srcOrd="10" destOrd="0" presId="urn:microsoft.com/office/officeart/2005/8/layout/list1"/>
    <dgm:cxn modelId="{AA29CAA6-0935-4C0F-9C48-70E4D47D0A5A}" type="presParOf" srcId="{17CBD811-42BE-4A83-992F-8A5AA8030B10}" destId="{742730AA-EA05-4BE8-959B-FB673CAB8757}" srcOrd="11" destOrd="0" presId="urn:microsoft.com/office/officeart/2005/8/layout/list1"/>
    <dgm:cxn modelId="{517BE1AD-E9B8-43A8-882C-89406F4E29B7}" type="presParOf" srcId="{17CBD811-42BE-4A83-992F-8A5AA8030B10}" destId="{C807DF0B-61AA-4D52-AEAC-7612BA98AB9B}" srcOrd="12" destOrd="0" presId="urn:microsoft.com/office/officeart/2005/8/layout/list1"/>
    <dgm:cxn modelId="{C26CB549-9527-4E8E-8480-FC7D11E19651}" type="presParOf" srcId="{C807DF0B-61AA-4D52-AEAC-7612BA98AB9B}" destId="{552FA52A-2F2A-4783-91EB-8C5A6A138196}" srcOrd="0" destOrd="0" presId="urn:microsoft.com/office/officeart/2005/8/layout/list1"/>
    <dgm:cxn modelId="{96F79F38-34DB-48E3-9728-05F209D88D43}" type="presParOf" srcId="{C807DF0B-61AA-4D52-AEAC-7612BA98AB9B}" destId="{80E09157-F011-4A0D-A2D5-55F095FAA825}" srcOrd="1" destOrd="0" presId="urn:microsoft.com/office/officeart/2005/8/layout/list1"/>
    <dgm:cxn modelId="{4340EE23-3756-419E-AED2-95AAD2656F82}" type="presParOf" srcId="{17CBD811-42BE-4A83-992F-8A5AA8030B10}" destId="{E5D6C2E2-C4F7-442B-9B70-3C1CEE529077}" srcOrd="13" destOrd="0" presId="urn:microsoft.com/office/officeart/2005/8/layout/list1"/>
    <dgm:cxn modelId="{D3772C7D-E7D3-4911-B842-FF86C773A05D}" type="presParOf" srcId="{17CBD811-42BE-4A83-992F-8A5AA8030B10}" destId="{3E5AE9BD-BD0B-48F0-A7E6-403C46DAE9FA}" srcOrd="14" destOrd="0" presId="urn:microsoft.com/office/officeart/2005/8/layout/list1"/>
  </dgm:cxnLst>
  <dgm:bg/>
  <dgm:whole/>
  <dgm:extLst>
    <a:ext uri="http://schemas.microsoft.com/office/drawing/2008/diagram">
      <dsp:dataModelExt xmlns:dsp="http://schemas.microsoft.com/office/drawing/2008/diagram" relId="rId9"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F186A5F7-9B6B-4277-A853-55D35AA1DA41}" type="doc">
      <dgm:prSet loTypeId="urn:microsoft.com/office/officeart/2005/8/layout/cycle3" loCatId="cycle" qsTypeId="urn:microsoft.com/office/officeart/2005/8/quickstyle/simple1" qsCatId="simple" csTypeId="urn:microsoft.com/office/officeart/2005/8/colors/colorful2" csCatId="colorful" phldr="1"/>
      <dgm:spPr/>
      <dgm:t>
        <a:bodyPr/>
        <a:lstStyle/>
        <a:p>
          <a:endParaRPr lang="zh-TW" altLang="en-US"/>
        </a:p>
      </dgm:t>
    </dgm:pt>
    <dgm:pt modelId="{522F20F9-C02C-4A2A-BDAD-79E72049BA0C}">
      <dgm:prSet phldrT="[文字]" custT="1"/>
      <dgm:spPr>
        <a:solidFill>
          <a:srgbClr val="B6E4E0"/>
        </a:solidFill>
        <a:scene3d>
          <a:camera prst="orthographicFront"/>
          <a:lightRig rig="threePt" dir="t"/>
        </a:scene3d>
        <a:sp3d prstMaterial="flat"/>
      </dgm:spPr>
      <dgm:t>
        <a:bodyPr/>
        <a:lstStyle/>
        <a:p>
          <a:r>
            <a:rPr lang="zh-TW" altLang="en-US" sz="2000" b="1" dirty="0">
              <a:solidFill>
                <a:schemeClr val="tx1"/>
              </a:solidFill>
              <a:latin typeface="微軟正黑體" panose="020B0604030504040204" pitchFamily="34" charset="-120"/>
              <a:ea typeface="微軟正黑體" panose="020B0604030504040204" pitchFamily="34" charset="-120"/>
            </a:rPr>
            <a:t>礦池</a:t>
          </a:r>
        </a:p>
      </dgm:t>
    </dgm:pt>
    <dgm:pt modelId="{12BED4D8-489D-4372-B58D-8950197DE584}" type="parTrans" cxnId="{D68E5BD9-F4A9-4AB8-A1D4-A7CBE94FE8AB}">
      <dgm:prSet/>
      <dgm:spPr/>
      <dgm:t>
        <a:bodyPr/>
        <a:lstStyle/>
        <a:p>
          <a:endParaRPr lang="zh-TW" altLang="en-US" sz="2000">
            <a:solidFill>
              <a:schemeClr val="tx1"/>
            </a:solidFill>
            <a:latin typeface="微軟正黑體" panose="020B0604030504040204" pitchFamily="34" charset="-120"/>
            <a:ea typeface="微軟正黑體" panose="020B0604030504040204" pitchFamily="34" charset="-120"/>
          </a:endParaRPr>
        </a:p>
      </dgm:t>
    </dgm:pt>
    <dgm:pt modelId="{B63A9F95-BC5C-47FF-B488-F9C1F972FF1E}" type="sibTrans" cxnId="{D68E5BD9-F4A9-4AB8-A1D4-A7CBE94FE8AB}">
      <dgm:prSet/>
      <dgm:spPr/>
      <dgm:t>
        <a:bodyPr/>
        <a:lstStyle/>
        <a:p>
          <a:endParaRPr lang="zh-TW" altLang="en-US" sz="2000">
            <a:solidFill>
              <a:schemeClr val="tx1"/>
            </a:solidFill>
            <a:latin typeface="微軟正黑體" panose="020B0604030504040204" pitchFamily="34" charset="-120"/>
            <a:ea typeface="微軟正黑體" panose="020B0604030504040204" pitchFamily="34" charset="-120"/>
          </a:endParaRPr>
        </a:p>
      </dgm:t>
    </dgm:pt>
    <dgm:pt modelId="{AAE90AFC-003C-42C0-8B1A-37689782ABAF}">
      <dgm:prSet phldrT="[文字]" custT="1"/>
      <dgm:spPr>
        <a:solidFill>
          <a:srgbClr val="FEE0DE"/>
        </a:solidFill>
        <a:scene3d>
          <a:camera prst="orthographicFront"/>
          <a:lightRig rig="threePt" dir="t"/>
        </a:scene3d>
        <a:sp3d prstMaterial="flat"/>
      </dgm:spPr>
      <dgm:t>
        <a:bodyPr/>
        <a:lstStyle/>
        <a:p>
          <a:r>
            <a:rPr lang="zh-TW" altLang="en-US" sz="2000" b="1" dirty="0">
              <a:solidFill>
                <a:schemeClr val="tx1"/>
              </a:solidFill>
              <a:latin typeface="微軟正黑體" panose="020B0604030504040204" pitchFamily="34" charset="-120"/>
              <a:ea typeface="微軟正黑體" panose="020B0604030504040204" pitchFamily="34" charset="-120"/>
            </a:rPr>
            <a:t>裝置設備</a:t>
          </a:r>
        </a:p>
      </dgm:t>
    </dgm:pt>
    <dgm:pt modelId="{D12AF5E0-D45A-4D32-818B-1C78CFF1C8F3}" type="parTrans" cxnId="{E47F7A9A-5BAC-49DD-AC02-413CCDAB367F}">
      <dgm:prSet/>
      <dgm:spPr/>
      <dgm:t>
        <a:bodyPr/>
        <a:lstStyle/>
        <a:p>
          <a:endParaRPr lang="zh-TW" altLang="en-US" sz="2000">
            <a:solidFill>
              <a:schemeClr val="tx1"/>
            </a:solidFill>
            <a:latin typeface="微軟正黑體" panose="020B0604030504040204" pitchFamily="34" charset="-120"/>
            <a:ea typeface="微軟正黑體" panose="020B0604030504040204" pitchFamily="34" charset="-120"/>
          </a:endParaRPr>
        </a:p>
      </dgm:t>
    </dgm:pt>
    <dgm:pt modelId="{E0D8F5FE-0E57-4768-B34F-FF86A31E3C18}" type="sibTrans" cxnId="{E47F7A9A-5BAC-49DD-AC02-413CCDAB367F}">
      <dgm:prSet/>
      <dgm:spPr/>
      <dgm:t>
        <a:bodyPr/>
        <a:lstStyle/>
        <a:p>
          <a:endParaRPr lang="zh-TW" altLang="en-US" sz="2000">
            <a:solidFill>
              <a:schemeClr val="tx1"/>
            </a:solidFill>
            <a:latin typeface="微軟正黑體" panose="020B0604030504040204" pitchFamily="34" charset="-120"/>
            <a:ea typeface="微軟正黑體" panose="020B0604030504040204" pitchFamily="34" charset="-120"/>
          </a:endParaRPr>
        </a:p>
      </dgm:t>
    </dgm:pt>
    <dgm:pt modelId="{A047F033-F722-431D-BEE4-CE72A82FBA24}">
      <dgm:prSet phldrT="[文字]" custT="1"/>
      <dgm:spPr>
        <a:solidFill>
          <a:srgbClr val="F0F8D4"/>
        </a:solidFill>
        <a:scene3d>
          <a:camera prst="orthographicFront"/>
          <a:lightRig rig="threePt" dir="t"/>
        </a:scene3d>
        <a:sp3d prstMaterial="flat"/>
      </dgm:spPr>
      <dgm:t>
        <a:bodyPr/>
        <a:lstStyle/>
        <a:p>
          <a:r>
            <a:rPr lang="zh-TW" altLang="en-US" sz="2000" b="1" dirty="0">
              <a:solidFill>
                <a:schemeClr val="tx1"/>
              </a:solidFill>
              <a:latin typeface="微軟正黑體" panose="020B0604030504040204" pitchFamily="34" charset="-120"/>
              <a:ea typeface="微軟正黑體" panose="020B0604030504040204" pitchFamily="34" charset="-120"/>
            </a:rPr>
            <a:t>技術</a:t>
          </a:r>
        </a:p>
      </dgm:t>
    </dgm:pt>
    <dgm:pt modelId="{AE23E05F-7A9B-4371-9BD8-38DAF871C17D}" type="parTrans" cxnId="{B893C843-CEBC-4CF1-88B4-024156D2B0A9}">
      <dgm:prSet/>
      <dgm:spPr/>
      <dgm:t>
        <a:bodyPr/>
        <a:lstStyle/>
        <a:p>
          <a:endParaRPr lang="zh-TW" altLang="en-US" sz="2000">
            <a:solidFill>
              <a:schemeClr val="tx1"/>
            </a:solidFill>
            <a:latin typeface="微軟正黑體" panose="020B0604030504040204" pitchFamily="34" charset="-120"/>
            <a:ea typeface="微軟正黑體" panose="020B0604030504040204" pitchFamily="34" charset="-120"/>
          </a:endParaRPr>
        </a:p>
      </dgm:t>
    </dgm:pt>
    <dgm:pt modelId="{D6DC5E80-D126-4DA8-81FC-6995AAD00EE8}" type="sibTrans" cxnId="{B893C843-CEBC-4CF1-88B4-024156D2B0A9}">
      <dgm:prSet/>
      <dgm:spPr/>
      <dgm:t>
        <a:bodyPr/>
        <a:lstStyle/>
        <a:p>
          <a:endParaRPr lang="zh-TW" altLang="en-US" sz="2000">
            <a:solidFill>
              <a:schemeClr val="tx1"/>
            </a:solidFill>
            <a:latin typeface="微軟正黑體" panose="020B0604030504040204" pitchFamily="34" charset="-120"/>
            <a:ea typeface="微軟正黑體" panose="020B0604030504040204" pitchFamily="34" charset="-120"/>
          </a:endParaRPr>
        </a:p>
      </dgm:t>
    </dgm:pt>
    <dgm:pt modelId="{1F9B124A-2BF6-4F71-BC1B-8D4818A311D4}">
      <dgm:prSet phldrT="[文字]" custT="1"/>
      <dgm:spPr>
        <a:solidFill>
          <a:schemeClr val="accent1">
            <a:lumMod val="40000"/>
            <a:lumOff val="60000"/>
          </a:schemeClr>
        </a:solidFill>
        <a:scene3d>
          <a:camera prst="orthographicFront"/>
          <a:lightRig rig="threePt" dir="t"/>
        </a:scene3d>
        <a:sp3d prstMaterial="flat"/>
      </dgm:spPr>
      <dgm:t>
        <a:bodyPr/>
        <a:lstStyle/>
        <a:p>
          <a:r>
            <a:rPr lang="zh-TW" altLang="en-US" sz="2000" b="1" dirty="0">
              <a:solidFill>
                <a:schemeClr val="tx1"/>
              </a:solidFill>
              <a:latin typeface="微軟正黑體" panose="020B0604030504040204" pitchFamily="34" charset="-120"/>
              <a:ea typeface="微軟正黑體" panose="020B0604030504040204" pitchFamily="34" charset="-120"/>
            </a:rPr>
            <a:t>礦物</a:t>
          </a:r>
        </a:p>
      </dgm:t>
    </dgm:pt>
    <dgm:pt modelId="{684C6C2C-1314-41F2-8B34-E254E91E5899}" type="parTrans" cxnId="{05DBD3CC-6DC4-4276-927D-ADFCC25556B9}">
      <dgm:prSet/>
      <dgm:spPr/>
      <dgm:t>
        <a:bodyPr/>
        <a:lstStyle/>
        <a:p>
          <a:endParaRPr lang="zh-TW" altLang="en-US" sz="2000">
            <a:solidFill>
              <a:schemeClr val="tx1"/>
            </a:solidFill>
            <a:latin typeface="微軟正黑體" panose="020B0604030504040204" pitchFamily="34" charset="-120"/>
            <a:ea typeface="微軟正黑體" panose="020B0604030504040204" pitchFamily="34" charset="-120"/>
          </a:endParaRPr>
        </a:p>
      </dgm:t>
    </dgm:pt>
    <dgm:pt modelId="{47AD59EB-2CB0-4EF9-803A-DA3231345680}" type="sibTrans" cxnId="{05DBD3CC-6DC4-4276-927D-ADFCC25556B9}">
      <dgm:prSet/>
      <dgm:spPr/>
      <dgm:t>
        <a:bodyPr/>
        <a:lstStyle/>
        <a:p>
          <a:endParaRPr lang="zh-TW" altLang="en-US" sz="2000">
            <a:solidFill>
              <a:schemeClr val="tx1"/>
            </a:solidFill>
            <a:latin typeface="微軟正黑體" panose="020B0604030504040204" pitchFamily="34" charset="-120"/>
            <a:ea typeface="微軟正黑體" panose="020B0604030504040204" pitchFamily="34" charset="-120"/>
          </a:endParaRPr>
        </a:p>
      </dgm:t>
    </dgm:pt>
    <dgm:pt modelId="{A981BFF2-E501-4091-B8CD-E8223C378E75}" type="pres">
      <dgm:prSet presAssocID="{F186A5F7-9B6B-4277-A853-55D35AA1DA41}" presName="Name0" presStyleCnt="0">
        <dgm:presLayoutVars>
          <dgm:dir/>
          <dgm:resizeHandles val="exact"/>
        </dgm:presLayoutVars>
      </dgm:prSet>
      <dgm:spPr/>
    </dgm:pt>
    <dgm:pt modelId="{23AD382D-F9E8-40C2-BAC9-A48C07832F78}" type="pres">
      <dgm:prSet presAssocID="{F186A5F7-9B6B-4277-A853-55D35AA1DA41}" presName="cycle" presStyleCnt="0"/>
      <dgm:spPr/>
    </dgm:pt>
    <dgm:pt modelId="{E409F833-EA7F-4099-B026-C31BC8FA7BCA}" type="pres">
      <dgm:prSet presAssocID="{522F20F9-C02C-4A2A-BDAD-79E72049BA0C}" presName="nodeFirstNode" presStyleLbl="node1" presStyleIdx="0" presStyleCnt="4" custScaleX="48073" custScaleY="48073" custRadScaleRad="104608" custRadScaleInc="-1479">
        <dgm:presLayoutVars>
          <dgm:bulletEnabled val="1"/>
        </dgm:presLayoutVars>
      </dgm:prSet>
      <dgm:spPr/>
    </dgm:pt>
    <dgm:pt modelId="{A9A47638-7962-463F-B37E-093FF213572E}" type="pres">
      <dgm:prSet presAssocID="{B63A9F95-BC5C-47FF-B488-F9C1F972FF1E}" presName="sibTransFirstNode" presStyleLbl="bgShp" presStyleIdx="0" presStyleCnt="1"/>
      <dgm:spPr/>
    </dgm:pt>
    <dgm:pt modelId="{E9623234-6238-41EC-9926-059F93C1E1C0}" type="pres">
      <dgm:prSet presAssocID="{AAE90AFC-003C-42C0-8B1A-37689782ABAF}" presName="nodeFollowingNodes" presStyleLbl="node1" presStyleIdx="1" presStyleCnt="4" custScaleX="48073" custScaleY="48073" custRadScaleRad="129814" custRadScaleInc="2372">
        <dgm:presLayoutVars>
          <dgm:bulletEnabled val="1"/>
        </dgm:presLayoutVars>
      </dgm:prSet>
      <dgm:spPr/>
    </dgm:pt>
    <dgm:pt modelId="{4DD83394-4F7B-4F74-AADE-B2AD17F7283E}" type="pres">
      <dgm:prSet presAssocID="{A047F033-F722-431D-BEE4-CE72A82FBA24}" presName="nodeFollowingNodes" presStyleLbl="node1" presStyleIdx="2" presStyleCnt="4" custScaleX="48073" custScaleY="48073" custRadScaleRad="147149" custRadScaleInc="1701">
        <dgm:presLayoutVars>
          <dgm:bulletEnabled val="1"/>
        </dgm:presLayoutVars>
      </dgm:prSet>
      <dgm:spPr/>
    </dgm:pt>
    <dgm:pt modelId="{F3286AEF-382A-48AE-88D2-96C09340F742}" type="pres">
      <dgm:prSet presAssocID="{1F9B124A-2BF6-4F71-BC1B-8D4818A311D4}" presName="nodeFollowingNodes" presStyleLbl="node1" presStyleIdx="3" presStyleCnt="4" custScaleX="48073" custScaleY="48073" custRadScaleRad="130001" custRadScaleInc="-4742">
        <dgm:presLayoutVars>
          <dgm:bulletEnabled val="1"/>
        </dgm:presLayoutVars>
      </dgm:prSet>
      <dgm:spPr/>
    </dgm:pt>
  </dgm:ptLst>
  <dgm:cxnLst>
    <dgm:cxn modelId="{E7EE461B-FDE9-4C89-BF92-6152AC2239FE}" type="presOf" srcId="{AAE90AFC-003C-42C0-8B1A-37689782ABAF}" destId="{E9623234-6238-41EC-9926-059F93C1E1C0}" srcOrd="0" destOrd="0" presId="urn:microsoft.com/office/officeart/2005/8/layout/cycle3"/>
    <dgm:cxn modelId="{97370C31-E41C-4570-8E1F-57454B9F67B8}" type="presOf" srcId="{F186A5F7-9B6B-4277-A853-55D35AA1DA41}" destId="{A981BFF2-E501-4091-B8CD-E8223C378E75}" srcOrd="0" destOrd="0" presId="urn:microsoft.com/office/officeart/2005/8/layout/cycle3"/>
    <dgm:cxn modelId="{B893C843-CEBC-4CF1-88B4-024156D2B0A9}" srcId="{F186A5F7-9B6B-4277-A853-55D35AA1DA41}" destId="{A047F033-F722-431D-BEE4-CE72A82FBA24}" srcOrd="2" destOrd="0" parTransId="{AE23E05F-7A9B-4371-9BD8-38DAF871C17D}" sibTransId="{D6DC5E80-D126-4DA8-81FC-6995AAD00EE8}"/>
    <dgm:cxn modelId="{94086166-18FC-4207-8149-7B8014998B1B}" type="presOf" srcId="{B63A9F95-BC5C-47FF-B488-F9C1F972FF1E}" destId="{A9A47638-7962-463F-B37E-093FF213572E}" srcOrd="0" destOrd="0" presId="urn:microsoft.com/office/officeart/2005/8/layout/cycle3"/>
    <dgm:cxn modelId="{E47F7A9A-5BAC-49DD-AC02-413CCDAB367F}" srcId="{F186A5F7-9B6B-4277-A853-55D35AA1DA41}" destId="{AAE90AFC-003C-42C0-8B1A-37689782ABAF}" srcOrd="1" destOrd="0" parTransId="{D12AF5E0-D45A-4D32-818B-1C78CFF1C8F3}" sibTransId="{E0D8F5FE-0E57-4768-B34F-FF86A31E3C18}"/>
    <dgm:cxn modelId="{176BD79A-A3B3-468C-A9D1-D2B6A6D8387B}" type="presOf" srcId="{1F9B124A-2BF6-4F71-BC1B-8D4818A311D4}" destId="{F3286AEF-382A-48AE-88D2-96C09340F742}" srcOrd="0" destOrd="0" presId="urn:microsoft.com/office/officeart/2005/8/layout/cycle3"/>
    <dgm:cxn modelId="{9B5E3AA4-6316-4B2E-9A23-654D7D2CFCB9}" type="presOf" srcId="{A047F033-F722-431D-BEE4-CE72A82FBA24}" destId="{4DD83394-4F7B-4F74-AADE-B2AD17F7283E}" srcOrd="0" destOrd="0" presId="urn:microsoft.com/office/officeart/2005/8/layout/cycle3"/>
    <dgm:cxn modelId="{4F116ECA-5E4E-41BC-B7E6-B6852F56E2B3}" type="presOf" srcId="{522F20F9-C02C-4A2A-BDAD-79E72049BA0C}" destId="{E409F833-EA7F-4099-B026-C31BC8FA7BCA}" srcOrd="0" destOrd="0" presId="urn:microsoft.com/office/officeart/2005/8/layout/cycle3"/>
    <dgm:cxn modelId="{05DBD3CC-6DC4-4276-927D-ADFCC25556B9}" srcId="{F186A5F7-9B6B-4277-A853-55D35AA1DA41}" destId="{1F9B124A-2BF6-4F71-BC1B-8D4818A311D4}" srcOrd="3" destOrd="0" parTransId="{684C6C2C-1314-41F2-8B34-E254E91E5899}" sibTransId="{47AD59EB-2CB0-4EF9-803A-DA3231345680}"/>
    <dgm:cxn modelId="{D68E5BD9-F4A9-4AB8-A1D4-A7CBE94FE8AB}" srcId="{F186A5F7-9B6B-4277-A853-55D35AA1DA41}" destId="{522F20F9-C02C-4A2A-BDAD-79E72049BA0C}" srcOrd="0" destOrd="0" parTransId="{12BED4D8-489D-4372-B58D-8950197DE584}" sibTransId="{B63A9F95-BC5C-47FF-B488-F9C1F972FF1E}"/>
    <dgm:cxn modelId="{53F26D78-ECC0-4A03-BA3C-F14C0CC3248A}" type="presParOf" srcId="{A981BFF2-E501-4091-B8CD-E8223C378E75}" destId="{23AD382D-F9E8-40C2-BAC9-A48C07832F78}" srcOrd="0" destOrd="0" presId="urn:microsoft.com/office/officeart/2005/8/layout/cycle3"/>
    <dgm:cxn modelId="{60C10611-990E-49CC-81FF-B39A4CD5CFD2}" type="presParOf" srcId="{23AD382D-F9E8-40C2-BAC9-A48C07832F78}" destId="{E409F833-EA7F-4099-B026-C31BC8FA7BCA}" srcOrd="0" destOrd="0" presId="urn:microsoft.com/office/officeart/2005/8/layout/cycle3"/>
    <dgm:cxn modelId="{79D7BC13-F44E-41F5-AEDB-C20BDDBE5D19}" type="presParOf" srcId="{23AD382D-F9E8-40C2-BAC9-A48C07832F78}" destId="{A9A47638-7962-463F-B37E-093FF213572E}" srcOrd="1" destOrd="0" presId="urn:microsoft.com/office/officeart/2005/8/layout/cycle3"/>
    <dgm:cxn modelId="{25F9096F-B1AC-4B29-B79C-C7F8EEDC8627}" type="presParOf" srcId="{23AD382D-F9E8-40C2-BAC9-A48C07832F78}" destId="{E9623234-6238-41EC-9926-059F93C1E1C0}" srcOrd="2" destOrd="0" presId="urn:microsoft.com/office/officeart/2005/8/layout/cycle3"/>
    <dgm:cxn modelId="{08D6D4B6-B796-4B3A-9F81-5096FF961F9C}" type="presParOf" srcId="{23AD382D-F9E8-40C2-BAC9-A48C07832F78}" destId="{4DD83394-4F7B-4F74-AADE-B2AD17F7283E}" srcOrd="3" destOrd="0" presId="urn:microsoft.com/office/officeart/2005/8/layout/cycle3"/>
    <dgm:cxn modelId="{52C1D135-79E0-41D4-AA59-C8744AE6036B}" type="presParOf" srcId="{23AD382D-F9E8-40C2-BAC9-A48C07832F78}" destId="{F3286AEF-382A-48AE-88D2-96C09340F742}" srcOrd="4" destOrd="0" presId="urn:microsoft.com/office/officeart/2005/8/layout/cycle3"/>
  </dgm:cxnLst>
  <dgm:bg/>
  <dgm:whole/>
  <dgm:extLst>
    <a:ext uri="http://schemas.microsoft.com/office/drawing/2008/diagram">
      <dsp:dataModelExt xmlns:dsp="http://schemas.microsoft.com/office/drawing/2008/diagram" relId="rId9"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D13F775C-6B32-4BCD-B6E5-025898E115B9}" type="doc">
      <dgm:prSet loTypeId="urn:microsoft.com/office/officeart/2005/8/layout/chevron2" loCatId="list" qsTypeId="urn:microsoft.com/office/officeart/2005/8/quickstyle/simple1" qsCatId="simple" csTypeId="urn:microsoft.com/office/officeart/2005/8/colors/accent1_2" csCatId="accent1" phldr="1"/>
      <dgm:spPr/>
      <dgm:t>
        <a:bodyPr/>
        <a:lstStyle/>
        <a:p>
          <a:endParaRPr lang="zh-TW" altLang="en-US"/>
        </a:p>
      </dgm:t>
    </dgm:pt>
    <dgm:pt modelId="{2C7DC38C-DC14-4538-887E-AEEDF12D7539}">
      <dgm:prSet phldrT="[文字]" custT="1"/>
      <dgm:spPr>
        <a:noFill/>
        <a:ln>
          <a:solidFill>
            <a:schemeClr val="accent2"/>
          </a:solidFill>
        </a:ln>
      </dgm:spPr>
      <dgm:t>
        <a:bodyPr/>
        <a:lstStyle/>
        <a:p>
          <a:pPr>
            <a:buNone/>
          </a:pPr>
          <a:r>
            <a:rPr lang="zh-TW" altLang="en-US" sz="2000" b="1" dirty="0">
              <a:solidFill>
                <a:schemeClr val="tx1">
                  <a:lumMod val="75000"/>
                  <a:lumOff val="25000"/>
                </a:schemeClr>
              </a:solidFill>
              <a:latin typeface="微軟正黑體" panose="020B0604030504040204" pitchFamily="34" charset="-120"/>
              <a:ea typeface="微軟正黑體" panose="020B0604030504040204" pitchFamily="34" charset="-120"/>
            </a:rPr>
            <a:t>交易資料或紀錄在廣播後，必須符合多數決機制，在多數的節點都「確認」的情況下，交易資料或紀錄才能成立，被儲存至區塊</a:t>
          </a:r>
        </a:p>
      </dgm:t>
    </dgm:pt>
    <dgm:pt modelId="{DD28C162-6A27-479F-AEF4-55707F5B8414}" type="parTrans" cxnId="{EFDF5AE0-AAB3-43DC-9515-7C736AC69B0F}">
      <dgm:prSet/>
      <dgm:spPr/>
      <dgm:t>
        <a:bodyPr/>
        <a:lstStyle/>
        <a:p>
          <a:endParaRPr lang="zh-TW" altLang="en-US" sz="2800" b="1">
            <a:latin typeface="微軟正黑體" panose="020B0604030504040204" pitchFamily="34" charset="-120"/>
            <a:ea typeface="微軟正黑體" panose="020B0604030504040204" pitchFamily="34" charset="-120"/>
          </a:endParaRPr>
        </a:p>
      </dgm:t>
    </dgm:pt>
    <dgm:pt modelId="{3E74A9ED-2A11-4894-B639-C04B5117F8DD}" type="sibTrans" cxnId="{EFDF5AE0-AAB3-43DC-9515-7C736AC69B0F}">
      <dgm:prSet/>
      <dgm:spPr/>
      <dgm:t>
        <a:bodyPr/>
        <a:lstStyle/>
        <a:p>
          <a:endParaRPr lang="zh-TW" altLang="en-US" sz="2800" b="1">
            <a:latin typeface="微軟正黑體" panose="020B0604030504040204" pitchFamily="34" charset="-120"/>
            <a:ea typeface="微軟正黑體" panose="020B0604030504040204" pitchFamily="34" charset="-120"/>
          </a:endParaRPr>
        </a:p>
      </dgm:t>
    </dgm:pt>
    <dgm:pt modelId="{E929AFE1-188C-4DE5-9E0F-8EAFD6E9BB54}">
      <dgm:prSet phldrT="[文字]" custT="1"/>
      <dgm:spPr>
        <a:solidFill>
          <a:srgbClr val="B6E4E0"/>
        </a:solidFill>
        <a:ln>
          <a:noFill/>
        </a:ln>
      </dgm:spPr>
      <dgm:t>
        <a:bodyPr/>
        <a:lstStyle/>
        <a:p>
          <a:r>
            <a:rPr lang="zh-TW" altLang="en-US" sz="2000" b="1" dirty="0">
              <a:solidFill>
                <a:schemeClr val="tx1"/>
              </a:solidFill>
              <a:latin typeface="微軟正黑體" panose="020B0604030504040204" pitchFamily="34" charset="-120"/>
              <a:ea typeface="微軟正黑體" panose="020B0604030504040204" pitchFamily="34" charset="-120"/>
            </a:rPr>
            <a:t>讀取資料的安全性</a:t>
          </a:r>
        </a:p>
      </dgm:t>
    </dgm:pt>
    <dgm:pt modelId="{31A42686-69DD-4D7B-A4D5-1A389C2CEDB8}" type="parTrans" cxnId="{C55D3514-989B-4FBD-90D8-9E4333B4336F}">
      <dgm:prSet/>
      <dgm:spPr/>
      <dgm:t>
        <a:bodyPr/>
        <a:lstStyle/>
        <a:p>
          <a:endParaRPr lang="zh-TW" altLang="en-US" sz="2800" b="1">
            <a:latin typeface="微軟正黑體" panose="020B0604030504040204" pitchFamily="34" charset="-120"/>
            <a:ea typeface="微軟正黑體" panose="020B0604030504040204" pitchFamily="34" charset="-120"/>
          </a:endParaRPr>
        </a:p>
      </dgm:t>
    </dgm:pt>
    <dgm:pt modelId="{5B882F09-C6B5-4661-AE8A-747088E14CC4}" type="sibTrans" cxnId="{C55D3514-989B-4FBD-90D8-9E4333B4336F}">
      <dgm:prSet/>
      <dgm:spPr/>
      <dgm:t>
        <a:bodyPr/>
        <a:lstStyle/>
        <a:p>
          <a:endParaRPr lang="zh-TW" altLang="en-US" sz="2800" b="1">
            <a:latin typeface="微軟正黑體" panose="020B0604030504040204" pitchFamily="34" charset="-120"/>
            <a:ea typeface="微軟正黑體" panose="020B0604030504040204" pitchFamily="34" charset="-120"/>
          </a:endParaRPr>
        </a:p>
      </dgm:t>
    </dgm:pt>
    <dgm:pt modelId="{20948912-170E-468C-8B8D-A791C691D28C}">
      <dgm:prSet phldrT="[文字]" custT="1"/>
      <dgm:spPr>
        <a:noFill/>
        <a:ln>
          <a:solidFill>
            <a:srgbClr val="05AF99"/>
          </a:solidFill>
        </a:ln>
      </dgm:spPr>
      <dgm:t>
        <a:bodyPr/>
        <a:lstStyle/>
        <a:p>
          <a:pPr>
            <a:buFont typeface="Arial" panose="020B0604020202020204" pitchFamily="34" charset="0"/>
            <a:buChar char="•"/>
          </a:pPr>
          <a:r>
            <a:rPr lang="zh-TW" altLang="en-US" sz="2000" b="1" dirty="0">
              <a:solidFill>
                <a:schemeClr val="tx1">
                  <a:lumMod val="75000"/>
                  <a:lumOff val="25000"/>
                </a:schemeClr>
              </a:solidFill>
              <a:latin typeface="微軟正黑體" panose="020B0604030504040204" pitchFamily="34" charset="-120"/>
              <a:ea typeface="微軟正黑體" panose="020B0604030504040204" pitchFamily="34" charset="-120"/>
            </a:rPr>
            <a:t>在區塊鏈上的某些元素上加密，之後再把金鑰交給相關使用者</a:t>
          </a:r>
        </a:p>
      </dgm:t>
    </dgm:pt>
    <dgm:pt modelId="{09F3F0D5-7D5B-49FC-8B35-E61066759B98}" type="parTrans" cxnId="{A0489E05-5F9B-4D45-981C-D15EE9E65FBD}">
      <dgm:prSet/>
      <dgm:spPr/>
      <dgm:t>
        <a:bodyPr/>
        <a:lstStyle/>
        <a:p>
          <a:endParaRPr lang="zh-TW" altLang="en-US" sz="2800" b="1">
            <a:latin typeface="微軟正黑體" panose="020B0604030504040204" pitchFamily="34" charset="-120"/>
            <a:ea typeface="微軟正黑體" panose="020B0604030504040204" pitchFamily="34" charset="-120"/>
          </a:endParaRPr>
        </a:p>
      </dgm:t>
    </dgm:pt>
    <dgm:pt modelId="{04220804-6E62-46D2-8CC4-1490486AF48A}" type="sibTrans" cxnId="{A0489E05-5F9B-4D45-981C-D15EE9E65FBD}">
      <dgm:prSet/>
      <dgm:spPr/>
      <dgm:t>
        <a:bodyPr/>
        <a:lstStyle/>
        <a:p>
          <a:endParaRPr lang="zh-TW" altLang="en-US" sz="2800" b="1">
            <a:latin typeface="微軟正黑體" panose="020B0604030504040204" pitchFamily="34" charset="-120"/>
            <a:ea typeface="微軟正黑體" panose="020B0604030504040204" pitchFamily="34" charset="-120"/>
          </a:endParaRPr>
        </a:p>
      </dgm:t>
    </dgm:pt>
    <dgm:pt modelId="{25EF8434-D12D-4870-AA35-E1A33A370008}">
      <dgm:prSet phldrT="[文字]" custT="1"/>
      <dgm:spPr>
        <a:solidFill>
          <a:srgbClr val="C6DBB7"/>
        </a:solidFill>
        <a:ln>
          <a:noFill/>
        </a:ln>
      </dgm:spPr>
      <dgm:t>
        <a:bodyPr/>
        <a:lstStyle/>
        <a:p>
          <a:r>
            <a:rPr lang="zh-TW" altLang="en-US" sz="2000" b="1" dirty="0">
              <a:solidFill>
                <a:schemeClr val="tx1"/>
              </a:solidFill>
              <a:latin typeface="微軟正黑體" panose="020B0604030504040204" pitchFamily="34" charset="-120"/>
              <a:ea typeface="微軟正黑體" panose="020B0604030504040204" pitchFamily="34" charset="-120"/>
            </a:rPr>
            <a:t>分散式    阻斷服務（</a:t>
          </a:r>
          <a:r>
            <a:rPr lang="en-US" altLang="en-US" sz="2000" b="1" dirty="0">
              <a:solidFill>
                <a:schemeClr val="tx1"/>
              </a:solidFill>
              <a:latin typeface="微軟正黑體" panose="020B0604030504040204" pitchFamily="34" charset="-120"/>
              <a:ea typeface="微軟正黑體" panose="020B0604030504040204" pitchFamily="34" charset="-120"/>
            </a:rPr>
            <a:t>DDOS</a:t>
          </a:r>
          <a:r>
            <a:rPr lang="zh-TW" altLang="en-US" sz="2000" b="1" dirty="0">
              <a:solidFill>
                <a:schemeClr val="tx1"/>
              </a:solidFill>
              <a:latin typeface="微軟正黑體" panose="020B0604030504040204" pitchFamily="34" charset="-120"/>
              <a:ea typeface="微軟正黑體" panose="020B0604030504040204" pitchFamily="34" charset="-120"/>
            </a:rPr>
            <a:t>）</a:t>
          </a:r>
        </a:p>
      </dgm:t>
    </dgm:pt>
    <dgm:pt modelId="{C6038FEB-60F5-488F-97FD-4632F3CD92FB}" type="parTrans" cxnId="{EA16E462-1BEF-4104-9070-1F06739ED634}">
      <dgm:prSet/>
      <dgm:spPr/>
      <dgm:t>
        <a:bodyPr/>
        <a:lstStyle/>
        <a:p>
          <a:endParaRPr lang="zh-TW" altLang="en-US" sz="2800" b="1">
            <a:latin typeface="微軟正黑體" panose="020B0604030504040204" pitchFamily="34" charset="-120"/>
            <a:ea typeface="微軟正黑體" panose="020B0604030504040204" pitchFamily="34" charset="-120"/>
          </a:endParaRPr>
        </a:p>
      </dgm:t>
    </dgm:pt>
    <dgm:pt modelId="{0582BD9E-35D6-4A1B-96C7-D8F3A08445FA}" type="sibTrans" cxnId="{EA16E462-1BEF-4104-9070-1F06739ED634}">
      <dgm:prSet/>
      <dgm:spPr/>
      <dgm:t>
        <a:bodyPr/>
        <a:lstStyle/>
        <a:p>
          <a:endParaRPr lang="zh-TW" altLang="en-US" sz="2800" b="1">
            <a:latin typeface="微軟正黑體" panose="020B0604030504040204" pitchFamily="34" charset="-120"/>
            <a:ea typeface="微軟正黑體" panose="020B0604030504040204" pitchFamily="34" charset="-120"/>
          </a:endParaRPr>
        </a:p>
      </dgm:t>
    </dgm:pt>
    <dgm:pt modelId="{D6D8AC9C-5ABD-4C51-973B-DD03FB7CCBA2}">
      <dgm:prSet phldrT="[文字]" custT="1"/>
      <dgm:spPr>
        <a:noFill/>
        <a:ln>
          <a:solidFill>
            <a:srgbClr val="669900"/>
          </a:solidFill>
        </a:ln>
      </dgm:spPr>
      <dgm:t>
        <a:bodyPr/>
        <a:lstStyle/>
        <a:p>
          <a:pPr>
            <a:buNone/>
          </a:pPr>
          <a:r>
            <a:rPr lang="zh-TW" altLang="en-US" sz="2000" b="1" dirty="0">
              <a:solidFill>
                <a:schemeClr val="tx1">
                  <a:lumMod val="75000"/>
                  <a:lumOff val="25000"/>
                </a:schemeClr>
              </a:solidFill>
              <a:latin typeface="微軟正黑體" panose="020B0604030504040204" pitchFamily="34" charset="-120"/>
              <a:ea typeface="微軟正黑體" panose="020B0604030504040204" pitchFamily="34" charset="-120"/>
            </a:rPr>
            <a:t>利用網路上已被攻擊的節點作為對象，向某一特定目標節點進行「阻斷服務」要求，此將目標節點的網路資源或系統資源耗盡</a:t>
          </a:r>
        </a:p>
      </dgm:t>
    </dgm:pt>
    <dgm:pt modelId="{8AB594FD-50B9-4ECA-86B4-08979E4F3C62}" type="parTrans" cxnId="{7A0C77FA-616D-4CFA-B8DC-6C4385F0EE93}">
      <dgm:prSet/>
      <dgm:spPr/>
      <dgm:t>
        <a:bodyPr/>
        <a:lstStyle/>
        <a:p>
          <a:endParaRPr lang="zh-TW" altLang="en-US" sz="2800" b="1">
            <a:latin typeface="微軟正黑體" panose="020B0604030504040204" pitchFamily="34" charset="-120"/>
            <a:ea typeface="微軟正黑體" panose="020B0604030504040204" pitchFamily="34" charset="-120"/>
          </a:endParaRPr>
        </a:p>
      </dgm:t>
    </dgm:pt>
    <dgm:pt modelId="{84552ACE-BB59-43D0-9E42-55C160D849DF}" type="sibTrans" cxnId="{7A0C77FA-616D-4CFA-B8DC-6C4385F0EE93}">
      <dgm:prSet/>
      <dgm:spPr/>
      <dgm:t>
        <a:bodyPr/>
        <a:lstStyle/>
        <a:p>
          <a:endParaRPr lang="zh-TW" altLang="en-US" sz="2800" b="1">
            <a:latin typeface="微軟正黑體" panose="020B0604030504040204" pitchFamily="34" charset="-120"/>
            <a:ea typeface="微軟正黑體" panose="020B0604030504040204" pitchFamily="34" charset="-120"/>
          </a:endParaRPr>
        </a:p>
      </dgm:t>
    </dgm:pt>
    <dgm:pt modelId="{36E143CF-B446-44B0-AF60-BEBC593707E1}">
      <dgm:prSet phldrT="[文字]" custT="1"/>
      <dgm:spPr>
        <a:solidFill>
          <a:schemeClr val="accent2">
            <a:lumMod val="20000"/>
            <a:lumOff val="80000"/>
          </a:schemeClr>
        </a:solidFill>
        <a:ln>
          <a:noFill/>
        </a:ln>
      </dgm:spPr>
      <dgm:t>
        <a:bodyPr/>
        <a:lstStyle/>
        <a:p>
          <a:r>
            <a:rPr lang="zh-TW" altLang="en-US" sz="2000" b="1" dirty="0">
              <a:solidFill>
                <a:schemeClr val="tx1"/>
              </a:solidFill>
              <a:latin typeface="微軟正黑體" panose="020B0604030504040204" pitchFamily="34" charset="-120"/>
              <a:ea typeface="微軟正黑體" panose="020B0604030504040204" pitchFamily="34" charset="-120"/>
            </a:rPr>
            <a:t>寫入資料的安全性</a:t>
          </a:r>
        </a:p>
      </dgm:t>
    </dgm:pt>
    <dgm:pt modelId="{113D89E8-62C9-4407-9A18-4E308DC35968}" type="sibTrans" cxnId="{5B5E550E-18B8-4621-9C7C-5884E3938A9D}">
      <dgm:prSet/>
      <dgm:spPr/>
      <dgm:t>
        <a:bodyPr/>
        <a:lstStyle/>
        <a:p>
          <a:endParaRPr lang="zh-TW" altLang="en-US" sz="2800" b="1">
            <a:latin typeface="微軟正黑體" panose="020B0604030504040204" pitchFamily="34" charset="-120"/>
            <a:ea typeface="微軟正黑體" panose="020B0604030504040204" pitchFamily="34" charset="-120"/>
          </a:endParaRPr>
        </a:p>
      </dgm:t>
    </dgm:pt>
    <dgm:pt modelId="{9A8F6BC6-A268-4C81-8687-F44953D6EBDC}" type="parTrans" cxnId="{5B5E550E-18B8-4621-9C7C-5884E3938A9D}">
      <dgm:prSet/>
      <dgm:spPr/>
      <dgm:t>
        <a:bodyPr/>
        <a:lstStyle/>
        <a:p>
          <a:endParaRPr lang="zh-TW" altLang="en-US" sz="2800" b="1">
            <a:latin typeface="微軟正黑體" panose="020B0604030504040204" pitchFamily="34" charset="-120"/>
            <a:ea typeface="微軟正黑體" panose="020B0604030504040204" pitchFamily="34" charset="-120"/>
          </a:endParaRPr>
        </a:p>
      </dgm:t>
    </dgm:pt>
    <dgm:pt modelId="{E3281041-6E49-4F77-B69D-B9A1B080B592}">
      <dgm:prSet phldrT="[文字]" custT="1"/>
      <dgm:spPr>
        <a:noFill/>
        <a:ln>
          <a:solidFill>
            <a:srgbClr val="05AF99"/>
          </a:solidFill>
        </a:ln>
      </dgm:spPr>
      <dgm:t>
        <a:bodyPr/>
        <a:lstStyle/>
        <a:p>
          <a:pPr>
            <a:buFont typeface="Arial" panose="020B0604020202020204" pitchFamily="34" charset="0"/>
            <a:buChar char="•"/>
          </a:pPr>
          <a:r>
            <a:rPr lang="zh-TW" altLang="en-US" sz="2000" b="1" dirty="0">
              <a:solidFill>
                <a:schemeClr val="tx1">
                  <a:lumMod val="75000"/>
                  <a:lumOff val="25000"/>
                </a:schemeClr>
              </a:solidFill>
              <a:latin typeface="微軟正黑體" panose="020B0604030504040204" pitchFamily="34" charset="-120"/>
              <a:ea typeface="微軟正黑體" panose="020B0604030504040204" pitchFamily="34" charset="-120"/>
            </a:rPr>
            <a:t>透過多數決機制的複核</a:t>
          </a:r>
        </a:p>
      </dgm:t>
    </dgm:pt>
    <dgm:pt modelId="{91FBCAD8-4C7A-4461-AE6F-95347D8C7C0B}" type="parTrans" cxnId="{39D8B1B1-64F1-4B00-8DC9-5911649086E3}">
      <dgm:prSet/>
      <dgm:spPr/>
      <dgm:t>
        <a:bodyPr/>
        <a:lstStyle/>
        <a:p>
          <a:endParaRPr lang="zh-TW" altLang="en-US" sz="2000"/>
        </a:p>
      </dgm:t>
    </dgm:pt>
    <dgm:pt modelId="{775E18D9-740B-4186-95B6-FBC7BDC1A0C9}" type="sibTrans" cxnId="{39D8B1B1-64F1-4B00-8DC9-5911649086E3}">
      <dgm:prSet/>
      <dgm:spPr/>
      <dgm:t>
        <a:bodyPr/>
        <a:lstStyle/>
        <a:p>
          <a:endParaRPr lang="zh-TW" altLang="en-US" sz="2000"/>
        </a:p>
      </dgm:t>
    </dgm:pt>
    <dgm:pt modelId="{EECCF8C4-CEF3-4527-A573-0B10385CC9CB}" type="pres">
      <dgm:prSet presAssocID="{D13F775C-6B32-4BCD-B6E5-025898E115B9}" presName="linearFlow" presStyleCnt="0">
        <dgm:presLayoutVars>
          <dgm:dir/>
          <dgm:animLvl val="lvl"/>
          <dgm:resizeHandles val="exact"/>
        </dgm:presLayoutVars>
      </dgm:prSet>
      <dgm:spPr/>
    </dgm:pt>
    <dgm:pt modelId="{FF542DD3-2250-4E67-B930-EE532A13EA00}" type="pres">
      <dgm:prSet presAssocID="{36E143CF-B446-44B0-AF60-BEBC593707E1}" presName="composite" presStyleCnt="0"/>
      <dgm:spPr/>
    </dgm:pt>
    <dgm:pt modelId="{3ECA25DB-CF0A-46DA-A5F9-EEC9DFC8D78E}" type="pres">
      <dgm:prSet presAssocID="{36E143CF-B446-44B0-AF60-BEBC593707E1}" presName="parentText" presStyleLbl="alignNode1" presStyleIdx="0" presStyleCnt="3">
        <dgm:presLayoutVars>
          <dgm:chMax val="1"/>
          <dgm:bulletEnabled val="1"/>
        </dgm:presLayoutVars>
      </dgm:prSet>
      <dgm:spPr/>
    </dgm:pt>
    <dgm:pt modelId="{0C1AA102-BC03-4300-9D0B-5400D352C357}" type="pres">
      <dgm:prSet presAssocID="{36E143CF-B446-44B0-AF60-BEBC593707E1}" presName="descendantText" presStyleLbl="alignAcc1" presStyleIdx="0" presStyleCnt="3">
        <dgm:presLayoutVars>
          <dgm:bulletEnabled val="1"/>
        </dgm:presLayoutVars>
      </dgm:prSet>
      <dgm:spPr/>
    </dgm:pt>
    <dgm:pt modelId="{1D26F594-5C5E-4902-B047-A0071BB2EF70}" type="pres">
      <dgm:prSet presAssocID="{113D89E8-62C9-4407-9A18-4E308DC35968}" presName="sp" presStyleCnt="0"/>
      <dgm:spPr/>
    </dgm:pt>
    <dgm:pt modelId="{3FA793FA-3B86-4598-B355-88576CEFFFA6}" type="pres">
      <dgm:prSet presAssocID="{E929AFE1-188C-4DE5-9E0F-8EAFD6E9BB54}" presName="composite" presStyleCnt="0"/>
      <dgm:spPr/>
    </dgm:pt>
    <dgm:pt modelId="{6CF1D92F-D8FB-4ED5-8E1C-DD40A01504DD}" type="pres">
      <dgm:prSet presAssocID="{E929AFE1-188C-4DE5-9E0F-8EAFD6E9BB54}" presName="parentText" presStyleLbl="alignNode1" presStyleIdx="1" presStyleCnt="3">
        <dgm:presLayoutVars>
          <dgm:chMax val="1"/>
          <dgm:bulletEnabled val="1"/>
        </dgm:presLayoutVars>
      </dgm:prSet>
      <dgm:spPr/>
    </dgm:pt>
    <dgm:pt modelId="{4AC16054-A063-4085-862C-62085B83A2C8}" type="pres">
      <dgm:prSet presAssocID="{E929AFE1-188C-4DE5-9E0F-8EAFD6E9BB54}" presName="descendantText" presStyleLbl="alignAcc1" presStyleIdx="1" presStyleCnt="3">
        <dgm:presLayoutVars>
          <dgm:bulletEnabled val="1"/>
        </dgm:presLayoutVars>
      </dgm:prSet>
      <dgm:spPr/>
    </dgm:pt>
    <dgm:pt modelId="{DAE3E719-8CF0-48AE-9317-32921CC0D79E}" type="pres">
      <dgm:prSet presAssocID="{5B882F09-C6B5-4661-AE8A-747088E14CC4}" presName="sp" presStyleCnt="0"/>
      <dgm:spPr/>
    </dgm:pt>
    <dgm:pt modelId="{F8CB31BA-BBAD-4CDF-9E15-C76639D7C049}" type="pres">
      <dgm:prSet presAssocID="{25EF8434-D12D-4870-AA35-E1A33A370008}" presName="composite" presStyleCnt="0"/>
      <dgm:spPr/>
    </dgm:pt>
    <dgm:pt modelId="{97DD9C73-95E8-435A-B419-CE52396469C6}" type="pres">
      <dgm:prSet presAssocID="{25EF8434-D12D-4870-AA35-E1A33A370008}" presName="parentText" presStyleLbl="alignNode1" presStyleIdx="2" presStyleCnt="3">
        <dgm:presLayoutVars>
          <dgm:chMax val="1"/>
          <dgm:bulletEnabled val="1"/>
        </dgm:presLayoutVars>
      </dgm:prSet>
      <dgm:spPr/>
    </dgm:pt>
    <dgm:pt modelId="{5D0B8787-0E7A-4C7B-8C58-58EEBBE556DB}" type="pres">
      <dgm:prSet presAssocID="{25EF8434-D12D-4870-AA35-E1A33A370008}" presName="descendantText" presStyleLbl="alignAcc1" presStyleIdx="2" presStyleCnt="3">
        <dgm:presLayoutVars>
          <dgm:bulletEnabled val="1"/>
        </dgm:presLayoutVars>
      </dgm:prSet>
      <dgm:spPr/>
    </dgm:pt>
  </dgm:ptLst>
  <dgm:cxnLst>
    <dgm:cxn modelId="{A0489E05-5F9B-4D45-981C-D15EE9E65FBD}" srcId="{E929AFE1-188C-4DE5-9E0F-8EAFD6E9BB54}" destId="{20948912-170E-468C-8B8D-A791C691D28C}" srcOrd="0" destOrd="0" parTransId="{09F3F0D5-7D5B-49FC-8B35-E61066759B98}" sibTransId="{04220804-6E62-46D2-8CC4-1490486AF48A}"/>
    <dgm:cxn modelId="{5B5E550E-18B8-4621-9C7C-5884E3938A9D}" srcId="{D13F775C-6B32-4BCD-B6E5-025898E115B9}" destId="{36E143CF-B446-44B0-AF60-BEBC593707E1}" srcOrd="0" destOrd="0" parTransId="{9A8F6BC6-A268-4C81-8687-F44953D6EBDC}" sibTransId="{113D89E8-62C9-4407-9A18-4E308DC35968}"/>
    <dgm:cxn modelId="{BE27AB10-1397-43FA-869C-B91A2B274F9C}" type="presOf" srcId="{25EF8434-D12D-4870-AA35-E1A33A370008}" destId="{97DD9C73-95E8-435A-B419-CE52396469C6}" srcOrd="0" destOrd="0" presId="urn:microsoft.com/office/officeart/2005/8/layout/chevron2"/>
    <dgm:cxn modelId="{C55D3514-989B-4FBD-90D8-9E4333B4336F}" srcId="{D13F775C-6B32-4BCD-B6E5-025898E115B9}" destId="{E929AFE1-188C-4DE5-9E0F-8EAFD6E9BB54}" srcOrd="1" destOrd="0" parTransId="{31A42686-69DD-4D7B-A4D5-1A389C2CEDB8}" sibTransId="{5B882F09-C6B5-4661-AE8A-747088E14CC4}"/>
    <dgm:cxn modelId="{FA7D741F-5178-4935-8BCF-5969C42D5041}" type="presOf" srcId="{2C7DC38C-DC14-4538-887E-AEEDF12D7539}" destId="{0C1AA102-BC03-4300-9D0B-5400D352C357}" srcOrd="0" destOrd="0" presId="urn:microsoft.com/office/officeart/2005/8/layout/chevron2"/>
    <dgm:cxn modelId="{96D3D626-3CDA-4BCD-A698-45DFB2C2140A}" type="presOf" srcId="{36E143CF-B446-44B0-AF60-BEBC593707E1}" destId="{3ECA25DB-CF0A-46DA-A5F9-EEC9DFC8D78E}" srcOrd="0" destOrd="0" presId="urn:microsoft.com/office/officeart/2005/8/layout/chevron2"/>
    <dgm:cxn modelId="{EA16E462-1BEF-4104-9070-1F06739ED634}" srcId="{D13F775C-6B32-4BCD-B6E5-025898E115B9}" destId="{25EF8434-D12D-4870-AA35-E1A33A370008}" srcOrd="2" destOrd="0" parTransId="{C6038FEB-60F5-488F-97FD-4632F3CD92FB}" sibTransId="{0582BD9E-35D6-4A1B-96C7-D8F3A08445FA}"/>
    <dgm:cxn modelId="{F21C1564-B62D-47D3-A021-A49F07A3299B}" type="presOf" srcId="{E929AFE1-188C-4DE5-9E0F-8EAFD6E9BB54}" destId="{6CF1D92F-D8FB-4ED5-8E1C-DD40A01504DD}" srcOrd="0" destOrd="0" presId="urn:microsoft.com/office/officeart/2005/8/layout/chevron2"/>
    <dgm:cxn modelId="{CA0C3C47-E614-409B-982A-A60C71004BA3}" type="presOf" srcId="{D13F775C-6B32-4BCD-B6E5-025898E115B9}" destId="{EECCF8C4-CEF3-4527-A573-0B10385CC9CB}" srcOrd="0" destOrd="0" presId="urn:microsoft.com/office/officeart/2005/8/layout/chevron2"/>
    <dgm:cxn modelId="{A9297B76-8710-4349-9E35-A8CF89057589}" type="presOf" srcId="{E3281041-6E49-4F77-B69D-B9A1B080B592}" destId="{4AC16054-A063-4085-862C-62085B83A2C8}" srcOrd="0" destOrd="1" presId="urn:microsoft.com/office/officeart/2005/8/layout/chevron2"/>
    <dgm:cxn modelId="{02BBCE57-84DD-4D2A-B487-0B8663415E53}" type="presOf" srcId="{D6D8AC9C-5ABD-4C51-973B-DD03FB7CCBA2}" destId="{5D0B8787-0E7A-4C7B-8C58-58EEBBE556DB}" srcOrd="0" destOrd="0" presId="urn:microsoft.com/office/officeart/2005/8/layout/chevron2"/>
    <dgm:cxn modelId="{39D8B1B1-64F1-4B00-8DC9-5911649086E3}" srcId="{E929AFE1-188C-4DE5-9E0F-8EAFD6E9BB54}" destId="{E3281041-6E49-4F77-B69D-B9A1B080B592}" srcOrd="1" destOrd="0" parTransId="{91FBCAD8-4C7A-4461-AE6F-95347D8C7C0B}" sibTransId="{775E18D9-740B-4186-95B6-FBC7BDC1A0C9}"/>
    <dgm:cxn modelId="{EFDF5AE0-AAB3-43DC-9515-7C736AC69B0F}" srcId="{36E143CF-B446-44B0-AF60-BEBC593707E1}" destId="{2C7DC38C-DC14-4538-887E-AEEDF12D7539}" srcOrd="0" destOrd="0" parTransId="{DD28C162-6A27-479F-AEF4-55707F5B8414}" sibTransId="{3E74A9ED-2A11-4894-B639-C04B5117F8DD}"/>
    <dgm:cxn modelId="{8B2464E2-B56E-4BFC-80BC-0DB50CB8275B}" type="presOf" srcId="{20948912-170E-468C-8B8D-A791C691D28C}" destId="{4AC16054-A063-4085-862C-62085B83A2C8}" srcOrd="0" destOrd="0" presId="urn:microsoft.com/office/officeart/2005/8/layout/chevron2"/>
    <dgm:cxn modelId="{7A0C77FA-616D-4CFA-B8DC-6C4385F0EE93}" srcId="{25EF8434-D12D-4870-AA35-E1A33A370008}" destId="{D6D8AC9C-5ABD-4C51-973B-DD03FB7CCBA2}" srcOrd="0" destOrd="0" parTransId="{8AB594FD-50B9-4ECA-86B4-08979E4F3C62}" sibTransId="{84552ACE-BB59-43D0-9E42-55C160D849DF}"/>
    <dgm:cxn modelId="{469080D8-E77E-45D9-9E67-EC2D89D39802}" type="presParOf" srcId="{EECCF8C4-CEF3-4527-A573-0B10385CC9CB}" destId="{FF542DD3-2250-4E67-B930-EE532A13EA00}" srcOrd="0" destOrd="0" presId="urn:microsoft.com/office/officeart/2005/8/layout/chevron2"/>
    <dgm:cxn modelId="{A8B7D9BC-8C40-44C9-A85E-2BF08969BD52}" type="presParOf" srcId="{FF542DD3-2250-4E67-B930-EE532A13EA00}" destId="{3ECA25DB-CF0A-46DA-A5F9-EEC9DFC8D78E}" srcOrd="0" destOrd="0" presId="urn:microsoft.com/office/officeart/2005/8/layout/chevron2"/>
    <dgm:cxn modelId="{E55A278C-8F58-41F2-A78E-47A2A1ADDC64}" type="presParOf" srcId="{FF542DD3-2250-4E67-B930-EE532A13EA00}" destId="{0C1AA102-BC03-4300-9D0B-5400D352C357}" srcOrd="1" destOrd="0" presId="urn:microsoft.com/office/officeart/2005/8/layout/chevron2"/>
    <dgm:cxn modelId="{535B1A12-980E-453D-84DA-D564EF1F6C7C}" type="presParOf" srcId="{EECCF8C4-CEF3-4527-A573-0B10385CC9CB}" destId="{1D26F594-5C5E-4902-B047-A0071BB2EF70}" srcOrd="1" destOrd="0" presId="urn:microsoft.com/office/officeart/2005/8/layout/chevron2"/>
    <dgm:cxn modelId="{6DEB132C-FED7-4790-B128-FECCA24DA43E}" type="presParOf" srcId="{EECCF8C4-CEF3-4527-A573-0B10385CC9CB}" destId="{3FA793FA-3B86-4598-B355-88576CEFFFA6}" srcOrd="2" destOrd="0" presId="urn:microsoft.com/office/officeart/2005/8/layout/chevron2"/>
    <dgm:cxn modelId="{CCA9826F-F9BC-4622-876B-83CAD40C9CDA}" type="presParOf" srcId="{3FA793FA-3B86-4598-B355-88576CEFFFA6}" destId="{6CF1D92F-D8FB-4ED5-8E1C-DD40A01504DD}" srcOrd="0" destOrd="0" presId="urn:microsoft.com/office/officeart/2005/8/layout/chevron2"/>
    <dgm:cxn modelId="{32C6149E-5A19-4E30-A383-7D41F5D4C984}" type="presParOf" srcId="{3FA793FA-3B86-4598-B355-88576CEFFFA6}" destId="{4AC16054-A063-4085-862C-62085B83A2C8}" srcOrd="1" destOrd="0" presId="urn:microsoft.com/office/officeart/2005/8/layout/chevron2"/>
    <dgm:cxn modelId="{9DB0AE31-8E9E-4276-98D3-108E7DA0AAED}" type="presParOf" srcId="{EECCF8C4-CEF3-4527-A573-0B10385CC9CB}" destId="{DAE3E719-8CF0-48AE-9317-32921CC0D79E}" srcOrd="3" destOrd="0" presId="urn:microsoft.com/office/officeart/2005/8/layout/chevron2"/>
    <dgm:cxn modelId="{9F73F76E-ADA8-4484-B7BE-2353FA817F95}" type="presParOf" srcId="{EECCF8C4-CEF3-4527-A573-0B10385CC9CB}" destId="{F8CB31BA-BBAD-4CDF-9E15-C76639D7C049}" srcOrd="4" destOrd="0" presId="urn:microsoft.com/office/officeart/2005/8/layout/chevron2"/>
    <dgm:cxn modelId="{BA4A4A6B-CBD7-47C7-94BF-A4295E1F696B}" type="presParOf" srcId="{F8CB31BA-BBAD-4CDF-9E15-C76639D7C049}" destId="{97DD9C73-95E8-435A-B419-CE52396469C6}" srcOrd="0" destOrd="0" presId="urn:microsoft.com/office/officeart/2005/8/layout/chevron2"/>
    <dgm:cxn modelId="{EE11E1F0-2C89-489D-B187-9367F5337C90}" type="presParOf" srcId="{F8CB31BA-BBAD-4CDF-9E15-C76639D7C049}" destId="{5D0B8787-0E7A-4C7B-8C58-58EEBBE556DB}" srcOrd="1" destOrd="0" presId="urn:microsoft.com/office/officeart/2005/8/layout/chevron2"/>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D13F775C-6B32-4BCD-B6E5-025898E115B9}" type="doc">
      <dgm:prSet loTypeId="urn:microsoft.com/office/officeart/2008/layout/LinedList" loCatId="list" qsTypeId="urn:microsoft.com/office/officeart/2005/8/quickstyle/simple1" qsCatId="simple" csTypeId="urn:microsoft.com/office/officeart/2005/8/colors/accent1_2" csCatId="accent1" phldr="1"/>
      <dgm:spPr/>
      <dgm:t>
        <a:bodyPr/>
        <a:lstStyle/>
        <a:p>
          <a:endParaRPr lang="zh-TW" altLang="en-US"/>
        </a:p>
      </dgm:t>
    </dgm:pt>
    <dgm:pt modelId="{E929AFE1-188C-4DE5-9E0F-8EAFD6E9BB54}">
      <dgm:prSet phldrT="[文字]" custT="1"/>
      <dgm:spPr>
        <a:solidFill>
          <a:srgbClr val="B6E4E0"/>
        </a:solidFill>
        <a:ln>
          <a:noFill/>
        </a:ln>
      </dgm:spPr>
      <dgm:t>
        <a:bodyPr/>
        <a:lstStyle/>
        <a:p>
          <a:pPr algn="ctr"/>
          <a:endParaRPr lang="en-US" altLang="zh-TW" sz="2000" b="1" dirty="0">
            <a:solidFill>
              <a:schemeClr val="tx1"/>
            </a:solidFill>
            <a:latin typeface="微軟正黑體" panose="020B0604030504040204" pitchFamily="34" charset="-120"/>
            <a:ea typeface="微軟正黑體" panose="020B0604030504040204" pitchFamily="34" charset="-120"/>
          </a:endParaRPr>
        </a:p>
        <a:p>
          <a:pPr algn="ctr"/>
          <a:endParaRPr lang="en-US" altLang="zh-TW" sz="1400" b="1" dirty="0">
            <a:solidFill>
              <a:schemeClr val="tx1"/>
            </a:solidFill>
            <a:latin typeface="微軟正黑體" panose="020B0604030504040204" pitchFamily="34" charset="-120"/>
            <a:ea typeface="微軟正黑體" panose="020B0604030504040204" pitchFamily="34" charset="-120"/>
          </a:endParaRPr>
        </a:p>
        <a:p>
          <a:pPr algn="ctr"/>
          <a:r>
            <a:rPr lang="zh-TW" altLang="en-US" sz="2000" b="1" dirty="0">
              <a:solidFill>
                <a:schemeClr val="tx1"/>
              </a:solidFill>
              <a:latin typeface="微軟正黑體" panose="020B0604030504040204" pitchFamily="34" charset="-120"/>
              <a:ea typeface="微軟正黑體" panose="020B0604030504040204" pitchFamily="34" charset="-120"/>
            </a:rPr>
            <a:t>計算能力</a:t>
          </a:r>
        </a:p>
      </dgm:t>
    </dgm:pt>
    <dgm:pt modelId="{31A42686-69DD-4D7B-A4D5-1A389C2CEDB8}" type="parTrans" cxnId="{C55D3514-989B-4FBD-90D8-9E4333B4336F}">
      <dgm:prSet/>
      <dgm:spPr/>
      <dgm:t>
        <a:bodyPr/>
        <a:lstStyle/>
        <a:p>
          <a:endParaRPr lang="zh-TW" altLang="en-US" sz="2800" b="1">
            <a:latin typeface="微軟正黑體" panose="020B0604030504040204" pitchFamily="34" charset="-120"/>
            <a:ea typeface="微軟正黑體" panose="020B0604030504040204" pitchFamily="34" charset="-120"/>
          </a:endParaRPr>
        </a:p>
      </dgm:t>
    </dgm:pt>
    <dgm:pt modelId="{5B882F09-C6B5-4661-AE8A-747088E14CC4}" type="sibTrans" cxnId="{C55D3514-989B-4FBD-90D8-9E4333B4336F}">
      <dgm:prSet/>
      <dgm:spPr/>
      <dgm:t>
        <a:bodyPr/>
        <a:lstStyle/>
        <a:p>
          <a:endParaRPr lang="zh-TW" altLang="en-US" sz="2800" b="1">
            <a:latin typeface="微軟正黑體" panose="020B0604030504040204" pitchFamily="34" charset="-120"/>
            <a:ea typeface="微軟正黑體" panose="020B0604030504040204" pitchFamily="34" charset="-120"/>
          </a:endParaRPr>
        </a:p>
      </dgm:t>
    </dgm:pt>
    <dgm:pt modelId="{20948912-170E-468C-8B8D-A791C691D28C}">
      <dgm:prSet phldrT="[文字]" custT="1"/>
      <dgm:spPr>
        <a:noFill/>
        <a:ln>
          <a:noFill/>
        </a:ln>
      </dgm:spPr>
      <dgm:t>
        <a:bodyPr/>
        <a:lstStyle/>
        <a:p>
          <a:pPr>
            <a:buFont typeface="Arial" panose="020B0604020202020204" pitchFamily="34" charset="0"/>
            <a:buChar char="•"/>
          </a:pPr>
          <a:r>
            <a:rPr lang="zh-TW" altLang="en-US" sz="2000" b="1" dirty="0">
              <a:solidFill>
                <a:schemeClr val="tx1">
                  <a:lumMod val="75000"/>
                  <a:lumOff val="25000"/>
                </a:schemeClr>
              </a:solidFill>
              <a:latin typeface="微軟正黑體" panose="020B0604030504040204" pitchFamily="34" charset="-120"/>
              <a:ea typeface="微軟正黑體" panose="020B0604030504040204" pitchFamily="34" charset="-120"/>
            </a:rPr>
            <a:t>採用演算法和現實約束相結合的方式，例如資產抵押、法律和監管手段等方式，進行聯合管控機制，據以避免受到計算能力的攻擊透過多數決機制的複核</a:t>
          </a:r>
        </a:p>
      </dgm:t>
    </dgm:pt>
    <dgm:pt modelId="{09F3F0D5-7D5B-49FC-8B35-E61066759B98}" type="parTrans" cxnId="{A0489E05-5F9B-4D45-981C-D15EE9E65FBD}">
      <dgm:prSet/>
      <dgm:spPr/>
      <dgm:t>
        <a:bodyPr/>
        <a:lstStyle/>
        <a:p>
          <a:endParaRPr lang="zh-TW" altLang="en-US" sz="2800" b="1">
            <a:latin typeface="微軟正黑體" panose="020B0604030504040204" pitchFamily="34" charset="-120"/>
            <a:ea typeface="微軟正黑體" panose="020B0604030504040204" pitchFamily="34" charset="-120"/>
          </a:endParaRPr>
        </a:p>
      </dgm:t>
    </dgm:pt>
    <dgm:pt modelId="{04220804-6E62-46D2-8CC4-1490486AF48A}" type="sibTrans" cxnId="{A0489E05-5F9B-4D45-981C-D15EE9E65FBD}">
      <dgm:prSet/>
      <dgm:spPr/>
      <dgm:t>
        <a:bodyPr/>
        <a:lstStyle/>
        <a:p>
          <a:endParaRPr lang="zh-TW" altLang="en-US" sz="2800" b="1">
            <a:latin typeface="微軟正黑體" panose="020B0604030504040204" pitchFamily="34" charset="-120"/>
            <a:ea typeface="微軟正黑體" panose="020B0604030504040204" pitchFamily="34" charset="-120"/>
          </a:endParaRPr>
        </a:p>
      </dgm:t>
    </dgm:pt>
    <dgm:pt modelId="{36E143CF-B446-44B0-AF60-BEBC593707E1}">
      <dgm:prSet phldrT="[文字]" custT="1"/>
      <dgm:spPr>
        <a:solidFill>
          <a:schemeClr val="accent2">
            <a:lumMod val="20000"/>
            <a:lumOff val="80000"/>
          </a:schemeClr>
        </a:solidFill>
        <a:ln>
          <a:noFill/>
        </a:ln>
      </dgm:spPr>
      <dgm:t>
        <a:bodyPr/>
        <a:lstStyle/>
        <a:p>
          <a:pPr algn="ctr"/>
          <a:endParaRPr lang="en-US" altLang="zh-TW" sz="2400" b="1" dirty="0">
            <a:solidFill>
              <a:schemeClr val="tx1"/>
            </a:solidFill>
            <a:latin typeface="微軟正黑體" panose="020B0604030504040204" pitchFamily="34" charset="-120"/>
            <a:ea typeface="微軟正黑體" panose="020B0604030504040204" pitchFamily="34" charset="-120"/>
          </a:endParaRPr>
        </a:p>
        <a:p>
          <a:pPr algn="ctr"/>
          <a:r>
            <a:rPr lang="zh-TW" altLang="en-US" sz="2000" b="1" dirty="0">
              <a:solidFill>
                <a:schemeClr val="tx1"/>
              </a:solidFill>
              <a:latin typeface="微軟正黑體" panose="020B0604030504040204" pitchFamily="34" charset="-120"/>
              <a:ea typeface="微軟正黑體" panose="020B0604030504040204" pitchFamily="34" charset="-120"/>
            </a:rPr>
            <a:t>網路公開           不設防</a:t>
          </a:r>
        </a:p>
      </dgm:t>
    </dgm:pt>
    <dgm:pt modelId="{113D89E8-62C9-4407-9A18-4E308DC35968}" type="sibTrans" cxnId="{5B5E550E-18B8-4621-9C7C-5884E3938A9D}">
      <dgm:prSet/>
      <dgm:spPr/>
      <dgm:t>
        <a:bodyPr/>
        <a:lstStyle/>
        <a:p>
          <a:endParaRPr lang="zh-TW" altLang="en-US" sz="2800" b="1">
            <a:latin typeface="微軟正黑體" panose="020B0604030504040204" pitchFamily="34" charset="-120"/>
            <a:ea typeface="微軟正黑體" panose="020B0604030504040204" pitchFamily="34" charset="-120"/>
          </a:endParaRPr>
        </a:p>
      </dgm:t>
    </dgm:pt>
    <dgm:pt modelId="{9A8F6BC6-A268-4C81-8687-F44953D6EBDC}" type="parTrans" cxnId="{5B5E550E-18B8-4621-9C7C-5884E3938A9D}">
      <dgm:prSet/>
      <dgm:spPr/>
      <dgm:t>
        <a:bodyPr/>
        <a:lstStyle/>
        <a:p>
          <a:endParaRPr lang="zh-TW" altLang="en-US" sz="2800" b="1">
            <a:latin typeface="微軟正黑體" panose="020B0604030504040204" pitchFamily="34" charset="-120"/>
            <a:ea typeface="微軟正黑體" panose="020B0604030504040204" pitchFamily="34" charset="-120"/>
          </a:endParaRPr>
        </a:p>
      </dgm:t>
    </dgm:pt>
    <dgm:pt modelId="{2342D916-DC86-42D4-8F7C-4967CA658E5A}">
      <dgm:prSet phldrT="[文字]" custT="1"/>
      <dgm:spPr>
        <a:noFill/>
        <a:ln>
          <a:noFill/>
        </a:ln>
      </dgm:spPr>
      <dgm:t>
        <a:bodyPr/>
        <a:lstStyle/>
        <a:p>
          <a:r>
            <a:rPr lang="zh-TW" altLang="en-US" sz="2000" b="1" dirty="0">
              <a:solidFill>
                <a:schemeClr val="tx1">
                  <a:lumMod val="75000"/>
                  <a:lumOff val="25000"/>
                </a:schemeClr>
              </a:solidFill>
              <a:latin typeface="微軟正黑體" panose="020B0604030504040204" pitchFamily="34" charset="-120"/>
              <a:ea typeface="微軟正黑體" panose="020B0604030504040204" pitchFamily="34" charset="-120"/>
            </a:rPr>
            <a:t>要求更高私密性的控制網路連接或身分的驗證</a:t>
          </a:r>
        </a:p>
      </dgm:t>
    </dgm:pt>
    <dgm:pt modelId="{101F69FD-CF35-4116-BAB9-10B2F8862935}" type="parTrans" cxnId="{E4CFBC9B-646D-4FE2-91B1-6FBEC0A19B51}">
      <dgm:prSet/>
      <dgm:spPr/>
      <dgm:t>
        <a:bodyPr/>
        <a:lstStyle/>
        <a:p>
          <a:endParaRPr lang="zh-TW" altLang="en-US"/>
        </a:p>
      </dgm:t>
    </dgm:pt>
    <dgm:pt modelId="{93692535-3CDF-4100-ADBB-921A411C030F}" type="sibTrans" cxnId="{E4CFBC9B-646D-4FE2-91B1-6FBEC0A19B51}">
      <dgm:prSet/>
      <dgm:spPr/>
      <dgm:t>
        <a:bodyPr/>
        <a:lstStyle/>
        <a:p>
          <a:endParaRPr lang="zh-TW" altLang="en-US"/>
        </a:p>
      </dgm:t>
    </dgm:pt>
    <dgm:pt modelId="{1B9BBBB0-5921-48BD-878D-A63D57F9905E}">
      <dgm:prSet phldrT="[文字]" custT="1"/>
      <dgm:spPr>
        <a:noFill/>
        <a:ln>
          <a:noFill/>
        </a:ln>
      </dgm:spPr>
      <dgm:t>
        <a:bodyPr/>
        <a:lstStyle/>
        <a:p>
          <a:r>
            <a:rPr lang="zh-TW" altLang="en-US" sz="2000" b="1" dirty="0">
              <a:solidFill>
                <a:schemeClr val="tx1">
                  <a:lumMod val="75000"/>
                  <a:lumOff val="25000"/>
                </a:schemeClr>
              </a:solidFill>
              <a:latin typeface="微軟正黑體" panose="020B0604030504040204" pitchFamily="34" charset="-120"/>
              <a:ea typeface="微軟正黑體" panose="020B0604030504040204" pitchFamily="34" charset="-120"/>
            </a:rPr>
            <a:t>對安全性較高的行業，採用專線接入區塊鏈網路或對接入的連接進行身分驗證別的防火牆安全防護，防止網路攻擊</a:t>
          </a:r>
        </a:p>
      </dgm:t>
    </dgm:pt>
    <dgm:pt modelId="{734FCAFB-BBDE-4ED7-8214-19E314A105C4}" type="parTrans" cxnId="{1162C70F-D7B1-4B67-8D1B-4968071F44CF}">
      <dgm:prSet/>
      <dgm:spPr/>
      <dgm:t>
        <a:bodyPr/>
        <a:lstStyle/>
        <a:p>
          <a:endParaRPr lang="zh-TW" altLang="en-US"/>
        </a:p>
      </dgm:t>
    </dgm:pt>
    <dgm:pt modelId="{962578CC-098C-4AA1-BF87-FF71BC94B76C}" type="sibTrans" cxnId="{1162C70F-D7B1-4B67-8D1B-4968071F44CF}">
      <dgm:prSet/>
      <dgm:spPr/>
      <dgm:t>
        <a:bodyPr/>
        <a:lstStyle/>
        <a:p>
          <a:endParaRPr lang="zh-TW" altLang="en-US"/>
        </a:p>
      </dgm:t>
    </dgm:pt>
    <dgm:pt modelId="{BCF2CA16-E1FD-429D-920F-CCDF4F1B9F62}" type="pres">
      <dgm:prSet presAssocID="{D13F775C-6B32-4BCD-B6E5-025898E115B9}" presName="vert0" presStyleCnt="0">
        <dgm:presLayoutVars>
          <dgm:dir/>
          <dgm:animOne val="branch"/>
          <dgm:animLvl val="lvl"/>
        </dgm:presLayoutVars>
      </dgm:prSet>
      <dgm:spPr/>
    </dgm:pt>
    <dgm:pt modelId="{2C2A76AA-77A8-4500-BFF8-42A9441DD426}" type="pres">
      <dgm:prSet presAssocID="{36E143CF-B446-44B0-AF60-BEBC593707E1}" presName="thickLine" presStyleLbl="alignNode1" presStyleIdx="0" presStyleCnt="2"/>
      <dgm:spPr>
        <a:ln>
          <a:solidFill>
            <a:schemeClr val="accent2"/>
          </a:solidFill>
        </a:ln>
      </dgm:spPr>
    </dgm:pt>
    <dgm:pt modelId="{95DBDCFC-FD20-40F7-8A8E-BC635A9C470C}" type="pres">
      <dgm:prSet presAssocID="{36E143CF-B446-44B0-AF60-BEBC593707E1}" presName="horz1" presStyleCnt="0"/>
      <dgm:spPr/>
    </dgm:pt>
    <dgm:pt modelId="{1C10CFB4-2061-4BC6-AF5B-17CA70F9D00B}" type="pres">
      <dgm:prSet presAssocID="{36E143CF-B446-44B0-AF60-BEBC593707E1}" presName="tx1" presStyleLbl="revTx" presStyleIdx="0" presStyleCnt="5"/>
      <dgm:spPr/>
    </dgm:pt>
    <dgm:pt modelId="{80AE253C-E1A7-4762-8AA2-A83BA36713E4}" type="pres">
      <dgm:prSet presAssocID="{36E143CF-B446-44B0-AF60-BEBC593707E1}" presName="vert1" presStyleCnt="0"/>
      <dgm:spPr/>
    </dgm:pt>
    <dgm:pt modelId="{A6975F50-B97E-463C-B5C7-87D75E0CE76F}" type="pres">
      <dgm:prSet presAssocID="{2342D916-DC86-42D4-8F7C-4967CA658E5A}" presName="vertSpace2a" presStyleCnt="0"/>
      <dgm:spPr/>
    </dgm:pt>
    <dgm:pt modelId="{44578A2E-38F2-4562-9E75-3A4A7032A6CD}" type="pres">
      <dgm:prSet presAssocID="{2342D916-DC86-42D4-8F7C-4967CA658E5A}" presName="horz2" presStyleCnt="0"/>
      <dgm:spPr/>
    </dgm:pt>
    <dgm:pt modelId="{E07E7377-E464-4FF9-8E18-0A83A37C278D}" type="pres">
      <dgm:prSet presAssocID="{2342D916-DC86-42D4-8F7C-4967CA658E5A}" presName="horzSpace2" presStyleCnt="0"/>
      <dgm:spPr/>
    </dgm:pt>
    <dgm:pt modelId="{AEE28C55-79AD-49FA-BCF1-F369DB1F0C64}" type="pres">
      <dgm:prSet presAssocID="{2342D916-DC86-42D4-8F7C-4967CA658E5A}" presName="tx2" presStyleLbl="revTx" presStyleIdx="1" presStyleCnt="5" custLinFactNeighborX="131" custLinFactNeighborY="10969"/>
      <dgm:spPr/>
    </dgm:pt>
    <dgm:pt modelId="{FE085082-4CE2-49F5-8716-4839A9EFFF2B}" type="pres">
      <dgm:prSet presAssocID="{2342D916-DC86-42D4-8F7C-4967CA658E5A}" presName="vert2" presStyleCnt="0"/>
      <dgm:spPr/>
    </dgm:pt>
    <dgm:pt modelId="{C60337D0-9BAA-48C4-8187-B49E1BD0E466}" type="pres">
      <dgm:prSet presAssocID="{2342D916-DC86-42D4-8F7C-4967CA658E5A}" presName="thinLine2b" presStyleLbl="callout" presStyleIdx="0" presStyleCnt="3" custLinFactY="-100000" custLinFactNeighborY="-164087"/>
      <dgm:spPr>
        <a:ln>
          <a:solidFill>
            <a:schemeClr val="accent2"/>
          </a:solidFill>
        </a:ln>
      </dgm:spPr>
    </dgm:pt>
    <dgm:pt modelId="{0580880A-7657-441F-ADE0-1E13E56A44DE}" type="pres">
      <dgm:prSet presAssocID="{2342D916-DC86-42D4-8F7C-4967CA658E5A}" presName="vertSpace2b" presStyleCnt="0"/>
      <dgm:spPr/>
    </dgm:pt>
    <dgm:pt modelId="{6AE54433-2709-4A6E-932D-B74BC62D1F6D}" type="pres">
      <dgm:prSet presAssocID="{1B9BBBB0-5921-48BD-878D-A63D57F9905E}" presName="horz2" presStyleCnt="0"/>
      <dgm:spPr/>
    </dgm:pt>
    <dgm:pt modelId="{75338DD2-93BD-4E69-A529-35B01FAB9011}" type="pres">
      <dgm:prSet presAssocID="{1B9BBBB0-5921-48BD-878D-A63D57F9905E}" presName="horzSpace2" presStyleCnt="0"/>
      <dgm:spPr/>
    </dgm:pt>
    <dgm:pt modelId="{DEF5AF22-82A2-47AC-B3B4-4C1DCD7F4005}" type="pres">
      <dgm:prSet presAssocID="{1B9BBBB0-5921-48BD-878D-A63D57F9905E}" presName="tx2" presStyleLbl="revTx" presStyleIdx="2" presStyleCnt="5" custScaleX="96039" custLinFactNeighborX="65" custLinFactNeighborY="-10941"/>
      <dgm:spPr/>
    </dgm:pt>
    <dgm:pt modelId="{EB714351-8DDD-45BB-9952-A404393BE48A}" type="pres">
      <dgm:prSet presAssocID="{1B9BBBB0-5921-48BD-878D-A63D57F9905E}" presName="vert2" presStyleCnt="0"/>
      <dgm:spPr/>
    </dgm:pt>
    <dgm:pt modelId="{5C616511-7A94-4E69-894D-2D7AE1FA3405}" type="pres">
      <dgm:prSet presAssocID="{1B9BBBB0-5921-48BD-878D-A63D57F9905E}" presName="thinLine2b" presStyleLbl="callout" presStyleIdx="1" presStyleCnt="3"/>
      <dgm:spPr>
        <a:ln>
          <a:solidFill>
            <a:schemeClr val="accent2"/>
          </a:solidFill>
        </a:ln>
      </dgm:spPr>
    </dgm:pt>
    <dgm:pt modelId="{487874E9-2858-4C79-B2E2-0250523FF818}" type="pres">
      <dgm:prSet presAssocID="{1B9BBBB0-5921-48BD-878D-A63D57F9905E}" presName="vertSpace2b" presStyleCnt="0"/>
      <dgm:spPr/>
    </dgm:pt>
    <dgm:pt modelId="{3985DC8C-74B7-42AF-8FBA-90E54CB09BB3}" type="pres">
      <dgm:prSet presAssocID="{E929AFE1-188C-4DE5-9E0F-8EAFD6E9BB54}" presName="thickLine" presStyleLbl="alignNode1" presStyleIdx="1" presStyleCnt="2"/>
      <dgm:spPr>
        <a:ln>
          <a:solidFill>
            <a:srgbClr val="05AF99"/>
          </a:solidFill>
        </a:ln>
      </dgm:spPr>
    </dgm:pt>
    <dgm:pt modelId="{5D266F12-5590-46BE-9676-8ED416483F0D}" type="pres">
      <dgm:prSet presAssocID="{E929AFE1-188C-4DE5-9E0F-8EAFD6E9BB54}" presName="horz1" presStyleCnt="0"/>
      <dgm:spPr/>
    </dgm:pt>
    <dgm:pt modelId="{00DAE8A8-4F68-4CE5-BCBC-CD097B0BEFB2}" type="pres">
      <dgm:prSet presAssocID="{E929AFE1-188C-4DE5-9E0F-8EAFD6E9BB54}" presName="tx1" presStyleLbl="revTx" presStyleIdx="3" presStyleCnt="5"/>
      <dgm:spPr/>
    </dgm:pt>
    <dgm:pt modelId="{1DE00CBA-1814-43B2-B6DD-BB40F925F8BC}" type="pres">
      <dgm:prSet presAssocID="{E929AFE1-188C-4DE5-9E0F-8EAFD6E9BB54}" presName="vert1" presStyleCnt="0"/>
      <dgm:spPr/>
    </dgm:pt>
    <dgm:pt modelId="{CB063149-79DE-401F-ADCC-0CE7272099BC}" type="pres">
      <dgm:prSet presAssocID="{20948912-170E-468C-8B8D-A791C691D28C}" presName="vertSpace2a" presStyleCnt="0"/>
      <dgm:spPr/>
    </dgm:pt>
    <dgm:pt modelId="{17C906F2-8399-42E5-AA0B-B0176360E2E6}" type="pres">
      <dgm:prSet presAssocID="{20948912-170E-468C-8B8D-A791C691D28C}" presName="horz2" presStyleCnt="0"/>
      <dgm:spPr/>
    </dgm:pt>
    <dgm:pt modelId="{F14C63FC-1882-4C8E-B9F1-17FACB523865}" type="pres">
      <dgm:prSet presAssocID="{20948912-170E-468C-8B8D-A791C691D28C}" presName="horzSpace2" presStyleCnt="0"/>
      <dgm:spPr/>
    </dgm:pt>
    <dgm:pt modelId="{BBA5FC09-A286-4258-9EEC-4DF9E5383102}" type="pres">
      <dgm:prSet presAssocID="{20948912-170E-468C-8B8D-A791C691D28C}" presName="tx2" presStyleLbl="revTx" presStyleIdx="4" presStyleCnt="5" custLinFactNeighborX="-722" custLinFactNeighborY="5375"/>
      <dgm:spPr/>
    </dgm:pt>
    <dgm:pt modelId="{F5D17CF9-B19F-47E5-BEC1-F90E47546DD4}" type="pres">
      <dgm:prSet presAssocID="{20948912-170E-468C-8B8D-A791C691D28C}" presName="vert2" presStyleCnt="0"/>
      <dgm:spPr/>
    </dgm:pt>
    <dgm:pt modelId="{6FFF8FF2-A4B2-4E99-A357-943CAE7DE257}" type="pres">
      <dgm:prSet presAssocID="{20948912-170E-468C-8B8D-A791C691D28C}" presName="thinLine2b" presStyleLbl="callout" presStyleIdx="2" presStyleCnt="3"/>
      <dgm:spPr>
        <a:ln>
          <a:solidFill>
            <a:srgbClr val="05AF99"/>
          </a:solidFill>
        </a:ln>
      </dgm:spPr>
    </dgm:pt>
    <dgm:pt modelId="{AB8EB1D6-FE1F-4205-847D-22816A0E3204}" type="pres">
      <dgm:prSet presAssocID="{20948912-170E-468C-8B8D-A791C691D28C}" presName="vertSpace2b" presStyleCnt="0"/>
      <dgm:spPr/>
    </dgm:pt>
  </dgm:ptLst>
  <dgm:cxnLst>
    <dgm:cxn modelId="{79C7AB04-A5A8-435F-80BA-B1F95AB42CDF}" type="presOf" srcId="{D13F775C-6B32-4BCD-B6E5-025898E115B9}" destId="{BCF2CA16-E1FD-429D-920F-CCDF4F1B9F62}" srcOrd="0" destOrd="0" presId="urn:microsoft.com/office/officeart/2008/layout/LinedList"/>
    <dgm:cxn modelId="{A0489E05-5F9B-4D45-981C-D15EE9E65FBD}" srcId="{E929AFE1-188C-4DE5-9E0F-8EAFD6E9BB54}" destId="{20948912-170E-468C-8B8D-A791C691D28C}" srcOrd="0" destOrd="0" parTransId="{09F3F0D5-7D5B-49FC-8B35-E61066759B98}" sibTransId="{04220804-6E62-46D2-8CC4-1490486AF48A}"/>
    <dgm:cxn modelId="{6D841707-48A1-44FE-90B9-710AE3A7D106}" type="presOf" srcId="{1B9BBBB0-5921-48BD-878D-A63D57F9905E}" destId="{DEF5AF22-82A2-47AC-B3B4-4C1DCD7F4005}" srcOrd="0" destOrd="0" presId="urn:microsoft.com/office/officeart/2008/layout/LinedList"/>
    <dgm:cxn modelId="{5B5E550E-18B8-4621-9C7C-5884E3938A9D}" srcId="{D13F775C-6B32-4BCD-B6E5-025898E115B9}" destId="{36E143CF-B446-44B0-AF60-BEBC593707E1}" srcOrd="0" destOrd="0" parTransId="{9A8F6BC6-A268-4C81-8687-F44953D6EBDC}" sibTransId="{113D89E8-62C9-4407-9A18-4E308DC35968}"/>
    <dgm:cxn modelId="{1162C70F-D7B1-4B67-8D1B-4968071F44CF}" srcId="{36E143CF-B446-44B0-AF60-BEBC593707E1}" destId="{1B9BBBB0-5921-48BD-878D-A63D57F9905E}" srcOrd="1" destOrd="0" parTransId="{734FCAFB-BBDE-4ED7-8214-19E314A105C4}" sibTransId="{962578CC-098C-4AA1-BF87-FF71BC94B76C}"/>
    <dgm:cxn modelId="{C55D3514-989B-4FBD-90D8-9E4333B4336F}" srcId="{D13F775C-6B32-4BCD-B6E5-025898E115B9}" destId="{E929AFE1-188C-4DE5-9E0F-8EAFD6E9BB54}" srcOrd="1" destOrd="0" parTransId="{31A42686-69DD-4D7B-A4D5-1A389C2CEDB8}" sibTransId="{5B882F09-C6B5-4661-AE8A-747088E14CC4}"/>
    <dgm:cxn modelId="{B7CEA244-6DA4-4DA7-AEAC-76319B1EB0C0}" type="presOf" srcId="{20948912-170E-468C-8B8D-A791C691D28C}" destId="{BBA5FC09-A286-4258-9EEC-4DF9E5383102}" srcOrd="0" destOrd="0" presId="urn:microsoft.com/office/officeart/2008/layout/LinedList"/>
    <dgm:cxn modelId="{E4CFBC9B-646D-4FE2-91B1-6FBEC0A19B51}" srcId="{36E143CF-B446-44B0-AF60-BEBC593707E1}" destId="{2342D916-DC86-42D4-8F7C-4967CA658E5A}" srcOrd="0" destOrd="0" parTransId="{101F69FD-CF35-4116-BAB9-10B2F8862935}" sibTransId="{93692535-3CDF-4100-ADBB-921A411C030F}"/>
    <dgm:cxn modelId="{1B4241A0-EB68-4AA8-AC07-CEEA0B19211F}" type="presOf" srcId="{2342D916-DC86-42D4-8F7C-4967CA658E5A}" destId="{AEE28C55-79AD-49FA-BCF1-F369DB1F0C64}" srcOrd="0" destOrd="0" presId="urn:microsoft.com/office/officeart/2008/layout/LinedList"/>
    <dgm:cxn modelId="{D3FBABBF-ACCE-418C-823C-2C26C4DD4713}" type="presOf" srcId="{36E143CF-B446-44B0-AF60-BEBC593707E1}" destId="{1C10CFB4-2061-4BC6-AF5B-17CA70F9D00B}" srcOrd="0" destOrd="0" presId="urn:microsoft.com/office/officeart/2008/layout/LinedList"/>
    <dgm:cxn modelId="{D1C16DC0-EA37-49F8-BD0A-CCA39268B38D}" type="presOf" srcId="{E929AFE1-188C-4DE5-9E0F-8EAFD6E9BB54}" destId="{00DAE8A8-4F68-4CE5-BCBC-CD097B0BEFB2}" srcOrd="0" destOrd="0" presId="urn:microsoft.com/office/officeart/2008/layout/LinedList"/>
    <dgm:cxn modelId="{1DF5F58D-101B-44FF-B863-A309000DC8E2}" type="presParOf" srcId="{BCF2CA16-E1FD-429D-920F-CCDF4F1B9F62}" destId="{2C2A76AA-77A8-4500-BFF8-42A9441DD426}" srcOrd="0" destOrd="0" presId="urn:microsoft.com/office/officeart/2008/layout/LinedList"/>
    <dgm:cxn modelId="{C8B0DCF8-E300-473E-ABF1-84EBC0330DF1}" type="presParOf" srcId="{BCF2CA16-E1FD-429D-920F-CCDF4F1B9F62}" destId="{95DBDCFC-FD20-40F7-8A8E-BC635A9C470C}" srcOrd="1" destOrd="0" presId="urn:microsoft.com/office/officeart/2008/layout/LinedList"/>
    <dgm:cxn modelId="{870A3AFB-D378-4097-A7DB-7B318310E2BA}" type="presParOf" srcId="{95DBDCFC-FD20-40F7-8A8E-BC635A9C470C}" destId="{1C10CFB4-2061-4BC6-AF5B-17CA70F9D00B}" srcOrd="0" destOrd="0" presId="urn:microsoft.com/office/officeart/2008/layout/LinedList"/>
    <dgm:cxn modelId="{2290B27C-2A53-4132-942B-E9C628502605}" type="presParOf" srcId="{95DBDCFC-FD20-40F7-8A8E-BC635A9C470C}" destId="{80AE253C-E1A7-4762-8AA2-A83BA36713E4}" srcOrd="1" destOrd="0" presId="urn:microsoft.com/office/officeart/2008/layout/LinedList"/>
    <dgm:cxn modelId="{763AFE79-D3B3-4973-9A9B-C50DCEE7901E}" type="presParOf" srcId="{80AE253C-E1A7-4762-8AA2-A83BA36713E4}" destId="{A6975F50-B97E-463C-B5C7-87D75E0CE76F}" srcOrd="0" destOrd="0" presId="urn:microsoft.com/office/officeart/2008/layout/LinedList"/>
    <dgm:cxn modelId="{CD81757D-662F-4616-8DCA-F5B0C47E523A}" type="presParOf" srcId="{80AE253C-E1A7-4762-8AA2-A83BA36713E4}" destId="{44578A2E-38F2-4562-9E75-3A4A7032A6CD}" srcOrd="1" destOrd="0" presId="urn:microsoft.com/office/officeart/2008/layout/LinedList"/>
    <dgm:cxn modelId="{BB105C8A-4321-480E-BDA0-7A678D75913E}" type="presParOf" srcId="{44578A2E-38F2-4562-9E75-3A4A7032A6CD}" destId="{E07E7377-E464-4FF9-8E18-0A83A37C278D}" srcOrd="0" destOrd="0" presId="urn:microsoft.com/office/officeart/2008/layout/LinedList"/>
    <dgm:cxn modelId="{41A2E650-4233-400A-A0F1-E9EB4937309C}" type="presParOf" srcId="{44578A2E-38F2-4562-9E75-3A4A7032A6CD}" destId="{AEE28C55-79AD-49FA-BCF1-F369DB1F0C64}" srcOrd="1" destOrd="0" presId="urn:microsoft.com/office/officeart/2008/layout/LinedList"/>
    <dgm:cxn modelId="{C4546815-9423-4448-8AFA-BEF734D7EE68}" type="presParOf" srcId="{44578A2E-38F2-4562-9E75-3A4A7032A6CD}" destId="{FE085082-4CE2-49F5-8716-4839A9EFFF2B}" srcOrd="2" destOrd="0" presId="urn:microsoft.com/office/officeart/2008/layout/LinedList"/>
    <dgm:cxn modelId="{8AD76E32-EC1C-4AF9-A733-532666E9CFAB}" type="presParOf" srcId="{80AE253C-E1A7-4762-8AA2-A83BA36713E4}" destId="{C60337D0-9BAA-48C4-8187-B49E1BD0E466}" srcOrd="2" destOrd="0" presId="urn:microsoft.com/office/officeart/2008/layout/LinedList"/>
    <dgm:cxn modelId="{7B537DD6-7A45-431A-B4C1-C6C3CA5A1209}" type="presParOf" srcId="{80AE253C-E1A7-4762-8AA2-A83BA36713E4}" destId="{0580880A-7657-441F-ADE0-1E13E56A44DE}" srcOrd="3" destOrd="0" presId="urn:microsoft.com/office/officeart/2008/layout/LinedList"/>
    <dgm:cxn modelId="{078AA809-9F79-40FB-A79B-23C065BCFC9D}" type="presParOf" srcId="{80AE253C-E1A7-4762-8AA2-A83BA36713E4}" destId="{6AE54433-2709-4A6E-932D-B74BC62D1F6D}" srcOrd="4" destOrd="0" presId="urn:microsoft.com/office/officeart/2008/layout/LinedList"/>
    <dgm:cxn modelId="{875D4FE3-4CD1-48D4-B90A-F7A5995B5EDC}" type="presParOf" srcId="{6AE54433-2709-4A6E-932D-B74BC62D1F6D}" destId="{75338DD2-93BD-4E69-A529-35B01FAB9011}" srcOrd="0" destOrd="0" presId="urn:microsoft.com/office/officeart/2008/layout/LinedList"/>
    <dgm:cxn modelId="{818F313D-0FCB-44FF-BDF8-053235116FC5}" type="presParOf" srcId="{6AE54433-2709-4A6E-932D-B74BC62D1F6D}" destId="{DEF5AF22-82A2-47AC-B3B4-4C1DCD7F4005}" srcOrd="1" destOrd="0" presId="urn:microsoft.com/office/officeart/2008/layout/LinedList"/>
    <dgm:cxn modelId="{25C33337-5DAD-46CF-8607-8CB7EEB0764F}" type="presParOf" srcId="{6AE54433-2709-4A6E-932D-B74BC62D1F6D}" destId="{EB714351-8DDD-45BB-9952-A404393BE48A}" srcOrd="2" destOrd="0" presId="urn:microsoft.com/office/officeart/2008/layout/LinedList"/>
    <dgm:cxn modelId="{8A754AB8-1940-44F6-9EE4-6C119868795A}" type="presParOf" srcId="{80AE253C-E1A7-4762-8AA2-A83BA36713E4}" destId="{5C616511-7A94-4E69-894D-2D7AE1FA3405}" srcOrd="5" destOrd="0" presId="urn:microsoft.com/office/officeart/2008/layout/LinedList"/>
    <dgm:cxn modelId="{524B151C-E3A2-4A01-923E-B0898C8B07B3}" type="presParOf" srcId="{80AE253C-E1A7-4762-8AA2-A83BA36713E4}" destId="{487874E9-2858-4C79-B2E2-0250523FF818}" srcOrd="6" destOrd="0" presId="urn:microsoft.com/office/officeart/2008/layout/LinedList"/>
    <dgm:cxn modelId="{219C737A-7BDC-4893-A229-69BD97448A3B}" type="presParOf" srcId="{BCF2CA16-E1FD-429D-920F-CCDF4F1B9F62}" destId="{3985DC8C-74B7-42AF-8FBA-90E54CB09BB3}" srcOrd="2" destOrd="0" presId="urn:microsoft.com/office/officeart/2008/layout/LinedList"/>
    <dgm:cxn modelId="{DA25594B-DE52-47C5-B413-7D9FA64B9198}" type="presParOf" srcId="{BCF2CA16-E1FD-429D-920F-CCDF4F1B9F62}" destId="{5D266F12-5590-46BE-9676-8ED416483F0D}" srcOrd="3" destOrd="0" presId="urn:microsoft.com/office/officeart/2008/layout/LinedList"/>
    <dgm:cxn modelId="{27B747CB-BAA6-4E33-B638-E60C18D821D9}" type="presParOf" srcId="{5D266F12-5590-46BE-9676-8ED416483F0D}" destId="{00DAE8A8-4F68-4CE5-BCBC-CD097B0BEFB2}" srcOrd="0" destOrd="0" presId="urn:microsoft.com/office/officeart/2008/layout/LinedList"/>
    <dgm:cxn modelId="{74E2B878-5624-4540-AF74-463806CB63E9}" type="presParOf" srcId="{5D266F12-5590-46BE-9676-8ED416483F0D}" destId="{1DE00CBA-1814-43B2-B6DD-BB40F925F8BC}" srcOrd="1" destOrd="0" presId="urn:microsoft.com/office/officeart/2008/layout/LinedList"/>
    <dgm:cxn modelId="{9B6BFE9C-537D-4F9F-AE90-32BBAECE8780}" type="presParOf" srcId="{1DE00CBA-1814-43B2-B6DD-BB40F925F8BC}" destId="{CB063149-79DE-401F-ADCC-0CE7272099BC}" srcOrd="0" destOrd="0" presId="urn:microsoft.com/office/officeart/2008/layout/LinedList"/>
    <dgm:cxn modelId="{8E96FDD4-A5BF-42E2-83D9-FBCC880D7F72}" type="presParOf" srcId="{1DE00CBA-1814-43B2-B6DD-BB40F925F8BC}" destId="{17C906F2-8399-42E5-AA0B-B0176360E2E6}" srcOrd="1" destOrd="0" presId="urn:microsoft.com/office/officeart/2008/layout/LinedList"/>
    <dgm:cxn modelId="{E216E669-F849-43F0-A227-A3C8986AA29F}" type="presParOf" srcId="{17C906F2-8399-42E5-AA0B-B0176360E2E6}" destId="{F14C63FC-1882-4C8E-B9F1-17FACB523865}" srcOrd="0" destOrd="0" presId="urn:microsoft.com/office/officeart/2008/layout/LinedList"/>
    <dgm:cxn modelId="{1F64ED79-8E1A-4B63-A375-144D81B96D2C}" type="presParOf" srcId="{17C906F2-8399-42E5-AA0B-B0176360E2E6}" destId="{BBA5FC09-A286-4258-9EEC-4DF9E5383102}" srcOrd="1" destOrd="0" presId="urn:microsoft.com/office/officeart/2008/layout/LinedList"/>
    <dgm:cxn modelId="{22D445DC-197B-4F83-98F0-6F59B1C40FEE}" type="presParOf" srcId="{17C906F2-8399-42E5-AA0B-B0176360E2E6}" destId="{F5D17CF9-B19F-47E5-BEC1-F90E47546DD4}" srcOrd="2" destOrd="0" presId="urn:microsoft.com/office/officeart/2008/layout/LinedList"/>
    <dgm:cxn modelId="{E6241AEF-4505-46F6-808D-A50741A29F9C}" type="presParOf" srcId="{1DE00CBA-1814-43B2-B6DD-BB40F925F8BC}" destId="{6FFF8FF2-A4B2-4E99-A357-943CAE7DE257}" srcOrd="2" destOrd="0" presId="urn:microsoft.com/office/officeart/2008/layout/LinedList"/>
    <dgm:cxn modelId="{2A3A8C0B-51BB-4BD6-8C89-067B1145DB41}" type="presParOf" srcId="{1DE00CBA-1814-43B2-B6DD-BB40F925F8BC}" destId="{AB8EB1D6-FE1F-4205-847D-22816A0E3204}" srcOrd="3" destOrd="0" presId="urn:microsoft.com/office/officeart/2008/layout/LinedList"/>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D13F775C-6B32-4BCD-B6E5-025898E115B9}" type="doc">
      <dgm:prSet loTypeId="urn:microsoft.com/office/officeart/2008/layout/LinedList" loCatId="list" qsTypeId="urn:microsoft.com/office/officeart/2005/8/quickstyle/simple1" qsCatId="simple" csTypeId="urn:microsoft.com/office/officeart/2005/8/colors/accent1_2" csCatId="accent1" phldr="1"/>
      <dgm:spPr/>
      <dgm:t>
        <a:bodyPr/>
        <a:lstStyle/>
        <a:p>
          <a:endParaRPr lang="zh-TW" altLang="en-US"/>
        </a:p>
      </dgm:t>
    </dgm:pt>
    <dgm:pt modelId="{36E143CF-B446-44B0-AF60-BEBC593707E1}">
      <dgm:prSet phldrT="[文字]" custT="1"/>
      <dgm:spPr>
        <a:solidFill>
          <a:srgbClr val="C6DBB7"/>
        </a:solidFill>
        <a:ln>
          <a:noFill/>
        </a:ln>
      </dgm:spPr>
      <dgm:t>
        <a:bodyPr/>
        <a:lstStyle/>
        <a:p>
          <a:pPr algn="ctr"/>
          <a:endParaRPr lang="en-US" altLang="zh-TW" sz="1200" b="1" dirty="0">
            <a:solidFill>
              <a:schemeClr val="tx1"/>
            </a:solidFill>
            <a:latin typeface="微軟正黑體" panose="020B0604030504040204" pitchFamily="34" charset="-120"/>
            <a:ea typeface="微軟正黑體" panose="020B0604030504040204" pitchFamily="34" charset="-120"/>
          </a:endParaRPr>
        </a:p>
        <a:p>
          <a:pPr algn="ctr"/>
          <a:endParaRPr lang="en-US" altLang="zh-TW" sz="1200" b="1" dirty="0">
            <a:solidFill>
              <a:schemeClr val="tx1"/>
            </a:solidFill>
            <a:latin typeface="微軟正黑體" panose="020B0604030504040204" pitchFamily="34" charset="-120"/>
            <a:ea typeface="微軟正黑體" panose="020B0604030504040204" pitchFamily="34" charset="-120"/>
          </a:endParaRPr>
        </a:p>
        <a:p>
          <a:pPr algn="ctr"/>
          <a:endParaRPr lang="en-US" altLang="zh-TW" sz="1200" b="1" dirty="0">
            <a:solidFill>
              <a:schemeClr val="tx1"/>
            </a:solidFill>
            <a:latin typeface="微軟正黑體" panose="020B0604030504040204" pitchFamily="34" charset="-120"/>
            <a:ea typeface="微軟正黑體" panose="020B0604030504040204" pitchFamily="34" charset="-120"/>
          </a:endParaRPr>
        </a:p>
        <a:p>
          <a:pPr algn="ctr"/>
          <a:endParaRPr lang="en-US" altLang="zh-TW" sz="1200" b="1" dirty="0">
            <a:solidFill>
              <a:schemeClr val="tx1"/>
            </a:solidFill>
            <a:latin typeface="微軟正黑體" panose="020B0604030504040204" pitchFamily="34" charset="-120"/>
            <a:ea typeface="微軟正黑體" panose="020B0604030504040204" pitchFamily="34" charset="-120"/>
          </a:endParaRPr>
        </a:p>
        <a:p>
          <a:pPr algn="ctr"/>
          <a:endParaRPr lang="en-US" altLang="zh-TW" sz="1200" b="1" dirty="0">
            <a:solidFill>
              <a:schemeClr val="tx1"/>
            </a:solidFill>
            <a:latin typeface="微軟正黑體" panose="020B0604030504040204" pitchFamily="34" charset="-120"/>
            <a:ea typeface="微軟正黑體" panose="020B0604030504040204" pitchFamily="34" charset="-120"/>
          </a:endParaRPr>
        </a:p>
        <a:p>
          <a:pPr algn="ctr"/>
          <a:r>
            <a:rPr lang="zh-TW" altLang="en-US" sz="2000" b="1" dirty="0">
              <a:solidFill>
                <a:schemeClr val="tx1"/>
              </a:solidFill>
              <a:latin typeface="微軟正黑體" panose="020B0604030504040204" pitchFamily="34" charset="-120"/>
              <a:ea typeface="微軟正黑體" panose="020B0604030504040204" pitchFamily="34" charset="-120"/>
            </a:rPr>
            <a:t>隱私</a:t>
          </a:r>
          <a:endParaRPr lang="en-US" altLang="zh-TW" sz="2400" b="1" dirty="0">
            <a:solidFill>
              <a:schemeClr val="tx1"/>
            </a:solidFill>
            <a:latin typeface="微軟正黑體" panose="020B0604030504040204" pitchFamily="34" charset="-120"/>
            <a:ea typeface="微軟正黑體" panose="020B0604030504040204" pitchFamily="34" charset="-120"/>
          </a:endParaRPr>
        </a:p>
      </dgm:t>
    </dgm:pt>
    <dgm:pt modelId="{113D89E8-62C9-4407-9A18-4E308DC35968}" type="sibTrans" cxnId="{5B5E550E-18B8-4621-9C7C-5884E3938A9D}">
      <dgm:prSet/>
      <dgm:spPr/>
      <dgm:t>
        <a:bodyPr/>
        <a:lstStyle/>
        <a:p>
          <a:endParaRPr lang="zh-TW" altLang="en-US" sz="2800" b="1">
            <a:latin typeface="微軟正黑體" panose="020B0604030504040204" pitchFamily="34" charset="-120"/>
            <a:ea typeface="微軟正黑體" panose="020B0604030504040204" pitchFamily="34" charset="-120"/>
          </a:endParaRPr>
        </a:p>
      </dgm:t>
    </dgm:pt>
    <dgm:pt modelId="{9A8F6BC6-A268-4C81-8687-F44953D6EBDC}" type="parTrans" cxnId="{5B5E550E-18B8-4621-9C7C-5884E3938A9D}">
      <dgm:prSet/>
      <dgm:spPr/>
      <dgm:t>
        <a:bodyPr/>
        <a:lstStyle/>
        <a:p>
          <a:endParaRPr lang="zh-TW" altLang="en-US" sz="2800" b="1">
            <a:latin typeface="微軟正黑體" panose="020B0604030504040204" pitchFamily="34" charset="-120"/>
            <a:ea typeface="微軟正黑體" panose="020B0604030504040204" pitchFamily="34" charset="-120"/>
          </a:endParaRPr>
        </a:p>
      </dgm:t>
    </dgm:pt>
    <dgm:pt modelId="{20D73103-8F9C-4E17-B346-AC5EDB8B09A1}">
      <dgm:prSet phldrT="[文字]" custT="1"/>
      <dgm:spPr>
        <a:noFill/>
        <a:ln>
          <a:noFill/>
        </a:ln>
      </dgm:spPr>
      <dgm:t>
        <a:bodyPr/>
        <a:lstStyle/>
        <a:p>
          <a:pPr algn="l"/>
          <a:r>
            <a:rPr lang="zh-TW" altLang="zh-TW" sz="2000" b="1" dirty="0">
              <a:solidFill>
                <a:schemeClr val="tx1"/>
              </a:solidFill>
              <a:latin typeface="微軟正黑體" panose="020B0604030504040204" pitchFamily="34" charset="-120"/>
              <a:ea typeface="微軟正黑體" panose="020B0604030504040204" pitchFamily="34" charset="-120"/>
            </a:rPr>
            <a:t>加強由認證機構代理使用者在區塊鏈上進行交易，使用者資料和個人行為不進入區塊鏈</a:t>
          </a:r>
          <a:endParaRPr lang="en-US" altLang="zh-TW" sz="2000" b="1" dirty="0">
            <a:solidFill>
              <a:schemeClr val="tx1"/>
            </a:solidFill>
            <a:latin typeface="微軟正黑體" panose="020B0604030504040204" pitchFamily="34" charset="-120"/>
            <a:ea typeface="微軟正黑體" panose="020B0604030504040204" pitchFamily="34" charset="-120"/>
          </a:endParaRPr>
        </a:p>
      </dgm:t>
    </dgm:pt>
    <dgm:pt modelId="{6F43AA5F-0961-4EEA-84D8-ED3A76192A57}" type="parTrans" cxnId="{6917D0F7-EDCF-4A6F-BE5D-B050D239BCC5}">
      <dgm:prSet/>
      <dgm:spPr/>
      <dgm:t>
        <a:bodyPr/>
        <a:lstStyle/>
        <a:p>
          <a:endParaRPr lang="zh-TW" altLang="en-US"/>
        </a:p>
      </dgm:t>
    </dgm:pt>
    <dgm:pt modelId="{6233901E-9BCA-4508-BD53-037F5AA00292}" type="sibTrans" cxnId="{6917D0F7-EDCF-4A6F-BE5D-B050D239BCC5}">
      <dgm:prSet/>
      <dgm:spPr/>
      <dgm:t>
        <a:bodyPr/>
        <a:lstStyle/>
        <a:p>
          <a:endParaRPr lang="zh-TW" altLang="en-US"/>
        </a:p>
      </dgm:t>
    </dgm:pt>
    <dgm:pt modelId="{24AADFE2-D3B1-4616-A7AD-D6D90BD958E9}">
      <dgm:prSet custT="1"/>
      <dgm:spPr/>
      <dgm:t>
        <a:bodyPr/>
        <a:lstStyle/>
        <a:p>
          <a:pPr algn="l"/>
          <a:r>
            <a:rPr lang="zh-TW" altLang="zh-TW" sz="2000" b="1" dirty="0">
              <a:solidFill>
                <a:schemeClr val="tx1"/>
              </a:solidFill>
              <a:latin typeface="微軟正黑體" panose="020B0604030504040204" pitchFamily="34" charset="-120"/>
              <a:ea typeface="微軟正黑體" panose="020B0604030504040204" pitchFamily="34" charset="-120"/>
            </a:rPr>
            <a:t>採行隱私保護演算法來保護使用者的交易資訊</a:t>
          </a:r>
        </a:p>
      </dgm:t>
    </dgm:pt>
    <dgm:pt modelId="{D03CC29E-9F54-4A74-9A1C-57CD70CFD6C7}" type="parTrans" cxnId="{5FBF1C80-4B81-4A90-BFC5-4A8163A681C4}">
      <dgm:prSet/>
      <dgm:spPr/>
      <dgm:t>
        <a:bodyPr/>
        <a:lstStyle/>
        <a:p>
          <a:endParaRPr lang="zh-TW" altLang="en-US"/>
        </a:p>
      </dgm:t>
    </dgm:pt>
    <dgm:pt modelId="{EA4C762B-B744-4CD8-923D-D505AC51E965}" type="sibTrans" cxnId="{5FBF1C80-4B81-4A90-BFC5-4A8163A681C4}">
      <dgm:prSet/>
      <dgm:spPr/>
      <dgm:t>
        <a:bodyPr/>
        <a:lstStyle/>
        <a:p>
          <a:endParaRPr lang="zh-TW" altLang="en-US"/>
        </a:p>
      </dgm:t>
    </dgm:pt>
    <dgm:pt modelId="{BA19AF32-64E2-4A16-993A-F266F0A8253A}">
      <dgm:prSet phldrT="[文字]" custT="1"/>
      <dgm:spPr>
        <a:noFill/>
        <a:ln>
          <a:noFill/>
        </a:ln>
      </dgm:spPr>
      <dgm:t>
        <a:bodyPr/>
        <a:lstStyle/>
        <a:p>
          <a:pPr algn="l"/>
          <a:r>
            <a:rPr lang="zh-TW" altLang="zh-TW" sz="2000" b="1" dirty="0">
              <a:solidFill>
                <a:schemeClr val="tx1"/>
              </a:solidFill>
              <a:latin typeface="微軟正黑體" panose="020B0604030504040204" pitchFamily="34" charset="-120"/>
              <a:ea typeface="微軟正黑體" panose="020B0604030504040204" pitchFamily="34" charset="-120"/>
            </a:rPr>
            <a:t>不採用全區塊鏈的網路廣播方式，而是將交易資訊的傳輸限制在正在進行相關交易的節點之間</a:t>
          </a:r>
          <a:endParaRPr lang="en-US" altLang="zh-TW" sz="2000" b="1" dirty="0">
            <a:solidFill>
              <a:schemeClr val="tx1"/>
            </a:solidFill>
            <a:latin typeface="微軟正黑體" panose="020B0604030504040204" pitchFamily="34" charset="-120"/>
            <a:ea typeface="微軟正黑體" panose="020B0604030504040204" pitchFamily="34" charset="-120"/>
          </a:endParaRPr>
        </a:p>
      </dgm:t>
    </dgm:pt>
    <dgm:pt modelId="{03798935-E8D8-4B1D-9923-07911C6066F2}" type="parTrans" cxnId="{D0C3FFC5-59A0-4DD6-8193-FF251B8C9C8C}">
      <dgm:prSet/>
      <dgm:spPr/>
      <dgm:t>
        <a:bodyPr/>
        <a:lstStyle/>
        <a:p>
          <a:endParaRPr lang="zh-TW" altLang="en-US"/>
        </a:p>
      </dgm:t>
    </dgm:pt>
    <dgm:pt modelId="{F3C240BC-D501-40C1-B5B4-965ABF06505A}" type="sibTrans" cxnId="{D0C3FFC5-59A0-4DD6-8193-FF251B8C9C8C}">
      <dgm:prSet/>
      <dgm:spPr/>
      <dgm:t>
        <a:bodyPr/>
        <a:lstStyle/>
        <a:p>
          <a:endParaRPr lang="zh-TW" altLang="en-US"/>
        </a:p>
      </dgm:t>
    </dgm:pt>
    <dgm:pt modelId="{92E6FDA1-5B1C-4EDE-BBF0-F97C4841562B}">
      <dgm:prSet phldrT="[文字]" custT="1"/>
      <dgm:spPr>
        <a:noFill/>
        <a:ln>
          <a:noFill/>
        </a:ln>
      </dgm:spPr>
      <dgm:t>
        <a:bodyPr/>
        <a:lstStyle/>
        <a:p>
          <a:pPr algn="l"/>
          <a:r>
            <a:rPr lang="zh-TW" altLang="zh-TW" sz="2000" b="1" dirty="0">
              <a:solidFill>
                <a:schemeClr val="tx1"/>
              </a:solidFill>
              <a:latin typeface="微軟正黑體" panose="020B0604030504040204" pitchFamily="34" charset="-120"/>
              <a:ea typeface="微軟正黑體" panose="020B0604030504040204" pitchFamily="34" charset="-120"/>
            </a:rPr>
            <a:t>對用戶資料的訪問採用許可權控制</a:t>
          </a:r>
          <a:endParaRPr lang="en-US" altLang="zh-TW" sz="2000" b="1" dirty="0">
            <a:solidFill>
              <a:schemeClr val="tx1"/>
            </a:solidFill>
            <a:latin typeface="微軟正黑體" panose="020B0604030504040204" pitchFamily="34" charset="-120"/>
            <a:ea typeface="微軟正黑體" panose="020B0604030504040204" pitchFamily="34" charset="-120"/>
          </a:endParaRPr>
        </a:p>
      </dgm:t>
    </dgm:pt>
    <dgm:pt modelId="{275B82F4-071F-4771-8BD8-21F90862F4EA}" type="parTrans" cxnId="{D8396D6D-D549-4AE4-9B12-18E79137902B}">
      <dgm:prSet/>
      <dgm:spPr/>
      <dgm:t>
        <a:bodyPr/>
        <a:lstStyle/>
        <a:p>
          <a:endParaRPr lang="zh-TW" altLang="en-US"/>
        </a:p>
      </dgm:t>
    </dgm:pt>
    <dgm:pt modelId="{D5BC0A5F-EAB5-4BB6-9B89-D38119F09B92}" type="sibTrans" cxnId="{D8396D6D-D549-4AE4-9B12-18E79137902B}">
      <dgm:prSet/>
      <dgm:spPr/>
      <dgm:t>
        <a:bodyPr/>
        <a:lstStyle/>
        <a:p>
          <a:endParaRPr lang="zh-TW" altLang="en-US"/>
        </a:p>
      </dgm:t>
    </dgm:pt>
    <dgm:pt modelId="{90AF76F5-E459-4BD8-9440-D5B51C706D6F}">
      <dgm:prSet phldrT="[文字]" custT="1"/>
      <dgm:spPr>
        <a:noFill/>
        <a:ln>
          <a:noFill/>
        </a:ln>
      </dgm:spPr>
      <dgm:t>
        <a:bodyPr/>
        <a:lstStyle/>
        <a:p>
          <a:pPr algn="l"/>
          <a:r>
            <a:rPr lang="zh-TW" altLang="zh-TW" sz="2000" b="1" dirty="0">
              <a:solidFill>
                <a:schemeClr val="tx1"/>
              </a:solidFill>
              <a:latin typeface="微軟正黑體" panose="020B0604030504040204" pitchFamily="34" charset="-120"/>
              <a:ea typeface="微軟正黑體" panose="020B0604030504040204" pitchFamily="34" charset="-120"/>
            </a:rPr>
            <a:t>採用如「零知識證明」等隱私保護演算法，規避隱私暴露</a:t>
          </a:r>
          <a:endParaRPr lang="en-US" altLang="zh-TW" sz="2000" b="1" dirty="0">
            <a:solidFill>
              <a:schemeClr val="tx1"/>
            </a:solidFill>
            <a:latin typeface="微軟正黑體" panose="020B0604030504040204" pitchFamily="34" charset="-120"/>
            <a:ea typeface="微軟正黑體" panose="020B0604030504040204" pitchFamily="34" charset="-120"/>
          </a:endParaRPr>
        </a:p>
      </dgm:t>
    </dgm:pt>
    <dgm:pt modelId="{0CB41245-A81D-450D-BE7E-746651B7411F}" type="parTrans" cxnId="{628BB56A-C196-4BAF-90AA-A6B02E8F970C}">
      <dgm:prSet/>
      <dgm:spPr/>
      <dgm:t>
        <a:bodyPr/>
        <a:lstStyle/>
        <a:p>
          <a:endParaRPr lang="zh-TW" altLang="en-US"/>
        </a:p>
      </dgm:t>
    </dgm:pt>
    <dgm:pt modelId="{2689B1DE-1B83-4661-8B7D-17B3C90AA88C}" type="sibTrans" cxnId="{628BB56A-C196-4BAF-90AA-A6B02E8F970C}">
      <dgm:prSet/>
      <dgm:spPr/>
      <dgm:t>
        <a:bodyPr/>
        <a:lstStyle/>
        <a:p>
          <a:endParaRPr lang="zh-TW" altLang="en-US"/>
        </a:p>
      </dgm:t>
    </dgm:pt>
    <dgm:pt modelId="{BCF2CA16-E1FD-429D-920F-CCDF4F1B9F62}" type="pres">
      <dgm:prSet presAssocID="{D13F775C-6B32-4BCD-B6E5-025898E115B9}" presName="vert0" presStyleCnt="0">
        <dgm:presLayoutVars>
          <dgm:dir/>
          <dgm:animOne val="branch"/>
          <dgm:animLvl val="lvl"/>
        </dgm:presLayoutVars>
      </dgm:prSet>
      <dgm:spPr/>
    </dgm:pt>
    <dgm:pt modelId="{2C2A76AA-77A8-4500-BFF8-42A9441DD426}" type="pres">
      <dgm:prSet presAssocID="{36E143CF-B446-44B0-AF60-BEBC593707E1}" presName="thickLine" presStyleLbl="alignNode1" presStyleIdx="0" presStyleCnt="1"/>
      <dgm:spPr>
        <a:ln>
          <a:solidFill>
            <a:schemeClr val="accent2"/>
          </a:solidFill>
        </a:ln>
      </dgm:spPr>
    </dgm:pt>
    <dgm:pt modelId="{95DBDCFC-FD20-40F7-8A8E-BC635A9C470C}" type="pres">
      <dgm:prSet presAssocID="{36E143CF-B446-44B0-AF60-BEBC593707E1}" presName="horz1" presStyleCnt="0"/>
      <dgm:spPr/>
    </dgm:pt>
    <dgm:pt modelId="{1C10CFB4-2061-4BC6-AF5B-17CA70F9D00B}" type="pres">
      <dgm:prSet presAssocID="{36E143CF-B446-44B0-AF60-BEBC593707E1}" presName="tx1" presStyleLbl="revTx" presStyleIdx="0" presStyleCnt="6"/>
      <dgm:spPr/>
    </dgm:pt>
    <dgm:pt modelId="{80AE253C-E1A7-4762-8AA2-A83BA36713E4}" type="pres">
      <dgm:prSet presAssocID="{36E143CF-B446-44B0-AF60-BEBC593707E1}" presName="vert1" presStyleCnt="0"/>
      <dgm:spPr/>
    </dgm:pt>
    <dgm:pt modelId="{90FC5ABC-2834-499E-8959-54176C7B18A3}" type="pres">
      <dgm:prSet presAssocID="{20D73103-8F9C-4E17-B346-AC5EDB8B09A1}" presName="vertSpace2a" presStyleCnt="0"/>
      <dgm:spPr/>
    </dgm:pt>
    <dgm:pt modelId="{30C62385-55D5-440E-94FC-20A94E8D0F28}" type="pres">
      <dgm:prSet presAssocID="{20D73103-8F9C-4E17-B346-AC5EDB8B09A1}" presName="horz2" presStyleCnt="0"/>
      <dgm:spPr/>
    </dgm:pt>
    <dgm:pt modelId="{B0FA8084-4CED-473A-86D6-E6A36933420D}" type="pres">
      <dgm:prSet presAssocID="{20D73103-8F9C-4E17-B346-AC5EDB8B09A1}" presName="horzSpace2" presStyleCnt="0"/>
      <dgm:spPr/>
    </dgm:pt>
    <dgm:pt modelId="{EF6CC3B1-AF55-4632-93A8-356DD47B4066}" type="pres">
      <dgm:prSet presAssocID="{20D73103-8F9C-4E17-B346-AC5EDB8B09A1}" presName="tx2" presStyleLbl="revTx" presStyleIdx="1" presStyleCnt="6" custLinFactNeighborX="-853" custLinFactNeighborY="-4068"/>
      <dgm:spPr/>
    </dgm:pt>
    <dgm:pt modelId="{CA120DA7-2A6E-4180-92A6-B8769A644D22}" type="pres">
      <dgm:prSet presAssocID="{20D73103-8F9C-4E17-B346-AC5EDB8B09A1}" presName="vert2" presStyleCnt="0"/>
      <dgm:spPr/>
    </dgm:pt>
    <dgm:pt modelId="{2F6ED430-AD0A-4078-8E04-ACF804F5FCD3}" type="pres">
      <dgm:prSet presAssocID="{20D73103-8F9C-4E17-B346-AC5EDB8B09A1}" presName="thinLine2b" presStyleLbl="callout" presStyleIdx="0" presStyleCnt="5"/>
      <dgm:spPr/>
    </dgm:pt>
    <dgm:pt modelId="{BEF97656-BA5A-404F-98F4-33E97947E7AA}" type="pres">
      <dgm:prSet presAssocID="{20D73103-8F9C-4E17-B346-AC5EDB8B09A1}" presName="vertSpace2b" presStyleCnt="0"/>
      <dgm:spPr/>
    </dgm:pt>
    <dgm:pt modelId="{47144511-91B8-4FCE-9CF1-FF4BF9D6874C}" type="pres">
      <dgm:prSet presAssocID="{BA19AF32-64E2-4A16-993A-F266F0A8253A}" presName="horz2" presStyleCnt="0"/>
      <dgm:spPr/>
    </dgm:pt>
    <dgm:pt modelId="{C409C087-A073-47CE-8AE0-ADD563E4C9C2}" type="pres">
      <dgm:prSet presAssocID="{BA19AF32-64E2-4A16-993A-F266F0A8253A}" presName="horzSpace2" presStyleCnt="0"/>
      <dgm:spPr/>
    </dgm:pt>
    <dgm:pt modelId="{A536639A-F117-47CF-85C0-A60BF689FF90}" type="pres">
      <dgm:prSet presAssocID="{BA19AF32-64E2-4A16-993A-F266F0A8253A}" presName="tx2" presStyleLbl="revTx" presStyleIdx="2" presStyleCnt="6" custLinFactNeighborX="-853" custLinFactNeighborY="-3550"/>
      <dgm:spPr/>
    </dgm:pt>
    <dgm:pt modelId="{9357D170-162C-4B30-8611-A6DE75EB6EBF}" type="pres">
      <dgm:prSet presAssocID="{BA19AF32-64E2-4A16-993A-F266F0A8253A}" presName="vert2" presStyleCnt="0"/>
      <dgm:spPr/>
    </dgm:pt>
    <dgm:pt modelId="{ADFEE3C0-6772-473C-8786-985416D64A4B}" type="pres">
      <dgm:prSet presAssocID="{BA19AF32-64E2-4A16-993A-F266F0A8253A}" presName="thinLine2b" presStyleLbl="callout" presStyleIdx="1" presStyleCnt="5" custLinFactY="68275" custLinFactNeighborX="110" custLinFactNeighborY="100000"/>
      <dgm:spPr/>
    </dgm:pt>
    <dgm:pt modelId="{944A1B37-3371-4410-9BE2-10A201A4728E}" type="pres">
      <dgm:prSet presAssocID="{BA19AF32-64E2-4A16-993A-F266F0A8253A}" presName="vertSpace2b" presStyleCnt="0"/>
      <dgm:spPr/>
    </dgm:pt>
    <dgm:pt modelId="{BBC76485-98F0-42A6-B3A5-6FD8F80AA55B}" type="pres">
      <dgm:prSet presAssocID="{92E6FDA1-5B1C-4EDE-BBF0-F97C4841562B}" presName="horz2" presStyleCnt="0"/>
      <dgm:spPr/>
    </dgm:pt>
    <dgm:pt modelId="{50ED5F45-5F39-4FE8-A1DA-3F16307F947B}" type="pres">
      <dgm:prSet presAssocID="{92E6FDA1-5B1C-4EDE-BBF0-F97C4841562B}" presName="horzSpace2" presStyleCnt="0"/>
      <dgm:spPr/>
    </dgm:pt>
    <dgm:pt modelId="{833470F3-02ED-4639-A186-CBC6556B1314}" type="pres">
      <dgm:prSet presAssocID="{92E6FDA1-5B1C-4EDE-BBF0-F97C4841562B}" presName="tx2" presStyleLbl="revTx" presStyleIdx="3" presStyleCnt="6"/>
      <dgm:spPr/>
    </dgm:pt>
    <dgm:pt modelId="{B724E825-5BF2-4BB7-B853-8297D79A7272}" type="pres">
      <dgm:prSet presAssocID="{92E6FDA1-5B1C-4EDE-BBF0-F97C4841562B}" presName="vert2" presStyleCnt="0"/>
      <dgm:spPr/>
    </dgm:pt>
    <dgm:pt modelId="{7DCC95EA-CBF6-4303-875E-5B3DA17E27AF}" type="pres">
      <dgm:prSet presAssocID="{92E6FDA1-5B1C-4EDE-BBF0-F97C4841562B}" presName="thinLine2b" presStyleLbl="callout" presStyleIdx="2" presStyleCnt="5" custLinFactY="-300000" custLinFactNeighborX="-151" custLinFactNeighborY="-352785"/>
      <dgm:spPr/>
    </dgm:pt>
    <dgm:pt modelId="{77E0CD2B-8F1C-4851-BE30-1A4B04EA59A4}" type="pres">
      <dgm:prSet presAssocID="{92E6FDA1-5B1C-4EDE-BBF0-F97C4841562B}" presName="vertSpace2b" presStyleCnt="0"/>
      <dgm:spPr/>
    </dgm:pt>
    <dgm:pt modelId="{225EF60C-B564-4A05-97E5-C06CBBDEEC73}" type="pres">
      <dgm:prSet presAssocID="{90AF76F5-E459-4BD8-9440-D5B51C706D6F}" presName="horz2" presStyleCnt="0"/>
      <dgm:spPr/>
    </dgm:pt>
    <dgm:pt modelId="{92E5B3E2-695A-4B1E-995A-E6A34EE95248}" type="pres">
      <dgm:prSet presAssocID="{90AF76F5-E459-4BD8-9440-D5B51C706D6F}" presName="horzSpace2" presStyleCnt="0"/>
      <dgm:spPr/>
    </dgm:pt>
    <dgm:pt modelId="{D959A285-75EB-4C1B-8FF7-6EA10F26A23E}" type="pres">
      <dgm:prSet presAssocID="{90AF76F5-E459-4BD8-9440-D5B51C706D6F}" presName="tx2" presStyleLbl="revTx" presStyleIdx="4" presStyleCnt="6" custScaleY="47144" custLinFactNeighborX="-853" custLinFactNeighborY="-24197"/>
      <dgm:spPr/>
    </dgm:pt>
    <dgm:pt modelId="{63734A2B-93B1-41BA-B511-E6D9C0AEDBD2}" type="pres">
      <dgm:prSet presAssocID="{90AF76F5-E459-4BD8-9440-D5B51C706D6F}" presName="vert2" presStyleCnt="0"/>
      <dgm:spPr/>
    </dgm:pt>
    <dgm:pt modelId="{D89AB6AF-F842-4683-A451-B02A45459260}" type="pres">
      <dgm:prSet presAssocID="{90AF76F5-E459-4BD8-9440-D5B51C706D6F}" presName="thinLine2b" presStyleLbl="callout" presStyleIdx="3" presStyleCnt="5"/>
      <dgm:spPr/>
    </dgm:pt>
    <dgm:pt modelId="{F625E0B8-D6B1-46F6-8271-A821DE24E683}" type="pres">
      <dgm:prSet presAssocID="{90AF76F5-E459-4BD8-9440-D5B51C706D6F}" presName="vertSpace2b" presStyleCnt="0"/>
      <dgm:spPr/>
    </dgm:pt>
    <dgm:pt modelId="{D29CB1B1-9874-4AAC-B65E-0E292ABAF32F}" type="pres">
      <dgm:prSet presAssocID="{24AADFE2-D3B1-4616-A7AD-D6D90BD958E9}" presName="horz2" presStyleCnt="0"/>
      <dgm:spPr/>
    </dgm:pt>
    <dgm:pt modelId="{38A4AB80-C6D0-4461-B1E0-5BDE77B9B424}" type="pres">
      <dgm:prSet presAssocID="{24AADFE2-D3B1-4616-A7AD-D6D90BD958E9}" presName="horzSpace2" presStyleCnt="0"/>
      <dgm:spPr/>
    </dgm:pt>
    <dgm:pt modelId="{7FDF5EF3-E28C-4F29-A33D-FEF67EC18FFF}" type="pres">
      <dgm:prSet presAssocID="{24AADFE2-D3B1-4616-A7AD-D6D90BD958E9}" presName="tx2" presStyleLbl="revTx" presStyleIdx="5" presStyleCnt="6" custScaleY="70596"/>
      <dgm:spPr/>
    </dgm:pt>
    <dgm:pt modelId="{4305AEC1-FE79-4C15-A5B9-5C7F0725F473}" type="pres">
      <dgm:prSet presAssocID="{24AADFE2-D3B1-4616-A7AD-D6D90BD958E9}" presName="vert2" presStyleCnt="0"/>
      <dgm:spPr/>
    </dgm:pt>
    <dgm:pt modelId="{BE28A39D-11B1-4590-9106-4AE228D048B2}" type="pres">
      <dgm:prSet presAssocID="{24AADFE2-D3B1-4616-A7AD-D6D90BD958E9}" presName="thinLine2b" presStyleLbl="callout" presStyleIdx="4" presStyleCnt="5"/>
      <dgm:spPr/>
    </dgm:pt>
    <dgm:pt modelId="{064A9C81-B897-4034-828E-93D8EFA7E116}" type="pres">
      <dgm:prSet presAssocID="{24AADFE2-D3B1-4616-A7AD-D6D90BD958E9}" presName="vertSpace2b" presStyleCnt="0"/>
      <dgm:spPr/>
    </dgm:pt>
  </dgm:ptLst>
  <dgm:cxnLst>
    <dgm:cxn modelId="{938D8803-31D3-45C6-BC08-71D916DAD55E}" type="presOf" srcId="{90AF76F5-E459-4BD8-9440-D5B51C706D6F}" destId="{D959A285-75EB-4C1B-8FF7-6EA10F26A23E}" srcOrd="0" destOrd="0" presId="urn:microsoft.com/office/officeart/2008/layout/LinedList"/>
    <dgm:cxn modelId="{79C7AB04-A5A8-435F-80BA-B1F95AB42CDF}" type="presOf" srcId="{D13F775C-6B32-4BCD-B6E5-025898E115B9}" destId="{BCF2CA16-E1FD-429D-920F-CCDF4F1B9F62}" srcOrd="0" destOrd="0" presId="urn:microsoft.com/office/officeart/2008/layout/LinedList"/>
    <dgm:cxn modelId="{5B5E550E-18B8-4621-9C7C-5884E3938A9D}" srcId="{D13F775C-6B32-4BCD-B6E5-025898E115B9}" destId="{36E143CF-B446-44B0-AF60-BEBC593707E1}" srcOrd="0" destOrd="0" parTransId="{9A8F6BC6-A268-4C81-8687-F44953D6EBDC}" sibTransId="{113D89E8-62C9-4407-9A18-4E308DC35968}"/>
    <dgm:cxn modelId="{628BB56A-C196-4BAF-90AA-A6B02E8F970C}" srcId="{36E143CF-B446-44B0-AF60-BEBC593707E1}" destId="{90AF76F5-E459-4BD8-9440-D5B51C706D6F}" srcOrd="3" destOrd="0" parTransId="{0CB41245-A81D-450D-BE7E-746651B7411F}" sibTransId="{2689B1DE-1B83-4661-8B7D-17B3C90AA88C}"/>
    <dgm:cxn modelId="{D8396D6D-D549-4AE4-9B12-18E79137902B}" srcId="{36E143CF-B446-44B0-AF60-BEBC593707E1}" destId="{92E6FDA1-5B1C-4EDE-BBF0-F97C4841562B}" srcOrd="2" destOrd="0" parTransId="{275B82F4-071F-4771-8BD8-21F90862F4EA}" sibTransId="{D5BC0A5F-EAB5-4BB6-9B89-D38119F09B92}"/>
    <dgm:cxn modelId="{5FBF1C80-4B81-4A90-BFC5-4A8163A681C4}" srcId="{36E143CF-B446-44B0-AF60-BEBC593707E1}" destId="{24AADFE2-D3B1-4616-A7AD-D6D90BD958E9}" srcOrd="4" destOrd="0" parTransId="{D03CC29E-9F54-4A74-9A1C-57CD70CFD6C7}" sibTransId="{EA4C762B-B744-4CD8-923D-D505AC51E965}"/>
    <dgm:cxn modelId="{418BB386-246A-44D1-8747-E782FFBB4CCC}" type="presOf" srcId="{24AADFE2-D3B1-4616-A7AD-D6D90BD958E9}" destId="{7FDF5EF3-E28C-4F29-A33D-FEF67EC18FFF}" srcOrd="0" destOrd="0" presId="urn:microsoft.com/office/officeart/2008/layout/LinedList"/>
    <dgm:cxn modelId="{DD3D1592-5E21-4145-A700-1ACD01085504}" type="presOf" srcId="{92E6FDA1-5B1C-4EDE-BBF0-F97C4841562B}" destId="{833470F3-02ED-4639-A186-CBC6556B1314}" srcOrd="0" destOrd="0" presId="urn:microsoft.com/office/officeart/2008/layout/LinedList"/>
    <dgm:cxn modelId="{D58AF59E-DC34-4F5B-821D-5C41F1B72044}" type="presOf" srcId="{BA19AF32-64E2-4A16-993A-F266F0A8253A}" destId="{A536639A-F117-47CF-85C0-A60BF689FF90}" srcOrd="0" destOrd="0" presId="urn:microsoft.com/office/officeart/2008/layout/LinedList"/>
    <dgm:cxn modelId="{A0589CBE-B4A5-4FFC-B034-269F94B50801}" type="presOf" srcId="{20D73103-8F9C-4E17-B346-AC5EDB8B09A1}" destId="{EF6CC3B1-AF55-4632-93A8-356DD47B4066}" srcOrd="0" destOrd="0" presId="urn:microsoft.com/office/officeart/2008/layout/LinedList"/>
    <dgm:cxn modelId="{D3FBABBF-ACCE-418C-823C-2C26C4DD4713}" type="presOf" srcId="{36E143CF-B446-44B0-AF60-BEBC593707E1}" destId="{1C10CFB4-2061-4BC6-AF5B-17CA70F9D00B}" srcOrd="0" destOrd="0" presId="urn:microsoft.com/office/officeart/2008/layout/LinedList"/>
    <dgm:cxn modelId="{D0C3FFC5-59A0-4DD6-8193-FF251B8C9C8C}" srcId="{36E143CF-B446-44B0-AF60-BEBC593707E1}" destId="{BA19AF32-64E2-4A16-993A-F266F0A8253A}" srcOrd="1" destOrd="0" parTransId="{03798935-E8D8-4B1D-9923-07911C6066F2}" sibTransId="{F3C240BC-D501-40C1-B5B4-965ABF06505A}"/>
    <dgm:cxn modelId="{6917D0F7-EDCF-4A6F-BE5D-B050D239BCC5}" srcId="{36E143CF-B446-44B0-AF60-BEBC593707E1}" destId="{20D73103-8F9C-4E17-B346-AC5EDB8B09A1}" srcOrd="0" destOrd="0" parTransId="{6F43AA5F-0961-4EEA-84D8-ED3A76192A57}" sibTransId="{6233901E-9BCA-4508-BD53-037F5AA00292}"/>
    <dgm:cxn modelId="{1DF5F58D-101B-44FF-B863-A309000DC8E2}" type="presParOf" srcId="{BCF2CA16-E1FD-429D-920F-CCDF4F1B9F62}" destId="{2C2A76AA-77A8-4500-BFF8-42A9441DD426}" srcOrd="0" destOrd="0" presId="urn:microsoft.com/office/officeart/2008/layout/LinedList"/>
    <dgm:cxn modelId="{C8B0DCF8-E300-473E-ABF1-84EBC0330DF1}" type="presParOf" srcId="{BCF2CA16-E1FD-429D-920F-CCDF4F1B9F62}" destId="{95DBDCFC-FD20-40F7-8A8E-BC635A9C470C}" srcOrd="1" destOrd="0" presId="urn:microsoft.com/office/officeart/2008/layout/LinedList"/>
    <dgm:cxn modelId="{870A3AFB-D378-4097-A7DB-7B318310E2BA}" type="presParOf" srcId="{95DBDCFC-FD20-40F7-8A8E-BC635A9C470C}" destId="{1C10CFB4-2061-4BC6-AF5B-17CA70F9D00B}" srcOrd="0" destOrd="0" presId="urn:microsoft.com/office/officeart/2008/layout/LinedList"/>
    <dgm:cxn modelId="{2290B27C-2A53-4132-942B-E9C628502605}" type="presParOf" srcId="{95DBDCFC-FD20-40F7-8A8E-BC635A9C470C}" destId="{80AE253C-E1A7-4762-8AA2-A83BA36713E4}" srcOrd="1" destOrd="0" presId="urn:microsoft.com/office/officeart/2008/layout/LinedList"/>
    <dgm:cxn modelId="{5038BC27-F88B-4FCA-8214-3774872ED055}" type="presParOf" srcId="{80AE253C-E1A7-4762-8AA2-A83BA36713E4}" destId="{90FC5ABC-2834-499E-8959-54176C7B18A3}" srcOrd="0" destOrd="0" presId="urn:microsoft.com/office/officeart/2008/layout/LinedList"/>
    <dgm:cxn modelId="{CCBB574D-A278-43B7-861E-ADE69633BDB1}" type="presParOf" srcId="{80AE253C-E1A7-4762-8AA2-A83BA36713E4}" destId="{30C62385-55D5-440E-94FC-20A94E8D0F28}" srcOrd="1" destOrd="0" presId="urn:microsoft.com/office/officeart/2008/layout/LinedList"/>
    <dgm:cxn modelId="{61006B34-9BAB-4782-8150-2C619DB6E5AC}" type="presParOf" srcId="{30C62385-55D5-440E-94FC-20A94E8D0F28}" destId="{B0FA8084-4CED-473A-86D6-E6A36933420D}" srcOrd="0" destOrd="0" presId="urn:microsoft.com/office/officeart/2008/layout/LinedList"/>
    <dgm:cxn modelId="{BC17C965-290A-46B8-9582-013744FEFAA9}" type="presParOf" srcId="{30C62385-55D5-440E-94FC-20A94E8D0F28}" destId="{EF6CC3B1-AF55-4632-93A8-356DD47B4066}" srcOrd="1" destOrd="0" presId="urn:microsoft.com/office/officeart/2008/layout/LinedList"/>
    <dgm:cxn modelId="{5CA9D504-5812-4EA6-AFB9-BC286E7DA7D5}" type="presParOf" srcId="{30C62385-55D5-440E-94FC-20A94E8D0F28}" destId="{CA120DA7-2A6E-4180-92A6-B8769A644D22}" srcOrd="2" destOrd="0" presId="urn:microsoft.com/office/officeart/2008/layout/LinedList"/>
    <dgm:cxn modelId="{52882408-C361-45ED-8ABE-39D33B34856D}" type="presParOf" srcId="{80AE253C-E1A7-4762-8AA2-A83BA36713E4}" destId="{2F6ED430-AD0A-4078-8E04-ACF804F5FCD3}" srcOrd="2" destOrd="0" presId="urn:microsoft.com/office/officeart/2008/layout/LinedList"/>
    <dgm:cxn modelId="{1B6408C8-7C0C-473D-BC19-078FBC152E3E}" type="presParOf" srcId="{80AE253C-E1A7-4762-8AA2-A83BA36713E4}" destId="{BEF97656-BA5A-404F-98F4-33E97947E7AA}" srcOrd="3" destOrd="0" presId="urn:microsoft.com/office/officeart/2008/layout/LinedList"/>
    <dgm:cxn modelId="{0A667B24-3086-4BA6-8187-6E477AD7BC9C}" type="presParOf" srcId="{80AE253C-E1A7-4762-8AA2-A83BA36713E4}" destId="{47144511-91B8-4FCE-9CF1-FF4BF9D6874C}" srcOrd="4" destOrd="0" presId="urn:microsoft.com/office/officeart/2008/layout/LinedList"/>
    <dgm:cxn modelId="{473F1ADC-E984-4974-9A3E-5BDFDEA19A3F}" type="presParOf" srcId="{47144511-91B8-4FCE-9CF1-FF4BF9D6874C}" destId="{C409C087-A073-47CE-8AE0-ADD563E4C9C2}" srcOrd="0" destOrd="0" presId="urn:microsoft.com/office/officeart/2008/layout/LinedList"/>
    <dgm:cxn modelId="{E8630AC9-7FD9-4C89-8EA6-0AAB903A58E2}" type="presParOf" srcId="{47144511-91B8-4FCE-9CF1-FF4BF9D6874C}" destId="{A536639A-F117-47CF-85C0-A60BF689FF90}" srcOrd="1" destOrd="0" presId="urn:microsoft.com/office/officeart/2008/layout/LinedList"/>
    <dgm:cxn modelId="{7AF76F26-9E7E-4C56-8328-44C2B1A4B394}" type="presParOf" srcId="{47144511-91B8-4FCE-9CF1-FF4BF9D6874C}" destId="{9357D170-162C-4B30-8611-A6DE75EB6EBF}" srcOrd="2" destOrd="0" presId="urn:microsoft.com/office/officeart/2008/layout/LinedList"/>
    <dgm:cxn modelId="{35B27A70-2451-49C8-8CCF-FF7346497B7E}" type="presParOf" srcId="{80AE253C-E1A7-4762-8AA2-A83BA36713E4}" destId="{ADFEE3C0-6772-473C-8786-985416D64A4B}" srcOrd="5" destOrd="0" presId="urn:microsoft.com/office/officeart/2008/layout/LinedList"/>
    <dgm:cxn modelId="{90622EFC-A8CB-45EF-AAE0-42A6873D9949}" type="presParOf" srcId="{80AE253C-E1A7-4762-8AA2-A83BA36713E4}" destId="{944A1B37-3371-4410-9BE2-10A201A4728E}" srcOrd="6" destOrd="0" presId="urn:microsoft.com/office/officeart/2008/layout/LinedList"/>
    <dgm:cxn modelId="{98FC2902-2C14-45F5-B16D-4907C499B39C}" type="presParOf" srcId="{80AE253C-E1A7-4762-8AA2-A83BA36713E4}" destId="{BBC76485-98F0-42A6-B3A5-6FD8F80AA55B}" srcOrd="7" destOrd="0" presId="urn:microsoft.com/office/officeart/2008/layout/LinedList"/>
    <dgm:cxn modelId="{5B486D88-B722-4DFE-8970-B2F6D972A784}" type="presParOf" srcId="{BBC76485-98F0-42A6-B3A5-6FD8F80AA55B}" destId="{50ED5F45-5F39-4FE8-A1DA-3F16307F947B}" srcOrd="0" destOrd="0" presId="urn:microsoft.com/office/officeart/2008/layout/LinedList"/>
    <dgm:cxn modelId="{122C4477-DB25-48AB-8907-D6EA4B1E4605}" type="presParOf" srcId="{BBC76485-98F0-42A6-B3A5-6FD8F80AA55B}" destId="{833470F3-02ED-4639-A186-CBC6556B1314}" srcOrd="1" destOrd="0" presId="urn:microsoft.com/office/officeart/2008/layout/LinedList"/>
    <dgm:cxn modelId="{E6B30A8A-0679-4650-ABF7-A30552477954}" type="presParOf" srcId="{BBC76485-98F0-42A6-B3A5-6FD8F80AA55B}" destId="{B724E825-5BF2-4BB7-B853-8297D79A7272}" srcOrd="2" destOrd="0" presId="urn:microsoft.com/office/officeart/2008/layout/LinedList"/>
    <dgm:cxn modelId="{70FA44C9-A70A-4CED-9794-C21D284C7104}" type="presParOf" srcId="{80AE253C-E1A7-4762-8AA2-A83BA36713E4}" destId="{7DCC95EA-CBF6-4303-875E-5B3DA17E27AF}" srcOrd="8" destOrd="0" presId="urn:microsoft.com/office/officeart/2008/layout/LinedList"/>
    <dgm:cxn modelId="{FFD8806C-CCED-4B93-B0EA-20EE3596EA4D}" type="presParOf" srcId="{80AE253C-E1A7-4762-8AA2-A83BA36713E4}" destId="{77E0CD2B-8F1C-4851-BE30-1A4B04EA59A4}" srcOrd="9" destOrd="0" presId="urn:microsoft.com/office/officeart/2008/layout/LinedList"/>
    <dgm:cxn modelId="{19178C33-C21C-40B1-9C87-1A9B61F01016}" type="presParOf" srcId="{80AE253C-E1A7-4762-8AA2-A83BA36713E4}" destId="{225EF60C-B564-4A05-97E5-C06CBBDEEC73}" srcOrd="10" destOrd="0" presId="urn:microsoft.com/office/officeart/2008/layout/LinedList"/>
    <dgm:cxn modelId="{99911602-8A20-4D52-901C-C8A5EC83E6C0}" type="presParOf" srcId="{225EF60C-B564-4A05-97E5-C06CBBDEEC73}" destId="{92E5B3E2-695A-4B1E-995A-E6A34EE95248}" srcOrd="0" destOrd="0" presId="urn:microsoft.com/office/officeart/2008/layout/LinedList"/>
    <dgm:cxn modelId="{5F8FF4DA-EF03-4800-B966-64F0A95DADF2}" type="presParOf" srcId="{225EF60C-B564-4A05-97E5-C06CBBDEEC73}" destId="{D959A285-75EB-4C1B-8FF7-6EA10F26A23E}" srcOrd="1" destOrd="0" presId="urn:microsoft.com/office/officeart/2008/layout/LinedList"/>
    <dgm:cxn modelId="{9C19DA6C-B622-49B4-9A57-AEBC64557F62}" type="presParOf" srcId="{225EF60C-B564-4A05-97E5-C06CBBDEEC73}" destId="{63734A2B-93B1-41BA-B511-E6D9C0AEDBD2}" srcOrd="2" destOrd="0" presId="urn:microsoft.com/office/officeart/2008/layout/LinedList"/>
    <dgm:cxn modelId="{F6C334B6-9B60-4E44-BE64-871BFD7C35F7}" type="presParOf" srcId="{80AE253C-E1A7-4762-8AA2-A83BA36713E4}" destId="{D89AB6AF-F842-4683-A451-B02A45459260}" srcOrd="11" destOrd="0" presId="urn:microsoft.com/office/officeart/2008/layout/LinedList"/>
    <dgm:cxn modelId="{928C87D2-C85A-4655-A1EB-8240EB24BC60}" type="presParOf" srcId="{80AE253C-E1A7-4762-8AA2-A83BA36713E4}" destId="{F625E0B8-D6B1-46F6-8271-A821DE24E683}" srcOrd="12" destOrd="0" presId="urn:microsoft.com/office/officeart/2008/layout/LinedList"/>
    <dgm:cxn modelId="{F86A55D6-32A0-4718-B473-2003B1792178}" type="presParOf" srcId="{80AE253C-E1A7-4762-8AA2-A83BA36713E4}" destId="{D29CB1B1-9874-4AAC-B65E-0E292ABAF32F}" srcOrd="13" destOrd="0" presId="urn:microsoft.com/office/officeart/2008/layout/LinedList"/>
    <dgm:cxn modelId="{9EA62C5D-5461-4DC6-9C77-3B36E038B083}" type="presParOf" srcId="{D29CB1B1-9874-4AAC-B65E-0E292ABAF32F}" destId="{38A4AB80-C6D0-4461-B1E0-5BDE77B9B424}" srcOrd="0" destOrd="0" presId="urn:microsoft.com/office/officeart/2008/layout/LinedList"/>
    <dgm:cxn modelId="{330D1C76-5327-42C1-BF20-4B00D8B6D95E}" type="presParOf" srcId="{D29CB1B1-9874-4AAC-B65E-0E292ABAF32F}" destId="{7FDF5EF3-E28C-4F29-A33D-FEF67EC18FFF}" srcOrd="1" destOrd="0" presId="urn:microsoft.com/office/officeart/2008/layout/LinedList"/>
    <dgm:cxn modelId="{A0D11A97-F799-4B04-ACE8-65193FAA7736}" type="presParOf" srcId="{D29CB1B1-9874-4AAC-B65E-0E292ABAF32F}" destId="{4305AEC1-FE79-4C15-A5B9-5C7F0725F473}" srcOrd="2" destOrd="0" presId="urn:microsoft.com/office/officeart/2008/layout/LinedList"/>
    <dgm:cxn modelId="{B1548F56-940E-4C9B-9235-86EFDFA198D8}" type="presParOf" srcId="{80AE253C-E1A7-4762-8AA2-A83BA36713E4}" destId="{BE28A39D-11B1-4590-9106-4AE228D048B2}" srcOrd="14" destOrd="0" presId="urn:microsoft.com/office/officeart/2008/layout/LinedList"/>
    <dgm:cxn modelId="{50D09E0D-BCE9-427B-91E2-B3A15969D7F7}" type="presParOf" srcId="{80AE253C-E1A7-4762-8AA2-A83BA36713E4}" destId="{064A9C81-B897-4034-828E-93D8EFA7E116}" srcOrd="15" destOrd="0" presId="urn:microsoft.com/office/officeart/2008/layout/LinedList"/>
  </dgm:cxnLst>
  <dgm:bg/>
  <dgm:whole>
    <a:ln>
      <a:solidFill>
        <a:srgbClr val="669900"/>
      </a:solidFill>
    </a:ln>
  </dgm:whole>
  <dgm:extLst>
    <a:ext uri="http://schemas.microsoft.com/office/drawing/2008/diagram">
      <dsp:dataModelExt xmlns:dsp="http://schemas.microsoft.com/office/drawing/2008/diagram" relId="rId8"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704A76D-2137-4A07-A721-DB702BFC36C0}">
      <dsp:nvSpPr>
        <dsp:cNvPr id="0" name=""/>
        <dsp:cNvSpPr/>
      </dsp:nvSpPr>
      <dsp:spPr>
        <a:xfrm>
          <a:off x="1587740" y="343031"/>
          <a:ext cx="2146228" cy="2146228"/>
        </a:xfrm>
        <a:prstGeom prst="pieWedge">
          <a:avLst/>
        </a:prstGeom>
        <a:solidFill>
          <a:schemeClr val="accent2">
            <a:lumMod val="20000"/>
            <a:lumOff val="80000"/>
          </a:schemeClr>
        </a:solidFill>
        <a:ln w="19050" cap="flat" cmpd="sng" algn="ctr">
          <a:noFill/>
          <a:prstDash val="solid"/>
          <a:round/>
          <a:headEnd type="none" w="med" len="med"/>
          <a:tailEnd type="none" w="med" len="med"/>
        </a:ln>
        <a:effectLst/>
      </dsp:spPr>
      <dsp:style>
        <a:lnRef idx="0">
          <a:scrgbClr r="0" g="0" b="0"/>
        </a:lnRef>
        <a:fillRef idx="0">
          <a:scrgbClr r="0" g="0" b="0"/>
        </a:fillRef>
        <a:effectRef idx="0">
          <a:scrgbClr r="0" g="0" b="0"/>
        </a:effectRef>
        <a:fontRef idx="minor">
          <a:schemeClr val="accent4"/>
        </a:fontRef>
      </dsp:style>
      <dsp:txBody>
        <a:bodyPr spcFirstLastPara="0" vert="horz" wrap="square" lIns="170688" tIns="170688" rIns="170688" bIns="170688" numCol="1" spcCol="1270" anchor="ctr" anchorCtr="0">
          <a:noAutofit/>
        </a:bodyPr>
        <a:lstStyle/>
        <a:p>
          <a:pPr marL="0" lvl="0" indent="0" algn="ctr" defTabSz="1066800">
            <a:lnSpc>
              <a:spcPct val="90000"/>
            </a:lnSpc>
            <a:spcBef>
              <a:spcPct val="0"/>
            </a:spcBef>
            <a:spcAft>
              <a:spcPct val="35000"/>
            </a:spcAft>
            <a:buNone/>
          </a:pPr>
          <a:r>
            <a:rPr lang="zh-TW" altLang="en-US" sz="2400" b="1" kern="1200" dirty="0">
              <a:solidFill>
                <a:schemeClr val="tx1">
                  <a:lumMod val="75000"/>
                  <a:lumOff val="25000"/>
                </a:schemeClr>
              </a:solidFill>
              <a:latin typeface="微軟正黑體" panose="020B0604030504040204" pitchFamily="34" charset="-120"/>
              <a:ea typeface="微軟正黑體" panose="020B0604030504040204" pitchFamily="34" charset="-120"/>
            </a:rPr>
            <a:t>離散式帳本</a:t>
          </a:r>
        </a:p>
      </dsp:txBody>
      <dsp:txXfrm>
        <a:off x="2216356" y="971647"/>
        <a:ext cx="1517612" cy="1517612"/>
      </dsp:txXfrm>
    </dsp:sp>
    <dsp:sp modelId="{42C2D3D6-8E22-485D-BEC7-0504B92FACBA}">
      <dsp:nvSpPr>
        <dsp:cNvPr id="0" name=""/>
        <dsp:cNvSpPr/>
      </dsp:nvSpPr>
      <dsp:spPr>
        <a:xfrm rot="5400000">
          <a:off x="3833102" y="343031"/>
          <a:ext cx="2146228" cy="2146228"/>
        </a:xfrm>
        <a:prstGeom prst="pieWedge">
          <a:avLst/>
        </a:prstGeom>
        <a:solidFill>
          <a:srgbClr val="CAECE9"/>
        </a:solidFill>
        <a:ln w="19050" cap="flat" cmpd="sng" algn="ctr">
          <a:noFill/>
          <a:prstDash val="solid"/>
          <a:round/>
          <a:headEnd type="none" w="med" len="med"/>
          <a:tailEnd type="none" w="med" len="med"/>
        </a:ln>
        <a:effectLst/>
      </dsp:spPr>
      <dsp:style>
        <a:lnRef idx="0">
          <a:scrgbClr r="0" g="0" b="0"/>
        </a:lnRef>
        <a:fillRef idx="0">
          <a:scrgbClr r="0" g="0" b="0"/>
        </a:fillRef>
        <a:effectRef idx="0">
          <a:scrgbClr r="0" g="0" b="0"/>
        </a:effectRef>
        <a:fontRef idx="minor">
          <a:schemeClr val="accent4"/>
        </a:fontRef>
      </dsp:style>
      <dsp:txBody>
        <a:bodyPr spcFirstLastPara="0" vert="horz" wrap="square" lIns="170688" tIns="170688" rIns="170688" bIns="170688" numCol="1" spcCol="1270" anchor="ctr" anchorCtr="0">
          <a:noAutofit/>
        </a:bodyPr>
        <a:lstStyle/>
        <a:p>
          <a:pPr marL="0" lvl="0" indent="0" algn="ctr" defTabSz="1066800">
            <a:lnSpc>
              <a:spcPct val="90000"/>
            </a:lnSpc>
            <a:spcBef>
              <a:spcPct val="0"/>
            </a:spcBef>
            <a:spcAft>
              <a:spcPct val="35000"/>
            </a:spcAft>
            <a:buNone/>
          </a:pPr>
          <a:r>
            <a:rPr lang="zh-TW" altLang="en-US" sz="2400" b="1" kern="1200" dirty="0">
              <a:solidFill>
                <a:schemeClr val="tx1">
                  <a:lumMod val="75000"/>
                  <a:lumOff val="25000"/>
                </a:schemeClr>
              </a:solidFill>
              <a:latin typeface="微軟正黑體" panose="020B0604030504040204" pitchFamily="34" charset="-120"/>
              <a:ea typeface="微軟正黑體" panose="020B0604030504040204" pitchFamily="34" charset="-120"/>
            </a:rPr>
            <a:t>安全    加密</a:t>
          </a:r>
        </a:p>
      </dsp:txBody>
      <dsp:txXfrm rot="-5400000">
        <a:off x="3833102" y="971647"/>
        <a:ext cx="1517612" cy="1517612"/>
      </dsp:txXfrm>
    </dsp:sp>
    <dsp:sp modelId="{6FFD39C2-5A4F-4015-AD69-23E5EEF28394}">
      <dsp:nvSpPr>
        <dsp:cNvPr id="0" name=""/>
        <dsp:cNvSpPr/>
      </dsp:nvSpPr>
      <dsp:spPr>
        <a:xfrm rot="10800000">
          <a:off x="3833102" y="2588392"/>
          <a:ext cx="2146228" cy="2146228"/>
        </a:xfrm>
        <a:prstGeom prst="pieWedge">
          <a:avLst/>
        </a:prstGeom>
        <a:solidFill>
          <a:srgbClr val="C6DBB7"/>
        </a:solidFill>
        <a:ln w="19050" cap="flat" cmpd="sng" algn="ctr">
          <a:noFill/>
          <a:prstDash val="solid"/>
          <a:round/>
          <a:headEnd type="none" w="med" len="med"/>
          <a:tailEnd type="none" w="med" len="med"/>
        </a:ln>
        <a:effectLst/>
      </dsp:spPr>
      <dsp:style>
        <a:lnRef idx="0">
          <a:scrgbClr r="0" g="0" b="0"/>
        </a:lnRef>
        <a:fillRef idx="0">
          <a:scrgbClr r="0" g="0" b="0"/>
        </a:fillRef>
        <a:effectRef idx="0">
          <a:scrgbClr r="0" g="0" b="0"/>
        </a:effectRef>
        <a:fontRef idx="minor">
          <a:schemeClr val="accent4"/>
        </a:fontRef>
      </dsp:style>
      <dsp:txBody>
        <a:bodyPr spcFirstLastPara="0" vert="horz" wrap="square" lIns="170688" tIns="170688" rIns="170688" bIns="170688" numCol="1" spcCol="1270" anchor="ctr" anchorCtr="0">
          <a:noAutofit/>
        </a:bodyPr>
        <a:lstStyle/>
        <a:p>
          <a:pPr marL="0" lvl="0" indent="0" algn="ctr" defTabSz="1066800">
            <a:lnSpc>
              <a:spcPct val="90000"/>
            </a:lnSpc>
            <a:spcBef>
              <a:spcPct val="0"/>
            </a:spcBef>
            <a:spcAft>
              <a:spcPct val="35000"/>
            </a:spcAft>
            <a:buNone/>
          </a:pPr>
          <a:r>
            <a:rPr lang="zh-TW" altLang="en-US" sz="2400" b="1" kern="1200" dirty="0">
              <a:solidFill>
                <a:schemeClr val="tx1">
                  <a:lumMod val="75000"/>
                  <a:lumOff val="25000"/>
                </a:schemeClr>
              </a:solidFill>
              <a:latin typeface="微軟正黑體" panose="020B0604030504040204" pitchFamily="34" charset="-120"/>
              <a:ea typeface="微軟正黑體" panose="020B0604030504040204" pitchFamily="34" charset="-120"/>
            </a:rPr>
            <a:t>多數決機制</a:t>
          </a:r>
        </a:p>
      </dsp:txBody>
      <dsp:txXfrm rot="10800000">
        <a:off x="3833102" y="2588392"/>
        <a:ext cx="1517612" cy="1517612"/>
      </dsp:txXfrm>
    </dsp:sp>
    <dsp:sp modelId="{54A2694F-2299-472A-8726-77A4AD02DAFE}">
      <dsp:nvSpPr>
        <dsp:cNvPr id="0" name=""/>
        <dsp:cNvSpPr/>
      </dsp:nvSpPr>
      <dsp:spPr>
        <a:xfrm rot="16200000">
          <a:off x="1587740" y="2588392"/>
          <a:ext cx="2146228" cy="2146228"/>
        </a:xfrm>
        <a:prstGeom prst="pieWedge">
          <a:avLst/>
        </a:prstGeom>
        <a:solidFill>
          <a:srgbClr val="FFF2C9"/>
        </a:solidFill>
        <a:ln w="19050" cap="flat" cmpd="sng" algn="ctr">
          <a:noFill/>
          <a:prstDash val="solid"/>
          <a:round/>
          <a:headEnd type="none" w="med" len="med"/>
          <a:tailEnd type="none" w="med" len="med"/>
        </a:ln>
        <a:effectLst/>
      </dsp:spPr>
      <dsp:style>
        <a:lnRef idx="0">
          <a:scrgbClr r="0" g="0" b="0"/>
        </a:lnRef>
        <a:fillRef idx="0">
          <a:scrgbClr r="0" g="0" b="0"/>
        </a:fillRef>
        <a:effectRef idx="0">
          <a:scrgbClr r="0" g="0" b="0"/>
        </a:effectRef>
        <a:fontRef idx="minor">
          <a:schemeClr val="accent4"/>
        </a:fontRef>
      </dsp:style>
      <dsp:txBody>
        <a:bodyPr spcFirstLastPara="0" vert="horz" wrap="square" lIns="170688" tIns="170688" rIns="170688" bIns="170688" numCol="1" spcCol="1270" anchor="ctr" anchorCtr="0">
          <a:noAutofit/>
        </a:bodyPr>
        <a:lstStyle/>
        <a:p>
          <a:pPr marL="0" lvl="0" indent="0" algn="ctr" defTabSz="1066800">
            <a:lnSpc>
              <a:spcPct val="90000"/>
            </a:lnSpc>
            <a:spcBef>
              <a:spcPct val="0"/>
            </a:spcBef>
            <a:spcAft>
              <a:spcPct val="35000"/>
            </a:spcAft>
            <a:buNone/>
          </a:pPr>
          <a:r>
            <a:rPr lang="zh-TW" altLang="en-US" sz="2400" b="1" kern="1200" dirty="0">
              <a:solidFill>
                <a:schemeClr val="tx1">
                  <a:lumMod val="75000"/>
                  <a:lumOff val="25000"/>
                </a:schemeClr>
              </a:solidFill>
              <a:latin typeface="微軟正黑體" panose="020B0604030504040204" pitchFamily="34" charset="-120"/>
              <a:ea typeface="微軟正黑體" panose="020B0604030504040204" pitchFamily="34" charset="-120"/>
            </a:rPr>
            <a:t>智慧    合約</a:t>
          </a:r>
        </a:p>
      </dsp:txBody>
      <dsp:txXfrm rot="5400000">
        <a:off x="2216356" y="2588392"/>
        <a:ext cx="1517612" cy="1517612"/>
      </dsp:txXfrm>
    </dsp:sp>
    <dsp:sp modelId="{3FCE861D-A82D-4501-AC8B-7A6A1577DC2E}">
      <dsp:nvSpPr>
        <dsp:cNvPr id="0" name=""/>
        <dsp:cNvSpPr/>
      </dsp:nvSpPr>
      <dsp:spPr>
        <a:xfrm>
          <a:off x="3413026" y="2032225"/>
          <a:ext cx="741018" cy="644364"/>
        </a:xfrm>
        <a:prstGeom prst="circularArrow">
          <a:avLst/>
        </a:prstGeom>
        <a:solidFill>
          <a:schemeClr val="accent1">
            <a:tint val="60000"/>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23CB2F3F-4408-4372-AB09-A711A4570A44}">
      <dsp:nvSpPr>
        <dsp:cNvPr id="0" name=""/>
        <dsp:cNvSpPr/>
      </dsp:nvSpPr>
      <dsp:spPr>
        <a:xfrm rot="10800000">
          <a:off x="3413026" y="2280058"/>
          <a:ext cx="741018" cy="644364"/>
        </a:xfrm>
        <a:prstGeom prst="circularArrow">
          <a:avLst/>
        </a:prstGeom>
        <a:solidFill>
          <a:schemeClr val="accent1">
            <a:tint val="60000"/>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CC64B87-35BF-43BB-AA56-95063A7A2F74}">
      <dsp:nvSpPr>
        <dsp:cNvPr id="0" name=""/>
        <dsp:cNvSpPr/>
      </dsp:nvSpPr>
      <dsp:spPr>
        <a:xfrm>
          <a:off x="0" y="231988"/>
          <a:ext cx="6969418" cy="874125"/>
        </a:xfrm>
        <a:prstGeom prst="rect">
          <a:avLst/>
        </a:prstGeom>
        <a:solidFill>
          <a:schemeClr val="lt1">
            <a:alpha val="90000"/>
            <a:hueOff val="0"/>
            <a:satOff val="0"/>
            <a:lumOff val="0"/>
            <a:alphaOff val="0"/>
          </a:schemeClr>
        </a:solidFill>
        <a:ln w="6350" cap="flat" cmpd="sng" algn="ctr">
          <a:solidFill>
            <a:schemeClr val="accent2">
              <a:hueOff val="0"/>
              <a:satOff val="0"/>
              <a:lumOff val="0"/>
              <a:alphaOff val="0"/>
            </a:schemeClr>
          </a:solidFill>
          <a:prstDash val="solid"/>
          <a:miter lim="800000"/>
        </a:ln>
        <a:effectLst/>
        <a:scene3d>
          <a:camera prst="orthographicFront"/>
          <a:lightRig rig="threePt" dir="t">
            <a:rot lat="0" lon="0" rev="7500000"/>
          </a:lightRig>
        </a:scene3d>
        <a:sp3d z="152400" extrusionH="63500" prstMaterial="dkEdge">
          <a:bevelT w="135400" h="16350" prst="relaxedInset"/>
          <a:contourClr>
            <a:schemeClr val="bg1"/>
          </a:contourClr>
        </a:sp3d>
      </dsp:spPr>
      <dsp:style>
        <a:lnRef idx="1">
          <a:scrgbClr r="0" g="0" b="0"/>
        </a:lnRef>
        <a:fillRef idx="1">
          <a:scrgbClr r="0" g="0" b="0"/>
        </a:fillRef>
        <a:effectRef idx="2">
          <a:scrgbClr r="0" g="0" b="0"/>
        </a:effectRef>
        <a:fontRef idx="minor"/>
      </dsp:style>
      <dsp:txBody>
        <a:bodyPr spcFirstLastPara="0" vert="horz" wrap="square" lIns="540904" tIns="312420" rIns="540904" bIns="142240" numCol="1" spcCol="1270" anchor="t" anchorCtr="0">
          <a:noAutofit/>
        </a:bodyPr>
        <a:lstStyle/>
        <a:p>
          <a:pPr marL="228600" lvl="1" indent="-228600" algn="l" defTabSz="889000">
            <a:lnSpc>
              <a:spcPct val="90000"/>
            </a:lnSpc>
            <a:spcBef>
              <a:spcPct val="0"/>
            </a:spcBef>
            <a:spcAft>
              <a:spcPct val="15000"/>
            </a:spcAft>
            <a:buChar char="•"/>
          </a:pPr>
          <a:r>
            <a:rPr lang="zh-TW" altLang="en-US" sz="2000" b="1" kern="1200" dirty="0">
              <a:latin typeface="微軟正黑體" panose="020B0604030504040204" pitchFamily="34" charset="-120"/>
              <a:ea typeface="微軟正黑體" panose="020B0604030504040204" pitchFamily="34" charset="-120"/>
            </a:rPr>
            <a:t>節點對資訊進行監管</a:t>
          </a:r>
        </a:p>
      </dsp:txBody>
      <dsp:txXfrm>
        <a:off x="0" y="231988"/>
        <a:ext cx="6969418" cy="874125"/>
      </dsp:txXfrm>
    </dsp:sp>
    <dsp:sp modelId="{C7DB47CE-3048-4C2C-B8FD-97E55DCE0E05}">
      <dsp:nvSpPr>
        <dsp:cNvPr id="0" name=""/>
        <dsp:cNvSpPr/>
      </dsp:nvSpPr>
      <dsp:spPr>
        <a:xfrm>
          <a:off x="348470" y="10588"/>
          <a:ext cx="4878592" cy="442800"/>
        </a:xfrm>
        <a:prstGeom prst="roundRect">
          <a:avLst/>
        </a:prstGeom>
        <a:solidFill>
          <a:schemeClr val="accent2">
            <a:lumMod val="20000"/>
            <a:lumOff val="80000"/>
          </a:schemeClr>
        </a:solidFill>
        <a:ln>
          <a:noFill/>
        </a:ln>
        <a:effectLst/>
        <a:scene3d>
          <a:camera prst="orthographicFront"/>
          <a:lightRig rig="threePt" dir="t">
            <a:rot lat="0" lon="0" rev="7500000"/>
          </a:lightRig>
        </a:scene3d>
        <a:sp3d prstMaterial="plastic"/>
      </dsp:spPr>
      <dsp:style>
        <a:lnRef idx="0">
          <a:scrgbClr r="0" g="0" b="0"/>
        </a:lnRef>
        <a:fillRef idx="3">
          <a:scrgbClr r="0" g="0" b="0"/>
        </a:fillRef>
        <a:effectRef idx="2">
          <a:scrgbClr r="0" g="0" b="0"/>
        </a:effectRef>
        <a:fontRef idx="minor">
          <a:schemeClr val="lt1"/>
        </a:fontRef>
      </dsp:style>
      <dsp:txBody>
        <a:bodyPr spcFirstLastPara="0" vert="horz" wrap="square" lIns="184399" tIns="0" rIns="184399" bIns="0" numCol="1" spcCol="1270" anchor="ctr" anchorCtr="0">
          <a:noAutofit/>
        </a:bodyPr>
        <a:lstStyle/>
        <a:p>
          <a:pPr marL="0" lvl="0" indent="0" algn="l" defTabSz="889000">
            <a:lnSpc>
              <a:spcPct val="90000"/>
            </a:lnSpc>
            <a:spcBef>
              <a:spcPct val="0"/>
            </a:spcBef>
            <a:spcAft>
              <a:spcPct val="35000"/>
            </a:spcAft>
            <a:buNone/>
          </a:pPr>
          <a:r>
            <a:rPr lang="zh-TW" altLang="en-US" sz="2000" b="1" kern="1200" dirty="0">
              <a:solidFill>
                <a:schemeClr val="tx1"/>
              </a:solidFill>
              <a:latin typeface="微軟正黑體" panose="020B0604030504040204" pitchFamily="34" charset="-120"/>
              <a:ea typeface="微軟正黑體" panose="020B0604030504040204" pitchFamily="34" charset="-120"/>
            </a:rPr>
            <a:t>監管</a:t>
          </a:r>
        </a:p>
      </dsp:txBody>
      <dsp:txXfrm>
        <a:off x="370086" y="32204"/>
        <a:ext cx="4835360" cy="399568"/>
      </dsp:txXfrm>
    </dsp:sp>
    <dsp:sp modelId="{5010BDA4-6CDC-4FC1-A274-B9AD050AA5EE}">
      <dsp:nvSpPr>
        <dsp:cNvPr id="0" name=""/>
        <dsp:cNvSpPr/>
      </dsp:nvSpPr>
      <dsp:spPr>
        <a:xfrm>
          <a:off x="0" y="1408513"/>
          <a:ext cx="6969418" cy="874125"/>
        </a:xfrm>
        <a:prstGeom prst="rect">
          <a:avLst/>
        </a:prstGeom>
        <a:solidFill>
          <a:schemeClr val="lt1">
            <a:alpha val="90000"/>
            <a:hueOff val="0"/>
            <a:satOff val="0"/>
            <a:lumOff val="0"/>
            <a:alphaOff val="0"/>
          </a:schemeClr>
        </a:solidFill>
        <a:ln w="6350" cap="flat" cmpd="sng" algn="ctr">
          <a:solidFill>
            <a:srgbClr val="669900"/>
          </a:solidFill>
          <a:prstDash val="solid"/>
          <a:miter lim="800000"/>
        </a:ln>
        <a:effectLst/>
        <a:scene3d>
          <a:camera prst="orthographicFront"/>
          <a:lightRig rig="threePt" dir="t">
            <a:rot lat="0" lon="0" rev="7500000"/>
          </a:lightRig>
        </a:scene3d>
        <a:sp3d z="152400" extrusionH="63500" prstMaterial="dkEdge">
          <a:bevelT w="135400" h="16350" prst="relaxedInset"/>
          <a:contourClr>
            <a:schemeClr val="bg1"/>
          </a:contourClr>
        </a:sp3d>
      </dsp:spPr>
      <dsp:style>
        <a:lnRef idx="1">
          <a:scrgbClr r="0" g="0" b="0"/>
        </a:lnRef>
        <a:fillRef idx="1">
          <a:scrgbClr r="0" g="0" b="0"/>
        </a:fillRef>
        <a:effectRef idx="2">
          <a:scrgbClr r="0" g="0" b="0"/>
        </a:effectRef>
        <a:fontRef idx="minor"/>
      </dsp:style>
      <dsp:txBody>
        <a:bodyPr spcFirstLastPara="0" vert="horz" wrap="square" lIns="540904" tIns="312420" rIns="540904" bIns="142240" numCol="1" spcCol="1270" anchor="t" anchorCtr="0">
          <a:noAutofit/>
        </a:bodyPr>
        <a:lstStyle/>
        <a:p>
          <a:pPr marL="228600" lvl="1" indent="-228600" algn="l" defTabSz="889000">
            <a:lnSpc>
              <a:spcPct val="90000"/>
            </a:lnSpc>
            <a:spcBef>
              <a:spcPct val="0"/>
            </a:spcBef>
            <a:spcAft>
              <a:spcPct val="15000"/>
            </a:spcAft>
            <a:buChar char="•"/>
          </a:pPr>
          <a:r>
            <a:rPr lang="zh-TW" altLang="en-US" sz="2000" b="1" kern="1200" dirty="0">
              <a:latin typeface="微軟正黑體" panose="020B0604030504040204" pitchFamily="34" charset="-120"/>
              <a:ea typeface="微軟正黑體" panose="020B0604030504040204" pitchFamily="34" charset="-120"/>
            </a:rPr>
            <a:t>共識達成交易效力</a:t>
          </a:r>
        </a:p>
      </dsp:txBody>
      <dsp:txXfrm>
        <a:off x="0" y="1408513"/>
        <a:ext cx="6969418" cy="874125"/>
      </dsp:txXfrm>
    </dsp:sp>
    <dsp:sp modelId="{7800C96F-0B61-41FB-B7CE-FF09BAE3241E}">
      <dsp:nvSpPr>
        <dsp:cNvPr id="0" name=""/>
        <dsp:cNvSpPr/>
      </dsp:nvSpPr>
      <dsp:spPr>
        <a:xfrm>
          <a:off x="348470" y="1187114"/>
          <a:ext cx="4878592" cy="442800"/>
        </a:xfrm>
        <a:prstGeom prst="roundRect">
          <a:avLst/>
        </a:prstGeom>
        <a:solidFill>
          <a:srgbClr val="C6DBB7"/>
        </a:solidFill>
        <a:ln>
          <a:noFill/>
        </a:ln>
        <a:effectLst/>
        <a:scene3d>
          <a:camera prst="orthographicFront"/>
          <a:lightRig rig="threePt" dir="t">
            <a:rot lat="0" lon="0" rev="7500000"/>
          </a:lightRig>
        </a:scene3d>
        <a:sp3d prstMaterial="plastic"/>
      </dsp:spPr>
      <dsp:style>
        <a:lnRef idx="0">
          <a:scrgbClr r="0" g="0" b="0"/>
        </a:lnRef>
        <a:fillRef idx="3">
          <a:scrgbClr r="0" g="0" b="0"/>
        </a:fillRef>
        <a:effectRef idx="2">
          <a:scrgbClr r="0" g="0" b="0"/>
        </a:effectRef>
        <a:fontRef idx="minor">
          <a:schemeClr val="lt1"/>
        </a:fontRef>
      </dsp:style>
      <dsp:txBody>
        <a:bodyPr spcFirstLastPara="0" vert="horz" wrap="square" lIns="184399" tIns="0" rIns="184399" bIns="0" numCol="1" spcCol="1270" anchor="ctr" anchorCtr="0">
          <a:noAutofit/>
        </a:bodyPr>
        <a:lstStyle/>
        <a:p>
          <a:pPr marL="0" lvl="0" indent="0" algn="l" defTabSz="889000">
            <a:lnSpc>
              <a:spcPct val="90000"/>
            </a:lnSpc>
            <a:spcBef>
              <a:spcPct val="0"/>
            </a:spcBef>
            <a:spcAft>
              <a:spcPct val="35000"/>
            </a:spcAft>
            <a:buNone/>
          </a:pPr>
          <a:r>
            <a:rPr lang="zh-TW" altLang="en-US" sz="2000" b="1" kern="1200" dirty="0">
              <a:solidFill>
                <a:schemeClr val="tx1"/>
              </a:solidFill>
              <a:latin typeface="微軟正黑體" panose="020B0604030504040204" pitchFamily="34" charset="-120"/>
              <a:ea typeface="微軟正黑體" panose="020B0604030504040204" pitchFamily="34" charset="-120"/>
            </a:rPr>
            <a:t>效力</a:t>
          </a:r>
        </a:p>
      </dsp:txBody>
      <dsp:txXfrm>
        <a:off x="370086" y="1208730"/>
        <a:ext cx="4835360" cy="399568"/>
      </dsp:txXfrm>
    </dsp:sp>
    <dsp:sp modelId="{C867FA81-414D-4DD7-BAE0-EB37ED96BDF1}">
      <dsp:nvSpPr>
        <dsp:cNvPr id="0" name=""/>
        <dsp:cNvSpPr/>
      </dsp:nvSpPr>
      <dsp:spPr>
        <a:xfrm>
          <a:off x="0" y="2585039"/>
          <a:ext cx="6969418" cy="874125"/>
        </a:xfrm>
        <a:prstGeom prst="rect">
          <a:avLst/>
        </a:prstGeom>
        <a:solidFill>
          <a:schemeClr val="lt1">
            <a:alpha val="90000"/>
            <a:hueOff val="0"/>
            <a:satOff val="0"/>
            <a:lumOff val="0"/>
            <a:alphaOff val="0"/>
          </a:schemeClr>
        </a:solidFill>
        <a:ln w="6350" cap="flat" cmpd="sng" algn="ctr">
          <a:solidFill>
            <a:srgbClr val="05AF99"/>
          </a:solidFill>
          <a:prstDash val="solid"/>
          <a:miter lim="800000"/>
        </a:ln>
        <a:effectLst/>
        <a:scene3d>
          <a:camera prst="orthographicFront"/>
          <a:lightRig rig="threePt" dir="t">
            <a:rot lat="0" lon="0" rev="7500000"/>
          </a:lightRig>
        </a:scene3d>
        <a:sp3d z="152400" extrusionH="63500" prstMaterial="dkEdge">
          <a:bevelT w="135400" h="16350" prst="relaxedInset"/>
          <a:contourClr>
            <a:schemeClr val="bg1"/>
          </a:contourClr>
        </a:sp3d>
      </dsp:spPr>
      <dsp:style>
        <a:lnRef idx="1">
          <a:scrgbClr r="0" g="0" b="0"/>
        </a:lnRef>
        <a:fillRef idx="1">
          <a:scrgbClr r="0" g="0" b="0"/>
        </a:fillRef>
        <a:effectRef idx="2">
          <a:scrgbClr r="0" g="0" b="0"/>
        </a:effectRef>
        <a:fontRef idx="minor"/>
      </dsp:style>
      <dsp:txBody>
        <a:bodyPr spcFirstLastPara="0" vert="horz" wrap="square" lIns="540904" tIns="312420" rIns="540904" bIns="142240" numCol="1" spcCol="1270" anchor="t" anchorCtr="0">
          <a:noAutofit/>
        </a:bodyPr>
        <a:lstStyle/>
        <a:p>
          <a:pPr marL="228600" lvl="1" indent="-228600" algn="l" defTabSz="889000">
            <a:lnSpc>
              <a:spcPct val="90000"/>
            </a:lnSpc>
            <a:spcBef>
              <a:spcPct val="0"/>
            </a:spcBef>
            <a:spcAft>
              <a:spcPct val="15000"/>
            </a:spcAft>
            <a:buChar char="•"/>
          </a:pPr>
          <a:r>
            <a:rPr lang="zh-TW" altLang="en-US" sz="2000" b="1" kern="1200" dirty="0">
              <a:latin typeface="微軟正黑體" panose="020B0604030504040204" pitchFamily="34" charset="-120"/>
              <a:ea typeface="微軟正黑體" panose="020B0604030504040204" pitchFamily="34" charset="-120"/>
            </a:rPr>
            <a:t>網路資源共享</a:t>
          </a:r>
        </a:p>
      </dsp:txBody>
      <dsp:txXfrm>
        <a:off x="0" y="2585039"/>
        <a:ext cx="6969418" cy="874125"/>
      </dsp:txXfrm>
    </dsp:sp>
    <dsp:sp modelId="{77C08C14-9E75-48C2-98FD-760F6629A6E4}">
      <dsp:nvSpPr>
        <dsp:cNvPr id="0" name=""/>
        <dsp:cNvSpPr/>
      </dsp:nvSpPr>
      <dsp:spPr>
        <a:xfrm>
          <a:off x="348470" y="2363639"/>
          <a:ext cx="4878592" cy="442800"/>
        </a:xfrm>
        <a:prstGeom prst="roundRect">
          <a:avLst/>
        </a:prstGeom>
        <a:solidFill>
          <a:srgbClr val="B6E4E0"/>
        </a:solidFill>
        <a:ln>
          <a:noFill/>
        </a:ln>
        <a:effectLst/>
        <a:scene3d>
          <a:camera prst="orthographicFront"/>
          <a:lightRig rig="threePt" dir="t">
            <a:rot lat="0" lon="0" rev="7500000"/>
          </a:lightRig>
        </a:scene3d>
        <a:sp3d prstMaterial="plastic"/>
      </dsp:spPr>
      <dsp:style>
        <a:lnRef idx="0">
          <a:scrgbClr r="0" g="0" b="0"/>
        </a:lnRef>
        <a:fillRef idx="3">
          <a:scrgbClr r="0" g="0" b="0"/>
        </a:fillRef>
        <a:effectRef idx="2">
          <a:scrgbClr r="0" g="0" b="0"/>
        </a:effectRef>
        <a:fontRef idx="minor">
          <a:schemeClr val="lt1"/>
        </a:fontRef>
      </dsp:style>
      <dsp:txBody>
        <a:bodyPr spcFirstLastPara="0" vert="horz" wrap="square" lIns="184399" tIns="0" rIns="184399" bIns="0" numCol="1" spcCol="1270" anchor="ctr" anchorCtr="0">
          <a:noAutofit/>
        </a:bodyPr>
        <a:lstStyle/>
        <a:p>
          <a:pPr marL="0" lvl="0" indent="0" algn="l" defTabSz="889000">
            <a:lnSpc>
              <a:spcPct val="90000"/>
            </a:lnSpc>
            <a:spcBef>
              <a:spcPct val="0"/>
            </a:spcBef>
            <a:spcAft>
              <a:spcPct val="35000"/>
            </a:spcAft>
            <a:buNone/>
          </a:pPr>
          <a:r>
            <a:rPr lang="zh-TW" altLang="en-US" sz="2000" b="1" kern="1200" dirty="0">
              <a:solidFill>
                <a:schemeClr val="tx1"/>
              </a:solidFill>
              <a:latin typeface="微軟正黑體" panose="020B0604030504040204" pitchFamily="34" charset="-120"/>
              <a:ea typeface="微軟正黑體" panose="020B0604030504040204" pitchFamily="34" charset="-120"/>
            </a:rPr>
            <a:t>資源</a:t>
          </a:r>
        </a:p>
      </dsp:txBody>
      <dsp:txXfrm>
        <a:off x="370086" y="2385255"/>
        <a:ext cx="4835360" cy="399568"/>
      </dsp:txXfrm>
    </dsp:sp>
    <dsp:sp modelId="{3E5AE9BD-BD0B-48F0-A7E6-403C46DAE9FA}">
      <dsp:nvSpPr>
        <dsp:cNvPr id="0" name=""/>
        <dsp:cNvSpPr/>
      </dsp:nvSpPr>
      <dsp:spPr>
        <a:xfrm>
          <a:off x="0" y="3761564"/>
          <a:ext cx="6969418" cy="874125"/>
        </a:xfrm>
        <a:prstGeom prst="rect">
          <a:avLst/>
        </a:prstGeom>
        <a:solidFill>
          <a:schemeClr val="lt1">
            <a:alpha val="90000"/>
            <a:hueOff val="0"/>
            <a:satOff val="0"/>
            <a:lumOff val="0"/>
            <a:alphaOff val="0"/>
          </a:schemeClr>
        </a:solidFill>
        <a:ln w="6350" cap="flat" cmpd="sng" algn="ctr">
          <a:solidFill>
            <a:schemeClr val="accent5">
              <a:hueOff val="0"/>
              <a:satOff val="0"/>
              <a:lumOff val="0"/>
              <a:alphaOff val="0"/>
            </a:schemeClr>
          </a:solidFill>
          <a:prstDash val="solid"/>
          <a:miter lim="800000"/>
        </a:ln>
        <a:effectLst/>
        <a:scene3d>
          <a:camera prst="orthographicFront"/>
          <a:lightRig rig="threePt" dir="t">
            <a:rot lat="0" lon="0" rev="7500000"/>
          </a:lightRig>
        </a:scene3d>
        <a:sp3d z="152400" extrusionH="63500" prstMaterial="dkEdge">
          <a:bevelT w="135400" h="16350" prst="relaxedInset"/>
          <a:contourClr>
            <a:schemeClr val="bg1"/>
          </a:contourClr>
        </a:sp3d>
      </dsp:spPr>
      <dsp:style>
        <a:lnRef idx="1">
          <a:scrgbClr r="0" g="0" b="0"/>
        </a:lnRef>
        <a:fillRef idx="1">
          <a:scrgbClr r="0" g="0" b="0"/>
        </a:fillRef>
        <a:effectRef idx="2">
          <a:scrgbClr r="0" g="0" b="0"/>
        </a:effectRef>
        <a:fontRef idx="minor"/>
      </dsp:style>
      <dsp:txBody>
        <a:bodyPr spcFirstLastPara="0" vert="horz" wrap="square" lIns="540904" tIns="312420" rIns="540904" bIns="142240" numCol="1" spcCol="1270" anchor="t" anchorCtr="0">
          <a:noAutofit/>
        </a:bodyPr>
        <a:lstStyle/>
        <a:p>
          <a:pPr marL="228600" lvl="1" indent="-228600" algn="l" defTabSz="889000">
            <a:lnSpc>
              <a:spcPct val="90000"/>
            </a:lnSpc>
            <a:spcBef>
              <a:spcPct val="0"/>
            </a:spcBef>
            <a:spcAft>
              <a:spcPct val="15000"/>
            </a:spcAft>
            <a:buChar char="•"/>
          </a:pPr>
          <a:r>
            <a:rPr lang="zh-TW" altLang="en-US" sz="2000" b="1" kern="1200" dirty="0">
              <a:latin typeface="微軟正黑體" panose="020B0604030504040204" pitchFamily="34" charset="-120"/>
              <a:ea typeface="微軟正黑體" panose="020B0604030504040204" pitchFamily="34" charset="-120"/>
            </a:rPr>
            <a:t>預防駭客攻擊</a:t>
          </a:r>
        </a:p>
      </dsp:txBody>
      <dsp:txXfrm>
        <a:off x="0" y="3761564"/>
        <a:ext cx="6969418" cy="874125"/>
      </dsp:txXfrm>
    </dsp:sp>
    <dsp:sp modelId="{80E09157-F011-4A0D-A2D5-55F095FAA825}">
      <dsp:nvSpPr>
        <dsp:cNvPr id="0" name=""/>
        <dsp:cNvSpPr/>
      </dsp:nvSpPr>
      <dsp:spPr>
        <a:xfrm>
          <a:off x="348470" y="3540164"/>
          <a:ext cx="4878592" cy="442800"/>
        </a:xfrm>
        <a:prstGeom prst="roundRect">
          <a:avLst/>
        </a:prstGeom>
        <a:solidFill>
          <a:schemeClr val="accent1">
            <a:lumMod val="40000"/>
            <a:lumOff val="60000"/>
          </a:schemeClr>
        </a:solidFill>
        <a:ln>
          <a:noFill/>
        </a:ln>
        <a:effectLst/>
        <a:scene3d>
          <a:camera prst="orthographicFront"/>
          <a:lightRig rig="threePt" dir="t">
            <a:rot lat="0" lon="0" rev="7500000"/>
          </a:lightRig>
        </a:scene3d>
        <a:sp3d prstMaterial="plastic"/>
      </dsp:spPr>
      <dsp:style>
        <a:lnRef idx="0">
          <a:scrgbClr r="0" g="0" b="0"/>
        </a:lnRef>
        <a:fillRef idx="3">
          <a:scrgbClr r="0" g="0" b="0"/>
        </a:fillRef>
        <a:effectRef idx="2">
          <a:scrgbClr r="0" g="0" b="0"/>
        </a:effectRef>
        <a:fontRef idx="minor">
          <a:schemeClr val="lt1"/>
        </a:fontRef>
      </dsp:style>
      <dsp:txBody>
        <a:bodyPr spcFirstLastPara="0" vert="horz" wrap="square" lIns="184399" tIns="0" rIns="184399" bIns="0" numCol="1" spcCol="1270" anchor="ctr" anchorCtr="0">
          <a:noAutofit/>
        </a:bodyPr>
        <a:lstStyle/>
        <a:p>
          <a:pPr marL="0" lvl="0" indent="0" algn="l" defTabSz="889000">
            <a:lnSpc>
              <a:spcPct val="90000"/>
            </a:lnSpc>
            <a:spcBef>
              <a:spcPct val="0"/>
            </a:spcBef>
            <a:spcAft>
              <a:spcPct val="35000"/>
            </a:spcAft>
            <a:buNone/>
          </a:pPr>
          <a:r>
            <a:rPr lang="zh-TW" altLang="en-US" sz="2000" b="1" kern="1200" dirty="0">
              <a:solidFill>
                <a:schemeClr val="tx1"/>
              </a:solidFill>
              <a:latin typeface="微軟正黑體" panose="020B0604030504040204" pitchFamily="34" charset="-120"/>
              <a:ea typeface="微軟正黑體" panose="020B0604030504040204" pitchFamily="34" charset="-120"/>
            </a:rPr>
            <a:t>容錯</a:t>
          </a:r>
        </a:p>
      </dsp:txBody>
      <dsp:txXfrm>
        <a:off x="370086" y="3561780"/>
        <a:ext cx="4835360" cy="399568"/>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9A47638-7962-463F-B37E-093FF213572E}">
      <dsp:nvSpPr>
        <dsp:cNvPr id="0" name=""/>
        <dsp:cNvSpPr/>
      </dsp:nvSpPr>
      <dsp:spPr>
        <a:xfrm>
          <a:off x="930452" y="296016"/>
          <a:ext cx="4303256" cy="4303256"/>
        </a:xfrm>
        <a:prstGeom prst="circularArrow">
          <a:avLst>
            <a:gd name="adj1" fmla="val 4668"/>
            <a:gd name="adj2" fmla="val 272909"/>
            <a:gd name="adj3" fmla="val 14620802"/>
            <a:gd name="adj4" fmla="val 16923251"/>
            <a:gd name="adj5" fmla="val 4847"/>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E409F833-EA7F-4099-B026-C31BC8FA7BCA}">
      <dsp:nvSpPr>
        <dsp:cNvPr id="0" name=""/>
        <dsp:cNvSpPr/>
      </dsp:nvSpPr>
      <dsp:spPr>
        <a:xfrm>
          <a:off x="2421697" y="285979"/>
          <a:ext cx="1320766" cy="660383"/>
        </a:xfrm>
        <a:prstGeom prst="roundRect">
          <a:avLst/>
        </a:prstGeom>
        <a:solidFill>
          <a:srgbClr val="B6E4E0"/>
        </a:solidFill>
        <a:ln w="12700" cap="flat" cmpd="sng" algn="ctr">
          <a:solidFill>
            <a:schemeClr val="lt1">
              <a:hueOff val="0"/>
              <a:satOff val="0"/>
              <a:lumOff val="0"/>
              <a:alphaOff val="0"/>
            </a:schemeClr>
          </a:solidFill>
          <a:prstDash val="solid"/>
          <a:miter lim="800000"/>
        </a:ln>
        <a:effectLst/>
        <a:scene3d>
          <a:camera prst="orthographicFront"/>
          <a:lightRig rig="threePt" dir="t"/>
        </a:scene3d>
        <a:sp3d prstMaterial="fla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zh-TW" altLang="en-US" sz="2000" b="1" kern="1200" dirty="0">
              <a:solidFill>
                <a:schemeClr val="tx1"/>
              </a:solidFill>
              <a:latin typeface="微軟正黑體" panose="020B0604030504040204" pitchFamily="34" charset="-120"/>
              <a:ea typeface="微軟正黑體" panose="020B0604030504040204" pitchFamily="34" charset="-120"/>
            </a:rPr>
            <a:t>礦池</a:t>
          </a:r>
        </a:p>
      </dsp:txBody>
      <dsp:txXfrm>
        <a:off x="2453934" y="318216"/>
        <a:ext cx="1256292" cy="595909"/>
      </dsp:txXfrm>
    </dsp:sp>
    <dsp:sp modelId="{E9623234-6238-41EC-9926-059F93C1E1C0}">
      <dsp:nvSpPr>
        <dsp:cNvPr id="0" name=""/>
        <dsp:cNvSpPr/>
      </dsp:nvSpPr>
      <dsp:spPr>
        <a:xfrm>
          <a:off x="4456673" y="1961836"/>
          <a:ext cx="1320766" cy="660383"/>
        </a:xfrm>
        <a:prstGeom prst="roundRect">
          <a:avLst/>
        </a:prstGeom>
        <a:solidFill>
          <a:srgbClr val="FEE0DE"/>
        </a:solidFill>
        <a:ln w="12700" cap="flat" cmpd="sng" algn="ctr">
          <a:solidFill>
            <a:schemeClr val="lt1">
              <a:hueOff val="0"/>
              <a:satOff val="0"/>
              <a:lumOff val="0"/>
              <a:alphaOff val="0"/>
            </a:schemeClr>
          </a:solidFill>
          <a:prstDash val="solid"/>
          <a:miter lim="800000"/>
        </a:ln>
        <a:effectLst/>
        <a:scene3d>
          <a:camera prst="orthographicFront"/>
          <a:lightRig rig="threePt" dir="t"/>
        </a:scene3d>
        <a:sp3d prstMaterial="fla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zh-TW" altLang="en-US" sz="2000" b="1" kern="1200" dirty="0">
              <a:solidFill>
                <a:schemeClr val="tx1"/>
              </a:solidFill>
              <a:latin typeface="微軟正黑體" panose="020B0604030504040204" pitchFamily="34" charset="-120"/>
              <a:ea typeface="微軟正黑體" panose="020B0604030504040204" pitchFamily="34" charset="-120"/>
            </a:rPr>
            <a:t>裝置設備</a:t>
          </a:r>
        </a:p>
      </dsp:txBody>
      <dsp:txXfrm>
        <a:off x="4488910" y="1994073"/>
        <a:ext cx="1256292" cy="595909"/>
      </dsp:txXfrm>
    </dsp:sp>
    <dsp:sp modelId="{4DD83394-4F7B-4F74-AADE-B2AD17F7283E}">
      <dsp:nvSpPr>
        <dsp:cNvPr id="0" name=""/>
        <dsp:cNvSpPr/>
      </dsp:nvSpPr>
      <dsp:spPr>
        <a:xfrm>
          <a:off x="2403139" y="3804112"/>
          <a:ext cx="1320766" cy="660383"/>
        </a:xfrm>
        <a:prstGeom prst="roundRect">
          <a:avLst/>
        </a:prstGeom>
        <a:solidFill>
          <a:srgbClr val="F0F8D4"/>
        </a:solidFill>
        <a:ln w="12700" cap="flat" cmpd="sng" algn="ctr">
          <a:solidFill>
            <a:schemeClr val="lt1">
              <a:hueOff val="0"/>
              <a:satOff val="0"/>
              <a:lumOff val="0"/>
              <a:alphaOff val="0"/>
            </a:schemeClr>
          </a:solidFill>
          <a:prstDash val="solid"/>
          <a:miter lim="800000"/>
        </a:ln>
        <a:effectLst/>
        <a:scene3d>
          <a:camera prst="orthographicFront"/>
          <a:lightRig rig="threePt" dir="t"/>
        </a:scene3d>
        <a:sp3d prstMaterial="fla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zh-TW" altLang="en-US" sz="2000" b="1" kern="1200" dirty="0">
              <a:solidFill>
                <a:schemeClr val="tx1"/>
              </a:solidFill>
              <a:latin typeface="微軟正黑體" panose="020B0604030504040204" pitchFamily="34" charset="-120"/>
              <a:ea typeface="微軟正黑體" panose="020B0604030504040204" pitchFamily="34" charset="-120"/>
            </a:rPr>
            <a:t>技術</a:t>
          </a:r>
        </a:p>
      </dsp:txBody>
      <dsp:txXfrm>
        <a:off x="2435376" y="3836349"/>
        <a:ext cx="1256292" cy="595909"/>
      </dsp:txXfrm>
    </dsp:sp>
    <dsp:sp modelId="{F3286AEF-382A-48AE-88D2-96C09340F742}">
      <dsp:nvSpPr>
        <dsp:cNvPr id="0" name=""/>
        <dsp:cNvSpPr/>
      </dsp:nvSpPr>
      <dsp:spPr>
        <a:xfrm>
          <a:off x="446585" y="2021684"/>
          <a:ext cx="1320766" cy="660383"/>
        </a:xfrm>
        <a:prstGeom prst="roundRect">
          <a:avLst/>
        </a:prstGeom>
        <a:solidFill>
          <a:schemeClr val="accent1">
            <a:lumMod val="40000"/>
            <a:lumOff val="60000"/>
          </a:schemeClr>
        </a:solidFill>
        <a:ln w="12700" cap="flat" cmpd="sng" algn="ctr">
          <a:solidFill>
            <a:schemeClr val="lt1">
              <a:hueOff val="0"/>
              <a:satOff val="0"/>
              <a:lumOff val="0"/>
              <a:alphaOff val="0"/>
            </a:schemeClr>
          </a:solidFill>
          <a:prstDash val="solid"/>
          <a:miter lim="800000"/>
        </a:ln>
        <a:effectLst/>
        <a:scene3d>
          <a:camera prst="orthographicFront"/>
          <a:lightRig rig="threePt" dir="t"/>
        </a:scene3d>
        <a:sp3d prstMaterial="fla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zh-TW" altLang="en-US" sz="2000" b="1" kern="1200" dirty="0">
              <a:solidFill>
                <a:schemeClr val="tx1"/>
              </a:solidFill>
              <a:latin typeface="微軟正黑體" panose="020B0604030504040204" pitchFamily="34" charset="-120"/>
              <a:ea typeface="微軟正黑體" panose="020B0604030504040204" pitchFamily="34" charset="-120"/>
            </a:rPr>
            <a:t>礦物</a:t>
          </a:r>
        </a:p>
      </dsp:txBody>
      <dsp:txXfrm>
        <a:off x="478822" y="2053921"/>
        <a:ext cx="1256292" cy="595909"/>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ECA25DB-CF0A-46DA-A5F9-EEC9DFC8D78E}">
      <dsp:nvSpPr>
        <dsp:cNvPr id="0" name=""/>
        <dsp:cNvSpPr/>
      </dsp:nvSpPr>
      <dsp:spPr>
        <a:xfrm rot="5400000">
          <a:off x="-277042" y="280864"/>
          <a:ext cx="1846947" cy="1292863"/>
        </a:xfrm>
        <a:prstGeom prst="chevron">
          <a:avLst/>
        </a:prstGeom>
        <a:solidFill>
          <a:schemeClr val="accent2">
            <a:lumMod val="20000"/>
            <a:lumOff val="80000"/>
          </a:schemeClr>
        </a:solid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700" tIns="12700" rIns="12700" bIns="12700" numCol="1" spcCol="1270" anchor="ctr" anchorCtr="0">
          <a:noAutofit/>
        </a:bodyPr>
        <a:lstStyle/>
        <a:p>
          <a:pPr marL="0" lvl="0" indent="0" algn="ctr" defTabSz="889000">
            <a:lnSpc>
              <a:spcPct val="90000"/>
            </a:lnSpc>
            <a:spcBef>
              <a:spcPct val="0"/>
            </a:spcBef>
            <a:spcAft>
              <a:spcPct val="35000"/>
            </a:spcAft>
            <a:buNone/>
          </a:pPr>
          <a:r>
            <a:rPr lang="zh-TW" altLang="en-US" sz="2000" b="1" kern="1200" dirty="0">
              <a:solidFill>
                <a:schemeClr val="tx1"/>
              </a:solidFill>
              <a:latin typeface="微軟正黑體" panose="020B0604030504040204" pitchFamily="34" charset="-120"/>
              <a:ea typeface="微軟正黑體" panose="020B0604030504040204" pitchFamily="34" charset="-120"/>
            </a:rPr>
            <a:t>寫入資料的安全性</a:t>
          </a:r>
        </a:p>
      </dsp:txBody>
      <dsp:txXfrm rot="-5400000">
        <a:off x="1" y="650254"/>
        <a:ext cx="1292863" cy="554084"/>
      </dsp:txXfrm>
    </dsp:sp>
    <dsp:sp modelId="{0C1AA102-BC03-4300-9D0B-5400D352C357}">
      <dsp:nvSpPr>
        <dsp:cNvPr id="0" name=""/>
        <dsp:cNvSpPr/>
      </dsp:nvSpPr>
      <dsp:spPr>
        <a:xfrm rot="5400000">
          <a:off x="4534731" y="-3238045"/>
          <a:ext cx="1201147" cy="7684882"/>
        </a:xfrm>
        <a:prstGeom prst="round2SameRect">
          <a:avLst/>
        </a:prstGeom>
        <a:noFill/>
        <a:ln w="12700" cap="flat" cmpd="sng" algn="ctr">
          <a:solidFill>
            <a:schemeClr val="accent2"/>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42240" tIns="12700" rIns="12700" bIns="12700" numCol="1" spcCol="1270" anchor="ctr" anchorCtr="0">
          <a:noAutofit/>
        </a:bodyPr>
        <a:lstStyle/>
        <a:p>
          <a:pPr marL="228600" lvl="1" indent="-228600" algn="l" defTabSz="889000">
            <a:lnSpc>
              <a:spcPct val="90000"/>
            </a:lnSpc>
            <a:spcBef>
              <a:spcPct val="0"/>
            </a:spcBef>
            <a:spcAft>
              <a:spcPct val="15000"/>
            </a:spcAft>
            <a:buNone/>
          </a:pPr>
          <a:r>
            <a:rPr lang="zh-TW" altLang="en-US" sz="2000" b="1" kern="1200" dirty="0">
              <a:solidFill>
                <a:schemeClr val="tx1">
                  <a:lumMod val="75000"/>
                  <a:lumOff val="25000"/>
                </a:schemeClr>
              </a:solidFill>
              <a:latin typeface="微軟正黑體" panose="020B0604030504040204" pitchFamily="34" charset="-120"/>
              <a:ea typeface="微軟正黑體" panose="020B0604030504040204" pitchFamily="34" charset="-120"/>
            </a:rPr>
            <a:t>交易資料或紀錄在廣播後，必須符合多數決機制，在多數的節點都「確認」的情況下，交易資料或紀錄才能成立，被儲存至區塊</a:t>
          </a:r>
        </a:p>
      </dsp:txBody>
      <dsp:txXfrm rot="-5400000">
        <a:off x="1292864" y="62457"/>
        <a:ext cx="7626247" cy="1083877"/>
      </dsp:txXfrm>
    </dsp:sp>
    <dsp:sp modelId="{6CF1D92F-D8FB-4ED5-8E1C-DD40A01504DD}">
      <dsp:nvSpPr>
        <dsp:cNvPr id="0" name=""/>
        <dsp:cNvSpPr/>
      </dsp:nvSpPr>
      <dsp:spPr>
        <a:xfrm rot="5400000">
          <a:off x="-277042" y="1936273"/>
          <a:ext cx="1846947" cy="1292863"/>
        </a:xfrm>
        <a:prstGeom prst="chevron">
          <a:avLst/>
        </a:prstGeom>
        <a:solidFill>
          <a:srgbClr val="B6E4E0"/>
        </a:solid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700" tIns="12700" rIns="12700" bIns="12700" numCol="1" spcCol="1270" anchor="ctr" anchorCtr="0">
          <a:noAutofit/>
        </a:bodyPr>
        <a:lstStyle/>
        <a:p>
          <a:pPr marL="0" lvl="0" indent="0" algn="ctr" defTabSz="889000">
            <a:lnSpc>
              <a:spcPct val="90000"/>
            </a:lnSpc>
            <a:spcBef>
              <a:spcPct val="0"/>
            </a:spcBef>
            <a:spcAft>
              <a:spcPct val="35000"/>
            </a:spcAft>
            <a:buNone/>
          </a:pPr>
          <a:r>
            <a:rPr lang="zh-TW" altLang="en-US" sz="2000" b="1" kern="1200" dirty="0">
              <a:solidFill>
                <a:schemeClr val="tx1"/>
              </a:solidFill>
              <a:latin typeface="微軟正黑體" panose="020B0604030504040204" pitchFamily="34" charset="-120"/>
              <a:ea typeface="微軟正黑體" panose="020B0604030504040204" pitchFamily="34" charset="-120"/>
            </a:rPr>
            <a:t>讀取資料的安全性</a:t>
          </a:r>
        </a:p>
      </dsp:txBody>
      <dsp:txXfrm rot="-5400000">
        <a:off x="1" y="2305663"/>
        <a:ext cx="1292863" cy="554084"/>
      </dsp:txXfrm>
    </dsp:sp>
    <dsp:sp modelId="{4AC16054-A063-4085-862C-62085B83A2C8}">
      <dsp:nvSpPr>
        <dsp:cNvPr id="0" name=""/>
        <dsp:cNvSpPr/>
      </dsp:nvSpPr>
      <dsp:spPr>
        <a:xfrm rot="5400000">
          <a:off x="4535046" y="-1582951"/>
          <a:ext cx="1200515" cy="7684882"/>
        </a:xfrm>
        <a:prstGeom prst="round2SameRect">
          <a:avLst/>
        </a:prstGeom>
        <a:noFill/>
        <a:ln w="12700" cap="flat" cmpd="sng" algn="ctr">
          <a:solidFill>
            <a:srgbClr val="05AF99"/>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42240" tIns="12700" rIns="12700" bIns="12700" numCol="1" spcCol="1270" anchor="ctr" anchorCtr="0">
          <a:noAutofit/>
        </a:bodyPr>
        <a:lstStyle/>
        <a:p>
          <a:pPr marL="228600" lvl="1" indent="-228600" algn="l" defTabSz="889000">
            <a:lnSpc>
              <a:spcPct val="90000"/>
            </a:lnSpc>
            <a:spcBef>
              <a:spcPct val="0"/>
            </a:spcBef>
            <a:spcAft>
              <a:spcPct val="15000"/>
            </a:spcAft>
            <a:buFont typeface="Arial" panose="020B0604020202020204" pitchFamily="34" charset="0"/>
            <a:buChar char="•"/>
          </a:pPr>
          <a:r>
            <a:rPr lang="zh-TW" altLang="en-US" sz="2000" b="1" kern="1200" dirty="0">
              <a:solidFill>
                <a:schemeClr val="tx1">
                  <a:lumMod val="75000"/>
                  <a:lumOff val="25000"/>
                </a:schemeClr>
              </a:solidFill>
              <a:latin typeface="微軟正黑體" panose="020B0604030504040204" pitchFamily="34" charset="-120"/>
              <a:ea typeface="微軟正黑體" panose="020B0604030504040204" pitchFamily="34" charset="-120"/>
            </a:rPr>
            <a:t>在區塊鏈上的某些元素上加密，之後再把金鑰交給相關使用者</a:t>
          </a:r>
        </a:p>
        <a:p>
          <a:pPr marL="228600" lvl="1" indent="-228600" algn="l" defTabSz="889000">
            <a:lnSpc>
              <a:spcPct val="90000"/>
            </a:lnSpc>
            <a:spcBef>
              <a:spcPct val="0"/>
            </a:spcBef>
            <a:spcAft>
              <a:spcPct val="15000"/>
            </a:spcAft>
            <a:buFont typeface="Arial" panose="020B0604020202020204" pitchFamily="34" charset="0"/>
            <a:buChar char="•"/>
          </a:pPr>
          <a:r>
            <a:rPr lang="zh-TW" altLang="en-US" sz="2000" b="1" kern="1200" dirty="0">
              <a:solidFill>
                <a:schemeClr val="tx1">
                  <a:lumMod val="75000"/>
                  <a:lumOff val="25000"/>
                </a:schemeClr>
              </a:solidFill>
              <a:latin typeface="微軟正黑體" panose="020B0604030504040204" pitchFamily="34" charset="-120"/>
              <a:ea typeface="微軟正黑體" panose="020B0604030504040204" pitchFamily="34" charset="-120"/>
            </a:rPr>
            <a:t>透過多數決機制的複核</a:t>
          </a:r>
        </a:p>
      </dsp:txBody>
      <dsp:txXfrm rot="-5400000">
        <a:off x="1292863" y="1717836"/>
        <a:ext cx="7626278" cy="1083307"/>
      </dsp:txXfrm>
    </dsp:sp>
    <dsp:sp modelId="{97DD9C73-95E8-435A-B419-CE52396469C6}">
      <dsp:nvSpPr>
        <dsp:cNvPr id="0" name=""/>
        <dsp:cNvSpPr/>
      </dsp:nvSpPr>
      <dsp:spPr>
        <a:xfrm rot="5400000">
          <a:off x="-277042" y="3591683"/>
          <a:ext cx="1846947" cy="1292863"/>
        </a:xfrm>
        <a:prstGeom prst="chevron">
          <a:avLst/>
        </a:prstGeom>
        <a:solidFill>
          <a:srgbClr val="C6DBB7"/>
        </a:solid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700" tIns="12700" rIns="12700" bIns="12700" numCol="1" spcCol="1270" anchor="ctr" anchorCtr="0">
          <a:noAutofit/>
        </a:bodyPr>
        <a:lstStyle/>
        <a:p>
          <a:pPr marL="0" lvl="0" indent="0" algn="ctr" defTabSz="889000">
            <a:lnSpc>
              <a:spcPct val="90000"/>
            </a:lnSpc>
            <a:spcBef>
              <a:spcPct val="0"/>
            </a:spcBef>
            <a:spcAft>
              <a:spcPct val="35000"/>
            </a:spcAft>
            <a:buNone/>
          </a:pPr>
          <a:r>
            <a:rPr lang="zh-TW" altLang="en-US" sz="2000" b="1" kern="1200" dirty="0">
              <a:solidFill>
                <a:schemeClr val="tx1"/>
              </a:solidFill>
              <a:latin typeface="微軟正黑體" panose="020B0604030504040204" pitchFamily="34" charset="-120"/>
              <a:ea typeface="微軟正黑體" panose="020B0604030504040204" pitchFamily="34" charset="-120"/>
            </a:rPr>
            <a:t>分散式    阻斷服務（</a:t>
          </a:r>
          <a:r>
            <a:rPr lang="en-US" altLang="en-US" sz="2000" b="1" kern="1200" dirty="0">
              <a:solidFill>
                <a:schemeClr val="tx1"/>
              </a:solidFill>
              <a:latin typeface="微軟正黑體" panose="020B0604030504040204" pitchFamily="34" charset="-120"/>
              <a:ea typeface="微軟正黑體" panose="020B0604030504040204" pitchFamily="34" charset="-120"/>
            </a:rPr>
            <a:t>DDOS</a:t>
          </a:r>
          <a:r>
            <a:rPr lang="zh-TW" altLang="en-US" sz="2000" b="1" kern="1200" dirty="0">
              <a:solidFill>
                <a:schemeClr val="tx1"/>
              </a:solidFill>
              <a:latin typeface="微軟正黑體" panose="020B0604030504040204" pitchFamily="34" charset="-120"/>
              <a:ea typeface="微軟正黑體" panose="020B0604030504040204" pitchFamily="34" charset="-120"/>
            </a:rPr>
            <a:t>）</a:t>
          </a:r>
        </a:p>
      </dsp:txBody>
      <dsp:txXfrm rot="-5400000">
        <a:off x="1" y="3961073"/>
        <a:ext cx="1292863" cy="554084"/>
      </dsp:txXfrm>
    </dsp:sp>
    <dsp:sp modelId="{5D0B8787-0E7A-4C7B-8C58-58EEBBE556DB}">
      <dsp:nvSpPr>
        <dsp:cNvPr id="0" name=""/>
        <dsp:cNvSpPr/>
      </dsp:nvSpPr>
      <dsp:spPr>
        <a:xfrm rot="5400000">
          <a:off x="4535046" y="72457"/>
          <a:ext cx="1200515" cy="7684882"/>
        </a:xfrm>
        <a:prstGeom prst="round2SameRect">
          <a:avLst/>
        </a:prstGeom>
        <a:noFill/>
        <a:ln w="12700" cap="flat" cmpd="sng" algn="ctr">
          <a:solidFill>
            <a:srgbClr val="669900"/>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42240" tIns="12700" rIns="12700" bIns="12700" numCol="1" spcCol="1270" anchor="ctr" anchorCtr="0">
          <a:noAutofit/>
        </a:bodyPr>
        <a:lstStyle/>
        <a:p>
          <a:pPr marL="228600" lvl="1" indent="-228600" algn="l" defTabSz="889000">
            <a:lnSpc>
              <a:spcPct val="90000"/>
            </a:lnSpc>
            <a:spcBef>
              <a:spcPct val="0"/>
            </a:spcBef>
            <a:spcAft>
              <a:spcPct val="15000"/>
            </a:spcAft>
            <a:buNone/>
          </a:pPr>
          <a:r>
            <a:rPr lang="zh-TW" altLang="en-US" sz="2000" b="1" kern="1200" dirty="0">
              <a:solidFill>
                <a:schemeClr val="tx1">
                  <a:lumMod val="75000"/>
                  <a:lumOff val="25000"/>
                </a:schemeClr>
              </a:solidFill>
              <a:latin typeface="微軟正黑體" panose="020B0604030504040204" pitchFamily="34" charset="-120"/>
              <a:ea typeface="微軟正黑體" panose="020B0604030504040204" pitchFamily="34" charset="-120"/>
            </a:rPr>
            <a:t>利用網路上已被攻擊的節點作為對象，向某一特定目標節點進行「阻斷服務」要求，此將目標節點的網路資源或系統資源耗盡</a:t>
          </a:r>
        </a:p>
      </dsp:txBody>
      <dsp:txXfrm rot="-5400000">
        <a:off x="1292863" y="3373244"/>
        <a:ext cx="7626278" cy="1083307"/>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C2A76AA-77A8-4500-BFF8-42A9441DD426}">
      <dsp:nvSpPr>
        <dsp:cNvPr id="0" name=""/>
        <dsp:cNvSpPr/>
      </dsp:nvSpPr>
      <dsp:spPr>
        <a:xfrm>
          <a:off x="0" y="0"/>
          <a:ext cx="8977746" cy="0"/>
        </a:xfrm>
        <a:prstGeom prst="line">
          <a:avLst/>
        </a:prstGeom>
        <a:solidFill>
          <a:schemeClr val="accent1">
            <a:hueOff val="0"/>
            <a:satOff val="0"/>
            <a:lumOff val="0"/>
            <a:alphaOff val="0"/>
          </a:schemeClr>
        </a:solidFill>
        <a:ln w="12700" cap="flat" cmpd="sng" algn="ctr">
          <a:solidFill>
            <a:schemeClr val="accent2"/>
          </a:solidFill>
          <a:prstDash val="solid"/>
          <a:miter lim="800000"/>
        </a:ln>
        <a:effectLst/>
      </dsp:spPr>
      <dsp:style>
        <a:lnRef idx="2">
          <a:scrgbClr r="0" g="0" b="0"/>
        </a:lnRef>
        <a:fillRef idx="1">
          <a:scrgbClr r="0" g="0" b="0"/>
        </a:fillRef>
        <a:effectRef idx="0">
          <a:scrgbClr r="0" g="0" b="0"/>
        </a:effectRef>
        <a:fontRef idx="minor">
          <a:schemeClr val="lt1"/>
        </a:fontRef>
      </dsp:style>
    </dsp:sp>
    <dsp:sp modelId="{1C10CFB4-2061-4BC6-AF5B-17CA70F9D00B}">
      <dsp:nvSpPr>
        <dsp:cNvPr id="0" name=""/>
        <dsp:cNvSpPr/>
      </dsp:nvSpPr>
      <dsp:spPr>
        <a:xfrm>
          <a:off x="0" y="0"/>
          <a:ext cx="1795549" cy="2582705"/>
        </a:xfrm>
        <a:prstGeom prst="rect">
          <a:avLst/>
        </a:prstGeom>
        <a:solidFill>
          <a:schemeClr val="accent2">
            <a:lumMod val="20000"/>
            <a:lumOff val="80000"/>
          </a:schemeClr>
        </a:solidFill>
        <a:ln>
          <a:noFill/>
        </a:ln>
        <a:effectLst/>
      </dsp:spPr>
      <dsp:style>
        <a:lnRef idx="0">
          <a:scrgbClr r="0" g="0" b="0"/>
        </a:lnRef>
        <a:fillRef idx="0">
          <a:scrgbClr r="0" g="0" b="0"/>
        </a:fillRef>
        <a:effectRef idx="0">
          <a:scrgbClr r="0" g="0" b="0"/>
        </a:effectRef>
        <a:fontRef idx="minor"/>
      </dsp:style>
      <dsp:txBody>
        <a:bodyPr spcFirstLastPara="0" vert="horz" wrap="square" lIns="91440" tIns="91440" rIns="91440" bIns="91440" numCol="1" spcCol="1270" anchor="t" anchorCtr="0">
          <a:noAutofit/>
        </a:bodyPr>
        <a:lstStyle/>
        <a:p>
          <a:pPr marL="0" lvl="0" indent="0" algn="ctr" defTabSz="1066800">
            <a:lnSpc>
              <a:spcPct val="90000"/>
            </a:lnSpc>
            <a:spcBef>
              <a:spcPct val="0"/>
            </a:spcBef>
            <a:spcAft>
              <a:spcPct val="35000"/>
            </a:spcAft>
            <a:buNone/>
          </a:pPr>
          <a:endParaRPr lang="en-US" altLang="zh-TW" sz="2400" b="1" kern="1200" dirty="0">
            <a:solidFill>
              <a:schemeClr val="tx1"/>
            </a:solidFill>
            <a:latin typeface="微軟正黑體" panose="020B0604030504040204" pitchFamily="34" charset="-120"/>
            <a:ea typeface="微軟正黑體" panose="020B0604030504040204" pitchFamily="34" charset="-120"/>
          </a:endParaRPr>
        </a:p>
        <a:p>
          <a:pPr marL="0" lvl="0" indent="0" algn="ctr" defTabSz="1066800">
            <a:lnSpc>
              <a:spcPct val="90000"/>
            </a:lnSpc>
            <a:spcBef>
              <a:spcPct val="0"/>
            </a:spcBef>
            <a:spcAft>
              <a:spcPct val="35000"/>
            </a:spcAft>
            <a:buNone/>
          </a:pPr>
          <a:r>
            <a:rPr lang="zh-TW" altLang="en-US" sz="2000" b="1" kern="1200" dirty="0">
              <a:solidFill>
                <a:schemeClr val="tx1"/>
              </a:solidFill>
              <a:latin typeface="微軟正黑體" panose="020B0604030504040204" pitchFamily="34" charset="-120"/>
              <a:ea typeface="微軟正黑體" panose="020B0604030504040204" pitchFamily="34" charset="-120"/>
            </a:rPr>
            <a:t>網路公開           不設防</a:t>
          </a:r>
        </a:p>
      </dsp:txBody>
      <dsp:txXfrm>
        <a:off x="0" y="0"/>
        <a:ext cx="1795549" cy="2582705"/>
      </dsp:txXfrm>
    </dsp:sp>
    <dsp:sp modelId="{AEE28C55-79AD-49FA-BCF1-F369DB1F0C64}">
      <dsp:nvSpPr>
        <dsp:cNvPr id="0" name=""/>
        <dsp:cNvSpPr/>
      </dsp:nvSpPr>
      <dsp:spPr>
        <a:xfrm>
          <a:off x="1930215" y="191716"/>
          <a:ext cx="7047530" cy="120055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6200" tIns="76200" rIns="76200" bIns="76200" numCol="1" spcCol="1270" anchor="t" anchorCtr="0">
          <a:noAutofit/>
        </a:bodyPr>
        <a:lstStyle/>
        <a:p>
          <a:pPr marL="0" lvl="0" indent="0" algn="l" defTabSz="889000">
            <a:lnSpc>
              <a:spcPct val="90000"/>
            </a:lnSpc>
            <a:spcBef>
              <a:spcPct val="0"/>
            </a:spcBef>
            <a:spcAft>
              <a:spcPct val="35000"/>
            </a:spcAft>
            <a:buNone/>
          </a:pPr>
          <a:r>
            <a:rPr lang="zh-TW" altLang="en-US" sz="2000" b="1" kern="1200" dirty="0">
              <a:solidFill>
                <a:schemeClr val="tx1">
                  <a:lumMod val="75000"/>
                  <a:lumOff val="25000"/>
                </a:schemeClr>
              </a:solidFill>
              <a:latin typeface="微軟正黑體" panose="020B0604030504040204" pitchFamily="34" charset="-120"/>
              <a:ea typeface="微軟正黑體" panose="020B0604030504040204" pitchFamily="34" charset="-120"/>
            </a:rPr>
            <a:t>要求更高私密性的控制網路連接或身分的驗證</a:t>
          </a:r>
        </a:p>
      </dsp:txBody>
      <dsp:txXfrm>
        <a:off x="1930215" y="191716"/>
        <a:ext cx="7047530" cy="1200554"/>
      </dsp:txXfrm>
    </dsp:sp>
    <dsp:sp modelId="{C60337D0-9BAA-48C4-8187-B49E1BD0E466}">
      <dsp:nvSpPr>
        <dsp:cNvPr id="0" name=""/>
        <dsp:cNvSpPr/>
      </dsp:nvSpPr>
      <dsp:spPr>
        <a:xfrm>
          <a:off x="1795549" y="1126084"/>
          <a:ext cx="7182196" cy="0"/>
        </a:xfrm>
        <a:prstGeom prst="line">
          <a:avLst/>
        </a:prstGeom>
        <a:solidFill>
          <a:schemeClr val="accent1">
            <a:hueOff val="0"/>
            <a:satOff val="0"/>
            <a:lumOff val="0"/>
            <a:alphaOff val="0"/>
          </a:schemeClr>
        </a:solidFill>
        <a:ln w="12700" cap="flat" cmpd="sng" algn="ctr">
          <a:solidFill>
            <a:schemeClr val="accent2"/>
          </a:solidFill>
          <a:prstDash val="solid"/>
          <a:miter lim="800000"/>
        </a:ln>
        <a:effectLst/>
      </dsp:spPr>
      <dsp:style>
        <a:lnRef idx="2">
          <a:scrgbClr r="0" g="0" b="0"/>
        </a:lnRef>
        <a:fillRef idx="1">
          <a:scrgbClr r="0" g="0" b="0"/>
        </a:fillRef>
        <a:effectRef idx="0">
          <a:scrgbClr r="0" g="0" b="0"/>
        </a:effectRef>
        <a:fontRef idx="minor"/>
      </dsp:style>
    </dsp:sp>
    <dsp:sp modelId="{DEF5AF22-82A2-47AC-B3B4-4C1DCD7F4005}">
      <dsp:nvSpPr>
        <dsp:cNvPr id="0" name=""/>
        <dsp:cNvSpPr/>
      </dsp:nvSpPr>
      <dsp:spPr>
        <a:xfrm>
          <a:off x="1934796" y="1189257"/>
          <a:ext cx="6768377" cy="120055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6200" tIns="76200" rIns="76200" bIns="76200" numCol="1" spcCol="1270" anchor="t" anchorCtr="0">
          <a:noAutofit/>
        </a:bodyPr>
        <a:lstStyle/>
        <a:p>
          <a:pPr marL="0" lvl="0" indent="0" algn="l" defTabSz="889000">
            <a:lnSpc>
              <a:spcPct val="90000"/>
            </a:lnSpc>
            <a:spcBef>
              <a:spcPct val="0"/>
            </a:spcBef>
            <a:spcAft>
              <a:spcPct val="35000"/>
            </a:spcAft>
            <a:buNone/>
          </a:pPr>
          <a:r>
            <a:rPr lang="zh-TW" altLang="en-US" sz="2000" b="1" kern="1200" dirty="0">
              <a:solidFill>
                <a:schemeClr val="tx1">
                  <a:lumMod val="75000"/>
                  <a:lumOff val="25000"/>
                </a:schemeClr>
              </a:solidFill>
              <a:latin typeface="微軟正黑體" panose="020B0604030504040204" pitchFamily="34" charset="-120"/>
              <a:ea typeface="微軟正黑體" panose="020B0604030504040204" pitchFamily="34" charset="-120"/>
            </a:rPr>
            <a:t>對安全性較高的行業，採用專線接入區塊鏈網路或對接入的連接進行身分驗證別的防火牆安全防護，防止網路攻擊</a:t>
          </a:r>
        </a:p>
      </dsp:txBody>
      <dsp:txXfrm>
        <a:off x="1934796" y="1189257"/>
        <a:ext cx="6768377" cy="1200554"/>
      </dsp:txXfrm>
    </dsp:sp>
    <dsp:sp modelId="{5C616511-7A94-4E69-894D-2D7AE1FA3405}">
      <dsp:nvSpPr>
        <dsp:cNvPr id="0" name=""/>
        <dsp:cNvSpPr/>
      </dsp:nvSpPr>
      <dsp:spPr>
        <a:xfrm>
          <a:off x="1795549" y="2521164"/>
          <a:ext cx="7182196" cy="0"/>
        </a:xfrm>
        <a:prstGeom prst="line">
          <a:avLst/>
        </a:prstGeom>
        <a:solidFill>
          <a:schemeClr val="accent1">
            <a:hueOff val="0"/>
            <a:satOff val="0"/>
            <a:lumOff val="0"/>
            <a:alphaOff val="0"/>
          </a:schemeClr>
        </a:solidFill>
        <a:ln w="12700" cap="flat" cmpd="sng" algn="ctr">
          <a:solidFill>
            <a:schemeClr val="accent2"/>
          </a:solidFill>
          <a:prstDash val="solid"/>
          <a:miter lim="800000"/>
        </a:ln>
        <a:effectLst/>
      </dsp:spPr>
      <dsp:style>
        <a:lnRef idx="2">
          <a:scrgbClr r="0" g="0" b="0"/>
        </a:lnRef>
        <a:fillRef idx="1">
          <a:scrgbClr r="0" g="0" b="0"/>
        </a:fillRef>
        <a:effectRef idx="0">
          <a:scrgbClr r="0" g="0" b="0"/>
        </a:effectRef>
        <a:fontRef idx="minor"/>
      </dsp:style>
    </dsp:sp>
    <dsp:sp modelId="{3985DC8C-74B7-42AF-8FBA-90E54CB09BB3}">
      <dsp:nvSpPr>
        <dsp:cNvPr id="0" name=""/>
        <dsp:cNvSpPr/>
      </dsp:nvSpPr>
      <dsp:spPr>
        <a:xfrm>
          <a:off x="0" y="2582705"/>
          <a:ext cx="8977746" cy="0"/>
        </a:xfrm>
        <a:prstGeom prst="line">
          <a:avLst/>
        </a:prstGeom>
        <a:solidFill>
          <a:schemeClr val="accent1">
            <a:hueOff val="0"/>
            <a:satOff val="0"/>
            <a:lumOff val="0"/>
            <a:alphaOff val="0"/>
          </a:schemeClr>
        </a:solidFill>
        <a:ln w="12700" cap="flat" cmpd="sng" algn="ctr">
          <a:solidFill>
            <a:srgbClr val="05AF99"/>
          </a:solidFill>
          <a:prstDash val="solid"/>
          <a:miter lim="800000"/>
        </a:ln>
        <a:effectLst/>
      </dsp:spPr>
      <dsp:style>
        <a:lnRef idx="2">
          <a:scrgbClr r="0" g="0" b="0"/>
        </a:lnRef>
        <a:fillRef idx="1">
          <a:scrgbClr r="0" g="0" b="0"/>
        </a:fillRef>
        <a:effectRef idx="0">
          <a:scrgbClr r="0" g="0" b="0"/>
        </a:effectRef>
        <a:fontRef idx="minor">
          <a:schemeClr val="lt1"/>
        </a:fontRef>
      </dsp:style>
    </dsp:sp>
    <dsp:sp modelId="{00DAE8A8-4F68-4CE5-BCBC-CD097B0BEFB2}">
      <dsp:nvSpPr>
        <dsp:cNvPr id="0" name=""/>
        <dsp:cNvSpPr/>
      </dsp:nvSpPr>
      <dsp:spPr>
        <a:xfrm>
          <a:off x="0" y="2582705"/>
          <a:ext cx="1795549" cy="2582705"/>
        </a:xfrm>
        <a:prstGeom prst="rect">
          <a:avLst/>
        </a:prstGeom>
        <a:solidFill>
          <a:srgbClr val="B6E4E0"/>
        </a:solidFill>
        <a:ln>
          <a:noFill/>
        </a:ln>
        <a:effectLst/>
      </dsp:spPr>
      <dsp:style>
        <a:lnRef idx="0">
          <a:scrgbClr r="0" g="0" b="0"/>
        </a:lnRef>
        <a:fillRef idx="0">
          <a:scrgbClr r="0" g="0" b="0"/>
        </a:fillRef>
        <a:effectRef idx="0">
          <a:scrgbClr r="0" g="0" b="0"/>
        </a:effectRef>
        <a:fontRef idx="minor"/>
      </dsp:style>
      <dsp:txBody>
        <a:bodyPr spcFirstLastPara="0" vert="horz" wrap="square" lIns="76200" tIns="76200" rIns="76200" bIns="76200" numCol="1" spcCol="1270" anchor="t" anchorCtr="0">
          <a:noAutofit/>
        </a:bodyPr>
        <a:lstStyle/>
        <a:p>
          <a:pPr marL="0" lvl="0" indent="0" algn="ctr" defTabSz="889000">
            <a:lnSpc>
              <a:spcPct val="90000"/>
            </a:lnSpc>
            <a:spcBef>
              <a:spcPct val="0"/>
            </a:spcBef>
            <a:spcAft>
              <a:spcPct val="35000"/>
            </a:spcAft>
            <a:buNone/>
          </a:pPr>
          <a:endParaRPr lang="en-US" altLang="zh-TW" sz="2000" b="1" kern="1200" dirty="0">
            <a:solidFill>
              <a:schemeClr val="tx1"/>
            </a:solidFill>
            <a:latin typeface="微軟正黑體" panose="020B0604030504040204" pitchFamily="34" charset="-120"/>
            <a:ea typeface="微軟正黑體" panose="020B0604030504040204" pitchFamily="34" charset="-120"/>
          </a:endParaRPr>
        </a:p>
        <a:p>
          <a:pPr marL="0" lvl="0" indent="0" algn="ctr" defTabSz="889000">
            <a:lnSpc>
              <a:spcPct val="90000"/>
            </a:lnSpc>
            <a:spcBef>
              <a:spcPct val="0"/>
            </a:spcBef>
            <a:spcAft>
              <a:spcPct val="35000"/>
            </a:spcAft>
            <a:buNone/>
          </a:pPr>
          <a:endParaRPr lang="en-US" altLang="zh-TW" sz="1400" b="1" kern="1200" dirty="0">
            <a:solidFill>
              <a:schemeClr val="tx1"/>
            </a:solidFill>
            <a:latin typeface="微軟正黑體" panose="020B0604030504040204" pitchFamily="34" charset="-120"/>
            <a:ea typeface="微軟正黑體" panose="020B0604030504040204" pitchFamily="34" charset="-120"/>
          </a:endParaRPr>
        </a:p>
        <a:p>
          <a:pPr marL="0" lvl="0" indent="0" algn="ctr" defTabSz="889000">
            <a:lnSpc>
              <a:spcPct val="90000"/>
            </a:lnSpc>
            <a:spcBef>
              <a:spcPct val="0"/>
            </a:spcBef>
            <a:spcAft>
              <a:spcPct val="35000"/>
            </a:spcAft>
            <a:buNone/>
          </a:pPr>
          <a:r>
            <a:rPr lang="zh-TW" altLang="en-US" sz="2000" b="1" kern="1200" dirty="0">
              <a:solidFill>
                <a:schemeClr val="tx1"/>
              </a:solidFill>
              <a:latin typeface="微軟正黑體" panose="020B0604030504040204" pitchFamily="34" charset="-120"/>
              <a:ea typeface="微軟正黑體" panose="020B0604030504040204" pitchFamily="34" charset="-120"/>
            </a:rPr>
            <a:t>計算能力</a:t>
          </a:r>
        </a:p>
      </dsp:txBody>
      <dsp:txXfrm>
        <a:off x="0" y="2582705"/>
        <a:ext cx="1795549" cy="2582705"/>
      </dsp:txXfrm>
    </dsp:sp>
    <dsp:sp modelId="{BBA5FC09-A286-4258-9EEC-4DF9E5383102}">
      <dsp:nvSpPr>
        <dsp:cNvPr id="0" name=""/>
        <dsp:cNvSpPr/>
      </dsp:nvSpPr>
      <dsp:spPr>
        <a:xfrm>
          <a:off x="1879332" y="2819789"/>
          <a:ext cx="7047530" cy="234562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6200" tIns="76200" rIns="76200" bIns="76200" numCol="1" spcCol="1270" anchor="t" anchorCtr="0">
          <a:noAutofit/>
        </a:bodyPr>
        <a:lstStyle/>
        <a:p>
          <a:pPr marL="0" lvl="0" indent="0" algn="l" defTabSz="889000">
            <a:lnSpc>
              <a:spcPct val="90000"/>
            </a:lnSpc>
            <a:spcBef>
              <a:spcPct val="0"/>
            </a:spcBef>
            <a:spcAft>
              <a:spcPct val="35000"/>
            </a:spcAft>
            <a:buFont typeface="Arial" panose="020B0604020202020204" pitchFamily="34" charset="0"/>
            <a:buNone/>
          </a:pPr>
          <a:r>
            <a:rPr lang="zh-TW" altLang="en-US" sz="2000" b="1" kern="1200" dirty="0">
              <a:solidFill>
                <a:schemeClr val="tx1">
                  <a:lumMod val="75000"/>
                  <a:lumOff val="25000"/>
                </a:schemeClr>
              </a:solidFill>
              <a:latin typeface="微軟正黑體" panose="020B0604030504040204" pitchFamily="34" charset="-120"/>
              <a:ea typeface="微軟正黑體" panose="020B0604030504040204" pitchFamily="34" charset="-120"/>
            </a:rPr>
            <a:t>採用演算法和現實約束相結合的方式，例如資產抵押、法律和監管手段等方式，進行聯合管控機制，據以避免受到計算能力的攻擊透過多數決機制的複核</a:t>
          </a:r>
        </a:p>
      </dsp:txBody>
      <dsp:txXfrm>
        <a:off x="1879332" y="2819789"/>
        <a:ext cx="7047530" cy="2345621"/>
      </dsp:txXfrm>
    </dsp:sp>
    <dsp:sp modelId="{6FFF8FF2-A4B2-4E99-A357-943CAE7DE257}">
      <dsp:nvSpPr>
        <dsp:cNvPr id="0" name=""/>
        <dsp:cNvSpPr/>
      </dsp:nvSpPr>
      <dsp:spPr>
        <a:xfrm>
          <a:off x="1795549" y="5045607"/>
          <a:ext cx="7182196" cy="0"/>
        </a:xfrm>
        <a:prstGeom prst="line">
          <a:avLst/>
        </a:prstGeom>
        <a:solidFill>
          <a:schemeClr val="accent1">
            <a:hueOff val="0"/>
            <a:satOff val="0"/>
            <a:lumOff val="0"/>
            <a:alphaOff val="0"/>
          </a:schemeClr>
        </a:solidFill>
        <a:ln w="12700" cap="flat" cmpd="sng" algn="ctr">
          <a:solidFill>
            <a:srgbClr val="05AF99"/>
          </a:solidFill>
          <a:prstDash val="solid"/>
          <a:miter lim="800000"/>
        </a:ln>
        <a:effectLst/>
      </dsp:spPr>
      <dsp:style>
        <a:lnRef idx="2">
          <a:scrgbClr r="0" g="0" b="0"/>
        </a:lnRef>
        <a:fillRef idx="1">
          <a:scrgbClr r="0" g="0" b="0"/>
        </a:fillRef>
        <a:effectRef idx="0">
          <a:scrgbClr r="0" g="0" b="0"/>
        </a:effectRef>
        <a:fontRef idx="minor"/>
      </dsp:style>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C2A76AA-77A8-4500-BFF8-42A9441DD426}">
      <dsp:nvSpPr>
        <dsp:cNvPr id="0" name=""/>
        <dsp:cNvSpPr/>
      </dsp:nvSpPr>
      <dsp:spPr>
        <a:xfrm>
          <a:off x="0" y="1998"/>
          <a:ext cx="8962791" cy="0"/>
        </a:xfrm>
        <a:prstGeom prst="line">
          <a:avLst/>
        </a:prstGeom>
        <a:solidFill>
          <a:schemeClr val="accent1">
            <a:hueOff val="0"/>
            <a:satOff val="0"/>
            <a:lumOff val="0"/>
            <a:alphaOff val="0"/>
          </a:schemeClr>
        </a:solidFill>
        <a:ln w="12700" cap="flat" cmpd="sng" algn="ctr">
          <a:solidFill>
            <a:schemeClr val="accent2"/>
          </a:solidFill>
          <a:prstDash val="solid"/>
          <a:miter lim="800000"/>
        </a:ln>
        <a:effectLst/>
      </dsp:spPr>
      <dsp:style>
        <a:lnRef idx="2">
          <a:scrgbClr r="0" g="0" b="0"/>
        </a:lnRef>
        <a:fillRef idx="1">
          <a:scrgbClr r="0" g="0" b="0"/>
        </a:fillRef>
        <a:effectRef idx="0">
          <a:scrgbClr r="0" g="0" b="0"/>
        </a:effectRef>
        <a:fontRef idx="minor">
          <a:schemeClr val="lt1"/>
        </a:fontRef>
      </dsp:style>
    </dsp:sp>
    <dsp:sp modelId="{1C10CFB4-2061-4BC6-AF5B-17CA70F9D00B}">
      <dsp:nvSpPr>
        <dsp:cNvPr id="0" name=""/>
        <dsp:cNvSpPr/>
      </dsp:nvSpPr>
      <dsp:spPr>
        <a:xfrm>
          <a:off x="0" y="1998"/>
          <a:ext cx="1792558" cy="4089602"/>
        </a:xfrm>
        <a:prstGeom prst="rect">
          <a:avLst/>
        </a:prstGeom>
        <a:solidFill>
          <a:srgbClr val="C6DBB7"/>
        </a:solidFill>
        <a:ln>
          <a:noFill/>
        </a:ln>
        <a:effectLst/>
      </dsp:spPr>
      <dsp:style>
        <a:lnRef idx="0">
          <a:scrgbClr r="0" g="0" b="0"/>
        </a:lnRef>
        <a:fillRef idx="0">
          <a:scrgbClr r="0" g="0" b="0"/>
        </a:fillRef>
        <a:effectRef idx="0">
          <a:scrgbClr r="0" g="0" b="0"/>
        </a:effectRef>
        <a:fontRef idx="minor"/>
      </dsp:style>
      <dsp:txBody>
        <a:bodyPr spcFirstLastPara="0" vert="horz" wrap="square" lIns="45720" tIns="45720" rIns="45720" bIns="45720" numCol="1" spcCol="1270" anchor="t" anchorCtr="0">
          <a:noAutofit/>
        </a:bodyPr>
        <a:lstStyle/>
        <a:p>
          <a:pPr marL="0" lvl="0" indent="0" algn="ctr" defTabSz="533400">
            <a:lnSpc>
              <a:spcPct val="90000"/>
            </a:lnSpc>
            <a:spcBef>
              <a:spcPct val="0"/>
            </a:spcBef>
            <a:spcAft>
              <a:spcPct val="35000"/>
            </a:spcAft>
            <a:buNone/>
          </a:pPr>
          <a:endParaRPr lang="en-US" altLang="zh-TW" sz="1200" b="1" kern="1200" dirty="0">
            <a:solidFill>
              <a:schemeClr val="tx1"/>
            </a:solidFill>
            <a:latin typeface="微軟正黑體" panose="020B0604030504040204" pitchFamily="34" charset="-120"/>
            <a:ea typeface="微軟正黑體" panose="020B0604030504040204" pitchFamily="34" charset="-120"/>
          </a:endParaRPr>
        </a:p>
        <a:p>
          <a:pPr marL="0" lvl="0" indent="0" algn="ctr" defTabSz="533400">
            <a:lnSpc>
              <a:spcPct val="90000"/>
            </a:lnSpc>
            <a:spcBef>
              <a:spcPct val="0"/>
            </a:spcBef>
            <a:spcAft>
              <a:spcPct val="35000"/>
            </a:spcAft>
            <a:buNone/>
          </a:pPr>
          <a:endParaRPr lang="en-US" altLang="zh-TW" sz="1200" b="1" kern="1200" dirty="0">
            <a:solidFill>
              <a:schemeClr val="tx1"/>
            </a:solidFill>
            <a:latin typeface="微軟正黑體" panose="020B0604030504040204" pitchFamily="34" charset="-120"/>
            <a:ea typeface="微軟正黑體" panose="020B0604030504040204" pitchFamily="34" charset="-120"/>
          </a:endParaRPr>
        </a:p>
        <a:p>
          <a:pPr marL="0" lvl="0" indent="0" algn="ctr" defTabSz="533400">
            <a:lnSpc>
              <a:spcPct val="90000"/>
            </a:lnSpc>
            <a:spcBef>
              <a:spcPct val="0"/>
            </a:spcBef>
            <a:spcAft>
              <a:spcPct val="35000"/>
            </a:spcAft>
            <a:buNone/>
          </a:pPr>
          <a:endParaRPr lang="en-US" altLang="zh-TW" sz="1200" b="1" kern="1200" dirty="0">
            <a:solidFill>
              <a:schemeClr val="tx1"/>
            </a:solidFill>
            <a:latin typeface="微軟正黑體" panose="020B0604030504040204" pitchFamily="34" charset="-120"/>
            <a:ea typeface="微軟正黑體" panose="020B0604030504040204" pitchFamily="34" charset="-120"/>
          </a:endParaRPr>
        </a:p>
        <a:p>
          <a:pPr marL="0" lvl="0" indent="0" algn="ctr" defTabSz="533400">
            <a:lnSpc>
              <a:spcPct val="90000"/>
            </a:lnSpc>
            <a:spcBef>
              <a:spcPct val="0"/>
            </a:spcBef>
            <a:spcAft>
              <a:spcPct val="35000"/>
            </a:spcAft>
            <a:buNone/>
          </a:pPr>
          <a:endParaRPr lang="en-US" altLang="zh-TW" sz="1200" b="1" kern="1200" dirty="0">
            <a:solidFill>
              <a:schemeClr val="tx1"/>
            </a:solidFill>
            <a:latin typeface="微軟正黑體" panose="020B0604030504040204" pitchFamily="34" charset="-120"/>
            <a:ea typeface="微軟正黑體" panose="020B0604030504040204" pitchFamily="34" charset="-120"/>
          </a:endParaRPr>
        </a:p>
        <a:p>
          <a:pPr marL="0" lvl="0" indent="0" algn="ctr" defTabSz="533400">
            <a:lnSpc>
              <a:spcPct val="90000"/>
            </a:lnSpc>
            <a:spcBef>
              <a:spcPct val="0"/>
            </a:spcBef>
            <a:spcAft>
              <a:spcPct val="35000"/>
            </a:spcAft>
            <a:buNone/>
          </a:pPr>
          <a:endParaRPr lang="en-US" altLang="zh-TW" sz="1200" b="1" kern="1200" dirty="0">
            <a:solidFill>
              <a:schemeClr val="tx1"/>
            </a:solidFill>
            <a:latin typeface="微軟正黑體" panose="020B0604030504040204" pitchFamily="34" charset="-120"/>
            <a:ea typeface="微軟正黑體" panose="020B0604030504040204" pitchFamily="34" charset="-120"/>
          </a:endParaRPr>
        </a:p>
        <a:p>
          <a:pPr marL="0" lvl="0" indent="0" algn="ctr" defTabSz="533400">
            <a:lnSpc>
              <a:spcPct val="90000"/>
            </a:lnSpc>
            <a:spcBef>
              <a:spcPct val="0"/>
            </a:spcBef>
            <a:spcAft>
              <a:spcPct val="35000"/>
            </a:spcAft>
            <a:buNone/>
          </a:pPr>
          <a:r>
            <a:rPr lang="zh-TW" altLang="en-US" sz="2000" b="1" kern="1200" dirty="0">
              <a:solidFill>
                <a:schemeClr val="tx1"/>
              </a:solidFill>
              <a:latin typeface="微軟正黑體" panose="020B0604030504040204" pitchFamily="34" charset="-120"/>
              <a:ea typeface="微軟正黑體" panose="020B0604030504040204" pitchFamily="34" charset="-120"/>
            </a:rPr>
            <a:t>隱私</a:t>
          </a:r>
          <a:endParaRPr lang="en-US" altLang="zh-TW" sz="2400" b="1" kern="1200" dirty="0">
            <a:solidFill>
              <a:schemeClr val="tx1"/>
            </a:solidFill>
            <a:latin typeface="微軟正黑體" panose="020B0604030504040204" pitchFamily="34" charset="-120"/>
            <a:ea typeface="微軟正黑體" panose="020B0604030504040204" pitchFamily="34" charset="-120"/>
          </a:endParaRPr>
        </a:p>
      </dsp:txBody>
      <dsp:txXfrm>
        <a:off x="0" y="1998"/>
        <a:ext cx="1792558" cy="4089602"/>
      </dsp:txXfrm>
    </dsp:sp>
    <dsp:sp modelId="{EF6CC3B1-AF55-4632-93A8-356DD47B4066}">
      <dsp:nvSpPr>
        <dsp:cNvPr id="0" name=""/>
        <dsp:cNvSpPr/>
      </dsp:nvSpPr>
      <dsp:spPr>
        <a:xfrm>
          <a:off x="1866984" y="10504"/>
          <a:ext cx="7035790" cy="91257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6200" tIns="76200" rIns="76200" bIns="76200" numCol="1" spcCol="1270" anchor="t" anchorCtr="0">
          <a:noAutofit/>
        </a:bodyPr>
        <a:lstStyle/>
        <a:p>
          <a:pPr marL="0" lvl="0" indent="0" algn="l" defTabSz="889000">
            <a:lnSpc>
              <a:spcPct val="90000"/>
            </a:lnSpc>
            <a:spcBef>
              <a:spcPct val="0"/>
            </a:spcBef>
            <a:spcAft>
              <a:spcPct val="35000"/>
            </a:spcAft>
            <a:buNone/>
          </a:pPr>
          <a:r>
            <a:rPr lang="zh-TW" altLang="zh-TW" sz="2000" b="1" kern="1200" dirty="0">
              <a:solidFill>
                <a:schemeClr val="tx1"/>
              </a:solidFill>
              <a:latin typeface="微軟正黑體" panose="020B0604030504040204" pitchFamily="34" charset="-120"/>
              <a:ea typeface="微軟正黑體" panose="020B0604030504040204" pitchFamily="34" charset="-120"/>
            </a:rPr>
            <a:t>加強由認證機構代理使用者在區塊鏈上進行交易，使用者資料和個人行為不進入區塊鏈</a:t>
          </a:r>
          <a:endParaRPr lang="en-US" altLang="zh-TW" sz="2000" b="1" kern="1200" dirty="0">
            <a:solidFill>
              <a:schemeClr val="tx1"/>
            </a:solidFill>
            <a:latin typeface="微軟正黑體" panose="020B0604030504040204" pitchFamily="34" charset="-120"/>
            <a:ea typeface="微軟正黑體" panose="020B0604030504040204" pitchFamily="34" charset="-120"/>
          </a:endParaRPr>
        </a:p>
      </dsp:txBody>
      <dsp:txXfrm>
        <a:off x="1866984" y="10504"/>
        <a:ext cx="7035790" cy="912572"/>
      </dsp:txXfrm>
    </dsp:sp>
    <dsp:sp modelId="{2F6ED430-AD0A-4078-8E04-ACF804F5FCD3}">
      <dsp:nvSpPr>
        <dsp:cNvPr id="0" name=""/>
        <dsp:cNvSpPr/>
      </dsp:nvSpPr>
      <dsp:spPr>
        <a:xfrm>
          <a:off x="1792558" y="960199"/>
          <a:ext cx="7170232" cy="0"/>
        </a:xfrm>
        <a:prstGeom prst="line">
          <a:avLst/>
        </a:prstGeom>
        <a:solidFill>
          <a:schemeClr val="accent1">
            <a:hueOff val="0"/>
            <a:satOff val="0"/>
            <a:lumOff val="0"/>
            <a:alphaOff val="0"/>
          </a:schemeClr>
        </a:solidFill>
        <a:ln w="12700" cap="flat" cmpd="sng" algn="ctr">
          <a:solidFill>
            <a:schemeClr val="accent1">
              <a:tint val="5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A536639A-F117-47CF-85C0-A60BF689FF90}">
      <dsp:nvSpPr>
        <dsp:cNvPr id="0" name=""/>
        <dsp:cNvSpPr/>
      </dsp:nvSpPr>
      <dsp:spPr>
        <a:xfrm>
          <a:off x="1866984" y="973432"/>
          <a:ext cx="7035790" cy="91257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6200" tIns="76200" rIns="76200" bIns="76200" numCol="1" spcCol="1270" anchor="t" anchorCtr="0">
          <a:noAutofit/>
        </a:bodyPr>
        <a:lstStyle/>
        <a:p>
          <a:pPr marL="0" lvl="0" indent="0" algn="l" defTabSz="889000">
            <a:lnSpc>
              <a:spcPct val="90000"/>
            </a:lnSpc>
            <a:spcBef>
              <a:spcPct val="0"/>
            </a:spcBef>
            <a:spcAft>
              <a:spcPct val="35000"/>
            </a:spcAft>
            <a:buNone/>
          </a:pPr>
          <a:r>
            <a:rPr lang="zh-TW" altLang="zh-TW" sz="2000" b="1" kern="1200" dirty="0">
              <a:solidFill>
                <a:schemeClr val="tx1"/>
              </a:solidFill>
              <a:latin typeface="微軟正黑體" panose="020B0604030504040204" pitchFamily="34" charset="-120"/>
              <a:ea typeface="微軟正黑體" panose="020B0604030504040204" pitchFamily="34" charset="-120"/>
            </a:rPr>
            <a:t>不採用全區塊鏈的網路廣播方式，而是將交易資訊的傳輸限制在正在進行相關交易的節點之間</a:t>
          </a:r>
          <a:endParaRPr lang="en-US" altLang="zh-TW" sz="2000" b="1" kern="1200" dirty="0">
            <a:solidFill>
              <a:schemeClr val="tx1"/>
            </a:solidFill>
            <a:latin typeface="微軟正黑體" panose="020B0604030504040204" pitchFamily="34" charset="-120"/>
            <a:ea typeface="微軟正黑體" panose="020B0604030504040204" pitchFamily="34" charset="-120"/>
          </a:endParaRPr>
        </a:p>
      </dsp:txBody>
      <dsp:txXfrm>
        <a:off x="1866984" y="973432"/>
        <a:ext cx="7035790" cy="912572"/>
      </dsp:txXfrm>
    </dsp:sp>
    <dsp:sp modelId="{ADFEE3C0-6772-473C-8786-985416D64A4B}">
      <dsp:nvSpPr>
        <dsp:cNvPr id="0" name=""/>
        <dsp:cNvSpPr/>
      </dsp:nvSpPr>
      <dsp:spPr>
        <a:xfrm>
          <a:off x="1792558" y="1988608"/>
          <a:ext cx="7170232" cy="0"/>
        </a:xfrm>
        <a:prstGeom prst="line">
          <a:avLst/>
        </a:prstGeom>
        <a:solidFill>
          <a:schemeClr val="accent1">
            <a:hueOff val="0"/>
            <a:satOff val="0"/>
            <a:lumOff val="0"/>
            <a:alphaOff val="0"/>
          </a:schemeClr>
        </a:solidFill>
        <a:ln w="12700" cap="flat" cmpd="sng" algn="ctr">
          <a:solidFill>
            <a:schemeClr val="accent1">
              <a:tint val="5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833470F3-02ED-4639-A186-CBC6556B1314}">
      <dsp:nvSpPr>
        <dsp:cNvPr id="0" name=""/>
        <dsp:cNvSpPr/>
      </dsp:nvSpPr>
      <dsp:spPr>
        <a:xfrm>
          <a:off x="1927000" y="1964029"/>
          <a:ext cx="7035790" cy="91257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6200" tIns="76200" rIns="76200" bIns="76200" numCol="1" spcCol="1270" anchor="t" anchorCtr="0">
          <a:noAutofit/>
        </a:bodyPr>
        <a:lstStyle/>
        <a:p>
          <a:pPr marL="0" lvl="0" indent="0" algn="l" defTabSz="889000">
            <a:lnSpc>
              <a:spcPct val="90000"/>
            </a:lnSpc>
            <a:spcBef>
              <a:spcPct val="0"/>
            </a:spcBef>
            <a:spcAft>
              <a:spcPct val="35000"/>
            </a:spcAft>
            <a:buNone/>
          </a:pPr>
          <a:r>
            <a:rPr lang="zh-TW" altLang="zh-TW" sz="2000" b="1" kern="1200" dirty="0">
              <a:solidFill>
                <a:schemeClr val="tx1"/>
              </a:solidFill>
              <a:latin typeface="微軟正黑體" panose="020B0604030504040204" pitchFamily="34" charset="-120"/>
              <a:ea typeface="微軟正黑體" panose="020B0604030504040204" pitchFamily="34" charset="-120"/>
            </a:rPr>
            <a:t>對用戶資料的訪問採用許可權控制</a:t>
          </a:r>
          <a:endParaRPr lang="en-US" altLang="zh-TW" sz="2000" b="1" kern="1200" dirty="0">
            <a:solidFill>
              <a:schemeClr val="tx1"/>
            </a:solidFill>
            <a:latin typeface="微軟正黑體" panose="020B0604030504040204" pitchFamily="34" charset="-120"/>
            <a:ea typeface="微軟正黑體" panose="020B0604030504040204" pitchFamily="34" charset="-120"/>
          </a:endParaRPr>
        </a:p>
      </dsp:txBody>
      <dsp:txXfrm>
        <a:off x="1927000" y="1964029"/>
        <a:ext cx="7035790" cy="912572"/>
      </dsp:txXfrm>
    </dsp:sp>
    <dsp:sp modelId="{7DCC95EA-CBF6-4303-875E-5B3DA17E27AF}">
      <dsp:nvSpPr>
        <dsp:cNvPr id="0" name=""/>
        <dsp:cNvSpPr/>
      </dsp:nvSpPr>
      <dsp:spPr>
        <a:xfrm>
          <a:off x="1781731" y="2607630"/>
          <a:ext cx="7170232" cy="0"/>
        </a:xfrm>
        <a:prstGeom prst="line">
          <a:avLst/>
        </a:prstGeom>
        <a:solidFill>
          <a:schemeClr val="accent1">
            <a:hueOff val="0"/>
            <a:satOff val="0"/>
            <a:lumOff val="0"/>
            <a:alphaOff val="0"/>
          </a:schemeClr>
        </a:solidFill>
        <a:ln w="12700" cap="flat" cmpd="sng" algn="ctr">
          <a:solidFill>
            <a:schemeClr val="accent1">
              <a:tint val="5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D959A285-75EB-4C1B-8FF7-6EA10F26A23E}">
      <dsp:nvSpPr>
        <dsp:cNvPr id="0" name=""/>
        <dsp:cNvSpPr/>
      </dsp:nvSpPr>
      <dsp:spPr>
        <a:xfrm>
          <a:off x="1866984" y="2701415"/>
          <a:ext cx="7035790" cy="43022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6200" tIns="76200" rIns="76200" bIns="76200" numCol="1" spcCol="1270" anchor="t" anchorCtr="0">
          <a:noAutofit/>
        </a:bodyPr>
        <a:lstStyle/>
        <a:p>
          <a:pPr marL="0" lvl="0" indent="0" algn="l" defTabSz="889000">
            <a:lnSpc>
              <a:spcPct val="90000"/>
            </a:lnSpc>
            <a:spcBef>
              <a:spcPct val="0"/>
            </a:spcBef>
            <a:spcAft>
              <a:spcPct val="35000"/>
            </a:spcAft>
            <a:buNone/>
          </a:pPr>
          <a:r>
            <a:rPr lang="zh-TW" altLang="zh-TW" sz="2000" b="1" kern="1200" dirty="0">
              <a:solidFill>
                <a:schemeClr val="tx1"/>
              </a:solidFill>
              <a:latin typeface="微軟正黑體" panose="020B0604030504040204" pitchFamily="34" charset="-120"/>
              <a:ea typeface="微軟正黑體" panose="020B0604030504040204" pitchFamily="34" charset="-120"/>
            </a:rPr>
            <a:t>採用如「零知識證明」等隱私保護演算法，規避隱私暴露</a:t>
          </a:r>
          <a:endParaRPr lang="en-US" altLang="zh-TW" sz="2000" b="1" kern="1200" dirty="0">
            <a:solidFill>
              <a:schemeClr val="tx1"/>
            </a:solidFill>
            <a:latin typeface="微軟正黑體" panose="020B0604030504040204" pitchFamily="34" charset="-120"/>
            <a:ea typeface="微軟正黑體" panose="020B0604030504040204" pitchFamily="34" charset="-120"/>
          </a:endParaRPr>
        </a:p>
      </dsp:txBody>
      <dsp:txXfrm>
        <a:off x="1866984" y="2701415"/>
        <a:ext cx="7035790" cy="430223"/>
      </dsp:txXfrm>
    </dsp:sp>
    <dsp:sp modelId="{D89AB6AF-F842-4683-A451-B02A45459260}">
      <dsp:nvSpPr>
        <dsp:cNvPr id="0" name=""/>
        <dsp:cNvSpPr/>
      </dsp:nvSpPr>
      <dsp:spPr>
        <a:xfrm>
          <a:off x="1792558" y="3352453"/>
          <a:ext cx="7170232" cy="0"/>
        </a:xfrm>
        <a:prstGeom prst="line">
          <a:avLst/>
        </a:prstGeom>
        <a:solidFill>
          <a:schemeClr val="accent1">
            <a:hueOff val="0"/>
            <a:satOff val="0"/>
            <a:lumOff val="0"/>
            <a:alphaOff val="0"/>
          </a:schemeClr>
        </a:solidFill>
        <a:ln w="12700" cap="flat" cmpd="sng" algn="ctr">
          <a:solidFill>
            <a:schemeClr val="accent1">
              <a:tint val="5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7FDF5EF3-E28C-4F29-A33D-FEF67EC18FFF}">
      <dsp:nvSpPr>
        <dsp:cNvPr id="0" name=""/>
        <dsp:cNvSpPr/>
      </dsp:nvSpPr>
      <dsp:spPr>
        <a:xfrm>
          <a:off x="1927000" y="3398082"/>
          <a:ext cx="7035790" cy="64423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6200" tIns="76200" rIns="76200" bIns="76200" numCol="1" spcCol="1270" anchor="t" anchorCtr="0">
          <a:noAutofit/>
        </a:bodyPr>
        <a:lstStyle/>
        <a:p>
          <a:pPr marL="0" lvl="0" indent="0" algn="l" defTabSz="889000">
            <a:lnSpc>
              <a:spcPct val="90000"/>
            </a:lnSpc>
            <a:spcBef>
              <a:spcPct val="0"/>
            </a:spcBef>
            <a:spcAft>
              <a:spcPct val="35000"/>
            </a:spcAft>
            <a:buNone/>
          </a:pPr>
          <a:r>
            <a:rPr lang="zh-TW" altLang="zh-TW" sz="2000" b="1" kern="1200" dirty="0">
              <a:solidFill>
                <a:schemeClr val="tx1"/>
              </a:solidFill>
              <a:latin typeface="微軟正黑體" panose="020B0604030504040204" pitchFamily="34" charset="-120"/>
              <a:ea typeface="微軟正黑體" panose="020B0604030504040204" pitchFamily="34" charset="-120"/>
            </a:rPr>
            <a:t>採行隱私保護演算法來保護使用者的交易資訊</a:t>
          </a:r>
        </a:p>
      </dsp:txBody>
      <dsp:txXfrm>
        <a:off x="1927000" y="3398082"/>
        <a:ext cx="7035790" cy="644239"/>
      </dsp:txXfrm>
    </dsp:sp>
    <dsp:sp modelId="{BE28A39D-11B1-4590-9106-4AE228D048B2}">
      <dsp:nvSpPr>
        <dsp:cNvPr id="0" name=""/>
        <dsp:cNvSpPr/>
      </dsp:nvSpPr>
      <dsp:spPr>
        <a:xfrm>
          <a:off x="1792558" y="4042321"/>
          <a:ext cx="7170232" cy="0"/>
        </a:xfrm>
        <a:prstGeom prst="line">
          <a:avLst/>
        </a:prstGeom>
        <a:solidFill>
          <a:schemeClr val="accent1">
            <a:hueOff val="0"/>
            <a:satOff val="0"/>
            <a:lumOff val="0"/>
            <a:alphaOff val="0"/>
          </a:schemeClr>
        </a:solidFill>
        <a:ln w="12700" cap="flat" cmpd="sng" algn="ctr">
          <a:solidFill>
            <a:schemeClr val="accent1">
              <a:tint val="5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Tree>
</dsp:drawing>
</file>

<file path=ppt/diagrams/layout1.xml><?xml version="1.0" encoding="utf-8"?>
<dgm:layoutDef xmlns:dgm="http://schemas.openxmlformats.org/drawingml/2006/diagram" xmlns:a="http://schemas.openxmlformats.org/drawingml/2006/main" uniqueId="urn:microsoft.com/office/officeart/2005/8/layout/cycle4">
  <dgm:title val=""/>
  <dgm:desc val=""/>
  <dgm:catLst>
    <dgm:cat type="relationship" pri="26000"/>
    <dgm:cat type="cycle" pri="13000"/>
    <dgm:cat type="matrix" pri="4000"/>
  </dgm:catLst>
  <dgm:sampData>
    <dgm:dataModel>
      <dgm:ptLst>
        <dgm:pt modelId="0" type="doc"/>
        <dgm:pt modelId="1">
          <dgm:prSet phldr="1"/>
        </dgm:pt>
        <dgm:pt modelId="11">
          <dgm:prSet phldr="1"/>
        </dgm:pt>
        <dgm:pt modelId="2">
          <dgm:prSet phldr="1"/>
        </dgm:pt>
        <dgm:pt modelId="21">
          <dgm:prSet phldr="1"/>
        </dgm:pt>
        <dgm:pt modelId="3">
          <dgm:prSet phldr="1"/>
        </dgm:pt>
        <dgm:pt modelId="31">
          <dgm:prSet phldr="1"/>
        </dgm:pt>
        <dgm:pt modelId="4">
          <dgm:prSet phldr="1"/>
        </dgm:pt>
        <dgm:pt modelId="41">
          <dgm:prSet phldr="1"/>
        </dgm:pt>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sampData>
  <dgm:style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cycleMatrixDiagram">
    <dgm:varLst>
      <dgm:chMax val="1"/>
      <dgm:dir/>
      <dgm:animLvl val="lvl"/>
      <dgm:resizeHandles val="exact"/>
    </dgm:varLst>
    <dgm:alg type="composite">
      <dgm:param type="ar" val="1.3"/>
    </dgm:alg>
    <dgm:shape xmlns:r="http://schemas.openxmlformats.org/officeDocument/2006/relationships" r:blip="">
      <dgm:adjLst/>
    </dgm:shape>
    <dgm:presOf/>
    <dgm:constrLst>
      <dgm:constr type="w" for="ch" forName="children" refType="w"/>
      <dgm:constr type="h" for="ch" forName="children" refType="w" refFor="ch" refForName="children" fact="0.77"/>
      <dgm:constr type="ctrX" for="ch" forName="children" refType="w" fact="0.5"/>
      <dgm:constr type="ctrY" for="ch" forName="children" refType="h" fact="0.5"/>
      <dgm:constr type="w" for="ch" forName="circle" refType="w"/>
      <dgm:constr type="h" for="ch" forName="circle" refType="h"/>
      <dgm:constr type="ctrX" for="ch" forName="circle" refType="w" fact="0.5"/>
      <dgm:constr type="ctrY" for="ch" forName="circle" refType="h" fact="0.5"/>
      <dgm:constr type="w" for="ch" forName="center1" refType="w" fact="0.115"/>
      <dgm:constr type="h" for="ch" forName="center1" refType="w" fact="0.1"/>
      <dgm:constr type="ctrX" for="ch" forName="center1" refType="w" fact="0.5"/>
      <dgm:constr type="ctrY" for="ch" forName="center1" refType="h" fact="0.475"/>
      <dgm:constr type="w" for="ch" forName="center2" refType="w" fact="0.115"/>
      <dgm:constr type="h" for="ch" forName="center2" refType="w" fact="0.1"/>
      <dgm:constr type="ctrX" for="ch" forName="center2" refType="w" fact="0.5"/>
      <dgm:constr type="ctrY" for="ch" forName="center2" refType="h" fact="0.525"/>
    </dgm:constrLst>
    <dgm:ruleLst/>
    <dgm:choose name="Name0">
      <dgm:if name="Name1" axis="ch" ptType="node" func="cnt" op="gte" val="1">
        <dgm:layoutNode name="children">
          <dgm:alg type="composite">
            <dgm:param type="ar" val="1.3"/>
          </dgm:alg>
          <dgm:shape xmlns:r="http://schemas.openxmlformats.org/officeDocument/2006/relationships" r:blip="">
            <dgm:adjLst/>
          </dgm:shape>
          <dgm:presOf/>
          <dgm:choose name="Name2">
            <dgm:if name="Name3" func="var" arg="dir" op="equ" val="norm">
              <dgm:constrLst>
                <dgm:constr type="primFontSz" for="des" ptType="node" op="equ" val="65"/>
                <dgm:constr type="w" for="ch" forName="child1group" refType="w" fact="0.38"/>
                <dgm:constr type="h" for="ch" forName="child1group" refType="h" fact="0.32"/>
                <dgm:constr type="t" for="ch" forName="child1group"/>
                <dgm:constr type="l" for="ch" forName="child1group"/>
                <dgm:constr type="w" for="ch" forName="child2group" refType="w" fact="0.38"/>
                <dgm:constr type="h" for="ch" forName="child2group" refType="h" fact="0.32"/>
                <dgm:constr type="t" for="ch" forName="child2group"/>
                <dgm:constr type="r" for="ch" forName="child2group" refType="w"/>
                <dgm:constr type="w" for="ch" forName="child3group" refType="w" fact="0.38"/>
                <dgm:constr type="h" for="ch" forName="child3group" refType="h" fact="0.32"/>
                <dgm:constr type="b" for="ch" forName="child3group" refType="h"/>
                <dgm:constr type="r" for="ch" forName="child3group" refType="w"/>
                <dgm:constr type="w" for="ch" forName="child4group" refType="w" fact="0.38"/>
                <dgm:constr type="h" for="ch" forName="child4group" refType="h" fact="0.32"/>
                <dgm:constr type="b" for="ch" forName="child4group" refType="h"/>
                <dgm:constr type="l" for="ch" forName="child4group"/>
              </dgm:constrLst>
            </dgm:if>
            <dgm:else name="Name4">
              <dgm:constrLst>
                <dgm:constr type="primFontSz" for="des" ptType="node" op="equ" val="65"/>
                <dgm:constr type="w" for="ch" forName="child1group" refType="w" fact="0.38"/>
                <dgm:constr type="h" for="ch" forName="child1group" refType="h" fact="0.32"/>
                <dgm:constr type="t" for="ch" forName="child1group"/>
                <dgm:constr type="r" for="ch" forName="child1group" refType="w"/>
                <dgm:constr type="w" for="ch" forName="child2group" refType="w" fact="0.38"/>
                <dgm:constr type="h" for="ch" forName="child2group" refType="h" fact="0.32"/>
                <dgm:constr type="t" for="ch" forName="child2group"/>
                <dgm:constr type="l" for="ch" forName="child2group"/>
                <dgm:constr type="w" for="ch" forName="child3group" refType="w" fact="0.38"/>
                <dgm:constr type="h" for="ch" forName="child3group" refType="h" fact="0.32"/>
                <dgm:constr type="b" for="ch" forName="child3group" refType="h"/>
                <dgm:constr type="l" for="ch" forName="child3group"/>
                <dgm:constr type="w" for="ch" forName="child4group" refType="w" fact="0.38"/>
                <dgm:constr type="h" for="ch" forName="child4group" refType="h" fact="0.32"/>
                <dgm:constr type="b" for="ch" forName="child4group" refType="h"/>
                <dgm:constr type="r" for="ch" forName="child4group" refType="w"/>
              </dgm:constrLst>
            </dgm:else>
          </dgm:choose>
          <dgm:ruleLst/>
          <dgm:choose name="Name5">
            <dgm:if name="Name6" axis="ch ch" ptType="node node" st="1 1" cnt="1 0" func="cnt" op="gte" val="1">
              <dgm:layoutNode name="child1group">
                <dgm:alg type="composite">
                  <dgm:param type="horzAlign" val="none"/>
                  <dgm:param type="vertAlign" val="none"/>
                </dgm:alg>
                <dgm:shape xmlns:r="http://schemas.openxmlformats.org/officeDocument/2006/relationships" r:blip="">
                  <dgm:adjLst/>
                </dgm:shape>
                <dgm:presOf/>
                <dgm:choose name="Name7">
                  <dgm:if name="Name8" func="var" arg="dir" op="equ" val="norm">
                    <dgm:constrLst>
                      <dgm:constr type="w" for="ch" forName="child1" refType="w"/>
                      <dgm:constr type="h" for="ch" forName="child1" refType="h"/>
                      <dgm:constr type="t" for="ch" forName="child1"/>
                      <dgm:constr type="l" for="ch" forName="child1"/>
                      <dgm:constr type="w" for="ch" forName="child1Text" refType="w" fact="0.7"/>
                      <dgm:constr type="h" for="ch" forName="child1Text" refType="h" fact="0.75"/>
                      <dgm:constr type="t" for="ch" forName="child1Text"/>
                      <dgm:constr type="l" for="ch" forName="child1Text"/>
                    </dgm:constrLst>
                  </dgm:if>
                  <dgm:else name="Name9">
                    <dgm:constrLst>
                      <dgm:constr type="w" for="ch" forName="child1" refType="w"/>
                      <dgm:constr type="h" for="ch" forName="child1" refType="h"/>
                      <dgm:constr type="t" for="ch" forName="child1"/>
                      <dgm:constr type="r" for="ch" forName="child1" refType="w"/>
                      <dgm:constr type="w" for="ch" forName="child1Text" refType="w" fact="0.7"/>
                      <dgm:constr type="h" for="ch" forName="child1Text" refType="h" fact="0.75"/>
                      <dgm:constr type="t" for="ch" forName="child1Text"/>
                      <dgm:constr type="r" for="ch" forName="child1Text" refType="w"/>
                    </dgm:constrLst>
                  </dgm:else>
                </dgm:choose>
                <dgm:ruleLst/>
                <dgm:layoutNode name="child1" styleLbl="bgAcc1">
                  <dgm:alg type="sp"/>
                  <dgm:shape xmlns:r="http://schemas.openxmlformats.org/officeDocument/2006/relationships" type="roundRect" r:blip="" zOrderOff="-2">
                    <dgm:adjLst>
                      <dgm:adj idx="1" val="0.1"/>
                    </dgm:adjLst>
                  </dgm:shape>
                  <dgm:presOf axis="ch des" ptType="node node" st="1 1" cnt="1 0"/>
                  <dgm:constrLst/>
                  <dgm:ruleLst/>
                </dgm:layoutNode>
                <dgm:layoutNode name="child1Text" styleLbl="bgAcc1">
                  <dgm:varLst>
                    <dgm:bulletEnabled val="1"/>
                  </dgm:varLst>
                  <dgm:alg type="tx">
                    <dgm:param type="stBulletLvl" val="1"/>
                  </dgm:alg>
                  <dgm:shape xmlns:r="http://schemas.openxmlformats.org/officeDocument/2006/relationships" type="roundRect" r:blip="" zOrderOff="-2" hideGeom="1">
                    <dgm:adjLst>
                      <dgm:adj idx="1" val="0.1"/>
                    </dgm:adjLst>
                  </dgm:shape>
                  <dgm:presOf axis="ch des" ptType="node node" st="1 1" cnt="1 0"/>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if>
            <dgm:else name="Name10"/>
          </dgm:choose>
          <dgm:choose name="Name11">
            <dgm:if name="Name12" axis="ch ch" ptType="node node" st="2 1" cnt="1 0" func="cnt" op="gte" val="1">
              <dgm:layoutNode name="child2group">
                <dgm:alg type="composite">
                  <dgm:param type="horzAlign" val="none"/>
                  <dgm:param type="vertAlign" val="none"/>
                </dgm:alg>
                <dgm:shape xmlns:r="http://schemas.openxmlformats.org/officeDocument/2006/relationships" r:blip="">
                  <dgm:adjLst/>
                </dgm:shape>
                <dgm:choose name="Name13">
                  <dgm:if name="Name14" func="var" arg="dir" op="equ" val="norm">
                    <dgm:constrLst>
                      <dgm:constr type="w" for="ch" forName="child2" refType="w"/>
                      <dgm:constr type="h" for="ch" forName="child2" refType="h"/>
                      <dgm:constr type="t" for="ch" forName="child2"/>
                      <dgm:constr type="r" for="ch" forName="child2" refType="w"/>
                      <dgm:constr type="w" for="ch" forName="child2Text" refType="w" fact="0.7"/>
                      <dgm:constr type="h" for="ch" forName="child2Text" refType="h" fact="0.75"/>
                      <dgm:constr type="t" for="ch" forName="child2Text"/>
                      <dgm:constr type="r" for="ch" forName="child2Text" refType="w"/>
                    </dgm:constrLst>
                  </dgm:if>
                  <dgm:else name="Name15">
                    <dgm:constrLst>
                      <dgm:constr type="w" for="ch" forName="child2" refType="w"/>
                      <dgm:constr type="h" for="ch" forName="child2" refType="h"/>
                      <dgm:constr type="t" for="ch" forName="child2"/>
                      <dgm:constr type="l" for="ch" forName="child2"/>
                      <dgm:constr type="w" for="ch" forName="child2Text" refType="w" fact="0.7"/>
                      <dgm:constr type="h" for="ch" forName="child2Text" refType="h" fact="0.75"/>
                      <dgm:constr type="t" for="ch" forName="child2Text"/>
                      <dgm:constr type="l" for="ch" forName="child2Text"/>
                    </dgm:constrLst>
                  </dgm:else>
                </dgm:choose>
                <dgm:ruleLst/>
                <dgm:layoutNode name="child2" styleLbl="bgAcc1">
                  <dgm:alg type="sp"/>
                  <dgm:shape xmlns:r="http://schemas.openxmlformats.org/officeDocument/2006/relationships" type="roundRect" r:blip="" zOrderOff="-2">
                    <dgm:adjLst>
                      <dgm:adj idx="1" val="0.1"/>
                    </dgm:adjLst>
                  </dgm:shape>
                  <dgm:presOf axis="ch des" ptType="node node" st="2 1" cnt="1 0"/>
                  <dgm:constrLst/>
                  <dgm:ruleLst/>
                </dgm:layoutNode>
                <dgm:layoutNode name="child2Text" styleLbl="bgAcc1">
                  <dgm:varLst>
                    <dgm:bulletEnabled val="1"/>
                  </dgm:varLst>
                  <dgm:alg type="tx">
                    <dgm:param type="stBulletLvl" val="1"/>
                  </dgm:alg>
                  <dgm:shape xmlns:r="http://schemas.openxmlformats.org/officeDocument/2006/relationships" type="roundRect" r:blip="" zOrderOff="-2" hideGeom="1">
                    <dgm:adjLst>
                      <dgm:adj idx="1" val="0.1"/>
                    </dgm:adjLst>
                  </dgm:shape>
                  <dgm:presOf axis="ch des" ptType="node node" st="2 1" cnt="1 0"/>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if>
            <dgm:else name="Name16"/>
          </dgm:choose>
          <dgm:choose name="Name17">
            <dgm:if name="Name18" axis="ch ch" ptType="node node" st="3 1" cnt="1 0" func="cnt" op="gte" val="1">
              <dgm:layoutNode name="child3group">
                <dgm:alg type="composite">
                  <dgm:param type="horzAlign" val="none"/>
                  <dgm:param type="vertAlign" val="none"/>
                </dgm:alg>
                <dgm:shape xmlns:r="http://schemas.openxmlformats.org/officeDocument/2006/relationships" r:blip="">
                  <dgm:adjLst/>
                </dgm:shape>
                <dgm:presOf/>
                <dgm:choose name="Name19">
                  <dgm:if name="Name20" func="var" arg="dir" op="equ" val="norm">
                    <dgm:constrLst>
                      <dgm:constr type="w" for="ch" forName="child3" refType="w"/>
                      <dgm:constr type="h" for="ch" forName="child3" refType="h"/>
                      <dgm:constr type="b" for="ch" forName="child3" refType="h"/>
                      <dgm:constr type="r" for="ch" forName="child3" refType="w"/>
                      <dgm:constr type="w" for="ch" forName="child3Text" refType="w" fact="0.7"/>
                      <dgm:constr type="h" for="ch" forName="child3Text" refType="h" fact="0.75"/>
                      <dgm:constr type="b" for="ch" forName="child3Text" refType="h"/>
                      <dgm:constr type="r" for="ch" forName="child3Text" refType="w"/>
                    </dgm:constrLst>
                  </dgm:if>
                  <dgm:else name="Name21">
                    <dgm:constrLst>
                      <dgm:constr type="w" for="ch" forName="child3" refType="w"/>
                      <dgm:constr type="h" for="ch" forName="child3" refType="h"/>
                      <dgm:constr type="b" for="ch" forName="child3" refType="h"/>
                      <dgm:constr type="l" for="ch" forName="child3"/>
                      <dgm:constr type="w" for="ch" forName="child3Text" refType="w" fact="0.7"/>
                      <dgm:constr type="h" for="ch" forName="child3Text" refType="h" fact="0.75"/>
                      <dgm:constr type="b" for="ch" forName="child3Text" refType="h"/>
                      <dgm:constr type="l" for="ch" forName="child3Text"/>
                    </dgm:constrLst>
                  </dgm:else>
                </dgm:choose>
                <dgm:ruleLst/>
                <dgm:layoutNode name="child3" styleLbl="bgAcc1">
                  <dgm:alg type="sp"/>
                  <dgm:shape xmlns:r="http://schemas.openxmlformats.org/officeDocument/2006/relationships" type="roundRect" r:blip="" zOrderOff="-4">
                    <dgm:adjLst>
                      <dgm:adj idx="1" val="0.1"/>
                    </dgm:adjLst>
                  </dgm:shape>
                  <dgm:presOf axis="ch des" ptType="node node" st="3 1" cnt="1 0"/>
                  <dgm:constrLst/>
                  <dgm:ruleLst/>
                </dgm:layoutNode>
                <dgm:layoutNode name="child3Text" styleLbl="bgAcc1">
                  <dgm:varLst>
                    <dgm:bulletEnabled val="1"/>
                  </dgm:varLst>
                  <dgm:alg type="tx">
                    <dgm:param type="stBulletLvl" val="1"/>
                  </dgm:alg>
                  <dgm:shape xmlns:r="http://schemas.openxmlformats.org/officeDocument/2006/relationships" type="roundRect" r:blip="" zOrderOff="-4" hideGeom="1">
                    <dgm:adjLst>
                      <dgm:adj idx="1" val="0.1"/>
                    </dgm:adjLst>
                  </dgm:shape>
                  <dgm:presOf axis="ch des" ptType="node node" st="3 1" cnt="1 0"/>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if>
            <dgm:else name="Name22"/>
          </dgm:choose>
          <dgm:choose name="Name23">
            <dgm:if name="Name24" axis="ch ch" ptType="node node" st="4 1" cnt="1 0" func="cnt" op="gte" val="1">
              <dgm:layoutNode name="child4group">
                <dgm:alg type="composite">
                  <dgm:param type="horzAlign" val="none"/>
                  <dgm:param type="vertAlign" val="none"/>
                </dgm:alg>
                <dgm:shape xmlns:r="http://schemas.openxmlformats.org/officeDocument/2006/relationships" r:blip="">
                  <dgm:adjLst/>
                </dgm:shape>
                <dgm:presOf/>
                <dgm:choose name="Name25">
                  <dgm:if name="Name26" func="var" arg="dir" op="equ" val="norm">
                    <dgm:constrLst>
                      <dgm:constr type="w" for="ch" forName="child4" refType="w"/>
                      <dgm:constr type="h" for="ch" forName="child4" refType="h"/>
                      <dgm:constr type="b" for="ch" forName="child4" refType="h"/>
                      <dgm:constr type="l" for="ch" forName="child4"/>
                      <dgm:constr type="w" for="ch" forName="child4Text" refType="w" fact="0.7"/>
                      <dgm:constr type="h" for="ch" forName="child4Text" refType="h" fact="0.75"/>
                      <dgm:constr type="b" for="ch" forName="child4Text" refType="h"/>
                      <dgm:constr type="l" for="ch" forName="child4Text"/>
                    </dgm:constrLst>
                  </dgm:if>
                  <dgm:else name="Name27">
                    <dgm:constrLst>
                      <dgm:constr type="w" for="ch" forName="child4" refType="w"/>
                      <dgm:constr type="h" for="ch" forName="child4" refType="h"/>
                      <dgm:constr type="b" for="ch" forName="child4" refType="h"/>
                      <dgm:constr type="r" for="ch" forName="child4" refType="w"/>
                      <dgm:constr type="w" for="ch" forName="child4Text" refType="w" fact="0.7"/>
                      <dgm:constr type="h" for="ch" forName="child4Text" refType="h" fact="0.75"/>
                      <dgm:constr type="b" for="ch" forName="child4Text" refType="h"/>
                      <dgm:constr type="r" for="ch" forName="child4Text" refType="w"/>
                    </dgm:constrLst>
                  </dgm:else>
                </dgm:choose>
                <dgm:ruleLst/>
                <dgm:layoutNode name="child4" styleLbl="bgAcc1">
                  <dgm:alg type="sp"/>
                  <dgm:shape xmlns:r="http://schemas.openxmlformats.org/officeDocument/2006/relationships" type="roundRect" r:blip="" zOrderOff="-4">
                    <dgm:adjLst>
                      <dgm:adj idx="1" val="0.1"/>
                    </dgm:adjLst>
                  </dgm:shape>
                  <dgm:presOf axis="ch des" ptType="node node" st="4 1" cnt="1 0"/>
                  <dgm:constrLst/>
                  <dgm:ruleLst/>
                </dgm:layoutNode>
                <dgm:layoutNode name="child4Text" styleLbl="bgAcc1">
                  <dgm:varLst>
                    <dgm:bulletEnabled val="1"/>
                  </dgm:varLst>
                  <dgm:alg type="tx">
                    <dgm:param type="stBulletLvl" val="1"/>
                  </dgm:alg>
                  <dgm:shape xmlns:r="http://schemas.openxmlformats.org/officeDocument/2006/relationships" type="roundRect" r:blip="" zOrderOff="-4" hideGeom="1">
                    <dgm:adjLst>
                      <dgm:adj idx="1" val="0.1"/>
                    </dgm:adjLst>
                  </dgm:shape>
                  <dgm:presOf axis="ch des" ptType="node node" st="4 1" cnt="1 0"/>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if>
            <dgm:else name="Name28"/>
          </dgm:choose>
          <dgm:layoutNode name="childPlaceholder">
            <dgm:alg type="sp"/>
            <dgm:shape xmlns:r="http://schemas.openxmlformats.org/officeDocument/2006/relationships" r:blip="">
              <dgm:adjLst/>
            </dgm:shape>
            <dgm:presOf/>
            <dgm:constrLst/>
            <dgm:ruleLst/>
          </dgm:layoutNode>
        </dgm:layoutNode>
        <dgm:layoutNode name="circle">
          <dgm:alg type="composite">
            <dgm:param type="ar" val="1"/>
          </dgm:alg>
          <dgm:shape xmlns:r="http://schemas.openxmlformats.org/officeDocument/2006/relationships" r:blip="">
            <dgm:adjLst/>
          </dgm:shape>
          <dgm:presOf/>
          <dgm:choose name="Name29">
            <dgm:if name="Name30" func="var" arg="dir" op="equ" val="norm">
              <dgm:constrLst>
                <dgm:constr type="primFontSz" for="ch" ptType="node" op="equ" val="65"/>
                <dgm:constr type="w" for="ch" forName="quadrant1" refType="w" fact="0.433"/>
                <dgm:constr type="h" for="ch" forName="quadrant1" refType="h" fact="0.433"/>
                <dgm:constr type="b" for="ch" forName="quadrant1" refType="h" fact="0.5"/>
                <dgm:constr type="bOff" for="ch" forName="quadrant1" refType="h" fact="-0.01"/>
                <dgm:constr type="r" for="ch" forName="quadrant1" refType="w" fact="0.5"/>
                <dgm:constr type="rOff" for="ch" forName="quadrant1" refType="w" fact="-0.01"/>
                <dgm:constr type="w" for="ch" forName="quadrant2" refType="w" fact="0.433"/>
                <dgm:constr type="h" for="ch" forName="quadrant2" refType="h" fact="0.433"/>
                <dgm:constr type="b" for="ch" forName="quadrant2" refType="h" fact="0.5"/>
                <dgm:constr type="bOff" for="ch" forName="quadrant2" refType="h" fact="-0.01"/>
                <dgm:constr type="l" for="ch" forName="quadrant2" refType="w" fact="0.5"/>
                <dgm:constr type="lOff" for="ch" forName="quadrant2" refType="w" fact="0.01"/>
                <dgm:constr type="w" for="ch" forName="quadrant3" refType="w" fact="0.433"/>
                <dgm:constr type="h" for="ch" forName="quadrant3" refType="h" fact="0.433"/>
                <dgm:constr type="t" for="ch" forName="quadrant3" refType="h" fact="0.5"/>
                <dgm:constr type="tOff" for="ch" forName="quadrant3" refType="h" fact="0.01"/>
                <dgm:constr type="l" for="ch" forName="quadrant3" refType="w" fact="0.5"/>
                <dgm:constr type="lOff" for="ch" forName="quadrant3" refType="w" fact="0.01"/>
                <dgm:constr type="w" for="ch" forName="quadrant4" refType="w" fact="0.433"/>
                <dgm:constr type="h" for="ch" forName="quadrant4" refType="h" fact="0.433"/>
                <dgm:constr type="t" for="ch" forName="quadrant4" refType="h" fact="0.5"/>
                <dgm:constr type="tOff" for="ch" forName="quadrant4" refType="h" fact="0.01"/>
                <dgm:constr type="r" for="ch" forName="quadrant4" refType="w" fact="0.5"/>
                <dgm:constr type="rOff" for="ch" forName="quadrant4" refType="w" fact="-0.01"/>
              </dgm:constrLst>
            </dgm:if>
            <dgm:else name="Name31">
              <dgm:constrLst>
                <dgm:constr type="primFontSz" for="ch" ptType="node" op="equ" val="65"/>
                <dgm:constr type="w" for="ch" forName="quadrant1" refType="w" fact="0.433"/>
                <dgm:constr type="h" for="ch" forName="quadrant1" refType="h" fact="0.433"/>
                <dgm:constr type="b" for="ch" forName="quadrant1" refType="h" fact="0.5"/>
                <dgm:constr type="bOff" for="ch" forName="quadrant1" refType="h" fact="-0.01"/>
                <dgm:constr type="l" for="ch" forName="quadrant1" refType="w" fact="0.5"/>
                <dgm:constr type="lOff" for="ch" forName="quadrant1" refType="w" fact="0.01"/>
                <dgm:constr type="w" for="ch" forName="quadrant2" refType="w" fact="0.433"/>
                <dgm:constr type="h" for="ch" forName="quadrant2" refType="h" fact="0.433"/>
                <dgm:constr type="b" for="ch" forName="quadrant2" refType="h" fact="0.5"/>
                <dgm:constr type="bOff" for="ch" forName="quadrant2" refType="h" fact="-0.01"/>
                <dgm:constr type="r" for="ch" forName="quadrant2" refType="w" fact="0.5"/>
                <dgm:constr type="rOff" for="ch" forName="quadrant2" refType="w" fact="-0.01"/>
                <dgm:constr type="w" for="ch" forName="quadrant3" refType="w" fact="0.433"/>
                <dgm:constr type="h" for="ch" forName="quadrant3" refType="h" fact="0.433"/>
                <dgm:constr type="t" for="ch" forName="quadrant3" refType="h" fact="0.5"/>
                <dgm:constr type="tOff" for="ch" forName="quadrant3" refType="h" fact="0.01"/>
                <dgm:constr type="r" for="ch" forName="quadrant3" refType="w" fact="0.5"/>
                <dgm:constr type="rOff" for="ch" forName="quadrant3" refType="w" fact="-0.01"/>
                <dgm:constr type="w" for="ch" forName="quadrant4" refType="w" fact="0.433"/>
                <dgm:constr type="h" for="ch" forName="quadrant4" refType="h" fact="0.433"/>
                <dgm:constr type="t" for="ch" forName="quadrant4" refType="h" fact="0.5"/>
                <dgm:constr type="tOff" for="ch" forName="quadrant4" refType="h" fact="0.01"/>
                <dgm:constr type="l" for="ch" forName="quadrant4" refType="w" fact="0.5"/>
                <dgm:constr type="lOff" for="ch" forName="quadrant4" refType="w" fact="0.01"/>
              </dgm:constrLst>
            </dgm:else>
          </dgm:choose>
          <dgm:ruleLst/>
          <dgm:layoutNode name="quadrant1" styleLbl="node1">
            <dgm:varLst>
              <dgm:chMax val="1"/>
              <dgm:bulletEnabled val="1"/>
            </dgm:varLst>
            <dgm:alg type="tx"/>
            <dgm:choose name="Name32">
              <dgm:if name="Name33" func="var" arg="dir" op="equ" val="norm">
                <dgm:shape xmlns:r="http://schemas.openxmlformats.org/officeDocument/2006/relationships" type="pieWedge" r:blip="">
                  <dgm:adjLst/>
                </dgm:shape>
              </dgm:if>
              <dgm:else name="Name34">
                <dgm:shape xmlns:r="http://schemas.openxmlformats.org/officeDocument/2006/relationships" rot="90" type="pieWedge" r:blip="">
                  <dgm:adjLst/>
                </dgm:shape>
              </dgm:else>
            </dgm:choose>
            <dgm:presOf axis="ch" ptType="node" cnt="1"/>
            <dgm:constrLst/>
            <dgm:ruleLst>
              <dgm:rule type="primFontSz" val="5" fact="NaN" max="NaN"/>
            </dgm:ruleLst>
          </dgm:layoutNode>
          <dgm:layoutNode name="quadrant2" styleLbl="node1">
            <dgm:varLst>
              <dgm:chMax val="1"/>
              <dgm:bulletEnabled val="1"/>
            </dgm:varLst>
            <dgm:alg type="tx"/>
            <dgm:choose name="Name35">
              <dgm:if name="Name36" func="var" arg="dir" op="equ" val="norm">
                <dgm:shape xmlns:r="http://schemas.openxmlformats.org/officeDocument/2006/relationships" rot="90" type="pieWedge" r:blip="">
                  <dgm:adjLst/>
                </dgm:shape>
              </dgm:if>
              <dgm:else name="Name37">
                <dgm:shape xmlns:r="http://schemas.openxmlformats.org/officeDocument/2006/relationships" type="pieWedge" r:blip="">
                  <dgm:adjLst/>
                </dgm:shape>
              </dgm:else>
            </dgm:choose>
            <dgm:presOf axis="ch" ptType="node" st="2" cnt="1"/>
            <dgm:constrLst/>
            <dgm:ruleLst>
              <dgm:rule type="primFontSz" val="5" fact="NaN" max="NaN"/>
            </dgm:ruleLst>
          </dgm:layoutNode>
          <dgm:layoutNode name="quadrant3" styleLbl="node1">
            <dgm:varLst>
              <dgm:chMax val="1"/>
              <dgm:bulletEnabled val="1"/>
            </dgm:varLst>
            <dgm:alg type="tx"/>
            <dgm:choose name="Name38">
              <dgm:if name="Name39" func="var" arg="dir" op="equ" val="norm">
                <dgm:shape xmlns:r="http://schemas.openxmlformats.org/officeDocument/2006/relationships" rot="180" type="pieWedge" r:blip="">
                  <dgm:adjLst/>
                </dgm:shape>
              </dgm:if>
              <dgm:else name="Name40">
                <dgm:shape xmlns:r="http://schemas.openxmlformats.org/officeDocument/2006/relationships" rot="270" type="pieWedge" r:blip="">
                  <dgm:adjLst/>
                </dgm:shape>
              </dgm:else>
            </dgm:choose>
            <dgm:presOf axis="ch" ptType="node" st="3" cnt="1"/>
            <dgm:constrLst/>
            <dgm:ruleLst>
              <dgm:rule type="primFontSz" val="5" fact="NaN" max="NaN"/>
            </dgm:ruleLst>
          </dgm:layoutNode>
          <dgm:layoutNode name="quadrant4" styleLbl="node1">
            <dgm:varLst>
              <dgm:chMax val="1"/>
              <dgm:bulletEnabled val="1"/>
            </dgm:varLst>
            <dgm:alg type="tx"/>
            <dgm:choose name="Name41">
              <dgm:if name="Name42" func="var" arg="dir" op="equ" val="norm">
                <dgm:shape xmlns:r="http://schemas.openxmlformats.org/officeDocument/2006/relationships" rot="270" type="pieWedge" r:blip="">
                  <dgm:adjLst/>
                </dgm:shape>
              </dgm:if>
              <dgm:else name="Name43">
                <dgm:shape xmlns:r="http://schemas.openxmlformats.org/officeDocument/2006/relationships" rot="180" type="pieWedge" r:blip="">
                  <dgm:adjLst/>
                </dgm:shape>
              </dgm:else>
            </dgm:choose>
            <dgm:presOf axis="ch" ptType="node" st="4" cnt="1"/>
            <dgm:constrLst/>
            <dgm:ruleLst>
              <dgm:rule type="primFontSz" val="5" fact="NaN" max="NaN"/>
            </dgm:ruleLst>
          </dgm:layoutNode>
          <dgm:layoutNode name="quadrantPlaceholder">
            <dgm:alg type="sp"/>
            <dgm:shape xmlns:r="http://schemas.openxmlformats.org/officeDocument/2006/relationships" r:blip="">
              <dgm:adjLst/>
            </dgm:shape>
            <dgm:presOf/>
            <dgm:constrLst/>
            <dgm:ruleLst/>
          </dgm:layoutNode>
        </dgm:layoutNode>
        <dgm:layoutNode name="center1" styleLbl="fgShp">
          <dgm:alg type="sp"/>
          <dgm:choose name="Name44">
            <dgm:if name="Name45" func="var" arg="dir" op="equ" val="norm">
              <dgm:shape xmlns:r="http://schemas.openxmlformats.org/officeDocument/2006/relationships" type="circularArrow" r:blip="" zOrderOff="16">
                <dgm:adjLst/>
              </dgm:shape>
            </dgm:if>
            <dgm:else name="Name46">
              <dgm:shape xmlns:r="http://schemas.openxmlformats.org/officeDocument/2006/relationships" rot="180" type="leftCircularArrow" r:blip="" zOrderOff="16">
                <dgm:adjLst/>
              </dgm:shape>
            </dgm:else>
          </dgm:choose>
          <dgm:presOf/>
          <dgm:constrLst/>
          <dgm:ruleLst/>
        </dgm:layoutNode>
        <dgm:layoutNode name="center2" styleLbl="fgShp">
          <dgm:alg type="sp"/>
          <dgm:choose name="Name47">
            <dgm:if name="Name48" func="var" arg="dir" op="equ" val="norm">
              <dgm:shape xmlns:r="http://schemas.openxmlformats.org/officeDocument/2006/relationships" rot="180" type="circularArrow" r:blip="" zOrderOff="16">
                <dgm:adjLst/>
              </dgm:shape>
            </dgm:if>
            <dgm:else name="Name49">
              <dgm:shape xmlns:r="http://schemas.openxmlformats.org/officeDocument/2006/relationships" type="leftCircularArrow" r:blip="" zOrderOff="16">
                <dgm:adjLst/>
              </dgm:shape>
            </dgm:else>
          </dgm:choose>
          <dgm:presOf/>
          <dgm:constrLst/>
          <dgm:ruleLst/>
        </dgm:layoutNode>
      </dgm:if>
      <dgm:else name="Name50"/>
    </dgm:choose>
  </dgm:layoutNode>
</dgm:layoutDef>
</file>

<file path=ppt/diagrams/layout2.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cycle3">
  <dgm:title val=""/>
  <dgm:desc val=""/>
  <dgm:catLst>
    <dgm:cat type="cycle" pri="50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 modelId="3"/>
      </dgm:ptLst>
      <dgm:cxnLst>
        <dgm:cxn modelId="4" srcId="0" destId="1" srcOrd="0" destOrd="0"/>
        <dgm:cxn modelId="5" srcId="0" destId="2" srcOrd="1" destOrd="0"/>
        <dgm:cxn modelId="6" srcId="0" destId="3" srcOrd="2"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Name0">
    <dgm:varLst>
      <dgm:dir/>
      <dgm:resizeHandles val="exact"/>
    </dgm:varLst>
    <dgm:choose name="Name1">
      <dgm:if name="Name2" axis="ch" ptType="node" func="cnt" op="equ" val="2">
        <dgm:alg type="composite">
          <dgm:param type="ar" val="0.9"/>
        </dgm:alg>
        <dgm:shape xmlns:r="http://schemas.openxmlformats.org/officeDocument/2006/relationships" r:blip="">
          <dgm:adjLst/>
        </dgm:shape>
        <dgm:presOf/>
        <dgm:constrLst>
          <dgm:constr type="primFontSz" for="ch" ptType="node" op="equ" val="65"/>
          <dgm:constr type="ctrX" for="ch" forName="node1" refType="w" fact="0.5"/>
          <dgm:constr type="t" for="ch" forName="node1"/>
          <dgm:constr type="w" for="ch" forName="node1" refType="w" fact="0.8"/>
          <dgm:constr type="h" for="ch" forName="node1" refType="w" refFor="ch" refForName="node1" fact="0.5"/>
          <dgm:constr type="ctrX" for="ch" forName="sibTrans" refType="w" fact="0.5"/>
          <dgm:constr type="t" for="ch" forName="sibTrans"/>
          <dgm:constr type="w" for="ch" forName="sibTrans" refType="w" fact="0.8"/>
          <dgm:constr type="h" for="ch" forName="sibTrans" refType="w" refFor="ch" refForName="node1" fact="0.5"/>
          <dgm:constr type="userA" for="ch" forName="sibTrans" refType="w" fact="1.07"/>
          <dgm:constr type="ctrX" for="ch" forName="node2" refType="w" fact="0.5"/>
          <dgm:constr type="b" for="ch" forName="node2" refType="h"/>
          <dgm:constr type="w" for="ch" forName="node2" refType="w" fact="0.8"/>
          <dgm:constr type="h" for="ch" forName="node2" refType="w" refFor="ch" refForName="node1" fact="0.5"/>
          <dgm:constr type="l" for="ch" forName="sp1"/>
          <dgm:constr type="t" for="ch" forName="sp1" refType="h" fact="0.5"/>
          <dgm:constr type="w" for="ch" forName="sp1" val="1"/>
          <dgm:constr type="h" for="ch" forName="sp1" val="1"/>
          <dgm:constr type="r" for="ch" forName="sp2" refType="w"/>
          <dgm:constr type="t" for="ch" forName="sp2" refType="h" fact="0.5"/>
          <dgm:constr type="w" for="ch" forName="sp2" val="1"/>
          <dgm:constr type="h" for="ch" forName="sp2" val="1"/>
        </dgm:constrLst>
        <dgm:ruleLst/>
      </dgm:if>
      <dgm:else name="Name3">
        <dgm:alg type="composite"/>
        <dgm:shape xmlns:r="http://schemas.openxmlformats.org/officeDocument/2006/relationships" r:blip="">
          <dgm:adjLst/>
        </dgm:shape>
        <dgm:presOf/>
        <dgm:constrLst>
          <dgm:constr type="primFontSz" for="ch" ptType="node" op="equ" val="65"/>
        </dgm:constrLst>
        <dgm:ruleLst/>
      </dgm:else>
    </dgm:choose>
    <dgm:choose name="Name4">
      <dgm:if name="Name5" axis="ch" ptType="node" func="cnt" op="equ" val="2">
        <dgm:layoutNode name="node1">
          <dgm:varLst>
            <dgm:bulletEnabled val="1"/>
          </dgm:varLst>
          <dgm:alg type="tx"/>
          <dgm:shape xmlns:r="http://schemas.openxmlformats.org/officeDocument/2006/relationships" type="roundRect" r:blip="">
            <dgm:adjLst/>
          </dgm:shape>
          <dgm:presOf axis="ch desOrSelf" ptType="node node" st="1 1" cnt="1 0"/>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sibTrans" styleLbl="bgShp">
          <dgm:choose name="Name6">
            <dgm:if name="Name7" func="var" arg="dir" op="equ" val="norm">
              <dgm:alg type="conn">
                <dgm:param type="connRout" val="longCurve"/>
                <dgm:param type="begPts" val="midR"/>
                <dgm:param type="endPts" val="midL"/>
                <dgm:param type="dstNode" val="node1"/>
              </dgm:alg>
              <dgm:shape xmlns:r="http://schemas.openxmlformats.org/officeDocument/2006/relationships" type="conn" r:blip="" zOrderOff="-2">
                <dgm:adjLst/>
              </dgm:shape>
              <dgm:presOf axis="ch" ptType="sibTrans"/>
              <dgm:constrLst>
                <dgm:constr type="userA"/>
                <dgm:constr type="diam" refType="userA" fact="-1"/>
                <dgm:constr type="wArH" refType="userA" fact="0.05"/>
                <dgm:constr type="hArH" refType="userA" fact="0.1"/>
                <dgm:constr type="stemThick" refType="userA" fact="0.06"/>
                <dgm:constr type="begPad" refType="connDist" fact="-0.2"/>
                <dgm:constr type="endPad" refType="connDist" fact="0.05"/>
              </dgm:constrLst>
            </dgm:if>
            <dgm:else name="Name8">
              <dgm:alg type="conn">
                <dgm:param type="connRout" val="longCurve"/>
                <dgm:param type="begPts" val="midL"/>
                <dgm:param type="endPts" val="midR"/>
                <dgm:param type="dstNode" val="node1"/>
              </dgm:alg>
              <dgm:shape xmlns:r="http://schemas.openxmlformats.org/officeDocument/2006/relationships" type="conn" r:blip="" zOrderOff="-2">
                <dgm:adjLst/>
              </dgm:shape>
              <dgm:presOf axis="ch" ptType="sibTrans"/>
              <dgm:constrLst>
                <dgm:constr type="userA"/>
                <dgm:constr type="diam" refType="userA"/>
                <dgm:constr type="wArH" refType="userA" fact="0.05"/>
                <dgm:constr type="hArH" refType="userA" fact="0.1"/>
                <dgm:constr type="stemThick" refType="userA" fact="0.06"/>
                <dgm:constr type="begPad" refType="connDist" fact="-0.2"/>
                <dgm:constr type="endPad" refType="connDist" fact="0.05"/>
              </dgm:constrLst>
            </dgm:else>
          </dgm:choose>
          <dgm:ruleLst/>
        </dgm:layoutNode>
        <dgm:layoutNode name="node2">
          <dgm:varLst>
            <dgm:bulletEnabled val="1"/>
          </dgm:varLst>
          <dgm:alg type="tx"/>
          <dgm:shape xmlns:r="http://schemas.openxmlformats.org/officeDocument/2006/relationships" type="roundRect" r:blip="">
            <dgm:adjLst/>
          </dgm:shape>
          <dgm:presOf axis="ch desOrSelf" ptType="node node" st="2 1" cnt="1 0"/>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sp1">
          <dgm:alg type="sp"/>
          <dgm:shape xmlns:r="http://schemas.openxmlformats.org/officeDocument/2006/relationships" r:blip="">
            <dgm:adjLst/>
          </dgm:shape>
          <dgm:presOf/>
          <dgm:constrLst/>
          <dgm:ruleLst/>
        </dgm:layoutNode>
        <dgm:layoutNode name="sp2">
          <dgm:alg type="sp"/>
          <dgm:shape xmlns:r="http://schemas.openxmlformats.org/officeDocument/2006/relationships" r:blip="">
            <dgm:adjLst/>
          </dgm:shape>
          <dgm:presOf/>
          <dgm:constrLst/>
          <dgm:ruleLst/>
        </dgm:layoutNode>
      </dgm:if>
      <dgm:else name="Name9">
        <dgm:layoutNode name="cycle">
          <dgm:choose name="Name10">
            <dgm:if name="Name11" func="var" arg="dir" op="equ" val="norm">
              <dgm:alg type="cycle">
                <dgm:param type="stAng" val="0"/>
                <dgm:param type="spanAng" val="360"/>
              </dgm:alg>
              <dgm:shape xmlns:r="http://schemas.openxmlformats.org/officeDocument/2006/relationships" r:blip="">
                <dgm:adjLst/>
              </dgm:shape>
              <dgm:presOf/>
              <dgm:constrLst>
                <dgm:constr type="diam" refType="w"/>
                <dgm:constr type="w" for="ch" ptType="node" refType="w"/>
                <dgm:constr type="sibSp" val="15"/>
                <dgm:constr type="userA" for="ch" ptType="sibTrans" refType="diam" op="equ" fact="-1"/>
                <dgm:constr type="wArH" for="ch" ptType="sibTrans" refType="diam" op="equ" fact="0.05"/>
                <dgm:constr type="hArH" for="ch" ptType="sibTrans" refType="diam" op="equ" fact="0.1"/>
                <dgm:constr type="stemThick" for="ch" ptType="sibTrans" refType="diam" op="equ" fact="0.065"/>
                <dgm:constr type="primFontSz" for="ch" ptType="node" op="equ"/>
              </dgm:constrLst>
            </dgm:if>
            <dgm:else name="Name12">
              <dgm:alg type="cycle">
                <dgm:param type="stAng" val="0"/>
                <dgm:param type="spanAng" val="-360"/>
              </dgm:alg>
              <dgm:shape xmlns:r="http://schemas.openxmlformats.org/officeDocument/2006/relationships" r:blip="">
                <dgm:adjLst/>
              </dgm:shape>
              <dgm:presOf/>
              <dgm:constrLst>
                <dgm:constr type="diam" refType="w"/>
                <dgm:constr type="w" for="ch" ptType="node" refType="w"/>
                <dgm:constr type="sibSp" val="15"/>
                <dgm:constr type="userA" for="ch" ptType="sibTrans" refType="diam" op="equ"/>
                <dgm:constr type="wArH" for="ch" ptType="sibTrans" refType="diam" op="equ" fact="0.05"/>
                <dgm:constr type="hArH" for="ch" ptType="sibTrans" refType="diam" op="equ" fact="0.1"/>
                <dgm:constr type="stemThick" for="ch" ptType="sibTrans" refType="diam" op="equ" fact="0.065"/>
                <dgm:constr type="primFontSz" for="ch" ptType="node" op="equ"/>
              </dgm:constrLst>
            </dgm:else>
          </dgm:choose>
          <dgm:ruleLst/>
          <dgm:forEach name="nodesFirstNodeForEach" axis="ch" ptType="node" cnt="1">
            <dgm:layoutNode name="nodeFirstNode">
              <dgm:varLst>
                <dgm:bulletEnabled val="1"/>
              </dgm:varLst>
              <dgm:alg type="tx"/>
              <dgm:shape xmlns:r="http://schemas.openxmlformats.org/officeDocument/2006/relationships" type="roundRect" r:blip="">
                <dgm:adjLst/>
              </dgm:shape>
              <dgm:presOf axis="desOrSelf" ptType="node"/>
              <dgm:constrLst>
                <dgm:constr type="h" refType="w" fact="0.5"/>
                <dgm:constr type="primFontSz" val="65"/>
                <dgm:constr type="tMarg" refType="primFontSz" fact="0.3"/>
                <dgm:constr type="bMarg" refType="primFontSz" fact="0.3"/>
                <dgm:constr type="lMarg" refType="primFontSz" fact="0.3"/>
                <dgm:constr type="rMarg" refType="primFontSz" fact="0.3"/>
              </dgm:constrLst>
              <dgm:ruleLst>
                <dgm:rule type="primFontSz" val="5" fact="NaN" max="NaN"/>
              </dgm:ruleLst>
            </dgm:layoutNode>
            <dgm:forEach name="sibTransForEach" axis="followSib" ptType="sibTrans" cnt="1">
              <dgm:layoutNode name="sibTransFirstNode" styleLbl="bgShp">
                <dgm:choose name="Name13">
                  <dgm:if name="Name14" func="var" arg="dir" op="equ" val="norm">
                    <dgm:alg type="conn">
                      <dgm:param type="connRout" val="longCurve"/>
                      <dgm:param type="begPts" val="midR"/>
                      <dgm:param type="endPts" val="midL"/>
                      <dgm:param type="dstNode" val="nodeFirstNode"/>
                    </dgm:alg>
                  </dgm:if>
                  <dgm:else name="Name15">
                    <dgm:alg type="conn">
                      <dgm:param type="connRout" val="longCurve"/>
                      <dgm:param type="begPts" val="midL"/>
                      <dgm:param type="endPts" val="midR"/>
                      <dgm:param type="dstNode" val="nodeFirstNode"/>
                    </dgm:alg>
                  </dgm:else>
                </dgm:choose>
                <dgm:shape xmlns:r="http://schemas.openxmlformats.org/officeDocument/2006/relationships" type="conn" r:blip="" zOrderOff="-2">
                  <dgm:adjLst/>
                </dgm:shape>
                <dgm:presOf axis="self"/>
                <dgm:choose name="Name16">
                  <dgm:if name="Name17" axis="par ch" ptType="doc node" func="cnt" op="equ" val="3">
                    <dgm:constrLst>
                      <dgm:constr type="userA"/>
                      <dgm:constr type="diam" refType="userA" fact="1.01"/>
                      <dgm:constr type="begPad" refType="connDist" fact="-0.2"/>
                      <dgm:constr type="endPad" refType="connDist" fact="0.05"/>
                    </dgm:constrLst>
                  </dgm:if>
                  <dgm:if name="Name18" axis="par ch" ptType="doc node" func="cnt" op="equ" val="4">
                    <dgm:constrLst>
                      <dgm:constr type="userA"/>
                      <dgm:constr type="diam" refType="userA" fact="1.26"/>
                      <dgm:constr type="begPad" refType="connDist" fact="-0.2"/>
                      <dgm:constr type="endPad" refType="connDist" fact="0.05"/>
                    </dgm:constrLst>
                  </dgm:if>
                  <dgm:if name="Name19" axis="par ch" ptType="doc node" func="cnt" op="equ" val="5">
                    <dgm:constrLst>
                      <dgm:constr type="userA"/>
                      <dgm:constr type="diam" refType="userA" fact="1.04"/>
                      <dgm:constr type="begPad" refType="connDist" fact="-0.2"/>
                      <dgm:constr type="endPad" refType="connDist" fact="0.05"/>
                    </dgm:constrLst>
                  </dgm:if>
                  <dgm:if name="Name20" axis="par ch" ptType="doc node" func="cnt" op="equ" val="6">
                    <dgm:constrLst>
                      <dgm:constr type="userA"/>
                      <dgm:constr type="diam" refType="userA" fact="1.1"/>
                      <dgm:constr type="begPad" refType="connDist" fact="-0.2"/>
                      <dgm:constr type="endPad" refType="connDist" fact="0.05"/>
                    </dgm:constrLst>
                  </dgm:if>
                  <dgm:else name="Name21">
                    <dgm:constrLst>
                      <dgm:constr type="userA"/>
                      <dgm:constr type="diam" refType="userA" fact="1.04"/>
                      <dgm:constr type="begPad" refType="connDist" fact="-0.2"/>
                      <dgm:constr type="endPad" refType="connDist" fact="0.05"/>
                    </dgm:constrLst>
                  </dgm:else>
                </dgm:choose>
                <dgm:ruleLst/>
              </dgm:layoutNode>
            </dgm:forEach>
          </dgm:forEach>
          <dgm:forEach name="followingNodesForEach" axis="ch" ptType="node" st="2">
            <dgm:layoutNode name="nodeFollowingNodes">
              <dgm:varLst>
                <dgm:bulletEnabled val="1"/>
              </dgm:varLst>
              <dgm:alg type="tx"/>
              <dgm:shape xmlns:r="http://schemas.openxmlformats.org/officeDocument/2006/relationships" type="roundRect" r:blip="">
                <dgm:adjLst/>
              </dgm:shape>
              <dgm:presOf axis="desOrSelf" ptType="node"/>
              <dgm:constrLst>
                <dgm:constr type="h" refType="w" fact="0.5"/>
                <dgm:constr type="primFontSz" val="65"/>
                <dgm:constr type="tMarg" refType="primFontSz" fact="0.3"/>
                <dgm:constr type="bMarg" refType="primFontSz" fact="0.3"/>
                <dgm:constr type="lMarg" refType="primFontSz" fact="0.3"/>
                <dgm:constr type="rMarg" refType="primFontSz" fact="0.3"/>
              </dgm:constrLst>
              <dgm:ruleLst>
                <dgm:rule type="primFontSz" val="5" fact="NaN" max="NaN"/>
              </dgm:ruleLst>
            </dgm:layoutNode>
          </dgm:forEach>
        </dgm:layoutNode>
      </dgm:else>
    </dgm:choose>
  </dgm:layoutNode>
</dgm:layoutDef>
</file>

<file path=ppt/diagrams/layout4.xml><?xml version="1.0" encoding="utf-8"?>
<dgm:layoutDef xmlns:dgm="http://schemas.openxmlformats.org/drawingml/2006/diagram" xmlns:a="http://schemas.openxmlformats.org/drawingml/2006/main" uniqueId="urn:microsoft.com/office/officeart/2005/8/layout/chevron2">
  <dgm:title val=""/>
  <dgm:desc val=""/>
  <dgm:catLst>
    <dgm:cat type="process" pri="12000"/>
    <dgm:cat type="list" pri="16000"/>
    <dgm:cat type="convert" pri="11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Lst>
      <dgm:cxnLst>
        <dgm:cxn modelId="4" srcId="0" destId="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linearFlow">
    <dgm:varLst>
      <dgm:dir/>
      <dgm:animLvl val="lvl"/>
      <dgm:resizeHandles val="exact"/>
    </dgm:varLst>
    <dgm:alg type="lin">
      <dgm:param type="linDir" val="fromT"/>
      <dgm:param type="nodeHorzAlign" val="l"/>
    </dgm:alg>
    <dgm:shape xmlns:r="http://schemas.openxmlformats.org/officeDocument/2006/relationships" r:blip="">
      <dgm:adjLst/>
    </dgm:shape>
    <dgm:presOf/>
    <dgm:constrLst>
      <dgm:constr type="h" for="ch" forName="composite" refType="h"/>
      <dgm:constr type="w" for="ch" forName="composite" refType="w"/>
      <dgm:constr type="h" for="des" forName="parentText" op="equ"/>
      <dgm:constr type="h" for="ch" forName="sp" val="-14.88"/>
      <dgm:constr type="h" for="ch" forName="sp" refType="w" refFor="des" refForName="parentText" op="gte" fact="-0.3"/>
      <dgm:constr type="primFontSz" for="des" forName="parentText" op="equ" val="65"/>
      <dgm:constr type="primFontSz" for="des" forName="descendantText" op="equ" val="65"/>
    </dgm:constrLst>
    <dgm:ruleLst/>
    <dgm:forEach name="Name0" axis="ch" ptType="node">
      <dgm:layoutNode name="composite">
        <dgm:alg type="composite"/>
        <dgm:shape xmlns:r="http://schemas.openxmlformats.org/officeDocument/2006/relationships" r:blip="">
          <dgm:adjLst/>
        </dgm:shape>
        <dgm:presOf/>
        <dgm:choose name="Name1">
          <dgm:if name="Name2" func="var" arg="dir" op="equ" val="norm">
            <dgm:constrLst>
              <dgm:constr type="t" for="ch" forName="parentText"/>
              <dgm:constr type="l" for="ch" forName="parentText"/>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refType="w" refFor="ch" refForName="pare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if>
          <dgm:else name="Name3">
            <dgm:constrLst>
              <dgm:constr type="t" for="ch" forName="parentText"/>
              <dgm:constr type="r" for="ch" forName="parentText" refType="w"/>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else>
        </dgm:choose>
        <dgm:ruleLst/>
        <dgm:layoutNode name="parentText" styleLbl="alignNode1">
          <dgm:varLst>
            <dgm:chMax val="1"/>
            <dgm:bulletEnabled val="1"/>
          </dgm:varLst>
          <dgm:alg type="tx"/>
          <dgm:shape xmlns:r="http://schemas.openxmlformats.org/officeDocument/2006/relationships" rot="90" type="chevron"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h" val="100" fact="NaN" max="NaN"/>
            <dgm:rule type="primFontSz" val="24" fact="NaN" max="NaN"/>
            <dgm:rule type="h" val="110" fact="NaN" max="NaN"/>
            <dgm:rule type="primFontSz" val="18" fact="NaN" max="NaN"/>
            <dgm:rule type="h" val="INF" fact="NaN" max="NaN"/>
            <dgm:rule type="primFontSz" val="5" fact="NaN" max="NaN"/>
          </dgm:ruleLst>
        </dgm:layoutNode>
        <dgm:layoutNode name="descendantText" styleLbl="alignAcc1">
          <dgm:varLst>
            <dgm:bulletEnabled val="1"/>
          </dgm:varLst>
          <dgm:choose name="Name4">
            <dgm:if name="Name5" func="var" arg="dir" op="equ" val="norm">
              <dgm:alg type="tx">
                <dgm:param type="stBulletLvl" val="1"/>
                <dgm:param type="txAnchorVertCh" val="mid"/>
              </dgm:alg>
              <dgm:shape xmlns:r="http://schemas.openxmlformats.org/officeDocument/2006/relationships" rot="90" type="round2SameRect" r:blip="">
                <dgm:adjLst/>
              </dgm:shape>
            </dgm:if>
            <dgm:else name="Name6">
              <dgm:alg type="tx">
                <dgm:param type="stBulletLvl" val="1"/>
                <dgm:param type="txAnchorVertCh" val="mid"/>
              </dgm:alg>
              <dgm:shape xmlns:r="http://schemas.openxmlformats.org/officeDocument/2006/relationships" rot="-90" type="round2SameRect" r:blip="">
                <dgm:adjLst/>
              </dgm:shape>
            </dgm:else>
          </dgm:choose>
          <dgm:presOf axis="des" ptType="node"/>
          <dgm:choose name="Name7">
            <dgm:if name="Name8" func="var" arg="dir" op="equ" val="norm">
              <dgm:constrLst>
                <dgm:constr type="secFontSz" refType="primFontSz"/>
                <dgm:constr type="tMarg" refType="primFontSz" fact="0.05"/>
                <dgm:constr type="bMarg" refType="primFontSz" fact="0.05"/>
                <dgm:constr type="rMarg" refType="primFontSz" fact="0.05"/>
              </dgm:constrLst>
            </dgm:if>
            <dgm:else name="Name9">
              <dgm:constrLst>
                <dgm:constr type="secFontSz" refType="primFontSz"/>
                <dgm:constr type="tMarg" refType="primFontSz" fact="0.05"/>
                <dgm:constr type="bMarg" refType="primFontSz" fact="0.05"/>
                <dgm:constr type="lMarg" refType="primFontSz" fact="0.05"/>
              </dgm:constrLst>
            </dgm:else>
          </dgm:choose>
          <dgm:ruleLst>
            <dgm:rule type="primFontSz" val="5" fact="NaN" max="NaN"/>
          </dgm:ruleLst>
        </dgm:layoutNode>
      </dgm:layoutNode>
      <dgm:forEach name="Name10" axis="followSib" ptType="sibTrans" cnt="1">
        <dgm:layoutNode name="sp">
          <dgm:alg type="sp"/>
          <dgm:shape xmlns:r="http://schemas.openxmlformats.org/officeDocument/2006/relationships" r:blip="">
            <dgm:adjLst/>
          </dgm:shape>
          <dgm:presOf axis="self"/>
          <dgm:constrLst>
            <dgm:constr type="w" val="1"/>
            <dgm:constr type="h" val="37.5"/>
          </dgm:constrLst>
          <dgm:ruleLst/>
        </dgm:layoutNode>
      </dgm:forEach>
    </dgm:forEach>
  </dgm:layoutNode>
</dgm:layoutDef>
</file>

<file path=ppt/diagrams/layout5.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layout6.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3d2">
  <dgm:title val=""/>
  <dgm:desc val=""/>
  <dgm:catLst>
    <dgm:cat type="3D" pri="11200"/>
  </dgm:catLst>
  <dgm:scene3d>
    <a:camera prst="orthographicFront"/>
    <a:lightRig rig="threePt" dir="t"/>
  </dgm:scene3d>
  <dgm:styleLbl name="node0">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a:rot lat="0" lon="0" rev="7500000"/>
      </a:lightRig>
    </dgm:scene3d>
    <dgm:sp3d prstMaterial="plastic">
      <a:bevelT w="127000" h="25400" prst="relaxedInset"/>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tx1"/>
      </a:fontRef>
    </dgm:style>
  </dgm:styleLbl>
  <dgm:styleLbl name="aling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a:rot lat="0" lon="0" rev="7500000"/>
      </a:lightRig>
    </dgm:scene3d>
    <dgm:sp3d z="152400" extrusionH="63500" prstMaterial="matte">
      <a:bevelT w="50800" h="19050" prst="relaxedInset"/>
      <a:contourClr>
        <a:schemeClr val="bg1"/>
      </a:contourClr>
    </dgm:sp3d>
    <dgm:txPr/>
    <dgm:style>
      <a:lnRef idx="0">
        <a:scrgbClr r="0" g="0" b="0"/>
      </a:lnRef>
      <a:fillRef idx="1">
        <a:scrgbClr r="0" g="0" b="0"/>
      </a:fillRef>
      <a:effectRef idx="0">
        <a:scrgbClr r="0" g="0" b="0"/>
      </a:effectRef>
      <a:fontRef idx="minor"/>
    </dgm:style>
  </dgm:styleLbl>
  <dgm:styleLbl name="alignImgPlace1">
    <dgm:scene3d>
      <a:camera prst="orthographicFront"/>
      <a:lightRig rig="threePt" dir="t">
        <a:rot lat="0" lon="0" rev="7500000"/>
      </a:lightRig>
    </dgm:scene3d>
    <dgm:sp3d z="254000" extrusionH="63500" contourW="12700" prstMaterial="matte">
      <a:contourClr>
        <a:schemeClr val="lt1"/>
      </a:contourClr>
    </dgm:sp3d>
    <dgm:txPr/>
    <dgm:style>
      <a:lnRef idx="0">
        <a:scrgbClr r="0" g="0" b="0"/>
      </a:lnRef>
      <a:fillRef idx="1">
        <a:scrgbClr r="0" g="0" b="0"/>
      </a:fillRef>
      <a:effectRef idx="0">
        <a:scrgbClr r="0" g="0" b="0"/>
      </a:effectRef>
      <a:fontRef idx="minor"/>
    </dgm:style>
  </dgm:styleLbl>
  <dgm:styleLbl name="bgImgPlace1">
    <dgm:scene3d>
      <a:camera prst="orthographicFront"/>
      <a:lightRig rig="threePt" dir="t">
        <a:rot lat="0" lon="0" rev="7500000"/>
      </a:lightRig>
    </dgm:scene3d>
    <dgm:sp3d z="-152400" extrusionH="63500" contourW="12700" prstMaterial="matte">
      <a:contourClr>
        <a:schemeClr val="lt1"/>
      </a:contourClr>
    </dgm:sp3d>
    <dgm:txPr/>
    <dgm:style>
      <a:lnRef idx="0">
        <a:scrgbClr r="0" g="0" b="0"/>
      </a:lnRef>
      <a:fillRef idx="1">
        <a:scrgbClr r="0" g="0" b="0"/>
      </a:fillRef>
      <a:effectRef idx="0">
        <a:scrgbClr r="0" g="0" b="0"/>
      </a:effectRef>
      <a:fontRef idx="minor"/>
    </dgm:style>
  </dgm:styleLbl>
  <dgm:styleLbl name="sibTrans2D1">
    <dgm:scene3d>
      <a:camera prst="orthographicFront"/>
      <a:lightRig rig="threePt" dir="t">
        <a:rot lat="0" lon="0" rev="7500000"/>
      </a:lightRig>
    </dgm:scene3d>
    <dgm:sp3d z="-700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fgSibTrans2D1">
    <dgm:scene3d>
      <a:camera prst="orthographicFront"/>
      <a:lightRig rig="threePt" dir="t">
        <a:rot lat="0" lon="0" rev="7500000"/>
      </a:lightRig>
    </dgm:scene3d>
    <dgm:sp3d z="1524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bgSibTrans2D1">
    <dgm:scene3d>
      <a:camera prst="orthographicFront"/>
      <a:lightRig rig="threePt" dir="t">
        <a:rot lat="0" lon="0" rev="7500000"/>
      </a:lightRig>
    </dgm:scene3d>
    <dgm:sp3d z="-1524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sibTrans1D1">
    <dgm:scene3d>
      <a:camera prst="orthographicFront"/>
      <a:lightRig rig="threePt" dir="t">
        <a:rot lat="0" lon="0" rev="7500000"/>
      </a:lightRig>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threePt" dir="t">
        <a:rot lat="0" lon="0" rev="7500000"/>
      </a:lightRig>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a:rot lat="0" lon="0" rev="7500000"/>
      </a:lightRig>
    </dgm:scene3d>
    <dgm:sp3d extrusionH="63500" prstMaterial="matte">
      <a:bevelT w="50800" h="190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parChTrans2D2">
    <dgm:scene3d>
      <a:camera prst="orthographicFront"/>
      <a:lightRig rig="threePt" dir="t">
        <a:rot lat="0" lon="0" rev="7500000"/>
      </a:lightRig>
    </dgm:scene3d>
    <dgm:sp3d extrusionH="63500" prstMaterial="matte">
      <a:bevelT w="50800" h="19050" prst="relaxedInset"/>
      <a:contourClr>
        <a:schemeClr val="bg1"/>
      </a:contourClr>
    </dgm:sp3d>
    <dgm:txPr/>
    <dgm:style>
      <a:lnRef idx="0">
        <a:scrgbClr r="0" g="0" b="0"/>
      </a:lnRef>
      <a:fillRef idx="1">
        <a:scrgbClr r="0" g="0" b="0"/>
      </a:fillRef>
      <a:effectRef idx="0">
        <a:scrgbClr r="0" g="0" b="0"/>
      </a:effectRef>
      <a:fontRef idx="minor">
        <a:schemeClr val="lt1"/>
      </a:fontRef>
    </dgm:style>
  </dgm:styleLbl>
  <dgm:styleLbl name="parChTrans2D3">
    <dgm:scene3d>
      <a:camera prst="orthographicFront"/>
      <a:lightRig rig="threePt" dir="t">
        <a:rot lat="0" lon="0" rev="7500000"/>
      </a:lightRig>
    </dgm:scene3d>
    <dgm:sp3d z="60000" prstMaterial="flat">
      <a:bevelT w="120900" h="88900"/>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threePt" dir="t">
        <a:rot lat="0" lon="0" rev="7500000"/>
      </a:lightRig>
    </dgm:scene3d>
    <dgm:sp3d z="60000" prstMaterial="flat">
      <a:bevelT w="120900" h="88900"/>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fgAcc1">
    <dgm:scene3d>
      <a:camera prst="orthographicFront"/>
      <a:lightRig rig="threePt" dir="t">
        <a:rot lat="0" lon="0" rev="7500000"/>
      </a:lightRig>
    </dgm:scene3d>
    <dgm:sp3d z="152400" extrusionH="63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a:rot lat="0" lon="0" rev="7500000"/>
      </a:lightRig>
    </dgm:scene3d>
    <dgm:sp3d z="152400" extrusionH="63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a:rot lat="0" lon="0" rev="7500000"/>
      </a:lightRig>
    </dgm:scene3d>
    <dgm:sp3d extrusionH="190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a:rot lat="0" lon="0" rev="7500000"/>
      </a:lightRig>
    </dgm:scene3d>
    <dgm:sp3d prstMaterial="plastic">
      <a:bevelT w="127000" h="35400"/>
    </dgm:sp3d>
    <dgm:txPr/>
    <dgm:style>
      <a:lnRef idx="1">
        <a:scrgbClr r="0" g="0" b="0"/>
      </a:lnRef>
      <a:fillRef idx="1">
        <a:scrgbClr r="0" g="0" b="0"/>
      </a:fillRef>
      <a:effectRef idx="2">
        <a:scrgbClr r="0" g="0" b="0"/>
      </a:effectRef>
      <a:fontRef idx="minor">
        <a:schemeClr val="lt1"/>
      </a:fontRef>
    </dgm:style>
  </dgm:styleLbl>
  <dgm:styleLbl name="bgAcc1">
    <dgm:scene3d>
      <a:camera prst="orthographicFront"/>
      <a:lightRig rig="threePt" dir="t">
        <a:rot lat="0" lon="0" rev="7500000"/>
      </a:lightRig>
    </dgm:scene3d>
    <dgm:sp3d z="-152400" extrusionH="63500" prstMaterial="dkEdge">
      <a:bevelT w="124450" h="16350" prst="relaxedInset"/>
      <a:contourClr>
        <a:schemeClr val="bg1"/>
      </a:contourClr>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a:rot lat="0" lon="0" rev="7500000"/>
      </a:lightRig>
    </dgm:scene3d>
    <dgm:sp3d z="152400" extrusionH="63500" prstMaterial="dkEdge">
      <a:bevelT w="120800" h="19050" prst="relaxedInset"/>
      <a:contourClr>
        <a:schemeClr val="bg1"/>
      </a:contourClr>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a:rot lat="0" lon="0" rev="7500000"/>
      </a:lightRig>
    </dgm:scene3d>
    <dgm:sp3d extrusionH="190500" prstMaterial="dkEdge">
      <a:bevelT w="120650" h="38100" prst="relaxedInset"/>
      <a:contourClr>
        <a:schemeClr val="bg1"/>
      </a:contourClr>
    </dgm:sp3d>
    <dgm:txPr/>
    <dgm:style>
      <a:lnRef idx="1">
        <a:scrgbClr r="0" g="0" b="0"/>
      </a:lnRef>
      <a:fillRef idx="1">
        <a:scrgbClr r="0" g="0" b="0"/>
      </a:fillRef>
      <a:effectRef idx="2">
        <a:scrgbClr r="0" g="0" b="0"/>
      </a:effectRef>
      <a:fontRef idx="minor"/>
    </dgm:style>
  </dgm:styleLbl>
  <dgm:styleLbl name="solidBgAcc1">
    <dgm:scene3d>
      <a:camera prst="orthographicFront"/>
      <a:lightRig rig="threePt" dir="t">
        <a:rot lat="0" lon="0" rev="7500000"/>
      </a:lightRig>
    </dgm:scene3d>
    <dgm:sp3d z="-152400" extrusionH="63500" prstMaterial="dkEdge">
      <a:bevelT w="144450" h="36350" prst="relaxedInset"/>
      <a:contourClr>
        <a:schemeClr val="bg1"/>
      </a:contourClr>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a:rot lat="0" lon="0" rev="7500000"/>
      </a:lightRig>
    </dgm:scene3d>
    <dgm:sp3d extrusionH="190500" prstMaterial="dkEdge">
      <a:bevelT w="120650" h="38100" prst="relaxedInset"/>
      <a:bevelB w="120650" h="57150" prst="relaxedInset"/>
      <a:contourClr>
        <a:schemeClr val="bg1"/>
      </a:contourClr>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a:rot lat="0" lon="0" rev="7500000"/>
      </a:lightRig>
    </dgm:scene3d>
    <dgm:sp3d z="-152400" extrusionH="63500" prstMaterial="dkEdge">
      <a:bevelT w="144450" h="36350" prst="relaxedInset"/>
      <a:contourClr>
        <a:schemeClr val="bg1"/>
      </a:contourClr>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a:rot lat="0" lon="0" rev="7500000"/>
      </a:lightRig>
    </dgm:scene3d>
    <dgm:sp3d z="-152400" extrusionH="63500" prstMaterial="matte">
      <a:bevelT w="144450" h="6350" prst="relaxedInset"/>
      <a:contourClr>
        <a:schemeClr val="bg1"/>
      </a:contourClr>
    </dgm:sp3d>
    <dgm:txPr/>
    <dgm:style>
      <a:lnRef idx="0">
        <a:scrgbClr r="0" g="0" b="0"/>
      </a:lnRef>
      <a:fillRef idx="3">
        <a:scrgbClr r="0" g="0" b="0"/>
      </a:fillRef>
      <a:effectRef idx="0">
        <a:scrgbClr r="0" g="0" b="0"/>
      </a:effectRef>
      <a:fontRef idx="minor"/>
    </dgm:style>
  </dgm:styleLbl>
  <dgm:styleLbl name="dkBgShp">
    <dgm:scene3d>
      <a:camera prst="orthographicFront"/>
      <a:lightRig rig="threePt" dir="t">
        <a:rot lat="0" lon="0" rev="7500000"/>
      </a:lightRig>
    </dgm:scene3d>
    <dgm:sp3d prstMaterial="plastic">
      <a:bevelT w="127000" h="25400" prst="relaxedInset"/>
      <a:bevelB w="88900" h="121750" prst="angle"/>
    </dgm:sp3d>
    <dgm:txPr/>
    <dgm:style>
      <a:lnRef idx="0">
        <a:scrgbClr r="0" g="0" b="0"/>
      </a:lnRef>
      <a:fillRef idx="1">
        <a:scrgbClr r="0" g="0" b="0"/>
      </a:fillRef>
      <a:effectRef idx="2">
        <a:scrgbClr r="0" g="0" b="0"/>
      </a:effectRef>
      <a:fontRef idx="minor">
        <a:schemeClr val="lt1"/>
      </a:fontRef>
    </dgm:style>
  </dgm:styleLbl>
  <dgm:styleLbl name="trBgShp">
    <dgm:scene3d>
      <a:camera prst="orthographicFront"/>
      <a:lightRig rig="threePt" dir="t"/>
    </dgm:scene3d>
    <dgm:sp3d z="-152400" prstMaterial="matte"/>
    <dgm:txPr/>
    <dgm:style>
      <a:lnRef idx="0">
        <a:scrgbClr r="0" g="0" b="0"/>
      </a:lnRef>
      <a:fillRef idx="1">
        <a:scrgbClr r="0" g="0" b="0"/>
      </a:fillRef>
      <a:effectRef idx="0">
        <a:scrgbClr r="0" g="0" b="0"/>
      </a:effectRef>
      <a:fontRef idx="minor"/>
    </dgm:style>
  </dgm:styleLbl>
  <dgm:styleLbl name="fgShp">
    <dgm:scene3d>
      <a:camera prst="orthographicFront"/>
      <a:lightRig rig="threePt" dir="t">
        <a:rot lat="0" lon="0" rev="7500000"/>
      </a:lightRig>
    </dgm:scene3d>
    <dgm:sp3d z="152400" extrusionH="63500" prstMaterial="matte">
      <a:bevelT w="50800" h="190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EE56F87-A81A-4EDE-81AE-3C76F245D5E1}" type="datetimeFigureOut">
              <a:rPr lang="zh-CN" altLang="en-US" smtClean="0"/>
              <a:t>2018/7/30</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24DC7B0-EBAC-4569-9993-246641655C40}" type="slidenum">
              <a:rPr lang="zh-CN" altLang="en-US" smtClean="0"/>
              <a:t>‹#›</a:t>
            </a:fld>
            <a:endParaRPr lang="zh-CN" altLang="en-US"/>
          </a:p>
        </p:txBody>
      </p:sp>
    </p:spTree>
    <p:extLst>
      <p:ext uri="{BB962C8B-B14F-4D97-AF65-F5344CB8AC3E}">
        <p14:creationId xmlns:p14="http://schemas.microsoft.com/office/powerpoint/2010/main" val="241600252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324DC7B0-EBAC-4569-9993-246641655C40}" type="slidenum">
              <a:rPr lang="zh-CN" altLang="en-US" smtClean="0"/>
              <a:t>1</a:t>
            </a:fld>
            <a:endParaRPr lang="zh-CN" altLang="en-US"/>
          </a:p>
        </p:txBody>
      </p:sp>
    </p:spTree>
    <p:extLst>
      <p:ext uri="{BB962C8B-B14F-4D97-AF65-F5344CB8AC3E}">
        <p14:creationId xmlns:p14="http://schemas.microsoft.com/office/powerpoint/2010/main" val="114112724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324DC7B0-EBAC-4569-9993-246641655C40}" type="slidenum">
              <a:rPr lang="zh-CN" altLang="en-US" smtClean="0"/>
              <a:t>2</a:t>
            </a:fld>
            <a:endParaRPr lang="zh-CN" altLang="en-US"/>
          </a:p>
        </p:txBody>
      </p:sp>
    </p:spTree>
    <p:extLst>
      <p:ext uri="{BB962C8B-B14F-4D97-AF65-F5344CB8AC3E}">
        <p14:creationId xmlns:p14="http://schemas.microsoft.com/office/powerpoint/2010/main" val="241961687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10"/>
          </p:nvPr>
        </p:nvSpPr>
        <p:spPr/>
        <p:txBody>
          <a:bodyPr/>
          <a:lstStyle/>
          <a:p>
            <a:fld id="{324DC7B0-EBAC-4569-9993-246641655C40}" type="slidenum">
              <a:rPr lang="zh-CN" altLang="en-US" smtClean="0"/>
              <a:t>3</a:t>
            </a:fld>
            <a:endParaRPr lang="zh-CN" altLang="en-US"/>
          </a:p>
        </p:txBody>
      </p:sp>
    </p:spTree>
    <p:extLst>
      <p:ext uri="{BB962C8B-B14F-4D97-AF65-F5344CB8AC3E}">
        <p14:creationId xmlns:p14="http://schemas.microsoft.com/office/powerpoint/2010/main" val="25187892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10"/>
          </p:nvPr>
        </p:nvSpPr>
        <p:spPr/>
        <p:txBody>
          <a:bodyPr/>
          <a:lstStyle/>
          <a:p>
            <a:fld id="{324DC7B0-EBAC-4569-9993-246641655C40}" type="slidenum">
              <a:rPr lang="zh-CN" altLang="en-US" smtClean="0"/>
              <a:t>12</a:t>
            </a:fld>
            <a:endParaRPr lang="zh-CN" altLang="en-US"/>
          </a:p>
        </p:txBody>
      </p:sp>
    </p:spTree>
    <p:extLst>
      <p:ext uri="{BB962C8B-B14F-4D97-AF65-F5344CB8AC3E}">
        <p14:creationId xmlns:p14="http://schemas.microsoft.com/office/powerpoint/2010/main" val="199117571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10"/>
          </p:nvPr>
        </p:nvSpPr>
        <p:spPr/>
        <p:txBody>
          <a:bodyPr/>
          <a:lstStyle/>
          <a:p>
            <a:fld id="{324DC7B0-EBAC-4569-9993-246641655C40}" type="slidenum">
              <a:rPr lang="zh-CN" altLang="en-US" smtClean="0"/>
              <a:t>13</a:t>
            </a:fld>
            <a:endParaRPr lang="zh-CN" altLang="en-US"/>
          </a:p>
        </p:txBody>
      </p:sp>
    </p:spTree>
    <p:extLst>
      <p:ext uri="{BB962C8B-B14F-4D97-AF65-F5344CB8AC3E}">
        <p14:creationId xmlns:p14="http://schemas.microsoft.com/office/powerpoint/2010/main" val="202959814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10"/>
          </p:nvPr>
        </p:nvSpPr>
        <p:spPr/>
        <p:txBody>
          <a:bodyPr/>
          <a:lstStyle/>
          <a:p>
            <a:fld id="{324DC7B0-EBAC-4569-9993-246641655C40}" type="slidenum">
              <a:rPr lang="zh-CN" altLang="en-US" smtClean="0"/>
              <a:t>45</a:t>
            </a:fld>
            <a:endParaRPr lang="zh-CN" altLang="en-US"/>
          </a:p>
        </p:txBody>
      </p:sp>
    </p:spTree>
    <p:extLst>
      <p:ext uri="{BB962C8B-B14F-4D97-AF65-F5344CB8AC3E}">
        <p14:creationId xmlns:p14="http://schemas.microsoft.com/office/powerpoint/2010/main" val="314062694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10"/>
          </p:nvPr>
        </p:nvSpPr>
        <p:spPr/>
        <p:txBody>
          <a:bodyPr/>
          <a:lstStyle/>
          <a:p>
            <a:fld id="{324DC7B0-EBAC-4569-9993-246641655C40}" type="slidenum">
              <a:rPr lang="zh-CN" altLang="en-US" smtClean="0"/>
              <a:t>46</a:t>
            </a:fld>
            <a:endParaRPr lang="zh-CN" altLang="en-US"/>
          </a:p>
        </p:txBody>
      </p:sp>
    </p:spTree>
    <p:extLst>
      <p:ext uri="{BB962C8B-B14F-4D97-AF65-F5344CB8AC3E}">
        <p14:creationId xmlns:p14="http://schemas.microsoft.com/office/powerpoint/2010/main" val="120924797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10"/>
          </p:nvPr>
        </p:nvSpPr>
        <p:spPr/>
        <p:txBody>
          <a:bodyPr/>
          <a:lstStyle/>
          <a:p>
            <a:fld id="{324DC7B0-EBAC-4569-9993-246641655C40}" type="slidenum">
              <a:rPr lang="zh-CN" altLang="en-US" smtClean="0"/>
              <a:t>47</a:t>
            </a:fld>
            <a:endParaRPr lang="zh-CN" altLang="en-US"/>
          </a:p>
        </p:txBody>
      </p:sp>
    </p:spTree>
    <p:extLst>
      <p:ext uri="{BB962C8B-B14F-4D97-AF65-F5344CB8AC3E}">
        <p14:creationId xmlns:p14="http://schemas.microsoft.com/office/powerpoint/2010/main" val="375222238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10"/>
          </p:nvPr>
        </p:nvSpPr>
        <p:spPr/>
        <p:txBody>
          <a:bodyPr/>
          <a:lstStyle/>
          <a:p>
            <a:fld id="{324DC7B0-EBAC-4569-9993-246641655C40}" type="slidenum">
              <a:rPr lang="zh-CN" altLang="en-US" smtClean="0"/>
              <a:t>48</a:t>
            </a:fld>
            <a:endParaRPr lang="zh-CN" altLang="en-US"/>
          </a:p>
        </p:txBody>
      </p:sp>
    </p:spTree>
    <p:extLst>
      <p:ext uri="{BB962C8B-B14F-4D97-AF65-F5344CB8AC3E}">
        <p14:creationId xmlns:p14="http://schemas.microsoft.com/office/powerpoint/2010/main" val="249239119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10"/>
          </p:nvPr>
        </p:nvSpPr>
        <p:spPr/>
        <p:txBody>
          <a:bodyPr/>
          <a:lstStyle/>
          <a:p>
            <a:fld id="{324DC7B0-EBAC-4569-9993-246641655C40}" type="slidenum">
              <a:rPr lang="zh-CN" altLang="en-US" smtClean="0"/>
              <a:t>49</a:t>
            </a:fld>
            <a:endParaRPr lang="zh-CN" altLang="en-US"/>
          </a:p>
        </p:txBody>
      </p:sp>
    </p:spTree>
    <p:extLst>
      <p:ext uri="{BB962C8B-B14F-4D97-AF65-F5344CB8AC3E}">
        <p14:creationId xmlns:p14="http://schemas.microsoft.com/office/powerpoint/2010/main" val="42304293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10"/>
          </p:nvPr>
        </p:nvSpPr>
        <p:spPr/>
        <p:txBody>
          <a:bodyPr/>
          <a:lstStyle/>
          <a:p>
            <a:fld id="{324DC7B0-EBAC-4569-9993-246641655C40}" type="slidenum">
              <a:rPr lang="zh-CN" altLang="en-US" smtClean="0"/>
              <a:t>50</a:t>
            </a:fld>
            <a:endParaRPr lang="zh-CN" altLang="en-US"/>
          </a:p>
        </p:txBody>
      </p:sp>
    </p:spTree>
    <p:extLst>
      <p:ext uri="{BB962C8B-B14F-4D97-AF65-F5344CB8AC3E}">
        <p14:creationId xmlns:p14="http://schemas.microsoft.com/office/powerpoint/2010/main" val="175244800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10"/>
          </p:nvPr>
        </p:nvSpPr>
        <p:spPr/>
        <p:txBody>
          <a:bodyPr/>
          <a:lstStyle/>
          <a:p>
            <a:fld id="{324DC7B0-EBAC-4569-9993-246641655C40}" type="slidenum">
              <a:rPr lang="zh-CN" altLang="en-US" smtClean="0"/>
              <a:t>51</a:t>
            </a:fld>
            <a:endParaRPr lang="zh-CN" altLang="en-US"/>
          </a:p>
        </p:txBody>
      </p:sp>
    </p:spTree>
    <p:extLst>
      <p:ext uri="{BB962C8B-B14F-4D97-AF65-F5344CB8AC3E}">
        <p14:creationId xmlns:p14="http://schemas.microsoft.com/office/powerpoint/2010/main" val="325755515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10"/>
          </p:nvPr>
        </p:nvSpPr>
        <p:spPr/>
        <p:txBody>
          <a:bodyPr/>
          <a:lstStyle/>
          <a:p>
            <a:fld id="{324DC7B0-EBAC-4569-9993-246641655C40}" type="slidenum">
              <a:rPr lang="zh-CN" altLang="en-US" smtClean="0"/>
              <a:t>52</a:t>
            </a:fld>
            <a:endParaRPr lang="zh-CN" altLang="en-US"/>
          </a:p>
        </p:txBody>
      </p:sp>
    </p:spTree>
    <p:extLst>
      <p:ext uri="{BB962C8B-B14F-4D97-AF65-F5344CB8AC3E}">
        <p14:creationId xmlns:p14="http://schemas.microsoft.com/office/powerpoint/2010/main" val="403257080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10"/>
          </p:nvPr>
        </p:nvSpPr>
        <p:spPr/>
        <p:txBody>
          <a:bodyPr/>
          <a:lstStyle/>
          <a:p>
            <a:fld id="{324DC7B0-EBAC-4569-9993-246641655C40}" type="slidenum">
              <a:rPr lang="zh-CN" altLang="en-US" smtClean="0"/>
              <a:t>53</a:t>
            </a:fld>
            <a:endParaRPr lang="zh-CN" altLang="en-US"/>
          </a:p>
        </p:txBody>
      </p:sp>
    </p:spTree>
    <p:extLst>
      <p:ext uri="{BB962C8B-B14F-4D97-AF65-F5344CB8AC3E}">
        <p14:creationId xmlns:p14="http://schemas.microsoft.com/office/powerpoint/2010/main" val="141059166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10"/>
          </p:nvPr>
        </p:nvSpPr>
        <p:spPr/>
        <p:txBody>
          <a:bodyPr/>
          <a:lstStyle/>
          <a:p>
            <a:fld id="{324DC7B0-EBAC-4569-9993-246641655C40}" type="slidenum">
              <a:rPr lang="zh-CN" altLang="en-US" smtClean="0"/>
              <a:t>54</a:t>
            </a:fld>
            <a:endParaRPr lang="zh-CN" altLang="en-US"/>
          </a:p>
        </p:txBody>
      </p:sp>
    </p:spTree>
    <p:extLst>
      <p:ext uri="{BB962C8B-B14F-4D97-AF65-F5344CB8AC3E}">
        <p14:creationId xmlns:p14="http://schemas.microsoft.com/office/powerpoint/2010/main" val="161681593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10"/>
          </p:nvPr>
        </p:nvSpPr>
        <p:spPr/>
        <p:txBody>
          <a:bodyPr/>
          <a:lstStyle/>
          <a:p>
            <a:fld id="{324DC7B0-EBAC-4569-9993-246641655C40}" type="slidenum">
              <a:rPr lang="zh-CN" altLang="en-US" smtClean="0"/>
              <a:t>55</a:t>
            </a:fld>
            <a:endParaRPr lang="zh-CN" altLang="en-US"/>
          </a:p>
        </p:txBody>
      </p:sp>
    </p:spTree>
    <p:extLst>
      <p:ext uri="{BB962C8B-B14F-4D97-AF65-F5344CB8AC3E}">
        <p14:creationId xmlns:p14="http://schemas.microsoft.com/office/powerpoint/2010/main" val="188325533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10"/>
          </p:nvPr>
        </p:nvSpPr>
        <p:spPr/>
        <p:txBody>
          <a:bodyPr/>
          <a:lstStyle/>
          <a:p>
            <a:fld id="{324DC7B0-EBAC-4569-9993-246641655C40}" type="slidenum">
              <a:rPr lang="zh-CN" altLang="en-US" smtClean="0"/>
              <a:t>56</a:t>
            </a:fld>
            <a:endParaRPr lang="zh-CN" altLang="en-US"/>
          </a:p>
        </p:txBody>
      </p:sp>
    </p:spTree>
    <p:extLst>
      <p:ext uri="{BB962C8B-B14F-4D97-AF65-F5344CB8AC3E}">
        <p14:creationId xmlns:p14="http://schemas.microsoft.com/office/powerpoint/2010/main" val="355857318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10"/>
          </p:nvPr>
        </p:nvSpPr>
        <p:spPr/>
        <p:txBody>
          <a:bodyPr/>
          <a:lstStyle/>
          <a:p>
            <a:fld id="{324DC7B0-EBAC-4569-9993-246641655C40}" type="slidenum">
              <a:rPr lang="zh-CN" altLang="en-US" smtClean="0"/>
              <a:t>57</a:t>
            </a:fld>
            <a:endParaRPr lang="zh-CN" altLang="en-US"/>
          </a:p>
        </p:txBody>
      </p:sp>
    </p:spTree>
    <p:extLst>
      <p:ext uri="{BB962C8B-B14F-4D97-AF65-F5344CB8AC3E}">
        <p14:creationId xmlns:p14="http://schemas.microsoft.com/office/powerpoint/2010/main" val="177601223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10"/>
          </p:nvPr>
        </p:nvSpPr>
        <p:spPr/>
        <p:txBody>
          <a:bodyPr/>
          <a:lstStyle/>
          <a:p>
            <a:fld id="{324DC7B0-EBAC-4569-9993-246641655C40}" type="slidenum">
              <a:rPr lang="zh-CN" altLang="en-US" smtClean="0"/>
              <a:t>58</a:t>
            </a:fld>
            <a:endParaRPr lang="zh-CN" altLang="en-US"/>
          </a:p>
        </p:txBody>
      </p:sp>
    </p:spTree>
    <p:extLst>
      <p:ext uri="{BB962C8B-B14F-4D97-AF65-F5344CB8AC3E}">
        <p14:creationId xmlns:p14="http://schemas.microsoft.com/office/powerpoint/2010/main" val="362724330"/>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10"/>
          </p:nvPr>
        </p:nvSpPr>
        <p:spPr/>
        <p:txBody>
          <a:bodyPr/>
          <a:lstStyle/>
          <a:p>
            <a:fld id="{324DC7B0-EBAC-4569-9993-246641655C40}" type="slidenum">
              <a:rPr lang="zh-CN" altLang="en-US" smtClean="0"/>
              <a:t>59</a:t>
            </a:fld>
            <a:endParaRPr lang="zh-CN" altLang="en-US"/>
          </a:p>
        </p:txBody>
      </p:sp>
    </p:spTree>
    <p:extLst>
      <p:ext uri="{BB962C8B-B14F-4D97-AF65-F5344CB8AC3E}">
        <p14:creationId xmlns:p14="http://schemas.microsoft.com/office/powerpoint/2010/main" val="186339066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仅标题">
    <p:spTree>
      <p:nvGrpSpPr>
        <p:cNvPr id="1" name=""/>
        <p:cNvGrpSpPr/>
        <p:nvPr/>
      </p:nvGrpSpPr>
      <p:grpSpPr>
        <a:xfrm>
          <a:off x="0" y="0"/>
          <a:ext cx="0" cy="0"/>
          <a:chOff x="0" y="0"/>
          <a:chExt cx="0" cy="0"/>
        </a:xfrm>
      </p:grpSpPr>
    </p:spTree>
    <p:extLst>
      <p:ext uri="{BB962C8B-B14F-4D97-AF65-F5344CB8AC3E}">
        <p14:creationId xmlns:p14="http://schemas.microsoft.com/office/powerpoint/2010/main" val="208284229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extLst>
      <p:ext uri="{BB962C8B-B14F-4D97-AF65-F5344CB8AC3E}">
        <p14:creationId xmlns:p14="http://schemas.microsoft.com/office/powerpoint/2010/main" val="321110761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itle">
  <p:cSld name="標題投影片">
    <p:spTree>
      <p:nvGrpSpPr>
        <p:cNvPr id="1" name=""/>
        <p:cNvGrpSpPr/>
        <p:nvPr/>
      </p:nvGrpSpPr>
      <p:grpSpPr>
        <a:xfrm>
          <a:off x="0" y="0"/>
          <a:ext cx="0" cy="0"/>
          <a:chOff x="0" y="0"/>
          <a:chExt cx="0" cy="0"/>
        </a:xfrm>
      </p:grpSpPr>
      <p:sp>
        <p:nvSpPr>
          <p:cNvPr id="2" name="標題 1"/>
          <p:cNvSpPr>
            <a:spLocks noGrp="1"/>
          </p:cNvSpPr>
          <p:nvPr>
            <p:ph type="ctrTitle"/>
          </p:nvPr>
        </p:nvSpPr>
        <p:spPr>
          <a:xfrm>
            <a:off x="914400" y="2130426"/>
            <a:ext cx="10363200" cy="1470025"/>
          </a:xfrm>
        </p:spPr>
        <p:txBody>
          <a:bodyPr/>
          <a:lstStyle/>
          <a:p>
            <a:r>
              <a:rPr lang="zh-TW" altLang="en-US"/>
              <a:t>按一下以編輯母片標題樣式</a:t>
            </a:r>
          </a:p>
        </p:txBody>
      </p:sp>
      <p:sp>
        <p:nvSpPr>
          <p:cNvPr id="3" name="副標題 2"/>
          <p:cNvSpPr>
            <a:spLocks noGrp="1"/>
          </p:cNvSpPr>
          <p:nvPr>
            <p:ph type="subTitle" idx="1"/>
          </p:nvPr>
        </p:nvSpPr>
        <p:spPr>
          <a:xfrm>
            <a:off x="1828800" y="3886200"/>
            <a:ext cx="85344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TW" altLang="en-US"/>
              <a:t>按一下以編輯母片副標題樣式</a:t>
            </a:r>
          </a:p>
        </p:txBody>
      </p:sp>
      <p:sp>
        <p:nvSpPr>
          <p:cNvPr id="4" name="日期版面配置區 3"/>
          <p:cNvSpPr>
            <a:spLocks noGrp="1"/>
          </p:cNvSpPr>
          <p:nvPr>
            <p:ph type="dt" sz="half" idx="10"/>
          </p:nvPr>
        </p:nvSpPr>
        <p:spPr/>
        <p:txBody>
          <a:bodyPr/>
          <a:lstStyle/>
          <a:p>
            <a:fld id="{56EB3881-3AD9-4248-89BF-3585ADFDE6D3}" type="datetime1">
              <a:rPr lang="zh-TW" altLang="en-US" smtClean="0"/>
              <a:t>2018/7/30</a:t>
            </a:fld>
            <a:endParaRPr lang="zh-TW" altLang="en-US"/>
          </a:p>
        </p:txBody>
      </p:sp>
      <p:sp>
        <p:nvSpPr>
          <p:cNvPr id="5" name="頁尾版面配置區 4"/>
          <p:cNvSpPr>
            <a:spLocks noGrp="1"/>
          </p:cNvSpPr>
          <p:nvPr>
            <p:ph type="ftr" sz="quarter" idx="11"/>
          </p:nvPr>
        </p:nvSpPr>
        <p:spPr/>
        <p:txBody>
          <a:bodyPr/>
          <a:lstStyle/>
          <a:p>
            <a:r>
              <a:rPr lang="zh-TW" altLang="en-US"/>
              <a:t>區塊鏈商業應用概論 實例與分析／許孟祥 編著／新陸書局股份有限公司 發行</a:t>
            </a:r>
          </a:p>
        </p:txBody>
      </p:sp>
      <p:sp>
        <p:nvSpPr>
          <p:cNvPr id="6" name="投影片編號版面配置區 5"/>
          <p:cNvSpPr>
            <a:spLocks noGrp="1"/>
          </p:cNvSpPr>
          <p:nvPr>
            <p:ph type="sldNum" sz="quarter" idx="12"/>
          </p:nvPr>
        </p:nvSpPr>
        <p:spPr/>
        <p:txBody>
          <a:bodyPr/>
          <a:lstStyle/>
          <a:p>
            <a:fld id="{9F98A096-46F7-4F4A-8106-40B5A13C16D3}" type="slidenum">
              <a:rPr lang="zh-TW" altLang="en-US" smtClean="0"/>
              <a:t>‹#›</a:t>
            </a:fld>
            <a:endParaRPr lang="zh-TW" altLang="en-US"/>
          </a:p>
        </p:txBody>
      </p:sp>
    </p:spTree>
    <p:extLst>
      <p:ext uri="{BB962C8B-B14F-4D97-AF65-F5344CB8AC3E}">
        <p14:creationId xmlns:p14="http://schemas.microsoft.com/office/powerpoint/2010/main" val="4247428790"/>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9F9F9"/>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160587327"/>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70" r:id="rId3"/>
  </p:sldLayoutIdLst>
  <p:hf sldNum="0"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mod="1">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3.xml"/><Relationship Id="rId5" Type="http://schemas.openxmlformats.org/officeDocument/2006/relationships/image" Target="../media/image4.png"/><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5.png"/><Relationship Id="rId1" Type="http://schemas.openxmlformats.org/officeDocument/2006/relationships/slideLayout" Target="../slideLayouts/slideLayout3.xml"/><Relationship Id="rId4" Type="http://schemas.openxmlformats.org/officeDocument/2006/relationships/image" Target="../media/image6.png"/></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5.png"/><Relationship Id="rId1" Type="http://schemas.openxmlformats.org/officeDocument/2006/relationships/slideLayout" Target="../slideLayouts/slideLayout3.xml"/><Relationship Id="rId5" Type="http://schemas.openxmlformats.org/officeDocument/2006/relationships/image" Target="../media/image8.png"/><Relationship Id="rId4" Type="http://schemas.openxmlformats.org/officeDocument/2006/relationships/image" Target="../media/image7.png"/></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5.png"/><Relationship Id="rId1" Type="http://schemas.openxmlformats.org/officeDocument/2006/relationships/slideLayout" Target="../slideLayouts/slideLayout3.xml"/><Relationship Id="rId4" Type="http://schemas.openxmlformats.org/officeDocument/2006/relationships/image" Target="../media/image9.png"/></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0.png"/><Relationship Id="rId1" Type="http://schemas.openxmlformats.org/officeDocument/2006/relationships/slideLayout" Target="../slideLayouts/slideLayout3.xml"/><Relationship Id="rId4" Type="http://schemas.openxmlformats.org/officeDocument/2006/relationships/image" Target="../media/image2.png"/></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3.xml"/><Relationship Id="rId4" Type="http://schemas.openxmlformats.org/officeDocument/2006/relationships/image" Target="../media/image11.png"/></Relationships>
</file>

<file path=ppt/slides/_rels/slide9.xml.rels><?xml version="1.0" encoding="UTF-8" standalone="yes"?>
<Relationships xmlns="http://schemas.openxmlformats.org/package/2006/relationships"><Relationship Id="rId3" Type="http://schemas.openxmlformats.org/officeDocument/2006/relationships/image" Target="../media/image12.png"/><Relationship Id="rId7" Type="http://schemas.openxmlformats.org/officeDocument/2006/relationships/image" Target="../media/image5.png"/><Relationship Id="rId2" Type="http://schemas.openxmlformats.org/officeDocument/2006/relationships/image" Target="../media/image2.png"/><Relationship Id="rId1" Type="http://schemas.openxmlformats.org/officeDocument/2006/relationships/slideLayout" Target="../slideLayouts/slideLayout3.xml"/><Relationship Id="rId6" Type="http://schemas.openxmlformats.org/officeDocument/2006/relationships/image" Target="../media/image15.png"/><Relationship Id="rId5" Type="http://schemas.openxmlformats.org/officeDocument/2006/relationships/image" Target="../media/image14.jpg"/><Relationship Id="rId4" Type="http://schemas.openxmlformats.org/officeDocument/2006/relationships/image" Target="../media/image13.png"/></Relationships>
</file>

<file path=ppt/slides/_rels/slide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2.png"/><Relationship Id="rId1" Type="http://schemas.openxmlformats.org/officeDocument/2006/relationships/slideLayout" Target="../slideLayouts/slideLayout3.xml"/><Relationship Id="rId4" Type="http://schemas.openxmlformats.org/officeDocument/2006/relationships/image" Target="../media/image16.png"/></Relationships>
</file>

<file path=ppt/slides/_rels/slide1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2.png"/><Relationship Id="rId1" Type="http://schemas.openxmlformats.org/officeDocument/2006/relationships/slideLayout" Target="../slideLayouts/slideLayout3.xml"/><Relationship Id="rId4" Type="http://schemas.openxmlformats.org/officeDocument/2006/relationships/image" Target="../media/image17.png"/></Relationships>
</file>

<file path=ppt/slides/_rels/slide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3.xml"/><Relationship Id="rId6" Type="http://schemas.openxmlformats.org/officeDocument/2006/relationships/image" Target="../media/image19.png"/><Relationship Id="rId5" Type="http://schemas.openxmlformats.org/officeDocument/2006/relationships/image" Target="../media/image18.png"/><Relationship Id="rId4" Type="http://schemas.openxmlformats.org/officeDocument/2006/relationships/image" Target="../media/image5.png"/></Relationships>
</file>

<file path=ppt/slides/_rels/slide1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3.xml"/><Relationship Id="rId6" Type="http://schemas.openxmlformats.org/officeDocument/2006/relationships/image" Target="../media/image20.png"/><Relationship Id="rId5" Type="http://schemas.openxmlformats.org/officeDocument/2006/relationships/image" Target="../media/image18.png"/><Relationship Id="rId4" Type="http://schemas.openxmlformats.org/officeDocument/2006/relationships/image" Target="../media/image5.png"/></Relationships>
</file>

<file path=ppt/slides/_rels/slide1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2.png"/><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2.png"/><Relationship Id="rId1" Type="http://schemas.openxmlformats.org/officeDocument/2006/relationships/slideLayout" Target="../slideLayouts/slideLayout3.xml"/><Relationship Id="rId4" Type="http://schemas.openxmlformats.org/officeDocument/2006/relationships/image" Target="../media/image21.png"/></Relationships>
</file>

<file path=ppt/slides/_rels/slide1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2.png"/><Relationship Id="rId1" Type="http://schemas.openxmlformats.org/officeDocument/2006/relationships/slideLayout" Target="../slideLayouts/slideLayout3.xml"/><Relationship Id="rId4" Type="http://schemas.openxmlformats.org/officeDocument/2006/relationships/image" Target="../media/image22.png"/></Relationships>
</file>

<file path=ppt/slides/_rels/slide1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2.png"/><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2.png"/><Relationship Id="rId1" Type="http://schemas.openxmlformats.org/officeDocument/2006/relationships/slideLayout" Target="../slideLayouts/slideLayout3.xml"/><Relationship Id="rId4" Type="http://schemas.openxmlformats.org/officeDocument/2006/relationships/image" Target="../media/image23.png"/></Relationships>
</file>

<file path=ppt/slides/_rels/slide1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2.png"/><Relationship Id="rId1" Type="http://schemas.openxmlformats.org/officeDocument/2006/relationships/slideLayout" Target="../slideLayouts/slideLayout3.xml"/><Relationship Id="rId4" Type="http://schemas.openxmlformats.org/officeDocument/2006/relationships/image" Target="../media/image24.png"/></Relationships>
</file>

<file path=ppt/slides/_rels/slide2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2.png"/><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2.png"/><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2.png"/><Relationship Id="rId1" Type="http://schemas.openxmlformats.org/officeDocument/2006/relationships/slideLayout" Target="../slideLayouts/slideLayout3.xml"/><Relationship Id="rId4" Type="http://schemas.openxmlformats.org/officeDocument/2006/relationships/image" Target="../media/image25.png"/></Relationships>
</file>

<file path=ppt/slides/_rels/slide2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26.png"/><Relationship Id="rId1" Type="http://schemas.openxmlformats.org/officeDocument/2006/relationships/slideLayout" Target="../slideLayouts/slideLayout3.xml"/><Relationship Id="rId4" Type="http://schemas.openxmlformats.org/officeDocument/2006/relationships/image" Target="../media/image5.png"/></Relationships>
</file>

<file path=ppt/slides/_rels/slide2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2.png"/><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image" Target="../media/image2.png"/><Relationship Id="rId1" Type="http://schemas.openxmlformats.org/officeDocument/2006/relationships/slideLayout" Target="../slideLayouts/slideLayout3.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2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2.png"/><Relationship Id="rId1" Type="http://schemas.openxmlformats.org/officeDocument/2006/relationships/slideLayout" Target="../slideLayouts/slideLayout3.xml"/><Relationship Id="rId4" Type="http://schemas.openxmlformats.org/officeDocument/2006/relationships/image" Target="../media/image27.png"/></Relationships>
</file>

<file path=ppt/slides/_rels/slide2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2.png"/><Relationship Id="rId1" Type="http://schemas.openxmlformats.org/officeDocument/2006/relationships/slideLayout" Target="../slideLayouts/slideLayout3.xml"/><Relationship Id="rId4" Type="http://schemas.openxmlformats.org/officeDocument/2006/relationships/image" Target="../media/image28.png"/></Relationships>
</file>

<file path=ppt/slides/_rels/slide2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2.png"/><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2.png"/><Relationship Id="rId1" Type="http://schemas.openxmlformats.org/officeDocument/2006/relationships/slideLayout" Target="../slideLayouts/slideLayout3.xml"/><Relationship Id="rId4" Type="http://schemas.openxmlformats.org/officeDocument/2006/relationships/image" Target="../media/image29.PNG"/></Relationships>
</file>

<file path=ppt/slides/_rels/slide3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2.png"/><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2.png"/><Relationship Id="rId1" Type="http://schemas.openxmlformats.org/officeDocument/2006/relationships/slideLayout" Target="../slideLayouts/slideLayout3.xml"/><Relationship Id="rId4" Type="http://schemas.openxmlformats.org/officeDocument/2006/relationships/image" Target="../media/image30.png"/></Relationships>
</file>

<file path=ppt/slides/_rels/slide3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2.png"/><Relationship Id="rId1" Type="http://schemas.openxmlformats.org/officeDocument/2006/relationships/slideLayout" Target="../slideLayouts/slideLayout3.xml"/><Relationship Id="rId5" Type="http://schemas.openxmlformats.org/officeDocument/2006/relationships/image" Target="../media/image31.png"/><Relationship Id="rId4" Type="http://schemas.openxmlformats.org/officeDocument/2006/relationships/image" Target="../media/image30.png"/></Relationships>
</file>

<file path=ppt/slides/_rels/slide3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2.png"/><Relationship Id="rId1" Type="http://schemas.openxmlformats.org/officeDocument/2006/relationships/slideLayout" Target="../slideLayouts/slideLayout3.xml"/><Relationship Id="rId4" Type="http://schemas.openxmlformats.org/officeDocument/2006/relationships/image" Target="../media/image32.png"/></Relationships>
</file>

<file path=ppt/slides/_rels/slide3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2.png"/><Relationship Id="rId1" Type="http://schemas.openxmlformats.org/officeDocument/2006/relationships/slideLayout" Target="../slideLayouts/slideLayout3.xml"/><Relationship Id="rId4" Type="http://schemas.openxmlformats.org/officeDocument/2006/relationships/image" Target="../media/image33.png"/></Relationships>
</file>

<file path=ppt/slides/_rels/slide3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2.png"/><Relationship Id="rId1" Type="http://schemas.openxmlformats.org/officeDocument/2006/relationships/slideLayout" Target="../slideLayouts/slideLayout3.xml"/><Relationship Id="rId4" Type="http://schemas.openxmlformats.org/officeDocument/2006/relationships/image" Target="../media/image34.png"/></Relationships>
</file>

<file path=ppt/slides/_rels/slide3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2.png"/><Relationship Id="rId1" Type="http://schemas.openxmlformats.org/officeDocument/2006/relationships/slideLayout" Target="../slideLayouts/slideLayout3.xml"/><Relationship Id="rId4" Type="http://schemas.openxmlformats.org/officeDocument/2006/relationships/image" Target="../media/image35.png"/></Relationships>
</file>

<file path=ppt/slides/_rels/slide3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2.png"/><Relationship Id="rId1" Type="http://schemas.openxmlformats.org/officeDocument/2006/relationships/slideLayout" Target="../slideLayouts/slideLayout3.xml"/><Relationship Id="rId4" Type="http://schemas.openxmlformats.org/officeDocument/2006/relationships/image" Target="../media/image36.png"/></Relationships>
</file>

<file path=ppt/slides/_rels/slide3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3.xml"/></Relationships>
</file>

<file path=ppt/slides/_rels/slide3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2.png"/><Relationship Id="rId1" Type="http://schemas.openxmlformats.org/officeDocument/2006/relationships/slideLayout" Target="../slideLayouts/slideLayout3.xml"/></Relationships>
</file>

<file path=ppt/slides/_rels/slide4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2.png"/><Relationship Id="rId1" Type="http://schemas.openxmlformats.org/officeDocument/2006/relationships/slideLayout" Target="../slideLayouts/slideLayout3.xml"/><Relationship Id="rId6" Type="http://schemas.openxmlformats.org/officeDocument/2006/relationships/image" Target="../media/image39.png"/><Relationship Id="rId5" Type="http://schemas.openxmlformats.org/officeDocument/2006/relationships/image" Target="../media/image38.png"/><Relationship Id="rId4" Type="http://schemas.openxmlformats.org/officeDocument/2006/relationships/image" Target="../media/image37.png"/></Relationships>
</file>

<file path=ppt/slides/_rels/slide4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2.png"/><Relationship Id="rId1" Type="http://schemas.openxmlformats.org/officeDocument/2006/relationships/slideLayout" Target="../slideLayouts/slideLayout3.xml"/><Relationship Id="rId5" Type="http://schemas.microsoft.com/office/2007/relationships/hdphoto" Target="../media/hdphoto1.wdp"/><Relationship Id="rId4" Type="http://schemas.openxmlformats.org/officeDocument/2006/relationships/image" Target="../media/image40.png"/></Relationships>
</file>

<file path=ppt/slides/_rels/slide4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2.png"/><Relationship Id="rId1" Type="http://schemas.openxmlformats.org/officeDocument/2006/relationships/slideLayout" Target="../slideLayouts/slideLayout3.xml"/><Relationship Id="rId4" Type="http://schemas.openxmlformats.org/officeDocument/2006/relationships/image" Target="../media/image41.png"/></Relationships>
</file>

<file path=ppt/slides/_rels/slide4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2.png"/><Relationship Id="rId1" Type="http://schemas.openxmlformats.org/officeDocument/2006/relationships/slideLayout" Target="../slideLayouts/slideLayout3.xml"/><Relationship Id="rId4" Type="http://schemas.openxmlformats.org/officeDocument/2006/relationships/image" Target="../media/image42.png"/></Relationships>
</file>

<file path=ppt/slides/_rels/slide4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2.png"/><Relationship Id="rId1" Type="http://schemas.openxmlformats.org/officeDocument/2006/relationships/slideLayout" Target="../slideLayouts/slideLayout3.xml"/><Relationship Id="rId4" Type="http://schemas.openxmlformats.org/officeDocument/2006/relationships/image" Target="../media/image43.png"/></Relationships>
</file>

<file path=ppt/slides/_rels/slide45.xml.rels><?xml version="1.0" encoding="UTF-8" standalone="yes"?>
<Relationships xmlns="http://schemas.openxmlformats.org/package/2006/relationships"><Relationship Id="rId8" Type="http://schemas.openxmlformats.org/officeDocument/2006/relationships/image" Target="../media/image48.png"/><Relationship Id="rId3" Type="http://schemas.openxmlformats.org/officeDocument/2006/relationships/image" Target="../media/image2.png"/><Relationship Id="rId7" Type="http://schemas.openxmlformats.org/officeDocument/2006/relationships/image" Target="../media/image47.png"/><Relationship Id="rId2" Type="http://schemas.openxmlformats.org/officeDocument/2006/relationships/notesSlide" Target="../notesSlides/notesSlide6.xml"/><Relationship Id="rId1" Type="http://schemas.openxmlformats.org/officeDocument/2006/relationships/slideLayout" Target="../slideLayouts/slideLayout3.xml"/><Relationship Id="rId6" Type="http://schemas.openxmlformats.org/officeDocument/2006/relationships/image" Target="../media/image46.jpeg"/><Relationship Id="rId5" Type="http://schemas.openxmlformats.org/officeDocument/2006/relationships/image" Target="../media/image45.png"/><Relationship Id="rId4" Type="http://schemas.openxmlformats.org/officeDocument/2006/relationships/image" Target="../media/image44.png"/><Relationship Id="rId9" Type="http://schemas.openxmlformats.org/officeDocument/2006/relationships/image" Target="../media/image49.png"/></Relationships>
</file>

<file path=ppt/slides/_rels/slide4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3.xml"/><Relationship Id="rId5" Type="http://schemas.openxmlformats.org/officeDocument/2006/relationships/image" Target="../media/image50.png"/><Relationship Id="rId4" Type="http://schemas.openxmlformats.org/officeDocument/2006/relationships/image" Target="../media/image5.png"/></Relationships>
</file>

<file path=ppt/slides/_rels/slide4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xml"/><Relationship Id="rId1" Type="http://schemas.openxmlformats.org/officeDocument/2006/relationships/slideLayout" Target="../slideLayouts/slideLayout3.xml"/><Relationship Id="rId6" Type="http://schemas.openxmlformats.org/officeDocument/2006/relationships/image" Target="../media/image52.png"/><Relationship Id="rId5" Type="http://schemas.openxmlformats.org/officeDocument/2006/relationships/image" Target="../media/image51.png"/><Relationship Id="rId4" Type="http://schemas.openxmlformats.org/officeDocument/2006/relationships/image" Target="../media/image5.png"/></Relationships>
</file>

<file path=ppt/slides/_rels/slide4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9.xml"/><Relationship Id="rId1" Type="http://schemas.openxmlformats.org/officeDocument/2006/relationships/slideLayout" Target="../slideLayouts/slideLayout3.xml"/><Relationship Id="rId5" Type="http://schemas.openxmlformats.org/officeDocument/2006/relationships/image" Target="../media/image53.png"/><Relationship Id="rId4" Type="http://schemas.openxmlformats.org/officeDocument/2006/relationships/image" Target="../media/image5.png"/></Relationships>
</file>

<file path=ppt/slides/_rels/slide4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0.xml"/><Relationship Id="rId1" Type="http://schemas.openxmlformats.org/officeDocument/2006/relationships/slideLayout" Target="../slideLayouts/slideLayout3.xml"/><Relationship Id="rId5" Type="http://schemas.openxmlformats.org/officeDocument/2006/relationships/image" Target="../media/image54.png"/><Relationship Id="rId4" Type="http://schemas.openxmlformats.org/officeDocument/2006/relationships/image" Target="../media/image5.png"/></Relationships>
</file>

<file path=ppt/slides/_rels/slide50.xml.rels><?xml version="1.0" encoding="UTF-8" standalone="yes"?>
<Relationships xmlns="http://schemas.openxmlformats.org/package/2006/relationships"><Relationship Id="rId8" Type="http://schemas.openxmlformats.org/officeDocument/2006/relationships/diagramColors" Target="../diagrams/colors2.xml"/><Relationship Id="rId3" Type="http://schemas.openxmlformats.org/officeDocument/2006/relationships/image" Target="../media/image2.png"/><Relationship Id="rId7" Type="http://schemas.openxmlformats.org/officeDocument/2006/relationships/diagramQuickStyle" Target="../diagrams/quickStyle2.xml"/><Relationship Id="rId2" Type="http://schemas.openxmlformats.org/officeDocument/2006/relationships/notesSlide" Target="../notesSlides/notesSlide11.xml"/><Relationship Id="rId1" Type="http://schemas.openxmlformats.org/officeDocument/2006/relationships/slideLayout" Target="../slideLayouts/slideLayout3.xml"/><Relationship Id="rId6" Type="http://schemas.openxmlformats.org/officeDocument/2006/relationships/diagramLayout" Target="../diagrams/layout2.xml"/><Relationship Id="rId5" Type="http://schemas.openxmlformats.org/officeDocument/2006/relationships/diagramData" Target="../diagrams/data2.xml"/><Relationship Id="rId4" Type="http://schemas.openxmlformats.org/officeDocument/2006/relationships/image" Target="../media/image5.png"/><Relationship Id="rId9" Type="http://schemas.microsoft.com/office/2007/relationships/diagramDrawing" Target="../diagrams/drawing2.xml"/></Relationships>
</file>

<file path=ppt/slides/_rels/slide51.xml.rels><?xml version="1.0" encoding="UTF-8" standalone="yes"?>
<Relationships xmlns="http://schemas.openxmlformats.org/package/2006/relationships"><Relationship Id="rId8" Type="http://schemas.openxmlformats.org/officeDocument/2006/relationships/diagramColors" Target="../diagrams/colors3.xml"/><Relationship Id="rId3" Type="http://schemas.openxmlformats.org/officeDocument/2006/relationships/image" Target="../media/image2.png"/><Relationship Id="rId7" Type="http://schemas.openxmlformats.org/officeDocument/2006/relationships/diagramQuickStyle" Target="../diagrams/quickStyle3.xml"/><Relationship Id="rId2" Type="http://schemas.openxmlformats.org/officeDocument/2006/relationships/notesSlide" Target="../notesSlides/notesSlide12.xml"/><Relationship Id="rId1" Type="http://schemas.openxmlformats.org/officeDocument/2006/relationships/slideLayout" Target="../slideLayouts/slideLayout3.xml"/><Relationship Id="rId6" Type="http://schemas.openxmlformats.org/officeDocument/2006/relationships/diagramLayout" Target="../diagrams/layout3.xml"/><Relationship Id="rId5" Type="http://schemas.openxmlformats.org/officeDocument/2006/relationships/diagramData" Target="../diagrams/data3.xml"/><Relationship Id="rId10" Type="http://schemas.openxmlformats.org/officeDocument/2006/relationships/image" Target="../media/image55.png"/><Relationship Id="rId4" Type="http://schemas.openxmlformats.org/officeDocument/2006/relationships/image" Target="../media/image5.png"/><Relationship Id="rId9" Type="http://schemas.microsoft.com/office/2007/relationships/diagramDrawing" Target="../diagrams/drawing3.xml"/></Relationships>
</file>

<file path=ppt/slides/_rels/slide5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3.xml"/><Relationship Id="rId1" Type="http://schemas.openxmlformats.org/officeDocument/2006/relationships/slideLayout" Target="../slideLayouts/slideLayout3.xml"/><Relationship Id="rId5" Type="http://schemas.openxmlformats.org/officeDocument/2006/relationships/image" Target="../media/image56.png"/><Relationship Id="rId4" Type="http://schemas.openxmlformats.org/officeDocument/2006/relationships/image" Target="../media/image5.png"/></Relationships>
</file>

<file path=ppt/slides/_rels/slide5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4.xml"/><Relationship Id="rId1" Type="http://schemas.openxmlformats.org/officeDocument/2006/relationships/slideLayout" Target="../slideLayouts/slideLayout3.xml"/><Relationship Id="rId5" Type="http://schemas.openxmlformats.org/officeDocument/2006/relationships/image" Target="../media/image57.png"/><Relationship Id="rId4" Type="http://schemas.openxmlformats.org/officeDocument/2006/relationships/image" Target="../media/image5.png"/></Relationships>
</file>

<file path=ppt/slides/_rels/slide5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5.xml"/><Relationship Id="rId1" Type="http://schemas.openxmlformats.org/officeDocument/2006/relationships/slideLayout" Target="../slideLayouts/slideLayout3.xml"/><Relationship Id="rId5" Type="http://schemas.openxmlformats.org/officeDocument/2006/relationships/image" Target="../media/image58.png"/><Relationship Id="rId4" Type="http://schemas.openxmlformats.org/officeDocument/2006/relationships/image" Target="../media/image5.png"/></Relationships>
</file>

<file path=ppt/slides/_rels/slide5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6.xml"/><Relationship Id="rId1" Type="http://schemas.openxmlformats.org/officeDocument/2006/relationships/slideLayout" Target="../slideLayouts/slideLayout3.xml"/><Relationship Id="rId5" Type="http://schemas.openxmlformats.org/officeDocument/2006/relationships/image" Target="../media/image59.png"/><Relationship Id="rId4" Type="http://schemas.openxmlformats.org/officeDocument/2006/relationships/image" Target="../media/image5.png"/></Relationships>
</file>

<file path=ppt/slides/_rels/slide56.xml.rels><?xml version="1.0" encoding="UTF-8" standalone="yes"?>
<Relationships xmlns="http://schemas.openxmlformats.org/package/2006/relationships"><Relationship Id="rId8" Type="http://schemas.microsoft.com/office/2007/relationships/diagramDrawing" Target="../diagrams/drawing4.xml"/><Relationship Id="rId3" Type="http://schemas.openxmlformats.org/officeDocument/2006/relationships/image" Target="../media/image2.png"/><Relationship Id="rId7" Type="http://schemas.openxmlformats.org/officeDocument/2006/relationships/diagramColors" Target="../diagrams/colors4.xml"/><Relationship Id="rId2" Type="http://schemas.openxmlformats.org/officeDocument/2006/relationships/notesSlide" Target="../notesSlides/notesSlide17.xml"/><Relationship Id="rId1" Type="http://schemas.openxmlformats.org/officeDocument/2006/relationships/slideLayout" Target="../slideLayouts/slideLayout3.xml"/><Relationship Id="rId6" Type="http://schemas.openxmlformats.org/officeDocument/2006/relationships/diagramQuickStyle" Target="../diagrams/quickStyle4.xml"/><Relationship Id="rId5" Type="http://schemas.openxmlformats.org/officeDocument/2006/relationships/diagramLayout" Target="../diagrams/layout4.xml"/><Relationship Id="rId4" Type="http://schemas.openxmlformats.org/officeDocument/2006/relationships/diagramData" Target="../diagrams/data4.xml"/></Relationships>
</file>

<file path=ppt/slides/_rels/slide57.xml.rels><?xml version="1.0" encoding="UTF-8" standalone="yes"?>
<Relationships xmlns="http://schemas.openxmlformats.org/package/2006/relationships"><Relationship Id="rId8" Type="http://schemas.microsoft.com/office/2007/relationships/diagramDrawing" Target="../diagrams/drawing5.xml"/><Relationship Id="rId3" Type="http://schemas.openxmlformats.org/officeDocument/2006/relationships/image" Target="../media/image2.png"/><Relationship Id="rId7" Type="http://schemas.openxmlformats.org/officeDocument/2006/relationships/diagramColors" Target="../diagrams/colors5.xml"/><Relationship Id="rId2" Type="http://schemas.openxmlformats.org/officeDocument/2006/relationships/notesSlide" Target="../notesSlides/notesSlide18.xml"/><Relationship Id="rId1" Type="http://schemas.openxmlformats.org/officeDocument/2006/relationships/slideLayout" Target="../slideLayouts/slideLayout3.xml"/><Relationship Id="rId6" Type="http://schemas.openxmlformats.org/officeDocument/2006/relationships/diagramQuickStyle" Target="../diagrams/quickStyle5.xml"/><Relationship Id="rId5" Type="http://schemas.openxmlformats.org/officeDocument/2006/relationships/diagramLayout" Target="../diagrams/layout5.xml"/><Relationship Id="rId4" Type="http://schemas.openxmlformats.org/officeDocument/2006/relationships/diagramData" Target="../diagrams/data5.xml"/></Relationships>
</file>

<file path=ppt/slides/_rels/slide58.xml.rels><?xml version="1.0" encoding="UTF-8" standalone="yes"?>
<Relationships xmlns="http://schemas.openxmlformats.org/package/2006/relationships"><Relationship Id="rId8" Type="http://schemas.microsoft.com/office/2007/relationships/diagramDrawing" Target="../diagrams/drawing6.xml"/><Relationship Id="rId3" Type="http://schemas.openxmlformats.org/officeDocument/2006/relationships/image" Target="../media/image2.png"/><Relationship Id="rId7" Type="http://schemas.openxmlformats.org/officeDocument/2006/relationships/diagramColors" Target="../diagrams/colors6.xml"/><Relationship Id="rId2" Type="http://schemas.openxmlformats.org/officeDocument/2006/relationships/notesSlide" Target="../notesSlides/notesSlide19.xml"/><Relationship Id="rId1" Type="http://schemas.openxmlformats.org/officeDocument/2006/relationships/slideLayout" Target="../slideLayouts/slideLayout3.xml"/><Relationship Id="rId6" Type="http://schemas.openxmlformats.org/officeDocument/2006/relationships/diagramQuickStyle" Target="../diagrams/quickStyle6.xml"/><Relationship Id="rId5" Type="http://schemas.openxmlformats.org/officeDocument/2006/relationships/diagramLayout" Target="../diagrams/layout6.xml"/><Relationship Id="rId4" Type="http://schemas.openxmlformats.org/officeDocument/2006/relationships/diagramData" Target="../diagrams/data6.xml"/></Relationships>
</file>

<file path=ppt/slides/_rels/slide5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0.xml"/><Relationship Id="rId1" Type="http://schemas.openxmlformats.org/officeDocument/2006/relationships/slideLayout" Target="../slideLayouts/slideLayout3.xml"/><Relationship Id="rId6" Type="http://schemas.openxmlformats.org/officeDocument/2006/relationships/image" Target="../media/image62.png"/><Relationship Id="rId5" Type="http://schemas.openxmlformats.org/officeDocument/2006/relationships/image" Target="../media/image61.png"/><Relationship Id="rId4" Type="http://schemas.openxmlformats.org/officeDocument/2006/relationships/image" Target="../media/image60.png"/></Relationships>
</file>

<file path=ppt/slides/_rels/slide60.xml.rels><?xml version="1.0" encoding="UTF-8" standalone="yes"?>
<Relationships xmlns="http://schemas.openxmlformats.org/package/2006/relationships"><Relationship Id="rId3" Type="http://schemas.openxmlformats.org/officeDocument/2006/relationships/image" Target="../media/image63.png"/><Relationship Id="rId2" Type="http://schemas.openxmlformats.org/officeDocument/2006/relationships/image" Target="../media/image2.png"/><Relationship Id="rId1" Type="http://schemas.openxmlformats.org/officeDocument/2006/relationships/slideLayout" Target="../slideLayouts/slideLayout3.xml"/><Relationship Id="rId5" Type="http://schemas.openxmlformats.org/officeDocument/2006/relationships/image" Target="../media/image65.png"/><Relationship Id="rId4" Type="http://schemas.openxmlformats.org/officeDocument/2006/relationships/image" Target="../media/image64.png"/></Relationships>
</file>

<file path=ppt/slides/_rels/slide61.xml.rels><?xml version="1.0" encoding="UTF-8" standalone="yes"?>
<Relationships xmlns="http://schemas.openxmlformats.org/package/2006/relationships"><Relationship Id="rId3" Type="http://schemas.openxmlformats.org/officeDocument/2006/relationships/image" Target="../media/image66.png"/><Relationship Id="rId2" Type="http://schemas.openxmlformats.org/officeDocument/2006/relationships/image" Target="../media/image2.png"/><Relationship Id="rId1" Type="http://schemas.openxmlformats.org/officeDocument/2006/relationships/slideLayout" Target="../slideLayouts/slideLayout3.xml"/><Relationship Id="rId6" Type="http://schemas.openxmlformats.org/officeDocument/2006/relationships/image" Target="../media/image69.png"/><Relationship Id="rId5" Type="http://schemas.openxmlformats.org/officeDocument/2006/relationships/image" Target="../media/image68.png"/><Relationship Id="rId4" Type="http://schemas.openxmlformats.org/officeDocument/2006/relationships/image" Target="../media/image67.png"/></Relationships>
</file>

<file path=ppt/slides/_rels/slide62.xml.rels><?xml version="1.0" encoding="UTF-8" standalone="yes"?>
<Relationships xmlns="http://schemas.openxmlformats.org/package/2006/relationships"><Relationship Id="rId3" Type="http://schemas.openxmlformats.org/officeDocument/2006/relationships/image" Target="../media/image66.png"/><Relationship Id="rId2" Type="http://schemas.openxmlformats.org/officeDocument/2006/relationships/image" Target="../media/image2.png"/><Relationship Id="rId1" Type="http://schemas.openxmlformats.org/officeDocument/2006/relationships/slideLayout" Target="../slideLayouts/slideLayout3.xml"/><Relationship Id="rId6" Type="http://schemas.openxmlformats.org/officeDocument/2006/relationships/image" Target="../media/image70.png"/><Relationship Id="rId5" Type="http://schemas.openxmlformats.org/officeDocument/2006/relationships/image" Target="../media/image69.png"/><Relationship Id="rId4" Type="http://schemas.openxmlformats.org/officeDocument/2006/relationships/image" Target="../media/image68.png"/></Relationships>
</file>

<file path=ppt/slides/_rels/slide63.xml.rels><?xml version="1.0" encoding="UTF-8" standalone="yes"?>
<Relationships xmlns="http://schemas.openxmlformats.org/package/2006/relationships"><Relationship Id="rId3" Type="http://schemas.openxmlformats.org/officeDocument/2006/relationships/image" Target="../media/image66.png"/><Relationship Id="rId2" Type="http://schemas.openxmlformats.org/officeDocument/2006/relationships/image" Target="../media/image2.png"/><Relationship Id="rId1" Type="http://schemas.openxmlformats.org/officeDocument/2006/relationships/slideLayout" Target="../slideLayouts/slideLayout3.xml"/><Relationship Id="rId5" Type="http://schemas.openxmlformats.org/officeDocument/2006/relationships/image" Target="../media/image69.png"/><Relationship Id="rId4" Type="http://schemas.openxmlformats.org/officeDocument/2006/relationships/image" Target="../media/image68.png"/></Relationships>
</file>

<file path=ppt/slides/_rels/slide64.xml.rels><?xml version="1.0" encoding="UTF-8" standalone="yes"?>
<Relationships xmlns="http://schemas.openxmlformats.org/package/2006/relationships"><Relationship Id="rId3" Type="http://schemas.openxmlformats.org/officeDocument/2006/relationships/image" Target="../media/image66.png"/><Relationship Id="rId2" Type="http://schemas.openxmlformats.org/officeDocument/2006/relationships/image" Target="../media/image2.png"/><Relationship Id="rId1" Type="http://schemas.openxmlformats.org/officeDocument/2006/relationships/slideLayout" Target="../slideLayouts/slideLayout3.xml"/><Relationship Id="rId6" Type="http://schemas.openxmlformats.org/officeDocument/2006/relationships/image" Target="../media/image71.png"/><Relationship Id="rId5" Type="http://schemas.openxmlformats.org/officeDocument/2006/relationships/image" Target="../media/image69.png"/><Relationship Id="rId4" Type="http://schemas.openxmlformats.org/officeDocument/2006/relationships/image" Target="../media/image68.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图片 5"/>
          <p:cNvPicPr>
            <a:picLocks noChangeAspect="1"/>
          </p:cNvPicPr>
          <p:nvPr/>
        </p:nvPicPr>
        <p:blipFill rotWithShape="1">
          <a:blip r:embed="rId3" cstate="print">
            <a:extLst>
              <a:ext uri="{28A0092B-C50C-407E-A947-70E740481C1C}">
                <a14:useLocalDpi xmlns:a14="http://schemas.microsoft.com/office/drawing/2010/main" val="0"/>
              </a:ext>
            </a:extLst>
          </a:blip>
          <a:srcRect l="3675" r="8038"/>
          <a:stretch/>
        </p:blipFill>
        <p:spPr>
          <a:xfrm>
            <a:off x="0" y="0"/>
            <a:ext cx="12192000" cy="6858000"/>
          </a:xfrm>
          <a:prstGeom prst="rect">
            <a:avLst/>
          </a:prstGeom>
        </p:spPr>
      </p:pic>
      <p:sp>
        <p:nvSpPr>
          <p:cNvPr id="7" name="文本框 6"/>
          <p:cNvSpPr txBox="1"/>
          <p:nvPr/>
        </p:nvSpPr>
        <p:spPr>
          <a:xfrm>
            <a:off x="2876355" y="2280980"/>
            <a:ext cx="3647152" cy="923330"/>
          </a:xfrm>
          <a:prstGeom prst="rect">
            <a:avLst/>
          </a:prstGeom>
          <a:noFill/>
        </p:spPr>
        <p:txBody>
          <a:bodyPr wrap="none" rtlCol="0">
            <a:spAutoFit/>
            <a:scene3d>
              <a:camera prst="orthographicFront"/>
              <a:lightRig rig="threePt" dir="t"/>
            </a:scene3d>
            <a:sp3d contourW="12700"/>
          </a:bodyPr>
          <a:lstStyle/>
          <a:p>
            <a:r>
              <a:rPr lang="zh-TW" altLang="en-US" sz="5400" b="1" dirty="0">
                <a:solidFill>
                  <a:schemeClr val="accent1"/>
                </a:solidFill>
              </a:rPr>
              <a:t>區塊鏈技術</a:t>
            </a:r>
          </a:p>
        </p:txBody>
      </p:sp>
      <p:sp>
        <p:nvSpPr>
          <p:cNvPr id="9" name="矩形 8"/>
          <p:cNvSpPr/>
          <p:nvPr/>
        </p:nvSpPr>
        <p:spPr>
          <a:xfrm>
            <a:off x="2876355" y="1678466"/>
            <a:ext cx="2220480" cy="523220"/>
          </a:xfrm>
          <a:prstGeom prst="rect">
            <a:avLst/>
          </a:prstGeom>
        </p:spPr>
        <p:txBody>
          <a:bodyPr wrap="none">
            <a:spAutoFit/>
            <a:scene3d>
              <a:camera prst="orthographicFront"/>
              <a:lightRig rig="threePt" dir="t"/>
            </a:scene3d>
            <a:sp3d contourW="12700"/>
          </a:bodyPr>
          <a:lstStyle/>
          <a:p>
            <a:r>
              <a:rPr lang="en-US" altLang="zh-CN" sz="2800" b="1" dirty="0">
                <a:solidFill>
                  <a:srgbClr val="4A5A6F"/>
                </a:solidFill>
              </a:rPr>
              <a:t>CHAPTER </a:t>
            </a:r>
            <a:r>
              <a:rPr lang="en-US" altLang="zh-TW" sz="2800" b="1" dirty="0">
                <a:solidFill>
                  <a:srgbClr val="4A5A6F"/>
                </a:solidFill>
              </a:rPr>
              <a:t>2</a:t>
            </a:r>
            <a:endParaRPr lang="zh-CN" altLang="en-US" sz="2800" b="1" dirty="0">
              <a:solidFill>
                <a:srgbClr val="4A5A6F"/>
              </a:solidFill>
            </a:endParaRPr>
          </a:p>
        </p:txBody>
      </p:sp>
      <p:sp>
        <p:nvSpPr>
          <p:cNvPr id="46" name="矩形 23"/>
          <p:cNvSpPr/>
          <p:nvPr/>
        </p:nvSpPr>
        <p:spPr>
          <a:xfrm>
            <a:off x="3329969" y="5032201"/>
            <a:ext cx="189597" cy="242711"/>
          </a:xfrm>
          <a:custGeom>
            <a:avLst/>
            <a:gdLst>
              <a:gd name="connsiteX0" fmla="*/ 11784 w 473070"/>
              <a:gd name="connsiteY0" fmla="*/ 563888 h 605592"/>
              <a:gd name="connsiteX1" fmla="*/ 461073 w 473070"/>
              <a:gd name="connsiteY1" fmla="*/ 563888 h 605592"/>
              <a:gd name="connsiteX2" fmla="*/ 461073 w 473070"/>
              <a:gd name="connsiteY2" fmla="*/ 605592 h 605592"/>
              <a:gd name="connsiteX3" fmla="*/ 11784 w 473070"/>
              <a:gd name="connsiteY3" fmla="*/ 605592 h 605592"/>
              <a:gd name="connsiteX4" fmla="*/ 11784 w 473070"/>
              <a:gd name="connsiteY4" fmla="*/ 500661 h 605592"/>
              <a:gd name="connsiteX5" fmla="*/ 461073 w 473070"/>
              <a:gd name="connsiteY5" fmla="*/ 500661 h 605592"/>
              <a:gd name="connsiteX6" fmla="*/ 461073 w 473070"/>
              <a:gd name="connsiteY6" fmla="*/ 542506 h 605592"/>
              <a:gd name="connsiteX7" fmla="*/ 11784 w 473070"/>
              <a:gd name="connsiteY7" fmla="*/ 542506 h 605592"/>
              <a:gd name="connsiteX8" fmla="*/ 365246 w 473070"/>
              <a:gd name="connsiteY8" fmla="*/ 196807 h 605592"/>
              <a:gd name="connsiteX9" fmla="*/ 407162 w 473070"/>
              <a:gd name="connsiteY9" fmla="*/ 196807 h 605592"/>
              <a:gd name="connsiteX10" fmla="*/ 407162 w 473070"/>
              <a:gd name="connsiteY10" fmla="*/ 467496 h 605592"/>
              <a:gd name="connsiteX11" fmla="*/ 365246 w 473070"/>
              <a:gd name="connsiteY11" fmla="*/ 467496 h 605592"/>
              <a:gd name="connsiteX12" fmla="*/ 215507 w 473070"/>
              <a:gd name="connsiteY12" fmla="*/ 196807 h 605592"/>
              <a:gd name="connsiteX13" fmla="*/ 257352 w 473070"/>
              <a:gd name="connsiteY13" fmla="*/ 196807 h 605592"/>
              <a:gd name="connsiteX14" fmla="*/ 257352 w 473070"/>
              <a:gd name="connsiteY14" fmla="*/ 467496 h 605592"/>
              <a:gd name="connsiteX15" fmla="*/ 215507 w 473070"/>
              <a:gd name="connsiteY15" fmla="*/ 467496 h 605592"/>
              <a:gd name="connsiteX16" fmla="*/ 65767 w 473070"/>
              <a:gd name="connsiteY16" fmla="*/ 196807 h 605592"/>
              <a:gd name="connsiteX17" fmla="*/ 107612 w 473070"/>
              <a:gd name="connsiteY17" fmla="*/ 196807 h 605592"/>
              <a:gd name="connsiteX18" fmla="*/ 107612 w 473070"/>
              <a:gd name="connsiteY18" fmla="*/ 467496 h 605592"/>
              <a:gd name="connsiteX19" fmla="*/ 65767 w 473070"/>
              <a:gd name="connsiteY19" fmla="*/ 467496 h 605592"/>
              <a:gd name="connsiteX20" fmla="*/ 236581 w 473070"/>
              <a:gd name="connsiteY20" fmla="*/ 0 h 605592"/>
              <a:gd name="connsiteX21" fmla="*/ 473070 w 473070"/>
              <a:gd name="connsiteY21" fmla="*/ 164833 h 605592"/>
              <a:gd name="connsiteX22" fmla="*/ 449115 w 473070"/>
              <a:gd name="connsiteY22" fmla="*/ 199135 h 605592"/>
              <a:gd name="connsiteX23" fmla="*/ 236303 w 473070"/>
              <a:gd name="connsiteY23" fmla="*/ 50711 h 605592"/>
              <a:gd name="connsiteX24" fmla="*/ 23491 w 473070"/>
              <a:gd name="connsiteY24" fmla="*/ 194963 h 605592"/>
              <a:gd name="connsiteX25" fmla="*/ 0 w 473070"/>
              <a:gd name="connsiteY25" fmla="*/ 160383 h 6055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73070" h="605592">
                <a:moveTo>
                  <a:pt x="11784" y="563888"/>
                </a:moveTo>
                <a:lnTo>
                  <a:pt x="461073" y="563888"/>
                </a:lnTo>
                <a:lnTo>
                  <a:pt x="461073" y="605592"/>
                </a:lnTo>
                <a:lnTo>
                  <a:pt x="11784" y="605592"/>
                </a:lnTo>
                <a:close/>
                <a:moveTo>
                  <a:pt x="11784" y="500661"/>
                </a:moveTo>
                <a:lnTo>
                  <a:pt x="461073" y="500661"/>
                </a:lnTo>
                <a:lnTo>
                  <a:pt x="461073" y="542506"/>
                </a:lnTo>
                <a:lnTo>
                  <a:pt x="11784" y="542506"/>
                </a:lnTo>
                <a:close/>
                <a:moveTo>
                  <a:pt x="365246" y="196807"/>
                </a:moveTo>
                <a:lnTo>
                  <a:pt x="407162" y="196807"/>
                </a:lnTo>
                <a:lnTo>
                  <a:pt x="407162" y="467496"/>
                </a:lnTo>
                <a:lnTo>
                  <a:pt x="365246" y="467496"/>
                </a:lnTo>
                <a:close/>
                <a:moveTo>
                  <a:pt x="215507" y="196807"/>
                </a:moveTo>
                <a:lnTo>
                  <a:pt x="257352" y="196807"/>
                </a:lnTo>
                <a:lnTo>
                  <a:pt x="257352" y="467496"/>
                </a:lnTo>
                <a:lnTo>
                  <a:pt x="215507" y="467496"/>
                </a:lnTo>
                <a:close/>
                <a:moveTo>
                  <a:pt x="65767" y="196807"/>
                </a:moveTo>
                <a:lnTo>
                  <a:pt x="107612" y="196807"/>
                </a:lnTo>
                <a:lnTo>
                  <a:pt x="107612" y="467496"/>
                </a:lnTo>
                <a:lnTo>
                  <a:pt x="65767" y="467496"/>
                </a:lnTo>
                <a:close/>
                <a:moveTo>
                  <a:pt x="236581" y="0"/>
                </a:moveTo>
                <a:lnTo>
                  <a:pt x="473070" y="164833"/>
                </a:lnTo>
                <a:lnTo>
                  <a:pt x="449115" y="199135"/>
                </a:lnTo>
                <a:lnTo>
                  <a:pt x="236303" y="50711"/>
                </a:lnTo>
                <a:lnTo>
                  <a:pt x="23491" y="194963"/>
                </a:lnTo>
                <a:lnTo>
                  <a:pt x="0" y="160383"/>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sp>
        <p:nvSpPr>
          <p:cNvPr id="47" name="矩形 35"/>
          <p:cNvSpPr/>
          <p:nvPr/>
        </p:nvSpPr>
        <p:spPr>
          <a:xfrm>
            <a:off x="4863869" y="5032384"/>
            <a:ext cx="242711" cy="242344"/>
          </a:xfrm>
          <a:custGeom>
            <a:avLst/>
            <a:gdLst>
              <a:gd name="connsiteX0" fmla="*/ 303775 w 607639"/>
              <a:gd name="connsiteY0" fmla="*/ 525007 h 606722"/>
              <a:gd name="connsiteX1" fmla="*/ 315710 w 607639"/>
              <a:gd name="connsiteY1" fmla="*/ 536902 h 606722"/>
              <a:gd name="connsiteX2" fmla="*/ 315710 w 607639"/>
              <a:gd name="connsiteY2" fmla="*/ 552347 h 606722"/>
              <a:gd name="connsiteX3" fmla="*/ 303775 w 607639"/>
              <a:gd name="connsiteY3" fmla="*/ 564241 h 606722"/>
              <a:gd name="connsiteX4" fmla="*/ 291929 w 607639"/>
              <a:gd name="connsiteY4" fmla="*/ 552347 h 606722"/>
              <a:gd name="connsiteX5" fmla="*/ 291929 w 607639"/>
              <a:gd name="connsiteY5" fmla="*/ 536902 h 606722"/>
              <a:gd name="connsiteX6" fmla="*/ 303775 w 607639"/>
              <a:gd name="connsiteY6" fmla="*/ 525007 h 606722"/>
              <a:gd name="connsiteX7" fmla="*/ 429885 w 607639"/>
              <a:gd name="connsiteY7" fmla="*/ 509483 h 606722"/>
              <a:gd name="connsiteX8" fmla="*/ 441811 w 607639"/>
              <a:gd name="connsiteY8" fmla="*/ 521409 h 606722"/>
              <a:gd name="connsiteX9" fmla="*/ 429885 w 607639"/>
              <a:gd name="connsiteY9" fmla="*/ 533335 h 606722"/>
              <a:gd name="connsiteX10" fmla="*/ 417959 w 607639"/>
              <a:gd name="connsiteY10" fmla="*/ 521409 h 606722"/>
              <a:gd name="connsiteX11" fmla="*/ 429885 w 607639"/>
              <a:gd name="connsiteY11" fmla="*/ 509483 h 606722"/>
              <a:gd name="connsiteX12" fmla="*/ 177720 w 607639"/>
              <a:gd name="connsiteY12" fmla="*/ 509483 h 606722"/>
              <a:gd name="connsiteX13" fmla="*/ 189611 w 607639"/>
              <a:gd name="connsiteY13" fmla="*/ 521409 h 606722"/>
              <a:gd name="connsiteX14" fmla="*/ 177720 w 607639"/>
              <a:gd name="connsiteY14" fmla="*/ 533335 h 606722"/>
              <a:gd name="connsiteX15" fmla="*/ 165829 w 607639"/>
              <a:gd name="connsiteY15" fmla="*/ 521409 h 606722"/>
              <a:gd name="connsiteX16" fmla="*/ 177720 w 607639"/>
              <a:gd name="connsiteY16" fmla="*/ 509483 h 606722"/>
              <a:gd name="connsiteX17" fmla="*/ 522185 w 607639"/>
              <a:gd name="connsiteY17" fmla="*/ 417324 h 606722"/>
              <a:gd name="connsiteX18" fmla="*/ 534111 w 607639"/>
              <a:gd name="connsiteY18" fmla="*/ 429250 h 606722"/>
              <a:gd name="connsiteX19" fmla="*/ 522185 w 607639"/>
              <a:gd name="connsiteY19" fmla="*/ 441176 h 606722"/>
              <a:gd name="connsiteX20" fmla="*/ 510259 w 607639"/>
              <a:gd name="connsiteY20" fmla="*/ 429250 h 606722"/>
              <a:gd name="connsiteX21" fmla="*/ 522185 w 607639"/>
              <a:gd name="connsiteY21" fmla="*/ 417324 h 606722"/>
              <a:gd name="connsiteX22" fmla="*/ 85420 w 607639"/>
              <a:gd name="connsiteY22" fmla="*/ 417324 h 606722"/>
              <a:gd name="connsiteX23" fmla="*/ 97311 w 607639"/>
              <a:gd name="connsiteY23" fmla="*/ 429250 h 606722"/>
              <a:gd name="connsiteX24" fmla="*/ 85420 w 607639"/>
              <a:gd name="connsiteY24" fmla="*/ 441176 h 606722"/>
              <a:gd name="connsiteX25" fmla="*/ 73529 w 607639"/>
              <a:gd name="connsiteY25" fmla="*/ 429250 h 606722"/>
              <a:gd name="connsiteX26" fmla="*/ 85420 w 607639"/>
              <a:gd name="connsiteY26" fmla="*/ 417324 h 606722"/>
              <a:gd name="connsiteX27" fmla="*/ 537643 w 607639"/>
              <a:gd name="connsiteY27" fmla="*/ 291506 h 606722"/>
              <a:gd name="connsiteX28" fmla="*/ 555628 w 607639"/>
              <a:gd name="connsiteY28" fmla="*/ 291506 h 606722"/>
              <a:gd name="connsiteX29" fmla="*/ 567558 w 607639"/>
              <a:gd name="connsiteY29" fmla="*/ 303316 h 606722"/>
              <a:gd name="connsiteX30" fmla="*/ 555628 w 607639"/>
              <a:gd name="connsiteY30" fmla="*/ 315216 h 606722"/>
              <a:gd name="connsiteX31" fmla="*/ 537643 w 607639"/>
              <a:gd name="connsiteY31" fmla="*/ 315216 h 606722"/>
              <a:gd name="connsiteX32" fmla="*/ 525713 w 607639"/>
              <a:gd name="connsiteY32" fmla="*/ 303316 h 606722"/>
              <a:gd name="connsiteX33" fmla="*/ 537643 w 607639"/>
              <a:gd name="connsiteY33" fmla="*/ 291506 h 606722"/>
              <a:gd name="connsiteX34" fmla="*/ 51991 w 607639"/>
              <a:gd name="connsiteY34" fmla="*/ 291506 h 606722"/>
              <a:gd name="connsiteX35" fmla="*/ 69946 w 607639"/>
              <a:gd name="connsiteY35" fmla="*/ 291506 h 606722"/>
              <a:gd name="connsiteX36" fmla="*/ 81856 w 607639"/>
              <a:gd name="connsiteY36" fmla="*/ 303316 h 606722"/>
              <a:gd name="connsiteX37" fmla="*/ 69946 w 607639"/>
              <a:gd name="connsiteY37" fmla="*/ 315216 h 606722"/>
              <a:gd name="connsiteX38" fmla="*/ 51991 w 607639"/>
              <a:gd name="connsiteY38" fmla="*/ 315216 h 606722"/>
              <a:gd name="connsiteX39" fmla="*/ 40081 w 607639"/>
              <a:gd name="connsiteY39" fmla="*/ 303316 h 606722"/>
              <a:gd name="connsiteX40" fmla="*/ 51991 w 607639"/>
              <a:gd name="connsiteY40" fmla="*/ 291506 h 606722"/>
              <a:gd name="connsiteX41" fmla="*/ 412608 w 607639"/>
              <a:gd name="connsiteY41" fmla="*/ 222096 h 606722"/>
              <a:gd name="connsiteX42" fmla="*/ 345491 w 607639"/>
              <a:gd name="connsiteY42" fmla="*/ 334245 h 606722"/>
              <a:gd name="connsiteX43" fmla="*/ 412608 w 607639"/>
              <a:gd name="connsiteY43" fmla="*/ 334245 h 606722"/>
              <a:gd name="connsiteX44" fmla="*/ 427651 w 607639"/>
              <a:gd name="connsiteY44" fmla="*/ 167533 h 606722"/>
              <a:gd name="connsiteX45" fmla="*/ 436375 w 607639"/>
              <a:gd name="connsiteY45" fmla="*/ 178996 h 606722"/>
              <a:gd name="connsiteX46" fmla="*/ 436375 w 607639"/>
              <a:gd name="connsiteY46" fmla="*/ 334245 h 606722"/>
              <a:gd name="connsiteX47" fmla="*/ 469399 w 607639"/>
              <a:gd name="connsiteY47" fmla="*/ 334245 h 606722"/>
              <a:gd name="connsiteX48" fmla="*/ 481327 w 607639"/>
              <a:gd name="connsiteY48" fmla="*/ 346153 h 606722"/>
              <a:gd name="connsiteX49" fmla="*/ 469399 w 607639"/>
              <a:gd name="connsiteY49" fmla="*/ 357973 h 606722"/>
              <a:gd name="connsiteX50" fmla="*/ 436375 w 607639"/>
              <a:gd name="connsiteY50" fmla="*/ 357973 h 606722"/>
              <a:gd name="connsiteX51" fmla="*/ 436375 w 607639"/>
              <a:gd name="connsiteY51" fmla="*/ 427733 h 606722"/>
              <a:gd name="connsiteX52" fmla="*/ 424536 w 607639"/>
              <a:gd name="connsiteY52" fmla="*/ 439552 h 606722"/>
              <a:gd name="connsiteX53" fmla="*/ 412608 w 607639"/>
              <a:gd name="connsiteY53" fmla="*/ 427733 h 606722"/>
              <a:gd name="connsiteX54" fmla="*/ 412608 w 607639"/>
              <a:gd name="connsiteY54" fmla="*/ 357973 h 606722"/>
              <a:gd name="connsiteX55" fmla="*/ 324573 w 607639"/>
              <a:gd name="connsiteY55" fmla="*/ 357973 h 606722"/>
              <a:gd name="connsiteX56" fmla="*/ 314158 w 607639"/>
              <a:gd name="connsiteY56" fmla="*/ 352019 h 606722"/>
              <a:gd name="connsiteX57" fmla="*/ 314336 w 607639"/>
              <a:gd name="connsiteY57" fmla="*/ 340022 h 606722"/>
              <a:gd name="connsiteX58" fmla="*/ 414299 w 607639"/>
              <a:gd name="connsiteY58" fmla="*/ 172953 h 606722"/>
              <a:gd name="connsiteX59" fmla="*/ 427651 w 607639"/>
              <a:gd name="connsiteY59" fmla="*/ 167533 h 606722"/>
              <a:gd name="connsiteX60" fmla="*/ 216270 w 607639"/>
              <a:gd name="connsiteY60" fmla="*/ 167099 h 606722"/>
              <a:gd name="connsiteX61" fmla="*/ 290518 w 607639"/>
              <a:gd name="connsiteY61" fmla="*/ 241210 h 606722"/>
              <a:gd name="connsiteX62" fmla="*/ 242978 w 607639"/>
              <a:gd name="connsiteY62" fmla="*/ 355754 h 606722"/>
              <a:gd name="connsiteX63" fmla="*/ 182707 w 607639"/>
              <a:gd name="connsiteY63" fmla="*/ 415825 h 606722"/>
              <a:gd name="connsiteX64" fmla="*/ 278588 w 607639"/>
              <a:gd name="connsiteY64" fmla="*/ 415825 h 606722"/>
              <a:gd name="connsiteX65" fmla="*/ 290518 w 607639"/>
              <a:gd name="connsiteY65" fmla="*/ 427734 h 606722"/>
              <a:gd name="connsiteX66" fmla="*/ 278588 w 607639"/>
              <a:gd name="connsiteY66" fmla="*/ 439552 h 606722"/>
              <a:gd name="connsiteX67" fmla="*/ 154040 w 607639"/>
              <a:gd name="connsiteY67" fmla="*/ 439552 h 606722"/>
              <a:gd name="connsiteX68" fmla="*/ 143001 w 607639"/>
              <a:gd name="connsiteY68" fmla="*/ 432265 h 606722"/>
              <a:gd name="connsiteX69" fmla="*/ 145582 w 607639"/>
              <a:gd name="connsiteY69" fmla="*/ 419292 h 606722"/>
              <a:gd name="connsiteX70" fmla="*/ 226152 w 607639"/>
              <a:gd name="connsiteY70" fmla="*/ 338959 h 606722"/>
              <a:gd name="connsiteX71" fmla="*/ 266659 w 607639"/>
              <a:gd name="connsiteY71" fmla="*/ 241210 h 606722"/>
              <a:gd name="connsiteX72" fmla="*/ 216270 w 607639"/>
              <a:gd name="connsiteY72" fmla="*/ 190914 h 606722"/>
              <a:gd name="connsiteX73" fmla="*/ 165880 w 607639"/>
              <a:gd name="connsiteY73" fmla="*/ 241210 h 606722"/>
              <a:gd name="connsiteX74" fmla="*/ 154040 w 607639"/>
              <a:gd name="connsiteY74" fmla="*/ 253029 h 606722"/>
              <a:gd name="connsiteX75" fmla="*/ 142110 w 607639"/>
              <a:gd name="connsiteY75" fmla="*/ 241210 h 606722"/>
              <a:gd name="connsiteX76" fmla="*/ 216270 w 607639"/>
              <a:gd name="connsiteY76" fmla="*/ 167099 h 606722"/>
              <a:gd name="connsiteX77" fmla="*/ 522185 w 607639"/>
              <a:gd name="connsiteY77" fmla="*/ 165547 h 606722"/>
              <a:gd name="connsiteX78" fmla="*/ 534111 w 607639"/>
              <a:gd name="connsiteY78" fmla="*/ 177438 h 606722"/>
              <a:gd name="connsiteX79" fmla="*/ 522185 w 607639"/>
              <a:gd name="connsiteY79" fmla="*/ 189329 h 606722"/>
              <a:gd name="connsiteX80" fmla="*/ 510259 w 607639"/>
              <a:gd name="connsiteY80" fmla="*/ 177438 h 606722"/>
              <a:gd name="connsiteX81" fmla="*/ 522185 w 607639"/>
              <a:gd name="connsiteY81" fmla="*/ 165547 h 606722"/>
              <a:gd name="connsiteX82" fmla="*/ 85420 w 607639"/>
              <a:gd name="connsiteY82" fmla="*/ 165547 h 606722"/>
              <a:gd name="connsiteX83" fmla="*/ 97311 w 607639"/>
              <a:gd name="connsiteY83" fmla="*/ 177438 h 606722"/>
              <a:gd name="connsiteX84" fmla="*/ 85420 w 607639"/>
              <a:gd name="connsiteY84" fmla="*/ 189329 h 606722"/>
              <a:gd name="connsiteX85" fmla="*/ 73529 w 607639"/>
              <a:gd name="connsiteY85" fmla="*/ 177438 h 606722"/>
              <a:gd name="connsiteX86" fmla="*/ 85420 w 607639"/>
              <a:gd name="connsiteY86" fmla="*/ 165547 h 606722"/>
              <a:gd name="connsiteX87" fmla="*/ 429885 w 607639"/>
              <a:gd name="connsiteY87" fmla="*/ 73388 h 606722"/>
              <a:gd name="connsiteX88" fmla="*/ 441811 w 607639"/>
              <a:gd name="connsiteY88" fmla="*/ 85279 h 606722"/>
              <a:gd name="connsiteX89" fmla="*/ 429885 w 607639"/>
              <a:gd name="connsiteY89" fmla="*/ 97170 h 606722"/>
              <a:gd name="connsiteX90" fmla="*/ 417959 w 607639"/>
              <a:gd name="connsiteY90" fmla="*/ 85279 h 606722"/>
              <a:gd name="connsiteX91" fmla="*/ 429885 w 607639"/>
              <a:gd name="connsiteY91" fmla="*/ 73388 h 606722"/>
              <a:gd name="connsiteX92" fmla="*/ 177720 w 607639"/>
              <a:gd name="connsiteY92" fmla="*/ 73388 h 606722"/>
              <a:gd name="connsiteX93" fmla="*/ 189611 w 607639"/>
              <a:gd name="connsiteY93" fmla="*/ 85279 h 606722"/>
              <a:gd name="connsiteX94" fmla="*/ 177720 w 607639"/>
              <a:gd name="connsiteY94" fmla="*/ 97170 h 606722"/>
              <a:gd name="connsiteX95" fmla="*/ 165829 w 607639"/>
              <a:gd name="connsiteY95" fmla="*/ 85279 h 606722"/>
              <a:gd name="connsiteX96" fmla="*/ 177720 w 607639"/>
              <a:gd name="connsiteY96" fmla="*/ 73388 h 606722"/>
              <a:gd name="connsiteX97" fmla="*/ 303775 w 607639"/>
              <a:gd name="connsiteY97" fmla="*/ 42480 h 606722"/>
              <a:gd name="connsiteX98" fmla="*/ 315710 w 607639"/>
              <a:gd name="connsiteY98" fmla="*/ 54396 h 606722"/>
              <a:gd name="connsiteX99" fmla="*/ 315710 w 607639"/>
              <a:gd name="connsiteY99" fmla="*/ 69869 h 606722"/>
              <a:gd name="connsiteX100" fmla="*/ 303775 w 607639"/>
              <a:gd name="connsiteY100" fmla="*/ 81785 h 606722"/>
              <a:gd name="connsiteX101" fmla="*/ 291929 w 607639"/>
              <a:gd name="connsiteY101" fmla="*/ 69869 h 606722"/>
              <a:gd name="connsiteX102" fmla="*/ 291929 w 607639"/>
              <a:gd name="connsiteY102" fmla="*/ 54396 h 606722"/>
              <a:gd name="connsiteX103" fmla="*/ 303775 w 607639"/>
              <a:gd name="connsiteY103" fmla="*/ 42480 h 606722"/>
              <a:gd name="connsiteX104" fmla="*/ 303775 w 607639"/>
              <a:gd name="connsiteY104" fmla="*/ 0 h 606722"/>
              <a:gd name="connsiteX105" fmla="*/ 537058 w 607639"/>
              <a:gd name="connsiteY105" fmla="*/ 108956 h 606722"/>
              <a:gd name="connsiteX106" fmla="*/ 537058 w 607639"/>
              <a:gd name="connsiteY106" fmla="*/ 93048 h 606722"/>
              <a:gd name="connsiteX107" fmla="*/ 548895 w 607639"/>
              <a:gd name="connsiteY107" fmla="*/ 81139 h 606722"/>
              <a:gd name="connsiteX108" fmla="*/ 560822 w 607639"/>
              <a:gd name="connsiteY108" fmla="*/ 93048 h 606722"/>
              <a:gd name="connsiteX109" fmla="*/ 560822 w 607639"/>
              <a:gd name="connsiteY109" fmla="*/ 138994 h 606722"/>
              <a:gd name="connsiteX110" fmla="*/ 548895 w 607639"/>
              <a:gd name="connsiteY110" fmla="*/ 150903 h 606722"/>
              <a:gd name="connsiteX111" fmla="*/ 502880 w 607639"/>
              <a:gd name="connsiteY111" fmla="*/ 150903 h 606722"/>
              <a:gd name="connsiteX112" fmla="*/ 490953 w 607639"/>
              <a:gd name="connsiteY112" fmla="*/ 138994 h 606722"/>
              <a:gd name="connsiteX113" fmla="*/ 502880 w 607639"/>
              <a:gd name="connsiteY113" fmla="*/ 127174 h 606722"/>
              <a:gd name="connsiteX114" fmla="*/ 521126 w 607639"/>
              <a:gd name="connsiteY114" fmla="*/ 127174 h 606722"/>
              <a:gd name="connsiteX115" fmla="*/ 303775 w 607639"/>
              <a:gd name="connsiteY115" fmla="*/ 23728 h 606722"/>
              <a:gd name="connsiteX116" fmla="*/ 23764 w 607639"/>
              <a:gd name="connsiteY116" fmla="*/ 303316 h 606722"/>
              <a:gd name="connsiteX117" fmla="*/ 303775 w 607639"/>
              <a:gd name="connsiteY117" fmla="*/ 582905 h 606722"/>
              <a:gd name="connsiteX118" fmla="*/ 583786 w 607639"/>
              <a:gd name="connsiteY118" fmla="*/ 303316 h 606722"/>
              <a:gd name="connsiteX119" fmla="*/ 573906 w 607639"/>
              <a:gd name="connsiteY119" fmla="*/ 229376 h 606722"/>
              <a:gd name="connsiteX120" fmla="*/ 582273 w 607639"/>
              <a:gd name="connsiteY120" fmla="*/ 214801 h 606722"/>
              <a:gd name="connsiteX121" fmla="*/ 596869 w 607639"/>
              <a:gd name="connsiteY121" fmla="*/ 223066 h 606722"/>
              <a:gd name="connsiteX122" fmla="*/ 607639 w 607639"/>
              <a:gd name="connsiteY122" fmla="*/ 303316 h 606722"/>
              <a:gd name="connsiteX123" fmla="*/ 303775 w 607639"/>
              <a:gd name="connsiteY123" fmla="*/ 606722 h 606722"/>
              <a:gd name="connsiteX124" fmla="*/ 0 w 607639"/>
              <a:gd name="connsiteY124" fmla="*/ 303316 h 606722"/>
              <a:gd name="connsiteX125" fmla="*/ 303775 w 607639"/>
              <a:gd name="connsiteY125" fmla="*/ 0 h 6067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Lst>
            <a:rect l="l" t="t" r="r" b="b"/>
            <a:pathLst>
              <a:path w="607639" h="606722">
                <a:moveTo>
                  <a:pt x="303775" y="525007"/>
                </a:moveTo>
                <a:cubicBezTo>
                  <a:pt x="310366" y="525007"/>
                  <a:pt x="315710" y="530333"/>
                  <a:pt x="315710" y="536902"/>
                </a:cubicBezTo>
                <a:lnTo>
                  <a:pt x="315710" y="552347"/>
                </a:lnTo>
                <a:cubicBezTo>
                  <a:pt x="315710" y="558915"/>
                  <a:pt x="310366" y="564241"/>
                  <a:pt x="303775" y="564241"/>
                </a:cubicBezTo>
                <a:cubicBezTo>
                  <a:pt x="297184" y="564241"/>
                  <a:pt x="291929" y="558915"/>
                  <a:pt x="291929" y="552347"/>
                </a:cubicBezTo>
                <a:lnTo>
                  <a:pt x="291929" y="536902"/>
                </a:lnTo>
                <a:cubicBezTo>
                  <a:pt x="291929" y="530333"/>
                  <a:pt x="297184" y="525007"/>
                  <a:pt x="303775" y="525007"/>
                </a:cubicBezTo>
                <a:close/>
                <a:moveTo>
                  <a:pt x="429885" y="509483"/>
                </a:moveTo>
                <a:cubicBezTo>
                  <a:pt x="436472" y="509483"/>
                  <a:pt x="441811" y="514822"/>
                  <a:pt x="441811" y="521409"/>
                </a:cubicBezTo>
                <a:cubicBezTo>
                  <a:pt x="441811" y="527996"/>
                  <a:pt x="436472" y="533335"/>
                  <a:pt x="429885" y="533335"/>
                </a:cubicBezTo>
                <a:cubicBezTo>
                  <a:pt x="423298" y="533335"/>
                  <a:pt x="417959" y="527996"/>
                  <a:pt x="417959" y="521409"/>
                </a:cubicBezTo>
                <a:cubicBezTo>
                  <a:pt x="417959" y="514822"/>
                  <a:pt x="423298" y="509483"/>
                  <a:pt x="429885" y="509483"/>
                </a:cubicBezTo>
                <a:close/>
                <a:moveTo>
                  <a:pt x="177720" y="509483"/>
                </a:moveTo>
                <a:cubicBezTo>
                  <a:pt x="184287" y="509483"/>
                  <a:pt x="189611" y="514822"/>
                  <a:pt x="189611" y="521409"/>
                </a:cubicBezTo>
                <a:cubicBezTo>
                  <a:pt x="189611" y="527996"/>
                  <a:pt x="184287" y="533335"/>
                  <a:pt x="177720" y="533335"/>
                </a:cubicBezTo>
                <a:cubicBezTo>
                  <a:pt x="171153" y="533335"/>
                  <a:pt x="165829" y="527996"/>
                  <a:pt x="165829" y="521409"/>
                </a:cubicBezTo>
                <a:cubicBezTo>
                  <a:pt x="165829" y="514822"/>
                  <a:pt x="171153" y="509483"/>
                  <a:pt x="177720" y="509483"/>
                </a:cubicBezTo>
                <a:close/>
                <a:moveTo>
                  <a:pt x="522185" y="417324"/>
                </a:moveTo>
                <a:cubicBezTo>
                  <a:pt x="528772" y="417324"/>
                  <a:pt x="534111" y="422663"/>
                  <a:pt x="534111" y="429250"/>
                </a:cubicBezTo>
                <a:cubicBezTo>
                  <a:pt x="534111" y="435837"/>
                  <a:pt x="528772" y="441176"/>
                  <a:pt x="522185" y="441176"/>
                </a:cubicBezTo>
                <a:cubicBezTo>
                  <a:pt x="515598" y="441176"/>
                  <a:pt x="510259" y="435837"/>
                  <a:pt x="510259" y="429250"/>
                </a:cubicBezTo>
                <a:cubicBezTo>
                  <a:pt x="510259" y="422663"/>
                  <a:pt x="515598" y="417324"/>
                  <a:pt x="522185" y="417324"/>
                </a:cubicBezTo>
                <a:close/>
                <a:moveTo>
                  <a:pt x="85420" y="417324"/>
                </a:moveTo>
                <a:cubicBezTo>
                  <a:pt x="91987" y="417324"/>
                  <a:pt x="97311" y="422663"/>
                  <a:pt x="97311" y="429250"/>
                </a:cubicBezTo>
                <a:cubicBezTo>
                  <a:pt x="97311" y="435837"/>
                  <a:pt x="91987" y="441176"/>
                  <a:pt x="85420" y="441176"/>
                </a:cubicBezTo>
                <a:cubicBezTo>
                  <a:pt x="78853" y="441176"/>
                  <a:pt x="73529" y="435837"/>
                  <a:pt x="73529" y="429250"/>
                </a:cubicBezTo>
                <a:cubicBezTo>
                  <a:pt x="73529" y="422663"/>
                  <a:pt x="78853" y="417324"/>
                  <a:pt x="85420" y="417324"/>
                </a:cubicBezTo>
                <a:close/>
                <a:moveTo>
                  <a:pt x="537643" y="291506"/>
                </a:moveTo>
                <a:lnTo>
                  <a:pt x="555628" y="291506"/>
                </a:lnTo>
                <a:cubicBezTo>
                  <a:pt x="562216" y="291506"/>
                  <a:pt x="567558" y="296745"/>
                  <a:pt x="567558" y="303316"/>
                </a:cubicBezTo>
                <a:cubicBezTo>
                  <a:pt x="567558" y="309888"/>
                  <a:pt x="562216" y="315216"/>
                  <a:pt x="555628" y="315216"/>
                </a:cubicBezTo>
                <a:lnTo>
                  <a:pt x="537643" y="315216"/>
                </a:lnTo>
                <a:cubicBezTo>
                  <a:pt x="531055" y="315216"/>
                  <a:pt x="525713" y="309888"/>
                  <a:pt x="525713" y="303316"/>
                </a:cubicBezTo>
                <a:cubicBezTo>
                  <a:pt x="525713" y="296745"/>
                  <a:pt x="531055" y="291506"/>
                  <a:pt x="537643" y="291506"/>
                </a:cubicBezTo>
                <a:close/>
                <a:moveTo>
                  <a:pt x="51991" y="291506"/>
                </a:moveTo>
                <a:lnTo>
                  <a:pt x="69946" y="291506"/>
                </a:lnTo>
                <a:cubicBezTo>
                  <a:pt x="76523" y="291506"/>
                  <a:pt x="81856" y="296745"/>
                  <a:pt x="81856" y="303316"/>
                </a:cubicBezTo>
                <a:cubicBezTo>
                  <a:pt x="81856" y="309888"/>
                  <a:pt x="76523" y="315216"/>
                  <a:pt x="69946" y="315216"/>
                </a:cubicBezTo>
                <a:lnTo>
                  <a:pt x="51991" y="315216"/>
                </a:lnTo>
                <a:cubicBezTo>
                  <a:pt x="45414" y="315216"/>
                  <a:pt x="40081" y="309888"/>
                  <a:pt x="40081" y="303316"/>
                </a:cubicBezTo>
                <a:cubicBezTo>
                  <a:pt x="40081" y="296745"/>
                  <a:pt x="45414" y="291506"/>
                  <a:pt x="51991" y="291506"/>
                </a:cubicBezTo>
                <a:close/>
                <a:moveTo>
                  <a:pt x="412608" y="222096"/>
                </a:moveTo>
                <a:lnTo>
                  <a:pt x="345491" y="334245"/>
                </a:lnTo>
                <a:lnTo>
                  <a:pt x="412608" y="334245"/>
                </a:lnTo>
                <a:close/>
                <a:moveTo>
                  <a:pt x="427651" y="167533"/>
                </a:moveTo>
                <a:cubicBezTo>
                  <a:pt x="432814" y="168954"/>
                  <a:pt x="436375" y="173664"/>
                  <a:pt x="436375" y="178996"/>
                </a:cubicBezTo>
                <a:lnTo>
                  <a:pt x="436375" y="334245"/>
                </a:lnTo>
                <a:lnTo>
                  <a:pt x="469399" y="334245"/>
                </a:lnTo>
                <a:cubicBezTo>
                  <a:pt x="475986" y="334245"/>
                  <a:pt x="481327" y="339577"/>
                  <a:pt x="481327" y="346153"/>
                </a:cubicBezTo>
                <a:cubicBezTo>
                  <a:pt x="481327" y="352641"/>
                  <a:pt x="475986" y="357973"/>
                  <a:pt x="469399" y="357973"/>
                </a:cubicBezTo>
                <a:lnTo>
                  <a:pt x="436375" y="357973"/>
                </a:lnTo>
                <a:lnTo>
                  <a:pt x="436375" y="427733"/>
                </a:lnTo>
                <a:cubicBezTo>
                  <a:pt x="436375" y="434220"/>
                  <a:pt x="431123" y="439552"/>
                  <a:pt x="424536" y="439552"/>
                </a:cubicBezTo>
                <a:cubicBezTo>
                  <a:pt x="417949" y="439552"/>
                  <a:pt x="412608" y="434220"/>
                  <a:pt x="412608" y="427733"/>
                </a:cubicBezTo>
                <a:lnTo>
                  <a:pt x="412608" y="357973"/>
                </a:lnTo>
                <a:lnTo>
                  <a:pt x="324573" y="357973"/>
                </a:lnTo>
                <a:cubicBezTo>
                  <a:pt x="320300" y="357973"/>
                  <a:pt x="316295" y="355662"/>
                  <a:pt x="314158" y="352019"/>
                </a:cubicBezTo>
                <a:cubicBezTo>
                  <a:pt x="312111" y="348286"/>
                  <a:pt x="312111" y="343665"/>
                  <a:pt x="314336" y="340022"/>
                </a:cubicBezTo>
                <a:lnTo>
                  <a:pt x="414299" y="172953"/>
                </a:lnTo>
                <a:cubicBezTo>
                  <a:pt x="417059" y="168332"/>
                  <a:pt x="422489" y="166111"/>
                  <a:pt x="427651" y="167533"/>
                </a:cubicBezTo>
                <a:close/>
                <a:moveTo>
                  <a:pt x="216270" y="167099"/>
                </a:moveTo>
                <a:cubicBezTo>
                  <a:pt x="257222" y="167099"/>
                  <a:pt x="290518" y="200333"/>
                  <a:pt x="290518" y="241210"/>
                </a:cubicBezTo>
                <a:cubicBezTo>
                  <a:pt x="290518" y="284486"/>
                  <a:pt x="273603" y="325097"/>
                  <a:pt x="242978" y="355754"/>
                </a:cubicBezTo>
                <a:lnTo>
                  <a:pt x="182707" y="415825"/>
                </a:lnTo>
                <a:lnTo>
                  <a:pt x="278588" y="415825"/>
                </a:lnTo>
                <a:cubicBezTo>
                  <a:pt x="285176" y="415825"/>
                  <a:pt x="290518" y="421158"/>
                  <a:pt x="290518" y="427734"/>
                </a:cubicBezTo>
                <a:cubicBezTo>
                  <a:pt x="290518" y="434220"/>
                  <a:pt x="285176" y="439552"/>
                  <a:pt x="278588" y="439552"/>
                </a:cubicBezTo>
                <a:lnTo>
                  <a:pt x="154040" y="439552"/>
                </a:lnTo>
                <a:cubicBezTo>
                  <a:pt x="149232" y="439552"/>
                  <a:pt x="144870" y="436709"/>
                  <a:pt x="143001" y="432265"/>
                </a:cubicBezTo>
                <a:cubicBezTo>
                  <a:pt x="141131" y="427822"/>
                  <a:pt x="142199" y="422668"/>
                  <a:pt x="145582" y="419292"/>
                </a:cubicBezTo>
                <a:lnTo>
                  <a:pt x="226152" y="338959"/>
                </a:lnTo>
                <a:cubicBezTo>
                  <a:pt x="252236" y="312834"/>
                  <a:pt x="266659" y="278088"/>
                  <a:pt x="266659" y="241210"/>
                </a:cubicBezTo>
                <a:cubicBezTo>
                  <a:pt x="266659" y="213485"/>
                  <a:pt x="244046" y="190914"/>
                  <a:pt x="216270" y="190914"/>
                </a:cubicBezTo>
                <a:cubicBezTo>
                  <a:pt x="188493" y="190914"/>
                  <a:pt x="165880" y="213485"/>
                  <a:pt x="165880" y="241210"/>
                </a:cubicBezTo>
                <a:cubicBezTo>
                  <a:pt x="165880" y="247786"/>
                  <a:pt x="160539" y="253029"/>
                  <a:pt x="154040" y="253029"/>
                </a:cubicBezTo>
                <a:cubicBezTo>
                  <a:pt x="147452" y="253029"/>
                  <a:pt x="142110" y="247786"/>
                  <a:pt x="142110" y="241210"/>
                </a:cubicBezTo>
                <a:cubicBezTo>
                  <a:pt x="142110" y="200333"/>
                  <a:pt x="175406" y="167099"/>
                  <a:pt x="216270" y="167099"/>
                </a:cubicBezTo>
                <a:close/>
                <a:moveTo>
                  <a:pt x="522185" y="165547"/>
                </a:moveTo>
                <a:cubicBezTo>
                  <a:pt x="528772" y="165547"/>
                  <a:pt x="534111" y="170871"/>
                  <a:pt x="534111" y="177438"/>
                </a:cubicBezTo>
                <a:cubicBezTo>
                  <a:pt x="534111" y="184005"/>
                  <a:pt x="528772" y="189329"/>
                  <a:pt x="522185" y="189329"/>
                </a:cubicBezTo>
                <a:cubicBezTo>
                  <a:pt x="515598" y="189329"/>
                  <a:pt x="510259" y="184005"/>
                  <a:pt x="510259" y="177438"/>
                </a:cubicBezTo>
                <a:cubicBezTo>
                  <a:pt x="510259" y="170871"/>
                  <a:pt x="515598" y="165547"/>
                  <a:pt x="522185" y="165547"/>
                </a:cubicBezTo>
                <a:close/>
                <a:moveTo>
                  <a:pt x="85420" y="165547"/>
                </a:moveTo>
                <a:cubicBezTo>
                  <a:pt x="91987" y="165547"/>
                  <a:pt x="97311" y="170871"/>
                  <a:pt x="97311" y="177438"/>
                </a:cubicBezTo>
                <a:cubicBezTo>
                  <a:pt x="97311" y="184005"/>
                  <a:pt x="91987" y="189329"/>
                  <a:pt x="85420" y="189329"/>
                </a:cubicBezTo>
                <a:cubicBezTo>
                  <a:pt x="78853" y="189329"/>
                  <a:pt x="73529" y="184005"/>
                  <a:pt x="73529" y="177438"/>
                </a:cubicBezTo>
                <a:cubicBezTo>
                  <a:pt x="73529" y="170871"/>
                  <a:pt x="78853" y="165547"/>
                  <a:pt x="85420" y="165547"/>
                </a:cubicBezTo>
                <a:close/>
                <a:moveTo>
                  <a:pt x="429885" y="73388"/>
                </a:moveTo>
                <a:cubicBezTo>
                  <a:pt x="436472" y="73388"/>
                  <a:pt x="441811" y="78712"/>
                  <a:pt x="441811" y="85279"/>
                </a:cubicBezTo>
                <a:cubicBezTo>
                  <a:pt x="441811" y="91846"/>
                  <a:pt x="436472" y="97170"/>
                  <a:pt x="429885" y="97170"/>
                </a:cubicBezTo>
                <a:cubicBezTo>
                  <a:pt x="423298" y="97170"/>
                  <a:pt x="417959" y="91846"/>
                  <a:pt x="417959" y="85279"/>
                </a:cubicBezTo>
                <a:cubicBezTo>
                  <a:pt x="417959" y="78712"/>
                  <a:pt x="423298" y="73388"/>
                  <a:pt x="429885" y="73388"/>
                </a:cubicBezTo>
                <a:close/>
                <a:moveTo>
                  <a:pt x="177720" y="73388"/>
                </a:moveTo>
                <a:cubicBezTo>
                  <a:pt x="184287" y="73388"/>
                  <a:pt x="189611" y="78712"/>
                  <a:pt x="189611" y="85279"/>
                </a:cubicBezTo>
                <a:cubicBezTo>
                  <a:pt x="189611" y="91846"/>
                  <a:pt x="184287" y="97170"/>
                  <a:pt x="177720" y="97170"/>
                </a:cubicBezTo>
                <a:cubicBezTo>
                  <a:pt x="171153" y="97170"/>
                  <a:pt x="165829" y="91846"/>
                  <a:pt x="165829" y="85279"/>
                </a:cubicBezTo>
                <a:cubicBezTo>
                  <a:pt x="165829" y="78712"/>
                  <a:pt x="171153" y="73388"/>
                  <a:pt x="177720" y="73388"/>
                </a:cubicBezTo>
                <a:close/>
                <a:moveTo>
                  <a:pt x="303775" y="42480"/>
                </a:moveTo>
                <a:cubicBezTo>
                  <a:pt x="310366" y="42480"/>
                  <a:pt x="315710" y="47815"/>
                  <a:pt x="315710" y="54396"/>
                </a:cubicBezTo>
                <a:lnTo>
                  <a:pt x="315710" y="69869"/>
                </a:lnTo>
                <a:cubicBezTo>
                  <a:pt x="315710" y="76449"/>
                  <a:pt x="310366" y="81785"/>
                  <a:pt x="303775" y="81785"/>
                </a:cubicBezTo>
                <a:cubicBezTo>
                  <a:pt x="297184" y="81785"/>
                  <a:pt x="291929" y="76449"/>
                  <a:pt x="291929" y="69869"/>
                </a:cubicBezTo>
                <a:lnTo>
                  <a:pt x="291929" y="54396"/>
                </a:lnTo>
                <a:cubicBezTo>
                  <a:pt x="291929" y="47815"/>
                  <a:pt x="297184" y="42480"/>
                  <a:pt x="303775" y="42480"/>
                </a:cubicBezTo>
                <a:close/>
                <a:moveTo>
                  <a:pt x="303775" y="0"/>
                </a:moveTo>
                <a:cubicBezTo>
                  <a:pt x="394204" y="0"/>
                  <a:pt x="479560" y="40347"/>
                  <a:pt x="537058" y="108956"/>
                </a:cubicBezTo>
                <a:lnTo>
                  <a:pt x="537058" y="93048"/>
                </a:lnTo>
                <a:cubicBezTo>
                  <a:pt x="537058" y="86471"/>
                  <a:pt x="542309" y="81139"/>
                  <a:pt x="548895" y="81139"/>
                </a:cubicBezTo>
                <a:cubicBezTo>
                  <a:pt x="555482" y="81139"/>
                  <a:pt x="560822" y="86471"/>
                  <a:pt x="560822" y="93048"/>
                </a:cubicBezTo>
                <a:lnTo>
                  <a:pt x="560822" y="138994"/>
                </a:lnTo>
                <a:cubicBezTo>
                  <a:pt x="560822" y="145570"/>
                  <a:pt x="555482" y="150903"/>
                  <a:pt x="548895" y="150903"/>
                </a:cubicBezTo>
                <a:lnTo>
                  <a:pt x="502880" y="150903"/>
                </a:lnTo>
                <a:cubicBezTo>
                  <a:pt x="496293" y="150903"/>
                  <a:pt x="490953" y="145570"/>
                  <a:pt x="490953" y="138994"/>
                </a:cubicBezTo>
                <a:cubicBezTo>
                  <a:pt x="490953" y="132417"/>
                  <a:pt x="496293" y="127174"/>
                  <a:pt x="502880" y="127174"/>
                </a:cubicBezTo>
                <a:lnTo>
                  <a:pt x="521126" y="127174"/>
                </a:lnTo>
                <a:cubicBezTo>
                  <a:pt x="468168" y="62032"/>
                  <a:pt x="388419" y="23728"/>
                  <a:pt x="303775" y="23728"/>
                </a:cubicBezTo>
                <a:cubicBezTo>
                  <a:pt x="149440" y="23728"/>
                  <a:pt x="23764" y="149214"/>
                  <a:pt x="23764" y="303316"/>
                </a:cubicBezTo>
                <a:cubicBezTo>
                  <a:pt x="23764" y="457508"/>
                  <a:pt x="149440" y="582905"/>
                  <a:pt x="303775" y="582905"/>
                </a:cubicBezTo>
                <a:cubicBezTo>
                  <a:pt x="458199" y="582905"/>
                  <a:pt x="583786" y="457508"/>
                  <a:pt x="583786" y="303316"/>
                </a:cubicBezTo>
                <a:cubicBezTo>
                  <a:pt x="583786" y="278255"/>
                  <a:pt x="580492" y="253371"/>
                  <a:pt x="573906" y="229376"/>
                </a:cubicBezTo>
                <a:cubicBezTo>
                  <a:pt x="572126" y="223066"/>
                  <a:pt x="575864" y="216489"/>
                  <a:pt x="582273" y="214801"/>
                </a:cubicBezTo>
                <a:cubicBezTo>
                  <a:pt x="588592" y="213023"/>
                  <a:pt x="595089" y="216756"/>
                  <a:pt x="596869" y="223066"/>
                </a:cubicBezTo>
                <a:cubicBezTo>
                  <a:pt x="603990" y="249194"/>
                  <a:pt x="607639" y="276122"/>
                  <a:pt x="607639" y="303316"/>
                </a:cubicBezTo>
                <a:cubicBezTo>
                  <a:pt x="607639" y="470572"/>
                  <a:pt x="471283" y="606722"/>
                  <a:pt x="303775" y="606722"/>
                </a:cubicBezTo>
                <a:cubicBezTo>
                  <a:pt x="136267" y="606722"/>
                  <a:pt x="0" y="470572"/>
                  <a:pt x="0" y="303316"/>
                </a:cubicBezTo>
                <a:cubicBezTo>
                  <a:pt x="0" y="136061"/>
                  <a:pt x="136267" y="0"/>
                  <a:pt x="3037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sp>
        <p:nvSpPr>
          <p:cNvPr id="8" name="文字方塊 7">
            <a:extLst>
              <a:ext uri="{FF2B5EF4-FFF2-40B4-BE49-F238E27FC236}">
                <a16:creationId xmlns:a16="http://schemas.microsoft.com/office/drawing/2014/main" id="{1F15BC3F-5E27-4BA8-A260-90A98E670A41}"/>
              </a:ext>
            </a:extLst>
          </p:cNvPr>
          <p:cNvSpPr txBox="1"/>
          <p:nvPr/>
        </p:nvSpPr>
        <p:spPr>
          <a:xfrm>
            <a:off x="1558751" y="6596390"/>
            <a:ext cx="4217821" cy="261610"/>
          </a:xfrm>
          <a:prstGeom prst="rect">
            <a:avLst/>
          </a:prstGeom>
          <a:noFill/>
        </p:spPr>
        <p:txBody>
          <a:bodyPr wrap="none" rtlCol="0">
            <a:spAutoFit/>
          </a:bodyPr>
          <a:lstStyle/>
          <a:p>
            <a:r>
              <a:rPr lang="zh-TW" altLang="en-US" sz="1100" dirty="0">
                <a:latin typeface="Microsoft JhengHei Light" panose="020B0304030504040204" pitchFamily="34" charset="-120"/>
                <a:ea typeface="Microsoft JhengHei Light" panose="020B0304030504040204" pitchFamily="34" charset="-120"/>
              </a:rPr>
              <a:t>區塊鏈商業應用概論 實例與分析／新陸書局股份有限公司 發行</a:t>
            </a:r>
          </a:p>
        </p:txBody>
      </p:sp>
    </p:spTree>
    <p:extLst>
      <p:ext uri="{BB962C8B-B14F-4D97-AF65-F5344CB8AC3E}">
        <p14:creationId xmlns:p14="http://schemas.microsoft.com/office/powerpoint/2010/main" val="3263882906"/>
      </p:ext>
    </p:extLst>
  </p:cSld>
  <p:clrMapOvr>
    <a:masterClrMapping/>
  </p:clrMapOvr>
  <mc:AlternateContent xmlns:mc="http://schemas.openxmlformats.org/markup-compatibility/2006" xmlns:p14="http://schemas.microsoft.com/office/powerpoint/2010/main">
    <mc:Choice Requires="p14">
      <p:transition spd="slow" p14:dur="1400">
        <p14:rippl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8" fill="hold" grpId="0" nodeType="after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additive="base">
                                        <p:cTn id="7" dur="500"/>
                                        <p:tgtEl>
                                          <p:spTgt spid="7"/>
                                        </p:tgtEl>
                                        <p:attrNameLst>
                                          <p:attrName>ppt_x</p:attrName>
                                        </p:attrNameLst>
                                      </p:cBhvr>
                                      <p:tavLst>
                                        <p:tav tm="0">
                                          <p:val>
                                            <p:strVal val="#ppt_x-#ppt_w*1.125000"/>
                                          </p:val>
                                        </p:tav>
                                        <p:tav tm="100000">
                                          <p:val>
                                            <p:strVal val="#ppt_x"/>
                                          </p:val>
                                        </p:tav>
                                      </p:tavLst>
                                    </p:anim>
                                    <p:animEffect transition="in" filter="wipe(right)">
                                      <p:cBhvr>
                                        <p:cTn id="8" dur="500"/>
                                        <p:tgtEl>
                                          <p:spTgt spid="7"/>
                                        </p:tgtEl>
                                      </p:cBhvr>
                                    </p:animEffect>
                                  </p:childTnLst>
                                </p:cTn>
                              </p:par>
                              <p:par>
                                <p:cTn id="9" presetID="12" presetClass="entr" presetSubtype="4" fill="hold" grpId="0" nodeType="withEffect">
                                  <p:stCondLst>
                                    <p:cond delay="0"/>
                                  </p:stCondLst>
                                  <p:childTnLst>
                                    <p:set>
                                      <p:cBhvr>
                                        <p:cTn id="10" dur="1" fill="hold">
                                          <p:stCondLst>
                                            <p:cond delay="0"/>
                                          </p:stCondLst>
                                        </p:cTn>
                                        <p:tgtEl>
                                          <p:spTgt spid="9"/>
                                        </p:tgtEl>
                                        <p:attrNameLst>
                                          <p:attrName>style.visibility</p:attrName>
                                        </p:attrNameLst>
                                      </p:cBhvr>
                                      <p:to>
                                        <p:strVal val="visible"/>
                                      </p:to>
                                    </p:set>
                                    <p:anim calcmode="lin" valueType="num">
                                      <p:cBhvr additive="base">
                                        <p:cTn id="11" dur="500"/>
                                        <p:tgtEl>
                                          <p:spTgt spid="9"/>
                                        </p:tgtEl>
                                        <p:attrNameLst>
                                          <p:attrName>ppt_y</p:attrName>
                                        </p:attrNameLst>
                                      </p:cBhvr>
                                      <p:tavLst>
                                        <p:tav tm="0">
                                          <p:val>
                                            <p:strVal val="#ppt_y+#ppt_h*1.125000"/>
                                          </p:val>
                                        </p:tav>
                                        <p:tav tm="100000">
                                          <p:val>
                                            <p:strVal val="#ppt_y"/>
                                          </p:val>
                                        </p:tav>
                                      </p:tavLst>
                                    </p:anim>
                                    <p:animEffect transition="in" filter="wipe(up)">
                                      <p:cBhvr>
                                        <p:cTn id="12" dur="500"/>
                                        <p:tgtEl>
                                          <p:spTgt spid="9"/>
                                        </p:tgtEl>
                                      </p:cBhvr>
                                    </p:animEffect>
                                  </p:childTnLst>
                                </p:cTn>
                              </p:par>
                              <p:par>
                                <p:cTn id="13" presetID="53" presetClass="entr" presetSubtype="16" fill="hold" grpId="0" nodeType="withEffect">
                                  <p:stCondLst>
                                    <p:cond delay="0"/>
                                  </p:stCondLst>
                                  <p:childTnLst>
                                    <p:set>
                                      <p:cBhvr>
                                        <p:cTn id="14" dur="1" fill="hold">
                                          <p:stCondLst>
                                            <p:cond delay="0"/>
                                          </p:stCondLst>
                                        </p:cTn>
                                        <p:tgtEl>
                                          <p:spTgt spid="46"/>
                                        </p:tgtEl>
                                        <p:attrNameLst>
                                          <p:attrName>style.visibility</p:attrName>
                                        </p:attrNameLst>
                                      </p:cBhvr>
                                      <p:to>
                                        <p:strVal val="visible"/>
                                      </p:to>
                                    </p:set>
                                    <p:anim calcmode="lin" valueType="num">
                                      <p:cBhvr>
                                        <p:cTn id="15" dur="500" fill="hold"/>
                                        <p:tgtEl>
                                          <p:spTgt spid="46"/>
                                        </p:tgtEl>
                                        <p:attrNameLst>
                                          <p:attrName>ppt_w</p:attrName>
                                        </p:attrNameLst>
                                      </p:cBhvr>
                                      <p:tavLst>
                                        <p:tav tm="0">
                                          <p:val>
                                            <p:fltVal val="0"/>
                                          </p:val>
                                        </p:tav>
                                        <p:tav tm="100000">
                                          <p:val>
                                            <p:strVal val="#ppt_w"/>
                                          </p:val>
                                        </p:tav>
                                      </p:tavLst>
                                    </p:anim>
                                    <p:anim calcmode="lin" valueType="num">
                                      <p:cBhvr>
                                        <p:cTn id="16" dur="500" fill="hold"/>
                                        <p:tgtEl>
                                          <p:spTgt spid="46"/>
                                        </p:tgtEl>
                                        <p:attrNameLst>
                                          <p:attrName>ppt_h</p:attrName>
                                        </p:attrNameLst>
                                      </p:cBhvr>
                                      <p:tavLst>
                                        <p:tav tm="0">
                                          <p:val>
                                            <p:fltVal val="0"/>
                                          </p:val>
                                        </p:tav>
                                        <p:tav tm="100000">
                                          <p:val>
                                            <p:strVal val="#ppt_h"/>
                                          </p:val>
                                        </p:tav>
                                      </p:tavLst>
                                    </p:anim>
                                    <p:animEffect transition="in" filter="fade">
                                      <p:cBhvr>
                                        <p:cTn id="17" dur="500"/>
                                        <p:tgtEl>
                                          <p:spTgt spid="46"/>
                                        </p:tgtEl>
                                      </p:cBhvr>
                                    </p:animEffect>
                                  </p:childTnLst>
                                </p:cTn>
                              </p:par>
                              <p:par>
                                <p:cTn id="18" presetID="53" presetClass="entr" presetSubtype="16" fill="hold" grpId="0" nodeType="withEffect">
                                  <p:stCondLst>
                                    <p:cond delay="0"/>
                                  </p:stCondLst>
                                  <p:childTnLst>
                                    <p:set>
                                      <p:cBhvr>
                                        <p:cTn id="19" dur="1" fill="hold">
                                          <p:stCondLst>
                                            <p:cond delay="0"/>
                                          </p:stCondLst>
                                        </p:cTn>
                                        <p:tgtEl>
                                          <p:spTgt spid="47"/>
                                        </p:tgtEl>
                                        <p:attrNameLst>
                                          <p:attrName>style.visibility</p:attrName>
                                        </p:attrNameLst>
                                      </p:cBhvr>
                                      <p:to>
                                        <p:strVal val="visible"/>
                                      </p:to>
                                    </p:set>
                                    <p:anim calcmode="lin" valueType="num">
                                      <p:cBhvr>
                                        <p:cTn id="20" dur="500" fill="hold"/>
                                        <p:tgtEl>
                                          <p:spTgt spid="47"/>
                                        </p:tgtEl>
                                        <p:attrNameLst>
                                          <p:attrName>ppt_w</p:attrName>
                                        </p:attrNameLst>
                                      </p:cBhvr>
                                      <p:tavLst>
                                        <p:tav tm="0">
                                          <p:val>
                                            <p:fltVal val="0"/>
                                          </p:val>
                                        </p:tav>
                                        <p:tav tm="100000">
                                          <p:val>
                                            <p:strVal val="#ppt_w"/>
                                          </p:val>
                                        </p:tav>
                                      </p:tavLst>
                                    </p:anim>
                                    <p:anim calcmode="lin" valueType="num">
                                      <p:cBhvr>
                                        <p:cTn id="21" dur="500" fill="hold"/>
                                        <p:tgtEl>
                                          <p:spTgt spid="47"/>
                                        </p:tgtEl>
                                        <p:attrNameLst>
                                          <p:attrName>ppt_h</p:attrName>
                                        </p:attrNameLst>
                                      </p:cBhvr>
                                      <p:tavLst>
                                        <p:tav tm="0">
                                          <p:val>
                                            <p:fltVal val="0"/>
                                          </p:val>
                                        </p:tav>
                                        <p:tav tm="100000">
                                          <p:val>
                                            <p:strVal val="#ppt_h"/>
                                          </p:val>
                                        </p:tav>
                                      </p:tavLst>
                                    </p:anim>
                                    <p:animEffect transition="in" filter="fade">
                                      <p:cBhvr>
                                        <p:cTn id="22" dur="500"/>
                                        <p:tgtEl>
                                          <p:spTgt spid="4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9" grpId="0"/>
      <p:bldP spid="46" grpId="0" animBg="1"/>
      <p:bldP spid="47" grpId="0" animBg="1"/>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p:cNvPicPr>
            <a:picLocks noChangeAspect="1"/>
          </p:cNvPicPr>
          <p:nvPr/>
        </p:nvPicPr>
        <p:blipFill>
          <a:blip r:embed="rId3"/>
          <a:stretch>
            <a:fillRect/>
          </a:stretch>
        </p:blipFill>
        <p:spPr>
          <a:xfrm flipH="1">
            <a:off x="8244230" y="0"/>
            <a:ext cx="3947770" cy="4851400"/>
          </a:xfrm>
          <a:prstGeom prst="rect">
            <a:avLst/>
          </a:prstGeom>
        </p:spPr>
      </p:pic>
      <p:sp>
        <p:nvSpPr>
          <p:cNvPr id="5" name="矩形 4"/>
          <p:cNvSpPr/>
          <p:nvPr/>
        </p:nvSpPr>
        <p:spPr>
          <a:xfrm>
            <a:off x="1806490" y="1351226"/>
            <a:ext cx="3318537" cy="523220"/>
          </a:xfrm>
          <a:prstGeom prst="rect">
            <a:avLst/>
          </a:prstGeom>
        </p:spPr>
        <p:txBody>
          <a:bodyPr wrap="none">
            <a:spAutoFit/>
            <a:scene3d>
              <a:camera prst="orthographicFront"/>
              <a:lightRig rig="threePt" dir="t"/>
            </a:scene3d>
            <a:sp3d contourW="12700"/>
          </a:bodyPr>
          <a:lstStyle/>
          <a:p>
            <a:pPr algn="ctr"/>
            <a:r>
              <a:rPr lang="en-US" altLang="zh-TW" sz="2800" b="1" dirty="0">
                <a:solidFill>
                  <a:schemeClr val="accent6"/>
                </a:solidFill>
              </a:rPr>
              <a:t>2-1 </a:t>
            </a:r>
            <a:r>
              <a:rPr lang="zh-TW" altLang="en-US" sz="2800" b="1" dirty="0">
                <a:solidFill>
                  <a:schemeClr val="accent6"/>
                </a:solidFill>
              </a:rPr>
              <a:t>區塊鏈技術意涵</a:t>
            </a:r>
          </a:p>
        </p:txBody>
      </p:sp>
      <p:sp>
        <p:nvSpPr>
          <p:cNvPr id="47" name="矩形 46"/>
          <p:cNvSpPr/>
          <p:nvPr/>
        </p:nvSpPr>
        <p:spPr>
          <a:xfrm>
            <a:off x="1809429" y="2230883"/>
            <a:ext cx="3318536" cy="523220"/>
          </a:xfrm>
          <a:prstGeom prst="rect">
            <a:avLst/>
          </a:prstGeom>
        </p:spPr>
        <p:txBody>
          <a:bodyPr wrap="none">
            <a:spAutoFit/>
            <a:scene3d>
              <a:camera prst="orthographicFront"/>
              <a:lightRig rig="threePt" dir="t"/>
            </a:scene3d>
            <a:sp3d contourW="12700"/>
          </a:bodyPr>
          <a:lstStyle/>
          <a:p>
            <a:pPr algn="ctr"/>
            <a:r>
              <a:rPr lang="en-US" altLang="zh-TW" sz="2800" b="1" dirty="0">
                <a:solidFill>
                  <a:schemeClr val="accent6"/>
                </a:solidFill>
              </a:rPr>
              <a:t>2-2 </a:t>
            </a:r>
            <a:r>
              <a:rPr lang="zh-TW" altLang="en-US" sz="2800" b="1" dirty="0">
                <a:solidFill>
                  <a:schemeClr val="accent6"/>
                </a:solidFill>
              </a:rPr>
              <a:t>區塊鏈技術發展</a:t>
            </a:r>
          </a:p>
        </p:txBody>
      </p:sp>
      <p:sp>
        <p:nvSpPr>
          <p:cNvPr id="52" name="矩形 51"/>
          <p:cNvSpPr/>
          <p:nvPr/>
        </p:nvSpPr>
        <p:spPr>
          <a:xfrm>
            <a:off x="1809429" y="3110540"/>
            <a:ext cx="4036682" cy="523220"/>
          </a:xfrm>
          <a:prstGeom prst="rect">
            <a:avLst/>
          </a:prstGeom>
        </p:spPr>
        <p:txBody>
          <a:bodyPr wrap="none">
            <a:spAutoFit/>
            <a:scene3d>
              <a:camera prst="orthographicFront"/>
              <a:lightRig rig="threePt" dir="t"/>
            </a:scene3d>
            <a:sp3d contourW="12700"/>
          </a:bodyPr>
          <a:lstStyle/>
          <a:p>
            <a:pPr algn="ctr"/>
            <a:r>
              <a:rPr lang="en-US" altLang="zh-TW" sz="2800" b="1" dirty="0">
                <a:solidFill>
                  <a:schemeClr val="accent6"/>
                </a:solidFill>
              </a:rPr>
              <a:t>2-3 </a:t>
            </a:r>
            <a:r>
              <a:rPr lang="zh-TW" altLang="en-US" sz="2800" b="1" dirty="0">
                <a:solidFill>
                  <a:schemeClr val="accent6"/>
                </a:solidFill>
              </a:rPr>
              <a:t>區塊鏈技術安全特性</a:t>
            </a:r>
          </a:p>
        </p:txBody>
      </p:sp>
      <p:sp>
        <p:nvSpPr>
          <p:cNvPr id="65" name="文本框 64"/>
          <p:cNvSpPr txBox="1"/>
          <p:nvPr/>
        </p:nvSpPr>
        <p:spPr>
          <a:xfrm rot="5400000">
            <a:off x="5416355" y="2443872"/>
            <a:ext cx="3531736" cy="923330"/>
          </a:xfrm>
          <a:prstGeom prst="rect">
            <a:avLst/>
          </a:prstGeom>
          <a:noFill/>
        </p:spPr>
        <p:txBody>
          <a:bodyPr wrap="none" rtlCol="0">
            <a:spAutoFit/>
            <a:scene3d>
              <a:camera prst="orthographicFront"/>
              <a:lightRig rig="threePt" dir="t"/>
            </a:scene3d>
            <a:sp3d contourW="12700"/>
          </a:bodyPr>
          <a:lstStyle/>
          <a:p>
            <a:r>
              <a:rPr lang="en-US" altLang="zh-CN" sz="5400" b="1" dirty="0">
                <a:solidFill>
                  <a:schemeClr val="accent1"/>
                </a:solidFill>
              </a:rPr>
              <a:t>CONTENT</a:t>
            </a:r>
            <a:endParaRPr lang="zh-CN" altLang="en-US" sz="5400" b="1" dirty="0">
              <a:solidFill>
                <a:schemeClr val="accent1"/>
              </a:solidFill>
            </a:endParaRPr>
          </a:p>
        </p:txBody>
      </p:sp>
      <p:sp>
        <p:nvSpPr>
          <p:cNvPr id="7" name="文字方塊 6">
            <a:extLst>
              <a:ext uri="{FF2B5EF4-FFF2-40B4-BE49-F238E27FC236}">
                <a16:creationId xmlns:a16="http://schemas.microsoft.com/office/drawing/2014/main" id="{B64E8F0C-4E9F-4E0B-B970-EC07F3CBFD60}"/>
              </a:ext>
            </a:extLst>
          </p:cNvPr>
          <p:cNvSpPr txBox="1"/>
          <p:nvPr/>
        </p:nvSpPr>
        <p:spPr>
          <a:xfrm>
            <a:off x="1558751" y="6596390"/>
            <a:ext cx="4217821" cy="261610"/>
          </a:xfrm>
          <a:prstGeom prst="rect">
            <a:avLst/>
          </a:prstGeom>
          <a:noFill/>
        </p:spPr>
        <p:txBody>
          <a:bodyPr wrap="none" rtlCol="0">
            <a:spAutoFit/>
          </a:bodyPr>
          <a:lstStyle/>
          <a:p>
            <a:r>
              <a:rPr lang="zh-TW" altLang="en-US" sz="1100" dirty="0">
                <a:latin typeface="Microsoft JhengHei Light" panose="020B0304030504040204" pitchFamily="34" charset="-120"/>
                <a:ea typeface="Microsoft JhengHei Light" panose="020B0304030504040204" pitchFamily="34" charset="-120"/>
              </a:rPr>
              <a:t>區塊鏈商業應用概論 實例與分析／新陸書局股份有限公司 發行</a:t>
            </a:r>
          </a:p>
        </p:txBody>
      </p:sp>
    </p:spTree>
    <p:extLst>
      <p:ext uri="{BB962C8B-B14F-4D97-AF65-F5344CB8AC3E}">
        <p14:creationId xmlns:p14="http://schemas.microsoft.com/office/powerpoint/2010/main" val="3839536719"/>
      </p:ext>
    </p:extLst>
  </p:cSld>
  <p:clrMapOvr>
    <a:masterClrMapping/>
  </p:clrMapOvr>
  <mc:AlternateContent xmlns:mc="http://schemas.openxmlformats.org/markup-compatibility/2006" xmlns:p14="http://schemas.microsoft.com/office/powerpoint/2010/main">
    <mc:Choice Requires="p14">
      <p:transition spd="slow" p14:dur="1500">
        <p14:window dir="ver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1" fill="hold" nodeType="after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ppt_x"/>
                                          </p:val>
                                        </p:tav>
                                        <p:tav tm="100000">
                                          <p:val>
                                            <p:strVal val="#ppt_x"/>
                                          </p:val>
                                        </p:tav>
                                      </p:tavLst>
                                    </p:anim>
                                    <p:anim calcmode="lin" valueType="num">
                                      <p:cBhvr additive="base">
                                        <p:cTn id="8" dur="500" fill="hold"/>
                                        <p:tgtEl>
                                          <p:spTgt spid="3"/>
                                        </p:tgtEl>
                                        <p:attrNameLst>
                                          <p:attrName>ppt_y</p:attrName>
                                        </p:attrNameLst>
                                      </p:cBhvr>
                                      <p:tavLst>
                                        <p:tav tm="0">
                                          <p:val>
                                            <p:strVal val="0-#ppt_h/2"/>
                                          </p:val>
                                        </p:tav>
                                        <p:tav tm="100000">
                                          <p:val>
                                            <p:strVal val="#ppt_y"/>
                                          </p:val>
                                        </p:tav>
                                      </p:tavLst>
                                    </p:anim>
                                  </p:childTnLst>
                                </p:cTn>
                              </p:par>
                            </p:childTnLst>
                          </p:cTn>
                        </p:par>
                        <p:par>
                          <p:cTn id="9" fill="hold">
                            <p:stCondLst>
                              <p:cond delay="500"/>
                            </p:stCondLst>
                            <p:childTnLst>
                              <p:par>
                                <p:cTn id="10" presetID="47" presetClass="entr" presetSubtype="0" fill="hold" grpId="0" nodeType="afterEffect">
                                  <p:stCondLst>
                                    <p:cond delay="0"/>
                                  </p:stCondLst>
                                  <p:childTnLst>
                                    <p:set>
                                      <p:cBhvr>
                                        <p:cTn id="11" dur="1" fill="hold">
                                          <p:stCondLst>
                                            <p:cond delay="0"/>
                                          </p:stCondLst>
                                        </p:cTn>
                                        <p:tgtEl>
                                          <p:spTgt spid="65"/>
                                        </p:tgtEl>
                                        <p:attrNameLst>
                                          <p:attrName>style.visibility</p:attrName>
                                        </p:attrNameLst>
                                      </p:cBhvr>
                                      <p:to>
                                        <p:strVal val="visible"/>
                                      </p:to>
                                    </p:set>
                                    <p:animEffect transition="in" filter="fade">
                                      <p:cBhvr>
                                        <p:cTn id="12" dur="1000"/>
                                        <p:tgtEl>
                                          <p:spTgt spid="65"/>
                                        </p:tgtEl>
                                      </p:cBhvr>
                                    </p:animEffect>
                                    <p:anim calcmode="lin" valueType="num">
                                      <p:cBhvr>
                                        <p:cTn id="13" dur="1000" fill="hold"/>
                                        <p:tgtEl>
                                          <p:spTgt spid="65"/>
                                        </p:tgtEl>
                                        <p:attrNameLst>
                                          <p:attrName>ppt_x</p:attrName>
                                        </p:attrNameLst>
                                      </p:cBhvr>
                                      <p:tavLst>
                                        <p:tav tm="0">
                                          <p:val>
                                            <p:strVal val="#ppt_x"/>
                                          </p:val>
                                        </p:tav>
                                        <p:tav tm="100000">
                                          <p:val>
                                            <p:strVal val="#ppt_x"/>
                                          </p:val>
                                        </p:tav>
                                      </p:tavLst>
                                    </p:anim>
                                    <p:anim calcmode="lin" valueType="num">
                                      <p:cBhvr>
                                        <p:cTn id="14" dur="1000" fill="hold"/>
                                        <p:tgtEl>
                                          <p:spTgt spid="65"/>
                                        </p:tgtEl>
                                        <p:attrNameLst>
                                          <p:attrName>ppt_y</p:attrName>
                                        </p:attrNameLst>
                                      </p:cBhvr>
                                      <p:tavLst>
                                        <p:tav tm="0">
                                          <p:val>
                                            <p:strVal val="#ppt_y-.1"/>
                                          </p:val>
                                        </p:tav>
                                        <p:tav tm="100000">
                                          <p:val>
                                            <p:strVal val="#ppt_y"/>
                                          </p:val>
                                        </p:tav>
                                      </p:tavLst>
                                    </p:anim>
                                  </p:childTnLst>
                                </p:cTn>
                              </p:par>
                            </p:childTnLst>
                          </p:cTn>
                        </p:par>
                        <p:par>
                          <p:cTn id="15" fill="hold">
                            <p:stCondLst>
                              <p:cond delay="1500"/>
                            </p:stCondLst>
                            <p:childTnLst>
                              <p:par>
                                <p:cTn id="16" presetID="16" presetClass="entr" presetSubtype="21" fill="hold" grpId="0" nodeType="afterEffect">
                                  <p:stCondLst>
                                    <p:cond delay="0"/>
                                  </p:stCondLst>
                                  <p:childTnLst>
                                    <p:set>
                                      <p:cBhvr>
                                        <p:cTn id="17" dur="1" fill="hold">
                                          <p:stCondLst>
                                            <p:cond delay="0"/>
                                          </p:stCondLst>
                                        </p:cTn>
                                        <p:tgtEl>
                                          <p:spTgt spid="5"/>
                                        </p:tgtEl>
                                        <p:attrNameLst>
                                          <p:attrName>style.visibility</p:attrName>
                                        </p:attrNameLst>
                                      </p:cBhvr>
                                      <p:to>
                                        <p:strVal val="visible"/>
                                      </p:to>
                                    </p:set>
                                    <p:animEffect transition="in" filter="barn(inVertical)">
                                      <p:cBhvr>
                                        <p:cTn id="18" dur="500"/>
                                        <p:tgtEl>
                                          <p:spTgt spid="5"/>
                                        </p:tgtEl>
                                      </p:cBhvr>
                                    </p:animEffect>
                                  </p:childTnLst>
                                </p:cTn>
                              </p:par>
                            </p:childTnLst>
                          </p:cTn>
                        </p:par>
                        <p:par>
                          <p:cTn id="19" fill="hold">
                            <p:stCondLst>
                              <p:cond delay="2000"/>
                            </p:stCondLst>
                            <p:childTnLst>
                              <p:par>
                                <p:cTn id="20" presetID="16" presetClass="entr" presetSubtype="21" fill="hold" grpId="0" nodeType="afterEffect">
                                  <p:stCondLst>
                                    <p:cond delay="0"/>
                                  </p:stCondLst>
                                  <p:childTnLst>
                                    <p:set>
                                      <p:cBhvr>
                                        <p:cTn id="21" dur="1" fill="hold">
                                          <p:stCondLst>
                                            <p:cond delay="0"/>
                                          </p:stCondLst>
                                        </p:cTn>
                                        <p:tgtEl>
                                          <p:spTgt spid="47"/>
                                        </p:tgtEl>
                                        <p:attrNameLst>
                                          <p:attrName>style.visibility</p:attrName>
                                        </p:attrNameLst>
                                      </p:cBhvr>
                                      <p:to>
                                        <p:strVal val="visible"/>
                                      </p:to>
                                    </p:set>
                                    <p:animEffect transition="in" filter="barn(inVertical)">
                                      <p:cBhvr>
                                        <p:cTn id="22" dur="500"/>
                                        <p:tgtEl>
                                          <p:spTgt spid="47"/>
                                        </p:tgtEl>
                                      </p:cBhvr>
                                    </p:animEffect>
                                  </p:childTnLst>
                                </p:cTn>
                              </p:par>
                            </p:childTnLst>
                          </p:cTn>
                        </p:par>
                        <p:par>
                          <p:cTn id="23" fill="hold">
                            <p:stCondLst>
                              <p:cond delay="2500"/>
                            </p:stCondLst>
                            <p:childTnLst>
                              <p:par>
                                <p:cTn id="24" presetID="16" presetClass="entr" presetSubtype="21" fill="hold" grpId="0" nodeType="afterEffect">
                                  <p:stCondLst>
                                    <p:cond delay="0"/>
                                  </p:stCondLst>
                                  <p:childTnLst>
                                    <p:set>
                                      <p:cBhvr>
                                        <p:cTn id="25" dur="1" fill="hold">
                                          <p:stCondLst>
                                            <p:cond delay="0"/>
                                          </p:stCondLst>
                                        </p:cTn>
                                        <p:tgtEl>
                                          <p:spTgt spid="52"/>
                                        </p:tgtEl>
                                        <p:attrNameLst>
                                          <p:attrName>style.visibility</p:attrName>
                                        </p:attrNameLst>
                                      </p:cBhvr>
                                      <p:to>
                                        <p:strVal val="visible"/>
                                      </p:to>
                                    </p:set>
                                    <p:animEffect transition="in" filter="barn(inVertical)">
                                      <p:cBhvr>
                                        <p:cTn id="26" dur="500"/>
                                        <p:tgtEl>
                                          <p:spTgt spid="5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47" grpId="0"/>
      <p:bldP spid="52" grpId="0"/>
      <p:bldP spid="65"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標題 1"/>
          <p:cNvSpPr txBox="1">
            <a:spLocks/>
          </p:cNvSpPr>
          <p:nvPr/>
        </p:nvSpPr>
        <p:spPr>
          <a:xfrm>
            <a:off x="1231956" y="393820"/>
            <a:ext cx="3643527" cy="874595"/>
          </a:xfrm>
          <a:prstGeom prst="rect">
            <a:avLst/>
          </a:prstGeom>
        </p:spPr>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altLang="zh-TW" sz="2400" b="1" dirty="0">
                <a:solidFill>
                  <a:srgbClr val="E06741"/>
                </a:solidFill>
              </a:rPr>
              <a:t>2-1 </a:t>
            </a:r>
            <a:r>
              <a:rPr lang="zh-TW" altLang="en-US" sz="2400" b="1" dirty="0">
                <a:solidFill>
                  <a:srgbClr val="E06741"/>
                </a:solidFill>
              </a:rPr>
              <a:t>區塊鏈技術意涵</a:t>
            </a:r>
          </a:p>
          <a:p>
            <a:endParaRPr lang="zh-TW" altLang="en-US" sz="2400" dirty="0">
              <a:solidFill>
                <a:srgbClr val="E06741"/>
              </a:solidFill>
              <a:latin typeface="標楷體" panose="03000509000000000000" pitchFamily="65" charset="-120"/>
              <a:ea typeface="標楷體" panose="03000509000000000000" pitchFamily="65" charset="-120"/>
              <a:cs typeface="Times New Roman" panose="02020603050405020304" pitchFamily="18" charset="0"/>
            </a:endParaRPr>
          </a:p>
        </p:txBody>
      </p:sp>
      <p:sp>
        <p:nvSpPr>
          <p:cNvPr id="2" name="矩形 1"/>
          <p:cNvSpPr/>
          <p:nvPr/>
        </p:nvSpPr>
        <p:spPr>
          <a:xfrm>
            <a:off x="2937412" y="1244217"/>
            <a:ext cx="8515679" cy="5036379"/>
          </a:xfrm>
          <a:prstGeom prst="rect">
            <a:avLst/>
          </a:prstGeom>
        </p:spPr>
        <p:txBody>
          <a:bodyPr wrap="square">
            <a:spAutoFit/>
          </a:bodyPr>
          <a:lstStyle/>
          <a:p>
            <a:pPr marL="342900" indent="-342900">
              <a:lnSpc>
                <a:spcPct val="150000"/>
              </a:lnSpc>
              <a:buSzPct val="150000"/>
              <a:buBlip>
                <a:blip r:embed="rId3"/>
              </a:buBlip>
            </a:pPr>
            <a:r>
              <a:rPr lang="zh-TW" altLang="en-US" sz="2400" b="1" dirty="0">
                <a:solidFill>
                  <a:srgbClr val="049E8C"/>
                </a:solidFill>
                <a:latin typeface="微軟正黑體" panose="020B0604030504040204" pitchFamily="34" charset="-120"/>
                <a:ea typeface="微軟正黑體" panose="020B0604030504040204" pitchFamily="34" charset="-120"/>
              </a:rPr>
              <a:t>比特幣的源起</a:t>
            </a:r>
            <a:endParaRPr lang="en-US" altLang="zh-TW" sz="2400" b="1" dirty="0">
              <a:solidFill>
                <a:srgbClr val="049E8C"/>
              </a:solidFill>
              <a:latin typeface="微軟正黑體" panose="020B0604030504040204" pitchFamily="34" charset="-120"/>
              <a:ea typeface="微軟正黑體" panose="020B0604030504040204" pitchFamily="34" charset="-120"/>
            </a:endParaRPr>
          </a:p>
          <a:p>
            <a:pPr>
              <a:lnSpc>
                <a:spcPct val="150000"/>
              </a:lnSpc>
            </a:pPr>
            <a:r>
              <a:rPr lang="zh-TW" altLang="en-US" sz="2400" b="1" dirty="0">
                <a:solidFill>
                  <a:schemeClr val="tx1">
                    <a:lumMod val="75000"/>
                    <a:lumOff val="25000"/>
                  </a:schemeClr>
                </a:solidFill>
                <a:latin typeface="微軟正黑體" panose="020B0604030504040204" pitchFamily="34" charset="-120"/>
                <a:ea typeface="微軟正黑體" panose="020B0604030504040204" pitchFamily="34" charset="-120"/>
              </a:rPr>
              <a:t>        </a:t>
            </a:r>
            <a:r>
              <a:rPr lang="zh-TW" altLang="en-US" sz="2300" b="1" dirty="0">
                <a:solidFill>
                  <a:schemeClr val="tx1">
                    <a:lumMod val="75000"/>
                    <a:lumOff val="25000"/>
                  </a:schemeClr>
                </a:solidFill>
                <a:latin typeface="微軟正黑體" panose="020B0604030504040204" pitchFamily="34" charset="-120"/>
                <a:ea typeface="微軟正黑體" panose="020B0604030504040204" pitchFamily="34" charset="-120"/>
              </a:rPr>
              <a:t>起源於</a:t>
            </a:r>
            <a:r>
              <a:rPr lang="en-US" altLang="zh-TW" sz="2300" b="1" dirty="0">
                <a:solidFill>
                  <a:schemeClr val="tx1">
                    <a:lumMod val="75000"/>
                    <a:lumOff val="25000"/>
                  </a:schemeClr>
                </a:solidFill>
                <a:latin typeface="微軟正黑體" panose="020B0604030504040204" pitchFamily="34" charset="-120"/>
                <a:ea typeface="微軟正黑體" panose="020B0604030504040204" pitchFamily="34" charset="-120"/>
              </a:rPr>
              <a:t>2009</a:t>
            </a:r>
            <a:r>
              <a:rPr lang="zh-TW" altLang="en-US" sz="2300" b="1" dirty="0">
                <a:solidFill>
                  <a:schemeClr val="tx1">
                    <a:lumMod val="75000"/>
                    <a:lumOff val="25000"/>
                  </a:schemeClr>
                </a:solidFill>
                <a:latin typeface="微軟正黑體" panose="020B0604030504040204" pitchFamily="34" charset="-120"/>
                <a:ea typeface="微軟正黑體" panose="020B0604030504040204" pitchFamily="34" charset="-120"/>
              </a:rPr>
              <a:t>年，一個化名</a:t>
            </a:r>
            <a:r>
              <a:rPr lang="en-US" altLang="zh-TW" sz="2300" b="1" dirty="0">
                <a:solidFill>
                  <a:schemeClr val="tx1">
                    <a:lumMod val="75000"/>
                    <a:lumOff val="25000"/>
                  </a:schemeClr>
                </a:solidFill>
                <a:latin typeface="微軟正黑體" panose="020B0604030504040204" pitchFamily="34" charset="-120"/>
                <a:ea typeface="微軟正黑體" panose="020B0604030504040204" pitchFamily="34" charset="-120"/>
              </a:rPr>
              <a:t>Satoshi Nakamoto (</a:t>
            </a:r>
            <a:r>
              <a:rPr lang="zh-TW" altLang="en-US" sz="2300" b="1" dirty="0">
                <a:solidFill>
                  <a:schemeClr val="tx1">
                    <a:lumMod val="75000"/>
                    <a:lumOff val="25000"/>
                  </a:schemeClr>
                </a:solidFill>
                <a:latin typeface="微軟正黑體" panose="020B0604030504040204" pitchFamily="34" charset="-120"/>
                <a:ea typeface="微軟正黑體" panose="020B0604030504040204" pitchFamily="34" charset="-120"/>
              </a:rPr>
              <a:t>中本聰</a:t>
            </a:r>
            <a:r>
              <a:rPr lang="en-US" altLang="zh-TW" sz="2300" b="1" dirty="0">
                <a:solidFill>
                  <a:schemeClr val="tx1">
                    <a:lumMod val="75000"/>
                    <a:lumOff val="25000"/>
                  </a:schemeClr>
                </a:solidFill>
                <a:latin typeface="微軟正黑體" panose="020B0604030504040204" pitchFamily="34" charset="-120"/>
                <a:ea typeface="微軟正黑體" panose="020B0604030504040204" pitchFamily="34" charset="-120"/>
              </a:rPr>
              <a:t>) </a:t>
            </a:r>
            <a:r>
              <a:rPr lang="zh-TW" altLang="en-US" sz="2300" b="1" dirty="0">
                <a:solidFill>
                  <a:schemeClr val="tx1">
                    <a:lumMod val="75000"/>
                    <a:lumOff val="25000"/>
                  </a:schemeClr>
                </a:solidFill>
                <a:latin typeface="微軟正黑體" panose="020B0604030504040204" pitchFamily="34" charset="-120"/>
                <a:ea typeface="微軟正黑體" panose="020B0604030504040204" pitchFamily="34" charset="-120"/>
              </a:rPr>
              <a:t>的電腦用戶發佈了一款遊戲，聲稱是在區塊鏈技術的基礎上開發了一種「貨幣」，命名為</a:t>
            </a:r>
            <a:r>
              <a:rPr lang="en-US" altLang="zh-TW" sz="2300" b="1" dirty="0">
                <a:solidFill>
                  <a:schemeClr val="tx2"/>
                </a:solidFill>
                <a:latin typeface="微軟正黑體" panose="020B0604030504040204" pitchFamily="34" charset="-120"/>
                <a:ea typeface="微軟正黑體" panose="020B0604030504040204" pitchFamily="34" charset="-120"/>
              </a:rPr>
              <a:t>BITCOIN</a:t>
            </a:r>
            <a:r>
              <a:rPr lang="zh-TW" altLang="en-US" sz="2300" b="1" dirty="0">
                <a:solidFill>
                  <a:schemeClr val="tx1">
                    <a:lumMod val="75000"/>
                    <a:lumOff val="25000"/>
                  </a:schemeClr>
                </a:solidFill>
                <a:latin typeface="微軟正黑體" panose="020B0604030504040204" pitchFamily="34" charset="-120"/>
                <a:ea typeface="微軟正黑體" panose="020B0604030504040204" pitchFamily="34" charset="-120"/>
              </a:rPr>
              <a:t>。</a:t>
            </a:r>
            <a:endParaRPr lang="en-US" altLang="zh-TW" sz="2300" b="1" dirty="0">
              <a:solidFill>
                <a:schemeClr val="tx1">
                  <a:lumMod val="75000"/>
                  <a:lumOff val="25000"/>
                </a:schemeClr>
              </a:solidFill>
              <a:latin typeface="微軟正黑體" panose="020B0604030504040204" pitchFamily="34" charset="-120"/>
              <a:ea typeface="微軟正黑體" panose="020B0604030504040204" pitchFamily="34" charset="-120"/>
            </a:endParaRPr>
          </a:p>
          <a:p>
            <a:pPr>
              <a:lnSpc>
                <a:spcPct val="150000"/>
              </a:lnSpc>
            </a:pPr>
            <a:endParaRPr lang="en-US" altLang="zh-TW" sz="700" b="1" dirty="0">
              <a:solidFill>
                <a:schemeClr val="tx1">
                  <a:lumMod val="75000"/>
                  <a:lumOff val="25000"/>
                </a:schemeClr>
              </a:solidFill>
              <a:latin typeface="微軟正黑體" panose="020B0604030504040204" pitchFamily="34" charset="-120"/>
              <a:ea typeface="微軟正黑體" panose="020B0604030504040204" pitchFamily="34" charset="-120"/>
            </a:endParaRPr>
          </a:p>
          <a:p>
            <a:pPr>
              <a:lnSpc>
                <a:spcPct val="150000"/>
              </a:lnSpc>
            </a:pPr>
            <a:r>
              <a:rPr lang="zh-TW" altLang="en-US" sz="2300" b="1" dirty="0">
                <a:solidFill>
                  <a:schemeClr val="tx1">
                    <a:lumMod val="75000"/>
                    <a:lumOff val="25000"/>
                  </a:schemeClr>
                </a:solidFill>
                <a:latin typeface="微軟正黑體" panose="020B0604030504040204" pitchFamily="34" charset="-120"/>
                <a:ea typeface="微軟正黑體" panose="020B0604030504040204" pitchFamily="34" charset="-120"/>
              </a:rPr>
              <a:t>        幾個人一起「挖」出</a:t>
            </a:r>
            <a:r>
              <a:rPr lang="en-US" altLang="zh-TW" sz="2300" b="1" dirty="0">
                <a:solidFill>
                  <a:schemeClr val="tx1">
                    <a:lumMod val="75000"/>
                    <a:lumOff val="25000"/>
                  </a:schemeClr>
                </a:solidFill>
                <a:latin typeface="微軟正黑體" panose="020B0604030504040204" pitchFamily="34" charset="-120"/>
                <a:ea typeface="微軟正黑體" panose="020B0604030504040204" pitchFamily="34" charset="-120"/>
              </a:rPr>
              <a:t>100</a:t>
            </a:r>
            <a:r>
              <a:rPr lang="zh-TW" altLang="en-US" sz="2300" b="1" dirty="0">
                <a:solidFill>
                  <a:schemeClr val="tx1">
                    <a:lumMod val="75000"/>
                    <a:lumOff val="25000"/>
                  </a:schemeClr>
                </a:solidFill>
                <a:latin typeface="微軟正黑體" panose="020B0604030504040204" pitchFamily="34" charset="-120"/>
                <a:ea typeface="微軟正黑體" panose="020B0604030504040204" pitchFamily="34" charset="-120"/>
              </a:rPr>
              <a:t>萬枚後公佈演算法，鑄造了有形的</a:t>
            </a:r>
            <a:r>
              <a:rPr lang="zh-TW" altLang="en-US" sz="2300" b="1" dirty="0">
                <a:solidFill>
                  <a:schemeClr val="tx2"/>
                </a:solidFill>
                <a:latin typeface="微軟正黑體" panose="020B0604030504040204" pitchFamily="34" charset="-120"/>
                <a:ea typeface="微軟正黑體" panose="020B0604030504040204" pitchFamily="34" charset="-120"/>
              </a:rPr>
              <a:t>比特幣</a:t>
            </a:r>
            <a:r>
              <a:rPr lang="en-US" altLang="zh-TW" sz="2300" b="1" dirty="0">
                <a:solidFill>
                  <a:schemeClr val="tx2"/>
                </a:solidFill>
                <a:latin typeface="微軟正黑體" panose="020B0604030504040204" pitchFamily="34" charset="-120"/>
                <a:ea typeface="微軟正黑體" panose="020B0604030504040204" pitchFamily="34" charset="-120"/>
              </a:rPr>
              <a:t>(BITCOIN)</a:t>
            </a:r>
            <a:r>
              <a:rPr lang="zh-TW" altLang="en-US" sz="2300" b="1" dirty="0">
                <a:solidFill>
                  <a:schemeClr val="tx1">
                    <a:lumMod val="75000"/>
                    <a:lumOff val="25000"/>
                  </a:schemeClr>
                </a:solidFill>
                <a:latin typeface="微軟正黑體" panose="020B0604030504040204" pitchFamily="34" charset="-120"/>
                <a:ea typeface="微軟正黑體" panose="020B0604030504040204" pitchFamily="34" charset="-120"/>
              </a:rPr>
              <a:t>，刻著三個拉丁文：「</a:t>
            </a:r>
            <a:r>
              <a:rPr lang="zh-TW" altLang="en-US" sz="2300" b="1" dirty="0">
                <a:solidFill>
                  <a:schemeClr val="tx2"/>
                </a:solidFill>
                <a:latin typeface="微軟正黑體" panose="020B0604030504040204" pitchFamily="34" charset="-120"/>
                <a:ea typeface="微軟正黑體" panose="020B0604030504040204" pitchFamily="34" charset="-120"/>
              </a:rPr>
              <a:t>自由、公正、真理</a:t>
            </a:r>
            <a:r>
              <a:rPr lang="zh-TW" altLang="en-US" sz="2300" b="1" dirty="0">
                <a:solidFill>
                  <a:schemeClr val="tx1">
                    <a:lumMod val="75000"/>
                    <a:lumOff val="25000"/>
                  </a:schemeClr>
                </a:solidFill>
                <a:latin typeface="微軟正黑體" panose="020B0604030504040204" pitchFamily="34" charset="-120"/>
                <a:ea typeface="微軟正黑體" panose="020B0604030504040204" pitchFamily="34" charset="-120"/>
              </a:rPr>
              <a:t>」，自由和真理分別是史丹佛大學與哈佛大學的校徽，英語格言類似于美元背面的格言「</a:t>
            </a:r>
            <a:r>
              <a:rPr lang="en-US" altLang="zh-TW" sz="2300" b="1" dirty="0">
                <a:solidFill>
                  <a:schemeClr val="tx1">
                    <a:lumMod val="75000"/>
                    <a:lumOff val="25000"/>
                  </a:schemeClr>
                </a:solidFill>
                <a:latin typeface="微軟正黑體" panose="020B0604030504040204" pitchFamily="34" charset="-120"/>
                <a:ea typeface="微軟正黑體" panose="020B0604030504040204" pitchFamily="34" charset="-120"/>
              </a:rPr>
              <a:t>In God We Trust</a:t>
            </a:r>
            <a:r>
              <a:rPr lang="zh-TW" altLang="en-US" sz="2300" b="1" dirty="0">
                <a:solidFill>
                  <a:schemeClr val="tx1">
                    <a:lumMod val="75000"/>
                    <a:lumOff val="25000"/>
                  </a:schemeClr>
                </a:solidFill>
                <a:latin typeface="微軟正黑體" panose="020B0604030504040204" pitchFamily="34" charset="-120"/>
                <a:ea typeface="微軟正黑體" panose="020B0604030504040204" pitchFamily="34" charset="-120"/>
              </a:rPr>
              <a:t>」，創設者把</a:t>
            </a:r>
            <a:r>
              <a:rPr lang="en-US" altLang="zh-TW" sz="2300" b="1" dirty="0">
                <a:solidFill>
                  <a:schemeClr val="tx1">
                    <a:lumMod val="75000"/>
                    <a:lumOff val="25000"/>
                  </a:schemeClr>
                </a:solidFill>
                <a:latin typeface="微軟正黑體" panose="020B0604030504040204" pitchFamily="34" charset="-120"/>
                <a:ea typeface="微軟正黑體" panose="020B0604030504040204" pitchFamily="34" charset="-120"/>
              </a:rPr>
              <a:t>God (</a:t>
            </a:r>
            <a:r>
              <a:rPr lang="zh-TW" altLang="en-US" sz="2300" b="1" dirty="0">
                <a:solidFill>
                  <a:schemeClr val="tx1">
                    <a:lumMod val="75000"/>
                    <a:lumOff val="25000"/>
                  </a:schemeClr>
                </a:solidFill>
                <a:latin typeface="微軟正黑體" panose="020B0604030504040204" pitchFamily="34" charset="-120"/>
                <a:ea typeface="微軟正黑體" panose="020B0604030504040204" pitchFamily="34" charset="-120"/>
              </a:rPr>
              <a:t>上帝</a:t>
            </a:r>
            <a:r>
              <a:rPr lang="en-US" altLang="zh-TW" sz="2300" b="1" dirty="0">
                <a:solidFill>
                  <a:schemeClr val="tx1">
                    <a:lumMod val="75000"/>
                    <a:lumOff val="25000"/>
                  </a:schemeClr>
                </a:solidFill>
                <a:latin typeface="微軟正黑體" panose="020B0604030504040204" pitchFamily="34" charset="-120"/>
                <a:ea typeface="微軟正黑體" panose="020B0604030504040204" pitchFamily="34" charset="-120"/>
              </a:rPr>
              <a:t>) </a:t>
            </a:r>
            <a:r>
              <a:rPr lang="zh-TW" altLang="en-US" sz="2300" b="1" dirty="0">
                <a:solidFill>
                  <a:schemeClr val="tx1">
                    <a:lumMod val="75000"/>
                    <a:lumOff val="25000"/>
                  </a:schemeClr>
                </a:solidFill>
                <a:latin typeface="微軟正黑體" panose="020B0604030504040204" pitchFamily="34" charset="-120"/>
                <a:ea typeface="微軟正黑體" panose="020B0604030504040204" pitchFamily="34" charset="-120"/>
              </a:rPr>
              <a:t>換成了</a:t>
            </a:r>
            <a:r>
              <a:rPr lang="en-US" altLang="zh-TW" sz="2300" b="1" dirty="0">
                <a:solidFill>
                  <a:schemeClr val="tx1">
                    <a:lumMod val="75000"/>
                    <a:lumOff val="25000"/>
                  </a:schemeClr>
                </a:solidFill>
                <a:latin typeface="微軟正黑體" panose="020B0604030504040204" pitchFamily="34" charset="-120"/>
                <a:ea typeface="微軟正黑體" panose="020B0604030504040204" pitchFamily="34" charset="-120"/>
              </a:rPr>
              <a:t>Cryptography (</a:t>
            </a:r>
            <a:r>
              <a:rPr lang="zh-TW" altLang="en-US" sz="2300" b="1" dirty="0">
                <a:solidFill>
                  <a:schemeClr val="tx1">
                    <a:lumMod val="75000"/>
                    <a:lumOff val="25000"/>
                  </a:schemeClr>
                </a:solidFill>
                <a:latin typeface="微軟正黑體" panose="020B0604030504040204" pitchFamily="34" charset="-120"/>
                <a:ea typeface="微軟正黑體" panose="020B0604030504040204" pitchFamily="34" charset="-120"/>
              </a:rPr>
              <a:t>密碼</a:t>
            </a:r>
            <a:r>
              <a:rPr lang="en-US" altLang="zh-TW" sz="2300" b="1" dirty="0">
                <a:solidFill>
                  <a:schemeClr val="tx1">
                    <a:lumMod val="75000"/>
                    <a:lumOff val="25000"/>
                  </a:schemeClr>
                </a:solidFill>
                <a:latin typeface="微軟正黑體" panose="020B0604030504040204" pitchFamily="34" charset="-120"/>
                <a:ea typeface="微軟正黑體" panose="020B0604030504040204" pitchFamily="34" charset="-120"/>
              </a:rPr>
              <a:t>)</a:t>
            </a:r>
            <a:r>
              <a:rPr lang="zh-TW" altLang="en-US" sz="2300" b="1" dirty="0">
                <a:solidFill>
                  <a:schemeClr val="tx1">
                    <a:lumMod val="75000"/>
                    <a:lumOff val="25000"/>
                  </a:schemeClr>
                </a:solidFill>
                <a:latin typeface="微軟正黑體" panose="020B0604030504040204" pitchFamily="34" charset="-120"/>
                <a:ea typeface="微軟正黑體" panose="020B0604030504040204" pitchFamily="34" charset="-120"/>
              </a:rPr>
              <a:t>。</a:t>
            </a:r>
          </a:p>
        </p:txBody>
      </p:sp>
      <p:pic>
        <p:nvPicPr>
          <p:cNvPr id="8" name="图片 42">
            <a:extLst>
              <a:ext uri="{FF2B5EF4-FFF2-40B4-BE49-F238E27FC236}">
                <a16:creationId xmlns:a16="http://schemas.microsoft.com/office/drawing/2014/main" id="{C8D97DA4-6242-4E73-AEFC-457D04FDC65B}"/>
              </a:ext>
            </a:extLst>
          </p:cNvPr>
          <p:cNvPicPr>
            <a:picLocks noChangeAspect="1"/>
          </p:cNvPicPr>
          <p:nvPr/>
        </p:nvPicPr>
        <p:blipFill>
          <a:blip r:embed="rId4"/>
          <a:stretch>
            <a:fillRect/>
          </a:stretch>
        </p:blipFill>
        <p:spPr>
          <a:xfrm rot="16200000">
            <a:off x="145169" y="-145167"/>
            <a:ext cx="1268414" cy="1558750"/>
          </a:xfrm>
          <a:prstGeom prst="rect">
            <a:avLst/>
          </a:prstGeom>
        </p:spPr>
      </p:pic>
      <p:sp>
        <p:nvSpPr>
          <p:cNvPr id="6" name="文字方塊 5">
            <a:extLst>
              <a:ext uri="{FF2B5EF4-FFF2-40B4-BE49-F238E27FC236}">
                <a16:creationId xmlns:a16="http://schemas.microsoft.com/office/drawing/2014/main" id="{8A30B01A-3198-4955-A208-0E3D9EB60397}"/>
              </a:ext>
            </a:extLst>
          </p:cNvPr>
          <p:cNvSpPr txBox="1"/>
          <p:nvPr/>
        </p:nvSpPr>
        <p:spPr>
          <a:xfrm>
            <a:off x="1558751" y="6596390"/>
            <a:ext cx="4217821" cy="261610"/>
          </a:xfrm>
          <a:prstGeom prst="rect">
            <a:avLst/>
          </a:prstGeom>
          <a:noFill/>
        </p:spPr>
        <p:txBody>
          <a:bodyPr wrap="none" rtlCol="0">
            <a:spAutoFit/>
          </a:bodyPr>
          <a:lstStyle/>
          <a:p>
            <a:r>
              <a:rPr lang="zh-TW" altLang="en-US" sz="1100" dirty="0">
                <a:latin typeface="Microsoft JhengHei Light" panose="020B0304030504040204" pitchFamily="34" charset="-120"/>
                <a:ea typeface="Microsoft JhengHei Light" panose="020B0304030504040204" pitchFamily="34" charset="-120"/>
              </a:rPr>
              <a:t>區塊鏈商業應用概論 實例與分析／新陸書局股份有限公司 發行</a:t>
            </a:r>
          </a:p>
        </p:txBody>
      </p:sp>
      <p:pic>
        <p:nvPicPr>
          <p:cNvPr id="10" name="圖片 9">
            <a:extLst>
              <a:ext uri="{FF2B5EF4-FFF2-40B4-BE49-F238E27FC236}">
                <a16:creationId xmlns:a16="http://schemas.microsoft.com/office/drawing/2014/main" id="{6108DE88-489D-4128-98C7-E7723862B690}"/>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0" y="4374843"/>
            <a:ext cx="2483157" cy="2483157"/>
          </a:xfrm>
          <a:prstGeom prst="rect">
            <a:avLst/>
          </a:prstGeom>
        </p:spPr>
      </p:pic>
      <p:sp>
        <p:nvSpPr>
          <p:cNvPr id="9" name="文字方塊 8">
            <a:extLst>
              <a:ext uri="{FF2B5EF4-FFF2-40B4-BE49-F238E27FC236}">
                <a16:creationId xmlns:a16="http://schemas.microsoft.com/office/drawing/2014/main" id="{FDADF8F6-D140-4E64-89BE-7814AA4AB404}"/>
              </a:ext>
            </a:extLst>
          </p:cNvPr>
          <p:cNvSpPr txBox="1"/>
          <p:nvPr/>
        </p:nvSpPr>
        <p:spPr>
          <a:xfrm>
            <a:off x="4487241" y="449166"/>
            <a:ext cx="3076483" cy="400110"/>
          </a:xfrm>
          <a:prstGeom prst="rect">
            <a:avLst/>
          </a:prstGeom>
          <a:noFill/>
        </p:spPr>
        <p:txBody>
          <a:bodyPr wrap="none" rtlCol="0">
            <a:spAutoFit/>
          </a:bodyPr>
          <a:lstStyle/>
          <a:p>
            <a:r>
              <a:rPr lang="en-US" altLang="zh-TW" sz="2000" b="1" dirty="0">
                <a:solidFill>
                  <a:schemeClr val="tx1">
                    <a:lumMod val="65000"/>
                    <a:lumOff val="35000"/>
                  </a:schemeClr>
                </a:solidFill>
                <a:latin typeface="微軟正黑體" panose="020B0604030504040204" pitchFamily="34" charset="-120"/>
                <a:ea typeface="微軟正黑體" panose="020B0604030504040204" pitchFamily="34" charset="-120"/>
                <a:cs typeface="Times New Roman" panose="02020603050405020304" pitchFamily="18" charset="0"/>
              </a:rPr>
              <a:t>-2</a:t>
            </a:r>
            <a:r>
              <a:rPr lang="zh-TW" altLang="en-US" sz="2000" b="1" dirty="0">
                <a:solidFill>
                  <a:schemeClr val="tx1">
                    <a:lumMod val="65000"/>
                    <a:lumOff val="35000"/>
                  </a:schemeClr>
                </a:solidFill>
                <a:latin typeface="微軟正黑體" panose="020B0604030504040204" pitchFamily="34" charset="-120"/>
                <a:ea typeface="微軟正黑體" panose="020B0604030504040204" pitchFamily="34" charset="-120"/>
                <a:cs typeface="Times New Roman" panose="02020603050405020304" pitchFamily="18" charset="0"/>
              </a:rPr>
              <a:t> 比特幣區塊鏈技術說明</a:t>
            </a:r>
          </a:p>
        </p:txBody>
      </p:sp>
      <p:cxnSp>
        <p:nvCxnSpPr>
          <p:cNvPr id="11" name="直接连接符 33">
            <a:extLst>
              <a:ext uri="{FF2B5EF4-FFF2-40B4-BE49-F238E27FC236}">
                <a16:creationId xmlns:a16="http://schemas.microsoft.com/office/drawing/2014/main" id="{FB2FC12D-FEAF-4E61-9406-28523A32FDEC}"/>
              </a:ext>
            </a:extLst>
          </p:cNvPr>
          <p:cNvCxnSpPr/>
          <p:nvPr/>
        </p:nvCxnSpPr>
        <p:spPr>
          <a:xfrm>
            <a:off x="1177167" y="1046746"/>
            <a:ext cx="10585176" cy="0"/>
          </a:xfrm>
          <a:prstGeom prst="line">
            <a:avLst/>
          </a:prstGeom>
          <a:ln w="190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849700067"/>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6" presetClass="entr" presetSubtype="16" fill="hold" grpId="0" nodeType="after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circle(in)">
                                      <p:cBhvr>
                                        <p:cTn id="7" dur="2000"/>
                                        <p:tgtEl>
                                          <p:spTgt spid="7"/>
                                        </p:tgtEl>
                                      </p:cBhvr>
                                    </p:animEffect>
                                  </p:childTnLst>
                                </p:cTn>
                              </p:par>
                            </p:childTnLst>
                          </p:cTn>
                        </p:par>
                        <p:par>
                          <p:cTn id="8" fill="hold">
                            <p:stCondLst>
                              <p:cond delay="2000"/>
                            </p:stCondLst>
                            <p:childTnLst>
                              <p:par>
                                <p:cTn id="9" presetID="14" presetClass="entr" presetSubtype="10" fill="hold" grpId="0" nodeType="afterEffect">
                                  <p:stCondLst>
                                    <p:cond delay="0"/>
                                  </p:stCondLst>
                                  <p:childTnLst>
                                    <p:set>
                                      <p:cBhvr>
                                        <p:cTn id="10" dur="1" fill="hold">
                                          <p:stCondLst>
                                            <p:cond delay="0"/>
                                          </p:stCondLst>
                                        </p:cTn>
                                        <p:tgtEl>
                                          <p:spTgt spid="9"/>
                                        </p:tgtEl>
                                        <p:attrNameLst>
                                          <p:attrName>style.visibility</p:attrName>
                                        </p:attrNameLst>
                                      </p:cBhvr>
                                      <p:to>
                                        <p:strVal val="visible"/>
                                      </p:to>
                                    </p:set>
                                    <p:animEffect transition="in" filter="randombar(horizontal)">
                                      <p:cBhvr>
                                        <p:cTn id="11" dur="500"/>
                                        <p:tgtEl>
                                          <p:spTgt spid="9"/>
                                        </p:tgtEl>
                                      </p:cBhvr>
                                    </p:animEffect>
                                  </p:childTnLst>
                                </p:cTn>
                              </p:par>
                            </p:childTnLst>
                          </p:cTn>
                        </p:par>
                        <p:par>
                          <p:cTn id="12" fill="hold">
                            <p:stCondLst>
                              <p:cond delay="2500"/>
                            </p:stCondLst>
                            <p:childTnLst>
                              <p:par>
                                <p:cTn id="13" presetID="2" presetClass="entr" presetSubtype="8" fill="hold" nodeType="afterEffect">
                                  <p:stCondLst>
                                    <p:cond delay="0"/>
                                  </p:stCondLst>
                                  <p:childTnLst>
                                    <p:set>
                                      <p:cBhvr>
                                        <p:cTn id="14" dur="1" fill="hold">
                                          <p:stCondLst>
                                            <p:cond delay="0"/>
                                          </p:stCondLst>
                                        </p:cTn>
                                        <p:tgtEl>
                                          <p:spTgt spid="11"/>
                                        </p:tgtEl>
                                        <p:attrNameLst>
                                          <p:attrName>style.visibility</p:attrName>
                                        </p:attrNameLst>
                                      </p:cBhvr>
                                      <p:to>
                                        <p:strVal val="visible"/>
                                      </p:to>
                                    </p:set>
                                    <p:anim calcmode="lin" valueType="num">
                                      <p:cBhvr additive="base">
                                        <p:cTn id="15" dur="500" fill="hold"/>
                                        <p:tgtEl>
                                          <p:spTgt spid="11"/>
                                        </p:tgtEl>
                                        <p:attrNameLst>
                                          <p:attrName>ppt_x</p:attrName>
                                        </p:attrNameLst>
                                      </p:cBhvr>
                                      <p:tavLst>
                                        <p:tav tm="0">
                                          <p:val>
                                            <p:strVal val="0-#ppt_w/2"/>
                                          </p:val>
                                        </p:tav>
                                        <p:tav tm="100000">
                                          <p:val>
                                            <p:strVal val="#ppt_x"/>
                                          </p:val>
                                        </p:tav>
                                      </p:tavLst>
                                    </p:anim>
                                    <p:anim calcmode="lin" valueType="num">
                                      <p:cBhvr additive="base">
                                        <p:cTn id="16" dur="500" fill="hold"/>
                                        <p:tgtEl>
                                          <p:spTgt spid="11"/>
                                        </p:tgtEl>
                                        <p:attrNameLst>
                                          <p:attrName>ppt_y</p:attrName>
                                        </p:attrNameLst>
                                      </p:cBhvr>
                                      <p:tavLst>
                                        <p:tav tm="0">
                                          <p:val>
                                            <p:strVal val="#ppt_y"/>
                                          </p:val>
                                        </p:tav>
                                        <p:tav tm="100000">
                                          <p:val>
                                            <p:strVal val="#ppt_y"/>
                                          </p:val>
                                        </p:tav>
                                      </p:tavLst>
                                    </p:anim>
                                  </p:childTnLst>
                                </p:cTn>
                              </p:par>
                            </p:childTnLst>
                          </p:cTn>
                        </p:par>
                        <p:par>
                          <p:cTn id="17" fill="hold">
                            <p:stCondLst>
                              <p:cond delay="3000"/>
                            </p:stCondLst>
                            <p:childTnLst>
                              <p:par>
                                <p:cTn id="18" presetID="14" presetClass="entr" presetSubtype="10" fill="hold" grpId="0" nodeType="afterEffect">
                                  <p:stCondLst>
                                    <p:cond delay="0"/>
                                  </p:stCondLst>
                                  <p:childTnLst>
                                    <p:set>
                                      <p:cBhvr>
                                        <p:cTn id="19" dur="1" fill="hold">
                                          <p:stCondLst>
                                            <p:cond delay="0"/>
                                          </p:stCondLst>
                                        </p:cTn>
                                        <p:tgtEl>
                                          <p:spTgt spid="2"/>
                                        </p:tgtEl>
                                        <p:attrNameLst>
                                          <p:attrName>style.visibility</p:attrName>
                                        </p:attrNameLst>
                                      </p:cBhvr>
                                      <p:to>
                                        <p:strVal val="visible"/>
                                      </p:to>
                                    </p:set>
                                    <p:animEffect transition="in" filter="randombar(horizontal)">
                                      <p:cBhvr>
                                        <p:cTn id="20" dur="500"/>
                                        <p:tgtEl>
                                          <p:spTgt spid="2"/>
                                        </p:tgtEl>
                                      </p:cBhvr>
                                    </p:animEffect>
                                  </p:childTnLst>
                                </p:cTn>
                              </p:par>
                            </p:childTnLst>
                          </p:cTn>
                        </p:par>
                        <p:par>
                          <p:cTn id="21" fill="hold">
                            <p:stCondLst>
                              <p:cond delay="3500"/>
                            </p:stCondLst>
                            <p:childTnLst>
                              <p:par>
                                <p:cTn id="22" presetID="22" presetClass="entr" presetSubtype="4" fill="hold" nodeType="afterEffect">
                                  <p:stCondLst>
                                    <p:cond delay="0"/>
                                  </p:stCondLst>
                                  <p:childTnLst>
                                    <p:set>
                                      <p:cBhvr>
                                        <p:cTn id="23" dur="1" fill="hold">
                                          <p:stCondLst>
                                            <p:cond delay="0"/>
                                          </p:stCondLst>
                                        </p:cTn>
                                        <p:tgtEl>
                                          <p:spTgt spid="10"/>
                                        </p:tgtEl>
                                        <p:attrNameLst>
                                          <p:attrName>style.visibility</p:attrName>
                                        </p:attrNameLst>
                                      </p:cBhvr>
                                      <p:to>
                                        <p:strVal val="visible"/>
                                      </p:to>
                                    </p:set>
                                    <p:animEffect transition="in" filter="wipe(down)">
                                      <p:cBhvr>
                                        <p:cTn id="24"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2" grpId="0"/>
      <p:bldP spid="9"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2595420" y="1465885"/>
            <a:ext cx="8525162" cy="4505464"/>
          </a:xfrm>
          <a:prstGeom prst="rect">
            <a:avLst/>
          </a:prstGeom>
        </p:spPr>
        <p:txBody>
          <a:bodyPr wrap="square">
            <a:spAutoFit/>
          </a:bodyPr>
          <a:lstStyle/>
          <a:p>
            <a:pPr marL="342900" indent="-342900">
              <a:lnSpc>
                <a:spcPct val="150000"/>
              </a:lnSpc>
              <a:buBlip>
                <a:blip r:embed="rId2"/>
              </a:buBlip>
            </a:pPr>
            <a:r>
              <a:rPr lang="zh-TW" altLang="en-US" sz="2300" b="1" dirty="0">
                <a:solidFill>
                  <a:schemeClr val="tx1">
                    <a:lumMod val="75000"/>
                    <a:lumOff val="25000"/>
                  </a:schemeClr>
                </a:solidFill>
                <a:latin typeface="微軟正黑體" panose="020B0604030504040204" pitchFamily="34" charset="-120"/>
                <a:ea typeface="微軟正黑體" panose="020B0604030504040204" pitchFamily="34" charset="-120"/>
              </a:rPr>
              <a:t>第一個好奇的人開戶了，立刻收到創設者「傳遞」的</a:t>
            </a:r>
            <a:r>
              <a:rPr lang="en-US" altLang="zh-TW" sz="2300" b="1" dirty="0">
                <a:solidFill>
                  <a:schemeClr val="tx1">
                    <a:lumMod val="75000"/>
                    <a:lumOff val="25000"/>
                  </a:schemeClr>
                </a:solidFill>
                <a:latin typeface="微軟正黑體" panose="020B0604030504040204" pitchFamily="34" charset="-120"/>
                <a:ea typeface="微軟正黑體" panose="020B0604030504040204" pitchFamily="34" charset="-120"/>
              </a:rPr>
              <a:t>10</a:t>
            </a:r>
            <a:r>
              <a:rPr lang="zh-TW" altLang="en-US" sz="2300" b="1" dirty="0">
                <a:solidFill>
                  <a:schemeClr val="tx1">
                    <a:lumMod val="75000"/>
                    <a:lumOff val="25000"/>
                  </a:schemeClr>
                </a:solidFill>
                <a:latin typeface="微軟正黑體" panose="020B0604030504040204" pitchFamily="34" charset="-120"/>
                <a:ea typeface="微軟正黑體" panose="020B0604030504040204" pitchFamily="34" charset="-120"/>
              </a:rPr>
              <a:t>萬枚，有一天他拿著其中</a:t>
            </a:r>
            <a:r>
              <a:rPr lang="en-US" altLang="zh-TW" sz="2300" b="1" dirty="0">
                <a:solidFill>
                  <a:schemeClr val="tx1">
                    <a:lumMod val="75000"/>
                    <a:lumOff val="25000"/>
                  </a:schemeClr>
                </a:solidFill>
                <a:latin typeface="微軟正黑體" panose="020B0604030504040204" pitchFamily="34" charset="-120"/>
                <a:ea typeface="微軟正黑體" panose="020B0604030504040204" pitchFamily="34" charset="-120"/>
              </a:rPr>
              <a:t>1</a:t>
            </a:r>
            <a:r>
              <a:rPr lang="zh-TW" altLang="en-US" sz="2300" b="1" dirty="0">
                <a:solidFill>
                  <a:schemeClr val="tx1">
                    <a:lumMod val="75000"/>
                    <a:lumOff val="25000"/>
                  </a:schemeClr>
                </a:solidFill>
                <a:latin typeface="微軟正黑體" panose="020B0604030504040204" pitchFamily="34" charset="-120"/>
                <a:ea typeface="微軟正黑體" panose="020B0604030504040204" pitchFamily="34" charset="-120"/>
              </a:rPr>
              <a:t>萬枚去換兩張披薩餅，售貨員拒絕了，身後有個人說「給我吧」</a:t>
            </a:r>
            <a:endParaRPr lang="en-US" altLang="zh-TW" sz="2300" b="1" dirty="0">
              <a:solidFill>
                <a:schemeClr val="tx1">
                  <a:lumMod val="75000"/>
                  <a:lumOff val="25000"/>
                </a:schemeClr>
              </a:solidFill>
              <a:latin typeface="微軟正黑體" panose="020B0604030504040204" pitchFamily="34" charset="-120"/>
              <a:ea typeface="微軟正黑體" panose="020B0604030504040204" pitchFamily="34" charset="-120"/>
            </a:endParaRPr>
          </a:p>
          <a:p>
            <a:pPr marL="800100" lvl="1" indent="-342900">
              <a:lnSpc>
                <a:spcPct val="150000"/>
              </a:lnSpc>
              <a:buFont typeface="微軟正黑體" panose="020B0604030504040204" pitchFamily="34" charset="-120"/>
              <a:buChar char="→"/>
            </a:pPr>
            <a:r>
              <a:rPr lang="zh-TW" altLang="en-US" sz="2300" b="1" dirty="0">
                <a:solidFill>
                  <a:schemeClr val="tx1">
                    <a:lumMod val="75000"/>
                    <a:lumOff val="25000"/>
                  </a:schemeClr>
                </a:solidFill>
                <a:latin typeface="微軟正黑體" panose="020B0604030504040204" pitchFamily="34" charset="-120"/>
                <a:ea typeface="微軟正黑體" panose="020B0604030504040204" pitchFamily="34" charset="-120"/>
              </a:rPr>
              <a:t>比特幣</a:t>
            </a:r>
            <a:r>
              <a:rPr lang="zh-TW" altLang="en-US" sz="2300" b="1" dirty="0">
                <a:solidFill>
                  <a:srgbClr val="4A5A6F"/>
                </a:solidFill>
                <a:latin typeface="微軟正黑體" panose="020B0604030504040204" pitchFamily="34" charset="-120"/>
                <a:ea typeface="微軟正黑體" panose="020B0604030504040204" pitchFamily="34" charset="-120"/>
              </a:rPr>
              <a:t>「實質化」</a:t>
            </a:r>
            <a:r>
              <a:rPr lang="zh-TW" altLang="en-US" sz="2300" b="1" dirty="0">
                <a:solidFill>
                  <a:schemeClr val="tx1">
                    <a:lumMod val="75000"/>
                    <a:lumOff val="25000"/>
                  </a:schemeClr>
                </a:solidFill>
                <a:latin typeface="微軟正黑體" panose="020B0604030504040204" pitchFamily="34" charset="-120"/>
                <a:ea typeface="微軟正黑體" panose="020B0604030504040204" pitchFamily="34" charset="-120"/>
              </a:rPr>
              <a:t>及</a:t>
            </a:r>
            <a:r>
              <a:rPr lang="zh-TW" altLang="en-US" sz="2300" b="1" dirty="0">
                <a:solidFill>
                  <a:srgbClr val="4A5A6F"/>
                </a:solidFill>
                <a:latin typeface="微軟正黑體" panose="020B0604030504040204" pitchFamily="34" charset="-120"/>
                <a:ea typeface="微軟正黑體" panose="020B0604030504040204" pitchFamily="34" charset="-120"/>
              </a:rPr>
              <a:t>「貨幣交易化」</a:t>
            </a:r>
            <a:r>
              <a:rPr lang="zh-TW" altLang="en-US" sz="2300" b="1" dirty="0">
                <a:solidFill>
                  <a:schemeClr val="tx1">
                    <a:lumMod val="75000"/>
                    <a:lumOff val="25000"/>
                  </a:schemeClr>
                </a:solidFill>
                <a:latin typeface="微軟正黑體" panose="020B0604030504040204" pitchFamily="34" charset="-120"/>
                <a:ea typeface="微軟正黑體" panose="020B0604030504040204" pitchFamily="34" charset="-120"/>
              </a:rPr>
              <a:t>，完成從零到有的</a:t>
            </a:r>
            <a:r>
              <a:rPr lang="zh-TW" altLang="en-US" sz="2300" b="1" dirty="0">
                <a:solidFill>
                  <a:srgbClr val="4A5A6F"/>
                </a:solidFill>
                <a:latin typeface="微軟正黑體" panose="020B0604030504040204" pitchFamily="34" charset="-120"/>
                <a:ea typeface="微軟正黑體" panose="020B0604030504040204" pitchFamily="34" charset="-120"/>
              </a:rPr>
              <a:t>飛躍式貨幣型態</a:t>
            </a:r>
          </a:p>
          <a:p>
            <a:pPr marL="342900" indent="-342900">
              <a:lnSpc>
                <a:spcPct val="150000"/>
              </a:lnSpc>
              <a:buBlip>
                <a:blip r:embed="rId2"/>
              </a:buBlip>
            </a:pPr>
            <a:endParaRPr lang="en-US" altLang="zh-TW" sz="1000" b="1" dirty="0">
              <a:solidFill>
                <a:schemeClr val="tx1">
                  <a:lumMod val="75000"/>
                  <a:lumOff val="25000"/>
                </a:schemeClr>
              </a:solidFill>
              <a:latin typeface="微軟正黑體" panose="020B0604030504040204" pitchFamily="34" charset="-120"/>
              <a:ea typeface="微軟正黑體" panose="020B0604030504040204" pitchFamily="34" charset="-120"/>
            </a:endParaRPr>
          </a:p>
          <a:p>
            <a:pPr marL="342900" indent="-342900">
              <a:lnSpc>
                <a:spcPct val="150000"/>
              </a:lnSpc>
              <a:buBlip>
                <a:blip r:embed="rId2"/>
              </a:buBlip>
            </a:pPr>
            <a:r>
              <a:rPr lang="zh-TW" altLang="en-US" sz="2300" b="1" dirty="0">
                <a:solidFill>
                  <a:srgbClr val="4A5A6F"/>
                </a:solidFill>
                <a:latin typeface="微軟正黑體" panose="020B0604030504040204" pitchFamily="34" charset="-120"/>
                <a:ea typeface="微軟正黑體" panose="020B0604030504040204" pitchFamily="34" charset="-120"/>
              </a:rPr>
              <a:t>去中心化數位貨幣</a:t>
            </a:r>
            <a:r>
              <a:rPr lang="zh-TW" altLang="en-US" sz="2300" b="1" dirty="0">
                <a:solidFill>
                  <a:prstClr val="black">
                    <a:lumMod val="75000"/>
                    <a:lumOff val="25000"/>
                  </a:prstClr>
                </a:solidFill>
                <a:latin typeface="微軟正黑體" panose="020B0604030504040204" pitchFamily="34" charset="-120"/>
                <a:ea typeface="微軟正黑體" panose="020B0604030504040204" pitchFamily="34" charset="-120"/>
              </a:rPr>
              <a:t>機制與挖礦密碼技術造就比特幣在金融市場上的新地位，且使用者可以經由</a:t>
            </a:r>
            <a:r>
              <a:rPr lang="zh-TW" altLang="en-US" sz="2300" b="1" dirty="0">
                <a:solidFill>
                  <a:srgbClr val="44546A"/>
                </a:solidFill>
                <a:latin typeface="微軟正黑體" panose="020B0604030504040204" pitchFamily="34" charset="-120"/>
                <a:ea typeface="微軟正黑體" panose="020B0604030504040204" pitchFamily="34" charset="-120"/>
              </a:rPr>
              <a:t>電子錢包軟體</a:t>
            </a:r>
            <a:r>
              <a:rPr lang="zh-TW" altLang="en-US" sz="2300" b="1" dirty="0">
                <a:solidFill>
                  <a:prstClr val="black">
                    <a:lumMod val="75000"/>
                    <a:lumOff val="25000"/>
                  </a:prstClr>
                </a:solidFill>
                <a:latin typeface="微軟正黑體" panose="020B0604030504040204" pitchFamily="34" charset="-120"/>
                <a:ea typeface="微軟正黑體" panose="020B0604030504040204" pitchFamily="34" charset="-120"/>
              </a:rPr>
              <a:t>進行比特幣的交易，交易驗證紀錄於公開帳本，</a:t>
            </a:r>
            <a:r>
              <a:rPr lang="zh-TW" altLang="en-US" sz="2300" b="1" dirty="0">
                <a:solidFill>
                  <a:srgbClr val="44546A"/>
                </a:solidFill>
                <a:latin typeface="微軟正黑體" panose="020B0604030504040204" pitchFamily="34" charset="-120"/>
                <a:ea typeface="微軟正黑體" panose="020B0604030504040204" pitchFamily="34" charset="-120"/>
              </a:rPr>
              <a:t>提高交易透明度</a:t>
            </a:r>
            <a:endParaRPr lang="zh-TW" altLang="en-US" sz="2300" b="1" dirty="0">
              <a:solidFill>
                <a:prstClr val="black">
                  <a:lumMod val="75000"/>
                  <a:lumOff val="25000"/>
                </a:prstClr>
              </a:solidFill>
              <a:latin typeface="微軟正黑體" panose="020B0604030504040204" pitchFamily="34" charset="-120"/>
              <a:ea typeface="微軟正黑體" panose="020B0604030504040204" pitchFamily="34" charset="-120"/>
            </a:endParaRPr>
          </a:p>
        </p:txBody>
      </p:sp>
      <p:pic>
        <p:nvPicPr>
          <p:cNvPr id="8" name="图片 42">
            <a:extLst>
              <a:ext uri="{FF2B5EF4-FFF2-40B4-BE49-F238E27FC236}">
                <a16:creationId xmlns:a16="http://schemas.microsoft.com/office/drawing/2014/main" id="{C8D97DA4-6242-4E73-AEFC-457D04FDC65B}"/>
              </a:ext>
            </a:extLst>
          </p:cNvPr>
          <p:cNvPicPr>
            <a:picLocks noChangeAspect="1"/>
          </p:cNvPicPr>
          <p:nvPr/>
        </p:nvPicPr>
        <p:blipFill>
          <a:blip r:embed="rId3"/>
          <a:stretch>
            <a:fillRect/>
          </a:stretch>
        </p:blipFill>
        <p:spPr>
          <a:xfrm rot="16200000">
            <a:off x="145169" y="-145167"/>
            <a:ext cx="1268414" cy="1558750"/>
          </a:xfrm>
          <a:prstGeom prst="rect">
            <a:avLst/>
          </a:prstGeom>
        </p:spPr>
      </p:pic>
      <p:sp>
        <p:nvSpPr>
          <p:cNvPr id="6" name="文字方塊 5">
            <a:extLst>
              <a:ext uri="{FF2B5EF4-FFF2-40B4-BE49-F238E27FC236}">
                <a16:creationId xmlns:a16="http://schemas.microsoft.com/office/drawing/2014/main" id="{8A30B01A-3198-4955-A208-0E3D9EB60397}"/>
              </a:ext>
            </a:extLst>
          </p:cNvPr>
          <p:cNvSpPr txBox="1"/>
          <p:nvPr/>
        </p:nvSpPr>
        <p:spPr>
          <a:xfrm>
            <a:off x="1558751" y="6596390"/>
            <a:ext cx="4217821" cy="261610"/>
          </a:xfrm>
          <a:prstGeom prst="rect">
            <a:avLst/>
          </a:prstGeom>
          <a:noFill/>
        </p:spPr>
        <p:txBody>
          <a:bodyPr wrap="none" rtlCol="0">
            <a:spAutoFit/>
          </a:bodyPr>
          <a:lstStyle/>
          <a:p>
            <a:r>
              <a:rPr lang="zh-TW" altLang="en-US" sz="1100" dirty="0">
                <a:latin typeface="Microsoft JhengHei Light" panose="020B0304030504040204" pitchFamily="34" charset="-120"/>
                <a:ea typeface="Microsoft JhengHei Light" panose="020B0304030504040204" pitchFamily="34" charset="-120"/>
              </a:rPr>
              <a:t>區塊鏈商業應用概論 實例與分析／新陸書局股份有限公司 發行</a:t>
            </a:r>
          </a:p>
        </p:txBody>
      </p:sp>
      <p:pic>
        <p:nvPicPr>
          <p:cNvPr id="9" name="圖片 8" descr="一張含有 運輸 的圖片&#10;&#10;描述是以高可信度產生">
            <a:extLst>
              <a:ext uri="{FF2B5EF4-FFF2-40B4-BE49-F238E27FC236}">
                <a16:creationId xmlns:a16="http://schemas.microsoft.com/office/drawing/2014/main" id="{009E1094-E8B9-4F01-B5A5-0BB2F9F849A7}"/>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0" y="4024279"/>
            <a:ext cx="2133822" cy="2133822"/>
          </a:xfrm>
          <a:prstGeom prst="rect">
            <a:avLst/>
          </a:prstGeom>
        </p:spPr>
      </p:pic>
      <p:sp>
        <p:nvSpPr>
          <p:cNvPr id="10" name="標題 1">
            <a:extLst>
              <a:ext uri="{FF2B5EF4-FFF2-40B4-BE49-F238E27FC236}">
                <a16:creationId xmlns:a16="http://schemas.microsoft.com/office/drawing/2014/main" id="{3CBC753C-D205-4149-9E0F-21B94EC388D6}"/>
              </a:ext>
            </a:extLst>
          </p:cNvPr>
          <p:cNvSpPr txBox="1">
            <a:spLocks/>
          </p:cNvSpPr>
          <p:nvPr/>
        </p:nvSpPr>
        <p:spPr>
          <a:xfrm>
            <a:off x="1231956" y="393820"/>
            <a:ext cx="3643527" cy="874595"/>
          </a:xfrm>
          <a:prstGeom prst="rect">
            <a:avLst/>
          </a:prstGeom>
        </p:spPr>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altLang="zh-TW" sz="2400" b="1" dirty="0">
                <a:solidFill>
                  <a:srgbClr val="E06741"/>
                </a:solidFill>
              </a:rPr>
              <a:t>2-1 </a:t>
            </a:r>
            <a:r>
              <a:rPr lang="zh-TW" altLang="en-US" sz="2400" b="1" dirty="0">
                <a:solidFill>
                  <a:srgbClr val="E06741"/>
                </a:solidFill>
              </a:rPr>
              <a:t>區塊鏈技術意涵</a:t>
            </a:r>
          </a:p>
          <a:p>
            <a:endParaRPr lang="zh-TW" altLang="en-US" sz="2400" dirty="0">
              <a:solidFill>
                <a:srgbClr val="E06741"/>
              </a:solidFill>
              <a:latin typeface="標楷體" panose="03000509000000000000" pitchFamily="65" charset="-120"/>
              <a:ea typeface="標楷體" panose="03000509000000000000" pitchFamily="65" charset="-120"/>
              <a:cs typeface="Times New Roman" panose="02020603050405020304" pitchFamily="18" charset="0"/>
            </a:endParaRPr>
          </a:p>
        </p:txBody>
      </p:sp>
      <p:sp>
        <p:nvSpPr>
          <p:cNvPr id="11" name="文字方塊 10">
            <a:extLst>
              <a:ext uri="{FF2B5EF4-FFF2-40B4-BE49-F238E27FC236}">
                <a16:creationId xmlns:a16="http://schemas.microsoft.com/office/drawing/2014/main" id="{DBC8C6B9-5065-4E2B-8295-10E42D30BF5A}"/>
              </a:ext>
            </a:extLst>
          </p:cNvPr>
          <p:cNvSpPr txBox="1"/>
          <p:nvPr/>
        </p:nvSpPr>
        <p:spPr>
          <a:xfrm>
            <a:off x="4487241" y="449166"/>
            <a:ext cx="3076483" cy="400110"/>
          </a:xfrm>
          <a:prstGeom prst="rect">
            <a:avLst/>
          </a:prstGeom>
          <a:noFill/>
        </p:spPr>
        <p:txBody>
          <a:bodyPr wrap="none" rtlCol="0">
            <a:spAutoFit/>
          </a:bodyPr>
          <a:lstStyle/>
          <a:p>
            <a:r>
              <a:rPr lang="en-US" altLang="zh-TW" sz="2000" b="1" dirty="0">
                <a:solidFill>
                  <a:schemeClr val="tx1">
                    <a:lumMod val="65000"/>
                    <a:lumOff val="35000"/>
                  </a:schemeClr>
                </a:solidFill>
                <a:latin typeface="微軟正黑體" panose="020B0604030504040204" pitchFamily="34" charset="-120"/>
                <a:ea typeface="微軟正黑體" panose="020B0604030504040204" pitchFamily="34" charset="-120"/>
                <a:cs typeface="Times New Roman" panose="02020603050405020304" pitchFamily="18" charset="0"/>
              </a:rPr>
              <a:t>-2</a:t>
            </a:r>
            <a:r>
              <a:rPr lang="zh-TW" altLang="en-US" sz="2000" b="1" dirty="0">
                <a:solidFill>
                  <a:schemeClr val="tx1">
                    <a:lumMod val="65000"/>
                    <a:lumOff val="35000"/>
                  </a:schemeClr>
                </a:solidFill>
                <a:latin typeface="微軟正黑體" panose="020B0604030504040204" pitchFamily="34" charset="-120"/>
                <a:ea typeface="微軟正黑體" panose="020B0604030504040204" pitchFamily="34" charset="-120"/>
                <a:cs typeface="Times New Roman" panose="02020603050405020304" pitchFamily="18" charset="0"/>
              </a:rPr>
              <a:t> 比特幣區塊鏈技術說明</a:t>
            </a:r>
          </a:p>
        </p:txBody>
      </p:sp>
      <p:cxnSp>
        <p:nvCxnSpPr>
          <p:cNvPr id="12" name="直接连接符 33">
            <a:extLst>
              <a:ext uri="{FF2B5EF4-FFF2-40B4-BE49-F238E27FC236}">
                <a16:creationId xmlns:a16="http://schemas.microsoft.com/office/drawing/2014/main" id="{619280C4-513C-4624-9B60-D96D3E340CF2}"/>
              </a:ext>
            </a:extLst>
          </p:cNvPr>
          <p:cNvCxnSpPr/>
          <p:nvPr/>
        </p:nvCxnSpPr>
        <p:spPr>
          <a:xfrm>
            <a:off x="1177167" y="1046746"/>
            <a:ext cx="10585176" cy="0"/>
          </a:xfrm>
          <a:prstGeom prst="line">
            <a:avLst/>
          </a:prstGeom>
          <a:ln w="190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465318999"/>
      </p:ext>
    </p:extLst>
  </p:cSld>
  <p:clrMapOvr>
    <a:masterClrMapping/>
  </p:clrMapOvr>
  <mc:AlternateContent xmlns:mc="http://schemas.openxmlformats.org/markup-compatibility/2006">
    <mc:Choice xmlns:p14="http://schemas.microsoft.com/office/powerpoint/2010/main" Requires="p14">
      <p:transition spd="slow" p14:dur="1500">
        <p:split orient="vert"/>
      </p:transition>
    </mc:Choice>
    <mc:Fallback>
      <p:transition spd="slow">
        <p:split orient="vert"/>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6" presetClass="entr" presetSubtype="16" fill="hold" grpId="0" nodeType="after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circle(in)">
                                      <p:cBhvr>
                                        <p:cTn id="7" dur="2000"/>
                                        <p:tgtEl>
                                          <p:spTgt spid="10"/>
                                        </p:tgtEl>
                                      </p:cBhvr>
                                    </p:animEffect>
                                  </p:childTnLst>
                                </p:cTn>
                              </p:par>
                            </p:childTnLst>
                          </p:cTn>
                        </p:par>
                        <p:par>
                          <p:cTn id="8" fill="hold">
                            <p:stCondLst>
                              <p:cond delay="2000"/>
                            </p:stCondLst>
                            <p:childTnLst>
                              <p:par>
                                <p:cTn id="9" presetID="14" presetClass="entr" presetSubtype="10" fill="hold" grpId="0" nodeType="afterEffect">
                                  <p:stCondLst>
                                    <p:cond delay="0"/>
                                  </p:stCondLst>
                                  <p:childTnLst>
                                    <p:set>
                                      <p:cBhvr>
                                        <p:cTn id="10" dur="1" fill="hold">
                                          <p:stCondLst>
                                            <p:cond delay="0"/>
                                          </p:stCondLst>
                                        </p:cTn>
                                        <p:tgtEl>
                                          <p:spTgt spid="11"/>
                                        </p:tgtEl>
                                        <p:attrNameLst>
                                          <p:attrName>style.visibility</p:attrName>
                                        </p:attrNameLst>
                                      </p:cBhvr>
                                      <p:to>
                                        <p:strVal val="visible"/>
                                      </p:to>
                                    </p:set>
                                    <p:animEffect transition="in" filter="randombar(horizontal)">
                                      <p:cBhvr>
                                        <p:cTn id="11" dur="500"/>
                                        <p:tgtEl>
                                          <p:spTgt spid="11"/>
                                        </p:tgtEl>
                                      </p:cBhvr>
                                    </p:animEffect>
                                  </p:childTnLst>
                                </p:cTn>
                              </p:par>
                            </p:childTnLst>
                          </p:cTn>
                        </p:par>
                        <p:par>
                          <p:cTn id="12" fill="hold">
                            <p:stCondLst>
                              <p:cond delay="2500"/>
                            </p:stCondLst>
                            <p:childTnLst>
                              <p:par>
                                <p:cTn id="13" presetID="2" presetClass="entr" presetSubtype="8" fill="hold" nodeType="afterEffect">
                                  <p:stCondLst>
                                    <p:cond delay="0"/>
                                  </p:stCondLst>
                                  <p:childTnLst>
                                    <p:set>
                                      <p:cBhvr>
                                        <p:cTn id="14" dur="1" fill="hold">
                                          <p:stCondLst>
                                            <p:cond delay="0"/>
                                          </p:stCondLst>
                                        </p:cTn>
                                        <p:tgtEl>
                                          <p:spTgt spid="12"/>
                                        </p:tgtEl>
                                        <p:attrNameLst>
                                          <p:attrName>style.visibility</p:attrName>
                                        </p:attrNameLst>
                                      </p:cBhvr>
                                      <p:to>
                                        <p:strVal val="visible"/>
                                      </p:to>
                                    </p:set>
                                    <p:anim calcmode="lin" valueType="num">
                                      <p:cBhvr additive="base">
                                        <p:cTn id="15" dur="500" fill="hold"/>
                                        <p:tgtEl>
                                          <p:spTgt spid="12"/>
                                        </p:tgtEl>
                                        <p:attrNameLst>
                                          <p:attrName>ppt_x</p:attrName>
                                        </p:attrNameLst>
                                      </p:cBhvr>
                                      <p:tavLst>
                                        <p:tav tm="0">
                                          <p:val>
                                            <p:strVal val="0-#ppt_w/2"/>
                                          </p:val>
                                        </p:tav>
                                        <p:tav tm="100000">
                                          <p:val>
                                            <p:strVal val="#ppt_x"/>
                                          </p:val>
                                        </p:tav>
                                      </p:tavLst>
                                    </p:anim>
                                    <p:anim calcmode="lin" valueType="num">
                                      <p:cBhvr additive="base">
                                        <p:cTn id="16" dur="500" fill="hold"/>
                                        <p:tgtEl>
                                          <p:spTgt spid="12"/>
                                        </p:tgtEl>
                                        <p:attrNameLst>
                                          <p:attrName>ppt_y</p:attrName>
                                        </p:attrNameLst>
                                      </p:cBhvr>
                                      <p:tavLst>
                                        <p:tav tm="0">
                                          <p:val>
                                            <p:strVal val="#ppt_y"/>
                                          </p:val>
                                        </p:tav>
                                        <p:tav tm="100000">
                                          <p:val>
                                            <p:strVal val="#ppt_y"/>
                                          </p:val>
                                        </p:tav>
                                      </p:tavLst>
                                    </p:anim>
                                  </p:childTnLst>
                                </p:cTn>
                              </p:par>
                            </p:childTnLst>
                          </p:cTn>
                        </p:par>
                        <p:par>
                          <p:cTn id="17" fill="hold">
                            <p:stCondLst>
                              <p:cond delay="3000"/>
                            </p:stCondLst>
                            <p:childTnLst>
                              <p:par>
                                <p:cTn id="18" presetID="14" presetClass="entr" presetSubtype="10" fill="hold" grpId="0" nodeType="afterEffect">
                                  <p:stCondLst>
                                    <p:cond delay="0"/>
                                  </p:stCondLst>
                                  <p:childTnLst>
                                    <p:set>
                                      <p:cBhvr>
                                        <p:cTn id="19" dur="1" fill="hold">
                                          <p:stCondLst>
                                            <p:cond delay="0"/>
                                          </p:stCondLst>
                                        </p:cTn>
                                        <p:tgtEl>
                                          <p:spTgt spid="2"/>
                                        </p:tgtEl>
                                        <p:attrNameLst>
                                          <p:attrName>style.visibility</p:attrName>
                                        </p:attrNameLst>
                                      </p:cBhvr>
                                      <p:to>
                                        <p:strVal val="visible"/>
                                      </p:to>
                                    </p:set>
                                    <p:animEffect transition="in" filter="randombar(horizontal)">
                                      <p:cBhvr>
                                        <p:cTn id="20" dur="500"/>
                                        <p:tgtEl>
                                          <p:spTgt spid="2"/>
                                        </p:tgtEl>
                                      </p:cBhvr>
                                    </p:animEffect>
                                  </p:childTnLst>
                                </p:cTn>
                              </p:par>
                            </p:childTnLst>
                          </p:cTn>
                        </p:par>
                        <p:par>
                          <p:cTn id="21" fill="hold">
                            <p:stCondLst>
                              <p:cond delay="3500"/>
                            </p:stCondLst>
                            <p:childTnLst>
                              <p:par>
                                <p:cTn id="22" presetID="42" presetClass="entr" presetSubtype="0" fill="hold" nodeType="afterEffect">
                                  <p:stCondLst>
                                    <p:cond delay="0"/>
                                  </p:stCondLst>
                                  <p:childTnLst>
                                    <p:set>
                                      <p:cBhvr>
                                        <p:cTn id="23" dur="1" fill="hold">
                                          <p:stCondLst>
                                            <p:cond delay="0"/>
                                          </p:stCondLst>
                                        </p:cTn>
                                        <p:tgtEl>
                                          <p:spTgt spid="9"/>
                                        </p:tgtEl>
                                        <p:attrNameLst>
                                          <p:attrName>style.visibility</p:attrName>
                                        </p:attrNameLst>
                                      </p:cBhvr>
                                      <p:to>
                                        <p:strVal val="visible"/>
                                      </p:to>
                                    </p:set>
                                    <p:animEffect transition="in" filter="fade">
                                      <p:cBhvr>
                                        <p:cTn id="24" dur="1000"/>
                                        <p:tgtEl>
                                          <p:spTgt spid="9"/>
                                        </p:tgtEl>
                                      </p:cBhvr>
                                    </p:animEffect>
                                    <p:anim calcmode="lin" valueType="num">
                                      <p:cBhvr>
                                        <p:cTn id="25" dur="1000" fill="hold"/>
                                        <p:tgtEl>
                                          <p:spTgt spid="9"/>
                                        </p:tgtEl>
                                        <p:attrNameLst>
                                          <p:attrName>ppt_x</p:attrName>
                                        </p:attrNameLst>
                                      </p:cBhvr>
                                      <p:tavLst>
                                        <p:tav tm="0">
                                          <p:val>
                                            <p:strVal val="#ppt_x"/>
                                          </p:val>
                                        </p:tav>
                                        <p:tav tm="100000">
                                          <p:val>
                                            <p:strVal val="#ppt_x"/>
                                          </p:val>
                                        </p:tav>
                                      </p:tavLst>
                                    </p:anim>
                                    <p:anim calcmode="lin" valueType="num">
                                      <p:cBhvr>
                                        <p:cTn id="26" dur="1000" fill="hold"/>
                                        <p:tgtEl>
                                          <p:spTgt spid="9"/>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10" grpId="0"/>
      <p:bldP spid="11"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1558751" y="1372991"/>
            <a:ext cx="9225518" cy="2425151"/>
          </a:xfrm>
          <a:prstGeom prst="rect">
            <a:avLst/>
          </a:prstGeom>
        </p:spPr>
        <p:txBody>
          <a:bodyPr wrap="square">
            <a:spAutoFit/>
          </a:bodyPr>
          <a:lstStyle/>
          <a:p>
            <a:pPr marL="342900" indent="-342900">
              <a:lnSpc>
                <a:spcPct val="150000"/>
              </a:lnSpc>
              <a:buBlip>
                <a:blip r:embed="rId2"/>
              </a:buBlip>
            </a:pPr>
            <a:r>
              <a:rPr lang="zh-TW" altLang="en-US" sz="2400" b="1" dirty="0">
                <a:solidFill>
                  <a:schemeClr val="tx1">
                    <a:lumMod val="75000"/>
                    <a:lumOff val="25000"/>
                  </a:schemeClr>
                </a:solidFill>
                <a:latin typeface="微軟正黑體" panose="020B0604030504040204" pitchFamily="34" charset="-120"/>
                <a:ea typeface="微軟正黑體" panose="020B0604030504040204" pitchFamily="34" charset="-120"/>
              </a:rPr>
              <a:t>由於比特幣缺乏法定監督管理的機制，且上線之初屬於</a:t>
            </a:r>
            <a:r>
              <a:rPr lang="zh-TW" altLang="en-US" sz="2400" b="1" dirty="0">
                <a:solidFill>
                  <a:schemeClr val="tx2"/>
                </a:solidFill>
                <a:latin typeface="微軟正黑體" panose="020B0604030504040204" pitchFamily="34" charset="-120"/>
                <a:ea typeface="微軟正黑體" panose="020B0604030504040204" pitchFamily="34" charset="-120"/>
              </a:rPr>
              <a:t>匿名交易</a:t>
            </a:r>
            <a:r>
              <a:rPr lang="zh-TW" altLang="en-US" sz="2400" b="1" dirty="0">
                <a:solidFill>
                  <a:schemeClr val="tx1">
                    <a:lumMod val="75000"/>
                    <a:lumOff val="25000"/>
                  </a:schemeClr>
                </a:solidFill>
                <a:latin typeface="微軟正黑體" panose="020B0604030504040204" pitchFamily="34" charset="-120"/>
                <a:ea typeface="微軟正黑體" panose="020B0604030504040204" pitchFamily="34" charset="-120"/>
              </a:rPr>
              <a:t>，所以常被用於洗錢或黑市買賣</a:t>
            </a:r>
            <a:endParaRPr lang="en-US" altLang="zh-TW" sz="2400" b="1" dirty="0">
              <a:solidFill>
                <a:schemeClr val="tx1">
                  <a:lumMod val="75000"/>
                  <a:lumOff val="25000"/>
                </a:schemeClr>
              </a:solidFill>
              <a:latin typeface="微軟正黑體" panose="020B0604030504040204" pitchFamily="34" charset="-120"/>
              <a:ea typeface="微軟正黑體" panose="020B0604030504040204" pitchFamily="34" charset="-120"/>
            </a:endParaRPr>
          </a:p>
          <a:p>
            <a:pPr marL="342900" indent="-342900">
              <a:lnSpc>
                <a:spcPct val="150000"/>
              </a:lnSpc>
              <a:buBlip>
                <a:blip r:embed="rId2"/>
              </a:buBlip>
            </a:pPr>
            <a:endParaRPr lang="en-US" altLang="zh-TW" sz="800" b="1" dirty="0">
              <a:solidFill>
                <a:schemeClr val="tx1">
                  <a:lumMod val="75000"/>
                  <a:lumOff val="25000"/>
                </a:schemeClr>
              </a:solidFill>
              <a:latin typeface="微軟正黑體" panose="020B0604030504040204" pitchFamily="34" charset="-120"/>
              <a:ea typeface="微軟正黑體" panose="020B0604030504040204" pitchFamily="34" charset="-120"/>
            </a:endParaRPr>
          </a:p>
          <a:p>
            <a:pPr marL="342900" indent="-342900">
              <a:lnSpc>
                <a:spcPct val="150000"/>
              </a:lnSpc>
              <a:buBlip>
                <a:blip r:embed="rId2"/>
              </a:buBlip>
            </a:pPr>
            <a:r>
              <a:rPr lang="zh-TW" altLang="en-US" sz="2400" b="1" dirty="0">
                <a:solidFill>
                  <a:schemeClr val="tx1">
                    <a:lumMod val="75000"/>
                    <a:lumOff val="25000"/>
                  </a:schemeClr>
                </a:solidFill>
                <a:latin typeface="微軟正黑體" panose="020B0604030504040204" pitchFamily="34" charset="-120"/>
                <a:ea typeface="微軟正黑體" panose="020B0604030504040204" pitchFamily="34" charset="-120"/>
              </a:rPr>
              <a:t>有鑑於此，比特幣採用</a:t>
            </a:r>
            <a:r>
              <a:rPr lang="zh-TW" altLang="en-US" sz="2400" b="1" dirty="0">
                <a:solidFill>
                  <a:schemeClr val="tx2"/>
                </a:solidFill>
                <a:latin typeface="微軟正黑體" panose="020B0604030504040204" pitchFamily="34" charset="-120"/>
                <a:ea typeface="微軟正黑體" panose="020B0604030504040204" pitchFamily="34" charset="-120"/>
              </a:rPr>
              <a:t>分散式記帳</a:t>
            </a:r>
            <a:r>
              <a:rPr lang="zh-TW" altLang="en-US" sz="2400" b="1" dirty="0">
                <a:solidFill>
                  <a:schemeClr val="tx1">
                    <a:lumMod val="75000"/>
                    <a:lumOff val="25000"/>
                  </a:schemeClr>
                </a:solidFill>
                <a:latin typeface="微軟正黑體" panose="020B0604030504040204" pitchFamily="34" charset="-120"/>
                <a:ea typeface="微軟正黑體" panose="020B0604030504040204" pitchFamily="34" charset="-120"/>
              </a:rPr>
              <a:t>，透過</a:t>
            </a:r>
            <a:r>
              <a:rPr lang="zh-TW" altLang="en-US" sz="2400" b="1" dirty="0">
                <a:solidFill>
                  <a:schemeClr val="tx2"/>
                </a:solidFill>
                <a:latin typeface="微軟正黑體" panose="020B0604030504040204" pitchFamily="34" charset="-120"/>
                <a:ea typeface="微軟正黑體" panose="020B0604030504040204" pitchFamily="34" charset="-120"/>
              </a:rPr>
              <a:t>密碼技術</a:t>
            </a:r>
            <a:r>
              <a:rPr lang="zh-TW" altLang="en-US" sz="2400" b="1" dirty="0">
                <a:solidFill>
                  <a:schemeClr val="tx1">
                    <a:lumMod val="75000"/>
                    <a:lumOff val="25000"/>
                  </a:schemeClr>
                </a:solidFill>
                <a:latin typeface="微軟正黑體" panose="020B0604030504040204" pitchFamily="34" charset="-120"/>
                <a:ea typeface="微軟正黑體" panose="020B0604030504040204" pitchFamily="34" charset="-120"/>
              </a:rPr>
              <a:t>確保交易的正確性，並且利用</a:t>
            </a:r>
            <a:r>
              <a:rPr lang="zh-TW" altLang="en-US" sz="2400" b="1" dirty="0">
                <a:solidFill>
                  <a:schemeClr val="tx2"/>
                </a:solidFill>
                <a:latin typeface="微軟正黑體" panose="020B0604030504040204" pitchFamily="34" charset="-120"/>
                <a:ea typeface="微軟正黑體" panose="020B0604030504040204" pitchFamily="34" charset="-120"/>
              </a:rPr>
              <a:t>區塊節點的相互儲存</a:t>
            </a:r>
            <a:r>
              <a:rPr lang="zh-TW" altLang="en-US" sz="2400" b="1" dirty="0">
                <a:solidFill>
                  <a:schemeClr val="tx1">
                    <a:lumMod val="75000"/>
                    <a:lumOff val="25000"/>
                  </a:schemeClr>
                </a:solidFill>
                <a:latin typeface="微軟正黑體" panose="020B0604030504040204" pitchFamily="34" charset="-120"/>
                <a:ea typeface="微軟正黑體" panose="020B0604030504040204" pitchFamily="34" charset="-120"/>
              </a:rPr>
              <a:t>的方式，完整紀錄交易資訊</a:t>
            </a:r>
          </a:p>
        </p:txBody>
      </p:sp>
      <p:pic>
        <p:nvPicPr>
          <p:cNvPr id="8" name="图片 42">
            <a:extLst>
              <a:ext uri="{FF2B5EF4-FFF2-40B4-BE49-F238E27FC236}">
                <a16:creationId xmlns:a16="http://schemas.microsoft.com/office/drawing/2014/main" id="{C8D97DA4-6242-4E73-AEFC-457D04FDC65B}"/>
              </a:ext>
            </a:extLst>
          </p:cNvPr>
          <p:cNvPicPr>
            <a:picLocks noChangeAspect="1"/>
          </p:cNvPicPr>
          <p:nvPr/>
        </p:nvPicPr>
        <p:blipFill>
          <a:blip r:embed="rId3"/>
          <a:stretch>
            <a:fillRect/>
          </a:stretch>
        </p:blipFill>
        <p:spPr>
          <a:xfrm rot="16200000">
            <a:off x="145169" y="-145167"/>
            <a:ext cx="1268414" cy="1558750"/>
          </a:xfrm>
          <a:prstGeom prst="rect">
            <a:avLst/>
          </a:prstGeom>
        </p:spPr>
      </p:pic>
      <p:sp>
        <p:nvSpPr>
          <p:cNvPr id="6" name="文字方塊 5">
            <a:extLst>
              <a:ext uri="{FF2B5EF4-FFF2-40B4-BE49-F238E27FC236}">
                <a16:creationId xmlns:a16="http://schemas.microsoft.com/office/drawing/2014/main" id="{8A30B01A-3198-4955-A208-0E3D9EB60397}"/>
              </a:ext>
            </a:extLst>
          </p:cNvPr>
          <p:cNvSpPr txBox="1"/>
          <p:nvPr/>
        </p:nvSpPr>
        <p:spPr>
          <a:xfrm>
            <a:off x="1558751" y="6596390"/>
            <a:ext cx="4217821" cy="261610"/>
          </a:xfrm>
          <a:prstGeom prst="rect">
            <a:avLst/>
          </a:prstGeom>
          <a:noFill/>
        </p:spPr>
        <p:txBody>
          <a:bodyPr wrap="none" rtlCol="0">
            <a:spAutoFit/>
          </a:bodyPr>
          <a:lstStyle/>
          <a:p>
            <a:r>
              <a:rPr lang="zh-TW" altLang="en-US" sz="1100" dirty="0">
                <a:latin typeface="Microsoft JhengHei Light" panose="020B0304030504040204" pitchFamily="34" charset="-120"/>
                <a:ea typeface="Microsoft JhengHei Light" panose="020B0304030504040204" pitchFamily="34" charset="-120"/>
              </a:rPr>
              <a:t>區塊鏈商業應用概論 實例與分析／新陸書局股份有限公司 發行</a:t>
            </a:r>
          </a:p>
        </p:txBody>
      </p:sp>
      <p:pic>
        <p:nvPicPr>
          <p:cNvPr id="4" name="圖片 3">
            <a:extLst>
              <a:ext uri="{FF2B5EF4-FFF2-40B4-BE49-F238E27FC236}">
                <a16:creationId xmlns:a16="http://schemas.microsoft.com/office/drawing/2014/main" id="{E6BA528D-E37E-4E7C-A9C6-E5C7FEDF7E0D}"/>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096000" y="4235049"/>
            <a:ext cx="2361341" cy="2361341"/>
          </a:xfrm>
          <a:prstGeom prst="rect">
            <a:avLst/>
          </a:prstGeom>
        </p:spPr>
      </p:pic>
      <p:pic>
        <p:nvPicPr>
          <p:cNvPr id="11" name="圖片 10">
            <a:extLst>
              <a:ext uri="{FF2B5EF4-FFF2-40B4-BE49-F238E27FC236}">
                <a16:creationId xmlns:a16="http://schemas.microsoft.com/office/drawing/2014/main" id="{C6D3D02E-96D7-4C05-9128-8F4F77652DE8}"/>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8844456" y="4782207"/>
            <a:ext cx="2075793" cy="2075793"/>
          </a:xfrm>
          <a:prstGeom prst="rect">
            <a:avLst/>
          </a:prstGeom>
        </p:spPr>
      </p:pic>
      <p:sp>
        <p:nvSpPr>
          <p:cNvPr id="9" name="標題 1">
            <a:extLst>
              <a:ext uri="{FF2B5EF4-FFF2-40B4-BE49-F238E27FC236}">
                <a16:creationId xmlns:a16="http://schemas.microsoft.com/office/drawing/2014/main" id="{6167F974-5E6A-4CFC-B3EE-B5A2B1089734}"/>
              </a:ext>
            </a:extLst>
          </p:cNvPr>
          <p:cNvSpPr txBox="1">
            <a:spLocks/>
          </p:cNvSpPr>
          <p:nvPr/>
        </p:nvSpPr>
        <p:spPr>
          <a:xfrm>
            <a:off x="1231956" y="393820"/>
            <a:ext cx="3643527" cy="874595"/>
          </a:xfrm>
          <a:prstGeom prst="rect">
            <a:avLst/>
          </a:prstGeom>
        </p:spPr>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altLang="zh-TW" sz="2400" b="1" dirty="0">
                <a:solidFill>
                  <a:srgbClr val="E06741"/>
                </a:solidFill>
              </a:rPr>
              <a:t>2-1 </a:t>
            </a:r>
            <a:r>
              <a:rPr lang="zh-TW" altLang="en-US" sz="2400" b="1" dirty="0">
                <a:solidFill>
                  <a:srgbClr val="E06741"/>
                </a:solidFill>
              </a:rPr>
              <a:t>區塊鏈技術意涵</a:t>
            </a:r>
          </a:p>
          <a:p>
            <a:endParaRPr lang="zh-TW" altLang="en-US" sz="2400" dirty="0">
              <a:solidFill>
                <a:srgbClr val="E06741"/>
              </a:solidFill>
              <a:latin typeface="標楷體" panose="03000509000000000000" pitchFamily="65" charset="-120"/>
              <a:ea typeface="標楷體" panose="03000509000000000000" pitchFamily="65" charset="-120"/>
              <a:cs typeface="Times New Roman" panose="02020603050405020304" pitchFamily="18" charset="0"/>
            </a:endParaRPr>
          </a:p>
        </p:txBody>
      </p:sp>
      <p:sp>
        <p:nvSpPr>
          <p:cNvPr id="10" name="文字方塊 9">
            <a:extLst>
              <a:ext uri="{FF2B5EF4-FFF2-40B4-BE49-F238E27FC236}">
                <a16:creationId xmlns:a16="http://schemas.microsoft.com/office/drawing/2014/main" id="{8A777817-FB38-4699-9733-AC94C162D75D}"/>
              </a:ext>
            </a:extLst>
          </p:cNvPr>
          <p:cNvSpPr txBox="1"/>
          <p:nvPr/>
        </p:nvSpPr>
        <p:spPr>
          <a:xfrm>
            <a:off x="4487241" y="449166"/>
            <a:ext cx="3076483" cy="400110"/>
          </a:xfrm>
          <a:prstGeom prst="rect">
            <a:avLst/>
          </a:prstGeom>
          <a:noFill/>
        </p:spPr>
        <p:txBody>
          <a:bodyPr wrap="none" rtlCol="0">
            <a:spAutoFit/>
          </a:bodyPr>
          <a:lstStyle/>
          <a:p>
            <a:r>
              <a:rPr lang="en-US" altLang="zh-TW" sz="2000" b="1" dirty="0">
                <a:solidFill>
                  <a:schemeClr val="tx1">
                    <a:lumMod val="65000"/>
                    <a:lumOff val="35000"/>
                  </a:schemeClr>
                </a:solidFill>
                <a:latin typeface="微軟正黑體" panose="020B0604030504040204" pitchFamily="34" charset="-120"/>
                <a:ea typeface="微軟正黑體" panose="020B0604030504040204" pitchFamily="34" charset="-120"/>
                <a:cs typeface="Times New Roman" panose="02020603050405020304" pitchFamily="18" charset="0"/>
              </a:rPr>
              <a:t>-2</a:t>
            </a:r>
            <a:r>
              <a:rPr lang="zh-TW" altLang="en-US" sz="2000" b="1" dirty="0">
                <a:solidFill>
                  <a:schemeClr val="tx1">
                    <a:lumMod val="65000"/>
                    <a:lumOff val="35000"/>
                  </a:schemeClr>
                </a:solidFill>
                <a:latin typeface="微軟正黑體" panose="020B0604030504040204" pitchFamily="34" charset="-120"/>
                <a:ea typeface="微軟正黑體" panose="020B0604030504040204" pitchFamily="34" charset="-120"/>
                <a:cs typeface="Times New Roman" panose="02020603050405020304" pitchFamily="18" charset="0"/>
              </a:rPr>
              <a:t> 比特幣區塊鏈技術說明</a:t>
            </a:r>
          </a:p>
        </p:txBody>
      </p:sp>
      <p:cxnSp>
        <p:nvCxnSpPr>
          <p:cNvPr id="12" name="直接连接符 33">
            <a:extLst>
              <a:ext uri="{FF2B5EF4-FFF2-40B4-BE49-F238E27FC236}">
                <a16:creationId xmlns:a16="http://schemas.microsoft.com/office/drawing/2014/main" id="{65B1D1FF-84E6-4C54-B928-95FCC68E8B26}"/>
              </a:ext>
            </a:extLst>
          </p:cNvPr>
          <p:cNvCxnSpPr/>
          <p:nvPr/>
        </p:nvCxnSpPr>
        <p:spPr>
          <a:xfrm>
            <a:off x="1177167" y="1046746"/>
            <a:ext cx="10585176" cy="0"/>
          </a:xfrm>
          <a:prstGeom prst="line">
            <a:avLst/>
          </a:prstGeom>
          <a:ln w="190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400852350"/>
      </p:ext>
    </p:extLst>
  </p:cSld>
  <p:clrMapOvr>
    <a:masterClrMapping/>
  </p:clrMapOvr>
  <mc:AlternateContent xmlns:mc="http://schemas.openxmlformats.org/markup-compatibility/2006">
    <mc:Choice xmlns:p14="http://schemas.microsoft.com/office/powerpoint/2010/main" Requires="p14">
      <p:transition p14:dur="100">
        <p:cut/>
      </p:transition>
    </mc:Choice>
    <mc:Fallback>
      <p:transition>
        <p:cut/>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6" presetClass="entr" presetSubtype="16" fill="hold" grpId="0" nodeType="after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circle(in)">
                                      <p:cBhvr>
                                        <p:cTn id="7" dur="2000"/>
                                        <p:tgtEl>
                                          <p:spTgt spid="9"/>
                                        </p:tgtEl>
                                      </p:cBhvr>
                                    </p:animEffect>
                                  </p:childTnLst>
                                </p:cTn>
                              </p:par>
                            </p:childTnLst>
                          </p:cTn>
                        </p:par>
                        <p:par>
                          <p:cTn id="8" fill="hold">
                            <p:stCondLst>
                              <p:cond delay="2000"/>
                            </p:stCondLst>
                            <p:childTnLst>
                              <p:par>
                                <p:cTn id="9" presetID="14" presetClass="entr" presetSubtype="10" fill="hold" grpId="0" nodeType="afterEffect">
                                  <p:stCondLst>
                                    <p:cond delay="0"/>
                                  </p:stCondLst>
                                  <p:childTnLst>
                                    <p:set>
                                      <p:cBhvr>
                                        <p:cTn id="10" dur="1" fill="hold">
                                          <p:stCondLst>
                                            <p:cond delay="0"/>
                                          </p:stCondLst>
                                        </p:cTn>
                                        <p:tgtEl>
                                          <p:spTgt spid="10"/>
                                        </p:tgtEl>
                                        <p:attrNameLst>
                                          <p:attrName>style.visibility</p:attrName>
                                        </p:attrNameLst>
                                      </p:cBhvr>
                                      <p:to>
                                        <p:strVal val="visible"/>
                                      </p:to>
                                    </p:set>
                                    <p:animEffect transition="in" filter="randombar(horizontal)">
                                      <p:cBhvr>
                                        <p:cTn id="11" dur="500"/>
                                        <p:tgtEl>
                                          <p:spTgt spid="10"/>
                                        </p:tgtEl>
                                      </p:cBhvr>
                                    </p:animEffect>
                                  </p:childTnLst>
                                </p:cTn>
                              </p:par>
                            </p:childTnLst>
                          </p:cTn>
                        </p:par>
                        <p:par>
                          <p:cTn id="12" fill="hold">
                            <p:stCondLst>
                              <p:cond delay="2500"/>
                            </p:stCondLst>
                            <p:childTnLst>
                              <p:par>
                                <p:cTn id="13" presetID="2" presetClass="entr" presetSubtype="8" fill="hold" nodeType="afterEffect">
                                  <p:stCondLst>
                                    <p:cond delay="0"/>
                                  </p:stCondLst>
                                  <p:childTnLst>
                                    <p:set>
                                      <p:cBhvr>
                                        <p:cTn id="14" dur="1" fill="hold">
                                          <p:stCondLst>
                                            <p:cond delay="0"/>
                                          </p:stCondLst>
                                        </p:cTn>
                                        <p:tgtEl>
                                          <p:spTgt spid="12"/>
                                        </p:tgtEl>
                                        <p:attrNameLst>
                                          <p:attrName>style.visibility</p:attrName>
                                        </p:attrNameLst>
                                      </p:cBhvr>
                                      <p:to>
                                        <p:strVal val="visible"/>
                                      </p:to>
                                    </p:set>
                                    <p:anim calcmode="lin" valueType="num">
                                      <p:cBhvr additive="base">
                                        <p:cTn id="15" dur="500" fill="hold"/>
                                        <p:tgtEl>
                                          <p:spTgt spid="12"/>
                                        </p:tgtEl>
                                        <p:attrNameLst>
                                          <p:attrName>ppt_x</p:attrName>
                                        </p:attrNameLst>
                                      </p:cBhvr>
                                      <p:tavLst>
                                        <p:tav tm="0">
                                          <p:val>
                                            <p:strVal val="0-#ppt_w/2"/>
                                          </p:val>
                                        </p:tav>
                                        <p:tav tm="100000">
                                          <p:val>
                                            <p:strVal val="#ppt_x"/>
                                          </p:val>
                                        </p:tav>
                                      </p:tavLst>
                                    </p:anim>
                                    <p:anim calcmode="lin" valueType="num">
                                      <p:cBhvr additive="base">
                                        <p:cTn id="16" dur="500" fill="hold"/>
                                        <p:tgtEl>
                                          <p:spTgt spid="12"/>
                                        </p:tgtEl>
                                        <p:attrNameLst>
                                          <p:attrName>ppt_y</p:attrName>
                                        </p:attrNameLst>
                                      </p:cBhvr>
                                      <p:tavLst>
                                        <p:tav tm="0">
                                          <p:val>
                                            <p:strVal val="#ppt_y"/>
                                          </p:val>
                                        </p:tav>
                                        <p:tav tm="100000">
                                          <p:val>
                                            <p:strVal val="#ppt_y"/>
                                          </p:val>
                                        </p:tav>
                                      </p:tavLst>
                                    </p:anim>
                                  </p:childTnLst>
                                </p:cTn>
                              </p:par>
                            </p:childTnLst>
                          </p:cTn>
                        </p:par>
                        <p:par>
                          <p:cTn id="17" fill="hold">
                            <p:stCondLst>
                              <p:cond delay="3000"/>
                            </p:stCondLst>
                            <p:childTnLst>
                              <p:par>
                                <p:cTn id="18" presetID="10" presetClass="entr" presetSubtype="0" fill="hold" grpId="0" nodeType="afterEffect">
                                  <p:stCondLst>
                                    <p:cond delay="0"/>
                                  </p:stCondLst>
                                  <p:childTnLst>
                                    <p:set>
                                      <p:cBhvr>
                                        <p:cTn id="19" dur="1" fill="hold">
                                          <p:stCondLst>
                                            <p:cond delay="0"/>
                                          </p:stCondLst>
                                        </p:cTn>
                                        <p:tgtEl>
                                          <p:spTgt spid="2"/>
                                        </p:tgtEl>
                                        <p:attrNameLst>
                                          <p:attrName>style.visibility</p:attrName>
                                        </p:attrNameLst>
                                      </p:cBhvr>
                                      <p:to>
                                        <p:strVal val="visible"/>
                                      </p:to>
                                    </p:set>
                                    <p:animEffect transition="in" filter="fade">
                                      <p:cBhvr>
                                        <p:cTn id="20" dur="500"/>
                                        <p:tgtEl>
                                          <p:spTgt spid="2"/>
                                        </p:tgtEl>
                                      </p:cBhvr>
                                    </p:animEffect>
                                  </p:childTnLst>
                                </p:cTn>
                              </p:par>
                            </p:childTnLst>
                          </p:cTn>
                        </p:par>
                        <p:par>
                          <p:cTn id="21" fill="hold">
                            <p:stCondLst>
                              <p:cond delay="3500"/>
                            </p:stCondLst>
                            <p:childTnLst>
                              <p:par>
                                <p:cTn id="22" presetID="16" presetClass="entr" presetSubtype="21" fill="hold" nodeType="afterEffect">
                                  <p:stCondLst>
                                    <p:cond delay="0"/>
                                  </p:stCondLst>
                                  <p:childTnLst>
                                    <p:set>
                                      <p:cBhvr>
                                        <p:cTn id="23" dur="1" fill="hold">
                                          <p:stCondLst>
                                            <p:cond delay="0"/>
                                          </p:stCondLst>
                                        </p:cTn>
                                        <p:tgtEl>
                                          <p:spTgt spid="4"/>
                                        </p:tgtEl>
                                        <p:attrNameLst>
                                          <p:attrName>style.visibility</p:attrName>
                                        </p:attrNameLst>
                                      </p:cBhvr>
                                      <p:to>
                                        <p:strVal val="visible"/>
                                      </p:to>
                                    </p:set>
                                    <p:animEffect transition="in" filter="barn(inVertical)">
                                      <p:cBhvr>
                                        <p:cTn id="24" dur="500"/>
                                        <p:tgtEl>
                                          <p:spTgt spid="4"/>
                                        </p:tgtEl>
                                      </p:cBhvr>
                                    </p:animEffect>
                                  </p:childTnLst>
                                </p:cTn>
                              </p:par>
                            </p:childTnLst>
                          </p:cTn>
                        </p:par>
                        <p:par>
                          <p:cTn id="25" fill="hold">
                            <p:stCondLst>
                              <p:cond delay="4000"/>
                            </p:stCondLst>
                            <p:childTnLst>
                              <p:par>
                                <p:cTn id="26" presetID="16" presetClass="entr" presetSubtype="21" fill="hold" nodeType="afterEffect">
                                  <p:stCondLst>
                                    <p:cond delay="0"/>
                                  </p:stCondLst>
                                  <p:childTnLst>
                                    <p:set>
                                      <p:cBhvr>
                                        <p:cTn id="27" dur="1" fill="hold">
                                          <p:stCondLst>
                                            <p:cond delay="0"/>
                                          </p:stCondLst>
                                        </p:cTn>
                                        <p:tgtEl>
                                          <p:spTgt spid="11"/>
                                        </p:tgtEl>
                                        <p:attrNameLst>
                                          <p:attrName>style.visibility</p:attrName>
                                        </p:attrNameLst>
                                      </p:cBhvr>
                                      <p:to>
                                        <p:strVal val="visible"/>
                                      </p:to>
                                    </p:set>
                                    <p:animEffect transition="in" filter="barn(inVertical)">
                                      <p:cBhvr>
                                        <p:cTn id="28"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9" grpId="0"/>
      <p:bldP spid="10"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1558751" y="1323761"/>
            <a:ext cx="9150370" cy="3902479"/>
          </a:xfrm>
          <a:prstGeom prst="rect">
            <a:avLst/>
          </a:prstGeom>
        </p:spPr>
        <p:txBody>
          <a:bodyPr wrap="square">
            <a:spAutoFit/>
          </a:bodyPr>
          <a:lstStyle/>
          <a:p>
            <a:pPr marL="342900" indent="-342900">
              <a:lnSpc>
                <a:spcPct val="150000"/>
              </a:lnSpc>
              <a:buBlip>
                <a:blip r:embed="rId2"/>
              </a:buBlip>
            </a:pPr>
            <a:r>
              <a:rPr lang="zh-TW" altLang="en-US" sz="2400" b="1" dirty="0">
                <a:solidFill>
                  <a:schemeClr val="tx1">
                    <a:lumMod val="75000"/>
                    <a:lumOff val="25000"/>
                  </a:schemeClr>
                </a:solidFill>
                <a:latin typeface="微軟正黑體" panose="020B0604030504040204" pitchFamily="34" charset="-120"/>
                <a:ea typeface="微軟正黑體" panose="020B0604030504040204" pitchFamily="34" charset="-120"/>
              </a:rPr>
              <a:t>利用比特幣使用者集體維護一個</a:t>
            </a:r>
            <a:r>
              <a:rPr lang="zh-TW" altLang="en-US" sz="2400" b="1" dirty="0">
                <a:solidFill>
                  <a:schemeClr val="tx2"/>
                </a:solidFill>
                <a:latin typeface="微軟正黑體" panose="020B0604030504040204" pitchFamily="34" charset="-120"/>
                <a:ea typeface="微軟正黑體" panose="020B0604030504040204" pitchFamily="34" charset="-120"/>
              </a:rPr>
              <a:t>具時序性的帳本</a:t>
            </a:r>
            <a:r>
              <a:rPr lang="zh-TW" altLang="en-US" sz="2400" b="1" dirty="0">
                <a:solidFill>
                  <a:schemeClr val="tx1">
                    <a:lumMod val="75000"/>
                    <a:lumOff val="25000"/>
                  </a:schemeClr>
                </a:solidFill>
                <a:latin typeface="微軟正黑體" panose="020B0604030504040204" pitchFamily="34" charset="-120"/>
                <a:ea typeface="微軟正黑體" panose="020B0604030504040204" pitchFamily="34" charset="-120"/>
              </a:rPr>
              <a:t>系統</a:t>
            </a:r>
            <a:endParaRPr lang="en-US" altLang="zh-TW" sz="2400" b="1" dirty="0">
              <a:solidFill>
                <a:schemeClr val="tx1">
                  <a:lumMod val="75000"/>
                  <a:lumOff val="25000"/>
                </a:schemeClr>
              </a:solidFill>
              <a:latin typeface="微軟正黑體" panose="020B0604030504040204" pitchFamily="34" charset="-120"/>
              <a:ea typeface="微軟正黑體" panose="020B0604030504040204" pitchFamily="34" charset="-120"/>
            </a:endParaRPr>
          </a:p>
          <a:p>
            <a:pPr marL="342900" indent="-342900">
              <a:lnSpc>
                <a:spcPct val="150000"/>
              </a:lnSpc>
              <a:buBlip>
                <a:blip r:embed="rId2"/>
              </a:buBlip>
            </a:pPr>
            <a:r>
              <a:rPr lang="zh-TW" altLang="en-US" sz="2400" b="1" dirty="0">
                <a:solidFill>
                  <a:schemeClr val="tx1">
                    <a:lumMod val="75000"/>
                    <a:lumOff val="25000"/>
                  </a:schemeClr>
                </a:solidFill>
                <a:latin typeface="微軟正黑體" panose="020B0604030504040204" pitchFamily="34" charset="-120"/>
                <a:ea typeface="微軟正黑體" panose="020B0604030504040204" pitchFamily="34" charset="-120"/>
              </a:rPr>
              <a:t>區塊鏈中每個使用者都是一個</a:t>
            </a:r>
            <a:r>
              <a:rPr lang="zh-TW" altLang="en-US" sz="2400" b="1" dirty="0">
                <a:solidFill>
                  <a:schemeClr val="tx2"/>
                </a:solidFill>
                <a:latin typeface="微軟正黑體" panose="020B0604030504040204" pitchFamily="34" charset="-120"/>
                <a:ea typeface="微軟正黑體" panose="020B0604030504040204" pitchFamily="34" charset="-120"/>
              </a:rPr>
              <a:t>節點</a:t>
            </a:r>
            <a:r>
              <a:rPr lang="zh-TW" altLang="en-US" sz="2400" b="1" dirty="0">
                <a:solidFill>
                  <a:schemeClr val="tx1">
                    <a:lumMod val="75000"/>
                    <a:lumOff val="25000"/>
                  </a:schemeClr>
                </a:solidFill>
                <a:latin typeface="微軟正黑體" panose="020B0604030504040204" pitchFamily="34" charset="-120"/>
                <a:ea typeface="微軟正黑體" panose="020B0604030504040204" pitchFamily="34" charset="-120"/>
              </a:rPr>
              <a:t>，一套完整的交易資訊的帳本經由這些節點而得以保存</a:t>
            </a:r>
            <a:endParaRPr lang="en-US" altLang="zh-TW" sz="2400" b="1" dirty="0">
              <a:solidFill>
                <a:schemeClr val="tx1">
                  <a:lumMod val="75000"/>
                  <a:lumOff val="25000"/>
                </a:schemeClr>
              </a:solidFill>
              <a:latin typeface="微軟正黑體" panose="020B0604030504040204" pitchFamily="34" charset="-120"/>
              <a:ea typeface="微軟正黑體" panose="020B0604030504040204" pitchFamily="34" charset="-120"/>
            </a:endParaRPr>
          </a:p>
          <a:p>
            <a:pPr marL="342900" indent="-342900">
              <a:lnSpc>
                <a:spcPct val="150000"/>
              </a:lnSpc>
              <a:buBlip>
                <a:blip r:embed="rId2"/>
              </a:buBlip>
            </a:pPr>
            <a:r>
              <a:rPr lang="zh-TW" altLang="en-US" sz="2400" b="1" dirty="0">
                <a:solidFill>
                  <a:schemeClr val="tx1">
                    <a:lumMod val="75000"/>
                    <a:lumOff val="25000"/>
                  </a:schemeClr>
                </a:solidFill>
                <a:latin typeface="微軟正黑體" panose="020B0604030504040204" pitchFamily="34" charset="-120"/>
                <a:ea typeface="微軟正黑體" panose="020B0604030504040204" pitchFamily="34" charset="-120"/>
              </a:rPr>
              <a:t>要發起一個交易行為，需要將交易行為訊息傳遞到區塊網路中的每個節點，確保此帳本能精確地更新及驗證這筆交易行為</a:t>
            </a:r>
            <a:endParaRPr lang="en-US" altLang="zh-TW" sz="2400" b="1" dirty="0">
              <a:solidFill>
                <a:schemeClr val="tx1">
                  <a:lumMod val="75000"/>
                  <a:lumOff val="25000"/>
                </a:schemeClr>
              </a:solidFill>
              <a:latin typeface="微軟正黑體" panose="020B0604030504040204" pitchFamily="34" charset="-120"/>
              <a:ea typeface="微軟正黑體" panose="020B0604030504040204" pitchFamily="34" charset="-120"/>
            </a:endParaRPr>
          </a:p>
          <a:p>
            <a:pPr marL="342900" indent="-342900">
              <a:lnSpc>
                <a:spcPct val="150000"/>
              </a:lnSpc>
              <a:buBlip>
                <a:blip r:embed="rId2"/>
              </a:buBlip>
            </a:pPr>
            <a:r>
              <a:rPr lang="zh-TW" altLang="en-US" sz="2400" b="1" dirty="0">
                <a:solidFill>
                  <a:schemeClr val="tx1">
                    <a:lumMod val="75000"/>
                    <a:lumOff val="25000"/>
                  </a:schemeClr>
                </a:solidFill>
                <a:latin typeface="微軟正黑體" panose="020B0604030504040204" pitchFamily="34" charset="-120"/>
                <a:ea typeface="微軟正黑體" panose="020B0604030504040204" pitchFamily="34" charset="-120"/>
              </a:rPr>
              <a:t>節點間相互管理交易訊息，可以防止區塊內的交易資訊被惡意篡改，確保區塊鏈中所有交易資訊的</a:t>
            </a:r>
            <a:r>
              <a:rPr lang="zh-TW" altLang="en-US" sz="2400" b="1" dirty="0">
                <a:solidFill>
                  <a:schemeClr val="tx2"/>
                </a:solidFill>
                <a:latin typeface="微軟正黑體" panose="020B0604030504040204" pitchFamily="34" charset="-120"/>
                <a:ea typeface="微軟正黑體" panose="020B0604030504040204" pitchFamily="34" charset="-120"/>
              </a:rPr>
              <a:t>完整性</a:t>
            </a:r>
            <a:r>
              <a:rPr lang="zh-TW" altLang="en-US" sz="2400" b="1" dirty="0">
                <a:solidFill>
                  <a:schemeClr val="tx1">
                    <a:lumMod val="75000"/>
                    <a:lumOff val="25000"/>
                  </a:schemeClr>
                </a:solidFill>
                <a:latin typeface="微軟正黑體" panose="020B0604030504040204" pitchFamily="34" charset="-120"/>
                <a:ea typeface="微軟正黑體" panose="020B0604030504040204" pitchFamily="34" charset="-120"/>
              </a:rPr>
              <a:t>與</a:t>
            </a:r>
            <a:r>
              <a:rPr lang="zh-TW" altLang="en-US" sz="2400" b="1" dirty="0">
                <a:solidFill>
                  <a:schemeClr val="tx2"/>
                </a:solidFill>
                <a:latin typeface="微軟正黑體" panose="020B0604030504040204" pitchFamily="34" charset="-120"/>
                <a:ea typeface="微軟正黑體" panose="020B0604030504040204" pitchFamily="34" charset="-120"/>
              </a:rPr>
              <a:t>正確性</a:t>
            </a:r>
            <a:r>
              <a:rPr lang="zh-TW" altLang="en-US" sz="2400" b="1" dirty="0">
                <a:solidFill>
                  <a:schemeClr val="tx1">
                    <a:lumMod val="75000"/>
                    <a:lumOff val="25000"/>
                  </a:schemeClr>
                </a:solidFill>
                <a:latin typeface="微軟正黑體" panose="020B0604030504040204" pitchFamily="34" charset="-120"/>
                <a:ea typeface="微軟正黑體" panose="020B0604030504040204" pitchFamily="34" charset="-120"/>
              </a:rPr>
              <a:t>。</a:t>
            </a:r>
          </a:p>
        </p:txBody>
      </p:sp>
      <p:pic>
        <p:nvPicPr>
          <p:cNvPr id="8" name="图片 42">
            <a:extLst>
              <a:ext uri="{FF2B5EF4-FFF2-40B4-BE49-F238E27FC236}">
                <a16:creationId xmlns:a16="http://schemas.microsoft.com/office/drawing/2014/main" id="{C8D97DA4-6242-4E73-AEFC-457D04FDC65B}"/>
              </a:ext>
            </a:extLst>
          </p:cNvPr>
          <p:cNvPicPr>
            <a:picLocks noChangeAspect="1"/>
          </p:cNvPicPr>
          <p:nvPr/>
        </p:nvPicPr>
        <p:blipFill>
          <a:blip r:embed="rId3"/>
          <a:stretch>
            <a:fillRect/>
          </a:stretch>
        </p:blipFill>
        <p:spPr>
          <a:xfrm rot="16200000">
            <a:off x="145169" y="-145167"/>
            <a:ext cx="1268414" cy="1558750"/>
          </a:xfrm>
          <a:prstGeom prst="rect">
            <a:avLst/>
          </a:prstGeom>
        </p:spPr>
      </p:pic>
      <p:sp>
        <p:nvSpPr>
          <p:cNvPr id="6" name="文字方塊 5">
            <a:extLst>
              <a:ext uri="{FF2B5EF4-FFF2-40B4-BE49-F238E27FC236}">
                <a16:creationId xmlns:a16="http://schemas.microsoft.com/office/drawing/2014/main" id="{8A30B01A-3198-4955-A208-0E3D9EB60397}"/>
              </a:ext>
            </a:extLst>
          </p:cNvPr>
          <p:cNvSpPr txBox="1"/>
          <p:nvPr/>
        </p:nvSpPr>
        <p:spPr>
          <a:xfrm>
            <a:off x="1558751" y="6596390"/>
            <a:ext cx="4217821" cy="261610"/>
          </a:xfrm>
          <a:prstGeom prst="rect">
            <a:avLst/>
          </a:prstGeom>
          <a:noFill/>
        </p:spPr>
        <p:txBody>
          <a:bodyPr wrap="none" rtlCol="0">
            <a:spAutoFit/>
          </a:bodyPr>
          <a:lstStyle/>
          <a:p>
            <a:r>
              <a:rPr lang="zh-TW" altLang="en-US" sz="1100" dirty="0">
                <a:latin typeface="Microsoft JhengHei Light" panose="020B0304030504040204" pitchFamily="34" charset="-120"/>
                <a:ea typeface="Microsoft JhengHei Light" panose="020B0304030504040204" pitchFamily="34" charset="-120"/>
              </a:rPr>
              <a:t>區塊鏈商業應用概論 實例與分析／新陸書局股份有限公司 發行</a:t>
            </a:r>
          </a:p>
        </p:txBody>
      </p:sp>
      <p:pic>
        <p:nvPicPr>
          <p:cNvPr id="9" name="圖片 8">
            <a:extLst>
              <a:ext uri="{FF2B5EF4-FFF2-40B4-BE49-F238E27FC236}">
                <a16:creationId xmlns:a16="http://schemas.microsoft.com/office/drawing/2014/main" id="{20B0B7DE-AF98-44CB-8775-AC29F0AEDE78}"/>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814415" y="4757506"/>
            <a:ext cx="2100496" cy="2100494"/>
          </a:xfrm>
          <a:prstGeom prst="rect">
            <a:avLst/>
          </a:prstGeom>
        </p:spPr>
      </p:pic>
      <p:sp>
        <p:nvSpPr>
          <p:cNvPr id="10" name="標題 1">
            <a:extLst>
              <a:ext uri="{FF2B5EF4-FFF2-40B4-BE49-F238E27FC236}">
                <a16:creationId xmlns:a16="http://schemas.microsoft.com/office/drawing/2014/main" id="{4495A76B-B2F7-4B42-A26B-9E8807BC0E79}"/>
              </a:ext>
            </a:extLst>
          </p:cNvPr>
          <p:cNvSpPr txBox="1">
            <a:spLocks/>
          </p:cNvSpPr>
          <p:nvPr/>
        </p:nvSpPr>
        <p:spPr>
          <a:xfrm>
            <a:off x="1231956" y="393820"/>
            <a:ext cx="3643527" cy="874595"/>
          </a:xfrm>
          <a:prstGeom prst="rect">
            <a:avLst/>
          </a:prstGeom>
        </p:spPr>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altLang="zh-TW" sz="2400" b="1" dirty="0">
                <a:solidFill>
                  <a:srgbClr val="E06741"/>
                </a:solidFill>
              </a:rPr>
              <a:t>2-1 </a:t>
            </a:r>
            <a:r>
              <a:rPr lang="zh-TW" altLang="en-US" sz="2400" b="1" dirty="0">
                <a:solidFill>
                  <a:srgbClr val="E06741"/>
                </a:solidFill>
              </a:rPr>
              <a:t>區塊鏈技術意涵</a:t>
            </a:r>
          </a:p>
          <a:p>
            <a:endParaRPr lang="zh-TW" altLang="en-US" sz="2400" dirty="0">
              <a:solidFill>
                <a:srgbClr val="E06741"/>
              </a:solidFill>
              <a:latin typeface="標楷體" panose="03000509000000000000" pitchFamily="65" charset="-120"/>
              <a:ea typeface="標楷體" panose="03000509000000000000" pitchFamily="65" charset="-120"/>
              <a:cs typeface="Times New Roman" panose="02020603050405020304" pitchFamily="18" charset="0"/>
            </a:endParaRPr>
          </a:p>
        </p:txBody>
      </p:sp>
      <p:sp>
        <p:nvSpPr>
          <p:cNvPr id="11" name="文字方塊 10">
            <a:extLst>
              <a:ext uri="{FF2B5EF4-FFF2-40B4-BE49-F238E27FC236}">
                <a16:creationId xmlns:a16="http://schemas.microsoft.com/office/drawing/2014/main" id="{D01C96F4-4683-496D-9664-E12598B45756}"/>
              </a:ext>
            </a:extLst>
          </p:cNvPr>
          <p:cNvSpPr txBox="1"/>
          <p:nvPr/>
        </p:nvSpPr>
        <p:spPr>
          <a:xfrm>
            <a:off x="4487241" y="449166"/>
            <a:ext cx="3076483" cy="400110"/>
          </a:xfrm>
          <a:prstGeom prst="rect">
            <a:avLst/>
          </a:prstGeom>
          <a:noFill/>
        </p:spPr>
        <p:txBody>
          <a:bodyPr wrap="none" rtlCol="0">
            <a:spAutoFit/>
          </a:bodyPr>
          <a:lstStyle/>
          <a:p>
            <a:r>
              <a:rPr lang="en-US" altLang="zh-TW" sz="2000" b="1" dirty="0">
                <a:solidFill>
                  <a:schemeClr val="tx1">
                    <a:lumMod val="65000"/>
                    <a:lumOff val="35000"/>
                  </a:schemeClr>
                </a:solidFill>
                <a:latin typeface="微軟正黑體" panose="020B0604030504040204" pitchFamily="34" charset="-120"/>
                <a:ea typeface="微軟正黑體" panose="020B0604030504040204" pitchFamily="34" charset="-120"/>
                <a:cs typeface="Times New Roman" panose="02020603050405020304" pitchFamily="18" charset="0"/>
              </a:rPr>
              <a:t>-2</a:t>
            </a:r>
            <a:r>
              <a:rPr lang="zh-TW" altLang="en-US" sz="2000" b="1" dirty="0">
                <a:solidFill>
                  <a:schemeClr val="tx1">
                    <a:lumMod val="65000"/>
                    <a:lumOff val="35000"/>
                  </a:schemeClr>
                </a:solidFill>
                <a:latin typeface="微軟正黑體" panose="020B0604030504040204" pitchFamily="34" charset="-120"/>
                <a:ea typeface="微軟正黑體" panose="020B0604030504040204" pitchFamily="34" charset="-120"/>
                <a:cs typeface="Times New Roman" panose="02020603050405020304" pitchFamily="18" charset="0"/>
              </a:rPr>
              <a:t> 比特幣區塊鏈技術說明</a:t>
            </a:r>
          </a:p>
        </p:txBody>
      </p:sp>
      <p:cxnSp>
        <p:nvCxnSpPr>
          <p:cNvPr id="12" name="直接连接符 33">
            <a:extLst>
              <a:ext uri="{FF2B5EF4-FFF2-40B4-BE49-F238E27FC236}">
                <a16:creationId xmlns:a16="http://schemas.microsoft.com/office/drawing/2014/main" id="{2CEFE191-DA25-4EFD-8F44-B8244D74BB8E}"/>
              </a:ext>
            </a:extLst>
          </p:cNvPr>
          <p:cNvCxnSpPr/>
          <p:nvPr/>
        </p:nvCxnSpPr>
        <p:spPr>
          <a:xfrm>
            <a:off x="1177167" y="1046746"/>
            <a:ext cx="10585176" cy="0"/>
          </a:xfrm>
          <a:prstGeom prst="line">
            <a:avLst/>
          </a:prstGeom>
          <a:ln w="190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506157982"/>
      </p:ext>
    </p:extLst>
  </p:cSld>
  <p:clrMapOvr>
    <a:masterClrMapping/>
  </p:clrMapOvr>
  <p:transition spd="med">
    <p:pul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6" presetClass="entr" presetSubtype="16" fill="hold" grpId="0" nodeType="after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circle(in)">
                                      <p:cBhvr>
                                        <p:cTn id="7" dur="2000"/>
                                        <p:tgtEl>
                                          <p:spTgt spid="10"/>
                                        </p:tgtEl>
                                      </p:cBhvr>
                                    </p:animEffect>
                                  </p:childTnLst>
                                </p:cTn>
                              </p:par>
                            </p:childTnLst>
                          </p:cTn>
                        </p:par>
                        <p:par>
                          <p:cTn id="8" fill="hold">
                            <p:stCondLst>
                              <p:cond delay="2000"/>
                            </p:stCondLst>
                            <p:childTnLst>
                              <p:par>
                                <p:cTn id="9" presetID="14" presetClass="entr" presetSubtype="10" fill="hold" grpId="0" nodeType="afterEffect">
                                  <p:stCondLst>
                                    <p:cond delay="0"/>
                                  </p:stCondLst>
                                  <p:childTnLst>
                                    <p:set>
                                      <p:cBhvr>
                                        <p:cTn id="10" dur="1" fill="hold">
                                          <p:stCondLst>
                                            <p:cond delay="0"/>
                                          </p:stCondLst>
                                        </p:cTn>
                                        <p:tgtEl>
                                          <p:spTgt spid="11"/>
                                        </p:tgtEl>
                                        <p:attrNameLst>
                                          <p:attrName>style.visibility</p:attrName>
                                        </p:attrNameLst>
                                      </p:cBhvr>
                                      <p:to>
                                        <p:strVal val="visible"/>
                                      </p:to>
                                    </p:set>
                                    <p:animEffect transition="in" filter="randombar(horizontal)">
                                      <p:cBhvr>
                                        <p:cTn id="11" dur="500"/>
                                        <p:tgtEl>
                                          <p:spTgt spid="11"/>
                                        </p:tgtEl>
                                      </p:cBhvr>
                                    </p:animEffect>
                                  </p:childTnLst>
                                </p:cTn>
                              </p:par>
                            </p:childTnLst>
                          </p:cTn>
                        </p:par>
                        <p:par>
                          <p:cTn id="12" fill="hold">
                            <p:stCondLst>
                              <p:cond delay="2500"/>
                            </p:stCondLst>
                            <p:childTnLst>
                              <p:par>
                                <p:cTn id="13" presetID="2" presetClass="entr" presetSubtype="8" fill="hold" nodeType="afterEffect">
                                  <p:stCondLst>
                                    <p:cond delay="0"/>
                                  </p:stCondLst>
                                  <p:childTnLst>
                                    <p:set>
                                      <p:cBhvr>
                                        <p:cTn id="14" dur="1" fill="hold">
                                          <p:stCondLst>
                                            <p:cond delay="0"/>
                                          </p:stCondLst>
                                        </p:cTn>
                                        <p:tgtEl>
                                          <p:spTgt spid="12"/>
                                        </p:tgtEl>
                                        <p:attrNameLst>
                                          <p:attrName>style.visibility</p:attrName>
                                        </p:attrNameLst>
                                      </p:cBhvr>
                                      <p:to>
                                        <p:strVal val="visible"/>
                                      </p:to>
                                    </p:set>
                                    <p:anim calcmode="lin" valueType="num">
                                      <p:cBhvr additive="base">
                                        <p:cTn id="15" dur="500" fill="hold"/>
                                        <p:tgtEl>
                                          <p:spTgt spid="12"/>
                                        </p:tgtEl>
                                        <p:attrNameLst>
                                          <p:attrName>ppt_x</p:attrName>
                                        </p:attrNameLst>
                                      </p:cBhvr>
                                      <p:tavLst>
                                        <p:tav tm="0">
                                          <p:val>
                                            <p:strVal val="0-#ppt_w/2"/>
                                          </p:val>
                                        </p:tav>
                                        <p:tav tm="100000">
                                          <p:val>
                                            <p:strVal val="#ppt_x"/>
                                          </p:val>
                                        </p:tav>
                                      </p:tavLst>
                                    </p:anim>
                                    <p:anim calcmode="lin" valueType="num">
                                      <p:cBhvr additive="base">
                                        <p:cTn id="16" dur="500" fill="hold"/>
                                        <p:tgtEl>
                                          <p:spTgt spid="12"/>
                                        </p:tgtEl>
                                        <p:attrNameLst>
                                          <p:attrName>ppt_y</p:attrName>
                                        </p:attrNameLst>
                                      </p:cBhvr>
                                      <p:tavLst>
                                        <p:tav tm="0">
                                          <p:val>
                                            <p:strVal val="#ppt_y"/>
                                          </p:val>
                                        </p:tav>
                                        <p:tav tm="100000">
                                          <p:val>
                                            <p:strVal val="#ppt_y"/>
                                          </p:val>
                                        </p:tav>
                                      </p:tavLst>
                                    </p:anim>
                                  </p:childTnLst>
                                </p:cTn>
                              </p:par>
                            </p:childTnLst>
                          </p:cTn>
                        </p:par>
                        <p:par>
                          <p:cTn id="17" fill="hold">
                            <p:stCondLst>
                              <p:cond delay="3000"/>
                            </p:stCondLst>
                            <p:childTnLst>
                              <p:par>
                                <p:cTn id="18" presetID="3" presetClass="entr" presetSubtype="10" fill="hold" grpId="0" nodeType="afterEffect">
                                  <p:stCondLst>
                                    <p:cond delay="0"/>
                                  </p:stCondLst>
                                  <p:childTnLst>
                                    <p:set>
                                      <p:cBhvr>
                                        <p:cTn id="19" dur="1" fill="hold">
                                          <p:stCondLst>
                                            <p:cond delay="0"/>
                                          </p:stCondLst>
                                        </p:cTn>
                                        <p:tgtEl>
                                          <p:spTgt spid="2"/>
                                        </p:tgtEl>
                                        <p:attrNameLst>
                                          <p:attrName>style.visibility</p:attrName>
                                        </p:attrNameLst>
                                      </p:cBhvr>
                                      <p:to>
                                        <p:strVal val="visible"/>
                                      </p:to>
                                    </p:set>
                                    <p:animEffect transition="in" filter="blinds(horizontal)">
                                      <p:cBhvr>
                                        <p:cTn id="20" dur="500"/>
                                        <p:tgtEl>
                                          <p:spTgt spid="2"/>
                                        </p:tgtEl>
                                      </p:cBhvr>
                                    </p:animEffect>
                                  </p:childTnLst>
                                </p:cTn>
                              </p:par>
                            </p:childTnLst>
                          </p:cTn>
                        </p:par>
                        <p:par>
                          <p:cTn id="21" fill="hold">
                            <p:stCondLst>
                              <p:cond delay="3500"/>
                            </p:stCondLst>
                            <p:childTnLst>
                              <p:par>
                                <p:cTn id="22" presetID="45" presetClass="entr" presetSubtype="0" fill="hold" nodeType="afterEffect">
                                  <p:stCondLst>
                                    <p:cond delay="0"/>
                                  </p:stCondLst>
                                  <p:childTnLst>
                                    <p:set>
                                      <p:cBhvr>
                                        <p:cTn id="23" dur="1" fill="hold">
                                          <p:stCondLst>
                                            <p:cond delay="0"/>
                                          </p:stCondLst>
                                        </p:cTn>
                                        <p:tgtEl>
                                          <p:spTgt spid="9"/>
                                        </p:tgtEl>
                                        <p:attrNameLst>
                                          <p:attrName>style.visibility</p:attrName>
                                        </p:attrNameLst>
                                      </p:cBhvr>
                                      <p:to>
                                        <p:strVal val="visible"/>
                                      </p:to>
                                    </p:set>
                                    <p:animEffect transition="in" filter="fade">
                                      <p:cBhvr>
                                        <p:cTn id="24" dur="1000"/>
                                        <p:tgtEl>
                                          <p:spTgt spid="9"/>
                                        </p:tgtEl>
                                      </p:cBhvr>
                                    </p:animEffect>
                                    <p:anim calcmode="lin" valueType="num">
                                      <p:cBhvr>
                                        <p:cTn id="25" dur="1000" fill="hold"/>
                                        <p:tgtEl>
                                          <p:spTgt spid="9"/>
                                        </p:tgtEl>
                                        <p:attrNameLst>
                                          <p:attrName>ppt_w</p:attrName>
                                        </p:attrNameLst>
                                      </p:cBhvr>
                                      <p:tavLst>
                                        <p:tav tm="0" fmla="#ppt_w*sin(2.5*pi*$)">
                                          <p:val>
                                            <p:fltVal val="0"/>
                                          </p:val>
                                        </p:tav>
                                        <p:tav tm="100000">
                                          <p:val>
                                            <p:fltVal val="1"/>
                                          </p:val>
                                        </p:tav>
                                      </p:tavLst>
                                    </p:anim>
                                    <p:anim calcmode="lin" valueType="num">
                                      <p:cBhvr>
                                        <p:cTn id="26" dur="1000" fill="hold"/>
                                        <p:tgtEl>
                                          <p:spTgt spid="9"/>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10" grpId="0"/>
      <p:bldP spid="11"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7" name="圖片 46">
            <a:extLst>
              <a:ext uri="{FF2B5EF4-FFF2-40B4-BE49-F238E27FC236}">
                <a16:creationId xmlns:a16="http://schemas.microsoft.com/office/drawing/2014/main" id="{CA86429F-021E-4FBF-AFD0-BEFEA37CB81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190746" y="1451187"/>
            <a:ext cx="4745956" cy="4745950"/>
          </a:xfrm>
          <a:prstGeom prst="rect">
            <a:avLst/>
          </a:prstGeom>
        </p:spPr>
      </p:pic>
      <p:sp>
        <p:nvSpPr>
          <p:cNvPr id="2" name="矩形 1"/>
          <p:cNvSpPr/>
          <p:nvPr/>
        </p:nvSpPr>
        <p:spPr>
          <a:xfrm>
            <a:off x="2002302" y="1405203"/>
            <a:ext cx="4352502" cy="578492"/>
          </a:xfrm>
          <a:prstGeom prst="rect">
            <a:avLst/>
          </a:prstGeom>
        </p:spPr>
        <p:txBody>
          <a:bodyPr wrap="square">
            <a:spAutoFit/>
          </a:bodyPr>
          <a:lstStyle/>
          <a:p>
            <a:pPr marL="342900" indent="-342900">
              <a:lnSpc>
                <a:spcPct val="150000"/>
              </a:lnSpc>
              <a:buSzPct val="150000"/>
              <a:buBlip>
                <a:blip r:embed="rId3"/>
              </a:buBlip>
            </a:pPr>
            <a:r>
              <a:rPr lang="zh-TW" altLang="en-US" sz="2400" b="1" dirty="0">
                <a:solidFill>
                  <a:schemeClr val="tx1">
                    <a:lumMod val="75000"/>
                    <a:lumOff val="25000"/>
                  </a:schemeClr>
                </a:solidFill>
                <a:latin typeface="微軟正黑體" panose="020B0604030504040204" pitchFamily="34" charset="-120"/>
                <a:ea typeface="微軟正黑體" panose="020B0604030504040204" pitchFamily="34" charset="-120"/>
              </a:rPr>
              <a:t>比特幣支付系統</a:t>
            </a:r>
            <a:endParaRPr lang="en-US" altLang="zh-TW" sz="2400" b="1" dirty="0">
              <a:solidFill>
                <a:schemeClr val="tx1">
                  <a:lumMod val="75000"/>
                  <a:lumOff val="25000"/>
                </a:schemeClr>
              </a:solidFill>
              <a:latin typeface="微軟正黑體" panose="020B0604030504040204" pitchFamily="34" charset="-120"/>
              <a:ea typeface="微軟正黑體" panose="020B0604030504040204" pitchFamily="34" charset="-120"/>
            </a:endParaRPr>
          </a:p>
        </p:txBody>
      </p:sp>
      <p:pic>
        <p:nvPicPr>
          <p:cNvPr id="8" name="图片 42">
            <a:extLst>
              <a:ext uri="{FF2B5EF4-FFF2-40B4-BE49-F238E27FC236}">
                <a16:creationId xmlns:a16="http://schemas.microsoft.com/office/drawing/2014/main" id="{C8D97DA4-6242-4E73-AEFC-457D04FDC65B}"/>
              </a:ext>
            </a:extLst>
          </p:cNvPr>
          <p:cNvPicPr>
            <a:picLocks noChangeAspect="1"/>
          </p:cNvPicPr>
          <p:nvPr/>
        </p:nvPicPr>
        <p:blipFill>
          <a:blip r:embed="rId4"/>
          <a:stretch>
            <a:fillRect/>
          </a:stretch>
        </p:blipFill>
        <p:spPr>
          <a:xfrm rot="16200000">
            <a:off x="145169" y="-145167"/>
            <a:ext cx="1268414" cy="1558750"/>
          </a:xfrm>
          <a:prstGeom prst="rect">
            <a:avLst/>
          </a:prstGeom>
        </p:spPr>
      </p:pic>
      <p:sp>
        <p:nvSpPr>
          <p:cNvPr id="6" name="文字方塊 5">
            <a:extLst>
              <a:ext uri="{FF2B5EF4-FFF2-40B4-BE49-F238E27FC236}">
                <a16:creationId xmlns:a16="http://schemas.microsoft.com/office/drawing/2014/main" id="{8A30B01A-3198-4955-A208-0E3D9EB60397}"/>
              </a:ext>
            </a:extLst>
          </p:cNvPr>
          <p:cNvSpPr txBox="1"/>
          <p:nvPr/>
        </p:nvSpPr>
        <p:spPr>
          <a:xfrm>
            <a:off x="1558751" y="6596390"/>
            <a:ext cx="4217821" cy="261610"/>
          </a:xfrm>
          <a:prstGeom prst="rect">
            <a:avLst/>
          </a:prstGeom>
          <a:noFill/>
        </p:spPr>
        <p:txBody>
          <a:bodyPr wrap="none" rtlCol="0">
            <a:spAutoFit/>
          </a:bodyPr>
          <a:lstStyle/>
          <a:p>
            <a:r>
              <a:rPr lang="zh-TW" altLang="en-US" sz="1100" dirty="0">
                <a:latin typeface="Microsoft JhengHei Light" panose="020B0304030504040204" pitchFamily="34" charset="-120"/>
                <a:ea typeface="Microsoft JhengHei Light" panose="020B0304030504040204" pitchFamily="34" charset="-120"/>
              </a:rPr>
              <a:t>區塊鏈商業應用概論 實例與分析／新陸書局股份有限公司 發行</a:t>
            </a:r>
          </a:p>
        </p:txBody>
      </p:sp>
      <p:grpSp>
        <p:nvGrpSpPr>
          <p:cNvPr id="3" name="群組 2">
            <a:extLst>
              <a:ext uri="{FF2B5EF4-FFF2-40B4-BE49-F238E27FC236}">
                <a16:creationId xmlns:a16="http://schemas.microsoft.com/office/drawing/2014/main" id="{CDC6674B-F5CF-42C0-B040-89FFB05C517B}"/>
              </a:ext>
            </a:extLst>
          </p:cNvPr>
          <p:cNvGrpSpPr/>
          <p:nvPr/>
        </p:nvGrpSpPr>
        <p:grpSpPr>
          <a:xfrm>
            <a:off x="5233074" y="1502202"/>
            <a:ext cx="4661300" cy="4661300"/>
            <a:chOff x="5274621" y="267511"/>
            <a:chExt cx="6406787" cy="6406786"/>
          </a:xfrm>
        </p:grpSpPr>
        <p:grpSp>
          <p:nvGrpSpPr>
            <p:cNvPr id="12" name="群組 11">
              <a:extLst>
                <a:ext uri="{FF2B5EF4-FFF2-40B4-BE49-F238E27FC236}">
                  <a16:creationId xmlns:a16="http://schemas.microsoft.com/office/drawing/2014/main" id="{FBCBF082-7D49-4624-8CFA-68946615891C}"/>
                </a:ext>
              </a:extLst>
            </p:cNvPr>
            <p:cNvGrpSpPr/>
            <p:nvPr/>
          </p:nvGrpSpPr>
          <p:grpSpPr>
            <a:xfrm>
              <a:off x="5274621" y="267511"/>
              <a:ext cx="6406787" cy="6406786"/>
              <a:chOff x="2856602" y="297615"/>
              <a:chExt cx="6406787" cy="6406786"/>
            </a:xfrm>
          </p:grpSpPr>
          <p:sp>
            <p:nvSpPr>
              <p:cNvPr id="13" name="拱形 12">
                <a:extLst>
                  <a:ext uri="{FF2B5EF4-FFF2-40B4-BE49-F238E27FC236}">
                    <a16:creationId xmlns:a16="http://schemas.microsoft.com/office/drawing/2014/main" id="{5FC74905-C69C-4648-B78D-6AD23297DA7E}"/>
                  </a:ext>
                </a:extLst>
              </p:cNvPr>
              <p:cNvSpPr/>
              <p:nvPr/>
            </p:nvSpPr>
            <p:spPr>
              <a:xfrm>
                <a:off x="3429318" y="870330"/>
                <a:ext cx="5261354" cy="5261354"/>
              </a:xfrm>
              <a:prstGeom prst="blockArc">
                <a:avLst>
                  <a:gd name="adj1" fmla="val 14400000"/>
                  <a:gd name="adj2" fmla="val 16200000"/>
                  <a:gd name="adj3" fmla="val 2310"/>
                </a:avLst>
              </a:prstGeom>
            </p:spPr>
            <p:style>
              <a:lnRef idx="0">
                <a:schemeClr val="lt1">
                  <a:hueOff val="0"/>
                  <a:satOff val="0"/>
                  <a:lumOff val="0"/>
                  <a:alphaOff val="0"/>
                </a:schemeClr>
              </a:lnRef>
              <a:fillRef idx="1">
                <a:schemeClr val="accent3">
                  <a:hueOff val="0"/>
                  <a:satOff val="0"/>
                  <a:lumOff val="0"/>
                  <a:alphaOff val="0"/>
                </a:schemeClr>
              </a:fillRef>
              <a:effectRef idx="0">
                <a:schemeClr val="accent3">
                  <a:hueOff val="0"/>
                  <a:satOff val="0"/>
                  <a:lumOff val="0"/>
                  <a:alphaOff val="0"/>
                </a:schemeClr>
              </a:effectRef>
              <a:fontRef idx="minor">
                <a:schemeClr val="lt1"/>
              </a:fontRef>
            </p:style>
          </p:sp>
          <p:sp>
            <p:nvSpPr>
              <p:cNvPr id="14" name="拱形 13">
                <a:extLst>
                  <a:ext uri="{FF2B5EF4-FFF2-40B4-BE49-F238E27FC236}">
                    <a16:creationId xmlns:a16="http://schemas.microsoft.com/office/drawing/2014/main" id="{3D0BECB0-8237-4E2B-8F4C-4859F31E5021}"/>
                  </a:ext>
                </a:extLst>
              </p:cNvPr>
              <p:cNvSpPr/>
              <p:nvPr/>
            </p:nvSpPr>
            <p:spPr>
              <a:xfrm>
                <a:off x="3429318" y="870330"/>
                <a:ext cx="5261354" cy="5261354"/>
              </a:xfrm>
              <a:prstGeom prst="blockArc">
                <a:avLst>
                  <a:gd name="adj1" fmla="val 12600000"/>
                  <a:gd name="adj2" fmla="val 14400000"/>
                  <a:gd name="adj3" fmla="val 2310"/>
                </a:avLst>
              </a:prstGeom>
            </p:spPr>
            <p:style>
              <a:lnRef idx="0">
                <a:schemeClr val="lt1">
                  <a:hueOff val="0"/>
                  <a:satOff val="0"/>
                  <a:lumOff val="0"/>
                  <a:alphaOff val="0"/>
                </a:schemeClr>
              </a:lnRef>
              <a:fillRef idx="1">
                <a:schemeClr val="accent2">
                  <a:hueOff val="0"/>
                  <a:satOff val="0"/>
                  <a:lumOff val="0"/>
                  <a:alphaOff val="0"/>
                </a:schemeClr>
              </a:fillRef>
              <a:effectRef idx="0">
                <a:schemeClr val="accent2">
                  <a:hueOff val="0"/>
                  <a:satOff val="0"/>
                  <a:lumOff val="0"/>
                  <a:alphaOff val="0"/>
                </a:schemeClr>
              </a:effectRef>
              <a:fontRef idx="minor">
                <a:schemeClr val="lt1"/>
              </a:fontRef>
            </p:style>
          </p:sp>
          <p:sp>
            <p:nvSpPr>
              <p:cNvPr id="15" name="拱形 14">
                <a:extLst>
                  <a:ext uri="{FF2B5EF4-FFF2-40B4-BE49-F238E27FC236}">
                    <a16:creationId xmlns:a16="http://schemas.microsoft.com/office/drawing/2014/main" id="{CDB63D39-72A7-4201-A513-AC116A014A02}"/>
                  </a:ext>
                </a:extLst>
              </p:cNvPr>
              <p:cNvSpPr/>
              <p:nvPr/>
            </p:nvSpPr>
            <p:spPr>
              <a:xfrm>
                <a:off x="3429318" y="870330"/>
                <a:ext cx="5261354" cy="5261354"/>
              </a:xfrm>
              <a:prstGeom prst="blockArc">
                <a:avLst>
                  <a:gd name="adj1" fmla="val 10800000"/>
                  <a:gd name="adj2" fmla="val 12600000"/>
                  <a:gd name="adj3" fmla="val 2310"/>
                </a:avLst>
              </a:prstGeom>
            </p:spPr>
            <p:style>
              <a:lnRef idx="0">
                <a:schemeClr val="lt1">
                  <a:hueOff val="0"/>
                  <a:satOff val="0"/>
                  <a:lumOff val="0"/>
                  <a:alphaOff val="0"/>
                </a:schemeClr>
              </a:lnRef>
              <a:fillRef idx="1">
                <a:schemeClr val="accent6">
                  <a:hueOff val="0"/>
                  <a:satOff val="0"/>
                  <a:lumOff val="0"/>
                  <a:alphaOff val="0"/>
                </a:schemeClr>
              </a:fillRef>
              <a:effectRef idx="0">
                <a:schemeClr val="accent6">
                  <a:hueOff val="0"/>
                  <a:satOff val="0"/>
                  <a:lumOff val="0"/>
                  <a:alphaOff val="0"/>
                </a:schemeClr>
              </a:effectRef>
              <a:fontRef idx="minor">
                <a:schemeClr val="lt1"/>
              </a:fontRef>
            </p:style>
          </p:sp>
          <p:sp>
            <p:nvSpPr>
              <p:cNvPr id="16" name="拱形 15">
                <a:extLst>
                  <a:ext uri="{FF2B5EF4-FFF2-40B4-BE49-F238E27FC236}">
                    <a16:creationId xmlns:a16="http://schemas.microsoft.com/office/drawing/2014/main" id="{514A72E0-5CAC-4CF2-A9E5-DAC123BEEAFA}"/>
                  </a:ext>
                </a:extLst>
              </p:cNvPr>
              <p:cNvSpPr/>
              <p:nvPr/>
            </p:nvSpPr>
            <p:spPr>
              <a:xfrm>
                <a:off x="3429318" y="870330"/>
                <a:ext cx="5261354" cy="5261354"/>
              </a:xfrm>
              <a:prstGeom prst="blockArc">
                <a:avLst>
                  <a:gd name="adj1" fmla="val 9000000"/>
                  <a:gd name="adj2" fmla="val 10800000"/>
                  <a:gd name="adj3" fmla="val 2310"/>
                </a:avLst>
              </a:prstGeom>
            </p:spPr>
            <p:style>
              <a:lnRef idx="0">
                <a:schemeClr val="lt1">
                  <a:hueOff val="0"/>
                  <a:satOff val="0"/>
                  <a:lumOff val="0"/>
                  <a:alphaOff val="0"/>
                </a:schemeClr>
              </a:lnRef>
              <a:fillRef idx="1">
                <a:schemeClr val="accent5">
                  <a:hueOff val="0"/>
                  <a:satOff val="0"/>
                  <a:lumOff val="0"/>
                  <a:alphaOff val="0"/>
                </a:schemeClr>
              </a:fillRef>
              <a:effectRef idx="0">
                <a:schemeClr val="accent5">
                  <a:hueOff val="0"/>
                  <a:satOff val="0"/>
                  <a:lumOff val="0"/>
                  <a:alphaOff val="0"/>
                </a:schemeClr>
              </a:effectRef>
              <a:fontRef idx="minor">
                <a:schemeClr val="lt1"/>
              </a:fontRef>
            </p:style>
          </p:sp>
          <p:sp>
            <p:nvSpPr>
              <p:cNvPr id="17" name="拱形 16">
                <a:extLst>
                  <a:ext uri="{FF2B5EF4-FFF2-40B4-BE49-F238E27FC236}">
                    <a16:creationId xmlns:a16="http://schemas.microsoft.com/office/drawing/2014/main" id="{83F3338F-7AAB-4524-8E33-2F80576BA66B}"/>
                  </a:ext>
                </a:extLst>
              </p:cNvPr>
              <p:cNvSpPr/>
              <p:nvPr/>
            </p:nvSpPr>
            <p:spPr>
              <a:xfrm>
                <a:off x="3429318" y="870330"/>
                <a:ext cx="5261354" cy="5261354"/>
              </a:xfrm>
              <a:prstGeom prst="blockArc">
                <a:avLst>
                  <a:gd name="adj1" fmla="val 7200000"/>
                  <a:gd name="adj2" fmla="val 9000000"/>
                  <a:gd name="adj3" fmla="val 2310"/>
                </a:avLst>
              </a:prstGeom>
            </p:spPr>
            <p:style>
              <a:lnRef idx="0">
                <a:schemeClr val="lt1">
                  <a:hueOff val="0"/>
                  <a:satOff val="0"/>
                  <a:lumOff val="0"/>
                  <a:alphaOff val="0"/>
                </a:schemeClr>
              </a:lnRef>
              <a:fillRef idx="1">
                <a:schemeClr val="accent4">
                  <a:hueOff val="0"/>
                  <a:satOff val="0"/>
                  <a:lumOff val="0"/>
                  <a:alphaOff val="0"/>
                </a:schemeClr>
              </a:fillRef>
              <a:effectRef idx="0">
                <a:schemeClr val="accent4">
                  <a:hueOff val="0"/>
                  <a:satOff val="0"/>
                  <a:lumOff val="0"/>
                  <a:alphaOff val="0"/>
                </a:schemeClr>
              </a:effectRef>
              <a:fontRef idx="minor">
                <a:schemeClr val="lt1"/>
              </a:fontRef>
            </p:style>
          </p:sp>
          <p:sp>
            <p:nvSpPr>
              <p:cNvPr id="18" name="拱形 17">
                <a:extLst>
                  <a:ext uri="{FF2B5EF4-FFF2-40B4-BE49-F238E27FC236}">
                    <a16:creationId xmlns:a16="http://schemas.microsoft.com/office/drawing/2014/main" id="{4BBC5F26-2760-4A5E-86D7-59F928BA50D5}"/>
                  </a:ext>
                </a:extLst>
              </p:cNvPr>
              <p:cNvSpPr/>
              <p:nvPr/>
            </p:nvSpPr>
            <p:spPr>
              <a:xfrm>
                <a:off x="3429318" y="870330"/>
                <a:ext cx="5261354" cy="5261354"/>
              </a:xfrm>
              <a:prstGeom prst="blockArc">
                <a:avLst>
                  <a:gd name="adj1" fmla="val 5400000"/>
                  <a:gd name="adj2" fmla="val 7200000"/>
                  <a:gd name="adj3" fmla="val 2310"/>
                </a:avLst>
              </a:prstGeom>
            </p:spPr>
            <p:style>
              <a:lnRef idx="0">
                <a:schemeClr val="lt1">
                  <a:hueOff val="0"/>
                  <a:satOff val="0"/>
                  <a:lumOff val="0"/>
                  <a:alphaOff val="0"/>
                </a:schemeClr>
              </a:lnRef>
              <a:fillRef idx="1">
                <a:schemeClr val="accent3">
                  <a:hueOff val="0"/>
                  <a:satOff val="0"/>
                  <a:lumOff val="0"/>
                  <a:alphaOff val="0"/>
                </a:schemeClr>
              </a:fillRef>
              <a:effectRef idx="0">
                <a:schemeClr val="accent3">
                  <a:hueOff val="0"/>
                  <a:satOff val="0"/>
                  <a:lumOff val="0"/>
                  <a:alphaOff val="0"/>
                </a:schemeClr>
              </a:effectRef>
              <a:fontRef idx="minor">
                <a:schemeClr val="lt1"/>
              </a:fontRef>
            </p:style>
          </p:sp>
          <p:sp>
            <p:nvSpPr>
              <p:cNvPr id="19" name="拱形 18">
                <a:extLst>
                  <a:ext uri="{FF2B5EF4-FFF2-40B4-BE49-F238E27FC236}">
                    <a16:creationId xmlns:a16="http://schemas.microsoft.com/office/drawing/2014/main" id="{11F92A68-C6C7-42CA-B3A5-2ED8F46C12F3}"/>
                  </a:ext>
                </a:extLst>
              </p:cNvPr>
              <p:cNvSpPr/>
              <p:nvPr/>
            </p:nvSpPr>
            <p:spPr>
              <a:xfrm>
                <a:off x="3429318" y="870330"/>
                <a:ext cx="5261354" cy="5261354"/>
              </a:xfrm>
              <a:prstGeom prst="blockArc">
                <a:avLst>
                  <a:gd name="adj1" fmla="val 3600000"/>
                  <a:gd name="adj2" fmla="val 5400000"/>
                  <a:gd name="adj3" fmla="val 2310"/>
                </a:avLst>
              </a:prstGeom>
            </p:spPr>
            <p:style>
              <a:lnRef idx="0">
                <a:schemeClr val="lt1">
                  <a:hueOff val="0"/>
                  <a:satOff val="0"/>
                  <a:lumOff val="0"/>
                  <a:alphaOff val="0"/>
                </a:schemeClr>
              </a:lnRef>
              <a:fillRef idx="1">
                <a:schemeClr val="accent2">
                  <a:hueOff val="0"/>
                  <a:satOff val="0"/>
                  <a:lumOff val="0"/>
                  <a:alphaOff val="0"/>
                </a:schemeClr>
              </a:fillRef>
              <a:effectRef idx="0">
                <a:schemeClr val="accent2">
                  <a:hueOff val="0"/>
                  <a:satOff val="0"/>
                  <a:lumOff val="0"/>
                  <a:alphaOff val="0"/>
                </a:schemeClr>
              </a:effectRef>
              <a:fontRef idx="minor">
                <a:schemeClr val="lt1"/>
              </a:fontRef>
            </p:style>
          </p:sp>
          <p:sp>
            <p:nvSpPr>
              <p:cNvPr id="20" name="拱形 19">
                <a:extLst>
                  <a:ext uri="{FF2B5EF4-FFF2-40B4-BE49-F238E27FC236}">
                    <a16:creationId xmlns:a16="http://schemas.microsoft.com/office/drawing/2014/main" id="{CB3D0BE2-BFDA-4FE3-8539-FD57B2AE6947}"/>
                  </a:ext>
                </a:extLst>
              </p:cNvPr>
              <p:cNvSpPr/>
              <p:nvPr/>
            </p:nvSpPr>
            <p:spPr>
              <a:xfrm>
                <a:off x="3429318" y="870330"/>
                <a:ext cx="5261354" cy="5261354"/>
              </a:xfrm>
              <a:prstGeom prst="blockArc">
                <a:avLst>
                  <a:gd name="adj1" fmla="val 1800000"/>
                  <a:gd name="adj2" fmla="val 3600000"/>
                  <a:gd name="adj3" fmla="val 2310"/>
                </a:avLst>
              </a:prstGeom>
            </p:spPr>
            <p:style>
              <a:lnRef idx="0">
                <a:schemeClr val="lt1">
                  <a:hueOff val="0"/>
                  <a:satOff val="0"/>
                  <a:lumOff val="0"/>
                  <a:alphaOff val="0"/>
                </a:schemeClr>
              </a:lnRef>
              <a:fillRef idx="1">
                <a:schemeClr val="accent6">
                  <a:hueOff val="0"/>
                  <a:satOff val="0"/>
                  <a:lumOff val="0"/>
                  <a:alphaOff val="0"/>
                </a:schemeClr>
              </a:fillRef>
              <a:effectRef idx="0">
                <a:schemeClr val="accent6">
                  <a:hueOff val="0"/>
                  <a:satOff val="0"/>
                  <a:lumOff val="0"/>
                  <a:alphaOff val="0"/>
                </a:schemeClr>
              </a:effectRef>
              <a:fontRef idx="minor">
                <a:schemeClr val="lt1"/>
              </a:fontRef>
            </p:style>
          </p:sp>
          <p:sp>
            <p:nvSpPr>
              <p:cNvPr id="21" name="拱形 20">
                <a:extLst>
                  <a:ext uri="{FF2B5EF4-FFF2-40B4-BE49-F238E27FC236}">
                    <a16:creationId xmlns:a16="http://schemas.microsoft.com/office/drawing/2014/main" id="{4B46F5BB-9ECD-433B-A552-F18298DF1F6B}"/>
                  </a:ext>
                </a:extLst>
              </p:cNvPr>
              <p:cNvSpPr/>
              <p:nvPr/>
            </p:nvSpPr>
            <p:spPr>
              <a:xfrm>
                <a:off x="3429318" y="870330"/>
                <a:ext cx="5261354" cy="5261354"/>
              </a:xfrm>
              <a:prstGeom prst="blockArc">
                <a:avLst>
                  <a:gd name="adj1" fmla="val 0"/>
                  <a:gd name="adj2" fmla="val 1800000"/>
                  <a:gd name="adj3" fmla="val 2310"/>
                </a:avLst>
              </a:prstGeom>
            </p:spPr>
            <p:style>
              <a:lnRef idx="0">
                <a:schemeClr val="lt1">
                  <a:hueOff val="0"/>
                  <a:satOff val="0"/>
                  <a:lumOff val="0"/>
                  <a:alphaOff val="0"/>
                </a:schemeClr>
              </a:lnRef>
              <a:fillRef idx="1">
                <a:schemeClr val="accent5">
                  <a:hueOff val="0"/>
                  <a:satOff val="0"/>
                  <a:lumOff val="0"/>
                  <a:alphaOff val="0"/>
                </a:schemeClr>
              </a:fillRef>
              <a:effectRef idx="0">
                <a:schemeClr val="accent5">
                  <a:hueOff val="0"/>
                  <a:satOff val="0"/>
                  <a:lumOff val="0"/>
                  <a:alphaOff val="0"/>
                </a:schemeClr>
              </a:effectRef>
              <a:fontRef idx="minor">
                <a:schemeClr val="lt1"/>
              </a:fontRef>
            </p:style>
          </p:sp>
          <p:sp>
            <p:nvSpPr>
              <p:cNvPr id="22" name="拱形 21">
                <a:extLst>
                  <a:ext uri="{FF2B5EF4-FFF2-40B4-BE49-F238E27FC236}">
                    <a16:creationId xmlns:a16="http://schemas.microsoft.com/office/drawing/2014/main" id="{8FB5FCE8-F5A7-448E-AC0D-AB9BB8223F49}"/>
                  </a:ext>
                </a:extLst>
              </p:cNvPr>
              <p:cNvSpPr/>
              <p:nvPr/>
            </p:nvSpPr>
            <p:spPr>
              <a:xfrm>
                <a:off x="3429318" y="870330"/>
                <a:ext cx="5261354" cy="5261354"/>
              </a:xfrm>
              <a:prstGeom prst="blockArc">
                <a:avLst>
                  <a:gd name="adj1" fmla="val 19800000"/>
                  <a:gd name="adj2" fmla="val 0"/>
                  <a:gd name="adj3" fmla="val 2310"/>
                </a:avLst>
              </a:prstGeom>
            </p:spPr>
            <p:style>
              <a:lnRef idx="0">
                <a:schemeClr val="lt1">
                  <a:hueOff val="0"/>
                  <a:satOff val="0"/>
                  <a:lumOff val="0"/>
                  <a:alphaOff val="0"/>
                </a:schemeClr>
              </a:lnRef>
              <a:fillRef idx="1">
                <a:schemeClr val="accent4">
                  <a:hueOff val="0"/>
                  <a:satOff val="0"/>
                  <a:lumOff val="0"/>
                  <a:alphaOff val="0"/>
                </a:schemeClr>
              </a:fillRef>
              <a:effectRef idx="0">
                <a:schemeClr val="accent4">
                  <a:hueOff val="0"/>
                  <a:satOff val="0"/>
                  <a:lumOff val="0"/>
                  <a:alphaOff val="0"/>
                </a:schemeClr>
              </a:effectRef>
              <a:fontRef idx="minor">
                <a:schemeClr val="lt1"/>
              </a:fontRef>
            </p:style>
          </p:sp>
          <p:sp>
            <p:nvSpPr>
              <p:cNvPr id="23" name="拱形 22">
                <a:extLst>
                  <a:ext uri="{FF2B5EF4-FFF2-40B4-BE49-F238E27FC236}">
                    <a16:creationId xmlns:a16="http://schemas.microsoft.com/office/drawing/2014/main" id="{B1BBBEA6-2CCC-43FB-BF83-CAED53B81489}"/>
                  </a:ext>
                </a:extLst>
              </p:cNvPr>
              <p:cNvSpPr/>
              <p:nvPr/>
            </p:nvSpPr>
            <p:spPr>
              <a:xfrm>
                <a:off x="3429318" y="870330"/>
                <a:ext cx="5261354" cy="5261354"/>
              </a:xfrm>
              <a:prstGeom prst="blockArc">
                <a:avLst>
                  <a:gd name="adj1" fmla="val 18000000"/>
                  <a:gd name="adj2" fmla="val 19800000"/>
                  <a:gd name="adj3" fmla="val 2310"/>
                </a:avLst>
              </a:prstGeom>
            </p:spPr>
            <p:style>
              <a:lnRef idx="0">
                <a:schemeClr val="lt1">
                  <a:hueOff val="0"/>
                  <a:satOff val="0"/>
                  <a:lumOff val="0"/>
                  <a:alphaOff val="0"/>
                </a:schemeClr>
              </a:lnRef>
              <a:fillRef idx="1">
                <a:schemeClr val="accent3">
                  <a:hueOff val="0"/>
                  <a:satOff val="0"/>
                  <a:lumOff val="0"/>
                  <a:alphaOff val="0"/>
                </a:schemeClr>
              </a:fillRef>
              <a:effectRef idx="0">
                <a:schemeClr val="accent3">
                  <a:hueOff val="0"/>
                  <a:satOff val="0"/>
                  <a:lumOff val="0"/>
                  <a:alphaOff val="0"/>
                </a:schemeClr>
              </a:effectRef>
              <a:fontRef idx="minor">
                <a:schemeClr val="lt1"/>
              </a:fontRef>
            </p:style>
          </p:sp>
          <p:sp>
            <p:nvSpPr>
              <p:cNvPr id="24" name="拱形 23">
                <a:extLst>
                  <a:ext uri="{FF2B5EF4-FFF2-40B4-BE49-F238E27FC236}">
                    <a16:creationId xmlns:a16="http://schemas.microsoft.com/office/drawing/2014/main" id="{6EE1A947-5587-4CA3-89A6-A2D6EB34F2F6}"/>
                  </a:ext>
                </a:extLst>
              </p:cNvPr>
              <p:cNvSpPr/>
              <p:nvPr/>
            </p:nvSpPr>
            <p:spPr>
              <a:xfrm>
                <a:off x="3429318" y="870330"/>
                <a:ext cx="5261354" cy="5261354"/>
              </a:xfrm>
              <a:prstGeom prst="blockArc">
                <a:avLst>
                  <a:gd name="adj1" fmla="val 16200000"/>
                  <a:gd name="adj2" fmla="val 18000000"/>
                  <a:gd name="adj3" fmla="val 2310"/>
                </a:avLst>
              </a:prstGeom>
            </p:spPr>
            <p:style>
              <a:lnRef idx="0">
                <a:schemeClr val="lt1">
                  <a:hueOff val="0"/>
                  <a:satOff val="0"/>
                  <a:lumOff val="0"/>
                  <a:alphaOff val="0"/>
                </a:schemeClr>
              </a:lnRef>
              <a:fillRef idx="1">
                <a:schemeClr val="accent2">
                  <a:hueOff val="0"/>
                  <a:satOff val="0"/>
                  <a:lumOff val="0"/>
                  <a:alphaOff val="0"/>
                </a:schemeClr>
              </a:fillRef>
              <a:effectRef idx="0">
                <a:schemeClr val="accent2">
                  <a:hueOff val="0"/>
                  <a:satOff val="0"/>
                  <a:lumOff val="0"/>
                  <a:alphaOff val="0"/>
                </a:schemeClr>
              </a:effectRef>
              <a:fontRef idx="minor">
                <a:schemeClr val="lt1"/>
              </a:fontRef>
            </p:style>
          </p:sp>
          <p:sp>
            <p:nvSpPr>
              <p:cNvPr id="25" name="手繪多邊形 25">
                <a:extLst>
                  <a:ext uri="{FF2B5EF4-FFF2-40B4-BE49-F238E27FC236}">
                    <a16:creationId xmlns:a16="http://schemas.microsoft.com/office/drawing/2014/main" id="{EA4DA3EC-A55A-4A4B-BB1C-561ABC5A55C2}"/>
                  </a:ext>
                </a:extLst>
              </p:cNvPr>
              <p:cNvSpPr/>
              <p:nvPr/>
            </p:nvSpPr>
            <p:spPr>
              <a:xfrm>
                <a:off x="3935759" y="2055313"/>
                <a:ext cx="4257369" cy="1190970"/>
              </a:xfrm>
              <a:custGeom>
                <a:avLst/>
                <a:gdLst>
                  <a:gd name="connsiteX0" fmla="*/ 0 w 4764672"/>
                  <a:gd name="connsiteY0" fmla="*/ 1080122 h 2160244"/>
                  <a:gd name="connsiteX1" fmla="*/ 2382336 w 4764672"/>
                  <a:gd name="connsiteY1" fmla="*/ 0 h 2160244"/>
                  <a:gd name="connsiteX2" fmla="*/ 4764672 w 4764672"/>
                  <a:gd name="connsiteY2" fmla="*/ 1080122 h 2160244"/>
                  <a:gd name="connsiteX3" fmla="*/ 2382336 w 4764672"/>
                  <a:gd name="connsiteY3" fmla="*/ 2160244 h 2160244"/>
                  <a:gd name="connsiteX4" fmla="*/ 0 w 4764672"/>
                  <a:gd name="connsiteY4" fmla="*/ 1080122 h 216024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764672" h="2160244">
                    <a:moveTo>
                      <a:pt x="0" y="1080122"/>
                    </a:moveTo>
                    <a:cubicBezTo>
                      <a:pt x="0" y="483587"/>
                      <a:pt x="1066608" y="0"/>
                      <a:pt x="2382336" y="0"/>
                    </a:cubicBezTo>
                    <a:cubicBezTo>
                      <a:pt x="3698064" y="0"/>
                      <a:pt x="4764672" y="483587"/>
                      <a:pt x="4764672" y="1080122"/>
                    </a:cubicBezTo>
                    <a:cubicBezTo>
                      <a:pt x="4764672" y="1676657"/>
                      <a:pt x="3698064" y="2160244"/>
                      <a:pt x="2382336" y="2160244"/>
                    </a:cubicBezTo>
                    <a:cubicBezTo>
                      <a:pt x="1066608" y="2160244"/>
                      <a:pt x="0" y="1676657"/>
                      <a:pt x="0" y="1080122"/>
                    </a:cubicBezTo>
                    <a:close/>
                  </a:path>
                </a:pathLst>
              </a:custGeom>
              <a:noFill/>
              <a:ln>
                <a:noFill/>
              </a:ln>
            </p:spPr>
            <p:style>
              <a:lnRef idx="2">
                <a:scrgbClr r="0" g="0" b="0"/>
              </a:lnRef>
              <a:fillRef idx="1">
                <a:scrgbClr r="0" g="0" b="0"/>
              </a:fillRef>
              <a:effectRef idx="0">
                <a:schemeClr val="accent1">
                  <a:hueOff val="0"/>
                  <a:satOff val="0"/>
                  <a:lumOff val="0"/>
                  <a:alphaOff val="0"/>
                </a:schemeClr>
              </a:effectRef>
              <a:fontRef idx="minor">
                <a:schemeClr val="lt1"/>
              </a:fontRef>
            </p:style>
            <p:txBody>
              <a:bodyPr spcFirstLastPara="0" vert="horz" wrap="square" lIns="738410" tIns="357000" rIns="738410" bIns="357000" numCol="1" spcCol="1270" anchor="ctr" anchorCtr="0">
                <a:noAutofit/>
              </a:bodyPr>
              <a:lstStyle/>
              <a:p>
                <a:pPr lvl="0" algn="ctr" defTabSz="1422400">
                  <a:lnSpc>
                    <a:spcPct val="100000"/>
                  </a:lnSpc>
                  <a:spcBef>
                    <a:spcPct val="0"/>
                  </a:spcBef>
                  <a:spcAft>
                    <a:spcPct val="35000"/>
                  </a:spcAft>
                </a:pPr>
                <a:endParaRPr lang="zh-TW" altLang="en-US" sz="2000" b="1" kern="1200" dirty="0">
                  <a:solidFill>
                    <a:schemeClr val="bg1"/>
                  </a:solidFill>
                  <a:latin typeface="微軟正黑體" panose="020B0604030504040204" pitchFamily="34" charset="-120"/>
                  <a:ea typeface="微軟正黑體" panose="020B0604030504040204" pitchFamily="34" charset="-120"/>
                </a:endParaRPr>
              </a:p>
            </p:txBody>
          </p:sp>
          <p:sp>
            <p:nvSpPr>
              <p:cNvPr id="26" name="手繪多邊形 26">
                <a:extLst>
                  <a:ext uri="{FF2B5EF4-FFF2-40B4-BE49-F238E27FC236}">
                    <a16:creationId xmlns:a16="http://schemas.microsoft.com/office/drawing/2014/main" id="{BBB198C2-349F-490E-9752-81263DA62111}"/>
                  </a:ext>
                </a:extLst>
              </p:cNvPr>
              <p:cNvSpPr/>
              <p:nvPr/>
            </p:nvSpPr>
            <p:spPr>
              <a:xfrm>
                <a:off x="5456897" y="297615"/>
                <a:ext cx="1206197" cy="1206197"/>
              </a:xfrm>
              <a:custGeom>
                <a:avLst/>
                <a:gdLst>
                  <a:gd name="connsiteX0" fmla="*/ 0 w 1206197"/>
                  <a:gd name="connsiteY0" fmla="*/ 603099 h 1206197"/>
                  <a:gd name="connsiteX1" fmla="*/ 603099 w 1206197"/>
                  <a:gd name="connsiteY1" fmla="*/ 0 h 1206197"/>
                  <a:gd name="connsiteX2" fmla="*/ 1206198 w 1206197"/>
                  <a:gd name="connsiteY2" fmla="*/ 603099 h 1206197"/>
                  <a:gd name="connsiteX3" fmla="*/ 603099 w 1206197"/>
                  <a:gd name="connsiteY3" fmla="*/ 1206198 h 1206197"/>
                  <a:gd name="connsiteX4" fmla="*/ 0 w 1206197"/>
                  <a:gd name="connsiteY4" fmla="*/ 603099 h 12061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06197" h="1206197">
                    <a:moveTo>
                      <a:pt x="0" y="603099"/>
                    </a:moveTo>
                    <a:cubicBezTo>
                      <a:pt x="0" y="270017"/>
                      <a:pt x="270017" y="0"/>
                      <a:pt x="603099" y="0"/>
                    </a:cubicBezTo>
                    <a:cubicBezTo>
                      <a:pt x="936181" y="0"/>
                      <a:pt x="1206198" y="270017"/>
                      <a:pt x="1206198" y="603099"/>
                    </a:cubicBezTo>
                    <a:cubicBezTo>
                      <a:pt x="1206198" y="936181"/>
                      <a:pt x="936181" y="1206198"/>
                      <a:pt x="603099" y="1206198"/>
                    </a:cubicBezTo>
                    <a:cubicBezTo>
                      <a:pt x="270017" y="1206198"/>
                      <a:pt x="0" y="936181"/>
                      <a:pt x="0" y="603099"/>
                    </a:cubicBezTo>
                    <a:close/>
                  </a:path>
                </a:pathLst>
              </a:custGeom>
              <a:solidFill>
                <a:schemeClr val="accent1"/>
              </a:solidFill>
            </p:spPr>
            <p:style>
              <a:lnRef idx="2">
                <a:schemeClr val="lt1">
                  <a:hueOff val="0"/>
                  <a:satOff val="0"/>
                  <a:lumOff val="0"/>
                  <a:alphaOff val="0"/>
                </a:schemeClr>
              </a:lnRef>
              <a:fillRef idx="1">
                <a:scrgbClr r="0" g="0" b="0"/>
              </a:fillRef>
              <a:effectRef idx="0">
                <a:schemeClr val="accent2">
                  <a:hueOff val="0"/>
                  <a:satOff val="0"/>
                  <a:lumOff val="0"/>
                  <a:alphaOff val="0"/>
                </a:schemeClr>
              </a:effectRef>
              <a:fontRef idx="minor">
                <a:schemeClr val="lt1"/>
              </a:fontRef>
            </p:style>
            <p:txBody>
              <a:bodyPr spcFirstLastPara="0" vert="horz" wrap="square" lIns="202043" tIns="202043" rIns="202043" bIns="202043" numCol="1" spcCol="1270" anchor="ctr" anchorCtr="0">
                <a:noAutofit/>
              </a:bodyPr>
              <a:lstStyle/>
              <a:p>
                <a:pPr lvl="0" algn="ctr" defTabSz="889000">
                  <a:lnSpc>
                    <a:spcPct val="90000"/>
                  </a:lnSpc>
                  <a:spcBef>
                    <a:spcPct val="0"/>
                  </a:spcBef>
                  <a:spcAft>
                    <a:spcPct val="35000"/>
                  </a:spcAft>
                </a:pPr>
                <a:r>
                  <a:rPr lang="zh-TW" altLang="en-US" sz="1400" b="1" kern="1200" dirty="0">
                    <a:latin typeface="微軟正黑體" panose="020B0604030504040204" pitchFamily="34" charset="-120"/>
                    <a:ea typeface="微軟正黑體" panose="020B0604030504040204" pitchFamily="34" charset="-120"/>
                  </a:rPr>
                  <a:t>反詐騙掌控權</a:t>
                </a:r>
              </a:p>
            </p:txBody>
          </p:sp>
          <p:sp>
            <p:nvSpPr>
              <p:cNvPr id="27" name="手繪多邊形 27">
                <a:extLst>
                  <a:ext uri="{FF2B5EF4-FFF2-40B4-BE49-F238E27FC236}">
                    <a16:creationId xmlns:a16="http://schemas.microsoft.com/office/drawing/2014/main" id="{07DA546A-1994-48F8-8989-02FF71FE1DDB}"/>
                  </a:ext>
                </a:extLst>
              </p:cNvPr>
              <p:cNvSpPr/>
              <p:nvPr/>
            </p:nvSpPr>
            <p:spPr>
              <a:xfrm>
                <a:off x="6757044" y="645987"/>
                <a:ext cx="1206197" cy="1206197"/>
              </a:xfrm>
              <a:custGeom>
                <a:avLst/>
                <a:gdLst>
                  <a:gd name="connsiteX0" fmla="*/ 0 w 1206197"/>
                  <a:gd name="connsiteY0" fmla="*/ 603099 h 1206197"/>
                  <a:gd name="connsiteX1" fmla="*/ 603099 w 1206197"/>
                  <a:gd name="connsiteY1" fmla="*/ 0 h 1206197"/>
                  <a:gd name="connsiteX2" fmla="*/ 1206198 w 1206197"/>
                  <a:gd name="connsiteY2" fmla="*/ 603099 h 1206197"/>
                  <a:gd name="connsiteX3" fmla="*/ 603099 w 1206197"/>
                  <a:gd name="connsiteY3" fmla="*/ 1206198 h 1206197"/>
                  <a:gd name="connsiteX4" fmla="*/ 0 w 1206197"/>
                  <a:gd name="connsiteY4" fmla="*/ 603099 h 12061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06197" h="1206197">
                    <a:moveTo>
                      <a:pt x="0" y="603099"/>
                    </a:moveTo>
                    <a:cubicBezTo>
                      <a:pt x="0" y="270017"/>
                      <a:pt x="270017" y="0"/>
                      <a:pt x="603099" y="0"/>
                    </a:cubicBezTo>
                    <a:cubicBezTo>
                      <a:pt x="936181" y="0"/>
                      <a:pt x="1206198" y="270017"/>
                      <a:pt x="1206198" y="603099"/>
                    </a:cubicBezTo>
                    <a:cubicBezTo>
                      <a:pt x="1206198" y="936181"/>
                      <a:pt x="936181" y="1206198"/>
                      <a:pt x="603099" y="1206198"/>
                    </a:cubicBezTo>
                    <a:cubicBezTo>
                      <a:pt x="270017" y="1206198"/>
                      <a:pt x="0" y="936181"/>
                      <a:pt x="0" y="603099"/>
                    </a:cubicBezTo>
                    <a:close/>
                  </a:path>
                </a:pathLst>
              </a:custGeom>
              <a:solidFill>
                <a:schemeClr val="accent2">
                  <a:lumMod val="40000"/>
                  <a:lumOff val="60000"/>
                </a:schemeClr>
              </a:solidFill>
            </p:spPr>
            <p:style>
              <a:lnRef idx="2">
                <a:schemeClr val="lt1">
                  <a:hueOff val="0"/>
                  <a:satOff val="0"/>
                  <a:lumOff val="0"/>
                  <a:alphaOff val="0"/>
                </a:schemeClr>
              </a:lnRef>
              <a:fillRef idx="1">
                <a:scrgbClr r="0" g="0" b="0"/>
              </a:fillRef>
              <a:effectRef idx="0">
                <a:schemeClr val="accent3">
                  <a:hueOff val="0"/>
                  <a:satOff val="0"/>
                  <a:lumOff val="0"/>
                  <a:alphaOff val="0"/>
                </a:schemeClr>
              </a:effectRef>
              <a:fontRef idx="minor">
                <a:schemeClr val="lt1"/>
              </a:fontRef>
            </p:style>
            <p:txBody>
              <a:bodyPr spcFirstLastPara="0" vert="horz" wrap="square" lIns="202043" tIns="202043" rIns="202043" bIns="202043" numCol="1" spcCol="1270" anchor="ctr" anchorCtr="0">
                <a:noAutofit/>
              </a:bodyPr>
              <a:lstStyle/>
              <a:p>
                <a:pPr lvl="0" algn="ctr" defTabSz="889000">
                  <a:lnSpc>
                    <a:spcPct val="90000"/>
                  </a:lnSpc>
                  <a:spcBef>
                    <a:spcPct val="0"/>
                  </a:spcBef>
                  <a:spcAft>
                    <a:spcPct val="35000"/>
                  </a:spcAft>
                </a:pPr>
                <a:endParaRPr lang="zh-TW" altLang="en-US" sz="1400" b="1" kern="1200">
                  <a:latin typeface="微軟正黑體" panose="020B0604030504040204" pitchFamily="34" charset="-120"/>
                  <a:ea typeface="微軟正黑體" panose="020B0604030504040204" pitchFamily="34" charset="-120"/>
                </a:endParaRPr>
              </a:p>
            </p:txBody>
          </p:sp>
          <p:sp>
            <p:nvSpPr>
              <p:cNvPr id="28" name="手繪多邊形 28">
                <a:extLst>
                  <a:ext uri="{FF2B5EF4-FFF2-40B4-BE49-F238E27FC236}">
                    <a16:creationId xmlns:a16="http://schemas.microsoft.com/office/drawing/2014/main" id="{FDA498D6-938B-48B7-98D0-FE5B729F6677}"/>
                  </a:ext>
                </a:extLst>
              </p:cNvPr>
              <p:cNvSpPr/>
              <p:nvPr/>
            </p:nvSpPr>
            <p:spPr>
              <a:xfrm>
                <a:off x="7708818" y="1597761"/>
                <a:ext cx="1206197" cy="1206197"/>
              </a:xfrm>
              <a:custGeom>
                <a:avLst/>
                <a:gdLst>
                  <a:gd name="connsiteX0" fmla="*/ 0 w 1206197"/>
                  <a:gd name="connsiteY0" fmla="*/ 603099 h 1206197"/>
                  <a:gd name="connsiteX1" fmla="*/ 603099 w 1206197"/>
                  <a:gd name="connsiteY1" fmla="*/ 0 h 1206197"/>
                  <a:gd name="connsiteX2" fmla="*/ 1206198 w 1206197"/>
                  <a:gd name="connsiteY2" fmla="*/ 603099 h 1206197"/>
                  <a:gd name="connsiteX3" fmla="*/ 603099 w 1206197"/>
                  <a:gd name="connsiteY3" fmla="*/ 1206198 h 1206197"/>
                  <a:gd name="connsiteX4" fmla="*/ 0 w 1206197"/>
                  <a:gd name="connsiteY4" fmla="*/ 603099 h 12061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06197" h="1206197">
                    <a:moveTo>
                      <a:pt x="0" y="603099"/>
                    </a:moveTo>
                    <a:cubicBezTo>
                      <a:pt x="0" y="270017"/>
                      <a:pt x="270017" y="0"/>
                      <a:pt x="603099" y="0"/>
                    </a:cubicBezTo>
                    <a:cubicBezTo>
                      <a:pt x="936181" y="0"/>
                      <a:pt x="1206198" y="270017"/>
                      <a:pt x="1206198" y="603099"/>
                    </a:cubicBezTo>
                    <a:cubicBezTo>
                      <a:pt x="1206198" y="936181"/>
                      <a:pt x="936181" y="1206198"/>
                      <a:pt x="603099" y="1206198"/>
                    </a:cubicBezTo>
                    <a:cubicBezTo>
                      <a:pt x="270017" y="1206198"/>
                      <a:pt x="0" y="936181"/>
                      <a:pt x="0" y="603099"/>
                    </a:cubicBezTo>
                    <a:close/>
                  </a:path>
                </a:pathLst>
              </a:custGeom>
              <a:solidFill>
                <a:srgbClr val="DEFDA5"/>
              </a:solidFill>
            </p:spPr>
            <p:style>
              <a:lnRef idx="2">
                <a:schemeClr val="lt1">
                  <a:hueOff val="0"/>
                  <a:satOff val="0"/>
                  <a:lumOff val="0"/>
                  <a:alphaOff val="0"/>
                </a:schemeClr>
              </a:lnRef>
              <a:fillRef idx="1">
                <a:scrgbClr r="0" g="0" b="0"/>
              </a:fillRef>
              <a:effectRef idx="0">
                <a:schemeClr val="accent4">
                  <a:hueOff val="0"/>
                  <a:satOff val="0"/>
                  <a:lumOff val="0"/>
                  <a:alphaOff val="0"/>
                </a:schemeClr>
              </a:effectRef>
              <a:fontRef idx="minor">
                <a:schemeClr val="lt1"/>
              </a:fontRef>
            </p:style>
            <p:txBody>
              <a:bodyPr spcFirstLastPara="0" vert="horz" wrap="square" lIns="202043" tIns="202043" rIns="202043" bIns="202043" numCol="1" spcCol="1270" anchor="ctr" anchorCtr="0">
                <a:noAutofit/>
              </a:bodyPr>
              <a:lstStyle/>
              <a:p>
                <a:pPr lvl="0" algn="ctr" defTabSz="889000">
                  <a:lnSpc>
                    <a:spcPct val="90000"/>
                  </a:lnSpc>
                  <a:spcBef>
                    <a:spcPct val="0"/>
                  </a:spcBef>
                  <a:spcAft>
                    <a:spcPct val="35000"/>
                  </a:spcAft>
                </a:pPr>
                <a:endParaRPr lang="zh-TW" altLang="en-US" sz="1400" b="1" kern="1200">
                  <a:solidFill>
                    <a:sysClr val="windowText" lastClr="000000"/>
                  </a:solidFill>
                  <a:latin typeface="微軟正黑體" panose="020B0604030504040204" pitchFamily="34" charset="-120"/>
                  <a:ea typeface="微軟正黑體" panose="020B0604030504040204" pitchFamily="34" charset="-120"/>
                </a:endParaRPr>
              </a:p>
            </p:txBody>
          </p:sp>
          <p:sp>
            <p:nvSpPr>
              <p:cNvPr id="29" name="手繪多邊形 29">
                <a:extLst>
                  <a:ext uri="{FF2B5EF4-FFF2-40B4-BE49-F238E27FC236}">
                    <a16:creationId xmlns:a16="http://schemas.microsoft.com/office/drawing/2014/main" id="{CBA4AE64-630E-4DD3-8720-E6FE6D365791}"/>
                  </a:ext>
                </a:extLst>
              </p:cNvPr>
              <p:cNvSpPr/>
              <p:nvPr/>
            </p:nvSpPr>
            <p:spPr>
              <a:xfrm>
                <a:off x="8057192" y="2897909"/>
                <a:ext cx="1206197" cy="1206197"/>
              </a:xfrm>
              <a:custGeom>
                <a:avLst/>
                <a:gdLst>
                  <a:gd name="connsiteX0" fmla="*/ 0 w 1206197"/>
                  <a:gd name="connsiteY0" fmla="*/ 603099 h 1206197"/>
                  <a:gd name="connsiteX1" fmla="*/ 603099 w 1206197"/>
                  <a:gd name="connsiteY1" fmla="*/ 0 h 1206197"/>
                  <a:gd name="connsiteX2" fmla="*/ 1206198 w 1206197"/>
                  <a:gd name="connsiteY2" fmla="*/ 603099 h 1206197"/>
                  <a:gd name="connsiteX3" fmla="*/ 603099 w 1206197"/>
                  <a:gd name="connsiteY3" fmla="*/ 1206198 h 1206197"/>
                  <a:gd name="connsiteX4" fmla="*/ 0 w 1206197"/>
                  <a:gd name="connsiteY4" fmla="*/ 603099 h 12061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06197" h="1206197">
                    <a:moveTo>
                      <a:pt x="0" y="603099"/>
                    </a:moveTo>
                    <a:cubicBezTo>
                      <a:pt x="0" y="270017"/>
                      <a:pt x="270017" y="0"/>
                      <a:pt x="603099" y="0"/>
                    </a:cubicBezTo>
                    <a:cubicBezTo>
                      <a:pt x="936181" y="0"/>
                      <a:pt x="1206198" y="270017"/>
                      <a:pt x="1206198" y="603099"/>
                    </a:cubicBezTo>
                    <a:cubicBezTo>
                      <a:pt x="1206198" y="936181"/>
                      <a:pt x="936181" y="1206198"/>
                      <a:pt x="603099" y="1206198"/>
                    </a:cubicBezTo>
                    <a:cubicBezTo>
                      <a:pt x="270017" y="1206198"/>
                      <a:pt x="0" y="936181"/>
                      <a:pt x="0" y="603099"/>
                    </a:cubicBezTo>
                    <a:close/>
                  </a:path>
                </a:pathLst>
              </a:custGeom>
              <a:solidFill>
                <a:schemeClr val="accent1">
                  <a:lumMod val="20000"/>
                  <a:lumOff val="80000"/>
                </a:schemeClr>
              </a:solidFill>
            </p:spPr>
            <p:style>
              <a:lnRef idx="2">
                <a:schemeClr val="lt1">
                  <a:hueOff val="0"/>
                  <a:satOff val="0"/>
                  <a:lumOff val="0"/>
                  <a:alphaOff val="0"/>
                </a:schemeClr>
              </a:lnRef>
              <a:fillRef idx="1">
                <a:scrgbClr r="0" g="0" b="0"/>
              </a:fillRef>
              <a:effectRef idx="0">
                <a:schemeClr val="accent5">
                  <a:hueOff val="0"/>
                  <a:satOff val="0"/>
                  <a:lumOff val="0"/>
                  <a:alphaOff val="0"/>
                </a:schemeClr>
              </a:effectRef>
              <a:fontRef idx="minor">
                <a:schemeClr val="lt1"/>
              </a:fontRef>
            </p:style>
            <p:txBody>
              <a:bodyPr spcFirstLastPara="0" vert="horz" wrap="square" lIns="202043" tIns="202043" rIns="202043" bIns="202043" numCol="1" spcCol="1270" anchor="ctr" anchorCtr="0">
                <a:noAutofit/>
              </a:bodyPr>
              <a:lstStyle/>
              <a:p>
                <a:pPr lvl="0" algn="ctr" defTabSz="889000">
                  <a:lnSpc>
                    <a:spcPct val="90000"/>
                  </a:lnSpc>
                  <a:spcBef>
                    <a:spcPct val="0"/>
                  </a:spcBef>
                  <a:spcAft>
                    <a:spcPct val="35000"/>
                  </a:spcAft>
                </a:pPr>
                <a:endParaRPr lang="zh-TW" altLang="en-US" sz="1400" b="1" kern="1200">
                  <a:latin typeface="微軟正黑體" panose="020B0604030504040204" pitchFamily="34" charset="-120"/>
                  <a:ea typeface="微軟正黑體" panose="020B0604030504040204" pitchFamily="34" charset="-120"/>
                </a:endParaRPr>
              </a:p>
            </p:txBody>
          </p:sp>
          <p:sp>
            <p:nvSpPr>
              <p:cNvPr id="30" name="手繪多邊形 30">
                <a:extLst>
                  <a:ext uri="{FF2B5EF4-FFF2-40B4-BE49-F238E27FC236}">
                    <a16:creationId xmlns:a16="http://schemas.microsoft.com/office/drawing/2014/main" id="{1E0ABAF1-8271-4DF6-A7BB-FEAEA1830D4B}"/>
                  </a:ext>
                </a:extLst>
              </p:cNvPr>
              <p:cNvSpPr/>
              <p:nvPr/>
            </p:nvSpPr>
            <p:spPr>
              <a:xfrm>
                <a:off x="7708818" y="4198056"/>
                <a:ext cx="1206197" cy="1206197"/>
              </a:xfrm>
              <a:custGeom>
                <a:avLst/>
                <a:gdLst>
                  <a:gd name="connsiteX0" fmla="*/ 0 w 1206197"/>
                  <a:gd name="connsiteY0" fmla="*/ 603099 h 1206197"/>
                  <a:gd name="connsiteX1" fmla="*/ 603099 w 1206197"/>
                  <a:gd name="connsiteY1" fmla="*/ 0 h 1206197"/>
                  <a:gd name="connsiteX2" fmla="*/ 1206198 w 1206197"/>
                  <a:gd name="connsiteY2" fmla="*/ 603099 h 1206197"/>
                  <a:gd name="connsiteX3" fmla="*/ 603099 w 1206197"/>
                  <a:gd name="connsiteY3" fmla="*/ 1206198 h 1206197"/>
                  <a:gd name="connsiteX4" fmla="*/ 0 w 1206197"/>
                  <a:gd name="connsiteY4" fmla="*/ 603099 h 12061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06197" h="1206197">
                    <a:moveTo>
                      <a:pt x="0" y="603099"/>
                    </a:moveTo>
                    <a:cubicBezTo>
                      <a:pt x="0" y="270017"/>
                      <a:pt x="270017" y="0"/>
                      <a:pt x="603099" y="0"/>
                    </a:cubicBezTo>
                    <a:cubicBezTo>
                      <a:pt x="936181" y="0"/>
                      <a:pt x="1206198" y="270017"/>
                      <a:pt x="1206198" y="603099"/>
                    </a:cubicBezTo>
                    <a:cubicBezTo>
                      <a:pt x="1206198" y="936181"/>
                      <a:pt x="936181" y="1206198"/>
                      <a:pt x="603099" y="1206198"/>
                    </a:cubicBezTo>
                    <a:cubicBezTo>
                      <a:pt x="270017" y="1206198"/>
                      <a:pt x="0" y="936181"/>
                      <a:pt x="0" y="603099"/>
                    </a:cubicBezTo>
                    <a:close/>
                  </a:path>
                </a:pathLst>
              </a:custGeom>
              <a:solidFill>
                <a:srgbClr val="AAEAD5"/>
              </a:solidFill>
            </p:spPr>
            <p:style>
              <a:lnRef idx="2">
                <a:schemeClr val="lt1">
                  <a:hueOff val="0"/>
                  <a:satOff val="0"/>
                  <a:lumOff val="0"/>
                  <a:alphaOff val="0"/>
                </a:schemeClr>
              </a:lnRef>
              <a:fillRef idx="1">
                <a:scrgbClr r="0" g="0" b="0"/>
              </a:fillRef>
              <a:effectRef idx="0">
                <a:schemeClr val="accent6">
                  <a:hueOff val="0"/>
                  <a:satOff val="0"/>
                  <a:lumOff val="0"/>
                  <a:alphaOff val="0"/>
                </a:schemeClr>
              </a:effectRef>
              <a:fontRef idx="minor">
                <a:schemeClr val="lt1"/>
              </a:fontRef>
            </p:style>
            <p:txBody>
              <a:bodyPr spcFirstLastPara="0" vert="horz" wrap="square" lIns="202043" tIns="202043" rIns="202043" bIns="202043" numCol="1" spcCol="1270" anchor="ctr" anchorCtr="0">
                <a:noAutofit/>
              </a:bodyPr>
              <a:lstStyle/>
              <a:p>
                <a:pPr lvl="0" algn="ctr" defTabSz="889000">
                  <a:lnSpc>
                    <a:spcPct val="90000"/>
                  </a:lnSpc>
                  <a:spcBef>
                    <a:spcPct val="0"/>
                  </a:spcBef>
                  <a:spcAft>
                    <a:spcPct val="35000"/>
                  </a:spcAft>
                </a:pPr>
                <a:endParaRPr lang="zh-TW" altLang="en-US" sz="1400" b="1" kern="1200">
                  <a:latin typeface="微軟正黑體" panose="020B0604030504040204" pitchFamily="34" charset="-120"/>
                  <a:ea typeface="微軟正黑體" panose="020B0604030504040204" pitchFamily="34" charset="-120"/>
                </a:endParaRPr>
              </a:p>
            </p:txBody>
          </p:sp>
          <p:sp>
            <p:nvSpPr>
              <p:cNvPr id="31" name="手繪多邊形 31">
                <a:extLst>
                  <a:ext uri="{FF2B5EF4-FFF2-40B4-BE49-F238E27FC236}">
                    <a16:creationId xmlns:a16="http://schemas.microsoft.com/office/drawing/2014/main" id="{A592BC56-0310-4438-AD23-32A68C4A05BE}"/>
                  </a:ext>
                </a:extLst>
              </p:cNvPr>
              <p:cNvSpPr/>
              <p:nvPr/>
            </p:nvSpPr>
            <p:spPr>
              <a:xfrm>
                <a:off x="6757044" y="5149830"/>
                <a:ext cx="1206197" cy="1206197"/>
              </a:xfrm>
              <a:custGeom>
                <a:avLst/>
                <a:gdLst>
                  <a:gd name="connsiteX0" fmla="*/ 0 w 1206197"/>
                  <a:gd name="connsiteY0" fmla="*/ 603099 h 1206197"/>
                  <a:gd name="connsiteX1" fmla="*/ 603099 w 1206197"/>
                  <a:gd name="connsiteY1" fmla="*/ 0 h 1206197"/>
                  <a:gd name="connsiteX2" fmla="*/ 1206198 w 1206197"/>
                  <a:gd name="connsiteY2" fmla="*/ 603099 h 1206197"/>
                  <a:gd name="connsiteX3" fmla="*/ 603099 w 1206197"/>
                  <a:gd name="connsiteY3" fmla="*/ 1206198 h 1206197"/>
                  <a:gd name="connsiteX4" fmla="*/ 0 w 1206197"/>
                  <a:gd name="connsiteY4" fmla="*/ 603099 h 12061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06197" h="1206197">
                    <a:moveTo>
                      <a:pt x="0" y="603099"/>
                    </a:moveTo>
                    <a:cubicBezTo>
                      <a:pt x="0" y="270017"/>
                      <a:pt x="270017" y="0"/>
                      <a:pt x="603099" y="0"/>
                    </a:cubicBezTo>
                    <a:cubicBezTo>
                      <a:pt x="936181" y="0"/>
                      <a:pt x="1206198" y="270017"/>
                      <a:pt x="1206198" y="603099"/>
                    </a:cubicBezTo>
                    <a:cubicBezTo>
                      <a:pt x="1206198" y="936181"/>
                      <a:pt x="936181" y="1206198"/>
                      <a:pt x="603099" y="1206198"/>
                    </a:cubicBezTo>
                    <a:cubicBezTo>
                      <a:pt x="270017" y="1206198"/>
                      <a:pt x="0" y="936181"/>
                      <a:pt x="0" y="603099"/>
                    </a:cubicBezTo>
                    <a:close/>
                  </a:path>
                </a:pathLst>
              </a:custGeom>
              <a:solidFill>
                <a:srgbClr val="AFFDF9"/>
              </a:solidFill>
            </p:spPr>
            <p:style>
              <a:lnRef idx="2">
                <a:schemeClr val="lt1">
                  <a:hueOff val="0"/>
                  <a:satOff val="0"/>
                  <a:lumOff val="0"/>
                  <a:alphaOff val="0"/>
                </a:schemeClr>
              </a:lnRef>
              <a:fillRef idx="1">
                <a:scrgbClr r="0" g="0" b="0"/>
              </a:fillRef>
              <a:effectRef idx="0">
                <a:schemeClr val="accent2">
                  <a:hueOff val="0"/>
                  <a:satOff val="0"/>
                  <a:lumOff val="0"/>
                  <a:alphaOff val="0"/>
                </a:schemeClr>
              </a:effectRef>
              <a:fontRef idx="minor">
                <a:schemeClr val="lt1"/>
              </a:fontRef>
            </p:style>
            <p:txBody>
              <a:bodyPr spcFirstLastPara="0" vert="horz" wrap="square" lIns="202043" tIns="202043" rIns="202043" bIns="202043" numCol="1" spcCol="1270" anchor="ctr" anchorCtr="0">
                <a:noAutofit/>
              </a:bodyPr>
              <a:lstStyle/>
              <a:p>
                <a:pPr lvl="0" algn="ctr" defTabSz="889000">
                  <a:lnSpc>
                    <a:spcPct val="90000"/>
                  </a:lnSpc>
                  <a:spcBef>
                    <a:spcPct val="0"/>
                  </a:spcBef>
                  <a:spcAft>
                    <a:spcPct val="35000"/>
                  </a:spcAft>
                </a:pPr>
                <a:endParaRPr lang="zh-TW" altLang="en-US" sz="1400" b="1" kern="1200">
                  <a:latin typeface="微軟正黑體" panose="020B0604030504040204" pitchFamily="34" charset="-120"/>
                  <a:ea typeface="微軟正黑體" panose="020B0604030504040204" pitchFamily="34" charset="-120"/>
                </a:endParaRPr>
              </a:p>
            </p:txBody>
          </p:sp>
          <p:sp>
            <p:nvSpPr>
              <p:cNvPr id="32" name="手繪多邊形 32">
                <a:extLst>
                  <a:ext uri="{FF2B5EF4-FFF2-40B4-BE49-F238E27FC236}">
                    <a16:creationId xmlns:a16="http://schemas.microsoft.com/office/drawing/2014/main" id="{EFE389D9-BF18-4C65-9E63-372684EEDC01}"/>
                  </a:ext>
                </a:extLst>
              </p:cNvPr>
              <p:cNvSpPr/>
              <p:nvPr/>
            </p:nvSpPr>
            <p:spPr>
              <a:xfrm>
                <a:off x="5456897" y="5498204"/>
                <a:ext cx="1206197" cy="1206197"/>
              </a:xfrm>
              <a:custGeom>
                <a:avLst/>
                <a:gdLst>
                  <a:gd name="connsiteX0" fmla="*/ 0 w 1206197"/>
                  <a:gd name="connsiteY0" fmla="*/ 603099 h 1206197"/>
                  <a:gd name="connsiteX1" fmla="*/ 603099 w 1206197"/>
                  <a:gd name="connsiteY1" fmla="*/ 0 h 1206197"/>
                  <a:gd name="connsiteX2" fmla="*/ 1206198 w 1206197"/>
                  <a:gd name="connsiteY2" fmla="*/ 603099 h 1206197"/>
                  <a:gd name="connsiteX3" fmla="*/ 603099 w 1206197"/>
                  <a:gd name="connsiteY3" fmla="*/ 1206198 h 1206197"/>
                  <a:gd name="connsiteX4" fmla="*/ 0 w 1206197"/>
                  <a:gd name="connsiteY4" fmla="*/ 603099 h 12061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06197" h="1206197">
                    <a:moveTo>
                      <a:pt x="0" y="603099"/>
                    </a:moveTo>
                    <a:cubicBezTo>
                      <a:pt x="0" y="270017"/>
                      <a:pt x="270017" y="0"/>
                      <a:pt x="603099" y="0"/>
                    </a:cubicBezTo>
                    <a:cubicBezTo>
                      <a:pt x="936181" y="0"/>
                      <a:pt x="1206198" y="270017"/>
                      <a:pt x="1206198" y="603099"/>
                    </a:cubicBezTo>
                    <a:cubicBezTo>
                      <a:pt x="1206198" y="936181"/>
                      <a:pt x="936181" y="1206198"/>
                      <a:pt x="603099" y="1206198"/>
                    </a:cubicBezTo>
                    <a:cubicBezTo>
                      <a:pt x="270017" y="1206198"/>
                      <a:pt x="0" y="936181"/>
                      <a:pt x="0" y="603099"/>
                    </a:cubicBezTo>
                    <a:close/>
                  </a:path>
                </a:pathLst>
              </a:custGeom>
              <a:solidFill>
                <a:srgbClr val="DEFDA5"/>
              </a:solidFill>
            </p:spPr>
            <p:style>
              <a:lnRef idx="2">
                <a:schemeClr val="lt1">
                  <a:hueOff val="0"/>
                  <a:satOff val="0"/>
                  <a:lumOff val="0"/>
                  <a:alphaOff val="0"/>
                </a:schemeClr>
              </a:lnRef>
              <a:fillRef idx="1">
                <a:scrgbClr r="0" g="0" b="0"/>
              </a:fillRef>
              <a:effectRef idx="0">
                <a:schemeClr val="accent3">
                  <a:hueOff val="0"/>
                  <a:satOff val="0"/>
                  <a:lumOff val="0"/>
                  <a:alphaOff val="0"/>
                </a:schemeClr>
              </a:effectRef>
              <a:fontRef idx="minor">
                <a:schemeClr val="lt1"/>
              </a:fontRef>
            </p:style>
            <p:txBody>
              <a:bodyPr spcFirstLastPara="0" vert="horz" wrap="square" lIns="202043" tIns="202043" rIns="202043" bIns="202043" numCol="1" spcCol="1270" anchor="ctr" anchorCtr="0">
                <a:noAutofit/>
              </a:bodyPr>
              <a:lstStyle/>
              <a:p>
                <a:pPr lvl="0" algn="ctr" defTabSz="889000">
                  <a:lnSpc>
                    <a:spcPct val="90000"/>
                  </a:lnSpc>
                  <a:spcBef>
                    <a:spcPct val="0"/>
                  </a:spcBef>
                  <a:spcAft>
                    <a:spcPct val="35000"/>
                  </a:spcAft>
                </a:pPr>
                <a:endParaRPr lang="zh-TW" altLang="en-US" sz="1400" b="1" kern="1200">
                  <a:latin typeface="微軟正黑體" panose="020B0604030504040204" pitchFamily="34" charset="-120"/>
                  <a:ea typeface="微軟正黑體" panose="020B0604030504040204" pitchFamily="34" charset="-120"/>
                </a:endParaRPr>
              </a:p>
            </p:txBody>
          </p:sp>
          <p:sp>
            <p:nvSpPr>
              <p:cNvPr id="33" name="手繪多邊形 33">
                <a:extLst>
                  <a:ext uri="{FF2B5EF4-FFF2-40B4-BE49-F238E27FC236}">
                    <a16:creationId xmlns:a16="http://schemas.microsoft.com/office/drawing/2014/main" id="{12B4A2F3-FB83-4646-AD0B-135A48ACC868}"/>
                  </a:ext>
                </a:extLst>
              </p:cNvPr>
              <p:cNvSpPr/>
              <p:nvPr/>
            </p:nvSpPr>
            <p:spPr>
              <a:xfrm>
                <a:off x="4156749" y="5149830"/>
                <a:ext cx="1206197" cy="1206197"/>
              </a:xfrm>
              <a:custGeom>
                <a:avLst/>
                <a:gdLst>
                  <a:gd name="connsiteX0" fmla="*/ 0 w 1206197"/>
                  <a:gd name="connsiteY0" fmla="*/ 603099 h 1206197"/>
                  <a:gd name="connsiteX1" fmla="*/ 603099 w 1206197"/>
                  <a:gd name="connsiteY1" fmla="*/ 0 h 1206197"/>
                  <a:gd name="connsiteX2" fmla="*/ 1206198 w 1206197"/>
                  <a:gd name="connsiteY2" fmla="*/ 603099 h 1206197"/>
                  <a:gd name="connsiteX3" fmla="*/ 603099 w 1206197"/>
                  <a:gd name="connsiteY3" fmla="*/ 1206198 h 1206197"/>
                  <a:gd name="connsiteX4" fmla="*/ 0 w 1206197"/>
                  <a:gd name="connsiteY4" fmla="*/ 603099 h 12061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06197" h="1206197">
                    <a:moveTo>
                      <a:pt x="0" y="603099"/>
                    </a:moveTo>
                    <a:cubicBezTo>
                      <a:pt x="0" y="270017"/>
                      <a:pt x="270017" y="0"/>
                      <a:pt x="603099" y="0"/>
                    </a:cubicBezTo>
                    <a:cubicBezTo>
                      <a:pt x="936181" y="0"/>
                      <a:pt x="1206198" y="270017"/>
                      <a:pt x="1206198" y="603099"/>
                    </a:cubicBezTo>
                    <a:cubicBezTo>
                      <a:pt x="1206198" y="936181"/>
                      <a:pt x="936181" y="1206198"/>
                      <a:pt x="603099" y="1206198"/>
                    </a:cubicBezTo>
                    <a:cubicBezTo>
                      <a:pt x="270017" y="1206198"/>
                      <a:pt x="0" y="936181"/>
                      <a:pt x="0" y="603099"/>
                    </a:cubicBezTo>
                    <a:close/>
                  </a:path>
                </a:pathLst>
              </a:custGeom>
              <a:solidFill>
                <a:schemeClr val="accent2">
                  <a:lumMod val="40000"/>
                  <a:lumOff val="60000"/>
                </a:schemeClr>
              </a:solidFill>
            </p:spPr>
            <p:style>
              <a:lnRef idx="2">
                <a:schemeClr val="lt1">
                  <a:hueOff val="0"/>
                  <a:satOff val="0"/>
                  <a:lumOff val="0"/>
                  <a:alphaOff val="0"/>
                </a:schemeClr>
              </a:lnRef>
              <a:fillRef idx="1">
                <a:scrgbClr r="0" g="0" b="0"/>
              </a:fillRef>
              <a:effectRef idx="0">
                <a:schemeClr val="accent4">
                  <a:hueOff val="0"/>
                  <a:satOff val="0"/>
                  <a:lumOff val="0"/>
                  <a:alphaOff val="0"/>
                </a:schemeClr>
              </a:effectRef>
              <a:fontRef idx="minor">
                <a:schemeClr val="lt1"/>
              </a:fontRef>
            </p:style>
            <p:txBody>
              <a:bodyPr spcFirstLastPara="0" vert="horz" wrap="square" lIns="202043" tIns="202043" rIns="202043" bIns="202043" numCol="1" spcCol="1270" anchor="ctr" anchorCtr="0">
                <a:noAutofit/>
              </a:bodyPr>
              <a:lstStyle/>
              <a:p>
                <a:pPr lvl="0" algn="ctr" defTabSz="889000">
                  <a:lnSpc>
                    <a:spcPct val="90000"/>
                  </a:lnSpc>
                  <a:spcBef>
                    <a:spcPct val="0"/>
                  </a:spcBef>
                  <a:spcAft>
                    <a:spcPct val="35000"/>
                  </a:spcAft>
                </a:pPr>
                <a:r>
                  <a:rPr lang="zh-TW" altLang="en-US" sz="1400" b="1" kern="1200" dirty="0">
                    <a:solidFill>
                      <a:schemeClr val="tx1"/>
                    </a:solidFill>
                    <a:latin typeface="微軟正黑體" panose="020B0604030504040204" pitchFamily="34" charset="-120"/>
                    <a:ea typeface="微軟正黑體" panose="020B0604030504040204" pitchFamily="34" charset="-120"/>
                  </a:rPr>
                  <a:t>多重</a:t>
                </a:r>
                <a:endParaRPr lang="en-US" altLang="zh-TW" sz="1400" b="1" kern="1200" dirty="0">
                  <a:solidFill>
                    <a:schemeClr val="tx1"/>
                  </a:solidFill>
                  <a:latin typeface="微軟正黑體" panose="020B0604030504040204" pitchFamily="34" charset="-120"/>
                  <a:ea typeface="微軟正黑體" panose="020B0604030504040204" pitchFamily="34" charset="-120"/>
                </a:endParaRPr>
              </a:p>
              <a:p>
                <a:pPr lvl="0" algn="ctr" defTabSz="889000">
                  <a:lnSpc>
                    <a:spcPct val="90000"/>
                  </a:lnSpc>
                  <a:spcBef>
                    <a:spcPct val="0"/>
                  </a:spcBef>
                  <a:spcAft>
                    <a:spcPct val="35000"/>
                  </a:spcAft>
                </a:pPr>
                <a:r>
                  <a:rPr lang="zh-TW" altLang="en-US" sz="1400" b="1" kern="1200" dirty="0">
                    <a:solidFill>
                      <a:schemeClr val="tx1"/>
                    </a:solidFill>
                    <a:latin typeface="微軟正黑體" panose="020B0604030504040204" pitchFamily="34" charset="-120"/>
                    <a:ea typeface="微軟正黑體" panose="020B0604030504040204" pitchFamily="34" charset="-120"/>
                  </a:rPr>
                  <a:t>簽署</a:t>
                </a:r>
              </a:p>
            </p:txBody>
          </p:sp>
          <p:sp>
            <p:nvSpPr>
              <p:cNvPr id="34" name="手繪多邊形 34">
                <a:extLst>
                  <a:ext uri="{FF2B5EF4-FFF2-40B4-BE49-F238E27FC236}">
                    <a16:creationId xmlns:a16="http://schemas.microsoft.com/office/drawing/2014/main" id="{B8898069-3E8E-499B-A1BB-FA8239EACA72}"/>
                  </a:ext>
                </a:extLst>
              </p:cNvPr>
              <p:cNvSpPr/>
              <p:nvPr/>
            </p:nvSpPr>
            <p:spPr>
              <a:xfrm>
                <a:off x="3204975" y="4198056"/>
                <a:ext cx="1206197" cy="1206197"/>
              </a:xfrm>
              <a:custGeom>
                <a:avLst/>
                <a:gdLst>
                  <a:gd name="connsiteX0" fmla="*/ 0 w 1206197"/>
                  <a:gd name="connsiteY0" fmla="*/ 603099 h 1206197"/>
                  <a:gd name="connsiteX1" fmla="*/ 603099 w 1206197"/>
                  <a:gd name="connsiteY1" fmla="*/ 0 h 1206197"/>
                  <a:gd name="connsiteX2" fmla="*/ 1206198 w 1206197"/>
                  <a:gd name="connsiteY2" fmla="*/ 603099 h 1206197"/>
                  <a:gd name="connsiteX3" fmla="*/ 603099 w 1206197"/>
                  <a:gd name="connsiteY3" fmla="*/ 1206198 h 1206197"/>
                  <a:gd name="connsiteX4" fmla="*/ 0 w 1206197"/>
                  <a:gd name="connsiteY4" fmla="*/ 603099 h 12061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06197" h="1206197">
                    <a:moveTo>
                      <a:pt x="0" y="603099"/>
                    </a:moveTo>
                    <a:cubicBezTo>
                      <a:pt x="0" y="270017"/>
                      <a:pt x="270017" y="0"/>
                      <a:pt x="603099" y="0"/>
                    </a:cubicBezTo>
                    <a:cubicBezTo>
                      <a:pt x="936181" y="0"/>
                      <a:pt x="1206198" y="270017"/>
                      <a:pt x="1206198" y="603099"/>
                    </a:cubicBezTo>
                    <a:cubicBezTo>
                      <a:pt x="1206198" y="936181"/>
                      <a:pt x="936181" y="1206198"/>
                      <a:pt x="603099" y="1206198"/>
                    </a:cubicBezTo>
                    <a:cubicBezTo>
                      <a:pt x="270017" y="1206198"/>
                      <a:pt x="0" y="936181"/>
                      <a:pt x="0" y="603099"/>
                    </a:cubicBezTo>
                    <a:close/>
                  </a:path>
                </a:pathLst>
              </a:custGeom>
            </p:spPr>
            <p:style>
              <a:lnRef idx="2">
                <a:schemeClr val="lt1">
                  <a:hueOff val="0"/>
                  <a:satOff val="0"/>
                  <a:lumOff val="0"/>
                  <a:alphaOff val="0"/>
                </a:schemeClr>
              </a:lnRef>
              <a:fillRef idx="1">
                <a:schemeClr val="accent5">
                  <a:hueOff val="0"/>
                  <a:satOff val="0"/>
                  <a:lumOff val="0"/>
                  <a:alphaOff val="0"/>
                </a:schemeClr>
              </a:fillRef>
              <a:effectRef idx="0">
                <a:schemeClr val="accent5">
                  <a:hueOff val="0"/>
                  <a:satOff val="0"/>
                  <a:lumOff val="0"/>
                  <a:alphaOff val="0"/>
                </a:schemeClr>
              </a:effectRef>
              <a:fontRef idx="minor">
                <a:schemeClr val="lt1"/>
              </a:fontRef>
            </p:style>
            <p:txBody>
              <a:bodyPr spcFirstLastPara="0" vert="horz" wrap="square" lIns="202043" tIns="202043" rIns="202043" bIns="202043" numCol="1" spcCol="1270" anchor="ctr" anchorCtr="0">
                <a:noAutofit/>
              </a:bodyPr>
              <a:lstStyle/>
              <a:p>
                <a:pPr lvl="0" algn="ctr" defTabSz="889000">
                  <a:lnSpc>
                    <a:spcPct val="90000"/>
                  </a:lnSpc>
                  <a:spcBef>
                    <a:spcPct val="0"/>
                  </a:spcBef>
                  <a:spcAft>
                    <a:spcPct val="35000"/>
                  </a:spcAft>
                </a:pPr>
                <a:endParaRPr lang="zh-TW" altLang="en-US" sz="1400" b="1" kern="1200">
                  <a:latin typeface="微軟正黑體" panose="020B0604030504040204" pitchFamily="34" charset="-120"/>
                  <a:ea typeface="微軟正黑體" panose="020B0604030504040204" pitchFamily="34" charset="-120"/>
                </a:endParaRPr>
              </a:p>
            </p:txBody>
          </p:sp>
          <p:sp>
            <p:nvSpPr>
              <p:cNvPr id="35" name="手繪多邊形 35">
                <a:extLst>
                  <a:ext uri="{FF2B5EF4-FFF2-40B4-BE49-F238E27FC236}">
                    <a16:creationId xmlns:a16="http://schemas.microsoft.com/office/drawing/2014/main" id="{AA79E540-0D45-4257-B8CE-97CD81201611}"/>
                  </a:ext>
                </a:extLst>
              </p:cNvPr>
              <p:cNvSpPr/>
              <p:nvPr/>
            </p:nvSpPr>
            <p:spPr>
              <a:xfrm>
                <a:off x="2856602" y="2897909"/>
                <a:ext cx="1206197" cy="1206197"/>
              </a:xfrm>
              <a:custGeom>
                <a:avLst/>
                <a:gdLst>
                  <a:gd name="connsiteX0" fmla="*/ 0 w 1206197"/>
                  <a:gd name="connsiteY0" fmla="*/ 603099 h 1206197"/>
                  <a:gd name="connsiteX1" fmla="*/ 603099 w 1206197"/>
                  <a:gd name="connsiteY1" fmla="*/ 0 h 1206197"/>
                  <a:gd name="connsiteX2" fmla="*/ 1206198 w 1206197"/>
                  <a:gd name="connsiteY2" fmla="*/ 603099 h 1206197"/>
                  <a:gd name="connsiteX3" fmla="*/ 603099 w 1206197"/>
                  <a:gd name="connsiteY3" fmla="*/ 1206198 h 1206197"/>
                  <a:gd name="connsiteX4" fmla="*/ 0 w 1206197"/>
                  <a:gd name="connsiteY4" fmla="*/ 603099 h 12061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06197" h="1206197">
                    <a:moveTo>
                      <a:pt x="0" y="603099"/>
                    </a:moveTo>
                    <a:cubicBezTo>
                      <a:pt x="0" y="270017"/>
                      <a:pt x="270017" y="0"/>
                      <a:pt x="603099" y="0"/>
                    </a:cubicBezTo>
                    <a:cubicBezTo>
                      <a:pt x="936181" y="0"/>
                      <a:pt x="1206198" y="270017"/>
                      <a:pt x="1206198" y="603099"/>
                    </a:cubicBezTo>
                    <a:cubicBezTo>
                      <a:pt x="1206198" y="936181"/>
                      <a:pt x="936181" y="1206198"/>
                      <a:pt x="603099" y="1206198"/>
                    </a:cubicBezTo>
                    <a:cubicBezTo>
                      <a:pt x="270017" y="1206198"/>
                      <a:pt x="0" y="936181"/>
                      <a:pt x="0" y="603099"/>
                    </a:cubicBezTo>
                    <a:close/>
                  </a:path>
                </a:pathLst>
              </a:custGeom>
              <a:solidFill>
                <a:schemeClr val="tx2">
                  <a:lumMod val="20000"/>
                  <a:lumOff val="80000"/>
                </a:schemeClr>
              </a:solidFill>
            </p:spPr>
            <p:style>
              <a:lnRef idx="2">
                <a:schemeClr val="lt1">
                  <a:hueOff val="0"/>
                  <a:satOff val="0"/>
                  <a:lumOff val="0"/>
                  <a:alphaOff val="0"/>
                </a:schemeClr>
              </a:lnRef>
              <a:fillRef idx="1">
                <a:scrgbClr r="0" g="0" b="0"/>
              </a:fillRef>
              <a:effectRef idx="0">
                <a:schemeClr val="accent6">
                  <a:hueOff val="0"/>
                  <a:satOff val="0"/>
                  <a:lumOff val="0"/>
                  <a:alphaOff val="0"/>
                </a:schemeClr>
              </a:effectRef>
              <a:fontRef idx="minor">
                <a:schemeClr val="lt1"/>
              </a:fontRef>
            </p:style>
            <p:txBody>
              <a:bodyPr spcFirstLastPara="0" vert="horz" wrap="square" lIns="202043" tIns="202043" rIns="202043" bIns="202043" numCol="1" spcCol="1270" anchor="ctr" anchorCtr="0">
                <a:noAutofit/>
              </a:bodyPr>
              <a:lstStyle/>
              <a:p>
                <a:pPr lvl="0" algn="ctr" defTabSz="889000">
                  <a:lnSpc>
                    <a:spcPct val="90000"/>
                  </a:lnSpc>
                  <a:spcBef>
                    <a:spcPct val="0"/>
                  </a:spcBef>
                  <a:spcAft>
                    <a:spcPct val="35000"/>
                  </a:spcAft>
                </a:pPr>
                <a:r>
                  <a:rPr lang="zh-TW" altLang="en-US" sz="1400" b="1" kern="1200" dirty="0">
                    <a:solidFill>
                      <a:schemeClr val="tx1"/>
                    </a:solidFill>
                    <a:latin typeface="微軟正黑體" panose="020B0604030504040204" pitchFamily="34" charset="-120"/>
                    <a:ea typeface="微軟正黑體" panose="020B0604030504040204" pitchFamily="34" charset="-120"/>
                  </a:rPr>
                  <a:t>還原能力去中心化</a:t>
                </a:r>
              </a:p>
            </p:txBody>
          </p:sp>
          <p:sp>
            <p:nvSpPr>
              <p:cNvPr id="36" name="手繪多邊形 36">
                <a:extLst>
                  <a:ext uri="{FF2B5EF4-FFF2-40B4-BE49-F238E27FC236}">
                    <a16:creationId xmlns:a16="http://schemas.microsoft.com/office/drawing/2014/main" id="{508920FB-F324-4688-8DAA-82DBCE9784BA}"/>
                  </a:ext>
                </a:extLst>
              </p:cNvPr>
              <p:cNvSpPr/>
              <p:nvPr/>
            </p:nvSpPr>
            <p:spPr>
              <a:xfrm>
                <a:off x="3204975" y="1597761"/>
                <a:ext cx="1206197" cy="1206197"/>
              </a:xfrm>
              <a:custGeom>
                <a:avLst/>
                <a:gdLst>
                  <a:gd name="connsiteX0" fmla="*/ 0 w 1206197"/>
                  <a:gd name="connsiteY0" fmla="*/ 603099 h 1206197"/>
                  <a:gd name="connsiteX1" fmla="*/ 603099 w 1206197"/>
                  <a:gd name="connsiteY1" fmla="*/ 0 h 1206197"/>
                  <a:gd name="connsiteX2" fmla="*/ 1206198 w 1206197"/>
                  <a:gd name="connsiteY2" fmla="*/ 603099 h 1206197"/>
                  <a:gd name="connsiteX3" fmla="*/ 603099 w 1206197"/>
                  <a:gd name="connsiteY3" fmla="*/ 1206198 h 1206197"/>
                  <a:gd name="connsiteX4" fmla="*/ 0 w 1206197"/>
                  <a:gd name="connsiteY4" fmla="*/ 603099 h 12061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06197" h="1206197">
                    <a:moveTo>
                      <a:pt x="0" y="603099"/>
                    </a:moveTo>
                    <a:cubicBezTo>
                      <a:pt x="0" y="270017"/>
                      <a:pt x="270017" y="0"/>
                      <a:pt x="603099" y="0"/>
                    </a:cubicBezTo>
                    <a:cubicBezTo>
                      <a:pt x="936181" y="0"/>
                      <a:pt x="1206198" y="270017"/>
                      <a:pt x="1206198" y="603099"/>
                    </a:cubicBezTo>
                    <a:cubicBezTo>
                      <a:pt x="1206198" y="936181"/>
                      <a:pt x="936181" y="1206198"/>
                      <a:pt x="603099" y="1206198"/>
                    </a:cubicBezTo>
                    <a:cubicBezTo>
                      <a:pt x="270017" y="1206198"/>
                      <a:pt x="0" y="936181"/>
                      <a:pt x="0" y="603099"/>
                    </a:cubicBezTo>
                    <a:close/>
                  </a:path>
                </a:pathLst>
              </a:custGeom>
              <a:solidFill>
                <a:srgbClr val="AFFDF9"/>
              </a:solidFill>
            </p:spPr>
            <p:style>
              <a:lnRef idx="2">
                <a:schemeClr val="lt1">
                  <a:hueOff val="0"/>
                  <a:satOff val="0"/>
                  <a:lumOff val="0"/>
                  <a:alphaOff val="0"/>
                </a:schemeClr>
              </a:lnRef>
              <a:fillRef idx="1">
                <a:scrgbClr r="0" g="0" b="0"/>
              </a:fillRef>
              <a:effectRef idx="0">
                <a:schemeClr val="accent2">
                  <a:hueOff val="0"/>
                  <a:satOff val="0"/>
                  <a:lumOff val="0"/>
                  <a:alphaOff val="0"/>
                </a:schemeClr>
              </a:effectRef>
              <a:fontRef idx="minor">
                <a:schemeClr val="lt1"/>
              </a:fontRef>
            </p:style>
            <p:txBody>
              <a:bodyPr spcFirstLastPara="0" vert="horz" wrap="square" lIns="202043" tIns="202043" rIns="202043" bIns="202043" numCol="1" spcCol="1270" anchor="ctr" anchorCtr="0">
                <a:noAutofit/>
              </a:bodyPr>
              <a:lstStyle/>
              <a:p>
                <a:pPr lvl="0" algn="ctr" defTabSz="889000">
                  <a:lnSpc>
                    <a:spcPct val="90000"/>
                  </a:lnSpc>
                  <a:spcBef>
                    <a:spcPct val="0"/>
                  </a:spcBef>
                  <a:spcAft>
                    <a:spcPct val="35000"/>
                  </a:spcAft>
                </a:pPr>
                <a:r>
                  <a:rPr lang="zh-TW" altLang="en-US" sz="1400" b="1" kern="1200" dirty="0">
                    <a:solidFill>
                      <a:schemeClr val="tx1"/>
                    </a:solidFill>
                    <a:latin typeface="微軟正黑體" panose="020B0604030504040204" pitchFamily="34" charset="-120"/>
                    <a:ea typeface="微軟正黑體" panose="020B0604030504040204" pitchFamily="34" charset="-120"/>
                  </a:rPr>
                  <a:t>彈性透明度</a:t>
                </a:r>
              </a:p>
            </p:txBody>
          </p:sp>
          <p:sp>
            <p:nvSpPr>
              <p:cNvPr id="37" name="手繪多邊形 37">
                <a:extLst>
                  <a:ext uri="{FF2B5EF4-FFF2-40B4-BE49-F238E27FC236}">
                    <a16:creationId xmlns:a16="http://schemas.microsoft.com/office/drawing/2014/main" id="{9B41D09E-710C-4A26-9815-CA9790DD8935}"/>
                  </a:ext>
                </a:extLst>
              </p:cNvPr>
              <p:cNvSpPr/>
              <p:nvPr/>
            </p:nvSpPr>
            <p:spPr>
              <a:xfrm>
                <a:off x="4219847" y="709085"/>
                <a:ext cx="1080001" cy="1080001"/>
              </a:xfrm>
              <a:custGeom>
                <a:avLst/>
                <a:gdLst>
                  <a:gd name="connsiteX0" fmla="*/ 0 w 1080001"/>
                  <a:gd name="connsiteY0" fmla="*/ 540001 h 1080001"/>
                  <a:gd name="connsiteX1" fmla="*/ 540001 w 1080001"/>
                  <a:gd name="connsiteY1" fmla="*/ 0 h 1080001"/>
                  <a:gd name="connsiteX2" fmla="*/ 1080002 w 1080001"/>
                  <a:gd name="connsiteY2" fmla="*/ 540001 h 1080001"/>
                  <a:gd name="connsiteX3" fmla="*/ 540001 w 1080001"/>
                  <a:gd name="connsiteY3" fmla="*/ 1080002 h 1080001"/>
                  <a:gd name="connsiteX4" fmla="*/ 0 w 1080001"/>
                  <a:gd name="connsiteY4" fmla="*/ 540001 h 108000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80001" h="1080001">
                    <a:moveTo>
                      <a:pt x="0" y="540001"/>
                    </a:moveTo>
                    <a:cubicBezTo>
                      <a:pt x="0" y="241767"/>
                      <a:pt x="241767" y="0"/>
                      <a:pt x="540001" y="0"/>
                    </a:cubicBezTo>
                    <a:cubicBezTo>
                      <a:pt x="838235" y="0"/>
                      <a:pt x="1080002" y="241767"/>
                      <a:pt x="1080002" y="540001"/>
                    </a:cubicBezTo>
                    <a:cubicBezTo>
                      <a:pt x="1080002" y="838235"/>
                      <a:pt x="838235" y="1080002"/>
                      <a:pt x="540001" y="1080002"/>
                    </a:cubicBezTo>
                    <a:cubicBezTo>
                      <a:pt x="241767" y="1080002"/>
                      <a:pt x="0" y="838235"/>
                      <a:pt x="0" y="540001"/>
                    </a:cubicBezTo>
                    <a:close/>
                  </a:path>
                </a:pathLst>
              </a:custGeom>
              <a:solidFill>
                <a:srgbClr val="AAEAD5"/>
              </a:solidFill>
            </p:spPr>
            <p:style>
              <a:lnRef idx="2">
                <a:schemeClr val="lt1">
                  <a:hueOff val="0"/>
                  <a:satOff val="0"/>
                  <a:lumOff val="0"/>
                  <a:alphaOff val="0"/>
                </a:schemeClr>
              </a:lnRef>
              <a:fillRef idx="1">
                <a:scrgbClr r="0" g="0" b="0"/>
              </a:fillRef>
              <a:effectRef idx="0">
                <a:schemeClr val="accent3">
                  <a:hueOff val="0"/>
                  <a:satOff val="0"/>
                  <a:lumOff val="0"/>
                  <a:alphaOff val="0"/>
                </a:schemeClr>
              </a:effectRef>
              <a:fontRef idx="minor">
                <a:schemeClr val="lt1"/>
              </a:fontRef>
            </p:style>
            <p:txBody>
              <a:bodyPr spcFirstLastPara="0" vert="horz" wrap="square" lIns="183562" tIns="183562" rIns="183562" bIns="183562" numCol="1" spcCol="1270" anchor="ctr" anchorCtr="0">
                <a:noAutofit/>
              </a:bodyPr>
              <a:lstStyle/>
              <a:p>
                <a:pPr lvl="0" algn="ctr" defTabSz="889000">
                  <a:lnSpc>
                    <a:spcPct val="90000"/>
                  </a:lnSpc>
                  <a:spcBef>
                    <a:spcPct val="0"/>
                  </a:spcBef>
                  <a:spcAft>
                    <a:spcPct val="35000"/>
                  </a:spcAft>
                </a:pPr>
                <a:endParaRPr lang="zh-TW" altLang="en-US" sz="1400" b="1" kern="1200">
                  <a:latin typeface="微軟正黑體" panose="020B0604030504040204" pitchFamily="34" charset="-120"/>
                  <a:ea typeface="微軟正黑體" panose="020B0604030504040204" pitchFamily="34" charset="-120"/>
                </a:endParaRPr>
              </a:p>
            </p:txBody>
          </p:sp>
        </p:grpSp>
        <p:sp>
          <p:nvSpPr>
            <p:cNvPr id="38" name="文字方塊 37">
              <a:extLst>
                <a:ext uri="{FF2B5EF4-FFF2-40B4-BE49-F238E27FC236}">
                  <a16:creationId xmlns:a16="http://schemas.microsoft.com/office/drawing/2014/main" id="{B7D22930-68D1-44D2-86EF-CD8D8161DF7E}"/>
                </a:ext>
              </a:extLst>
            </p:cNvPr>
            <p:cNvSpPr txBox="1"/>
            <p:nvPr/>
          </p:nvSpPr>
          <p:spPr>
            <a:xfrm>
              <a:off x="10296214" y="1822553"/>
              <a:ext cx="990694" cy="632681"/>
            </a:xfrm>
            <a:prstGeom prst="rect">
              <a:avLst/>
            </a:prstGeom>
            <a:noFill/>
          </p:spPr>
          <p:txBody>
            <a:bodyPr wrap="square" rtlCol="0">
              <a:spAutoFit/>
            </a:bodyPr>
            <a:lstStyle/>
            <a:p>
              <a:r>
                <a:rPr lang="zh-TW" altLang="en-US" sz="1400" b="1" dirty="0">
                  <a:solidFill>
                    <a:sysClr val="windowText" lastClr="000000"/>
                  </a:solidFill>
                  <a:latin typeface="微軟正黑體" panose="020B0604030504040204" pitchFamily="34" charset="-120"/>
                  <a:ea typeface="微軟正黑體" panose="020B0604030504040204" pitchFamily="34" charset="-120"/>
                </a:rPr>
                <a:t>全球可</a:t>
              </a:r>
              <a:endParaRPr lang="en-US" altLang="zh-TW" sz="1400" b="1" dirty="0">
                <a:solidFill>
                  <a:sysClr val="windowText" lastClr="000000"/>
                </a:solidFill>
                <a:latin typeface="微軟正黑體" panose="020B0604030504040204" pitchFamily="34" charset="-120"/>
                <a:ea typeface="微軟正黑體" panose="020B0604030504040204" pitchFamily="34" charset="-120"/>
              </a:endParaRPr>
            </a:p>
            <a:p>
              <a:r>
                <a:rPr lang="zh-TW" altLang="en-US" sz="1400" b="1" dirty="0">
                  <a:solidFill>
                    <a:sysClr val="windowText" lastClr="000000"/>
                  </a:solidFill>
                  <a:latin typeface="微軟正黑體" panose="020B0604030504040204" pitchFamily="34" charset="-120"/>
                  <a:ea typeface="微軟正黑體" panose="020B0604030504040204" pitchFamily="34" charset="-120"/>
                </a:rPr>
                <a:t>接人性</a:t>
              </a:r>
            </a:p>
          </p:txBody>
        </p:sp>
        <p:sp>
          <p:nvSpPr>
            <p:cNvPr id="39" name="文字方塊 38">
              <a:extLst>
                <a:ext uri="{FF2B5EF4-FFF2-40B4-BE49-F238E27FC236}">
                  <a16:creationId xmlns:a16="http://schemas.microsoft.com/office/drawing/2014/main" id="{F34DCFDA-45E8-493A-9A77-A397F396B451}"/>
                </a:ext>
              </a:extLst>
            </p:cNvPr>
            <p:cNvSpPr txBox="1"/>
            <p:nvPr/>
          </p:nvSpPr>
          <p:spPr>
            <a:xfrm>
              <a:off x="10752798" y="3147737"/>
              <a:ext cx="862334" cy="719147"/>
            </a:xfrm>
            <a:prstGeom prst="rect">
              <a:avLst/>
            </a:prstGeom>
            <a:noFill/>
          </p:spPr>
          <p:txBody>
            <a:bodyPr wrap="square" rtlCol="0">
              <a:spAutoFit/>
            </a:bodyPr>
            <a:lstStyle/>
            <a:p>
              <a:r>
                <a:rPr lang="zh-TW" altLang="en-US" sz="1400" b="1" dirty="0">
                  <a:latin typeface="微軟正黑體" panose="020B0604030504040204" pitchFamily="34" charset="-120"/>
                  <a:ea typeface="微軟正黑體" panose="020B0604030504040204" pitchFamily="34" charset="-120"/>
                </a:rPr>
                <a:t>成本效率</a:t>
              </a:r>
            </a:p>
          </p:txBody>
        </p:sp>
        <p:sp>
          <p:nvSpPr>
            <p:cNvPr id="40" name="文字方塊 39">
              <a:extLst>
                <a:ext uri="{FF2B5EF4-FFF2-40B4-BE49-F238E27FC236}">
                  <a16:creationId xmlns:a16="http://schemas.microsoft.com/office/drawing/2014/main" id="{B0A9BD0C-FBA8-468F-BF54-596E690072FD}"/>
                </a:ext>
              </a:extLst>
            </p:cNvPr>
            <p:cNvSpPr txBox="1"/>
            <p:nvPr/>
          </p:nvSpPr>
          <p:spPr>
            <a:xfrm>
              <a:off x="10314218" y="4479016"/>
              <a:ext cx="1018815" cy="632681"/>
            </a:xfrm>
            <a:prstGeom prst="rect">
              <a:avLst/>
            </a:prstGeom>
            <a:noFill/>
          </p:spPr>
          <p:txBody>
            <a:bodyPr wrap="square" rtlCol="0">
              <a:spAutoFit/>
            </a:bodyPr>
            <a:lstStyle/>
            <a:p>
              <a:r>
                <a:rPr lang="zh-TW" altLang="en-US" sz="1400" b="1" dirty="0">
                  <a:latin typeface="微軟正黑體" panose="020B0604030504040204" pitchFamily="34" charset="-120"/>
                  <a:ea typeface="微軟正黑體" panose="020B0604030504040204" pitchFamily="34" charset="-120"/>
                </a:rPr>
                <a:t>小費與捐贈</a:t>
              </a:r>
            </a:p>
          </p:txBody>
        </p:sp>
        <p:sp>
          <p:nvSpPr>
            <p:cNvPr id="41" name="文字方塊 40">
              <a:extLst>
                <a:ext uri="{FF2B5EF4-FFF2-40B4-BE49-F238E27FC236}">
                  <a16:creationId xmlns:a16="http://schemas.microsoft.com/office/drawing/2014/main" id="{39438BC1-1A1D-47C9-9813-B361F2F62B17}"/>
                </a:ext>
              </a:extLst>
            </p:cNvPr>
            <p:cNvSpPr txBox="1"/>
            <p:nvPr/>
          </p:nvSpPr>
          <p:spPr>
            <a:xfrm>
              <a:off x="9440172" y="5414699"/>
              <a:ext cx="802990" cy="719147"/>
            </a:xfrm>
            <a:prstGeom prst="rect">
              <a:avLst/>
            </a:prstGeom>
            <a:noFill/>
          </p:spPr>
          <p:txBody>
            <a:bodyPr wrap="square" rtlCol="0">
              <a:spAutoFit/>
            </a:bodyPr>
            <a:lstStyle/>
            <a:p>
              <a:r>
                <a:rPr lang="zh-TW" altLang="en-US" sz="1400" b="1" dirty="0">
                  <a:latin typeface="微軟正黑體" panose="020B0604030504040204" pitchFamily="34" charset="-120"/>
                  <a:ea typeface="微軟正黑體" panose="020B0604030504040204" pitchFamily="34" charset="-120"/>
                </a:rPr>
                <a:t>眾籌集資</a:t>
              </a:r>
            </a:p>
          </p:txBody>
        </p:sp>
        <p:sp>
          <p:nvSpPr>
            <p:cNvPr id="42" name="文字方塊 41">
              <a:extLst>
                <a:ext uri="{FF2B5EF4-FFF2-40B4-BE49-F238E27FC236}">
                  <a16:creationId xmlns:a16="http://schemas.microsoft.com/office/drawing/2014/main" id="{D518E738-B782-42B0-8A9D-1DB69B3E00D2}"/>
                </a:ext>
              </a:extLst>
            </p:cNvPr>
            <p:cNvSpPr txBox="1"/>
            <p:nvPr/>
          </p:nvSpPr>
          <p:spPr>
            <a:xfrm>
              <a:off x="8153980" y="5703152"/>
              <a:ext cx="864096" cy="632681"/>
            </a:xfrm>
            <a:prstGeom prst="rect">
              <a:avLst/>
            </a:prstGeom>
            <a:noFill/>
          </p:spPr>
          <p:txBody>
            <a:bodyPr wrap="square" rtlCol="0">
              <a:spAutoFit/>
            </a:bodyPr>
            <a:lstStyle/>
            <a:p>
              <a:r>
                <a:rPr lang="zh-TW" altLang="en-US" sz="1400" b="1" dirty="0">
                  <a:latin typeface="微軟正黑體" panose="020B0604030504040204" pitchFamily="34" charset="-120"/>
                  <a:ea typeface="微軟正黑體" panose="020B0604030504040204" pitchFamily="34" charset="-120"/>
                </a:rPr>
                <a:t>小額支付</a:t>
              </a:r>
            </a:p>
          </p:txBody>
        </p:sp>
        <p:sp>
          <p:nvSpPr>
            <p:cNvPr id="43" name="文字方塊 42">
              <a:extLst>
                <a:ext uri="{FF2B5EF4-FFF2-40B4-BE49-F238E27FC236}">
                  <a16:creationId xmlns:a16="http://schemas.microsoft.com/office/drawing/2014/main" id="{971E9354-8379-404B-A581-867C12AA1882}"/>
                </a:ext>
              </a:extLst>
            </p:cNvPr>
            <p:cNvSpPr txBox="1"/>
            <p:nvPr/>
          </p:nvSpPr>
          <p:spPr>
            <a:xfrm>
              <a:off x="9451076" y="856129"/>
              <a:ext cx="792088" cy="632681"/>
            </a:xfrm>
            <a:prstGeom prst="rect">
              <a:avLst/>
            </a:prstGeom>
            <a:noFill/>
          </p:spPr>
          <p:txBody>
            <a:bodyPr wrap="square" rtlCol="0">
              <a:spAutoFit/>
            </a:bodyPr>
            <a:lstStyle/>
            <a:p>
              <a:r>
                <a:rPr lang="zh-TW" altLang="en-US" sz="1400" b="1" dirty="0">
                  <a:latin typeface="微軟正黑體" panose="020B0604030504040204" pitchFamily="34" charset="-120"/>
                  <a:ea typeface="微軟正黑體" panose="020B0604030504040204" pitchFamily="34" charset="-120"/>
                </a:rPr>
                <a:t>調整紛爭</a:t>
              </a:r>
            </a:p>
          </p:txBody>
        </p:sp>
        <p:sp>
          <p:nvSpPr>
            <p:cNvPr id="44" name="文字方塊 43">
              <a:extLst>
                <a:ext uri="{FF2B5EF4-FFF2-40B4-BE49-F238E27FC236}">
                  <a16:creationId xmlns:a16="http://schemas.microsoft.com/office/drawing/2014/main" id="{22100E65-D51C-4BB9-B20F-B414FBCB5CAC}"/>
                </a:ext>
              </a:extLst>
            </p:cNvPr>
            <p:cNvSpPr txBox="1"/>
            <p:nvPr/>
          </p:nvSpPr>
          <p:spPr>
            <a:xfrm>
              <a:off x="5760013" y="4437703"/>
              <a:ext cx="932159" cy="632681"/>
            </a:xfrm>
            <a:prstGeom prst="rect">
              <a:avLst/>
            </a:prstGeom>
            <a:noFill/>
          </p:spPr>
          <p:txBody>
            <a:bodyPr wrap="square" rtlCol="0">
              <a:spAutoFit/>
            </a:bodyPr>
            <a:lstStyle/>
            <a:p>
              <a:pPr algn="ctr"/>
              <a:r>
                <a:rPr lang="zh-TW" altLang="en-US" sz="1400" b="1" dirty="0">
                  <a:solidFill>
                    <a:schemeClr val="bg1"/>
                  </a:solidFill>
                  <a:latin typeface="微軟正黑體" panose="020B0604030504040204" pitchFamily="34" charset="-120"/>
                  <a:ea typeface="微軟正黑體" panose="020B0604030504040204" pitchFamily="34" charset="-120"/>
                </a:rPr>
                <a:t>信任</a:t>
              </a:r>
              <a:endParaRPr lang="en-US" altLang="zh-TW" sz="1400" b="1" dirty="0">
                <a:solidFill>
                  <a:schemeClr val="bg1"/>
                </a:solidFill>
                <a:latin typeface="微軟正黑體" panose="020B0604030504040204" pitchFamily="34" charset="-120"/>
                <a:ea typeface="微軟正黑體" panose="020B0604030504040204" pitchFamily="34" charset="-120"/>
              </a:endParaRPr>
            </a:p>
            <a:p>
              <a:pPr algn="ctr"/>
              <a:r>
                <a:rPr lang="zh-TW" altLang="en-US" sz="1400" b="1" dirty="0">
                  <a:solidFill>
                    <a:schemeClr val="bg1"/>
                  </a:solidFill>
                  <a:latin typeface="微軟正黑體" panose="020B0604030504040204" pitchFamily="34" charset="-120"/>
                  <a:ea typeface="微軟正黑體" panose="020B0604030504040204" pitchFamily="34" charset="-120"/>
                </a:rPr>
                <a:t>正直</a:t>
              </a:r>
            </a:p>
          </p:txBody>
        </p:sp>
        <p:sp>
          <p:nvSpPr>
            <p:cNvPr id="45" name="文字方塊 44">
              <a:extLst>
                <a:ext uri="{FF2B5EF4-FFF2-40B4-BE49-F238E27FC236}">
                  <a16:creationId xmlns:a16="http://schemas.microsoft.com/office/drawing/2014/main" id="{902FFA75-3FB5-49D9-9A98-AE1B31BA1FC5}"/>
                </a:ext>
              </a:extLst>
            </p:cNvPr>
            <p:cNvSpPr txBox="1"/>
            <p:nvPr/>
          </p:nvSpPr>
          <p:spPr>
            <a:xfrm>
              <a:off x="6709752" y="994197"/>
              <a:ext cx="1023535" cy="372166"/>
            </a:xfrm>
            <a:prstGeom prst="rect">
              <a:avLst/>
            </a:prstGeom>
            <a:noFill/>
          </p:spPr>
          <p:txBody>
            <a:bodyPr wrap="square" rtlCol="0">
              <a:spAutoFit/>
            </a:bodyPr>
            <a:lstStyle/>
            <a:p>
              <a:r>
                <a:rPr lang="zh-TW" altLang="en-US" sz="1400" b="1" dirty="0">
                  <a:latin typeface="微軟正黑體" panose="020B0604030504040204" pitchFamily="34" charset="-120"/>
                  <a:ea typeface="微軟正黑體" panose="020B0604030504040204" pitchFamily="34" charset="-120"/>
                </a:rPr>
                <a:t>自動化</a:t>
              </a:r>
            </a:p>
          </p:txBody>
        </p:sp>
        <p:sp>
          <p:nvSpPr>
            <p:cNvPr id="46" name="文字方塊 45">
              <a:extLst>
                <a:ext uri="{FF2B5EF4-FFF2-40B4-BE49-F238E27FC236}">
                  <a16:creationId xmlns:a16="http://schemas.microsoft.com/office/drawing/2014/main" id="{B2AC4095-B754-434E-B773-2BAF67534A15}"/>
                </a:ext>
              </a:extLst>
            </p:cNvPr>
            <p:cNvSpPr txBox="1"/>
            <p:nvPr/>
          </p:nvSpPr>
          <p:spPr>
            <a:xfrm>
              <a:off x="7023654" y="3156393"/>
              <a:ext cx="3124747" cy="483816"/>
            </a:xfrm>
            <a:prstGeom prst="rect">
              <a:avLst/>
            </a:prstGeom>
            <a:noFill/>
          </p:spPr>
          <p:txBody>
            <a:bodyPr wrap="square" rtlCol="0">
              <a:spAutoFit/>
            </a:bodyPr>
            <a:lstStyle/>
            <a:p>
              <a:r>
                <a:rPr lang="zh-TW" altLang="en-US" sz="2000" b="1" dirty="0">
                  <a:solidFill>
                    <a:sysClr val="windowText" lastClr="000000"/>
                  </a:solidFill>
                  <a:latin typeface="微軟正黑體" panose="020B0604030504040204" pitchFamily="34" charset="-120"/>
                  <a:ea typeface="微軟正黑體" panose="020B0604030504040204" pitchFamily="34" charset="-120"/>
                </a:rPr>
                <a:t>比特幣支付系統</a:t>
              </a:r>
            </a:p>
          </p:txBody>
        </p:sp>
      </p:grpSp>
      <p:sp>
        <p:nvSpPr>
          <p:cNvPr id="48" name="標題 1">
            <a:extLst>
              <a:ext uri="{FF2B5EF4-FFF2-40B4-BE49-F238E27FC236}">
                <a16:creationId xmlns:a16="http://schemas.microsoft.com/office/drawing/2014/main" id="{F5135BF4-7FBD-4654-BE3B-0E782DCD8B99}"/>
              </a:ext>
            </a:extLst>
          </p:cNvPr>
          <p:cNvSpPr txBox="1">
            <a:spLocks/>
          </p:cNvSpPr>
          <p:nvPr/>
        </p:nvSpPr>
        <p:spPr>
          <a:xfrm>
            <a:off x="1231956" y="393820"/>
            <a:ext cx="3643527" cy="874595"/>
          </a:xfrm>
          <a:prstGeom prst="rect">
            <a:avLst/>
          </a:prstGeom>
        </p:spPr>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altLang="zh-TW" sz="2400" b="1" dirty="0">
                <a:solidFill>
                  <a:srgbClr val="E06741"/>
                </a:solidFill>
              </a:rPr>
              <a:t>2-1 </a:t>
            </a:r>
            <a:r>
              <a:rPr lang="zh-TW" altLang="en-US" sz="2400" b="1" dirty="0">
                <a:solidFill>
                  <a:srgbClr val="E06741"/>
                </a:solidFill>
              </a:rPr>
              <a:t>區塊鏈技術意涵</a:t>
            </a:r>
          </a:p>
          <a:p>
            <a:endParaRPr lang="zh-TW" altLang="en-US" sz="2400" dirty="0">
              <a:solidFill>
                <a:srgbClr val="E06741"/>
              </a:solidFill>
              <a:latin typeface="標楷體" panose="03000509000000000000" pitchFamily="65" charset="-120"/>
              <a:ea typeface="標楷體" panose="03000509000000000000" pitchFamily="65" charset="-120"/>
              <a:cs typeface="Times New Roman" panose="02020603050405020304" pitchFamily="18" charset="0"/>
            </a:endParaRPr>
          </a:p>
        </p:txBody>
      </p:sp>
      <p:sp>
        <p:nvSpPr>
          <p:cNvPr id="49" name="文字方塊 48">
            <a:extLst>
              <a:ext uri="{FF2B5EF4-FFF2-40B4-BE49-F238E27FC236}">
                <a16:creationId xmlns:a16="http://schemas.microsoft.com/office/drawing/2014/main" id="{FB297085-C29F-482F-B638-F990C757CEF9}"/>
              </a:ext>
            </a:extLst>
          </p:cNvPr>
          <p:cNvSpPr txBox="1"/>
          <p:nvPr/>
        </p:nvSpPr>
        <p:spPr>
          <a:xfrm>
            <a:off x="4487241" y="449166"/>
            <a:ext cx="3076483" cy="400110"/>
          </a:xfrm>
          <a:prstGeom prst="rect">
            <a:avLst/>
          </a:prstGeom>
          <a:noFill/>
        </p:spPr>
        <p:txBody>
          <a:bodyPr wrap="none" rtlCol="0">
            <a:spAutoFit/>
          </a:bodyPr>
          <a:lstStyle/>
          <a:p>
            <a:r>
              <a:rPr lang="en-US" altLang="zh-TW" sz="2000" b="1" dirty="0">
                <a:solidFill>
                  <a:schemeClr val="tx1">
                    <a:lumMod val="65000"/>
                    <a:lumOff val="35000"/>
                  </a:schemeClr>
                </a:solidFill>
                <a:latin typeface="微軟正黑體" panose="020B0604030504040204" pitchFamily="34" charset="-120"/>
                <a:ea typeface="微軟正黑體" panose="020B0604030504040204" pitchFamily="34" charset="-120"/>
                <a:cs typeface="Times New Roman" panose="02020603050405020304" pitchFamily="18" charset="0"/>
              </a:rPr>
              <a:t>-2</a:t>
            </a:r>
            <a:r>
              <a:rPr lang="zh-TW" altLang="en-US" sz="2000" b="1" dirty="0">
                <a:solidFill>
                  <a:schemeClr val="tx1">
                    <a:lumMod val="65000"/>
                    <a:lumOff val="35000"/>
                  </a:schemeClr>
                </a:solidFill>
                <a:latin typeface="微軟正黑體" panose="020B0604030504040204" pitchFamily="34" charset="-120"/>
                <a:ea typeface="微軟正黑體" panose="020B0604030504040204" pitchFamily="34" charset="-120"/>
                <a:cs typeface="Times New Roman" panose="02020603050405020304" pitchFamily="18" charset="0"/>
              </a:rPr>
              <a:t> 比特幣區塊鏈技術說明</a:t>
            </a:r>
          </a:p>
        </p:txBody>
      </p:sp>
      <p:cxnSp>
        <p:nvCxnSpPr>
          <p:cNvPr id="50" name="直接连接符 33">
            <a:extLst>
              <a:ext uri="{FF2B5EF4-FFF2-40B4-BE49-F238E27FC236}">
                <a16:creationId xmlns:a16="http://schemas.microsoft.com/office/drawing/2014/main" id="{C059E23C-C041-4B37-AD90-F8527854B9A1}"/>
              </a:ext>
            </a:extLst>
          </p:cNvPr>
          <p:cNvCxnSpPr/>
          <p:nvPr/>
        </p:nvCxnSpPr>
        <p:spPr>
          <a:xfrm>
            <a:off x="1177167" y="1046746"/>
            <a:ext cx="10585176" cy="0"/>
          </a:xfrm>
          <a:prstGeom prst="line">
            <a:avLst/>
          </a:prstGeom>
          <a:ln w="190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983186964"/>
      </p:ext>
    </p:extLst>
  </p:cSld>
  <p:clrMapOvr>
    <a:masterClrMapping/>
  </p:clrMapOvr>
  <p:transition spd="slow">
    <p:cove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6" presetClass="entr" presetSubtype="16" fill="hold" grpId="0" nodeType="afterEffect">
                                  <p:stCondLst>
                                    <p:cond delay="0"/>
                                  </p:stCondLst>
                                  <p:childTnLst>
                                    <p:set>
                                      <p:cBhvr>
                                        <p:cTn id="6" dur="1" fill="hold">
                                          <p:stCondLst>
                                            <p:cond delay="0"/>
                                          </p:stCondLst>
                                        </p:cTn>
                                        <p:tgtEl>
                                          <p:spTgt spid="48"/>
                                        </p:tgtEl>
                                        <p:attrNameLst>
                                          <p:attrName>style.visibility</p:attrName>
                                        </p:attrNameLst>
                                      </p:cBhvr>
                                      <p:to>
                                        <p:strVal val="visible"/>
                                      </p:to>
                                    </p:set>
                                    <p:animEffect transition="in" filter="circle(in)">
                                      <p:cBhvr>
                                        <p:cTn id="7" dur="2000"/>
                                        <p:tgtEl>
                                          <p:spTgt spid="48"/>
                                        </p:tgtEl>
                                      </p:cBhvr>
                                    </p:animEffect>
                                  </p:childTnLst>
                                </p:cTn>
                              </p:par>
                            </p:childTnLst>
                          </p:cTn>
                        </p:par>
                        <p:par>
                          <p:cTn id="8" fill="hold">
                            <p:stCondLst>
                              <p:cond delay="2000"/>
                            </p:stCondLst>
                            <p:childTnLst>
                              <p:par>
                                <p:cTn id="9" presetID="14" presetClass="entr" presetSubtype="10" fill="hold" grpId="0" nodeType="afterEffect">
                                  <p:stCondLst>
                                    <p:cond delay="0"/>
                                  </p:stCondLst>
                                  <p:childTnLst>
                                    <p:set>
                                      <p:cBhvr>
                                        <p:cTn id="10" dur="1" fill="hold">
                                          <p:stCondLst>
                                            <p:cond delay="0"/>
                                          </p:stCondLst>
                                        </p:cTn>
                                        <p:tgtEl>
                                          <p:spTgt spid="49"/>
                                        </p:tgtEl>
                                        <p:attrNameLst>
                                          <p:attrName>style.visibility</p:attrName>
                                        </p:attrNameLst>
                                      </p:cBhvr>
                                      <p:to>
                                        <p:strVal val="visible"/>
                                      </p:to>
                                    </p:set>
                                    <p:animEffect transition="in" filter="randombar(horizontal)">
                                      <p:cBhvr>
                                        <p:cTn id="11" dur="500"/>
                                        <p:tgtEl>
                                          <p:spTgt spid="49"/>
                                        </p:tgtEl>
                                      </p:cBhvr>
                                    </p:animEffect>
                                  </p:childTnLst>
                                </p:cTn>
                              </p:par>
                            </p:childTnLst>
                          </p:cTn>
                        </p:par>
                        <p:par>
                          <p:cTn id="12" fill="hold">
                            <p:stCondLst>
                              <p:cond delay="2500"/>
                            </p:stCondLst>
                            <p:childTnLst>
                              <p:par>
                                <p:cTn id="13" presetID="2" presetClass="entr" presetSubtype="8" fill="hold" nodeType="afterEffect">
                                  <p:stCondLst>
                                    <p:cond delay="0"/>
                                  </p:stCondLst>
                                  <p:childTnLst>
                                    <p:set>
                                      <p:cBhvr>
                                        <p:cTn id="14" dur="1" fill="hold">
                                          <p:stCondLst>
                                            <p:cond delay="0"/>
                                          </p:stCondLst>
                                        </p:cTn>
                                        <p:tgtEl>
                                          <p:spTgt spid="50"/>
                                        </p:tgtEl>
                                        <p:attrNameLst>
                                          <p:attrName>style.visibility</p:attrName>
                                        </p:attrNameLst>
                                      </p:cBhvr>
                                      <p:to>
                                        <p:strVal val="visible"/>
                                      </p:to>
                                    </p:set>
                                    <p:anim calcmode="lin" valueType="num">
                                      <p:cBhvr additive="base">
                                        <p:cTn id="15" dur="500" fill="hold"/>
                                        <p:tgtEl>
                                          <p:spTgt spid="50"/>
                                        </p:tgtEl>
                                        <p:attrNameLst>
                                          <p:attrName>ppt_x</p:attrName>
                                        </p:attrNameLst>
                                      </p:cBhvr>
                                      <p:tavLst>
                                        <p:tav tm="0">
                                          <p:val>
                                            <p:strVal val="0-#ppt_w/2"/>
                                          </p:val>
                                        </p:tav>
                                        <p:tav tm="100000">
                                          <p:val>
                                            <p:strVal val="#ppt_x"/>
                                          </p:val>
                                        </p:tav>
                                      </p:tavLst>
                                    </p:anim>
                                    <p:anim calcmode="lin" valueType="num">
                                      <p:cBhvr additive="base">
                                        <p:cTn id="16" dur="500" fill="hold"/>
                                        <p:tgtEl>
                                          <p:spTgt spid="50"/>
                                        </p:tgtEl>
                                        <p:attrNameLst>
                                          <p:attrName>ppt_y</p:attrName>
                                        </p:attrNameLst>
                                      </p:cBhvr>
                                      <p:tavLst>
                                        <p:tav tm="0">
                                          <p:val>
                                            <p:strVal val="#ppt_y"/>
                                          </p:val>
                                        </p:tav>
                                        <p:tav tm="100000">
                                          <p:val>
                                            <p:strVal val="#ppt_y"/>
                                          </p:val>
                                        </p:tav>
                                      </p:tavLst>
                                    </p:anim>
                                  </p:childTnLst>
                                </p:cTn>
                              </p:par>
                            </p:childTnLst>
                          </p:cTn>
                        </p:par>
                        <p:par>
                          <p:cTn id="17" fill="hold">
                            <p:stCondLst>
                              <p:cond delay="3000"/>
                            </p:stCondLst>
                            <p:childTnLst>
                              <p:par>
                                <p:cTn id="18" presetID="42" presetClass="entr" presetSubtype="0" fill="hold" grpId="0" nodeType="afterEffect">
                                  <p:stCondLst>
                                    <p:cond delay="0"/>
                                  </p:stCondLst>
                                  <p:childTnLst>
                                    <p:set>
                                      <p:cBhvr>
                                        <p:cTn id="19" dur="1" fill="hold">
                                          <p:stCondLst>
                                            <p:cond delay="0"/>
                                          </p:stCondLst>
                                        </p:cTn>
                                        <p:tgtEl>
                                          <p:spTgt spid="2"/>
                                        </p:tgtEl>
                                        <p:attrNameLst>
                                          <p:attrName>style.visibility</p:attrName>
                                        </p:attrNameLst>
                                      </p:cBhvr>
                                      <p:to>
                                        <p:strVal val="visible"/>
                                      </p:to>
                                    </p:set>
                                    <p:animEffect transition="in" filter="fade">
                                      <p:cBhvr>
                                        <p:cTn id="20" dur="1000"/>
                                        <p:tgtEl>
                                          <p:spTgt spid="2"/>
                                        </p:tgtEl>
                                      </p:cBhvr>
                                    </p:animEffect>
                                    <p:anim calcmode="lin" valueType="num">
                                      <p:cBhvr>
                                        <p:cTn id="21" dur="1000" fill="hold"/>
                                        <p:tgtEl>
                                          <p:spTgt spid="2"/>
                                        </p:tgtEl>
                                        <p:attrNameLst>
                                          <p:attrName>ppt_x</p:attrName>
                                        </p:attrNameLst>
                                      </p:cBhvr>
                                      <p:tavLst>
                                        <p:tav tm="0">
                                          <p:val>
                                            <p:strVal val="#ppt_x"/>
                                          </p:val>
                                        </p:tav>
                                        <p:tav tm="100000">
                                          <p:val>
                                            <p:strVal val="#ppt_x"/>
                                          </p:val>
                                        </p:tav>
                                      </p:tavLst>
                                    </p:anim>
                                    <p:anim calcmode="lin" valueType="num">
                                      <p:cBhvr>
                                        <p:cTn id="22" dur="1000" fill="hold"/>
                                        <p:tgtEl>
                                          <p:spTgt spid="2"/>
                                        </p:tgtEl>
                                        <p:attrNameLst>
                                          <p:attrName>ppt_y</p:attrName>
                                        </p:attrNameLst>
                                      </p:cBhvr>
                                      <p:tavLst>
                                        <p:tav tm="0">
                                          <p:val>
                                            <p:strVal val="#ppt_y+.1"/>
                                          </p:val>
                                        </p:tav>
                                        <p:tav tm="100000">
                                          <p:val>
                                            <p:strVal val="#ppt_y"/>
                                          </p:val>
                                        </p:tav>
                                      </p:tavLst>
                                    </p:anim>
                                  </p:childTnLst>
                                </p:cTn>
                              </p:par>
                            </p:childTnLst>
                          </p:cTn>
                        </p:par>
                        <p:par>
                          <p:cTn id="23" fill="hold">
                            <p:stCondLst>
                              <p:cond delay="4000"/>
                            </p:stCondLst>
                            <p:childTnLst>
                              <p:par>
                                <p:cTn id="24" presetID="31" presetClass="entr" presetSubtype="0" fill="hold" nodeType="afterEffect">
                                  <p:stCondLst>
                                    <p:cond delay="0"/>
                                  </p:stCondLst>
                                  <p:childTnLst>
                                    <p:set>
                                      <p:cBhvr>
                                        <p:cTn id="25" dur="1" fill="hold">
                                          <p:stCondLst>
                                            <p:cond delay="0"/>
                                          </p:stCondLst>
                                        </p:cTn>
                                        <p:tgtEl>
                                          <p:spTgt spid="47"/>
                                        </p:tgtEl>
                                        <p:attrNameLst>
                                          <p:attrName>style.visibility</p:attrName>
                                        </p:attrNameLst>
                                      </p:cBhvr>
                                      <p:to>
                                        <p:strVal val="visible"/>
                                      </p:to>
                                    </p:set>
                                    <p:anim calcmode="lin" valueType="num">
                                      <p:cBhvr>
                                        <p:cTn id="26" dur="1000" fill="hold"/>
                                        <p:tgtEl>
                                          <p:spTgt spid="47"/>
                                        </p:tgtEl>
                                        <p:attrNameLst>
                                          <p:attrName>ppt_w</p:attrName>
                                        </p:attrNameLst>
                                      </p:cBhvr>
                                      <p:tavLst>
                                        <p:tav tm="0">
                                          <p:val>
                                            <p:fltVal val="0"/>
                                          </p:val>
                                        </p:tav>
                                        <p:tav tm="100000">
                                          <p:val>
                                            <p:strVal val="#ppt_w"/>
                                          </p:val>
                                        </p:tav>
                                      </p:tavLst>
                                    </p:anim>
                                    <p:anim calcmode="lin" valueType="num">
                                      <p:cBhvr>
                                        <p:cTn id="27" dur="1000" fill="hold"/>
                                        <p:tgtEl>
                                          <p:spTgt spid="47"/>
                                        </p:tgtEl>
                                        <p:attrNameLst>
                                          <p:attrName>ppt_h</p:attrName>
                                        </p:attrNameLst>
                                      </p:cBhvr>
                                      <p:tavLst>
                                        <p:tav tm="0">
                                          <p:val>
                                            <p:fltVal val="0"/>
                                          </p:val>
                                        </p:tav>
                                        <p:tav tm="100000">
                                          <p:val>
                                            <p:strVal val="#ppt_h"/>
                                          </p:val>
                                        </p:tav>
                                      </p:tavLst>
                                    </p:anim>
                                    <p:anim calcmode="lin" valueType="num">
                                      <p:cBhvr>
                                        <p:cTn id="28" dur="1000" fill="hold"/>
                                        <p:tgtEl>
                                          <p:spTgt spid="47"/>
                                        </p:tgtEl>
                                        <p:attrNameLst>
                                          <p:attrName>style.rotation</p:attrName>
                                        </p:attrNameLst>
                                      </p:cBhvr>
                                      <p:tavLst>
                                        <p:tav tm="0">
                                          <p:val>
                                            <p:fltVal val="90"/>
                                          </p:val>
                                        </p:tav>
                                        <p:tav tm="100000">
                                          <p:val>
                                            <p:fltVal val="0"/>
                                          </p:val>
                                        </p:tav>
                                      </p:tavLst>
                                    </p:anim>
                                    <p:animEffect transition="in" filter="fade">
                                      <p:cBhvr>
                                        <p:cTn id="29" dur="1000"/>
                                        <p:tgtEl>
                                          <p:spTgt spid="47"/>
                                        </p:tgtEl>
                                      </p:cBhvr>
                                    </p:animEffect>
                                  </p:childTnLst>
                                </p:cTn>
                              </p:par>
                            </p:childTnLst>
                          </p:cTn>
                        </p:par>
                        <p:par>
                          <p:cTn id="30" fill="hold">
                            <p:stCondLst>
                              <p:cond delay="5000"/>
                            </p:stCondLst>
                            <p:childTnLst>
                              <p:par>
                                <p:cTn id="31" presetID="14" presetClass="entr" presetSubtype="10" fill="hold" nodeType="afterEffect">
                                  <p:stCondLst>
                                    <p:cond delay="0"/>
                                  </p:stCondLst>
                                  <p:childTnLst>
                                    <p:set>
                                      <p:cBhvr>
                                        <p:cTn id="32" dur="1" fill="hold">
                                          <p:stCondLst>
                                            <p:cond delay="0"/>
                                          </p:stCondLst>
                                        </p:cTn>
                                        <p:tgtEl>
                                          <p:spTgt spid="3"/>
                                        </p:tgtEl>
                                        <p:attrNameLst>
                                          <p:attrName>style.visibility</p:attrName>
                                        </p:attrNameLst>
                                      </p:cBhvr>
                                      <p:to>
                                        <p:strVal val="visible"/>
                                      </p:to>
                                    </p:set>
                                    <p:animEffect transition="in" filter="randombar(horizontal)">
                                      <p:cBhvr>
                                        <p:cTn id="33"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48" grpId="0"/>
      <p:bldP spid="49"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图片 42">
            <a:extLst>
              <a:ext uri="{FF2B5EF4-FFF2-40B4-BE49-F238E27FC236}">
                <a16:creationId xmlns:a16="http://schemas.microsoft.com/office/drawing/2014/main" id="{C8D97DA4-6242-4E73-AEFC-457D04FDC65B}"/>
              </a:ext>
            </a:extLst>
          </p:cNvPr>
          <p:cNvPicPr>
            <a:picLocks noChangeAspect="1"/>
          </p:cNvPicPr>
          <p:nvPr/>
        </p:nvPicPr>
        <p:blipFill>
          <a:blip r:embed="rId2"/>
          <a:stretch>
            <a:fillRect/>
          </a:stretch>
        </p:blipFill>
        <p:spPr>
          <a:xfrm rot="16200000">
            <a:off x="145169" y="-145167"/>
            <a:ext cx="1268414" cy="1558750"/>
          </a:xfrm>
          <a:prstGeom prst="rect">
            <a:avLst/>
          </a:prstGeom>
        </p:spPr>
      </p:pic>
      <p:sp>
        <p:nvSpPr>
          <p:cNvPr id="6" name="文字方塊 5">
            <a:extLst>
              <a:ext uri="{FF2B5EF4-FFF2-40B4-BE49-F238E27FC236}">
                <a16:creationId xmlns:a16="http://schemas.microsoft.com/office/drawing/2014/main" id="{8A30B01A-3198-4955-A208-0E3D9EB60397}"/>
              </a:ext>
            </a:extLst>
          </p:cNvPr>
          <p:cNvSpPr txBox="1"/>
          <p:nvPr/>
        </p:nvSpPr>
        <p:spPr>
          <a:xfrm>
            <a:off x="1558751" y="6596390"/>
            <a:ext cx="4217821" cy="261610"/>
          </a:xfrm>
          <a:prstGeom prst="rect">
            <a:avLst/>
          </a:prstGeom>
          <a:noFill/>
        </p:spPr>
        <p:txBody>
          <a:bodyPr wrap="none" rtlCol="0">
            <a:spAutoFit/>
          </a:bodyPr>
          <a:lstStyle/>
          <a:p>
            <a:r>
              <a:rPr lang="zh-TW" altLang="en-US" sz="1100" dirty="0">
                <a:latin typeface="Microsoft JhengHei Light" panose="020B0304030504040204" pitchFamily="34" charset="-120"/>
                <a:ea typeface="Microsoft JhengHei Light" panose="020B0304030504040204" pitchFamily="34" charset="-120"/>
              </a:rPr>
              <a:t>區塊鏈商業應用概論 實例與分析／新陸書局股份有限公司 發行</a:t>
            </a:r>
          </a:p>
        </p:txBody>
      </p:sp>
      <p:sp>
        <p:nvSpPr>
          <p:cNvPr id="48" name="標題 1">
            <a:extLst>
              <a:ext uri="{FF2B5EF4-FFF2-40B4-BE49-F238E27FC236}">
                <a16:creationId xmlns:a16="http://schemas.microsoft.com/office/drawing/2014/main" id="{F5135BF4-7FBD-4654-BE3B-0E782DCD8B99}"/>
              </a:ext>
            </a:extLst>
          </p:cNvPr>
          <p:cNvSpPr txBox="1">
            <a:spLocks/>
          </p:cNvSpPr>
          <p:nvPr/>
        </p:nvSpPr>
        <p:spPr>
          <a:xfrm>
            <a:off x="1231956" y="393820"/>
            <a:ext cx="3643527" cy="874595"/>
          </a:xfrm>
          <a:prstGeom prst="rect">
            <a:avLst/>
          </a:prstGeom>
        </p:spPr>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altLang="zh-TW" sz="2400" b="1" dirty="0">
                <a:solidFill>
                  <a:srgbClr val="E06741"/>
                </a:solidFill>
              </a:rPr>
              <a:t>2-1 </a:t>
            </a:r>
            <a:r>
              <a:rPr lang="zh-TW" altLang="en-US" sz="2400" b="1" dirty="0">
                <a:solidFill>
                  <a:srgbClr val="E06741"/>
                </a:solidFill>
              </a:rPr>
              <a:t>區塊鏈技術意涵</a:t>
            </a:r>
          </a:p>
          <a:p>
            <a:endParaRPr lang="zh-TW" altLang="en-US" sz="2400" dirty="0">
              <a:solidFill>
                <a:srgbClr val="E06741"/>
              </a:solidFill>
              <a:latin typeface="標楷體" panose="03000509000000000000" pitchFamily="65" charset="-120"/>
              <a:ea typeface="標楷體" panose="03000509000000000000" pitchFamily="65" charset="-120"/>
              <a:cs typeface="Times New Roman" panose="02020603050405020304" pitchFamily="18" charset="0"/>
            </a:endParaRPr>
          </a:p>
        </p:txBody>
      </p:sp>
      <p:sp>
        <p:nvSpPr>
          <p:cNvPr id="49" name="文字方塊 48">
            <a:extLst>
              <a:ext uri="{FF2B5EF4-FFF2-40B4-BE49-F238E27FC236}">
                <a16:creationId xmlns:a16="http://schemas.microsoft.com/office/drawing/2014/main" id="{FB297085-C29F-482F-B638-F990C757CEF9}"/>
              </a:ext>
            </a:extLst>
          </p:cNvPr>
          <p:cNvSpPr txBox="1"/>
          <p:nvPr/>
        </p:nvSpPr>
        <p:spPr>
          <a:xfrm>
            <a:off x="4487241" y="449166"/>
            <a:ext cx="3076483" cy="400110"/>
          </a:xfrm>
          <a:prstGeom prst="rect">
            <a:avLst/>
          </a:prstGeom>
          <a:noFill/>
        </p:spPr>
        <p:txBody>
          <a:bodyPr wrap="none" rtlCol="0">
            <a:spAutoFit/>
          </a:bodyPr>
          <a:lstStyle/>
          <a:p>
            <a:r>
              <a:rPr lang="en-US" altLang="zh-TW" sz="2000" b="1" dirty="0">
                <a:solidFill>
                  <a:schemeClr val="tx1">
                    <a:lumMod val="65000"/>
                    <a:lumOff val="35000"/>
                  </a:schemeClr>
                </a:solidFill>
                <a:latin typeface="微軟正黑體" panose="020B0604030504040204" pitchFamily="34" charset="-120"/>
                <a:ea typeface="微軟正黑體" panose="020B0604030504040204" pitchFamily="34" charset="-120"/>
                <a:cs typeface="Times New Roman" panose="02020603050405020304" pitchFamily="18" charset="0"/>
              </a:rPr>
              <a:t>-2</a:t>
            </a:r>
            <a:r>
              <a:rPr lang="zh-TW" altLang="en-US" sz="2000" b="1" dirty="0">
                <a:solidFill>
                  <a:schemeClr val="tx1">
                    <a:lumMod val="65000"/>
                    <a:lumOff val="35000"/>
                  </a:schemeClr>
                </a:solidFill>
                <a:latin typeface="微軟正黑體" panose="020B0604030504040204" pitchFamily="34" charset="-120"/>
                <a:ea typeface="微軟正黑體" panose="020B0604030504040204" pitchFamily="34" charset="-120"/>
                <a:cs typeface="Times New Roman" panose="02020603050405020304" pitchFamily="18" charset="0"/>
              </a:rPr>
              <a:t> 比特幣區塊鏈技術說明</a:t>
            </a:r>
          </a:p>
        </p:txBody>
      </p:sp>
      <p:cxnSp>
        <p:nvCxnSpPr>
          <p:cNvPr id="50" name="直接连接符 33">
            <a:extLst>
              <a:ext uri="{FF2B5EF4-FFF2-40B4-BE49-F238E27FC236}">
                <a16:creationId xmlns:a16="http://schemas.microsoft.com/office/drawing/2014/main" id="{7BE3099F-DAC8-4912-8643-18E0702C56DC}"/>
              </a:ext>
            </a:extLst>
          </p:cNvPr>
          <p:cNvCxnSpPr/>
          <p:nvPr/>
        </p:nvCxnSpPr>
        <p:spPr>
          <a:xfrm>
            <a:off x="1177167" y="1046746"/>
            <a:ext cx="10585176" cy="0"/>
          </a:xfrm>
          <a:prstGeom prst="line">
            <a:avLst/>
          </a:prstGeom>
          <a:ln w="190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5" name="矩形: 圓角 4">
            <a:extLst>
              <a:ext uri="{FF2B5EF4-FFF2-40B4-BE49-F238E27FC236}">
                <a16:creationId xmlns:a16="http://schemas.microsoft.com/office/drawing/2014/main" id="{4BC2BE3F-0E04-4055-A6CF-691D31046BEF}"/>
              </a:ext>
            </a:extLst>
          </p:cNvPr>
          <p:cNvSpPr/>
          <p:nvPr/>
        </p:nvSpPr>
        <p:spPr>
          <a:xfrm>
            <a:off x="1468583" y="2081522"/>
            <a:ext cx="1856509" cy="1052934"/>
          </a:xfrm>
          <a:prstGeom prst="roundRect">
            <a:avLst/>
          </a:prstGeom>
          <a:noFill/>
          <a:ln w="19050" cap="flat" cmpd="sng" algn="ctr">
            <a:solidFill>
              <a:srgbClr val="05AF99"/>
            </a:solidFill>
            <a:prstDash val="sysDash"/>
            <a:round/>
            <a:headEnd type="none" w="med" len="med"/>
            <a:tailEnd type="none" w="med" len="med"/>
          </a:ln>
        </p:spPr>
        <p:style>
          <a:lnRef idx="0">
            <a:scrgbClr r="0" g="0" b="0"/>
          </a:lnRef>
          <a:fillRef idx="0">
            <a:scrgbClr r="0" g="0" b="0"/>
          </a:fillRef>
          <a:effectRef idx="0">
            <a:scrgbClr r="0" g="0" b="0"/>
          </a:effectRef>
          <a:fontRef idx="minor">
            <a:schemeClr val="accent3"/>
          </a:fontRef>
        </p:style>
        <p:txBody>
          <a:bodyPr rtlCol="0" anchor="ctr"/>
          <a:lstStyle/>
          <a:p>
            <a:pPr algn="ctr"/>
            <a:r>
              <a:rPr lang="zh-TW" altLang="en-US" sz="2000" b="1" dirty="0">
                <a:solidFill>
                  <a:schemeClr val="tx1">
                    <a:lumMod val="75000"/>
                    <a:lumOff val="25000"/>
                  </a:schemeClr>
                </a:solidFill>
                <a:latin typeface="微軟正黑體" panose="020B0604030504040204" pitchFamily="34" charset="-120"/>
                <a:ea typeface="微軟正黑體" panose="020B0604030504040204" pitchFamily="34" charset="-120"/>
              </a:rPr>
              <a:t>反詐騙掌控權</a:t>
            </a:r>
          </a:p>
        </p:txBody>
      </p:sp>
      <p:sp>
        <p:nvSpPr>
          <p:cNvPr id="51" name="矩形: 圓角 50">
            <a:extLst>
              <a:ext uri="{FF2B5EF4-FFF2-40B4-BE49-F238E27FC236}">
                <a16:creationId xmlns:a16="http://schemas.microsoft.com/office/drawing/2014/main" id="{3C6A224E-EF32-4D88-A075-08D2D635BDEF}"/>
              </a:ext>
            </a:extLst>
          </p:cNvPr>
          <p:cNvSpPr/>
          <p:nvPr/>
        </p:nvSpPr>
        <p:spPr>
          <a:xfrm>
            <a:off x="1468583" y="3591301"/>
            <a:ext cx="1856509" cy="1052934"/>
          </a:xfrm>
          <a:prstGeom prst="roundRect">
            <a:avLst/>
          </a:prstGeom>
          <a:noFill/>
          <a:ln w="19050" cap="flat" cmpd="sng" algn="ctr">
            <a:solidFill>
              <a:srgbClr val="05AF99"/>
            </a:solidFill>
            <a:prstDash val="sysDash"/>
            <a:round/>
            <a:headEnd type="none" w="med" len="med"/>
            <a:tailEnd type="none" w="med" len="med"/>
          </a:ln>
        </p:spPr>
        <p:style>
          <a:lnRef idx="0">
            <a:scrgbClr r="0" g="0" b="0"/>
          </a:lnRef>
          <a:fillRef idx="0">
            <a:scrgbClr r="0" g="0" b="0"/>
          </a:fillRef>
          <a:effectRef idx="0">
            <a:scrgbClr r="0" g="0" b="0"/>
          </a:effectRef>
          <a:fontRef idx="minor">
            <a:schemeClr val="accent3"/>
          </a:fontRef>
        </p:style>
        <p:txBody>
          <a:bodyPr rtlCol="0" anchor="ctr"/>
          <a:lstStyle/>
          <a:p>
            <a:pPr algn="ctr"/>
            <a:r>
              <a:rPr lang="zh-TW" altLang="en-US" sz="2000" b="1" dirty="0">
                <a:solidFill>
                  <a:schemeClr val="tx1">
                    <a:lumMod val="75000"/>
                    <a:lumOff val="25000"/>
                  </a:schemeClr>
                </a:solidFill>
                <a:latin typeface="微軟正黑體" panose="020B0604030504040204" pitchFamily="34" charset="-120"/>
                <a:ea typeface="微軟正黑體" panose="020B0604030504040204" pitchFamily="34" charset="-120"/>
              </a:rPr>
              <a:t>眾籌集資</a:t>
            </a:r>
          </a:p>
        </p:txBody>
      </p:sp>
      <p:sp>
        <p:nvSpPr>
          <p:cNvPr id="52" name="矩形: 圓角 51">
            <a:extLst>
              <a:ext uri="{FF2B5EF4-FFF2-40B4-BE49-F238E27FC236}">
                <a16:creationId xmlns:a16="http://schemas.microsoft.com/office/drawing/2014/main" id="{53D58524-C67D-4437-A5FC-1CBCD53436E5}"/>
              </a:ext>
            </a:extLst>
          </p:cNvPr>
          <p:cNvSpPr/>
          <p:nvPr/>
        </p:nvSpPr>
        <p:spPr>
          <a:xfrm>
            <a:off x="8128879" y="2085703"/>
            <a:ext cx="1856509" cy="1052934"/>
          </a:xfrm>
          <a:prstGeom prst="roundRect">
            <a:avLst/>
          </a:prstGeom>
          <a:noFill/>
          <a:ln w="19050" cap="flat" cmpd="sng" algn="ctr">
            <a:solidFill>
              <a:srgbClr val="05AF99"/>
            </a:solidFill>
            <a:prstDash val="sysDash"/>
            <a:round/>
            <a:headEnd type="none" w="med" len="med"/>
            <a:tailEnd type="none" w="med" len="med"/>
          </a:ln>
        </p:spPr>
        <p:style>
          <a:lnRef idx="0">
            <a:scrgbClr r="0" g="0" b="0"/>
          </a:lnRef>
          <a:fillRef idx="0">
            <a:scrgbClr r="0" g="0" b="0"/>
          </a:fillRef>
          <a:effectRef idx="0">
            <a:scrgbClr r="0" g="0" b="0"/>
          </a:effectRef>
          <a:fontRef idx="minor">
            <a:schemeClr val="accent3"/>
          </a:fontRef>
        </p:style>
        <p:txBody>
          <a:bodyPr rtlCol="0" anchor="ctr"/>
          <a:lstStyle/>
          <a:p>
            <a:pPr algn="ctr"/>
            <a:r>
              <a:rPr lang="zh-TW" altLang="en-US" sz="2000" b="1" dirty="0">
                <a:solidFill>
                  <a:schemeClr val="tx1">
                    <a:lumMod val="75000"/>
                    <a:lumOff val="25000"/>
                  </a:schemeClr>
                </a:solidFill>
                <a:latin typeface="微軟正黑體" panose="020B0604030504040204" pitchFamily="34" charset="-120"/>
                <a:ea typeface="微軟正黑體" panose="020B0604030504040204" pitchFamily="34" charset="-120"/>
              </a:rPr>
              <a:t>小費與捐贈</a:t>
            </a:r>
          </a:p>
        </p:txBody>
      </p:sp>
      <p:sp>
        <p:nvSpPr>
          <p:cNvPr id="53" name="矩形: 圓角 52">
            <a:extLst>
              <a:ext uri="{FF2B5EF4-FFF2-40B4-BE49-F238E27FC236}">
                <a16:creationId xmlns:a16="http://schemas.microsoft.com/office/drawing/2014/main" id="{2EA7B090-E338-4E56-AAA5-E7E627153039}"/>
              </a:ext>
            </a:extLst>
          </p:cNvPr>
          <p:cNvSpPr/>
          <p:nvPr/>
        </p:nvSpPr>
        <p:spPr>
          <a:xfrm>
            <a:off x="5908781" y="2081522"/>
            <a:ext cx="1856509" cy="1052934"/>
          </a:xfrm>
          <a:prstGeom prst="roundRect">
            <a:avLst/>
          </a:prstGeom>
          <a:noFill/>
          <a:ln w="19050" cap="flat" cmpd="sng" algn="ctr">
            <a:solidFill>
              <a:srgbClr val="05AF99"/>
            </a:solidFill>
            <a:prstDash val="sysDash"/>
            <a:round/>
            <a:headEnd type="none" w="med" len="med"/>
            <a:tailEnd type="none" w="med" len="med"/>
          </a:ln>
        </p:spPr>
        <p:style>
          <a:lnRef idx="0">
            <a:scrgbClr r="0" g="0" b="0"/>
          </a:lnRef>
          <a:fillRef idx="0">
            <a:scrgbClr r="0" g="0" b="0"/>
          </a:fillRef>
          <a:effectRef idx="0">
            <a:scrgbClr r="0" g="0" b="0"/>
          </a:effectRef>
          <a:fontRef idx="minor">
            <a:schemeClr val="accent3"/>
          </a:fontRef>
        </p:style>
        <p:txBody>
          <a:bodyPr rtlCol="0" anchor="ctr"/>
          <a:lstStyle/>
          <a:p>
            <a:pPr algn="ctr"/>
            <a:r>
              <a:rPr lang="zh-TW" altLang="en-US" sz="2000" b="1" dirty="0">
                <a:solidFill>
                  <a:schemeClr val="tx1">
                    <a:lumMod val="75000"/>
                    <a:lumOff val="25000"/>
                  </a:schemeClr>
                </a:solidFill>
                <a:latin typeface="微軟正黑體" panose="020B0604030504040204" pitchFamily="34" charset="-120"/>
                <a:ea typeface="微軟正黑體" panose="020B0604030504040204" pitchFamily="34" charset="-120"/>
              </a:rPr>
              <a:t>成本效率</a:t>
            </a:r>
          </a:p>
        </p:txBody>
      </p:sp>
      <p:sp>
        <p:nvSpPr>
          <p:cNvPr id="54" name="矩形: 圓角 53">
            <a:extLst>
              <a:ext uri="{FF2B5EF4-FFF2-40B4-BE49-F238E27FC236}">
                <a16:creationId xmlns:a16="http://schemas.microsoft.com/office/drawing/2014/main" id="{E8B33F40-6179-4FC7-97F2-BBF55FC3D196}"/>
              </a:ext>
            </a:extLst>
          </p:cNvPr>
          <p:cNvSpPr/>
          <p:nvPr/>
        </p:nvSpPr>
        <p:spPr>
          <a:xfrm>
            <a:off x="3688684" y="2093357"/>
            <a:ext cx="1856509" cy="1052934"/>
          </a:xfrm>
          <a:prstGeom prst="roundRect">
            <a:avLst/>
          </a:prstGeom>
          <a:noFill/>
          <a:ln w="19050" cap="flat" cmpd="sng" algn="ctr">
            <a:solidFill>
              <a:srgbClr val="05AF99"/>
            </a:solidFill>
            <a:prstDash val="sysDash"/>
            <a:round/>
            <a:headEnd type="none" w="med" len="med"/>
            <a:tailEnd type="none" w="med" len="med"/>
          </a:ln>
        </p:spPr>
        <p:style>
          <a:lnRef idx="0">
            <a:scrgbClr r="0" g="0" b="0"/>
          </a:lnRef>
          <a:fillRef idx="0">
            <a:scrgbClr r="0" g="0" b="0"/>
          </a:fillRef>
          <a:effectRef idx="0">
            <a:scrgbClr r="0" g="0" b="0"/>
          </a:effectRef>
          <a:fontRef idx="minor">
            <a:schemeClr val="accent3"/>
          </a:fontRef>
        </p:style>
        <p:txBody>
          <a:bodyPr rtlCol="0" anchor="ctr"/>
          <a:lstStyle/>
          <a:p>
            <a:pPr algn="ctr"/>
            <a:r>
              <a:rPr lang="zh-TW" altLang="en-US" sz="2000" b="1" dirty="0">
                <a:solidFill>
                  <a:schemeClr val="tx1">
                    <a:lumMod val="75000"/>
                    <a:lumOff val="25000"/>
                  </a:schemeClr>
                </a:solidFill>
                <a:latin typeface="微軟正黑體" panose="020B0604030504040204" pitchFamily="34" charset="-120"/>
                <a:ea typeface="微軟正黑體" panose="020B0604030504040204" pitchFamily="34" charset="-120"/>
              </a:rPr>
              <a:t>全球可接入性</a:t>
            </a:r>
          </a:p>
        </p:txBody>
      </p:sp>
      <p:sp>
        <p:nvSpPr>
          <p:cNvPr id="55" name="矩形: 圓角 54">
            <a:extLst>
              <a:ext uri="{FF2B5EF4-FFF2-40B4-BE49-F238E27FC236}">
                <a16:creationId xmlns:a16="http://schemas.microsoft.com/office/drawing/2014/main" id="{655DFCD1-8C7F-4652-861B-2A2DC1101485}"/>
              </a:ext>
            </a:extLst>
          </p:cNvPr>
          <p:cNvSpPr/>
          <p:nvPr/>
        </p:nvSpPr>
        <p:spPr>
          <a:xfrm>
            <a:off x="3688683" y="3595914"/>
            <a:ext cx="1856509" cy="1052934"/>
          </a:xfrm>
          <a:prstGeom prst="roundRect">
            <a:avLst/>
          </a:prstGeom>
          <a:noFill/>
          <a:ln w="19050" cap="flat" cmpd="sng" algn="ctr">
            <a:solidFill>
              <a:srgbClr val="05AF99"/>
            </a:solidFill>
            <a:prstDash val="sysDash"/>
            <a:round/>
            <a:headEnd type="none" w="med" len="med"/>
            <a:tailEnd type="none" w="med" len="med"/>
          </a:ln>
        </p:spPr>
        <p:style>
          <a:lnRef idx="0">
            <a:scrgbClr r="0" g="0" b="0"/>
          </a:lnRef>
          <a:fillRef idx="0">
            <a:scrgbClr r="0" g="0" b="0"/>
          </a:fillRef>
          <a:effectRef idx="0">
            <a:scrgbClr r="0" g="0" b="0"/>
          </a:effectRef>
          <a:fontRef idx="minor">
            <a:schemeClr val="accent3"/>
          </a:fontRef>
        </p:style>
        <p:txBody>
          <a:bodyPr rtlCol="0" anchor="ctr"/>
          <a:lstStyle/>
          <a:p>
            <a:pPr algn="ctr"/>
            <a:r>
              <a:rPr lang="zh-TW" altLang="en-US" sz="2000" b="1" dirty="0">
                <a:solidFill>
                  <a:schemeClr val="tx1">
                    <a:lumMod val="75000"/>
                    <a:lumOff val="25000"/>
                  </a:schemeClr>
                </a:solidFill>
                <a:latin typeface="微軟正黑體" panose="020B0604030504040204" pitchFamily="34" charset="-120"/>
                <a:ea typeface="微軟正黑體" panose="020B0604030504040204" pitchFamily="34" charset="-120"/>
              </a:rPr>
              <a:t>小額支付</a:t>
            </a:r>
          </a:p>
        </p:txBody>
      </p:sp>
      <p:sp>
        <p:nvSpPr>
          <p:cNvPr id="56" name="矩形: 圓角 55">
            <a:extLst>
              <a:ext uri="{FF2B5EF4-FFF2-40B4-BE49-F238E27FC236}">
                <a16:creationId xmlns:a16="http://schemas.microsoft.com/office/drawing/2014/main" id="{544CFB3D-7305-431E-9466-3E4FBE229BB7}"/>
              </a:ext>
            </a:extLst>
          </p:cNvPr>
          <p:cNvSpPr/>
          <p:nvPr/>
        </p:nvSpPr>
        <p:spPr>
          <a:xfrm>
            <a:off x="1468583" y="5095822"/>
            <a:ext cx="1856509" cy="1052934"/>
          </a:xfrm>
          <a:prstGeom prst="roundRect">
            <a:avLst/>
          </a:prstGeom>
          <a:noFill/>
          <a:ln w="19050" cap="flat" cmpd="sng" algn="ctr">
            <a:solidFill>
              <a:srgbClr val="05AF99"/>
            </a:solidFill>
            <a:prstDash val="sysDash"/>
            <a:round/>
            <a:headEnd type="none" w="med" len="med"/>
            <a:tailEnd type="none" w="med" len="med"/>
          </a:ln>
        </p:spPr>
        <p:style>
          <a:lnRef idx="0">
            <a:scrgbClr r="0" g="0" b="0"/>
          </a:lnRef>
          <a:fillRef idx="0">
            <a:scrgbClr r="0" g="0" b="0"/>
          </a:fillRef>
          <a:effectRef idx="0">
            <a:scrgbClr r="0" g="0" b="0"/>
          </a:effectRef>
          <a:fontRef idx="minor">
            <a:schemeClr val="accent3"/>
          </a:fontRef>
        </p:style>
        <p:txBody>
          <a:bodyPr rtlCol="0" anchor="ctr"/>
          <a:lstStyle/>
          <a:p>
            <a:pPr algn="ctr"/>
            <a:r>
              <a:rPr lang="zh-TW" altLang="en-US" sz="2000" b="1" dirty="0">
                <a:solidFill>
                  <a:schemeClr val="tx1">
                    <a:lumMod val="75000"/>
                    <a:lumOff val="25000"/>
                  </a:schemeClr>
                </a:solidFill>
                <a:latin typeface="微軟正黑體" panose="020B0604030504040204" pitchFamily="34" charset="-120"/>
                <a:ea typeface="微軟正黑體" panose="020B0604030504040204" pitchFamily="34" charset="-120"/>
              </a:rPr>
              <a:t>信任和正直</a:t>
            </a:r>
          </a:p>
        </p:txBody>
      </p:sp>
      <p:sp>
        <p:nvSpPr>
          <p:cNvPr id="57" name="矩形: 圓角 56">
            <a:extLst>
              <a:ext uri="{FF2B5EF4-FFF2-40B4-BE49-F238E27FC236}">
                <a16:creationId xmlns:a16="http://schemas.microsoft.com/office/drawing/2014/main" id="{DFEEE68A-C85E-453D-8726-356C5FD885EE}"/>
              </a:ext>
            </a:extLst>
          </p:cNvPr>
          <p:cNvSpPr/>
          <p:nvPr/>
        </p:nvSpPr>
        <p:spPr>
          <a:xfrm>
            <a:off x="5908781" y="3591301"/>
            <a:ext cx="1856509" cy="1052934"/>
          </a:xfrm>
          <a:prstGeom prst="roundRect">
            <a:avLst/>
          </a:prstGeom>
          <a:noFill/>
          <a:ln w="19050" cap="flat" cmpd="sng" algn="ctr">
            <a:solidFill>
              <a:srgbClr val="05AF99"/>
            </a:solidFill>
            <a:prstDash val="sysDash"/>
            <a:round/>
            <a:headEnd type="none" w="med" len="med"/>
            <a:tailEnd type="none" w="med" len="med"/>
          </a:ln>
        </p:spPr>
        <p:style>
          <a:lnRef idx="0">
            <a:scrgbClr r="0" g="0" b="0"/>
          </a:lnRef>
          <a:fillRef idx="0">
            <a:scrgbClr r="0" g="0" b="0"/>
          </a:fillRef>
          <a:effectRef idx="0">
            <a:scrgbClr r="0" g="0" b="0"/>
          </a:effectRef>
          <a:fontRef idx="minor">
            <a:schemeClr val="accent3"/>
          </a:fontRef>
        </p:style>
        <p:txBody>
          <a:bodyPr rtlCol="0" anchor="ctr"/>
          <a:lstStyle/>
          <a:p>
            <a:pPr algn="ctr"/>
            <a:r>
              <a:rPr lang="zh-TW" altLang="en-US" sz="2000" b="1" dirty="0">
                <a:solidFill>
                  <a:schemeClr val="tx1">
                    <a:lumMod val="75000"/>
                    <a:lumOff val="25000"/>
                  </a:schemeClr>
                </a:solidFill>
                <a:latin typeface="微軟正黑體" panose="020B0604030504040204" pitchFamily="34" charset="-120"/>
                <a:ea typeface="微軟正黑體" panose="020B0604030504040204" pitchFamily="34" charset="-120"/>
              </a:rPr>
              <a:t>調解紛爭</a:t>
            </a:r>
          </a:p>
        </p:txBody>
      </p:sp>
      <p:sp>
        <p:nvSpPr>
          <p:cNvPr id="58" name="矩形: 圓角 57">
            <a:extLst>
              <a:ext uri="{FF2B5EF4-FFF2-40B4-BE49-F238E27FC236}">
                <a16:creationId xmlns:a16="http://schemas.microsoft.com/office/drawing/2014/main" id="{BAF7C6D3-1F5E-4E37-99F2-C18E3023F8DB}"/>
              </a:ext>
            </a:extLst>
          </p:cNvPr>
          <p:cNvSpPr/>
          <p:nvPr/>
        </p:nvSpPr>
        <p:spPr>
          <a:xfrm>
            <a:off x="3688682" y="5095822"/>
            <a:ext cx="1856509" cy="1052934"/>
          </a:xfrm>
          <a:prstGeom prst="roundRect">
            <a:avLst/>
          </a:prstGeom>
          <a:noFill/>
          <a:ln w="19050" cap="flat" cmpd="sng" algn="ctr">
            <a:solidFill>
              <a:srgbClr val="05AF99"/>
            </a:solidFill>
            <a:prstDash val="sysDash"/>
            <a:round/>
            <a:headEnd type="none" w="med" len="med"/>
            <a:tailEnd type="none" w="med" len="med"/>
          </a:ln>
        </p:spPr>
        <p:style>
          <a:lnRef idx="0">
            <a:scrgbClr r="0" g="0" b="0"/>
          </a:lnRef>
          <a:fillRef idx="0">
            <a:scrgbClr r="0" g="0" b="0"/>
          </a:fillRef>
          <a:effectRef idx="0">
            <a:scrgbClr r="0" g="0" b="0"/>
          </a:effectRef>
          <a:fontRef idx="minor">
            <a:schemeClr val="accent3"/>
          </a:fontRef>
        </p:style>
        <p:txBody>
          <a:bodyPr rtlCol="0" anchor="ctr"/>
          <a:lstStyle/>
          <a:p>
            <a:pPr algn="ctr"/>
            <a:r>
              <a:rPr lang="zh-TW" altLang="en-US" sz="2000" b="1" dirty="0">
                <a:solidFill>
                  <a:schemeClr val="tx1">
                    <a:lumMod val="75000"/>
                    <a:lumOff val="25000"/>
                  </a:schemeClr>
                </a:solidFill>
                <a:latin typeface="微軟正黑體" panose="020B0604030504040204" pitchFamily="34" charset="-120"/>
                <a:ea typeface="微軟正黑體" panose="020B0604030504040204" pitchFamily="34" charset="-120"/>
              </a:rPr>
              <a:t>還原能力與 去中心化</a:t>
            </a:r>
          </a:p>
        </p:txBody>
      </p:sp>
      <p:sp>
        <p:nvSpPr>
          <p:cNvPr id="59" name="矩形: 圓角 58">
            <a:extLst>
              <a:ext uri="{FF2B5EF4-FFF2-40B4-BE49-F238E27FC236}">
                <a16:creationId xmlns:a16="http://schemas.microsoft.com/office/drawing/2014/main" id="{229D34BE-DF5E-40A0-A47B-E593B241407D}"/>
              </a:ext>
            </a:extLst>
          </p:cNvPr>
          <p:cNvSpPr/>
          <p:nvPr/>
        </p:nvSpPr>
        <p:spPr>
          <a:xfrm>
            <a:off x="8128879" y="3591301"/>
            <a:ext cx="1856509" cy="1052934"/>
          </a:xfrm>
          <a:prstGeom prst="roundRect">
            <a:avLst/>
          </a:prstGeom>
          <a:noFill/>
          <a:ln w="19050" cap="flat" cmpd="sng" algn="ctr">
            <a:solidFill>
              <a:srgbClr val="05AF99"/>
            </a:solidFill>
            <a:prstDash val="sysDash"/>
            <a:round/>
            <a:headEnd type="none" w="med" len="med"/>
            <a:tailEnd type="none" w="med" len="med"/>
          </a:ln>
        </p:spPr>
        <p:style>
          <a:lnRef idx="0">
            <a:scrgbClr r="0" g="0" b="0"/>
          </a:lnRef>
          <a:fillRef idx="0">
            <a:scrgbClr r="0" g="0" b="0"/>
          </a:fillRef>
          <a:effectRef idx="0">
            <a:scrgbClr r="0" g="0" b="0"/>
          </a:effectRef>
          <a:fontRef idx="minor">
            <a:schemeClr val="accent3"/>
          </a:fontRef>
        </p:style>
        <p:txBody>
          <a:bodyPr rtlCol="0" anchor="ctr"/>
          <a:lstStyle/>
          <a:p>
            <a:pPr algn="ctr"/>
            <a:r>
              <a:rPr lang="zh-TW" altLang="en-US" sz="2000" b="1" dirty="0">
                <a:solidFill>
                  <a:schemeClr val="tx1">
                    <a:lumMod val="75000"/>
                    <a:lumOff val="25000"/>
                  </a:schemeClr>
                </a:solidFill>
                <a:latin typeface="微軟正黑體" panose="020B0604030504040204" pitchFamily="34" charset="-120"/>
                <a:ea typeface="微軟正黑體" panose="020B0604030504040204" pitchFamily="34" charset="-120"/>
              </a:rPr>
              <a:t>多重簽署帳戶</a:t>
            </a:r>
          </a:p>
        </p:txBody>
      </p:sp>
      <p:sp>
        <p:nvSpPr>
          <p:cNvPr id="60" name="矩形: 圓角 59">
            <a:extLst>
              <a:ext uri="{FF2B5EF4-FFF2-40B4-BE49-F238E27FC236}">
                <a16:creationId xmlns:a16="http://schemas.microsoft.com/office/drawing/2014/main" id="{52160799-65C9-4C55-A4FD-610A6DD8B907}"/>
              </a:ext>
            </a:extLst>
          </p:cNvPr>
          <p:cNvSpPr/>
          <p:nvPr/>
        </p:nvSpPr>
        <p:spPr>
          <a:xfrm>
            <a:off x="5908781" y="5095822"/>
            <a:ext cx="1856509" cy="1052934"/>
          </a:xfrm>
          <a:prstGeom prst="roundRect">
            <a:avLst/>
          </a:prstGeom>
          <a:noFill/>
          <a:ln w="19050" cap="flat" cmpd="sng" algn="ctr">
            <a:solidFill>
              <a:srgbClr val="05AF99"/>
            </a:solidFill>
            <a:prstDash val="sysDash"/>
            <a:round/>
            <a:headEnd type="none" w="med" len="med"/>
            <a:tailEnd type="none" w="med" len="med"/>
          </a:ln>
        </p:spPr>
        <p:style>
          <a:lnRef idx="0">
            <a:scrgbClr r="0" g="0" b="0"/>
          </a:lnRef>
          <a:fillRef idx="0">
            <a:scrgbClr r="0" g="0" b="0"/>
          </a:fillRef>
          <a:effectRef idx="0">
            <a:scrgbClr r="0" g="0" b="0"/>
          </a:effectRef>
          <a:fontRef idx="minor">
            <a:schemeClr val="accent3"/>
          </a:fontRef>
        </p:style>
        <p:txBody>
          <a:bodyPr rtlCol="0" anchor="ctr"/>
          <a:lstStyle/>
          <a:p>
            <a:pPr algn="ctr"/>
            <a:r>
              <a:rPr lang="zh-TW" altLang="en-US" sz="2000" b="1" dirty="0">
                <a:solidFill>
                  <a:schemeClr val="tx1">
                    <a:lumMod val="75000"/>
                    <a:lumOff val="25000"/>
                  </a:schemeClr>
                </a:solidFill>
                <a:latin typeface="微軟正黑體" panose="020B0604030504040204" pitchFamily="34" charset="-120"/>
                <a:ea typeface="微軟正黑體" panose="020B0604030504040204" pitchFamily="34" charset="-120"/>
              </a:rPr>
              <a:t>彈性透明度</a:t>
            </a:r>
          </a:p>
        </p:txBody>
      </p:sp>
      <p:sp>
        <p:nvSpPr>
          <p:cNvPr id="61" name="矩形: 圓角 60">
            <a:extLst>
              <a:ext uri="{FF2B5EF4-FFF2-40B4-BE49-F238E27FC236}">
                <a16:creationId xmlns:a16="http://schemas.microsoft.com/office/drawing/2014/main" id="{1FBE3343-56AC-41FD-ABF2-4D5258A621AE}"/>
              </a:ext>
            </a:extLst>
          </p:cNvPr>
          <p:cNvSpPr/>
          <p:nvPr/>
        </p:nvSpPr>
        <p:spPr>
          <a:xfrm>
            <a:off x="8128878" y="5095822"/>
            <a:ext cx="1856509" cy="1052934"/>
          </a:xfrm>
          <a:prstGeom prst="roundRect">
            <a:avLst/>
          </a:prstGeom>
          <a:noFill/>
          <a:ln w="19050" cap="flat" cmpd="sng" algn="ctr">
            <a:solidFill>
              <a:srgbClr val="05AF99"/>
            </a:solidFill>
            <a:prstDash val="sysDash"/>
            <a:round/>
            <a:headEnd type="none" w="med" len="med"/>
            <a:tailEnd type="none" w="med" len="med"/>
          </a:ln>
        </p:spPr>
        <p:style>
          <a:lnRef idx="0">
            <a:scrgbClr r="0" g="0" b="0"/>
          </a:lnRef>
          <a:fillRef idx="0">
            <a:scrgbClr r="0" g="0" b="0"/>
          </a:fillRef>
          <a:effectRef idx="0">
            <a:scrgbClr r="0" g="0" b="0"/>
          </a:effectRef>
          <a:fontRef idx="minor">
            <a:schemeClr val="accent3"/>
          </a:fontRef>
        </p:style>
        <p:txBody>
          <a:bodyPr rtlCol="0" anchor="ctr"/>
          <a:lstStyle/>
          <a:p>
            <a:pPr algn="ctr"/>
            <a:r>
              <a:rPr lang="zh-TW" altLang="en-US" sz="2000" b="1" dirty="0">
                <a:solidFill>
                  <a:schemeClr val="tx1">
                    <a:lumMod val="75000"/>
                    <a:lumOff val="25000"/>
                  </a:schemeClr>
                </a:solidFill>
                <a:latin typeface="微軟正黑體" panose="020B0604030504040204" pitchFamily="34" charset="-120"/>
                <a:ea typeface="微軟正黑體" panose="020B0604030504040204" pitchFamily="34" charset="-120"/>
              </a:rPr>
              <a:t>自動化的</a:t>
            </a:r>
            <a:endParaRPr lang="en-US" altLang="zh-TW" sz="2000" b="1" dirty="0">
              <a:solidFill>
                <a:schemeClr val="tx1">
                  <a:lumMod val="75000"/>
                  <a:lumOff val="25000"/>
                </a:schemeClr>
              </a:solidFill>
              <a:latin typeface="微軟正黑體" panose="020B0604030504040204" pitchFamily="34" charset="-120"/>
              <a:ea typeface="微軟正黑體" panose="020B0604030504040204" pitchFamily="34" charset="-120"/>
            </a:endParaRPr>
          </a:p>
          <a:p>
            <a:pPr algn="ctr"/>
            <a:r>
              <a:rPr lang="zh-TW" altLang="en-US" sz="2000" b="1" dirty="0">
                <a:solidFill>
                  <a:schemeClr val="tx1">
                    <a:lumMod val="75000"/>
                    <a:lumOff val="25000"/>
                  </a:schemeClr>
                </a:solidFill>
                <a:latin typeface="微軟正黑體" panose="020B0604030504040204" pitchFamily="34" charset="-120"/>
                <a:ea typeface="微軟正黑體" panose="020B0604030504040204" pitchFamily="34" charset="-120"/>
              </a:rPr>
              <a:t>解決方案</a:t>
            </a:r>
          </a:p>
        </p:txBody>
      </p:sp>
      <p:sp>
        <p:nvSpPr>
          <p:cNvPr id="62" name="矩形 61">
            <a:extLst>
              <a:ext uri="{FF2B5EF4-FFF2-40B4-BE49-F238E27FC236}">
                <a16:creationId xmlns:a16="http://schemas.microsoft.com/office/drawing/2014/main" id="{2F26A5C0-1891-4398-80E6-77C4D38FF9C7}"/>
              </a:ext>
            </a:extLst>
          </p:cNvPr>
          <p:cNvSpPr/>
          <p:nvPr/>
        </p:nvSpPr>
        <p:spPr>
          <a:xfrm>
            <a:off x="1424070" y="1185642"/>
            <a:ext cx="4352502" cy="578492"/>
          </a:xfrm>
          <a:prstGeom prst="rect">
            <a:avLst/>
          </a:prstGeom>
        </p:spPr>
        <p:txBody>
          <a:bodyPr wrap="square">
            <a:spAutoFit/>
          </a:bodyPr>
          <a:lstStyle/>
          <a:p>
            <a:pPr marL="342900" indent="-342900">
              <a:lnSpc>
                <a:spcPct val="150000"/>
              </a:lnSpc>
              <a:buSzPct val="150000"/>
              <a:buBlip>
                <a:blip r:embed="rId3"/>
              </a:buBlip>
            </a:pPr>
            <a:r>
              <a:rPr lang="zh-TW" altLang="en-US" sz="2400" b="1" dirty="0">
                <a:solidFill>
                  <a:schemeClr val="tx1">
                    <a:lumMod val="75000"/>
                    <a:lumOff val="25000"/>
                  </a:schemeClr>
                </a:solidFill>
                <a:latin typeface="微軟正黑體" panose="020B0604030504040204" pitchFamily="34" charset="-120"/>
                <a:ea typeface="微軟正黑體" panose="020B0604030504040204" pitchFamily="34" charset="-120"/>
              </a:rPr>
              <a:t>比特幣支付系統</a:t>
            </a:r>
            <a:endParaRPr lang="en-US" altLang="zh-TW" sz="2400" b="1" dirty="0">
              <a:solidFill>
                <a:schemeClr val="tx1">
                  <a:lumMod val="75000"/>
                  <a:lumOff val="25000"/>
                </a:schemeClr>
              </a:solidFill>
              <a:latin typeface="微軟正黑體" panose="020B0604030504040204" pitchFamily="34" charset="-120"/>
              <a:ea typeface="微軟正黑體" panose="020B0604030504040204" pitchFamily="34" charset="-120"/>
            </a:endParaRPr>
          </a:p>
        </p:txBody>
      </p:sp>
      <p:pic>
        <p:nvPicPr>
          <p:cNvPr id="7" name="圖片 6">
            <a:extLst>
              <a:ext uri="{FF2B5EF4-FFF2-40B4-BE49-F238E27FC236}">
                <a16:creationId xmlns:a16="http://schemas.microsoft.com/office/drawing/2014/main" id="{4B96A832-89D5-4160-ACBD-9A74C55316D3}"/>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348975" y="5065208"/>
            <a:ext cx="1792792" cy="1792792"/>
          </a:xfrm>
          <a:prstGeom prst="rect">
            <a:avLst/>
          </a:prstGeom>
        </p:spPr>
      </p:pic>
    </p:spTree>
    <p:extLst>
      <p:ext uri="{BB962C8B-B14F-4D97-AF65-F5344CB8AC3E}">
        <p14:creationId xmlns:p14="http://schemas.microsoft.com/office/powerpoint/2010/main" val="366930078"/>
      </p:ext>
    </p:extLst>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2000">
        <p15:prstTrans prst="fallOver"/>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6" presetClass="entr" presetSubtype="16" fill="hold" grpId="0" nodeType="afterEffect">
                                  <p:stCondLst>
                                    <p:cond delay="0"/>
                                  </p:stCondLst>
                                  <p:childTnLst>
                                    <p:set>
                                      <p:cBhvr>
                                        <p:cTn id="6" dur="1" fill="hold">
                                          <p:stCondLst>
                                            <p:cond delay="0"/>
                                          </p:stCondLst>
                                        </p:cTn>
                                        <p:tgtEl>
                                          <p:spTgt spid="48"/>
                                        </p:tgtEl>
                                        <p:attrNameLst>
                                          <p:attrName>style.visibility</p:attrName>
                                        </p:attrNameLst>
                                      </p:cBhvr>
                                      <p:to>
                                        <p:strVal val="visible"/>
                                      </p:to>
                                    </p:set>
                                    <p:animEffect transition="in" filter="circle(in)">
                                      <p:cBhvr>
                                        <p:cTn id="7" dur="2000"/>
                                        <p:tgtEl>
                                          <p:spTgt spid="48"/>
                                        </p:tgtEl>
                                      </p:cBhvr>
                                    </p:animEffect>
                                  </p:childTnLst>
                                </p:cTn>
                              </p:par>
                            </p:childTnLst>
                          </p:cTn>
                        </p:par>
                        <p:par>
                          <p:cTn id="8" fill="hold">
                            <p:stCondLst>
                              <p:cond delay="2000"/>
                            </p:stCondLst>
                            <p:childTnLst>
                              <p:par>
                                <p:cTn id="9" presetID="14" presetClass="entr" presetSubtype="10" fill="hold" grpId="0" nodeType="afterEffect">
                                  <p:stCondLst>
                                    <p:cond delay="0"/>
                                  </p:stCondLst>
                                  <p:childTnLst>
                                    <p:set>
                                      <p:cBhvr>
                                        <p:cTn id="10" dur="1" fill="hold">
                                          <p:stCondLst>
                                            <p:cond delay="0"/>
                                          </p:stCondLst>
                                        </p:cTn>
                                        <p:tgtEl>
                                          <p:spTgt spid="49"/>
                                        </p:tgtEl>
                                        <p:attrNameLst>
                                          <p:attrName>style.visibility</p:attrName>
                                        </p:attrNameLst>
                                      </p:cBhvr>
                                      <p:to>
                                        <p:strVal val="visible"/>
                                      </p:to>
                                    </p:set>
                                    <p:animEffect transition="in" filter="randombar(horizontal)">
                                      <p:cBhvr>
                                        <p:cTn id="11" dur="500"/>
                                        <p:tgtEl>
                                          <p:spTgt spid="49"/>
                                        </p:tgtEl>
                                      </p:cBhvr>
                                    </p:animEffect>
                                  </p:childTnLst>
                                </p:cTn>
                              </p:par>
                            </p:childTnLst>
                          </p:cTn>
                        </p:par>
                        <p:par>
                          <p:cTn id="12" fill="hold">
                            <p:stCondLst>
                              <p:cond delay="2500"/>
                            </p:stCondLst>
                            <p:childTnLst>
                              <p:par>
                                <p:cTn id="13" presetID="2" presetClass="entr" presetSubtype="8" fill="hold" nodeType="afterEffect">
                                  <p:stCondLst>
                                    <p:cond delay="0"/>
                                  </p:stCondLst>
                                  <p:childTnLst>
                                    <p:set>
                                      <p:cBhvr>
                                        <p:cTn id="14" dur="1" fill="hold">
                                          <p:stCondLst>
                                            <p:cond delay="0"/>
                                          </p:stCondLst>
                                        </p:cTn>
                                        <p:tgtEl>
                                          <p:spTgt spid="50"/>
                                        </p:tgtEl>
                                        <p:attrNameLst>
                                          <p:attrName>style.visibility</p:attrName>
                                        </p:attrNameLst>
                                      </p:cBhvr>
                                      <p:to>
                                        <p:strVal val="visible"/>
                                      </p:to>
                                    </p:set>
                                    <p:anim calcmode="lin" valueType="num">
                                      <p:cBhvr additive="base">
                                        <p:cTn id="15" dur="500" fill="hold"/>
                                        <p:tgtEl>
                                          <p:spTgt spid="50"/>
                                        </p:tgtEl>
                                        <p:attrNameLst>
                                          <p:attrName>ppt_x</p:attrName>
                                        </p:attrNameLst>
                                      </p:cBhvr>
                                      <p:tavLst>
                                        <p:tav tm="0">
                                          <p:val>
                                            <p:strVal val="0-#ppt_w/2"/>
                                          </p:val>
                                        </p:tav>
                                        <p:tav tm="100000">
                                          <p:val>
                                            <p:strVal val="#ppt_x"/>
                                          </p:val>
                                        </p:tav>
                                      </p:tavLst>
                                    </p:anim>
                                    <p:anim calcmode="lin" valueType="num">
                                      <p:cBhvr additive="base">
                                        <p:cTn id="16" dur="500" fill="hold"/>
                                        <p:tgtEl>
                                          <p:spTgt spid="50"/>
                                        </p:tgtEl>
                                        <p:attrNameLst>
                                          <p:attrName>ppt_y</p:attrName>
                                        </p:attrNameLst>
                                      </p:cBhvr>
                                      <p:tavLst>
                                        <p:tav tm="0">
                                          <p:val>
                                            <p:strVal val="#ppt_y"/>
                                          </p:val>
                                        </p:tav>
                                        <p:tav tm="100000">
                                          <p:val>
                                            <p:strVal val="#ppt_y"/>
                                          </p:val>
                                        </p:tav>
                                      </p:tavLst>
                                    </p:anim>
                                  </p:childTnLst>
                                </p:cTn>
                              </p:par>
                            </p:childTnLst>
                          </p:cTn>
                        </p:par>
                        <p:par>
                          <p:cTn id="17" fill="hold">
                            <p:stCondLst>
                              <p:cond delay="3000"/>
                            </p:stCondLst>
                            <p:childTnLst>
                              <p:par>
                                <p:cTn id="18" presetID="14" presetClass="entr" presetSubtype="10" fill="hold" grpId="0" nodeType="afterEffect">
                                  <p:stCondLst>
                                    <p:cond delay="0"/>
                                  </p:stCondLst>
                                  <p:childTnLst>
                                    <p:set>
                                      <p:cBhvr>
                                        <p:cTn id="19" dur="1" fill="hold">
                                          <p:stCondLst>
                                            <p:cond delay="0"/>
                                          </p:stCondLst>
                                        </p:cTn>
                                        <p:tgtEl>
                                          <p:spTgt spid="62"/>
                                        </p:tgtEl>
                                        <p:attrNameLst>
                                          <p:attrName>style.visibility</p:attrName>
                                        </p:attrNameLst>
                                      </p:cBhvr>
                                      <p:to>
                                        <p:strVal val="visible"/>
                                      </p:to>
                                    </p:set>
                                    <p:animEffect transition="in" filter="randombar(horizontal)">
                                      <p:cBhvr>
                                        <p:cTn id="20" dur="500"/>
                                        <p:tgtEl>
                                          <p:spTgt spid="62"/>
                                        </p:tgtEl>
                                      </p:cBhvr>
                                    </p:animEffect>
                                  </p:childTnLst>
                                </p:cTn>
                              </p:par>
                            </p:childTnLst>
                          </p:cTn>
                        </p:par>
                        <p:par>
                          <p:cTn id="21" fill="hold">
                            <p:stCondLst>
                              <p:cond delay="3500"/>
                            </p:stCondLst>
                            <p:childTnLst>
                              <p:par>
                                <p:cTn id="22" presetID="53" presetClass="entr" presetSubtype="16" fill="hold" grpId="0" nodeType="afterEffect">
                                  <p:stCondLst>
                                    <p:cond delay="0"/>
                                  </p:stCondLst>
                                  <p:childTnLst>
                                    <p:set>
                                      <p:cBhvr>
                                        <p:cTn id="23" dur="1" fill="hold">
                                          <p:stCondLst>
                                            <p:cond delay="0"/>
                                          </p:stCondLst>
                                        </p:cTn>
                                        <p:tgtEl>
                                          <p:spTgt spid="5"/>
                                        </p:tgtEl>
                                        <p:attrNameLst>
                                          <p:attrName>style.visibility</p:attrName>
                                        </p:attrNameLst>
                                      </p:cBhvr>
                                      <p:to>
                                        <p:strVal val="visible"/>
                                      </p:to>
                                    </p:set>
                                    <p:anim calcmode="lin" valueType="num">
                                      <p:cBhvr>
                                        <p:cTn id="24" dur="500" fill="hold"/>
                                        <p:tgtEl>
                                          <p:spTgt spid="5"/>
                                        </p:tgtEl>
                                        <p:attrNameLst>
                                          <p:attrName>ppt_w</p:attrName>
                                        </p:attrNameLst>
                                      </p:cBhvr>
                                      <p:tavLst>
                                        <p:tav tm="0">
                                          <p:val>
                                            <p:fltVal val="0"/>
                                          </p:val>
                                        </p:tav>
                                        <p:tav tm="100000">
                                          <p:val>
                                            <p:strVal val="#ppt_w"/>
                                          </p:val>
                                        </p:tav>
                                      </p:tavLst>
                                    </p:anim>
                                    <p:anim calcmode="lin" valueType="num">
                                      <p:cBhvr>
                                        <p:cTn id="25" dur="500" fill="hold"/>
                                        <p:tgtEl>
                                          <p:spTgt spid="5"/>
                                        </p:tgtEl>
                                        <p:attrNameLst>
                                          <p:attrName>ppt_h</p:attrName>
                                        </p:attrNameLst>
                                      </p:cBhvr>
                                      <p:tavLst>
                                        <p:tav tm="0">
                                          <p:val>
                                            <p:fltVal val="0"/>
                                          </p:val>
                                        </p:tav>
                                        <p:tav tm="100000">
                                          <p:val>
                                            <p:strVal val="#ppt_h"/>
                                          </p:val>
                                        </p:tav>
                                      </p:tavLst>
                                    </p:anim>
                                    <p:animEffect transition="in" filter="fade">
                                      <p:cBhvr>
                                        <p:cTn id="26" dur="500"/>
                                        <p:tgtEl>
                                          <p:spTgt spid="5"/>
                                        </p:tgtEl>
                                      </p:cBhvr>
                                    </p:animEffect>
                                  </p:childTnLst>
                                </p:cTn>
                              </p:par>
                              <p:par>
                                <p:cTn id="27" presetID="53" presetClass="entr" presetSubtype="16" fill="hold" grpId="0" nodeType="withEffect">
                                  <p:stCondLst>
                                    <p:cond delay="0"/>
                                  </p:stCondLst>
                                  <p:childTnLst>
                                    <p:set>
                                      <p:cBhvr>
                                        <p:cTn id="28" dur="1" fill="hold">
                                          <p:stCondLst>
                                            <p:cond delay="0"/>
                                          </p:stCondLst>
                                        </p:cTn>
                                        <p:tgtEl>
                                          <p:spTgt spid="54"/>
                                        </p:tgtEl>
                                        <p:attrNameLst>
                                          <p:attrName>style.visibility</p:attrName>
                                        </p:attrNameLst>
                                      </p:cBhvr>
                                      <p:to>
                                        <p:strVal val="visible"/>
                                      </p:to>
                                    </p:set>
                                    <p:anim calcmode="lin" valueType="num">
                                      <p:cBhvr>
                                        <p:cTn id="29" dur="500" fill="hold"/>
                                        <p:tgtEl>
                                          <p:spTgt spid="54"/>
                                        </p:tgtEl>
                                        <p:attrNameLst>
                                          <p:attrName>ppt_w</p:attrName>
                                        </p:attrNameLst>
                                      </p:cBhvr>
                                      <p:tavLst>
                                        <p:tav tm="0">
                                          <p:val>
                                            <p:fltVal val="0"/>
                                          </p:val>
                                        </p:tav>
                                        <p:tav tm="100000">
                                          <p:val>
                                            <p:strVal val="#ppt_w"/>
                                          </p:val>
                                        </p:tav>
                                      </p:tavLst>
                                    </p:anim>
                                    <p:anim calcmode="lin" valueType="num">
                                      <p:cBhvr>
                                        <p:cTn id="30" dur="500" fill="hold"/>
                                        <p:tgtEl>
                                          <p:spTgt spid="54"/>
                                        </p:tgtEl>
                                        <p:attrNameLst>
                                          <p:attrName>ppt_h</p:attrName>
                                        </p:attrNameLst>
                                      </p:cBhvr>
                                      <p:tavLst>
                                        <p:tav tm="0">
                                          <p:val>
                                            <p:fltVal val="0"/>
                                          </p:val>
                                        </p:tav>
                                        <p:tav tm="100000">
                                          <p:val>
                                            <p:strVal val="#ppt_h"/>
                                          </p:val>
                                        </p:tav>
                                      </p:tavLst>
                                    </p:anim>
                                    <p:animEffect transition="in" filter="fade">
                                      <p:cBhvr>
                                        <p:cTn id="31" dur="500"/>
                                        <p:tgtEl>
                                          <p:spTgt spid="54"/>
                                        </p:tgtEl>
                                      </p:cBhvr>
                                    </p:animEffect>
                                  </p:childTnLst>
                                </p:cTn>
                              </p:par>
                              <p:par>
                                <p:cTn id="32" presetID="53" presetClass="entr" presetSubtype="16" fill="hold" grpId="0" nodeType="withEffect">
                                  <p:stCondLst>
                                    <p:cond delay="0"/>
                                  </p:stCondLst>
                                  <p:childTnLst>
                                    <p:set>
                                      <p:cBhvr>
                                        <p:cTn id="33" dur="1" fill="hold">
                                          <p:stCondLst>
                                            <p:cond delay="0"/>
                                          </p:stCondLst>
                                        </p:cTn>
                                        <p:tgtEl>
                                          <p:spTgt spid="53"/>
                                        </p:tgtEl>
                                        <p:attrNameLst>
                                          <p:attrName>style.visibility</p:attrName>
                                        </p:attrNameLst>
                                      </p:cBhvr>
                                      <p:to>
                                        <p:strVal val="visible"/>
                                      </p:to>
                                    </p:set>
                                    <p:anim calcmode="lin" valueType="num">
                                      <p:cBhvr>
                                        <p:cTn id="34" dur="500" fill="hold"/>
                                        <p:tgtEl>
                                          <p:spTgt spid="53"/>
                                        </p:tgtEl>
                                        <p:attrNameLst>
                                          <p:attrName>ppt_w</p:attrName>
                                        </p:attrNameLst>
                                      </p:cBhvr>
                                      <p:tavLst>
                                        <p:tav tm="0">
                                          <p:val>
                                            <p:fltVal val="0"/>
                                          </p:val>
                                        </p:tav>
                                        <p:tav tm="100000">
                                          <p:val>
                                            <p:strVal val="#ppt_w"/>
                                          </p:val>
                                        </p:tav>
                                      </p:tavLst>
                                    </p:anim>
                                    <p:anim calcmode="lin" valueType="num">
                                      <p:cBhvr>
                                        <p:cTn id="35" dur="500" fill="hold"/>
                                        <p:tgtEl>
                                          <p:spTgt spid="53"/>
                                        </p:tgtEl>
                                        <p:attrNameLst>
                                          <p:attrName>ppt_h</p:attrName>
                                        </p:attrNameLst>
                                      </p:cBhvr>
                                      <p:tavLst>
                                        <p:tav tm="0">
                                          <p:val>
                                            <p:fltVal val="0"/>
                                          </p:val>
                                        </p:tav>
                                        <p:tav tm="100000">
                                          <p:val>
                                            <p:strVal val="#ppt_h"/>
                                          </p:val>
                                        </p:tav>
                                      </p:tavLst>
                                    </p:anim>
                                    <p:animEffect transition="in" filter="fade">
                                      <p:cBhvr>
                                        <p:cTn id="36" dur="500"/>
                                        <p:tgtEl>
                                          <p:spTgt spid="53"/>
                                        </p:tgtEl>
                                      </p:cBhvr>
                                    </p:animEffect>
                                  </p:childTnLst>
                                </p:cTn>
                              </p:par>
                              <p:par>
                                <p:cTn id="37" presetID="53" presetClass="entr" presetSubtype="16" fill="hold" grpId="0" nodeType="withEffect">
                                  <p:stCondLst>
                                    <p:cond delay="0"/>
                                  </p:stCondLst>
                                  <p:childTnLst>
                                    <p:set>
                                      <p:cBhvr>
                                        <p:cTn id="38" dur="1" fill="hold">
                                          <p:stCondLst>
                                            <p:cond delay="0"/>
                                          </p:stCondLst>
                                        </p:cTn>
                                        <p:tgtEl>
                                          <p:spTgt spid="52"/>
                                        </p:tgtEl>
                                        <p:attrNameLst>
                                          <p:attrName>style.visibility</p:attrName>
                                        </p:attrNameLst>
                                      </p:cBhvr>
                                      <p:to>
                                        <p:strVal val="visible"/>
                                      </p:to>
                                    </p:set>
                                    <p:anim calcmode="lin" valueType="num">
                                      <p:cBhvr>
                                        <p:cTn id="39" dur="500" fill="hold"/>
                                        <p:tgtEl>
                                          <p:spTgt spid="52"/>
                                        </p:tgtEl>
                                        <p:attrNameLst>
                                          <p:attrName>ppt_w</p:attrName>
                                        </p:attrNameLst>
                                      </p:cBhvr>
                                      <p:tavLst>
                                        <p:tav tm="0">
                                          <p:val>
                                            <p:fltVal val="0"/>
                                          </p:val>
                                        </p:tav>
                                        <p:tav tm="100000">
                                          <p:val>
                                            <p:strVal val="#ppt_w"/>
                                          </p:val>
                                        </p:tav>
                                      </p:tavLst>
                                    </p:anim>
                                    <p:anim calcmode="lin" valueType="num">
                                      <p:cBhvr>
                                        <p:cTn id="40" dur="500" fill="hold"/>
                                        <p:tgtEl>
                                          <p:spTgt spid="52"/>
                                        </p:tgtEl>
                                        <p:attrNameLst>
                                          <p:attrName>ppt_h</p:attrName>
                                        </p:attrNameLst>
                                      </p:cBhvr>
                                      <p:tavLst>
                                        <p:tav tm="0">
                                          <p:val>
                                            <p:fltVal val="0"/>
                                          </p:val>
                                        </p:tav>
                                        <p:tav tm="100000">
                                          <p:val>
                                            <p:strVal val="#ppt_h"/>
                                          </p:val>
                                        </p:tav>
                                      </p:tavLst>
                                    </p:anim>
                                    <p:animEffect transition="in" filter="fade">
                                      <p:cBhvr>
                                        <p:cTn id="41" dur="500"/>
                                        <p:tgtEl>
                                          <p:spTgt spid="52"/>
                                        </p:tgtEl>
                                      </p:cBhvr>
                                    </p:animEffect>
                                  </p:childTnLst>
                                </p:cTn>
                              </p:par>
                            </p:childTnLst>
                          </p:cTn>
                        </p:par>
                        <p:par>
                          <p:cTn id="42" fill="hold">
                            <p:stCondLst>
                              <p:cond delay="4000"/>
                            </p:stCondLst>
                            <p:childTnLst>
                              <p:par>
                                <p:cTn id="43" presetID="53" presetClass="entr" presetSubtype="16" fill="hold" grpId="0" nodeType="afterEffect">
                                  <p:stCondLst>
                                    <p:cond delay="0"/>
                                  </p:stCondLst>
                                  <p:childTnLst>
                                    <p:set>
                                      <p:cBhvr>
                                        <p:cTn id="44" dur="1" fill="hold">
                                          <p:stCondLst>
                                            <p:cond delay="0"/>
                                          </p:stCondLst>
                                        </p:cTn>
                                        <p:tgtEl>
                                          <p:spTgt spid="51"/>
                                        </p:tgtEl>
                                        <p:attrNameLst>
                                          <p:attrName>style.visibility</p:attrName>
                                        </p:attrNameLst>
                                      </p:cBhvr>
                                      <p:to>
                                        <p:strVal val="visible"/>
                                      </p:to>
                                    </p:set>
                                    <p:anim calcmode="lin" valueType="num">
                                      <p:cBhvr>
                                        <p:cTn id="45" dur="500" fill="hold"/>
                                        <p:tgtEl>
                                          <p:spTgt spid="51"/>
                                        </p:tgtEl>
                                        <p:attrNameLst>
                                          <p:attrName>ppt_w</p:attrName>
                                        </p:attrNameLst>
                                      </p:cBhvr>
                                      <p:tavLst>
                                        <p:tav tm="0">
                                          <p:val>
                                            <p:fltVal val="0"/>
                                          </p:val>
                                        </p:tav>
                                        <p:tav tm="100000">
                                          <p:val>
                                            <p:strVal val="#ppt_w"/>
                                          </p:val>
                                        </p:tav>
                                      </p:tavLst>
                                    </p:anim>
                                    <p:anim calcmode="lin" valueType="num">
                                      <p:cBhvr>
                                        <p:cTn id="46" dur="500" fill="hold"/>
                                        <p:tgtEl>
                                          <p:spTgt spid="51"/>
                                        </p:tgtEl>
                                        <p:attrNameLst>
                                          <p:attrName>ppt_h</p:attrName>
                                        </p:attrNameLst>
                                      </p:cBhvr>
                                      <p:tavLst>
                                        <p:tav tm="0">
                                          <p:val>
                                            <p:fltVal val="0"/>
                                          </p:val>
                                        </p:tav>
                                        <p:tav tm="100000">
                                          <p:val>
                                            <p:strVal val="#ppt_h"/>
                                          </p:val>
                                        </p:tav>
                                      </p:tavLst>
                                    </p:anim>
                                    <p:animEffect transition="in" filter="fade">
                                      <p:cBhvr>
                                        <p:cTn id="47" dur="500"/>
                                        <p:tgtEl>
                                          <p:spTgt spid="51"/>
                                        </p:tgtEl>
                                      </p:cBhvr>
                                    </p:animEffect>
                                  </p:childTnLst>
                                </p:cTn>
                              </p:par>
                              <p:par>
                                <p:cTn id="48" presetID="53" presetClass="entr" presetSubtype="16" fill="hold" grpId="0" nodeType="withEffect">
                                  <p:stCondLst>
                                    <p:cond delay="0"/>
                                  </p:stCondLst>
                                  <p:childTnLst>
                                    <p:set>
                                      <p:cBhvr>
                                        <p:cTn id="49" dur="1" fill="hold">
                                          <p:stCondLst>
                                            <p:cond delay="0"/>
                                          </p:stCondLst>
                                        </p:cTn>
                                        <p:tgtEl>
                                          <p:spTgt spid="55"/>
                                        </p:tgtEl>
                                        <p:attrNameLst>
                                          <p:attrName>style.visibility</p:attrName>
                                        </p:attrNameLst>
                                      </p:cBhvr>
                                      <p:to>
                                        <p:strVal val="visible"/>
                                      </p:to>
                                    </p:set>
                                    <p:anim calcmode="lin" valueType="num">
                                      <p:cBhvr>
                                        <p:cTn id="50" dur="500" fill="hold"/>
                                        <p:tgtEl>
                                          <p:spTgt spid="55"/>
                                        </p:tgtEl>
                                        <p:attrNameLst>
                                          <p:attrName>ppt_w</p:attrName>
                                        </p:attrNameLst>
                                      </p:cBhvr>
                                      <p:tavLst>
                                        <p:tav tm="0">
                                          <p:val>
                                            <p:fltVal val="0"/>
                                          </p:val>
                                        </p:tav>
                                        <p:tav tm="100000">
                                          <p:val>
                                            <p:strVal val="#ppt_w"/>
                                          </p:val>
                                        </p:tav>
                                      </p:tavLst>
                                    </p:anim>
                                    <p:anim calcmode="lin" valueType="num">
                                      <p:cBhvr>
                                        <p:cTn id="51" dur="500" fill="hold"/>
                                        <p:tgtEl>
                                          <p:spTgt spid="55"/>
                                        </p:tgtEl>
                                        <p:attrNameLst>
                                          <p:attrName>ppt_h</p:attrName>
                                        </p:attrNameLst>
                                      </p:cBhvr>
                                      <p:tavLst>
                                        <p:tav tm="0">
                                          <p:val>
                                            <p:fltVal val="0"/>
                                          </p:val>
                                        </p:tav>
                                        <p:tav tm="100000">
                                          <p:val>
                                            <p:strVal val="#ppt_h"/>
                                          </p:val>
                                        </p:tav>
                                      </p:tavLst>
                                    </p:anim>
                                    <p:animEffect transition="in" filter="fade">
                                      <p:cBhvr>
                                        <p:cTn id="52" dur="500"/>
                                        <p:tgtEl>
                                          <p:spTgt spid="55"/>
                                        </p:tgtEl>
                                      </p:cBhvr>
                                    </p:animEffect>
                                  </p:childTnLst>
                                </p:cTn>
                              </p:par>
                              <p:par>
                                <p:cTn id="53" presetID="53" presetClass="entr" presetSubtype="16" fill="hold" grpId="0" nodeType="withEffect">
                                  <p:stCondLst>
                                    <p:cond delay="0"/>
                                  </p:stCondLst>
                                  <p:childTnLst>
                                    <p:set>
                                      <p:cBhvr>
                                        <p:cTn id="54" dur="1" fill="hold">
                                          <p:stCondLst>
                                            <p:cond delay="0"/>
                                          </p:stCondLst>
                                        </p:cTn>
                                        <p:tgtEl>
                                          <p:spTgt spid="57"/>
                                        </p:tgtEl>
                                        <p:attrNameLst>
                                          <p:attrName>style.visibility</p:attrName>
                                        </p:attrNameLst>
                                      </p:cBhvr>
                                      <p:to>
                                        <p:strVal val="visible"/>
                                      </p:to>
                                    </p:set>
                                    <p:anim calcmode="lin" valueType="num">
                                      <p:cBhvr>
                                        <p:cTn id="55" dur="500" fill="hold"/>
                                        <p:tgtEl>
                                          <p:spTgt spid="57"/>
                                        </p:tgtEl>
                                        <p:attrNameLst>
                                          <p:attrName>ppt_w</p:attrName>
                                        </p:attrNameLst>
                                      </p:cBhvr>
                                      <p:tavLst>
                                        <p:tav tm="0">
                                          <p:val>
                                            <p:fltVal val="0"/>
                                          </p:val>
                                        </p:tav>
                                        <p:tav tm="100000">
                                          <p:val>
                                            <p:strVal val="#ppt_w"/>
                                          </p:val>
                                        </p:tav>
                                      </p:tavLst>
                                    </p:anim>
                                    <p:anim calcmode="lin" valueType="num">
                                      <p:cBhvr>
                                        <p:cTn id="56" dur="500" fill="hold"/>
                                        <p:tgtEl>
                                          <p:spTgt spid="57"/>
                                        </p:tgtEl>
                                        <p:attrNameLst>
                                          <p:attrName>ppt_h</p:attrName>
                                        </p:attrNameLst>
                                      </p:cBhvr>
                                      <p:tavLst>
                                        <p:tav tm="0">
                                          <p:val>
                                            <p:fltVal val="0"/>
                                          </p:val>
                                        </p:tav>
                                        <p:tav tm="100000">
                                          <p:val>
                                            <p:strVal val="#ppt_h"/>
                                          </p:val>
                                        </p:tav>
                                      </p:tavLst>
                                    </p:anim>
                                    <p:animEffect transition="in" filter="fade">
                                      <p:cBhvr>
                                        <p:cTn id="57" dur="500"/>
                                        <p:tgtEl>
                                          <p:spTgt spid="57"/>
                                        </p:tgtEl>
                                      </p:cBhvr>
                                    </p:animEffect>
                                  </p:childTnLst>
                                </p:cTn>
                              </p:par>
                              <p:par>
                                <p:cTn id="58" presetID="53" presetClass="entr" presetSubtype="16" fill="hold" grpId="0" nodeType="withEffect">
                                  <p:stCondLst>
                                    <p:cond delay="0"/>
                                  </p:stCondLst>
                                  <p:childTnLst>
                                    <p:set>
                                      <p:cBhvr>
                                        <p:cTn id="59" dur="1" fill="hold">
                                          <p:stCondLst>
                                            <p:cond delay="0"/>
                                          </p:stCondLst>
                                        </p:cTn>
                                        <p:tgtEl>
                                          <p:spTgt spid="59"/>
                                        </p:tgtEl>
                                        <p:attrNameLst>
                                          <p:attrName>style.visibility</p:attrName>
                                        </p:attrNameLst>
                                      </p:cBhvr>
                                      <p:to>
                                        <p:strVal val="visible"/>
                                      </p:to>
                                    </p:set>
                                    <p:anim calcmode="lin" valueType="num">
                                      <p:cBhvr>
                                        <p:cTn id="60" dur="500" fill="hold"/>
                                        <p:tgtEl>
                                          <p:spTgt spid="59"/>
                                        </p:tgtEl>
                                        <p:attrNameLst>
                                          <p:attrName>ppt_w</p:attrName>
                                        </p:attrNameLst>
                                      </p:cBhvr>
                                      <p:tavLst>
                                        <p:tav tm="0">
                                          <p:val>
                                            <p:fltVal val="0"/>
                                          </p:val>
                                        </p:tav>
                                        <p:tav tm="100000">
                                          <p:val>
                                            <p:strVal val="#ppt_w"/>
                                          </p:val>
                                        </p:tav>
                                      </p:tavLst>
                                    </p:anim>
                                    <p:anim calcmode="lin" valueType="num">
                                      <p:cBhvr>
                                        <p:cTn id="61" dur="500" fill="hold"/>
                                        <p:tgtEl>
                                          <p:spTgt spid="59"/>
                                        </p:tgtEl>
                                        <p:attrNameLst>
                                          <p:attrName>ppt_h</p:attrName>
                                        </p:attrNameLst>
                                      </p:cBhvr>
                                      <p:tavLst>
                                        <p:tav tm="0">
                                          <p:val>
                                            <p:fltVal val="0"/>
                                          </p:val>
                                        </p:tav>
                                        <p:tav tm="100000">
                                          <p:val>
                                            <p:strVal val="#ppt_h"/>
                                          </p:val>
                                        </p:tav>
                                      </p:tavLst>
                                    </p:anim>
                                    <p:animEffect transition="in" filter="fade">
                                      <p:cBhvr>
                                        <p:cTn id="62" dur="500"/>
                                        <p:tgtEl>
                                          <p:spTgt spid="59"/>
                                        </p:tgtEl>
                                      </p:cBhvr>
                                    </p:animEffect>
                                  </p:childTnLst>
                                </p:cTn>
                              </p:par>
                            </p:childTnLst>
                          </p:cTn>
                        </p:par>
                        <p:par>
                          <p:cTn id="63" fill="hold">
                            <p:stCondLst>
                              <p:cond delay="4500"/>
                            </p:stCondLst>
                            <p:childTnLst>
                              <p:par>
                                <p:cTn id="64" presetID="53" presetClass="entr" presetSubtype="16" fill="hold" grpId="0" nodeType="afterEffect">
                                  <p:stCondLst>
                                    <p:cond delay="0"/>
                                  </p:stCondLst>
                                  <p:childTnLst>
                                    <p:set>
                                      <p:cBhvr>
                                        <p:cTn id="65" dur="1" fill="hold">
                                          <p:stCondLst>
                                            <p:cond delay="0"/>
                                          </p:stCondLst>
                                        </p:cTn>
                                        <p:tgtEl>
                                          <p:spTgt spid="56"/>
                                        </p:tgtEl>
                                        <p:attrNameLst>
                                          <p:attrName>style.visibility</p:attrName>
                                        </p:attrNameLst>
                                      </p:cBhvr>
                                      <p:to>
                                        <p:strVal val="visible"/>
                                      </p:to>
                                    </p:set>
                                    <p:anim calcmode="lin" valueType="num">
                                      <p:cBhvr>
                                        <p:cTn id="66" dur="500" fill="hold"/>
                                        <p:tgtEl>
                                          <p:spTgt spid="56"/>
                                        </p:tgtEl>
                                        <p:attrNameLst>
                                          <p:attrName>ppt_w</p:attrName>
                                        </p:attrNameLst>
                                      </p:cBhvr>
                                      <p:tavLst>
                                        <p:tav tm="0">
                                          <p:val>
                                            <p:fltVal val="0"/>
                                          </p:val>
                                        </p:tav>
                                        <p:tav tm="100000">
                                          <p:val>
                                            <p:strVal val="#ppt_w"/>
                                          </p:val>
                                        </p:tav>
                                      </p:tavLst>
                                    </p:anim>
                                    <p:anim calcmode="lin" valueType="num">
                                      <p:cBhvr>
                                        <p:cTn id="67" dur="500" fill="hold"/>
                                        <p:tgtEl>
                                          <p:spTgt spid="56"/>
                                        </p:tgtEl>
                                        <p:attrNameLst>
                                          <p:attrName>ppt_h</p:attrName>
                                        </p:attrNameLst>
                                      </p:cBhvr>
                                      <p:tavLst>
                                        <p:tav tm="0">
                                          <p:val>
                                            <p:fltVal val="0"/>
                                          </p:val>
                                        </p:tav>
                                        <p:tav tm="100000">
                                          <p:val>
                                            <p:strVal val="#ppt_h"/>
                                          </p:val>
                                        </p:tav>
                                      </p:tavLst>
                                    </p:anim>
                                    <p:animEffect transition="in" filter="fade">
                                      <p:cBhvr>
                                        <p:cTn id="68" dur="500"/>
                                        <p:tgtEl>
                                          <p:spTgt spid="56"/>
                                        </p:tgtEl>
                                      </p:cBhvr>
                                    </p:animEffect>
                                  </p:childTnLst>
                                </p:cTn>
                              </p:par>
                              <p:par>
                                <p:cTn id="69" presetID="53" presetClass="entr" presetSubtype="16" fill="hold" grpId="0" nodeType="withEffect">
                                  <p:stCondLst>
                                    <p:cond delay="0"/>
                                  </p:stCondLst>
                                  <p:childTnLst>
                                    <p:set>
                                      <p:cBhvr>
                                        <p:cTn id="70" dur="1" fill="hold">
                                          <p:stCondLst>
                                            <p:cond delay="0"/>
                                          </p:stCondLst>
                                        </p:cTn>
                                        <p:tgtEl>
                                          <p:spTgt spid="58"/>
                                        </p:tgtEl>
                                        <p:attrNameLst>
                                          <p:attrName>style.visibility</p:attrName>
                                        </p:attrNameLst>
                                      </p:cBhvr>
                                      <p:to>
                                        <p:strVal val="visible"/>
                                      </p:to>
                                    </p:set>
                                    <p:anim calcmode="lin" valueType="num">
                                      <p:cBhvr>
                                        <p:cTn id="71" dur="500" fill="hold"/>
                                        <p:tgtEl>
                                          <p:spTgt spid="58"/>
                                        </p:tgtEl>
                                        <p:attrNameLst>
                                          <p:attrName>ppt_w</p:attrName>
                                        </p:attrNameLst>
                                      </p:cBhvr>
                                      <p:tavLst>
                                        <p:tav tm="0">
                                          <p:val>
                                            <p:fltVal val="0"/>
                                          </p:val>
                                        </p:tav>
                                        <p:tav tm="100000">
                                          <p:val>
                                            <p:strVal val="#ppt_w"/>
                                          </p:val>
                                        </p:tav>
                                      </p:tavLst>
                                    </p:anim>
                                    <p:anim calcmode="lin" valueType="num">
                                      <p:cBhvr>
                                        <p:cTn id="72" dur="500" fill="hold"/>
                                        <p:tgtEl>
                                          <p:spTgt spid="58"/>
                                        </p:tgtEl>
                                        <p:attrNameLst>
                                          <p:attrName>ppt_h</p:attrName>
                                        </p:attrNameLst>
                                      </p:cBhvr>
                                      <p:tavLst>
                                        <p:tav tm="0">
                                          <p:val>
                                            <p:fltVal val="0"/>
                                          </p:val>
                                        </p:tav>
                                        <p:tav tm="100000">
                                          <p:val>
                                            <p:strVal val="#ppt_h"/>
                                          </p:val>
                                        </p:tav>
                                      </p:tavLst>
                                    </p:anim>
                                    <p:animEffect transition="in" filter="fade">
                                      <p:cBhvr>
                                        <p:cTn id="73" dur="500"/>
                                        <p:tgtEl>
                                          <p:spTgt spid="58"/>
                                        </p:tgtEl>
                                      </p:cBhvr>
                                    </p:animEffect>
                                  </p:childTnLst>
                                </p:cTn>
                              </p:par>
                              <p:par>
                                <p:cTn id="74" presetID="53" presetClass="entr" presetSubtype="16" fill="hold" grpId="0" nodeType="withEffect">
                                  <p:stCondLst>
                                    <p:cond delay="0"/>
                                  </p:stCondLst>
                                  <p:childTnLst>
                                    <p:set>
                                      <p:cBhvr>
                                        <p:cTn id="75" dur="1" fill="hold">
                                          <p:stCondLst>
                                            <p:cond delay="0"/>
                                          </p:stCondLst>
                                        </p:cTn>
                                        <p:tgtEl>
                                          <p:spTgt spid="60"/>
                                        </p:tgtEl>
                                        <p:attrNameLst>
                                          <p:attrName>style.visibility</p:attrName>
                                        </p:attrNameLst>
                                      </p:cBhvr>
                                      <p:to>
                                        <p:strVal val="visible"/>
                                      </p:to>
                                    </p:set>
                                    <p:anim calcmode="lin" valueType="num">
                                      <p:cBhvr>
                                        <p:cTn id="76" dur="500" fill="hold"/>
                                        <p:tgtEl>
                                          <p:spTgt spid="60"/>
                                        </p:tgtEl>
                                        <p:attrNameLst>
                                          <p:attrName>ppt_w</p:attrName>
                                        </p:attrNameLst>
                                      </p:cBhvr>
                                      <p:tavLst>
                                        <p:tav tm="0">
                                          <p:val>
                                            <p:fltVal val="0"/>
                                          </p:val>
                                        </p:tav>
                                        <p:tav tm="100000">
                                          <p:val>
                                            <p:strVal val="#ppt_w"/>
                                          </p:val>
                                        </p:tav>
                                      </p:tavLst>
                                    </p:anim>
                                    <p:anim calcmode="lin" valueType="num">
                                      <p:cBhvr>
                                        <p:cTn id="77" dur="500" fill="hold"/>
                                        <p:tgtEl>
                                          <p:spTgt spid="60"/>
                                        </p:tgtEl>
                                        <p:attrNameLst>
                                          <p:attrName>ppt_h</p:attrName>
                                        </p:attrNameLst>
                                      </p:cBhvr>
                                      <p:tavLst>
                                        <p:tav tm="0">
                                          <p:val>
                                            <p:fltVal val="0"/>
                                          </p:val>
                                        </p:tav>
                                        <p:tav tm="100000">
                                          <p:val>
                                            <p:strVal val="#ppt_h"/>
                                          </p:val>
                                        </p:tav>
                                      </p:tavLst>
                                    </p:anim>
                                    <p:animEffect transition="in" filter="fade">
                                      <p:cBhvr>
                                        <p:cTn id="78" dur="500"/>
                                        <p:tgtEl>
                                          <p:spTgt spid="60"/>
                                        </p:tgtEl>
                                      </p:cBhvr>
                                    </p:animEffect>
                                  </p:childTnLst>
                                </p:cTn>
                              </p:par>
                              <p:par>
                                <p:cTn id="79" presetID="53" presetClass="entr" presetSubtype="16" fill="hold" grpId="0" nodeType="withEffect">
                                  <p:stCondLst>
                                    <p:cond delay="0"/>
                                  </p:stCondLst>
                                  <p:childTnLst>
                                    <p:set>
                                      <p:cBhvr>
                                        <p:cTn id="80" dur="1" fill="hold">
                                          <p:stCondLst>
                                            <p:cond delay="0"/>
                                          </p:stCondLst>
                                        </p:cTn>
                                        <p:tgtEl>
                                          <p:spTgt spid="61"/>
                                        </p:tgtEl>
                                        <p:attrNameLst>
                                          <p:attrName>style.visibility</p:attrName>
                                        </p:attrNameLst>
                                      </p:cBhvr>
                                      <p:to>
                                        <p:strVal val="visible"/>
                                      </p:to>
                                    </p:set>
                                    <p:anim calcmode="lin" valueType="num">
                                      <p:cBhvr>
                                        <p:cTn id="81" dur="500" fill="hold"/>
                                        <p:tgtEl>
                                          <p:spTgt spid="61"/>
                                        </p:tgtEl>
                                        <p:attrNameLst>
                                          <p:attrName>ppt_w</p:attrName>
                                        </p:attrNameLst>
                                      </p:cBhvr>
                                      <p:tavLst>
                                        <p:tav tm="0">
                                          <p:val>
                                            <p:fltVal val="0"/>
                                          </p:val>
                                        </p:tav>
                                        <p:tav tm="100000">
                                          <p:val>
                                            <p:strVal val="#ppt_w"/>
                                          </p:val>
                                        </p:tav>
                                      </p:tavLst>
                                    </p:anim>
                                    <p:anim calcmode="lin" valueType="num">
                                      <p:cBhvr>
                                        <p:cTn id="82" dur="500" fill="hold"/>
                                        <p:tgtEl>
                                          <p:spTgt spid="61"/>
                                        </p:tgtEl>
                                        <p:attrNameLst>
                                          <p:attrName>ppt_h</p:attrName>
                                        </p:attrNameLst>
                                      </p:cBhvr>
                                      <p:tavLst>
                                        <p:tav tm="0">
                                          <p:val>
                                            <p:fltVal val="0"/>
                                          </p:val>
                                        </p:tav>
                                        <p:tav tm="100000">
                                          <p:val>
                                            <p:strVal val="#ppt_h"/>
                                          </p:val>
                                        </p:tav>
                                      </p:tavLst>
                                    </p:anim>
                                    <p:animEffect transition="in" filter="fade">
                                      <p:cBhvr>
                                        <p:cTn id="83" dur="500"/>
                                        <p:tgtEl>
                                          <p:spTgt spid="6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8" grpId="0"/>
      <p:bldP spid="49" grpId="0"/>
      <p:bldP spid="5" grpId="0" animBg="1"/>
      <p:bldP spid="51" grpId="0" animBg="1"/>
      <p:bldP spid="52" grpId="0" animBg="1"/>
      <p:bldP spid="53" grpId="0" animBg="1"/>
      <p:bldP spid="54" grpId="0" animBg="1"/>
      <p:bldP spid="55" grpId="0" animBg="1"/>
      <p:bldP spid="56" grpId="0" animBg="1"/>
      <p:bldP spid="57" grpId="0" animBg="1"/>
      <p:bldP spid="58" grpId="0" animBg="1"/>
      <p:bldP spid="59" grpId="0" animBg="1"/>
      <p:bldP spid="60" grpId="0" animBg="1"/>
      <p:bldP spid="61" grpId="0" animBg="1"/>
      <p:bldP spid="62"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图片 42">
            <a:extLst>
              <a:ext uri="{FF2B5EF4-FFF2-40B4-BE49-F238E27FC236}">
                <a16:creationId xmlns:a16="http://schemas.microsoft.com/office/drawing/2014/main" id="{C8D97DA4-6242-4E73-AEFC-457D04FDC65B}"/>
              </a:ext>
            </a:extLst>
          </p:cNvPr>
          <p:cNvPicPr>
            <a:picLocks noChangeAspect="1"/>
          </p:cNvPicPr>
          <p:nvPr/>
        </p:nvPicPr>
        <p:blipFill>
          <a:blip r:embed="rId2"/>
          <a:stretch>
            <a:fillRect/>
          </a:stretch>
        </p:blipFill>
        <p:spPr>
          <a:xfrm rot="16200000">
            <a:off x="145169" y="-145167"/>
            <a:ext cx="1268414" cy="1558750"/>
          </a:xfrm>
          <a:prstGeom prst="rect">
            <a:avLst/>
          </a:prstGeom>
        </p:spPr>
      </p:pic>
      <p:sp>
        <p:nvSpPr>
          <p:cNvPr id="6" name="文字方塊 5">
            <a:extLst>
              <a:ext uri="{FF2B5EF4-FFF2-40B4-BE49-F238E27FC236}">
                <a16:creationId xmlns:a16="http://schemas.microsoft.com/office/drawing/2014/main" id="{8A30B01A-3198-4955-A208-0E3D9EB60397}"/>
              </a:ext>
            </a:extLst>
          </p:cNvPr>
          <p:cNvSpPr txBox="1"/>
          <p:nvPr/>
        </p:nvSpPr>
        <p:spPr>
          <a:xfrm>
            <a:off x="1558751" y="6596390"/>
            <a:ext cx="4217821" cy="261610"/>
          </a:xfrm>
          <a:prstGeom prst="rect">
            <a:avLst/>
          </a:prstGeom>
          <a:noFill/>
        </p:spPr>
        <p:txBody>
          <a:bodyPr wrap="none" rtlCol="0">
            <a:spAutoFit/>
          </a:bodyPr>
          <a:lstStyle/>
          <a:p>
            <a:r>
              <a:rPr lang="zh-TW" altLang="en-US" sz="1100" dirty="0">
                <a:latin typeface="Microsoft JhengHei Light" panose="020B0304030504040204" pitchFamily="34" charset="-120"/>
                <a:ea typeface="Microsoft JhengHei Light" panose="020B0304030504040204" pitchFamily="34" charset="-120"/>
              </a:rPr>
              <a:t>區塊鏈商業應用概論 實例與分析／新陸書局股份有限公司 發行</a:t>
            </a:r>
          </a:p>
        </p:txBody>
      </p:sp>
      <p:sp>
        <p:nvSpPr>
          <p:cNvPr id="9" name="標題 1">
            <a:extLst>
              <a:ext uri="{FF2B5EF4-FFF2-40B4-BE49-F238E27FC236}">
                <a16:creationId xmlns:a16="http://schemas.microsoft.com/office/drawing/2014/main" id="{475DFFF1-7C37-4CBE-ACFC-3F348BCD20CC}"/>
              </a:ext>
            </a:extLst>
          </p:cNvPr>
          <p:cNvSpPr txBox="1">
            <a:spLocks/>
          </p:cNvSpPr>
          <p:nvPr/>
        </p:nvSpPr>
        <p:spPr>
          <a:xfrm>
            <a:off x="1231956" y="393820"/>
            <a:ext cx="3643527" cy="874595"/>
          </a:xfrm>
          <a:prstGeom prst="rect">
            <a:avLst/>
          </a:prstGeom>
        </p:spPr>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altLang="zh-TW" sz="2400" b="1" dirty="0">
                <a:solidFill>
                  <a:srgbClr val="E06741"/>
                </a:solidFill>
              </a:rPr>
              <a:t>2-2 </a:t>
            </a:r>
            <a:r>
              <a:rPr lang="zh-TW" altLang="en-US" sz="2400" b="1" dirty="0">
                <a:solidFill>
                  <a:srgbClr val="E06741"/>
                </a:solidFill>
              </a:rPr>
              <a:t>區塊鏈技術發展</a:t>
            </a:r>
          </a:p>
          <a:p>
            <a:endParaRPr lang="zh-TW" altLang="en-US" sz="2400" dirty="0">
              <a:solidFill>
                <a:srgbClr val="E06741"/>
              </a:solidFill>
              <a:latin typeface="標楷體" panose="03000509000000000000" pitchFamily="65" charset="-120"/>
              <a:ea typeface="標楷體" panose="03000509000000000000" pitchFamily="65" charset="-120"/>
              <a:cs typeface="Times New Roman" panose="02020603050405020304" pitchFamily="18" charset="0"/>
            </a:endParaRPr>
          </a:p>
        </p:txBody>
      </p:sp>
      <p:sp>
        <p:nvSpPr>
          <p:cNvPr id="10" name="文字方塊 9">
            <a:extLst>
              <a:ext uri="{FF2B5EF4-FFF2-40B4-BE49-F238E27FC236}">
                <a16:creationId xmlns:a16="http://schemas.microsoft.com/office/drawing/2014/main" id="{198702E0-29BF-45ED-BB34-E70A3CAA9F43}"/>
              </a:ext>
            </a:extLst>
          </p:cNvPr>
          <p:cNvSpPr txBox="1"/>
          <p:nvPr/>
        </p:nvSpPr>
        <p:spPr>
          <a:xfrm>
            <a:off x="4487241" y="449166"/>
            <a:ext cx="2930610" cy="400110"/>
          </a:xfrm>
          <a:prstGeom prst="rect">
            <a:avLst/>
          </a:prstGeom>
          <a:noFill/>
        </p:spPr>
        <p:txBody>
          <a:bodyPr wrap="none" rtlCol="0">
            <a:spAutoFit/>
          </a:bodyPr>
          <a:lstStyle/>
          <a:p>
            <a:r>
              <a:rPr lang="en-US" altLang="zh-TW" sz="2000" b="1" dirty="0">
                <a:solidFill>
                  <a:schemeClr val="tx1">
                    <a:lumMod val="65000"/>
                    <a:lumOff val="35000"/>
                  </a:schemeClr>
                </a:solidFill>
                <a:latin typeface="微軟正黑體" panose="020B0604030504040204" pitchFamily="34" charset="-120"/>
                <a:ea typeface="微軟正黑體" panose="020B0604030504040204" pitchFamily="34" charset="-120"/>
                <a:cs typeface="Times New Roman" panose="02020603050405020304" pitchFamily="18" charset="0"/>
              </a:rPr>
              <a:t>-1 </a:t>
            </a:r>
            <a:r>
              <a:rPr lang="zh-TW" altLang="en-US" sz="2000" b="1" dirty="0">
                <a:solidFill>
                  <a:schemeClr val="tx1">
                    <a:lumMod val="65000"/>
                    <a:lumOff val="35000"/>
                  </a:schemeClr>
                </a:solidFill>
                <a:latin typeface="微軟正黑體" panose="020B0604030504040204" pitchFamily="34" charset="-120"/>
                <a:ea typeface="微軟正黑體" panose="020B0604030504040204" pitchFamily="34" charset="-120"/>
                <a:cs typeface="Times New Roman" panose="02020603050405020304" pitchFamily="18" charset="0"/>
              </a:rPr>
              <a:t>區塊鏈技術核心元件</a:t>
            </a:r>
          </a:p>
        </p:txBody>
      </p:sp>
      <p:grpSp>
        <p:nvGrpSpPr>
          <p:cNvPr id="11" name="群組 10">
            <a:extLst>
              <a:ext uri="{FF2B5EF4-FFF2-40B4-BE49-F238E27FC236}">
                <a16:creationId xmlns:a16="http://schemas.microsoft.com/office/drawing/2014/main" id="{5802F414-9450-42D7-B8FD-63E60F565871}"/>
              </a:ext>
            </a:extLst>
          </p:cNvPr>
          <p:cNvGrpSpPr/>
          <p:nvPr/>
        </p:nvGrpSpPr>
        <p:grpSpPr>
          <a:xfrm>
            <a:off x="2930515" y="904622"/>
            <a:ext cx="6044062" cy="6224188"/>
            <a:chOff x="3052576" y="632163"/>
            <a:chExt cx="4762468" cy="4904399"/>
          </a:xfrm>
        </p:grpSpPr>
        <p:grpSp>
          <p:nvGrpSpPr>
            <p:cNvPr id="12" name="群組 11">
              <a:extLst>
                <a:ext uri="{FF2B5EF4-FFF2-40B4-BE49-F238E27FC236}">
                  <a16:creationId xmlns:a16="http://schemas.microsoft.com/office/drawing/2014/main" id="{B3600EC5-713E-461F-AE8C-F6FB1B555CC3}"/>
                </a:ext>
              </a:extLst>
            </p:cNvPr>
            <p:cNvGrpSpPr/>
            <p:nvPr/>
          </p:nvGrpSpPr>
          <p:grpSpPr>
            <a:xfrm>
              <a:off x="4079460" y="1085577"/>
              <a:ext cx="2449486" cy="3555476"/>
              <a:chOff x="3363737" y="1329950"/>
              <a:chExt cx="2449486" cy="3555476"/>
            </a:xfrm>
            <a:scene3d>
              <a:camera prst="orthographicFront">
                <a:rot lat="1690951" lon="1355626" rev="319872"/>
              </a:camera>
              <a:lightRig rig="threePt" dir="t"/>
            </a:scene3d>
          </p:grpSpPr>
          <p:sp>
            <p:nvSpPr>
              <p:cNvPr id="24" name="等腰三角形 23">
                <a:extLst>
                  <a:ext uri="{FF2B5EF4-FFF2-40B4-BE49-F238E27FC236}">
                    <a16:creationId xmlns:a16="http://schemas.microsoft.com/office/drawing/2014/main" id="{3FB7F0F7-43FD-4E27-AB44-D3E5C517B64B}"/>
                  </a:ext>
                </a:extLst>
              </p:cNvPr>
              <p:cNvSpPr/>
              <p:nvPr/>
            </p:nvSpPr>
            <p:spPr>
              <a:xfrm rot="581244">
                <a:off x="3363737" y="1329950"/>
                <a:ext cx="1819663" cy="3555476"/>
              </a:xfrm>
              <a:prstGeom prst="triangle">
                <a:avLst>
                  <a:gd name="adj" fmla="val 83214"/>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b="1" dirty="0">
                  <a:latin typeface="微軟正黑體" panose="020B0604030504040204" pitchFamily="34" charset="-120"/>
                  <a:ea typeface="微軟正黑體" panose="020B0604030504040204" pitchFamily="34" charset="-120"/>
                </a:endParaRPr>
              </a:p>
            </p:txBody>
          </p:sp>
          <p:sp>
            <p:nvSpPr>
              <p:cNvPr id="25" name="等腰三角形 24">
                <a:extLst>
                  <a:ext uri="{FF2B5EF4-FFF2-40B4-BE49-F238E27FC236}">
                    <a16:creationId xmlns:a16="http://schemas.microsoft.com/office/drawing/2014/main" id="{A458A59D-7D59-4838-AD5E-10725F61FE0E}"/>
                  </a:ext>
                </a:extLst>
              </p:cNvPr>
              <p:cNvSpPr/>
              <p:nvPr/>
            </p:nvSpPr>
            <p:spPr>
              <a:xfrm rot="14937234" flipH="1">
                <a:off x="3425166" y="2444828"/>
                <a:ext cx="3174906" cy="1601209"/>
              </a:xfrm>
              <a:prstGeom prst="triangle">
                <a:avLst>
                  <a:gd name="adj" fmla="val 100000"/>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b="1">
                  <a:latin typeface="微軟正黑體" panose="020B0604030504040204" pitchFamily="34" charset="-120"/>
                  <a:ea typeface="微軟正黑體" panose="020B0604030504040204" pitchFamily="34" charset="-120"/>
                </a:endParaRPr>
              </a:p>
            </p:txBody>
          </p:sp>
        </p:grpSp>
        <p:pic>
          <p:nvPicPr>
            <p:cNvPr id="13" name="圖片 12">
              <a:extLst>
                <a:ext uri="{FF2B5EF4-FFF2-40B4-BE49-F238E27FC236}">
                  <a16:creationId xmlns:a16="http://schemas.microsoft.com/office/drawing/2014/main" id="{20DCC229-AA21-47BF-BE33-A9E733A1B1C3}"/>
                </a:ext>
              </a:extLst>
            </p:cNvPr>
            <p:cNvPicPr>
              <a:picLocks noChangeAspect="1"/>
            </p:cNvPicPr>
            <p:nvPr/>
          </p:nvPicPr>
          <p:blipFill>
            <a:blip r:embed="rId3">
              <a:clrChange>
                <a:clrFrom>
                  <a:srgbClr val="0077B9">
                    <a:alpha val="99608"/>
                  </a:srgbClr>
                </a:clrFrom>
                <a:clrTo>
                  <a:srgbClr val="0077B9">
                    <a:alpha val="0"/>
                  </a:srgbClr>
                </a:clrTo>
              </a:clrChange>
              <a:extLst>
                <a:ext uri="{28A0092B-C50C-407E-A947-70E740481C1C}">
                  <a14:useLocalDpi xmlns:a14="http://schemas.microsoft.com/office/drawing/2010/main" val="0"/>
                </a:ext>
              </a:extLst>
            </a:blip>
            <a:stretch>
              <a:fillRect/>
            </a:stretch>
          </p:blipFill>
          <p:spPr>
            <a:xfrm rot="1771753">
              <a:off x="4681102" y="3535249"/>
              <a:ext cx="2001313" cy="2001313"/>
            </a:xfrm>
            <a:prstGeom prst="rect">
              <a:avLst/>
            </a:prstGeom>
          </p:spPr>
        </p:pic>
        <p:sp>
          <p:nvSpPr>
            <p:cNvPr id="14" name="文字方塊 13">
              <a:extLst>
                <a:ext uri="{FF2B5EF4-FFF2-40B4-BE49-F238E27FC236}">
                  <a16:creationId xmlns:a16="http://schemas.microsoft.com/office/drawing/2014/main" id="{C0C21EF7-DE17-420C-910C-C414FE855DC5}"/>
                </a:ext>
              </a:extLst>
            </p:cNvPr>
            <p:cNvSpPr txBox="1"/>
            <p:nvPr/>
          </p:nvSpPr>
          <p:spPr>
            <a:xfrm>
              <a:off x="5315537" y="4202877"/>
              <a:ext cx="891926" cy="752528"/>
            </a:xfrm>
            <a:prstGeom prst="rect">
              <a:avLst/>
            </a:prstGeom>
            <a:noFill/>
          </p:spPr>
          <p:txBody>
            <a:bodyPr wrap="square" rtlCol="0">
              <a:spAutoFit/>
            </a:bodyPr>
            <a:lstStyle/>
            <a:p>
              <a:pPr lvl="0"/>
              <a:r>
                <a:rPr lang="zh-TW" altLang="en-US" sz="2400" b="1" dirty="0">
                  <a:solidFill>
                    <a:schemeClr val="tx1">
                      <a:lumMod val="75000"/>
                      <a:lumOff val="25000"/>
                    </a:schemeClr>
                  </a:solidFill>
                  <a:latin typeface="微軟正黑體" panose="020B0604030504040204" pitchFamily="34" charset="-120"/>
                  <a:ea typeface="微軟正黑體" panose="020B0604030504040204" pitchFamily="34" charset="-120"/>
                </a:rPr>
                <a:t>共識</a:t>
              </a:r>
              <a:endParaRPr lang="en-US" altLang="zh-TW" sz="2400" b="1" dirty="0">
                <a:solidFill>
                  <a:schemeClr val="tx1">
                    <a:lumMod val="75000"/>
                    <a:lumOff val="25000"/>
                  </a:schemeClr>
                </a:solidFill>
                <a:latin typeface="微軟正黑體" panose="020B0604030504040204" pitchFamily="34" charset="-120"/>
                <a:ea typeface="微軟正黑體" panose="020B0604030504040204" pitchFamily="34" charset="-120"/>
              </a:endParaRPr>
            </a:p>
            <a:p>
              <a:pPr lvl="0"/>
              <a:r>
                <a:rPr lang="zh-TW" altLang="en-US" sz="2400" b="1" dirty="0">
                  <a:solidFill>
                    <a:schemeClr val="tx1">
                      <a:lumMod val="75000"/>
                      <a:lumOff val="25000"/>
                    </a:schemeClr>
                  </a:solidFill>
                  <a:latin typeface="微軟正黑體" panose="020B0604030504040204" pitchFamily="34" charset="-120"/>
                  <a:ea typeface="微軟正黑體" panose="020B0604030504040204" pitchFamily="34" charset="-120"/>
                </a:rPr>
                <a:t>機制</a:t>
              </a:r>
              <a:endParaRPr lang="zh-TW" altLang="en-US" b="1" dirty="0">
                <a:solidFill>
                  <a:schemeClr val="tx1">
                    <a:lumMod val="75000"/>
                    <a:lumOff val="25000"/>
                  </a:schemeClr>
                </a:solidFill>
                <a:latin typeface="微軟正黑體" panose="020B0604030504040204" pitchFamily="34" charset="-120"/>
                <a:ea typeface="微軟正黑體" panose="020B0604030504040204" pitchFamily="34" charset="-120"/>
              </a:endParaRPr>
            </a:p>
          </p:txBody>
        </p:sp>
        <p:grpSp>
          <p:nvGrpSpPr>
            <p:cNvPr id="15" name="群組 14">
              <a:extLst>
                <a:ext uri="{FF2B5EF4-FFF2-40B4-BE49-F238E27FC236}">
                  <a16:creationId xmlns:a16="http://schemas.microsoft.com/office/drawing/2014/main" id="{B2952687-D3CC-4CA6-90E4-8F13863ADB94}"/>
                </a:ext>
              </a:extLst>
            </p:cNvPr>
            <p:cNvGrpSpPr/>
            <p:nvPr/>
          </p:nvGrpSpPr>
          <p:grpSpPr>
            <a:xfrm>
              <a:off x="6254046" y="3168362"/>
              <a:ext cx="1560998" cy="1632202"/>
              <a:chOff x="6080652" y="3609929"/>
              <a:chExt cx="1560998" cy="1632202"/>
            </a:xfrm>
          </p:grpSpPr>
          <p:pic>
            <p:nvPicPr>
              <p:cNvPr id="22" name="圖片 21">
                <a:extLst>
                  <a:ext uri="{FF2B5EF4-FFF2-40B4-BE49-F238E27FC236}">
                    <a16:creationId xmlns:a16="http://schemas.microsoft.com/office/drawing/2014/main" id="{279FD70F-AF48-42FA-ADBE-1DD39E02D3EB}"/>
                  </a:ext>
                </a:extLst>
              </p:cNvPr>
              <p:cNvPicPr>
                <a:picLocks noChangeAspect="1"/>
              </p:cNvPicPr>
              <p:nvPr/>
            </p:nvPicPr>
            <p:blipFill>
              <a:blip r:embed="rId4">
                <a:clrChange>
                  <a:clrFrom>
                    <a:srgbClr val="0B0B0B">
                      <a:alpha val="4706"/>
                    </a:srgbClr>
                  </a:clrFrom>
                  <a:clrTo>
                    <a:srgbClr val="0B0B0B">
                      <a:alpha val="0"/>
                    </a:srgbClr>
                  </a:clrTo>
                </a:clrChange>
                <a:extLst>
                  <a:ext uri="{28A0092B-C50C-407E-A947-70E740481C1C}">
                    <a14:useLocalDpi xmlns:a14="http://schemas.microsoft.com/office/drawing/2010/main" val="0"/>
                  </a:ext>
                </a:extLst>
              </a:blip>
              <a:stretch>
                <a:fillRect/>
              </a:stretch>
            </p:blipFill>
            <p:spPr>
              <a:xfrm>
                <a:off x="6080652" y="3609929"/>
                <a:ext cx="1560998" cy="1632202"/>
              </a:xfrm>
              <a:prstGeom prst="rect">
                <a:avLst/>
              </a:prstGeom>
            </p:spPr>
          </p:pic>
          <p:sp>
            <p:nvSpPr>
              <p:cNvPr id="23" name="文字方塊 22">
                <a:extLst>
                  <a:ext uri="{FF2B5EF4-FFF2-40B4-BE49-F238E27FC236}">
                    <a16:creationId xmlns:a16="http://schemas.microsoft.com/office/drawing/2014/main" id="{51DB7EBF-A077-4EEC-A841-C7A7FB61BB62}"/>
                  </a:ext>
                </a:extLst>
              </p:cNvPr>
              <p:cNvSpPr txBox="1"/>
              <p:nvPr/>
            </p:nvSpPr>
            <p:spPr>
              <a:xfrm>
                <a:off x="6536503" y="4238808"/>
                <a:ext cx="864096" cy="738664"/>
              </a:xfrm>
              <a:prstGeom prst="rect">
                <a:avLst/>
              </a:prstGeom>
              <a:noFill/>
            </p:spPr>
            <p:txBody>
              <a:bodyPr wrap="square" rtlCol="0">
                <a:spAutoFit/>
              </a:bodyPr>
              <a:lstStyle/>
              <a:p>
                <a:pPr lvl="0"/>
                <a:r>
                  <a:rPr lang="zh-TW" altLang="en-US" sz="2400" b="1" dirty="0">
                    <a:solidFill>
                      <a:schemeClr val="accent5">
                        <a:lumMod val="75000"/>
                      </a:schemeClr>
                    </a:solidFill>
                    <a:latin typeface="微軟正黑體" panose="020B0604030504040204" pitchFamily="34" charset="-120"/>
                    <a:ea typeface="微軟正黑體" panose="020B0604030504040204" pitchFamily="34" charset="-120"/>
                  </a:rPr>
                  <a:t>存儲</a:t>
                </a:r>
              </a:p>
              <a:p>
                <a:endParaRPr lang="zh-TW" altLang="en-US" b="1" dirty="0">
                  <a:latin typeface="微軟正黑體" panose="020B0604030504040204" pitchFamily="34" charset="-120"/>
                  <a:ea typeface="微軟正黑體" panose="020B0604030504040204" pitchFamily="34" charset="-120"/>
                </a:endParaRPr>
              </a:p>
            </p:txBody>
          </p:sp>
        </p:grpSp>
        <p:pic>
          <p:nvPicPr>
            <p:cNvPr id="17" name="圖片 16">
              <a:extLst>
                <a:ext uri="{FF2B5EF4-FFF2-40B4-BE49-F238E27FC236}">
                  <a16:creationId xmlns:a16="http://schemas.microsoft.com/office/drawing/2014/main" id="{FDA9EF9F-CCED-44EF-A108-8BAE498D37EB}"/>
                </a:ext>
              </a:extLst>
            </p:cNvPr>
            <p:cNvPicPr>
              <a:picLocks noChangeAspect="1"/>
            </p:cNvPicPr>
            <p:nvPr/>
          </p:nvPicPr>
          <p:blipFill>
            <a:blip r:embed="rId5">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3052576" y="2792504"/>
              <a:ext cx="2250464" cy="2250464"/>
            </a:xfrm>
            <a:prstGeom prst="rect">
              <a:avLst/>
            </a:prstGeom>
          </p:spPr>
        </p:pic>
        <p:sp>
          <p:nvSpPr>
            <p:cNvPr id="18" name="文字方塊 17">
              <a:extLst>
                <a:ext uri="{FF2B5EF4-FFF2-40B4-BE49-F238E27FC236}">
                  <a16:creationId xmlns:a16="http://schemas.microsoft.com/office/drawing/2014/main" id="{3944E653-B345-4108-A356-78745C0346C9}"/>
                </a:ext>
              </a:extLst>
            </p:cNvPr>
            <p:cNvSpPr txBox="1"/>
            <p:nvPr/>
          </p:nvSpPr>
          <p:spPr>
            <a:xfrm>
              <a:off x="3847162" y="3576503"/>
              <a:ext cx="864096" cy="1107996"/>
            </a:xfrm>
            <a:prstGeom prst="rect">
              <a:avLst/>
            </a:prstGeom>
            <a:noFill/>
          </p:spPr>
          <p:txBody>
            <a:bodyPr wrap="square" rtlCol="0">
              <a:spAutoFit/>
            </a:bodyPr>
            <a:lstStyle/>
            <a:p>
              <a:pPr lvl="0"/>
              <a:r>
                <a:rPr lang="zh-TW" altLang="en-US" sz="2400" b="1" dirty="0">
                  <a:solidFill>
                    <a:schemeClr val="accent5">
                      <a:lumMod val="75000"/>
                    </a:schemeClr>
                  </a:solidFill>
                  <a:latin typeface="微軟正黑體" panose="020B0604030504040204" pitchFamily="34" charset="-120"/>
                  <a:ea typeface="微軟正黑體" panose="020B0604030504040204" pitchFamily="34" charset="-120"/>
                </a:rPr>
                <a:t>安全機制</a:t>
              </a:r>
            </a:p>
            <a:p>
              <a:endParaRPr lang="zh-TW" altLang="en-US" b="1" dirty="0">
                <a:latin typeface="微軟正黑體" panose="020B0604030504040204" pitchFamily="34" charset="-120"/>
                <a:ea typeface="微軟正黑體" panose="020B0604030504040204" pitchFamily="34" charset="-120"/>
              </a:endParaRPr>
            </a:p>
          </p:txBody>
        </p:sp>
        <p:grpSp>
          <p:nvGrpSpPr>
            <p:cNvPr id="19" name="群組 18">
              <a:extLst>
                <a:ext uri="{FF2B5EF4-FFF2-40B4-BE49-F238E27FC236}">
                  <a16:creationId xmlns:a16="http://schemas.microsoft.com/office/drawing/2014/main" id="{C6982499-88D9-405E-8CD3-D1DA3522CA11}"/>
                </a:ext>
              </a:extLst>
            </p:cNvPr>
            <p:cNvGrpSpPr/>
            <p:nvPr/>
          </p:nvGrpSpPr>
          <p:grpSpPr>
            <a:xfrm>
              <a:off x="4960326" y="632163"/>
              <a:ext cx="1609677" cy="1609677"/>
              <a:chOff x="4342307" y="79361"/>
              <a:chExt cx="1609677" cy="1609677"/>
            </a:xfrm>
          </p:grpSpPr>
          <p:pic>
            <p:nvPicPr>
              <p:cNvPr id="20" name="圖片 19">
                <a:extLst>
                  <a:ext uri="{FF2B5EF4-FFF2-40B4-BE49-F238E27FC236}">
                    <a16:creationId xmlns:a16="http://schemas.microsoft.com/office/drawing/2014/main" id="{9769851C-AB3D-4DB5-8D27-949FF869FB18}"/>
                  </a:ext>
                </a:extLst>
              </p:cNvPr>
              <p:cNvPicPr>
                <a:picLocks noChangeAspect="1"/>
              </p:cNvPicPr>
              <p:nvPr/>
            </p:nvPicPr>
            <p:blipFill>
              <a:blip r:embed="rId6">
                <a:clrChange>
                  <a:clrFrom>
                    <a:srgbClr val="000000">
                      <a:alpha val="0"/>
                    </a:srgbClr>
                  </a:clrFrom>
                  <a:clrTo>
                    <a:srgbClr val="000000">
                      <a:alpha val="0"/>
                    </a:srgbClr>
                  </a:clrTo>
                </a:clrChange>
                <a:extLst>
                  <a:ext uri="{28A0092B-C50C-407E-A947-70E740481C1C}">
                    <a14:useLocalDpi xmlns:a14="http://schemas.microsoft.com/office/drawing/2010/main" val="0"/>
                  </a:ext>
                </a:extLst>
              </a:blip>
              <a:stretch>
                <a:fillRect/>
              </a:stretch>
            </p:blipFill>
            <p:spPr>
              <a:xfrm>
                <a:off x="4342307" y="79361"/>
                <a:ext cx="1609677" cy="1609677"/>
              </a:xfrm>
              <a:prstGeom prst="rect">
                <a:avLst/>
              </a:prstGeom>
            </p:spPr>
          </p:pic>
          <p:sp>
            <p:nvSpPr>
              <p:cNvPr id="21" name="文字方塊 20">
                <a:extLst>
                  <a:ext uri="{FF2B5EF4-FFF2-40B4-BE49-F238E27FC236}">
                    <a16:creationId xmlns:a16="http://schemas.microsoft.com/office/drawing/2014/main" id="{9189D465-A90D-488D-9663-02999B79C55D}"/>
                  </a:ext>
                </a:extLst>
              </p:cNvPr>
              <p:cNvSpPr txBox="1"/>
              <p:nvPr/>
            </p:nvSpPr>
            <p:spPr>
              <a:xfrm>
                <a:off x="4796347" y="679188"/>
                <a:ext cx="864096" cy="461665"/>
              </a:xfrm>
              <a:prstGeom prst="rect">
                <a:avLst/>
              </a:prstGeom>
              <a:noFill/>
            </p:spPr>
            <p:txBody>
              <a:bodyPr wrap="square" rtlCol="0">
                <a:spAutoFit/>
              </a:bodyPr>
              <a:lstStyle/>
              <a:p>
                <a:r>
                  <a:rPr lang="zh-TW" altLang="en-US" sz="2400" b="1" dirty="0">
                    <a:solidFill>
                      <a:schemeClr val="bg1"/>
                    </a:solidFill>
                    <a:latin typeface="微軟正黑體" panose="020B0604030504040204" pitchFamily="34" charset="-120"/>
                    <a:ea typeface="微軟正黑體" panose="020B0604030504040204" pitchFamily="34" charset="-120"/>
                  </a:rPr>
                  <a:t>通信</a:t>
                </a:r>
              </a:p>
            </p:txBody>
          </p:sp>
        </p:grpSp>
      </p:grpSp>
      <p:sp>
        <p:nvSpPr>
          <p:cNvPr id="2" name="文字方塊 1">
            <a:extLst>
              <a:ext uri="{FF2B5EF4-FFF2-40B4-BE49-F238E27FC236}">
                <a16:creationId xmlns:a16="http://schemas.microsoft.com/office/drawing/2014/main" id="{D6D66D7E-58A1-40BE-8070-FA1C3AF22B14}"/>
              </a:ext>
            </a:extLst>
          </p:cNvPr>
          <p:cNvSpPr txBox="1"/>
          <p:nvPr/>
        </p:nvSpPr>
        <p:spPr>
          <a:xfrm>
            <a:off x="1756210" y="1231036"/>
            <a:ext cx="3300904" cy="461665"/>
          </a:xfrm>
          <a:prstGeom prst="rect">
            <a:avLst/>
          </a:prstGeom>
          <a:noFill/>
        </p:spPr>
        <p:txBody>
          <a:bodyPr wrap="none" rtlCol="0">
            <a:spAutoFit/>
          </a:bodyPr>
          <a:lstStyle/>
          <a:p>
            <a:pPr marL="342900" indent="-342900">
              <a:buBlip>
                <a:blip r:embed="rId7"/>
              </a:buBlip>
            </a:pPr>
            <a:r>
              <a:rPr lang="zh-TW" altLang="en-US" sz="2400" b="1" dirty="0">
                <a:solidFill>
                  <a:schemeClr val="tx1">
                    <a:lumMod val="75000"/>
                    <a:lumOff val="25000"/>
                  </a:schemeClr>
                </a:solidFill>
                <a:latin typeface="微軟正黑體" panose="020B0604030504040204" pitchFamily="34" charset="-120"/>
                <a:ea typeface="微軟正黑體" panose="020B0604030504040204" pitchFamily="34" charset="-120"/>
              </a:rPr>
              <a:t>區塊鏈技術核心元件</a:t>
            </a:r>
          </a:p>
        </p:txBody>
      </p:sp>
      <p:cxnSp>
        <p:nvCxnSpPr>
          <p:cNvPr id="26" name="直接连接符 33">
            <a:extLst>
              <a:ext uri="{FF2B5EF4-FFF2-40B4-BE49-F238E27FC236}">
                <a16:creationId xmlns:a16="http://schemas.microsoft.com/office/drawing/2014/main" id="{716EA261-8F36-4754-9741-AAAE060E1942}"/>
              </a:ext>
            </a:extLst>
          </p:cNvPr>
          <p:cNvCxnSpPr/>
          <p:nvPr/>
        </p:nvCxnSpPr>
        <p:spPr>
          <a:xfrm>
            <a:off x="1177167" y="1046746"/>
            <a:ext cx="10585176" cy="0"/>
          </a:xfrm>
          <a:prstGeom prst="line">
            <a:avLst/>
          </a:prstGeom>
          <a:ln w="190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9246748"/>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6" presetClass="entr" presetSubtype="16" fill="hold" grpId="0" nodeType="after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circle(in)">
                                      <p:cBhvr>
                                        <p:cTn id="7" dur="2000"/>
                                        <p:tgtEl>
                                          <p:spTgt spid="9"/>
                                        </p:tgtEl>
                                      </p:cBhvr>
                                    </p:animEffect>
                                  </p:childTnLst>
                                </p:cTn>
                              </p:par>
                            </p:childTnLst>
                          </p:cTn>
                        </p:par>
                        <p:par>
                          <p:cTn id="8" fill="hold">
                            <p:stCondLst>
                              <p:cond delay="2000"/>
                            </p:stCondLst>
                            <p:childTnLst>
                              <p:par>
                                <p:cTn id="9" presetID="14" presetClass="entr" presetSubtype="10" fill="hold" grpId="0" nodeType="afterEffect">
                                  <p:stCondLst>
                                    <p:cond delay="0"/>
                                  </p:stCondLst>
                                  <p:childTnLst>
                                    <p:set>
                                      <p:cBhvr>
                                        <p:cTn id="10" dur="1" fill="hold">
                                          <p:stCondLst>
                                            <p:cond delay="0"/>
                                          </p:stCondLst>
                                        </p:cTn>
                                        <p:tgtEl>
                                          <p:spTgt spid="10"/>
                                        </p:tgtEl>
                                        <p:attrNameLst>
                                          <p:attrName>style.visibility</p:attrName>
                                        </p:attrNameLst>
                                      </p:cBhvr>
                                      <p:to>
                                        <p:strVal val="visible"/>
                                      </p:to>
                                    </p:set>
                                    <p:animEffect transition="in" filter="randombar(horizontal)">
                                      <p:cBhvr>
                                        <p:cTn id="11" dur="500"/>
                                        <p:tgtEl>
                                          <p:spTgt spid="10"/>
                                        </p:tgtEl>
                                      </p:cBhvr>
                                    </p:animEffect>
                                  </p:childTnLst>
                                </p:cTn>
                              </p:par>
                            </p:childTnLst>
                          </p:cTn>
                        </p:par>
                        <p:par>
                          <p:cTn id="12" fill="hold">
                            <p:stCondLst>
                              <p:cond delay="2500"/>
                            </p:stCondLst>
                            <p:childTnLst>
                              <p:par>
                                <p:cTn id="13" presetID="2" presetClass="entr" presetSubtype="8" fill="hold" nodeType="afterEffect">
                                  <p:stCondLst>
                                    <p:cond delay="0"/>
                                  </p:stCondLst>
                                  <p:childTnLst>
                                    <p:set>
                                      <p:cBhvr>
                                        <p:cTn id="14" dur="1" fill="hold">
                                          <p:stCondLst>
                                            <p:cond delay="0"/>
                                          </p:stCondLst>
                                        </p:cTn>
                                        <p:tgtEl>
                                          <p:spTgt spid="26"/>
                                        </p:tgtEl>
                                        <p:attrNameLst>
                                          <p:attrName>style.visibility</p:attrName>
                                        </p:attrNameLst>
                                      </p:cBhvr>
                                      <p:to>
                                        <p:strVal val="visible"/>
                                      </p:to>
                                    </p:set>
                                    <p:anim calcmode="lin" valueType="num">
                                      <p:cBhvr additive="base">
                                        <p:cTn id="15" dur="500" fill="hold"/>
                                        <p:tgtEl>
                                          <p:spTgt spid="26"/>
                                        </p:tgtEl>
                                        <p:attrNameLst>
                                          <p:attrName>ppt_x</p:attrName>
                                        </p:attrNameLst>
                                      </p:cBhvr>
                                      <p:tavLst>
                                        <p:tav tm="0">
                                          <p:val>
                                            <p:strVal val="0-#ppt_w/2"/>
                                          </p:val>
                                        </p:tav>
                                        <p:tav tm="100000">
                                          <p:val>
                                            <p:strVal val="#ppt_x"/>
                                          </p:val>
                                        </p:tav>
                                      </p:tavLst>
                                    </p:anim>
                                    <p:anim calcmode="lin" valueType="num">
                                      <p:cBhvr additive="base">
                                        <p:cTn id="16" dur="500" fill="hold"/>
                                        <p:tgtEl>
                                          <p:spTgt spid="26"/>
                                        </p:tgtEl>
                                        <p:attrNameLst>
                                          <p:attrName>ppt_y</p:attrName>
                                        </p:attrNameLst>
                                      </p:cBhvr>
                                      <p:tavLst>
                                        <p:tav tm="0">
                                          <p:val>
                                            <p:strVal val="#ppt_y"/>
                                          </p:val>
                                        </p:tav>
                                        <p:tav tm="100000">
                                          <p:val>
                                            <p:strVal val="#ppt_y"/>
                                          </p:val>
                                        </p:tav>
                                      </p:tavLst>
                                    </p:anim>
                                  </p:childTnLst>
                                </p:cTn>
                              </p:par>
                            </p:childTnLst>
                          </p:cTn>
                        </p:par>
                        <p:par>
                          <p:cTn id="17" fill="hold">
                            <p:stCondLst>
                              <p:cond delay="3000"/>
                            </p:stCondLst>
                            <p:childTnLst>
                              <p:par>
                                <p:cTn id="18" presetID="53" presetClass="entr" presetSubtype="16" fill="hold" grpId="0" nodeType="afterEffect">
                                  <p:stCondLst>
                                    <p:cond delay="0"/>
                                  </p:stCondLst>
                                  <p:childTnLst>
                                    <p:set>
                                      <p:cBhvr>
                                        <p:cTn id="19" dur="1" fill="hold">
                                          <p:stCondLst>
                                            <p:cond delay="0"/>
                                          </p:stCondLst>
                                        </p:cTn>
                                        <p:tgtEl>
                                          <p:spTgt spid="2"/>
                                        </p:tgtEl>
                                        <p:attrNameLst>
                                          <p:attrName>style.visibility</p:attrName>
                                        </p:attrNameLst>
                                      </p:cBhvr>
                                      <p:to>
                                        <p:strVal val="visible"/>
                                      </p:to>
                                    </p:set>
                                    <p:anim calcmode="lin" valueType="num">
                                      <p:cBhvr>
                                        <p:cTn id="20" dur="500" fill="hold"/>
                                        <p:tgtEl>
                                          <p:spTgt spid="2"/>
                                        </p:tgtEl>
                                        <p:attrNameLst>
                                          <p:attrName>ppt_w</p:attrName>
                                        </p:attrNameLst>
                                      </p:cBhvr>
                                      <p:tavLst>
                                        <p:tav tm="0">
                                          <p:val>
                                            <p:fltVal val="0"/>
                                          </p:val>
                                        </p:tav>
                                        <p:tav tm="100000">
                                          <p:val>
                                            <p:strVal val="#ppt_w"/>
                                          </p:val>
                                        </p:tav>
                                      </p:tavLst>
                                    </p:anim>
                                    <p:anim calcmode="lin" valueType="num">
                                      <p:cBhvr>
                                        <p:cTn id="21" dur="500" fill="hold"/>
                                        <p:tgtEl>
                                          <p:spTgt spid="2"/>
                                        </p:tgtEl>
                                        <p:attrNameLst>
                                          <p:attrName>ppt_h</p:attrName>
                                        </p:attrNameLst>
                                      </p:cBhvr>
                                      <p:tavLst>
                                        <p:tav tm="0">
                                          <p:val>
                                            <p:fltVal val="0"/>
                                          </p:val>
                                        </p:tav>
                                        <p:tav tm="100000">
                                          <p:val>
                                            <p:strVal val="#ppt_h"/>
                                          </p:val>
                                        </p:tav>
                                      </p:tavLst>
                                    </p:anim>
                                    <p:animEffect transition="in" filter="fade">
                                      <p:cBhvr>
                                        <p:cTn id="22" dur="500"/>
                                        <p:tgtEl>
                                          <p:spTgt spid="2"/>
                                        </p:tgtEl>
                                      </p:cBhvr>
                                    </p:animEffect>
                                  </p:childTnLst>
                                </p:cTn>
                              </p:par>
                            </p:childTnLst>
                          </p:cTn>
                        </p:par>
                        <p:par>
                          <p:cTn id="23" fill="hold">
                            <p:stCondLst>
                              <p:cond delay="3500"/>
                            </p:stCondLst>
                            <p:childTnLst>
                              <p:par>
                                <p:cTn id="24" presetID="16" presetClass="entr" presetSubtype="21" fill="hold" nodeType="afterEffect">
                                  <p:stCondLst>
                                    <p:cond delay="0"/>
                                  </p:stCondLst>
                                  <p:childTnLst>
                                    <p:set>
                                      <p:cBhvr>
                                        <p:cTn id="25" dur="1" fill="hold">
                                          <p:stCondLst>
                                            <p:cond delay="0"/>
                                          </p:stCondLst>
                                        </p:cTn>
                                        <p:tgtEl>
                                          <p:spTgt spid="11"/>
                                        </p:tgtEl>
                                        <p:attrNameLst>
                                          <p:attrName>style.visibility</p:attrName>
                                        </p:attrNameLst>
                                      </p:cBhvr>
                                      <p:to>
                                        <p:strVal val="visible"/>
                                      </p:to>
                                    </p:set>
                                    <p:animEffect transition="in" filter="barn(inVertical)">
                                      <p:cBhvr>
                                        <p:cTn id="26"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0" grpId="0"/>
      <p:bldP spid="2"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图片 42">
            <a:extLst>
              <a:ext uri="{FF2B5EF4-FFF2-40B4-BE49-F238E27FC236}">
                <a16:creationId xmlns:a16="http://schemas.microsoft.com/office/drawing/2014/main" id="{C8D97DA4-6242-4E73-AEFC-457D04FDC65B}"/>
              </a:ext>
            </a:extLst>
          </p:cNvPr>
          <p:cNvPicPr>
            <a:picLocks noChangeAspect="1"/>
          </p:cNvPicPr>
          <p:nvPr/>
        </p:nvPicPr>
        <p:blipFill>
          <a:blip r:embed="rId2"/>
          <a:stretch>
            <a:fillRect/>
          </a:stretch>
        </p:blipFill>
        <p:spPr>
          <a:xfrm rot="16200000">
            <a:off x="145169" y="-145167"/>
            <a:ext cx="1268414" cy="1558750"/>
          </a:xfrm>
          <a:prstGeom prst="rect">
            <a:avLst/>
          </a:prstGeom>
        </p:spPr>
      </p:pic>
      <p:sp>
        <p:nvSpPr>
          <p:cNvPr id="6" name="文字方塊 5">
            <a:extLst>
              <a:ext uri="{FF2B5EF4-FFF2-40B4-BE49-F238E27FC236}">
                <a16:creationId xmlns:a16="http://schemas.microsoft.com/office/drawing/2014/main" id="{8A30B01A-3198-4955-A208-0E3D9EB60397}"/>
              </a:ext>
            </a:extLst>
          </p:cNvPr>
          <p:cNvSpPr txBox="1"/>
          <p:nvPr/>
        </p:nvSpPr>
        <p:spPr>
          <a:xfrm>
            <a:off x="1558751" y="6596390"/>
            <a:ext cx="4217821" cy="261610"/>
          </a:xfrm>
          <a:prstGeom prst="rect">
            <a:avLst/>
          </a:prstGeom>
          <a:noFill/>
        </p:spPr>
        <p:txBody>
          <a:bodyPr wrap="none" rtlCol="0">
            <a:spAutoFit/>
          </a:bodyPr>
          <a:lstStyle/>
          <a:p>
            <a:r>
              <a:rPr lang="zh-TW" altLang="en-US" sz="1100" dirty="0">
                <a:latin typeface="Microsoft JhengHei Light" panose="020B0304030504040204" pitchFamily="34" charset="-120"/>
                <a:ea typeface="Microsoft JhengHei Light" panose="020B0304030504040204" pitchFamily="34" charset="-120"/>
              </a:rPr>
              <a:t>區塊鏈商業應用概論 實例與分析／新陸書局股份有限公司 發行</a:t>
            </a:r>
          </a:p>
        </p:txBody>
      </p:sp>
      <p:sp>
        <p:nvSpPr>
          <p:cNvPr id="9" name="標題 1">
            <a:extLst>
              <a:ext uri="{FF2B5EF4-FFF2-40B4-BE49-F238E27FC236}">
                <a16:creationId xmlns:a16="http://schemas.microsoft.com/office/drawing/2014/main" id="{475DFFF1-7C37-4CBE-ACFC-3F348BCD20CC}"/>
              </a:ext>
            </a:extLst>
          </p:cNvPr>
          <p:cNvSpPr txBox="1">
            <a:spLocks/>
          </p:cNvSpPr>
          <p:nvPr/>
        </p:nvSpPr>
        <p:spPr>
          <a:xfrm>
            <a:off x="1231956" y="393820"/>
            <a:ext cx="3643527" cy="874595"/>
          </a:xfrm>
          <a:prstGeom prst="rect">
            <a:avLst/>
          </a:prstGeom>
        </p:spPr>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altLang="zh-TW" sz="2400" b="1" dirty="0">
                <a:solidFill>
                  <a:srgbClr val="E06741"/>
                </a:solidFill>
              </a:rPr>
              <a:t>2-2 </a:t>
            </a:r>
            <a:r>
              <a:rPr lang="zh-TW" altLang="en-US" sz="2400" b="1" dirty="0">
                <a:solidFill>
                  <a:srgbClr val="E06741"/>
                </a:solidFill>
              </a:rPr>
              <a:t>區塊鏈技術發展</a:t>
            </a:r>
          </a:p>
          <a:p>
            <a:endParaRPr lang="zh-TW" altLang="en-US" sz="2400" dirty="0">
              <a:solidFill>
                <a:srgbClr val="E06741"/>
              </a:solidFill>
              <a:latin typeface="標楷體" panose="03000509000000000000" pitchFamily="65" charset="-120"/>
              <a:ea typeface="標楷體" panose="03000509000000000000" pitchFamily="65" charset="-120"/>
              <a:cs typeface="Times New Roman" panose="02020603050405020304" pitchFamily="18" charset="0"/>
            </a:endParaRPr>
          </a:p>
        </p:txBody>
      </p:sp>
      <p:sp>
        <p:nvSpPr>
          <p:cNvPr id="10" name="文字方塊 9">
            <a:extLst>
              <a:ext uri="{FF2B5EF4-FFF2-40B4-BE49-F238E27FC236}">
                <a16:creationId xmlns:a16="http://schemas.microsoft.com/office/drawing/2014/main" id="{198702E0-29BF-45ED-BB34-E70A3CAA9F43}"/>
              </a:ext>
            </a:extLst>
          </p:cNvPr>
          <p:cNvSpPr txBox="1"/>
          <p:nvPr/>
        </p:nvSpPr>
        <p:spPr>
          <a:xfrm>
            <a:off x="4487241" y="449166"/>
            <a:ext cx="2930610" cy="400110"/>
          </a:xfrm>
          <a:prstGeom prst="rect">
            <a:avLst/>
          </a:prstGeom>
          <a:noFill/>
        </p:spPr>
        <p:txBody>
          <a:bodyPr wrap="none" rtlCol="0">
            <a:spAutoFit/>
          </a:bodyPr>
          <a:lstStyle/>
          <a:p>
            <a:r>
              <a:rPr lang="en-US" altLang="zh-TW" sz="2000" b="1" dirty="0">
                <a:solidFill>
                  <a:schemeClr val="tx1">
                    <a:lumMod val="65000"/>
                    <a:lumOff val="35000"/>
                  </a:schemeClr>
                </a:solidFill>
                <a:latin typeface="微軟正黑體" panose="020B0604030504040204" pitchFamily="34" charset="-120"/>
                <a:ea typeface="微軟正黑體" panose="020B0604030504040204" pitchFamily="34" charset="-120"/>
                <a:cs typeface="Times New Roman" panose="02020603050405020304" pitchFamily="18" charset="0"/>
              </a:rPr>
              <a:t>-1 </a:t>
            </a:r>
            <a:r>
              <a:rPr lang="zh-TW" altLang="en-US" sz="2000" b="1" dirty="0">
                <a:solidFill>
                  <a:schemeClr val="tx1">
                    <a:lumMod val="65000"/>
                    <a:lumOff val="35000"/>
                  </a:schemeClr>
                </a:solidFill>
                <a:latin typeface="微軟正黑體" panose="020B0604030504040204" pitchFamily="34" charset="-120"/>
                <a:ea typeface="微軟正黑體" panose="020B0604030504040204" pitchFamily="34" charset="-120"/>
                <a:cs typeface="Times New Roman" panose="02020603050405020304" pitchFamily="18" charset="0"/>
              </a:rPr>
              <a:t>區塊鏈技術核心元件</a:t>
            </a:r>
          </a:p>
        </p:txBody>
      </p:sp>
      <p:sp>
        <p:nvSpPr>
          <p:cNvPr id="2" name="文字方塊 1">
            <a:extLst>
              <a:ext uri="{FF2B5EF4-FFF2-40B4-BE49-F238E27FC236}">
                <a16:creationId xmlns:a16="http://schemas.microsoft.com/office/drawing/2014/main" id="{D6D66D7E-58A1-40BE-8070-FA1C3AF22B14}"/>
              </a:ext>
            </a:extLst>
          </p:cNvPr>
          <p:cNvSpPr txBox="1"/>
          <p:nvPr/>
        </p:nvSpPr>
        <p:spPr>
          <a:xfrm>
            <a:off x="1541329" y="1502202"/>
            <a:ext cx="9849725" cy="3902479"/>
          </a:xfrm>
          <a:prstGeom prst="rect">
            <a:avLst/>
          </a:prstGeom>
          <a:noFill/>
        </p:spPr>
        <p:txBody>
          <a:bodyPr wrap="square" rtlCol="0">
            <a:spAutoFit/>
          </a:bodyPr>
          <a:lstStyle/>
          <a:p>
            <a:pPr>
              <a:lnSpc>
                <a:spcPct val="150000"/>
              </a:lnSpc>
              <a:buSzPct val="150000"/>
            </a:pPr>
            <a:r>
              <a:rPr lang="zh-TW" altLang="en-US" sz="2400" b="1" dirty="0">
                <a:solidFill>
                  <a:srgbClr val="049E8C"/>
                </a:solidFill>
                <a:latin typeface="微軟正黑體" panose="020B0604030504040204" pitchFamily="34" charset="-120"/>
                <a:ea typeface="微軟正黑體" panose="020B0604030504040204" pitchFamily="34" charset="-120"/>
              </a:rPr>
              <a:t>一、通信</a:t>
            </a:r>
          </a:p>
          <a:p>
            <a:pPr marL="800100" lvl="1" indent="-342900">
              <a:lnSpc>
                <a:spcPct val="150000"/>
              </a:lnSpc>
              <a:buBlip>
                <a:blip r:embed="rId3"/>
              </a:buBlip>
            </a:pPr>
            <a:r>
              <a:rPr lang="zh-TW" altLang="en-US" sz="2400" b="1" dirty="0">
                <a:solidFill>
                  <a:schemeClr val="tx1">
                    <a:lumMod val="75000"/>
                    <a:lumOff val="25000"/>
                  </a:schemeClr>
                </a:solidFill>
                <a:latin typeface="微軟正黑體" panose="020B0604030504040204" pitchFamily="34" charset="-120"/>
                <a:ea typeface="微軟正黑體" panose="020B0604030504040204" pitchFamily="34" charset="-120"/>
              </a:rPr>
              <a:t>區塊鏈在通信應用領域，徹底改變資訊傳輸的管道</a:t>
            </a:r>
            <a:endParaRPr lang="en-US" altLang="zh-TW" sz="2400" b="1" dirty="0">
              <a:solidFill>
                <a:schemeClr val="tx1">
                  <a:lumMod val="75000"/>
                  <a:lumOff val="25000"/>
                </a:schemeClr>
              </a:solidFill>
              <a:latin typeface="微軟正黑體" panose="020B0604030504040204" pitchFamily="34" charset="-120"/>
              <a:ea typeface="微軟正黑體" panose="020B0604030504040204" pitchFamily="34" charset="-120"/>
            </a:endParaRPr>
          </a:p>
          <a:p>
            <a:pPr marL="800100" lvl="1" indent="-342900">
              <a:lnSpc>
                <a:spcPct val="150000"/>
              </a:lnSpc>
              <a:buBlip>
                <a:blip r:embed="rId3"/>
              </a:buBlip>
            </a:pPr>
            <a:r>
              <a:rPr lang="zh-TW" altLang="en-US" sz="2400" b="1" dirty="0">
                <a:solidFill>
                  <a:schemeClr val="tx1">
                    <a:lumMod val="75000"/>
                    <a:lumOff val="25000"/>
                  </a:schemeClr>
                </a:solidFill>
                <a:latin typeface="微軟正黑體" panose="020B0604030504040204" pitchFamily="34" charset="-120"/>
                <a:ea typeface="微軟正黑體" panose="020B0604030504040204" pitchFamily="34" charset="-120"/>
              </a:rPr>
              <a:t>解決資訊傳遞的路徑安全問題，創新改變未來通信資訊傳遞模式</a:t>
            </a:r>
            <a:endParaRPr lang="en-US" altLang="zh-TW" sz="2400" b="1" dirty="0">
              <a:solidFill>
                <a:schemeClr val="tx1">
                  <a:lumMod val="75000"/>
                  <a:lumOff val="25000"/>
                </a:schemeClr>
              </a:solidFill>
              <a:latin typeface="微軟正黑體" panose="020B0604030504040204" pitchFamily="34" charset="-120"/>
              <a:ea typeface="微軟正黑體" panose="020B0604030504040204" pitchFamily="34" charset="-120"/>
            </a:endParaRPr>
          </a:p>
          <a:p>
            <a:pPr marL="800100" lvl="1" indent="-342900">
              <a:lnSpc>
                <a:spcPct val="150000"/>
              </a:lnSpc>
              <a:buBlip>
                <a:blip r:embed="rId3"/>
              </a:buBlip>
            </a:pPr>
            <a:r>
              <a:rPr lang="zh-TW" altLang="en-US" sz="2400" b="1" dirty="0">
                <a:solidFill>
                  <a:schemeClr val="tx1">
                    <a:lumMod val="75000"/>
                    <a:lumOff val="25000"/>
                  </a:schemeClr>
                </a:solidFill>
                <a:latin typeface="微軟正黑體" panose="020B0604030504040204" pitchFamily="34" charset="-120"/>
                <a:ea typeface="微軟正黑體" panose="020B0604030504040204" pitchFamily="34" charset="-120"/>
              </a:rPr>
              <a:t>區塊鏈系統網路通訊協定一般採用</a:t>
            </a:r>
            <a:r>
              <a:rPr lang="en-US" altLang="zh-TW" sz="2400" b="1" dirty="0">
                <a:solidFill>
                  <a:schemeClr val="tx1">
                    <a:lumMod val="75000"/>
                    <a:lumOff val="25000"/>
                  </a:schemeClr>
                </a:solidFill>
                <a:latin typeface="微軟正黑體" panose="020B0604030504040204" pitchFamily="34" charset="-120"/>
                <a:ea typeface="微軟正黑體" panose="020B0604030504040204" pitchFamily="34" charset="-120"/>
              </a:rPr>
              <a:t>P2P(Peer to Peer)</a:t>
            </a:r>
            <a:r>
              <a:rPr lang="zh-TW" altLang="en-US" sz="2400" b="1" dirty="0">
                <a:solidFill>
                  <a:schemeClr val="tx1">
                    <a:lumMod val="75000"/>
                    <a:lumOff val="25000"/>
                  </a:schemeClr>
                </a:solidFill>
                <a:latin typeface="微軟正黑體" panose="020B0604030504040204" pitchFamily="34" charset="-120"/>
                <a:ea typeface="微軟正黑體" panose="020B0604030504040204" pitchFamily="34" charset="-120"/>
              </a:rPr>
              <a:t>技術協定</a:t>
            </a:r>
            <a:endParaRPr lang="en-US" altLang="zh-TW" sz="2400" b="1" dirty="0">
              <a:solidFill>
                <a:schemeClr val="tx1">
                  <a:lumMod val="75000"/>
                  <a:lumOff val="25000"/>
                </a:schemeClr>
              </a:solidFill>
              <a:latin typeface="微軟正黑體" panose="020B0604030504040204" pitchFamily="34" charset="-120"/>
              <a:ea typeface="微軟正黑體" panose="020B0604030504040204" pitchFamily="34" charset="-120"/>
            </a:endParaRPr>
          </a:p>
          <a:p>
            <a:pPr marL="800100" lvl="1" indent="-342900">
              <a:lnSpc>
                <a:spcPct val="150000"/>
              </a:lnSpc>
              <a:buBlip>
                <a:blip r:embed="rId3"/>
              </a:buBlip>
            </a:pPr>
            <a:r>
              <a:rPr lang="zh-TW" altLang="en-US" sz="2400" b="1" dirty="0">
                <a:solidFill>
                  <a:schemeClr val="tx1">
                    <a:lumMod val="75000"/>
                    <a:lumOff val="25000"/>
                  </a:schemeClr>
                </a:solidFill>
                <a:latin typeface="微軟正黑體" panose="020B0604030504040204" pitchFamily="34" charset="-120"/>
                <a:ea typeface="微軟正黑體" panose="020B0604030504040204" pitchFamily="34" charset="-120"/>
              </a:rPr>
              <a:t>每個節點透過多播實現路由、新節點識別和資料傳播等功能</a:t>
            </a:r>
            <a:endParaRPr lang="en-US" altLang="zh-TW" sz="2400" b="1" dirty="0">
              <a:solidFill>
                <a:schemeClr val="tx1">
                  <a:lumMod val="75000"/>
                  <a:lumOff val="25000"/>
                </a:schemeClr>
              </a:solidFill>
              <a:latin typeface="微軟正黑體" panose="020B0604030504040204" pitchFamily="34" charset="-120"/>
              <a:ea typeface="微軟正黑體" panose="020B0604030504040204" pitchFamily="34" charset="-120"/>
            </a:endParaRPr>
          </a:p>
          <a:p>
            <a:pPr marL="800100" lvl="1" indent="-342900">
              <a:lnSpc>
                <a:spcPct val="150000"/>
              </a:lnSpc>
              <a:buBlip>
                <a:blip r:embed="rId3"/>
              </a:buBlip>
            </a:pPr>
            <a:r>
              <a:rPr lang="zh-TW" altLang="en-US" sz="2400" b="1" dirty="0">
                <a:solidFill>
                  <a:schemeClr val="tx1">
                    <a:lumMod val="75000"/>
                    <a:lumOff val="25000"/>
                  </a:schemeClr>
                </a:solidFill>
                <a:latin typeface="微軟正黑體" panose="020B0604030504040204" pitchFamily="34" charset="-120"/>
                <a:ea typeface="微軟正黑體" panose="020B0604030504040204" pitchFamily="34" charset="-120"/>
              </a:rPr>
              <a:t>確保同一網路中的每台電腦彼此對等，各個節點共同提供網路服務</a:t>
            </a:r>
          </a:p>
          <a:p>
            <a:pPr marL="800100" lvl="1" indent="-342900">
              <a:lnSpc>
                <a:spcPct val="150000"/>
              </a:lnSpc>
              <a:buBlip>
                <a:blip r:embed="rId3"/>
              </a:buBlip>
            </a:pPr>
            <a:r>
              <a:rPr lang="zh-TW" altLang="en-US" sz="2400" b="1" dirty="0">
                <a:solidFill>
                  <a:schemeClr val="tx1">
                    <a:lumMod val="75000"/>
                    <a:lumOff val="25000"/>
                  </a:schemeClr>
                </a:solidFill>
                <a:latin typeface="微軟正黑體" panose="020B0604030504040204" pitchFamily="34" charset="-120"/>
                <a:ea typeface="微軟正黑體" panose="020B0604030504040204" pitchFamily="34" charset="-120"/>
              </a:rPr>
              <a:t>不同的區塊鏈系統可依據需要制定獨自的</a:t>
            </a:r>
            <a:r>
              <a:rPr lang="en-US" altLang="zh-TW" sz="2400" b="1" dirty="0">
                <a:solidFill>
                  <a:schemeClr val="tx1">
                    <a:lumMod val="75000"/>
                    <a:lumOff val="25000"/>
                  </a:schemeClr>
                </a:solidFill>
                <a:latin typeface="微軟正黑體" panose="020B0604030504040204" pitchFamily="34" charset="-120"/>
                <a:ea typeface="微軟正黑體" panose="020B0604030504040204" pitchFamily="34" charset="-120"/>
              </a:rPr>
              <a:t>P2P</a:t>
            </a:r>
            <a:r>
              <a:rPr lang="zh-TW" altLang="en-US" sz="2400" b="1" dirty="0">
                <a:solidFill>
                  <a:schemeClr val="tx1">
                    <a:lumMod val="75000"/>
                    <a:lumOff val="25000"/>
                  </a:schemeClr>
                </a:solidFill>
                <a:latin typeface="微軟正黑體" panose="020B0604030504040204" pitchFamily="34" charset="-120"/>
                <a:ea typeface="微軟正黑體" panose="020B0604030504040204" pitchFamily="34" charset="-120"/>
              </a:rPr>
              <a:t>網路通訊協定</a:t>
            </a:r>
          </a:p>
        </p:txBody>
      </p:sp>
      <p:cxnSp>
        <p:nvCxnSpPr>
          <p:cNvPr id="26" name="直接连接符 33">
            <a:extLst>
              <a:ext uri="{FF2B5EF4-FFF2-40B4-BE49-F238E27FC236}">
                <a16:creationId xmlns:a16="http://schemas.microsoft.com/office/drawing/2014/main" id="{C3725E45-5458-4931-9D9A-B8C15AE6AC41}"/>
              </a:ext>
            </a:extLst>
          </p:cNvPr>
          <p:cNvCxnSpPr>
            <a:cxnSpLocks/>
          </p:cNvCxnSpPr>
          <p:nvPr/>
        </p:nvCxnSpPr>
        <p:spPr>
          <a:xfrm>
            <a:off x="1177167" y="1046746"/>
            <a:ext cx="8253160" cy="0"/>
          </a:xfrm>
          <a:prstGeom prst="line">
            <a:avLst/>
          </a:prstGeom>
          <a:ln w="190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pic>
        <p:nvPicPr>
          <p:cNvPr id="4" name="圖片 3">
            <a:extLst>
              <a:ext uri="{FF2B5EF4-FFF2-40B4-BE49-F238E27FC236}">
                <a16:creationId xmlns:a16="http://schemas.microsoft.com/office/drawing/2014/main" id="{BA3ACE41-4BC7-4278-8019-42976881C1AA}"/>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923605" y="218510"/>
            <a:ext cx="1656472" cy="1656472"/>
          </a:xfrm>
          <a:prstGeom prst="rect">
            <a:avLst/>
          </a:prstGeom>
        </p:spPr>
      </p:pic>
    </p:spTree>
    <p:extLst>
      <p:ext uri="{BB962C8B-B14F-4D97-AF65-F5344CB8AC3E}">
        <p14:creationId xmlns:p14="http://schemas.microsoft.com/office/powerpoint/2010/main" val="158560364"/>
      </p:ext>
    </p:extLst>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6" presetClass="entr" presetSubtype="16" fill="hold" grpId="0" nodeType="after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circle(in)">
                                      <p:cBhvr>
                                        <p:cTn id="7" dur="2000"/>
                                        <p:tgtEl>
                                          <p:spTgt spid="9"/>
                                        </p:tgtEl>
                                      </p:cBhvr>
                                    </p:animEffect>
                                  </p:childTnLst>
                                </p:cTn>
                              </p:par>
                            </p:childTnLst>
                          </p:cTn>
                        </p:par>
                        <p:par>
                          <p:cTn id="8" fill="hold">
                            <p:stCondLst>
                              <p:cond delay="2000"/>
                            </p:stCondLst>
                            <p:childTnLst>
                              <p:par>
                                <p:cTn id="9" presetID="14" presetClass="entr" presetSubtype="10" fill="hold" grpId="0" nodeType="afterEffect">
                                  <p:stCondLst>
                                    <p:cond delay="0"/>
                                  </p:stCondLst>
                                  <p:childTnLst>
                                    <p:set>
                                      <p:cBhvr>
                                        <p:cTn id="10" dur="1" fill="hold">
                                          <p:stCondLst>
                                            <p:cond delay="0"/>
                                          </p:stCondLst>
                                        </p:cTn>
                                        <p:tgtEl>
                                          <p:spTgt spid="10"/>
                                        </p:tgtEl>
                                        <p:attrNameLst>
                                          <p:attrName>style.visibility</p:attrName>
                                        </p:attrNameLst>
                                      </p:cBhvr>
                                      <p:to>
                                        <p:strVal val="visible"/>
                                      </p:to>
                                    </p:set>
                                    <p:animEffect transition="in" filter="randombar(horizontal)">
                                      <p:cBhvr>
                                        <p:cTn id="11" dur="500"/>
                                        <p:tgtEl>
                                          <p:spTgt spid="10"/>
                                        </p:tgtEl>
                                      </p:cBhvr>
                                    </p:animEffect>
                                  </p:childTnLst>
                                </p:cTn>
                              </p:par>
                            </p:childTnLst>
                          </p:cTn>
                        </p:par>
                        <p:par>
                          <p:cTn id="12" fill="hold">
                            <p:stCondLst>
                              <p:cond delay="2500"/>
                            </p:stCondLst>
                            <p:childTnLst>
                              <p:par>
                                <p:cTn id="13" presetID="2" presetClass="entr" presetSubtype="8" fill="hold" nodeType="afterEffect">
                                  <p:stCondLst>
                                    <p:cond delay="0"/>
                                  </p:stCondLst>
                                  <p:childTnLst>
                                    <p:set>
                                      <p:cBhvr>
                                        <p:cTn id="14" dur="1" fill="hold">
                                          <p:stCondLst>
                                            <p:cond delay="0"/>
                                          </p:stCondLst>
                                        </p:cTn>
                                        <p:tgtEl>
                                          <p:spTgt spid="26"/>
                                        </p:tgtEl>
                                        <p:attrNameLst>
                                          <p:attrName>style.visibility</p:attrName>
                                        </p:attrNameLst>
                                      </p:cBhvr>
                                      <p:to>
                                        <p:strVal val="visible"/>
                                      </p:to>
                                    </p:set>
                                    <p:anim calcmode="lin" valueType="num">
                                      <p:cBhvr additive="base">
                                        <p:cTn id="15" dur="500" fill="hold"/>
                                        <p:tgtEl>
                                          <p:spTgt spid="26"/>
                                        </p:tgtEl>
                                        <p:attrNameLst>
                                          <p:attrName>ppt_x</p:attrName>
                                        </p:attrNameLst>
                                      </p:cBhvr>
                                      <p:tavLst>
                                        <p:tav tm="0">
                                          <p:val>
                                            <p:strVal val="0-#ppt_w/2"/>
                                          </p:val>
                                        </p:tav>
                                        <p:tav tm="100000">
                                          <p:val>
                                            <p:strVal val="#ppt_x"/>
                                          </p:val>
                                        </p:tav>
                                      </p:tavLst>
                                    </p:anim>
                                    <p:anim calcmode="lin" valueType="num">
                                      <p:cBhvr additive="base">
                                        <p:cTn id="16" dur="500" fill="hold"/>
                                        <p:tgtEl>
                                          <p:spTgt spid="26"/>
                                        </p:tgtEl>
                                        <p:attrNameLst>
                                          <p:attrName>ppt_y</p:attrName>
                                        </p:attrNameLst>
                                      </p:cBhvr>
                                      <p:tavLst>
                                        <p:tav tm="0">
                                          <p:val>
                                            <p:strVal val="#ppt_y"/>
                                          </p:val>
                                        </p:tav>
                                        <p:tav tm="100000">
                                          <p:val>
                                            <p:strVal val="#ppt_y"/>
                                          </p:val>
                                        </p:tav>
                                      </p:tavLst>
                                    </p:anim>
                                  </p:childTnLst>
                                </p:cTn>
                              </p:par>
                            </p:childTnLst>
                          </p:cTn>
                        </p:par>
                        <p:par>
                          <p:cTn id="17" fill="hold">
                            <p:stCondLst>
                              <p:cond delay="3000"/>
                            </p:stCondLst>
                            <p:childTnLst>
                              <p:par>
                                <p:cTn id="18" presetID="22" presetClass="entr" presetSubtype="4" fill="hold" grpId="0" nodeType="afterEffect">
                                  <p:stCondLst>
                                    <p:cond delay="0"/>
                                  </p:stCondLst>
                                  <p:childTnLst>
                                    <p:set>
                                      <p:cBhvr>
                                        <p:cTn id="19" dur="1" fill="hold">
                                          <p:stCondLst>
                                            <p:cond delay="0"/>
                                          </p:stCondLst>
                                        </p:cTn>
                                        <p:tgtEl>
                                          <p:spTgt spid="2"/>
                                        </p:tgtEl>
                                        <p:attrNameLst>
                                          <p:attrName>style.visibility</p:attrName>
                                        </p:attrNameLst>
                                      </p:cBhvr>
                                      <p:to>
                                        <p:strVal val="visible"/>
                                      </p:to>
                                    </p:set>
                                    <p:animEffect transition="in" filter="wipe(down)">
                                      <p:cBhvr>
                                        <p:cTn id="20" dur="500"/>
                                        <p:tgtEl>
                                          <p:spTgt spid="2"/>
                                        </p:tgtEl>
                                      </p:cBhvr>
                                    </p:animEffect>
                                  </p:childTnLst>
                                </p:cTn>
                              </p:par>
                            </p:childTnLst>
                          </p:cTn>
                        </p:par>
                        <p:par>
                          <p:cTn id="21" fill="hold">
                            <p:stCondLst>
                              <p:cond delay="3500"/>
                            </p:stCondLst>
                            <p:childTnLst>
                              <p:par>
                                <p:cTn id="22" presetID="42" presetClass="entr" presetSubtype="0" fill="hold" nodeType="afterEffect">
                                  <p:stCondLst>
                                    <p:cond delay="0"/>
                                  </p:stCondLst>
                                  <p:childTnLst>
                                    <p:set>
                                      <p:cBhvr>
                                        <p:cTn id="23" dur="1" fill="hold">
                                          <p:stCondLst>
                                            <p:cond delay="0"/>
                                          </p:stCondLst>
                                        </p:cTn>
                                        <p:tgtEl>
                                          <p:spTgt spid="4"/>
                                        </p:tgtEl>
                                        <p:attrNameLst>
                                          <p:attrName>style.visibility</p:attrName>
                                        </p:attrNameLst>
                                      </p:cBhvr>
                                      <p:to>
                                        <p:strVal val="visible"/>
                                      </p:to>
                                    </p:set>
                                    <p:animEffect transition="in" filter="fade">
                                      <p:cBhvr>
                                        <p:cTn id="24" dur="1000"/>
                                        <p:tgtEl>
                                          <p:spTgt spid="4"/>
                                        </p:tgtEl>
                                      </p:cBhvr>
                                    </p:animEffect>
                                    <p:anim calcmode="lin" valueType="num">
                                      <p:cBhvr>
                                        <p:cTn id="25" dur="1000" fill="hold"/>
                                        <p:tgtEl>
                                          <p:spTgt spid="4"/>
                                        </p:tgtEl>
                                        <p:attrNameLst>
                                          <p:attrName>ppt_x</p:attrName>
                                        </p:attrNameLst>
                                      </p:cBhvr>
                                      <p:tavLst>
                                        <p:tav tm="0">
                                          <p:val>
                                            <p:strVal val="#ppt_x"/>
                                          </p:val>
                                        </p:tav>
                                        <p:tav tm="100000">
                                          <p:val>
                                            <p:strVal val="#ppt_x"/>
                                          </p:val>
                                        </p:tav>
                                      </p:tavLst>
                                    </p:anim>
                                    <p:anim calcmode="lin" valueType="num">
                                      <p:cBhvr>
                                        <p:cTn id="26" dur="100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0" grpId="0"/>
      <p:bldP spid="2"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图片 42">
            <a:extLst>
              <a:ext uri="{FF2B5EF4-FFF2-40B4-BE49-F238E27FC236}">
                <a16:creationId xmlns:a16="http://schemas.microsoft.com/office/drawing/2014/main" id="{C8D97DA4-6242-4E73-AEFC-457D04FDC65B}"/>
              </a:ext>
            </a:extLst>
          </p:cNvPr>
          <p:cNvPicPr>
            <a:picLocks noChangeAspect="1"/>
          </p:cNvPicPr>
          <p:nvPr/>
        </p:nvPicPr>
        <p:blipFill>
          <a:blip r:embed="rId2"/>
          <a:stretch>
            <a:fillRect/>
          </a:stretch>
        </p:blipFill>
        <p:spPr>
          <a:xfrm rot="16200000">
            <a:off x="145169" y="-145167"/>
            <a:ext cx="1268414" cy="1558750"/>
          </a:xfrm>
          <a:prstGeom prst="rect">
            <a:avLst/>
          </a:prstGeom>
        </p:spPr>
      </p:pic>
      <p:sp>
        <p:nvSpPr>
          <p:cNvPr id="6" name="文字方塊 5">
            <a:extLst>
              <a:ext uri="{FF2B5EF4-FFF2-40B4-BE49-F238E27FC236}">
                <a16:creationId xmlns:a16="http://schemas.microsoft.com/office/drawing/2014/main" id="{8A30B01A-3198-4955-A208-0E3D9EB60397}"/>
              </a:ext>
            </a:extLst>
          </p:cNvPr>
          <p:cNvSpPr txBox="1"/>
          <p:nvPr/>
        </p:nvSpPr>
        <p:spPr>
          <a:xfrm>
            <a:off x="1558751" y="6596390"/>
            <a:ext cx="4217821" cy="261610"/>
          </a:xfrm>
          <a:prstGeom prst="rect">
            <a:avLst/>
          </a:prstGeom>
          <a:noFill/>
        </p:spPr>
        <p:txBody>
          <a:bodyPr wrap="none" rtlCol="0">
            <a:spAutoFit/>
          </a:bodyPr>
          <a:lstStyle/>
          <a:p>
            <a:r>
              <a:rPr lang="zh-TW" altLang="en-US" sz="1100" dirty="0">
                <a:latin typeface="Microsoft JhengHei Light" panose="020B0304030504040204" pitchFamily="34" charset="-120"/>
                <a:ea typeface="Microsoft JhengHei Light" panose="020B0304030504040204" pitchFamily="34" charset="-120"/>
              </a:rPr>
              <a:t>區塊鏈商業應用概論 實例與分析／新陸書局股份有限公司 發行</a:t>
            </a:r>
          </a:p>
        </p:txBody>
      </p:sp>
      <p:sp>
        <p:nvSpPr>
          <p:cNvPr id="9" name="標題 1">
            <a:extLst>
              <a:ext uri="{FF2B5EF4-FFF2-40B4-BE49-F238E27FC236}">
                <a16:creationId xmlns:a16="http://schemas.microsoft.com/office/drawing/2014/main" id="{475DFFF1-7C37-4CBE-ACFC-3F348BCD20CC}"/>
              </a:ext>
            </a:extLst>
          </p:cNvPr>
          <p:cNvSpPr txBox="1">
            <a:spLocks/>
          </p:cNvSpPr>
          <p:nvPr/>
        </p:nvSpPr>
        <p:spPr>
          <a:xfrm>
            <a:off x="1231956" y="393820"/>
            <a:ext cx="3643527" cy="874595"/>
          </a:xfrm>
          <a:prstGeom prst="rect">
            <a:avLst/>
          </a:prstGeom>
        </p:spPr>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altLang="zh-TW" sz="2400" b="1" dirty="0">
                <a:solidFill>
                  <a:srgbClr val="E06741"/>
                </a:solidFill>
              </a:rPr>
              <a:t>2-2 </a:t>
            </a:r>
            <a:r>
              <a:rPr lang="zh-TW" altLang="en-US" sz="2400" b="1" dirty="0">
                <a:solidFill>
                  <a:srgbClr val="E06741"/>
                </a:solidFill>
              </a:rPr>
              <a:t>區塊鏈技術發展</a:t>
            </a:r>
          </a:p>
          <a:p>
            <a:endParaRPr lang="zh-TW" altLang="en-US" sz="2400" dirty="0">
              <a:solidFill>
                <a:srgbClr val="E06741"/>
              </a:solidFill>
              <a:latin typeface="標楷體" panose="03000509000000000000" pitchFamily="65" charset="-120"/>
              <a:ea typeface="標楷體" panose="03000509000000000000" pitchFamily="65" charset="-120"/>
              <a:cs typeface="Times New Roman" panose="02020603050405020304" pitchFamily="18" charset="0"/>
            </a:endParaRPr>
          </a:p>
        </p:txBody>
      </p:sp>
      <p:sp>
        <p:nvSpPr>
          <p:cNvPr id="10" name="文字方塊 9">
            <a:extLst>
              <a:ext uri="{FF2B5EF4-FFF2-40B4-BE49-F238E27FC236}">
                <a16:creationId xmlns:a16="http://schemas.microsoft.com/office/drawing/2014/main" id="{198702E0-29BF-45ED-BB34-E70A3CAA9F43}"/>
              </a:ext>
            </a:extLst>
          </p:cNvPr>
          <p:cNvSpPr txBox="1"/>
          <p:nvPr/>
        </p:nvSpPr>
        <p:spPr>
          <a:xfrm>
            <a:off x="4487241" y="449166"/>
            <a:ext cx="2930610" cy="400110"/>
          </a:xfrm>
          <a:prstGeom prst="rect">
            <a:avLst/>
          </a:prstGeom>
          <a:noFill/>
        </p:spPr>
        <p:txBody>
          <a:bodyPr wrap="none" rtlCol="0">
            <a:spAutoFit/>
          </a:bodyPr>
          <a:lstStyle/>
          <a:p>
            <a:r>
              <a:rPr lang="en-US" altLang="zh-TW" sz="2000" b="1" dirty="0">
                <a:solidFill>
                  <a:schemeClr val="tx1">
                    <a:lumMod val="65000"/>
                    <a:lumOff val="35000"/>
                  </a:schemeClr>
                </a:solidFill>
                <a:latin typeface="微軟正黑體" panose="020B0604030504040204" pitchFamily="34" charset="-120"/>
                <a:ea typeface="微軟正黑體" panose="020B0604030504040204" pitchFamily="34" charset="-120"/>
                <a:cs typeface="Times New Roman" panose="02020603050405020304" pitchFamily="18" charset="0"/>
              </a:rPr>
              <a:t>-1 </a:t>
            </a:r>
            <a:r>
              <a:rPr lang="zh-TW" altLang="en-US" sz="2000" b="1" dirty="0">
                <a:solidFill>
                  <a:schemeClr val="tx1">
                    <a:lumMod val="65000"/>
                    <a:lumOff val="35000"/>
                  </a:schemeClr>
                </a:solidFill>
                <a:latin typeface="微軟正黑體" panose="020B0604030504040204" pitchFamily="34" charset="-120"/>
                <a:ea typeface="微軟正黑體" panose="020B0604030504040204" pitchFamily="34" charset="-120"/>
                <a:cs typeface="Times New Roman" panose="02020603050405020304" pitchFamily="18" charset="0"/>
              </a:rPr>
              <a:t>區塊鏈技術核心元件</a:t>
            </a:r>
          </a:p>
        </p:txBody>
      </p:sp>
      <p:sp>
        <p:nvSpPr>
          <p:cNvPr id="2" name="文字方塊 1">
            <a:extLst>
              <a:ext uri="{FF2B5EF4-FFF2-40B4-BE49-F238E27FC236}">
                <a16:creationId xmlns:a16="http://schemas.microsoft.com/office/drawing/2014/main" id="{D6D66D7E-58A1-40BE-8070-FA1C3AF22B14}"/>
              </a:ext>
            </a:extLst>
          </p:cNvPr>
          <p:cNvSpPr txBox="1"/>
          <p:nvPr/>
        </p:nvSpPr>
        <p:spPr>
          <a:xfrm>
            <a:off x="1347093" y="1244217"/>
            <a:ext cx="9875089" cy="5174878"/>
          </a:xfrm>
          <a:prstGeom prst="rect">
            <a:avLst/>
          </a:prstGeom>
          <a:noFill/>
        </p:spPr>
        <p:txBody>
          <a:bodyPr wrap="square" rtlCol="0">
            <a:spAutoFit/>
          </a:bodyPr>
          <a:lstStyle/>
          <a:p>
            <a:pPr>
              <a:lnSpc>
                <a:spcPct val="150000"/>
              </a:lnSpc>
              <a:buSzPct val="150000"/>
            </a:pPr>
            <a:r>
              <a:rPr lang="zh-TW" altLang="en-US" sz="2400" b="1" dirty="0">
                <a:solidFill>
                  <a:srgbClr val="049E8C"/>
                </a:solidFill>
                <a:latin typeface="微軟正黑體" panose="020B0604030504040204" pitchFamily="34" charset="-120"/>
                <a:ea typeface="微軟正黑體" panose="020B0604030504040204" pitchFamily="34" charset="-120"/>
              </a:rPr>
              <a:t>二、資料存儲</a:t>
            </a:r>
            <a:endParaRPr lang="en-US" altLang="zh-TW" sz="2400" b="1" dirty="0">
              <a:solidFill>
                <a:srgbClr val="049E8C"/>
              </a:solidFill>
              <a:latin typeface="微軟正黑體" panose="020B0604030504040204" pitchFamily="34" charset="-120"/>
              <a:ea typeface="微軟正黑體" panose="020B0604030504040204" pitchFamily="34" charset="-120"/>
            </a:endParaRPr>
          </a:p>
          <a:p>
            <a:pPr marL="800100" lvl="1" indent="-342900">
              <a:lnSpc>
                <a:spcPct val="150000"/>
              </a:lnSpc>
              <a:buSzPct val="100000"/>
              <a:buBlip>
                <a:blip r:embed="rId3"/>
              </a:buBlip>
            </a:pPr>
            <a:r>
              <a:rPr lang="zh-TW" altLang="en-US" sz="2400" b="1" dirty="0">
                <a:solidFill>
                  <a:schemeClr val="tx1">
                    <a:lumMod val="75000"/>
                    <a:lumOff val="25000"/>
                  </a:schemeClr>
                </a:solidFill>
                <a:latin typeface="微軟正黑體" panose="020B0604030504040204" pitchFamily="34" charset="-120"/>
                <a:ea typeface="微軟正黑體" panose="020B0604030504040204" pitchFamily="34" charset="-120"/>
              </a:rPr>
              <a:t>區塊鏈是一種新型的</a:t>
            </a:r>
            <a:r>
              <a:rPr lang="zh-TW" altLang="en-US" sz="2400" b="1" dirty="0">
                <a:solidFill>
                  <a:srgbClr val="495B73"/>
                </a:solidFill>
                <a:latin typeface="微軟正黑體" panose="020B0604030504040204" pitchFamily="34" charset="-120"/>
                <a:ea typeface="微軟正黑體" panose="020B0604030504040204" pitchFamily="34" charset="-120"/>
              </a:rPr>
              <a:t>分布式資料庫</a:t>
            </a:r>
            <a:endParaRPr lang="en-US" altLang="zh-TW" sz="2400" b="1" dirty="0">
              <a:solidFill>
                <a:srgbClr val="495B73"/>
              </a:solidFill>
              <a:latin typeface="微軟正黑體" panose="020B0604030504040204" pitchFamily="34" charset="-120"/>
              <a:ea typeface="微軟正黑體" panose="020B0604030504040204" pitchFamily="34" charset="-120"/>
            </a:endParaRPr>
          </a:p>
          <a:p>
            <a:pPr marL="800100" lvl="1" indent="-342900">
              <a:lnSpc>
                <a:spcPct val="150000"/>
              </a:lnSpc>
              <a:buSzPct val="100000"/>
              <a:buBlip>
                <a:blip r:embed="rId3"/>
              </a:buBlip>
            </a:pPr>
            <a:endParaRPr lang="zh-TW" altLang="en-US" sz="600" b="1" dirty="0">
              <a:solidFill>
                <a:schemeClr val="tx1">
                  <a:lumMod val="75000"/>
                  <a:lumOff val="25000"/>
                </a:schemeClr>
              </a:solidFill>
              <a:latin typeface="微軟正黑體" panose="020B0604030504040204" pitchFamily="34" charset="-120"/>
              <a:ea typeface="微軟正黑體" panose="020B0604030504040204" pitchFamily="34" charset="-120"/>
            </a:endParaRPr>
          </a:p>
          <a:p>
            <a:pPr>
              <a:lnSpc>
                <a:spcPct val="150000"/>
              </a:lnSpc>
              <a:buSzPct val="100000"/>
            </a:pPr>
            <a:r>
              <a:rPr lang="zh-TW" altLang="en-US" sz="2300" b="1" dirty="0">
                <a:solidFill>
                  <a:schemeClr val="tx1">
                    <a:lumMod val="75000"/>
                    <a:lumOff val="25000"/>
                  </a:schemeClr>
                </a:solidFill>
                <a:latin typeface="微軟正黑體" panose="020B0604030504040204" pitchFamily="34" charset="-120"/>
                <a:ea typeface="微軟正黑體" panose="020B0604030504040204" pitchFamily="34" charset="-120"/>
              </a:rPr>
              <a:t>（一）資料結構</a:t>
            </a:r>
          </a:p>
          <a:p>
            <a:pPr marL="800100" lvl="1" indent="-342900">
              <a:lnSpc>
                <a:spcPct val="150000"/>
              </a:lnSpc>
              <a:buSzPct val="100000"/>
              <a:buBlip>
                <a:blip r:embed="rId3"/>
              </a:buBlip>
            </a:pPr>
            <a:r>
              <a:rPr lang="zh-TW" altLang="en-US" sz="2300" b="1" dirty="0">
                <a:solidFill>
                  <a:srgbClr val="495B73"/>
                </a:solidFill>
                <a:latin typeface="微軟正黑體" panose="020B0604030504040204" pitchFamily="34" charset="-120"/>
                <a:ea typeface="微軟正黑體" panose="020B0604030504040204" pitchFamily="34" charset="-120"/>
              </a:rPr>
              <a:t>區塊表頭（</a:t>
            </a:r>
            <a:r>
              <a:rPr lang="en-US" altLang="zh-TW" sz="2300" b="1" dirty="0">
                <a:solidFill>
                  <a:srgbClr val="495B73"/>
                </a:solidFill>
                <a:latin typeface="微軟正黑體" panose="020B0604030504040204" pitchFamily="34" charset="-120"/>
                <a:ea typeface="微軟正黑體" panose="020B0604030504040204" pitchFamily="34" charset="-120"/>
              </a:rPr>
              <a:t>header</a:t>
            </a:r>
            <a:r>
              <a:rPr lang="zh-TW" altLang="en-US" sz="2300" b="1" dirty="0">
                <a:solidFill>
                  <a:srgbClr val="495B73"/>
                </a:solidFill>
                <a:latin typeface="微軟正黑體" panose="020B0604030504040204" pitchFamily="34" charset="-120"/>
                <a:ea typeface="微軟正黑體" panose="020B0604030504040204" pitchFamily="34" charset="-120"/>
              </a:rPr>
              <a:t>）：</a:t>
            </a:r>
            <a:r>
              <a:rPr lang="zh-TW" altLang="en-US" sz="2300" b="1" dirty="0">
                <a:solidFill>
                  <a:schemeClr val="tx1">
                    <a:lumMod val="75000"/>
                    <a:lumOff val="25000"/>
                  </a:schemeClr>
                </a:solidFill>
                <a:latin typeface="微軟正黑體" panose="020B0604030504040204" pitchFamily="34" charset="-120"/>
                <a:ea typeface="微軟正黑體" panose="020B0604030504040204" pitchFamily="34" charset="-120"/>
              </a:rPr>
              <a:t>用於連結到前一個區塊，並且應用時間戳保證歷史數據的完整性</a:t>
            </a:r>
            <a:endParaRPr lang="en-US" altLang="zh-TW" sz="2300" b="1" dirty="0">
              <a:solidFill>
                <a:schemeClr val="tx1">
                  <a:lumMod val="75000"/>
                  <a:lumOff val="25000"/>
                </a:schemeClr>
              </a:solidFill>
              <a:latin typeface="微軟正黑體" panose="020B0604030504040204" pitchFamily="34" charset="-120"/>
              <a:ea typeface="微軟正黑體" panose="020B0604030504040204" pitchFamily="34" charset="-120"/>
            </a:endParaRPr>
          </a:p>
          <a:p>
            <a:pPr marL="800100" lvl="1" indent="-342900">
              <a:lnSpc>
                <a:spcPct val="150000"/>
              </a:lnSpc>
              <a:buSzPct val="100000"/>
              <a:buBlip>
                <a:blip r:embed="rId3"/>
              </a:buBlip>
            </a:pPr>
            <a:r>
              <a:rPr lang="zh-TW" altLang="en-US" sz="2300" b="1" dirty="0">
                <a:solidFill>
                  <a:srgbClr val="495B73"/>
                </a:solidFill>
                <a:latin typeface="微軟正黑體" panose="020B0604030504040204" pitchFamily="34" charset="-120"/>
                <a:ea typeface="微軟正黑體" panose="020B0604030504040204" pitchFamily="34" charset="-120"/>
              </a:rPr>
              <a:t>區塊主體（</a:t>
            </a:r>
            <a:r>
              <a:rPr lang="en-US" altLang="zh-TW" sz="2300" b="1" dirty="0">
                <a:solidFill>
                  <a:srgbClr val="495B73"/>
                </a:solidFill>
                <a:latin typeface="微軟正黑體" panose="020B0604030504040204" pitchFamily="34" charset="-120"/>
                <a:ea typeface="微軟正黑體" panose="020B0604030504040204" pitchFamily="34" charset="-120"/>
              </a:rPr>
              <a:t>body</a:t>
            </a:r>
            <a:r>
              <a:rPr lang="zh-TW" altLang="en-US" sz="2300" b="1" dirty="0">
                <a:solidFill>
                  <a:srgbClr val="495B73"/>
                </a:solidFill>
                <a:latin typeface="微軟正黑體" panose="020B0604030504040204" pitchFamily="34" charset="-120"/>
                <a:ea typeface="微軟正黑體" panose="020B0604030504040204" pitchFamily="34" charset="-120"/>
              </a:rPr>
              <a:t>）：</a:t>
            </a:r>
            <a:r>
              <a:rPr lang="zh-TW" altLang="en-US" sz="2300" b="1" dirty="0">
                <a:solidFill>
                  <a:schemeClr val="tx1">
                    <a:lumMod val="75000"/>
                    <a:lumOff val="25000"/>
                  </a:schemeClr>
                </a:solidFill>
                <a:latin typeface="微軟正黑體" panose="020B0604030504040204" pitchFamily="34" charset="-120"/>
                <a:ea typeface="微軟正黑體" panose="020B0604030504040204" pitchFamily="34" charset="-120"/>
              </a:rPr>
              <a:t>涵括經過驗證的、區塊建立過程中產生的所有交易資訊</a:t>
            </a:r>
            <a:endParaRPr lang="en-US" altLang="zh-TW" sz="600" b="1" dirty="0">
              <a:solidFill>
                <a:schemeClr val="tx1">
                  <a:lumMod val="75000"/>
                  <a:lumOff val="25000"/>
                </a:schemeClr>
              </a:solidFill>
              <a:latin typeface="微軟正黑體" panose="020B0604030504040204" pitchFamily="34" charset="-120"/>
              <a:ea typeface="微軟正黑體" panose="020B0604030504040204" pitchFamily="34" charset="-120"/>
            </a:endParaRPr>
          </a:p>
          <a:p>
            <a:pPr marL="342900" indent="-342900">
              <a:lnSpc>
                <a:spcPct val="150000"/>
              </a:lnSpc>
              <a:buSzPct val="100000"/>
              <a:buBlip>
                <a:blip r:embed="rId3"/>
              </a:buBlip>
            </a:pPr>
            <a:r>
              <a:rPr lang="zh-TW" altLang="en-US" sz="2300" b="1" dirty="0">
                <a:solidFill>
                  <a:schemeClr val="tx1">
                    <a:lumMod val="75000"/>
                    <a:lumOff val="25000"/>
                  </a:schemeClr>
                </a:solidFill>
                <a:latin typeface="微軟正黑體" panose="020B0604030504040204" pitchFamily="34" charset="-120"/>
                <a:ea typeface="微軟正黑體" panose="020B0604030504040204" pitchFamily="34" charset="-120"/>
              </a:rPr>
              <a:t>區塊鏈方具備不可篡改、數據可完整追溯以及時間戳功能，得以有效解決物品的溯源防偽問題</a:t>
            </a:r>
          </a:p>
        </p:txBody>
      </p:sp>
      <p:cxnSp>
        <p:nvCxnSpPr>
          <p:cNvPr id="26" name="直接连接符 33">
            <a:extLst>
              <a:ext uri="{FF2B5EF4-FFF2-40B4-BE49-F238E27FC236}">
                <a16:creationId xmlns:a16="http://schemas.microsoft.com/office/drawing/2014/main" id="{C3725E45-5458-4931-9D9A-B8C15AE6AC41}"/>
              </a:ext>
            </a:extLst>
          </p:cNvPr>
          <p:cNvCxnSpPr>
            <a:cxnSpLocks/>
          </p:cNvCxnSpPr>
          <p:nvPr/>
        </p:nvCxnSpPr>
        <p:spPr>
          <a:xfrm>
            <a:off x="1177167" y="1046746"/>
            <a:ext cx="8382469" cy="0"/>
          </a:xfrm>
          <a:prstGeom prst="line">
            <a:avLst/>
          </a:prstGeom>
          <a:ln w="190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pic>
        <p:nvPicPr>
          <p:cNvPr id="11" name="圖片 10">
            <a:extLst>
              <a:ext uri="{FF2B5EF4-FFF2-40B4-BE49-F238E27FC236}">
                <a16:creationId xmlns:a16="http://schemas.microsoft.com/office/drawing/2014/main" id="{76BC5D1D-9B5C-4CC4-8AD5-3CEC6C50F7CA}"/>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866343" y="260005"/>
            <a:ext cx="1850498" cy="1850498"/>
          </a:xfrm>
          <a:prstGeom prst="rect">
            <a:avLst/>
          </a:prstGeom>
        </p:spPr>
      </p:pic>
    </p:spTree>
    <p:extLst>
      <p:ext uri="{BB962C8B-B14F-4D97-AF65-F5344CB8AC3E}">
        <p14:creationId xmlns:p14="http://schemas.microsoft.com/office/powerpoint/2010/main" val="128441821"/>
      </p:ext>
    </p:extLst>
  </p:cSld>
  <p:clrMapOvr>
    <a:masterClrMapping/>
  </p:clrMapOvr>
  <mc:AlternateContent xmlns:mc="http://schemas.openxmlformats.org/markup-compatibility/2006">
    <mc:Choice xmlns:p14="http://schemas.microsoft.com/office/powerpoint/2010/main" Requires="p14">
      <p:transition spd="slow" p14:dur="1500">
        <p:split orient="vert"/>
      </p:transition>
    </mc:Choice>
    <mc:Fallback>
      <p:transition spd="slow">
        <p:split orient="vert"/>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6" presetClass="entr" presetSubtype="16" fill="hold" grpId="0" nodeType="after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circle(in)">
                                      <p:cBhvr>
                                        <p:cTn id="7" dur="2000"/>
                                        <p:tgtEl>
                                          <p:spTgt spid="9"/>
                                        </p:tgtEl>
                                      </p:cBhvr>
                                    </p:animEffect>
                                  </p:childTnLst>
                                </p:cTn>
                              </p:par>
                            </p:childTnLst>
                          </p:cTn>
                        </p:par>
                        <p:par>
                          <p:cTn id="8" fill="hold">
                            <p:stCondLst>
                              <p:cond delay="2000"/>
                            </p:stCondLst>
                            <p:childTnLst>
                              <p:par>
                                <p:cTn id="9" presetID="14" presetClass="entr" presetSubtype="10" fill="hold" grpId="0" nodeType="afterEffect">
                                  <p:stCondLst>
                                    <p:cond delay="0"/>
                                  </p:stCondLst>
                                  <p:childTnLst>
                                    <p:set>
                                      <p:cBhvr>
                                        <p:cTn id="10" dur="1" fill="hold">
                                          <p:stCondLst>
                                            <p:cond delay="0"/>
                                          </p:stCondLst>
                                        </p:cTn>
                                        <p:tgtEl>
                                          <p:spTgt spid="10"/>
                                        </p:tgtEl>
                                        <p:attrNameLst>
                                          <p:attrName>style.visibility</p:attrName>
                                        </p:attrNameLst>
                                      </p:cBhvr>
                                      <p:to>
                                        <p:strVal val="visible"/>
                                      </p:to>
                                    </p:set>
                                    <p:animEffect transition="in" filter="randombar(horizontal)">
                                      <p:cBhvr>
                                        <p:cTn id="11" dur="500"/>
                                        <p:tgtEl>
                                          <p:spTgt spid="10"/>
                                        </p:tgtEl>
                                      </p:cBhvr>
                                    </p:animEffect>
                                  </p:childTnLst>
                                </p:cTn>
                              </p:par>
                            </p:childTnLst>
                          </p:cTn>
                        </p:par>
                        <p:par>
                          <p:cTn id="12" fill="hold">
                            <p:stCondLst>
                              <p:cond delay="2500"/>
                            </p:stCondLst>
                            <p:childTnLst>
                              <p:par>
                                <p:cTn id="13" presetID="2" presetClass="entr" presetSubtype="8" fill="hold" nodeType="afterEffect">
                                  <p:stCondLst>
                                    <p:cond delay="0"/>
                                  </p:stCondLst>
                                  <p:childTnLst>
                                    <p:set>
                                      <p:cBhvr>
                                        <p:cTn id="14" dur="1" fill="hold">
                                          <p:stCondLst>
                                            <p:cond delay="0"/>
                                          </p:stCondLst>
                                        </p:cTn>
                                        <p:tgtEl>
                                          <p:spTgt spid="26"/>
                                        </p:tgtEl>
                                        <p:attrNameLst>
                                          <p:attrName>style.visibility</p:attrName>
                                        </p:attrNameLst>
                                      </p:cBhvr>
                                      <p:to>
                                        <p:strVal val="visible"/>
                                      </p:to>
                                    </p:set>
                                    <p:anim calcmode="lin" valueType="num">
                                      <p:cBhvr additive="base">
                                        <p:cTn id="15" dur="500" fill="hold"/>
                                        <p:tgtEl>
                                          <p:spTgt spid="26"/>
                                        </p:tgtEl>
                                        <p:attrNameLst>
                                          <p:attrName>ppt_x</p:attrName>
                                        </p:attrNameLst>
                                      </p:cBhvr>
                                      <p:tavLst>
                                        <p:tav tm="0">
                                          <p:val>
                                            <p:strVal val="0-#ppt_w/2"/>
                                          </p:val>
                                        </p:tav>
                                        <p:tav tm="100000">
                                          <p:val>
                                            <p:strVal val="#ppt_x"/>
                                          </p:val>
                                        </p:tav>
                                      </p:tavLst>
                                    </p:anim>
                                    <p:anim calcmode="lin" valueType="num">
                                      <p:cBhvr additive="base">
                                        <p:cTn id="16" dur="500" fill="hold"/>
                                        <p:tgtEl>
                                          <p:spTgt spid="26"/>
                                        </p:tgtEl>
                                        <p:attrNameLst>
                                          <p:attrName>ppt_y</p:attrName>
                                        </p:attrNameLst>
                                      </p:cBhvr>
                                      <p:tavLst>
                                        <p:tav tm="0">
                                          <p:val>
                                            <p:strVal val="#ppt_y"/>
                                          </p:val>
                                        </p:tav>
                                        <p:tav tm="100000">
                                          <p:val>
                                            <p:strVal val="#ppt_y"/>
                                          </p:val>
                                        </p:tav>
                                      </p:tavLst>
                                    </p:anim>
                                  </p:childTnLst>
                                </p:cTn>
                              </p:par>
                            </p:childTnLst>
                          </p:cTn>
                        </p:par>
                        <p:par>
                          <p:cTn id="17" fill="hold">
                            <p:stCondLst>
                              <p:cond delay="3000"/>
                            </p:stCondLst>
                            <p:childTnLst>
                              <p:par>
                                <p:cTn id="18" presetID="14" presetClass="entr" presetSubtype="10" fill="hold" grpId="0" nodeType="afterEffect">
                                  <p:stCondLst>
                                    <p:cond delay="0"/>
                                  </p:stCondLst>
                                  <p:childTnLst>
                                    <p:set>
                                      <p:cBhvr>
                                        <p:cTn id="19" dur="1" fill="hold">
                                          <p:stCondLst>
                                            <p:cond delay="0"/>
                                          </p:stCondLst>
                                        </p:cTn>
                                        <p:tgtEl>
                                          <p:spTgt spid="2"/>
                                        </p:tgtEl>
                                        <p:attrNameLst>
                                          <p:attrName>style.visibility</p:attrName>
                                        </p:attrNameLst>
                                      </p:cBhvr>
                                      <p:to>
                                        <p:strVal val="visible"/>
                                      </p:to>
                                    </p:set>
                                    <p:animEffect transition="in" filter="randombar(horizontal)">
                                      <p:cBhvr>
                                        <p:cTn id="20" dur="500"/>
                                        <p:tgtEl>
                                          <p:spTgt spid="2"/>
                                        </p:tgtEl>
                                      </p:cBhvr>
                                    </p:animEffect>
                                  </p:childTnLst>
                                </p:cTn>
                              </p:par>
                            </p:childTnLst>
                          </p:cTn>
                        </p:par>
                        <p:par>
                          <p:cTn id="21" fill="hold">
                            <p:stCondLst>
                              <p:cond delay="3500"/>
                            </p:stCondLst>
                            <p:childTnLst>
                              <p:par>
                                <p:cTn id="22" presetID="10" presetClass="entr" presetSubtype="0" fill="hold" nodeType="afterEffect">
                                  <p:stCondLst>
                                    <p:cond delay="0"/>
                                  </p:stCondLst>
                                  <p:childTnLst>
                                    <p:set>
                                      <p:cBhvr>
                                        <p:cTn id="23" dur="1" fill="hold">
                                          <p:stCondLst>
                                            <p:cond delay="0"/>
                                          </p:stCondLst>
                                        </p:cTn>
                                        <p:tgtEl>
                                          <p:spTgt spid="11"/>
                                        </p:tgtEl>
                                        <p:attrNameLst>
                                          <p:attrName>style.visibility</p:attrName>
                                        </p:attrNameLst>
                                      </p:cBhvr>
                                      <p:to>
                                        <p:strVal val="visible"/>
                                      </p:to>
                                    </p:set>
                                    <p:animEffect transition="in" filter="fade">
                                      <p:cBhvr>
                                        <p:cTn id="24"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0" grpId="0"/>
      <p:bldP spid="2"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图片 42">
            <a:extLst>
              <a:ext uri="{FF2B5EF4-FFF2-40B4-BE49-F238E27FC236}">
                <a16:creationId xmlns:a16="http://schemas.microsoft.com/office/drawing/2014/main" id="{C8D97DA4-6242-4E73-AEFC-457D04FDC65B}"/>
              </a:ext>
            </a:extLst>
          </p:cNvPr>
          <p:cNvPicPr>
            <a:picLocks noChangeAspect="1"/>
          </p:cNvPicPr>
          <p:nvPr/>
        </p:nvPicPr>
        <p:blipFill>
          <a:blip r:embed="rId3"/>
          <a:stretch>
            <a:fillRect/>
          </a:stretch>
        </p:blipFill>
        <p:spPr>
          <a:xfrm rot="16200000">
            <a:off x="145169" y="-145167"/>
            <a:ext cx="1268414" cy="1558750"/>
          </a:xfrm>
          <a:prstGeom prst="rect">
            <a:avLst/>
          </a:prstGeom>
        </p:spPr>
      </p:pic>
      <p:sp>
        <p:nvSpPr>
          <p:cNvPr id="6" name="文字方塊 5">
            <a:extLst>
              <a:ext uri="{FF2B5EF4-FFF2-40B4-BE49-F238E27FC236}">
                <a16:creationId xmlns:a16="http://schemas.microsoft.com/office/drawing/2014/main" id="{8A30B01A-3198-4955-A208-0E3D9EB60397}"/>
              </a:ext>
            </a:extLst>
          </p:cNvPr>
          <p:cNvSpPr txBox="1"/>
          <p:nvPr/>
        </p:nvSpPr>
        <p:spPr>
          <a:xfrm>
            <a:off x="1558751" y="6596390"/>
            <a:ext cx="4217821" cy="261610"/>
          </a:xfrm>
          <a:prstGeom prst="rect">
            <a:avLst/>
          </a:prstGeom>
          <a:noFill/>
        </p:spPr>
        <p:txBody>
          <a:bodyPr wrap="none" rtlCol="0">
            <a:spAutoFit/>
          </a:bodyPr>
          <a:lstStyle/>
          <a:p>
            <a:r>
              <a:rPr lang="zh-TW" altLang="en-US" sz="1100" dirty="0">
                <a:latin typeface="Microsoft JhengHei Light" panose="020B0304030504040204" pitchFamily="34" charset="-120"/>
                <a:ea typeface="Microsoft JhengHei Light" panose="020B0304030504040204" pitchFamily="34" charset="-120"/>
              </a:rPr>
              <a:t>區塊鏈商業應用概論 實例與分析／新陸書局股份有限公司 發行</a:t>
            </a:r>
          </a:p>
        </p:txBody>
      </p:sp>
      <p:sp>
        <p:nvSpPr>
          <p:cNvPr id="9" name="標題 1">
            <a:extLst>
              <a:ext uri="{FF2B5EF4-FFF2-40B4-BE49-F238E27FC236}">
                <a16:creationId xmlns:a16="http://schemas.microsoft.com/office/drawing/2014/main" id="{475DFFF1-7C37-4CBE-ACFC-3F348BCD20CC}"/>
              </a:ext>
            </a:extLst>
          </p:cNvPr>
          <p:cNvSpPr txBox="1">
            <a:spLocks/>
          </p:cNvSpPr>
          <p:nvPr/>
        </p:nvSpPr>
        <p:spPr>
          <a:xfrm>
            <a:off x="1231956" y="393820"/>
            <a:ext cx="3643527" cy="874595"/>
          </a:xfrm>
          <a:prstGeom prst="rect">
            <a:avLst/>
          </a:prstGeom>
        </p:spPr>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altLang="zh-TW" sz="2400" b="1" dirty="0">
                <a:solidFill>
                  <a:srgbClr val="E06741"/>
                </a:solidFill>
              </a:rPr>
              <a:t>2-2 </a:t>
            </a:r>
            <a:r>
              <a:rPr lang="zh-TW" altLang="en-US" sz="2400" b="1" dirty="0">
                <a:solidFill>
                  <a:srgbClr val="E06741"/>
                </a:solidFill>
              </a:rPr>
              <a:t>區塊鏈技術發展</a:t>
            </a:r>
          </a:p>
          <a:p>
            <a:endParaRPr lang="zh-TW" altLang="en-US" sz="2400" dirty="0">
              <a:solidFill>
                <a:srgbClr val="E06741"/>
              </a:solidFill>
              <a:latin typeface="標楷體" panose="03000509000000000000" pitchFamily="65" charset="-120"/>
              <a:ea typeface="標楷體" panose="03000509000000000000" pitchFamily="65" charset="-120"/>
              <a:cs typeface="Times New Roman" panose="02020603050405020304" pitchFamily="18" charset="0"/>
            </a:endParaRPr>
          </a:p>
        </p:txBody>
      </p:sp>
      <p:sp>
        <p:nvSpPr>
          <p:cNvPr id="10" name="文字方塊 9">
            <a:extLst>
              <a:ext uri="{FF2B5EF4-FFF2-40B4-BE49-F238E27FC236}">
                <a16:creationId xmlns:a16="http://schemas.microsoft.com/office/drawing/2014/main" id="{198702E0-29BF-45ED-BB34-E70A3CAA9F43}"/>
              </a:ext>
            </a:extLst>
          </p:cNvPr>
          <p:cNvSpPr txBox="1"/>
          <p:nvPr/>
        </p:nvSpPr>
        <p:spPr>
          <a:xfrm>
            <a:off x="4487241" y="449166"/>
            <a:ext cx="2930610" cy="400110"/>
          </a:xfrm>
          <a:prstGeom prst="rect">
            <a:avLst/>
          </a:prstGeom>
          <a:noFill/>
        </p:spPr>
        <p:txBody>
          <a:bodyPr wrap="none" rtlCol="0">
            <a:spAutoFit/>
          </a:bodyPr>
          <a:lstStyle/>
          <a:p>
            <a:r>
              <a:rPr lang="en-US" altLang="zh-TW" sz="2000" b="1" dirty="0">
                <a:solidFill>
                  <a:schemeClr val="tx1">
                    <a:lumMod val="65000"/>
                    <a:lumOff val="35000"/>
                  </a:schemeClr>
                </a:solidFill>
                <a:latin typeface="微軟正黑體" panose="020B0604030504040204" pitchFamily="34" charset="-120"/>
                <a:ea typeface="微軟正黑體" panose="020B0604030504040204" pitchFamily="34" charset="-120"/>
                <a:cs typeface="Times New Roman" panose="02020603050405020304" pitchFamily="18" charset="0"/>
              </a:rPr>
              <a:t>-1 </a:t>
            </a:r>
            <a:r>
              <a:rPr lang="zh-TW" altLang="en-US" sz="2000" b="1" dirty="0">
                <a:solidFill>
                  <a:schemeClr val="tx1">
                    <a:lumMod val="65000"/>
                    <a:lumOff val="35000"/>
                  </a:schemeClr>
                </a:solidFill>
                <a:latin typeface="微軟正黑體" panose="020B0604030504040204" pitchFamily="34" charset="-120"/>
                <a:ea typeface="微軟正黑體" panose="020B0604030504040204" pitchFamily="34" charset="-120"/>
                <a:cs typeface="Times New Roman" panose="02020603050405020304" pitchFamily="18" charset="0"/>
              </a:rPr>
              <a:t>區塊鏈技術核心元件</a:t>
            </a:r>
          </a:p>
        </p:txBody>
      </p:sp>
      <p:sp>
        <p:nvSpPr>
          <p:cNvPr id="2" name="文字方塊 1">
            <a:extLst>
              <a:ext uri="{FF2B5EF4-FFF2-40B4-BE49-F238E27FC236}">
                <a16:creationId xmlns:a16="http://schemas.microsoft.com/office/drawing/2014/main" id="{D6D66D7E-58A1-40BE-8070-FA1C3AF22B14}"/>
              </a:ext>
            </a:extLst>
          </p:cNvPr>
          <p:cNvSpPr txBox="1"/>
          <p:nvPr/>
        </p:nvSpPr>
        <p:spPr>
          <a:xfrm>
            <a:off x="1558751" y="1316331"/>
            <a:ext cx="9649581" cy="5010474"/>
          </a:xfrm>
          <a:prstGeom prst="rect">
            <a:avLst/>
          </a:prstGeom>
          <a:noFill/>
        </p:spPr>
        <p:txBody>
          <a:bodyPr wrap="square" rtlCol="0">
            <a:spAutoFit/>
          </a:bodyPr>
          <a:lstStyle/>
          <a:p>
            <a:pPr>
              <a:lnSpc>
                <a:spcPct val="150000"/>
              </a:lnSpc>
              <a:buSzPct val="150000"/>
            </a:pPr>
            <a:r>
              <a:rPr lang="zh-TW" altLang="en-US" sz="2400" b="1" dirty="0">
                <a:solidFill>
                  <a:schemeClr val="tx1">
                    <a:lumMod val="75000"/>
                    <a:lumOff val="25000"/>
                  </a:schemeClr>
                </a:solidFill>
                <a:latin typeface="微軟正黑體" panose="020B0604030504040204" pitchFamily="34" charset="-120"/>
                <a:ea typeface="微軟正黑體" panose="020B0604030504040204" pitchFamily="34" charset="-120"/>
              </a:rPr>
              <a:t>（二）資料庫</a:t>
            </a:r>
          </a:p>
          <a:p>
            <a:pPr marL="800100" lvl="1" indent="-342900">
              <a:lnSpc>
                <a:spcPct val="150000"/>
              </a:lnSpc>
              <a:buSzPct val="100000"/>
              <a:buBlip>
                <a:blip r:embed="rId4"/>
              </a:buBlip>
            </a:pPr>
            <a:r>
              <a:rPr lang="en-US" altLang="zh-TW" sz="2400" b="1" dirty="0">
                <a:solidFill>
                  <a:schemeClr val="tx1">
                    <a:lumMod val="75000"/>
                    <a:lumOff val="25000"/>
                  </a:schemeClr>
                </a:solidFill>
                <a:latin typeface="微軟正黑體" panose="020B0604030504040204" pitchFamily="34" charset="-120"/>
                <a:ea typeface="微軟正黑體" panose="020B0604030504040204" pitchFamily="34" charset="-120"/>
              </a:rPr>
              <a:t>Key-Value </a:t>
            </a:r>
            <a:r>
              <a:rPr lang="zh-TW" altLang="en-US" sz="2400" b="1" dirty="0">
                <a:solidFill>
                  <a:schemeClr val="tx1">
                    <a:lumMod val="75000"/>
                    <a:lumOff val="25000"/>
                  </a:schemeClr>
                </a:solidFill>
                <a:latin typeface="微軟正黑體" panose="020B0604030504040204" pitchFamily="34" charset="-120"/>
                <a:ea typeface="微軟正黑體" panose="020B0604030504040204" pitchFamily="34" charset="-120"/>
              </a:rPr>
              <a:t>資料庫</a:t>
            </a:r>
            <a:endParaRPr lang="en-US" altLang="zh-TW" sz="2400" b="1" dirty="0">
              <a:solidFill>
                <a:schemeClr val="tx1">
                  <a:lumMod val="75000"/>
                  <a:lumOff val="25000"/>
                </a:schemeClr>
              </a:solidFill>
              <a:latin typeface="微軟正黑體" panose="020B0604030504040204" pitchFamily="34" charset="-120"/>
              <a:ea typeface="微軟正黑體" panose="020B0604030504040204" pitchFamily="34" charset="-120"/>
            </a:endParaRPr>
          </a:p>
          <a:p>
            <a:pPr marL="1257300" lvl="2" indent="-342900">
              <a:lnSpc>
                <a:spcPct val="150000"/>
              </a:lnSpc>
              <a:buSzPct val="100000"/>
              <a:buBlip>
                <a:blip r:embed="rId4"/>
              </a:buBlip>
            </a:pPr>
            <a:r>
              <a:rPr lang="zh-TW" altLang="en-US" sz="2400" b="1" dirty="0">
                <a:solidFill>
                  <a:schemeClr val="tx1">
                    <a:lumMod val="75000"/>
                    <a:lumOff val="25000"/>
                  </a:schemeClr>
                </a:solidFill>
                <a:latin typeface="微軟正黑體" panose="020B0604030504040204" pitchFamily="34" charset="-120"/>
                <a:ea typeface="微軟正黑體" panose="020B0604030504040204" pitchFamily="34" charset="-120"/>
              </a:rPr>
              <a:t>資料結構組織形式較簡單，讀寫性能很高，操作介面簡單，支持基本功能，不支援複雜的</a:t>
            </a:r>
            <a:r>
              <a:rPr lang="en-US" altLang="zh-TW" sz="2400" b="1" dirty="0">
                <a:solidFill>
                  <a:schemeClr val="tx1">
                    <a:lumMod val="75000"/>
                    <a:lumOff val="25000"/>
                  </a:schemeClr>
                </a:solidFill>
                <a:latin typeface="微軟正黑體" panose="020B0604030504040204" pitchFamily="34" charset="-120"/>
                <a:ea typeface="微軟正黑體" panose="020B0604030504040204" pitchFamily="34" charset="-120"/>
              </a:rPr>
              <a:t>SQL </a:t>
            </a:r>
            <a:r>
              <a:rPr lang="zh-TW" altLang="en-US" sz="2400" b="1" dirty="0">
                <a:solidFill>
                  <a:schemeClr val="tx1">
                    <a:lumMod val="75000"/>
                    <a:lumOff val="25000"/>
                  </a:schemeClr>
                </a:solidFill>
                <a:latin typeface="微軟正黑體" panose="020B0604030504040204" pitchFamily="34" charset="-120"/>
                <a:ea typeface="微軟正黑體" panose="020B0604030504040204" pitchFamily="34" charset="-120"/>
              </a:rPr>
              <a:t>功能</a:t>
            </a:r>
            <a:endParaRPr lang="en-US" altLang="zh-TW" sz="2400" b="1" dirty="0">
              <a:solidFill>
                <a:schemeClr val="tx1">
                  <a:lumMod val="75000"/>
                  <a:lumOff val="25000"/>
                </a:schemeClr>
              </a:solidFill>
              <a:latin typeface="微軟正黑體" panose="020B0604030504040204" pitchFamily="34" charset="-120"/>
              <a:ea typeface="微軟正黑體" panose="020B0604030504040204" pitchFamily="34" charset="-120"/>
            </a:endParaRPr>
          </a:p>
          <a:p>
            <a:pPr marL="1257300" lvl="2" indent="-342900">
              <a:lnSpc>
                <a:spcPct val="150000"/>
              </a:lnSpc>
              <a:buSzPct val="100000"/>
              <a:buBlip>
                <a:blip r:embed="rId4"/>
              </a:buBlip>
            </a:pPr>
            <a:r>
              <a:rPr lang="zh-TW" altLang="en-US" sz="2400" b="1" dirty="0">
                <a:solidFill>
                  <a:schemeClr val="tx1">
                    <a:lumMod val="75000"/>
                    <a:lumOff val="25000"/>
                  </a:schemeClr>
                </a:solidFill>
                <a:latin typeface="微軟正黑體" panose="020B0604030504040204" pitchFamily="34" charset="-120"/>
                <a:ea typeface="微軟正黑體" panose="020B0604030504040204" pitchFamily="34" charset="-120"/>
              </a:rPr>
              <a:t>極大的可擴展性（</a:t>
            </a:r>
            <a:r>
              <a:rPr lang="en-US" altLang="zh-TW" sz="2400" b="1" dirty="0">
                <a:solidFill>
                  <a:schemeClr val="tx1">
                    <a:lumMod val="75000"/>
                    <a:lumOff val="25000"/>
                  </a:schemeClr>
                </a:solidFill>
                <a:latin typeface="微軟正黑體" panose="020B0604030504040204" pitchFamily="34" charset="-120"/>
                <a:ea typeface="微軟正黑體" panose="020B0604030504040204" pitchFamily="34" charset="-120"/>
              </a:rPr>
              <a:t>scalability</a:t>
            </a:r>
            <a:r>
              <a:rPr lang="zh-TW" altLang="en-US" sz="2400" b="1" dirty="0">
                <a:solidFill>
                  <a:schemeClr val="tx1">
                    <a:lumMod val="75000"/>
                    <a:lumOff val="25000"/>
                  </a:schemeClr>
                </a:solidFill>
                <a:latin typeface="微軟正黑體" panose="020B0604030504040204" pitchFamily="34" charset="-120"/>
                <a:ea typeface="微軟正黑體" panose="020B0604030504040204" pitchFamily="34" charset="-120"/>
              </a:rPr>
              <a:t> ）</a:t>
            </a:r>
            <a:endParaRPr lang="en-US" altLang="zh-TW" sz="2400" b="1" dirty="0">
              <a:solidFill>
                <a:schemeClr val="tx1">
                  <a:lumMod val="75000"/>
                  <a:lumOff val="25000"/>
                </a:schemeClr>
              </a:solidFill>
              <a:latin typeface="微軟正黑體" panose="020B0604030504040204" pitchFamily="34" charset="-120"/>
              <a:ea typeface="微軟正黑體" panose="020B0604030504040204" pitchFamily="34" charset="-120"/>
            </a:endParaRPr>
          </a:p>
          <a:p>
            <a:pPr marL="1714500" lvl="3" indent="-342900">
              <a:lnSpc>
                <a:spcPct val="150000"/>
              </a:lnSpc>
              <a:buSzPct val="100000"/>
              <a:buBlip>
                <a:blip r:embed="rId4"/>
              </a:buBlip>
            </a:pPr>
            <a:r>
              <a:rPr lang="zh-TW" altLang="en-US" sz="2400" b="1" dirty="0">
                <a:solidFill>
                  <a:schemeClr val="tx1">
                    <a:lumMod val="75000"/>
                    <a:lumOff val="25000"/>
                  </a:schemeClr>
                </a:solidFill>
                <a:latin typeface="微軟正黑體" panose="020B0604030504040204" pitchFamily="34" charset="-120"/>
                <a:ea typeface="微軟正黑體" panose="020B0604030504040204" pitchFamily="34" charset="-120"/>
              </a:rPr>
              <a:t>支持極大的數據存儲</a:t>
            </a:r>
            <a:endParaRPr lang="en-US" altLang="zh-TW" sz="2400" b="1" dirty="0">
              <a:solidFill>
                <a:schemeClr val="tx1">
                  <a:lumMod val="75000"/>
                  <a:lumOff val="25000"/>
                </a:schemeClr>
              </a:solidFill>
              <a:latin typeface="微軟正黑體" panose="020B0604030504040204" pitchFamily="34" charset="-120"/>
              <a:ea typeface="微軟正黑體" panose="020B0604030504040204" pitchFamily="34" charset="-120"/>
            </a:endParaRPr>
          </a:p>
          <a:p>
            <a:pPr marL="1714500" lvl="3" indent="-342900">
              <a:lnSpc>
                <a:spcPct val="150000"/>
              </a:lnSpc>
              <a:buSzPct val="100000"/>
              <a:buBlip>
                <a:blip r:embed="rId4"/>
              </a:buBlip>
            </a:pPr>
            <a:r>
              <a:rPr lang="zh-TW" altLang="en-US" sz="2400" b="1" dirty="0">
                <a:solidFill>
                  <a:schemeClr val="tx1">
                    <a:lumMod val="75000"/>
                    <a:lumOff val="25000"/>
                  </a:schemeClr>
                </a:solidFill>
                <a:latin typeface="微軟正黑體" panose="020B0604030504040204" pitchFamily="34" charset="-120"/>
                <a:ea typeface="微軟正黑體" panose="020B0604030504040204" pitchFamily="34" charset="-120"/>
              </a:rPr>
              <a:t>支持數量很多的並發查詢</a:t>
            </a:r>
            <a:endParaRPr lang="en-US" altLang="zh-TW" sz="2400" b="1" dirty="0">
              <a:solidFill>
                <a:schemeClr val="tx1">
                  <a:lumMod val="75000"/>
                  <a:lumOff val="25000"/>
                </a:schemeClr>
              </a:solidFill>
              <a:latin typeface="微軟正黑體" panose="020B0604030504040204" pitchFamily="34" charset="-120"/>
              <a:ea typeface="微軟正黑體" panose="020B0604030504040204" pitchFamily="34" charset="-120"/>
            </a:endParaRPr>
          </a:p>
          <a:p>
            <a:pPr marL="1257300" lvl="2" indent="-342900">
              <a:lnSpc>
                <a:spcPct val="150000"/>
              </a:lnSpc>
              <a:buSzPct val="100000"/>
              <a:buBlip>
                <a:blip r:embed="rId5"/>
              </a:buBlip>
            </a:pPr>
            <a:r>
              <a:rPr lang="zh-TW" altLang="en-US" sz="2400" b="1" dirty="0">
                <a:solidFill>
                  <a:schemeClr val="tx1">
                    <a:lumMod val="75000"/>
                    <a:lumOff val="25000"/>
                  </a:schemeClr>
                </a:solidFill>
                <a:latin typeface="微軟正黑體" panose="020B0604030504040204" pitchFamily="34" charset="-120"/>
                <a:ea typeface="微軟正黑體" panose="020B0604030504040204" pitchFamily="34" charset="-120"/>
              </a:rPr>
              <a:t>不提供數據之間的關係和數據的完備性</a:t>
            </a:r>
            <a:endParaRPr lang="en-US" altLang="zh-TW" sz="2400" b="1" dirty="0">
              <a:solidFill>
                <a:schemeClr val="tx1">
                  <a:lumMod val="75000"/>
                  <a:lumOff val="25000"/>
                </a:schemeClr>
              </a:solidFill>
              <a:latin typeface="微軟正黑體" panose="020B0604030504040204" pitchFamily="34" charset="-120"/>
              <a:ea typeface="微軟正黑體" panose="020B0604030504040204" pitchFamily="34" charset="-120"/>
            </a:endParaRPr>
          </a:p>
          <a:p>
            <a:pPr marL="1257300" lvl="2" indent="-342900">
              <a:lnSpc>
                <a:spcPct val="150000"/>
              </a:lnSpc>
              <a:buSzPct val="100000"/>
              <a:buBlip>
                <a:blip r:embed="rId5"/>
              </a:buBlip>
            </a:pPr>
            <a:r>
              <a:rPr lang="zh-TW" altLang="en-US" sz="2400" b="1" dirty="0">
                <a:solidFill>
                  <a:schemeClr val="tx1">
                    <a:lumMod val="75000"/>
                    <a:lumOff val="25000"/>
                  </a:schemeClr>
                </a:solidFill>
                <a:latin typeface="微軟正黑體" panose="020B0604030504040204" pitchFamily="34" charset="-120"/>
                <a:ea typeface="微軟正黑體" panose="020B0604030504040204" pitchFamily="34" charset="-120"/>
              </a:rPr>
              <a:t>現階段仍無法完全取代</a:t>
            </a:r>
            <a:r>
              <a:rPr lang="en-US" altLang="zh-TW" sz="2400" b="1" dirty="0">
                <a:solidFill>
                  <a:schemeClr val="tx1">
                    <a:lumMod val="75000"/>
                    <a:lumOff val="25000"/>
                  </a:schemeClr>
                </a:solidFill>
                <a:latin typeface="微軟正黑體" panose="020B0604030504040204" pitchFamily="34" charset="-120"/>
                <a:ea typeface="微軟正黑體" panose="020B0604030504040204" pitchFamily="34" charset="-120"/>
              </a:rPr>
              <a:t>RDBMS</a:t>
            </a:r>
          </a:p>
        </p:txBody>
      </p:sp>
      <p:cxnSp>
        <p:nvCxnSpPr>
          <p:cNvPr id="26" name="直接连接符 33">
            <a:extLst>
              <a:ext uri="{FF2B5EF4-FFF2-40B4-BE49-F238E27FC236}">
                <a16:creationId xmlns:a16="http://schemas.microsoft.com/office/drawing/2014/main" id="{C3725E45-5458-4931-9D9A-B8C15AE6AC41}"/>
              </a:ext>
            </a:extLst>
          </p:cNvPr>
          <p:cNvCxnSpPr/>
          <p:nvPr/>
        </p:nvCxnSpPr>
        <p:spPr>
          <a:xfrm>
            <a:off x="1177167" y="1046746"/>
            <a:ext cx="10585176" cy="0"/>
          </a:xfrm>
          <a:prstGeom prst="line">
            <a:avLst/>
          </a:prstGeom>
          <a:ln w="190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pic>
        <p:nvPicPr>
          <p:cNvPr id="4" name="圖片 3">
            <a:extLst>
              <a:ext uri="{FF2B5EF4-FFF2-40B4-BE49-F238E27FC236}">
                <a16:creationId xmlns:a16="http://schemas.microsoft.com/office/drawing/2014/main" id="{791BF27D-3833-41D4-9492-D5C9E90F1505}"/>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9009220" y="3925375"/>
            <a:ext cx="2671014" cy="2671014"/>
          </a:xfrm>
          <a:prstGeom prst="rect">
            <a:avLst/>
          </a:prstGeom>
        </p:spPr>
      </p:pic>
    </p:spTree>
    <p:extLst>
      <p:ext uri="{BB962C8B-B14F-4D97-AF65-F5344CB8AC3E}">
        <p14:creationId xmlns:p14="http://schemas.microsoft.com/office/powerpoint/2010/main" val="719688693"/>
      </p:ext>
    </p:extLst>
  </p:cSld>
  <p:clrMapOvr>
    <a:masterClrMapping/>
  </p:clrMapOvr>
  <p:transition spd="slow">
    <p:randomBar dir="vert"/>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6" presetClass="entr" presetSubtype="16" fill="hold" grpId="0" nodeType="after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circle(in)">
                                      <p:cBhvr>
                                        <p:cTn id="7" dur="2000"/>
                                        <p:tgtEl>
                                          <p:spTgt spid="9"/>
                                        </p:tgtEl>
                                      </p:cBhvr>
                                    </p:animEffect>
                                  </p:childTnLst>
                                </p:cTn>
                              </p:par>
                            </p:childTnLst>
                          </p:cTn>
                        </p:par>
                        <p:par>
                          <p:cTn id="8" fill="hold">
                            <p:stCondLst>
                              <p:cond delay="2000"/>
                            </p:stCondLst>
                            <p:childTnLst>
                              <p:par>
                                <p:cTn id="9" presetID="14" presetClass="entr" presetSubtype="10" fill="hold" grpId="0" nodeType="afterEffect">
                                  <p:stCondLst>
                                    <p:cond delay="0"/>
                                  </p:stCondLst>
                                  <p:childTnLst>
                                    <p:set>
                                      <p:cBhvr>
                                        <p:cTn id="10" dur="1" fill="hold">
                                          <p:stCondLst>
                                            <p:cond delay="0"/>
                                          </p:stCondLst>
                                        </p:cTn>
                                        <p:tgtEl>
                                          <p:spTgt spid="10"/>
                                        </p:tgtEl>
                                        <p:attrNameLst>
                                          <p:attrName>style.visibility</p:attrName>
                                        </p:attrNameLst>
                                      </p:cBhvr>
                                      <p:to>
                                        <p:strVal val="visible"/>
                                      </p:to>
                                    </p:set>
                                    <p:animEffect transition="in" filter="randombar(horizontal)">
                                      <p:cBhvr>
                                        <p:cTn id="11" dur="500"/>
                                        <p:tgtEl>
                                          <p:spTgt spid="10"/>
                                        </p:tgtEl>
                                      </p:cBhvr>
                                    </p:animEffect>
                                  </p:childTnLst>
                                </p:cTn>
                              </p:par>
                            </p:childTnLst>
                          </p:cTn>
                        </p:par>
                        <p:par>
                          <p:cTn id="12" fill="hold">
                            <p:stCondLst>
                              <p:cond delay="2500"/>
                            </p:stCondLst>
                            <p:childTnLst>
                              <p:par>
                                <p:cTn id="13" presetID="2" presetClass="entr" presetSubtype="8" fill="hold" nodeType="afterEffect">
                                  <p:stCondLst>
                                    <p:cond delay="0"/>
                                  </p:stCondLst>
                                  <p:childTnLst>
                                    <p:set>
                                      <p:cBhvr>
                                        <p:cTn id="14" dur="1" fill="hold">
                                          <p:stCondLst>
                                            <p:cond delay="0"/>
                                          </p:stCondLst>
                                        </p:cTn>
                                        <p:tgtEl>
                                          <p:spTgt spid="26"/>
                                        </p:tgtEl>
                                        <p:attrNameLst>
                                          <p:attrName>style.visibility</p:attrName>
                                        </p:attrNameLst>
                                      </p:cBhvr>
                                      <p:to>
                                        <p:strVal val="visible"/>
                                      </p:to>
                                    </p:set>
                                    <p:anim calcmode="lin" valueType="num">
                                      <p:cBhvr additive="base">
                                        <p:cTn id="15" dur="500" fill="hold"/>
                                        <p:tgtEl>
                                          <p:spTgt spid="26"/>
                                        </p:tgtEl>
                                        <p:attrNameLst>
                                          <p:attrName>ppt_x</p:attrName>
                                        </p:attrNameLst>
                                      </p:cBhvr>
                                      <p:tavLst>
                                        <p:tav tm="0">
                                          <p:val>
                                            <p:strVal val="0-#ppt_w/2"/>
                                          </p:val>
                                        </p:tav>
                                        <p:tav tm="100000">
                                          <p:val>
                                            <p:strVal val="#ppt_x"/>
                                          </p:val>
                                        </p:tav>
                                      </p:tavLst>
                                    </p:anim>
                                    <p:anim calcmode="lin" valueType="num">
                                      <p:cBhvr additive="base">
                                        <p:cTn id="16" dur="500" fill="hold"/>
                                        <p:tgtEl>
                                          <p:spTgt spid="26"/>
                                        </p:tgtEl>
                                        <p:attrNameLst>
                                          <p:attrName>ppt_y</p:attrName>
                                        </p:attrNameLst>
                                      </p:cBhvr>
                                      <p:tavLst>
                                        <p:tav tm="0">
                                          <p:val>
                                            <p:strVal val="#ppt_y"/>
                                          </p:val>
                                        </p:tav>
                                        <p:tav tm="100000">
                                          <p:val>
                                            <p:strVal val="#ppt_y"/>
                                          </p:val>
                                        </p:tav>
                                      </p:tavLst>
                                    </p:anim>
                                  </p:childTnLst>
                                </p:cTn>
                              </p:par>
                            </p:childTnLst>
                          </p:cTn>
                        </p:par>
                        <p:par>
                          <p:cTn id="17" fill="hold">
                            <p:stCondLst>
                              <p:cond delay="3000"/>
                            </p:stCondLst>
                            <p:childTnLst>
                              <p:par>
                                <p:cTn id="18" presetID="18" presetClass="entr" presetSubtype="12" fill="hold" grpId="0" nodeType="afterEffect">
                                  <p:stCondLst>
                                    <p:cond delay="0"/>
                                  </p:stCondLst>
                                  <p:childTnLst>
                                    <p:set>
                                      <p:cBhvr>
                                        <p:cTn id="19" dur="1" fill="hold">
                                          <p:stCondLst>
                                            <p:cond delay="0"/>
                                          </p:stCondLst>
                                        </p:cTn>
                                        <p:tgtEl>
                                          <p:spTgt spid="2"/>
                                        </p:tgtEl>
                                        <p:attrNameLst>
                                          <p:attrName>style.visibility</p:attrName>
                                        </p:attrNameLst>
                                      </p:cBhvr>
                                      <p:to>
                                        <p:strVal val="visible"/>
                                      </p:to>
                                    </p:set>
                                    <p:animEffect transition="in" filter="strips(downLeft)">
                                      <p:cBhvr>
                                        <p:cTn id="20" dur="500"/>
                                        <p:tgtEl>
                                          <p:spTgt spid="2"/>
                                        </p:tgtEl>
                                      </p:cBhvr>
                                    </p:animEffect>
                                  </p:childTnLst>
                                </p:cTn>
                              </p:par>
                            </p:childTnLst>
                          </p:cTn>
                        </p:par>
                        <p:par>
                          <p:cTn id="21" fill="hold">
                            <p:stCondLst>
                              <p:cond delay="3500"/>
                            </p:stCondLst>
                            <p:childTnLst>
                              <p:par>
                                <p:cTn id="22" presetID="45" presetClass="entr" presetSubtype="0" fill="hold" nodeType="afterEffect">
                                  <p:stCondLst>
                                    <p:cond delay="0"/>
                                  </p:stCondLst>
                                  <p:childTnLst>
                                    <p:set>
                                      <p:cBhvr>
                                        <p:cTn id="23" dur="1" fill="hold">
                                          <p:stCondLst>
                                            <p:cond delay="0"/>
                                          </p:stCondLst>
                                        </p:cTn>
                                        <p:tgtEl>
                                          <p:spTgt spid="4"/>
                                        </p:tgtEl>
                                        <p:attrNameLst>
                                          <p:attrName>style.visibility</p:attrName>
                                        </p:attrNameLst>
                                      </p:cBhvr>
                                      <p:to>
                                        <p:strVal val="visible"/>
                                      </p:to>
                                    </p:set>
                                    <p:animEffect transition="in" filter="fade">
                                      <p:cBhvr>
                                        <p:cTn id="24" dur="1000"/>
                                        <p:tgtEl>
                                          <p:spTgt spid="4"/>
                                        </p:tgtEl>
                                      </p:cBhvr>
                                    </p:animEffect>
                                    <p:anim calcmode="lin" valueType="num">
                                      <p:cBhvr>
                                        <p:cTn id="25" dur="1000" fill="hold"/>
                                        <p:tgtEl>
                                          <p:spTgt spid="4"/>
                                        </p:tgtEl>
                                        <p:attrNameLst>
                                          <p:attrName>ppt_w</p:attrName>
                                        </p:attrNameLst>
                                      </p:cBhvr>
                                      <p:tavLst>
                                        <p:tav tm="0" fmla="#ppt_w*sin(2.5*pi*$)">
                                          <p:val>
                                            <p:fltVal val="0"/>
                                          </p:val>
                                        </p:tav>
                                        <p:tav tm="100000">
                                          <p:val>
                                            <p:fltVal val="1"/>
                                          </p:val>
                                        </p:tav>
                                      </p:tavLst>
                                    </p:anim>
                                    <p:anim calcmode="lin" valueType="num">
                                      <p:cBhvr>
                                        <p:cTn id="26" dur="1000" fill="hold"/>
                                        <p:tgtEl>
                                          <p:spTgt spid="4"/>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0" grpId="0"/>
      <p:bldP spid="2"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图片 42">
            <a:extLst>
              <a:ext uri="{FF2B5EF4-FFF2-40B4-BE49-F238E27FC236}">
                <a16:creationId xmlns:a16="http://schemas.microsoft.com/office/drawing/2014/main" id="{C8D97DA4-6242-4E73-AEFC-457D04FDC65B}"/>
              </a:ext>
            </a:extLst>
          </p:cNvPr>
          <p:cNvPicPr>
            <a:picLocks noChangeAspect="1"/>
          </p:cNvPicPr>
          <p:nvPr/>
        </p:nvPicPr>
        <p:blipFill>
          <a:blip r:embed="rId3"/>
          <a:stretch>
            <a:fillRect/>
          </a:stretch>
        </p:blipFill>
        <p:spPr>
          <a:xfrm rot="16200000">
            <a:off x="145169" y="-145167"/>
            <a:ext cx="1268414" cy="1558750"/>
          </a:xfrm>
          <a:prstGeom prst="rect">
            <a:avLst/>
          </a:prstGeom>
        </p:spPr>
      </p:pic>
      <p:sp>
        <p:nvSpPr>
          <p:cNvPr id="6" name="文字方塊 5">
            <a:extLst>
              <a:ext uri="{FF2B5EF4-FFF2-40B4-BE49-F238E27FC236}">
                <a16:creationId xmlns:a16="http://schemas.microsoft.com/office/drawing/2014/main" id="{8A30B01A-3198-4955-A208-0E3D9EB60397}"/>
              </a:ext>
            </a:extLst>
          </p:cNvPr>
          <p:cNvSpPr txBox="1"/>
          <p:nvPr/>
        </p:nvSpPr>
        <p:spPr>
          <a:xfrm>
            <a:off x="1558751" y="6596390"/>
            <a:ext cx="4217821" cy="261610"/>
          </a:xfrm>
          <a:prstGeom prst="rect">
            <a:avLst/>
          </a:prstGeom>
          <a:noFill/>
        </p:spPr>
        <p:txBody>
          <a:bodyPr wrap="none" rtlCol="0">
            <a:spAutoFit/>
          </a:bodyPr>
          <a:lstStyle/>
          <a:p>
            <a:r>
              <a:rPr lang="zh-TW" altLang="en-US" sz="1100" dirty="0">
                <a:latin typeface="Microsoft JhengHei Light" panose="020B0304030504040204" pitchFamily="34" charset="-120"/>
                <a:ea typeface="Microsoft JhengHei Light" panose="020B0304030504040204" pitchFamily="34" charset="-120"/>
              </a:rPr>
              <a:t>區塊鏈商業應用概論 實例與分析／新陸書局股份有限公司 發行</a:t>
            </a:r>
          </a:p>
        </p:txBody>
      </p:sp>
      <p:sp>
        <p:nvSpPr>
          <p:cNvPr id="9" name="標題 1">
            <a:extLst>
              <a:ext uri="{FF2B5EF4-FFF2-40B4-BE49-F238E27FC236}">
                <a16:creationId xmlns:a16="http://schemas.microsoft.com/office/drawing/2014/main" id="{475DFFF1-7C37-4CBE-ACFC-3F348BCD20CC}"/>
              </a:ext>
            </a:extLst>
          </p:cNvPr>
          <p:cNvSpPr txBox="1">
            <a:spLocks/>
          </p:cNvSpPr>
          <p:nvPr/>
        </p:nvSpPr>
        <p:spPr>
          <a:xfrm>
            <a:off x="1231956" y="393820"/>
            <a:ext cx="3643527" cy="874595"/>
          </a:xfrm>
          <a:prstGeom prst="rect">
            <a:avLst/>
          </a:prstGeom>
        </p:spPr>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altLang="zh-TW" sz="2400" b="1" dirty="0">
                <a:solidFill>
                  <a:srgbClr val="E06741"/>
                </a:solidFill>
              </a:rPr>
              <a:t>2-2 </a:t>
            </a:r>
            <a:r>
              <a:rPr lang="zh-TW" altLang="en-US" sz="2400" b="1" dirty="0">
                <a:solidFill>
                  <a:srgbClr val="E06741"/>
                </a:solidFill>
              </a:rPr>
              <a:t>區塊鏈技術發展</a:t>
            </a:r>
          </a:p>
          <a:p>
            <a:endParaRPr lang="zh-TW" altLang="en-US" sz="2400" dirty="0">
              <a:solidFill>
                <a:srgbClr val="E06741"/>
              </a:solidFill>
              <a:latin typeface="標楷體" panose="03000509000000000000" pitchFamily="65" charset="-120"/>
              <a:ea typeface="標楷體" panose="03000509000000000000" pitchFamily="65" charset="-120"/>
              <a:cs typeface="Times New Roman" panose="02020603050405020304" pitchFamily="18" charset="0"/>
            </a:endParaRPr>
          </a:p>
        </p:txBody>
      </p:sp>
      <p:sp>
        <p:nvSpPr>
          <p:cNvPr id="10" name="文字方塊 9">
            <a:extLst>
              <a:ext uri="{FF2B5EF4-FFF2-40B4-BE49-F238E27FC236}">
                <a16:creationId xmlns:a16="http://schemas.microsoft.com/office/drawing/2014/main" id="{198702E0-29BF-45ED-BB34-E70A3CAA9F43}"/>
              </a:ext>
            </a:extLst>
          </p:cNvPr>
          <p:cNvSpPr txBox="1"/>
          <p:nvPr/>
        </p:nvSpPr>
        <p:spPr>
          <a:xfrm>
            <a:off x="4487241" y="449166"/>
            <a:ext cx="2930610" cy="400110"/>
          </a:xfrm>
          <a:prstGeom prst="rect">
            <a:avLst/>
          </a:prstGeom>
          <a:noFill/>
        </p:spPr>
        <p:txBody>
          <a:bodyPr wrap="none" rtlCol="0">
            <a:spAutoFit/>
          </a:bodyPr>
          <a:lstStyle/>
          <a:p>
            <a:r>
              <a:rPr lang="en-US" altLang="zh-TW" sz="2000" b="1" dirty="0">
                <a:solidFill>
                  <a:schemeClr val="tx1">
                    <a:lumMod val="65000"/>
                    <a:lumOff val="35000"/>
                  </a:schemeClr>
                </a:solidFill>
                <a:latin typeface="微軟正黑體" panose="020B0604030504040204" pitchFamily="34" charset="-120"/>
                <a:ea typeface="微軟正黑體" panose="020B0604030504040204" pitchFamily="34" charset="-120"/>
                <a:cs typeface="Times New Roman" panose="02020603050405020304" pitchFamily="18" charset="0"/>
              </a:rPr>
              <a:t>-1 </a:t>
            </a:r>
            <a:r>
              <a:rPr lang="zh-TW" altLang="en-US" sz="2000" b="1" dirty="0">
                <a:solidFill>
                  <a:schemeClr val="tx1">
                    <a:lumMod val="65000"/>
                    <a:lumOff val="35000"/>
                  </a:schemeClr>
                </a:solidFill>
                <a:latin typeface="微軟正黑體" panose="020B0604030504040204" pitchFamily="34" charset="-120"/>
                <a:ea typeface="微軟正黑體" panose="020B0604030504040204" pitchFamily="34" charset="-120"/>
                <a:cs typeface="Times New Roman" panose="02020603050405020304" pitchFamily="18" charset="0"/>
              </a:rPr>
              <a:t>區塊鏈技術核心元件</a:t>
            </a:r>
          </a:p>
        </p:txBody>
      </p:sp>
      <p:sp>
        <p:nvSpPr>
          <p:cNvPr id="2" name="文字方塊 1">
            <a:extLst>
              <a:ext uri="{FF2B5EF4-FFF2-40B4-BE49-F238E27FC236}">
                <a16:creationId xmlns:a16="http://schemas.microsoft.com/office/drawing/2014/main" id="{D6D66D7E-58A1-40BE-8070-FA1C3AF22B14}"/>
              </a:ext>
            </a:extLst>
          </p:cNvPr>
          <p:cNvSpPr txBox="1"/>
          <p:nvPr/>
        </p:nvSpPr>
        <p:spPr>
          <a:xfrm>
            <a:off x="1271209" y="1465885"/>
            <a:ext cx="9649581" cy="4087145"/>
          </a:xfrm>
          <a:prstGeom prst="rect">
            <a:avLst/>
          </a:prstGeom>
          <a:noFill/>
        </p:spPr>
        <p:txBody>
          <a:bodyPr wrap="square" rtlCol="0">
            <a:spAutoFit/>
          </a:bodyPr>
          <a:lstStyle/>
          <a:p>
            <a:pPr marL="800100" lvl="1" indent="-342900">
              <a:lnSpc>
                <a:spcPct val="150000"/>
              </a:lnSpc>
              <a:buSzPct val="100000"/>
              <a:buBlip>
                <a:blip r:embed="rId4"/>
              </a:buBlip>
            </a:pPr>
            <a:r>
              <a:rPr lang="zh-TW" altLang="en-US" sz="2400" b="1" dirty="0">
                <a:solidFill>
                  <a:schemeClr val="tx1">
                    <a:lumMod val="75000"/>
                    <a:lumOff val="25000"/>
                  </a:schemeClr>
                </a:solidFill>
                <a:latin typeface="微軟正黑體" panose="020B0604030504040204" pitchFamily="34" charset="-120"/>
                <a:ea typeface="微軟正黑體" panose="020B0604030504040204" pitchFamily="34" charset="-120"/>
              </a:rPr>
              <a:t>關連型數據庫</a:t>
            </a:r>
            <a:endParaRPr lang="en-US" altLang="zh-TW" sz="2400" b="1" dirty="0">
              <a:solidFill>
                <a:schemeClr val="tx1">
                  <a:lumMod val="75000"/>
                  <a:lumOff val="25000"/>
                </a:schemeClr>
              </a:solidFill>
              <a:latin typeface="微軟正黑體" panose="020B0604030504040204" pitchFamily="34" charset="-120"/>
              <a:ea typeface="微軟正黑體" panose="020B0604030504040204" pitchFamily="34" charset="-120"/>
            </a:endParaRPr>
          </a:p>
          <a:p>
            <a:pPr marL="1257300" lvl="2" indent="-342900">
              <a:lnSpc>
                <a:spcPct val="150000"/>
              </a:lnSpc>
              <a:buSzPct val="100000"/>
              <a:buBlip>
                <a:blip r:embed="rId4"/>
              </a:buBlip>
            </a:pPr>
            <a:r>
              <a:rPr lang="zh-TW" altLang="en-US" sz="2400" b="1" dirty="0">
                <a:solidFill>
                  <a:schemeClr val="tx1">
                    <a:lumMod val="75000"/>
                    <a:lumOff val="25000"/>
                  </a:schemeClr>
                </a:solidFill>
                <a:latin typeface="微軟正黑體" panose="020B0604030504040204" pitchFamily="34" charset="-120"/>
                <a:ea typeface="微軟正黑體" panose="020B0604030504040204" pitchFamily="34" charset="-120"/>
              </a:rPr>
              <a:t>採用關係模型來組織資料</a:t>
            </a:r>
            <a:endParaRPr lang="en-US" altLang="zh-TW" sz="2400" b="1" dirty="0">
              <a:solidFill>
                <a:schemeClr val="tx1">
                  <a:lumMod val="75000"/>
                  <a:lumOff val="25000"/>
                </a:schemeClr>
              </a:solidFill>
              <a:latin typeface="微軟正黑體" panose="020B0604030504040204" pitchFamily="34" charset="-120"/>
              <a:ea typeface="微軟正黑體" panose="020B0604030504040204" pitchFamily="34" charset="-120"/>
            </a:endParaRPr>
          </a:p>
          <a:p>
            <a:pPr marL="1257300" lvl="2" indent="-342900">
              <a:lnSpc>
                <a:spcPct val="150000"/>
              </a:lnSpc>
              <a:buSzPct val="100000"/>
              <a:buBlip>
                <a:blip r:embed="rId4"/>
              </a:buBlip>
            </a:pPr>
            <a:r>
              <a:rPr lang="zh-TW" altLang="en-US" sz="2400" b="1" dirty="0">
                <a:solidFill>
                  <a:schemeClr val="tx1">
                    <a:lumMod val="75000"/>
                    <a:lumOff val="25000"/>
                  </a:schemeClr>
                </a:solidFill>
                <a:latin typeface="微軟正黑體" panose="020B0604030504040204" pitchFamily="34" charset="-120"/>
                <a:ea typeface="微軟正黑體" panose="020B0604030504040204" pitchFamily="34" charset="-120"/>
              </a:rPr>
              <a:t>支援各種</a:t>
            </a:r>
            <a:r>
              <a:rPr lang="en-US" altLang="zh-TW" sz="2400" b="1" dirty="0">
                <a:solidFill>
                  <a:schemeClr val="tx1">
                    <a:lumMod val="75000"/>
                    <a:lumOff val="25000"/>
                  </a:schemeClr>
                </a:solidFill>
                <a:latin typeface="微軟正黑體" panose="020B0604030504040204" pitchFamily="34" charset="-120"/>
                <a:ea typeface="微軟正黑體" panose="020B0604030504040204" pitchFamily="34" charset="-120"/>
              </a:rPr>
              <a:t>SQL </a:t>
            </a:r>
            <a:r>
              <a:rPr lang="zh-TW" altLang="en-US" sz="2400" b="1" dirty="0">
                <a:solidFill>
                  <a:schemeClr val="tx1">
                    <a:lumMod val="75000"/>
                    <a:lumOff val="25000"/>
                  </a:schemeClr>
                </a:solidFill>
                <a:latin typeface="微軟正黑體" panose="020B0604030504040204" pitchFamily="34" charset="-120"/>
                <a:ea typeface="微軟正黑體" panose="020B0604030504040204" pitchFamily="34" charset="-120"/>
              </a:rPr>
              <a:t>功能，功能性強，支援事務性，讀寫性能一般</a:t>
            </a:r>
            <a:endParaRPr lang="en-US" altLang="zh-TW" sz="2400" b="1" dirty="0">
              <a:solidFill>
                <a:schemeClr val="tx1">
                  <a:lumMod val="75000"/>
                  <a:lumOff val="25000"/>
                </a:schemeClr>
              </a:solidFill>
              <a:latin typeface="微軟正黑體" panose="020B0604030504040204" pitchFamily="34" charset="-120"/>
              <a:ea typeface="微軟正黑體" panose="020B0604030504040204" pitchFamily="34" charset="-120"/>
            </a:endParaRPr>
          </a:p>
          <a:p>
            <a:pPr marL="1257300" lvl="2" indent="-342900">
              <a:lnSpc>
                <a:spcPct val="150000"/>
              </a:lnSpc>
              <a:buSzPct val="100000"/>
              <a:buBlip>
                <a:blip r:embed="rId4"/>
              </a:buBlip>
            </a:pPr>
            <a:r>
              <a:rPr lang="zh-TW" altLang="en-US" sz="2400" b="1" dirty="0">
                <a:solidFill>
                  <a:schemeClr val="tx1">
                    <a:lumMod val="75000"/>
                    <a:lumOff val="25000"/>
                  </a:schemeClr>
                </a:solidFill>
                <a:latin typeface="微軟正黑體" panose="020B0604030504040204" pitchFamily="34" charset="-120"/>
                <a:ea typeface="微軟正黑體" panose="020B0604030504040204" pitchFamily="34" charset="-120"/>
              </a:rPr>
              <a:t>可擴展性弱</a:t>
            </a:r>
            <a:endParaRPr lang="en-US" altLang="zh-TW" sz="2400" b="1" dirty="0">
              <a:solidFill>
                <a:schemeClr val="tx1">
                  <a:lumMod val="75000"/>
                  <a:lumOff val="25000"/>
                </a:schemeClr>
              </a:solidFill>
              <a:latin typeface="微軟正黑體" panose="020B0604030504040204" pitchFamily="34" charset="-120"/>
              <a:ea typeface="微軟正黑體" panose="020B0604030504040204" pitchFamily="34" charset="-120"/>
            </a:endParaRPr>
          </a:p>
          <a:p>
            <a:pPr marL="1257300" lvl="2" indent="-342900">
              <a:lnSpc>
                <a:spcPct val="150000"/>
              </a:lnSpc>
              <a:buSzPct val="100000"/>
              <a:buBlip>
                <a:blip r:embed="rId4"/>
              </a:buBlip>
            </a:pPr>
            <a:endParaRPr lang="en-US" altLang="zh-TW" sz="800" b="1" dirty="0">
              <a:solidFill>
                <a:schemeClr val="tx1">
                  <a:lumMod val="75000"/>
                  <a:lumOff val="25000"/>
                </a:schemeClr>
              </a:solidFill>
              <a:latin typeface="微軟正黑體" panose="020B0604030504040204" pitchFamily="34" charset="-120"/>
              <a:ea typeface="微軟正黑體" panose="020B0604030504040204" pitchFamily="34" charset="-120"/>
            </a:endParaRPr>
          </a:p>
          <a:p>
            <a:pPr marL="1257300" lvl="2" indent="-342900">
              <a:lnSpc>
                <a:spcPct val="150000"/>
              </a:lnSpc>
              <a:buSzPct val="100000"/>
              <a:buBlip>
                <a:blip r:embed="rId4"/>
              </a:buBlip>
            </a:pPr>
            <a:r>
              <a:rPr lang="en-US" altLang="zh-TW" sz="2400" b="1" dirty="0">
                <a:solidFill>
                  <a:schemeClr val="tx1">
                    <a:lumMod val="75000"/>
                    <a:lumOff val="25000"/>
                  </a:schemeClr>
                </a:solidFill>
                <a:latin typeface="微軟正黑體" panose="020B0604030504040204" pitchFamily="34" charset="-120"/>
                <a:ea typeface="微軟正黑體" panose="020B0604030504040204" pitchFamily="34" charset="-120"/>
              </a:rPr>
              <a:t>RDBMS </a:t>
            </a:r>
            <a:r>
              <a:rPr lang="zh-TW" altLang="en-US" sz="2400" b="1" dirty="0">
                <a:solidFill>
                  <a:schemeClr val="tx1">
                    <a:lumMod val="75000"/>
                    <a:lumOff val="25000"/>
                  </a:schemeClr>
                </a:solidFill>
                <a:latin typeface="微軟正黑體" panose="020B0604030504040204" pitchFamily="34" charset="-120"/>
                <a:ea typeface="微軟正黑體" panose="020B0604030504040204" pitchFamily="34" charset="-120"/>
              </a:rPr>
              <a:t>關聯式資料庫管理系統</a:t>
            </a:r>
            <a:endParaRPr lang="en-US" altLang="zh-TW" sz="2400" b="1" dirty="0">
              <a:solidFill>
                <a:schemeClr val="tx1">
                  <a:lumMod val="75000"/>
                  <a:lumOff val="25000"/>
                </a:schemeClr>
              </a:solidFill>
              <a:latin typeface="微軟正黑體" panose="020B0604030504040204" pitchFamily="34" charset="-120"/>
              <a:ea typeface="微軟正黑體" panose="020B0604030504040204" pitchFamily="34" charset="-120"/>
            </a:endParaRPr>
          </a:p>
          <a:p>
            <a:pPr marL="1714500" lvl="3" indent="-342900">
              <a:lnSpc>
                <a:spcPct val="150000"/>
              </a:lnSpc>
              <a:buSzPct val="100000"/>
              <a:buBlip>
                <a:blip r:embed="rId5"/>
              </a:buBlip>
            </a:pPr>
            <a:r>
              <a:rPr lang="zh-TW" altLang="en-US" sz="2400" b="1" dirty="0">
                <a:solidFill>
                  <a:schemeClr val="tx1">
                    <a:lumMod val="75000"/>
                    <a:lumOff val="25000"/>
                  </a:schemeClr>
                </a:solidFill>
                <a:latin typeface="微軟正黑體" panose="020B0604030504040204" pitchFamily="34" charset="-120"/>
                <a:ea typeface="微軟正黑體" panose="020B0604030504040204" pitchFamily="34" charset="-120"/>
              </a:rPr>
              <a:t>不能支持數量很多的並發查詢</a:t>
            </a:r>
            <a:endParaRPr lang="en-US" altLang="zh-TW" sz="2400" b="1" dirty="0">
              <a:solidFill>
                <a:schemeClr val="tx1">
                  <a:lumMod val="75000"/>
                  <a:lumOff val="25000"/>
                </a:schemeClr>
              </a:solidFill>
              <a:latin typeface="微軟正黑體" panose="020B0604030504040204" pitchFamily="34" charset="-120"/>
              <a:ea typeface="微軟正黑體" panose="020B0604030504040204" pitchFamily="34" charset="-120"/>
            </a:endParaRPr>
          </a:p>
          <a:p>
            <a:pPr marL="1714500" lvl="3" indent="-342900">
              <a:lnSpc>
                <a:spcPct val="150000"/>
              </a:lnSpc>
              <a:buSzPct val="100000"/>
              <a:buBlip>
                <a:blip r:embed="rId4"/>
              </a:buBlip>
            </a:pPr>
            <a:r>
              <a:rPr lang="zh-TW" altLang="en-US" sz="2400" b="1" dirty="0">
                <a:solidFill>
                  <a:schemeClr val="tx1">
                    <a:lumMod val="75000"/>
                    <a:lumOff val="25000"/>
                  </a:schemeClr>
                </a:solidFill>
                <a:latin typeface="微軟正黑體" panose="020B0604030504040204" pitchFamily="34" charset="-120"/>
                <a:ea typeface="微軟正黑體" panose="020B0604030504040204" pitchFamily="34" charset="-120"/>
              </a:rPr>
              <a:t>一般應用的最好選擇</a:t>
            </a:r>
            <a:endParaRPr lang="en-US" altLang="zh-TW" sz="2400" b="1" dirty="0">
              <a:solidFill>
                <a:schemeClr val="tx1">
                  <a:lumMod val="75000"/>
                  <a:lumOff val="25000"/>
                </a:schemeClr>
              </a:solidFill>
              <a:latin typeface="微軟正黑體" panose="020B0604030504040204" pitchFamily="34" charset="-120"/>
              <a:ea typeface="微軟正黑體" panose="020B0604030504040204" pitchFamily="34" charset="-120"/>
            </a:endParaRPr>
          </a:p>
        </p:txBody>
      </p:sp>
      <p:cxnSp>
        <p:nvCxnSpPr>
          <p:cNvPr id="26" name="直接连接符 33">
            <a:extLst>
              <a:ext uri="{FF2B5EF4-FFF2-40B4-BE49-F238E27FC236}">
                <a16:creationId xmlns:a16="http://schemas.microsoft.com/office/drawing/2014/main" id="{C3725E45-5458-4931-9D9A-B8C15AE6AC41}"/>
              </a:ext>
            </a:extLst>
          </p:cNvPr>
          <p:cNvCxnSpPr/>
          <p:nvPr/>
        </p:nvCxnSpPr>
        <p:spPr>
          <a:xfrm>
            <a:off x="1177167" y="1046746"/>
            <a:ext cx="10585176" cy="0"/>
          </a:xfrm>
          <a:prstGeom prst="line">
            <a:avLst/>
          </a:prstGeom>
          <a:ln w="190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pic>
        <p:nvPicPr>
          <p:cNvPr id="4" name="圖片 3">
            <a:extLst>
              <a:ext uri="{FF2B5EF4-FFF2-40B4-BE49-F238E27FC236}">
                <a16:creationId xmlns:a16="http://schemas.microsoft.com/office/drawing/2014/main" id="{DBD941A6-2968-40E7-8F10-F77E30401E23}"/>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8273651" y="3842684"/>
            <a:ext cx="3015316" cy="3015316"/>
          </a:xfrm>
          <a:prstGeom prst="rect">
            <a:avLst/>
          </a:prstGeom>
        </p:spPr>
      </p:pic>
    </p:spTree>
    <p:extLst>
      <p:ext uri="{BB962C8B-B14F-4D97-AF65-F5344CB8AC3E}">
        <p14:creationId xmlns:p14="http://schemas.microsoft.com/office/powerpoint/2010/main" val="566407515"/>
      </p:ext>
    </p:extLst>
  </p:cSld>
  <p:clrMapOvr>
    <a:masterClrMapping/>
  </p:clrMapOvr>
  <p:transition spd="slow">
    <p:cove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6" presetClass="entr" presetSubtype="16" fill="hold" grpId="0" nodeType="after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circle(in)">
                                      <p:cBhvr>
                                        <p:cTn id="7" dur="2000"/>
                                        <p:tgtEl>
                                          <p:spTgt spid="9"/>
                                        </p:tgtEl>
                                      </p:cBhvr>
                                    </p:animEffect>
                                  </p:childTnLst>
                                </p:cTn>
                              </p:par>
                            </p:childTnLst>
                          </p:cTn>
                        </p:par>
                        <p:par>
                          <p:cTn id="8" fill="hold">
                            <p:stCondLst>
                              <p:cond delay="2000"/>
                            </p:stCondLst>
                            <p:childTnLst>
                              <p:par>
                                <p:cTn id="9" presetID="14" presetClass="entr" presetSubtype="10" fill="hold" grpId="0" nodeType="afterEffect">
                                  <p:stCondLst>
                                    <p:cond delay="0"/>
                                  </p:stCondLst>
                                  <p:childTnLst>
                                    <p:set>
                                      <p:cBhvr>
                                        <p:cTn id="10" dur="1" fill="hold">
                                          <p:stCondLst>
                                            <p:cond delay="0"/>
                                          </p:stCondLst>
                                        </p:cTn>
                                        <p:tgtEl>
                                          <p:spTgt spid="10"/>
                                        </p:tgtEl>
                                        <p:attrNameLst>
                                          <p:attrName>style.visibility</p:attrName>
                                        </p:attrNameLst>
                                      </p:cBhvr>
                                      <p:to>
                                        <p:strVal val="visible"/>
                                      </p:to>
                                    </p:set>
                                    <p:animEffect transition="in" filter="randombar(horizontal)">
                                      <p:cBhvr>
                                        <p:cTn id="11" dur="500"/>
                                        <p:tgtEl>
                                          <p:spTgt spid="10"/>
                                        </p:tgtEl>
                                      </p:cBhvr>
                                    </p:animEffect>
                                  </p:childTnLst>
                                </p:cTn>
                              </p:par>
                            </p:childTnLst>
                          </p:cTn>
                        </p:par>
                        <p:par>
                          <p:cTn id="12" fill="hold">
                            <p:stCondLst>
                              <p:cond delay="2500"/>
                            </p:stCondLst>
                            <p:childTnLst>
                              <p:par>
                                <p:cTn id="13" presetID="2" presetClass="entr" presetSubtype="8" fill="hold" nodeType="afterEffect">
                                  <p:stCondLst>
                                    <p:cond delay="0"/>
                                  </p:stCondLst>
                                  <p:childTnLst>
                                    <p:set>
                                      <p:cBhvr>
                                        <p:cTn id="14" dur="1" fill="hold">
                                          <p:stCondLst>
                                            <p:cond delay="0"/>
                                          </p:stCondLst>
                                        </p:cTn>
                                        <p:tgtEl>
                                          <p:spTgt spid="26"/>
                                        </p:tgtEl>
                                        <p:attrNameLst>
                                          <p:attrName>style.visibility</p:attrName>
                                        </p:attrNameLst>
                                      </p:cBhvr>
                                      <p:to>
                                        <p:strVal val="visible"/>
                                      </p:to>
                                    </p:set>
                                    <p:anim calcmode="lin" valueType="num">
                                      <p:cBhvr additive="base">
                                        <p:cTn id="15" dur="500" fill="hold"/>
                                        <p:tgtEl>
                                          <p:spTgt spid="26"/>
                                        </p:tgtEl>
                                        <p:attrNameLst>
                                          <p:attrName>ppt_x</p:attrName>
                                        </p:attrNameLst>
                                      </p:cBhvr>
                                      <p:tavLst>
                                        <p:tav tm="0">
                                          <p:val>
                                            <p:strVal val="0-#ppt_w/2"/>
                                          </p:val>
                                        </p:tav>
                                        <p:tav tm="100000">
                                          <p:val>
                                            <p:strVal val="#ppt_x"/>
                                          </p:val>
                                        </p:tav>
                                      </p:tavLst>
                                    </p:anim>
                                    <p:anim calcmode="lin" valueType="num">
                                      <p:cBhvr additive="base">
                                        <p:cTn id="16" dur="500" fill="hold"/>
                                        <p:tgtEl>
                                          <p:spTgt spid="26"/>
                                        </p:tgtEl>
                                        <p:attrNameLst>
                                          <p:attrName>ppt_y</p:attrName>
                                        </p:attrNameLst>
                                      </p:cBhvr>
                                      <p:tavLst>
                                        <p:tav tm="0">
                                          <p:val>
                                            <p:strVal val="#ppt_y"/>
                                          </p:val>
                                        </p:tav>
                                        <p:tav tm="100000">
                                          <p:val>
                                            <p:strVal val="#ppt_y"/>
                                          </p:val>
                                        </p:tav>
                                      </p:tavLst>
                                    </p:anim>
                                  </p:childTnLst>
                                </p:cTn>
                              </p:par>
                            </p:childTnLst>
                          </p:cTn>
                        </p:par>
                        <p:par>
                          <p:cTn id="17" fill="hold">
                            <p:stCondLst>
                              <p:cond delay="3000"/>
                            </p:stCondLst>
                            <p:childTnLst>
                              <p:par>
                                <p:cTn id="18" presetID="16" presetClass="entr" presetSubtype="21" fill="hold" grpId="0" nodeType="afterEffect">
                                  <p:stCondLst>
                                    <p:cond delay="0"/>
                                  </p:stCondLst>
                                  <p:childTnLst>
                                    <p:set>
                                      <p:cBhvr>
                                        <p:cTn id="19" dur="1" fill="hold">
                                          <p:stCondLst>
                                            <p:cond delay="0"/>
                                          </p:stCondLst>
                                        </p:cTn>
                                        <p:tgtEl>
                                          <p:spTgt spid="2"/>
                                        </p:tgtEl>
                                        <p:attrNameLst>
                                          <p:attrName>style.visibility</p:attrName>
                                        </p:attrNameLst>
                                      </p:cBhvr>
                                      <p:to>
                                        <p:strVal val="visible"/>
                                      </p:to>
                                    </p:set>
                                    <p:animEffect transition="in" filter="barn(inVertical)">
                                      <p:cBhvr>
                                        <p:cTn id="20" dur="500"/>
                                        <p:tgtEl>
                                          <p:spTgt spid="2"/>
                                        </p:tgtEl>
                                      </p:cBhvr>
                                    </p:animEffect>
                                  </p:childTnLst>
                                </p:cTn>
                              </p:par>
                            </p:childTnLst>
                          </p:cTn>
                        </p:par>
                        <p:par>
                          <p:cTn id="21" fill="hold">
                            <p:stCondLst>
                              <p:cond delay="3500"/>
                            </p:stCondLst>
                            <p:childTnLst>
                              <p:par>
                                <p:cTn id="22" presetID="42" presetClass="entr" presetSubtype="0" fill="hold" nodeType="afterEffect">
                                  <p:stCondLst>
                                    <p:cond delay="0"/>
                                  </p:stCondLst>
                                  <p:childTnLst>
                                    <p:set>
                                      <p:cBhvr>
                                        <p:cTn id="23" dur="1" fill="hold">
                                          <p:stCondLst>
                                            <p:cond delay="0"/>
                                          </p:stCondLst>
                                        </p:cTn>
                                        <p:tgtEl>
                                          <p:spTgt spid="4"/>
                                        </p:tgtEl>
                                        <p:attrNameLst>
                                          <p:attrName>style.visibility</p:attrName>
                                        </p:attrNameLst>
                                      </p:cBhvr>
                                      <p:to>
                                        <p:strVal val="visible"/>
                                      </p:to>
                                    </p:set>
                                    <p:animEffect transition="in" filter="fade">
                                      <p:cBhvr>
                                        <p:cTn id="24" dur="1000"/>
                                        <p:tgtEl>
                                          <p:spTgt spid="4"/>
                                        </p:tgtEl>
                                      </p:cBhvr>
                                    </p:animEffect>
                                    <p:anim calcmode="lin" valueType="num">
                                      <p:cBhvr>
                                        <p:cTn id="25" dur="1000" fill="hold"/>
                                        <p:tgtEl>
                                          <p:spTgt spid="4"/>
                                        </p:tgtEl>
                                        <p:attrNameLst>
                                          <p:attrName>ppt_x</p:attrName>
                                        </p:attrNameLst>
                                      </p:cBhvr>
                                      <p:tavLst>
                                        <p:tav tm="0">
                                          <p:val>
                                            <p:strVal val="#ppt_x"/>
                                          </p:val>
                                        </p:tav>
                                        <p:tav tm="100000">
                                          <p:val>
                                            <p:strVal val="#ppt_x"/>
                                          </p:val>
                                        </p:tav>
                                      </p:tavLst>
                                    </p:anim>
                                    <p:anim calcmode="lin" valueType="num">
                                      <p:cBhvr>
                                        <p:cTn id="26" dur="100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0" grpId="0"/>
      <p:bldP spid="2"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图片 42">
            <a:extLst>
              <a:ext uri="{FF2B5EF4-FFF2-40B4-BE49-F238E27FC236}">
                <a16:creationId xmlns:a16="http://schemas.microsoft.com/office/drawing/2014/main" id="{C8D97DA4-6242-4E73-AEFC-457D04FDC65B}"/>
              </a:ext>
            </a:extLst>
          </p:cNvPr>
          <p:cNvPicPr>
            <a:picLocks noChangeAspect="1"/>
          </p:cNvPicPr>
          <p:nvPr/>
        </p:nvPicPr>
        <p:blipFill>
          <a:blip r:embed="rId2"/>
          <a:stretch>
            <a:fillRect/>
          </a:stretch>
        </p:blipFill>
        <p:spPr>
          <a:xfrm rot="16200000">
            <a:off x="145169" y="-145167"/>
            <a:ext cx="1268414" cy="1558750"/>
          </a:xfrm>
          <a:prstGeom prst="rect">
            <a:avLst/>
          </a:prstGeom>
        </p:spPr>
      </p:pic>
      <p:sp>
        <p:nvSpPr>
          <p:cNvPr id="6" name="文字方塊 5">
            <a:extLst>
              <a:ext uri="{FF2B5EF4-FFF2-40B4-BE49-F238E27FC236}">
                <a16:creationId xmlns:a16="http://schemas.microsoft.com/office/drawing/2014/main" id="{8A30B01A-3198-4955-A208-0E3D9EB60397}"/>
              </a:ext>
            </a:extLst>
          </p:cNvPr>
          <p:cNvSpPr txBox="1"/>
          <p:nvPr/>
        </p:nvSpPr>
        <p:spPr>
          <a:xfrm>
            <a:off x="1558751" y="6596390"/>
            <a:ext cx="4217821" cy="261610"/>
          </a:xfrm>
          <a:prstGeom prst="rect">
            <a:avLst/>
          </a:prstGeom>
          <a:noFill/>
        </p:spPr>
        <p:txBody>
          <a:bodyPr wrap="none" rtlCol="0">
            <a:spAutoFit/>
          </a:bodyPr>
          <a:lstStyle/>
          <a:p>
            <a:r>
              <a:rPr lang="zh-TW" altLang="en-US" sz="1100" dirty="0">
                <a:latin typeface="Microsoft JhengHei Light" panose="020B0304030504040204" pitchFamily="34" charset="-120"/>
                <a:ea typeface="Microsoft JhengHei Light" panose="020B0304030504040204" pitchFamily="34" charset="-120"/>
              </a:rPr>
              <a:t>區塊鏈商業應用概論 實例與分析／新陸書局股份有限公司 發行</a:t>
            </a:r>
          </a:p>
        </p:txBody>
      </p:sp>
      <p:sp>
        <p:nvSpPr>
          <p:cNvPr id="9" name="標題 1">
            <a:extLst>
              <a:ext uri="{FF2B5EF4-FFF2-40B4-BE49-F238E27FC236}">
                <a16:creationId xmlns:a16="http://schemas.microsoft.com/office/drawing/2014/main" id="{475DFFF1-7C37-4CBE-ACFC-3F348BCD20CC}"/>
              </a:ext>
            </a:extLst>
          </p:cNvPr>
          <p:cNvSpPr txBox="1">
            <a:spLocks/>
          </p:cNvSpPr>
          <p:nvPr/>
        </p:nvSpPr>
        <p:spPr>
          <a:xfrm>
            <a:off x="1231956" y="393820"/>
            <a:ext cx="3643527" cy="874595"/>
          </a:xfrm>
          <a:prstGeom prst="rect">
            <a:avLst/>
          </a:prstGeom>
        </p:spPr>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altLang="zh-TW" sz="2400" b="1" dirty="0">
                <a:solidFill>
                  <a:srgbClr val="E06741"/>
                </a:solidFill>
              </a:rPr>
              <a:t>2-2 </a:t>
            </a:r>
            <a:r>
              <a:rPr lang="zh-TW" altLang="en-US" sz="2400" b="1" dirty="0">
                <a:solidFill>
                  <a:srgbClr val="E06741"/>
                </a:solidFill>
              </a:rPr>
              <a:t>區塊鏈技術發展</a:t>
            </a:r>
          </a:p>
          <a:p>
            <a:endParaRPr lang="zh-TW" altLang="en-US" sz="2400" dirty="0">
              <a:solidFill>
                <a:srgbClr val="E06741"/>
              </a:solidFill>
              <a:latin typeface="標楷體" panose="03000509000000000000" pitchFamily="65" charset="-120"/>
              <a:ea typeface="標楷體" panose="03000509000000000000" pitchFamily="65" charset="-120"/>
              <a:cs typeface="Times New Roman" panose="02020603050405020304" pitchFamily="18" charset="0"/>
            </a:endParaRPr>
          </a:p>
        </p:txBody>
      </p:sp>
      <p:sp>
        <p:nvSpPr>
          <p:cNvPr id="10" name="文字方塊 9">
            <a:extLst>
              <a:ext uri="{FF2B5EF4-FFF2-40B4-BE49-F238E27FC236}">
                <a16:creationId xmlns:a16="http://schemas.microsoft.com/office/drawing/2014/main" id="{198702E0-29BF-45ED-BB34-E70A3CAA9F43}"/>
              </a:ext>
            </a:extLst>
          </p:cNvPr>
          <p:cNvSpPr txBox="1"/>
          <p:nvPr/>
        </p:nvSpPr>
        <p:spPr>
          <a:xfrm>
            <a:off x="4487241" y="449166"/>
            <a:ext cx="2930610" cy="400110"/>
          </a:xfrm>
          <a:prstGeom prst="rect">
            <a:avLst/>
          </a:prstGeom>
          <a:noFill/>
        </p:spPr>
        <p:txBody>
          <a:bodyPr wrap="none" rtlCol="0">
            <a:spAutoFit/>
          </a:bodyPr>
          <a:lstStyle/>
          <a:p>
            <a:r>
              <a:rPr lang="en-US" altLang="zh-TW" sz="2000" b="1" dirty="0">
                <a:solidFill>
                  <a:schemeClr val="tx1">
                    <a:lumMod val="65000"/>
                    <a:lumOff val="35000"/>
                  </a:schemeClr>
                </a:solidFill>
                <a:latin typeface="微軟正黑體" panose="020B0604030504040204" pitchFamily="34" charset="-120"/>
                <a:ea typeface="微軟正黑體" panose="020B0604030504040204" pitchFamily="34" charset="-120"/>
                <a:cs typeface="Times New Roman" panose="02020603050405020304" pitchFamily="18" charset="0"/>
              </a:rPr>
              <a:t>-1 </a:t>
            </a:r>
            <a:r>
              <a:rPr lang="zh-TW" altLang="en-US" sz="2000" b="1" dirty="0">
                <a:solidFill>
                  <a:schemeClr val="tx1">
                    <a:lumMod val="65000"/>
                    <a:lumOff val="35000"/>
                  </a:schemeClr>
                </a:solidFill>
                <a:latin typeface="微軟正黑體" panose="020B0604030504040204" pitchFamily="34" charset="-120"/>
                <a:ea typeface="微軟正黑體" panose="020B0604030504040204" pitchFamily="34" charset="-120"/>
                <a:cs typeface="Times New Roman" panose="02020603050405020304" pitchFamily="18" charset="0"/>
              </a:rPr>
              <a:t>區塊鏈技術核心元件</a:t>
            </a:r>
          </a:p>
        </p:txBody>
      </p:sp>
      <p:sp>
        <p:nvSpPr>
          <p:cNvPr id="2" name="文字方塊 1">
            <a:extLst>
              <a:ext uri="{FF2B5EF4-FFF2-40B4-BE49-F238E27FC236}">
                <a16:creationId xmlns:a16="http://schemas.microsoft.com/office/drawing/2014/main" id="{D6D66D7E-58A1-40BE-8070-FA1C3AF22B14}"/>
              </a:ext>
            </a:extLst>
          </p:cNvPr>
          <p:cNvSpPr txBox="1"/>
          <p:nvPr/>
        </p:nvSpPr>
        <p:spPr>
          <a:xfrm>
            <a:off x="1391700" y="1173379"/>
            <a:ext cx="9636518" cy="5195140"/>
          </a:xfrm>
          <a:prstGeom prst="rect">
            <a:avLst/>
          </a:prstGeom>
          <a:noFill/>
        </p:spPr>
        <p:txBody>
          <a:bodyPr wrap="square" rtlCol="0">
            <a:spAutoFit/>
          </a:bodyPr>
          <a:lstStyle/>
          <a:p>
            <a:pPr>
              <a:lnSpc>
                <a:spcPct val="150000"/>
              </a:lnSpc>
              <a:buSzPct val="150000"/>
            </a:pPr>
            <a:r>
              <a:rPr lang="zh-TW" altLang="en-US" sz="2400" b="1" dirty="0">
                <a:solidFill>
                  <a:srgbClr val="049E8C"/>
                </a:solidFill>
                <a:latin typeface="微軟正黑體" panose="020B0604030504040204" pitchFamily="34" charset="-120"/>
                <a:ea typeface="微軟正黑體" panose="020B0604030504040204" pitchFamily="34" charset="-120"/>
              </a:rPr>
              <a:t>三、安全機制</a:t>
            </a:r>
            <a:endParaRPr lang="en-US" altLang="zh-TW" sz="2400" b="1" dirty="0">
              <a:solidFill>
                <a:srgbClr val="049E8C"/>
              </a:solidFill>
              <a:latin typeface="微軟正黑體" panose="020B0604030504040204" pitchFamily="34" charset="-120"/>
              <a:ea typeface="微軟正黑體" panose="020B0604030504040204" pitchFamily="34" charset="-120"/>
            </a:endParaRPr>
          </a:p>
          <a:p>
            <a:pPr marL="800100" lvl="1" indent="-342900">
              <a:lnSpc>
                <a:spcPct val="150000"/>
              </a:lnSpc>
              <a:buSzPct val="100000"/>
              <a:buBlip>
                <a:blip r:embed="rId3"/>
              </a:buBlip>
            </a:pPr>
            <a:r>
              <a:rPr lang="zh-TW" altLang="en-US" sz="2400" b="1" dirty="0">
                <a:solidFill>
                  <a:schemeClr val="tx1">
                    <a:lumMod val="75000"/>
                    <a:lumOff val="25000"/>
                  </a:schemeClr>
                </a:solidFill>
                <a:latin typeface="微軟正黑體" panose="020B0604030504040204" pitchFamily="34" charset="-120"/>
                <a:ea typeface="微軟正黑體" panose="020B0604030504040204" pitchFamily="34" charset="-120"/>
              </a:rPr>
              <a:t>傳統物聯網模式</a:t>
            </a:r>
            <a:endParaRPr lang="en-US" altLang="zh-TW" sz="2400" b="1" dirty="0">
              <a:solidFill>
                <a:schemeClr val="tx1">
                  <a:lumMod val="75000"/>
                  <a:lumOff val="25000"/>
                </a:schemeClr>
              </a:solidFill>
              <a:latin typeface="微軟正黑體" panose="020B0604030504040204" pitchFamily="34" charset="-120"/>
              <a:ea typeface="微軟正黑體" panose="020B0604030504040204" pitchFamily="34" charset="-120"/>
            </a:endParaRPr>
          </a:p>
          <a:p>
            <a:pPr marL="1257300" lvl="2" indent="-342900">
              <a:lnSpc>
                <a:spcPct val="150000"/>
              </a:lnSpc>
              <a:buSzPct val="100000"/>
              <a:buBlip>
                <a:blip r:embed="rId3"/>
              </a:buBlip>
            </a:pPr>
            <a:r>
              <a:rPr lang="zh-TW" altLang="en-US" sz="2400" b="1" dirty="0">
                <a:solidFill>
                  <a:schemeClr val="tx1">
                    <a:lumMod val="75000"/>
                    <a:lumOff val="25000"/>
                  </a:schemeClr>
                </a:solidFill>
                <a:latin typeface="微軟正黑體" panose="020B0604030504040204" pitchFamily="34" charset="-120"/>
                <a:ea typeface="微軟正黑體" panose="020B0604030504040204" pitchFamily="34" charset="-120"/>
              </a:rPr>
              <a:t>由一個中心化的機構來收集和管理所有數據資訊</a:t>
            </a:r>
            <a:endParaRPr lang="en-US" altLang="zh-TW" sz="2400" b="1" dirty="0">
              <a:solidFill>
                <a:schemeClr val="tx1">
                  <a:lumMod val="75000"/>
                  <a:lumOff val="25000"/>
                </a:schemeClr>
              </a:solidFill>
              <a:latin typeface="微軟正黑體" panose="020B0604030504040204" pitchFamily="34" charset="-120"/>
              <a:ea typeface="微軟正黑體" panose="020B0604030504040204" pitchFamily="34" charset="-120"/>
            </a:endParaRPr>
          </a:p>
          <a:p>
            <a:pPr marL="1257300" lvl="2" indent="-342900">
              <a:lnSpc>
                <a:spcPct val="150000"/>
              </a:lnSpc>
              <a:buSzPct val="100000"/>
              <a:buBlip>
                <a:blip r:embed="rId3"/>
              </a:buBlip>
            </a:pPr>
            <a:r>
              <a:rPr lang="zh-TW" altLang="en-US" sz="2400" b="1" dirty="0">
                <a:solidFill>
                  <a:schemeClr val="tx1">
                    <a:lumMod val="75000"/>
                    <a:lumOff val="25000"/>
                  </a:schemeClr>
                </a:solidFill>
                <a:latin typeface="微軟正黑體" panose="020B0604030504040204" pitchFamily="34" charset="-120"/>
                <a:ea typeface="微軟正黑體" panose="020B0604030504040204" pitchFamily="34" charset="-120"/>
              </a:rPr>
              <a:t>容易因設備生命周期和安全等方面缺失，引發數據資料遺失、被篡改等問題</a:t>
            </a:r>
            <a:endParaRPr lang="en-US" altLang="zh-TW" sz="2400" b="1" dirty="0">
              <a:solidFill>
                <a:schemeClr val="tx1">
                  <a:lumMod val="75000"/>
                  <a:lumOff val="25000"/>
                </a:schemeClr>
              </a:solidFill>
              <a:latin typeface="微軟正黑體" panose="020B0604030504040204" pitchFamily="34" charset="-120"/>
              <a:ea typeface="微軟正黑體" panose="020B0604030504040204" pitchFamily="34" charset="-120"/>
            </a:endParaRPr>
          </a:p>
          <a:p>
            <a:pPr marL="800100" lvl="1" indent="-342900">
              <a:lnSpc>
                <a:spcPct val="150000"/>
              </a:lnSpc>
              <a:buSzPct val="100000"/>
              <a:buBlip>
                <a:blip r:embed="rId3"/>
              </a:buBlip>
            </a:pPr>
            <a:endParaRPr lang="en-US" altLang="zh-TW" sz="500" b="1" dirty="0">
              <a:solidFill>
                <a:schemeClr val="tx1">
                  <a:lumMod val="75000"/>
                  <a:lumOff val="25000"/>
                </a:schemeClr>
              </a:solidFill>
              <a:latin typeface="微軟正黑體" panose="020B0604030504040204" pitchFamily="34" charset="-120"/>
              <a:ea typeface="微軟正黑體" panose="020B0604030504040204" pitchFamily="34" charset="-120"/>
            </a:endParaRPr>
          </a:p>
          <a:p>
            <a:pPr marL="800100" lvl="1" indent="-342900">
              <a:lnSpc>
                <a:spcPct val="150000"/>
              </a:lnSpc>
              <a:buSzPct val="100000"/>
              <a:buBlip>
                <a:blip r:embed="rId3"/>
              </a:buBlip>
            </a:pPr>
            <a:r>
              <a:rPr lang="zh-TW" altLang="en-US" sz="2400" b="1" dirty="0">
                <a:solidFill>
                  <a:schemeClr val="tx1">
                    <a:lumMod val="75000"/>
                    <a:lumOff val="25000"/>
                  </a:schemeClr>
                </a:solidFill>
                <a:latin typeface="微軟正黑體" panose="020B0604030504040204" pitchFamily="34" charset="-120"/>
                <a:ea typeface="微軟正黑體" panose="020B0604030504040204" pitchFamily="34" charset="-120"/>
              </a:rPr>
              <a:t>區塊鏈技術</a:t>
            </a:r>
            <a:endParaRPr lang="en-US" altLang="zh-TW" sz="2400" b="1" dirty="0">
              <a:solidFill>
                <a:schemeClr val="tx1">
                  <a:lumMod val="75000"/>
                  <a:lumOff val="25000"/>
                </a:schemeClr>
              </a:solidFill>
              <a:latin typeface="微軟正黑體" panose="020B0604030504040204" pitchFamily="34" charset="-120"/>
              <a:ea typeface="微軟正黑體" panose="020B0604030504040204" pitchFamily="34" charset="-120"/>
            </a:endParaRPr>
          </a:p>
          <a:p>
            <a:pPr marL="1257300" lvl="2" indent="-342900">
              <a:lnSpc>
                <a:spcPct val="150000"/>
              </a:lnSpc>
              <a:buSzPct val="100000"/>
              <a:buBlip>
                <a:blip r:embed="rId3"/>
              </a:buBlip>
            </a:pPr>
            <a:r>
              <a:rPr lang="zh-TW" altLang="en-US" sz="2400" b="1" dirty="0">
                <a:solidFill>
                  <a:schemeClr val="tx1">
                    <a:lumMod val="75000"/>
                    <a:lumOff val="25000"/>
                  </a:schemeClr>
                </a:solidFill>
                <a:latin typeface="微軟正黑體" panose="020B0604030504040204" pitchFamily="34" charset="-120"/>
                <a:ea typeface="微軟正黑體" panose="020B0604030504040204" pitchFamily="34" charset="-120"/>
              </a:rPr>
              <a:t>可在無需信任單個節點的同時，構建整個網路的信任共識</a:t>
            </a:r>
            <a:endParaRPr lang="en-US" altLang="zh-TW" sz="2400" b="1" dirty="0">
              <a:solidFill>
                <a:schemeClr val="tx1">
                  <a:lumMod val="75000"/>
                  <a:lumOff val="25000"/>
                </a:schemeClr>
              </a:solidFill>
              <a:latin typeface="微軟正黑體" panose="020B0604030504040204" pitchFamily="34" charset="-120"/>
              <a:ea typeface="微軟正黑體" panose="020B0604030504040204" pitchFamily="34" charset="-120"/>
            </a:endParaRPr>
          </a:p>
          <a:p>
            <a:pPr marL="1257300" lvl="2" indent="-342900">
              <a:lnSpc>
                <a:spcPct val="150000"/>
              </a:lnSpc>
              <a:buSzPct val="100000"/>
              <a:buBlip>
                <a:blip r:embed="rId3"/>
              </a:buBlip>
            </a:pPr>
            <a:r>
              <a:rPr lang="zh-TW" altLang="en-US" sz="2400" b="1" dirty="0">
                <a:solidFill>
                  <a:schemeClr val="tx1">
                    <a:lumMod val="75000"/>
                    <a:lumOff val="25000"/>
                  </a:schemeClr>
                </a:solidFill>
                <a:latin typeface="微軟正黑體" panose="020B0604030504040204" pitchFamily="34" charset="-120"/>
                <a:ea typeface="微軟正黑體" panose="020B0604030504040204" pitchFamily="34" charset="-120"/>
              </a:rPr>
              <a:t>解決目前物聯網技術的核心缺失，區塊之間不僅能相連且能自發的互動</a:t>
            </a:r>
            <a:endParaRPr lang="zh-TW" altLang="en-US" sz="2300" b="1" dirty="0">
              <a:solidFill>
                <a:schemeClr val="tx1">
                  <a:lumMod val="75000"/>
                  <a:lumOff val="25000"/>
                </a:schemeClr>
              </a:solidFill>
              <a:latin typeface="微軟正黑體" panose="020B0604030504040204" pitchFamily="34" charset="-120"/>
              <a:ea typeface="微軟正黑體" panose="020B0604030504040204" pitchFamily="34" charset="-120"/>
            </a:endParaRPr>
          </a:p>
        </p:txBody>
      </p:sp>
      <p:cxnSp>
        <p:nvCxnSpPr>
          <p:cNvPr id="12" name="直接连接符 33">
            <a:extLst>
              <a:ext uri="{FF2B5EF4-FFF2-40B4-BE49-F238E27FC236}">
                <a16:creationId xmlns:a16="http://schemas.microsoft.com/office/drawing/2014/main" id="{A6818EF9-4F6D-437C-884A-811ADDB4ED06}"/>
              </a:ext>
            </a:extLst>
          </p:cNvPr>
          <p:cNvCxnSpPr/>
          <p:nvPr/>
        </p:nvCxnSpPr>
        <p:spPr>
          <a:xfrm>
            <a:off x="1177167" y="1046746"/>
            <a:ext cx="10585176" cy="0"/>
          </a:xfrm>
          <a:prstGeom prst="line">
            <a:avLst/>
          </a:prstGeom>
          <a:ln w="190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391644183"/>
      </p:ext>
    </p:extLst>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2000">
        <p15:prstTrans prst="fallOver"/>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6" presetClass="entr" presetSubtype="16" fill="hold" grpId="0" nodeType="after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circle(in)">
                                      <p:cBhvr>
                                        <p:cTn id="7" dur="1400"/>
                                        <p:tgtEl>
                                          <p:spTgt spid="9"/>
                                        </p:tgtEl>
                                      </p:cBhvr>
                                    </p:animEffect>
                                  </p:childTnLst>
                                </p:cTn>
                              </p:par>
                            </p:childTnLst>
                          </p:cTn>
                        </p:par>
                        <p:par>
                          <p:cTn id="8" fill="hold">
                            <p:stCondLst>
                              <p:cond delay="1400"/>
                            </p:stCondLst>
                            <p:childTnLst>
                              <p:par>
                                <p:cTn id="9" presetID="14" presetClass="entr" presetSubtype="10" fill="hold" grpId="0" nodeType="afterEffect">
                                  <p:stCondLst>
                                    <p:cond delay="0"/>
                                  </p:stCondLst>
                                  <p:childTnLst>
                                    <p:set>
                                      <p:cBhvr>
                                        <p:cTn id="10" dur="1" fill="hold">
                                          <p:stCondLst>
                                            <p:cond delay="0"/>
                                          </p:stCondLst>
                                        </p:cTn>
                                        <p:tgtEl>
                                          <p:spTgt spid="10"/>
                                        </p:tgtEl>
                                        <p:attrNameLst>
                                          <p:attrName>style.visibility</p:attrName>
                                        </p:attrNameLst>
                                      </p:cBhvr>
                                      <p:to>
                                        <p:strVal val="visible"/>
                                      </p:to>
                                    </p:set>
                                    <p:animEffect transition="in" filter="randombar(horizontal)">
                                      <p:cBhvr>
                                        <p:cTn id="11" dur="500"/>
                                        <p:tgtEl>
                                          <p:spTgt spid="10"/>
                                        </p:tgtEl>
                                      </p:cBhvr>
                                    </p:animEffect>
                                  </p:childTnLst>
                                </p:cTn>
                              </p:par>
                            </p:childTnLst>
                          </p:cTn>
                        </p:par>
                        <p:par>
                          <p:cTn id="12" fill="hold">
                            <p:stCondLst>
                              <p:cond delay="1900"/>
                            </p:stCondLst>
                            <p:childTnLst>
                              <p:par>
                                <p:cTn id="13" presetID="2" presetClass="entr" presetSubtype="8" fill="hold" nodeType="afterEffect">
                                  <p:stCondLst>
                                    <p:cond delay="0"/>
                                  </p:stCondLst>
                                  <p:childTnLst>
                                    <p:set>
                                      <p:cBhvr>
                                        <p:cTn id="14" dur="1" fill="hold">
                                          <p:stCondLst>
                                            <p:cond delay="0"/>
                                          </p:stCondLst>
                                        </p:cTn>
                                        <p:tgtEl>
                                          <p:spTgt spid="12"/>
                                        </p:tgtEl>
                                        <p:attrNameLst>
                                          <p:attrName>style.visibility</p:attrName>
                                        </p:attrNameLst>
                                      </p:cBhvr>
                                      <p:to>
                                        <p:strVal val="visible"/>
                                      </p:to>
                                    </p:set>
                                    <p:anim calcmode="lin" valueType="num">
                                      <p:cBhvr additive="base">
                                        <p:cTn id="15" dur="500" fill="hold"/>
                                        <p:tgtEl>
                                          <p:spTgt spid="12"/>
                                        </p:tgtEl>
                                        <p:attrNameLst>
                                          <p:attrName>ppt_x</p:attrName>
                                        </p:attrNameLst>
                                      </p:cBhvr>
                                      <p:tavLst>
                                        <p:tav tm="0">
                                          <p:val>
                                            <p:strVal val="0-#ppt_w/2"/>
                                          </p:val>
                                        </p:tav>
                                        <p:tav tm="100000">
                                          <p:val>
                                            <p:strVal val="#ppt_x"/>
                                          </p:val>
                                        </p:tav>
                                      </p:tavLst>
                                    </p:anim>
                                    <p:anim calcmode="lin" valueType="num">
                                      <p:cBhvr additive="base">
                                        <p:cTn id="16" dur="500" fill="hold"/>
                                        <p:tgtEl>
                                          <p:spTgt spid="12"/>
                                        </p:tgtEl>
                                        <p:attrNameLst>
                                          <p:attrName>ppt_y</p:attrName>
                                        </p:attrNameLst>
                                      </p:cBhvr>
                                      <p:tavLst>
                                        <p:tav tm="0">
                                          <p:val>
                                            <p:strVal val="#ppt_y"/>
                                          </p:val>
                                        </p:tav>
                                        <p:tav tm="100000">
                                          <p:val>
                                            <p:strVal val="#ppt_y"/>
                                          </p:val>
                                        </p:tav>
                                      </p:tavLst>
                                    </p:anim>
                                  </p:childTnLst>
                                </p:cTn>
                              </p:par>
                            </p:childTnLst>
                          </p:cTn>
                        </p:par>
                        <p:par>
                          <p:cTn id="17" fill="hold">
                            <p:stCondLst>
                              <p:cond delay="2400"/>
                            </p:stCondLst>
                            <p:childTnLst>
                              <p:par>
                                <p:cTn id="18" presetID="3" presetClass="entr" presetSubtype="10" fill="hold" grpId="0" nodeType="afterEffect">
                                  <p:stCondLst>
                                    <p:cond delay="0"/>
                                  </p:stCondLst>
                                  <p:childTnLst>
                                    <p:set>
                                      <p:cBhvr>
                                        <p:cTn id="19" dur="1" fill="hold">
                                          <p:stCondLst>
                                            <p:cond delay="0"/>
                                          </p:stCondLst>
                                        </p:cTn>
                                        <p:tgtEl>
                                          <p:spTgt spid="2"/>
                                        </p:tgtEl>
                                        <p:attrNameLst>
                                          <p:attrName>style.visibility</p:attrName>
                                        </p:attrNameLst>
                                      </p:cBhvr>
                                      <p:to>
                                        <p:strVal val="visible"/>
                                      </p:to>
                                    </p:set>
                                    <p:animEffect transition="in" filter="blinds(horizontal)">
                                      <p:cBhvr>
                                        <p:cTn id="20"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0" grpId="0"/>
      <p:bldP spid="2"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图片 42">
            <a:extLst>
              <a:ext uri="{FF2B5EF4-FFF2-40B4-BE49-F238E27FC236}">
                <a16:creationId xmlns:a16="http://schemas.microsoft.com/office/drawing/2014/main" id="{C8D97DA4-6242-4E73-AEFC-457D04FDC65B}"/>
              </a:ext>
            </a:extLst>
          </p:cNvPr>
          <p:cNvPicPr>
            <a:picLocks noChangeAspect="1"/>
          </p:cNvPicPr>
          <p:nvPr/>
        </p:nvPicPr>
        <p:blipFill>
          <a:blip r:embed="rId2"/>
          <a:stretch>
            <a:fillRect/>
          </a:stretch>
        </p:blipFill>
        <p:spPr>
          <a:xfrm rot="16200000">
            <a:off x="145169" y="-145167"/>
            <a:ext cx="1268414" cy="1558750"/>
          </a:xfrm>
          <a:prstGeom prst="rect">
            <a:avLst/>
          </a:prstGeom>
        </p:spPr>
      </p:pic>
      <p:sp>
        <p:nvSpPr>
          <p:cNvPr id="6" name="文字方塊 5">
            <a:extLst>
              <a:ext uri="{FF2B5EF4-FFF2-40B4-BE49-F238E27FC236}">
                <a16:creationId xmlns:a16="http://schemas.microsoft.com/office/drawing/2014/main" id="{8A30B01A-3198-4955-A208-0E3D9EB60397}"/>
              </a:ext>
            </a:extLst>
          </p:cNvPr>
          <p:cNvSpPr txBox="1"/>
          <p:nvPr/>
        </p:nvSpPr>
        <p:spPr>
          <a:xfrm>
            <a:off x="1558751" y="6596390"/>
            <a:ext cx="4217821" cy="261610"/>
          </a:xfrm>
          <a:prstGeom prst="rect">
            <a:avLst/>
          </a:prstGeom>
          <a:noFill/>
        </p:spPr>
        <p:txBody>
          <a:bodyPr wrap="none" rtlCol="0">
            <a:spAutoFit/>
          </a:bodyPr>
          <a:lstStyle/>
          <a:p>
            <a:r>
              <a:rPr lang="zh-TW" altLang="en-US" sz="1100" dirty="0">
                <a:latin typeface="Microsoft JhengHei Light" panose="020B0304030504040204" pitchFamily="34" charset="-120"/>
                <a:ea typeface="Microsoft JhengHei Light" panose="020B0304030504040204" pitchFamily="34" charset="-120"/>
              </a:rPr>
              <a:t>區塊鏈商業應用概論 實例與分析／新陸書局股份有限公司 發行</a:t>
            </a:r>
          </a:p>
        </p:txBody>
      </p:sp>
      <p:sp>
        <p:nvSpPr>
          <p:cNvPr id="9" name="標題 1">
            <a:extLst>
              <a:ext uri="{FF2B5EF4-FFF2-40B4-BE49-F238E27FC236}">
                <a16:creationId xmlns:a16="http://schemas.microsoft.com/office/drawing/2014/main" id="{475DFFF1-7C37-4CBE-ACFC-3F348BCD20CC}"/>
              </a:ext>
            </a:extLst>
          </p:cNvPr>
          <p:cNvSpPr txBox="1">
            <a:spLocks/>
          </p:cNvSpPr>
          <p:nvPr/>
        </p:nvSpPr>
        <p:spPr>
          <a:xfrm>
            <a:off x="1231956" y="393820"/>
            <a:ext cx="3643527" cy="874595"/>
          </a:xfrm>
          <a:prstGeom prst="rect">
            <a:avLst/>
          </a:prstGeom>
        </p:spPr>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altLang="zh-TW" sz="2400" b="1" dirty="0">
                <a:solidFill>
                  <a:srgbClr val="E06741"/>
                </a:solidFill>
              </a:rPr>
              <a:t>2-2 </a:t>
            </a:r>
            <a:r>
              <a:rPr lang="zh-TW" altLang="en-US" sz="2400" b="1" dirty="0">
                <a:solidFill>
                  <a:srgbClr val="E06741"/>
                </a:solidFill>
              </a:rPr>
              <a:t>區塊鏈技術發展</a:t>
            </a:r>
          </a:p>
          <a:p>
            <a:endParaRPr lang="zh-TW" altLang="en-US" sz="2400" dirty="0">
              <a:solidFill>
                <a:srgbClr val="E06741"/>
              </a:solidFill>
              <a:latin typeface="標楷體" panose="03000509000000000000" pitchFamily="65" charset="-120"/>
              <a:ea typeface="標楷體" panose="03000509000000000000" pitchFamily="65" charset="-120"/>
              <a:cs typeface="Times New Roman" panose="02020603050405020304" pitchFamily="18" charset="0"/>
            </a:endParaRPr>
          </a:p>
        </p:txBody>
      </p:sp>
      <p:sp>
        <p:nvSpPr>
          <p:cNvPr id="10" name="文字方塊 9">
            <a:extLst>
              <a:ext uri="{FF2B5EF4-FFF2-40B4-BE49-F238E27FC236}">
                <a16:creationId xmlns:a16="http://schemas.microsoft.com/office/drawing/2014/main" id="{198702E0-29BF-45ED-BB34-E70A3CAA9F43}"/>
              </a:ext>
            </a:extLst>
          </p:cNvPr>
          <p:cNvSpPr txBox="1"/>
          <p:nvPr/>
        </p:nvSpPr>
        <p:spPr>
          <a:xfrm>
            <a:off x="4487241" y="449166"/>
            <a:ext cx="2930610" cy="400110"/>
          </a:xfrm>
          <a:prstGeom prst="rect">
            <a:avLst/>
          </a:prstGeom>
          <a:noFill/>
        </p:spPr>
        <p:txBody>
          <a:bodyPr wrap="none" rtlCol="0">
            <a:spAutoFit/>
          </a:bodyPr>
          <a:lstStyle/>
          <a:p>
            <a:r>
              <a:rPr lang="en-US" altLang="zh-TW" sz="2000" b="1" dirty="0">
                <a:solidFill>
                  <a:schemeClr val="tx1">
                    <a:lumMod val="65000"/>
                    <a:lumOff val="35000"/>
                  </a:schemeClr>
                </a:solidFill>
                <a:latin typeface="微軟正黑體" panose="020B0604030504040204" pitchFamily="34" charset="-120"/>
                <a:ea typeface="微軟正黑體" panose="020B0604030504040204" pitchFamily="34" charset="-120"/>
                <a:cs typeface="Times New Roman" panose="02020603050405020304" pitchFamily="18" charset="0"/>
              </a:rPr>
              <a:t>-1 </a:t>
            </a:r>
            <a:r>
              <a:rPr lang="zh-TW" altLang="en-US" sz="2000" b="1" dirty="0">
                <a:solidFill>
                  <a:schemeClr val="tx1">
                    <a:lumMod val="65000"/>
                    <a:lumOff val="35000"/>
                  </a:schemeClr>
                </a:solidFill>
                <a:latin typeface="微軟正黑體" panose="020B0604030504040204" pitchFamily="34" charset="-120"/>
                <a:ea typeface="微軟正黑體" panose="020B0604030504040204" pitchFamily="34" charset="-120"/>
                <a:cs typeface="Times New Roman" panose="02020603050405020304" pitchFamily="18" charset="0"/>
              </a:rPr>
              <a:t>區塊鏈技術核心元件</a:t>
            </a:r>
          </a:p>
        </p:txBody>
      </p:sp>
      <p:sp>
        <p:nvSpPr>
          <p:cNvPr id="2" name="文字方塊 1">
            <a:extLst>
              <a:ext uri="{FF2B5EF4-FFF2-40B4-BE49-F238E27FC236}">
                <a16:creationId xmlns:a16="http://schemas.microsoft.com/office/drawing/2014/main" id="{D6D66D7E-58A1-40BE-8070-FA1C3AF22B14}"/>
              </a:ext>
            </a:extLst>
          </p:cNvPr>
          <p:cNvSpPr txBox="1"/>
          <p:nvPr/>
        </p:nvSpPr>
        <p:spPr>
          <a:xfrm>
            <a:off x="686201" y="1883559"/>
            <a:ext cx="9829760" cy="3397469"/>
          </a:xfrm>
          <a:prstGeom prst="rect">
            <a:avLst/>
          </a:prstGeom>
          <a:noFill/>
        </p:spPr>
        <p:txBody>
          <a:bodyPr wrap="square" rtlCol="0">
            <a:spAutoFit/>
          </a:bodyPr>
          <a:lstStyle/>
          <a:p>
            <a:pPr marL="1257300" lvl="2" indent="-342900">
              <a:lnSpc>
                <a:spcPct val="150000"/>
              </a:lnSpc>
              <a:buSzPct val="100000"/>
              <a:buBlip>
                <a:blip r:embed="rId3"/>
              </a:buBlip>
            </a:pPr>
            <a:r>
              <a:rPr lang="zh-TW" altLang="en-US" sz="2300" b="1" dirty="0">
                <a:solidFill>
                  <a:schemeClr val="tx1">
                    <a:lumMod val="75000"/>
                    <a:lumOff val="25000"/>
                  </a:schemeClr>
                </a:solidFill>
                <a:latin typeface="微軟正黑體" panose="020B0604030504040204" pitchFamily="34" charset="-120"/>
                <a:ea typeface="微軟正黑體" panose="020B0604030504040204" pitchFamily="34" charset="-120"/>
              </a:rPr>
              <a:t>區塊鏈運用多種</a:t>
            </a:r>
            <a:r>
              <a:rPr lang="zh-TW" altLang="en-US" sz="2300" b="1" dirty="0">
                <a:solidFill>
                  <a:schemeClr val="accent1"/>
                </a:solidFill>
                <a:latin typeface="微軟正黑體" panose="020B0604030504040204" pitchFamily="34" charset="-120"/>
                <a:ea typeface="微軟正黑體" panose="020B0604030504040204" pitchFamily="34" charset="-120"/>
              </a:rPr>
              <a:t>密碼學</a:t>
            </a:r>
            <a:r>
              <a:rPr lang="zh-TW" altLang="en-US" sz="2300" b="1" dirty="0">
                <a:solidFill>
                  <a:schemeClr val="tx1">
                    <a:lumMod val="75000"/>
                    <a:lumOff val="25000"/>
                  </a:schemeClr>
                </a:solidFill>
                <a:latin typeface="微軟正黑體" panose="020B0604030504040204" pitchFamily="34" charset="-120"/>
                <a:ea typeface="微軟正黑體" panose="020B0604030504040204" pitchFamily="34" charset="-120"/>
              </a:rPr>
              <a:t>原理，對資料進行加密及隱私保護</a:t>
            </a:r>
            <a:endParaRPr lang="en-US" altLang="zh-TW" sz="2300" b="1" dirty="0">
              <a:solidFill>
                <a:schemeClr val="tx1">
                  <a:lumMod val="75000"/>
                  <a:lumOff val="25000"/>
                </a:schemeClr>
              </a:solidFill>
              <a:latin typeface="微軟正黑體" panose="020B0604030504040204" pitchFamily="34" charset="-120"/>
              <a:ea typeface="微軟正黑體" panose="020B0604030504040204" pitchFamily="34" charset="-120"/>
            </a:endParaRPr>
          </a:p>
          <a:p>
            <a:pPr marL="1257300" lvl="2" indent="-342900">
              <a:lnSpc>
                <a:spcPct val="150000"/>
              </a:lnSpc>
              <a:buSzPct val="100000"/>
              <a:buBlip>
                <a:blip r:embed="rId3"/>
              </a:buBlip>
            </a:pPr>
            <a:r>
              <a:rPr lang="zh-TW" altLang="en-US" sz="2300" b="1" dirty="0">
                <a:solidFill>
                  <a:schemeClr val="tx1">
                    <a:lumMod val="75000"/>
                    <a:lumOff val="25000"/>
                  </a:schemeClr>
                </a:solidFill>
                <a:latin typeface="微軟正黑體" panose="020B0604030504040204" pitchFamily="34" charset="-120"/>
                <a:ea typeface="微軟正黑體" panose="020B0604030504040204" pitchFamily="34" charset="-120"/>
              </a:rPr>
              <a:t>對於公有鏈或其他涉及到金融應用的區塊鏈系統，高強度高可靠的安全演算法是基本要求，且需要達到國密級別</a:t>
            </a:r>
            <a:endParaRPr lang="en-US" altLang="zh-TW" sz="2300" b="1" dirty="0">
              <a:solidFill>
                <a:schemeClr val="tx1">
                  <a:lumMod val="75000"/>
                  <a:lumOff val="25000"/>
                </a:schemeClr>
              </a:solidFill>
              <a:latin typeface="微軟正黑體" panose="020B0604030504040204" pitchFamily="34" charset="-120"/>
              <a:ea typeface="微軟正黑體" panose="020B0604030504040204" pitchFamily="34" charset="-120"/>
            </a:endParaRPr>
          </a:p>
          <a:p>
            <a:pPr marL="1257300" lvl="2" indent="-342900">
              <a:lnSpc>
                <a:spcPct val="150000"/>
              </a:lnSpc>
              <a:buSzPct val="100000"/>
              <a:buBlip>
                <a:blip r:embed="rId3"/>
              </a:buBlip>
            </a:pPr>
            <a:endParaRPr lang="zh-TW" altLang="en-US" sz="600" b="1" dirty="0">
              <a:solidFill>
                <a:schemeClr val="tx1">
                  <a:lumMod val="75000"/>
                  <a:lumOff val="25000"/>
                </a:schemeClr>
              </a:solidFill>
              <a:latin typeface="微軟正黑體" panose="020B0604030504040204" pitchFamily="34" charset="-120"/>
              <a:ea typeface="微軟正黑體" panose="020B0604030504040204" pitchFamily="34" charset="-120"/>
            </a:endParaRPr>
          </a:p>
          <a:p>
            <a:pPr marL="1257300" lvl="2" indent="-342900">
              <a:lnSpc>
                <a:spcPct val="150000"/>
              </a:lnSpc>
              <a:buSzPct val="100000"/>
              <a:buFont typeface="微軟正黑體" panose="020B0604030504040204" pitchFamily="34" charset="-120"/>
              <a:buChar char="→"/>
            </a:pPr>
            <a:r>
              <a:rPr lang="zh-TW" altLang="en-US" sz="2300" b="1" dirty="0">
                <a:solidFill>
                  <a:schemeClr val="tx1">
                    <a:lumMod val="75000"/>
                    <a:lumOff val="25000"/>
                  </a:schemeClr>
                </a:solidFill>
                <a:latin typeface="微軟正黑體" panose="020B0604030504040204" pitchFamily="34" charset="-120"/>
                <a:ea typeface="微軟正黑體" panose="020B0604030504040204" pitchFamily="34" charset="-120"/>
              </a:rPr>
              <a:t>管理階層與資安管理者，應確實掌控所有的區塊鏈計畫，其產出、儲存或使用了哪些資料，確保遵循資料機密、可用性，以及誠信（</a:t>
            </a:r>
            <a:r>
              <a:rPr lang="en-US" altLang="zh-TW" sz="2300" b="1" dirty="0">
                <a:solidFill>
                  <a:schemeClr val="tx1">
                    <a:lumMod val="75000"/>
                    <a:lumOff val="25000"/>
                  </a:schemeClr>
                </a:solidFill>
                <a:latin typeface="微軟正黑體" panose="020B0604030504040204" pitchFamily="34" charset="-120"/>
                <a:ea typeface="微軟正黑體" panose="020B0604030504040204" pitchFamily="34" charset="-120"/>
              </a:rPr>
              <a:t>CIA </a:t>
            </a:r>
            <a:r>
              <a:rPr lang="zh-TW" altLang="en-US" sz="2300" b="1" dirty="0">
                <a:solidFill>
                  <a:schemeClr val="tx1">
                    <a:lumMod val="75000"/>
                    <a:lumOff val="25000"/>
                  </a:schemeClr>
                </a:solidFill>
                <a:latin typeface="微軟正黑體" panose="020B0604030504040204" pitchFamily="34" charset="-120"/>
                <a:ea typeface="微軟正黑體" panose="020B0604030504040204" pitchFamily="34" charset="-120"/>
              </a:rPr>
              <a:t>模型）等資安基本原則</a:t>
            </a:r>
          </a:p>
        </p:txBody>
      </p:sp>
      <p:cxnSp>
        <p:nvCxnSpPr>
          <p:cNvPr id="26" name="直接连接符 33">
            <a:extLst>
              <a:ext uri="{FF2B5EF4-FFF2-40B4-BE49-F238E27FC236}">
                <a16:creationId xmlns:a16="http://schemas.microsoft.com/office/drawing/2014/main" id="{C3725E45-5458-4931-9D9A-B8C15AE6AC41}"/>
              </a:ext>
            </a:extLst>
          </p:cNvPr>
          <p:cNvCxnSpPr>
            <a:cxnSpLocks/>
          </p:cNvCxnSpPr>
          <p:nvPr/>
        </p:nvCxnSpPr>
        <p:spPr>
          <a:xfrm>
            <a:off x="1177167" y="1046746"/>
            <a:ext cx="8382469" cy="0"/>
          </a:xfrm>
          <a:prstGeom prst="line">
            <a:avLst/>
          </a:prstGeom>
          <a:ln w="190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pic>
        <p:nvPicPr>
          <p:cNvPr id="4" name="圖片 3">
            <a:extLst>
              <a:ext uri="{FF2B5EF4-FFF2-40B4-BE49-F238E27FC236}">
                <a16:creationId xmlns:a16="http://schemas.microsoft.com/office/drawing/2014/main" id="{0128A95B-DAE3-4680-8E66-A875685C6956}"/>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888711" y="246155"/>
            <a:ext cx="1884218" cy="1884218"/>
          </a:xfrm>
          <a:prstGeom prst="rect">
            <a:avLst/>
          </a:prstGeom>
        </p:spPr>
      </p:pic>
    </p:spTree>
    <p:extLst>
      <p:ext uri="{BB962C8B-B14F-4D97-AF65-F5344CB8AC3E}">
        <p14:creationId xmlns:p14="http://schemas.microsoft.com/office/powerpoint/2010/main" val="1013906891"/>
      </p:ext>
    </p:extLst>
  </p:cSld>
  <p:clrMapOvr>
    <a:masterClrMapping/>
  </p:clrMapOvr>
  <p:transition spd="med">
    <p:pul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6" presetClass="entr" presetSubtype="16" fill="hold" grpId="0" nodeType="after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circle(in)">
                                      <p:cBhvr>
                                        <p:cTn id="7" dur="2000"/>
                                        <p:tgtEl>
                                          <p:spTgt spid="9"/>
                                        </p:tgtEl>
                                      </p:cBhvr>
                                    </p:animEffect>
                                  </p:childTnLst>
                                </p:cTn>
                              </p:par>
                            </p:childTnLst>
                          </p:cTn>
                        </p:par>
                        <p:par>
                          <p:cTn id="8" fill="hold">
                            <p:stCondLst>
                              <p:cond delay="2000"/>
                            </p:stCondLst>
                            <p:childTnLst>
                              <p:par>
                                <p:cTn id="9" presetID="14" presetClass="entr" presetSubtype="10" fill="hold" grpId="0" nodeType="afterEffect">
                                  <p:stCondLst>
                                    <p:cond delay="0"/>
                                  </p:stCondLst>
                                  <p:childTnLst>
                                    <p:set>
                                      <p:cBhvr>
                                        <p:cTn id="10" dur="1" fill="hold">
                                          <p:stCondLst>
                                            <p:cond delay="0"/>
                                          </p:stCondLst>
                                        </p:cTn>
                                        <p:tgtEl>
                                          <p:spTgt spid="10"/>
                                        </p:tgtEl>
                                        <p:attrNameLst>
                                          <p:attrName>style.visibility</p:attrName>
                                        </p:attrNameLst>
                                      </p:cBhvr>
                                      <p:to>
                                        <p:strVal val="visible"/>
                                      </p:to>
                                    </p:set>
                                    <p:animEffect transition="in" filter="randombar(horizontal)">
                                      <p:cBhvr>
                                        <p:cTn id="11" dur="500"/>
                                        <p:tgtEl>
                                          <p:spTgt spid="10"/>
                                        </p:tgtEl>
                                      </p:cBhvr>
                                    </p:animEffect>
                                  </p:childTnLst>
                                </p:cTn>
                              </p:par>
                            </p:childTnLst>
                          </p:cTn>
                        </p:par>
                        <p:par>
                          <p:cTn id="12" fill="hold">
                            <p:stCondLst>
                              <p:cond delay="2500"/>
                            </p:stCondLst>
                            <p:childTnLst>
                              <p:par>
                                <p:cTn id="13" presetID="2" presetClass="entr" presetSubtype="8" fill="hold" nodeType="afterEffect">
                                  <p:stCondLst>
                                    <p:cond delay="0"/>
                                  </p:stCondLst>
                                  <p:childTnLst>
                                    <p:set>
                                      <p:cBhvr>
                                        <p:cTn id="14" dur="1" fill="hold">
                                          <p:stCondLst>
                                            <p:cond delay="0"/>
                                          </p:stCondLst>
                                        </p:cTn>
                                        <p:tgtEl>
                                          <p:spTgt spid="26"/>
                                        </p:tgtEl>
                                        <p:attrNameLst>
                                          <p:attrName>style.visibility</p:attrName>
                                        </p:attrNameLst>
                                      </p:cBhvr>
                                      <p:to>
                                        <p:strVal val="visible"/>
                                      </p:to>
                                    </p:set>
                                    <p:anim calcmode="lin" valueType="num">
                                      <p:cBhvr additive="base">
                                        <p:cTn id="15" dur="500" fill="hold"/>
                                        <p:tgtEl>
                                          <p:spTgt spid="26"/>
                                        </p:tgtEl>
                                        <p:attrNameLst>
                                          <p:attrName>ppt_x</p:attrName>
                                        </p:attrNameLst>
                                      </p:cBhvr>
                                      <p:tavLst>
                                        <p:tav tm="0">
                                          <p:val>
                                            <p:strVal val="0-#ppt_w/2"/>
                                          </p:val>
                                        </p:tav>
                                        <p:tav tm="100000">
                                          <p:val>
                                            <p:strVal val="#ppt_x"/>
                                          </p:val>
                                        </p:tav>
                                      </p:tavLst>
                                    </p:anim>
                                    <p:anim calcmode="lin" valueType="num">
                                      <p:cBhvr additive="base">
                                        <p:cTn id="16" dur="500" fill="hold"/>
                                        <p:tgtEl>
                                          <p:spTgt spid="26"/>
                                        </p:tgtEl>
                                        <p:attrNameLst>
                                          <p:attrName>ppt_y</p:attrName>
                                        </p:attrNameLst>
                                      </p:cBhvr>
                                      <p:tavLst>
                                        <p:tav tm="0">
                                          <p:val>
                                            <p:strVal val="#ppt_y"/>
                                          </p:val>
                                        </p:tav>
                                        <p:tav tm="100000">
                                          <p:val>
                                            <p:strVal val="#ppt_y"/>
                                          </p:val>
                                        </p:tav>
                                      </p:tavLst>
                                    </p:anim>
                                  </p:childTnLst>
                                </p:cTn>
                              </p:par>
                            </p:childTnLst>
                          </p:cTn>
                        </p:par>
                        <p:par>
                          <p:cTn id="17" fill="hold">
                            <p:stCondLst>
                              <p:cond delay="3000"/>
                            </p:stCondLst>
                            <p:childTnLst>
                              <p:par>
                                <p:cTn id="18" presetID="9" presetClass="entr" presetSubtype="0" fill="hold" grpId="0" nodeType="afterEffect">
                                  <p:stCondLst>
                                    <p:cond delay="0"/>
                                  </p:stCondLst>
                                  <p:childTnLst>
                                    <p:set>
                                      <p:cBhvr>
                                        <p:cTn id="19" dur="1" fill="hold">
                                          <p:stCondLst>
                                            <p:cond delay="0"/>
                                          </p:stCondLst>
                                        </p:cTn>
                                        <p:tgtEl>
                                          <p:spTgt spid="2"/>
                                        </p:tgtEl>
                                        <p:attrNameLst>
                                          <p:attrName>style.visibility</p:attrName>
                                        </p:attrNameLst>
                                      </p:cBhvr>
                                      <p:to>
                                        <p:strVal val="visible"/>
                                      </p:to>
                                    </p:set>
                                    <p:animEffect transition="in" filter="dissolve">
                                      <p:cBhvr>
                                        <p:cTn id="20" dur="500"/>
                                        <p:tgtEl>
                                          <p:spTgt spid="2"/>
                                        </p:tgtEl>
                                      </p:cBhvr>
                                    </p:animEffect>
                                  </p:childTnLst>
                                </p:cTn>
                              </p:par>
                            </p:childTnLst>
                          </p:cTn>
                        </p:par>
                        <p:par>
                          <p:cTn id="21" fill="hold">
                            <p:stCondLst>
                              <p:cond delay="3500"/>
                            </p:stCondLst>
                            <p:childTnLst>
                              <p:par>
                                <p:cTn id="22" presetID="53" presetClass="entr" presetSubtype="16" fill="hold" nodeType="afterEffect">
                                  <p:stCondLst>
                                    <p:cond delay="0"/>
                                  </p:stCondLst>
                                  <p:childTnLst>
                                    <p:set>
                                      <p:cBhvr>
                                        <p:cTn id="23" dur="1" fill="hold">
                                          <p:stCondLst>
                                            <p:cond delay="0"/>
                                          </p:stCondLst>
                                        </p:cTn>
                                        <p:tgtEl>
                                          <p:spTgt spid="4"/>
                                        </p:tgtEl>
                                        <p:attrNameLst>
                                          <p:attrName>style.visibility</p:attrName>
                                        </p:attrNameLst>
                                      </p:cBhvr>
                                      <p:to>
                                        <p:strVal val="visible"/>
                                      </p:to>
                                    </p:set>
                                    <p:anim calcmode="lin" valueType="num">
                                      <p:cBhvr>
                                        <p:cTn id="24" dur="500" fill="hold"/>
                                        <p:tgtEl>
                                          <p:spTgt spid="4"/>
                                        </p:tgtEl>
                                        <p:attrNameLst>
                                          <p:attrName>ppt_w</p:attrName>
                                        </p:attrNameLst>
                                      </p:cBhvr>
                                      <p:tavLst>
                                        <p:tav tm="0">
                                          <p:val>
                                            <p:fltVal val="0"/>
                                          </p:val>
                                        </p:tav>
                                        <p:tav tm="100000">
                                          <p:val>
                                            <p:strVal val="#ppt_w"/>
                                          </p:val>
                                        </p:tav>
                                      </p:tavLst>
                                    </p:anim>
                                    <p:anim calcmode="lin" valueType="num">
                                      <p:cBhvr>
                                        <p:cTn id="25" dur="500" fill="hold"/>
                                        <p:tgtEl>
                                          <p:spTgt spid="4"/>
                                        </p:tgtEl>
                                        <p:attrNameLst>
                                          <p:attrName>ppt_h</p:attrName>
                                        </p:attrNameLst>
                                      </p:cBhvr>
                                      <p:tavLst>
                                        <p:tav tm="0">
                                          <p:val>
                                            <p:fltVal val="0"/>
                                          </p:val>
                                        </p:tav>
                                        <p:tav tm="100000">
                                          <p:val>
                                            <p:strVal val="#ppt_h"/>
                                          </p:val>
                                        </p:tav>
                                      </p:tavLst>
                                    </p:anim>
                                    <p:animEffect transition="in" filter="fade">
                                      <p:cBhvr>
                                        <p:cTn id="26"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0" grpId="0"/>
      <p:bldP spid="2"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图片 42">
            <a:extLst>
              <a:ext uri="{FF2B5EF4-FFF2-40B4-BE49-F238E27FC236}">
                <a16:creationId xmlns:a16="http://schemas.microsoft.com/office/drawing/2014/main" id="{C8D97DA4-6242-4E73-AEFC-457D04FDC65B}"/>
              </a:ext>
            </a:extLst>
          </p:cNvPr>
          <p:cNvPicPr>
            <a:picLocks noChangeAspect="1"/>
          </p:cNvPicPr>
          <p:nvPr/>
        </p:nvPicPr>
        <p:blipFill>
          <a:blip r:embed="rId2"/>
          <a:stretch>
            <a:fillRect/>
          </a:stretch>
        </p:blipFill>
        <p:spPr>
          <a:xfrm rot="16200000">
            <a:off x="145169" y="-145167"/>
            <a:ext cx="1268414" cy="1558750"/>
          </a:xfrm>
          <a:prstGeom prst="rect">
            <a:avLst/>
          </a:prstGeom>
        </p:spPr>
      </p:pic>
      <p:sp>
        <p:nvSpPr>
          <p:cNvPr id="6" name="文字方塊 5">
            <a:extLst>
              <a:ext uri="{FF2B5EF4-FFF2-40B4-BE49-F238E27FC236}">
                <a16:creationId xmlns:a16="http://schemas.microsoft.com/office/drawing/2014/main" id="{8A30B01A-3198-4955-A208-0E3D9EB60397}"/>
              </a:ext>
            </a:extLst>
          </p:cNvPr>
          <p:cNvSpPr txBox="1"/>
          <p:nvPr/>
        </p:nvSpPr>
        <p:spPr>
          <a:xfrm>
            <a:off x="1558751" y="6596390"/>
            <a:ext cx="4217821" cy="261610"/>
          </a:xfrm>
          <a:prstGeom prst="rect">
            <a:avLst/>
          </a:prstGeom>
          <a:noFill/>
        </p:spPr>
        <p:txBody>
          <a:bodyPr wrap="none" rtlCol="0">
            <a:spAutoFit/>
          </a:bodyPr>
          <a:lstStyle/>
          <a:p>
            <a:r>
              <a:rPr lang="zh-TW" altLang="en-US" sz="1100" dirty="0">
                <a:latin typeface="Microsoft JhengHei Light" panose="020B0304030504040204" pitchFamily="34" charset="-120"/>
                <a:ea typeface="Microsoft JhengHei Light" panose="020B0304030504040204" pitchFamily="34" charset="-120"/>
              </a:rPr>
              <a:t>區塊鏈商業應用概論 實例與分析／新陸書局股份有限公司 發行</a:t>
            </a:r>
          </a:p>
        </p:txBody>
      </p:sp>
      <p:sp>
        <p:nvSpPr>
          <p:cNvPr id="9" name="標題 1">
            <a:extLst>
              <a:ext uri="{FF2B5EF4-FFF2-40B4-BE49-F238E27FC236}">
                <a16:creationId xmlns:a16="http://schemas.microsoft.com/office/drawing/2014/main" id="{475DFFF1-7C37-4CBE-ACFC-3F348BCD20CC}"/>
              </a:ext>
            </a:extLst>
          </p:cNvPr>
          <p:cNvSpPr txBox="1">
            <a:spLocks/>
          </p:cNvSpPr>
          <p:nvPr/>
        </p:nvSpPr>
        <p:spPr>
          <a:xfrm>
            <a:off x="1231956" y="393820"/>
            <a:ext cx="3643527" cy="874595"/>
          </a:xfrm>
          <a:prstGeom prst="rect">
            <a:avLst/>
          </a:prstGeom>
        </p:spPr>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altLang="zh-TW" sz="2400" b="1" dirty="0">
                <a:solidFill>
                  <a:srgbClr val="E06741"/>
                </a:solidFill>
              </a:rPr>
              <a:t>2-2 </a:t>
            </a:r>
            <a:r>
              <a:rPr lang="zh-TW" altLang="en-US" sz="2400" b="1" dirty="0">
                <a:solidFill>
                  <a:srgbClr val="E06741"/>
                </a:solidFill>
              </a:rPr>
              <a:t>區塊鏈技術發展</a:t>
            </a:r>
          </a:p>
          <a:p>
            <a:endParaRPr lang="zh-TW" altLang="en-US" sz="2400" dirty="0">
              <a:solidFill>
                <a:srgbClr val="E06741"/>
              </a:solidFill>
              <a:latin typeface="標楷體" panose="03000509000000000000" pitchFamily="65" charset="-120"/>
              <a:ea typeface="標楷體" panose="03000509000000000000" pitchFamily="65" charset="-120"/>
              <a:cs typeface="Times New Roman" panose="02020603050405020304" pitchFamily="18" charset="0"/>
            </a:endParaRPr>
          </a:p>
        </p:txBody>
      </p:sp>
      <p:sp>
        <p:nvSpPr>
          <p:cNvPr id="2" name="文字方塊 1">
            <a:extLst>
              <a:ext uri="{FF2B5EF4-FFF2-40B4-BE49-F238E27FC236}">
                <a16:creationId xmlns:a16="http://schemas.microsoft.com/office/drawing/2014/main" id="{D6D66D7E-58A1-40BE-8070-FA1C3AF22B14}"/>
              </a:ext>
            </a:extLst>
          </p:cNvPr>
          <p:cNvSpPr txBox="1"/>
          <p:nvPr/>
        </p:nvSpPr>
        <p:spPr>
          <a:xfrm>
            <a:off x="1699807" y="1323761"/>
            <a:ext cx="8651350" cy="2889637"/>
          </a:xfrm>
          <a:prstGeom prst="rect">
            <a:avLst/>
          </a:prstGeom>
          <a:noFill/>
        </p:spPr>
        <p:txBody>
          <a:bodyPr wrap="square" rtlCol="0">
            <a:spAutoFit/>
          </a:bodyPr>
          <a:lstStyle/>
          <a:p>
            <a:pPr>
              <a:lnSpc>
                <a:spcPct val="150000"/>
              </a:lnSpc>
              <a:buSzPct val="150000"/>
            </a:pPr>
            <a:r>
              <a:rPr lang="zh-TW" altLang="en-US" sz="2400" b="1" dirty="0">
                <a:solidFill>
                  <a:srgbClr val="049E8C"/>
                </a:solidFill>
                <a:latin typeface="微軟正黑體" panose="020B0604030504040204" pitchFamily="34" charset="-120"/>
                <a:ea typeface="微軟正黑體" panose="020B0604030504040204" pitchFamily="34" charset="-120"/>
              </a:rPr>
              <a:t>四、共識機制</a:t>
            </a:r>
            <a:endParaRPr lang="en-US" altLang="zh-TW" sz="2400" b="1" dirty="0">
              <a:solidFill>
                <a:srgbClr val="049E8C"/>
              </a:solidFill>
              <a:latin typeface="微軟正黑體" panose="020B0604030504040204" pitchFamily="34" charset="-120"/>
              <a:ea typeface="微軟正黑體" panose="020B0604030504040204" pitchFamily="34" charset="-120"/>
            </a:endParaRPr>
          </a:p>
          <a:p>
            <a:pPr>
              <a:lnSpc>
                <a:spcPct val="150000"/>
              </a:lnSpc>
              <a:buSzPct val="150000"/>
            </a:pPr>
            <a:endParaRPr lang="zh-TW" altLang="en-US" sz="800" b="1" dirty="0">
              <a:solidFill>
                <a:srgbClr val="049E8C"/>
              </a:solidFill>
              <a:latin typeface="微軟正黑體" panose="020B0604030504040204" pitchFamily="34" charset="-120"/>
              <a:ea typeface="微軟正黑體" panose="020B0604030504040204" pitchFamily="34" charset="-120"/>
            </a:endParaRPr>
          </a:p>
          <a:p>
            <a:pPr marL="800100" lvl="1" indent="-342900">
              <a:lnSpc>
                <a:spcPct val="150000"/>
              </a:lnSpc>
              <a:buSzPct val="100000"/>
              <a:buBlip>
                <a:blip r:embed="rId3"/>
              </a:buBlip>
            </a:pPr>
            <a:r>
              <a:rPr lang="zh-TW" altLang="en-US" sz="2300" b="1" dirty="0">
                <a:solidFill>
                  <a:schemeClr val="tx1">
                    <a:lumMod val="75000"/>
                    <a:lumOff val="25000"/>
                  </a:schemeClr>
                </a:solidFill>
                <a:latin typeface="微軟正黑體" panose="020B0604030504040204" pitchFamily="34" charset="-120"/>
                <a:ea typeface="微軟正黑體" panose="020B0604030504040204" pitchFamily="34" charset="-120"/>
              </a:rPr>
              <a:t>為達成區塊鏈系統中各個節點一致的策略和方法</a:t>
            </a:r>
            <a:endParaRPr lang="en-US" altLang="zh-TW" sz="2300" b="1" dirty="0">
              <a:solidFill>
                <a:schemeClr val="tx1">
                  <a:lumMod val="75000"/>
                  <a:lumOff val="25000"/>
                </a:schemeClr>
              </a:solidFill>
              <a:latin typeface="微軟正黑體" panose="020B0604030504040204" pitchFamily="34" charset="-120"/>
              <a:ea typeface="微軟正黑體" panose="020B0604030504040204" pitchFamily="34" charset="-120"/>
            </a:endParaRPr>
          </a:p>
          <a:p>
            <a:pPr marL="800100" lvl="1" indent="-342900">
              <a:lnSpc>
                <a:spcPct val="150000"/>
              </a:lnSpc>
              <a:buSzPct val="100000"/>
              <a:buBlip>
                <a:blip r:embed="rId3"/>
              </a:buBlip>
            </a:pPr>
            <a:r>
              <a:rPr lang="zh-TW" altLang="en-US" sz="2300" b="1" dirty="0">
                <a:solidFill>
                  <a:schemeClr val="tx1">
                    <a:lumMod val="75000"/>
                    <a:lumOff val="25000"/>
                  </a:schemeClr>
                </a:solidFill>
                <a:latin typeface="微軟正黑體" panose="020B0604030504040204" pitchFamily="34" charset="-120"/>
                <a:ea typeface="微軟正黑體" panose="020B0604030504040204" pitchFamily="34" charset="-120"/>
              </a:rPr>
              <a:t>區塊鏈上本身是去中心化的帳本</a:t>
            </a:r>
            <a:endParaRPr lang="en-US" altLang="zh-TW" sz="2300" b="1" dirty="0">
              <a:solidFill>
                <a:schemeClr val="tx1">
                  <a:lumMod val="75000"/>
                  <a:lumOff val="25000"/>
                </a:schemeClr>
              </a:solidFill>
              <a:latin typeface="微軟正黑體" panose="020B0604030504040204" pitchFamily="34" charset="-120"/>
              <a:ea typeface="微軟正黑體" panose="020B0604030504040204" pitchFamily="34" charset="-120"/>
            </a:endParaRPr>
          </a:p>
          <a:p>
            <a:pPr marL="800100" lvl="1" indent="-342900">
              <a:lnSpc>
                <a:spcPct val="150000"/>
              </a:lnSpc>
              <a:buSzPct val="100000"/>
              <a:buBlip>
                <a:blip r:embed="rId3"/>
              </a:buBlip>
            </a:pPr>
            <a:r>
              <a:rPr lang="zh-TW" altLang="en-US" sz="2300" b="1" dirty="0">
                <a:solidFill>
                  <a:schemeClr val="tx1">
                    <a:lumMod val="75000"/>
                    <a:lumOff val="25000"/>
                  </a:schemeClr>
                </a:solidFill>
                <a:latin typeface="微軟正黑體" panose="020B0604030504040204" pitchFamily="34" charset="-120"/>
                <a:ea typeface="微軟正黑體" panose="020B0604030504040204" pitchFamily="34" charset="-120"/>
              </a:rPr>
              <a:t>研究如何避開假帳本，並獲得多數節點的認同與記錄，這個方法與過程就是</a:t>
            </a:r>
            <a:r>
              <a:rPr lang="zh-TW" altLang="en-US" sz="2300" b="1" dirty="0">
                <a:solidFill>
                  <a:srgbClr val="495B73"/>
                </a:solidFill>
                <a:latin typeface="微軟正黑體" panose="020B0604030504040204" pitchFamily="34" charset="-120"/>
                <a:ea typeface="微軟正黑體" panose="020B0604030504040204" pitchFamily="34" charset="-120"/>
              </a:rPr>
              <a:t>共識機制</a:t>
            </a:r>
          </a:p>
        </p:txBody>
      </p:sp>
      <p:cxnSp>
        <p:nvCxnSpPr>
          <p:cNvPr id="26" name="直接连接符 33">
            <a:extLst>
              <a:ext uri="{FF2B5EF4-FFF2-40B4-BE49-F238E27FC236}">
                <a16:creationId xmlns:a16="http://schemas.microsoft.com/office/drawing/2014/main" id="{C3725E45-5458-4931-9D9A-B8C15AE6AC41}"/>
              </a:ext>
            </a:extLst>
          </p:cNvPr>
          <p:cNvCxnSpPr>
            <a:cxnSpLocks/>
          </p:cNvCxnSpPr>
          <p:nvPr/>
        </p:nvCxnSpPr>
        <p:spPr>
          <a:xfrm>
            <a:off x="1177167" y="1046746"/>
            <a:ext cx="10081960" cy="0"/>
          </a:xfrm>
          <a:prstGeom prst="line">
            <a:avLst/>
          </a:prstGeom>
          <a:ln w="190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12" name="文字方塊 11">
            <a:extLst>
              <a:ext uri="{FF2B5EF4-FFF2-40B4-BE49-F238E27FC236}">
                <a16:creationId xmlns:a16="http://schemas.microsoft.com/office/drawing/2014/main" id="{9FE02F65-A32E-4124-B1E6-8E45750976E4}"/>
              </a:ext>
            </a:extLst>
          </p:cNvPr>
          <p:cNvSpPr txBox="1"/>
          <p:nvPr/>
        </p:nvSpPr>
        <p:spPr>
          <a:xfrm>
            <a:off x="4487241" y="449166"/>
            <a:ext cx="3076483" cy="400110"/>
          </a:xfrm>
          <a:prstGeom prst="rect">
            <a:avLst/>
          </a:prstGeom>
          <a:noFill/>
        </p:spPr>
        <p:txBody>
          <a:bodyPr wrap="none" rtlCol="0">
            <a:spAutoFit/>
          </a:bodyPr>
          <a:lstStyle/>
          <a:p>
            <a:r>
              <a:rPr lang="en-US" altLang="zh-TW" sz="2000" b="1" dirty="0">
                <a:solidFill>
                  <a:schemeClr val="tx1">
                    <a:lumMod val="65000"/>
                    <a:lumOff val="35000"/>
                  </a:schemeClr>
                </a:solidFill>
                <a:latin typeface="微軟正黑體" panose="020B0604030504040204" pitchFamily="34" charset="-120"/>
                <a:ea typeface="微軟正黑體" panose="020B0604030504040204" pitchFamily="34" charset="-120"/>
                <a:cs typeface="Times New Roman" panose="02020603050405020304" pitchFamily="18" charset="0"/>
              </a:rPr>
              <a:t>-2</a:t>
            </a:r>
            <a:r>
              <a:rPr lang="zh-TW" altLang="en-US" sz="2000" b="1" dirty="0">
                <a:solidFill>
                  <a:schemeClr val="tx1">
                    <a:lumMod val="65000"/>
                    <a:lumOff val="35000"/>
                  </a:schemeClr>
                </a:solidFill>
                <a:latin typeface="微軟正黑體" panose="020B0604030504040204" pitchFamily="34" charset="-120"/>
                <a:ea typeface="微軟正黑體" panose="020B0604030504040204" pitchFamily="34" charset="-120"/>
                <a:cs typeface="Times New Roman" panose="02020603050405020304" pitchFamily="18" charset="0"/>
              </a:rPr>
              <a:t> 區塊鏈技術之基本要素</a:t>
            </a:r>
          </a:p>
        </p:txBody>
      </p:sp>
      <p:pic>
        <p:nvPicPr>
          <p:cNvPr id="4" name="圖片 3" descr="一張含有 向量圖形 的圖片&#10;&#10;描述是以高可信度產生">
            <a:extLst>
              <a:ext uri="{FF2B5EF4-FFF2-40B4-BE49-F238E27FC236}">
                <a16:creationId xmlns:a16="http://schemas.microsoft.com/office/drawing/2014/main" id="{20207119-BB7F-4287-95FC-F6666363ADD8}"/>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312728" y="4133274"/>
            <a:ext cx="2733962" cy="2733962"/>
          </a:xfrm>
          <a:prstGeom prst="rect">
            <a:avLst/>
          </a:prstGeom>
        </p:spPr>
      </p:pic>
    </p:spTree>
    <p:extLst>
      <p:ext uri="{BB962C8B-B14F-4D97-AF65-F5344CB8AC3E}">
        <p14:creationId xmlns:p14="http://schemas.microsoft.com/office/powerpoint/2010/main" val="1974409338"/>
      </p:ext>
    </p:extLst>
  </p:cSld>
  <p:clrMapOvr>
    <a:masterClrMapping/>
  </p:clrMapOvr>
  <p:transition spd="slow">
    <p:cove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6" presetClass="entr" presetSubtype="16" fill="hold" grpId="0" nodeType="after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circle(in)">
                                      <p:cBhvr>
                                        <p:cTn id="7" dur="2000"/>
                                        <p:tgtEl>
                                          <p:spTgt spid="9"/>
                                        </p:tgtEl>
                                      </p:cBhvr>
                                    </p:animEffect>
                                  </p:childTnLst>
                                </p:cTn>
                              </p:par>
                            </p:childTnLst>
                          </p:cTn>
                        </p:par>
                        <p:par>
                          <p:cTn id="8" fill="hold">
                            <p:stCondLst>
                              <p:cond delay="2000"/>
                            </p:stCondLst>
                            <p:childTnLst>
                              <p:par>
                                <p:cTn id="9" presetID="14" presetClass="entr" presetSubtype="10" fill="hold" grpId="0" nodeType="afterEffect">
                                  <p:stCondLst>
                                    <p:cond delay="0"/>
                                  </p:stCondLst>
                                  <p:childTnLst>
                                    <p:set>
                                      <p:cBhvr>
                                        <p:cTn id="10" dur="1" fill="hold">
                                          <p:stCondLst>
                                            <p:cond delay="0"/>
                                          </p:stCondLst>
                                        </p:cTn>
                                        <p:tgtEl>
                                          <p:spTgt spid="12"/>
                                        </p:tgtEl>
                                        <p:attrNameLst>
                                          <p:attrName>style.visibility</p:attrName>
                                        </p:attrNameLst>
                                      </p:cBhvr>
                                      <p:to>
                                        <p:strVal val="visible"/>
                                      </p:to>
                                    </p:set>
                                    <p:animEffect transition="in" filter="randombar(horizontal)">
                                      <p:cBhvr>
                                        <p:cTn id="11" dur="500"/>
                                        <p:tgtEl>
                                          <p:spTgt spid="12"/>
                                        </p:tgtEl>
                                      </p:cBhvr>
                                    </p:animEffect>
                                  </p:childTnLst>
                                </p:cTn>
                              </p:par>
                            </p:childTnLst>
                          </p:cTn>
                        </p:par>
                        <p:par>
                          <p:cTn id="12" fill="hold">
                            <p:stCondLst>
                              <p:cond delay="2500"/>
                            </p:stCondLst>
                            <p:childTnLst>
                              <p:par>
                                <p:cTn id="13" presetID="2" presetClass="entr" presetSubtype="8" fill="hold" nodeType="afterEffect">
                                  <p:stCondLst>
                                    <p:cond delay="0"/>
                                  </p:stCondLst>
                                  <p:childTnLst>
                                    <p:set>
                                      <p:cBhvr>
                                        <p:cTn id="14" dur="1" fill="hold">
                                          <p:stCondLst>
                                            <p:cond delay="0"/>
                                          </p:stCondLst>
                                        </p:cTn>
                                        <p:tgtEl>
                                          <p:spTgt spid="26"/>
                                        </p:tgtEl>
                                        <p:attrNameLst>
                                          <p:attrName>style.visibility</p:attrName>
                                        </p:attrNameLst>
                                      </p:cBhvr>
                                      <p:to>
                                        <p:strVal val="visible"/>
                                      </p:to>
                                    </p:set>
                                    <p:anim calcmode="lin" valueType="num">
                                      <p:cBhvr additive="base">
                                        <p:cTn id="15" dur="500" fill="hold"/>
                                        <p:tgtEl>
                                          <p:spTgt spid="26"/>
                                        </p:tgtEl>
                                        <p:attrNameLst>
                                          <p:attrName>ppt_x</p:attrName>
                                        </p:attrNameLst>
                                      </p:cBhvr>
                                      <p:tavLst>
                                        <p:tav tm="0">
                                          <p:val>
                                            <p:strVal val="0-#ppt_w/2"/>
                                          </p:val>
                                        </p:tav>
                                        <p:tav tm="100000">
                                          <p:val>
                                            <p:strVal val="#ppt_x"/>
                                          </p:val>
                                        </p:tav>
                                      </p:tavLst>
                                    </p:anim>
                                    <p:anim calcmode="lin" valueType="num">
                                      <p:cBhvr additive="base">
                                        <p:cTn id="16" dur="500" fill="hold"/>
                                        <p:tgtEl>
                                          <p:spTgt spid="26"/>
                                        </p:tgtEl>
                                        <p:attrNameLst>
                                          <p:attrName>ppt_y</p:attrName>
                                        </p:attrNameLst>
                                      </p:cBhvr>
                                      <p:tavLst>
                                        <p:tav tm="0">
                                          <p:val>
                                            <p:strVal val="#ppt_y"/>
                                          </p:val>
                                        </p:tav>
                                        <p:tav tm="100000">
                                          <p:val>
                                            <p:strVal val="#ppt_y"/>
                                          </p:val>
                                        </p:tav>
                                      </p:tavLst>
                                    </p:anim>
                                  </p:childTnLst>
                                </p:cTn>
                              </p:par>
                            </p:childTnLst>
                          </p:cTn>
                        </p:par>
                        <p:par>
                          <p:cTn id="17" fill="hold">
                            <p:stCondLst>
                              <p:cond delay="3000"/>
                            </p:stCondLst>
                            <p:childTnLst>
                              <p:par>
                                <p:cTn id="18" presetID="14" presetClass="entr" presetSubtype="10" fill="hold" grpId="0" nodeType="afterEffect">
                                  <p:stCondLst>
                                    <p:cond delay="0"/>
                                  </p:stCondLst>
                                  <p:childTnLst>
                                    <p:set>
                                      <p:cBhvr>
                                        <p:cTn id="19" dur="1" fill="hold">
                                          <p:stCondLst>
                                            <p:cond delay="0"/>
                                          </p:stCondLst>
                                        </p:cTn>
                                        <p:tgtEl>
                                          <p:spTgt spid="2"/>
                                        </p:tgtEl>
                                        <p:attrNameLst>
                                          <p:attrName>style.visibility</p:attrName>
                                        </p:attrNameLst>
                                      </p:cBhvr>
                                      <p:to>
                                        <p:strVal val="visible"/>
                                      </p:to>
                                    </p:set>
                                    <p:animEffect transition="in" filter="randombar(horizontal)">
                                      <p:cBhvr>
                                        <p:cTn id="20" dur="500"/>
                                        <p:tgtEl>
                                          <p:spTgt spid="2"/>
                                        </p:tgtEl>
                                      </p:cBhvr>
                                    </p:animEffect>
                                  </p:childTnLst>
                                </p:cTn>
                              </p:par>
                            </p:childTnLst>
                          </p:cTn>
                        </p:par>
                        <p:par>
                          <p:cTn id="21" fill="hold">
                            <p:stCondLst>
                              <p:cond delay="3500"/>
                            </p:stCondLst>
                            <p:childTnLst>
                              <p:par>
                                <p:cTn id="22" presetID="53" presetClass="entr" presetSubtype="16" fill="hold" nodeType="afterEffect">
                                  <p:stCondLst>
                                    <p:cond delay="0"/>
                                  </p:stCondLst>
                                  <p:childTnLst>
                                    <p:set>
                                      <p:cBhvr>
                                        <p:cTn id="23" dur="1" fill="hold">
                                          <p:stCondLst>
                                            <p:cond delay="0"/>
                                          </p:stCondLst>
                                        </p:cTn>
                                        <p:tgtEl>
                                          <p:spTgt spid="4"/>
                                        </p:tgtEl>
                                        <p:attrNameLst>
                                          <p:attrName>style.visibility</p:attrName>
                                        </p:attrNameLst>
                                      </p:cBhvr>
                                      <p:to>
                                        <p:strVal val="visible"/>
                                      </p:to>
                                    </p:set>
                                    <p:anim calcmode="lin" valueType="num">
                                      <p:cBhvr>
                                        <p:cTn id="24" dur="500" fill="hold"/>
                                        <p:tgtEl>
                                          <p:spTgt spid="4"/>
                                        </p:tgtEl>
                                        <p:attrNameLst>
                                          <p:attrName>ppt_w</p:attrName>
                                        </p:attrNameLst>
                                      </p:cBhvr>
                                      <p:tavLst>
                                        <p:tav tm="0">
                                          <p:val>
                                            <p:fltVal val="0"/>
                                          </p:val>
                                        </p:tav>
                                        <p:tav tm="100000">
                                          <p:val>
                                            <p:strVal val="#ppt_w"/>
                                          </p:val>
                                        </p:tav>
                                      </p:tavLst>
                                    </p:anim>
                                    <p:anim calcmode="lin" valueType="num">
                                      <p:cBhvr>
                                        <p:cTn id="25" dur="500" fill="hold"/>
                                        <p:tgtEl>
                                          <p:spTgt spid="4"/>
                                        </p:tgtEl>
                                        <p:attrNameLst>
                                          <p:attrName>ppt_h</p:attrName>
                                        </p:attrNameLst>
                                      </p:cBhvr>
                                      <p:tavLst>
                                        <p:tav tm="0">
                                          <p:val>
                                            <p:fltVal val="0"/>
                                          </p:val>
                                        </p:tav>
                                        <p:tav tm="100000">
                                          <p:val>
                                            <p:strVal val="#ppt_h"/>
                                          </p:val>
                                        </p:tav>
                                      </p:tavLst>
                                    </p:anim>
                                    <p:animEffect transition="in" filter="fade">
                                      <p:cBhvr>
                                        <p:cTn id="26"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2" grpId="0"/>
      <p:bldP spid="12"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图片 42">
            <a:extLst>
              <a:ext uri="{FF2B5EF4-FFF2-40B4-BE49-F238E27FC236}">
                <a16:creationId xmlns:a16="http://schemas.microsoft.com/office/drawing/2014/main" id="{C8D97DA4-6242-4E73-AEFC-457D04FDC65B}"/>
              </a:ext>
            </a:extLst>
          </p:cNvPr>
          <p:cNvPicPr>
            <a:picLocks noChangeAspect="1"/>
          </p:cNvPicPr>
          <p:nvPr/>
        </p:nvPicPr>
        <p:blipFill>
          <a:blip r:embed="rId2"/>
          <a:stretch>
            <a:fillRect/>
          </a:stretch>
        </p:blipFill>
        <p:spPr>
          <a:xfrm rot="16200000">
            <a:off x="145169" y="-145167"/>
            <a:ext cx="1268414" cy="1558750"/>
          </a:xfrm>
          <a:prstGeom prst="rect">
            <a:avLst/>
          </a:prstGeom>
        </p:spPr>
      </p:pic>
      <p:sp>
        <p:nvSpPr>
          <p:cNvPr id="6" name="文字方塊 5">
            <a:extLst>
              <a:ext uri="{FF2B5EF4-FFF2-40B4-BE49-F238E27FC236}">
                <a16:creationId xmlns:a16="http://schemas.microsoft.com/office/drawing/2014/main" id="{8A30B01A-3198-4955-A208-0E3D9EB60397}"/>
              </a:ext>
            </a:extLst>
          </p:cNvPr>
          <p:cNvSpPr txBox="1"/>
          <p:nvPr/>
        </p:nvSpPr>
        <p:spPr>
          <a:xfrm>
            <a:off x="1558751" y="6596390"/>
            <a:ext cx="4217821" cy="261610"/>
          </a:xfrm>
          <a:prstGeom prst="rect">
            <a:avLst/>
          </a:prstGeom>
          <a:noFill/>
        </p:spPr>
        <p:txBody>
          <a:bodyPr wrap="none" rtlCol="0">
            <a:spAutoFit/>
          </a:bodyPr>
          <a:lstStyle/>
          <a:p>
            <a:r>
              <a:rPr lang="zh-TW" altLang="en-US" sz="1100" dirty="0">
                <a:latin typeface="Microsoft JhengHei Light" panose="020B0304030504040204" pitchFamily="34" charset="-120"/>
                <a:ea typeface="Microsoft JhengHei Light" panose="020B0304030504040204" pitchFamily="34" charset="-120"/>
              </a:rPr>
              <a:t>區塊鏈商業應用概論 實例與分析／新陸書局股份有限公司 發行</a:t>
            </a:r>
          </a:p>
        </p:txBody>
      </p:sp>
      <p:sp>
        <p:nvSpPr>
          <p:cNvPr id="9" name="標題 1">
            <a:extLst>
              <a:ext uri="{FF2B5EF4-FFF2-40B4-BE49-F238E27FC236}">
                <a16:creationId xmlns:a16="http://schemas.microsoft.com/office/drawing/2014/main" id="{475DFFF1-7C37-4CBE-ACFC-3F348BCD20CC}"/>
              </a:ext>
            </a:extLst>
          </p:cNvPr>
          <p:cNvSpPr txBox="1">
            <a:spLocks/>
          </p:cNvSpPr>
          <p:nvPr/>
        </p:nvSpPr>
        <p:spPr>
          <a:xfrm>
            <a:off x="1231956" y="393820"/>
            <a:ext cx="3643527" cy="874595"/>
          </a:xfrm>
          <a:prstGeom prst="rect">
            <a:avLst/>
          </a:prstGeom>
        </p:spPr>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altLang="zh-TW" sz="2400" b="1" dirty="0">
                <a:solidFill>
                  <a:srgbClr val="E06741"/>
                </a:solidFill>
              </a:rPr>
              <a:t>2-2 </a:t>
            </a:r>
            <a:r>
              <a:rPr lang="zh-TW" altLang="en-US" sz="2400" b="1" dirty="0">
                <a:solidFill>
                  <a:srgbClr val="E06741"/>
                </a:solidFill>
              </a:rPr>
              <a:t>區塊鏈技術發展</a:t>
            </a:r>
          </a:p>
          <a:p>
            <a:endParaRPr lang="zh-TW" altLang="en-US" sz="2400" dirty="0">
              <a:solidFill>
                <a:srgbClr val="E06741"/>
              </a:solidFill>
              <a:latin typeface="標楷體" panose="03000509000000000000" pitchFamily="65" charset="-120"/>
              <a:ea typeface="標楷體" panose="03000509000000000000" pitchFamily="65" charset="-120"/>
              <a:cs typeface="Times New Roman" panose="02020603050405020304" pitchFamily="18" charset="0"/>
            </a:endParaRPr>
          </a:p>
        </p:txBody>
      </p:sp>
      <p:sp>
        <p:nvSpPr>
          <p:cNvPr id="10" name="文字方塊 9">
            <a:extLst>
              <a:ext uri="{FF2B5EF4-FFF2-40B4-BE49-F238E27FC236}">
                <a16:creationId xmlns:a16="http://schemas.microsoft.com/office/drawing/2014/main" id="{198702E0-29BF-45ED-BB34-E70A3CAA9F43}"/>
              </a:ext>
            </a:extLst>
          </p:cNvPr>
          <p:cNvSpPr txBox="1"/>
          <p:nvPr/>
        </p:nvSpPr>
        <p:spPr>
          <a:xfrm>
            <a:off x="4487241" y="449166"/>
            <a:ext cx="2930610" cy="400110"/>
          </a:xfrm>
          <a:prstGeom prst="rect">
            <a:avLst/>
          </a:prstGeom>
          <a:noFill/>
        </p:spPr>
        <p:txBody>
          <a:bodyPr wrap="none" rtlCol="0">
            <a:spAutoFit/>
          </a:bodyPr>
          <a:lstStyle/>
          <a:p>
            <a:r>
              <a:rPr lang="en-US" altLang="zh-TW" sz="2000" b="1" dirty="0">
                <a:solidFill>
                  <a:schemeClr val="tx1">
                    <a:lumMod val="65000"/>
                    <a:lumOff val="35000"/>
                  </a:schemeClr>
                </a:solidFill>
                <a:latin typeface="微軟正黑體" panose="020B0604030504040204" pitchFamily="34" charset="-120"/>
                <a:ea typeface="微軟正黑體" panose="020B0604030504040204" pitchFamily="34" charset="-120"/>
                <a:cs typeface="Times New Roman" panose="02020603050405020304" pitchFamily="18" charset="0"/>
              </a:rPr>
              <a:t>-1 </a:t>
            </a:r>
            <a:r>
              <a:rPr lang="zh-TW" altLang="en-US" sz="2000" b="1" dirty="0">
                <a:solidFill>
                  <a:schemeClr val="tx1">
                    <a:lumMod val="65000"/>
                    <a:lumOff val="35000"/>
                  </a:schemeClr>
                </a:solidFill>
                <a:latin typeface="微軟正黑體" panose="020B0604030504040204" pitchFamily="34" charset="-120"/>
                <a:ea typeface="微軟正黑體" panose="020B0604030504040204" pitchFamily="34" charset="-120"/>
                <a:cs typeface="Times New Roman" panose="02020603050405020304" pitchFamily="18" charset="0"/>
              </a:rPr>
              <a:t>區塊鏈技術核心元件</a:t>
            </a:r>
          </a:p>
        </p:txBody>
      </p:sp>
      <p:sp>
        <p:nvSpPr>
          <p:cNvPr id="2" name="文字方塊 1">
            <a:extLst>
              <a:ext uri="{FF2B5EF4-FFF2-40B4-BE49-F238E27FC236}">
                <a16:creationId xmlns:a16="http://schemas.microsoft.com/office/drawing/2014/main" id="{D6D66D7E-58A1-40BE-8070-FA1C3AF22B14}"/>
              </a:ext>
            </a:extLst>
          </p:cNvPr>
          <p:cNvSpPr txBox="1"/>
          <p:nvPr/>
        </p:nvSpPr>
        <p:spPr>
          <a:xfrm>
            <a:off x="1547320" y="1179582"/>
            <a:ext cx="9381023" cy="5195140"/>
          </a:xfrm>
          <a:prstGeom prst="rect">
            <a:avLst/>
          </a:prstGeom>
          <a:noFill/>
        </p:spPr>
        <p:txBody>
          <a:bodyPr wrap="square" rtlCol="0">
            <a:spAutoFit/>
          </a:bodyPr>
          <a:lstStyle/>
          <a:p>
            <a:pPr>
              <a:lnSpc>
                <a:spcPct val="150000"/>
              </a:lnSpc>
              <a:buSzPct val="150000"/>
            </a:pPr>
            <a:r>
              <a:rPr lang="zh-TW" altLang="en-US" sz="2400" b="1" dirty="0">
                <a:solidFill>
                  <a:srgbClr val="049E8C"/>
                </a:solidFill>
                <a:latin typeface="微軟正黑體" panose="020B0604030504040204" pitchFamily="34" charset="-120"/>
                <a:ea typeface="微軟正黑體" panose="020B0604030504040204" pitchFamily="34" charset="-120"/>
              </a:rPr>
              <a:t>四、共識機制</a:t>
            </a:r>
            <a:endParaRPr lang="en-US" altLang="zh-TW" sz="2400" b="1" dirty="0">
              <a:solidFill>
                <a:srgbClr val="049E8C"/>
              </a:solidFill>
              <a:latin typeface="微軟正黑體" panose="020B0604030504040204" pitchFamily="34" charset="-120"/>
              <a:ea typeface="微軟正黑體" panose="020B0604030504040204" pitchFamily="34" charset="-120"/>
            </a:endParaRPr>
          </a:p>
          <a:p>
            <a:pPr>
              <a:lnSpc>
                <a:spcPct val="150000"/>
              </a:lnSpc>
              <a:buSzPct val="150000"/>
            </a:pPr>
            <a:r>
              <a:rPr lang="zh-TW" altLang="en-US" sz="2400" b="1" dirty="0">
                <a:solidFill>
                  <a:schemeClr val="tx1">
                    <a:lumMod val="75000"/>
                    <a:lumOff val="25000"/>
                  </a:schemeClr>
                </a:solidFill>
                <a:latin typeface="微軟正黑體" panose="020B0604030504040204" pitchFamily="34" charset="-120"/>
                <a:ea typeface="微軟正黑體" panose="020B0604030504040204" pitchFamily="34" charset="-120"/>
              </a:rPr>
              <a:t>（一）工作量證明（</a:t>
            </a:r>
            <a:r>
              <a:rPr lang="en-US" altLang="zh-TW" sz="2400" b="1" dirty="0">
                <a:solidFill>
                  <a:schemeClr val="tx1">
                    <a:lumMod val="75000"/>
                    <a:lumOff val="25000"/>
                  </a:schemeClr>
                </a:solidFill>
                <a:latin typeface="微軟正黑體" panose="020B0604030504040204" pitchFamily="34" charset="-120"/>
                <a:ea typeface="微軟正黑體" panose="020B0604030504040204" pitchFamily="34" charset="-120"/>
              </a:rPr>
              <a:t>POW</a:t>
            </a:r>
            <a:r>
              <a:rPr lang="zh-TW" altLang="en-US" sz="2400" b="1" dirty="0">
                <a:solidFill>
                  <a:schemeClr val="tx1">
                    <a:lumMod val="75000"/>
                    <a:lumOff val="25000"/>
                  </a:schemeClr>
                </a:solidFill>
                <a:latin typeface="微軟正黑體" panose="020B0604030504040204" pitchFamily="34" charset="-120"/>
                <a:ea typeface="微軟正黑體" panose="020B0604030504040204" pitchFamily="34" charset="-120"/>
              </a:rPr>
              <a:t>）又名算力證明</a:t>
            </a:r>
            <a:endParaRPr lang="en-US" altLang="zh-TW" sz="2400" b="1" dirty="0">
              <a:solidFill>
                <a:schemeClr val="tx1">
                  <a:lumMod val="75000"/>
                  <a:lumOff val="25000"/>
                </a:schemeClr>
              </a:solidFill>
              <a:latin typeface="微軟正黑體" panose="020B0604030504040204" pitchFamily="34" charset="-120"/>
              <a:ea typeface="微軟正黑體" panose="020B0604030504040204" pitchFamily="34" charset="-120"/>
            </a:endParaRPr>
          </a:p>
          <a:p>
            <a:pPr>
              <a:lnSpc>
                <a:spcPct val="150000"/>
              </a:lnSpc>
              <a:buSzPct val="150000"/>
            </a:pPr>
            <a:endParaRPr lang="en-US" altLang="zh-TW" sz="700" b="1" dirty="0">
              <a:solidFill>
                <a:schemeClr val="tx1">
                  <a:lumMod val="75000"/>
                  <a:lumOff val="25000"/>
                </a:schemeClr>
              </a:solidFill>
              <a:latin typeface="微軟正黑體" panose="020B0604030504040204" pitchFamily="34" charset="-120"/>
              <a:ea typeface="微軟正黑體" panose="020B0604030504040204" pitchFamily="34" charset="-120"/>
            </a:endParaRPr>
          </a:p>
          <a:p>
            <a:pPr marL="800100" lvl="1" indent="-342900">
              <a:lnSpc>
                <a:spcPct val="150000"/>
              </a:lnSpc>
              <a:buSzPct val="100000"/>
              <a:buBlip>
                <a:blip r:embed="rId3"/>
              </a:buBlip>
            </a:pPr>
            <a:r>
              <a:rPr lang="en-US" altLang="zh-TW" sz="2400" b="1" dirty="0">
                <a:solidFill>
                  <a:schemeClr val="tx1">
                    <a:lumMod val="75000"/>
                    <a:lumOff val="25000"/>
                  </a:schemeClr>
                </a:solidFill>
                <a:latin typeface="微軟正黑體" panose="020B0604030504040204" pitchFamily="34" charset="-120"/>
                <a:ea typeface="微軟正黑體" panose="020B0604030504040204" pitchFamily="34" charset="-120"/>
              </a:rPr>
              <a:t>POW </a:t>
            </a:r>
            <a:r>
              <a:rPr lang="zh-TW" altLang="en-US" sz="2400" b="1" dirty="0">
                <a:solidFill>
                  <a:schemeClr val="tx1">
                    <a:lumMod val="75000"/>
                    <a:lumOff val="25000"/>
                  </a:schemeClr>
                </a:solidFill>
                <a:latin typeface="微軟正黑體" panose="020B0604030504040204" pitchFamily="34" charset="-120"/>
                <a:ea typeface="微軟正黑體" panose="020B0604030504040204" pitchFamily="34" charset="-120"/>
              </a:rPr>
              <a:t>之原理是由各節點以</a:t>
            </a:r>
            <a:r>
              <a:rPr lang="zh-TW" altLang="en-US" sz="2400" b="1" dirty="0">
                <a:solidFill>
                  <a:srgbClr val="495B73"/>
                </a:solidFill>
                <a:latin typeface="微軟正黑體" panose="020B0604030504040204" pitchFamily="34" charset="-120"/>
                <a:ea typeface="微軟正黑體" panose="020B0604030504040204" pitchFamily="34" charset="-120"/>
              </a:rPr>
              <a:t>算力解題</a:t>
            </a:r>
            <a:r>
              <a:rPr lang="zh-TW" altLang="en-US" sz="2400" b="1" dirty="0">
                <a:solidFill>
                  <a:schemeClr val="tx1">
                    <a:lumMod val="75000"/>
                    <a:lumOff val="25000"/>
                  </a:schemeClr>
                </a:solidFill>
                <a:latin typeface="微軟正黑體" panose="020B0604030504040204" pitchFamily="34" charset="-120"/>
                <a:ea typeface="微軟正黑體" panose="020B0604030504040204" pitchFamily="34" charset="-120"/>
              </a:rPr>
              <a:t>的方式來競爭當前區塊的寫入權，最快解得答案者，將答案與他自己選擇好的交易內容（也就是當前區塊內容）發布給其它節點驗證，</a:t>
            </a:r>
            <a:endParaRPr lang="en-US" altLang="zh-TW" sz="2400" b="1" dirty="0">
              <a:solidFill>
                <a:schemeClr val="tx1">
                  <a:lumMod val="75000"/>
                  <a:lumOff val="25000"/>
                </a:schemeClr>
              </a:solidFill>
              <a:latin typeface="微軟正黑體" panose="020B0604030504040204" pitchFamily="34" charset="-120"/>
              <a:ea typeface="微軟正黑體" panose="020B0604030504040204" pitchFamily="34" charset="-120"/>
            </a:endParaRPr>
          </a:p>
          <a:p>
            <a:pPr marL="800100" lvl="1" indent="-342900">
              <a:lnSpc>
                <a:spcPct val="150000"/>
              </a:lnSpc>
              <a:buSzPct val="100000"/>
              <a:buBlip>
                <a:blip r:embed="rId3"/>
              </a:buBlip>
            </a:pPr>
            <a:r>
              <a:rPr lang="zh-TW" altLang="en-US" sz="2400" b="1" dirty="0">
                <a:solidFill>
                  <a:schemeClr val="tx1">
                    <a:lumMod val="75000"/>
                    <a:lumOff val="25000"/>
                  </a:schemeClr>
                </a:solidFill>
                <a:latin typeface="微軟正黑體" panose="020B0604030504040204" pitchFamily="34" charset="-120"/>
                <a:ea typeface="微軟正黑體" panose="020B0604030504040204" pitchFamily="34" charset="-120"/>
              </a:rPr>
              <a:t>若其它節點驗證區塊內容正確且同意他是最早解題者，則加入此鏈並將此區塊內容儲存起來，並以此區塊內容作為依據開始解下個題目</a:t>
            </a:r>
            <a:endParaRPr lang="en-US" altLang="zh-TW" sz="2400" b="1" dirty="0">
              <a:solidFill>
                <a:schemeClr val="tx1">
                  <a:lumMod val="75000"/>
                  <a:lumOff val="25000"/>
                </a:schemeClr>
              </a:solidFill>
              <a:latin typeface="微軟正黑體" panose="020B0604030504040204" pitchFamily="34" charset="-120"/>
              <a:ea typeface="微軟正黑體" panose="020B0604030504040204" pitchFamily="34" charset="-120"/>
            </a:endParaRPr>
          </a:p>
          <a:p>
            <a:pPr marL="800100" lvl="1" indent="-342900">
              <a:lnSpc>
                <a:spcPct val="150000"/>
              </a:lnSpc>
              <a:buSzPct val="100000"/>
              <a:buBlip>
                <a:blip r:embed="rId3"/>
              </a:buBlip>
            </a:pPr>
            <a:r>
              <a:rPr lang="zh-TW" altLang="en-US" sz="2400" b="1" dirty="0">
                <a:solidFill>
                  <a:schemeClr val="tx1">
                    <a:lumMod val="75000"/>
                    <a:lumOff val="25000"/>
                  </a:schemeClr>
                </a:solidFill>
                <a:latin typeface="微軟正黑體" panose="020B0604030504040204" pitchFamily="34" charset="-120"/>
                <a:ea typeface="微軟正黑體" panose="020B0604030504040204" pitchFamily="34" charset="-120"/>
              </a:rPr>
              <a:t>採用</a:t>
            </a:r>
            <a:r>
              <a:rPr lang="en-US" altLang="zh-TW" sz="2400" b="1" dirty="0">
                <a:solidFill>
                  <a:schemeClr val="tx1">
                    <a:lumMod val="75000"/>
                    <a:lumOff val="25000"/>
                  </a:schemeClr>
                </a:solidFill>
                <a:latin typeface="微軟正黑體" panose="020B0604030504040204" pitchFamily="34" charset="-120"/>
                <a:ea typeface="微軟正黑體" panose="020B0604030504040204" pitchFamily="34" charset="-120"/>
              </a:rPr>
              <a:t>POW </a:t>
            </a:r>
            <a:r>
              <a:rPr lang="zh-TW" altLang="en-US" sz="2400" b="1" dirty="0">
                <a:solidFill>
                  <a:schemeClr val="tx1">
                    <a:lumMod val="75000"/>
                    <a:lumOff val="25000"/>
                  </a:schemeClr>
                </a:solidFill>
                <a:latin typeface="微軟正黑體" panose="020B0604030504040204" pitchFamily="34" charset="-120"/>
                <a:ea typeface="微軟正黑體" panose="020B0604030504040204" pitchFamily="34" charset="-120"/>
              </a:rPr>
              <a:t>可有效阻止惡意攻擊</a:t>
            </a:r>
          </a:p>
        </p:txBody>
      </p:sp>
      <p:cxnSp>
        <p:nvCxnSpPr>
          <p:cNvPr id="12" name="直接连接符 33">
            <a:extLst>
              <a:ext uri="{FF2B5EF4-FFF2-40B4-BE49-F238E27FC236}">
                <a16:creationId xmlns:a16="http://schemas.microsoft.com/office/drawing/2014/main" id="{A65F0293-9BDE-4674-B7FB-55F0FABF02CF}"/>
              </a:ext>
            </a:extLst>
          </p:cNvPr>
          <p:cNvCxnSpPr/>
          <p:nvPr/>
        </p:nvCxnSpPr>
        <p:spPr>
          <a:xfrm>
            <a:off x="1177167" y="1046746"/>
            <a:ext cx="10585176" cy="0"/>
          </a:xfrm>
          <a:prstGeom prst="line">
            <a:avLst/>
          </a:prstGeom>
          <a:ln w="190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988173683"/>
      </p:ext>
    </p:extLst>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6" presetClass="entr" presetSubtype="16" fill="hold" grpId="0" nodeType="after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circle(in)">
                                      <p:cBhvr>
                                        <p:cTn id="7" dur="2000"/>
                                        <p:tgtEl>
                                          <p:spTgt spid="9"/>
                                        </p:tgtEl>
                                      </p:cBhvr>
                                    </p:animEffect>
                                  </p:childTnLst>
                                </p:cTn>
                              </p:par>
                            </p:childTnLst>
                          </p:cTn>
                        </p:par>
                        <p:par>
                          <p:cTn id="8" fill="hold">
                            <p:stCondLst>
                              <p:cond delay="2000"/>
                            </p:stCondLst>
                            <p:childTnLst>
                              <p:par>
                                <p:cTn id="9" presetID="14" presetClass="entr" presetSubtype="10" fill="hold" grpId="0" nodeType="afterEffect">
                                  <p:stCondLst>
                                    <p:cond delay="0"/>
                                  </p:stCondLst>
                                  <p:childTnLst>
                                    <p:set>
                                      <p:cBhvr>
                                        <p:cTn id="10" dur="1" fill="hold">
                                          <p:stCondLst>
                                            <p:cond delay="0"/>
                                          </p:stCondLst>
                                        </p:cTn>
                                        <p:tgtEl>
                                          <p:spTgt spid="10"/>
                                        </p:tgtEl>
                                        <p:attrNameLst>
                                          <p:attrName>style.visibility</p:attrName>
                                        </p:attrNameLst>
                                      </p:cBhvr>
                                      <p:to>
                                        <p:strVal val="visible"/>
                                      </p:to>
                                    </p:set>
                                    <p:animEffect transition="in" filter="randombar(horizontal)">
                                      <p:cBhvr>
                                        <p:cTn id="11" dur="500"/>
                                        <p:tgtEl>
                                          <p:spTgt spid="10"/>
                                        </p:tgtEl>
                                      </p:cBhvr>
                                    </p:animEffect>
                                  </p:childTnLst>
                                </p:cTn>
                              </p:par>
                            </p:childTnLst>
                          </p:cTn>
                        </p:par>
                        <p:par>
                          <p:cTn id="12" fill="hold">
                            <p:stCondLst>
                              <p:cond delay="2500"/>
                            </p:stCondLst>
                            <p:childTnLst>
                              <p:par>
                                <p:cTn id="13" presetID="2" presetClass="entr" presetSubtype="8" fill="hold" nodeType="afterEffect">
                                  <p:stCondLst>
                                    <p:cond delay="0"/>
                                  </p:stCondLst>
                                  <p:childTnLst>
                                    <p:set>
                                      <p:cBhvr>
                                        <p:cTn id="14" dur="1" fill="hold">
                                          <p:stCondLst>
                                            <p:cond delay="0"/>
                                          </p:stCondLst>
                                        </p:cTn>
                                        <p:tgtEl>
                                          <p:spTgt spid="12"/>
                                        </p:tgtEl>
                                        <p:attrNameLst>
                                          <p:attrName>style.visibility</p:attrName>
                                        </p:attrNameLst>
                                      </p:cBhvr>
                                      <p:to>
                                        <p:strVal val="visible"/>
                                      </p:to>
                                    </p:set>
                                    <p:anim calcmode="lin" valueType="num">
                                      <p:cBhvr additive="base">
                                        <p:cTn id="15" dur="500" fill="hold"/>
                                        <p:tgtEl>
                                          <p:spTgt spid="12"/>
                                        </p:tgtEl>
                                        <p:attrNameLst>
                                          <p:attrName>ppt_x</p:attrName>
                                        </p:attrNameLst>
                                      </p:cBhvr>
                                      <p:tavLst>
                                        <p:tav tm="0">
                                          <p:val>
                                            <p:strVal val="0-#ppt_w/2"/>
                                          </p:val>
                                        </p:tav>
                                        <p:tav tm="100000">
                                          <p:val>
                                            <p:strVal val="#ppt_x"/>
                                          </p:val>
                                        </p:tav>
                                      </p:tavLst>
                                    </p:anim>
                                    <p:anim calcmode="lin" valueType="num">
                                      <p:cBhvr additive="base">
                                        <p:cTn id="16" dur="500" fill="hold"/>
                                        <p:tgtEl>
                                          <p:spTgt spid="12"/>
                                        </p:tgtEl>
                                        <p:attrNameLst>
                                          <p:attrName>ppt_y</p:attrName>
                                        </p:attrNameLst>
                                      </p:cBhvr>
                                      <p:tavLst>
                                        <p:tav tm="0">
                                          <p:val>
                                            <p:strVal val="#ppt_y"/>
                                          </p:val>
                                        </p:tav>
                                        <p:tav tm="100000">
                                          <p:val>
                                            <p:strVal val="#ppt_y"/>
                                          </p:val>
                                        </p:tav>
                                      </p:tavLst>
                                    </p:anim>
                                  </p:childTnLst>
                                </p:cTn>
                              </p:par>
                            </p:childTnLst>
                          </p:cTn>
                        </p:par>
                        <p:par>
                          <p:cTn id="17" fill="hold">
                            <p:stCondLst>
                              <p:cond delay="3000"/>
                            </p:stCondLst>
                            <p:childTnLst>
                              <p:par>
                                <p:cTn id="18" presetID="3" presetClass="entr" presetSubtype="10" fill="hold" grpId="0" nodeType="afterEffect">
                                  <p:stCondLst>
                                    <p:cond delay="0"/>
                                  </p:stCondLst>
                                  <p:childTnLst>
                                    <p:set>
                                      <p:cBhvr>
                                        <p:cTn id="19" dur="1" fill="hold">
                                          <p:stCondLst>
                                            <p:cond delay="0"/>
                                          </p:stCondLst>
                                        </p:cTn>
                                        <p:tgtEl>
                                          <p:spTgt spid="2"/>
                                        </p:tgtEl>
                                        <p:attrNameLst>
                                          <p:attrName>style.visibility</p:attrName>
                                        </p:attrNameLst>
                                      </p:cBhvr>
                                      <p:to>
                                        <p:strVal val="visible"/>
                                      </p:to>
                                    </p:set>
                                    <p:animEffect transition="in" filter="blinds(horizontal)">
                                      <p:cBhvr>
                                        <p:cTn id="20"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0" grpId="0"/>
      <p:bldP spid="2"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图片 42">
            <a:extLst>
              <a:ext uri="{FF2B5EF4-FFF2-40B4-BE49-F238E27FC236}">
                <a16:creationId xmlns:a16="http://schemas.microsoft.com/office/drawing/2014/main" id="{C8D97DA4-6242-4E73-AEFC-457D04FDC65B}"/>
              </a:ext>
            </a:extLst>
          </p:cNvPr>
          <p:cNvPicPr>
            <a:picLocks noChangeAspect="1"/>
          </p:cNvPicPr>
          <p:nvPr/>
        </p:nvPicPr>
        <p:blipFill>
          <a:blip r:embed="rId2"/>
          <a:stretch>
            <a:fillRect/>
          </a:stretch>
        </p:blipFill>
        <p:spPr>
          <a:xfrm rot="16200000">
            <a:off x="145169" y="-145167"/>
            <a:ext cx="1268414" cy="1558750"/>
          </a:xfrm>
          <a:prstGeom prst="rect">
            <a:avLst/>
          </a:prstGeom>
        </p:spPr>
      </p:pic>
      <p:sp>
        <p:nvSpPr>
          <p:cNvPr id="6" name="文字方塊 5">
            <a:extLst>
              <a:ext uri="{FF2B5EF4-FFF2-40B4-BE49-F238E27FC236}">
                <a16:creationId xmlns:a16="http://schemas.microsoft.com/office/drawing/2014/main" id="{8A30B01A-3198-4955-A208-0E3D9EB60397}"/>
              </a:ext>
            </a:extLst>
          </p:cNvPr>
          <p:cNvSpPr txBox="1"/>
          <p:nvPr/>
        </p:nvSpPr>
        <p:spPr>
          <a:xfrm>
            <a:off x="1558751" y="6596390"/>
            <a:ext cx="4217821" cy="261610"/>
          </a:xfrm>
          <a:prstGeom prst="rect">
            <a:avLst/>
          </a:prstGeom>
          <a:noFill/>
        </p:spPr>
        <p:txBody>
          <a:bodyPr wrap="none" rtlCol="0">
            <a:spAutoFit/>
          </a:bodyPr>
          <a:lstStyle/>
          <a:p>
            <a:r>
              <a:rPr lang="zh-TW" altLang="en-US" sz="1100" dirty="0">
                <a:latin typeface="Microsoft JhengHei Light" panose="020B0304030504040204" pitchFamily="34" charset="-120"/>
                <a:ea typeface="Microsoft JhengHei Light" panose="020B0304030504040204" pitchFamily="34" charset="-120"/>
              </a:rPr>
              <a:t>區塊鏈商業應用概論 實例與分析／新陸書局股份有限公司 發行</a:t>
            </a:r>
          </a:p>
        </p:txBody>
      </p:sp>
      <p:sp>
        <p:nvSpPr>
          <p:cNvPr id="9" name="標題 1">
            <a:extLst>
              <a:ext uri="{FF2B5EF4-FFF2-40B4-BE49-F238E27FC236}">
                <a16:creationId xmlns:a16="http://schemas.microsoft.com/office/drawing/2014/main" id="{475DFFF1-7C37-4CBE-ACFC-3F348BCD20CC}"/>
              </a:ext>
            </a:extLst>
          </p:cNvPr>
          <p:cNvSpPr txBox="1">
            <a:spLocks/>
          </p:cNvSpPr>
          <p:nvPr/>
        </p:nvSpPr>
        <p:spPr>
          <a:xfrm>
            <a:off x="1231956" y="393820"/>
            <a:ext cx="3643527" cy="874595"/>
          </a:xfrm>
          <a:prstGeom prst="rect">
            <a:avLst/>
          </a:prstGeom>
        </p:spPr>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altLang="zh-TW" sz="2400" b="1" dirty="0">
                <a:solidFill>
                  <a:srgbClr val="E06741"/>
                </a:solidFill>
              </a:rPr>
              <a:t>2-2 </a:t>
            </a:r>
            <a:r>
              <a:rPr lang="zh-TW" altLang="en-US" sz="2400" b="1" dirty="0">
                <a:solidFill>
                  <a:srgbClr val="E06741"/>
                </a:solidFill>
              </a:rPr>
              <a:t>區塊鏈技術發展</a:t>
            </a:r>
          </a:p>
          <a:p>
            <a:endParaRPr lang="zh-TW" altLang="en-US" sz="2400" dirty="0">
              <a:solidFill>
                <a:srgbClr val="E06741"/>
              </a:solidFill>
              <a:latin typeface="標楷體" panose="03000509000000000000" pitchFamily="65" charset="-120"/>
              <a:ea typeface="標楷體" panose="03000509000000000000" pitchFamily="65" charset="-120"/>
              <a:cs typeface="Times New Roman" panose="02020603050405020304" pitchFamily="18" charset="0"/>
            </a:endParaRPr>
          </a:p>
        </p:txBody>
      </p:sp>
      <p:sp>
        <p:nvSpPr>
          <p:cNvPr id="10" name="文字方塊 9">
            <a:extLst>
              <a:ext uri="{FF2B5EF4-FFF2-40B4-BE49-F238E27FC236}">
                <a16:creationId xmlns:a16="http://schemas.microsoft.com/office/drawing/2014/main" id="{198702E0-29BF-45ED-BB34-E70A3CAA9F43}"/>
              </a:ext>
            </a:extLst>
          </p:cNvPr>
          <p:cNvSpPr txBox="1"/>
          <p:nvPr/>
        </p:nvSpPr>
        <p:spPr>
          <a:xfrm>
            <a:off x="4487241" y="449166"/>
            <a:ext cx="2930610" cy="400110"/>
          </a:xfrm>
          <a:prstGeom prst="rect">
            <a:avLst/>
          </a:prstGeom>
          <a:noFill/>
        </p:spPr>
        <p:txBody>
          <a:bodyPr wrap="none" rtlCol="0">
            <a:spAutoFit/>
          </a:bodyPr>
          <a:lstStyle/>
          <a:p>
            <a:r>
              <a:rPr lang="en-US" altLang="zh-TW" sz="2000" b="1" dirty="0">
                <a:solidFill>
                  <a:schemeClr val="tx1">
                    <a:lumMod val="65000"/>
                    <a:lumOff val="35000"/>
                  </a:schemeClr>
                </a:solidFill>
                <a:latin typeface="微軟正黑體" panose="020B0604030504040204" pitchFamily="34" charset="-120"/>
                <a:ea typeface="微軟正黑體" panose="020B0604030504040204" pitchFamily="34" charset="-120"/>
                <a:cs typeface="Times New Roman" panose="02020603050405020304" pitchFamily="18" charset="0"/>
              </a:rPr>
              <a:t>-1 </a:t>
            </a:r>
            <a:r>
              <a:rPr lang="zh-TW" altLang="en-US" sz="2000" b="1" dirty="0">
                <a:solidFill>
                  <a:schemeClr val="tx1">
                    <a:lumMod val="65000"/>
                    <a:lumOff val="35000"/>
                  </a:schemeClr>
                </a:solidFill>
                <a:latin typeface="微軟正黑體" panose="020B0604030504040204" pitchFamily="34" charset="-120"/>
                <a:ea typeface="微軟正黑體" panose="020B0604030504040204" pitchFamily="34" charset="-120"/>
                <a:cs typeface="Times New Roman" panose="02020603050405020304" pitchFamily="18" charset="0"/>
              </a:rPr>
              <a:t>區塊鏈技術核心元件</a:t>
            </a:r>
          </a:p>
        </p:txBody>
      </p:sp>
      <p:sp>
        <p:nvSpPr>
          <p:cNvPr id="2" name="文字方塊 1">
            <a:extLst>
              <a:ext uri="{FF2B5EF4-FFF2-40B4-BE49-F238E27FC236}">
                <a16:creationId xmlns:a16="http://schemas.microsoft.com/office/drawing/2014/main" id="{D6D66D7E-58A1-40BE-8070-FA1C3AF22B14}"/>
              </a:ext>
            </a:extLst>
          </p:cNvPr>
          <p:cNvSpPr txBox="1"/>
          <p:nvPr/>
        </p:nvSpPr>
        <p:spPr>
          <a:xfrm>
            <a:off x="1613540" y="1189077"/>
            <a:ext cx="9510331" cy="5336461"/>
          </a:xfrm>
          <a:prstGeom prst="rect">
            <a:avLst/>
          </a:prstGeom>
          <a:noFill/>
        </p:spPr>
        <p:txBody>
          <a:bodyPr wrap="square" rtlCol="0">
            <a:spAutoFit/>
          </a:bodyPr>
          <a:lstStyle/>
          <a:p>
            <a:pPr marL="342900" indent="-342900">
              <a:lnSpc>
                <a:spcPct val="150000"/>
              </a:lnSpc>
              <a:buSzPct val="100000"/>
              <a:buBlip>
                <a:blip r:embed="rId3"/>
              </a:buBlip>
            </a:pPr>
            <a:r>
              <a:rPr lang="en-US" altLang="zh-TW" sz="2300" b="1" dirty="0">
                <a:solidFill>
                  <a:srgbClr val="C00000"/>
                </a:solidFill>
                <a:latin typeface="微軟正黑體" panose="020B0604030504040204" pitchFamily="34" charset="-120"/>
                <a:ea typeface="微軟正黑體" panose="020B0604030504040204" pitchFamily="34" charset="-120"/>
              </a:rPr>
              <a:t>POW </a:t>
            </a:r>
            <a:r>
              <a:rPr lang="zh-TW" altLang="en-US" sz="2300" b="1" dirty="0">
                <a:solidFill>
                  <a:srgbClr val="C00000"/>
                </a:solidFill>
                <a:latin typeface="微軟正黑體" panose="020B0604030504040204" pitchFamily="34" charset="-120"/>
                <a:ea typeface="微軟正黑體" panose="020B0604030504040204" pitchFamily="34" charset="-120"/>
              </a:rPr>
              <a:t>的優點：</a:t>
            </a:r>
          </a:p>
          <a:p>
            <a:pPr marL="914400" lvl="1" indent="-457200">
              <a:lnSpc>
                <a:spcPct val="150000"/>
              </a:lnSpc>
              <a:buSzPct val="100000"/>
              <a:buFont typeface="+mj-lt"/>
              <a:buAutoNum type="arabicParenR"/>
            </a:pPr>
            <a:r>
              <a:rPr lang="zh-TW" altLang="en-US" sz="2300" b="1" dirty="0">
                <a:solidFill>
                  <a:schemeClr val="tx1">
                    <a:lumMod val="75000"/>
                    <a:lumOff val="25000"/>
                  </a:schemeClr>
                </a:solidFill>
                <a:latin typeface="微軟正黑體" panose="020B0604030504040204" pitchFamily="34" charset="-120"/>
                <a:ea typeface="微軟正黑體" panose="020B0604030504040204" pitchFamily="34" charset="-120"/>
              </a:rPr>
              <a:t>最安全的公有鏈共識機制</a:t>
            </a:r>
          </a:p>
          <a:p>
            <a:pPr marL="914400" lvl="1" indent="-457200">
              <a:lnSpc>
                <a:spcPct val="150000"/>
              </a:lnSpc>
              <a:buSzPct val="100000"/>
              <a:buFont typeface="+mj-lt"/>
              <a:buAutoNum type="arabicParenR"/>
            </a:pPr>
            <a:r>
              <a:rPr lang="zh-TW" altLang="en-US" sz="2300" b="1" dirty="0">
                <a:solidFill>
                  <a:schemeClr val="tx1">
                    <a:lumMod val="75000"/>
                    <a:lumOff val="25000"/>
                  </a:schemeClr>
                </a:solidFill>
                <a:latin typeface="微軟正黑體" panose="020B0604030504040204" pitchFamily="34" charset="-120"/>
                <a:ea typeface="微軟正黑體" panose="020B0604030504040204" pitchFamily="34" charset="-120"/>
              </a:rPr>
              <a:t>機制較簡單，易實行</a:t>
            </a:r>
          </a:p>
          <a:p>
            <a:pPr marL="914400" lvl="1" indent="-457200">
              <a:lnSpc>
                <a:spcPct val="150000"/>
              </a:lnSpc>
              <a:buSzPct val="100000"/>
              <a:buFont typeface="+mj-lt"/>
              <a:buAutoNum type="arabicParenR"/>
            </a:pPr>
            <a:r>
              <a:rPr lang="zh-TW" altLang="en-US" sz="2300" b="1" dirty="0">
                <a:solidFill>
                  <a:schemeClr val="tx1">
                    <a:lumMod val="75000"/>
                    <a:lumOff val="25000"/>
                  </a:schemeClr>
                </a:solidFill>
                <a:latin typeface="微軟正黑體" panose="020B0604030504040204" pitchFamily="34" charset="-120"/>
                <a:ea typeface="微軟正黑體" panose="020B0604030504040204" pitchFamily="34" charset="-120"/>
              </a:rPr>
              <a:t>相對公平的挖礦機制</a:t>
            </a:r>
          </a:p>
          <a:p>
            <a:pPr marL="342900" indent="-342900">
              <a:lnSpc>
                <a:spcPct val="150000"/>
              </a:lnSpc>
              <a:buSzPct val="100000"/>
              <a:buBlip>
                <a:blip r:embed="rId3"/>
              </a:buBlip>
            </a:pPr>
            <a:r>
              <a:rPr lang="en-US" altLang="zh-TW" sz="2300" b="1" dirty="0">
                <a:solidFill>
                  <a:srgbClr val="C00000"/>
                </a:solidFill>
                <a:latin typeface="微軟正黑體" panose="020B0604030504040204" pitchFamily="34" charset="-120"/>
                <a:ea typeface="微軟正黑體" panose="020B0604030504040204" pitchFamily="34" charset="-120"/>
              </a:rPr>
              <a:t>POW </a:t>
            </a:r>
            <a:r>
              <a:rPr lang="zh-TW" altLang="en-US" sz="2300" b="1" dirty="0">
                <a:solidFill>
                  <a:srgbClr val="C00000"/>
                </a:solidFill>
                <a:latin typeface="微軟正黑體" panose="020B0604030504040204" pitchFamily="34" charset="-120"/>
                <a:ea typeface="微軟正黑體" panose="020B0604030504040204" pitchFamily="34" charset="-120"/>
              </a:rPr>
              <a:t>的缺點：</a:t>
            </a:r>
          </a:p>
          <a:p>
            <a:pPr marL="914400" lvl="1" indent="-457200">
              <a:lnSpc>
                <a:spcPct val="150000"/>
              </a:lnSpc>
              <a:buSzPct val="100000"/>
              <a:buFont typeface="+mj-lt"/>
              <a:buAutoNum type="arabicParenR"/>
            </a:pPr>
            <a:r>
              <a:rPr lang="zh-TW" altLang="en-US" sz="2300" b="1" dirty="0">
                <a:solidFill>
                  <a:schemeClr val="tx1">
                    <a:lumMod val="75000"/>
                    <a:lumOff val="25000"/>
                  </a:schemeClr>
                </a:solidFill>
                <a:latin typeface="微軟正黑體" panose="020B0604030504040204" pitchFamily="34" charset="-120"/>
                <a:ea typeface="微軟正黑體" panose="020B0604030504040204" pitchFamily="34" charset="-120"/>
              </a:rPr>
              <a:t>能源消耗量大，算力是以能源消耗為代價製造出來的</a:t>
            </a:r>
          </a:p>
          <a:p>
            <a:pPr marL="914400" lvl="1" indent="-457200">
              <a:lnSpc>
                <a:spcPct val="150000"/>
              </a:lnSpc>
              <a:buSzPct val="100000"/>
              <a:buFont typeface="+mj-lt"/>
              <a:buAutoNum type="arabicParenR"/>
            </a:pPr>
            <a:r>
              <a:rPr lang="zh-TW" altLang="en-US" sz="2300" b="1" dirty="0">
                <a:solidFill>
                  <a:schemeClr val="tx1">
                    <a:lumMod val="75000"/>
                    <a:lumOff val="25000"/>
                  </a:schemeClr>
                </a:solidFill>
                <a:latin typeface="微軟正黑體" panose="020B0604030504040204" pitchFamily="34" charset="-120"/>
                <a:ea typeface="微軟正黑體" panose="020B0604030504040204" pitchFamily="34" charset="-120"/>
              </a:rPr>
              <a:t>較難縮短 區塊的確認時間</a:t>
            </a:r>
          </a:p>
          <a:p>
            <a:pPr marL="914400" lvl="1" indent="-457200">
              <a:lnSpc>
                <a:spcPct val="150000"/>
              </a:lnSpc>
              <a:buSzPct val="100000"/>
              <a:buFont typeface="+mj-lt"/>
              <a:buAutoNum type="arabicParenR"/>
            </a:pPr>
            <a:r>
              <a:rPr lang="zh-TW" altLang="en-US" sz="2300" b="1" dirty="0">
                <a:solidFill>
                  <a:schemeClr val="tx1">
                    <a:lumMod val="75000"/>
                    <a:lumOff val="25000"/>
                  </a:schemeClr>
                </a:solidFill>
                <a:latin typeface="微軟正黑體" panose="020B0604030504040204" pitchFamily="34" charset="-120"/>
                <a:ea typeface="微軟正黑體" panose="020B0604030504040204" pitchFamily="34" charset="-120"/>
              </a:rPr>
              <a:t>可能產生分叉，需要等待多個確認才能完成交易</a:t>
            </a:r>
          </a:p>
          <a:p>
            <a:pPr marL="914400" lvl="1" indent="-457200">
              <a:lnSpc>
                <a:spcPct val="150000"/>
              </a:lnSpc>
              <a:buSzPct val="100000"/>
              <a:buFont typeface="+mj-lt"/>
              <a:buAutoNum type="arabicParenR"/>
            </a:pPr>
            <a:r>
              <a:rPr lang="zh-TW" altLang="en-US" sz="2300" b="1" dirty="0">
                <a:solidFill>
                  <a:schemeClr val="tx1">
                    <a:lumMod val="75000"/>
                    <a:lumOff val="25000"/>
                  </a:schemeClr>
                </a:solidFill>
                <a:latin typeface="微軟正黑體" panose="020B0604030504040204" pitchFamily="34" charset="-120"/>
                <a:ea typeface="微軟正黑體" panose="020B0604030504040204" pitchFamily="34" charset="-120"/>
              </a:rPr>
              <a:t>沒有最終性，永遠可能出現更長鏈來取代當前帳本，因為實際上六個確認後其機率已趨近於</a:t>
            </a:r>
            <a:r>
              <a:rPr lang="en-US" altLang="zh-TW" sz="2300" b="1" dirty="0">
                <a:solidFill>
                  <a:schemeClr val="tx1">
                    <a:lumMod val="75000"/>
                    <a:lumOff val="25000"/>
                  </a:schemeClr>
                </a:solidFill>
                <a:latin typeface="微軟正黑體" panose="020B0604030504040204" pitchFamily="34" charset="-120"/>
                <a:ea typeface="微軟正黑體" panose="020B0604030504040204" pitchFamily="34" charset="-120"/>
              </a:rPr>
              <a:t>0</a:t>
            </a:r>
          </a:p>
        </p:txBody>
      </p:sp>
      <p:cxnSp>
        <p:nvCxnSpPr>
          <p:cNvPr id="12" name="直接连接符 33">
            <a:extLst>
              <a:ext uri="{FF2B5EF4-FFF2-40B4-BE49-F238E27FC236}">
                <a16:creationId xmlns:a16="http://schemas.microsoft.com/office/drawing/2014/main" id="{A65F0293-9BDE-4674-B7FB-55F0FABF02CF}"/>
              </a:ext>
            </a:extLst>
          </p:cNvPr>
          <p:cNvCxnSpPr/>
          <p:nvPr/>
        </p:nvCxnSpPr>
        <p:spPr>
          <a:xfrm>
            <a:off x="1177167" y="1046746"/>
            <a:ext cx="10585176" cy="0"/>
          </a:xfrm>
          <a:prstGeom prst="line">
            <a:avLst/>
          </a:prstGeom>
          <a:ln w="190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pic>
        <p:nvPicPr>
          <p:cNvPr id="13" name="圖片 12">
            <a:extLst>
              <a:ext uri="{FF2B5EF4-FFF2-40B4-BE49-F238E27FC236}">
                <a16:creationId xmlns:a16="http://schemas.microsoft.com/office/drawing/2014/main" id="{CC2B9238-5B8D-4F31-A4D2-C6FEA2499586}"/>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flipH="1">
            <a:off x="10150765" y="1244217"/>
            <a:ext cx="2133600" cy="2133600"/>
          </a:xfrm>
          <a:prstGeom prst="rect">
            <a:avLst/>
          </a:prstGeom>
        </p:spPr>
      </p:pic>
    </p:spTree>
    <p:extLst>
      <p:ext uri="{BB962C8B-B14F-4D97-AF65-F5344CB8AC3E}">
        <p14:creationId xmlns:p14="http://schemas.microsoft.com/office/powerpoint/2010/main" val="3814605998"/>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6" presetClass="entr" presetSubtype="16" fill="hold" grpId="0" nodeType="after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circle(in)">
                                      <p:cBhvr>
                                        <p:cTn id="7" dur="2000"/>
                                        <p:tgtEl>
                                          <p:spTgt spid="9"/>
                                        </p:tgtEl>
                                      </p:cBhvr>
                                    </p:animEffect>
                                  </p:childTnLst>
                                </p:cTn>
                              </p:par>
                            </p:childTnLst>
                          </p:cTn>
                        </p:par>
                        <p:par>
                          <p:cTn id="8" fill="hold">
                            <p:stCondLst>
                              <p:cond delay="2000"/>
                            </p:stCondLst>
                            <p:childTnLst>
                              <p:par>
                                <p:cTn id="9" presetID="14" presetClass="entr" presetSubtype="10" fill="hold" grpId="0" nodeType="afterEffect">
                                  <p:stCondLst>
                                    <p:cond delay="0"/>
                                  </p:stCondLst>
                                  <p:childTnLst>
                                    <p:set>
                                      <p:cBhvr>
                                        <p:cTn id="10" dur="1" fill="hold">
                                          <p:stCondLst>
                                            <p:cond delay="0"/>
                                          </p:stCondLst>
                                        </p:cTn>
                                        <p:tgtEl>
                                          <p:spTgt spid="10"/>
                                        </p:tgtEl>
                                        <p:attrNameLst>
                                          <p:attrName>style.visibility</p:attrName>
                                        </p:attrNameLst>
                                      </p:cBhvr>
                                      <p:to>
                                        <p:strVal val="visible"/>
                                      </p:to>
                                    </p:set>
                                    <p:animEffect transition="in" filter="randombar(horizontal)">
                                      <p:cBhvr>
                                        <p:cTn id="11" dur="500"/>
                                        <p:tgtEl>
                                          <p:spTgt spid="10"/>
                                        </p:tgtEl>
                                      </p:cBhvr>
                                    </p:animEffect>
                                  </p:childTnLst>
                                </p:cTn>
                              </p:par>
                            </p:childTnLst>
                          </p:cTn>
                        </p:par>
                        <p:par>
                          <p:cTn id="12" fill="hold">
                            <p:stCondLst>
                              <p:cond delay="2500"/>
                            </p:stCondLst>
                            <p:childTnLst>
                              <p:par>
                                <p:cTn id="13" presetID="2" presetClass="entr" presetSubtype="8" fill="hold" nodeType="afterEffect">
                                  <p:stCondLst>
                                    <p:cond delay="0"/>
                                  </p:stCondLst>
                                  <p:childTnLst>
                                    <p:set>
                                      <p:cBhvr>
                                        <p:cTn id="14" dur="1" fill="hold">
                                          <p:stCondLst>
                                            <p:cond delay="0"/>
                                          </p:stCondLst>
                                        </p:cTn>
                                        <p:tgtEl>
                                          <p:spTgt spid="12"/>
                                        </p:tgtEl>
                                        <p:attrNameLst>
                                          <p:attrName>style.visibility</p:attrName>
                                        </p:attrNameLst>
                                      </p:cBhvr>
                                      <p:to>
                                        <p:strVal val="visible"/>
                                      </p:to>
                                    </p:set>
                                    <p:anim calcmode="lin" valueType="num">
                                      <p:cBhvr additive="base">
                                        <p:cTn id="15" dur="500" fill="hold"/>
                                        <p:tgtEl>
                                          <p:spTgt spid="12"/>
                                        </p:tgtEl>
                                        <p:attrNameLst>
                                          <p:attrName>ppt_x</p:attrName>
                                        </p:attrNameLst>
                                      </p:cBhvr>
                                      <p:tavLst>
                                        <p:tav tm="0">
                                          <p:val>
                                            <p:strVal val="0-#ppt_w/2"/>
                                          </p:val>
                                        </p:tav>
                                        <p:tav tm="100000">
                                          <p:val>
                                            <p:strVal val="#ppt_x"/>
                                          </p:val>
                                        </p:tav>
                                      </p:tavLst>
                                    </p:anim>
                                    <p:anim calcmode="lin" valueType="num">
                                      <p:cBhvr additive="base">
                                        <p:cTn id="16" dur="500" fill="hold"/>
                                        <p:tgtEl>
                                          <p:spTgt spid="12"/>
                                        </p:tgtEl>
                                        <p:attrNameLst>
                                          <p:attrName>ppt_y</p:attrName>
                                        </p:attrNameLst>
                                      </p:cBhvr>
                                      <p:tavLst>
                                        <p:tav tm="0">
                                          <p:val>
                                            <p:strVal val="#ppt_y"/>
                                          </p:val>
                                        </p:tav>
                                        <p:tav tm="100000">
                                          <p:val>
                                            <p:strVal val="#ppt_y"/>
                                          </p:val>
                                        </p:tav>
                                      </p:tavLst>
                                    </p:anim>
                                  </p:childTnLst>
                                </p:cTn>
                              </p:par>
                            </p:childTnLst>
                          </p:cTn>
                        </p:par>
                        <p:par>
                          <p:cTn id="17" fill="hold">
                            <p:stCondLst>
                              <p:cond delay="3000"/>
                            </p:stCondLst>
                            <p:childTnLst>
                              <p:par>
                                <p:cTn id="18" presetID="16" presetClass="entr" presetSubtype="21" fill="hold" grpId="0" nodeType="afterEffect">
                                  <p:stCondLst>
                                    <p:cond delay="0"/>
                                  </p:stCondLst>
                                  <p:childTnLst>
                                    <p:set>
                                      <p:cBhvr>
                                        <p:cTn id="19" dur="1" fill="hold">
                                          <p:stCondLst>
                                            <p:cond delay="0"/>
                                          </p:stCondLst>
                                        </p:cTn>
                                        <p:tgtEl>
                                          <p:spTgt spid="2"/>
                                        </p:tgtEl>
                                        <p:attrNameLst>
                                          <p:attrName>style.visibility</p:attrName>
                                        </p:attrNameLst>
                                      </p:cBhvr>
                                      <p:to>
                                        <p:strVal val="visible"/>
                                      </p:to>
                                    </p:set>
                                    <p:animEffect transition="in" filter="barn(inVertical)">
                                      <p:cBhvr>
                                        <p:cTn id="20" dur="500"/>
                                        <p:tgtEl>
                                          <p:spTgt spid="2"/>
                                        </p:tgtEl>
                                      </p:cBhvr>
                                    </p:animEffect>
                                  </p:childTnLst>
                                </p:cTn>
                              </p:par>
                            </p:childTnLst>
                          </p:cTn>
                        </p:par>
                        <p:par>
                          <p:cTn id="21" fill="hold">
                            <p:stCondLst>
                              <p:cond delay="3500"/>
                            </p:stCondLst>
                            <p:childTnLst>
                              <p:par>
                                <p:cTn id="22" presetID="42" presetClass="entr" presetSubtype="0" fill="hold" nodeType="afterEffect">
                                  <p:stCondLst>
                                    <p:cond delay="0"/>
                                  </p:stCondLst>
                                  <p:childTnLst>
                                    <p:set>
                                      <p:cBhvr>
                                        <p:cTn id="23" dur="1" fill="hold">
                                          <p:stCondLst>
                                            <p:cond delay="0"/>
                                          </p:stCondLst>
                                        </p:cTn>
                                        <p:tgtEl>
                                          <p:spTgt spid="13"/>
                                        </p:tgtEl>
                                        <p:attrNameLst>
                                          <p:attrName>style.visibility</p:attrName>
                                        </p:attrNameLst>
                                      </p:cBhvr>
                                      <p:to>
                                        <p:strVal val="visible"/>
                                      </p:to>
                                    </p:set>
                                    <p:animEffect transition="in" filter="fade">
                                      <p:cBhvr>
                                        <p:cTn id="24" dur="1000"/>
                                        <p:tgtEl>
                                          <p:spTgt spid="13"/>
                                        </p:tgtEl>
                                      </p:cBhvr>
                                    </p:animEffect>
                                    <p:anim calcmode="lin" valueType="num">
                                      <p:cBhvr>
                                        <p:cTn id="25" dur="1000" fill="hold"/>
                                        <p:tgtEl>
                                          <p:spTgt spid="13"/>
                                        </p:tgtEl>
                                        <p:attrNameLst>
                                          <p:attrName>ppt_x</p:attrName>
                                        </p:attrNameLst>
                                      </p:cBhvr>
                                      <p:tavLst>
                                        <p:tav tm="0">
                                          <p:val>
                                            <p:strVal val="#ppt_x"/>
                                          </p:val>
                                        </p:tav>
                                        <p:tav tm="100000">
                                          <p:val>
                                            <p:strVal val="#ppt_x"/>
                                          </p:val>
                                        </p:tav>
                                      </p:tavLst>
                                    </p:anim>
                                    <p:anim calcmode="lin" valueType="num">
                                      <p:cBhvr>
                                        <p:cTn id="26" dur="1000" fill="hold"/>
                                        <p:tgtEl>
                                          <p:spTgt spid="1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0" grpId="0"/>
      <p:bldP spid="2"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图片 42">
            <a:extLst>
              <a:ext uri="{FF2B5EF4-FFF2-40B4-BE49-F238E27FC236}">
                <a16:creationId xmlns:a16="http://schemas.microsoft.com/office/drawing/2014/main" id="{C8D97DA4-6242-4E73-AEFC-457D04FDC65B}"/>
              </a:ext>
            </a:extLst>
          </p:cNvPr>
          <p:cNvPicPr>
            <a:picLocks noChangeAspect="1"/>
          </p:cNvPicPr>
          <p:nvPr/>
        </p:nvPicPr>
        <p:blipFill>
          <a:blip r:embed="rId2"/>
          <a:stretch>
            <a:fillRect/>
          </a:stretch>
        </p:blipFill>
        <p:spPr>
          <a:xfrm rot="16200000">
            <a:off x="145169" y="-145167"/>
            <a:ext cx="1268414" cy="1558750"/>
          </a:xfrm>
          <a:prstGeom prst="rect">
            <a:avLst/>
          </a:prstGeom>
        </p:spPr>
      </p:pic>
      <p:sp>
        <p:nvSpPr>
          <p:cNvPr id="6" name="文字方塊 5">
            <a:extLst>
              <a:ext uri="{FF2B5EF4-FFF2-40B4-BE49-F238E27FC236}">
                <a16:creationId xmlns:a16="http://schemas.microsoft.com/office/drawing/2014/main" id="{8A30B01A-3198-4955-A208-0E3D9EB60397}"/>
              </a:ext>
            </a:extLst>
          </p:cNvPr>
          <p:cNvSpPr txBox="1"/>
          <p:nvPr/>
        </p:nvSpPr>
        <p:spPr>
          <a:xfrm>
            <a:off x="1558751" y="6596390"/>
            <a:ext cx="4217821" cy="261610"/>
          </a:xfrm>
          <a:prstGeom prst="rect">
            <a:avLst/>
          </a:prstGeom>
          <a:noFill/>
        </p:spPr>
        <p:txBody>
          <a:bodyPr wrap="none" rtlCol="0">
            <a:spAutoFit/>
          </a:bodyPr>
          <a:lstStyle/>
          <a:p>
            <a:r>
              <a:rPr lang="zh-TW" altLang="en-US" sz="1100" dirty="0">
                <a:latin typeface="Microsoft JhengHei Light" panose="020B0304030504040204" pitchFamily="34" charset="-120"/>
                <a:ea typeface="Microsoft JhengHei Light" panose="020B0304030504040204" pitchFamily="34" charset="-120"/>
              </a:rPr>
              <a:t>區塊鏈商業應用概論 實例與分析／新陸書局股份有限公司 發行</a:t>
            </a:r>
          </a:p>
        </p:txBody>
      </p:sp>
      <p:sp>
        <p:nvSpPr>
          <p:cNvPr id="9" name="標題 1">
            <a:extLst>
              <a:ext uri="{FF2B5EF4-FFF2-40B4-BE49-F238E27FC236}">
                <a16:creationId xmlns:a16="http://schemas.microsoft.com/office/drawing/2014/main" id="{475DFFF1-7C37-4CBE-ACFC-3F348BCD20CC}"/>
              </a:ext>
            </a:extLst>
          </p:cNvPr>
          <p:cNvSpPr txBox="1">
            <a:spLocks/>
          </p:cNvSpPr>
          <p:nvPr/>
        </p:nvSpPr>
        <p:spPr>
          <a:xfrm>
            <a:off x="1231956" y="393820"/>
            <a:ext cx="3643527" cy="874595"/>
          </a:xfrm>
          <a:prstGeom prst="rect">
            <a:avLst/>
          </a:prstGeom>
        </p:spPr>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altLang="zh-TW" sz="2400" b="1" dirty="0">
                <a:solidFill>
                  <a:srgbClr val="E06741"/>
                </a:solidFill>
              </a:rPr>
              <a:t>2-2 </a:t>
            </a:r>
            <a:r>
              <a:rPr lang="zh-TW" altLang="en-US" sz="2400" b="1" dirty="0">
                <a:solidFill>
                  <a:srgbClr val="E06741"/>
                </a:solidFill>
              </a:rPr>
              <a:t>區塊鏈技術發展</a:t>
            </a:r>
          </a:p>
          <a:p>
            <a:endParaRPr lang="zh-TW" altLang="en-US" sz="2400" dirty="0">
              <a:solidFill>
                <a:srgbClr val="E06741"/>
              </a:solidFill>
              <a:latin typeface="標楷體" panose="03000509000000000000" pitchFamily="65" charset="-120"/>
              <a:ea typeface="標楷體" panose="03000509000000000000" pitchFamily="65" charset="-120"/>
              <a:cs typeface="Times New Roman" panose="02020603050405020304" pitchFamily="18" charset="0"/>
            </a:endParaRPr>
          </a:p>
        </p:txBody>
      </p:sp>
      <p:sp>
        <p:nvSpPr>
          <p:cNvPr id="10" name="文字方塊 9">
            <a:extLst>
              <a:ext uri="{FF2B5EF4-FFF2-40B4-BE49-F238E27FC236}">
                <a16:creationId xmlns:a16="http://schemas.microsoft.com/office/drawing/2014/main" id="{198702E0-29BF-45ED-BB34-E70A3CAA9F43}"/>
              </a:ext>
            </a:extLst>
          </p:cNvPr>
          <p:cNvSpPr txBox="1"/>
          <p:nvPr/>
        </p:nvSpPr>
        <p:spPr>
          <a:xfrm>
            <a:off x="4487241" y="449166"/>
            <a:ext cx="2930610" cy="400110"/>
          </a:xfrm>
          <a:prstGeom prst="rect">
            <a:avLst/>
          </a:prstGeom>
          <a:noFill/>
        </p:spPr>
        <p:txBody>
          <a:bodyPr wrap="none" rtlCol="0">
            <a:spAutoFit/>
          </a:bodyPr>
          <a:lstStyle/>
          <a:p>
            <a:r>
              <a:rPr lang="en-US" altLang="zh-TW" sz="2000" b="1" dirty="0">
                <a:solidFill>
                  <a:schemeClr val="tx1">
                    <a:lumMod val="65000"/>
                    <a:lumOff val="35000"/>
                  </a:schemeClr>
                </a:solidFill>
                <a:latin typeface="微軟正黑體" panose="020B0604030504040204" pitchFamily="34" charset="-120"/>
                <a:ea typeface="微軟正黑體" panose="020B0604030504040204" pitchFamily="34" charset="-120"/>
                <a:cs typeface="Times New Roman" panose="02020603050405020304" pitchFamily="18" charset="0"/>
              </a:rPr>
              <a:t>-1 </a:t>
            </a:r>
            <a:r>
              <a:rPr lang="zh-TW" altLang="en-US" sz="2000" b="1" dirty="0">
                <a:solidFill>
                  <a:schemeClr val="tx1">
                    <a:lumMod val="65000"/>
                    <a:lumOff val="35000"/>
                  </a:schemeClr>
                </a:solidFill>
                <a:latin typeface="微軟正黑體" panose="020B0604030504040204" pitchFamily="34" charset="-120"/>
                <a:ea typeface="微軟正黑體" panose="020B0604030504040204" pitchFamily="34" charset="-120"/>
                <a:cs typeface="Times New Roman" panose="02020603050405020304" pitchFamily="18" charset="0"/>
              </a:rPr>
              <a:t>區塊鏈技術核心元件</a:t>
            </a:r>
          </a:p>
        </p:txBody>
      </p:sp>
      <p:sp>
        <p:nvSpPr>
          <p:cNvPr id="2" name="文字方塊 1">
            <a:extLst>
              <a:ext uri="{FF2B5EF4-FFF2-40B4-BE49-F238E27FC236}">
                <a16:creationId xmlns:a16="http://schemas.microsoft.com/office/drawing/2014/main" id="{D6D66D7E-58A1-40BE-8070-FA1C3AF22B14}"/>
              </a:ext>
            </a:extLst>
          </p:cNvPr>
          <p:cNvSpPr txBox="1"/>
          <p:nvPr/>
        </p:nvSpPr>
        <p:spPr>
          <a:xfrm>
            <a:off x="1453628" y="1323761"/>
            <a:ext cx="9742802" cy="4271810"/>
          </a:xfrm>
          <a:prstGeom prst="rect">
            <a:avLst/>
          </a:prstGeom>
          <a:noFill/>
        </p:spPr>
        <p:txBody>
          <a:bodyPr wrap="square" rtlCol="0">
            <a:spAutoFit/>
          </a:bodyPr>
          <a:lstStyle/>
          <a:p>
            <a:pPr>
              <a:lnSpc>
                <a:spcPct val="150000"/>
              </a:lnSpc>
              <a:buSzPct val="150000"/>
            </a:pPr>
            <a:r>
              <a:rPr lang="zh-TW" altLang="en-US" sz="2400" b="1" dirty="0">
                <a:solidFill>
                  <a:schemeClr val="tx1">
                    <a:lumMod val="75000"/>
                    <a:lumOff val="25000"/>
                  </a:schemeClr>
                </a:solidFill>
                <a:latin typeface="微軟正黑體" panose="020B0604030504040204" pitchFamily="34" charset="-120"/>
                <a:ea typeface="微軟正黑體" panose="020B0604030504040204" pitchFamily="34" charset="-120"/>
              </a:rPr>
              <a:t>（二）</a:t>
            </a:r>
            <a:r>
              <a:rPr lang="en-US" altLang="zh-TW" sz="2400" b="1" dirty="0">
                <a:solidFill>
                  <a:schemeClr val="tx1">
                    <a:lumMod val="75000"/>
                    <a:lumOff val="25000"/>
                  </a:schemeClr>
                </a:solidFill>
                <a:latin typeface="微軟正黑體" panose="020B0604030504040204" pitchFamily="34" charset="-120"/>
                <a:ea typeface="微軟正黑體" panose="020B0604030504040204" pitchFamily="34" charset="-120"/>
              </a:rPr>
              <a:t>POS</a:t>
            </a:r>
            <a:r>
              <a:rPr lang="zh-TW" altLang="en-US" sz="2400" b="1" dirty="0">
                <a:solidFill>
                  <a:schemeClr val="tx1">
                    <a:lumMod val="75000"/>
                    <a:lumOff val="25000"/>
                  </a:schemeClr>
                </a:solidFill>
                <a:latin typeface="微軟正黑體" panose="020B0604030504040204" pitchFamily="34" charset="-120"/>
                <a:ea typeface="微軟正黑體" panose="020B0604030504040204" pitchFamily="34" charset="-120"/>
              </a:rPr>
              <a:t>權益證明</a:t>
            </a:r>
            <a:endParaRPr lang="en-US" altLang="zh-TW" sz="2400" b="1" dirty="0">
              <a:solidFill>
                <a:schemeClr val="tx1">
                  <a:lumMod val="75000"/>
                  <a:lumOff val="25000"/>
                </a:schemeClr>
              </a:solidFill>
              <a:latin typeface="微軟正黑體" panose="020B0604030504040204" pitchFamily="34" charset="-120"/>
              <a:ea typeface="微軟正黑體" panose="020B0604030504040204" pitchFamily="34" charset="-120"/>
            </a:endParaRPr>
          </a:p>
          <a:p>
            <a:pPr>
              <a:lnSpc>
                <a:spcPct val="150000"/>
              </a:lnSpc>
              <a:buSzPct val="150000"/>
            </a:pPr>
            <a:endParaRPr lang="en-US" altLang="zh-TW" sz="800" b="1" dirty="0">
              <a:solidFill>
                <a:schemeClr val="tx1">
                  <a:lumMod val="75000"/>
                  <a:lumOff val="25000"/>
                </a:schemeClr>
              </a:solidFill>
              <a:latin typeface="微軟正黑體" panose="020B0604030504040204" pitchFamily="34" charset="-120"/>
              <a:ea typeface="微軟正黑體" panose="020B0604030504040204" pitchFamily="34" charset="-120"/>
            </a:endParaRPr>
          </a:p>
          <a:p>
            <a:pPr marL="800100" lvl="1" indent="-342900">
              <a:lnSpc>
                <a:spcPct val="150000"/>
              </a:lnSpc>
              <a:buSzPct val="100000"/>
              <a:buBlip>
                <a:blip r:embed="rId3"/>
              </a:buBlip>
            </a:pPr>
            <a:r>
              <a:rPr lang="zh-TW" altLang="en-US" sz="2400" b="1" dirty="0">
                <a:solidFill>
                  <a:schemeClr val="tx1">
                    <a:lumMod val="75000"/>
                    <a:lumOff val="25000"/>
                  </a:schemeClr>
                </a:solidFill>
                <a:latin typeface="微軟正黑體" panose="020B0604030504040204" pitchFamily="34" charset="-120"/>
                <a:ea typeface="微軟正黑體" panose="020B0604030504040204" pitchFamily="34" charset="-120"/>
              </a:rPr>
              <a:t>與</a:t>
            </a:r>
            <a:r>
              <a:rPr lang="en-US" altLang="zh-TW" sz="2400" b="1" dirty="0">
                <a:solidFill>
                  <a:schemeClr val="tx1">
                    <a:lumMod val="75000"/>
                    <a:lumOff val="25000"/>
                  </a:schemeClr>
                </a:solidFill>
                <a:latin typeface="微軟正黑體" panose="020B0604030504040204" pitchFamily="34" charset="-120"/>
                <a:ea typeface="微軟正黑體" panose="020B0604030504040204" pitchFamily="34" charset="-120"/>
              </a:rPr>
              <a:t>POW </a:t>
            </a:r>
            <a:r>
              <a:rPr lang="zh-TW" altLang="en-US" sz="2400" b="1" dirty="0">
                <a:solidFill>
                  <a:schemeClr val="tx1">
                    <a:lumMod val="75000"/>
                    <a:lumOff val="25000"/>
                  </a:schemeClr>
                </a:solidFill>
                <a:latin typeface="微軟正黑體" panose="020B0604030504040204" pitchFamily="34" charset="-120"/>
                <a:ea typeface="微軟正黑體" panose="020B0604030504040204" pitchFamily="34" charset="-120"/>
              </a:rPr>
              <a:t>不同，沒有算力競爭的需求，不需要消耗大量的算力</a:t>
            </a:r>
            <a:endParaRPr lang="en-US" altLang="zh-TW" sz="2400" b="1" dirty="0">
              <a:solidFill>
                <a:schemeClr val="tx1">
                  <a:lumMod val="75000"/>
                  <a:lumOff val="25000"/>
                </a:schemeClr>
              </a:solidFill>
              <a:latin typeface="微軟正黑體" panose="020B0604030504040204" pitchFamily="34" charset="-120"/>
              <a:ea typeface="微軟正黑體" panose="020B0604030504040204" pitchFamily="34" charset="-120"/>
            </a:endParaRPr>
          </a:p>
          <a:p>
            <a:pPr marL="800100" lvl="1" indent="-342900">
              <a:lnSpc>
                <a:spcPct val="150000"/>
              </a:lnSpc>
              <a:buSzPct val="100000"/>
              <a:buBlip>
                <a:blip r:embed="rId3"/>
              </a:buBlip>
            </a:pPr>
            <a:r>
              <a:rPr lang="zh-TW" altLang="en-US" sz="2400" b="1" dirty="0">
                <a:solidFill>
                  <a:schemeClr val="tx1">
                    <a:lumMod val="75000"/>
                    <a:lumOff val="25000"/>
                  </a:schemeClr>
                </a:solidFill>
                <a:latin typeface="微軟正黑體" panose="020B0604030504040204" pitchFamily="34" charset="-120"/>
                <a:ea typeface="微軟正黑體" panose="020B0604030504040204" pitchFamily="34" charset="-120"/>
              </a:rPr>
              <a:t>擁有越多加密貨幣（權益）的鍛工越容易拿到當前區塊的寫入權（挖到礦）</a:t>
            </a:r>
            <a:endParaRPr lang="en-US" altLang="zh-TW" sz="2400" b="1" dirty="0">
              <a:solidFill>
                <a:schemeClr val="tx1">
                  <a:lumMod val="75000"/>
                  <a:lumOff val="25000"/>
                </a:schemeClr>
              </a:solidFill>
              <a:latin typeface="微軟正黑體" panose="020B0604030504040204" pitchFamily="34" charset="-120"/>
              <a:ea typeface="微軟正黑體" panose="020B0604030504040204" pitchFamily="34" charset="-120"/>
            </a:endParaRPr>
          </a:p>
          <a:p>
            <a:pPr marL="800100" lvl="1" indent="-342900">
              <a:lnSpc>
                <a:spcPct val="150000"/>
              </a:lnSpc>
              <a:buSzPct val="100000"/>
              <a:buBlip>
                <a:blip r:embed="rId3"/>
              </a:buBlip>
            </a:pPr>
            <a:endParaRPr lang="en-US" altLang="zh-TW" sz="800" b="1" dirty="0">
              <a:solidFill>
                <a:schemeClr val="tx1">
                  <a:lumMod val="75000"/>
                  <a:lumOff val="25000"/>
                </a:schemeClr>
              </a:solidFill>
              <a:latin typeface="微軟正黑體" panose="020B0604030504040204" pitchFamily="34" charset="-120"/>
              <a:ea typeface="微軟正黑體" panose="020B0604030504040204" pitchFamily="34" charset="-120"/>
            </a:endParaRPr>
          </a:p>
          <a:p>
            <a:pPr marL="800100" lvl="1" indent="-342900">
              <a:lnSpc>
                <a:spcPct val="150000"/>
              </a:lnSpc>
              <a:buSzPct val="100000"/>
              <a:buBlip>
                <a:blip r:embed="rId3"/>
              </a:buBlip>
            </a:pPr>
            <a:r>
              <a:rPr lang="en-US" altLang="zh-TW" sz="2400" b="1" dirty="0">
                <a:solidFill>
                  <a:schemeClr val="tx1">
                    <a:lumMod val="75000"/>
                    <a:lumOff val="25000"/>
                  </a:schemeClr>
                </a:solidFill>
                <a:latin typeface="微軟正黑體" panose="020B0604030504040204" pitchFamily="34" charset="-120"/>
                <a:ea typeface="微軟正黑體" panose="020B0604030504040204" pitchFamily="34" charset="-120"/>
              </a:rPr>
              <a:t>POS </a:t>
            </a:r>
            <a:r>
              <a:rPr lang="zh-TW" altLang="en-US" sz="2400" b="1" dirty="0">
                <a:solidFill>
                  <a:schemeClr val="tx1">
                    <a:lumMod val="75000"/>
                    <a:lumOff val="25000"/>
                  </a:schemeClr>
                </a:solidFill>
                <a:latin typeface="微軟正黑體" panose="020B0604030504040204" pitchFamily="34" charset="-120"/>
                <a:ea typeface="微軟正黑體" panose="020B0604030504040204" pitchFamily="34" charset="-120"/>
              </a:rPr>
              <a:t>選出當前區塊的寫入者之方法有二種：</a:t>
            </a:r>
          </a:p>
          <a:p>
            <a:pPr marL="1371600" lvl="2" indent="-457200">
              <a:lnSpc>
                <a:spcPct val="150000"/>
              </a:lnSpc>
              <a:buSzPct val="100000"/>
              <a:buFont typeface="+mj-lt"/>
              <a:buAutoNum type="arabicParenR"/>
            </a:pPr>
            <a:r>
              <a:rPr lang="zh-TW" altLang="en-US" sz="2400" b="1" dirty="0">
                <a:solidFill>
                  <a:schemeClr val="tx1">
                    <a:lumMod val="75000"/>
                    <a:lumOff val="25000"/>
                  </a:schemeClr>
                </a:solidFill>
                <a:latin typeface="微軟正黑體" panose="020B0604030504040204" pitchFamily="34" charset="-120"/>
                <a:ea typeface="微軟正黑體" panose="020B0604030504040204" pitchFamily="34" charset="-120"/>
              </a:rPr>
              <a:t>亂數化選擇法</a:t>
            </a:r>
          </a:p>
          <a:p>
            <a:pPr marL="1371600" lvl="2" indent="-457200">
              <a:lnSpc>
                <a:spcPct val="150000"/>
              </a:lnSpc>
              <a:buSzPct val="100000"/>
              <a:buFont typeface="+mj-lt"/>
              <a:buAutoNum type="arabicParenR"/>
            </a:pPr>
            <a:r>
              <a:rPr lang="zh-TW" altLang="en-US" sz="2400" b="1" dirty="0">
                <a:solidFill>
                  <a:schemeClr val="tx1">
                    <a:lumMod val="75000"/>
                    <a:lumOff val="25000"/>
                  </a:schemeClr>
                </a:solidFill>
                <a:latin typeface="微軟正黑體" panose="020B0604030504040204" pitchFamily="34" charset="-120"/>
                <a:ea typeface="微軟正黑體" panose="020B0604030504040204" pitchFamily="34" charset="-120"/>
              </a:rPr>
              <a:t>貨幣年齡選擇法</a:t>
            </a:r>
          </a:p>
        </p:txBody>
      </p:sp>
      <p:cxnSp>
        <p:nvCxnSpPr>
          <p:cNvPr id="12" name="直接连接符 33">
            <a:extLst>
              <a:ext uri="{FF2B5EF4-FFF2-40B4-BE49-F238E27FC236}">
                <a16:creationId xmlns:a16="http://schemas.microsoft.com/office/drawing/2014/main" id="{A65F0293-9BDE-4674-B7FB-55F0FABF02CF}"/>
              </a:ext>
            </a:extLst>
          </p:cNvPr>
          <p:cNvCxnSpPr/>
          <p:nvPr/>
        </p:nvCxnSpPr>
        <p:spPr>
          <a:xfrm>
            <a:off x="1177167" y="1046746"/>
            <a:ext cx="10585176" cy="0"/>
          </a:xfrm>
          <a:prstGeom prst="line">
            <a:avLst/>
          </a:prstGeom>
          <a:ln w="190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pic>
        <p:nvPicPr>
          <p:cNvPr id="11" name="圖片 10">
            <a:extLst>
              <a:ext uri="{FF2B5EF4-FFF2-40B4-BE49-F238E27FC236}">
                <a16:creationId xmlns:a16="http://schemas.microsoft.com/office/drawing/2014/main" id="{94693B91-5162-4D86-B542-A1857ACE05F5}"/>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452316" y="4494824"/>
            <a:ext cx="2363176" cy="2363176"/>
          </a:xfrm>
          <a:prstGeom prst="rect">
            <a:avLst/>
          </a:prstGeom>
        </p:spPr>
      </p:pic>
    </p:spTree>
    <p:extLst>
      <p:ext uri="{BB962C8B-B14F-4D97-AF65-F5344CB8AC3E}">
        <p14:creationId xmlns:p14="http://schemas.microsoft.com/office/powerpoint/2010/main" val="3694551613"/>
      </p:ext>
    </p:extLst>
  </p:cSld>
  <p:clrMapOvr>
    <a:masterClrMapping/>
  </p:clrMapOvr>
  <mc:AlternateContent xmlns:mc="http://schemas.openxmlformats.org/markup-compatibility/2006">
    <mc:Choice xmlns:p14="http://schemas.microsoft.com/office/powerpoint/2010/main" Requires="p14">
      <p:transition spd="slow" p14:dur="1500">
        <p:split orient="vert"/>
      </p:transition>
    </mc:Choice>
    <mc:Fallback>
      <p:transition spd="slow">
        <p:split orient="vert"/>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6" presetClass="entr" presetSubtype="16" fill="hold" grpId="0" nodeType="after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circle(in)">
                                      <p:cBhvr>
                                        <p:cTn id="7" dur="2000"/>
                                        <p:tgtEl>
                                          <p:spTgt spid="9"/>
                                        </p:tgtEl>
                                      </p:cBhvr>
                                    </p:animEffect>
                                  </p:childTnLst>
                                </p:cTn>
                              </p:par>
                            </p:childTnLst>
                          </p:cTn>
                        </p:par>
                        <p:par>
                          <p:cTn id="8" fill="hold">
                            <p:stCondLst>
                              <p:cond delay="2000"/>
                            </p:stCondLst>
                            <p:childTnLst>
                              <p:par>
                                <p:cTn id="9" presetID="14" presetClass="entr" presetSubtype="10" fill="hold" grpId="0" nodeType="afterEffect">
                                  <p:stCondLst>
                                    <p:cond delay="0"/>
                                  </p:stCondLst>
                                  <p:childTnLst>
                                    <p:set>
                                      <p:cBhvr>
                                        <p:cTn id="10" dur="1" fill="hold">
                                          <p:stCondLst>
                                            <p:cond delay="0"/>
                                          </p:stCondLst>
                                        </p:cTn>
                                        <p:tgtEl>
                                          <p:spTgt spid="10"/>
                                        </p:tgtEl>
                                        <p:attrNameLst>
                                          <p:attrName>style.visibility</p:attrName>
                                        </p:attrNameLst>
                                      </p:cBhvr>
                                      <p:to>
                                        <p:strVal val="visible"/>
                                      </p:to>
                                    </p:set>
                                    <p:animEffect transition="in" filter="randombar(horizontal)">
                                      <p:cBhvr>
                                        <p:cTn id="11" dur="500"/>
                                        <p:tgtEl>
                                          <p:spTgt spid="10"/>
                                        </p:tgtEl>
                                      </p:cBhvr>
                                    </p:animEffect>
                                  </p:childTnLst>
                                </p:cTn>
                              </p:par>
                            </p:childTnLst>
                          </p:cTn>
                        </p:par>
                        <p:par>
                          <p:cTn id="12" fill="hold">
                            <p:stCondLst>
                              <p:cond delay="2500"/>
                            </p:stCondLst>
                            <p:childTnLst>
                              <p:par>
                                <p:cTn id="13" presetID="2" presetClass="entr" presetSubtype="8" fill="hold" nodeType="afterEffect">
                                  <p:stCondLst>
                                    <p:cond delay="0"/>
                                  </p:stCondLst>
                                  <p:childTnLst>
                                    <p:set>
                                      <p:cBhvr>
                                        <p:cTn id="14" dur="1" fill="hold">
                                          <p:stCondLst>
                                            <p:cond delay="0"/>
                                          </p:stCondLst>
                                        </p:cTn>
                                        <p:tgtEl>
                                          <p:spTgt spid="12"/>
                                        </p:tgtEl>
                                        <p:attrNameLst>
                                          <p:attrName>style.visibility</p:attrName>
                                        </p:attrNameLst>
                                      </p:cBhvr>
                                      <p:to>
                                        <p:strVal val="visible"/>
                                      </p:to>
                                    </p:set>
                                    <p:anim calcmode="lin" valueType="num">
                                      <p:cBhvr additive="base">
                                        <p:cTn id="15" dur="500" fill="hold"/>
                                        <p:tgtEl>
                                          <p:spTgt spid="12"/>
                                        </p:tgtEl>
                                        <p:attrNameLst>
                                          <p:attrName>ppt_x</p:attrName>
                                        </p:attrNameLst>
                                      </p:cBhvr>
                                      <p:tavLst>
                                        <p:tav tm="0">
                                          <p:val>
                                            <p:strVal val="0-#ppt_w/2"/>
                                          </p:val>
                                        </p:tav>
                                        <p:tav tm="100000">
                                          <p:val>
                                            <p:strVal val="#ppt_x"/>
                                          </p:val>
                                        </p:tav>
                                      </p:tavLst>
                                    </p:anim>
                                    <p:anim calcmode="lin" valueType="num">
                                      <p:cBhvr additive="base">
                                        <p:cTn id="16" dur="500" fill="hold"/>
                                        <p:tgtEl>
                                          <p:spTgt spid="12"/>
                                        </p:tgtEl>
                                        <p:attrNameLst>
                                          <p:attrName>ppt_y</p:attrName>
                                        </p:attrNameLst>
                                      </p:cBhvr>
                                      <p:tavLst>
                                        <p:tav tm="0">
                                          <p:val>
                                            <p:strVal val="#ppt_y"/>
                                          </p:val>
                                        </p:tav>
                                        <p:tav tm="100000">
                                          <p:val>
                                            <p:strVal val="#ppt_y"/>
                                          </p:val>
                                        </p:tav>
                                      </p:tavLst>
                                    </p:anim>
                                  </p:childTnLst>
                                </p:cTn>
                              </p:par>
                            </p:childTnLst>
                          </p:cTn>
                        </p:par>
                        <p:par>
                          <p:cTn id="17" fill="hold">
                            <p:stCondLst>
                              <p:cond delay="3000"/>
                            </p:stCondLst>
                            <p:childTnLst>
                              <p:par>
                                <p:cTn id="18" presetID="16" presetClass="entr" presetSubtype="21" fill="hold" grpId="0" nodeType="afterEffect">
                                  <p:stCondLst>
                                    <p:cond delay="0"/>
                                  </p:stCondLst>
                                  <p:childTnLst>
                                    <p:set>
                                      <p:cBhvr>
                                        <p:cTn id="19" dur="1" fill="hold">
                                          <p:stCondLst>
                                            <p:cond delay="0"/>
                                          </p:stCondLst>
                                        </p:cTn>
                                        <p:tgtEl>
                                          <p:spTgt spid="2"/>
                                        </p:tgtEl>
                                        <p:attrNameLst>
                                          <p:attrName>style.visibility</p:attrName>
                                        </p:attrNameLst>
                                      </p:cBhvr>
                                      <p:to>
                                        <p:strVal val="visible"/>
                                      </p:to>
                                    </p:set>
                                    <p:animEffect transition="in" filter="barn(inVertical)">
                                      <p:cBhvr>
                                        <p:cTn id="20" dur="500"/>
                                        <p:tgtEl>
                                          <p:spTgt spid="2"/>
                                        </p:tgtEl>
                                      </p:cBhvr>
                                    </p:animEffect>
                                  </p:childTnLst>
                                </p:cTn>
                              </p:par>
                            </p:childTnLst>
                          </p:cTn>
                        </p:par>
                        <p:par>
                          <p:cTn id="21" fill="hold">
                            <p:stCondLst>
                              <p:cond delay="3500"/>
                            </p:stCondLst>
                            <p:childTnLst>
                              <p:par>
                                <p:cTn id="22" presetID="42" presetClass="entr" presetSubtype="0" fill="hold" nodeType="afterEffect">
                                  <p:stCondLst>
                                    <p:cond delay="0"/>
                                  </p:stCondLst>
                                  <p:childTnLst>
                                    <p:set>
                                      <p:cBhvr>
                                        <p:cTn id="23" dur="1" fill="hold">
                                          <p:stCondLst>
                                            <p:cond delay="0"/>
                                          </p:stCondLst>
                                        </p:cTn>
                                        <p:tgtEl>
                                          <p:spTgt spid="11"/>
                                        </p:tgtEl>
                                        <p:attrNameLst>
                                          <p:attrName>style.visibility</p:attrName>
                                        </p:attrNameLst>
                                      </p:cBhvr>
                                      <p:to>
                                        <p:strVal val="visible"/>
                                      </p:to>
                                    </p:set>
                                    <p:animEffect transition="in" filter="fade">
                                      <p:cBhvr>
                                        <p:cTn id="24" dur="1000"/>
                                        <p:tgtEl>
                                          <p:spTgt spid="11"/>
                                        </p:tgtEl>
                                      </p:cBhvr>
                                    </p:animEffect>
                                    <p:anim calcmode="lin" valueType="num">
                                      <p:cBhvr>
                                        <p:cTn id="25" dur="1000" fill="hold"/>
                                        <p:tgtEl>
                                          <p:spTgt spid="11"/>
                                        </p:tgtEl>
                                        <p:attrNameLst>
                                          <p:attrName>ppt_x</p:attrName>
                                        </p:attrNameLst>
                                      </p:cBhvr>
                                      <p:tavLst>
                                        <p:tav tm="0">
                                          <p:val>
                                            <p:strVal val="#ppt_x"/>
                                          </p:val>
                                        </p:tav>
                                        <p:tav tm="100000">
                                          <p:val>
                                            <p:strVal val="#ppt_x"/>
                                          </p:val>
                                        </p:tav>
                                      </p:tavLst>
                                    </p:anim>
                                    <p:anim calcmode="lin" valueType="num">
                                      <p:cBhvr>
                                        <p:cTn id="26" dur="1000" fill="hold"/>
                                        <p:tgtEl>
                                          <p:spTgt spid="11"/>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0" grpId="0"/>
      <p:bldP spid="2"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图片 42">
            <a:extLst>
              <a:ext uri="{FF2B5EF4-FFF2-40B4-BE49-F238E27FC236}">
                <a16:creationId xmlns:a16="http://schemas.microsoft.com/office/drawing/2014/main" id="{C8D97DA4-6242-4E73-AEFC-457D04FDC65B}"/>
              </a:ext>
            </a:extLst>
          </p:cNvPr>
          <p:cNvPicPr>
            <a:picLocks noChangeAspect="1"/>
          </p:cNvPicPr>
          <p:nvPr/>
        </p:nvPicPr>
        <p:blipFill>
          <a:blip r:embed="rId2"/>
          <a:stretch>
            <a:fillRect/>
          </a:stretch>
        </p:blipFill>
        <p:spPr>
          <a:xfrm rot="16200000">
            <a:off x="145169" y="-145167"/>
            <a:ext cx="1268414" cy="1558750"/>
          </a:xfrm>
          <a:prstGeom prst="rect">
            <a:avLst/>
          </a:prstGeom>
        </p:spPr>
      </p:pic>
      <p:sp>
        <p:nvSpPr>
          <p:cNvPr id="6" name="文字方塊 5">
            <a:extLst>
              <a:ext uri="{FF2B5EF4-FFF2-40B4-BE49-F238E27FC236}">
                <a16:creationId xmlns:a16="http://schemas.microsoft.com/office/drawing/2014/main" id="{8A30B01A-3198-4955-A208-0E3D9EB60397}"/>
              </a:ext>
            </a:extLst>
          </p:cNvPr>
          <p:cNvSpPr txBox="1"/>
          <p:nvPr/>
        </p:nvSpPr>
        <p:spPr>
          <a:xfrm>
            <a:off x="1558751" y="6596390"/>
            <a:ext cx="4217821" cy="261610"/>
          </a:xfrm>
          <a:prstGeom prst="rect">
            <a:avLst/>
          </a:prstGeom>
          <a:noFill/>
        </p:spPr>
        <p:txBody>
          <a:bodyPr wrap="none" rtlCol="0">
            <a:spAutoFit/>
          </a:bodyPr>
          <a:lstStyle/>
          <a:p>
            <a:r>
              <a:rPr lang="zh-TW" altLang="en-US" sz="1100" dirty="0">
                <a:latin typeface="Microsoft JhengHei Light" panose="020B0304030504040204" pitchFamily="34" charset="-120"/>
                <a:ea typeface="Microsoft JhengHei Light" panose="020B0304030504040204" pitchFamily="34" charset="-120"/>
              </a:rPr>
              <a:t>區塊鏈商業應用概論 實例與分析／新陸書局股份有限公司 發行</a:t>
            </a:r>
          </a:p>
        </p:txBody>
      </p:sp>
      <p:sp>
        <p:nvSpPr>
          <p:cNvPr id="9" name="標題 1">
            <a:extLst>
              <a:ext uri="{FF2B5EF4-FFF2-40B4-BE49-F238E27FC236}">
                <a16:creationId xmlns:a16="http://schemas.microsoft.com/office/drawing/2014/main" id="{475DFFF1-7C37-4CBE-ACFC-3F348BCD20CC}"/>
              </a:ext>
            </a:extLst>
          </p:cNvPr>
          <p:cNvSpPr txBox="1">
            <a:spLocks/>
          </p:cNvSpPr>
          <p:nvPr/>
        </p:nvSpPr>
        <p:spPr>
          <a:xfrm>
            <a:off x="1231956" y="393820"/>
            <a:ext cx="3643527" cy="874595"/>
          </a:xfrm>
          <a:prstGeom prst="rect">
            <a:avLst/>
          </a:prstGeom>
        </p:spPr>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altLang="zh-TW" sz="2400" b="1" dirty="0">
                <a:solidFill>
                  <a:srgbClr val="E06741"/>
                </a:solidFill>
              </a:rPr>
              <a:t>2-2 </a:t>
            </a:r>
            <a:r>
              <a:rPr lang="zh-TW" altLang="en-US" sz="2400" b="1" dirty="0">
                <a:solidFill>
                  <a:srgbClr val="E06741"/>
                </a:solidFill>
              </a:rPr>
              <a:t>區塊鏈技術發展</a:t>
            </a:r>
          </a:p>
          <a:p>
            <a:endParaRPr lang="zh-TW" altLang="en-US" sz="2400" dirty="0">
              <a:solidFill>
                <a:srgbClr val="E06741"/>
              </a:solidFill>
              <a:latin typeface="標楷體" panose="03000509000000000000" pitchFamily="65" charset="-120"/>
              <a:ea typeface="標楷體" panose="03000509000000000000" pitchFamily="65" charset="-120"/>
              <a:cs typeface="Times New Roman" panose="02020603050405020304" pitchFamily="18" charset="0"/>
            </a:endParaRPr>
          </a:p>
        </p:txBody>
      </p:sp>
      <p:sp>
        <p:nvSpPr>
          <p:cNvPr id="10" name="文字方塊 9">
            <a:extLst>
              <a:ext uri="{FF2B5EF4-FFF2-40B4-BE49-F238E27FC236}">
                <a16:creationId xmlns:a16="http://schemas.microsoft.com/office/drawing/2014/main" id="{198702E0-29BF-45ED-BB34-E70A3CAA9F43}"/>
              </a:ext>
            </a:extLst>
          </p:cNvPr>
          <p:cNvSpPr txBox="1"/>
          <p:nvPr/>
        </p:nvSpPr>
        <p:spPr>
          <a:xfrm>
            <a:off x="4487241" y="449166"/>
            <a:ext cx="2930610" cy="400110"/>
          </a:xfrm>
          <a:prstGeom prst="rect">
            <a:avLst/>
          </a:prstGeom>
          <a:noFill/>
        </p:spPr>
        <p:txBody>
          <a:bodyPr wrap="none" rtlCol="0">
            <a:spAutoFit/>
          </a:bodyPr>
          <a:lstStyle/>
          <a:p>
            <a:r>
              <a:rPr lang="en-US" altLang="zh-TW" sz="2000" b="1" dirty="0">
                <a:solidFill>
                  <a:schemeClr val="tx1">
                    <a:lumMod val="65000"/>
                    <a:lumOff val="35000"/>
                  </a:schemeClr>
                </a:solidFill>
                <a:latin typeface="微軟正黑體" panose="020B0604030504040204" pitchFamily="34" charset="-120"/>
                <a:ea typeface="微軟正黑體" panose="020B0604030504040204" pitchFamily="34" charset="-120"/>
                <a:cs typeface="Times New Roman" panose="02020603050405020304" pitchFamily="18" charset="0"/>
              </a:rPr>
              <a:t>-1 </a:t>
            </a:r>
            <a:r>
              <a:rPr lang="zh-TW" altLang="en-US" sz="2000" b="1" dirty="0">
                <a:solidFill>
                  <a:schemeClr val="tx1">
                    <a:lumMod val="65000"/>
                    <a:lumOff val="35000"/>
                  </a:schemeClr>
                </a:solidFill>
                <a:latin typeface="微軟正黑體" panose="020B0604030504040204" pitchFamily="34" charset="-120"/>
                <a:ea typeface="微軟正黑體" panose="020B0604030504040204" pitchFamily="34" charset="-120"/>
                <a:cs typeface="Times New Roman" panose="02020603050405020304" pitchFamily="18" charset="0"/>
              </a:rPr>
              <a:t>區塊鏈技術核心元件</a:t>
            </a:r>
          </a:p>
        </p:txBody>
      </p:sp>
      <p:sp>
        <p:nvSpPr>
          <p:cNvPr id="2" name="文字方塊 1">
            <a:extLst>
              <a:ext uri="{FF2B5EF4-FFF2-40B4-BE49-F238E27FC236}">
                <a16:creationId xmlns:a16="http://schemas.microsoft.com/office/drawing/2014/main" id="{D6D66D7E-58A1-40BE-8070-FA1C3AF22B14}"/>
              </a:ext>
            </a:extLst>
          </p:cNvPr>
          <p:cNvSpPr txBox="1"/>
          <p:nvPr/>
        </p:nvSpPr>
        <p:spPr>
          <a:xfrm>
            <a:off x="1315083" y="1052683"/>
            <a:ext cx="10042751" cy="5616281"/>
          </a:xfrm>
          <a:prstGeom prst="rect">
            <a:avLst/>
          </a:prstGeom>
          <a:noFill/>
        </p:spPr>
        <p:txBody>
          <a:bodyPr wrap="square" rtlCol="0">
            <a:spAutoFit/>
          </a:bodyPr>
          <a:lstStyle/>
          <a:p>
            <a:pPr marL="342900" indent="-342900">
              <a:lnSpc>
                <a:spcPct val="150000"/>
              </a:lnSpc>
              <a:buSzPct val="100000"/>
              <a:buBlip>
                <a:blip r:embed="rId3"/>
              </a:buBlip>
            </a:pPr>
            <a:r>
              <a:rPr lang="en-US" altLang="zh-TW" sz="2200" b="1" dirty="0">
                <a:solidFill>
                  <a:srgbClr val="C00000"/>
                </a:solidFill>
                <a:latin typeface="微軟正黑體" panose="020B0604030504040204" pitchFamily="34" charset="-120"/>
                <a:ea typeface="微軟正黑體" panose="020B0604030504040204" pitchFamily="34" charset="-120"/>
              </a:rPr>
              <a:t>POS </a:t>
            </a:r>
            <a:r>
              <a:rPr lang="zh-TW" altLang="en-US" sz="2200" b="1" dirty="0">
                <a:solidFill>
                  <a:srgbClr val="C00000"/>
                </a:solidFill>
                <a:latin typeface="微軟正黑體" panose="020B0604030504040204" pitchFamily="34" charset="-120"/>
                <a:ea typeface="微軟正黑體" panose="020B0604030504040204" pitchFamily="34" charset="-120"/>
              </a:rPr>
              <a:t>的優點：</a:t>
            </a:r>
          </a:p>
          <a:p>
            <a:pPr marL="914400" lvl="1" indent="-457200">
              <a:lnSpc>
                <a:spcPct val="150000"/>
              </a:lnSpc>
              <a:buSzPct val="100000"/>
              <a:buFont typeface="+mj-lt"/>
              <a:buAutoNum type="arabicParenR"/>
            </a:pPr>
            <a:r>
              <a:rPr lang="zh-TW" altLang="en-US" sz="2200" b="1" dirty="0">
                <a:solidFill>
                  <a:schemeClr val="tx1">
                    <a:lumMod val="75000"/>
                    <a:lumOff val="25000"/>
                  </a:schemeClr>
                </a:solidFill>
                <a:latin typeface="微軟正黑體" panose="020B0604030504040204" pitchFamily="34" charset="-120"/>
                <a:ea typeface="微軟正黑體" panose="020B0604030504040204" pitchFamily="34" charset="-120"/>
              </a:rPr>
              <a:t>不須競爭算力，因此耗能低</a:t>
            </a:r>
          </a:p>
          <a:p>
            <a:pPr marL="914400" lvl="1" indent="-457200">
              <a:lnSpc>
                <a:spcPct val="150000"/>
              </a:lnSpc>
              <a:buSzPct val="100000"/>
              <a:buFont typeface="+mj-lt"/>
              <a:buAutoNum type="arabicParenR"/>
            </a:pPr>
            <a:r>
              <a:rPr lang="zh-TW" altLang="en-US" sz="2200" b="1" dirty="0">
                <a:solidFill>
                  <a:schemeClr val="tx1">
                    <a:lumMod val="75000"/>
                    <a:lumOff val="25000"/>
                  </a:schemeClr>
                </a:solidFill>
                <a:latin typeface="微軟正黑體" panose="020B0604030504040204" pitchFamily="34" charset="-120"/>
                <a:ea typeface="微軟正黑體" panose="020B0604030504040204" pitchFamily="34" charset="-120"/>
              </a:rPr>
              <a:t>競爭寫入權的成員必定擁有貨幣，因此會守護系統，以避免幣值蒸發</a:t>
            </a:r>
          </a:p>
          <a:p>
            <a:pPr marL="914400" lvl="1" indent="-457200">
              <a:lnSpc>
                <a:spcPct val="150000"/>
              </a:lnSpc>
              <a:buSzPct val="100000"/>
              <a:buFont typeface="+mj-lt"/>
              <a:buAutoNum type="arabicParenR"/>
            </a:pPr>
            <a:r>
              <a:rPr lang="zh-TW" altLang="en-US" sz="2200" b="1" dirty="0">
                <a:solidFill>
                  <a:schemeClr val="tx1">
                    <a:lumMod val="75000"/>
                    <a:lumOff val="25000"/>
                  </a:schemeClr>
                </a:solidFill>
                <a:latin typeface="微軟正黑體" panose="020B0604030504040204" pitchFamily="34" charset="-120"/>
                <a:ea typeface="微軟正黑體" panose="020B0604030504040204" pitchFamily="34" charset="-120"/>
              </a:rPr>
              <a:t>相較於</a:t>
            </a:r>
            <a:r>
              <a:rPr lang="en-US" altLang="zh-TW" sz="2200" b="1" dirty="0">
                <a:solidFill>
                  <a:schemeClr val="tx1">
                    <a:lumMod val="75000"/>
                    <a:lumOff val="25000"/>
                  </a:schemeClr>
                </a:solidFill>
                <a:latin typeface="微軟正黑體" panose="020B0604030504040204" pitchFamily="34" charset="-120"/>
                <a:ea typeface="微軟正黑體" panose="020B0604030504040204" pitchFamily="34" charset="-120"/>
              </a:rPr>
              <a:t>POW</a:t>
            </a:r>
            <a:r>
              <a:rPr lang="zh-TW" altLang="en-US" sz="2200" b="1" dirty="0">
                <a:solidFill>
                  <a:schemeClr val="tx1">
                    <a:lumMod val="75000"/>
                    <a:lumOff val="25000"/>
                  </a:schemeClr>
                </a:solidFill>
                <a:latin typeface="微軟正黑體" panose="020B0604030504040204" pitchFamily="34" charset="-120"/>
                <a:ea typeface="微軟正黑體" panose="020B0604030504040204" pitchFamily="34" charset="-120"/>
              </a:rPr>
              <a:t>，同樣規模的硬體預算，可保護更多的區塊鏈上資產</a:t>
            </a:r>
            <a:endParaRPr lang="en-US" altLang="zh-TW" sz="2200" b="1" dirty="0">
              <a:solidFill>
                <a:schemeClr val="tx1">
                  <a:lumMod val="75000"/>
                  <a:lumOff val="25000"/>
                </a:schemeClr>
              </a:solidFill>
              <a:latin typeface="微軟正黑體" panose="020B0604030504040204" pitchFamily="34" charset="-120"/>
              <a:ea typeface="微軟正黑體" panose="020B0604030504040204" pitchFamily="34" charset="-120"/>
            </a:endParaRPr>
          </a:p>
          <a:p>
            <a:pPr marL="457200" indent="-457200">
              <a:lnSpc>
                <a:spcPct val="150000"/>
              </a:lnSpc>
              <a:buSzPct val="100000"/>
              <a:buBlip>
                <a:blip r:embed="rId3"/>
              </a:buBlip>
            </a:pPr>
            <a:r>
              <a:rPr lang="en-US" altLang="zh-TW" sz="2200" b="1" dirty="0">
                <a:solidFill>
                  <a:srgbClr val="C00000"/>
                </a:solidFill>
                <a:latin typeface="微軟正黑體" panose="020B0604030504040204" pitchFamily="34" charset="-120"/>
                <a:ea typeface="微軟正黑體" panose="020B0604030504040204" pitchFamily="34" charset="-120"/>
              </a:rPr>
              <a:t>POS </a:t>
            </a:r>
            <a:r>
              <a:rPr lang="zh-TW" altLang="en-US" sz="2200" b="1" dirty="0">
                <a:solidFill>
                  <a:srgbClr val="C00000"/>
                </a:solidFill>
                <a:latin typeface="微軟正黑體" panose="020B0604030504040204" pitchFamily="34" charset="-120"/>
                <a:ea typeface="微軟正黑體" panose="020B0604030504040204" pitchFamily="34" charset="-120"/>
              </a:rPr>
              <a:t>的缺點：</a:t>
            </a:r>
          </a:p>
          <a:p>
            <a:pPr marL="914400" lvl="1" indent="-457200">
              <a:lnSpc>
                <a:spcPct val="150000"/>
              </a:lnSpc>
              <a:buSzPct val="100000"/>
              <a:buFont typeface="+mj-lt"/>
              <a:buAutoNum type="arabicParenR"/>
            </a:pPr>
            <a:r>
              <a:rPr lang="zh-TW" altLang="en-US" sz="2200" b="1" dirty="0">
                <a:solidFill>
                  <a:schemeClr val="tx1">
                    <a:lumMod val="75000"/>
                    <a:lumOff val="25000"/>
                  </a:schemeClr>
                </a:solidFill>
                <a:latin typeface="微軟正黑體" panose="020B0604030504040204" pitchFamily="34" charset="-120"/>
                <a:ea typeface="微軟正黑體" panose="020B0604030504040204" pitchFamily="34" charset="-120"/>
              </a:rPr>
              <a:t>擁有權益的成員不一定希望參與記帳</a:t>
            </a:r>
          </a:p>
          <a:p>
            <a:pPr marL="914400" lvl="1" indent="-457200">
              <a:lnSpc>
                <a:spcPct val="150000"/>
              </a:lnSpc>
              <a:buSzPct val="100000"/>
              <a:buFont typeface="+mj-lt"/>
              <a:buAutoNum type="arabicParenR"/>
            </a:pPr>
            <a:r>
              <a:rPr lang="zh-TW" altLang="en-US" sz="2200" b="1" dirty="0">
                <a:solidFill>
                  <a:schemeClr val="tx1">
                    <a:lumMod val="75000"/>
                    <a:lumOff val="25000"/>
                  </a:schemeClr>
                </a:solidFill>
                <a:latin typeface="微軟正黑體" panose="020B0604030504040204" pitchFamily="34" charset="-120"/>
                <a:ea typeface="微軟正黑體" panose="020B0604030504040204" pitchFamily="34" charset="-120"/>
              </a:rPr>
              <a:t>拿到寫入權者若想改寫出另一條假鏈，僅需花費很小的算力，即可導致</a:t>
            </a:r>
            <a:r>
              <a:rPr lang="en-US" altLang="zh-TW" sz="2200" b="1" dirty="0">
                <a:solidFill>
                  <a:schemeClr val="tx1">
                    <a:lumMod val="75000"/>
                    <a:lumOff val="25000"/>
                  </a:schemeClr>
                </a:solidFill>
                <a:latin typeface="微軟正黑體" panose="020B0604030504040204" pitchFamily="34" charset="-120"/>
                <a:ea typeface="微軟正黑體" panose="020B0604030504040204" pitchFamily="34" charset="-120"/>
              </a:rPr>
              <a:t>double spending </a:t>
            </a:r>
            <a:r>
              <a:rPr lang="zh-TW" altLang="en-US" sz="2200" b="1" dirty="0">
                <a:solidFill>
                  <a:schemeClr val="tx1">
                    <a:lumMod val="75000"/>
                    <a:lumOff val="25000"/>
                  </a:schemeClr>
                </a:solidFill>
                <a:latin typeface="微軟正黑體" panose="020B0604030504040204" pitchFamily="34" charset="-120"/>
                <a:ea typeface="微軟正黑體" panose="020B0604030504040204" pitchFamily="34" charset="-120"/>
              </a:rPr>
              <a:t>攻擊成功</a:t>
            </a:r>
          </a:p>
          <a:p>
            <a:pPr marL="914400" lvl="1" indent="-457200">
              <a:lnSpc>
                <a:spcPct val="150000"/>
              </a:lnSpc>
              <a:buSzPct val="100000"/>
              <a:buFont typeface="+mj-lt"/>
              <a:buAutoNum type="arabicParenR"/>
            </a:pPr>
            <a:r>
              <a:rPr lang="zh-TW" altLang="en-US" sz="2200" b="1" dirty="0">
                <a:solidFill>
                  <a:schemeClr val="tx1">
                    <a:lumMod val="75000"/>
                    <a:lumOff val="25000"/>
                  </a:schemeClr>
                </a:solidFill>
                <a:latin typeface="微軟正黑體" panose="020B0604030504040204" pitchFamily="34" charset="-120"/>
                <a:ea typeface="微軟正黑體" panose="020B0604030504040204" pitchFamily="34" charset="-120"/>
              </a:rPr>
              <a:t>沒有懲罰機制以抵制侵入之壞人</a:t>
            </a:r>
          </a:p>
          <a:p>
            <a:pPr marL="914400" lvl="1" indent="-457200">
              <a:lnSpc>
                <a:spcPct val="150000"/>
              </a:lnSpc>
              <a:buSzPct val="100000"/>
              <a:buFont typeface="+mj-lt"/>
              <a:buAutoNum type="arabicParenR"/>
            </a:pPr>
            <a:r>
              <a:rPr lang="zh-TW" altLang="en-US" sz="2200" b="1" dirty="0">
                <a:solidFill>
                  <a:schemeClr val="tx1">
                    <a:lumMod val="75000"/>
                    <a:lumOff val="25000"/>
                  </a:schemeClr>
                </a:solidFill>
                <a:latin typeface="微軟正黑體" panose="020B0604030504040204" pitchFamily="34" charset="-120"/>
                <a:ea typeface="微軟正黑體" panose="020B0604030504040204" pitchFamily="34" charset="-120"/>
              </a:rPr>
              <a:t>為防範犯罪者，應施行</a:t>
            </a:r>
            <a:r>
              <a:rPr lang="en-US" altLang="zh-TW" sz="2200" b="1" dirty="0">
                <a:solidFill>
                  <a:schemeClr val="tx1">
                    <a:lumMod val="75000"/>
                    <a:lumOff val="25000"/>
                  </a:schemeClr>
                </a:solidFill>
                <a:latin typeface="微軟正黑體" panose="020B0604030504040204" pitchFamily="34" charset="-120"/>
                <a:ea typeface="微軟正黑體" panose="020B0604030504040204" pitchFamily="34" charset="-120"/>
              </a:rPr>
              <a:t>POS </a:t>
            </a:r>
            <a:r>
              <a:rPr lang="zh-TW" altLang="en-US" sz="2200" b="1" dirty="0">
                <a:solidFill>
                  <a:schemeClr val="tx1">
                    <a:lumMod val="75000"/>
                    <a:lumOff val="25000"/>
                  </a:schemeClr>
                </a:solidFill>
                <a:latin typeface="微軟正黑體" panose="020B0604030504040204" pitchFamily="34" charset="-120"/>
                <a:ea typeface="微軟正黑體" panose="020B0604030504040204" pitchFamily="34" charset="-120"/>
              </a:rPr>
              <a:t>搭配其它機制來改善此種情況，也因此比起</a:t>
            </a:r>
            <a:r>
              <a:rPr lang="en-US" altLang="zh-TW" sz="2200" b="1" dirty="0">
                <a:solidFill>
                  <a:schemeClr val="tx1">
                    <a:lumMod val="75000"/>
                    <a:lumOff val="25000"/>
                  </a:schemeClr>
                </a:solidFill>
                <a:latin typeface="微軟正黑體" panose="020B0604030504040204" pitchFamily="34" charset="-120"/>
                <a:ea typeface="微軟正黑體" panose="020B0604030504040204" pitchFamily="34" charset="-120"/>
              </a:rPr>
              <a:t>POW </a:t>
            </a:r>
            <a:r>
              <a:rPr lang="zh-TW" altLang="en-US" sz="2200" b="1" dirty="0">
                <a:solidFill>
                  <a:schemeClr val="tx1">
                    <a:lumMod val="75000"/>
                    <a:lumOff val="25000"/>
                  </a:schemeClr>
                </a:solidFill>
                <a:latin typeface="微軟正黑體" panose="020B0604030504040204" pitchFamily="34" charset="-120"/>
                <a:ea typeface="微軟正黑體" panose="020B0604030504040204" pitchFamily="34" charset="-120"/>
              </a:rPr>
              <a:t>較為複雜</a:t>
            </a:r>
            <a:endParaRPr lang="en-US" altLang="zh-TW" sz="2200" b="1" dirty="0">
              <a:solidFill>
                <a:schemeClr val="tx1">
                  <a:lumMod val="75000"/>
                  <a:lumOff val="25000"/>
                </a:schemeClr>
              </a:solidFill>
              <a:latin typeface="微軟正黑體" panose="020B0604030504040204" pitchFamily="34" charset="-120"/>
              <a:ea typeface="微軟正黑體" panose="020B0604030504040204" pitchFamily="34" charset="-120"/>
            </a:endParaRPr>
          </a:p>
        </p:txBody>
      </p:sp>
      <p:cxnSp>
        <p:nvCxnSpPr>
          <p:cNvPr id="12" name="直接连接符 33">
            <a:extLst>
              <a:ext uri="{FF2B5EF4-FFF2-40B4-BE49-F238E27FC236}">
                <a16:creationId xmlns:a16="http://schemas.microsoft.com/office/drawing/2014/main" id="{A65F0293-9BDE-4674-B7FB-55F0FABF02CF}"/>
              </a:ext>
            </a:extLst>
          </p:cNvPr>
          <p:cNvCxnSpPr/>
          <p:nvPr/>
        </p:nvCxnSpPr>
        <p:spPr>
          <a:xfrm>
            <a:off x="1177167" y="1046746"/>
            <a:ext cx="10585176" cy="0"/>
          </a:xfrm>
          <a:prstGeom prst="line">
            <a:avLst/>
          </a:prstGeom>
          <a:ln w="190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516725802"/>
      </p:ext>
    </p:extLst>
  </p:cSld>
  <p:clrMapOvr>
    <a:masterClrMapping/>
  </p:clrMapOvr>
  <p:transition spd="slow">
    <p:randomBar dir="vert"/>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6" presetClass="entr" presetSubtype="16" fill="hold" grpId="0" nodeType="after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circle(in)">
                                      <p:cBhvr>
                                        <p:cTn id="7" dur="2000"/>
                                        <p:tgtEl>
                                          <p:spTgt spid="9"/>
                                        </p:tgtEl>
                                      </p:cBhvr>
                                    </p:animEffect>
                                  </p:childTnLst>
                                </p:cTn>
                              </p:par>
                            </p:childTnLst>
                          </p:cTn>
                        </p:par>
                        <p:par>
                          <p:cTn id="8" fill="hold">
                            <p:stCondLst>
                              <p:cond delay="2000"/>
                            </p:stCondLst>
                            <p:childTnLst>
                              <p:par>
                                <p:cTn id="9" presetID="14" presetClass="entr" presetSubtype="10" fill="hold" grpId="0" nodeType="afterEffect">
                                  <p:stCondLst>
                                    <p:cond delay="0"/>
                                  </p:stCondLst>
                                  <p:childTnLst>
                                    <p:set>
                                      <p:cBhvr>
                                        <p:cTn id="10" dur="1" fill="hold">
                                          <p:stCondLst>
                                            <p:cond delay="0"/>
                                          </p:stCondLst>
                                        </p:cTn>
                                        <p:tgtEl>
                                          <p:spTgt spid="10"/>
                                        </p:tgtEl>
                                        <p:attrNameLst>
                                          <p:attrName>style.visibility</p:attrName>
                                        </p:attrNameLst>
                                      </p:cBhvr>
                                      <p:to>
                                        <p:strVal val="visible"/>
                                      </p:to>
                                    </p:set>
                                    <p:animEffect transition="in" filter="randombar(horizontal)">
                                      <p:cBhvr>
                                        <p:cTn id="11" dur="500"/>
                                        <p:tgtEl>
                                          <p:spTgt spid="10"/>
                                        </p:tgtEl>
                                      </p:cBhvr>
                                    </p:animEffect>
                                  </p:childTnLst>
                                </p:cTn>
                              </p:par>
                            </p:childTnLst>
                          </p:cTn>
                        </p:par>
                        <p:par>
                          <p:cTn id="12" fill="hold">
                            <p:stCondLst>
                              <p:cond delay="2500"/>
                            </p:stCondLst>
                            <p:childTnLst>
                              <p:par>
                                <p:cTn id="13" presetID="2" presetClass="entr" presetSubtype="8" fill="hold" nodeType="afterEffect">
                                  <p:stCondLst>
                                    <p:cond delay="0"/>
                                  </p:stCondLst>
                                  <p:childTnLst>
                                    <p:set>
                                      <p:cBhvr>
                                        <p:cTn id="14" dur="1" fill="hold">
                                          <p:stCondLst>
                                            <p:cond delay="0"/>
                                          </p:stCondLst>
                                        </p:cTn>
                                        <p:tgtEl>
                                          <p:spTgt spid="12"/>
                                        </p:tgtEl>
                                        <p:attrNameLst>
                                          <p:attrName>style.visibility</p:attrName>
                                        </p:attrNameLst>
                                      </p:cBhvr>
                                      <p:to>
                                        <p:strVal val="visible"/>
                                      </p:to>
                                    </p:set>
                                    <p:anim calcmode="lin" valueType="num">
                                      <p:cBhvr additive="base">
                                        <p:cTn id="15" dur="500" fill="hold"/>
                                        <p:tgtEl>
                                          <p:spTgt spid="12"/>
                                        </p:tgtEl>
                                        <p:attrNameLst>
                                          <p:attrName>ppt_x</p:attrName>
                                        </p:attrNameLst>
                                      </p:cBhvr>
                                      <p:tavLst>
                                        <p:tav tm="0">
                                          <p:val>
                                            <p:strVal val="0-#ppt_w/2"/>
                                          </p:val>
                                        </p:tav>
                                        <p:tav tm="100000">
                                          <p:val>
                                            <p:strVal val="#ppt_x"/>
                                          </p:val>
                                        </p:tav>
                                      </p:tavLst>
                                    </p:anim>
                                    <p:anim calcmode="lin" valueType="num">
                                      <p:cBhvr additive="base">
                                        <p:cTn id="16" dur="500" fill="hold"/>
                                        <p:tgtEl>
                                          <p:spTgt spid="12"/>
                                        </p:tgtEl>
                                        <p:attrNameLst>
                                          <p:attrName>ppt_y</p:attrName>
                                        </p:attrNameLst>
                                      </p:cBhvr>
                                      <p:tavLst>
                                        <p:tav tm="0">
                                          <p:val>
                                            <p:strVal val="#ppt_y"/>
                                          </p:val>
                                        </p:tav>
                                        <p:tav tm="100000">
                                          <p:val>
                                            <p:strVal val="#ppt_y"/>
                                          </p:val>
                                        </p:tav>
                                      </p:tavLst>
                                    </p:anim>
                                  </p:childTnLst>
                                </p:cTn>
                              </p:par>
                            </p:childTnLst>
                          </p:cTn>
                        </p:par>
                        <p:par>
                          <p:cTn id="17" fill="hold">
                            <p:stCondLst>
                              <p:cond delay="3000"/>
                            </p:stCondLst>
                            <p:childTnLst>
                              <p:par>
                                <p:cTn id="18" presetID="42" presetClass="entr" presetSubtype="0" fill="hold" grpId="0" nodeType="afterEffect">
                                  <p:stCondLst>
                                    <p:cond delay="0"/>
                                  </p:stCondLst>
                                  <p:childTnLst>
                                    <p:set>
                                      <p:cBhvr>
                                        <p:cTn id="19" dur="1" fill="hold">
                                          <p:stCondLst>
                                            <p:cond delay="0"/>
                                          </p:stCondLst>
                                        </p:cTn>
                                        <p:tgtEl>
                                          <p:spTgt spid="2"/>
                                        </p:tgtEl>
                                        <p:attrNameLst>
                                          <p:attrName>style.visibility</p:attrName>
                                        </p:attrNameLst>
                                      </p:cBhvr>
                                      <p:to>
                                        <p:strVal val="visible"/>
                                      </p:to>
                                    </p:set>
                                    <p:animEffect transition="in" filter="fade">
                                      <p:cBhvr>
                                        <p:cTn id="20" dur="1000"/>
                                        <p:tgtEl>
                                          <p:spTgt spid="2"/>
                                        </p:tgtEl>
                                      </p:cBhvr>
                                    </p:animEffect>
                                    <p:anim calcmode="lin" valueType="num">
                                      <p:cBhvr>
                                        <p:cTn id="21" dur="1000" fill="hold"/>
                                        <p:tgtEl>
                                          <p:spTgt spid="2"/>
                                        </p:tgtEl>
                                        <p:attrNameLst>
                                          <p:attrName>ppt_x</p:attrName>
                                        </p:attrNameLst>
                                      </p:cBhvr>
                                      <p:tavLst>
                                        <p:tav tm="0">
                                          <p:val>
                                            <p:strVal val="#ppt_x"/>
                                          </p:val>
                                        </p:tav>
                                        <p:tav tm="100000">
                                          <p:val>
                                            <p:strVal val="#ppt_x"/>
                                          </p:val>
                                        </p:tav>
                                      </p:tavLst>
                                    </p:anim>
                                    <p:anim calcmode="lin" valueType="num">
                                      <p:cBhvr>
                                        <p:cTn id="22" dur="1000" fill="hold"/>
                                        <p:tgtEl>
                                          <p:spTgt spid="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0" grpId="0"/>
      <p:bldP spid="2"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图片 42">
            <a:extLst>
              <a:ext uri="{FF2B5EF4-FFF2-40B4-BE49-F238E27FC236}">
                <a16:creationId xmlns:a16="http://schemas.microsoft.com/office/drawing/2014/main" id="{C8D97DA4-6242-4E73-AEFC-457D04FDC65B}"/>
              </a:ext>
            </a:extLst>
          </p:cNvPr>
          <p:cNvPicPr>
            <a:picLocks noChangeAspect="1"/>
          </p:cNvPicPr>
          <p:nvPr/>
        </p:nvPicPr>
        <p:blipFill>
          <a:blip r:embed="rId2"/>
          <a:stretch>
            <a:fillRect/>
          </a:stretch>
        </p:blipFill>
        <p:spPr>
          <a:xfrm rot="16200000">
            <a:off x="145169" y="-145167"/>
            <a:ext cx="1268414" cy="1558750"/>
          </a:xfrm>
          <a:prstGeom prst="rect">
            <a:avLst/>
          </a:prstGeom>
        </p:spPr>
      </p:pic>
      <p:sp>
        <p:nvSpPr>
          <p:cNvPr id="6" name="文字方塊 5">
            <a:extLst>
              <a:ext uri="{FF2B5EF4-FFF2-40B4-BE49-F238E27FC236}">
                <a16:creationId xmlns:a16="http://schemas.microsoft.com/office/drawing/2014/main" id="{8A30B01A-3198-4955-A208-0E3D9EB60397}"/>
              </a:ext>
            </a:extLst>
          </p:cNvPr>
          <p:cNvSpPr txBox="1"/>
          <p:nvPr/>
        </p:nvSpPr>
        <p:spPr>
          <a:xfrm>
            <a:off x="1558751" y="6596390"/>
            <a:ext cx="4217821" cy="261610"/>
          </a:xfrm>
          <a:prstGeom prst="rect">
            <a:avLst/>
          </a:prstGeom>
          <a:noFill/>
        </p:spPr>
        <p:txBody>
          <a:bodyPr wrap="none" rtlCol="0">
            <a:spAutoFit/>
          </a:bodyPr>
          <a:lstStyle/>
          <a:p>
            <a:r>
              <a:rPr lang="zh-TW" altLang="en-US" sz="1100" dirty="0">
                <a:latin typeface="Microsoft JhengHei Light" panose="020B0304030504040204" pitchFamily="34" charset="-120"/>
                <a:ea typeface="Microsoft JhengHei Light" panose="020B0304030504040204" pitchFamily="34" charset="-120"/>
              </a:rPr>
              <a:t>區塊鏈商業應用概論 實例與分析／新陸書局股份有限公司 發行</a:t>
            </a:r>
          </a:p>
        </p:txBody>
      </p:sp>
      <p:sp>
        <p:nvSpPr>
          <p:cNvPr id="9" name="標題 1">
            <a:extLst>
              <a:ext uri="{FF2B5EF4-FFF2-40B4-BE49-F238E27FC236}">
                <a16:creationId xmlns:a16="http://schemas.microsoft.com/office/drawing/2014/main" id="{475DFFF1-7C37-4CBE-ACFC-3F348BCD20CC}"/>
              </a:ext>
            </a:extLst>
          </p:cNvPr>
          <p:cNvSpPr txBox="1">
            <a:spLocks/>
          </p:cNvSpPr>
          <p:nvPr/>
        </p:nvSpPr>
        <p:spPr>
          <a:xfrm>
            <a:off x="1231956" y="393820"/>
            <a:ext cx="3643527" cy="874595"/>
          </a:xfrm>
          <a:prstGeom prst="rect">
            <a:avLst/>
          </a:prstGeom>
        </p:spPr>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altLang="zh-TW" sz="2400" b="1" dirty="0">
                <a:solidFill>
                  <a:srgbClr val="E06741"/>
                </a:solidFill>
              </a:rPr>
              <a:t>2-2 </a:t>
            </a:r>
            <a:r>
              <a:rPr lang="zh-TW" altLang="en-US" sz="2400" b="1" dirty="0">
                <a:solidFill>
                  <a:srgbClr val="E06741"/>
                </a:solidFill>
              </a:rPr>
              <a:t>區塊鏈技術發展</a:t>
            </a:r>
          </a:p>
          <a:p>
            <a:endParaRPr lang="zh-TW" altLang="en-US" sz="2400" dirty="0">
              <a:solidFill>
                <a:srgbClr val="E06741"/>
              </a:solidFill>
              <a:latin typeface="標楷體" panose="03000509000000000000" pitchFamily="65" charset="-120"/>
              <a:ea typeface="標楷體" panose="03000509000000000000" pitchFamily="65" charset="-120"/>
              <a:cs typeface="Times New Roman" panose="02020603050405020304" pitchFamily="18" charset="0"/>
            </a:endParaRPr>
          </a:p>
        </p:txBody>
      </p:sp>
      <p:sp>
        <p:nvSpPr>
          <p:cNvPr id="10" name="文字方塊 9">
            <a:extLst>
              <a:ext uri="{FF2B5EF4-FFF2-40B4-BE49-F238E27FC236}">
                <a16:creationId xmlns:a16="http://schemas.microsoft.com/office/drawing/2014/main" id="{198702E0-29BF-45ED-BB34-E70A3CAA9F43}"/>
              </a:ext>
            </a:extLst>
          </p:cNvPr>
          <p:cNvSpPr txBox="1"/>
          <p:nvPr/>
        </p:nvSpPr>
        <p:spPr>
          <a:xfrm>
            <a:off x="4487241" y="449166"/>
            <a:ext cx="2930610" cy="400110"/>
          </a:xfrm>
          <a:prstGeom prst="rect">
            <a:avLst/>
          </a:prstGeom>
          <a:noFill/>
        </p:spPr>
        <p:txBody>
          <a:bodyPr wrap="none" rtlCol="0">
            <a:spAutoFit/>
          </a:bodyPr>
          <a:lstStyle/>
          <a:p>
            <a:r>
              <a:rPr lang="en-US" altLang="zh-TW" sz="2000" b="1" dirty="0">
                <a:solidFill>
                  <a:schemeClr val="tx1">
                    <a:lumMod val="65000"/>
                    <a:lumOff val="35000"/>
                  </a:schemeClr>
                </a:solidFill>
                <a:latin typeface="微軟正黑體" panose="020B0604030504040204" pitchFamily="34" charset="-120"/>
                <a:ea typeface="微軟正黑體" panose="020B0604030504040204" pitchFamily="34" charset="-120"/>
                <a:cs typeface="Times New Roman" panose="02020603050405020304" pitchFamily="18" charset="0"/>
              </a:rPr>
              <a:t>-1 </a:t>
            </a:r>
            <a:r>
              <a:rPr lang="zh-TW" altLang="en-US" sz="2000" b="1" dirty="0">
                <a:solidFill>
                  <a:schemeClr val="tx1">
                    <a:lumMod val="65000"/>
                    <a:lumOff val="35000"/>
                  </a:schemeClr>
                </a:solidFill>
                <a:latin typeface="微軟正黑體" panose="020B0604030504040204" pitchFamily="34" charset="-120"/>
                <a:ea typeface="微軟正黑體" panose="020B0604030504040204" pitchFamily="34" charset="-120"/>
                <a:cs typeface="Times New Roman" panose="02020603050405020304" pitchFamily="18" charset="0"/>
              </a:rPr>
              <a:t>區塊鏈技術核心元件</a:t>
            </a:r>
          </a:p>
        </p:txBody>
      </p:sp>
      <p:sp>
        <p:nvSpPr>
          <p:cNvPr id="2" name="文字方塊 1">
            <a:extLst>
              <a:ext uri="{FF2B5EF4-FFF2-40B4-BE49-F238E27FC236}">
                <a16:creationId xmlns:a16="http://schemas.microsoft.com/office/drawing/2014/main" id="{D6D66D7E-58A1-40BE-8070-FA1C3AF22B14}"/>
              </a:ext>
            </a:extLst>
          </p:cNvPr>
          <p:cNvSpPr txBox="1"/>
          <p:nvPr/>
        </p:nvSpPr>
        <p:spPr>
          <a:xfrm>
            <a:off x="1425921" y="1268415"/>
            <a:ext cx="9534123" cy="4087145"/>
          </a:xfrm>
          <a:prstGeom prst="rect">
            <a:avLst/>
          </a:prstGeom>
          <a:noFill/>
        </p:spPr>
        <p:txBody>
          <a:bodyPr wrap="square" rtlCol="0">
            <a:spAutoFit/>
          </a:bodyPr>
          <a:lstStyle/>
          <a:p>
            <a:pPr>
              <a:lnSpc>
                <a:spcPct val="150000"/>
              </a:lnSpc>
              <a:buSzPct val="150000"/>
            </a:pPr>
            <a:r>
              <a:rPr lang="zh-TW" altLang="en-US" sz="2400" b="1" dirty="0">
                <a:solidFill>
                  <a:schemeClr val="tx1">
                    <a:lumMod val="75000"/>
                    <a:lumOff val="25000"/>
                  </a:schemeClr>
                </a:solidFill>
                <a:latin typeface="微軟正黑體" panose="020B0604030504040204" pitchFamily="34" charset="-120"/>
                <a:ea typeface="微軟正黑體" panose="020B0604030504040204" pitchFamily="34" charset="-120"/>
              </a:rPr>
              <a:t>（三）</a:t>
            </a:r>
            <a:r>
              <a:rPr lang="en-US" altLang="zh-TW" sz="2400" b="1" dirty="0">
                <a:solidFill>
                  <a:schemeClr val="tx1">
                    <a:lumMod val="75000"/>
                    <a:lumOff val="25000"/>
                  </a:schemeClr>
                </a:solidFill>
                <a:latin typeface="微軟正黑體" panose="020B0604030504040204" pitchFamily="34" charset="-120"/>
                <a:ea typeface="微軟正黑體" panose="020B0604030504040204" pitchFamily="34" charset="-120"/>
              </a:rPr>
              <a:t>DPOS</a:t>
            </a:r>
            <a:r>
              <a:rPr lang="zh-TW" altLang="en-US" sz="2400" b="1" dirty="0">
                <a:solidFill>
                  <a:schemeClr val="tx1">
                    <a:lumMod val="75000"/>
                    <a:lumOff val="25000"/>
                  </a:schemeClr>
                </a:solidFill>
                <a:latin typeface="微軟正黑體" panose="020B0604030504040204" pitchFamily="34" charset="-120"/>
                <a:ea typeface="微軟正黑體" panose="020B0604030504040204" pitchFamily="34" charset="-120"/>
              </a:rPr>
              <a:t> 權益授權證明</a:t>
            </a:r>
            <a:endParaRPr lang="en-US" altLang="zh-TW" sz="2400" b="1" dirty="0">
              <a:solidFill>
                <a:schemeClr val="tx1">
                  <a:lumMod val="75000"/>
                  <a:lumOff val="25000"/>
                </a:schemeClr>
              </a:solidFill>
              <a:latin typeface="微軟正黑體" panose="020B0604030504040204" pitchFamily="34" charset="-120"/>
              <a:ea typeface="微軟正黑體" panose="020B0604030504040204" pitchFamily="34" charset="-120"/>
            </a:endParaRPr>
          </a:p>
          <a:p>
            <a:pPr>
              <a:lnSpc>
                <a:spcPct val="150000"/>
              </a:lnSpc>
              <a:buSzPct val="150000"/>
            </a:pPr>
            <a:endParaRPr lang="en-US" altLang="zh-TW" sz="800" b="1" dirty="0">
              <a:solidFill>
                <a:schemeClr val="tx1">
                  <a:lumMod val="75000"/>
                  <a:lumOff val="25000"/>
                </a:schemeClr>
              </a:solidFill>
              <a:latin typeface="微軟正黑體" panose="020B0604030504040204" pitchFamily="34" charset="-120"/>
              <a:ea typeface="微軟正黑體" panose="020B0604030504040204" pitchFamily="34" charset="-120"/>
            </a:endParaRPr>
          </a:p>
          <a:p>
            <a:pPr marL="800100" lvl="1" indent="-342900">
              <a:lnSpc>
                <a:spcPct val="150000"/>
              </a:lnSpc>
              <a:buSzPct val="100000"/>
              <a:buBlip>
                <a:blip r:embed="rId3"/>
              </a:buBlip>
            </a:pPr>
            <a:r>
              <a:rPr lang="zh-TW" altLang="en-US" sz="2400" b="1" dirty="0">
                <a:solidFill>
                  <a:schemeClr val="tx1">
                    <a:lumMod val="75000"/>
                    <a:lumOff val="25000"/>
                  </a:schemeClr>
                </a:solidFill>
                <a:latin typeface="微軟正黑體" panose="020B0604030504040204" pitchFamily="34" charset="-120"/>
                <a:ea typeface="微軟正黑體" panose="020B0604030504040204" pitchFamily="34" charset="-120"/>
              </a:rPr>
              <a:t>運作類似於民主的代議制度，先通過權益證明選出記帳參與者（驗證節點），再透過運作機制讓驗證節點競爭區塊取得寫入權</a:t>
            </a:r>
            <a:endParaRPr lang="en-US" altLang="zh-TW" sz="2400" b="1" dirty="0">
              <a:solidFill>
                <a:schemeClr val="tx1">
                  <a:lumMod val="75000"/>
                  <a:lumOff val="25000"/>
                </a:schemeClr>
              </a:solidFill>
              <a:latin typeface="微軟正黑體" panose="020B0604030504040204" pitchFamily="34" charset="-120"/>
              <a:ea typeface="微軟正黑體" panose="020B0604030504040204" pitchFamily="34" charset="-120"/>
            </a:endParaRPr>
          </a:p>
          <a:p>
            <a:pPr marL="800100" lvl="1" indent="-342900">
              <a:lnSpc>
                <a:spcPct val="150000"/>
              </a:lnSpc>
              <a:buSzPct val="100000"/>
              <a:buBlip>
                <a:blip r:embed="rId3"/>
              </a:buBlip>
            </a:pPr>
            <a:r>
              <a:rPr lang="zh-TW" altLang="en-US" sz="2400" b="1" dirty="0">
                <a:solidFill>
                  <a:schemeClr val="tx1">
                    <a:lumMod val="75000"/>
                    <a:lumOff val="25000"/>
                  </a:schemeClr>
                </a:solidFill>
                <a:latin typeface="微軟正黑體" panose="020B0604030504040204" pitchFamily="34" charset="-120"/>
                <a:ea typeface="微軟正黑體" panose="020B0604030504040204" pitchFamily="34" charset="-120"/>
              </a:rPr>
              <a:t>由於驗證節點數量大幅縮減，可快速達成共識</a:t>
            </a:r>
          </a:p>
          <a:p>
            <a:pPr marL="800100" lvl="1" indent="-342900">
              <a:lnSpc>
                <a:spcPct val="150000"/>
              </a:lnSpc>
              <a:buSzPct val="100000"/>
              <a:buBlip>
                <a:blip r:embed="rId3"/>
              </a:buBlip>
            </a:pPr>
            <a:r>
              <a:rPr lang="zh-TW" altLang="en-US" sz="2400" b="1" dirty="0">
                <a:solidFill>
                  <a:schemeClr val="tx1">
                    <a:lumMod val="75000"/>
                    <a:lumOff val="25000"/>
                  </a:schemeClr>
                </a:solidFill>
                <a:latin typeface="微軟正黑體" panose="020B0604030504040204" pitchFamily="34" charset="-120"/>
                <a:ea typeface="微軟正黑體" panose="020B0604030504040204" pitchFamily="34" charset="-120"/>
              </a:rPr>
              <a:t>現階段提出</a:t>
            </a:r>
            <a:r>
              <a:rPr lang="en-US" altLang="zh-TW" sz="2400" b="1" dirty="0">
                <a:solidFill>
                  <a:schemeClr val="tx1">
                    <a:lumMod val="75000"/>
                    <a:lumOff val="25000"/>
                  </a:schemeClr>
                </a:solidFill>
                <a:latin typeface="微軟正黑體" panose="020B0604030504040204" pitchFamily="34" charset="-120"/>
                <a:ea typeface="微軟正黑體" panose="020B0604030504040204" pitchFamily="34" charset="-120"/>
              </a:rPr>
              <a:t>DPOS </a:t>
            </a:r>
            <a:r>
              <a:rPr lang="zh-TW" altLang="en-US" sz="2400" b="1" dirty="0">
                <a:solidFill>
                  <a:schemeClr val="tx1">
                    <a:lumMod val="75000"/>
                    <a:lumOff val="25000"/>
                  </a:schemeClr>
                </a:solidFill>
                <a:latin typeface="微軟正黑體" panose="020B0604030504040204" pitchFamily="34" charset="-120"/>
                <a:ea typeface="微軟正黑體" panose="020B0604030504040204" pitchFamily="34" charset="-120"/>
              </a:rPr>
              <a:t>共識機制的有</a:t>
            </a:r>
            <a:r>
              <a:rPr lang="en-US" altLang="zh-TW" sz="2400" b="1" dirty="0" err="1">
                <a:solidFill>
                  <a:schemeClr val="tx1">
                    <a:lumMod val="75000"/>
                    <a:lumOff val="25000"/>
                  </a:schemeClr>
                </a:solidFill>
                <a:latin typeface="微軟正黑體" panose="020B0604030504040204" pitchFamily="34" charset="-120"/>
                <a:ea typeface="微軟正黑體" panose="020B0604030504040204" pitchFamily="34" charset="-120"/>
              </a:rPr>
              <a:t>Bitshares</a:t>
            </a:r>
            <a:r>
              <a:rPr lang="en-US" altLang="zh-TW" sz="2400" b="1" dirty="0">
                <a:solidFill>
                  <a:schemeClr val="tx1">
                    <a:lumMod val="75000"/>
                    <a:lumOff val="25000"/>
                  </a:schemeClr>
                </a:solidFill>
                <a:latin typeface="微軟正黑體" panose="020B0604030504040204" pitchFamily="34" charset="-120"/>
                <a:ea typeface="微軟正黑體" panose="020B0604030504040204" pitchFamily="34" charset="-120"/>
              </a:rPr>
              <a:t> </a:t>
            </a:r>
            <a:r>
              <a:rPr lang="zh-TW" altLang="en-US" sz="2400" b="1" dirty="0">
                <a:solidFill>
                  <a:schemeClr val="tx1">
                    <a:lumMod val="75000"/>
                    <a:lumOff val="25000"/>
                  </a:schemeClr>
                </a:solidFill>
                <a:latin typeface="微軟正黑體" panose="020B0604030504040204" pitchFamily="34" charset="-120"/>
                <a:ea typeface="微軟正黑體" panose="020B0604030504040204" pitchFamily="34" charset="-120"/>
              </a:rPr>
              <a:t>以及</a:t>
            </a:r>
            <a:r>
              <a:rPr lang="en-US" altLang="zh-TW" sz="2400" b="1" dirty="0">
                <a:solidFill>
                  <a:schemeClr val="tx1">
                    <a:lumMod val="75000"/>
                    <a:lumOff val="25000"/>
                  </a:schemeClr>
                </a:solidFill>
                <a:latin typeface="微軟正黑體" panose="020B0604030504040204" pitchFamily="34" charset="-120"/>
                <a:ea typeface="微軟正黑體" panose="020B0604030504040204" pitchFamily="34" charset="-120"/>
              </a:rPr>
              <a:t>Ethereum</a:t>
            </a:r>
          </a:p>
          <a:p>
            <a:pPr marL="800100" lvl="1" indent="-342900">
              <a:lnSpc>
                <a:spcPct val="150000"/>
              </a:lnSpc>
              <a:buSzPct val="100000"/>
              <a:buBlip>
                <a:blip r:embed="rId3"/>
              </a:buBlip>
            </a:pPr>
            <a:r>
              <a:rPr lang="zh-TW" altLang="en-US" sz="2400" b="1" dirty="0">
                <a:solidFill>
                  <a:schemeClr val="tx1">
                    <a:lumMod val="75000"/>
                    <a:lumOff val="25000"/>
                  </a:schemeClr>
                </a:solidFill>
                <a:latin typeface="微軟正黑體" panose="020B0604030504040204" pitchFamily="34" charset="-120"/>
                <a:ea typeface="微軟正黑體" panose="020B0604030504040204" pitchFamily="34" charset="-120"/>
              </a:rPr>
              <a:t>為了解決上述</a:t>
            </a:r>
            <a:r>
              <a:rPr lang="en-US" altLang="zh-TW" sz="2400" b="1" dirty="0">
                <a:solidFill>
                  <a:schemeClr val="tx1">
                    <a:lumMod val="75000"/>
                    <a:lumOff val="25000"/>
                  </a:schemeClr>
                </a:solidFill>
                <a:latin typeface="微軟正黑體" panose="020B0604030504040204" pitchFamily="34" charset="-120"/>
                <a:ea typeface="微軟正黑體" panose="020B0604030504040204" pitchFamily="34" charset="-120"/>
              </a:rPr>
              <a:t>POS </a:t>
            </a:r>
            <a:r>
              <a:rPr lang="zh-TW" altLang="en-US" sz="2400" b="1" dirty="0">
                <a:solidFill>
                  <a:schemeClr val="tx1">
                    <a:lumMod val="75000"/>
                    <a:lumOff val="25000"/>
                  </a:schemeClr>
                </a:solidFill>
                <a:latin typeface="微軟正黑體" panose="020B0604030504040204" pitchFamily="34" charset="-120"/>
                <a:ea typeface="微軟正黑體" panose="020B0604030504040204" pitchFamily="34" charset="-120"/>
              </a:rPr>
              <a:t>共識中做壞事代價很低的缺點，</a:t>
            </a:r>
            <a:r>
              <a:rPr lang="en-US" altLang="zh-TW" sz="2400" b="1" dirty="0">
                <a:solidFill>
                  <a:schemeClr val="tx1">
                    <a:lumMod val="75000"/>
                    <a:lumOff val="25000"/>
                  </a:schemeClr>
                </a:solidFill>
                <a:latin typeface="微軟正黑體" panose="020B0604030504040204" pitchFamily="34" charset="-120"/>
                <a:ea typeface="微軟正黑體" panose="020B0604030504040204" pitchFamily="34" charset="-120"/>
              </a:rPr>
              <a:t>Ethereum </a:t>
            </a:r>
            <a:r>
              <a:rPr lang="zh-TW" altLang="en-US" sz="2400" b="1" dirty="0">
                <a:solidFill>
                  <a:schemeClr val="tx1">
                    <a:lumMod val="75000"/>
                    <a:lumOff val="25000"/>
                  </a:schemeClr>
                </a:solidFill>
                <a:latin typeface="微軟正黑體" panose="020B0604030504040204" pitchFamily="34" charset="-120"/>
                <a:ea typeface="微軟正黑體" panose="020B0604030504040204" pitchFamily="34" charset="-120"/>
              </a:rPr>
              <a:t>提出</a:t>
            </a:r>
            <a:r>
              <a:rPr lang="en-US" altLang="zh-TW" sz="2400" b="1" dirty="0">
                <a:solidFill>
                  <a:schemeClr val="tx1">
                    <a:lumMod val="75000"/>
                    <a:lumOff val="25000"/>
                  </a:schemeClr>
                </a:solidFill>
                <a:latin typeface="微軟正黑體" panose="020B0604030504040204" pitchFamily="34" charset="-120"/>
                <a:ea typeface="微軟正黑體" panose="020B0604030504040204" pitchFamily="34" charset="-120"/>
              </a:rPr>
              <a:t>Casper</a:t>
            </a:r>
            <a:r>
              <a:rPr lang="zh-TW" altLang="en-US" sz="2400" b="1" dirty="0">
                <a:solidFill>
                  <a:schemeClr val="tx1">
                    <a:lumMod val="75000"/>
                    <a:lumOff val="25000"/>
                  </a:schemeClr>
                </a:solidFill>
                <a:latin typeface="微軟正黑體" panose="020B0604030504040204" pitchFamily="34" charset="-120"/>
                <a:ea typeface="微軟正黑體" panose="020B0604030504040204" pitchFamily="34" charset="-120"/>
              </a:rPr>
              <a:t>。</a:t>
            </a:r>
            <a:r>
              <a:rPr lang="en-US" altLang="zh-TW" sz="2400" b="1" dirty="0">
                <a:solidFill>
                  <a:schemeClr val="tx1">
                    <a:lumMod val="75000"/>
                    <a:lumOff val="25000"/>
                  </a:schemeClr>
                </a:solidFill>
                <a:latin typeface="微軟正黑體" panose="020B0604030504040204" pitchFamily="34" charset="-120"/>
                <a:ea typeface="微軟正黑體" panose="020B0604030504040204" pitchFamily="34" charset="-120"/>
              </a:rPr>
              <a:t>Casper </a:t>
            </a:r>
            <a:r>
              <a:rPr lang="zh-TW" altLang="en-US" sz="2400" b="1" dirty="0">
                <a:solidFill>
                  <a:schemeClr val="tx1">
                    <a:lumMod val="75000"/>
                    <a:lumOff val="25000"/>
                  </a:schemeClr>
                </a:solidFill>
                <a:latin typeface="微軟正黑體" panose="020B0604030504040204" pitchFamily="34" charset="-120"/>
                <a:ea typeface="微軟正黑體" panose="020B0604030504040204" pitchFamily="34" charset="-120"/>
              </a:rPr>
              <a:t>是</a:t>
            </a:r>
            <a:r>
              <a:rPr lang="en-US" altLang="zh-TW" sz="2400" b="1" dirty="0">
                <a:solidFill>
                  <a:schemeClr val="tx1">
                    <a:lumMod val="75000"/>
                    <a:lumOff val="25000"/>
                  </a:schemeClr>
                </a:solidFill>
                <a:latin typeface="微軟正黑體" panose="020B0604030504040204" pitchFamily="34" charset="-120"/>
                <a:ea typeface="微軟正黑體" panose="020B0604030504040204" pitchFamily="34" charset="-120"/>
              </a:rPr>
              <a:t>DPOS </a:t>
            </a:r>
            <a:r>
              <a:rPr lang="zh-TW" altLang="en-US" sz="2400" b="1" dirty="0">
                <a:solidFill>
                  <a:schemeClr val="tx1">
                    <a:lumMod val="75000"/>
                    <a:lumOff val="25000"/>
                  </a:schemeClr>
                </a:solidFill>
                <a:latin typeface="微軟正黑體" panose="020B0604030504040204" pitchFamily="34" charset="-120"/>
                <a:ea typeface="微軟正黑體" panose="020B0604030504040204" pitchFamily="34" charset="-120"/>
              </a:rPr>
              <a:t>和</a:t>
            </a:r>
            <a:r>
              <a:rPr lang="en-US" altLang="zh-TW" sz="2400" b="1" dirty="0">
                <a:solidFill>
                  <a:schemeClr val="tx1">
                    <a:lumMod val="75000"/>
                    <a:lumOff val="25000"/>
                  </a:schemeClr>
                </a:solidFill>
                <a:latin typeface="微軟正黑體" panose="020B0604030504040204" pitchFamily="34" charset="-120"/>
                <a:ea typeface="微軟正黑體" panose="020B0604030504040204" pitchFamily="34" charset="-120"/>
              </a:rPr>
              <a:t>PBFT</a:t>
            </a:r>
            <a:r>
              <a:rPr lang="zh-TW" altLang="en-US" sz="2400" b="1" dirty="0">
                <a:solidFill>
                  <a:schemeClr val="tx1">
                    <a:lumMod val="75000"/>
                    <a:lumOff val="25000"/>
                  </a:schemeClr>
                </a:solidFill>
                <a:latin typeface="微軟正黑體" panose="020B0604030504040204" pitchFamily="34" charset="-120"/>
                <a:ea typeface="微軟正黑體" panose="020B0604030504040204" pitchFamily="34" charset="-120"/>
              </a:rPr>
              <a:t>的機制之結合改良。</a:t>
            </a:r>
          </a:p>
        </p:txBody>
      </p:sp>
      <p:cxnSp>
        <p:nvCxnSpPr>
          <p:cNvPr id="12" name="直接连接符 33">
            <a:extLst>
              <a:ext uri="{FF2B5EF4-FFF2-40B4-BE49-F238E27FC236}">
                <a16:creationId xmlns:a16="http://schemas.microsoft.com/office/drawing/2014/main" id="{A65F0293-9BDE-4674-B7FB-55F0FABF02CF}"/>
              </a:ext>
            </a:extLst>
          </p:cNvPr>
          <p:cNvCxnSpPr/>
          <p:nvPr/>
        </p:nvCxnSpPr>
        <p:spPr>
          <a:xfrm>
            <a:off x="1177167" y="1046746"/>
            <a:ext cx="10585176" cy="0"/>
          </a:xfrm>
          <a:prstGeom prst="line">
            <a:avLst/>
          </a:prstGeom>
          <a:ln w="190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934221037"/>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6" presetClass="entr" presetSubtype="16" fill="hold" grpId="0" nodeType="after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circle(in)">
                                      <p:cBhvr>
                                        <p:cTn id="7" dur="2000"/>
                                        <p:tgtEl>
                                          <p:spTgt spid="9"/>
                                        </p:tgtEl>
                                      </p:cBhvr>
                                    </p:animEffect>
                                  </p:childTnLst>
                                </p:cTn>
                              </p:par>
                            </p:childTnLst>
                          </p:cTn>
                        </p:par>
                        <p:par>
                          <p:cTn id="8" fill="hold">
                            <p:stCondLst>
                              <p:cond delay="2000"/>
                            </p:stCondLst>
                            <p:childTnLst>
                              <p:par>
                                <p:cTn id="9" presetID="14" presetClass="entr" presetSubtype="10" fill="hold" grpId="0" nodeType="afterEffect">
                                  <p:stCondLst>
                                    <p:cond delay="0"/>
                                  </p:stCondLst>
                                  <p:childTnLst>
                                    <p:set>
                                      <p:cBhvr>
                                        <p:cTn id="10" dur="1" fill="hold">
                                          <p:stCondLst>
                                            <p:cond delay="0"/>
                                          </p:stCondLst>
                                        </p:cTn>
                                        <p:tgtEl>
                                          <p:spTgt spid="10"/>
                                        </p:tgtEl>
                                        <p:attrNameLst>
                                          <p:attrName>style.visibility</p:attrName>
                                        </p:attrNameLst>
                                      </p:cBhvr>
                                      <p:to>
                                        <p:strVal val="visible"/>
                                      </p:to>
                                    </p:set>
                                    <p:animEffect transition="in" filter="randombar(horizontal)">
                                      <p:cBhvr>
                                        <p:cTn id="11" dur="500"/>
                                        <p:tgtEl>
                                          <p:spTgt spid="10"/>
                                        </p:tgtEl>
                                      </p:cBhvr>
                                    </p:animEffect>
                                  </p:childTnLst>
                                </p:cTn>
                              </p:par>
                            </p:childTnLst>
                          </p:cTn>
                        </p:par>
                        <p:par>
                          <p:cTn id="12" fill="hold">
                            <p:stCondLst>
                              <p:cond delay="2500"/>
                            </p:stCondLst>
                            <p:childTnLst>
                              <p:par>
                                <p:cTn id="13" presetID="2" presetClass="entr" presetSubtype="8" fill="hold" nodeType="afterEffect">
                                  <p:stCondLst>
                                    <p:cond delay="0"/>
                                  </p:stCondLst>
                                  <p:childTnLst>
                                    <p:set>
                                      <p:cBhvr>
                                        <p:cTn id="14" dur="1" fill="hold">
                                          <p:stCondLst>
                                            <p:cond delay="0"/>
                                          </p:stCondLst>
                                        </p:cTn>
                                        <p:tgtEl>
                                          <p:spTgt spid="12"/>
                                        </p:tgtEl>
                                        <p:attrNameLst>
                                          <p:attrName>style.visibility</p:attrName>
                                        </p:attrNameLst>
                                      </p:cBhvr>
                                      <p:to>
                                        <p:strVal val="visible"/>
                                      </p:to>
                                    </p:set>
                                    <p:anim calcmode="lin" valueType="num">
                                      <p:cBhvr additive="base">
                                        <p:cTn id="15" dur="500" fill="hold"/>
                                        <p:tgtEl>
                                          <p:spTgt spid="12"/>
                                        </p:tgtEl>
                                        <p:attrNameLst>
                                          <p:attrName>ppt_x</p:attrName>
                                        </p:attrNameLst>
                                      </p:cBhvr>
                                      <p:tavLst>
                                        <p:tav tm="0">
                                          <p:val>
                                            <p:strVal val="0-#ppt_w/2"/>
                                          </p:val>
                                        </p:tav>
                                        <p:tav tm="100000">
                                          <p:val>
                                            <p:strVal val="#ppt_x"/>
                                          </p:val>
                                        </p:tav>
                                      </p:tavLst>
                                    </p:anim>
                                    <p:anim calcmode="lin" valueType="num">
                                      <p:cBhvr additive="base">
                                        <p:cTn id="16" dur="500" fill="hold"/>
                                        <p:tgtEl>
                                          <p:spTgt spid="12"/>
                                        </p:tgtEl>
                                        <p:attrNameLst>
                                          <p:attrName>ppt_y</p:attrName>
                                        </p:attrNameLst>
                                      </p:cBhvr>
                                      <p:tavLst>
                                        <p:tav tm="0">
                                          <p:val>
                                            <p:strVal val="#ppt_y"/>
                                          </p:val>
                                        </p:tav>
                                        <p:tav tm="100000">
                                          <p:val>
                                            <p:strVal val="#ppt_y"/>
                                          </p:val>
                                        </p:tav>
                                      </p:tavLst>
                                    </p:anim>
                                  </p:childTnLst>
                                </p:cTn>
                              </p:par>
                            </p:childTnLst>
                          </p:cTn>
                        </p:par>
                        <p:par>
                          <p:cTn id="17" fill="hold">
                            <p:stCondLst>
                              <p:cond delay="3000"/>
                            </p:stCondLst>
                            <p:childTnLst>
                              <p:par>
                                <p:cTn id="18" presetID="42" presetClass="entr" presetSubtype="0" fill="hold" grpId="0" nodeType="afterEffect">
                                  <p:stCondLst>
                                    <p:cond delay="0"/>
                                  </p:stCondLst>
                                  <p:childTnLst>
                                    <p:set>
                                      <p:cBhvr>
                                        <p:cTn id="19" dur="1" fill="hold">
                                          <p:stCondLst>
                                            <p:cond delay="0"/>
                                          </p:stCondLst>
                                        </p:cTn>
                                        <p:tgtEl>
                                          <p:spTgt spid="2"/>
                                        </p:tgtEl>
                                        <p:attrNameLst>
                                          <p:attrName>style.visibility</p:attrName>
                                        </p:attrNameLst>
                                      </p:cBhvr>
                                      <p:to>
                                        <p:strVal val="visible"/>
                                      </p:to>
                                    </p:set>
                                    <p:animEffect transition="in" filter="fade">
                                      <p:cBhvr>
                                        <p:cTn id="20" dur="1000"/>
                                        <p:tgtEl>
                                          <p:spTgt spid="2"/>
                                        </p:tgtEl>
                                      </p:cBhvr>
                                    </p:animEffect>
                                    <p:anim calcmode="lin" valueType="num">
                                      <p:cBhvr>
                                        <p:cTn id="21" dur="1000" fill="hold"/>
                                        <p:tgtEl>
                                          <p:spTgt spid="2"/>
                                        </p:tgtEl>
                                        <p:attrNameLst>
                                          <p:attrName>ppt_x</p:attrName>
                                        </p:attrNameLst>
                                      </p:cBhvr>
                                      <p:tavLst>
                                        <p:tav tm="0">
                                          <p:val>
                                            <p:strVal val="#ppt_x"/>
                                          </p:val>
                                        </p:tav>
                                        <p:tav tm="100000">
                                          <p:val>
                                            <p:strVal val="#ppt_x"/>
                                          </p:val>
                                        </p:tav>
                                      </p:tavLst>
                                    </p:anim>
                                    <p:anim calcmode="lin" valueType="num">
                                      <p:cBhvr>
                                        <p:cTn id="22" dur="1000" fill="hold"/>
                                        <p:tgtEl>
                                          <p:spTgt spid="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0" grpId="0"/>
      <p:bldP spid="2"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图片 42">
            <a:extLst>
              <a:ext uri="{FF2B5EF4-FFF2-40B4-BE49-F238E27FC236}">
                <a16:creationId xmlns:a16="http://schemas.microsoft.com/office/drawing/2014/main" id="{C8D97DA4-6242-4E73-AEFC-457D04FDC65B}"/>
              </a:ext>
            </a:extLst>
          </p:cNvPr>
          <p:cNvPicPr>
            <a:picLocks noChangeAspect="1"/>
          </p:cNvPicPr>
          <p:nvPr/>
        </p:nvPicPr>
        <p:blipFill>
          <a:blip r:embed="rId2"/>
          <a:stretch>
            <a:fillRect/>
          </a:stretch>
        </p:blipFill>
        <p:spPr>
          <a:xfrm rot="16200000">
            <a:off x="145169" y="-145167"/>
            <a:ext cx="1268414" cy="1558750"/>
          </a:xfrm>
          <a:prstGeom prst="rect">
            <a:avLst/>
          </a:prstGeom>
        </p:spPr>
      </p:pic>
      <p:sp>
        <p:nvSpPr>
          <p:cNvPr id="6" name="文字方塊 5">
            <a:extLst>
              <a:ext uri="{FF2B5EF4-FFF2-40B4-BE49-F238E27FC236}">
                <a16:creationId xmlns:a16="http://schemas.microsoft.com/office/drawing/2014/main" id="{8A30B01A-3198-4955-A208-0E3D9EB60397}"/>
              </a:ext>
            </a:extLst>
          </p:cNvPr>
          <p:cNvSpPr txBox="1"/>
          <p:nvPr/>
        </p:nvSpPr>
        <p:spPr>
          <a:xfrm>
            <a:off x="1558751" y="6596390"/>
            <a:ext cx="4217821" cy="261610"/>
          </a:xfrm>
          <a:prstGeom prst="rect">
            <a:avLst/>
          </a:prstGeom>
          <a:noFill/>
        </p:spPr>
        <p:txBody>
          <a:bodyPr wrap="none" rtlCol="0">
            <a:spAutoFit/>
          </a:bodyPr>
          <a:lstStyle/>
          <a:p>
            <a:r>
              <a:rPr lang="zh-TW" altLang="en-US" sz="1100" dirty="0">
                <a:latin typeface="Microsoft JhengHei Light" panose="020B0304030504040204" pitchFamily="34" charset="-120"/>
                <a:ea typeface="Microsoft JhengHei Light" panose="020B0304030504040204" pitchFamily="34" charset="-120"/>
              </a:rPr>
              <a:t>區塊鏈商業應用概論 實例與分析／新陸書局股份有限公司 發行</a:t>
            </a:r>
          </a:p>
        </p:txBody>
      </p:sp>
      <p:sp>
        <p:nvSpPr>
          <p:cNvPr id="9" name="標題 1">
            <a:extLst>
              <a:ext uri="{FF2B5EF4-FFF2-40B4-BE49-F238E27FC236}">
                <a16:creationId xmlns:a16="http://schemas.microsoft.com/office/drawing/2014/main" id="{475DFFF1-7C37-4CBE-ACFC-3F348BCD20CC}"/>
              </a:ext>
            </a:extLst>
          </p:cNvPr>
          <p:cNvSpPr txBox="1">
            <a:spLocks/>
          </p:cNvSpPr>
          <p:nvPr/>
        </p:nvSpPr>
        <p:spPr>
          <a:xfrm>
            <a:off x="1231956" y="393820"/>
            <a:ext cx="3643527" cy="874595"/>
          </a:xfrm>
          <a:prstGeom prst="rect">
            <a:avLst/>
          </a:prstGeom>
        </p:spPr>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altLang="zh-TW" sz="2400" b="1" dirty="0">
                <a:solidFill>
                  <a:srgbClr val="E06741"/>
                </a:solidFill>
              </a:rPr>
              <a:t>2-2 </a:t>
            </a:r>
            <a:r>
              <a:rPr lang="zh-TW" altLang="en-US" sz="2400" b="1" dirty="0">
                <a:solidFill>
                  <a:srgbClr val="E06741"/>
                </a:solidFill>
              </a:rPr>
              <a:t>區塊鏈技術發展</a:t>
            </a:r>
          </a:p>
          <a:p>
            <a:endParaRPr lang="zh-TW" altLang="en-US" sz="2400" dirty="0">
              <a:solidFill>
                <a:srgbClr val="E06741"/>
              </a:solidFill>
              <a:latin typeface="標楷體" panose="03000509000000000000" pitchFamily="65" charset="-120"/>
              <a:ea typeface="標楷體" panose="03000509000000000000" pitchFamily="65" charset="-120"/>
              <a:cs typeface="Times New Roman" panose="02020603050405020304" pitchFamily="18" charset="0"/>
            </a:endParaRPr>
          </a:p>
        </p:txBody>
      </p:sp>
      <p:sp>
        <p:nvSpPr>
          <p:cNvPr id="10" name="文字方塊 9">
            <a:extLst>
              <a:ext uri="{FF2B5EF4-FFF2-40B4-BE49-F238E27FC236}">
                <a16:creationId xmlns:a16="http://schemas.microsoft.com/office/drawing/2014/main" id="{198702E0-29BF-45ED-BB34-E70A3CAA9F43}"/>
              </a:ext>
            </a:extLst>
          </p:cNvPr>
          <p:cNvSpPr txBox="1"/>
          <p:nvPr/>
        </p:nvSpPr>
        <p:spPr>
          <a:xfrm>
            <a:off x="4487241" y="449166"/>
            <a:ext cx="2930610" cy="400110"/>
          </a:xfrm>
          <a:prstGeom prst="rect">
            <a:avLst/>
          </a:prstGeom>
          <a:noFill/>
        </p:spPr>
        <p:txBody>
          <a:bodyPr wrap="none" rtlCol="0">
            <a:spAutoFit/>
          </a:bodyPr>
          <a:lstStyle/>
          <a:p>
            <a:r>
              <a:rPr lang="en-US" altLang="zh-TW" sz="2000" b="1" dirty="0">
                <a:solidFill>
                  <a:schemeClr val="tx1">
                    <a:lumMod val="65000"/>
                    <a:lumOff val="35000"/>
                  </a:schemeClr>
                </a:solidFill>
                <a:latin typeface="微軟正黑體" panose="020B0604030504040204" pitchFamily="34" charset="-120"/>
                <a:ea typeface="微軟正黑體" panose="020B0604030504040204" pitchFamily="34" charset="-120"/>
                <a:cs typeface="Times New Roman" panose="02020603050405020304" pitchFamily="18" charset="0"/>
              </a:rPr>
              <a:t>-1 </a:t>
            </a:r>
            <a:r>
              <a:rPr lang="zh-TW" altLang="en-US" sz="2000" b="1" dirty="0">
                <a:solidFill>
                  <a:schemeClr val="tx1">
                    <a:lumMod val="65000"/>
                    <a:lumOff val="35000"/>
                  </a:schemeClr>
                </a:solidFill>
                <a:latin typeface="微軟正黑體" panose="020B0604030504040204" pitchFamily="34" charset="-120"/>
                <a:ea typeface="微軟正黑體" panose="020B0604030504040204" pitchFamily="34" charset="-120"/>
                <a:cs typeface="Times New Roman" panose="02020603050405020304" pitchFamily="18" charset="0"/>
              </a:rPr>
              <a:t>區塊鏈技術核心元件</a:t>
            </a:r>
          </a:p>
        </p:txBody>
      </p:sp>
      <p:sp>
        <p:nvSpPr>
          <p:cNvPr id="2" name="文字方塊 1">
            <a:extLst>
              <a:ext uri="{FF2B5EF4-FFF2-40B4-BE49-F238E27FC236}">
                <a16:creationId xmlns:a16="http://schemas.microsoft.com/office/drawing/2014/main" id="{D6D66D7E-58A1-40BE-8070-FA1C3AF22B14}"/>
              </a:ext>
            </a:extLst>
          </p:cNvPr>
          <p:cNvSpPr txBox="1"/>
          <p:nvPr/>
        </p:nvSpPr>
        <p:spPr>
          <a:xfrm>
            <a:off x="1629119" y="1465885"/>
            <a:ext cx="9251317" cy="3902479"/>
          </a:xfrm>
          <a:prstGeom prst="rect">
            <a:avLst/>
          </a:prstGeom>
          <a:noFill/>
        </p:spPr>
        <p:txBody>
          <a:bodyPr wrap="square" rtlCol="0">
            <a:spAutoFit/>
          </a:bodyPr>
          <a:lstStyle/>
          <a:p>
            <a:pPr marL="342900" indent="-342900">
              <a:lnSpc>
                <a:spcPct val="150000"/>
              </a:lnSpc>
              <a:buSzPct val="100000"/>
              <a:buBlip>
                <a:blip r:embed="rId3"/>
              </a:buBlip>
            </a:pPr>
            <a:r>
              <a:rPr lang="en-US" altLang="zh-TW" sz="2400" b="1" dirty="0">
                <a:solidFill>
                  <a:srgbClr val="C00000"/>
                </a:solidFill>
                <a:latin typeface="微軟正黑體" panose="020B0604030504040204" pitchFamily="34" charset="-120"/>
                <a:ea typeface="微軟正黑體" panose="020B0604030504040204" pitchFamily="34" charset="-120"/>
              </a:rPr>
              <a:t>DPOS </a:t>
            </a:r>
            <a:r>
              <a:rPr lang="zh-TW" altLang="en-US" sz="2400" b="1" dirty="0">
                <a:solidFill>
                  <a:srgbClr val="C00000"/>
                </a:solidFill>
                <a:latin typeface="微軟正黑體" panose="020B0604030504040204" pitchFamily="34" charset="-120"/>
                <a:ea typeface="微軟正黑體" panose="020B0604030504040204" pitchFamily="34" charset="-120"/>
              </a:rPr>
              <a:t>的優點：</a:t>
            </a:r>
            <a:endParaRPr lang="en-US" altLang="zh-TW" sz="2400" b="1" dirty="0">
              <a:solidFill>
                <a:srgbClr val="C00000"/>
              </a:solidFill>
              <a:latin typeface="微軟正黑體" panose="020B0604030504040204" pitchFamily="34" charset="-120"/>
              <a:ea typeface="微軟正黑體" panose="020B0604030504040204" pitchFamily="34" charset="-120"/>
            </a:endParaRPr>
          </a:p>
          <a:p>
            <a:pPr lvl="1">
              <a:lnSpc>
                <a:spcPct val="150000"/>
              </a:lnSpc>
              <a:buSzPct val="100000"/>
            </a:pPr>
            <a:r>
              <a:rPr lang="zh-TW" altLang="en-US" sz="2400" b="1" dirty="0">
                <a:solidFill>
                  <a:schemeClr val="tx1">
                    <a:lumMod val="75000"/>
                    <a:lumOff val="25000"/>
                  </a:schemeClr>
                </a:solidFill>
                <a:latin typeface="微軟正黑體" panose="020B0604030504040204" pitchFamily="34" charset="-120"/>
                <a:ea typeface="微軟正黑體" panose="020B0604030504040204" pitchFamily="34" charset="-120"/>
              </a:rPr>
              <a:t>除了具備</a:t>
            </a:r>
            <a:r>
              <a:rPr lang="en-US" altLang="zh-TW" sz="2400" b="1" dirty="0">
                <a:solidFill>
                  <a:schemeClr val="tx1">
                    <a:lumMod val="75000"/>
                    <a:lumOff val="25000"/>
                  </a:schemeClr>
                </a:solidFill>
                <a:latin typeface="微軟正黑體" panose="020B0604030504040204" pitchFamily="34" charset="-120"/>
                <a:ea typeface="微軟正黑體" panose="020B0604030504040204" pitchFamily="34" charset="-120"/>
              </a:rPr>
              <a:t>POS </a:t>
            </a:r>
            <a:r>
              <a:rPr lang="zh-TW" altLang="en-US" sz="2400" b="1" dirty="0">
                <a:solidFill>
                  <a:schemeClr val="tx1">
                    <a:lumMod val="75000"/>
                    <a:lumOff val="25000"/>
                  </a:schemeClr>
                </a:solidFill>
                <a:latin typeface="微軟正黑體" panose="020B0604030504040204" pitchFamily="34" charset="-120"/>
                <a:ea typeface="微軟正黑體" panose="020B0604030504040204" pitchFamily="34" charset="-120"/>
              </a:rPr>
              <a:t>的優點以外，其大幅縮小參與驗證和記帳節點的數量，可以達到秒級的共識驗證</a:t>
            </a:r>
            <a:endParaRPr lang="en-US" altLang="zh-TW" sz="2400" b="1" dirty="0">
              <a:solidFill>
                <a:schemeClr val="tx1">
                  <a:lumMod val="75000"/>
                  <a:lumOff val="25000"/>
                </a:schemeClr>
              </a:solidFill>
              <a:latin typeface="微軟正黑體" panose="020B0604030504040204" pitchFamily="34" charset="-120"/>
              <a:ea typeface="微軟正黑體" panose="020B0604030504040204" pitchFamily="34" charset="-120"/>
            </a:endParaRPr>
          </a:p>
          <a:p>
            <a:pPr marL="342900" indent="-342900">
              <a:lnSpc>
                <a:spcPct val="150000"/>
              </a:lnSpc>
              <a:buSzPct val="100000"/>
              <a:buBlip>
                <a:blip r:embed="rId3"/>
              </a:buBlip>
            </a:pPr>
            <a:r>
              <a:rPr lang="en-US" altLang="zh-TW" sz="2400" b="1" dirty="0">
                <a:solidFill>
                  <a:srgbClr val="C00000"/>
                </a:solidFill>
                <a:latin typeface="微軟正黑體" panose="020B0604030504040204" pitchFamily="34" charset="-120"/>
                <a:ea typeface="微軟正黑體" panose="020B0604030504040204" pitchFamily="34" charset="-120"/>
              </a:rPr>
              <a:t>DPOS </a:t>
            </a:r>
            <a:r>
              <a:rPr lang="zh-TW" altLang="en-US" sz="2400" b="1" dirty="0">
                <a:solidFill>
                  <a:srgbClr val="C00000"/>
                </a:solidFill>
                <a:latin typeface="微軟正黑體" panose="020B0604030504040204" pitchFamily="34" charset="-120"/>
                <a:ea typeface="微軟正黑體" panose="020B0604030504040204" pitchFamily="34" charset="-120"/>
              </a:rPr>
              <a:t>的缺點：</a:t>
            </a:r>
          </a:p>
          <a:p>
            <a:pPr marL="914400" lvl="1" indent="-457200">
              <a:lnSpc>
                <a:spcPct val="150000"/>
              </a:lnSpc>
              <a:buSzPct val="100000"/>
              <a:buFont typeface="+mj-lt"/>
              <a:buAutoNum type="arabicParenR"/>
            </a:pPr>
            <a:r>
              <a:rPr lang="zh-TW" altLang="en-US" sz="2400" b="1" dirty="0">
                <a:solidFill>
                  <a:schemeClr val="tx1">
                    <a:lumMod val="75000"/>
                    <a:lumOff val="25000"/>
                  </a:schemeClr>
                </a:solidFill>
                <a:latin typeface="微軟正黑體" panose="020B0604030504040204" pitchFamily="34" charset="-120"/>
                <a:ea typeface="微軟正黑體" panose="020B0604030504040204" pitchFamily="34" charset="-120"/>
              </a:rPr>
              <a:t>整個共識機制還是過於依賴於代幣，然而現今聯盟鏈中許多情況並不存在加密貨幣 。</a:t>
            </a:r>
          </a:p>
          <a:p>
            <a:pPr marL="914400" lvl="1" indent="-457200">
              <a:lnSpc>
                <a:spcPct val="150000"/>
              </a:lnSpc>
              <a:buSzPct val="100000"/>
              <a:buFont typeface="+mj-lt"/>
              <a:buAutoNum type="arabicParenR"/>
            </a:pPr>
            <a:r>
              <a:rPr lang="zh-TW" altLang="en-US" sz="2400" b="1" dirty="0">
                <a:solidFill>
                  <a:schemeClr val="tx1">
                    <a:lumMod val="75000"/>
                    <a:lumOff val="25000"/>
                  </a:schemeClr>
                </a:solidFill>
                <a:latin typeface="微軟正黑體" panose="020B0604030504040204" pitchFamily="34" charset="-120"/>
                <a:ea typeface="微軟正黑體" panose="020B0604030504040204" pitchFamily="34" charset="-120"/>
              </a:rPr>
              <a:t>撇除</a:t>
            </a:r>
            <a:r>
              <a:rPr lang="en-US" altLang="zh-TW" sz="2400" b="1" dirty="0">
                <a:solidFill>
                  <a:schemeClr val="tx1">
                    <a:lumMod val="75000"/>
                    <a:lumOff val="25000"/>
                  </a:schemeClr>
                </a:solidFill>
                <a:latin typeface="微軟正黑體" panose="020B0604030504040204" pitchFamily="34" charset="-120"/>
                <a:ea typeface="微軟正黑體" panose="020B0604030504040204" pitchFamily="34" charset="-120"/>
              </a:rPr>
              <a:t>Casper </a:t>
            </a:r>
            <a:r>
              <a:rPr lang="zh-TW" altLang="en-US" sz="2400" b="1" dirty="0">
                <a:solidFill>
                  <a:schemeClr val="tx1">
                    <a:lumMod val="75000"/>
                    <a:lumOff val="25000"/>
                  </a:schemeClr>
                </a:solidFill>
                <a:latin typeface="微軟正黑體" panose="020B0604030504040204" pitchFamily="34" charset="-120"/>
                <a:ea typeface="微軟正黑體" panose="020B0604030504040204" pitchFamily="34" charset="-120"/>
              </a:rPr>
              <a:t>的話，多數</a:t>
            </a:r>
            <a:r>
              <a:rPr lang="en-US" altLang="zh-TW" sz="2400" b="1" dirty="0">
                <a:solidFill>
                  <a:schemeClr val="tx1">
                    <a:lumMod val="75000"/>
                    <a:lumOff val="25000"/>
                  </a:schemeClr>
                </a:solidFill>
                <a:latin typeface="微軟正黑體" panose="020B0604030504040204" pitchFamily="34" charset="-120"/>
                <a:ea typeface="微軟正黑體" panose="020B0604030504040204" pitchFamily="34" charset="-120"/>
              </a:rPr>
              <a:t>DPOS </a:t>
            </a:r>
            <a:r>
              <a:rPr lang="zh-TW" altLang="en-US" sz="2400" b="1" dirty="0">
                <a:solidFill>
                  <a:schemeClr val="tx1">
                    <a:lumMod val="75000"/>
                    <a:lumOff val="25000"/>
                  </a:schemeClr>
                </a:solidFill>
                <a:latin typeface="微軟正黑體" panose="020B0604030504040204" pitchFamily="34" charset="-120"/>
                <a:ea typeface="微軟正黑體" panose="020B0604030504040204" pitchFamily="34" charset="-120"/>
              </a:rPr>
              <a:t>仍無法有區塊最終性 。</a:t>
            </a:r>
            <a:endParaRPr lang="en-US" altLang="zh-TW" sz="2400" b="1" dirty="0">
              <a:solidFill>
                <a:schemeClr val="tx1">
                  <a:lumMod val="75000"/>
                  <a:lumOff val="25000"/>
                </a:schemeClr>
              </a:solidFill>
              <a:latin typeface="微軟正黑體" panose="020B0604030504040204" pitchFamily="34" charset="-120"/>
              <a:ea typeface="微軟正黑體" panose="020B0604030504040204" pitchFamily="34" charset="-120"/>
            </a:endParaRPr>
          </a:p>
        </p:txBody>
      </p:sp>
      <p:cxnSp>
        <p:nvCxnSpPr>
          <p:cNvPr id="12" name="直接连接符 33">
            <a:extLst>
              <a:ext uri="{FF2B5EF4-FFF2-40B4-BE49-F238E27FC236}">
                <a16:creationId xmlns:a16="http://schemas.microsoft.com/office/drawing/2014/main" id="{A65F0293-9BDE-4674-B7FB-55F0FABF02CF}"/>
              </a:ext>
            </a:extLst>
          </p:cNvPr>
          <p:cNvCxnSpPr/>
          <p:nvPr/>
        </p:nvCxnSpPr>
        <p:spPr>
          <a:xfrm>
            <a:off x="1177167" y="1046746"/>
            <a:ext cx="10585176" cy="0"/>
          </a:xfrm>
          <a:prstGeom prst="line">
            <a:avLst/>
          </a:prstGeom>
          <a:ln w="190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pic>
        <p:nvPicPr>
          <p:cNvPr id="11" name="圖片 10">
            <a:extLst>
              <a:ext uri="{FF2B5EF4-FFF2-40B4-BE49-F238E27FC236}">
                <a16:creationId xmlns:a16="http://schemas.microsoft.com/office/drawing/2014/main" id="{70C1A9F5-DDDB-4210-8593-BB3B06BC6CA2}"/>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686239" y="4702371"/>
            <a:ext cx="1894019" cy="1894019"/>
          </a:xfrm>
          <a:prstGeom prst="rect">
            <a:avLst/>
          </a:prstGeom>
        </p:spPr>
      </p:pic>
    </p:spTree>
    <p:extLst>
      <p:ext uri="{BB962C8B-B14F-4D97-AF65-F5344CB8AC3E}">
        <p14:creationId xmlns:p14="http://schemas.microsoft.com/office/powerpoint/2010/main" val="1151529374"/>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6" presetClass="entr" presetSubtype="16" fill="hold" grpId="0" nodeType="after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circle(in)">
                                      <p:cBhvr>
                                        <p:cTn id="7" dur="2000"/>
                                        <p:tgtEl>
                                          <p:spTgt spid="9"/>
                                        </p:tgtEl>
                                      </p:cBhvr>
                                    </p:animEffect>
                                  </p:childTnLst>
                                </p:cTn>
                              </p:par>
                            </p:childTnLst>
                          </p:cTn>
                        </p:par>
                        <p:par>
                          <p:cTn id="8" fill="hold">
                            <p:stCondLst>
                              <p:cond delay="2000"/>
                            </p:stCondLst>
                            <p:childTnLst>
                              <p:par>
                                <p:cTn id="9" presetID="14" presetClass="entr" presetSubtype="10" fill="hold" grpId="0" nodeType="afterEffect">
                                  <p:stCondLst>
                                    <p:cond delay="0"/>
                                  </p:stCondLst>
                                  <p:childTnLst>
                                    <p:set>
                                      <p:cBhvr>
                                        <p:cTn id="10" dur="1" fill="hold">
                                          <p:stCondLst>
                                            <p:cond delay="0"/>
                                          </p:stCondLst>
                                        </p:cTn>
                                        <p:tgtEl>
                                          <p:spTgt spid="10"/>
                                        </p:tgtEl>
                                        <p:attrNameLst>
                                          <p:attrName>style.visibility</p:attrName>
                                        </p:attrNameLst>
                                      </p:cBhvr>
                                      <p:to>
                                        <p:strVal val="visible"/>
                                      </p:to>
                                    </p:set>
                                    <p:animEffect transition="in" filter="randombar(horizontal)">
                                      <p:cBhvr>
                                        <p:cTn id="11" dur="500"/>
                                        <p:tgtEl>
                                          <p:spTgt spid="10"/>
                                        </p:tgtEl>
                                      </p:cBhvr>
                                    </p:animEffect>
                                  </p:childTnLst>
                                </p:cTn>
                              </p:par>
                            </p:childTnLst>
                          </p:cTn>
                        </p:par>
                        <p:par>
                          <p:cTn id="12" fill="hold">
                            <p:stCondLst>
                              <p:cond delay="2500"/>
                            </p:stCondLst>
                            <p:childTnLst>
                              <p:par>
                                <p:cTn id="13" presetID="2" presetClass="entr" presetSubtype="8" fill="hold" nodeType="afterEffect">
                                  <p:stCondLst>
                                    <p:cond delay="0"/>
                                  </p:stCondLst>
                                  <p:childTnLst>
                                    <p:set>
                                      <p:cBhvr>
                                        <p:cTn id="14" dur="1" fill="hold">
                                          <p:stCondLst>
                                            <p:cond delay="0"/>
                                          </p:stCondLst>
                                        </p:cTn>
                                        <p:tgtEl>
                                          <p:spTgt spid="12"/>
                                        </p:tgtEl>
                                        <p:attrNameLst>
                                          <p:attrName>style.visibility</p:attrName>
                                        </p:attrNameLst>
                                      </p:cBhvr>
                                      <p:to>
                                        <p:strVal val="visible"/>
                                      </p:to>
                                    </p:set>
                                    <p:anim calcmode="lin" valueType="num">
                                      <p:cBhvr additive="base">
                                        <p:cTn id="15" dur="500" fill="hold"/>
                                        <p:tgtEl>
                                          <p:spTgt spid="12"/>
                                        </p:tgtEl>
                                        <p:attrNameLst>
                                          <p:attrName>ppt_x</p:attrName>
                                        </p:attrNameLst>
                                      </p:cBhvr>
                                      <p:tavLst>
                                        <p:tav tm="0">
                                          <p:val>
                                            <p:strVal val="0-#ppt_w/2"/>
                                          </p:val>
                                        </p:tav>
                                        <p:tav tm="100000">
                                          <p:val>
                                            <p:strVal val="#ppt_x"/>
                                          </p:val>
                                        </p:tav>
                                      </p:tavLst>
                                    </p:anim>
                                    <p:anim calcmode="lin" valueType="num">
                                      <p:cBhvr additive="base">
                                        <p:cTn id="16" dur="500" fill="hold"/>
                                        <p:tgtEl>
                                          <p:spTgt spid="12"/>
                                        </p:tgtEl>
                                        <p:attrNameLst>
                                          <p:attrName>ppt_y</p:attrName>
                                        </p:attrNameLst>
                                      </p:cBhvr>
                                      <p:tavLst>
                                        <p:tav tm="0">
                                          <p:val>
                                            <p:strVal val="#ppt_y"/>
                                          </p:val>
                                        </p:tav>
                                        <p:tav tm="100000">
                                          <p:val>
                                            <p:strVal val="#ppt_y"/>
                                          </p:val>
                                        </p:tav>
                                      </p:tavLst>
                                    </p:anim>
                                  </p:childTnLst>
                                </p:cTn>
                              </p:par>
                            </p:childTnLst>
                          </p:cTn>
                        </p:par>
                        <p:par>
                          <p:cTn id="17" fill="hold">
                            <p:stCondLst>
                              <p:cond delay="3000"/>
                            </p:stCondLst>
                            <p:childTnLst>
                              <p:par>
                                <p:cTn id="18" presetID="53" presetClass="entr" presetSubtype="16" fill="hold" grpId="0" nodeType="afterEffect">
                                  <p:stCondLst>
                                    <p:cond delay="0"/>
                                  </p:stCondLst>
                                  <p:childTnLst>
                                    <p:set>
                                      <p:cBhvr>
                                        <p:cTn id="19" dur="1" fill="hold">
                                          <p:stCondLst>
                                            <p:cond delay="0"/>
                                          </p:stCondLst>
                                        </p:cTn>
                                        <p:tgtEl>
                                          <p:spTgt spid="2"/>
                                        </p:tgtEl>
                                        <p:attrNameLst>
                                          <p:attrName>style.visibility</p:attrName>
                                        </p:attrNameLst>
                                      </p:cBhvr>
                                      <p:to>
                                        <p:strVal val="visible"/>
                                      </p:to>
                                    </p:set>
                                    <p:anim calcmode="lin" valueType="num">
                                      <p:cBhvr>
                                        <p:cTn id="20" dur="500" fill="hold"/>
                                        <p:tgtEl>
                                          <p:spTgt spid="2"/>
                                        </p:tgtEl>
                                        <p:attrNameLst>
                                          <p:attrName>ppt_w</p:attrName>
                                        </p:attrNameLst>
                                      </p:cBhvr>
                                      <p:tavLst>
                                        <p:tav tm="0">
                                          <p:val>
                                            <p:fltVal val="0"/>
                                          </p:val>
                                        </p:tav>
                                        <p:tav tm="100000">
                                          <p:val>
                                            <p:strVal val="#ppt_w"/>
                                          </p:val>
                                        </p:tav>
                                      </p:tavLst>
                                    </p:anim>
                                    <p:anim calcmode="lin" valueType="num">
                                      <p:cBhvr>
                                        <p:cTn id="21" dur="500" fill="hold"/>
                                        <p:tgtEl>
                                          <p:spTgt spid="2"/>
                                        </p:tgtEl>
                                        <p:attrNameLst>
                                          <p:attrName>ppt_h</p:attrName>
                                        </p:attrNameLst>
                                      </p:cBhvr>
                                      <p:tavLst>
                                        <p:tav tm="0">
                                          <p:val>
                                            <p:fltVal val="0"/>
                                          </p:val>
                                        </p:tav>
                                        <p:tav tm="100000">
                                          <p:val>
                                            <p:strVal val="#ppt_h"/>
                                          </p:val>
                                        </p:tav>
                                      </p:tavLst>
                                    </p:anim>
                                    <p:animEffect transition="in" filter="fade">
                                      <p:cBhvr>
                                        <p:cTn id="22" dur="500"/>
                                        <p:tgtEl>
                                          <p:spTgt spid="2"/>
                                        </p:tgtEl>
                                      </p:cBhvr>
                                    </p:animEffect>
                                  </p:childTnLst>
                                </p:cTn>
                              </p:par>
                            </p:childTnLst>
                          </p:cTn>
                        </p:par>
                        <p:par>
                          <p:cTn id="23" fill="hold">
                            <p:stCondLst>
                              <p:cond delay="3500"/>
                            </p:stCondLst>
                            <p:childTnLst>
                              <p:par>
                                <p:cTn id="24" presetID="6" presetClass="entr" presetSubtype="16" fill="hold" nodeType="afterEffect">
                                  <p:stCondLst>
                                    <p:cond delay="0"/>
                                  </p:stCondLst>
                                  <p:childTnLst>
                                    <p:set>
                                      <p:cBhvr>
                                        <p:cTn id="25" dur="1" fill="hold">
                                          <p:stCondLst>
                                            <p:cond delay="0"/>
                                          </p:stCondLst>
                                        </p:cTn>
                                        <p:tgtEl>
                                          <p:spTgt spid="11"/>
                                        </p:tgtEl>
                                        <p:attrNameLst>
                                          <p:attrName>style.visibility</p:attrName>
                                        </p:attrNameLst>
                                      </p:cBhvr>
                                      <p:to>
                                        <p:strVal val="visible"/>
                                      </p:to>
                                    </p:set>
                                    <p:animEffect transition="in" filter="circle(in)">
                                      <p:cBhvr>
                                        <p:cTn id="26" dur="10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0" grpId="0"/>
      <p:bldP spid="2"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 name="群組 6">
            <a:extLst>
              <a:ext uri="{FF2B5EF4-FFF2-40B4-BE49-F238E27FC236}">
                <a16:creationId xmlns:a16="http://schemas.microsoft.com/office/drawing/2014/main" id="{1005C4D5-81ED-4987-935A-EFAF72350B59}"/>
              </a:ext>
            </a:extLst>
          </p:cNvPr>
          <p:cNvGrpSpPr/>
          <p:nvPr/>
        </p:nvGrpSpPr>
        <p:grpSpPr>
          <a:xfrm>
            <a:off x="3848616" y="3217380"/>
            <a:ext cx="7138470" cy="3640620"/>
            <a:chOff x="5122718" y="3494184"/>
            <a:chExt cx="5715000" cy="2914650"/>
          </a:xfrm>
        </p:grpSpPr>
        <p:pic>
          <p:nvPicPr>
            <p:cNvPr id="4" name="圖片 3">
              <a:extLst>
                <a:ext uri="{FF2B5EF4-FFF2-40B4-BE49-F238E27FC236}">
                  <a16:creationId xmlns:a16="http://schemas.microsoft.com/office/drawing/2014/main" id="{72A6E5AA-5343-4E55-9FEC-E4ED7CF8D79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122718" y="3494184"/>
              <a:ext cx="5715000" cy="2914650"/>
            </a:xfrm>
            <a:prstGeom prst="rect">
              <a:avLst/>
            </a:prstGeom>
          </p:spPr>
        </p:pic>
        <p:sp>
          <p:nvSpPr>
            <p:cNvPr id="5" name="文字方塊 4">
              <a:extLst>
                <a:ext uri="{FF2B5EF4-FFF2-40B4-BE49-F238E27FC236}">
                  <a16:creationId xmlns:a16="http://schemas.microsoft.com/office/drawing/2014/main" id="{B5A9920B-5154-4810-9DFE-CBC02FCFF78E}"/>
                </a:ext>
              </a:extLst>
            </p:cNvPr>
            <p:cNvSpPr txBox="1"/>
            <p:nvPr/>
          </p:nvSpPr>
          <p:spPr>
            <a:xfrm>
              <a:off x="9365673" y="5957455"/>
              <a:ext cx="1422400" cy="397163"/>
            </a:xfrm>
            <a:prstGeom prst="rect">
              <a:avLst/>
            </a:prstGeom>
            <a:solidFill>
              <a:srgbClr val="EFE3CB"/>
            </a:solidFill>
          </p:spPr>
          <p:txBody>
            <a:bodyPr wrap="square" rtlCol="0">
              <a:spAutoFit/>
            </a:bodyPr>
            <a:lstStyle/>
            <a:p>
              <a:endParaRPr lang="zh-TW" altLang="en-US" dirty="0"/>
            </a:p>
          </p:txBody>
        </p:sp>
      </p:grpSp>
      <p:pic>
        <p:nvPicPr>
          <p:cNvPr id="8" name="图片 42">
            <a:extLst>
              <a:ext uri="{FF2B5EF4-FFF2-40B4-BE49-F238E27FC236}">
                <a16:creationId xmlns:a16="http://schemas.microsoft.com/office/drawing/2014/main" id="{C8D97DA4-6242-4E73-AEFC-457D04FDC65B}"/>
              </a:ext>
            </a:extLst>
          </p:cNvPr>
          <p:cNvPicPr>
            <a:picLocks noChangeAspect="1"/>
          </p:cNvPicPr>
          <p:nvPr/>
        </p:nvPicPr>
        <p:blipFill>
          <a:blip r:embed="rId3"/>
          <a:stretch>
            <a:fillRect/>
          </a:stretch>
        </p:blipFill>
        <p:spPr>
          <a:xfrm rot="16200000">
            <a:off x="145169" y="-145167"/>
            <a:ext cx="1268414" cy="1558750"/>
          </a:xfrm>
          <a:prstGeom prst="rect">
            <a:avLst/>
          </a:prstGeom>
        </p:spPr>
      </p:pic>
      <p:sp>
        <p:nvSpPr>
          <p:cNvPr id="6" name="文字方塊 5">
            <a:extLst>
              <a:ext uri="{FF2B5EF4-FFF2-40B4-BE49-F238E27FC236}">
                <a16:creationId xmlns:a16="http://schemas.microsoft.com/office/drawing/2014/main" id="{8A30B01A-3198-4955-A208-0E3D9EB60397}"/>
              </a:ext>
            </a:extLst>
          </p:cNvPr>
          <p:cNvSpPr txBox="1"/>
          <p:nvPr/>
        </p:nvSpPr>
        <p:spPr>
          <a:xfrm>
            <a:off x="1558751" y="6596390"/>
            <a:ext cx="4217821" cy="261610"/>
          </a:xfrm>
          <a:prstGeom prst="rect">
            <a:avLst/>
          </a:prstGeom>
          <a:noFill/>
        </p:spPr>
        <p:txBody>
          <a:bodyPr wrap="none" rtlCol="0">
            <a:spAutoFit/>
          </a:bodyPr>
          <a:lstStyle/>
          <a:p>
            <a:r>
              <a:rPr lang="zh-TW" altLang="en-US" sz="1100" dirty="0">
                <a:latin typeface="Microsoft JhengHei Light" panose="020B0304030504040204" pitchFamily="34" charset="-120"/>
                <a:ea typeface="Microsoft JhengHei Light" panose="020B0304030504040204" pitchFamily="34" charset="-120"/>
              </a:rPr>
              <a:t>區塊鏈商業應用概論 實例與分析／新陸書局股份有限公司 發行</a:t>
            </a:r>
          </a:p>
        </p:txBody>
      </p:sp>
      <p:sp>
        <p:nvSpPr>
          <p:cNvPr id="9" name="標題 1">
            <a:extLst>
              <a:ext uri="{FF2B5EF4-FFF2-40B4-BE49-F238E27FC236}">
                <a16:creationId xmlns:a16="http://schemas.microsoft.com/office/drawing/2014/main" id="{475DFFF1-7C37-4CBE-ACFC-3F348BCD20CC}"/>
              </a:ext>
            </a:extLst>
          </p:cNvPr>
          <p:cNvSpPr txBox="1">
            <a:spLocks/>
          </p:cNvSpPr>
          <p:nvPr/>
        </p:nvSpPr>
        <p:spPr>
          <a:xfrm>
            <a:off x="1231956" y="393820"/>
            <a:ext cx="3643527" cy="874595"/>
          </a:xfrm>
          <a:prstGeom prst="rect">
            <a:avLst/>
          </a:prstGeom>
        </p:spPr>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altLang="zh-TW" sz="2400" b="1" dirty="0">
                <a:solidFill>
                  <a:srgbClr val="E06741"/>
                </a:solidFill>
              </a:rPr>
              <a:t>2-2 </a:t>
            </a:r>
            <a:r>
              <a:rPr lang="zh-TW" altLang="en-US" sz="2400" b="1" dirty="0">
                <a:solidFill>
                  <a:srgbClr val="E06741"/>
                </a:solidFill>
              </a:rPr>
              <a:t>區塊鏈技術發展</a:t>
            </a:r>
          </a:p>
          <a:p>
            <a:endParaRPr lang="zh-TW" altLang="en-US" sz="2400" dirty="0">
              <a:solidFill>
                <a:srgbClr val="E06741"/>
              </a:solidFill>
              <a:latin typeface="標楷體" panose="03000509000000000000" pitchFamily="65" charset="-120"/>
              <a:ea typeface="標楷體" panose="03000509000000000000" pitchFamily="65" charset="-120"/>
              <a:cs typeface="Times New Roman" panose="02020603050405020304" pitchFamily="18" charset="0"/>
            </a:endParaRPr>
          </a:p>
        </p:txBody>
      </p:sp>
      <p:sp>
        <p:nvSpPr>
          <p:cNvPr id="10" name="文字方塊 9">
            <a:extLst>
              <a:ext uri="{FF2B5EF4-FFF2-40B4-BE49-F238E27FC236}">
                <a16:creationId xmlns:a16="http://schemas.microsoft.com/office/drawing/2014/main" id="{198702E0-29BF-45ED-BB34-E70A3CAA9F43}"/>
              </a:ext>
            </a:extLst>
          </p:cNvPr>
          <p:cNvSpPr txBox="1"/>
          <p:nvPr/>
        </p:nvSpPr>
        <p:spPr>
          <a:xfrm>
            <a:off x="4487241" y="449166"/>
            <a:ext cx="2930610" cy="400110"/>
          </a:xfrm>
          <a:prstGeom prst="rect">
            <a:avLst/>
          </a:prstGeom>
          <a:noFill/>
        </p:spPr>
        <p:txBody>
          <a:bodyPr wrap="none" rtlCol="0">
            <a:spAutoFit/>
          </a:bodyPr>
          <a:lstStyle/>
          <a:p>
            <a:r>
              <a:rPr lang="en-US" altLang="zh-TW" sz="2000" b="1" dirty="0">
                <a:solidFill>
                  <a:schemeClr val="tx1">
                    <a:lumMod val="65000"/>
                    <a:lumOff val="35000"/>
                  </a:schemeClr>
                </a:solidFill>
                <a:latin typeface="微軟正黑體" panose="020B0604030504040204" pitchFamily="34" charset="-120"/>
                <a:ea typeface="微軟正黑體" panose="020B0604030504040204" pitchFamily="34" charset="-120"/>
                <a:cs typeface="Times New Roman" panose="02020603050405020304" pitchFamily="18" charset="0"/>
              </a:rPr>
              <a:t>-1 </a:t>
            </a:r>
            <a:r>
              <a:rPr lang="zh-TW" altLang="en-US" sz="2000" b="1" dirty="0">
                <a:solidFill>
                  <a:schemeClr val="tx1">
                    <a:lumMod val="65000"/>
                    <a:lumOff val="35000"/>
                  </a:schemeClr>
                </a:solidFill>
                <a:latin typeface="微軟正黑體" panose="020B0604030504040204" pitchFamily="34" charset="-120"/>
                <a:ea typeface="微軟正黑體" panose="020B0604030504040204" pitchFamily="34" charset="-120"/>
                <a:cs typeface="Times New Roman" panose="02020603050405020304" pitchFamily="18" charset="0"/>
              </a:rPr>
              <a:t>區塊鏈技術核心元件</a:t>
            </a:r>
          </a:p>
        </p:txBody>
      </p:sp>
      <p:sp>
        <p:nvSpPr>
          <p:cNvPr id="2" name="文字方塊 1">
            <a:extLst>
              <a:ext uri="{FF2B5EF4-FFF2-40B4-BE49-F238E27FC236}">
                <a16:creationId xmlns:a16="http://schemas.microsoft.com/office/drawing/2014/main" id="{D6D66D7E-58A1-40BE-8070-FA1C3AF22B14}"/>
              </a:ext>
            </a:extLst>
          </p:cNvPr>
          <p:cNvSpPr txBox="1"/>
          <p:nvPr/>
        </p:nvSpPr>
        <p:spPr>
          <a:xfrm>
            <a:off x="1713706" y="1237756"/>
            <a:ext cx="9246338" cy="1778820"/>
          </a:xfrm>
          <a:prstGeom prst="rect">
            <a:avLst/>
          </a:prstGeom>
          <a:noFill/>
        </p:spPr>
        <p:txBody>
          <a:bodyPr wrap="square" rtlCol="0">
            <a:spAutoFit/>
          </a:bodyPr>
          <a:lstStyle/>
          <a:p>
            <a:pPr>
              <a:lnSpc>
                <a:spcPct val="150000"/>
              </a:lnSpc>
              <a:buSzPct val="150000"/>
            </a:pPr>
            <a:r>
              <a:rPr lang="zh-TW" altLang="en-US" sz="2400" b="1" dirty="0">
                <a:solidFill>
                  <a:schemeClr val="tx1">
                    <a:lumMod val="75000"/>
                    <a:lumOff val="25000"/>
                  </a:schemeClr>
                </a:solidFill>
                <a:latin typeface="微軟正黑體" panose="020B0604030504040204" pitchFamily="34" charset="-120"/>
                <a:ea typeface="微軟正黑體" panose="020B0604030504040204" pitchFamily="34" charset="-120"/>
              </a:rPr>
              <a:t>（四） </a:t>
            </a:r>
            <a:r>
              <a:rPr lang="en-US" altLang="zh-TW" sz="2400" b="1" dirty="0">
                <a:solidFill>
                  <a:schemeClr val="tx1">
                    <a:lumMod val="75000"/>
                    <a:lumOff val="25000"/>
                  </a:schemeClr>
                </a:solidFill>
                <a:latin typeface="微軟正黑體" panose="020B0604030504040204" pitchFamily="34" charset="-120"/>
                <a:ea typeface="微軟正黑體" panose="020B0604030504040204" pitchFamily="34" charset="-120"/>
              </a:rPr>
              <a:t>PBFT </a:t>
            </a:r>
            <a:r>
              <a:rPr lang="zh-TW" altLang="en-US" sz="2400" b="1" dirty="0">
                <a:solidFill>
                  <a:schemeClr val="tx1">
                    <a:lumMod val="75000"/>
                    <a:lumOff val="25000"/>
                  </a:schemeClr>
                </a:solidFill>
                <a:latin typeface="微軟正黑體" panose="020B0604030504040204" pitchFamily="34" charset="-120"/>
                <a:ea typeface="微軟正黑體" panose="020B0604030504040204" pitchFamily="34" charset="-120"/>
              </a:rPr>
              <a:t>實用拜占庭容錯算法</a:t>
            </a:r>
            <a:endParaRPr lang="en-US" altLang="zh-TW" sz="2400" b="1" dirty="0">
              <a:solidFill>
                <a:schemeClr val="tx1">
                  <a:lumMod val="75000"/>
                  <a:lumOff val="25000"/>
                </a:schemeClr>
              </a:solidFill>
              <a:latin typeface="微軟正黑體" panose="020B0604030504040204" pitchFamily="34" charset="-120"/>
              <a:ea typeface="微軟正黑體" panose="020B0604030504040204" pitchFamily="34" charset="-120"/>
            </a:endParaRPr>
          </a:p>
          <a:p>
            <a:pPr>
              <a:lnSpc>
                <a:spcPct val="150000"/>
              </a:lnSpc>
              <a:buSzPct val="150000"/>
            </a:pPr>
            <a:endParaRPr lang="en-US" altLang="zh-TW" sz="300" b="1" dirty="0">
              <a:solidFill>
                <a:schemeClr val="tx1">
                  <a:lumMod val="75000"/>
                  <a:lumOff val="25000"/>
                </a:schemeClr>
              </a:solidFill>
              <a:latin typeface="微軟正黑體" panose="020B0604030504040204" pitchFamily="34" charset="-120"/>
              <a:ea typeface="微軟正黑體" panose="020B0604030504040204" pitchFamily="34" charset="-120"/>
            </a:endParaRPr>
          </a:p>
          <a:p>
            <a:pPr marL="800100" lvl="1" indent="-342900">
              <a:lnSpc>
                <a:spcPct val="150000"/>
              </a:lnSpc>
              <a:buSzPct val="100000"/>
              <a:buBlip>
                <a:blip r:embed="rId4"/>
              </a:buBlip>
            </a:pPr>
            <a:r>
              <a:rPr lang="en-US" altLang="zh-TW" sz="2400" b="1" dirty="0">
                <a:solidFill>
                  <a:schemeClr val="tx1">
                    <a:lumMod val="75000"/>
                    <a:lumOff val="25000"/>
                  </a:schemeClr>
                </a:solidFill>
                <a:latin typeface="微軟正黑體" panose="020B0604030504040204" pitchFamily="34" charset="-120"/>
                <a:ea typeface="微軟正黑體" panose="020B0604030504040204" pitchFamily="34" charset="-120"/>
              </a:rPr>
              <a:t>POW, POS, DPOS </a:t>
            </a:r>
            <a:r>
              <a:rPr lang="zh-TW" altLang="en-US" sz="2400" b="1" dirty="0">
                <a:solidFill>
                  <a:schemeClr val="tx1">
                    <a:lumMod val="75000"/>
                    <a:lumOff val="25000"/>
                  </a:schemeClr>
                </a:solidFill>
                <a:latin typeface="微軟正黑體" panose="020B0604030504040204" pitchFamily="34" charset="-120"/>
                <a:ea typeface="微軟正黑體" panose="020B0604030504040204" pitchFamily="34" charset="-120"/>
              </a:rPr>
              <a:t>等共識機制皆較適用於公有鏈， 而</a:t>
            </a:r>
            <a:r>
              <a:rPr lang="en-US" altLang="zh-TW" sz="2400" b="1" dirty="0">
                <a:solidFill>
                  <a:schemeClr val="tx1">
                    <a:lumMod val="75000"/>
                    <a:lumOff val="25000"/>
                  </a:schemeClr>
                </a:solidFill>
                <a:latin typeface="微軟正黑體" panose="020B0604030504040204" pitchFamily="34" charset="-120"/>
                <a:ea typeface="微軟正黑體" panose="020B0604030504040204" pitchFamily="34" charset="-120"/>
              </a:rPr>
              <a:t>PBFT </a:t>
            </a:r>
            <a:r>
              <a:rPr lang="zh-TW" altLang="en-US" sz="2400" b="1" dirty="0">
                <a:solidFill>
                  <a:schemeClr val="tx1">
                    <a:lumMod val="75000"/>
                    <a:lumOff val="25000"/>
                  </a:schemeClr>
                </a:solidFill>
                <a:latin typeface="微軟正黑體" panose="020B0604030504040204" pitchFamily="34" charset="-120"/>
                <a:ea typeface="微軟正黑體" panose="020B0604030504040204" pitchFamily="34" charset="-120"/>
              </a:rPr>
              <a:t>則是一種較適合用於</a:t>
            </a:r>
            <a:r>
              <a:rPr lang="zh-TW" altLang="en-US" sz="2400" b="1" dirty="0">
                <a:solidFill>
                  <a:srgbClr val="495B73"/>
                </a:solidFill>
                <a:latin typeface="微軟正黑體" panose="020B0604030504040204" pitchFamily="34" charset="-120"/>
                <a:ea typeface="微軟正黑體" panose="020B0604030504040204" pitchFamily="34" charset="-120"/>
              </a:rPr>
              <a:t>聯盟鏈</a:t>
            </a:r>
            <a:r>
              <a:rPr lang="zh-TW" altLang="en-US" sz="2400" b="1" dirty="0">
                <a:solidFill>
                  <a:schemeClr val="tx1">
                    <a:lumMod val="75000"/>
                    <a:lumOff val="25000"/>
                  </a:schemeClr>
                </a:solidFill>
                <a:latin typeface="微軟正黑體" panose="020B0604030504040204" pitchFamily="34" charset="-120"/>
                <a:ea typeface="微軟正黑體" panose="020B0604030504040204" pitchFamily="34" charset="-120"/>
              </a:rPr>
              <a:t>的共識機制</a:t>
            </a:r>
          </a:p>
        </p:txBody>
      </p:sp>
      <p:cxnSp>
        <p:nvCxnSpPr>
          <p:cNvPr id="12" name="直接连接符 33">
            <a:extLst>
              <a:ext uri="{FF2B5EF4-FFF2-40B4-BE49-F238E27FC236}">
                <a16:creationId xmlns:a16="http://schemas.microsoft.com/office/drawing/2014/main" id="{A65F0293-9BDE-4674-B7FB-55F0FABF02CF}"/>
              </a:ext>
            </a:extLst>
          </p:cNvPr>
          <p:cNvCxnSpPr/>
          <p:nvPr/>
        </p:nvCxnSpPr>
        <p:spPr>
          <a:xfrm>
            <a:off x="1177167" y="1046746"/>
            <a:ext cx="10585176" cy="0"/>
          </a:xfrm>
          <a:prstGeom prst="line">
            <a:avLst/>
          </a:prstGeom>
          <a:ln w="190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259383317"/>
      </p:ext>
    </p:extLst>
  </p:cSld>
  <p:clrMapOvr>
    <a:masterClrMapping/>
  </p:clrMapOvr>
  <p:transition spd="med">
    <p:pul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6" presetClass="entr" presetSubtype="16" fill="hold" grpId="0" nodeType="after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circle(in)">
                                      <p:cBhvr>
                                        <p:cTn id="7" dur="2000"/>
                                        <p:tgtEl>
                                          <p:spTgt spid="9"/>
                                        </p:tgtEl>
                                      </p:cBhvr>
                                    </p:animEffect>
                                  </p:childTnLst>
                                </p:cTn>
                              </p:par>
                            </p:childTnLst>
                          </p:cTn>
                        </p:par>
                        <p:par>
                          <p:cTn id="8" fill="hold">
                            <p:stCondLst>
                              <p:cond delay="2000"/>
                            </p:stCondLst>
                            <p:childTnLst>
                              <p:par>
                                <p:cTn id="9" presetID="14" presetClass="entr" presetSubtype="10" fill="hold" grpId="0" nodeType="afterEffect">
                                  <p:stCondLst>
                                    <p:cond delay="0"/>
                                  </p:stCondLst>
                                  <p:childTnLst>
                                    <p:set>
                                      <p:cBhvr>
                                        <p:cTn id="10" dur="1" fill="hold">
                                          <p:stCondLst>
                                            <p:cond delay="0"/>
                                          </p:stCondLst>
                                        </p:cTn>
                                        <p:tgtEl>
                                          <p:spTgt spid="10"/>
                                        </p:tgtEl>
                                        <p:attrNameLst>
                                          <p:attrName>style.visibility</p:attrName>
                                        </p:attrNameLst>
                                      </p:cBhvr>
                                      <p:to>
                                        <p:strVal val="visible"/>
                                      </p:to>
                                    </p:set>
                                    <p:animEffect transition="in" filter="randombar(horizontal)">
                                      <p:cBhvr>
                                        <p:cTn id="11" dur="500"/>
                                        <p:tgtEl>
                                          <p:spTgt spid="10"/>
                                        </p:tgtEl>
                                      </p:cBhvr>
                                    </p:animEffect>
                                  </p:childTnLst>
                                </p:cTn>
                              </p:par>
                            </p:childTnLst>
                          </p:cTn>
                        </p:par>
                        <p:par>
                          <p:cTn id="12" fill="hold">
                            <p:stCondLst>
                              <p:cond delay="2500"/>
                            </p:stCondLst>
                            <p:childTnLst>
                              <p:par>
                                <p:cTn id="13" presetID="2" presetClass="entr" presetSubtype="8" fill="hold" nodeType="afterEffect">
                                  <p:stCondLst>
                                    <p:cond delay="0"/>
                                  </p:stCondLst>
                                  <p:childTnLst>
                                    <p:set>
                                      <p:cBhvr>
                                        <p:cTn id="14" dur="1" fill="hold">
                                          <p:stCondLst>
                                            <p:cond delay="0"/>
                                          </p:stCondLst>
                                        </p:cTn>
                                        <p:tgtEl>
                                          <p:spTgt spid="12"/>
                                        </p:tgtEl>
                                        <p:attrNameLst>
                                          <p:attrName>style.visibility</p:attrName>
                                        </p:attrNameLst>
                                      </p:cBhvr>
                                      <p:to>
                                        <p:strVal val="visible"/>
                                      </p:to>
                                    </p:set>
                                    <p:anim calcmode="lin" valueType="num">
                                      <p:cBhvr additive="base">
                                        <p:cTn id="15" dur="500" fill="hold"/>
                                        <p:tgtEl>
                                          <p:spTgt spid="12"/>
                                        </p:tgtEl>
                                        <p:attrNameLst>
                                          <p:attrName>ppt_x</p:attrName>
                                        </p:attrNameLst>
                                      </p:cBhvr>
                                      <p:tavLst>
                                        <p:tav tm="0">
                                          <p:val>
                                            <p:strVal val="0-#ppt_w/2"/>
                                          </p:val>
                                        </p:tav>
                                        <p:tav tm="100000">
                                          <p:val>
                                            <p:strVal val="#ppt_x"/>
                                          </p:val>
                                        </p:tav>
                                      </p:tavLst>
                                    </p:anim>
                                    <p:anim calcmode="lin" valueType="num">
                                      <p:cBhvr additive="base">
                                        <p:cTn id="16" dur="500" fill="hold"/>
                                        <p:tgtEl>
                                          <p:spTgt spid="12"/>
                                        </p:tgtEl>
                                        <p:attrNameLst>
                                          <p:attrName>ppt_y</p:attrName>
                                        </p:attrNameLst>
                                      </p:cBhvr>
                                      <p:tavLst>
                                        <p:tav tm="0">
                                          <p:val>
                                            <p:strVal val="#ppt_y"/>
                                          </p:val>
                                        </p:tav>
                                        <p:tav tm="100000">
                                          <p:val>
                                            <p:strVal val="#ppt_y"/>
                                          </p:val>
                                        </p:tav>
                                      </p:tavLst>
                                    </p:anim>
                                  </p:childTnLst>
                                </p:cTn>
                              </p:par>
                            </p:childTnLst>
                          </p:cTn>
                        </p:par>
                        <p:par>
                          <p:cTn id="17" fill="hold">
                            <p:stCondLst>
                              <p:cond delay="3000"/>
                            </p:stCondLst>
                            <p:childTnLst>
                              <p:par>
                                <p:cTn id="18" presetID="53" presetClass="entr" presetSubtype="16" fill="hold" grpId="0" nodeType="afterEffect">
                                  <p:stCondLst>
                                    <p:cond delay="0"/>
                                  </p:stCondLst>
                                  <p:childTnLst>
                                    <p:set>
                                      <p:cBhvr>
                                        <p:cTn id="19" dur="1" fill="hold">
                                          <p:stCondLst>
                                            <p:cond delay="0"/>
                                          </p:stCondLst>
                                        </p:cTn>
                                        <p:tgtEl>
                                          <p:spTgt spid="2"/>
                                        </p:tgtEl>
                                        <p:attrNameLst>
                                          <p:attrName>style.visibility</p:attrName>
                                        </p:attrNameLst>
                                      </p:cBhvr>
                                      <p:to>
                                        <p:strVal val="visible"/>
                                      </p:to>
                                    </p:set>
                                    <p:anim calcmode="lin" valueType="num">
                                      <p:cBhvr>
                                        <p:cTn id="20" dur="500" fill="hold"/>
                                        <p:tgtEl>
                                          <p:spTgt spid="2"/>
                                        </p:tgtEl>
                                        <p:attrNameLst>
                                          <p:attrName>ppt_w</p:attrName>
                                        </p:attrNameLst>
                                      </p:cBhvr>
                                      <p:tavLst>
                                        <p:tav tm="0">
                                          <p:val>
                                            <p:fltVal val="0"/>
                                          </p:val>
                                        </p:tav>
                                        <p:tav tm="100000">
                                          <p:val>
                                            <p:strVal val="#ppt_w"/>
                                          </p:val>
                                        </p:tav>
                                      </p:tavLst>
                                    </p:anim>
                                    <p:anim calcmode="lin" valueType="num">
                                      <p:cBhvr>
                                        <p:cTn id="21" dur="500" fill="hold"/>
                                        <p:tgtEl>
                                          <p:spTgt spid="2"/>
                                        </p:tgtEl>
                                        <p:attrNameLst>
                                          <p:attrName>ppt_h</p:attrName>
                                        </p:attrNameLst>
                                      </p:cBhvr>
                                      <p:tavLst>
                                        <p:tav tm="0">
                                          <p:val>
                                            <p:fltVal val="0"/>
                                          </p:val>
                                        </p:tav>
                                        <p:tav tm="100000">
                                          <p:val>
                                            <p:strVal val="#ppt_h"/>
                                          </p:val>
                                        </p:tav>
                                      </p:tavLst>
                                    </p:anim>
                                    <p:animEffect transition="in" filter="fade">
                                      <p:cBhvr>
                                        <p:cTn id="22" dur="500"/>
                                        <p:tgtEl>
                                          <p:spTgt spid="2"/>
                                        </p:tgtEl>
                                      </p:cBhvr>
                                    </p:animEffect>
                                  </p:childTnLst>
                                </p:cTn>
                              </p:par>
                            </p:childTnLst>
                          </p:cTn>
                        </p:par>
                        <p:par>
                          <p:cTn id="23" fill="hold">
                            <p:stCondLst>
                              <p:cond delay="3500"/>
                            </p:stCondLst>
                            <p:childTnLst>
                              <p:par>
                                <p:cTn id="24" presetID="10" presetClass="entr" presetSubtype="0" fill="hold" nodeType="afterEffect">
                                  <p:stCondLst>
                                    <p:cond delay="0"/>
                                  </p:stCondLst>
                                  <p:childTnLst>
                                    <p:set>
                                      <p:cBhvr>
                                        <p:cTn id="25" dur="1" fill="hold">
                                          <p:stCondLst>
                                            <p:cond delay="0"/>
                                          </p:stCondLst>
                                        </p:cTn>
                                        <p:tgtEl>
                                          <p:spTgt spid="7"/>
                                        </p:tgtEl>
                                        <p:attrNameLst>
                                          <p:attrName>style.visibility</p:attrName>
                                        </p:attrNameLst>
                                      </p:cBhvr>
                                      <p:to>
                                        <p:strVal val="visible"/>
                                      </p:to>
                                    </p:set>
                                    <p:animEffect transition="in" filter="fade">
                                      <p:cBhvr>
                                        <p:cTn id="26"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0" grpId="0"/>
      <p:bldP spid="2"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图片 42">
            <a:extLst>
              <a:ext uri="{FF2B5EF4-FFF2-40B4-BE49-F238E27FC236}">
                <a16:creationId xmlns:a16="http://schemas.microsoft.com/office/drawing/2014/main" id="{C8D97DA4-6242-4E73-AEFC-457D04FDC65B}"/>
              </a:ext>
            </a:extLst>
          </p:cNvPr>
          <p:cNvPicPr>
            <a:picLocks noChangeAspect="1"/>
          </p:cNvPicPr>
          <p:nvPr/>
        </p:nvPicPr>
        <p:blipFill>
          <a:blip r:embed="rId2"/>
          <a:stretch>
            <a:fillRect/>
          </a:stretch>
        </p:blipFill>
        <p:spPr>
          <a:xfrm rot="16200000">
            <a:off x="145169" y="-145167"/>
            <a:ext cx="1268414" cy="1558750"/>
          </a:xfrm>
          <a:prstGeom prst="rect">
            <a:avLst/>
          </a:prstGeom>
        </p:spPr>
      </p:pic>
      <p:sp>
        <p:nvSpPr>
          <p:cNvPr id="6" name="文字方塊 5">
            <a:extLst>
              <a:ext uri="{FF2B5EF4-FFF2-40B4-BE49-F238E27FC236}">
                <a16:creationId xmlns:a16="http://schemas.microsoft.com/office/drawing/2014/main" id="{8A30B01A-3198-4955-A208-0E3D9EB60397}"/>
              </a:ext>
            </a:extLst>
          </p:cNvPr>
          <p:cNvSpPr txBox="1"/>
          <p:nvPr/>
        </p:nvSpPr>
        <p:spPr>
          <a:xfrm>
            <a:off x="1558751" y="6596390"/>
            <a:ext cx="4217821" cy="261610"/>
          </a:xfrm>
          <a:prstGeom prst="rect">
            <a:avLst/>
          </a:prstGeom>
          <a:noFill/>
        </p:spPr>
        <p:txBody>
          <a:bodyPr wrap="none" rtlCol="0">
            <a:spAutoFit/>
          </a:bodyPr>
          <a:lstStyle/>
          <a:p>
            <a:r>
              <a:rPr lang="zh-TW" altLang="en-US" sz="1100" dirty="0">
                <a:latin typeface="Microsoft JhengHei Light" panose="020B0304030504040204" pitchFamily="34" charset="-120"/>
                <a:ea typeface="Microsoft JhengHei Light" panose="020B0304030504040204" pitchFamily="34" charset="-120"/>
              </a:rPr>
              <a:t>區塊鏈商業應用概論 實例與分析／新陸書局股份有限公司 發行</a:t>
            </a:r>
          </a:p>
        </p:txBody>
      </p:sp>
      <p:sp>
        <p:nvSpPr>
          <p:cNvPr id="9" name="標題 1">
            <a:extLst>
              <a:ext uri="{FF2B5EF4-FFF2-40B4-BE49-F238E27FC236}">
                <a16:creationId xmlns:a16="http://schemas.microsoft.com/office/drawing/2014/main" id="{475DFFF1-7C37-4CBE-ACFC-3F348BCD20CC}"/>
              </a:ext>
            </a:extLst>
          </p:cNvPr>
          <p:cNvSpPr txBox="1">
            <a:spLocks/>
          </p:cNvSpPr>
          <p:nvPr/>
        </p:nvSpPr>
        <p:spPr>
          <a:xfrm>
            <a:off x="1231956" y="393820"/>
            <a:ext cx="3643527" cy="874595"/>
          </a:xfrm>
          <a:prstGeom prst="rect">
            <a:avLst/>
          </a:prstGeom>
        </p:spPr>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altLang="zh-TW" sz="2400" b="1" dirty="0">
                <a:solidFill>
                  <a:srgbClr val="E06741"/>
                </a:solidFill>
              </a:rPr>
              <a:t>2-2 </a:t>
            </a:r>
            <a:r>
              <a:rPr lang="zh-TW" altLang="en-US" sz="2400" b="1" dirty="0">
                <a:solidFill>
                  <a:srgbClr val="E06741"/>
                </a:solidFill>
              </a:rPr>
              <a:t>區塊鏈技術發展</a:t>
            </a:r>
          </a:p>
          <a:p>
            <a:endParaRPr lang="zh-TW" altLang="en-US" sz="2400" dirty="0">
              <a:solidFill>
                <a:srgbClr val="E06741"/>
              </a:solidFill>
              <a:latin typeface="標楷體" panose="03000509000000000000" pitchFamily="65" charset="-120"/>
              <a:ea typeface="標楷體" panose="03000509000000000000" pitchFamily="65" charset="-120"/>
              <a:cs typeface="Times New Roman" panose="02020603050405020304" pitchFamily="18" charset="0"/>
            </a:endParaRPr>
          </a:p>
        </p:txBody>
      </p:sp>
      <p:sp>
        <p:nvSpPr>
          <p:cNvPr id="10" name="文字方塊 9">
            <a:extLst>
              <a:ext uri="{FF2B5EF4-FFF2-40B4-BE49-F238E27FC236}">
                <a16:creationId xmlns:a16="http://schemas.microsoft.com/office/drawing/2014/main" id="{198702E0-29BF-45ED-BB34-E70A3CAA9F43}"/>
              </a:ext>
            </a:extLst>
          </p:cNvPr>
          <p:cNvSpPr txBox="1"/>
          <p:nvPr/>
        </p:nvSpPr>
        <p:spPr>
          <a:xfrm>
            <a:off x="4487241" y="449166"/>
            <a:ext cx="2930610" cy="400110"/>
          </a:xfrm>
          <a:prstGeom prst="rect">
            <a:avLst/>
          </a:prstGeom>
          <a:noFill/>
        </p:spPr>
        <p:txBody>
          <a:bodyPr wrap="none" rtlCol="0">
            <a:spAutoFit/>
          </a:bodyPr>
          <a:lstStyle/>
          <a:p>
            <a:r>
              <a:rPr lang="en-US" altLang="zh-TW" sz="2000" b="1" dirty="0">
                <a:solidFill>
                  <a:schemeClr val="tx1">
                    <a:lumMod val="65000"/>
                    <a:lumOff val="35000"/>
                  </a:schemeClr>
                </a:solidFill>
                <a:latin typeface="微軟正黑體" panose="020B0604030504040204" pitchFamily="34" charset="-120"/>
                <a:ea typeface="微軟正黑體" panose="020B0604030504040204" pitchFamily="34" charset="-120"/>
                <a:cs typeface="Times New Roman" panose="02020603050405020304" pitchFamily="18" charset="0"/>
              </a:rPr>
              <a:t>-1 </a:t>
            </a:r>
            <a:r>
              <a:rPr lang="zh-TW" altLang="en-US" sz="2000" b="1" dirty="0">
                <a:solidFill>
                  <a:schemeClr val="tx1">
                    <a:lumMod val="65000"/>
                    <a:lumOff val="35000"/>
                  </a:schemeClr>
                </a:solidFill>
                <a:latin typeface="微軟正黑體" panose="020B0604030504040204" pitchFamily="34" charset="-120"/>
                <a:ea typeface="微軟正黑體" panose="020B0604030504040204" pitchFamily="34" charset="-120"/>
                <a:cs typeface="Times New Roman" panose="02020603050405020304" pitchFamily="18" charset="0"/>
              </a:rPr>
              <a:t>區塊鏈技術核心元件</a:t>
            </a:r>
          </a:p>
        </p:txBody>
      </p:sp>
      <p:sp>
        <p:nvSpPr>
          <p:cNvPr id="2" name="文字方塊 1">
            <a:extLst>
              <a:ext uri="{FF2B5EF4-FFF2-40B4-BE49-F238E27FC236}">
                <a16:creationId xmlns:a16="http://schemas.microsoft.com/office/drawing/2014/main" id="{D6D66D7E-58A1-40BE-8070-FA1C3AF22B14}"/>
              </a:ext>
            </a:extLst>
          </p:cNvPr>
          <p:cNvSpPr txBox="1"/>
          <p:nvPr/>
        </p:nvSpPr>
        <p:spPr>
          <a:xfrm>
            <a:off x="1778792" y="1206756"/>
            <a:ext cx="9251317" cy="5010474"/>
          </a:xfrm>
          <a:prstGeom prst="rect">
            <a:avLst/>
          </a:prstGeom>
          <a:noFill/>
        </p:spPr>
        <p:txBody>
          <a:bodyPr wrap="square" rtlCol="0">
            <a:spAutoFit/>
          </a:bodyPr>
          <a:lstStyle/>
          <a:p>
            <a:pPr marL="342900" indent="-342900">
              <a:lnSpc>
                <a:spcPct val="150000"/>
              </a:lnSpc>
              <a:buSzPct val="100000"/>
              <a:buBlip>
                <a:blip r:embed="rId3"/>
              </a:buBlip>
            </a:pPr>
            <a:r>
              <a:rPr lang="en-US" altLang="zh-TW" sz="2400" b="1" dirty="0">
                <a:solidFill>
                  <a:srgbClr val="C00000"/>
                </a:solidFill>
                <a:latin typeface="微軟正黑體" panose="020B0604030504040204" pitchFamily="34" charset="-120"/>
                <a:ea typeface="微軟正黑體" panose="020B0604030504040204" pitchFamily="34" charset="-120"/>
              </a:rPr>
              <a:t>PBFT </a:t>
            </a:r>
            <a:r>
              <a:rPr lang="zh-TW" altLang="en-US" sz="2400" b="1" dirty="0">
                <a:solidFill>
                  <a:srgbClr val="C00000"/>
                </a:solidFill>
                <a:latin typeface="微軟正黑體" panose="020B0604030504040204" pitchFamily="34" charset="-120"/>
                <a:ea typeface="微軟正黑體" panose="020B0604030504040204" pitchFamily="34" charset="-120"/>
              </a:rPr>
              <a:t>的優點：</a:t>
            </a:r>
          </a:p>
          <a:p>
            <a:pPr marL="914400" lvl="1" indent="-457200">
              <a:lnSpc>
                <a:spcPct val="150000"/>
              </a:lnSpc>
              <a:buSzPct val="100000"/>
              <a:buFont typeface="+mj-lt"/>
              <a:buAutoNum type="arabicParenR"/>
            </a:pPr>
            <a:r>
              <a:rPr lang="zh-TW" altLang="en-US" sz="2400" b="1" dirty="0">
                <a:solidFill>
                  <a:schemeClr val="tx1">
                    <a:lumMod val="75000"/>
                    <a:lumOff val="25000"/>
                  </a:schemeClr>
                </a:solidFill>
                <a:latin typeface="微軟正黑體" panose="020B0604030504040204" pitchFamily="34" charset="-120"/>
                <a:ea typeface="微軟正黑體" panose="020B0604030504040204" pitchFamily="34" charset="-120"/>
              </a:rPr>
              <a:t>系統在容錯範圍內無法被分叉 </a:t>
            </a:r>
          </a:p>
          <a:p>
            <a:pPr marL="914400" lvl="1" indent="-457200">
              <a:lnSpc>
                <a:spcPct val="150000"/>
              </a:lnSpc>
              <a:buSzPct val="100000"/>
              <a:buFont typeface="+mj-lt"/>
              <a:buAutoNum type="arabicParenR"/>
            </a:pPr>
            <a:r>
              <a:rPr lang="zh-TW" altLang="en-US" sz="2400" b="1" dirty="0">
                <a:solidFill>
                  <a:schemeClr val="tx1">
                    <a:lumMod val="75000"/>
                    <a:lumOff val="25000"/>
                  </a:schemeClr>
                </a:solidFill>
                <a:latin typeface="微軟正黑體" panose="020B0604030504040204" pitchFamily="34" charset="-120"/>
                <a:ea typeface="微軟正黑體" panose="020B0604030504040204" pitchFamily="34" charset="-120"/>
              </a:rPr>
              <a:t>系統在容錯範圍內可容忍任何類型的錯誤 </a:t>
            </a:r>
          </a:p>
          <a:p>
            <a:pPr marL="914400" lvl="1" indent="-457200">
              <a:lnSpc>
                <a:spcPct val="150000"/>
              </a:lnSpc>
              <a:buSzPct val="100000"/>
              <a:buFont typeface="+mj-lt"/>
              <a:buAutoNum type="arabicParenR"/>
            </a:pPr>
            <a:r>
              <a:rPr lang="zh-TW" altLang="en-US" sz="2400" b="1" dirty="0">
                <a:solidFill>
                  <a:schemeClr val="tx1">
                    <a:lumMod val="75000"/>
                    <a:lumOff val="25000"/>
                  </a:schemeClr>
                </a:solidFill>
                <a:latin typeface="微軟正黑體" panose="020B0604030504040204" pitchFamily="34" charset="-120"/>
                <a:ea typeface="微軟正黑體" panose="020B0604030504040204" pitchFamily="34" charset="-120"/>
              </a:rPr>
              <a:t>驗證與共識速度極快 </a:t>
            </a:r>
          </a:p>
          <a:p>
            <a:pPr marL="914400" lvl="1" indent="-457200">
              <a:lnSpc>
                <a:spcPct val="150000"/>
              </a:lnSpc>
              <a:buSzPct val="100000"/>
              <a:buFont typeface="+mj-lt"/>
              <a:buAutoNum type="arabicParenR"/>
            </a:pPr>
            <a:r>
              <a:rPr lang="zh-TW" altLang="en-US" sz="2400" b="1" dirty="0">
                <a:solidFill>
                  <a:schemeClr val="tx1">
                    <a:lumMod val="75000"/>
                    <a:lumOff val="25000"/>
                  </a:schemeClr>
                </a:solidFill>
                <a:latin typeface="微軟正黑體" panose="020B0604030504040204" pitchFamily="34" charset="-120"/>
                <a:ea typeface="微軟正黑體" panose="020B0604030504040204" pitchFamily="34" charset="-120"/>
              </a:rPr>
              <a:t>不須競爭算力，因此低耗能 </a:t>
            </a:r>
          </a:p>
          <a:p>
            <a:pPr marL="914400" lvl="1" indent="-457200">
              <a:lnSpc>
                <a:spcPct val="150000"/>
              </a:lnSpc>
              <a:buSzPct val="100000"/>
              <a:buFont typeface="+mj-lt"/>
              <a:buAutoNum type="arabicParenR"/>
            </a:pPr>
            <a:r>
              <a:rPr lang="zh-TW" altLang="en-US" sz="2400" b="1" dirty="0">
                <a:solidFill>
                  <a:schemeClr val="tx1">
                    <a:lumMod val="75000"/>
                    <a:lumOff val="25000"/>
                  </a:schemeClr>
                </a:solidFill>
                <a:latin typeface="微軟正黑體" panose="020B0604030504040204" pitchFamily="34" charset="-120"/>
                <a:ea typeface="微軟正黑體" panose="020B0604030504040204" pitchFamily="34" charset="-120"/>
              </a:rPr>
              <a:t>基於系統在容錯範圍內無法被分叉，區塊具備最終性 </a:t>
            </a:r>
          </a:p>
          <a:p>
            <a:pPr marL="342900" indent="-342900">
              <a:lnSpc>
                <a:spcPct val="150000"/>
              </a:lnSpc>
              <a:buSzPct val="100000"/>
              <a:buBlip>
                <a:blip r:embed="rId3"/>
              </a:buBlip>
            </a:pPr>
            <a:r>
              <a:rPr lang="en-US" altLang="zh-TW" sz="2400" b="1" dirty="0">
                <a:solidFill>
                  <a:srgbClr val="C00000"/>
                </a:solidFill>
                <a:latin typeface="微軟正黑體" panose="020B0604030504040204" pitchFamily="34" charset="-120"/>
                <a:ea typeface="微軟正黑體" panose="020B0604030504040204" pitchFamily="34" charset="-120"/>
              </a:rPr>
              <a:t>PBFT </a:t>
            </a:r>
            <a:r>
              <a:rPr lang="zh-TW" altLang="en-US" sz="2400" b="1" dirty="0">
                <a:solidFill>
                  <a:srgbClr val="C00000"/>
                </a:solidFill>
                <a:latin typeface="微軟正黑體" panose="020B0604030504040204" pitchFamily="34" charset="-120"/>
                <a:ea typeface="微軟正黑體" panose="020B0604030504040204" pitchFamily="34" charset="-120"/>
              </a:rPr>
              <a:t>的缺點：</a:t>
            </a:r>
          </a:p>
          <a:p>
            <a:pPr marL="914400" lvl="1" indent="-457200">
              <a:lnSpc>
                <a:spcPct val="150000"/>
              </a:lnSpc>
              <a:buSzPct val="100000"/>
              <a:buFont typeface="+mj-lt"/>
              <a:buAutoNum type="arabicParenR"/>
            </a:pPr>
            <a:r>
              <a:rPr lang="zh-TW" altLang="en-US" sz="2400" b="1" dirty="0">
                <a:solidFill>
                  <a:schemeClr val="tx1">
                    <a:lumMod val="75000"/>
                    <a:lumOff val="25000"/>
                  </a:schemeClr>
                </a:solidFill>
                <a:latin typeface="微軟正黑體" panose="020B0604030504040204" pitchFamily="34" charset="-120"/>
                <a:ea typeface="微軟正黑體" panose="020B0604030504040204" pitchFamily="34" charset="-120"/>
              </a:rPr>
              <a:t>若超過</a:t>
            </a:r>
            <a:r>
              <a:rPr lang="en-US" altLang="zh-TW" sz="2400" b="1" dirty="0">
                <a:solidFill>
                  <a:schemeClr val="tx1">
                    <a:lumMod val="75000"/>
                    <a:lumOff val="25000"/>
                  </a:schemeClr>
                </a:solidFill>
                <a:latin typeface="微軟正黑體" panose="020B0604030504040204" pitchFamily="34" charset="-120"/>
                <a:ea typeface="微軟正黑體" panose="020B0604030504040204" pitchFamily="34" charset="-120"/>
              </a:rPr>
              <a:t>1/3 </a:t>
            </a:r>
            <a:r>
              <a:rPr lang="zh-TW" altLang="en-US" sz="2400" b="1" dirty="0">
                <a:solidFill>
                  <a:schemeClr val="tx1">
                    <a:lumMod val="75000"/>
                    <a:lumOff val="25000"/>
                  </a:schemeClr>
                </a:solidFill>
                <a:latin typeface="微軟正黑體" panose="020B0604030504040204" pitchFamily="34" charset="-120"/>
                <a:ea typeface="微軟正黑體" panose="020B0604030504040204" pitchFamily="34" charset="-120"/>
              </a:rPr>
              <a:t>的驗證節點故障時，則系統無法繼續運作</a:t>
            </a:r>
          </a:p>
          <a:p>
            <a:pPr marL="914400" lvl="1" indent="-457200">
              <a:lnSpc>
                <a:spcPct val="150000"/>
              </a:lnSpc>
              <a:buSzPct val="100000"/>
              <a:buFont typeface="+mj-lt"/>
              <a:buAutoNum type="arabicParenR"/>
            </a:pPr>
            <a:r>
              <a:rPr lang="zh-TW" altLang="en-US" sz="2400" b="1" dirty="0">
                <a:solidFill>
                  <a:schemeClr val="tx1">
                    <a:lumMod val="75000"/>
                    <a:lumOff val="25000"/>
                  </a:schemeClr>
                </a:solidFill>
                <a:latin typeface="微軟正黑體" panose="020B0604030504040204" pitchFamily="34" charset="-120"/>
                <a:ea typeface="微軟正黑體" panose="020B0604030504040204" pitchFamily="34" charset="-120"/>
              </a:rPr>
              <a:t>無防範駭客偽造大量驗證節點的能力</a:t>
            </a:r>
          </a:p>
        </p:txBody>
      </p:sp>
      <p:cxnSp>
        <p:nvCxnSpPr>
          <p:cNvPr id="12" name="直接连接符 33">
            <a:extLst>
              <a:ext uri="{FF2B5EF4-FFF2-40B4-BE49-F238E27FC236}">
                <a16:creationId xmlns:a16="http://schemas.microsoft.com/office/drawing/2014/main" id="{A65F0293-9BDE-4674-B7FB-55F0FABF02CF}"/>
              </a:ext>
            </a:extLst>
          </p:cNvPr>
          <p:cNvCxnSpPr/>
          <p:nvPr/>
        </p:nvCxnSpPr>
        <p:spPr>
          <a:xfrm>
            <a:off x="1177167" y="1046746"/>
            <a:ext cx="10585176" cy="0"/>
          </a:xfrm>
          <a:prstGeom prst="line">
            <a:avLst/>
          </a:prstGeom>
          <a:ln w="190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575386594"/>
      </p:ext>
    </p:extLst>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2000">
        <p15:prstTrans prst="fallOver"/>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6" presetClass="entr" presetSubtype="16" fill="hold" grpId="0" nodeType="after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circle(in)">
                                      <p:cBhvr>
                                        <p:cTn id="7" dur="2000"/>
                                        <p:tgtEl>
                                          <p:spTgt spid="9"/>
                                        </p:tgtEl>
                                      </p:cBhvr>
                                    </p:animEffect>
                                  </p:childTnLst>
                                </p:cTn>
                              </p:par>
                            </p:childTnLst>
                          </p:cTn>
                        </p:par>
                        <p:par>
                          <p:cTn id="8" fill="hold">
                            <p:stCondLst>
                              <p:cond delay="2000"/>
                            </p:stCondLst>
                            <p:childTnLst>
                              <p:par>
                                <p:cTn id="9" presetID="14" presetClass="entr" presetSubtype="10" fill="hold" grpId="0" nodeType="afterEffect">
                                  <p:stCondLst>
                                    <p:cond delay="0"/>
                                  </p:stCondLst>
                                  <p:childTnLst>
                                    <p:set>
                                      <p:cBhvr>
                                        <p:cTn id="10" dur="1" fill="hold">
                                          <p:stCondLst>
                                            <p:cond delay="0"/>
                                          </p:stCondLst>
                                        </p:cTn>
                                        <p:tgtEl>
                                          <p:spTgt spid="10"/>
                                        </p:tgtEl>
                                        <p:attrNameLst>
                                          <p:attrName>style.visibility</p:attrName>
                                        </p:attrNameLst>
                                      </p:cBhvr>
                                      <p:to>
                                        <p:strVal val="visible"/>
                                      </p:to>
                                    </p:set>
                                    <p:animEffect transition="in" filter="randombar(horizontal)">
                                      <p:cBhvr>
                                        <p:cTn id="11" dur="500"/>
                                        <p:tgtEl>
                                          <p:spTgt spid="10"/>
                                        </p:tgtEl>
                                      </p:cBhvr>
                                    </p:animEffect>
                                  </p:childTnLst>
                                </p:cTn>
                              </p:par>
                            </p:childTnLst>
                          </p:cTn>
                        </p:par>
                        <p:par>
                          <p:cTn id="12" fill="hold">
                            <p:stCondLst>
                              <p:cond delay="2500"/>
                            </p:stCondLst>
                            <p:childTnLst>
                              <p:par>
                                <p:cTn id="13" presetID="2" presetClass="entr" presetSubtype="8" fill="hold" nodeType="afterEffect">
                                  <p:stCondLst>
                                    <p:cond delay="0"/>
                                  </p:stCondLst>
                                  <p:childTnLst>
                                    <p:set>
                                      <p:cBhvr>
                                        <p:cTn id="14" dur="1" fill="hold">
                                          <p:stCondLst>
                                            <p:cond delay="0"/>
                                          </p:stCondLst>
                                        </p:cTn>
                                        <p:tgtEl>
                                          <p:spTgt spid="12"/>
                                        </p:tgtEl>
                                        <p:attrNameLst>
                                          <p:attrName>style.visibility</p:attrName>
                                        </p:attrNameLst>
                                      </p:cBhvr>
                                      <p:to>
                                        <p:strVal val="visible"/>
                                      </p:to>
                                    </p:set>
                                    <p:anim calcmode="lin" valueType="num">
                                      <p:cBhvr additive="base">
                                        <p:cTn id="15" dur="500" fill="hold"/>
                                        <p:tgtEl>
                                          <p:spTgt spid="12"/>
                                        </p:tgtEl>
                                        <p:attrNameLst>
                                          <p:attrName>ppt_x</p:attrName>
                                        </p:attrNameLst>
                                      </p:cBhvr>
                                      <p:tavLst>
                                        <p:tav tm="0">
                                          <p:val>
                                            <p:strVal val="0-#ppt_w/2"/>
                                          </p:val>
                                        </p:tav>
                                        <p:tav tm="100000">
                                          <p:val>
                                            <p:strVal val="#ppt_x"/>
                                          </p:val>
                                        </p:tav>
                                      </p:tavLst>
                                    </p:anim>
                                    <p:anim calcmode="lin" valueType="num">
                                      <p:cBhvr additive="base">
                                        <p:cTn id="16" dur="500" fill="hold"/>
                                        <p:tgtEl>
                                          <p:spTgt spid="12"/>
                                        </p:tgtEl>
                                        <p:attrNameLst>
                                          <p:attrName>ppt_y</p:attrName>
                                        </p:attrNameLst>
                                      </p:cBhvr>
                                      <p:tavLst>
                                        <p:tav tm="0">
                                          <p:val>
                                            <p:strVal val="#ppt_y"/>
                                          </p:val>
                                        </p:tav>
                                        <p:tav tm="100000">
                                          <p:val>
                                            <p:strVal val="#ppt_y"/>
                                          </p:val>
                                        </p:tav>
                                      </p:tavLst>
                                    </p:anim>
                                  </p:childTnLst>
                                </p:cTn>
                              </p:par>
                            </p:childTnLst>
                          </p:cTn>
                        </p:par>
                        <p:par>
                          <p:cTn id="17" fill="hold">
                            <p:stCondLst>
                              <p:cond delay="3000"/>
                            </p:stCondLst>
                            <p:childTnLst>
                              <p:par>
                                <p:cTn id="18" presetID="3" presetClass="entr" presetSubtype="10" fill="hold" grpId="0" nodeType="afterEffect">
                                  <p:stCondLst>
                                    <p:cond delay="0"/>
                                  </p:stCondLst>
                                  <p:childTnLst>
                                    <p:set>
                                      <p:cBhvr>
                                        <p:cTn id="19" dur="1" fill="hold">
                                          <p:stCondLst>
                                            <p:cond delay="0"/>
                                          </p:stCondLst>
                                        </p:cTn>
                                        <p:tgtEl>
                                          <p:spTgt spid="2"/>
                                        </p:tgtEl>
                                        <p:attrNameLst>
                                          <p:attrName>style.visibility</p:attrName>
                                        </p:attrNameLst>
                                      </p:cBhvr>
                                      <p:to>
                                        <p:strVal val="visible"/>
                                      </p:to>
                                    </p:set>
                                    <p:animEffect transition="in" filter="blinds(horizontal)">
                                      <p:cBhvr>
                                        <p:cTn id="20"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0" grpId="0"/>
      <p:bldP spid="2"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矩形: 圓角 13">
            <a:extLst>
              <a:ext uri="{FF2B5EF4-FFF2-40B4-BE49-F238E27FC236}">
                <a16:creationId xmlns:a16="http://schemas.microsoft.com/office/drawing/2014/main" id="{FA0B2FBC-CF59-4F71-94B1-C6E387F52B0F}"/>
              </a:ext>
            </a:extLst>
          </p:cNvPr>
          <p:cNvSpPr/>
          <p:nvPr/>
        </p:nvSpPr>
        <p:spPr>
          <a:xfrm>
            <a:off x="2287112" y="4850954"/>
            <a:ext cx="2518007" cy="1575612"/>
          </a:xfrm>
          <a:prstGeom prst="roundRect">
            <a:avLst/>
          </a:prstGeom>
          <a:noFill/>
          <a:ln w="19050" cap="flat" cmpd="sng" algn="ctr">
            <a:solidFill>
              <a:srgbClr val="FFC000"/>
            </a:solidFill>
            <a:prstDash val="sysDot"/>
            <a:round/>
            <a:headEnd type="none" w="med" len="med"/>
            <a:tailEnd type="none" w="med" len="med"/>
          </a:ln>
        </p:spPr>
        <p:style>
          <a:lnRef idx="0">
            <a:scrgbClr r="0" g="0" b="0"/>
          </a:lnRef>
          <a:fillRef idx="0">
            <a:scrgbClr r="0" g="0" b="0"/>
          </a:fillRef>
          <a:effectRef idx="0">
            <a:scrgbClr r="0" g="0" b="0"/>
          </a:effectRef>
          <a:fontRef idx="minor">
            <a:schemeClr val="accent3"/>
          </a:fontRef>
        </p:style>
        <p:txBody>
          <a:bodyPr rtlCol="0" anchor="ctr"/>
          <a:lstStyle/>
          <a:p>
            <a:r>
              <a:rPr lang="zh-TW" altLang="en-US" sz="1600" b="1" dirty="0">
                <a:solidFill>
                  <a:schemeClr val="tx1">
                    <a:lumMod val="85000"/>
                    <a:lumOff val="15000"/>
                  </a:schemeClr>
                </a:solidFill>
                <a:latin typeface="微軟正黑體" panose="020B0604030504040204" pitchFamily="34" charset="-120"/>
                <a:ea typeface="微軟正黑體" panose="020B0604030504040204" pitchFamily="34" charset="-120"/>
              </a:rPr>
              <a:t>訂定智慧合約相關交易，不論是企業、供應商或者是客戶皆不必擔心交易作業機制會被篡改，或內容會與合約不同</a:t>
            </a:r>
          </a:p>
        </p:txBody>
      </p:sp>
      <p:sp>
        <p:nvSpPr>
          <p:cNvPr id="15" name="矩形: 圓角 14">
            <a:extLst>
              <a:ext uri="{FF2B5EF4-FFF2-40B4-BE49-F238E27FC236}">
                <a16:creationId xmlns:a16="http://schemas.microsoft.com/office/drawing/2014/main" id="{42A87213-8FDA-4F4D-9AA3-1478E0968B99}"/>
              </a:ext>
            </a:extLst>
          </p:cNvPr>
          <p:cNvSpPr/>
          <p:nvPr/>
        </p:nvSpPr>
        <p:spPr>
          <a:xfrm>
            <a:off x="2287112" y="1219240"/>
            <a:ext cx="2518007" cy="1575612"/>
          </a:xfrm>
          <a:prstGeom prst="roundRect">
            <a:avLst/>
          </a:prstGeom>
          <a:noFill/>
          <a:ln w="19050" cap="flat" cmpd="sng" algn="ctr">
            <a:solidFill>
              <a:schemeClr val="accent4"/>
            </a:solidFill>
            <a:prstDash val="sysDot"/>
            <a:round/>
            <a:headEnd type="none" w="med" len="med"/>
            <a:tailEnd type="none" w="med" len="med"/>
          </a:ln>
        </p:spPr>
        <p:style>
          <a:lnRef idx="0">
            <a:scrgbClr r="0" g="0" b="0"/>
          </a:lnRef>
          <a:fillRef idx="0">
            <a:scrgbClr r="0" g="0" b="0"/>
          </a:fillRef>
          <a:effectRef idx="0">
            <a:scrgbClr r="0" g="0" b="0"/>
          </a:effectRef>
          <a:fontRef idx="minor">
            <a:schemeClr val="accent3"/>
          </a:fontRef>
        </p:style>
        <p:txBody>
          <a:bodyPr rtlCol="0" anchor="ctr"/>
          <a:lstStyle/>
          <a:p>
            <a:pPr algn="ctr"/>
            <a:r>
              <a:rPr lang="zh-TW" altLang="en-US" sz="1600" b="1" dirty="0">
                <a:solidFill>
                  <a:schemeClr val="tx1">
                    <a:lumMod val="85000"/>
                    <a:lumOff val="15000"/>
                  </a:schemeClr>
                </a:solidFill>
                <a:latin typeface="微軟正黑體" panose="020B0604030504040204" pitchFamily="34" charset="-120"/>
                <a:ea typeface="微軟正黑體" panose="020B0604030504040204" pitchFamily="34" charset="-120"/>
              </a:rPr>
              <a:t>使用者可透過共享的帳本系統上，看到經授權的交易紀錄，進而加速相關交易進行</a:t>
            </a:r>
          </a:p>
        </p:txBody>
      </p:sp>
      <p:sp>
        <p:nvSpPr>
          <p:cNvPr id="17" name="矩形: 圓角 16">
            <a:extLst>
              <a:ext uri="{FF2B5EF4-FFF2-40B4-BE49-F238E27FC236}">
                <a16:creationId xmlns:a16="http://schemas.microsoft.com/office/drawing/2014/main" id="{0A13B697-CC9E-4842-8269-CD2B7987E0C4}"/>
              </a:ext>
            </a:extLst>
          </p:cNvPr>
          <p:cNvSpPr/>
          <p:nvPr/>
        </p:nvSpPr>
        <p:spPr>
          <a:xfrm>
            <a:off x="7873912" y="1219240"/>
            <a:ext cx="2518007" cy="1575612"/>
          </a:xfrm>
          <a:prstGeom prst="roundRect">
            <a:avLst/>
          </a:prstGeom>
          <a:noFill/>
          <a:ln w="19050" cap="flat" cmpd="sng" algn="ctr">
            <a:solidFill>
              <a:srgbClr val="05AF99"/>
            </a:solidFill>
            <a:prstDash val="sysDot"/>
            <a:round/>
            <a:headEnd type="none" w="med" len="med"/>
            <a:tailEnd type="none" w="med" len="med"/>
          </a:ln>
        </p:spPr>
        <p:style>
          <a:lnRef idx="0">
            <a:scrgbClr r="0" g="0" b="0"/>
          </a:lnRef>
          <a:fillRef idx="0">
            <a:scrgbClr r="0" g="0" b="0"/>
          </a:fillRef>
          <a:effectRef idx="0">
            <a:scrgbClr r="0" g="0" b="0"/>
          </a:effectRef>
          <a:fontRef idx="minor">
            <a:schemeClr val="accent3"/>
          </a:fontRef>
        </p:style>
        <p:txBody>
          <a:bodyPr rtlCol="0" anchor="ctr"/>
          <a:lstStyle/>
          <a:p>
            <a:pPr algn="ctr"/>
            <a:r>
              <a:rPr lang="zh-TW" altLang="en-US" sz="1600" b="1" dirty="0">
                <a:solidFill>
                  <a:schemeClr val="tx1">
                    <a:lumMod val="85000"/>
                    <a:lumOff val="15000"/>
                  </a:schemeClr>
                </a:solidFill>
                <a:latin typeface="微軟正黑體" panose="020B0604030504040204" pitchFamily="34" charset="-120"/>
                <a:ea typeface="微軟正黑體" panose="020B0604030504040204" pitchFamily="34" charset="-120"/>
              </a:rPr>
              <a:t>設立密碼學機制可保護使用者的隱私性</a:t>
            </a:r>
          </a:p>
        </p:txBody>
      </p:sp>
      <p:sp>
        <p:nvSpPr>
          <p:cNvPr id="18" name="矩形: 圓角 17">
            <a:extLst>
              <a:ext uri="{FF2B5EF4-FFF2-40B4-BE49-F238E27FC236}">
                <a16:creationId xmlns:a16="http://schemas.microsoft.com/office/drawing/2014/main" id="{B223F20C-BCCF-41E2-A3C6-E95AF2CDF6C3}"/>
              </a:ext>
            </a:extLst>
          </p:cNvPr>
          <p:cNvSpPr/>
          <p:nvPr/>
        </p:nvSpPr>
        <p:spPr>
          <a:xfrm>
            <a:off x="7873913" y="4850954"/>
            <a:ext cx="2518007" cy="1575612"/>
          </a:xfrm>
          <a:prstGeom prst="roundRect">
            <a:avLst/>
          </a:prstGeom>
          <a:noFill/>
          <a:ln w="19050" cap="flat" cmpd="sng" algn="ctr">
            <a:solidFill>
              <a:srgbClr val="669900"/>
            </a:solidFill>
            <a:prstDash val="sysDot"/>
            <a:round/>
            <a:headEnd type="none" w="med" len="med"/>
            <a:tailEnd type="none" w="med" len="med"/>
          </a:ln>
        </p:spPr>
        <p:style>
          <a:lnRef idx="0">
            <a:scrgbClr r="0" g="0" b="0"/>
          </a:lnRef>
          <a:fillRef idx="0">
            <a:scrgbClr r="0" g="0" b="0"/>
          </a:fillRef>
          <a:effectRef idx="0">
            <a:scrgbClr r="0" g="0" b="0"/>
          </a:effectRef>
          <a:fontRef idx="minor">
            <a:schemeClr val="accent3"/>
          </a:fontRef>
        </p:style>
        <p:txBody>
          <a:bodyPr rtlCol="0" anchor="ctr"/>
          <a:lstStyle/>
          <a:p>
            <a:pPr algn="ctr"/>
            <a:r>
              <a:rPr lang="zh-TW" altLang="en-US" sz="1600" b="1" dirty="0">
                <a:solidFill>
                  <a:schemeClr val="tx1">
                    <a:lumMod val="85000"/>
                    <a:lumOff val="15000"/>
                  </a:schemeClr>
                </a:solidFill>
                <a:latin typeface="微軟正黑體" panose="020B0604030504040204" pitchFamily="34" charset="-120"/>
                <a:ea typeface="微軟正黑體" panose="020B0604030504040204" pitchFamily="34" charset="-120"/>
              </a:rPr>
              <a:t>交易使用者皆同意</a:t>
            </a:r>
          </a:p>
          <a:p>
            <a:pPr algn="ctr"/>
            <a:r>
              <a:rPr lang="zh-TW" altLang="en-US" sz="1600" b="1" dirty="0">
                <a:solidFill>
                  <a:schemeClr val="tx1">
                    <a:lumMod val="85000"/>
                    <a:lumOff val="15000"/>
                  </a:schemeClr>
                </a:solidFill>
                <a:latin typeface="微軟正黑體" panose="020B0604030504040204" pitchFamily="34" charset="-120"/>
                <a:ea typeface="微軟正黑體" panose="020B0604030504040204" pitchFamily="34" charset="-120"/>
              </a:rPr>
              <a:t>在網絡內進行驗證</a:t>
            </a:r>
          </a:p>
          <a:p>
            <a:pPr algn="ctr"/>
            <a:r>
              <a:rPr lang="zh-TW" altLang="en-US" sz="1600" b="1" dirty="0">
                <a:solidFill>
                  <a:schemeClr val="tx1">
                    <a:lumMod val="85000"/>
                    <a:lumOff val="15000"/>
                  </a:schemeClr>
                </a:solidFill>
                <a:latin typeface="微軟正黑體" panose="020B0604030504040204" pitchFamily="34" charset="-120"/>
                <a:ea typeface="微軟正黑體" panose="020B0604030504040204" pitchFamily="34" charset="-120"/>
              </a:rPr>
              <a:t>過的交易</a:t>
            </a:r>
          </a:p>
        </p:txBody>
      </p:sp>
      <p:pic>
        <p:nvPicPr>
          <p:cNvPr id="8" name="图片 42">
            <a:extLst>
              <a:ext uri="{FF2B5EF4-FFF2-40B4-BE49-F238E27FC236}">
                <a16:creationId xmlns:a16="http://schemas.microsoft.com/office/drawing/2014/main" id="{C8D97DA4-6242-4E73-AEFC-457D04FDC65B}"/>
              </a:ext>
            </a:extLst>
          </p:cNvPr>
          <p:cNvPicPr>
            <a:picLocks noChangeAspect="1"/>
          </p:cNvPicPr>
          <p:nvPr/>
        </p:nvPicPr>
        <p:blipFill>
          <a:blip r:embed="rId2"/>
          <a:stretch>
            <a:fillRect/>
          </a:stretch>
        </p:blipFill>
        <p:spPr>
          <a:xfrm rot="16200000">
            <a:off x="145169" y="-145167"/>
            <a:ext cx="1268414" cy="1558750"/>
          </a:xfrm>
          <a:prstGeom prst="rect">
            <a:avLst/>
          </a:prstGeom>
        </p:spPr>
      </p:pic>
      <p:sp>
        <p:nvSpPr>
          <p:cNvPr id="6" name="文字方塊 5">
            <a:extLst>
              <a:ext uri="{FF2B5EF4-FFF2-40B4-BE49-F238E27FC236}">
                <a16:creationId xmlns:a16="http://schemas.microsoft.com/office/drawing/2014/main" id="{8A30B01A-3198-4955-A208-0E3D9EB60397}"/>
              </a:ext>
            </a:extLst>
          </p:cNvPr>
          <p:cNvSpPr txBox="1"/>
          <p:nvPr/>
        </p:nvSpPr>
        <p:spPr>
          <a:xfrm>
            <a:off x="1558751" y="6596390"/>
            <a:ext cx="4217821" cy="261610"/>
          </a:xfrm>
          <a:prstGeom prst="rect">
            <a:avLst/>
          </a:prstGeom>
          <a:noFill/>
        </p:spPr>
        <p:txBody>
          <a:bodyPr wrap="none" rtlCol="0">
            <a:spAutoFit/>
          </a:bodyPr>
          <a:lstStyle/>
          <a:p>
            <a:r>
              <a:rPr lang="zh-TW" altLang="en-US" sz="1100" dirty="0">
                <a:latin typeface="Microsoft JhengHei Light" panose="020B0304030504040204" pitchFamily="34" charset="-120"/>
                <a:ea typeface="Microsoft JhengHei Light" panose="020B0304030504040204" pitchFamily="34" charset="-120"/>
              </a:rPr>
              <a:t>區塊鏈商業應用概論 實例與分析／新陸書局股份有限公司 發行</a:t>
            </a:r>
          </a:p>
        </p:txBody>
      </p:sp>
      <p:sp>
        <p:nvSpPr>
          <p:cNvPr id="9" name="標題 1">
            <a:extLst>
              <a:ext uri="{FF2B5EF4-FFF2-40B4-BE49-F238E27FC236}">
                <a16:creationId xmlns:a16="http://schemas.microsoft.com/office/drawing/2014/main" id="{475DFFF1-7C37-4CBE-ACFC-3F348BCD20CC}"/>
              </a:ext>
            </a:extLst>
          </p:cNvPr>
          <p:cNvSpPr txBox="1">
            <a:spLocks/>
          </p:cNvSpPr>
          <p:nvPr/>
        </p:nvSpPr>
        <p:spPr>
          <a:xfrm>
            <a:off x="1231956" y="393820"/>
            <a:ext cx="3643527" cy="874595"/>
          </a:xfrm>
          <a:prstGeom prst="rect">
            <a:avLst/>
          </a:prstGeom>
        </p:spPr>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altLang="zh-TW" sz="2400" b="1" dirty="0">
                <a:solidFill>
                  <a:srgbClr val="E06741"/>
                </a:solidFill>
              </a:rPr>
              <a:t>2-2 </a:t>
            </a:r>
            <a:r>
              <a:rPr lang="zh-TW" altLang="en-US" sz="2400" b="1" dirty="0">
                <a:solidFill>
                  <a:srgbClr val="E06741"/>
                </a:solidFill>
              </a:rPr>
              <a:t>區塊鏈技術發展</a:t>
            </a:r>
          </a:p>
          <a:p>
            <a:endParaRPr lang="zh-TW" altLang="en-US" sz="2400" dirty="0">
              <a:solidFill>
                <a:srgbClr val="E06741"/>
              </a:solidFill>
              <a:latin typeface="標楷體" panose="03000509000000000000" pitchFamily="65" charset="-120"/>
              <a:ea typeface="標楷體" panose="03000509000000000000" pitchFamily="65" charset="-120"/>
              <a:cs typeface="Times New Roman" panose="02020603050405020304" pitchFamily="18" charset="0"/>
            </a:endParaRPr>
          </a:p>
        </p:txBody>
      </p:sp>
      <p:sp>
        <p:nvSpPr>
          <p:cNvPr id="10" name="文字方塊 9">
            <a:extLst>
              <a:ext uri="{FF2B5EF4-FFF2-40B4-BE49-F238E27FC236}">
                <a16:creationId xmlns:a16="http://schemas.microsoft.com/office/drawing/2014/main" id="{198702E0-29BF-45ED-BB34-E70A3CAA9F43}"/>
              </a:ext>
            </a:extLst>
          </p:cNvPr>
          <p:cNvSpPr txBox="1"/>
          <p:nvPr/>
        </p:nvSpPr>
        <p:spPr>
          <a:xfrm>
            <a:off x="4487241" y="449166"/>
            <a:ext cx="3076483" cy="400110"/>
          </a:xfrm>
          <a:prstGeom prst="rect">
            <a:avLst/>
          </a:prstGeom>
          <a:noFill/>
        </p:spPr>
        <p:txBody>
          <a:bodyPr wrap="none" rtlCol="0">
            <a:spAutoFit/>
          </a:bodyPr>
          <a:lstStyle/>
          <a:p>
            <a:r>
              <a:rPr lang="en-US" altLang="zh-TW" sz="2000" b="1" dirty="0">
                <a:solidFill>
                  <a:schemeClr val="tx1">
                    <a:lumMod val="65000"/>
                    <a:lumOff val="35000"/>
                  </a:schemeClr>
                </a:solidFill>
                <a:latin typeface="微軟正黑體" panose="020B0604030504040204" pitchFamily="34" charset="-120"/>
                <a:ea typeface="微軟正黑體" panose="020B0604030504040204" pitchFamily="34" charset="-120"/>
                <a:cs typeface="Times New Roman" panose="02020603050405020304" pitchFamily="18" charset="0"/>
              </a:rPr>
              <a:t>-2</a:t>
            </a:r>
            <a:r>
              <a:rPr lang="zh-TW" altLang="en-US" sz="2000" b="1" dirty="0">
                <a:solidFill>
                  <a:schemeClr val="tx1">
                    <a:lumMod val="65000"/>
                    <a:lumOff val="35000"/>
                  </a:schemeClr>
                </a:solidFill>
                <a:latin typeface="微軟正黑體" panose="020B0604030504040204" pitchFamily="34" charset="-120"/>
                <a:ea typeface="微軟正黑體" panose="020B0604030504040204" pitchFamily="34" charset="-120"/>
                <a:cs typeface="Times New Roman" panose="02020603050405020304" pitchFamily="18" charset="0"/>
              </a:rPr>
              <a:t> 區塊鏈技術之基本要素</a:t>
            </a:r>
          </a:p>
        </p:txBody>
      </p:sp>
      <p:cxnSp>
        <p:nvCxnSpPr>
          <p:cNvPr id="26" name="直接连接符 33">
            <a:extLst>
              <a:ext uri="{FF2B5EF4-FFF2-40B4-BE49-F238E27FC236}">
                <a16:creationId xmlns:a16="http://schemas.microsoft.com/office/drawing/2014/main" id="{C3725E45-5458-4931-9D9A-B8C15AE6AC41}"/>
              </a:ext>
            </a:extLst>
          </p:cNvPr>
          <p:cNvCxnSpPr>
            <a:cxnSpLocks/>
          </p:cNvCxnSpPr>
          <p:nvPr/>
        </p:nvCxnSpPr>
        <p:spPr>
          <a:xfrm>
            <a:off x="1177167" y="1046746"/>
            <a:ext cx="10091197" cy="0"/>
          </a:xfrm>
          <a:prstGeom prst="line">
            <a:avLst/>
          </a:prstGeom>
          <a:ln w="190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graphicFrame>
        <p:nvGraphicFramePr>
          <p:cNvPr id="4" name="資料庫圖表 3">
            <a:extLst>
              <a:ext uri="{FF2B5EF4-FFF2-40B4-BE49-F238E27FC236}">
                <a16:creationId xmlns:a16="http://schemas.microsoft.com/office/drawing/2014/main" id="{05BC9060-0B4D-4E7B-8BE5-CC23BAF6B24D}"/>
              </a:ext>
            </a:extLst>
          </p:cNvPr>
          <p:cNvGraphicFramePr/>
          <p:nvPr>
            <p:extLst>
              <p:ext uri="{D42A27DB-BD31-4B8C-83A1-F6EECF244321}">
                <p14:modId xmlns:p14="http://schemas.microsoft.com/office/powerpoint/2010/main" val="2879844690"/>
              </p:ext>
            </p:extLst>
          </p:nvPr>
        </p:nvGraphicFramePr>
        <p:xfrm>
          <a:off x="2555980" y="1300094"/>
          <a:ext cx="7567072" cy="495664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558676977"/>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6" presetClass="entr" presetSubtype="16" fill="hold" grpId="0" nodeType="after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circle(in)">
                                      <p:cBhvr>
                                        <p:cTn id="7" dur="2000"/>
                                        <p:tgtEl>
                                          <p:spTgt spid="9"/>
                                        </p:tgtEl>
                                      </p:cBhvr>
                                    </p:animEffect>
                                  </p:childTnLst>
                                </p:cTn>
                              </p:par>
                            </p:childTnLst>
                          </p:cTn>
                        </p:par>
                        <p:par>
                          <p:cTn id="8" fill="hold">
                            <p:stCondLst>
                              <p:cond delay="2000"/>
                            </p:stCondLst>
                            <p:childTnLst>
                              <p:par>
                                <p:cTn id="9" presetID="14" presetClass="entr" presetSubtype="10" fill="hold" grpId="0" nodeType="afterEffect">
                                  <p:stCondLst>
                                    <p:cond delay="0"/>
                                  </p:stCondLst>
                                  <p:childTnLst>
                                    <p:set>
                                      <p:cBhvr>
                                        <p:cTn id="10" dur="1" fill="hold">
                                          <p:stCondLst>
                                            <p:cond delay="0"/>
                                          </p:stCondLst>
                                        </p:cTn>
                                        <p:tgtEl>
                                          <p:spTgt spid="10"/>
                                        </p:tgtEl>
                                        <p:attrNameLst>
                                          <p:attrName>style.visibility</p:attrName>
                                        </p:attrNameLst>
                                      </p:cBhvr>
                                      <p:to>
                                        <p:strVal val="visible"/>
                                      </p:to>
                                    </p:set>
                                    <p:animEffect transition="in" filter="randombar(horizontal)">
                                      <p:cBhvr>
                                        <p:cTn id="11" dur="500"/>
                                        <p:tgtEl>
                                          <p:spTgt spid="10"/>
                                        </p:tgtEl>
                                      </p:cBhvr>
                                    </p:animEffect>
                                  </p:childTnLst>
                                </p:cTn>
                              </p:par>
                            </p:childTnLst>
                          </p:cTn>
                        </p:par>
                        <p:par>
                          <p:cTn id="12" fill="hold">
                            <p:stCondLst>
                              <p:cond delay="2500"/>
                            </p:stCondLst>
                            <p:childTnLst>
                              <p:par>
                                <p:cTn id="13" presetID="2" presetClass="entr" presetSubtype="8" fill="hold" nodeType="afterEffect">
                                  <p:stCondLst>
                                    <p:cond delay="0"/>
                                  </p:stCondLst>
                                  <p:childTnLst>
                                    <p:set>
                                      <p:cBhvr>
                                        <p:cTn id="14" dur="1" fill="hold">
                                          <p:stCondLst>
                                            <p:cond delay="0"/>
                                          </p:stCondLst>
                                        </p:cTn>
                                        <p:tgtEl>
                                          <p:spTgt spid="26"/>
                                        </p:tgtEl>
                                        <p:attrNameLst>
                                          <p:attrName>style.visibility</p:attrName>
                                        </p:attrNameLst>
                                      </p:cBhvr>
                                      <p:to>
                                        <p:strVal val="visible"/>
                                      </p:to>
                                    </p:set>
                                    <p:anim calcmode="lin" valueType="num">
                                      <p:cBhvr additive="base">
                                        <p:cTn id="15" dur="500" fill="hold"/>
                                        <p:tgtEl>
                                          <p:spTgt spid="26"/>
                                        </p:tgtEl>
                                        <p:attrNameLst>
                                          <p:attrName>ppt_x</p:attrName>
                                        </p:attrNameLst>
                                      </p:cBhvr>
                                      <p:tavLst>
                                        <p:tav tm="0">
                                          <p:val>
                                            <p:strVal val="0-#ppt_w/2"/>
                                          </p:val>
                                        </p:tav>
                                        <p:tav tm="100000">
                                          <p:val>
                                            <p:strVal val="#ppt_x"/>
                                          </p:val>
                                        </p:tav>
                                      </p:tavLst>
                                    </p:anim>
                                    <p:anim calcmode="lin" valueType="num">
                                      <p:cBhvr additive="base">
                                        <p:cTn id="16" dur="500" fill="hold"/>
                                        <p:tgtEl>
                                          <p:spTgt spid="26"/>
                                        </p:tgtEl>
                                        <p:attrNameLst>
                                          <p:attrName>ppt_y</p:attrName>
                                        </p:attrNameLst>
                                      </p:cBhvr>
                                      <p:tavLst>
                                        <p:tav tm="0">
                                          <p:val>
                                            <p:strVal val="#ppt_y"/>
                                          </p:val>
                                        </p:tav>
                                        <p:tav tm="100000">
                                          <p:val>
                                            <p:strVal val="#ppt_y"/>
                                          </p:val>
                                        </p:tav>
                                      </p:tavLst>
                                    </p:anim>
                                  </p:childTnLst>
                                </p:cTn>
                              </p:par>
                            </p:childTnLst>
                          </p:cTn>
                        </p:par>
                        <p:par>
                          <p:cTn id="17" fill="hold">
                            <p:stCondLst>
                              <p:cond delay="3000"/>
                            </p:stCondLst>
                            <p:childTnLst>
                              <p:par>
                                <p:cTn id="18" presetID="53" presetClass="entr" presetSubtype="16" fill="hold" grpId="0" nodeType="afterEffect">
                                  <p:stCondLst>
                                    <p:cond delay="0"/>
                                  </p:stCondLst>
                                  <p:childTnLst>
                                    <p:set>
                                      <p:cBhvr>
                                        <p:cTn id="19" dur="1" fill="hold">
                                          <p:stCondLst>
                                            <p:cond delay="0"/>
                                          </p:stCondLst>
                                        </p:cTn>
                                        <p:tgtEl>
                                          <p:spTgt spid="4"/>
                                        </p:tgtEl>
                                        <p:attrNameLst>
                                          <p:attrName>style.visibility</p:attrName>
                                        </p:attrNameLst>
                                      </p:cBhvr>
                                      <p:to>
                                        <p:strVal val="visible"/>
                                      </p:to>
                                    </p:set>
                                    <p:anim calcmode="lin" valueType="num">
                                      <p:cBhvr>
                                        <p:cTn id="20" dur="500" fill="hold"/>
                                        <p:tgtEl>
                                          <p:spTgt spid="4"/>
                                        </p:tgtEl>
                                        <p:attrNameLst>
                                          <p:attrName>ppt_w</p:attrName>
                                        </p:attrNameLst>
                                      </p:cBhvr>
                                      <p:tavLst>
                                        <p:tav tm="0">
                                          <p:val>
                                            <p:fltVal val="0"/>
                                          </p:val>
                                        </p:tav>
                                        <p:tav tm="100000">
                                          <p:val>
                                            <p:strVal val="#ppt_w"/>
                                          </p:val>
                                        </p:tav>
                                      </p:tavLst>
                                    </p:anim>
                                    <p:anim calcmode="lin" valueType="num">
                                      <p:cBhvr>
                                        <p:cTn id="21" dur="500" fill="hold"/>
                                        <p:tgtEl>
                                          <p:spTgt spid="4"/>
                                        </p:tgtEl>
                                        <p:attrNameLst>
                                          <p:attrName>ppt_h</p:attrName>
                                        </p:attrNameLst>
                                      </p:cBhvr>
                                      <p:tavLst>
                                        <p:tav tm="0">
                                          <p:val>
                                            <p:fltVal val="0"/>
                                          </p:val>
                                        </p:tav>
                                        <p:tav tm="100000">
                                          <p:val>
                                            <p:strVal val="#ppt_h"/>
                                          </p:val>
                                        </p:tav>
                                      </p:tavLst>
                                    </p:anim>
                                    <p:animEffect transition="in" filter="fade">
                                      <p:cBhvr>
                                        <p:cTn id="22" dur="500"/>
                                        <p:tgtEl>
                                          <p:spTgt spid="4"/>
                                        </p:tgtEl>
                                      </p:cBhvr>
                                    </p:animEffect>
                                  </p:childTnLst>
                                </p:cTn>
                              </p:par>
                            </p:childTnLst>
                          </p:cTn>
                        </p:par>
                        <p:par>
                          <p:cTn id="23" fill="hold">
                            <p:stCondLst>
                              <p:cond delay="3500"/>
                            </p:stCondLst>
                            <p:childTnLst>
                              <p:par>
                                <p:cTn id="24" presetID="14" presetClass="entr" presetSubtype="10" fill="hold" grpId="0" nodeType="afterEffect">
                                  <p:stCondLst>
                                    <p:cond delay="0"/>
                                  </p:stCondLst>
                                  <p:childTnLst>
                                    <p:set>
                                      <p:cBhvr>
                                        <p:cTn id="25" dur="1" fill="hold">
                                          <p:stCondLst>
                                            <p:cond delay="0"/>
                                          </p:stCondLst>
                                        </p:cTn>
                                        <p:tgtEl>
                                          <p:spTgt spid="15"/>
                                        </p:tgtEl>
                                        <p:attrNameLst>
                                          <p:attrName>style.visibility</p:attrName>
                                        </p:attrNameLst>
                                      </p:cBhvr>
                                      <p:to>
                                        <p:strVal val="visible"/>
                                      </p:to>
                                    </p:set>
                                    <p:animEffect transition="in" filter="randombar(horizontal)">
                                      <p:cBhvr>
                                        <p:cTn id="26" dur="500"/>
                                        <p:tgtEl>
                                          <p:spTgt spid="15"/>
                                        </p:tgtEl>
                                      </p:cBhvr>
                                    </p:animEffect>
                                  </p:childTnLst>
                                </p:cTn>
                              </p:par>
                              <p:par>
                                <p:cTn id="27" presetID="14" presetClass="entr" presetSubtype="10" fill="hold" grpId="0" nodeType="withEffect">
                                  <p:stCondLst>
                                    <p:cond delay="0"/>
                                  </p:stCondLst>
                                  <p:childTnLst>
                                    <p:set>
                                      <p:cBhvr>
                                        <p:cTn id="28" dur="1" fill="hold">
                                          <p:stCondLst>
                                            <p:cond delay="0"/>
                                          </p:stCondLst>
                                        </p:cTn>
                                        <p:tgtEl>
                                          <p:spTgt spid="17"/>
                                        </p:tgtEl>
                                        <p:attrNameLst>
                                          <p:attrName>style.visibility</p:attrName>
                                        </p:attrNameLst>
                                      </p:cBhvr>
                                      <p:to>
                                        <p:strVal val="visible"/>
                                      </p:to>
                                    </p:set>
                                    <p:animEffect transition="in" filter="randombar(horizontal)">
                                      <p:cBhvr>
                                        <p:cTn id="29" dur="500"/>
                                        <p:tgtEl>
                                          <p:spTgt spid="17"/>
                                        </p:tgtEl>
                                      </p:cBhvr>
                                    </p:animEffect>
                                  </p:childTnLst>
                                </p:cTn>
                              </p:par>
                              <p:par>
                                <p:cTn id="30" presetID="14" presetClass="entr" presetSubtype="10" fill="hold" grpId="0" nodeType="withEffect">
                                  <p:stCondLst>
                                    <p:cond delay="0"/>
                                  </p:stCondLst>
                                  <p:childTnLst>
                                    <p:set>
                                      <p:cBhvr>
                                        <p:cTn id="31" dur="1" fill="hold">
                                          <p:stCondLst>
                                            <p:cond delay="0"/>
                                          </p:stCondLst>
                                        </p:cTn>
                                        <p:tgtEl>
                                          <p:spTgt spid="18"/>
                                        </p:tgtEl>
                                        <p:attrNameLst>
                                          <p:attrName>style.visibility</p:attrName>
                                        </p:attrNameLst>
                                      </p:cBhvr>
                                      <p:to>
                                        <p:strVal val="visible"/>
                                      </p:to>
                                    </p:set>
                                    <p:animEffect transition="in" filter="randombar(horizontal)">
                                      <p:cBhvr>
                                        <p:cTn id="32" dur="500"/>
                                        <p:tgtEl>
                                          <p:spTgt spid="18"/>
                                        </p:tgtEl>
                                      </p:cBhvr>
                                    </p:animEffect>
                                  </p:childTnLst>
                                </p:cTn>
                              </p:par>
                              <p:par>
                                <p:cTn id="33" presetID="14" presetClass="entr" presetSubtype="10" fill="hold" grpId="0" nodeType="withEffect">
                                  <p:stCondLst>
                                    <p:cond delay="0"/>
                                  </p:stCondLst>
                                  <p:childTnLst>
                                    <p:set>
                                      <p:cBhvr>
                                        <p:cTn id="34" dur="1" fill="hold">
                                          <p:stCondLst>
                                            <p:cond delay="0"/>
                                          </p:stCondLst>
                                        </p:cTn>
                                        <p:tgtEl>
                                          <p:spTgt spid="14"/>
                                        </p:tgtEl>
                                        <p:attrNameLst>
                                          <p:attrName>style.visibility</p:attrName>
                                        </p:attrNameLst>
                                      </p:cBhvr>
                                      <p:to>
                                        <p:strVal val="visible"/>
                                      </p:to>
                                    </p:set>
                                    <p:animEffect transition="in" filter="randombar(horizontal)">
                                      <p:cBhvr>
                                        <p:cTn id="35"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nimBg="1"/>
      <p:bldP spid="15" grpId="0" animBg="1"/>
      <p:bldP spid="17" grpId="0" animBg="1"/>
      <p:bldP spid="18" grpId="0" animBg="1"/>
      <p:bldP spid="9" grpId="0"/>
      <p:bldP spid="10" grpId="0"/>
      <p:bldGraphic spid="4" grpId="0">
        <p:bldAsOne/>
      </p:bldGraphic>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图片 42">
            <a:extLst>
              <a:ext uri="{FF2B5EF4-FFF2-40B4-BE49-F238E27FC236}">
                <a16:creationId xmlns:a16="http://schemas.microsoft.com/office/drawing/2014/main" id="{C8D97DA4-6242-4E73-AEFC-457D04FDC65B}"/>
              </a:ext>
            </a:extLst>
          </p:cNvPr>
          <p:cNvPicPr>
            <a:picLocks noChangeAspect="1"/>
          </p:cNvPicPr>
          <p:nvPr/>
        </p:nvPicPr>
        <p:blipFill>
          <a:blip r:embed="rId2"/>
          <a:stretch>
            <a:fillRect/>
          </a:stretch>
        </p:blipFill>
        <p:spPr>
          <a:xfrm rot="16200000">
            <a:off x="145169" y="-145167"/>
            <a:ext cx="1268414" cy="1558750"/>
          </a:xfrm>
          <a:prstGeom prst="rect">
            <a:avLst/>
          </a:prstGeom>
        </p:spPr>
      </p:pic>
      <p:sp>
        <p:nvSpPr>
          <p:cNvPr id="6" name="文字方塊 5">
            <a:extLst>
              <a:ext uri="{FF2B5EF4-FFF2-40B4-BE49-F238E27FC236}">
                <a16:creationId xmlns:a16="http://schemas.microsoft.com/office/drawing/2014/main" id="{8A30B01A-3198-4955-A208-0E3D9EB60397}"/>
              </a:ext>
            </a:extLst>
          </p:cNvPr>
          <p:cNvSpPr txBox="1"/>
          <p:nvPr/>
        </p:nvSpPr>
        <p:spPr>
          <a:xfrm>
            <a:off x="1558751" y="6596390"/>
            <a:ext cx="4217821" cy="261610"/>
          </a:xfrm>
          <a:prstGeom prst="rect">
            <a:avLst/>
          </a:prstGeom>
          <a:noFill/>
        </p:spPr>
        <p:txBody>
          <a:bodyPr wrap="none" rtlCol="0">
            <a:spAutoFit/>
          </a:bodyPr>
          <a:lstStyle/>
          <a:p>
            <a:r>
              <a:rPr lang="zh-TW" altLang="en-US" sz="1100" dirty="0">
                <a:latin typeface="Microsoft JhengHei Light" panose="020B0304030504040204" pitchFamily="34" charset="-120"/>
                <a:ea typeface="Microsoft JhengHei Light" panose="020B0304030504040204" pitchFamily="34" charset="-120"/>
              </a:rPr>
              <a:t>區塊鏈商業應用概論 實例與分析／新陸書局股份有限公司 發行</a:t>
            </a:r>
          </a:p>
        </p:txBody>
      </p:sp>
      <p:sp>
        <p:nvSpPr>
          <p:cNvPr id="9" name="標題 1">
            <a:extLst>
              <a:ext uri="{FF2B5EF4-FFF2-40B4-BE49-F238E27FC236}">
                <a16:creationId xmlns:a16="http://schemas.microsoft.com/office/drawing/2014/main" id="{475DFFF1-7C37-4CBE-ACFC-3F348BCD20CC}"/>
              </a:ext>
            </a:extLst>
          </p:cNvPr>
          <p:cNvSpPr txBox="1">
            <a:spLocks/>
          </p:cNvSpPr>
          <p:nvPr/>
        </p:nvSpPr>
        <p:spPr>
          <a:xfrm>
            <a:off x="1231956" y="393820"/>
            <a:ext cx="3643527" cy="874595"/>
          </a:xfrm>
          <a:prstGeom prst="rect">
            <a:avLst/>
          </a:prstGeom>
        </p:spPr>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altLang="zh-TW" sz="2400" b="1" dirty="0">
                <a:solidFill>
                  <a:srgbClr val="E06741"/>
                </a:solidFill>
              </a:rPr>
              <a:t>2-2 </a:t>
            </a:r>
            <a:r>
              <a:rPr lang="zh-TW" altLang="en-US" sz="2400" b="1" dirty="0">
                <a:solidFill>
                  <a:srgbClr val="E06741"/>
                </a:solidFill>
              </a:rPr>
              <a:t>區塊鏈技術發展</a:t>
            </a:r>
          </a:p>
          <a:p>
            <a:endParaRPr lang="zh-TW" altLang="en-US" sz="2400" dirty="0">
              <a:solidFill>
                <a:srgbClr val="E06741"/>
              </a:solidFill>
              <a:latin typeface="標楷體" panose="03000509000000000000" pitchFamily="65" charset="-120"/>
              <a:ea typeface="標楷體" panose="03000509000000000000" pitchFamily="65" charset="-120"/>
              <a:cs typeface="Times New Roman" panose="02020603050405020304" pitchFamily="18" charset="0"/>
            </a:endParaRPr>
          </a:p>
        </p:txBody>
      </p:sp>
      <p:sp>
        <p:nvSpPr>
          <p:cNvPr id="2" name="文字方塊 1">
            <a:extLst>
              <a:ext uri="{FF2B5EF4-FFF2-40B4-BE49-F238E27FC236}">
                <a16:creationId xmlns:a16="http://schemas.microsoft.com/office/drawing/2014/main" id="{D6D66D7E-58A1-40BE-8070-FA1C3AF22B14}"/>
              </a:ext>
            </a:extLst>
          </p:cNvPr>
          <p:cNvSpPr txBox="1"/>
          <p:nvPr/>
        </p:nvSpPr>
        <p:spPr>
          <a:xfrm>
            <a:off x="1702614" y="1212815"/>
            <a:ext cx="9636518" cy="4828630"/>
          </a:xfrm>
          <a:prstGeom prst="rect">
            <a:avLst/>
          </a:prstGeom>
          <a:noFill/>
        </p:spPr>
        <p:txBody>
          <a:bodyPr wrap="square" rtlCol="0">
            <a:spAutoFit/>
          </a:bodyPr>
          <a:lstStyle/>
          <a:p>
            <a:pPr>
              <a:lnSpc>
                <a:spcPct val="150000"/>
              </a:lnSpc>
              <a:buSzPct val="150000"/>
            </a:pPr>
            <a:r>
              <a:rPr lang="zh-TW" altLang="en-US" sz="2400" b="1" dirty="0">
                <a:solidFill>
                  <a:srgbClr val="049E8C"/>
                </a:solidFill>
                <a:latin typeface="微軟正黑體" panose="020B0604030504040204" pitchFamily="34" charset="-120"/>
                <a:ea typeface="微軟正黑體" panose="020B0604030504040204" pitchFamily="34" charset="-120"/>
              </a:rPr>
              <a:t>一、離散式帳本（</a:t>
            </a:r>
            <a:r>
              <a:rPr lang="en-US" altLang="zh-TW" sz="2400" b="1" dirty="0">
                <a:solidFill>
                  <a:srgbClr val="049E8C"/>
                </a:solidFill>
                <a:latin typeface="微軟正黑體" panose="020B0604030504040204" pitchFamily="34" charset="-120"/>
                <a:ea typeface="微軟正黑體" panose="020B0604030504040204" pitchFamily="34" charset="-120"/>
              </a:rPr>
              <a:t>Discrete Ledgers</a:t>
            </a:r>
            <a:r>
              <a:rPr lang="zh-TW" altLang="en-US" sz="2400" b="1" dirty="0">
                <a:solidFill>
                  <a:srgbClr val="049E8C"/>
                </a:solidFill>
                <a:latin typeface="微軟正黑體" panose="020B0604030504040204" pitchFamily="34" charset="-120"/>
                <a:ea typeface="微軟正黑體" panose="020B0604030504040204" pitchFamily="34" charset="-120"/>
              </a:rPr>
              <a:t>）</a:t>
            </a:r>
            <a:endParaRPr lang="en-US" altLang="zh-TW" sz="500" b="1" dirty="0">
              <a:solidFill>
                <a:schemeClr val="tx1">
                  <a:lumMod val="75000"/>
                  <a:lumOff val="25000"/>
                </a:schemeClr>
              </a:solidFill>
              <a:latin typeface="微軟正黑體" panose="020B0604030504040204" pitchFamily="34" charset="-120"/>
              <a:ea typeface="微軟正黑體" panose="020B0604030504040204" pitchFamily="34" charset="-120"/>
            </a:endParaRPr>
          </a:p>
          <a:p>
            <a:pPr marL="800100" lvl="1" indent="-342900">
              <a:lnSpc>
                <a:spcPct val="150000"/>
              </a:lnSpc>
              <a:buSzPct val="100000"/>
              <a:buBlip>
                <a:blip r:embed="rId3"/>
              </a:buBlip>
            </a:pPr>
            <a:r>
              <a:rPr lang="zh-TW" altLang="en-US" sz="2300" b="1" dirty="0">
                <a:solidFill>
                  <a:schemeClr val="tx1">
                    <a:lumMod val="75000"/>
                    <a:lumOff val="25000"/>
                  </a:schemeClr>
                </a:solidFill>
                <a:latin typeface="微軟正黑體" panose="020B0604030504040204" pitchFamily="34" charset="-120"/>
                <a:ea typeface="微軟正黑體" panose="020B0604030504040204" pitchFamily="34" charset="-120"/>
              </a:rPr>
              <a:t>「無集中式」又稱「去中心化」，指脫離中心伺服器或資料集中儲存區的資料管理方式</a:t>
            </a:r>
            <a:endParaRPr lang="en-US" altLang="zh-TW" sz="2300" b="1" dirty="0">
              <a:solidFill>
                <a:schemeClr val="tx1">
                  <a:lumMod val="75000"/>
                  <a:lumOff val="25000"/>
                </a:schemeClr>
              </a:solidFill>
              <a:latin typeface="微軟正黑體" panose="020B0604030504040204" pitchFamily="34" charset="-120"/>
              <a:ea typeface="微軟正黑體" panose="020B0604030504040204" pitchFamily="34" charset="-120"/>
            </a:endParaRPr>
          </a:p>
          <a:p>
            <a:pPr marL="800100" lvl="1" indent="-342900">
              <a:lnSpc>
                <a:spcPct val="150000"/>
              </a:lnSpc>
              <a:buSzPct val="100000"/>
              <a:buBlip>
                <a:blip r:embed="rId3"/>
              </a:buBlip>
            </a:pPr>
            <a:r>
              <a:rPr lang="zh-TW" altLang="en-US" sz="2300" b="1" dirty="0">
                <a:solidFill>
                  <a:schemeClr val="tx1">
                    <a:lumMod val="75000"/>
                    <a:lumOff val="25000"/>
                  </a:schemeClr>
                </a:solidFill>
                <a:latin typeface="微軟正黑體" panose="020B0604030504040204" pitchFamily="34" charset="-120"/>
                <a:ea typeface="微軟正黑體" panose="020B0604030504040204" pitchFamily="34" charset="-120"/>
              </a:rPr>
              <a:t>採用分散式儲存資料的管理模式</a:t>
            </a:r>
            <a:endParaRPr lang="en-US" altLang="zh-TW" sz="2300" b="1" dirty="0">
              <a:solidFill>
                <a:schemeClr val="tx1">
                  <a:lumMod val="75000"/>
                  <a:lumOff val="25000"/>
                </a:schemeClr>
              </a:solidFill>
              <a:latin typeface="微軟正黑體" panose="020B0604030504040204" pitchFamily="34" charset="-120"/>
              <a:ea typeface="微軟正黑體" panose="020B0604030504040204" pitchFamily="34" charset="-120"/>
            </a:endParaRPr>
          </a:p>
          <a:p>
            <a:pPr marL="800100" lvl="1" indent="-342900">
              <a:lnSpc>
                <a:spcPct val="150000"/>
              </a:lnSpc>
              <a:buSzPct val="100000"/>
              <a:buBlip>
                <a:blip r:embed="rId3"/>
              </a:buBlip>
            </a:pPr>
            <a:r>
              <a:rPr lang="zh-TW" altLang="en-US" sz="2300" b="1" dirty="0">
                <a:solidFill>
                  <a:schemeClr val="tx1">
                    <a:lumMod val="75000"/>
                    <a:lumOff val="25000"/>
                  </a:schemeClr>
                </a:solidFill>
                <a:latin typeface="微軟正黑體" panose="020B0604030504040204" pitchFamily="34" charset="-120"/>
                <a:ea typeface="微軟正黑體" panose="020B0604030504040204" pitchFamily="34" charset="-120"/>
              </a:rPr>
              <a:t>避免受到第三方機構的交易作業或系統管制等因素影響，致使過度仰賴中央主控系統或第三方機構的業務執行模式或交易流程，無法滿足便利的需求</a:t>
            </a:r>
            <a:endParaRPr lang="en-US" altLang="zh-TW" sz="2300" b="1" dirty="0">
              <a:solidFill>
                <a:schemeClr val="tx1">
                  <a:lumMod val="75000"/>
                  <a:lumOff val="25000"/>
                </a:schemeClr>
              </a:solidFill>
              <a:latin typeface="微軟正黑體" panose="020B0604030504040204" pitchFamily="34" charset="-120"/>
              <a:ea typeface="微軟正黑體" panose="020B0604030504040204" pitchFamily="34" charset="-120"/>
            </a:endParaRPr>
          </a:p>
          <a:p>
            <a:pPr marL="800100" lvl="1" indent="-342900">
              <a:lnSpc>
                <a:spcPct val="150000"/>
              </a:lnSpc>
              <a:buSzPct val="100000"/>
              <a:buBlip>
                <a:blip r:embed="rId3"/>
              </a:buBlip>
            </a:pPr>
            <a:r>
              <a:rPr lang="zh-TW" altLang="en-US" sz="2300" b="1" dirty="0">
                <a:solidFill>
                  <a:schemeClr val="tx1">
                    <a:lumMod val="75000"/>
                    <a:lumOff val="25000"/>
                  </a:schemeClr>
                </a:solidFill>
                <a:latin typeface="微軟正黑體" panose="020B0604030504040204" pitchFamily="34" charset="-120"/>
                <a:ea typeface="微軟正黑體" panose="020B0604030504040204" pitchFamily="34" charset="-120"/>
              </a:rPr>
              <a:t>離散式帳本的管理可以透過區塊鏈技術避免目前消費市場上的欺詐、腐敗、操縱等現象的影響，達到有效、實質的帳本管控機制</a:t>
            </a:r>
            <a:endParaRPr lang="zh-TW" altLang="en-US" sz="2300" b="1" dirty="0">
              <a:solidFill>
                <a:srgbClr val="495B73"/>
              </a:solidFill>
              <a:latin typeface="微軟正黑體" panose="020B0604030504040204" pitchFamily="34" charset="-120"/>
              <a:ea typeface="微軟正黑體" panose="020B0604030504040204" pitchFamily="34" charset="-120"/>
            </a:endParaRPr>
          </a:p>
        </p:txBody>
      </p:sp>
      <p:cxnSp>
        <p:nvCxnSpPr>
          <p:cNvPr id="26" name="直接连接符 33">
            <a:extLst>
              <a:ext uri="{FF2B5EF4-FFF2-40B4-BE49-F238E27FC236}">
                <a16:creationId xmlns:a16="http://schemas.microsoft.com/office/drawing/2014/main" id="{C3725E45-5458-4931-9D9A-B8C15AE6AC41}"/>
              </a:ext>
            </a:extLst>
          </p:cNvPr>
          <p:cNvCxnSpPr>
            <a:cxnSpLocks/>
          </p:cNvCxnSpPr>
          <p:nvPr/>
        </p:nvCxnSpPr>
        <p:spPr>
          <a:xfrm>
            <a:off x="1177167" y="1046746"/>
            <a:ext cx="10081960" cy="0"/>
          </a:xfrm>
          <a:prstGeom prst="line">
            <a:avLst/>
          </a:prstGeom>
          <a:ln w="190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12" name="文字方塊 11">
            <a:extLst>
              <a:ext uri="{FF2B5EF4-FFF2-40B4-BE49-F238E27FC236}">
                <a16:creationId xmlns:a16="http://schemas.microsoft.com/office/drawing/2014/main" id="{9FE02F65-A32E-4124-B1E6-8E45750976E4}"/>
              </a:ext>
            </a:extLst>
          </p:cNvPr>
          <p:cNvSpPr txBox="1"/>
          <p:nvPr/>
        </p:nvSpPr>
        <p:spPr>
          <a:xfrm>
            <a:off x="4487241" y="449166"/>
            <a:ext cx="3076483" cy="400110"/>
          </a:xfrm>
          <a:prstGeom prst="rect">
            <a:avLst/>
          </a:prstGeom>
          <a:noFill/>
        </p:spPr>
        <p:txBody>
          <a:bodyPr wrap="none" rtlCol="0">
            <a:spAutoFit/>
          </a:bodyPr>
          <a:lstStyle/>
          <a:p>
            <a:r>
              <a:rPr lang="en-US" altLang="zh-TW" sz="2000" b="1" dirty="0">
                <a:solidFill>
                  <a:schemeClr val="tx1">
                    <a:lumMod val="65000"/>
                    <a:lumOff val="35000"/>
                  </a:schemeClr>
                </a:solidFill>
                <a:latin typeface="微軟正黑體" panose="020B0604030504040204" pitchFamily="34" charset="-120"/>
                <a:ea typeface="微軟正黑體" panose="020B0604030504040204" pitchFamily="34" charset="-120"/>
                <a:cs typeface="Times New Roman" panose="02020603050405020304" pitchFamily="18" charset="0"/>
              </a:rPr>
              <a:t>-2</a:t>
            </a:r>
            <a:r>
              <a:rPr lang="zh-TW" altLang="en-US" sz="2000" b="1" dirty="0">
                <a:solidFill>
                  <a:schemeClr val="tx1">
                    <a:lumMod val="65000"/>
                    <a:lumOff val="35000"/>
                  </a:schemeClr>
                </a:solidFill>
                <a:latin typeface="微軟正黑體" panose="020B0604030504040204" pitchFamily="34" charset="-120"/>
                <a:ea typeface="微軟正黑體" panose="020B0604030504040204" pitchFamily="34" charset="-120"/>
                <a:cs typeface="Times New Roman" panose="02020603050405020304" pitchFamily="18" charset="0"/>
              </a:rPr>
              <a:t> 區塊鏈技術之基本要素</a:t>
            </a:r>
          </a:p>
        </p:txBody>
      </p:sp>
      <p:pic>
        <p:nvPicPr>
          <p:cNvPr id="4" name="圖片 3" descr="一張含有 文字 的圖片&#10;&#10;描述是以高可信度產生">
            <a:extLst>
              <a:ext uri="{FF2B5EF4-FFF2-40B4-BE49-F238E27FC236}">
                <a16:creationId xmlns:a16="http://schemas.microsoft.com/office/drawing/2014/main" id="{79055B45-38BA-4C7C-996D-4548736B60AA}"/>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7708" y="4420934"/>
            <a:ext cx="2437068" cy="2437066"/>
          </a:xfrm>
          <a:prstGeom prst="rect">
            <a:avLst/>
          </a:prstGeom>
        </p:spPr>
      </p:pic>
    </p:spTree>
    <p:extLst>
      <p:ext uri="{BB962C8B-B14F-4D97-AF65-F5344CB8AC3E}">
        <p14:creationId xmlns:p14="http://schemas.microsoft.com/office/powerpoint/2010/main" val="1286656092"/>
      </p:ext>
    </p:extLst>
  </p:cSld>
  <p:clrMapOvr>
    <a:masterClrMapping/>
  </p:clrMapOvr>
  <mc:AlternateContent xmlns:mc="http://schemas.openxmlformats.org/markup-compatibility/2006">
    <mc:Choice xmlns:p14="http://schemas.microsoft.com/office/powerpoint/2010/main" Requires="p14">
      <p:transition spd="slow" p14:dur="1500">
        <p:split orient="vert"/>
      </p:transition>
    </mc:Choice>
    <mc:Fallback>
      <p:transition spd="slow">
        <p:split orient="vert"/>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6" presetClass="entr" presetSubtype="16" fill="hold" grpId="0" nodeType="after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circle(in)">
                                      <p:cBhvr>
                                        <p:cTn id="7" dur="2000"/>
                                        <p:tgtEl>
                                          <p:spTgt spid="9"/>
                                        </p:tgtEl>
                                      </p:cBhvr>
                                    </p:animEffect>
                                  </p:childTnLst>
                                </p:cTn>
                              </p:par>
                            </p:childTnLst>
                          </p:cTn>
                        </p:par>
                        <p:par>
                          <p:cTn id="8" fill="hold">
                            <p:stCondLst>
                              <p:cond delay="2000"/>
                            </p:stCondLst>
                            <p:childTnLst>
                              <p:par>
                                <p:cTn id="9" presetID="14" presetClass="entr" presetSubtype="10" fill="hold" grpId="0" nodeType="afterEffect">
                                  <p:stCondLst>
                                    <p:cond delay="0"/>
                                  </p:stCondLst>
                                  <p:childTnLst>
                                    <p:set>
                                      <p:cBhvr>
                                        <p:cTn id="10" dur="1" fill="hold">
                                          <p:stCondLst>
                                            <p:cond delay="0"/>
                                          </p:stCondLst>
                                        </p:cTn>
                                        <p:tgtEl>
                                          <p:spTgt spid="12"/>
                                        </p:tgtEl>
                                        <p:attrNameLst>
                                          <p:attrName>style.visibility</p:attrName>
                                        </p:attrNameLst>
                                      </p:cBhvr>
                                      <p:to>
                                        <p:strVal val="visible"/>
                                      </p:to>
                                    </p:set>
                                    <p:animEffect transition="in" filter="randombar(horizontal)">
                                      <p:cBhvr>
                                        <p:cTn id="11" dur="500"/>
                                        <p:tgtEl>
                                          <p:spTgt spid="12"/>
                                        </p:tgtEl>
                                      </p:cBhvr>
                                    </p:animEffect>
                                  </p:childTnLst>
                                </p:cTn>
                              </p:par>
                            </p:childTnLst>
                          </p:cTn>
                        </p:par>
                        <p:par>
                          <p:cTn id="12" fill="hold">
                            <p:stCondLst>
                              <p:cond delay="2500"/>
                            </p:stCondLst>
                            <p:childTnLst>
                              <p:par>
                                <p:cTn id="13" presetID="2" presetClass="entr" presetSubtype="8" fill="hold" nodeType="afterEffect">
                                  <p:stCondLst>
                                    <p:cond delay="0"/>
                                  </p:stCondLst>
                                  <p:childTnLst>
                                    <p:set>
                                      <p:cBhvr>
                                        <p:cTn id="14" dur="1" fill="hold">
                                          <p:stCondLst>
                                            <p:cond delay="0"/>
                                          </p:stCondLst>
                                        </p:cTn>
                                        <p:tgtEl>
                                          <p:spTgt spid="26"/>
                                        </p:tgtEl>
                                        <p:attrNameLst>
                                          <p:attrName>style.visibility</p:attrName>
                                        </p:attrNameLst>
                                      </p:cBhvr>
                                      <p:to>
                                        <p:strVal val="visible"/>
                                      </p:to>
                                    </p:set>
                                    <p:anim calcmode="lin" valueType="num">
                                      <p:cBhvr additive="base">
                                        <p:cTn id="15" dur="500" fill="hold"/>
                                        <p:tgtEl>
                                          <p:spTgt spid="26"/>
                                        </p:tgtEl>
                                        <p:attrNameLst>
                                          <p:attrName>ppt_x</p:attrName>
                                        </p:attrNameLst>
                                      </p:cBhvr>
                                      <p:tavLst>
                                        <p:tav tm="0">
                                          <p:val>
                                            <p:strVal val="0-#ppt_w/2"/>
                                          </p:val>
                                        </p:tav>
                                        <p:tav tm="100000">
                                          <p:val>
                                            <p:strVal val="#ppt_x"/>
                                          </p:val>
                                        </p:tav>
                                      </p:tavLst>
                                    </p:anim>
                                    <p:anim calcmode="lin" valueType="num">
                                      <p:cBhvr additive="base">
                                        <p:cTn id="16" dur="500" fill="hold"/>
                                        <p:tgtEl>
                                          <p:spTgt spid="26"/>
                                        </p:tgtEl>
                                        <p:attrNameLst>
                                          <p:attrName>ppt_y</p:attrName>
                                        </p:attrNameLst>
                                      </p:cBhvr>
                                      <p:tavLst>
                                        <p:tav tm="0">
                                          <p:val>
                                            <p:strVal val="#ppt_y"/>
                                          </p:val>
                                        </p:tav>
                                        <p:tav tm="100000">
                                          <p:val>
                                            <p:strVal val="#ppt_y"/>
                                          </p:val>
                                        </p:tav>
                                      </p:tavLst>
                                    </p:anim>
                                  </p:childTnLst>
                                </p:cTn>
                              </p:par>
                            </p:childTnLst>
                          </p:cTn>
                        </p:par>
                        <p:par>
                          <p:cTn id="17" fill="hold">
                            <p:stCondLst>
                              <p:cond delay="3000"/>
                            </p:stCondLst>
                            <p:childTnLst>
                              <p:par>
                                <p:cTn id="18" presetID="42" presetClass="entr" presetSubtype="0" fill="hold" grpId="0" nodeType="afterEffect">
                                  <p:stCondLst>
                                    <p:cond delay="0"/>
                                  </p:stCondLst>
                                  <p:childTnLst>
                                    <p:set>
                                      <p:cBhvr>
                                        <p:cTn id="19" dur="1" fill="hold">
                                          <p:stCondLst>
                                            <p:cond delay="0"/>
                                          </p:stCondLst>
                                        </p:cTn>
                                        <p:tgtEl>
                                          <p:spTgt spid="2"/>
                                        </p:tgtEl>
                                        <p:attrNameLst>
                                          <p:attrName>style.visibility</p:attrName>
                                        </p:attrNameLst>
                                      </p:cBhvr>
                                      <p:to>
                                        <p:strVal val="visible"/>
                                      </p:to>
                                    </p:set>
                                    <p:animEffect transition="in" filter="fade">
                                      <p:cBhvr>
                                        <p:cTn id="20" dur="1000"/>
                                        <p:tgtEl>
                                          <p:spTgt spid="2"/>
                                        </p:tgtEl>
                                      </p:cBhvr>
                                    </p:animEffect>
                                    <p:anim calcmode="lin" valueType="num">
                                      <p:cBhvr>
                                        <p:cTn id="21" dur="1000" fill="hold"/>
                                        <p:tgtEl>
                                          <p:spTgt spid="2"/>
                                        </p:tgtEl>
                                        <p:attrNameLst>
                                          <p:attrName>ppt_x</p:attrName>
                                        </p:attrNameLst>
                                      </p:cBhvr>
                                      <p:tavLst>
                                        <p:tav tm="0">
                                          <p:val>
                                            <p:strVal val="#ppt_x"/>
                                          </p:val>
                                        </p:tav>
                                        <p:tav tm="100000">
                                          <p:val>
                                            <p:strVal val="#ppt_x"/>
                                          </p:val>
                                        </p:tav>
                                      </p:tavLst>
                                    </p:anim>
                                    <p:anim calcmode="lin" valueType="num">
                                      <p:cBhvr>
                                        <p:cTn id="22" dur="1000" fill="hold"/>
                                        <p:tgtEl>
                                          <p:spTgt spid="2"/>
                                        </p:tgtEl>
                                        <p:attrNameLst>
                                          <p:attrName>ppt_y</p:attrName>
                                        </p:attrNameLst>
                                      </p:cBhvr>
                                      <p:tavLst>
                                        <p:tav tm="0">
                                          <p:val>
                                            <p:strVal val="#ppt_y+.1"/>
                                          </p:val>
                                        </p:tav>
                                        <p:tav tm="100000">
                                          <p:val>
                                            <p:strVal val="#ppt_y"/>
                                          </p:val>
                                        </p:tav>
                                      </p:tavLst>
                                    </p:anim>
                                  </p:childTnLst>
                                </p:cTn>
                              </p:par>
                            </p:childTnLst>
                          </p:cTn>
                        </p:par>
                        <p:par>
                          <p:cTn id="23" fill="hold">
                            <p:stCondLst>
                              <p:cond delay="4000"/>
                            </p:stCondLst>
                            <p:childTnLst>
                              <p:par>
                                <p:cTn id="24" presetID="16" presetClass="entr" presetSubtype="21" fill="hold" nodeType="afterEffect">
                                  <p:stCondLst>
                                    <p:cond delay="0"/>
                                  </p:stCondLst>
                                  <p:childTnLst>
                                    <p:set>
                                      <p:cBhvr>
                                        <p:cTn id="25" dur="1" fill="hold">
                                          <p:stCondLst>
                                            <p:cond delay="0"/>
                                          </p:stCondLst>
                                        </p:cTn>
                                        <p:tgtEl>
                                          <p:spTgt spid="4"/>
                                        </p:tgtEl>
                                        <p:attrNameLst>
                                          <p:attrName>style.visibility</p:attrName>
                                        </p:attrNameLst>
                                      </p:cBhvr>
                                      <p:to>
                                        <p:strVal val="visible"/>
                                      </p:to>
                                    </p:set>
                                    <p:animEffect transition="in" filter="barn(inVertical)">
                                      <p:cBhvr>
                                        <p:cTn id="26"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2" grpId="0"/>
      <p:bldP spid="12" grpId="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图片 42">
            <a:extLst>
              <a:ext uri="{FF2B5EF4-FFF2-40B4-BE49-F238E27FC236}">
                <a16:creationId xmlns:a16="http://schemas.microsoft.com/office/drawing/2014/main" id="{C8D97DA4-6242-4E73-AEFC-457D04FDC65B}"/>
              </a:ext>
            </a:extLst>
          </p:cNvPr>
          <p:cNvPicPr>
            <a:picLocks noChangeAspect="1"/>
          </p:cNvPicPr>
          <p:nvPr/>
        </p:nvPicPr>
        <p:blipFill>
          <a:blip r:embed="rId2"/>
          <a:stretch>
            <a:fillRect/>
          </a:stretch>
        </p:blipFill>
        <p:spPr>
          <a:xfrm rot="16200000">
            <a:off x="145169" y="-145167"/>
            <a:ext cx="1268414" cy="1558750"/>
          </a:xfrm>
          <a:prstGeom prst="rect">
            <a:avLst/>
          </a:prstGeom>
        </p:spPr>
      </p:pic>
      <p:sp>
        <p:nvSpPr>
          <p:cNvPr id="6" name="文字方塊 5">
            <a:extLst>
              <a:ext uri="{FF2B5EF4-FFF2-40B4-BE49-F238E27FC236}">
                <a16:creationId xmlns:a16="http://schemas.microsoft.com/office/drawing/2014/main" id="{8A30B01A-3198-4955-A208-0E3D9EB60397}"/>
              </a:ext>
            </a:extLst>
          </p:cNvPr>
          <p:cNvSpPr txBox="1"/>
          <p:nvPr/>
        </p:nvSpPr>
        <p:spPr>
          <a:xfrm>
            <a:off x="1558751" y="6596390"/>
            <a:ext cx="4217821" cy="261610"/>
          </a:xfrm>
          <a:prstGeom prst="rect">
            <a:avLst/>
          </a:prstGeom>
          <a:noFill/>
        </p:spPr>
        <p:txBody>
          <a:bodyPr wrap="none" rtlCol="0">
            <a:spAutoFit/>
          </a:bodyPr>
          <a:lstStyle/>
          <a:p>
            <a:r>
              <a:rPr lang="zh-TW" altLang="en-US" sz="1100" dirty="0">
                <a:latin typeface="Microsoft JhengHei Light" panose="020B0304030504040204" pitchFamily="34" charset="-120"/>
                <a:ea typeface="Microsoft JhengHei Light" panose="020B0304030504040204" pitchFamily="34" charset="-120"/>
              </a:rPr>
              <a:t>區塊鏈商業應用概論 實例與分析／新陸書局股份有限公司 發行</a:t>
            </a:r>
          </a:p>
        </p:txBody>
      </p:sp>
      <p:sp>
        <p:nvSpPr>
          <p:cNvPr id="9" name="標題 1">
            <a:extLst>
              <a:ext uri="{FF2B5EF4-FFF2-40B4-BE49-F238E27FC236}">
                <a16:creationId xmlns:a16="http://schemas.microsoft.com/office/drawing/2014/main" id="{475DFFF1-7C37-4CBE-ACFC-3F348BCD20CC}"/>
              </a:ext>
            </a:extLst>
          </p:cNvPr>
          <p:cNvSpPr txBox="1">
            <a:spLocks/>
          </p:cNvSpPr>
          <p:nvPr/>
        </p:nvSpPr>
        <p:spPr>
          <a:xfrm>
            <a:off x="1231956" y="393820"/>
            <a:ext cx="3643527" cy="874595"/>
          </a:xfrm>
          <a:prstGeom prst="rect">
            <a:avLst/>
          </a:prstGeom>
        </p:spPr>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altLang="zh-TW" sz="2400" b="1" dirty="0">
                <a:solidFill>
                  <a:srgbClr val="E06741"/>
                </a:solidFill>
              </a:rPr>
              <a:t>2-2 </a:t>
            </a:r>
            <a:r>
              <a:rPr lang="zh-TW" altLang="en-US" sz="2400" b="1" dirty="0">
                <a:solidFill>
                  <a:srgbClr val="E06741"/>
                </a:solidFill>
              </a:rPr>
              <a:t>區塊鏈技術發展</a:t>
            </a:r>
          </a:p>
          <a:p>
            <a:endParaRPr lang="zh-TW" altLang="en-US" sz="2400" dirty="0">
              <a:solidFill>
                <a:srgbClr val="E06741"/>
              </a:solidFill>
              <a:latin typeface="標楷體" panose="03000509000000000000" pitchFamily="65" charset="-120"/>
              <a:ea typeface="標楷體" panose="03000509000000000000" pitchFamily="65" charset="-120"/>
              <a:cs typeface="Times New Roman" panose="02020603050405020304" pitchFamily="18" charset="0"/>
            </a:endParaRPr>
          </a:p>
        </p:txBody>
      </p:sp>
      <p:sp>
        <p:nvSpPr>
          <p:cNvPr id="2" name="文字方塊 1">
            <a:extLst>
              <a:ext uri="{FF2B5EF4-FFF2-40B4-BE49-F238E27FC236}">
                <a16:creationId xmlns:a16="http://schemas.microsoft.com/office/drawing/2014/main" id="{D6D66D7E-58A1-40BE-8070-FA1C3AF22B14}"/>
              </a:ext>
            </a:extLst>
          </p:cNvPr>
          <p:cNvSpPr txBox="1"/>
          <p:nvPr/>
        </p:nvSpPr>
        <p:spPr>
          <a:xfrm>
            <a:off x="1399888" y="1390978"/>
            <a:ext cx="9636518" cy="4297715"/>
          </a:xfrm>
          <a:prstGeom prst="rect">
            <a:avLst/>
          </a:prstGeom>
          <a:noFill/>
        </p:spPr>
        <p:txBody>
          <a:bodyPr wrap="square" rtlCol="0">
            <a:spAutoFit/>
          </a:bodyPr>
          <a:lstStyle/>
          <a:p>
            <a:pPr>
              <a:lnSpc>
                <a:spcPct val="150000"/>
              </a:lnSpc>
              <a:buSzPct val="150000"/>
            </a:pPr>
            <a:r>
              <a:rPr lang="zh-TW" altLang="en-US" sz="2400" b="1" dirty="0">
                <a:solidFill>
                  <a:srgbClr val="049E8C"/>
                </a:solidFill>
                <a:latin typeface="微軟正黑體" panose="020B0604030504040204" pitchFamily="34" charset="-120"/>
                <a:ea typeface="微軟正黑體" panose="020B0604030504040204" pitchFamily="34" charset="-120"/>
              </a:rPr>
              <a:t>二、安全加密（</a:t>
            </a:r>
            <a:r>
              <a:rPr lang="en-US" altLang="zh-TW" sz="2400" b="1" dirty="0">
                <a:solidFill>
                  <a:srgbClr val="049E8C"/>
                </a:solidFill>
                <a:latin typeface="微軟正黑體" panose="020B0604030504040204" pitchFamily="34" charset="-120"/>
                <a:ea typeface="微軟正黑體" panose="020B0604030504040204" pitchFamily="34" charset="-120"/>
              </a:rPr>
              <a:t>Secure Encryption</a:t>
            </a:r>
            <a:r>
              <a:rPr lang="zh-TW" altLang="en-US" sz="2400" b="1" dirty="0">
                <a:solidFill>
                  <a:srgbClr val="049E8C"/>
                </a:solidFill>
                <a:latin typeface="微軟正黑體" panose="020B0604030504040204" pitchFamily="34" charset="-120"/>
                <a:ea typeface="微軟正黑體" panose="020B0604030504040204" pitchFamily="34" charset="-120"/>
              </a:rPr>
              <a:t>）</a:t>
            </a:r>
            <a:endParaRPr lang="en-US" altLang="zh-TW" sz="2300" b="1" dirty="0">
              <a:solidFill>
                <a:schemeClr val="tx1">
                  <a:lumMod val="75000"/>
                  <a:lumOff val="25000"/>
                </a:schemeClr>
              </a:solidFill>
              <a:latin typeface="微軟正黑體" panose="020B0604030504040204" pitchFamily="34" charset="-120"/>
              <a:ea typeface="微軟正黑體" panose="020B0604030504040204" pitchFamily="34" charset="-120"/>
            </a:endParaRPr>
          </a:p>
          <a:p>
            <a:pPr marL="800100" lvl="1" indent="-342900">
              <a:lnSpc>
                <a:spcPct val="150000"/>
              </a:lnSpc>
              <a:buSzPct val="100000"/>
              <a:buBlip>
                <a:blip r:embed="rId3"/>
              </a:buBlip>
            </a:pPr>
            <a:r>
              <a:rPr lang="zh-TW" altLang="en-US" sz="2300" b="1" dirty="0">
                <a:solidFill>
                  <a:schemeClr val="tx1">
                    <a:lumMod val="75000"/>
                    <a:lumOff val="25000"/>
                  </a:schemeClr>
                </a:solidFill>
                <a:latin typeface="微軟正黑體" panose="020B0604030504040204" pitchFamily="34" charset="-120"/>
                <a:ea typeface="微軟正黑體" panose="020B0604030504040204" pitchFamily="34" charset="-120"/>
              </a:rPr>
              <a:t>保障使用者的隱私權</a:t>
            </a:r>
            <a:endParaRPr lang="en-US" altLang="zh-TW" sz="2300" b="1" dirty="0">
              <a:solidFill>
                <a:schemeClr val="tx1">
                  <a:lumMod val="75000"/>
                  <a:lumOff val="25000"/>
                </a:schemeClr>
              </a:solidFill>
              <a:latin typeface="微軟正黑體" panose="020B0604030504040204" pitchFamily="34" charset="-120"/>
              <a:ea typeface="微軟正黑體" panose="020B0604030504040204" pitchFamily="34" charset="-120"/>
            </a:endParaRPr>
          </a:p>
          <a:p>
            <a:pPr marL="800100" lvl="1" indent="-342900">
              <a:lnSpc>
                <a:spcPct val="150000"/>
              </a:lnSpc>
              <a:buSzPct val="100000"/>
              <a:buBlip>
                <a:blip r:embed="rId3"/>
              </a:buBlip>
            </a:pPr>
            <a:r>
              <a:rPr lang="zh-TW" altLang="en-US" sz="2300" b="1" dirty="0">
                <a:solidFill>
                  <a:schemeClr val="tx1">
                    <a:lumMod val="75000"/>
                    <a:lumOff val="25000"/>
                  </a:schemeClr>
                </a:solidFill>
                <a:latin typeface="微軟正黑體" panose="020B0604030504040204" pitchFamily="34" charset="-120"/>
                <a:ea typeface="微軟正黑體" panose="020B0604030504040204" pitchFamily="34" charset="-120"/>
              </a:rPr>
              <a:t>區塊鏈技術導入了安全雜湊演算法、驗證、數位簽章等密碼學演算方法，確保交易資訊的隱密性</a:t>
            </a:r>
            <a:endParaRPr lang="en-US" altLang="zh-TW" sz="2300" b="1" dirty="0">
              <a:solidFill>
                <a:schemeClr val="tx1">
                  <a:lumMod val="75000"/>
                  <a:lumOff val="25000"/>
                </a:schemeClr>
              </a:solidFill>
              <a:latin typeface="微軟正黑體" panose="020B0604030504040204" pitchFamily="34" charset="-120"/>
              <a:ea typeface="微軟正黑體" panose="020B0604030504040204" pitchFamily="34" charset="-120"/>
            </a:endParaRPr>
          </a:p>
          <a:p>
            <a:pPr marL="800100" lvl="1" indent="-342900">
              <a:lnSpc>
                <a:spcPct val="150000"/>
              </a:lnSpc>
              <a:buSzPct val="100000"/>
              <a:buBlip>
                <a:blip r:embed="rId3"/>
              </a:buBlip>
            </a:pPr>
            <a:r>
              <a:rPr lang="zh-TW" altLang="en-US" sz="2300" b="1" dirty="0">
                <a:solidFill>
                  <a:schemeClr val="tx1">
                    <a:lumMod val="75000"/>
                    <a:lumOff val="25000"/>
                  </a:schemeClr>
                </a:solidFill>
                <a:latin typeface="微軟正黑體" panose="020B0604030504040204" pitchFamily="34" charset="-120"/>
                <a:ea typeface="微軟正黑體" panose="020B0604030504040204" pitchFamily="34" charset="-120"/>
              </a:rPr>
              <a:t>安全加密是為了確保數位網路平台交易的安全性與正確性， 所設計的一項技術</a:t>
            </a:r>
            <a:endParaRPr lang="en-US" altLang="zh-TW" sz="2300" b="1" dirty="0">
              <a:solidFill>
                <a:schemeClr val="tx1">
                  <a:lumMod val="75000"/>
                  <a:lumOff val="25000"/>
                </a:schemeClr>
              </a:solidFill>
              <a:latin typeface="微軟正黑體" panose="020B0604030504040204" pitchFamily="34" charset="-120"/>
              <a:ea typeface="微軟正黑體" panose="020B0604030504040204" pitchFamily="34" charset="-120"/>
            </a:endParaRPr>
          </a:p>
          <a:p>
            <a:pPr marL="800100" lvl="1" indent="-342900">
              <a:lnSpc>
                <a:spcPct val="150000"/>
              </a:lnSpc>
              <a:buSzPct val="100000"/>
              <a:buBlip>
                <a:blip r:embed="rId3"/>
              </a:buBlip>
            </a:pPr>
            <a:r>
              <a:rPr lang="zh-TW" altLang="en-US" sz="2300" b="1" dirty="0">
                <a:solidFill>
                  <a:schemeClr val="tx1">
                    <a:lumMod val="75000"/>
                    <a:lumOff val="25000"/>
                  </a:schemeClr>
                </a:solidFill>
                <a:latin typeface="微軟正黑體" panose="020B0604030504040204" pitchFamily="34" charset="-120"/>
                <a:ea typeface="微軟正黑體" panose="020B0604030504040204" pitchFamily="34" charset="-120"/>
              </a:rPr>
              <a:t> 此技術為達成交易安全所要求的驗證、私密、完整等安全性服務，導入密碼學（</a:t>
            </a:r>
            <a:r>
              <a:rPr lang="en-US" altLang="zh-TW" sz="2300" b="1" dirty="0">
                <a:solidFill>
                  <a:schemeClr val="tx1">
                    <a:lumMod val="75000"/>
                    <a:lumOff val="25000"/>
                  </a:schemeClr>
                </a:solidFill>
                <a:latin typeface="微軟正黑體" panose="020B0604030504040204" pitchFamily="34" charset="-120"/>
                <a:ea typeface="微軟正黑體" panose="020B0604030504040204" pitchFamily="34" charset="-120"/>
              </a:rPr>
              <a:t>Cryptology</a:t>
            </a:r>
            <a:r>
              <a:rPr lang="zh-TW" altLang="en-US" sz="2300" b="1" dirty="0">
                <a:solidFill>
                  <a:schemeClr val="tx1">
                    <a:lumMod val="75000"/>
                    <a:lumOff val="25000"/>
                  </a:schemeClr>
                </a:solidFill>
                <a:latin typeface="微軟正黑體" panose="020B0604030504040204" pitchFamily="34" charset="-120"/>
                <a:ea typeface="微軟正黑體" panose="020B0604030504040204" pitchFamily="34" charset="-120"/>
              </a:rPr>
              <a:t>）機制</a:t>
            </a:r>
          </a:p>
        </p:txBody>
      </p:sp>
      <p:cxnSp>
        <p:nvCxnSpPr>
          <p:cNvPr id="26" name="直接连接符 33">
            <a:extLst>
              <a:ext uri="{FF2B5EF4-FFF2-40B4-BE49-F238E27FC236}">
                <a16:creationId xmlns:a16="http://schemas.microsoft.com/office/drawing/2014/main" id="{C3725E45-5458-4931-9D9A-B8C15AE6AC41}"/>
              </a:ext>
            </a:extLst>
          </p:cNvPr>
          <p:cNvCxnSpPr>
            <a:cxnSpLocks/>
          </p:cNvCxnSpPr>
          <p:nvPr/>
        </p:nvCxnSpPr>
        <p:spPr>
          <a:xfrm>
            <a:off x="1177167" y="1046746"/>
            <a:ext cx="7976069" cy="0"/>
          </a:xfrm>
          <a:prstGeom prst="line">
            <a:avLst/>
          </a:prstGeom>
          <a:ln w="190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12" name="文字方塊 11">
            <a:extLst>
              <a:ext uri="{FF2B5EF4-FFF2-40B4-BE49-F238E27FC236}">
                <a16:creationId xmlns:a16="http://schemas.microsoft.com/office/drawing/2014/main" id="{9FE02F65-A32E-4124-B1E6-8E45750976E4}"/>
              </a:ext>
            </a:extLst>
          </p:cNvPr>
          <p:cNvSpPr txBox="1"/>
          <p:nvPr/>
        </p:nvSpPr>
        <p:spPr>
          <a:xfrm>
            <a:off x="4487241" y="449166"/>
            <a:ext cx="3076483" cy="400110"/>
          </a:xfrm>
          <a:prstGeom prst="rect">
            <a:avLst/>
          </a:prstGeom>
          <a:noFill/>
        </p:spPr>
        <p:txBody>
          <a:bodyPr wrap="none" rtlCol="0">
            <a:spAutoFit/>
          </a:bodyPr>
          <a:lstStyle/>
          <a:p>
            <a:r>
              <a:rPr lang="en-US" altLang="zh-TW" sz="2000" b="1" dirty="0">
                <a:solidFill>
                  <a:schemeClr val="tx1">
                    <a:lumMod val="65000"/>
                    <a:lumOff val="35000"/>
                  </a:schemeClr>
                </a:solidFill>
                <a:latin typeface="微軟正黑體" panose="020B0604030504040204" pitchFamily="34" charset="-120"/>
                <a:ea typeface="微軟正黑體" panose="020B0604030504040204" pitchFamily="34" charset="-120"/>
                <a:cs typeface="Times New Roman" panose="02020603050405020304" pitchFamily="18" charset="0"/>
              </a:rPr>
              <a:t>-2</a:t>
            </a:r>
            <a:r>
              <a:rPr lang="zh-TW" altLang="en-US" sz="2000" b="1" dirty="0">
                <a:solidFill>
                  <a:schemeClr val="tx1">
                    <a:lumMod val="65000"/>
                    <a:lumOff val="35000"/>
                  </a:schemeClr>
                </a:solidFill>
                <a:latin typeface="微軟正黑體" panose="020B0604030504040204" pitchFamily="34" charset="-120"/>
                <a:ea typeface="微軟正黑體" panose="020B0604030504040204" pitchFamily="34" charset="-120"/>
                <a:cs typeface="Times New Roman" panose="02020603050405020304" pitchFamily="18" charset="0"/>
              </a:rPr>
              <a:t> 區塊鏈技術之基本要素</a:t>
            </a:r>
          </a:p>
        </p:txBody>
      </p:sp>
      <p:pic>
        <p:nvPicPr>
          <p:cNvPr id="4" name="圖片 3">
            <a:extLst>
              <a:ext uri="{FF2B5EF4-FFF2-40B4-BE49-F238E27FC236}">
                <a16:creationId xmlns:a16="http://schemas.microsoft.com/office/drawing/2014/main" id="{B6C70928-4514-4FDB-9199-A95FC8332EBC}"/>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679077" y="304126"/>
            <a:ext cx="1829474" cy="1829474"/>
          </a:xfrm>
          <a:prstGeom prst="rect">
            <a:avLst/>
          </a:prstGeom>
        </p:spPr>
      </p:pic>
    </p:spTree>
    <p:extLst>
      <p:ext uri="{BB962C8B-B14F-4D97-AF65-F5344CB8AC3E}">
        <p14:creationId xmlns:p14="http://schemas.microsoft.com/office/powerpoint/2010/main" val="1758056054"/>
      </p:ext>
    </p:extLst>
  </p:cSld>
  <p:clrMapOvr>
    <a:masterClrMapping/>
  </p:clrMapOvr>
  <p:transition spd="slow">
    <p:randomBar dir="vert"/>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6" presetClass="entr" presetSubtype="16" fill="hold" grpId="0" nodeType="after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circle(in)">
                                      <p:cBhvr>
                                        <p:cTn id="7" dur="2000"/>
                                        <p:tgtEl>
                                          <p:spTgt spid="9"/>
                                        </p:tgtEl>
                                      </p:cBhvr>
                                    </p:animEffect>
                                  </p:childTnLst>
                                </p:cTn>
                              </p:par>
                            </p:childTnLst>
                          </p:cTn>
                        </p:par>
                        <p:par>
                          <p:cTn id="8" fill="hold">
                            <p:stCondLst>
                              <p:cond delay="2000"/>
                            </p:stCondLst>
                            <p:childTnLst>
                              <p:par>
                                <p:cTn id="9" presetID="14" presetClass="entr" presetSubtype="10" fill="hold" grpId="0" nodeType="afterEffect">
                                  <p:stCondLst>
                                    <p:cond delay="0"/>
                                  </p:stCondLst>
                                  <p:childTnLst>
                                    <p:set>
                                      <p:cBhvr>
                                        <p:cTn id="10" dur="1" fill="hold">
                                          <p:stCondLst>
                                            <p:cond delay="0"/>
                                          </p:stCondLst>
                                        </p:cTn>
                                        <p:tgtEl>
                                          <p:spTgt spid="12"/>
                                        </p:tgtEl>
                                        <p:attrNameLst>
                                          <p:attrName>style.visibility</p:attrName>
                                        </p:attrNameLst>
                                      </p:cBhvr>
                                      <p:to>
                                        <p:strVal val="visible"/>
                                      </p:to>
                                    </p:set>
                                    <p:animEffect transition="in" filter="randombar(horizontal)">
                                      <p:cBhvr>
                                        <p:cTn id="11" dur="500"/>
                                        <p:tgtEl>
                                          <p:spTgt spid="12"/>
                                        </p:tgtEl>
                                      </p:cBhvr>
                                    </p:animEffect>
                                  </p:childTnLst>
                                </p:cTn>
                              </p:par>
                            </p:childTnLst>
                          </p:cTn>
                        </p:par>
                        <p:par>
                          <p:cTn id="12" fill="hold">
                            <p:stCondLst>
                              <p:cond delay="2500"/>
                            </p:stCondLst>
                            <p:childTnLst>
                              <p:par>
                                <p:cTn id="13" presetID="2" presetClass="entr" presetSubtype="8" fill="hold" nodeType="afterEffect">
                                  <p:stCondLst>
                                    <p:cond delay="0"/>
                                  </p:stCondLst>
                                  <p:childTnLst>
                                    <p:set>
                                      <p:cBhvr>
                                        <p:cTn id="14" dur="1" fill="hold">
                                          <p:stCondLst>
                                            <p:cond delay="0"/>
                                          </p:stCondLst>
                                        </p:cTn>
                                        <p:tgtEl>
                                          <p:spTgt spid="26"/>
                                        </p:tgtEl>
                                        <p:attrNameLst>
                                          <p:attrName>style.visibility</p:attrName>
                                        </p:attrNameLst>
                                      </p:cBhvr>
                                      <p:to>
                                        <p:strVal val="visible"/>
                                      </p:to>
                                    </p:set>
                                    <p:anim calcmode="lin" valueType="num">
                                      <p:cBhvr additive="base">
                                        <p:cTn id="15" dur="500" fill="hold"/>
                                        <p:tgtEl>
                                          <p:spTgt spid="26"/>
                                        </p:tgtEl>
                                        <p:attrNameLst>
                                          <p:attrName>ppt_x</p:attrName>
                                        </p:attrNameLst>
                                      </p:cBhvr>
                                      <p:tavLst>
                                        <p:tav tm="0">
                                          <p:val>
                                            <p:strVal val="0-#ppt_w/2"/>
                                          </p:val>
                                        </p:tav>
                                        <p:tav tm="100000">
                                          <p:val>
                                            <p:strVal val="#ppt_x"/>
                                          </p:val>
                                        </p:tav>
                                      </p:tavLst>
                                    </p:anim>
                                    <p:anim calcmode="lin" valueType="num">
                                      <p:cBhvr additive="base">
                                        <p:cTn id="16" dur="500" fill="hold"/>
                                        <p:tgtEl>
                                          <p:spTgt spid="26"/>
                                        </p:tgtEl>
                                        <p:attrNameLst>
                                          <p:attrName>ppt_y</p:attrName>
                                        </p:attrNameLst>
                                      </p:cBhvr>
                                      <p:tavLst>
                                        <p:tav tm="0">
                                          <p:val>
                                            <p:strVal val="#ppt_y"/>
                                          </p:val>
                                        </p:tav>
                                        <p:tav tm="100000">
                                          <p:val>
                                            <p:strVal val="#ppt_y"/>
                                          </p:val>
                                        </p:tav>
                                      </p:tavLst>
                                    </p:anim>
                                  </p:childTnLst>
                                </p:cTn>
                              </p:par>
                            </p:childTnLst>
                          </p:cTn>
                        </p:par>
                        <p:par>
                          <p:cTn id="17" fill="hold">
                            <p:stCondLst>
                              <p:cond delay="3000"/>
                            </p:stCondLst>
                            <p:childTnLst>
                              <p:par>
                                <p:cTn id="18" presetID="18" presetClass="entr" presetSubtype="12" fill="hold" grpId="0" nodeType="afterEffect">
                                  <p:stCondLst>
                                    <p:cond delay="0"/>
                                  </p:stCondLst>
                                  <p:childTnLst>
                                    <p:set>
                                      <p:cBhvr>
                                        <p:cTn id="19" dur="1" fill="hold">
                                          <p:stCondLst>
                                            <p:cond delay="0"/>
                                          </p:stCondLst>
                                        </p:cTn>
                                        <p:tgtEl>
                                          <p:spTgt spid="2"/>
                                        </p:tgtEl>
                                        <p:attrNameLst>
                                          <p:attrName>style.visibility</p:attrName>
                                        </p:attrNameLst>
                                      </p:cBhvr>
                                      <p:to>
                                        <p:strVal val="visible"/>
                                      </p:to>
                                    </p:set>
                                    <p:animEffect transition="in" filter="strips(downLeft)">
                                      <p:cBhvr>
                                        <p:cTn id="20" dur="500"/>
                                        <p:tgtEl>
                                          <p:spTgt spid="2"/>
                                        </p:tgtEl>
                                      </p:cBhvr>
                                    </p:animEffect>
                                  </p:childTnLst>
                                </p:cTn>
                              </p:par>
                            </p:childTnLst>
                          </p:cTn>
                        </p:par>
                        <p:par>
                          <p:cTn id="21" fill="hold">
                            <p:stCondLst>
                              <p:cond delay="3500"/>
                            </p:stCondLst>
                            <p:childTnLst>
                              <p:par>
                                <p:cTn id="22" presetID="31" presetClass="entr" presetSubtype="0" fill="hold" nodeType="afterEffect">
                                  <p:stCondLst>
                                    <p:cond delay="0"/>
                                  </p:stCondLst>
                                  <p:childTnLst>
                                    <p:set>
                                      <p:cBhvr>
                                        <p:cTn id="23" dur="1" fill="hold">
                                          <p:stCondLst>
                                            <p:cond delay="0"/>
                                          </p:stCondLst>
                                        </p:cTn>
                                        <p:tgtEl>
                                          <p:spTgt spid="4"/>
                                        </p:tgtEl>
                                        <p:attrNameLst>
                                          <p:attrName>style.visibility</p:attrName>
                                        </p:attrNameLst>
                                      </p:cBhvr>
                                      <p:to>
                                        <p:strVal val="visible"/>
                                      </p:to>
                                    </p:set>
                                    <p:anim calcmode="lin" valueType="num">
                                      <p:cBhvr>
                                        <p:cTn id="24" dur="1000" fill="hold"/>
                                        <p:tgtEl>
                                          <p:spTgt spid="4"/>
                                        </p:tgtEl>
                                        <p:attrNameLst>
                                          <p:attrName>ppt_w</p:attrName>
                                        </p:attrNameLst>
                                      </p:cBhvr>
                                      <p:tavLst>
                                        <p:tav tm="0">
                                          <p:val>
                                            <p:fltVal val="0"/>
                                          </p:val>
                                        </p:tav>
                                        <p:tav tm="100000">
                                          <p:val>
                                            <p:strVal val="#ppt_w"/>
                                          </p:val>
                                        </p:tav>
                                      </p:tavLst>
                                    </p:anim>
                                    <p:anim calcmode="lin" valueType="num">
                                      <p:cBhvr>
                                        <p:cTn id="25" dur="1000" fill="hold"/>
                                        <p:tgtEl>
                                          <p:spTgt spid="4"/>
                                        </p:tgtEl>
                                        <p:attrNameLst>
                                          <p:attrName>ppt_h</p:attrName>
                                        </p:attrNameLst>
                                      </p:cBhvr>
                                      <p:tavLst>
                                        <p:tav tm="0">
                                          <p:val>
                                            <p:fltVal val="0"/>
                                          </p:val>
                                        </p:tav>
                                        <p:tav tm="100000">
                                          <p:val>
                                            <p:strVal val="#ppt_h"/>
                                          </p:val>
                                        </p:tav>
                                      </p:tavLst>
                                    </p:anim>
                                    <p:anim calcmode="lin" valueType="num">
                                      <p:cBhvr>
                                        <p:cTn id="26" dur="1000" fill="hold"/>
                                        <p:tgtEl>
                                          <p:spTgt spid="4"/>
                                        </p:tgtEl>
                                        <p:attrNameLst>
                                          <p:attrName>style.rotation</p:attrName>
                                        </p:attrNameLst>
                                      </p:cBhvr>
                                      <p:tavLst>
                                        <p:tav tm="0">
                                          <p:val>
                                            <p:fltVal val="90"/>
                                          </p:val>
                                        </p:tav>
                                        <p:tav tm="100000">
                                          <p:val>
                                            <p:fltVal val="0"/>
                                          </p:val>
                                        </p:tav>
                                      </p:tavLst>
                                    </p:anim>
                                    <p:animEffect transition="in" filter="fade">
                                      <p:cBhvr>
                                        <p:cTn id="27" dur="10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2" grpId="0"/>
      <p:bldP spid="12" grpId="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图片 42">
            <a:extLst>
              <a:ext uri="{FF2B5EF4-FFF2-40B4-BE49-F238E27FC236}">
                <a16:creationId xmlns:a16="http://schemas.microsoft.com/office/drawing/2014/main" id="{C8D97DA4-6242-4E73-AEFC-457D04FDC65B}"/>
              </a:ext>
            </a:extLst>
          </p:cNvPr>
          <p:cNvPicPr>
            <a:picLocks noChangeAspect="1"/>
          </p:cNvPicPr>
          <p:nvPr/>
        </p:nvPicPr>
        <p:blipFill>
          <a:blip r:embed="rId2"/>
          <a:stretch>
            <a:fillRect/>
          </a:stretch>
        </p:blipFill>
        <p:spPr>
          <a:xfrm rot="16200000">
            <a:off x="145169" y="-145167"/>
            <a:ext cx="1268414" cy="1558750"/>
          </a:xfrm>
          <a:prstGeom prst="rect">
            <a:avLst/>
          </a:prstGeom>
        </p:spPr>
      </p:pic>
      <p:sp>
        <p:nvSpPr>
          <p:cNvPr id="6" name="文字方塊 5">
            <a:extLst>
              <a:ext uri="{FF2B5EF4-FFF2-40B4-BE49-F238E27FC236}">
                <a16:creationId xmlns:a16="http://schemas.microsoft.com/office/drawing/2014/main" id="{8A30B01A-3198-4955-A208-0E3D9EB60397}"/>
              </a:ext>
            </a:extLst>
          </p:cNvPr>
          <p:cNvSpPr txBox="1"/>
          <p:nvPr/>
        </p:nvSpPr>
        <p:spPr>
          <a:xfrm>
            <a:off x="1558751" y="6596390"/>
            <a:ext cx="4217821" cy="261610"/>
          </a:xfrm>
          <a:prstGeom prst="rect">
            <a:avLst/>
          </a:prstGeom>
          <a:noFill/>
        </p:spPr>
        <p:txBody>
          <a:bodyPr wrap="none" rtlCol="0">
            <a:spAutoFit/>
          </a:bodyPr>
          <a:lstStyle/>
          <a:p>
            <a:r>
              <a:rPr lang="zh-TW" altLang="en-US" sz="1100" dirty="0">
                <a:latin typeface="Microsoft JhengHei Light" panose="020B0304030504040204" pitchFamily="34" charset="-120"/>
                <a:ea typeface="Microsoft JhengHei Light" panose="020B0304030504040204" pitchFamily="34" charset="-120"/>
              </a:rPr>
              <a:t>區塊鏈商業應用概論 實例與分析／新陸書局股份有限公司 發行</a:t>
            </a:r>
          </a:p>
        </p:txBody>
      </p:sp>
      <p:sp>
        <p:nvSpPr>
          <p:cNvPr id="9" name="標題 1">
            <a:extLst>
              <a:ext uri="{FF2B5EF4-FFF2-40B4-BE49-F238E27FC236}">
                <a16:creationId xmlns:a16="http://schemas.microsoft.com/office/drawing/2014/main" id="{475DFFF1-7C37-4CBE-ACFC-3F348BCD20CC}"/>
              </a:ext>
            </a:extLst>
          </p:cNvPr>
          <p:cNvSpPr txBox="1">
            <a:spLocks/>
          </p:cNvSpPr>
          <p:nvPr/>
        </p:nvSpPr>
        <p:spPr>
          <a:xfrm>
            <a:off x="1231956" y="393820"/>
            <a:ext cx="3643527" cy="874595"/>
          </a:xfrm>
          <a:prstGeom prst="rect">
            <a:avLst/>
          </a:prstGeom>
        </p:spPr>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altLang="zh-TW" sz="2400" b="1" dirty="0">
                <a:solidFill>
                  <a:srgbClr val="E06741"/>
                </a:solidFill>
              </a:rPr>
              <a:t>2-2 </a:t>
            </a:r>
            <a:r>
              <a:rPr lang="zh-TW" altLang="en-US" sz="2400" b="1" dirty="0">
                <a:solidFill>
                  <a:srgbClr val="E06741"/>
                </a:solidFill>
              </a:rPr>
              <a:t>區塊鏈技術發展</a:t>
            </a:r>
          </a:p>
          <a:p>
            <a:endParaRPr lang="zh-TW" altLang="en-US" sz="2400" dirty="0">
              <a:solidFill>
                <a:srgbClr val="E06741"/>
              </a:solidFill>
              <a:latin typeface="標楷體" panose="03000509000000000000" pitchFamily="65" charset="-120"/>
              <a:ea typeface="標楷體" panose="03000509000000000000" pitchFamily="65" charset="-120"/>
              <a:cs typeface="Times New Roman" panose="02020603050405020304" pitchFamily="18" charset="0"/>
            </a:endParaRPr>
          </a:p>
        </p:txBody>
      </p:sp>
      <p:sp>
        <p:nvSpPr>
          <p:cNvPr id="2" name="文字方塊 1">
            <a:extLst>
              <a:ext uri="{FF2B5EF4-FFF2-40B4-BE49-F238E27FC236}">
                <a16:creationId xmlns:a16="http://schemas.microsoft.com/office/drawing/2014/main" id="{D6D66D7E-58A1-40BE-8070-FA1C3AF22B14}"/>
              </a:ext>
            </a:extLst>
          </p:cNvPr>
          <p:cNvSpPr txBox="1"/>
          <p:nvPr/>
        </p:nvSpPr>
        <p:spPr>
          <a:xfrm>
            <a:off x="1541292" y="1153338"/>
            <a:ext cx="9353710" cy="5336461"/>
          </a:xfrm>
          <a:prstGeom prst="rect">
            <a:avLst/>
          </a:prstGeom>
          <a:noFill/>
        </p:spPr>
        <p:txBody>
          <a:bodyPr wrap="square" rtlCol="0">
            <a:spAutoFit/>
          </a:bodyPr>
          <a:lstStyle/>
          <a:p>
            <a:pPr>
              <a:lnSpc>
                <a:spcPct val="150000"/>
              </a:lnSpc>
              <a:buSzPct val="150000"/>
            </a:pPr>
            <a:r>
              <a:rPr lang="zh-TW" altLang="en-US" sz="2300" b="1" dirty="0">
                <a:solidFill>
                  <a:schemeClr val="tx1">
                    <a:lumMod val="75000"/>
                    <a:lumOff val="25000"/>
                  </a:schemeClr>
                </a:solidFill>
                <a:latin typeface="微軟正黑體" panose="020B0604030504040204" pitchFamily="34" charset="-120"/>
                <a:ea typeface="微軟正黑體" panose="020B0604030504040204" pitchFamily="34" charset="-120"/>
              </a:rPr>
              <a:t>（一）安全雜湊演算法（</a:t>
            </a:r>
            <a:r>
              <a:rPr lang="en-US" altLang="zh-TW" sz="2300" b="1" dirty="0">
                <a:solidFill>
                  <a:schemeClr val="tx1">
                    <a:lumMod val="75000"/>
                    <a:lumOff val="25000"/>
                  </a:schemeClr>
                </a:solidFill>
                <a:latin typeface="微軟正黑體" panose="020B0604030504040204" pitchFamily="34" charset="-120"/>
                <a:ea typeface="微軟正黑體" panose="020B0604030504040204" pitchFamily="34" charset="-120"/>
              </a:rPr>
              <a:t>SHA</a:t>
            </a:r>
            <a:r>
              <a:rPr lang="zh-TW" altLang="en-US" sz="2300" b="1" dirty="0">
                <a:solidFill>
                  <a:schemeClr val="tx1">
                    <a:lumMod val="75000"/>
                    <a:lumOff val="25000"/>
                  </a:schemeClr>
                </a:solidFill>
                <a:latin typeface="微軟正黑體" panose="020B0604030504040204" pitchFamily="34" charset="-120"/>
                <a:ea typeface="微軟正黑體" panose="020B0604030504040204" pitchFamily="34" charset="-120"/>
              </a:rPr>
              <a:t>）</a:t>
            </a:r>
          </a:p>
          <a:p>
            <a:pPr marL="800100" lvl="1" indent="-342900">
              <a:lnSpc>
                <a:spcPct val="150000"/>
              </a:lnSpc>
              <a:buSzPct val="100000"/>
              <a:buBlip>
                <a:blip r:embed="rId3"/>
              </a:buBlip>
            </a:pPr>
            <a:r>
              <a:rPr lang="zh-TW" altLang="en-US" sz="2300" b="1" dirty="0">
                <a:solidFill>
                  <a:schemeClr val="tx1">
                    <a:lumMod val="75000"/>
                    <a:lumOff val="25000"/>
                  </a:schemeClr>
                </a:solidFill>
                <a:latin typeface="微軟正黑體" panose="020B0604030504040204" pitchFamily="34" charset="-120"/>
                <a:ea typeface="微軟正黑體" panose="020B0604030504040204" pitchFamily="34" charset="-120"/>
              </a:rPr>
              <a:t>一種能計算出一個數位訊息所對應到的，長度固定的字串（又稱訊息摘要）的演算法</a:t>
            </a:r>
            <a:endParaRPr lang="en-US" altLang="zh-TW" sz="2300" b="1" dirty="0">
              <a:solidFill>
                <a:schemeClr val="tx1">
                  <a:lumMod val="75000"/>
                  <a:lumOff val="25000"/>
                </a:schemeClr>
              </a:solidFill>
              <a:latin typeface="微軟正黑體" panose="020B0604030504040204" pitchFamily="34" charset="-120"/>
              <a:ea typeface="微軟正黑體" panose="020B0604030504040204" pitchFamily="34" charset="-120"/>
            </a:endParaRPr>
          </a:p>
          <a:p>
            <a:pPr marL="800100" lvl="1" indent="-342900">
              <a:lnSpc>
                <a:spcPct val="150000"/>
              </a:lnSpc>
              <a:buSzPct val="100000"/>
              <a:buBlip>
                <a:blip r:embed="rId3"/>
              </a:buBlip>
            </a:pPr>
            <a:r>
              <a:rPr lang="zh-TW" altLang="en-US" sz="2300" b="1" dirty="0">
                <a:solidFill>
                  <a:schemeClr val="tx1">
                    <a:lumMod val="75000"/>
                    <a:lumOff val="25000"/>
                  </a:schemeClr>
                </a:solidFill>
                <a:latin typeface="微軟正黑體" panose="020B0604030504040204" pitchFamily="34" charset="-120"/>
                <a:ea typeface="微軟正黑體" panose="020B0604030504040204" pitchFamily="34" charset="-120"/>
              </a:rPr>
              <a:t>且若輸入的訊息不同，它們對應到不同字串的機率很高；而</a:t>
            </a:r>
            <a:r>
              <a:rPr lang="en-US" altLang="zh-TW" sz="2300" b="1" dirty="0">
                <a:solidFill>
                  <a:schemeClr val="tx1">
                    <a:lumMod val="75000"/>
                    <a:lumOff val="25000"/>
                  </a:schemeClr>
                </a:solidFill>
                <a:latin typeface="微軟正黑體" panose="020B0604030504040204" pitchFamily="34" charset="-120"/>
                <a:ea typeface="微軟正黑體" panose="020B0604030504040204" pitchFamily="34" charset="-120"/>
              </a:rPr>
              <a:t>SHA </a:t>
            </a:r>
            <a:r>
              <a:rPr lang="zh-TW" altLang="en-US" sz="2300" b="1" dirty="0">
                <a:solidFill>
                  <a:schemeClr val="tx1">
                    <a:lumMod val="75000"/>
                    <a:lumOff val="25000"/>
                  </a:schemeClr>
                </a:solidFill>
                <a:latin typeface="微軟正黑體" panose="020B0604030504040204" pitchFamily="34" charset="-120"/>
                <a:ea typeface="微軟正黑體" panose="020B0604030504040204" pitchFamily="34" charset="-120"/>
              </a:rPr>
              <a:t>是</a:t>
            </a:r>
            <a:r>
              <a:rPr lang="en-US" altLang="zh-TW" sz="2300" b="1" dirty="0">
                <a:solidFill>
                  <a:schemeClr val="tx1">
                    <a:lumMod val="75000"/>
                    <a:lumOff val="25000"/>
                  </a:schemeClr>
                </a:solidFill>
                <a:latin typeface="微軟正黑體" panose="020B0604030504040204" pitchFamily="34" charset="-120"/>
                <a:ea typeface="微軟正黑體" panose="020B0604030504040204" pitchFamily="34" charset="-120"/>
              </a:rPr>
              <a:t>FIPS </a:t>
            </a:r>
            <a:r>
              <a:rPr lang="zh-TW" altLang="en-US" sz="2300" b="1" dirty="0">
                <a:solidFill>
                  <a:schemeClr val="tx1">
                    <a:lumMod val="75000"/>
                    <a:lumOff val="25000"/>
                  </a:schemeClr>
                </a:solidFill>
                <a:latin typeface="微軟正黑體" panose="020B0604030504040204" pitchFamily="34" charset="-120"/>
                <a:ea typeface="微軟正黑體" panose="020B0604030504040204" pitchFamily="34" charset="-120"/>
              </a:rPr>
              <a:t>所認證的五種安全雜湊演算法</a:t>
            </a:r>
          </a:p>
          <a:p>
            <a:pPr marL="800100" lvl="1" indent="-342900">
              <a:lnSpc>
                <a:spcPct val="150000"/>
              </a:lnSpc>
              <a:buSzPct val="100000"/>
              <a:buBlip>
                <a:blip r:embed="rId3"/>
              </a:buBlip>
            </a:pPr>
            <a:r>
              <a:rPr lang="zh-TW" altLang="en-US" sz="2300" b="1" dirty="0">
                <a:solidFill>
                  <a:schemeClr val="tx1">
                    <a:lumMod val="75000"/>
                    <a:lumOff val="25000"/>
                  </a:schemeClr>
                </a:solidFill>
                <a:latin typeface="微軟正黑體" panose="020B0604030504040204" pitchFamily="34" charset="-120"/>
                <a:ea typeface="微軟正黑體" panose="020B0604030504040204" pitchFamily="34" charset="-120"/>
              </a:rPr>
              <a:t>這些演算法之所以稱作</a:t>
            </a:r>
            <a:r>
              <a:rPr lang="zh-TW" altLang="en-US" sz="2300" b="1" dirty="0">
                <a:solidFill>
                  <a:srgbClr val="495B73"/>
                </a:solidFill>
                <a:latin typeface="微軟正黑體" panose="020B0604030504040204" pitchFamily="34" charset="-120"/>
                <a:ea typeface="微軟正黑體" panose="020B0604030504040204" pitchFamily="34" charset="-120"/>
              </a:rPr>
              <a:t>「安全」</a:t>
            </a:r>
            <a:r>
              <a:rPr lang="zh-TW" altLang="en-US" sz="2300" b="1" dirty="0">
                <a:solidFill>
                  <a:schemeClr val="tx1">
                    <a:lumMod val="75000"/>
                    <a:lumOff val="25000"/>
                  </a:schemeClr>
                </a:solidFill>
                <a:latin typeface="微軟正黑體" panose="020B0604030504040204" pitchFamily="34" charset="-120"/>
                <a:ea typeface="微軟正黑體" panose="020B0604030504040204" pitchFamily="34" charset="-120"/>
              </a:rPr>
              <a:t>是基於以下兩點</a:t>
            </a:r>
            <a:endParaRPr lang="en-US" altLang="zh-TW" sz="2300" b="1" dirty="0">
              <a:solidFill>
                <a:schemeClr val="tx1">
                  <a:lumMod val="75000"/>
                  <a:lumOff val="25000"/>
                </a:schemeClr>
              </a:solidFill>
              <a:latin typeface="微軟正黑體" panose="020B0604030504040204" pitchFamily="34" charset="-120"/>
              <a:ea typeface="微軟正黑體" panose="020B0604030504040204" pitchFamily="34" charset="-120"/>
            </a:endParaRPr>
          </a:p>
          <a:p>
            <a:pPr marL="1371600" lvl="2" indent="-457200">
              <a:lnSpc>
                <a:spcPct val="150000"/>
              </a:lnSpc>
              <a:buSzPct val="100000"/>
              <a:buFont typeface="+mj-lt"/>
              <a:buAutoNum type="arabicPeriod"/>
            </a:pPr>
            <a:r>
              <a:rPr lang="zh-TW" altLang="en-US" sz="2300" b="1" dirty="0">
                <a:solidFill>
                  <a:schemeClr val="tx1">
                    <a:lumMod val="75000"/>
                    <a:lumOff val="25000"/>
                  </a:schemeClr>
                </a:solidFill>
                <a:latin typeface="微軟正黑體" panose="020B0604030504040204" pitchFamily="34" charset="-120"/>
                <a:ea typeface="微軟正黑體" panose="020B0604030504040204" pitchFamily="34" charset="-120"/>
              </a:rPr>
              <a:t>由訊息摘要反推原輸入訊息，從計算理論上來說是很困難的</a:t>
            </a:r>
            <a:endParaRPr lang="en-US" altLang="zh-TW" sz="2300" b="1" dirty="0">
              <a:solidFill>
                <a:schemeClr val="tx1">
                  <a:lumMod val="75000"/>
                  <a:lumOff val="25000"/>
                </a:schemeClr>
              </a:solidFill>
              <a:latin typeface="微軟正黑體" panose="020B0604030504040204" pitchFamily="34" charset="-120"/>
              <a:ea typeface="微軟正黑體" panose="020B0604030504040204" pitchFamily="34" charset="-120"/>
            </a:endParaRPr>
          </a:p>
          <a:p>
            <a:pPr marL="1371600" lvl="2" indent="-457200">
              <a:lnSpc>
                <a:spcPct val="150000"/>
              </a:lnSpc>
              <a:buSzPct val="100000"/>
              <a:buFont typeface="+mj-lt"/>
              <a:buAutoNum type="arabicPeriod"/>
            </a:pPr>
            <a:r>
              <a:rPr lang="zh-TW" altLang="en-US" sz="2300" b="1" dirty="0">
                <a:solidFill>
                  <a:schemeClr val="tx1">
                    <a:lumMod val="75000"/>
                    <a:lumOff val="25000"/>
                  </a:schemeClr>
                </a:solidFill>
                <a:latin typeface="微軟正黑體" panose="020B0604030504040204" pitchFamily="34" charset="-120"/>
                <a:ea typeface="微軟正黑體" panose="020B0604030504040204" pitchFamily="34" charset="-120"/>
              </a:rPr>
              <a:t>想要找到兩組不同的訊息對應到相同的訊息摘要，從計算理論上來說也是很困難的。任何對輸入訊息的變動，都有很高的機率導致其產生的訊息摘要迥異</a:t>
            </a:r>
          </a:p>
        </p:txBody>
      </p:sp>
      <p:cxnSp>
        <p:nvCxnSpPr>
          <p:cNvPr id="26" name="直接连接符 33">
            <a:extLst>
              <a:ext uri="{FF2B5EF4-FFF2-40B4-BE49-F238E27FC236}">
                <a16:creationId xmlns:a16="http://schemas.microsoft.com/office/drawing/2014/main" id="{C3725E45-5458-4931-9D9A-B8C15AE6AC41}"/>
              </a:ext>
            </a:extLst>
          </p:cNvPr>
          <p:cNvCxnSpPr>
            <a:cxnSpLocks/>
          </p:cNvCxnSpPr>
          <p:nvPr/>
        </p:nvCxnSpPr>
        <p:spPr>
          <a:xfrm>
            <a:off x="1177167" y="1046746"/>
            <a:ext cx="10081960" cy="0"/>
          </a:xfrm>
          <a:prstGeom prst="line">
            <a:avLst/>
          </a:prstGeom>
          <a:ln w="190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12" name="文字方塊 11">
            <a:extLst>
              <a:ext uri="{FF2B5EF4-FFF2-40B4-BE49-F238E27FC236}">
                <a16:creationId xmlns:a16="http://schemas.microsoft.com/office/drawing/2014/main" id="{9FE02F65-A32E-4124-B1E6-8E45750976E4}"/>
              </a:ext>
            </a:extLst>
          </p:cNvPr>
          <p:cNvSpPr txBox="1"/>
          <p:nvPr/>
        </p:nvSpPr>
        <p:spPr>
          <a:xfrm>
            <a:off x="4487241" y="449166"/>
            <a:ext cx="3076483" cy="400110"/>
          </a:xfrm>
          <a:prstGeom prst="rect">
            <a:avLst/>
          </a:prstGeom>
          <a:noFill/>
        </p:spPr>
        <p:txBody>
          <a:bodyPr wrap="none" rtlCol="0">
            <a:spAutoFit/>
          </a:bodyPr>
          <a:lstStyle/>
          <a:p>
            <a:r>
              <a:rPr lang="en-US" altLang="zh-TW" sz="2000" b="1" dirty="0">
                <a:solidFill>
                  <a:schemeClr val="tx1">
                    <a:lumMod val="65000"/>
                    <a:lumOff val="35000"/>
                  </a:schemeClr>
                </a:solidFill>
                <a:latin typeface="微軟正黑體" panose="020B0604030504040204" pitchFamily="34" charset="-120"/>
                <a:ea typeface="微軟正黑體" panose="020B0604030504040204" pitchFamily="34" charset="-120"/>
                <a:cs typeface="Times New Roman" panose="02020603050405020304" pitchFamily="18" charset="0"/>
              </a:rPr>
              <a:t>-2</a:t>
            </a:r>
            <a:r>
              <a:rPr lang="zh-TW" altLang="en-US" sz="2000" b="1" dirty="0">
                <a:solidFill>
                  <a:schemeClr val="tx1">
                    <a:lumMod val="65000"/>
                    <a:lumOff val="35000"/>
                  </a:schemeClr>
                </a:solidFill>
                <a:latin typeface="微軟正黑體" panose="020B0604030504040204" pitchFamily="34" charset="-120"/>
                <a:ea typeface="微軟正黑體" panose="020B0604030504040204" pitchFamily="34" charset="-120"/>
                <a:cs typeface="Times New Roman" panose="02020603050405020304" pitchFamily="18" charset="0"/>
              </a:rPr>
              <a:t> 區塊鏈技術之基本要素</a:t>
            </a:r>
          </a:p>
        </p:txBody>
      </p:sp>
    </p:spTree>
    <p:extLst>
      <p:ext uri="{BB962C8B-B14F-4D97-AF65-F5344CB8AC3E}">
        <p14:creationId xmlns:p14="http://schemas.microsoft.com/office/powerpoint/2010/main" val="4027268030"/>
      </p:ext>
    </p:extLst>
  </p:cSld>
  <p:clrMapOvr>
    <a:masterClrMapping/>
  </p:clrMapOvr>
  <p:transition spd="med">
    <p:pul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6" presetClass="entr" presetSubtype="16" fill="hold" grpId="0" nodeType="after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circle(in)">
                                      <p:cBhvr>
                                        <p:cTn id="7" dur="2000"/>
                                        <p:tgtEl>
                                          <p:spTgt spid="9"/>
                                        </p:tgtEl>
                                      </p:cBhvr>
                                    </p:animEffect>
                                  </p:childTnLst>
                                </p:cTn>
                              </p:par>
                            </p:childTnLst>
                          </p:cTn>
                        </p:par>
                        <p:par>
                          <p:cTn id="8" fill="hold">
                            <p:stCondLst>
                              <p:cond delay="2000"/>
                            </p:stCondLst>
                            <p:childTnLst>
                              <p:par>
                                <p:cTn id="9" presetID="14" presetClass="entr" presetSubtype="10" fill="hold" grpId="0" nodeType="afterEffect">
                                  <p:stCondLst>
                                    <p:cond delay="0"/>
                                  </p:stCondLst>
                                  <p:childTnLst>
                                    <p:set>
                                      <p:cBhvr>
                                        <p:cTn id="10" dur="1" fill="hold">
                                          <p:stCondLst>
                                            <p:cond delay="0"/>
                                          </p:stCondLst>
                                        </p:cTn>
                                        <p:tgtEl>
                                          <p:spTgt spid="12"/>
                                        </p:tgtEl>
                                        <p:attrNameLst>
                                          <p:attrName>style.visibility</p:attrName>
                                        </p:attrNameLst>
                                      </p:cBhvr>
                                      <p:to>
                                        <p:strVal val="visible"/>
                                      </p:to>
                                    </p:set>
                                    <p:animEffect transition="in" filter="randombar(horizontal)">
                                      <p:cBhvr>
                                        <p:cTn id="11" dur="500"/>
                                        <p:tgtEl>
                                          <p:spTgt spid="12"/>
                                        </p:tgtEl>
                                      </p:cBhvr>
                                    </p:animEffect>
                                  </p:childTnLst>
                                </p:cTn>
                              </p:par>
                            </p:childTnLst>
                          </p:cTn>
                        </p:par>
                        <p:par>
                          <p:cTn id="12" fill="hold">
                            <p:stCondLst>
                              <p:cond delay="2500"/>
                            </p:stCondLst>
                            <p:childTnLst>
                              <p:par>
                                <p:cTn id="13" presetID="2" presetClass="entr" presetSubtype="8" fill="hold" nodeType="afterEffect">
                                  <p:stCondLst>
                                    <p:cond delay="0"/>
                                  </p:stCondLst>
                                  <p:childTnLst>
                                    <p:set>
                                      <p:cBhvr>
                                        <p:cTn id="14" dur="1" fill="hold">
                                          <p:stCondLst>
                                            <p:cond delay="0"/>
                                          </p:stCondLst>
                                        </p:cTn>
                                        <p:tgtEl>
                                          <p:spTgt spid="26"/>
                                        </p:tgtEl>
                                        <p:attrNameLst>
                                          <p:attrName>style.visibility</p:attrName>
                                        </p:attrNameLst>
                                      </p:cBhvr>
                                      <p:to>
                                        <p:strVal val="visible"/>
                                      </p:to>
                                    </p:set>
                                    <p:anim calcmode="lin" valueType="num">
                                      <p:cBhvr additive="base">
                                        <p:cTn id="15" dur="500" fill="hold"/>
                                        <p:tgtEl>
                                          <p:spTgt spid="26"/>
                                        </p:tgtEl>
                                        <p:attrNameLst>
                                          <p:attrName>ppt_x</p:attrName>
                                        </p:attrNameLst>
                                      </p:cBhvr>
                                      <p:tavLst>
                                        <p:tav tm="0">
                                          <p:val>
                                            <p:strVal val="0-#ppt_w/2"/>
                                          </p:val>
                                        </p:tav>
                                        <p:tav tm="100000">
                                          <p:val>
                                            <p:strVal val="#ppt_x"/>
                                          </p:val>
                                        </p:tav>
                                      </p:tavLst>
                                    </p:anim>
                                    <p:anim calcmode="lin" valueType="num">
                                      <p:cBhvr additive="base">
                                        <p:cTn id="16" dur="500" fill="hold"/>
                                        <p:tgtEl>
                                          <p:spTgt spid="26"/>
                                        </p:tgtEl>
                                        <p:attrNameLst>
                                          <p:attrName>ppt_y</p:attrName>
                                        </p:attrNameLst>
                                      </p:cBhvr>
                                      <p:tavLst>
                                        <p:tav tm="0">
                                          <p:val>
                                            <p:strVal val="#ppt_y"/>
                                          </p:val>
                                        </p:tav>
                                        <p:tav tm="100000">
                                          <p:val>
                                            <p:strVal val="#ppt_y"/>
                                          </p:val>
                                        </p:tav>
                                      </p:tavLst>
                                    </p:anim>
                                  </p:childTnLst>
                                </p:cTn>
                              </p:par>
                            </p:childTnLst>
                          </p:cTn>
                        </p:par>
                        <p:par>
                          <p:cTn id="17" fill="hold">
                            <p:stCondLst>
                              <p:cond delay="3000"/>
                            </p:stCondLst>
                            <p:childTnLst>
                              <p:par>
                                <p:cTn id="18" presetID="42" presetClass="entr" presetSubtype="0" fill="hold" grpId="0" nodeType="afterEffect">
                                  <p:stCondLst>
                                    <p:cond delay="0"/>
                                  </p:stCondLst>
                                  <p:childTnLst>
                                    <p:set>
                                      <p:cBhvr>
                                        <p:cTn id="19" dur="1" fill="hold">
                                          <p:stCondLst>
                                            <p:cond delay="0"/>
                                          </p:stCondLst>
                                        </p:cTn>
                                        <p:tgtEl>
                                          <p:spTgt spid="2"/>
                                        </p:tgtEl>
                                        <p:attrNameLst>
                                          <p:attrName>style.visibility</p:attrName>
                                        </p:attrNameLst>
                                      </p:cBhvr>
                                      <p:to>
                                        <p:strVal val="visible"/>
                                      </p:to>
                                    </p:set>
                                    <p:animEffect transition="in" filter="fade">
                                      <p:cBhvr>
                                        <p:cTn id="20" dur="1000"/>
                                        <p:tgtEl>
                                          <p:spTgt spid="2"/>
                                        </p:tgtEl>
                                      </p:cBhvr>
                                    </p:animEffect>
                                    <p:anim calcmode="lin" valueType="num">
                                      <p:cBhvr>
                                        <p:cTn id="21" dur="1000" fill="hold"/>
                                        <p:tgtEl>
                                          <p:spTgt spid="2"/>
                                        </p:tgtEl>
                                        <p:attrNameLst>
                                          <p:attrName>ppt_x</p:attrName>
                                        </p:attrNameLst>
                                      </p:cBhvr>
                                      <p:tavLst>
                                        <p:tav tm="0">
                                          <p:val>
                                            <p:strVal val="#ppt_x"/>
                                          </p:val>
                                        </p:tav>
                                        <p:tav tm="100000">
                                          <p:val>
                                            <p:strVal val="#ppt_x"/>
                                          </p:val>
                                        </p:tav>
                                      </p:tavLst>
                                    </p:anim>
                                    <p:anim calcmode="lin" valueType="num">
                                      <p:cBhvr>
                                        <p:cTn id="22" dur="1000" fill="hold"/>
                                        <p:tgtEl>
                                          <p:spTgt spid="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2" grpId="0"/>
      <p:bldP spid="12" grpId="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图片 42">
            <a:extLst>
              <a:ext uri="{FF2B5EF4-FFF2-40B4-BE49-F238E27FC236}">
                <a16:creationId xmlns:a16="http://schemas.microsoft.com/office/drawing/2014/main" id="{C8D97DA4-6242-4E73-AEFC-457D04FDC65B}"/>
              </a:ext>
            </a:extLst>
          </p:cNvPr>
          <p:cNvPicPr>
            <a:picLocks noChangeAspect="1"/>
          </p:cNvPicPr>
          <p:nvPr/>
        </p:nvPicPr>
        <p:blipFill>
          <a:blip r:embed="rId2"/>
          <a:stretch>
            <a:fillRect/>
          </a:stretch>
        </p:blipFill>
        <p:spPr>
          <a:xfrm rot="16200000">
            <a:off x="145169" y="-145167"/>
            <a:ext cx="1268414" cy="1558750"/>
          </a:xfrm>
          <a:prstGeom prst="rect">
            <a:avLst/>
          </a:prstGeom>
        </p:spPr>
      </p:pic>
      <p:sp>
        <p:nvSpPr>
          <p:cNvPr id="6" name="文字方塊 5">
            <a:extLst>
              <a:ext uri="{FF2B5EF4-FFF2-40B4-BE49-F238E27FC236}">
                <a16:creationId xmlns:a16="http://schemas.microsoft.com/office/drawing/2014/main" id="{8A30B01A-3198-4955-A208-0E3D9EB60397}"/>
              </a:ext>
            </a:extLst>
          </p:cNvPr>
          <p:cNvSpPr txBox="1"/>
          <p:nvPr/>
        </p:nvSpPr>
        <p:spPr>
          <a:xfrm>
            <a:off x="1558751" y="6596390"/>
            <a:ext cx="4217821" cy="261610"/>
          </a:xfrm>
          <a:prstGeom prst="rect">
            <a:avLst/>
          </a:prstGeom>
          <a:noFill/>
        </p:spPr>
        <p:txBody>
          <a:bodyPr wrap="none" rtlCol="0">
            <a:spAutoFit/>
          </a:bodyPr>
          <a:lstStyle/>
          <a:p>
            <a:r>
              <a:rPr lang="zh-TW" altLang="en-US" sz="1100" dirty="0">
                <a:latin typeface="Microsoft JhengHei Light" panose="020B0304030504040204" pitchFamily="34" charset="-120"/>
                <a:ea typeface="Microsoft JhengHei Light" panose="020B0304030504040204" pitchFamily="34" charset="-120"/>
              </a:rPr>
              <a:t>區塊鏈商業應用概論 實例與分析／新陸書局股份有限公司 發行</a:t>
            </a:r>
          </a:p>
        </p:txBody>
      </p:sp>
      <p:sp>
        <p:nvSpPr>
          <p:cNvPr id="9" name="標題 1">
            <a:extLst>
              <a:ext uri="{FF2B5EF4-FFF2-40B4-BE49-F238E27FC236}">
                <a16:creationId xmlns:a16="http://schemas.microsoft.com/office/drawing/2014/main" id="{475DFFF1-7C37-4CBE-ACFC-3F348BCD20CC}"/>
              </a:ext>
            </a:extLst>
          </p:cNvPr>
          <p:cNvSpPr txBox="1">
            <a:spLocks/>
          </p:cNvSpPr>
          <p:nvPr/>
        </p:nvSpPr>
        <p:spPr>
          <a:xfrm>
            <a:off x="1231956" y="393820"/>
            <a:ext cx="3643527" cy="874595"/>
          </a:xfrm>
          <a:prstGeom prst="rect">
            <a:avLst/>
          </a:prstGeom>
        </p:spPr>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altLang="zh-TW" sz="2400" b="1" dirty="0">
                <a:solidFill>
                  <a:srgbClr val="E06741"/>
                </a:solidFill>
              </a:rPr>
              <a:t>2-2 </a:t>
            </a:r>
            <a:r>
              <a:rPr lang="zh-TW" altLang="en-US" sz="2400" b="1" dirty="0">
                <a:solidFill>
                  <a:srgbClr val="E06741"/>
                </a:solidFill>
              </a:rPr>
              <a:t>區塊鏈技術發展</a:t>
            </a:r>
          </a:p>
          <a:p>
            <a:endParaRPr lang="zh-TW" altLang="en-US" sz="2400" dirty="0">
              <a:solidFill>
                <a:srgbClr val="E06741"/>
              </a:solidFill>
              <a:latin typeface="標楷體" panose="03000509000000000000" pitchFamily="65" charset="-120"/>
              <a:ea typeface="標楷體" panose="03000509000000000000" pitchFamily="65" charset="-120"/>
              <a:cs typeface="Times New Roman" panose="02020603050405020304" pitchFamily="18" charset="0"/>
            </a:endParaRPr>
          </a:p>
        </p:txBody>
      </p:sp>
      <p:sp>
        <p:nvSpPr>
          <p:cNvPr id="2" name="文字方塊 1">
            <a:extLst>
              <a:ext uri="{FF2B5EF4-FFF2-40B4-BE49-F238E27FC236}">
                <a16:creationId xmlns:a16="http://schemas.microsoft.com/office/drawing/2014/main" id="{D6D66D7E-58A1-40BE-8070-FA1C3AF22B14}"/>
              </a:ext>
            </a:extLst>
          </p:cNvPr>
          <p:cNvSpPr txBox="1"/>
          <p:nvPr/>
        </p:nvSpPr>
        <p:spPr>
          <a:xfrm>
            <a:off x="1177167" y="1123124"/>
            <a:ext cx="9636518" cy="1620059"/>
          </a:xfrm>
          <a:prstGeom prst="rect">
            <a:avLst/>
          </a:prstGeom>
          <a:noFill/>
        </p:spPr>
        <p:txBody>
          <a:bodyPr wrap="square" rtlCol="0">
            <a:spAutoFit/>
          </a:bodyPr>
          <a:lstStyle/>
          <a:p>
            <a:pPr marL="800100" lvl="1" indent="-342900">
              <a:lnSpc>
                <a:spcPct val="150000"/>
              </a:lnSpc>
              <a:buSzPct val="100000"/>
              <a:buBlip>
                <a:blip r:embed="rId3"/>
              </a:buBlip>
            </a:pPr>
            <a:r>
              <a:rPr lang="en-US" altLang="zh-TW" sz="2300" b="1" dirty="0">
                <a:solidFill>
                  <a:schemeClr val="tx1">
                    <a:lumMod val="75000"/>
                    <a:lumOff val="25000"/>
                  </a:schemeClr>
                </a:solidFill>
                <a:latin typeface="微軟正黑體" panose="020B0604030504040204" pitchFamily="34" charset="-120"/>
                <a:ea typeface="微軟正黑體" panose="020B0604030504040204" pitchFamily="34" charset="-120"/>
              </a:rPr>
              <a:t>SHA </a:t>
            </a:r>
            <a:r>
              <a:rPr lang="zh-TW" altLang="en-US" sz="2300" b="1" dirty="0">
                <a:solidFill>
                  <a:schemeClr val="tx1">
                    <a:lumMod val="75000"/>
                    <a:lumOff val="25000"/>
                  </a:schemeClr>
                </a:solidFill>
                <a:latin typeface="微軟正黑體" panose="020B0604030504040204" pitchFamily="34" charset="-120"/>
                <a:ea typeface="微軟正黑體" panose="020B0604030504040204" pitchFamily="34" charset="-120"/>
              </a:rPr>
              <a:t>家族的五個演算法由美國國家安全域（</a:t>
            </a:r>
            <a:r>
              <a:rPr lang="en-US" altLang="zh-TW" sz="2300" b="1" dirty="0">
                <a:solidFill>
                  <a:schemeClr val="tx1">
                    <a:lumMod val="75000"/>
                    <a:lumOff val="25000"/>
                  </a:schemeClr>
                </a:solidFill>
                <a:latin typeface="微軟正黑體" panose="020B0604030504040204" pitchFamily="34" charset="-120"/>
                <a:ea typeface="微軟正黑體" panose="020B0604030504040204" pitchFamily="34" charset="-120"/>
              </a:rPr>
              <a:t>NSA</a:t>
            </a:r>
            <a:r>
              <a:rPr lang="zh-TW" altLang="en-US" sz="2300" b="1" dirty="0">
                <a:solidFill>
                  <a:schemeClr val="tx1">
                    <a:lumMod val="75000"/>
                    <a:lumOff val="25000"/>
                  </a:schemeClr>
                </a:solidFill>
                <a:latin typeface="微軟正黑體" panose="020B0604030504040204" pitchFamily="34" charset="-120"/>
                <a:ea typeface="微軟正黑體" panose="020B0604030504040204" pitchFamily="34" charset="-120"/>
              </a:rPr>
              <a:t>） 所設計，並由美國國家標準與技術研究院（</a:t>
            </a:r>
            <a:r>
              <a:rPr lang="en-US" altLang="zh-TW" sz="2300" b="1" dirty="0">
                <a:solidFill>
                  <a:schemeClr val="tx1">
                    <a:lumMod val="75000"/>
                    <a:lumOff val="25000"/>
                  </a:schemeClr>
                </a:solidFill>
                <a:latin typeface="微軟正黑體" panose="020B0604030504040204" pitchFamily="34" charset="-120"/>
                <a:ea typeface="微軟正黑體" panose="020B0604030504040204" pitchFamily="34" charset="-120"/>
              </a:rPr>
              <a:t>NIST</a:t>
            </a:r>
            <a:r>
              <a:rPr lang="zh-TW" altLang="en-US" sz="2300" b="1" dirty="0">
                <a:solidFill>
                  <a:schemeClr val="tx1">
                    <a:lumMod val="75000"/>
                    <a:lumOff val="25000"/>
                  </a:schemeClr>
                </a:solidFill>
                <a:latin typeface="微軟正黑體" panose="020B0604030504040204" pitchFamily="34" charset="-120"/>
                <a:ea typeface="微軟正黑體" panose="020B0604030504040204" pitchFamily="34" charset="-120"/>
              </a:rPr>
              <a:t>）發布；是美國的政府標準</a:t>
            </a:r>
            <a:endParaRPr lang="en-US" altLang="zh-TW" sz="2300" b="1" dirty="0">
              <a:solidFill>
                <a:schemeClr val="tx1">
                  <a:lumMod val="75000"/>
                  <a:lumOff val="25000"/>
                </a:schemeClr>
              </a:solidFill>
              <a:latin typeface="微軟正黑體" panose="020B0604030504040204" pitchFamily="34" charset="-120"/>
              <a:ea typeface="微軟正黑體" panose="020B0604030504040204" pitchFamily="34" charset="-120"/>
            </a:endParaRPr>
          </a:p>
          <a:p>
            <a:pPr marL="800100" lvl="1" indent="-342900">
              <a:lnSpc>
                <a:spcPct val="150000"/>
              </a:lnSpc>
              <a:buSzPct val="100000"/>
              <a:buBlip>
                <a:blip r:embed="rId3"/>
              </a:buBlip>
            </a:pPr>
            <a:r>
              <a:rPr lang="zh-TW" altLang="en-US" sz="2300" b="1" dirty="0">
                <a:solidFill>
                  <a:schemeClr val="tx1">
                    <a:lumMod val="75000"/>
                    <a:lumOff val="25000"/>
                  </a:schemeClr>
                </a:solidFill>
                <a:latin typeface="微軟正黑體" panose="020B0604030504040204" pitchFamily="34" charset="-120"/>
                <a:ea typeface="微軟正黑體" panose="020B0604030504040204" pitchFamily="34" charset="-120"/>
              </a:rPr>
              <a:t>後四者有時並稱為</a:t>
            </a:r>
            <a:r>
              <a:rPr lang="en-US" altLang="zh-TW" sz="2300" b="1" dirty="0">
                <a:solidFill>
                  <a:schemeClr val="tx1">
                    <a:lumMod val="75000"/>
                    <a:lumOff val="25000"/>
                  </a:schemeClr>
                </a:solidFill>
                <a:latin typeface="微軟正黑體" panose="020B0604030504040204" pitchFamily="34" charset="-120"/>
                <a:ea typeface="微軟正黑體" panose="020B0604030504040204" pitchFamily="34" charset="-120"/>
              </a:rPr>
              <a:t>SHA-2</a:t>
            </a:r>
            <a:endParaRPr lang="zh-TW" altLang="en-US" sz="2300" b="1" dirty="0">
              <a:solidFill>
                <a:schemeClr val="tx1">
                  <a:lumMod val="75000"/>
                  <a:lumOff val="25000"/>
                </a:schemeClr>
              </a:solidFill>
              <a:latin typeface="微軟正黑體" panose="020B0604030504040204" pitchFamily="34" charset="-120"/>
              <a:ea typeface="微軟正黑體" panose="020B0604030504040204" pitchFamily="34" charset="-120"/>
            </a:endParaRPr>
          </a:p>
        </p:txBody>
      </p:sp>
      <p:cxnSp>
        <p:nvCxnSpPr>
          <p:cNvPr id="26" name="直接连接符 33">
            <a:extLst>
              <a:ext uri="{FF2B5EF4-FFF2-40B4-BE49-F238E27FC236}">
                <a16:creationId xmlns:a16="http://schemas.microsoft.com/office/drawing/2014/main" id="{C3725E45-5458-4931-9D9A-B8C15AE6AC41}"/>
              </a:ext>
            </a:extLst>
          </p:cNvPr>
          <p:cNvCxnSpPr>
            <a:cxnSpLocks/>
          </p:cNvCxnSpPr>
          <p:nvPr/>
        </p:nvCxnSpPr>
        <p:spPr>
          <a:xfrm>
            <a:off x="1177167" y="1046746"/>
            <a:ext cx="10081960" cy="0"/>
          </a:xfrm>
          <a:prstGeom prst="line">
            <a:avLst/>
          </a:prstGeom>
          <a:ln w="190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12" name="文字方塊 11">
            <a:extLst>
              <a:ext uri="{FF2B5EF4-FFF2-40B4-BE49-F238E27FC236}">
                <a16:creationId xmlns:a16="http://schemas.microsoft.com/office/drawing/2014/main" id="{9FE02F65-A32E-4124-B1E6-8E45750976E4}"/>
              </a:ext>
            </a:extLst>
          </p:cNvPr>
          <p:cNvSpPr txBox="1"/>
          <p:nvPr/>
        </p:nvSpPr>
        <p:spPr>
          <a:xfrm>
            <a:off x="4487241" y="449166"/>
            <a:ext cx="3076483" cy="400110"/>
          </a:xfrm>
          <a:prstGeom prst="rect">
            <a:avLst/>
          </a:prstGeom>
          <a:noFill/>
        </p:spPr>
        <p:txBody>
          <a:bodyPr wrap="none" rtlCol="0">
            <a:spAutoFit/>
          </a:bodyPr>
          <a:lstStyle/>
          <a:p>
            <a:r>
              <a:rPr lang="en-US" altLang="zh-TW" sz="2000" b="1" dirty="0">
                <a:solidFill>
                  <a:schemeClr val="tx1">
                    <a:lumMod val="65000"/>
                    <a:lumOff val="35000"/>
                  </a:schemeClr>
                </a:solidFill>
                <a:latin typeface="微軟正黑體" panose="020B0604030504040204" pitchFamily="34" charset="-120"/>
                <a:ea typeface="微軟正黑體" panose="020B0604030504040204" pitchFamily="34" charset="-120"/>
                <a:cs typeface="Times New Roman" panose="02020603050405020304" pitchFamily="18" charset="0"/>
              </a:rPr>
              <a:t>-2</a:t>
            </a:r>
            <a:r>
              <a:rPr lang="zh-TW" altLang="en-US" sz="2000" b="1" dirty="0">
                <a:solidFill>
                  <a:schemeClr val="tx1">
                    <a:lumMod val="65000"/>
                    <a:lumOff val="35000"/>
                  </a:schemeClr>
                </a:solidFill>
                <a:latin typeface="微軟正黑體" panose="020B0604030504040204" pitchFamily="34" charset="-120"/>
                <a:ea typeface="微軟正黑體" panose="020B0604030504040204" pitchFamily="34" charset="-120"/>
                <a:cs typeface="Times New Roman" panose="02020603050405020304" pitchFamily="18" charset="0"/>
              </a:rPr>
              <a:t> 區塊鏈技術之基本要素</a:t>
            </a:r>
          </a:p>
        </p:txBody>
      </p:sp>
      <p:pic>
        <p:nvPicPr>
          <p:cNvPr id="4" name="圖片 3">
            <a:extLst>
              <a:ext uri="{FF2B5EF4-FFF2-40B4-BE49-F238E27FC236}">
                <a16:creationId xmlns:a16="http://schemas.microsoft.com/office/drawing/2014/main" id="{04FE26E3-AE42-4EB3-AE67-DF8499AE82EC}"/>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629794" y="2817395"/>
            <a:ext cx="9435370" cy="3704782"/>
          </a:xfrm>
          <a:prstGeom prst="rect">
            <a:avLst/>
          </a:prstGeom>
        </p:spPr>
      </p:pic>
    </p:spTree>
    <p:extLst>
      <p:ext uri="{BB962C8B-B14F-4D97-AF65-F5344CB8AC3E}">
        <p14:creationId xmlns:p14="http://schemas.microsoft.com/office/powerpoint/2010/main" val="2136753311"/>
      </p:ext>
    </p:extLst>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2000">
        <p15:prstTrans prst="fallOver"/>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6" presetClass="entr" presetSubtype="16" fill="hold" grpId="0" nodeType="after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circle(in)">
                                      <p:cBhvr>
                                        <p:cTn id="7" dur="2000"/>
                                        <p:tgtEl>
                                          <p:spTgt spid="9"/>
                                        </p:tgtEl>
                                      </p:cBhvr>
                                    </p:animEffect>
                                  </p:childTnLst>
                                </p:cTn>
                              </p:par>
                            </p:childTnLst>
                          </p:cTn>
                        </p:par>
                        <p:par>
                          <p:cTn id="8" fill="hold">
                            <p:stCondLst>
                              <p:cond delay="2000"/>
                            </p:stCondLst>
                            <p:childTnLst>
                              <p:par>
                                <p:cTn id="9" presetID="14" presetClass="entr" presetSubtype="10" fill="hold" grpId="0" nodeType="afterEffect">
                                  <p:stCondLst>
                                    <p:cond delay="0"/>
                                  </p:stCondLst>
                                  <p:childTnLst>
                                    <p:set>
                                      <p:cBhvr>
                                        <p:cTn id="10" dur="1" fill="hold">
                                          <p:stCondLst>
                                            <p:cond delay="0"/>
                                          </p:stCondLst>
                                        </p:cTn>
                                        <p:tgtEl>
                                          <p:spTgt spid="12"/>
                                        </p:tgtEl>
                                        <p:attrNameLst>
                                          <p:attrName>style.visibility</p:attrName>
                                        </p:attrNameLst>
                                      </p:cBhvr>
                                      <p:to>
                                        <p:strVal val="visible"/>
                                      </p:to>
                                    </p:set>
                                    <p:animEffect transition="in" filter="randombar(horizontal)">
                                      <p:cBhvr>
                                        <p:cTn id="11" dur="500"/>
                                        <p:tgtEl>
                                          <p:spTgt spid="12"/>
                                        </p:tgtEl>
                                      </p:cBhvr>
                                    </p:animEffect>
                                  </p:childTnLst>
                                </p:cTn>
                              </p:par>
                            </p:childTnLst>
                          </p:cTn>
                        </p:par>
                        <p:par>
                          <p:cTn id="12" fill="hold">
                            <p:stCondLst>
                              <p:cond delay="2500"/>
                            </p:stCondLst>
                            <p:childTnLst>
                              <p:par>
                                <p:cTn id="13" presetID="2" presetClass="entr" presetSubtype="8" fill="hold" nodeType="afterEffect">
                                  <p:stCondLst>
                                    <p:cond delay="0"/>
                                  </p:stCondLst>
                                  <p:childTnLst>
                                    <p:set>
                                      <p:cBhvr>
                                        <p:cTn id="14" dur="1" fill="hold">
                                          <p:stCondLst>
                                            <p:cond delay="0"/>
                                          </p:stCondLst>
                                        </p:cTn>
                                        <p:tgtEl>
                                          <p:spTgt spid="26"/>
                                        </p:tgtEl>
                                        <p:attrNameLst>
                                          <p:attrName>style.visibility</p:attrName>
                                        </p:attrNameLst>
                                      </p:cBhvr>
                                      <p:to>
                                        <p:strVal val="visible"/>
                                      </p:to>
                                    </p:set>
                                    <p:anim calcmode="lin" valueType="num">
                                      <p:cBhvr additive="base">
                                        <p:cTn id="15" dur="500" fill="hold"/>
                                        <p:tgtEl>
                                          <p:spTgt spid="26"/>
                                        </p:tgtEl>
                                        <p:attrNameLst>
                                          <p:attrName>ppt_x</p:attrName>
                                        </p:attrNameLst>
                                      </p:cBhvr>
                                      <p:tavLst>
                                        <p:tav tm="0">
                                          <p:val>
                                            <p:strVal val="0-#ppt_w/2"/>
                                          </p:val>
                                        </p:tav>
                                        <p:tav tm="100000">
                                          <p:val>
                                            <p:strVal val="#ppt_x"/>
                                          </p:val>
                                        </p:tav>
                                      </p:tavLst>
                                    </p:anim>
                                    <p:anim calcmode="lin" valueType="num">
                                      <p:cBhvr additive="base">
                                        <p:cTn id="16" dur="500" fill="hold"/>
                                        <p:tgtEl>
                                          <p:spTgt spid="26"/>
                                        </p:tgtEl>
                                        <p:attrNameLst>
                                          <p:attrName>ppt_y</p:attrName>
                                        </p:attrNameLst>
                                      </p:cBhvr>
                                      <p:tavLst>
                                        <p:tav tm="0">
                                          <p:val>
                                            <p:strVal val="#ppt_y"/>
                                          </p:val>
                                        </p:tav>
                                        <p:tav tm="100000">
                                          <p:val>
                                            <p:strVal val="#ppt_y"/>
                                          </p:val>
                                        </p:tav>
                                      </p:tavLst>
                                    </p:anim>
                                  </p:childTnLst>
                                </p:cTn>
                              </p:par>
                            </p:childTnLst>
                          </p:cTn>
                        </p:par>
                        <p:par>
                          <p:cTn id="17" fill="hold">
                            <p:stCondLst>
                              <p:cond delay="3000"/>
                            </p:stCondLst>
                            <p:childTnLst>
                              <p:par>
                                <p:cTn id="18" presetID="22" presetClass="entr" presetSubtype="4" fill="hold" grpId="0" nodeType="afterEffect">
                                  <p:stCondLst>
                                    <p:cond delay="0"/>
                                  </p:stCondLst>
                                  <p:childTnLst>
                                    <p:set>
                                      <p:cBhvr>
                                        <p:cTn id="19" dur="1" fill="hold">
                                          <p:stCondLst>
                                            <p:cond delay="0"/>
                                          </p:stCondLst>
                                        </p:cTn>
                                        <p:tgtEl>
                                          <p:spTgt spid="2"/>
                                        </p:tgtEl>
                                        <p:attrNameLst>
                                          <p:attrName>style.visibility</p:attrName>
                                        </p:attrNameLst>
                                      </p:cBhvr>
                                      <p:to>
                                        <p:strVal val="visible"/>
                                      </p:to>
                                    </p:set>
                                    <p:animEffect transition="in" filter="wipe(down)">
                                      <p:cBhvr>
                                        <p:cTn id="20" dur="500"/>
                                        <p:tgtEl>
                                          <p:spTgt spid="2"/>
                                        </p:tgtEl>
                                      </p:cBhvr>
                                    </p:animEffect>
                                  </p:childTnLst>
                                </p:cTn>
                              </p:par>
                            </p:childTnLst>
                          </p:cTn>
                        </p:par>
                        <p:par>
                          <p:cTn id="21" fill="hold">
                            <p:stCondLst>
                              <p:cond delay="3500"/>
                            </p:stCondLst>
                            <p:childTnLst>
                              <p:par>
                                <p:cTn id="22" presetID="16" presetClass="entr" presetSubtype="21" fill="hold" nodeType="afterEffect">
                                  <p:stCondLst>
                                    <p:cond delay="0"/>
                                  </p:stCondLst>
                                  <p:childTnLst>
                                    <p:set>
                                      <p:cBhvr>
                                        <p:cTn id="23" dur="1" fill="hold">
                                          <p:stCondLst>
                                            <p:cond delay="0"/>
                                          </p:stCondLst>
                                        </p:cTn>
                                        <p:tgtEl>
                                          <p:spTgt spid="4"/>
                                        </p:tgtEl>
                                        <p:attrNameLst>
                                          <p:attrName>style.visibility</p:attrName>
                                        </p:attrNameLst>
                                      </p:cBhvr>
                                      <p:to>
                                        <p:strVal val="visible"/>
                                      </p:to>
                                    </p:set>
                                    <p:animEffect transition="in" filter="barn(inVertical)">
                                      <p:cBhvr>
                                        <p:cTn id="24"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2" grpId="0"/>
      <p:bldP spid="12" grpId="0"/>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图片 42">
            <a:extLst>
              <a:ext uri="{FF2B5EF4-FFF2-40B4-BE49-F238E27FC236}">
                <a16:creationId xmlns:a16="http://schemas.microsoft.com/office/drawing/2014/main" id="{C8D97DA4-6242-4E73-AEFC-457D04FDC65B}"/>
              </a:ext>
            </a:extLst>
          </p:cNvPr>
          <p:cNvPicPr>
            <a:picLocks noChangeAspect="1"/>
          </p:cNvPicPr>
          <p:nvPr/>
        </p:nvPicPr>
        <p:blipFill>
          <a:blip r:embed="rId2"/>
          <a:stretch>
            <a:fillRect/>
          </a:stretch>
        </p:blipFill>
        <p:spPr>
          <a:xfrm rot="16200000">
            <a:off x="145169" y="-145167"/>
            <a:ext cx="1268414" cy="1558750"/>
          </a:xfrm>
          <a:prstGeom prst="rect">
            <a:avLst/>
          </a:prstGeom>
        </p:spPr>
      </p:pic>
      <p:sp>
        <p:nvSpPr>
          <p:cNvPr id="6" name="文字方塊 5">
            <a:extLst>
              <a:ext uri="{FF2B5EF4-FFF2-40B4-BE49-F238E27FC236}">
                <a16:creationId xmlns:a16="http://schemas.microsoft.com/office/drawing/2014/main" id="{8A30B01A-3198-4955-A208-0E3D9EB60397}"/>
              </a:ext>
            </a:extLst>
          </p:cNvPr>
          <p:cNvSpPr txBox="1"/>
          <p:nvPr/>
        </p:nvSpPr>
        <p:spPr>
          <a:xfrm>
            <a:off x="1558751" y="6596390"/>
            <a:ext cx="4217821" cy="261610"/>
          </a:xfrm>
          <a:prstGeom prst="rect">
            <a:avLst/>
          </a:prstGeom>
          <a:noFill/>
        </p:spPr>
        <p:txBody>
          <a:bodyPr wrap="none" rtlCol="0">
            <a:spAutoFit/>
          </a:bodyPr>
          <a:lstStyle/>
          <a:p>
            <a:r>
              <a:rPr lang="zh-TW" altLang="en-US" sz="1100" dirty="0">
                <a:latin typeface="Microsoft JhengHei Light" panose="020B0304030504040204" pitchFamily="34" charset="-120"/>
                <a:ea typeface="Microsoft JhengHei Light" panose="020B0304030504040204" pitchFamily="34" charset="-120"/>
              </a:rPr>
              <a:t>區塊鏈商業應用概論 實例與分析／新陸書局股份有限公司 發行</a:t>
            </a:r>
          </a:p>
        </p:txBody>
      </p:sp>
      <p:sp>
        <p:nvSpPr>
          <p:cNvPr id="9" name="標題 1">
            <a:extLst>
              <a:ext uri="{FF2B5EF4-FFF2-40B4-BE49-F238E27FC236}">
                <a16:creationId xmlns:a16="http://schemas.microsoft.com/office/drawing/2014/main" id="{475DFFF1-7C37-4CBE-ACFC-3F348BCD20CC}"/>
              </a:ext>
            </a:extLst>
          </p:cNvPr>
          <p:cNvSpPr txBox="1">
            <a:spLocks/>
          </p:cNvSpPr>
          <p:nvPr/>
        </p:nvSpPr>
        <p:spPr>
          <a:xfrm>
            <a:off x="1231956" y="393820"/>
            <a:ext cx="3643527" cy="874595"/>
          </a:xfrm>
          <a:prstGeom prst="rect">
            <a:avLst/>
          </a:prstGeom>
        </p:spPr>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altLang="zh-TW" sz="2400" b="1" dirty="0">
                <a:solidFill>
                  <a:srgbClr val="E06741"/>
                </a:solidFill>
              </a:rPr>
              <a:t>2-2 </a:t>
            </a:r>
            <a:r>
              <a:rPr lang="zh-TW" altLang="en-US" sz="2400" b="1" dirty="0">
                <a:solidFill>
                  <a:srgbClr val="E06741"/>
                </a:solidFill>
              </a:rPr>
              <a:t>區塊鏈技術發展</a:t>
            </a:r>
          </a:p>
          <a:p>
            <a:endParaRPr lang="zh-TW" altLang="en-US" sz="2400" dirty="0">
              <a:solidFill>
                <a:srgbClr val="E06741"/>
              </a:solidFill>
              <a:latin typeface="標楷體" panose="03000509000000000000" pitchFamily="65" charset="-120"/>
              <a:ea typeface="標楷體" panose="03000509000000000000" pitchFamily="65" charset="-120"/>
              <a:cs typeface="Times New Roman" panose="02020603050405020304" pitchFamily="18" charset="0"/>
            </a:endParaRPr>
          </a:p>
        </p:txBody>
      </p:sp>
      <p:sp>
        <p:nvSpPr>
          <p:cNvPr id="2" name="文字方塊 1">
            <a:extLst>
              <a:ext uri="{FF2B5EF4-FFF2-40B4-BE49-F238E27FC236}">
                <a16:creationId xmlns:a16="http://schemas.microsoft.com/office/drawing/2014/main" id="{D6D66D7E-58A1-40BE-8070-FA1C3AF22B14}"/>
              </a:ext>
            </a:extLst>
          </p:cNvPr>
          <p:cNvSpPr txBox="1"/>
          <p:nvPr/>
        </p:nvSpPr>
        <p:spPr>
          <a:xfrm>
            <a:off x="522945" y="1460061"/>
            <a:ext cx="5539933" cy="4274632"/>
          </a:xfrm>
          <a:prstGeom prst="rect">
            <a:avLst/>
          </a:prstGeom>
          <a:noFill/>
        </p:spPr>
        <p:txBody>
          <a:bodyPr wrap="square" rtlCol="0">
            <a:spAutoFit/>
          </a:bodyPr>
          <a:lstStyle/>
          <a:p>
            <a:pPr marL="800100" lvl="1" indent="-342900">
              <a:lnSpc>
                <a:spcPct val="150000"/>
              </a:lnSpc>
              <a:buSzPct val="100000"/>
              <a:buBlip>
                <a:blip r:embed="rId3"/>
              </a:buBlip>
            </a:pPr>
            <a:r>
              <a:rPr lang="en-US" altLang="zh-TW" sz="2300" b="1" dirty="0">
                <a:solidFill>
                  <a:schemeClr val="tx1">
                    <a:lumMod val="75000"/>
                    <a:lumOff val="25000"/>
                  </a:schemeClr>
                </a:solidFill>
                <a:latin typeface="微軟正黑體" panose="020B0604030504040204" pitchFamily="34" charset="-120"/>
                <a:ea typeface="微軟正黑體" panose="020B0604030504040204" pitchFamily="34" charset="-120"/>
              </a:rPr>
              <a:t>SHA </a:t>
            </a:r>
            <a:r>
              <a:rPr lang="zh-TW" altLang="en-US" sz="2300" b="1" dirty="0">
                <a:solidFill>
                  <a:schemeClr val="tx1">
                    <a:lumMod val="75000"/>
                    <a:lumOff val="25000"/>
                  </a:schemeClr>
                </a:solidFill>
                <a:latin typeface="微軟正黑體" panose="020B0604030504040204" pitchFamily="34" charset="-120"/>
                <a:ea typeface="微軟正黑體" panose="020B0604030504040204" pitchFamily="34" charset="-120"/>
              </a:rPr>
              <a:t>所產生的雜湊值會較為複雜，依演算法的不同會產生不同複雜程度及安全程度，重複性也相對較低，比起</a:t>
            </a:r>
            <a:r>
              <a:rPr lang="en-US" altLang="zh-TW" sz="2300" b="1" dirty="0">
                <a:solidFill>
                  <a:schemeClr val="tx1">
                    <a:lumMod val="75000"/>
                    <a:lumOff val="25000"/>
                  </a:schemeClr>
                </a:solidFill>
                <a:latin typeface="微軟正黑體" panose="020B0604030504040204" pitchFamily="34" charset="-120"/>
                <a:ea typeface="微軟正黑體" panose="020B0604030504040204" pitchFamily="34" charset="-120"/>
              </a:rPr>
              <a:t>MD5 </a:t>
            </a:r>
            <a:r>
              <a:rPr lang="zh-TW" altLang="en-US" sz="2300" b="1" dirty="0">
                <a:solidFill>
                  <a:schemeClr val="tx1">
                    <a:lumMod val="75000"/>
                    <a:lumOff val="25000"/>
                  </a:schemeClr>
                </a:solidFill>
                <a:latin typeface="微軟正黑體" panose="020B0604030504040204" pitchFamily="34" charset="-120"/>
                <a:ea typeface="微軟正黑體" panose="020B0604030504040204" pitchFamily="34" charset="-120"/>
              </a:rPr>
              <a:t>演算法更能預防駭客或詐欺的攻擊，以</a:t>
            </a:r>
            <a:r>
              <a:rPr lang="en-US" altLang="zh-TW" sz="2300" b="1" dirty="0">
                <a:solidFill>
                  <a:schemeClr val="tx1">
                    <a:lumMod val="75000"/>
                    <a:lumOff val="25000"/>
                  </a:schemeClr>
                </a:solidFill>
                <a:latin typeface="微軟正黑體" panose="020B0604030504040204" pitchFamily="34" charset="-120"/>
                <a:ea typeface="微軟正黑體" panose="020B0604030504040204" pitchFamily="34" charset="-120"/>
              </a:rPr>
              <a:t>SHA-1</a:t>
            </a:r>
            <a:r>
              <a:rPr lang="zh-TW" altLang="en-US" sz="2300" b="1" dirty="0">
                <a:solidFill>
                  <a:schemeClr val="tx1">
                    <a:lumMod val="75000"/>
                    <a:lumOff val="25000"/>
                  </a:schemeClr>
                </a:solidFill>
                <a:latin typeface="微軟正黑體" panose="020B0604030504040204" pitchFamily="34" charset="-120"/>
                <a:ea typeface="微軟正黑體" panose="020B0604030504040204" pitchFamily="34" charset="-120"/>
              </a:rPr>
              <a:t>受到的碰撞攻擊存在</a:t>
            </a:r>
            <a:r>
              <a:rPr lang="en-US" altLang="zh-TW" sz="2300" b="1" dirty="0">
                <a:solidFill>
                  <a:schemeClr val="tx1">
                    <a:lumMod val="75000"/>
                    <a:lumOff val="25000"/>
                  </a:schemeClr>
                </a:solidFill>
                <a:latin typeface="微軟正黑體" panose="020B0604030504040204" pitchFamily="34" charset="-120"/>
                <a:ea typeface="微軟正黑體" panose="020B0604030504040204" pitchFamily="34" charset="-120"/>
              </a:rPr>
              <a:t>263 </a:t>
            </a:r>
            <a:r>
              <a:rPr lang="zh-TW" altLang="en-US" sz="2300" b="1" dirty="0">
                <a:solidFill>
                  <a:schemeClr val="tx1">
                    <a:lumMod val="75000"/>
                    <a:lumOff val="25000"/>
                  </a:schemeClr>
                </a:solidFill>
                <a:latin typeface="微軟正黑體" panose="020B0604030504040204" pitchFamily="34" charset="-120"/>
                <a:ea typeface="微軟正黑體" panose="020B0604030504040204" pitchFamily="34" charset="-120"/>
              </a:rPr>
              <a:t>的攻擊，表示這樣的雜湊值的安全性相對較高</a:t>
            </a:r>
            <a:endParaRPr lang="en-US" altLang="zh-TW" sz="2300" b="1" dirty="0">
              <a:solidFill>
                <a:schemeClr val="tx1">
                  <a:lumMod val="75000"/>
                  <a:lumOff val="25000"/>
                </a:schemeClr>
              </a:solidFill>
              <a:latin typeface="微軟正黑體" panose="020B0604030504040204" pitchFamily="34" charset="-120"/>
              <a:ea typeface="微軟正黑體" panose="020B0604030504040204" pitchFamily="34" charset="-120"/>
            </a:endParaRPr>
          </a:p>
          <a:p>
            <a:pPr marL="800100" lvl="1" indent="-342900">
              <a:lnSpc>
                <a:spcPct val="150000"/>
              </a:lnSpc>
              <a:buSzPct val="100000"/>
              <a:buBlip>
                <a:blip r:embed="rId3"/>
              </a:buBlip>
            </a:pPr>
            <a:r>
              <a:rPr lang="zh-TW" altLang="en-US" sz="2300" b="1" dirty="0">
                <a:solidFill>
                  <a:schemeClr val="tx1">
                    <a:lumMod val="75000"/>
                    <a:lumOff val="25000"/>
                  </a:schemeClr>
                </a:solidFill>
                <a:latin typeface="微軟正黑體" panose="020B0604030504040204" pitchFamily="34" charset="-120"/>
                <a:ea typeface="微軟正黑體" panose="020B0604030504040204" pitchFamily="34" charset="-120"/>
              </a:rPr>
              <a:t>比特幣採用</a:t>
            </a:r>
            <a:r>
              <a:rPr lang="en-US" altLang="zh-TW" sz="2300" b="1" dirty="0">
                <a:solidFill>
                  <a:schemeClr val="tx1">
                    <a:lumMod val="75000"/>
                    <a:lumOff val="25000"/>
                  </a:schemeClr>
                </a:solidFill>
                <a:latin typeface="微軟正黑體" panose="020B0604030504040204" pitchFamily="34" charset="-120"/>
                <a:ea typeface="微軟正黑體" panose="020B0604030504040204" pitchFamily="34" charset="-120"/>
              </a:rPr>
              <a:t>SHA-256 </a:t>
            </a:r>
            <a:r>
              <a:rPr lang="zh-TW" altLang="en-US" sz="2300" b="1" dirty="0">
                <a:solidFill>
                  <a:schemeClr val="tx1">
                    <a:lumMod val="75000"/>
                    <a:lumOff val="25000"/>
                  </a:schemeClr>
                </a:solidFill>
                <a:latin typeface="微軟正黑體" panose="020B0604030504040204" pitchFamily="34" charset="-120"/>
                <a:ea typeface="微軟正黑體" panose="020B0604030504040204" pitchFamily="34" charset="-120"/>
              </a:rPr>
              <a:t>，安全性較高</a:t>
            </a:r>
          </a:p>
        </p:txBody>
      </p:sp>
      <p:cxnSp>
        <p:nvCxnSpPr>
          <p:cNvPr id="26" name="直接连接符 33">
            <a:extLst>
              <a:ext uri="{FF2B5EF4-FFF2-40B4-BE49-F238E27FC236}">
                <a16:creationId xmlns:a16="http://schemas.microsoft.com/office/drawing/2014/main" id="{C3725E45-5458-4931-9D9A-B8C15AE6AC41}"/>
              </a:ext>
            </a:extLst>
          </p:cNvPr>
          <p:cNvCxnSpPr>
            <a:cxnSpLocks/>
          </p:cNvCxnSpPr>
          <p:nvPr/>
        </p:nvCxnSpPr>
        <p:spPr>
          <a:xfrm>
            <a:off x="1177167" y="1046746"/>
            <a:ext cx="10081960" cy="0"/>
          </a:xfrm>
          <a:prstGeom prst="line">
            <a:avLst/>
          </a:prstGeom>
          <a:ln w="190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12" name="文字方塊 11">
            <a:extLst>
              <a:ext uri="{FF2B5EF4-FFF2-40B4-BE49-F238E27FC236}">
                <a16:creationId xmlns:a16="http://schemas.microsoft.com/office/drawing/2014/main" id="{9FE02F65-A32E-4124-B1E6-8E45750976E4}"/>
              </a:ext>
            </a:extLst>
          </p:cNvPr>
          <p:cNvSpPr txBox="1"/>
          <p:nvPr/>
        </p:nvSpPr>
        <p:spPr>
          <a:xfrm>
            <a:off x="4487241" y="449166"/>
            <a:ext cx="3076483" cy="400110"/>
          </a:xfrm>
          <a:prstGeom prst="rect">
            <a:avLst/>
          </a:prstGeom>
          <a:noFill/>
        </p:spPr>
        <p:txBody>
          <a:bodyPr wrap="none" rtlCol="0">
            <a:spAutoFit/>
          </a:bodyPr>
          <a:lstStyle/>
          <a:p>
            <a:r>
              <a:rPr lang="en-US" altLang="zh-TW" sz="2000" b="1" dirty="0">
                <a:solidFill>
                  <a:schemeClr val="tx1">
                    <a:lumMod val="65000"/>
                    <a:lumOff val="35000"/>
                  </a:schemeClr>
                </a:solidFill>
                <a:latin typeface="微軟正黑體" panose="020B0604030504040204" pitchFamily="34" charset="-120"/>
                <a:ea typeface="微軟正黑體" panose="020B0604030504040204" pitchFamily="34" charset="-120"/>
                <a:cs typeface="Times New Roman" panose="02020603050405020304" pitchFamily="18" charset="0"/>
              </a:rPr>
              <a:t>-2</a:t>
            </a:r>
            <a:r>
              <a:rPr lang="zh-TW" altLang="en-US" sz="2000" b="1" dirty="0">
                <a:solidFill>
                  <a:schemeClr val="tx1">
                    <a:lumMod val="65000"/>
                    <a:lumOff val="35000"/>
                  </a:schemeClr>
                </a:solidFill>
                <a:latin typeface="微軟正黑體" panose="020B0604030504040204" pitchFamily="34" charset="-120"/>
                <a:ea typeface="微軟正黑體" panose="020B0604030504040204" pitchFamily="34" charset="-120"/>
                <a:cs typeface="Times New Roman" panose="02020603050405020304" pitchFamily="18" charset="0"/>
              </a:rPr>
              <a:t> 區塊鏈技術之基本要素</a:t>
            </a:r>
          </a:p>
        </p:txBody>
      </p:sp>
      <p:grpSp>
        <p:nvGrpSpPr>
          <p:cNvPr id="10" name="群組 9">
            <a:extLst>
              <a:ext uri="{FF2B5EF4-FFF2-40B4-BE49-F238E27FC236}">
                <a16:creationId xmlns:a16="http://schemas.microsoft.com/office/drawing/2014/main" id="{366EED78-D8A2-416C-9ADC-13DEC5CD5E39}"/>
              </a:ext>
            </a:extLst>
          </p:cNvPr>
          <p:cNvGrpSpPr/>
          <p:nvPr/>
        </p:nvGrpSpPr>
        <p:grpSpPr>
          <a:xfrm>
            <a:off x="6218147" y="2742341"/>
            <a:ext cx="5702236" cy="2240986"/>
            <a:chOff x="1631504" y="1052736"/>
            <a:chExt cx="7704856" cy="3028020"/>
          </a:xfrm>
        </p:grpSpPr>
        <p:sp>
          <p:nvSpPr>
            <p:cNvPr id="11" name="矩形 10">
              <a:extLst>
                <a:ext uri="{FF2B5EF4-FFF2-40B4-BE49-F238E27FC236}">
                  <a16:creationId xmlns:a16="http://schemas.microsoft.com/office/drawing/2014/main" id="{764CD6C1-862F-41E5-AEC5-DF5F4925CC6E}"/>
                </a:ext>
              </a:extLst>
            </p:cNvPr>
            <p:cNvSpPr/>
            <p:nvPr/>
          </p:nvSpPr>
          <p:spPr>
            <a:xfrm>
              <a:off x="1631504" y="1052736"/>
              <a:ext cx="7704856" cy="3024336"/>
            </a:xfrm>
            <a:prstGeom prst="rect">
              <a:avLst/>
            </a:prstGeom>
            <a:solidFill>
              <a:schemeClr val="accent3">
                <a:lumMod val="20000"/>
                <a:lumOff val="80000"/>
              </a:schemeClr>
            </a:solidFill>
          </p:spPr>
          <p:style>
            <a:lnRef idx="2">
              <a:schemeClr val="accent3"/>
            </a:lnRef>
            <a:fillRef idx="1">
              <a:schemeClr val="lt1"/>
            </a:fillRef>
            <a:effectRef idx="0">
              <a:schemeClr val="accent3"/>
            </a:effectRef>
            <a:fontRef idx="minor">
              <a:schemeClr val="dk1"/>
            </a:fontRef>
          </p:style>
          <p:txBody>
            <a:bodyPr rtlCol="0" anchor="ctr"/>
            <a:lstStyle/>
            <a:p>
              <a:pPr algn="ctr"/>
              <a:endParaRPr lang="zh-TW" altLang="en-US" sz="1400"/>
            </a:p>
          </p:txBody>
        </p:sp>
        <p:sp>
          <p:nvSpPr>
            <p:cNvPr id="13" name="爆炸 1 6">
              <a:extLst>
                <a:ext uri="{FF2B5EF4-FFF2-40B4-BE49-F238E27FC236}">
                  <a16:creationId xmlns:a16="http://schemas.microsoft.com/office/drawing/2014/main" id="{EE06E7CC-0432-4D16-856D-927996BC9F75}"/>
                </a:ext>
              </a:extLst>
            </p:cNvPr>
            <p:cNvSpPr/>
            <p:nvPr/>
          </p:nvSpPr>
          <p:spPr>
            <a:xfrm>
              <a:off x="2063552" y="1340768"/>
              <a:ext cx="2676749" cy="1921054"/>
            </a:xfrm>
            <a:prstGeom prst="irregularSeal1">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1400" dirty="0" err="1"/>
                <a:t>Poter</a:t>
              </a:r>
              <a:r>
                <a:rPr lang="en-US" altLang="zh-TW" sz="1400" dirty="0"/>
                <a:t> Sent Soma $250 </a:t>
              </a:r>
              <a:endParaRPr lang="zh-TW" altLang="en-US" sz="1400" dirty="0"/>
            </a:p>
          </p:txBody>
        </p:sp>
        <p:sp>
          <p:nvSpPr>
            <p:cNvPr id="14" name="矩形 13">
              <a:extLst>
                <a:ext uri="{FF2B5EF4-FFF2-40B4-BE49-F238E27FC236}">
                  <a16:creationId xmlns:a16="http://schemas.microsoft.com/office/drawing/2014/main" id="{4B319562-34DB-4F5C-81FE-A6083B2CEDA8}"/>
                </a:ext>
              </a:extLst>
            </p:cNvPr>
            <p:cNvSpPr/>
            <p:nvPr/>
          </p:nvSpPr>
          <p:spPr>
            <a:xfrm>
              <a:off x="5939531" y="2000812"/>
              <a:ext cx="1440160" cy="648072"/>
            </a:xfrm>
            <a:prstGeom prst="rect">
              <a:avLst/>
            </a:prstGeom>
          </p:spPr>
          <p:style>
            <a:lnRef idx="1">
              <a:schemeClr val="accent4"/>
            </a:lnRef>
            <a:fillRef idx="2">
              <a:schemeClr val="accent4"/>
            </a:fillRef>
            <a:effectRef idx="1">
              <a:schemeClr val="accent4"/>
            </a:effectRef>
            <a:fontRef idx="minor">
              <a:schemeClr val="dk1"/>
            </a:fontRef>
          </p:style>
          <p:txBody>
            <a:bodyPr rtlCol="0" anchor="ctr"/>
            <a:lstStyle/>
            <a:p>
              <a:pPr algn="ctr"/>
              <a:r>
                <a:rPr lang="en-US" altLang="zh-TW" sz="1400" dirty="0"/>
                <a:t>SHA-256</a:t>
              </a:r>
              <a:endParaRPr lang="zh-TW" altLang="en-US" sz="1400" dirty="0"/>
            </a:p>
          </p:txBody>
        </p:sp>
        <p:sp>
          <p:nvSpPr>
            <p:cNvPr id="15" name="向右箭號 9">
              <a:extLst>
                <a:ext uri="{FF2B5EF4-FFF2-40B4-BE49-F238E27FC236}">
                  <a16:creationId xmlns:a16="http://schemas.microsoft.com/office/drawing/2014/main" id="{98644F2F-3F47-429D-AF00-336E40CB1FF1}"/>
                </a:ext>
              </a:extLst>
            </p:cNvPr>
            <p:cNvSpPr/>
            <p:nvPr/>
          </p:nvSpPr>
          <p:spPr>
            <a:xfrm>
              <a:off x="4943872" y="2216836"/>
              <a:ext cx="792088" cy="168919"/>
            </a:xfrm>
            <a:prstGeom prst="rightArrow">
              <a:avLst>
                <a:gd name="adj1" fmla="val 50000"/>
                <a:gd name="adj2" fmla="val 107534"/>
              </a:avLst>
            </a:prstGeom>
          </p:spPr>
          <p:style>
            <a:lnRef idx="3">
              <a:schemeClr val="lt1"/>
            </a:lnRef>
            <a:fillRef idx="1">
              <a:schemeClr val="accent3"/>
            </a:fillRef>
            <a:effectRef idx="1">
              <a:schemeClr val="accent3"/>
            </a:effectRef>
            <a:fontRef idx="minor">
              <a:schemeClr val="lt1"/>
            </a:fontRef>
          </p:style>
          <p:txBody>
            <a:bodyPr rtlCol="0" anchor="ctr"/>
            <a:lstStyle/>
            <a:p>
              <a:pPr algn="ctr"/>
              <a:endParaRPr lang="zh-TW" altLang="en-US" sz="1400"/>
            </a:p>
          </p:txBody>
        </p:sp>
        <p:sp>
          <p:nvSpPr>
            <p:cNvPr id="16" name="向右箭號 22">
              <a:extLst>
                <a:ext uri="{FF2B5EF4-FFF2-40B4-BE49-F238E27FC236}">
                  <a16:creationId xmlns:a16="http://schemas.microsoft.com/office/drawing/2014/main" id="{AE5BC961-7B2E-4D56-B7A1-1DE551767BEC}"/>
                </a:ext>
              </a:extLst>
            </p:cNvPr>
            <p:cNvSpPr/>
            <p:nvPr/>
          </p:nvSpPr>
          <p:spPr>
            <a:xfrm rot="5400000">
              <a:off x="6407582" y="2822679"/>
              <a:ext cx="504057" cy="156468"/>
            </a:xfrm>
            <a:prstGeom prst="rightArrow">
              <a:avLst>
                <a:gd name="adj1" fmla="val 50000"/>
                <a:gd name="adj2" fmla="val 107534"/>
              </a:avLst>
            </a:prstGeom>
          </p:spPr>
          <p:style>
            <a:lnRef idx="3">
              <a:schemeClr val="lt1"/>
            </a:lnRef>
            <a:fillRef idx="1">
              <a:schemeClr val="accent3"/>
            </a:fillRef>
            <a:effectRef idx="1">
              <a:schemeClr val="accent3"/>
            </a:effectRef>
            <a:fontRef idx="minor">
              <a:schemeClr val="lt1"/>
            </a:fontRef>
          </p:style>
          <p:txBody>
            <a:bodyPr rtlCol="0" anchor="ctr"/>
            <a:lstStyle/>
            <a:p>
              <a:pPr algn="ctr"/>
              <a:endParaRPr lang="zh-TW" altLang="en-US" sz="1400"/>
            </a:p>
          </p:txBody>
        </p:sp>
        <p:sp>
          <p:nvSpPr>
            <p:cNvPr id="17" name="文字方塊 16">
              <a:extLst>
                <a:ext uri="{FF2B5EF4-FFF2-40B4-BE49-F238E27FC236}">
                  <a16:creationId xmlns:a16="http://schemas.microsoft.com/office/drawing/2014/main" id="{D864B1FD-BB27-4693-A776-93490461F176}"/>
                </a:ext>
              </a:extLst>
            </p:cNvPr>
            <p:cNvSpPr txBox="1"/>
            <p:nvPr/>
          </p:nvSpPr>
          <p:spPr>
            <a:xfrm>
              <a:off x="4499370" y="3082674"/>
              <a:ext cx="4320481" cy="998082"/>
            </a:xfrm>
            <a:prstGeom prst="rect">
              <a:avLst/>
            </a:prstGeom>
            <a:noFill/>
          </p:spPr>
          <p:txBody>
            <a:bodyPr wrap="square" rtlCol="0">
              <a:spAutoFit/>
            </a:bodyPr>
            <a:lstStyle/>
            <a:p>
              <a:r>
                <a:rPr lang="en-US" altLang="zh-TW" sz="1400" dirty="0"/>
                <a:t>Q2S3D7F6R9C01A9C8E5G5K6LC9Z2N4M57CHF85UT9GK3JC62DLZ95YH7G93D62SH</a:t>
              </a:r>
              <a:endParaRPr lang="zh-TW" altLang="en-US" sz="1400" dirty="0"/>
            </a:p>
          </p:txBody>
        </p:sp>
      </p:grpSp>
      <p:sp>
        <p:nvSpPr>
          <p:cNvPr id="3" name="文字方塊 2">
            <a:extLst>
              <a:ext uri="{FF2B5EF4-FFF2-40B4-BE49-F238E27FC236}">
                <a16:creationId xmlns:a16="http://schemas.microsoft.com/office/drawing/2014/main" id="{F4AC9ADA-B3B8-4A44-A6B7-CCDF2CAEBA7E}"/>
              </a:ext>
            </a:extLst>
          </p:cNvPr>
          <p:cNvSpPr txBox="1"/>
          <p:nvPr/>
        </p:nvSpPr>
        <p:spPr>
          <a:xfrm>
            <a:off x="9406446" y="5319596"/>
            <a:ext cx="2319866" cy="369332"/>
          </a:xfrm>
          <a:prstGeom prst="rect">
            <a:avLst/>
          </a:prstGeom>
          <a:noFill/>
        </p:spPr>
        <p:txBody>
          <a:bodyPr wrap="none" rtlCol="0">
            <a:spAutoFit/>
          </a:bodyPr>
          <a:lstStyle/>
          <a:p>
            <a:pPr marL="285750" indent="-285750">
              <a:buFont typeface="Arial" panose="020B0604020202020204" pitchFamily="34" charset="0"/>
              <a:buChar char="▲"/>
            </a:pPr>
            <a:r>
              <a:rPr lang="zh-TW" altLang="en-US" b="1" dirty="0">
                <a:latin typeface="微軟正黑體" panose="020B0604030504040204" pitchFamily="34" charset="-120"/>
                <a:ea typeface="微軟正黑體" panose="020B0604030504040204" pitchFamily="34" charset="-120"/>
              </a:rPr>
              <a:t>比特幣雜湊演算法</a:t>
            </a:r>
          </a:p>
        </p:txBody>
      </p:sp>
    </p:spTree>
    <p:extLst>
      <p:ext uri="{BB962C8B-B14F-4D97-AF65-F5344CB8AC3E}">
        <p14:creationId xmlns:p14="http://schemas.microsoft.com/office/powerpoint/2010/main" val="2111821745"/>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6" presetClass="entr" presetSubtype="16" fill="hold" grpId="0" nodeType="after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circle(in)">
                                      <p:cBhvr>
                                        <p:cTn id="7" dur="2000"/>
                                        <p:tgtEl>
                                          <p:spTgt spid="9"/>
                                        </p:tgtEl>
                                      </p:cBhvr>
                                    </p:animEffect>
                                  </p:childTnLst>
                                </p:cTn>
                              </p:par>
                            </p:childTnLst>
                          </p:cTn>
                        </p:par>
                        <p:par>
                          <p:cTn id="8" fill="hold">
                            <p:stCondLst>
                              <p:cond delay="2000"/>
                            </p:stCondLst>
                            <p:childTnLst>
                              <p:par>
                                <p:cTn id="9" presetID="14" presetClass="entr" presetSubtype="10" fill="hold" grpId="0" nodeType="afterEffect">
                                  <p:stCondLst>
                                    <p:cond delay="0"/>
                                  </p:stCondLst>
                                  <p:childTnLst>
                                    <p:set>
                                      <p:cBhvr>
                                        <p:cTn id="10" dur="1" fill="hold">
                                          <p:stCondLst>
                                            <p:cond delay="0"/>
                                          </p:stCondLst>
                                        </p:cTn>
                                        <p:tgtEl>
                                          <p:spTgt spid="12"/>
                                        </p:tgtEl>
                                        <p:attrNameLst>
                                          <p:attrName>style.visibility</p:attrName>
                                        </p:attrNameLst>
                                      </p:cBhvr>
                                      <p:to>
                                        <p:strVal val="visible"/>
                                      </p:to>
                                    </p:set>
                                    <p:animEffect transition="in" filter="randombar(horizontal)">
                                      <p:cBhvr>
                                        <p:cTn id="11" dur="500"/>
                                        <p:tgtEl>
                                          <p:spTgt spid="12"/>
                                        </p:tgtEl>
                                      </p:cBhvr>
                                    </p:animEffect>
                                  </p:childTnLst>
                                </p:cTn>
                              </p:par>
                            </p:childTnLst>
                          </p:cTn>
                        </p:par>
                        <p:par>
                          <p:cTn id="12" fill="hold">
                            <p:stCondLst>
                              <p:cond delay="2500"/>
                            </p:stCondLst>
                            <p:childTnLst>
                              <p:par>
                                <p:cTn id="13" presetID="2" presetClass="entr" presetSubtype="8" fill="hold" nodeType="afterEffect">
                                  <p:stCondLst>
                                    <p:cond delay="0"/>
                                  </p:stCondLst>
                                  <p:childTnLst>
                                    <p:set>
                                      <p:cBhvr>
                                        <p:cTn id="14" dur="1" fill="hold">
                                          <p:stCondLst>
                                            <p:cond delay="0"/>
                                          </p:stCondLst>
                                        </p:cTn>
                                        <p:tgtEl>
                                          <p:spTgt spid="26"/>
                                        </p:tgtEl>
                                        <p:attrNameLst>
                                          <p:attrName>style.visibility</p:attrName>
                                        </p:attrNameLst>
                                      </p:cBhvr>
                                      <p:to>
                                        <p:strVal val="visible"/>
                                      </p:to>
                                    </p:set>
                                    <p:anim calcmode="lin" valueType="num">
                                      <p:cBhvr additive="base">
                                        <p:cTn id="15" dur="500" fill="hold"/>
                                        <p:tgtEl>
                                          <p:spTgt spid="26"/>
                                        </p:tgtEl>
                                        <p:attrNameLst>
                                          <p:attrName>ppt_x</p:attrName>
                                        </p:attrNameLst>
                                      </p:cBhvr>
                                      <p:tavLst>
                                        <p:tav tm="0">
                                          <p:val>
                                            <p:strVal val="0-#ppt_w/2"/>
                                          </p:val>
                                        </p:tav>
                                        <p:tav tm="100000">
                                          <p:val>
                                            <p:strVal val="#ppt_x"/>
                                          </p:val>
                                        </p:tav>
                                      </p:tavLst>
                                    </p:anim>
                                    <p:anim calcmode="lin" valueType="num">
                                      <p:cBhvr additive="base">
                                        <p:cTn id="16" dur="500" fill="hold"/>
                                        <p:tgtEl>
                                          <p:spTgt spid="26"/>
                                        </p:tgtEl>
                                        <p:attrNameLst>
                                          <p:attrName>ppt_y</p:attrName>
                                        </p:attrNameLst>
                                      </p:cBhvr>
                                      <p:tavLst>
                                        <p:tav tm="0">
                                          <p:val>
                                            <p:strVal val="#ppt_y"/>
                                          </p:val>
                                        </p:tav>
                                        <p:tav tm="100000">
                                          <p:val>
                                            <p:strVal val="#ppt_y"/>
                                          </p:val>
                                        </p:tav>
                                      </p:tavLst>
                                    </p:anim>
                                  </p:childTnLst>
                                </p:cTn>
                              </p:par>
                            </p:childTnLst>
                          </p:cTn>
                        </p:par>
                        <p:par>
                          <p:cTn id="17" fill="hold">
                            <p:stCondLst>
                              <p:cond delay="3000"/>
                            </p:stCondLst>
                            <p:childTnLst>
                              <p:par>
                                <p:cTn id="18" presetID="16" presetClass="entr" presetSubtype="21" fill="hold" grpId="0" nodeType="afterEffect">
                                  <p:stCondLst>
                                    <p:cond delay="0"/>
                                  </p:stCondLst>
                                  <p:childTnLst>
                                    <p:set>
                                      <p:cBhvr>
                                        <p:cTn id="19" dur="1" fill="hold">
                                          <p:stCondLst>
                                            <p:cond delay="0"/>
                                          </p:stCondLst>
                                        </p:cTn>
                                        <p:tgtEl>
                                          <p:spTgt spid="2"/>
                                        </p:tgtEl>
                                        <p:attrNameLst>
                                          <p:attrName>style.visibility</p:attrName>
                                        </p:attrNameLst>
                                      </p:cBhvr>
                                      <p:to>
                                        <p:strVal val="visible"/>
                                      </p:to>
                                    </p:set>
                                    <p:animEffect transition="in" filter="barn(inVertical)">
                                      <p:cBhvr>
                                        <p:cTn id="20" dur="500"/>
                                        <p:tgtEl>
                                          <p:spTgt spid="2"/>
                                        </p:tgtEl>
                                      </p:cBhvr>
                                    </p:animEffect>
                                  </p:childTnLst>
                                </p:cTn>
                              </p:par>
                            </p:childTnLst>
                          </p:cTn>
                        </p:par>
                        <p:par>
                          <p:cTn id="21" fill="hold">
                            <p:stCondLst>
                              <p:cond delay="3500"/>
                            </p:stCondLst>
                            <p:childTnLst>
                              <p:par>
                                <p:cTn id="22" presetID="42" presetClass="entr" presetSubtype="0" fill="hold" nodeType="afterEffect">
                                  <p:stCondLst>
                                    <p:cond delay="0"/>
                                  </p:stCondLst>
                                  <p:childTnLst>
                                    <p:set>
                                      <p:cBhvr>
                                        <p:cTn id="23" dur="1" fill="hold">
                                          <p:stCondLst>
                                            <p:cond delay="0"/>
                                          </p:stCondLst>
                                        </p:cTn>
                                        <p:tgtEl>
                                          <p:spTgt spid="10"/>
                                        </p:tgtEl>
                                        <p:attrNameLst>
                                          <p:attrName>style.visibility</p:attrName>
                                        </p:attrNameLst>
                                      </p:cBhvr>
                                      <p:to>
                                        <p:strVal val="visible"/>
                                      </p:to>
                                    </p:set>
                                    <p:animEffect transition="in" filter="fade">
                                      <p:cBhvr>
                                        <p:cTn id="24" dur="1000"/>
                                        <p:tgtEl>
                                          <p:spTgt spid="10"/>
                                        </p:tgtEl>
                                      </p:cBhvr>
                                    </p:animEffect>
                                    <p:anim calcmode="lin" valueType="num">
                                      <p:cBhvr>
                                        <p:cTn id="25" dur="1000" fill="hold"/>
                                        <p:tgtEl>
                                          <p:spTgt spid="10"/>
                                        </p:tgtEl>
                                        <p:attrNameLst>
                                          <p:attrName>ppt_x</p:attrName>
                                        </p:attrNameLst>
                                      </p:cBhvr>
                                      <p:tavLst>
                                        <p:tav tm="0">
                                          <p:val>
                                            <p:strVal val="#ppt_x"/>
                                          </p:val>
                                        </p:tav>
                                        <p:tav tm="100000">
                                          <p:val>
                                            <p:strVal val="#ppt_x"/>
                                          </p:val>
                                        </p:tav>
                                      </p:tavLst>
                                    </p:anim>
                                    <p:anim calcmode="lin" valueType="num">
                                      <p:cBhvr>
                                        <p:cTn id="26" dur="1000" fill="hold"/>
                                        <p:tgtEl>
                                          <p:spTgt spid="10"/>
                                        </p:tgtEl>
                                        <p:attrNameLst>
                                          <p:attrName>ppt_y</p:attrName>
                                        </p:attrNameLst>
                                      </p:cBhvr>
                                      <p:tavLst>
                                        <p:tav tm="0">
                                          <p:val>
                                            <p:strVal val="#ppt_y+.1"/>
                                          </p:val>
                                        </p:tav>
                                        <p:tav tm="100000">
                                          <p:val>
                                            <p:strVal val="#ppt_y"/>
                                          </p:val>
                                        </p:tav>
                                      </p:tavLst>
                                    </p:anim>
                                  </p:childTnLst>
                                </p:cTn>
                              </p:par>
                            </p:childTnLst>
                          </p:cTn>
                        </p:par>
                        <p:par>
                          <p:cTn id="27" fill="hold">
                            <p:stCondLst>
                              <p:cond delay="4500"/>
                            </p:stCondLst>
                            <p:childTnLst>
                              <p:par>
                                <p:cTn id="28" presetID="2" presetClass="entr" presetSubtype="4" fill="hold" grpId="0" nodeType="afterEffect">
                                  <p:stCondLst>
                                    <p:cond delay="0"/>
                                  </p:stCondLst>
                                  <p:childTnLst>
                                    <p:set>
                                      <p:cBhvr>
                                        <p:cTn id="29" dur="1" fill="hold">
                                          <p:stCondLst>
                                            <p:cond delay="0"/>
                                          </p:stCondLst>
                                        </p:cTn>
                                        <p:tgtEl>
                                          <p:spTgt spid="3"/>
                                        </p:tgtEl>
                                        <p:attrNameLst>
                                          <p:attrName>style.visibility</p:attrName>
                                        </p:attrNameLst>
                                      </p:cBhvr>
                                      <p:to>
                                        <p:strVal val="visible"/>
                                      </p:to>
                                    </p:set>
                                    <p:anim calcmode="lin" valueType="num">
                                      <p:cBhvr additive="base">
                                        <p:cTn id="30" dur="500" fill="hold"/>
                                        <p:tgtEl>
                                          <p:spTgt spid="3"/>
                                        </p:tgtEl>
                                        <p:attrNameLst>
                                          <p:attrName>ppt_x</p:attrName>
                                        </p:attrNameLst>
                                      </p:cBhvr>
                                      <p:tavLst>
                                        <p:tav tm="0">
                                          <p:val>
                                            <p:strVal val="#ppt_x"/>
                                          </p:val>
                                        </p:tav>
                                        <p:tav tm="100000">
                                          <p:val>
                                            <p:strVal val="#ppt_x"/>
                                          </p:val>
                                        </p:tav>
                                      </p:tavLst>
                                    </p:anim>
                                    <p:anim calcmode="lin" valueType="num">
                                      <p:cBhvr additive="base">
                                        <p:cTn id="31" dur="500" fill="hold"/>
                                        <p:tgtEl>
                                          <p:spTgt spid="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2" grpId="0"/>
      <p:bldP spid="12" grpId="0"/>
      <p:bldP spid="3" grpId="0"/>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图片 42">
            <a:extLst>
              <a:ext uri="{FF2B5EF4-FFF2-40B4-BE49-F238E27FC236}">
                <a16:creationId xmlns:a16="http://schemas.microsoft.com/office/drawing/2014/main" id="{C8D97DA4-6242-4E73-AEFC-457D04FDC65B}"/>
              </a:ext>
            </a:extLst>
          </p:cNvPr>
          <p:cNvPicPr>
            <a:picLocks noChangeAspect="1"/>
          </p:cNvPicPr>
          <p:nvPr/>
        </p:nvPicPr>
        <p:blipFill>
          <a:blip r:embed="rId2"/>
          <a:stretch>
            <a:fillRect/>
          </a:stretch>
        </p:blipFill>
        <p:spPr>
          <a:xfrm rot="16200000">
            <a:off x="145169" y="-145167"/>
            <a:ext cx="1268414" cy="1558750"/>
          </a:xfrm>
          <a:prstGeom prst="rect">
            <a:avLst/>
          </a:prstGeom>
        </p:spPr>
      </p:pic>
      <p:sp>
        <p:nvSpPr>
          <p:cNvPr id="6" name="文字方塊 5">
            <a:extLst>
              <a:ext uri="{FF2B5EF4-FFF2-40B4-BE49-F238E27FC236}">
                <a16:creationId xmlns:a16="http://schemas.microsoft.com/office/drawing/2014/main" id="{8A30B01A-3198-4955-A208-0E3D9EB60397}"/>
              </a:ext>
            </a:extLst>
          </p:cNvPr>
          <p:cNvSpPr txBox="1"/>
          <p:nvPr/>
        </p:nvSpPr>
        <p:spPr>
          <a:xfrm>
            <a:off x="1558751" y="6596390"/>
            <a:ext cx="4217821" cy="261610"/>
          </a:xfrm>
          <a:prstGeom prst="rect">
            <a:avLst/>
          </a:prstGeom>
          <a:noFill/>
        </p:spPr>
        <p:txBody>
          <a:bodyPr wrap="none" rtlCol="0">
            <a:spAutoFit/>
          </a:bodyPr>
          <a:lstStyle/>
          <a:p>
            <a:r>
              <a:rPr lang="zh-TW" altLang="en-US" sz="1100" dirty="0">
                <a:latin typeface="Microsoft JhengHei Light" panose="020B0304030504040204" pitchFamily="34" charset="-120"/>
                <a:ea typeface="Microsoft JhengHei Light" panose="020B0304030504040204" pitchFamily="34" charset="-120"/>
              </a:rPr>
              <a:t>區塊鏈商業應用概論 實例與分析／新陸書局股份有限公司 發行</a:t>
            </a:r>
          </a:p>
        </p:txBody>
      </p:sp>
      <p:sp>
        <p:nvSpPr>
          <p:cNvPr id="9" name="標題 1">
            <a:extLst>
              <a:ext uri="{FF2B5EF4-FFF2-40B4-BE49-F238E27FC236}">
                <a16:creationId xmlns:a16="http://schemas.microsoft.com/office/drawing/2014/main" id="{475DFFF1-7C37-4CBE-ACFC-3F348BCD20CC}"/>
              </a:ext>
            </a:extLst>
          </p:cNvPr>
          <p:cNvSpPr txBox="1">
            <a:spLocks/>
          </p:cNvSpPr>
          <p:nvPr/>
        </p:nvSpPr>
        <p:spPr>
          <a:xfrm>
            <a:off x="1231956" y="393820"/>
            <a:ext cx="3643527" cy="874595"/>
          </a:xfrm>
          <a:prstGeom prst="rect">
            <a:avLst/>
          </a:prstGeom>
        </p:spPr>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altLang="zh-TW" sz="2400" b="1" dirty="0">
                <a:solidFill>
                  <a:srgbClr val="E06741"/>
                </a:solidFill>
              </a:rPr>
              <a:t>2-2 </a:t>
            </a:r>
            <a:r>
              <a:rPr lang="zh-TW" altLang="en-US" sz="2400" b="1" dirty="0">
                <a:solidFill>
                  <a:srgbClr val="E06741"/>
                </a:solidFill>
              </a:rPr>
              <a:t>區塊鏈技術發展</a:t>
            </a:r>
          </a:p>
          <a:p>
            <a:endParaRPr lang="zh-TW" altLang="en-US" sz="2400" dirty="0">
              <a:solidFill>
                <a:srgbClr val="E06741"/>
              </a:solidFill>
              <a:latin typeface="標楷體" panose="03000509000000000000" pitchFamily="65" charset="-120"/>
              <a:ea typeface="標楷體" panose="03000509000000000000" pitchFamily="65" charset="-120"/>
              <a:cs typeface="Times New Roman" panose="02020603050405020304" pitchFamily="18" charset="0"/>
            </a:endParaRPr>
          </a:p>
        </p:txBody>
      </p:sp>
      <p:sp>
        <p:nvSpPr>
          <p:cNvPr id="2" name="文字方塊 1">
            <a:extLst>
              <a:ext uri="{FF2B5EF4-FFF2-40B4-BE49-F238E27FC236}">
                <a16:creationId xmlns:a16="http://schemas.microsoft.com/office/drawing/2014/main" id="{D6D66D7E-58A1-40BE-8070-FA1C3AF22B14}"/>
              </a:ext>
            </a:extLst>
          </p:cNvPr>
          <p:cNvSpPr txBox="1"/>
          <p:nvPr/>
        </p:nvSpPr>
        <p:spPr>
          <a:xfrm>
            <a:off x="1231956" y="1181380"/>
            <a:ext cx="10021150" cy="2150973"/>
          </a:xfrm>
          <a:prstGeom prst="rect">
            <a:avLst/>
          </a:prstGeom>
          <a:noFill/>
        </p:spPr>
        <p:txBody>
          <a:bodyPr wrap="square" rtlCol="0">
            <a:spAutoFit/>
          </a:bodyPr>
          <a:lstStyle/>
          <a:p>
            <a:pPr marL="800100" lvl="1" indent="-342900">
              <a:lnSpc>
                <a:spcPct val="150000"/>
              </a:lnSpc>
              <a:buSzPct val="100000"/>
              <a:buBlip>
                <a:blip r:embed="rId3"/>
              </a:buBlip>
            </a:pPr>
            <a:r>
              <a:rPr lang="zh-TW" altLang="en-US" sz="2300" b="1" dirty="0">
                <a:solidFill>
                  <a:schemeClr val="tx1">
                    <a:lumMod val="75000"/>
                    <a:lumOff val="25000"/>
                  </a:schemeClr>
                </a:solidFill>
                <a:latin typeface="微軟正黑體" panose="020B0604030504040204" pitchFamily="34" charset="-120"/>
                <a:ea typeface="微軟正黑體" panose="020B0604030504040204" pitchFamily="34" charset="-120"/>
              </a:rPr>
              <a:t>安全雜湊演算法的目的不是為了對於交易訊息進行「加密」的動作，而是進行「資料特徵」的抽取動作</a:t>
            </a:r>
            <a:endParaRPr lang="en-US" altLang="zh-TW" sz="2300" b="1" dirty="0">
              <a:solidFill>
                <a:schemeClr val="tx1">
                  <a:lumMod val="75000"/>
                  <a:lumOff val="25000"/>
                </a:schemeClr>
              </a:solidFill>
              <a:latin typeface="微軟正黑體" panose="020B0604030504040204" pitchFamily="34" charset="-120"/>
              <a:ea typeface="微軟正黑體" panose="020B0604030504040204" pitchFamily="34" charset="-120"/>
            </a:endParaRPr>
          </a:p>
          <a:p>
            <a:pPr marL="800100" lvl="1" indent="-342900">
              <a:lnSpc>
                <a:spcPct val="150000"/>
              </a:lnSpc>
              <a:buSzPct val="100000"/>
              <a:buBlip>
                <a:blip r:embed="rId3"/>
              </a:buBlip>
            </a:pPr>
            <a:r>
              <a:rPr lang="zh-TW" altLang="en-US" sz="2300" b="1" dirty="0">
                <a:solidFill>
                  <a:schemeClr val="tx1">
                    <a:lumMod val="75000"/>
                    <a:lumOff val="25000"/>
                  </a:schemeClr>
                </a:solidFill>
                <a:latin typeface="微軟正黑體" panose="020B0604030504040204" pitchFamily="34" charset="-120"/>
                <a:ea typeface="微軟正黑體" panose="020B0604030504040204" pitchFamily="34" charset="-120"/>
              </a:rPr>
              <a:t>以實際區塊鏈系統交易平台展示的操作為例說明（</a:t>
            </a:r>
            <a:r>
              <a:rPr lang="en-US" altLang="zh-TW" sz="2300" b="1" dirty="0">
                <a:solidFill>
                  <a:schemeClr val="tx1">
                    <a:lumMod val="75000"/>
                    <a:lumOff val="25000"/>
                  </a:schemeClr>
                </a:solidFill>
                <a:latin typeface="微軟正黑體" panose="020B0604030504040204" pitchFamily="34" charset="-120"/>
                <a:ea typeface="微軟正黑體" panose="020B0604030504040204" pitchFamily="34" charset="-120"/>
              </a:rPr>
              <a:t>Blockchain Demo</a:t>
            </a:r>
            <a:r>
              <a:rPr lang="zh-TW" altLang="en-US" sz="2300" b="1" dirty="0">
                <a:solidFill>
                  <a:schemeClr val="tx1">
                    <a:lumMod val="75000"/>
                    <a:lumOff val="25000"/>
                  </a:schemeClr>
                </a:solidFill>
                <a:latin typeface="微軟正黑體" panose="020B0604030504040204" pitchFamily="34" charset="-120"/>
                <a:ea typeface="微軟正黑體" panose="020B0604030504040204" pitchFamily="34" charset="-120"/>
              </a:rPr>
              <a:t>）</a:t>
            </a:r>
            <a:endParaRPr lang="en-US" altLang="zh-TW" sz="2300" b="1" dirty="0">
              <a:solidFill>
                <a:schemeClr val="tx1">
                  <a:lumMod val="75000"/>
                  <a:lumOff val="25000"/>
                </a:schemeClr>
              </a:solidFill>
              <a:latin typeface="微軟正黑體" panose="020B0604030504040204" pitchFamily="34" charset="-120"/>
              <a:ea typeface="微軟正黑體" panose="020B0604030504040204" pitchFamily="34" charset="-120"/>
            </a:endParaRPr>
          </a:p>
          <a:p>
            <a:pPr marL="800100" lvl="1" indent="-342900">
              <a:lnSpc>
                <a:spcPct val="150000"/>
              </a:lnSpc>
              <a:buSzPct val="100000"/>
              <a:buBlip>
                <a:blip r:embed="rId3"/>
              </a:buBlip>
            </a:pPr>
            <a:r>
              <a:rPr lang="zh-TW" altLang="en-US" sz="2300" b="1" dirty="0">
                <a:solidFill>
                  <a:schemeClr val="tx1">
                    <a:lumMod val="75000"/>
                    <a:lumOff val="25000"/>
                  </a:schemeClr>
                </a:solidFill>
                <a:latin typeface="微軟正黑體" panose="020B0604030504040204" pitchFamily="34" charset="-120"/>
                <a:ea typeface="微軟正黑體" panose="020B0604030504040204" pitchFamily="34" charset="-120"/>
              </a:rPr>
              <a:t>雜湊數字代表著</a:t>
            </a:r>
            <a:r>
              <a:rPr lang="en-US" altLang="zh-TW" sz="2300" b="1" dirty="0">
                <a:solidFill>
                  <a:schemeClr val="tx1">
                    <a:lumMod val="75000"/>
                    <a:lumOff val="25000"/>
                  </a:schemeClr>
                </a:solidFill>
                <a:latin typeface="微軟正黑體" panose="020B0604030504040204" pitchFamily="34" charset="-120"/>
                <a:ea typeface="微軟正黑體" panose="020B0604030504040204" pitchFamily="34" charset="-120"/>
              </a:rPr>
              <a:t>Data </a:t>
            </a:r>
            <a:r>
              <a:rPr lang="zh-TW" altLang="en-US" sz="2300" b="1" dirty="0">
                <a:solidFill>
                  <a:schemeClr val="tx1">
                    <a:lumMod val="75000"/>
                    <a:lumOff val="25000"/>
                  </a:schemeClr>
                </a:solidFill>
                <a:latin typeface="微軟正黑體" panose="020B0604030504040204" pitchFamily="34" charset="-120"/>
                <a:ea typeface="微軟正黑體" panose="020B0604030504040204" pitchFamily="34" charset="-120"/>
              </a:rPr>
              <a:t>為空白的身分</a:t>
            </a:r>
          </a:p>
        </p:txBody>
      </p:sp>
      <p:cxnSp>
        <p:nvCxnSpPr>
          <p:cNvPr id="26" name="直接连接符 33">
            <a:extLst>
              <a:ext uri="{FF2B5EF4-FFF2-40B4-BE49-F238E27FC236}">
                <a16:creationId xmlns:a16="http://schemas.microsoft.com/office/drawing/2014/main" id="{C3725E45-5458-4931-9D9A-B8C15AE6AC41}"/>
              </a:ext>
            </a:extLst>
          </p:cNvPr>
          <p:cNvCxnSpPr>
            <a:cxnSpLocks/>
          </p:cNvCxnSpPr>
          <p:nvPr/>
        </p:nvCxnSpPr>
        <p:spPr>
          <a:xfrm>
            <a:off x="1334185" y="1102164"/>
            <a:ext cx="10081960" cy="0"/>
          </a:xfrm>
          <a:prstGeom prst="line">
            <a:avLst/>
          </a:prstGeom>
          <a:ln w="190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12" name="文字方塊 11">
            <a:extLst>
              <a:ext uri="{FF2B5EF4-FFF2-40B4-BE49-F238E27FC236}">
                <a16:creationId xmlns:a16="http://schemas.microsoft.com/office/drawing/2014/main" id="{9FE02F65-A32E-4124-B1E6-8E45750976E4}"/>
              </a:ext>
            </a:extLst>
          </p:cNvPr>
          <p:cNvSpPr txBox="1"/>
          <p:nvPr/>
        </p:nvSpPr>
        <p:spPr>
          <a:xfrm>
            <a:off x="4487241" y="449166"/>
            <a:ext cx="3076483" cy="400110"/>
          </a:xfrm>
          <a:prstGeom prst="rect">
            <a:avLst/>
          </a:prstGeom>
          <a:noFill/>
        </p:spPr>
        <p:txBody>
          <a:bodyPr wrap="none" rtlCol="0">
            <a:spAutoFit/>
          </a:bodyPr>
          <a:lstStyle/>
          <a:p>
            <a:r>
              <a:rPr lang="en-US" altLang="zh-TW" sz="2000" b="1" dirty="0">
                <a:solidFill>
                  <a:schemeClr val="tx1">
                    <a:lumMod val="65000"/>
                    <a:lumOff val="35000"/>
                  </a:schemeClr>
                </a:solidFill>
                <a:latin typeface="微軟正黑體" panose="020B0604030504040204" pitchFamily="34" charset="-120"/>
                <a:ea typeface="微軟正黑體" panose="020B0604030504040204" pitchFamily="34" charset="-120"/>
                <a:cs typeface="Times New Roman" panose="02020603050405020304" pitchFamily="18" charset="0"/>
              </a:rPr>
              <a:t>-2</a:t>
            </a:r>
            <a:r>
              <a:rPr lang="zh-TW" altLang="en-US" sz="2000" b="1" dirty="0">
                <a:solidFill>
                  <a:schemeClr val="tx1">
                    <a:lumMod val="65000"/>
                    <a:lumOff val="35000"/>
                  </a:schemeClr>
                </a:solidFill>
                <a:latin typeface="微軟正黑體" panose="020B0604030504040204" pitchFamily="34" charset="-120"/>
                <a:ea typeface="微軟正黑體" panose="020B0604030504040204" pitchFamily="34" charset="-120"/>
                <a:cs typeface="Times New Roman" panose="02020603050405020304" pitchFamily="18" charset="0"/>
              </a:rPr>
              <a:t> 區塊鏈技術之基本要素</a:t>
            </a:r>
          </a:p>
        </p:txBody>
      </p:sp>
      <p:sp>
        <p:nvSpPr>
          <p:cNvPr id="3" name="文字方塊 2">
            <a:extLst>
              <a:ext uri="{FF2B5EF4-FFF2-40B4-BE49-F238E27FC236}">
                <a16:creationId xmlns:a16="http://schemas.microsoft.com/office/drawing/2014/main" id="{F4AC9ADA-B3B8-4A44-A6B7-CCDF2CAEBA7E}"/>
              </a:ext>
            </a:extLst>
          </p:cNvPr>
          <p:cNvSpPr txBox="1"/>
          <p:nvPr/>
        </p:nvSpPr>
        <p:spPr>
          <a:xfrm>
            <a:off x="6451368" y="6488668"/>
            <a:ext cx="3012363" cy="369332"/>
          </a:xfrm>
          <a:prstGeom prst="rect">
            <a:avLst/>
          </a:prstGeom>
          <a:noFill/>
        </p:spPr>
        <p:txBody>
          <a:bodyPr wrap="none" rtlCol="0">
            <a:spAutoFit/>
          </a:bodyPr>
          <a:lstStyle/>
          <a:p>
            <a:pPr marL="285750" indent="-285750">
              <a:buFont typeface="Arial" panose="020B0604020202020204" pitchFamily="34" charset="0"/>
              <a:buChar char="▲"/>
            </a:pPr>
            <a:r>
              <a:rPr lang="zh-TW" altLang="en-US" b="1" dirty="0">
                <a:solidFill>
                  <a:schemeClr val="tx1">
                    <a:lumMod val="75000"/>
                    <a:lumOff val="25000"/>
                  </a:schemeClr>
                </a:solidFill>
                <a:latin typeface="微軟正黑體" panose="020B0604030504040204" pitchFamily="34" charset="-120"/>
                <a:ea typeface="微軟正黑體" panose="020B0604030504040204" pitchFamily="34" charset="-120"/>
              </a:rPr>
              <a:t>區塊鏈系統交易平台展示</a:t>
            </a:r>
          </a:p>
        </p:txBody>
      </p:sp>
      <p:grpSp>
        <p:nvGrpSpPr>
          <p:cNvPr id="18" name="群組 17">
            <a:extLst>
              <a:ext uri="{FF2B5EF4-FFF2-40B4-BE49-F238E27FC236}">
                <a16:creationId xmlns:a16="http://schemas.microsoft.com/office/drawing/2014/main" id="{777C6941-53B1-46E2-B860-9E7579113C81}"/>
              </a:ext>
            </a:extLst>
          </p:cNvPr>
          <p:cNvGrpSpPr/>
          <p:nvPr/>
        </p:nvGrpSpPr>
        <p:grpSpPr>
          <a:xfrm>
            <a:off x="2301707" y="3320354"/>
            <a:ext cx="7067366" cy="3180314"/>
            <a:chOff x="1199456" y="836713"/>
            <a:chExt cx="10081120" cy="4536504"/>
          </a:xfrm>
        </p:grpSpPr>
        <p:pic>
          <p:nvPicPr>
            <p:cNvPr id="19" name="圖片 18">
              <a:extLst>
                <a:ext uri="{FF2B5EF4-FFF2-40B4-BE49-F238E27FC236}">
                  <a16:creationId xmlns:a16="http://schemas.microsoft.com/office/drawing/2014/main" id="{3B984EA5-BF53-42C3-8BF4-B17EAAEF3D9B}"/>
                </a:ext>
              </a:extLst>
            </p:cNvPr>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199456" y="836713"/>
              <a:ext cx="10081120" cy="4536504"/>
            </a:xfrm>
            <a:prstGeom prst="rect">
              <a:avLst/>
            </a:prstGeom>
            <a:noFill/>
            <a:ln>
              <a:noFill/>
            </a:ln>
          </p:spPr>
        </p:pic>
        <p:sp>
          <p:nvSpPr>
            <p:cNvPr id="20" name="矩形 19">
              <a:extLst>
                <a:ext uri="{FF2B5EF4-FFF2-40B4-BE49-F238E27FC236}">
                  <a16:creationId xmlns:a16="http://schemas.microsoft.com/office/drawing/2014/main" id="{BE4EAC18-F54D-45DB-8761-B0AA6A31BDF9}"/>
                </a:ext>
              </a:extLst>
            </p:cNvPr>
            <p:cNvSpPr/>
            <p:nvPr/>
          </p:nvSpPr>
          <p:spPr>
            <a:xfrm>
              <a:off x="2351584" y="4797152"/>
              <a:ext cx="7992888" cy="36004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900" dirty="0"/>
                <a:t>e3b0c44298fc1c149afbf4c8996fb92427ae41e4649b934ca495991b7852b855</a:t>
              </a:r>
              <a:endParaRPr lang="zh-TW" altLang="en-US" sz="900" dirty="0"/>
            </a:p>
          </p:txBody>
        </p:sp>
        <p:cxnSp>
          <p:nvCxnSpPr>
            <p:cNvPr id="21" name="直線接點 20">
              <a:extLst>
                <a:ext uri="{FF2B5EF4-FFF2-40B4-BE49-F238E27FC236}">
                  <a16:creationId xmlns:a16="http://schemas.microsoft.com/office/drawing/2014/main" id="{84D5646E-5D62-48BA-B729-2D7EC31DFE31}"/>
                </a:ext>
              </a:extLst>
            </p:cNvPr>
            <p:cNvCxnSpPr>
              <a:stCxn id="20" idx="0"/>
            </p:cNvCxnSpPr>
            <p:nvPr/>
          </p:nvCxnSpPr>
          <p:spPr>
            <a:xfrm flipH="1" flipV="1">
              <a:off x="6096000" y="4581128"/>
              <a:ext cx="252028" cy="216024"/>
            </a:xfrm>
            <a:prstGeom prst="line">
              <a:avLst/>
            </a:prstGeom>
          </p:spPr>
          <p:style>
            <a:lnRef idx="3">
              <a:schemeClr val="accent5"/>
            </a:lnRef>
            <a:fillRef idx="0">
              <a:schemeClr val="accent5"/>
            </a:fillRef>
            <a:effectRef idx="2">
              <a:schemeClr val="accent5"/>
            </a:effectRef>
            <a:fontRef idx="minor">
              <a:schemeClr val="tx1"/>
            </a:fontRef>
          </p:style>
        </p:cxnSp>
      </p:grpSp>
    </p:spTree>
    <p:extLst>
      <p:ext uri="{BB962C8B-B14F-4D97-AF65-F5344CB8AC3E}">
        <p14:creationId xmlns:p14="http://schemas.microsoft.com/office/powerpoint/2010/main" val="1951561254"/>
      </p:ext>
    </p:extLst>
  </p:cSld>
  <p:clrMapOvr>
    <a:masterClrMapping/>
  </p:clrMapOvr>
  <mc:AlternateContent xmlns:mc="http://schemas.openxmlformats.org/markup-compatibility/2006">
    <mc:Choice xmlns:p14="http://schemas.microsoft.com/office/powerpoint/2010/main" Requires="p14">
      <p:transition spd="slow" p14:dur="3400">
        <p14:reveal/>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6" presetClass="entr" presetSubtype="16" fill="hold" grpId="0" nodeType="after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circle(in)">
                                      <p:cBhvr>
                                        <p:cTn id="7" dur="2000"/>
                                        <p:tgtEl>
                                          <p:spTgt spid="9"/>
                                        </p:tgtEl>
                                      </p:cBhvr>
                                    </p:animEffect>
                                  </p:childTnLst>
                                </p:cTn>
                              </p:par>
                            </p:childTnLst>
                          </p:cTn>
                        </p:par>
                        <p:par>
                          <p:cTn id="8" fill="hold">
                            <p:stCondLst>
                              <p:cond delay="2000"/>
                            </p:stCondLst>
                            <p:childTnLst>
                              <p:par>
                                <p:cTn id="9" presetID="14" presetClass="entr" presetSubtype="10" fill="hold" grpId="0" nodeType="afterEffect">
                                  <p:stCondLst>
                                    <p:cond delay="0"/>
                                  </p:stCondLst>
                                  <p:childTnLst>
                                    <p:set>
                                      <p:cBhvr>
                                        <p:cTn id="10" dur="1" fill="hold">
                                          <p:stCondLst>
                                            <p:cond delay="0"/>
                                          </p:stCondLst>
                                        </p:cTn>
                                        <p:tgtEl>
                                          <p:spTgt spid="12"/>
                                        </p:tgtEl>
                                        <p:attrNameLst>
                                          <p:attrName>style.visibility</p:attrName>
                                        </p:attrNameLst>
                                      </p:cBhvr>
                                      <p:to>
                                        <p:strVal val="visible"/>
                                      </p:to>
                                    </p:set>
                                    <p:animEffect transition="in" filter="randombar(horizontal)">
                                      <p:cBhvr>
                                        <p:cTn id="11" dur="500"/>
                                        <p:tgtEl>
                                          <p:spTgt spid="12"/>
                                        </p:tgtEl>
                                      </p:cBhvr>
                                    </p:animEffect>
                                  </p:childTnLst>
                                </p:cTn>
                              </p:par>
                            </p:childTnLst>
                          </p:cTn>
                        </p:par>
                        <p:par>
                          <p:cTn id="12" fill="hold">
                            <p:stCondLst>
                              <p:cond delay="2500"/>
                            </p:stCondLst>
                            <p:childTnLst>
                              <p:par>
                                <p:cTn id="13" presetID="2" presetClass="entr" presetSubtype="8" fill="hold" nodeType="afterEffect">
                                  <p:stCondLst>
                                    <p:cond delay="0"/>
                                  </p:stCondLst>
                                  <p:childTnLst>
                                    <p:set>
                                      <p:cBhvr>
                                        <p:cTn id="14" dur="1" fill="hold">
                                          <p:stCondLst>
                                            <p:cond delay="0"/>
                                          </p:stCondLst>
                                        </p:cTn>
                                        <p:tgtEl>
                                          <p:spTgt spid="26"/>
                                        </p:tgtEl>
                                        <p:attrNameLst>
                                          <p:attrName>style.visibility</p:attrName>
                                        </p:attrNameLst>
                                      </p:cBhvr>
                                      <p:to>
                                        <p:strVal val="visible"/>
                                      </p:to>
                                    </p:set>
                                    <p:anim calcmode="lin" valueType="num">
                                      <p:cBhvr additive="base">
                                        <p:cTn id="15" dur="500" fill="hold"/>
                                        <p:tgtEl>
                                          <p:spTgt spid="26"/>
                                        </p:tgtEl>
                                        <p:attrNameLst>
                                          <p:attrName>ppt_x</p:attrName>
                                        </p:attrNameLst>
                                      </p:cBhvr>
                                      <p:tavLst>
                                        <p:tav tm="0">
                                          <p:val>
                                            <p:strVal val="0-#ppt_w/2"/>
                                          </p:val>
                                        </p:tav>
                                        <p:tav tm="100000">
                                          <p:val>
                                            <p:strVal val="#ppt_x"/>
                                          </p:val>
                                        </p:tav>
                                      </p:tavLst>
                                    </p:anim>
                                    <p:anim calcmode="lin" valueType="num">
                                      <p:cBhvr additive="base">
                                        <p:cTn id="16" dur="500" fill="hold"/>
                                        <p:tgtEl>
                                          <p:spTgt spid="26"/>
                                        </p:tgtEl>
                                        <p:attrNameLst>
                                          <p:attrName>ppt_y</p:attrName>
                                        </p:attrNameLst>
                                      </p:cBhvr>
                                      <p:tavLst>
                                        <p:tav tm="0">
                                          <p:val>
                                            <p:strVal val="#ppt_y"/>
                                          </p:val>
                                        </p:tav>
                                        <p:tav tm="100000">
                                          <p:val>
                                            <p:strVal val="#ppt_y"/>
                                          </p:val>
                                        </p:tav>
                                      </p:tavLst>
                                    </p:anim>
                                  </p:childTnLst>
                                </p:cTn>
                              </p:par>
                            </p:childTnLst>
                          </p:cTn>
                        </p:par>
                        <p:par>
                          <p:cTn id="17" fill="hold">
                            <p:stCondLst>
                              <p:cond delay="3000"/>
                            </p:stCondLst>
                            <p:childTnLst>
                              <p:par>
                                <p:cTn id="18" presetID="22" presetClass="entr" presetSubtype="4" fill="hold" grpId="0" nodeType="afterEffect">
                                  <p:stCondLst>
                                    <p:cond delay="0"/>
                                  </p:stCondLst>
                                  <p:childTnLst>
                                    <p:set>
                                      <p:cBhvr>
                                        <p:cTn id="19" dur="1" fill="hold">
                                          <p:stCondLst>
                                            <p:cond delay="0"/>
                                          </p:stCondLst>
                                        </p:cTn>
                                        <p:tgtEl>
                                          <p:spTgt spid="2"/>
                                        </p:tgtEl>
                                        <p:attrNameLst>
                                          <p:attrName>style.visibility</p:attrName>
                                        </p:attrNameLst>
                                      </p:cBhvr>
                                      <p:to>
                                        <p:strVal val="visible"/>
                                      </p:to>
                                    </p:set>
                                    <p:animEffect transition="in" filter="wipe(down)">
                                      <p:cBhvr>
                                        <p:cTn id="20" dur="500"/>
                                        <p:tgtEl>
                                          <p:spTgt spid="2"/>
                                        </p:tgtEl>
                                      </p:cBhvr>
                                    </p:animEffect>
                                  </p:childTnLst>
                                </p:cTn>
                              </p:par>
                            </p:childTnLst>
                          </p:cTn>
                        </p:par>
                        <p:par>
                          <p:cTn id="21" fill="hold">
                            <p:stCondLst>
                              <p:cond delay="3500"/>
                            </p:stCondLst>
                            <p:childTnLst>
                              <p:par>
                                <p:cTn id="22" presetID="42" presetClass="entr" presetSubtype="0" fill="hold" nodeType="afterEffect">
                                  <p:stCondLst>
                                    <p:cond delay="0"/>
                                  </p:stCondLst>
                                  <p:childTnLst>
                                    <p:set>
                                      <p:cBhvr>
                                        <p:cTn id="23" dur="1" fill="hold">
                                          <p:stCondLst>
                                            <p:cond delay="0"/>
                                          </p:stCondLst>
                                        </p:cTn>
                                        <p:tgtEl>
                                          <p:spTgt spid="18"/>
                                        </p:tgtEl>
                                        <p:attrNameLst>
                                          <p:attrName>style.visibility</p:attrName>
                                        </p:attrNameLst>
                                      </p:cBhvr>
                                      <p:to>
                                        <p:strVal val="visible"/>
                                      </p:to>
                                    </p:set>
                                    <p:animEffect transition="in" filter="fade">
                                      <p:cBhvr>
                                        <p:cTn id="24" dur="1000"/>
                                        <p:tgtEl>
                                          <p:spTgt spid="18"/>
                                        </p:tgtEl>
                                      </p:cBhvr>
                                    </p:animEffect>
                                    <p:anim calcmode="lin" valueType="num">
                                      <p:cBhvr>
                                        <p:cTn id="25" dur="1000" fill="hold"/>
                                        <p:tgtEl>
                                          <p:spTgt spid="18"/>
                                        </p:tgtEl>
                                        <p:attrNameLst>
                                          <p:attrName>ppt_x</p:attrName>
                                        </p:attrNameLst>
                                      </p:cBhvr>
                                      <p:tavLst>
                                        <p:tav tm="0">
                                          <p:val>
                                            <p:strVal val="#ppt_x"/>
                                          </p:val>
                                        </p:tav>
                                        <p:tav tm="100000">
                                          <p:val>
                                            <p:strVal val="#ppt_x"/>
                                          </p:val>
                                        </p:tav>
                                      </p:tavLst>
                                    </p:anim>
                                    <p:anim calcmode="lin" valueType="num">
                                      <p:cBhvr>
                                        <p:cTn id="26" dur="1000" fill="hold"/>
                                        <p:tgtEl>
                                          <p:spTgt spid="18"/>
                                        </p:tgtEl>
                                        <p:attrNameLst>
                                          <p:attrName>ppt_y</p:attrName>
                                        </p:attrNameLst>
                                      </p:cBhvr>
                                      <p:tavLst>
                                        <p:tav tm="0">
                                          <p:val>
                                            <p:strVal val="#ppt_y+.1"/>
                                          </p:val>
                                        </p:tav>
                                        <p:tav tm="100000">
                                          <p:val>
                                            <p:strVal val="#ppt_y"/>
                                          </p:val>
                                        </p:tav>
                                      </p:tavLst>
                                    </p:anim>
                                  </p:childTnLst>
                                </p:cTn>
                              </p:par>
                            </p:childTnLst>
                          </p:cTn>
                        </p:par>
                        <p:par>
                          <p:cTn id="27" fill="hold">
                            <p:stCondLst>
                              <p:cond delay="4500"/>
                            </p:stCondLst>
                            <p:childTnLst>
                              <p:par>
                                <p:cTn id="28" presetID="53" presetClass="entr" presetSubtype="16" fill="hold" grpId="0" nodeType="afterEffect">
                                  <p:stCondLst>
                                    <p:cond delay="0"/>
                                  </p:stCondLst>
                                  <p:childTnLst>
                                    <p:set>
                                      <p:cBhvr>
                                        <p:cTn id="29" dur="1" fill="hold">
                                          <p:stCondLst>
                                            <p:cond delay="0"/>
                                          </p:stCondLst>
                                        </p:cTn>
                                        <p:tgtEl>
                                          <p:spTgt spid="3"/>
                                        </p:tgtEl>
                                        <p:attrNameLst>
                                          <p:attrName>style.visibility</p:attrName>
                                        </p:attrNameLst>
                                      </p:cBhvr>
                                      <p:to>
                                        <p:strVal val="visible"/>
                                      </p:to>
                                    </p:set>
                                    <p:anim calcmode="lin" valueType="num">
                                      <p:cBhvr>
                                        <p:cTn id="30" dur="500" fill="hold"/>
                                        <p:tgtEl>
                                          <p:spTgt spid="3"/>
                                        </p:tgtEl>
                                        <p:attrNameLst>
                                          <p:attrName>ppt_w</p:attrName>
                                        </p:attrNameLst>
                                      </p:cBhvr>
                                      <p:tavLst>
                                        <p:tav tm="0">
                                          <p:val>
                                            <p:fltVal val="0"/>
                                          </p:val>
                                        </p:tav>
                                        <p:tav tm="100000">
                                          <p:val>
                                            <p:strVal val="#ppt_w"/>
                                          </p:val>
                                        </p:tav>
                                      </p:tavLst>
                                    </p:anim>
                                    <p:anim calcmode="lin" valueType="num">
                                      <p:cBhvr>
                                        <p:cTn id="31" dur="500" fill="hold"/>
                                        <p:tgtEl>
                                          <p:spTgt spid="3"/>
                                        </p:tgtEl>
                                        <p:attrNameLst>
                                          <p:attrName>ppt_h</p:attrName>
                                        </p:attrNameLst>
                                      </p:cBhvr>
                                      <p:tavLst>
                                        <p:tav tm="0">
                                          <p:val>
                                            <p:fltVal val="0"/>
                                          </p:val>
                                        </p:tav>
                                        <p:tav tm="100000">
                                          <p:val>
                                            <p:strVal val="#ppt_h"/>
                                          </p:val>
                                        </p:tav>
                                      </p:tavLst>
                                    </p:anim>
                                    <p:animEffect transition="in" filter="fade">
                                      <p:cBhvr>
                                        <p:cTn id="32"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2" grpId="0"/>
      <p:bldP spid="12" grpId="0"/>
      <p:bldP spid="3" grpId="0"/>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图片 42">
            <a:extLst>
              <a:ext uri="{FF2B5EF4-FFF2-40B4-BE49-F238E27FC236}">
                <a16:creationId xmlns:a16="http://schemas.microsoft.com/office/drawing/2014/main" id="{C8D97DA4-6242-4E73-AEFC-457D04FDC65B}"/>
              </a:ext>
            </a:extLst>
          </p:cNvPr>
          <p:cNvPicPr>
            <a:picLocks noChangeAspect="1"/>
          </p:cNvPicPr>
          <p:nvPr/>
        </p:nvPicPr>
        <p:blipFill>
          <a:blip r:embed="rId2"/>
          <a:stretch>
            <a:fillRect/>
          </a:stretch>
        </p:blipFill>
        <p:spPr>
          <a:xfrm rot="16200000">
            <a:off x="145169" y="-145167"/>
            <a:ext cx="1268414" cy="1558750"/>
          </a:xfrm>
          <a:prstGeom prst="rect">
            <a:avLst/>
          </a:prstGeom>
        </p:spPr>
      </p:pic>
      <p:sp>
        <p:nvSpPr>
          <p:cNvPr id="6" name="文字方塊 5">
            <a:extLst>
              <a:ext uri="{FF2B5EF4-FFF2-40B4-BE49-F238E27FC236}">
                <a16:creationId xmlns:a16="http://schemas.microsoft.com/office/drawing/2014/main" id="{8A30B01A-3198-4955-A208-0E3D9EB60397}"/>
              </a:ext>
            </a:extLst>
          </p:cNvPr>
          <p:cNvSpPr txBox="1"/>
          <p:nvPr/>
        </p:nvSpPr>
        <p:spPr>
          <a:xfrm>
            <a:off x="1558751" y="6596390"/>
            <a:ext cx="4217821" cy="261610"/>
          </a:xfrm>
          <a:prstGeom prst="rect">
            <a:avLst/>
          </a:prstGeom>
          <a:noFill/>
        </p:spPr>
        <p:txBody>
          <a:bodyPr wrap="none" rtlCol="0">
            <a:spAutoFit/>
          </a:bodyPr>
          <a:lstStyle/>
          <a:p>
            <a:r>
              <a:rPr lang="zh-TW" altLang="en-US" sz="1100" dirty="0">
                <a:latin typeface="Microsoft JhengHei Light" panose="020B0304030504040204" pitchFamily="34" charset="-120"/>
                <a:ea typeface="Microsoft JhengHei Light" panose="020B0304030504040204" pitchFamily="34" charset="-120"/>
              </a:rPr>
              <a:t>區塊鏈商業應用概論 實例與分析／新陸書局股份有限公司 發行</a:t>
            </a:r>
          </a:p>
        </p:txBody>
      </p:sp>
      <p:sp>
        <p:nvSpPr>
          <p:cNvPr id="9" name="標題 1">
            <a:extLst>
              <a:ext uri="{FF2B5EF4-FFF2-40B4-BE49-F238E27FC236}">
                <a16:creationId xmlns:a16="http://schemas.microsoft.com/office/drawing/2014/main" id="{475DFFF1-7C37-4CBE-ACFC-3F348BCD20CC}"/>
              </a:ext>
            </a:extLst>
          </p:cNvPr>
          <p:cNvSpPr txBox="1">
            <a:spLocks/>
          </p:cNvSpPr>
          <p:nvPr/>
        </p:nvSpPr>
        <p:spPr>
          <a:xfrm>
            <a:off x="1231956" y="393820"/>
            <a:ext cx="3643527" cy="874595"/>
          </a:xfrm>
          <a:prstGeom prst="rect">
            <a:avLst/>
          </a:prstGeom>
        </p:spPr>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altLang="zh-TW" sz="2400" b="1" dirty="0">
                <a:solidFill>
                  <a:srgbClr val="E06741"/>
                </a:solidFill>
              </a:rPr>
              <a:t>2-2 </a:t>
            </a:r>
            <a:r>
              <a:rPr lang="zh-TW" altLang="en-US" sz="2400" b="1" dirty="0">
                <a:solidFill>
                  <a:srgbClr val="E06741"/>
                </a:solidFill>
              </a:rPr>
              <a:t>區塊鏈技術發展</a:t>
            </a:r>
          </a:p>
          <a:p>
            <a:endParaRPr lang="zh-TW" altLang="en-US" sz="2400" dirty="0">
              <a:solidFill>
                <a:srgbClr val="E06741"/>
              </a:solidFill>
              <a:latin typeface="標楷體" panose="03000509000000000000" pitchFamily="65" charset="-120"/>
              <a:ea typeface="標楷體" panose="03000509000000000000" pitchFamily="65" charset="-120"/>
              <a:cs typeface="Times New Roman" panose="02020603050405020304" pitchFamily="18" charset="0"/>
            </a:endParaRPr>
          </a:p>
        </p:txBody>
      </p:sp>
      <p:sp>
        <p:nvSpPr>
          <p:cNvPr id="2" name="文字方塊 1">
            <a:extLst>
              <a:ext uri="{FF2B5EF4-FFF2-40B4-BE49-F238E27FC236}">
                <a16:creationId xmlns:a16="http://schemas.microsoft.com/office/drawing/2014/main" id="{D6D66D7E-58A1-40BE-8070-FA1C3AF22B14}"/>
              </a:ext>
            </a:extLst>
          </p:cNvPr>
          <p:cNvSpPr txBox="1"/>
          <p:nvPr/>
        </p:nvSpPr>
        <p:spPr>
          <a:xfrm>
            <a:off x="1097364" y="1050532"/>
            <a:ext cx="10021150" cy="2061462"/>
          </a:xfrm>
          <a:prstGeom prst="rect">
            <a:avLst/>
          </a:prstGeom>
          <a:noFill/>
        </p:spPr>
        <p:txBody>
          <a:bodyPr wrap="square" rtlCol="0">
            <a:spAutoFit/>
          </a:bodyPr>
          <a:lstStyle/>
          <a:p>
            <a:pPr marL="800100" lvl="1" indent="-342900">
              <a:lnSpc>
                <a:spcPct val="150000"/>
              </a:lnSpc>
              <a:buSzPct val="100000"/>
              <a:buBlip>
                <a:blip r:embed="rId3"/>
              </a:buBlip>
            </a:pPr>
            <a:r>
              <a:rPr lang="zh-TW" altLang="en-US" sz="2200" b="1" dirty="0">
                <a:solidFill>
                  <a:schemeClr val="tx1">
                    <a:lumMod val="75000"/>
                    <a:lumOff val="25000"/>
                  </a:schemeClr>
                </a:solidFill>
                <a:latin typeface="微軟正黑體" panose="020B0604030504040204" pitchFamily="34" charset="-120"/>
                <a:ea typeface="微軟正黑體" panose="020B0604030504040204" pitchFamily="34" charset="-120"/>
              </a:rPr>
              <a:t>當</a:t>
            </a:r>
            <a:r>
              <a:rPr lang="en-US" altLang="zh-TW" sz="2200" b="1" dirty="0">
                <a:solidFill>
                  <a:schemeClr val="tx1">
                    <a:lumMod val="75000"/>
                    <a:lumOff val="25000"/>
                  </a:schemeClr>
                </a:solidFill>
                <a:latin typeface="微軟正黑體" panose="020B0604030504040204" pitchFamily="34" charset="-120"/>
                <a:ea typeface="微軟正黑體" panose="020B0604030504040204" pitchFamily="34" charset="-120"/>
              </a:rPr>
              <a:t>Data </a:t>
            </a:r>
            <a:r>
              <a:rPr lang="zh-TW" altLang="en-US" sz="2200" b="1" dirty="0">
                <a:solidFill>
                  <a:schemeClr val="tx1">
                    <a:lumMod val="75000"/>
                    <a:lumOff val="25000"/>
                  </a:schemeClr>
                </a:solidFill>
                <a:latin typeface="微軟正黑體" panose="020B0604030504040204" pitchFamily="34" charset="-120"/>
                <a:ea typeface="微軟正黑體" panose="020B0604030504040204" pitchFamily="34" charset="-120"/>
              </a:rPr>
              <a:t>的欄位中填入「</a:t>
            </a:r>
            <a:r>
              <a:rPr lang="en-US" altLang="zh-TW" sz="2200" b="1" dirty="0" err="1">
                <a:solidFill>
                  <a:schemeClr val="tx1">
                    <a:lumMod val="75000"/>
                    <a:lumOff val="25000"/>
                  </a:schemeClr>
                </a:solidFill>
                <a:latin typeface="微軟正黑體" panose="020B0604030504040204" pitchFamily="34" charset="-120"/>
                <a:ea typeface="微軟正黑體" panose="020B0604030504040204" pitchFamily="34" charset="-120"/>
              </a:rPr>
              <a:t>anders</a:t>
            </a:r>
            <a:r>
              <a:rPr lang="zh-TW" altLang="en-US" sz="2200" b="1" dirty="0">
                <a:solidFill>
                  <a:schemeClr val="tx1">
                    <a:lumMod val="75000"/>
                    <a:lumOff val="25000"/>
                  </a:schemeClr>
                </a:solidFill>
                <a:latin typeface="微軟正黑體" panose="020B0604030504040204" pitchFamily="34" charset="-120"/>
                <a:ea typeface="微軟正黑體" panose="020B0604030504040204" pitchFamily="34" charset="-120"/>
              </a:rPr>
              <a:t>」的字詞時，</a:t>
            </a:r>
            <a:r>
              <a:rPr lang="en-US" altLang="zh-TW" sz="2200" b="1" dirty="0">
                <a:solidFill>
                  <a:schemeClr val="tx1">
                    <a:lumMod val="75000"/>
                    <a:lumOff val="25000"/>
                  </a:schemeClr>
                </a:solidFill>
                <a:latin typeface="微軟正黑體" panose="020B0604030504040204" pitchFamily="34" charset="-120"/>
                <a:ea typeface="微軟正黑體" panose="020B0604030504040204" pitchFamily="34" charset="-120"/>
              </a:rPr>
              <a:t>SHA256</a:t>
            </a:r>
            <a:r>
              <a:rPr lang="zh-TW" altLang="en-US" sz="2200" b="1" dirty="0">
                <a:solidFill>
                  <a:schemeClr val="tx1">
                    <a:lumMod val="75000"/>
                    <a:lumOff val="25000"/>
                  </a:schemeClr>
                </a:solidFill>
                <a:latin typeface="微軟正黑體" panose="020B0604030504040204" pitchFamily="34" charset="-120"/>
                <a:ea typeface="微軟正黑體" panose="020B0604030504040204" pitchFamily="34" charset="-120"/>
              </a:rPr>
              <a:t> </a:t>
            </a:r>
            <a:r>
              <a:rPr lang="en-US" altLang="zh-TW" sz="2200" b="1" dirty="0">
                <a:solidFill>
                  <a:schemeClr val="tx1">
                    <a:lumMod val="75000"/>
                    <a:lumOff val="25000"/>
                  </a:schemeClr>
                </a:solidFill>
                <a:latin typeface="微軟正黑體" panose="020B0604030504040204" pitchFamily="34" charset="-120"/>
                <a:ea typeface="微軟正黑體" panose="020B0604030504040204" pitchFamily="34" charset="-120"/>
              </a:rPr>
              <a:t>Hash </a:t>
            </a:r>
            <a:r>
              <a:rPr lang="zh-TW" altLang="en-US" sz="2200" b="1" dirty="0">
                <a:solidFill>
                  <a:schemeClr val="tx1">
                    <a:lumMod val="75000"/>
                    <a:lumOff val="25000"/>
                  </a:schemeClr>
                </a:solidFill>
                <a:latin typeface="微軟正黑體" panose="020B0604030504040204" pitchFamily="34" charset="-120"/>
                <a:ea typeface="微軟正黑體" panose="020B0604030504040204" pitchFamily="34" charset="-120"/>
              </a:rPr>
              <a:t>的代號碼的散列數值隨之進行變更， 主要是保障不同身分即會賦予不同的代碼</a:t>
            </a:r>
            <a:endParaRPr lang="en-US" altLang="zh-TW" sz="2200" b="1" dirty="0">
              <a:solidFill>
                <a:schemeClr val="tx1">
                  <a:lumMod val="75000"/>
                  <a:lumOff val="25000"/>
                </a:schemeClr>
              </a:solidFill>
              <a:latin typeface="微軟正黑體" panose="020B0604030504040204" pitchFamily="34" charset="-120"/>
              <a:ea typeface="微軟正黑體" panose="020B0604030504040204" pitchFamily="34" charset="-120"/>
            </a:endParaRPr>
          </a:p>
          <a:p>
            <a:pPr marL="800100" lvl="1" indent="-342900">
              <a:lnSpc>
                <a:spcPct val="150000"/>
              </a:lnSpc>
              <a:buSzPct val="100000"/>
              <a:buBlip>
                <a:blip r:embed="rId3"/>
              </a:buBlip>
            </a:pPr>
            <a:r>
              <a:rPr lang="zh-TW" altLang="en-US" sz="2200" b="1" dirty="0">
                <a:solidFill>
                  <a:schemeClr val="tx1">
                    <a:lumMod val="75000"/>
                    <a:lumOff val="25000"/>
                  </a:schemeClr>
                </a:solidFill>
                <a:latin typeface="微軟正黑體" panose="020B0604030504040204" pitchFamily="34" charset="-120"/>
                <a:ea typeface="微軟正黑體" panose="020B0604030504040204" pitchFamily="34" charset="-120"/>
              </a:rPr>
              <a:t>以代碼數字來分辨不同節點的身分，也就是區塊鏈系統交易平台是以雜湊數字為認證號碼，用</a:t>
            </a:r>
            <a:r>
              <a:rPr lang="en-US" altLang="zh-TW" sz="2200" b="1" dirty="0">
                <a:solidFill>
                  <a:schemeClr val="tx1">
                    <a:lumMod val="75000"/>
                    <a:lumOff val="25000"/>
                  </a:schemeClr>
                </a:solidFill>
                <a:latin typeface="微軟正黑體" panose="020B0604030504040204" pitchFamily="34" charset="-120"/>
                <a:ea typeface="微軟正黑體" panose="020B0604030504040204" pitchFamily="34" charset="-120"/>
              </a:rPr>
              <a:t>Hash </a:t>
            </a:r>
            <a:r>
              <a:rPr lang="zh-TW" altLang="en-US" sz="2200" b="1" dirty="0">
                <a:solidFill>
                  <a:schemeClr val="tx1">
                    <a:lumMod val="75000"/>
                    <a:lumOff val="25000"/>
                  </a:schemeClr>
                </a:solidFill>
                <a:latin typeface="微軟正黑體" panose="020B0604030504040204" pitchFamily="34" charset="-120"/>
                <a:ea typeface="微軟正黑體" panose="020B0604030504040204" pitchFamily="34" charset="-120"/>
              </a:rPr>
              <a:t>來認定身分，作為區塊鏈系統的交易認證</a:t>
            </a:r>
          </a:p>
        </p:txBody>
      </p:sp>
      <p:cxnSp>
        <p:nvCxnSpPr>
          <p:cNvPr id="26" name="直接连接符 33">
            <a:extLst>
              <a:ext uri="{FF2B5EF4-FFF2-40B4-BE49-F238E27FC236}">
                <a16:creationId xmlns:a16="http://schemas.microsoft.com/office/drawing/2014/main" id="{C3725E45-5458-4931-9D9A-B8C15AE6AC41}"/>
              </a:ext>
            </a:extLst>
          </p:cNvPr>
          <p:cNvCxnSpPr>
            <a:cxnSpLocks/>
          </p:cNvCxnSpPr>
          <p:nvPr/>
        </p:nvCxnSpPr>
        <p:spPr>
          <a:xfrm>
            <a:off x="1334185" y="1102164"/>
            <a:ext cx="10081960" cy="0"/>
          </a:xfrm>
          <a:prstGeom prst="line">
            <a:avLst/>
          </a:prstGeom>
          <a:ln w="190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12" name="文字方塊 11">
            <a:extLst>
              <a:ext uri="{FF2B5EF4-FFF2-40B4-BE49-F238E27FC236}">
                <a16:creationId xmlns:a16="http://schemas.microsoft.com/office/drawing/2014/main" id="{9FE02F65-A32E-4124-B1E6-8E45750976E4}"/>
              </a:ext>
            </a:extLst>
          </p:cNvPr>
          <p:cNvSpPr txBox="1"/>
          <p:nvPr/>
        </p:nvSpPr>
        <p:spPr>
          <a:xfrm>
            <a:off x="4487241" y="449166"/>
            <a:ext cx="3076483" cy="400110"/>
          </a:xfrm>
          <a:prstGeom prst="rect">
            <a:avLst/>
          </a:prstGeom>
          <a:noFill/>
        </p:spPr>
        <p:txBody>
          <a:bodyPr wrap="none" rtlCol="0">
            <a:spAutoFit/>
          </a:bodyPr>
          <a:lstStyle/>
          <a:p>
            <a:r>
              <a:rPr lang="en-US" altLang="zh-TW" sz="2000" b="1" dirty="0">
                <a:solidFill>
                  <a:schemeClr val="tx1">
                    <a:lumMod val="65000"/>
                    <a:lumOff val="35000"/>
                  </a:schemeClr>
                </a:solidFill>
                <a:latin typeface="微軟正黑體" panose="020B0604030504040204" pitchFamily="34" charset="-120"/>
                <a:ea typeface="微軟正黑體" panose="020B0604030504040204" pitchFamily="34" charset="-120"/>
                <a:cs typeface="Times New Roman" panose="02020603050405020304" pitchFamily="18" charset="0"/>
              </a:rPr>
              <a:t>-2</a:t>
            </a:r>
            <a:r>
              <a:rPr lang="zh-TW" altLang="en-US" sz="2000" b="1" dirty="0">
                <a:solidFill>
                  <a:schemeClr val="tx1">
                    <a:lumMod val="65000"/>
                    <a:lumOff val="35000"/>
                  </a:schemeClr>
                </a:solidFill>
                <a:latin typeface="微軟正黑體" panose="020B0604030504040204" pitchFamily="34" charset="-120"/>
                <a:ea typeface="微軟正黑體" panose="020B0604030504040204" pitchFamily="34" charset="-120"/>
                <a:cs typeface="Times New Roman" panose="02020603050405020304" pitchFamily="18" charset="0"/>
              </a:rPr>
              <a:t> 區塊鏈技術之基本要素</a:t>
            </a:r>
          </a:p>
        </p:txBody>
      </p:sp>
      <p:grpSp>
        <p:nvGrpSpPr>
          <p:cNvPr id="13" name="群組 12">
            <a:extLst>
              <a:ext uri="{FF2B5EF4-FFF2-40B4-BE49-F238E27FC236}">
                <a16:creationId xmlns:a16="http://schemas.microsoft.com/office/drawing/2014/main" id="{B1C04F5D-57B0-4135-A920-5081B7CFB20A}"/>
              </a:ext>
            </a:extLst>
          </p:cNvPr>
          <p:cNvGrpSpPr/>
          <p:nvPr/>
        </p:nvGrpSpPr>
        <p:grpSpPr>
          <a:xfrm>
            <a:off x="1967817" y="3119391"/>
            <a:ext cx="7617510" cy="3449242"/>
            <a:chOff x="119336" y="597658"/>
            <a:chExt cx="12192000" cy="5642227"/>
          </a:xfrm>
        </p:grpSpPr>
        <p:grpSp>
          <p:nvGrpSpPr>
            <p:cNvPr id="14" name="群組 13">
              <a:extLst>
                <a:ext uri="{FF2B5EF4-FFF2-40B4-BE49-F238E27FC236}">
                  <a16:creationId xmlns:a16="http://schemas.microsoft.com/office/drawing/2014/main" id="{5A1CBCC6-5EF9-4DB0-A316-3F939CFBCE90}"/>
                </a:ext>
              </a:extLst>
            </p:cNvPr>
            <p:cNvGrpSpPr/>
            <p:nvPr/>
          </p:nvGrpSpPr>
          <p:grpSpPr>
            <a:xfrm>
              <a:off x="1199456" y="836713"/>
              <a:ext cx="10081120" cy="4536504"/>
              <a:chOff x="1199456" y="836713"/>
              <a:chExt cx="10081120" cy="4536504"/>
            </a:xfrm>
          </p:grpSpPr>
          <p:pic>
            <p:nvPicPr>
              <p:cNvPr id="22" name="圖片 21">
                <a:extLst>
                  <a:ext uri="{FF2B5EF4-FFF2-40B4-BE49-F238E27FC236}">
                    <a16:creationId xmlns:a16="http://schemas.microsoft.com/office/drawing/2014/main" id="{F997C72C-1F50-49E4-AEB0-F6856D19EFC1}"/>
                  </a:ext>
                </a:extLst>
              </p:cNvPr>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199456" y="836713"/>
                <a:ext cx="10081120" cy="4536504"/>
              </a:xfrm>
              <a:prstGeom prst="rect">
                <a:avLst/>
              </a:prstGeom>
              <a:noFill/>
              <a:ln>
                <a:noFill/>
              </a:ln>
            </p:spPr>
          </p:pic>
          <p:sp>
            <p:nvSpPr>
              <p:cNvPr id="23" name="矩形 22">
                <a:extLst>
                  <a:ext uri="{FF2B5EF4-FFF2-40B4-BE49-F238E27FC236}">
                    <a16:creationId xmlns:a16="http://schemas.microsoft.com/office/drawing/2014/main" id="{08F9C50C-BF08-4A51-9B4D-DC55E9ADD151}"/>
                  </a:ext>
                </a:extLst>
              </p:cNvPr>
              <p:cNvSpPr/>
              <p:nvPr/>
            </p:nvSpPr>
            <p:spPr>
              <a:xfrm>
                <a:off x="2351584" y="4797152"/>
                <a:ext cx="7992888" cy="36004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1200" dirty="0"/>
                  <a:t>e3b0c44298fc1c149afbf4c8996fb92427ae41e4649b934ca495991b7852b855</a:t>
                </a:r>
                <a:endParaRPr lang="zh-TW" altLang="en-US" sz="1200" dirty="0"/>
              </a:p>
            </p:txBody>
          </p:sp>
          <p:cxnSp>
            <p:nvCxnSpPr>
              <p:cNvPr id="24" name="直線接點 23">
                <a:extLst>
                  <a:ext uri="{FF2B5EF4-FFF2-40B4-BE49-F238E27FC236}">
                    <a16:creationId xmlns:a16="http://schemas.microsoft.com/office/drawing/2014/main" id="{45AE6C53-C5DA-487A-809B-F72EFD5B6DF7}"/>
                  </a:ext>
                </a:extLst>
              </p:cNvPr>
              <p:cNvCxnSpPr>
                <a:stCxn id="23" idx="0"/>
              </p:cNvCxnSpPr>
              <p:nvPr/>
            </p:nvCxnSpPr>
            <p:spPr>
              <a:xfrm flipH="1" flipV="1">
                <a:off x="6096000" y="4581128"/>
                <a:ext cx="252028" cy="216024"/>
              </a:xfrm>
              <a:prstGeom prst="line">
                <a:avLst/>
              </a:prstGeom>
            </p:spPr>
            <p:style>
              <a:lnRef idx="1">
                <a:schemeClr val="accent1"/>
              </a:lnRef>
              <a:fillRef idx="0">
                <a:schemeClr val="accent1"/>
              </a:fillRef>
              <a:effectRef idx="0">
                <a:schemeClr val="accent1"/>
              </a:effectRef>
              <a:fontRef idx="minor">
                <a:schemeClr val="tx1"/>
              </a:fontRef>
            </p:style>
          </p:cxnSp>
        </p:grpSp>
        <p:pic>
          <p:nvPicPr>
            <p:cNvPr id="15" name="圖片 14">
              <a:extLst>
                <a:ext uri="{FF2B5EF4-FFF2-40B4-BE49-F238E27FC236}">
                  <a16:creationId xmlns:a16="http://schemas.microsoft.com/office/drawing/2014/main" id="{EABE6EC9-A441-4CD4-B1AF-7896987EAB97}"/>
                </a:ext>
              </a:extLst>
            </p:cNvPr>
            <p:cNvPicPr>
              <a:picLocks noChangeAspect="1"/>
            </p:cNvPicPr>
            <p:nvPr/>
          </p:nvPicPr>
          <p:blipFill>
            <a:blip r:embed="rId5"/>
            <a:stretch>
              <a:fillRect/>
            </a:stretch>
          </p:blipFill>
          <p:spPr>
            <a:xfrm>
              <a:off x="119336" y="597658"/>
              <a:ext cx="12192000" cy="5503391"/>
            </a:xfrm>
            <a:prstGeom prst="rect">
              <a:avLst/>
            </a:prstGeom>
          </p:spPr>
        </p:pic>
        <p:sp>
          <p:nvSpPr>
            <p:cNvPr id="16" name="矩形 15">
              <a:extLst>
                <a:ext uri="{FF2B5EF4-FFF2-40B4-BE49-F238E27FC236}">
                  <a16:creationId xmlns:a16="http://schemas.microsoft.com/office/drawing/2014/main" id="{1ECBF06C-1D31-4BE0-BAD1-E511938D57DE}"/>
                </a:ext>
              </a:extLst>
            </p:cNvPr>
            <p:cNvSpPr/>
            <p:nvPr/>
          </p:nvSpPr>
          <p:spPr>
            <a:xfrm>
              <a:off x="2163957" y="5797474"/>
              <a:ext cx="8770437" cy="44241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1200" dirty="0"/>
                <a:t>19ea4ac2ela53b1267fe5a61a3b6b81f760ce4223a25b495a5e2b6183da68717</a:t>
              </a:r>
              <a:endParaRPr lang="zh-TW" altLang="en-US" sz="1200" dirty="0"/>
            </a:p>
          </p:txBody>
        </p:sp>
        <p:cxnSp>
          <p:nvCxnSpPr>
            <p:cNvPr id="17" name="直線接點 16">
              <a:extLst>
                <a:ext uri="{FF2B5EF4-FFF2-40B4-BE49-F238E27FC236}">
                  <a16:creationId xmlns:a16="http://schemas.microsoft.com/office/drawing/2014/main" id="{5BF087C2-57D1-4398-9630-BDE983502703}"/>
                </a:ext>
              </a:extLst>
            </p:cNvPr>
            <p:cNvCxnSpPr>
              <a:stCxn id="16" idx="0"/>
            </p:cNvCxnSpPr>
            <p:nvPr/>
          </p:nvCxnSpPr>
          <p:spPr>
            <a:xfrm flipH="1" flipV="1">
              <a:off x="5950293" y="5502974"/>
              <a:ext cx="598883" cy="294500"/>
            </a:xfrm>
            <a:prstGeom prst="line">
              <a:avLst/>
            </a:prstGeom>
          </p:spPr>
          <p:style>
            <a:lnRef idx="3">
              <a:schemeClr val="accent5"/>
            </a:lnRef>
            <a:fillRef idx="0">
              <a:schemeClr val="accent5"/>
            </a:fillRef>
            <a:effectRef idx="2">
              <a:schemeClr val="accent5"/>
            </a:effectRef>
            <a:fontRef idx="minor">
              <a:schemeClr val="tx1"/>
            </a:fontRef>
          </p:style>
        </p:cxnSp>
      </p:grpSp>
      <p:sp>
        <p:nvSpPr>
          <p:cNvPr id="25" name="文字方塊 24">
            <a:extLst>
              <a:ext uri="{FF2B5EF4-FFF2-40B4-BE49-F238E27FC236}">
                <a16:creationId xmlns:a16="http://schemas.microsoft.com/office/drawing/2014/main" id="{A156F1C4-B177-4377-A11C-1EA27CF3873D}"/>
              </a:ext>
            </a:extLst>
          </p:cNvPr>
          <p:cNvSpPr txBox="1"/>
          <p:nvPr/>
        </p:nvSpPr>
        <p:spPr>
          <a:xfrm>
            <a:off x="6906253" y="6558453"/>
            <a:ext cx="3637534" cy="369332"/>
          </a:xfrm>
          <a:prstGeom prst="rect">
            <a:avLst/>
          </a:prstGeom>
          <a:noFill/>
        </p:spPr>
        <p:txBody>
          <a:bodyPr wrap="none" rtlCol="0">
            <a:spAutoFit/>
          </a:bodyPr>
          <a:lstStyle/>
          <a:p>
            <a:pPr marL="285750" indent="-285750">
              <a:buFont typeface="Arial" panose="020B0604020202020204" pitchFamily="34" charset="0"/>
              <a:buChar char="▲"/>
            </a:pPr>
            <a:r>
              <a:rPr lang="zh-TW" altLang="en-US" b="1" dirty="0">
                <a:solidFill>
                  <a:schemeClr val="tx1">
                    <a:lumMod val="75000"/>
                    <a:lumOff val="25000"/>
                  </a:schemeClr>
                </a:solidFill>
                <a:latin typeface="微軟正黑體" panose="020B0604030504040204" pitchFamily="34" charset="-120"/>
                <a:ea typeface="微軟正黑體" panose="020B0604030504040204" pitchFamily="34" charset="-120"/>
              </a:rPr>
              <a:t>區塊鏈系統交易平台展示─登入</a:t>
            </a:r>
          </a:p>
        </p:txBody>
      </p:sp>
    </p:spTree>
    <p:extLst>
      <p:ext uri="{BB962C8B-B14F-4D97-AF65-F5344CB8AC3E}">
        <p14:creationId xmlns:p14="http://schemas.microsoft.com/office/powerpoint/2010/main" val="2361000854"/>
      </p:ext>
    </p:extLst>
  </p:cSld>
  <p:clrMapOvr>
    <a:masterClrMapping/>
  </p:clrMapOvr>
  <mc:AlternateContent xmlns:mc="http://schemas.openxmlformats.org/markup-compatibility/2006">
    <mc:Choice xmlns:p14="http://schemas.microsoft.com/office/powerpoint/2010/main" Requires="p14">
      <p:transition spd="slow" p14:dur="1600">
        <p14:prism isContent="1" isInverted="1"/>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6" presetClass="entr" presetSubtype="16" fill="hold" grpId="0" nodeType="after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circle(in)">
                                      <p:cBhvr>
                                        <p:cTn id="7" dur="2000"/>
                                        <p:tgtEl>
                                          <p:spTgt spid="9"/>
                                        </p:tgtEl>
                                      </p:cBhvr>
                                    </p:animEffect>
                                  </p:childTnLst>
                                </p:cTn>
                              </p:par>
                            </p:childTnLst>
                          </p:cTn>
                        </p:par>
                        <p:par>
                          <p:cTn id="8" fill="hold">
                            <p:stCondLst>
                              <p:cond delay="2000"/>
                            </p:stCondLst>
                            <p:childTnLst>
                              <p:par>
                                <p:cTn id="9" presetID="14" presetClass="entr" presetSubtype="10" fill="hold" grpId="0" nodeType="afterEffect">
                                  <p:stCondLst>
                                    <p:cond delay="0"/>
                                  </p:stCondLst>
                                  <p:childTnLst>
                                    <p:set>
                                      <p:cBhvr>
                                        <p:cTn id="10" dur="1" fill="hold">
                                          <p:stCondLst>
                                            <p:cond delay="0"/>
                                          </p:stCondLst>
                                        </p:cTn>
                                        <p:tgtEl>
                                          <p:spTgt spid="12"/>
                                        </p:tgtEl>
                                        <p:attrNameLst>
                                          <p:attrName>style.visibility</p:attrName>
                                        </p:attrNameLst>
                                      </p:cBhvr>
                                      <p:to>
                                        <p:strVal val="visible"/>
                                      </p:to>
                                    </p:set>
                                    <p:animEffect transition="in" filter="randombar(horizontal)">
                                      <p:cBhvr>
                                        <p:cTn id="11" dur="500"/>
                                        <p:tgtEl>
                                          <p:spTgt spid="12"/>
                                        </p:tgtEl>
                                      </p:cBhvr>
                                    </p:animEffect>
                                  </p:childTnLst>
                                </p:cTn>
                              </p:par>
                            </p:childTnLst>
                          </p:cTn>
                        </p:par>
                        <p:par>
                          <p:cTn id="12" fill="hold">
                            <p:stCondLst>
                              <p:cond delay="2500"/>
                            </p:stCondLst>
                            <p:childTnLst>
                              <p:par>
                                <p:cTn id="13" presetID="2" presetClass="entr" presetSubtype="8" fill="hold" nodeType="afterEffect">
                                  <p:stCondLst>
                                    <p:cond delay="0"/>
                                  </p:stCondLst>
                                  <p:childTnLst>
                                    <p:set>
                                      <p:cBhvr>
                                        <p:cTn id="14" dur="1" fill="hold">
                                          <p:stCondLst>
                                            <p:cond delay="0"/>
                                          </p:stCondLst>
                                        </p:cTn>
                                        <p:tgtEl>
                                          <p:spTgt spid="26"/>
                                        </p:tgtEl>
                                        <p:attrNameLst>
                                          <p:attrName>style.visibility</p:attrName>
                                        </p:attrNameLst>
                                      </p:cBhvr>
                                      <p:to>
                                        <p:strVal val="visible"/>
                                      </p:to>
                                    </p:set>
                                    <p:anim calcmode="lin" valueType="num">
                                      <p:cBhvr additive="base">
                                        <p:cTn id="15" dur="500" fill="hold"/>
                                        <p:tgtEl>
                                          <p:spTgt spid="26"/>
                                        </p:tgtEl>
                                        <p:attrNameLst>
                                          <p:attrName>ppt_x</p:attrName>
                                        </p:attrNameLst>
                                      </p:cBhvr>
                                      <p:tavLst>
                                        <p:tav tm="0">
                                          <p:val>
                                            <p:strVal val="0-#ppt_w/2"/>
                                          </p:val>
                                        </p:tav>
                                        <p:tav tm="100000">
                                          <p:val>
                                            <p:strVal val="#ppt_x"/>
                                          </p:val>
                                        </p:tav>
                                      </p:tavLst>
                                    </p:anim>
                                    <p:anim calcmode="lin" valueType="num">
                                      <p:cBhvr additive="base">
                                        <p:cTn id="16" dur="500" fill="hold"/>
                                        <p:tgtEl>
                                          <p:spTgt spid="26"/>
                                        </p:tgtEl>
                                        <p:attrNameLst>
                                          <p:attrName>ppt_y</p:attrName>
                                        </p:attrNameLst>
                                      </p:cBhvr>
                                      <p:tavLst>
                                        <p:tav tm="0">
                                          <p:val>
                                            <p:strVal val="#ppt_y"/>
                                          </p:val>
                                        </p:tav>
                                        <p:tav tm="100000">
                                          <p:val>
                                            <p:strVal val="#ppt_y"/>
                                          </p:val>
                                        </p:tav>
                                      </p:tavLst>
                                    </p:anim>
                                  </p:childTnLst>
                                </p:cTn>
                              </p:par>
                            </p:childTnLst>
                          </p:cTn>
                        </p:par>
                        <p:par>
                          <p:cTn id="17" fill="hold">
                            <p:stCondLst>
                              <p:cond delay="3000"/>
                            </p:stCondLst>
                            <p:childTnLst>
                              <p:par>
                                <p:cTn id="18" presetID="22" presetClass="entr" presetSubtype="4" fill="hold" grpId="0" nodeType="afterEffect">
                                  <p:stCondLst>
                                    <p:cond delay="0"/>
                                  </p:stCondLst>
                                  <p:childTnLst>
                                    <p:set>
                                      <p:cBhvr>
                                        <p:cTn id="19" dur="1" fill="hold">
                                          <p:stCondLst>
                                            <p:cond delay="0"/>
                                          </p:stCondLst>
                                        </p:cTn>
                                        <p:tgtEl>
                                          <p:spTgt spid="2"/>
                                        </p:tgtEl>
                                        <p:attrNameLst>
                                          <p:attrName>style.visibility</p:attrName>
                                        </p:attrNameLst>
                                      </p:cBhvr>
                                      <p:to>
                                        <p:strVal val="visible"/>
                                      </p:to>
                                    </p:set>
                                    <p:animEffect transition="in" filter="wipe(down)">
                                      <p:cBhvr>
                                        <p:cTn id="20" dur="500"/>
                                        <p:tgtEl>
                                          <p:spTgt spid="2"/>
                                        </p:tgtEl>
                                      </p:cBhvr>
                                    </p:animEffect>
                                  </p:childTnLst>
                                </p:cTn>
                              </p:par>
                            </p:childTnLst>
                          </p:cTn>
                        </p:par>
                        <p:par>
                          <p:cTn id="21" fill="hold">
                            <p:stCondLst>
                              <p:cond delay="3500"/>
                            </p:stCondLst>
                            <p:childTnLst>
                              <p:par>
                                <p:cTn id="22" presetID="42" presetClass="entr" presetSubtype="0" fill="hold" nodeType="afterEffect">
                                  <p:stCondLst>
                                    <p:cond delay="0"/>
                                  </p:stCondLst>
                                  <p:childTnLst>
                                    <p:set>
                                      <p:cBhvr>
                                        <p:cTn id="23" dur="1" fill="hold">
                                          <p:stCondLst>
                                            <p:cond delay="0"/>
                                          </p:stCondLst>
                                        </p:cTn>
                                        <p:tgtEl>
                                          <p:spTgt spid="13"/>
                                        </p:tgtEl>
                                        <p:attrNameLst>
                                          <p:attrName>style.visibility</p:attrName>
                                        </p:attrNameLst>
                                      </p:cBhvr>
                                      <p:to>
                                        <p:strVal val="visible"/>
                                      </p:to>
                                    </p:set>
                                    <p:animEffect transition="in" filter="fade">
                                      <p:cBhvr>
                                        <p:cTn id="24" dur="1000"/>
                                        <p:tgtEl>
                                          <p:spTgt spid="13"/>
                                        </p:tgtEl>
                                      </p:cBhvr>
                                    </p:animEffect>
                                    <p:anim calcmode="lin" valueType="num">
                                      <p:cBhvr>
                                        <p:cTn id="25" dur="1000" fill="hold"/>
                                        <p:tgtEl>
                                          <p:spTgt spid="13"/>
                                        </p:tgtEl>
                                        <p:attrNameLst>
                                          <p:attrName>ppt_x</p:attrName>
                                        </p:attrNameLst>
                                      </p:cBhvr>
                                      <p:tavLst>
                                        <p:tav tm="0">
                                          <p:val>
                                            <p:strVal val="#ppt_x"/>
                                          </p:val>
                                        </p:tav>
                                        <p:tav tm="100000">
                                          <p:val>
                                            <p:strVal val="#ppt_x"/>
                                          </p:val>
                                        </p:tav>
                                      </p:tavLst>
                                    </p:anim>
                                    <p:anim calcmode="lin" valueType="num">
                                      <p:cBhvr>
                                        <p:cTn id="26" dur="1000" fill="hold"/>
                                        <p:tgtEl>
                                          <p:spTgt spid="13"/>
                                        </p:tgtEl>
                                        <p:attrNameLst>
                                          <p:attrName>ppt_y</p:attrName>
                                        </p:attrNameLst>
                                      </p:cBhvr>
                                      <p:tavLst>
                                        <p:tav tm="0">
                                          <p:val>
                                            <p:strVal val="#ppt_y+.1"/>
                                          </p:val>
                                        </p:tav>
                                        <p:tav tm="100000">
                                          <p:val>
                                            <p:strVal val="#ppt_y"/>
                                          </p:val>
                                        </p:tav>
                                      </p:tavLst>
                                    </p:anim>
                                  </p:childTnLst>
                                </p:cTn>
                              </p:par>
                            </p:childTnLst>
                          </p:cTn>
                        </p:par>
                        <p:par>
                          <p:cTn id="27" fill="hold">
                            <p:stCondLst>
                              <p:cond delay="4500"/>
                            </p:stCondLst>
                            <p:childTnLst>
                              <p:par>
                                <p:cTn id="28" presetID="2" presetClass="entr" presetSubtype="4" fill="hold" grpId="0" nodeType="afterEffect">
                                  <p:stCondLst>
                                    <p:cond delay="0"/>
                                  </p:stCondLst>
                                  <p:childTnLst>
                                    <p:set>
                                      <p:cBhvr>
                                        <p:cTn id="29" dur="1" fill="hold">
                                          <p:stCondLst>
                                            <p:cond delay="0"/>
                                          </p:stCondLst>
                                        </p:cTn>
                                        <p:tgtEl>
                                          <p:spTgt spid="25"/>
                                        </p:tgtEl>
                                        <p:attrNameLst>
                                          <p:attrName>style.visibility</p:attrName>
                                        </p:attrNameLst>
                                      </p:cBhvr>
                                      <p:to>
                                        <p:strVal val="visible"/>
                                      </p:to>
                                    </p:set>
                                    <p:anim calcmode="lin" valueType="num">
                                      <p:cBhvr additive="base">
                                        <p:cTn id="30" dur="500" fill="hold"/>
                                        <p:tgtEl>
                                          <p:spTgt spid="25"/>
                                        </p:tgtEl>
                                        <p:attrNameLst>
                                          <p:attrName>ppt_x</p:attrName>
                                        </p:attrNameLst>
                                      </p:cBhvr>
                                      <p:tavLst>
                                        <p:tav tm="0">
                                          <p:val>
                                            <p:strVal val="#ppt_x"/>
                                          </p:val>
                                        </p:tav>
                                        <p:tav tm="100000">
                                          <p:val>
                                            <p:strVal val="#ppt_x"/>
                                          </p:val>
                                        </p:tav>
                                      </p:tavLst>
                                    </p:anim>
                                    <p:anim calcmode="lin" valueType="num">
                                      <p:cBhvr additive="base">
                                        <p:cTn id="31" dur="500" fill="hold"/>
                                        <p:tgtEl>
                                          <p:spTgt spid="2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2" grpId="0"/>
      <p:bldP spid="12" grpId="0"/>
      <p:bldP spid="25" grpId="0"/>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图片 42">
            <a:extLst>
              <a:ext uri="{FF2B5EF4-FFF2-40B4-BE49-F238E27FC236}">
                <a16:creationId xmlns:a16="http://schemas.microsoft.com/office/drawing/2014/main" id="{C8D97DA4-6242-4E73-AEFC-457D04FDC65B}"/>
              </a:ext>
            </a:extLst>
          </p:cNvPr>
          <p:cNvPicPr>
            <a:picLocks noChangeAspect="1"/>
          </p:cNvPicPr>
          <p:nvPr/>
        </p:nvPicPr>
        <p:blipFill>
          <a:blip r:embed="rId2"/>
          <a:stretch>
            <a:fillRect/>
          </a:stretch>
        </p:blipFill>
        <p:spPr>
          <a:xfrm rot="16200000">
            <a:off x="145169" y="-145167"/>
            <a:ext cx="1268414" cy="1558750"/>
          </a:xfrm>
          <a:prstGeom prst="rect">
            <a:avLst/>
          </a:prstGeom>
        </p:spPr>
      </p:pic>
      <p:sp>
        <p:nvSpPr>
          <p:cNvPr id="6" name="文字方塊 5">
            <a:extLst>
              <a:ext uri="{FF2B5EF4-FFF2-40B4-BE49-F238E27FC236}">
                <a16:creationId xmlns:a16="http://schemas.microsoft.com/office/drawing/2014/main" id="{8A30B01A-3198-4955-A208-0E3D9EB60397}"/>
              </a:ext>
            </a:extLst>
          </p:cNvPr>
          <p:cNvSpPr txBox="1"/>
          <p:nvPr/>
        </p:nvSpPr>
        <p:spPr>
          <a:xfrm>
            <a:off x="1558751" y="6596390"/>
            <a:ext cx="4217821" cy="261610"/>
          </a:xfrm>
          <a:prstGeom prst="rect">
            <a:avLst/>
          </a:prstGeom>
          <a:noFill/>
        </p:spPr>
        <p:txBody>
          <a:bodyPr wrap="none" rtlCol="0">
            <a:spAutoFit/>
          </a:bodyPr>
          <a:lstStyle/>
          <a:p>
            <a:r>
              <a:rPr lang="zh-TW" altLang="en-US" sz="1100" dirty="0">
                <a:latin typeface="Microsoft JhengHei Light" panose="020B0304030504040204" pitchFamily="34" charset="-120"/>
                <a:ea typeface="Microsoft JhengHei Light" panose="020B0304030504040204" pitchFamily="34" charset="-120"/>
              </a:rPr>
              <a:t>區塊鏈商業應用概論 實例與分析／新陸書局股份有限公司 發行</a:t>
            </a:r>
          </a:p>
        </p:txBody>
      </p:sp>
      <p:sp>
        <p:nvSpPr>
          <p:cNvPr id="9" name="標題 1">
            <a:extLst>
              <a:ext uri="{FF2B5EF4-FFF2-40B4-BE49-F238E27FC236}">
                <a16:creationId xmlns:a16="http://schemas.microsoft.com/office/drawing/2014/main" id="{475DFFF1-7C37-4CBE-ACFC-3F348BCD20CC}"/>
              </a:ext>
            </a:extLst>
          </p:cNvPr>
          <p:cNvSpPr txBox="1">
            <a:spLocks/>
          </p:cNvSpPr>
          <p:nvPr/>
        </p:nvSpPr>
        <p:spPr>
          <a:xfrm>
            <a:off x="1231956" y="393820"/>
            <a:ext cx="3643527" cy="874595"/>
          </a:xfrm>
          <a:prstGeom prst="rect">
            <a:avLst/>
          </a:prstGeom>
        </p:spPr>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altLang="zh-TW" sz="2400" b="1" dirty="0">
                <a:solidFill>
                  <a:srgbClr val="E06741"/>
                </a:solidFill>
              </a:rPr>
              <a:t>2-2 </a:t>
            </a:r>
            <a:r>
              <a:rPr lang="zh-TW" altLang="en-US" sz="2400" b="1" dirty="0">
                <a:solidFill>
                  <a:srgbClr val="E06741"/>
                </a:solidFill>
              </a:rPr>
              <a:t>區塊鏈技術發展</a:t>
            </a:r>
          </a:p>
          <a:p>
            <a:endParaRPr lang="zh-TW" altLang="en-US" sz="2400" dirty="0">
              <a:solidFill>
                <a:srgbClr val="E06741"/>
              </a:solidFill>
              <a:latin typeface="標楷體" panose="03000509000000000000" pitchFamily="65" charset="-120"/>
              <a:ea typeface="標楷體" panose="03000509000000000000" pitchFamily="65" charset="-120"/>
              <a:cs typeface="Times New Roman" panose="02020603050405020304" pitchFamily="18" charset="0"/>
            </a:endParaRPr>
          </a:p>
        </p:txBody>
      </p:sp>
      <p:sp>
        <p:nvSpPr>
          <p:cNvPr id="2" name="文字方塊 1">
            <a:extLst>
              <a:ext uri="{FF2B5EF4-FFF2-40B4-BE49-F238E27FC236}">
                <a16:creationId xmlns:a16="http://schemas.microsoft.com/office/drawing/2014/main" id="{D6D66D7E-58A1-40BE-8070-FA1C3AF22B14}"/>
              </a:ext>
            </a:extLst>
          </p:cNvPr>
          <p:cNvSpPr txBox="1"/>
          <p:nvPr/>
        </p:nvSpPr>
        <p:spPr>
          <a:xfrm>
            <a:off x="1965782" y="1268415"/>
            <a:ext cx="9782873" cy="5010474"/>
          </a:xfrm>
          <a:prstGeom prst="rect">
            <a:avLst/>
          </a:prstGeom>
          <a:noFill/>
        </p:spPr>
        <p:txBody>
          <a:bodyPr wrap="square" rtlCol="0">
            <a:spAutoFit/>
          </a:bodyPr>
          <a:lstStyle/>
          <a:p>
            <a:pPr>
              <a:lnSpc>
                <a:spcPct val="150000"/>
              </a:lnSpc>
              <a:buSzPct val="100000"/>
            </a:pPr>
            <a:r>
              <a:rPr lang="zh-TW" altLang="en-US" sz="2400" b="1" dirty="0">
                <a:solidFill>
                  <a:schemeClr val="tx1">
                    <a:lumMod val="75000"/>
                    <a:lumOff val="25000"/>
                  </a:schemeClr>
                </a:solidFill>
                <a:latin typeface="微軟正黑體" panose="020B0604030504040204" pitchFamily="34" charset="-120"/>
                <a:ea typeface="微軟正黑體" panose="020B0604030504040204" pitchFamily="34" charset="-120"/>
              </a:rPr>
              <a:t>（二）驗證（</a:t>
            </a:r>
            <a:r>
              <a:rPr lang="en-US" altLang="zh-TW" sz="2400" b="1" dirty="0">
                <a:solidFill>
                  <a:schemeClr val="tx1">
                    <a:lumMod val="75000"/>
                    <a:lumOff val="25000"/>
                  </a:schemeClr>
                </a:solidFill>
                <a:latin typeface="微軟正黑體" panose="020B0604030504040204" pitchFamily="34" charset="-120"/>
                <a:ea typeface="微軟正黑體" panose="020B0604030504040204" pitchFamily="34" charset="-120"/>
              </a:rPr>
              <a:t>Verification</a:t>
            </a:r>
            <a:r>
              <a:rPr lang="zh-TW" altLang="en-US" sz="2400" b="1" dirty="0">
                <a:solidFill>
                  <a:schemeClr val="tx1">
                    <a:lumMod val="75000"/>
                    <a:lumOff val="25000"/>
                  </a:schemeClr>
                </a:solidFill>
                <a:latin typeface="微軟正黑體" panose="020B0604030504040204" pitchFamily="34" charset="-120"/>
                <a:ea typeface="微軟正黑體" panose="020B0604030504040204" pitchFamily="34" charset="-120"/>
              </a:rPr>
              <a:t>）</a:t>
            </a:r>
            <a:endParaRPr lang="en-US" altLang="zh-TW" sz="2400" b="1" dirty="0">
              <a:solidFill>
                <a:schemeClr val="tx1">
                  <a:lumMod val="75000"/>
                  <a:lumOff val="25000"/>
                </a:schemeClr>
              </a:solidFill>
              <a:latin typeface="微軟正黑體" panose="020B0604030504040204" pitchFamily="34" charset="-120"/>
              <a:ea typeface="微軟正黑體" panose="020B0604030504040204" pitchFamily="34" charset="-120"/>
            </a:endParaRPr>
          </a:p>
          <a:p>
            <a:pPr marL="800100" lvl="1" indent="-342900">
              <a:lnSpc>
                <a:spcPct val="150000"/>
              </a:lnSpc>
              <a:buSzPct val="100000"/>
              <a:buBlip>
                <a:blip r:embed="rId3"/>
              </a:buBlip>
            </a:pPr>
            <a:r>
              <a:rPr lang="zh-TW" altLang="en-US" sz="2400" b="1" dirty="0">
                <a:solidFill>
                  <a:schemeClr val="tx1">
                    <a:lumMod val="75000"/>
                    <a:lumOff val="25000"/>
                  </a:schemeClr>
                </a:solidFill>
                <a:latin typeface="微軟正黑體" panose="020B0604030504040204" pitchFamily="34" charset="-120"/>
                <a:ea typeface="微軟正黑體" panose="020B0604030504040204" pitchFamily="34" charset="-120"/>
              </a:rPr>
              <a:t>區塊鏈技術主要是設計一套能夠由多方共同維護且共享一份交易紀錄的單一系統，基於零信任基礎環境下，實現無中心式管理的</a:t>
            </a:r>
            <a:r>
              <a:rPr lang="en-US" altLang="zh-TW" sz="2400" b="1" dirty="0">
                <a:solidFill>
                  <a:schemeClr val="tx1">
                    <a:lumMod val="75000"/>
                    <a:lumOff val="25000"/>
                  </a:schemeClr>
                </a:solidFill>
                <a:latin typeface="微軟正黑體" panose="020B0604030504040204" pitchFamily="34" charset="-120"/>
                <a:ea typeface="微軟正黑體" panose="020B0604030504040204" pitchFamily="34" charset="-120"/>
              </a:rPr>
              <a:t>P2P </a:t>
            </a:r>
            <a:r>
              <a:rPr lang="zh-TW" altLang="en-US" sz="2400" b="1" dirty="0">
                <a:solidFill>
                  <a:schemeClr val="tx1">
                    <a:lumMod val="75000"/>
                    <a:lumOff val="25000"/>
                  </a:schemeClr>
                </a:solidFill>
                <a:latin typeface="微軟正黑體" panose="020B0604030504040204" pitchFamily="34" charset="-120"/>
                <a:ea typeface="微軟正黑體" panose="020B0604030504040204" pitchFamily="34" charset="-120"/>
              </a:rPr>
              <a:t>網路系統，讓每個使用者的節點可以共同參與交易驗證</a:t>
            </a:r>
            <a:endParaRPr lang="en-US" altLang="zh-TW" sz="2400" b="1" dirty="0">
              <a:solidFill>
                <a:schemeClr val="tx1">
                  <a:lumMod val="75000"/>
                  <a:lumOff val="25000"/>
                </a:schemeClr>
              </a:solidFill>
              <a:latin typeface="微軟正黑體" panose="020B0604030504040204" pitchFamily="34" charset="-120"/>
              <a:ea typeface="微軟正黑體" panose="020B0604030504040204" pitchFamily="34" charset="-120"/>
            </a:endParaRPr>
          </a:p>
          <a:p>
            <a:pPr marL="800100" lvl="1" indent="-342900">
              <a:lnSpc>
                <a:spcPct val="150000"/>
              </a:lnSpc>
              <a:buSzPct val="100000"/>
              <a:buBlip>
                <a:blip r:embed="rId3"/>
              </a:buBlip>
            </a:pPr>
            <a:r>
              <a:rPr lang="zh-TW" altLang="en-US" sz="2400" b="1" dirty="0">
                <a:solidFill>
                  <a:schemeClr val="tx1">
                    <a:lumMod val="75000"/>
                    <a:lumOff val="25000"/>
                  </a:schemeClr>
                </a:solidFill>
                <a:latin typeface="微軟正黑體" panose="020B0604030504040204" pitchFamily="34" charset="-120"/>
                <a:ea typeface="微軟正黑體" panose="020B0604030504040204" pitchFamily="34" charset="-120"/>
              </a:rPr>
              <a:t>雖然，區塊鏈的節點會利用工作量證明算出一組數學公式的結果值，其他參與的節點也可以用相關的數學公式，便能很容易去驗證這個值是否有效</a:t>
            </a:r>
            <a:endParaRPr lang="en-US" altLang="zh-TW" sz="2400" b="1" dirty="0">
              <a:solidFill>
                <a:schemeClr val="tx1">
                  <a:lumMod val="75000"/>
                  <a:lumOff val="25000"/>
                </a:schemeClr>
              </a:solidFill>
              <a:latin typeface="微軟正黑體" panose="020B0604030504040204" pitchFamily="34" charset="-120"/>
              <a:ea typeface="微軟正黑體" panose="020B0604030504040204" pitchFamily="34" charset="-120"/>
            </a:endParaRPr>
          </a:p>
          <a:p>
            <a:pPr marL="800100" lvl="1" indent="-342900">
              <a:lnSpc>
                <a:spcPct val="150000"/>
              </a:lnSpc>
              <a:buSzPct val="100000"/>
              <a:buBlip>
                <a:blip r:embed="rId3"/>
              </a:buBlip>
            </a:pPr>
            <a:r>
              <a:rPr lang="zh-TW" altLang="en-US" sz="2400" b="1" dirty="0">
                <a:solidFill>
                  <a:schemeClr val="tx1">
                    <a:lumMod val="75000"/>
                    <a:lumOff val="25000"/>
                  </a:schemeClr>
                </a:solidFill>
                <a:latin typeface="微軟正黑體" panose="020B0604030504040204" pitchFamily="34" charset="-120"/>
                <a:ea typeface="微軟正黑體" panose="020B0604030504040204" pitchFamily="34" charset="-120"/>
              </a:rPr>
              <a:t>區塊鏈技術採用</a:t>
            </a:r>
            <a:r>
              <a:rPr lang="en-US" altLang="zh-TW" sz="2400" b="1" dirty="0">
                <a:solidFill>
                  <a:schemeClr val="accent1"/>
                </a:solidFill>
                <a:latin typeface="微軟正黑體" panose="020B0604030504040204" pitchFamily="34" charset="-120"/>
                <a:ea typeface="微軟正黑體" panose="020B0604030504040204" pitchFamily="34" charset="-120"/>
              </a:rPr>
              <a:t>Hash cash </a:t>
            </a:r>
            <a:r>
              <a:rPr lang="zh-TW" altLang="en-US" sz="2400" b="1" dirty="0">
                <a:solidFill>
                  <a:schemeClr val="tx1">
                    <a:lumMod val="75000"/>
                    <a:lumOff val="25000"/>
                  </a:schemeClr>
                </a:solidFill>
                <a:latin typeface="微軟正黑體" panose="020B0604030504040204" pitchFamily="34" charset="-120"/>
                <a:ea typeface="微軟正黑體" panose="020B0604030504040204" pitchFamily="34" charset="-120"/>
              </a:rPr>
              <a:t>演算法，讓各節點經由工作量證明計算來產生每一個有效的新區塊，再經由其他節點驗證並接受</a:t>
            </a:r>
          </a:p>
        </p:txBody>
      </p:sp>
      <p:cxnSp>
        <p:nvCxnSpPr>
          <p:cNvPr id="26" name="直接连接符 33">
            <a:extLst>
              <a:ext uri="{FF2B5EF4-FFF2-40B4-BE49-F238E27FC236}">
                <a16:creationId xmlns:a16="http://schemas.microsoft.com/office/drawing/2014/main" id="{C3725E45-5458-4931-9D9A-B8C15AE6AC41}"/>
              </a:ext>
            </a:extLst>
          </p:cNvPr>
          <p:cNvCxnSpPr>
            <a:cxnSpLocks/>
          </p:cNvCxnSpPr>
          <p:nvPr/>
        </p:nvCxnSpPr>
        <p:spPr>
          <a:xfrm>
            <a:off x="1334185" y="1102164"/>
            <a:ext cx="10081960" cy="0"/>
          </a:xfrm>
          <a:prstGeom prst="line">
            <a:avLst/>
          </a:prstGeom>
          <a:ln w="190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12" name="文字方塊 11">
            <a:extLst>
              <a:ext uri="{FF2B5EF4-FFF2-40B4-BE49-F238E27FC236}">
                <a16:creationId xmlns:a16="http://schemas.microsoft.com/office/drawing/2014/main" id="{9FE02F65-A32E-4124-B1E6-8E45750976E4}"/>
              </a:ext>
            </a:extLst>
          </p:cNvPr>
          <p:cNvSpPr txBox="1"/>
          <p:nvPr/>
        </p:nvSpPr>
        <p:spPr>
          <a:xfrm>
            <a:off x="4487241" y="449166"/>
            <a:ext cx="3076483" cy="400110"/>
          </a:xfrm>
          <a:prstGeom prst="rect">
            <a:avLst/>
          </a:prstGeom>
          <a:noFill/>
        </p:spPr>
        <p:txBody>
          <a:bodyPr wrap="none" rtlCol="0">
            <a:spAutoFit/>
          </a:bodyPr>
          <a:lstStyle/>
          <a:p>
            <a:r>
              <a:rPr lang="en-US" altLang="zh-TW" sz="2000" b="1" dirty="0">
                <a:solidFill>
                  <a:schemeClr val="tx1">
                    <a:lumMod val="65000"/>
                    <a:lumOff val="35000"/>
                  </a:schemeClr>
                </a:solidFill>
                <a:latin typeface="微軟正黑體" panose="020B0604030504040204" pitchFamily="34" charset="-120"/>
                <a:ea typeface="微軟正黑體" panose="020B0604030504040204" pitchFamily="34" charset="-120"/>
                <a:cs typeface="Times New Roman" panose="02020603050405020304" pitchFamily="18" charset="0"/>
              </a:rPr>
              <a:t>-2</a:t>
            </a:r>
            <a:r>
              <a:rPr lang="zh-TW" altLang="en-US" sz="2000" b="1" dirty="0">
                <a:solidFill>
                  <a:schemeClr val="tx1">
                    <a:lumMod val="65000"/>
                    <a:lumOff val="35000"/>
                  </a:schemeClr>
                </a:solidFill>
                <a:latin typeface="微軟正黑體" panose="020B0604030504040204" pitchFamily="34" charset="-120"/>
                <a:ea typeface="微軟正黑體" panose="020B0604030504040204" pitchFamily="34" charset="-120"/>
                <a:cs typeface="Times New Roman" panose="02020603050405020304" pitchFamily="18" charset="0"/>
              </a:rPr>
              <a:t> 區塊鏈技術之基本要素</a:t>
            </a:r>
          </a:p>
        </p:txBody>
      </p:sp>
      <p:pic>
        <p:nvPicPr>
          <p:cNvPr id="4" name="圖片 3" descr="一張含有 向量圖形 的圖片&#10;&#10;描述是以高可信度產生">
            <a:extLst>
              <a:ext uri="{FF2B5EF4-FFF2-40B4-BE49-F238E27FC236}">
                <a16:creationId xmlns:a16="http://schemas.microsoft.com/office/drawing/2014/main" id="{5FCEC962-4FB0-4F29-9884-1E5300AC16CC}"/>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81241" y="3923619"/>
            <a:ext cx="2105888" cy="2105888"/>
          </a:xfrm>
          <a:prstGeom prst="rect">
            <a:avLst/>
          </a:prstGeom>
        </p:spPr>
      </p:pic>
    </p:spTree>
    <p:extLst>
      <p:ext uri="{BB962C8B-B14F-4D97-AF65-F5344CB8AC3E}">
        <p14:creationId xmlns:p14="http://schemas.microsoft.com/office/powerpoint/2010/main" val="1241976506"/>
      </p:ext>
    </p:extLst>
  </p:cSld>
  <p:clrMapOvr>
    <a:masterClrMapping/>
  </p:clrMapOvr>
  <mc:AlternateContent xmlns:mc="http://schemas.openxmlformats.org/markup-compatibility/2006">
    <mc:Choice xmlns:p14="http://schemas.microsoft.com/office/powerpoint/2010/main" Requires="p14">
      <p:transition spd="slow" p14:dur="1600">
        <p14:conveyor dir="l"/>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6" presetClass="entr" presetSubtype="16" fill="hold" grpId="0" nodeType="after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circle(in)">
                                      <p:cBhvr>
                                        <p:cTn id="7" dur="2000"/>
                                        <p:tgtEl>
                                          <p:spTgt spid="9"/>
                                        </p:tgtEl>
                                      </p:cBhvr>
                                    </p:animEffect>
                                  </p:childTnLst>
                                </p:cTn>
                              </p:par>
                            </p:childTnLst>
                          </p:cTn>
                        </p:par>
                        <p:par>
                          <p:cTn id="8" fill="hold">
                            <p:stCondLst>
                              <p:cond delay="2000"/>
                            </p:stCondLst>
                            <p:childTnLst>
                              <p:par>
                                <p:cTn id="9" presetID="14" presetClass="entr" presetSubtype="10" fill="hold" grpId="0" nodeType="afterEffect">
                                  <p:stCondLst>
                                    <p:cond delay="0"/>
                                  </p:stCondLst>
                                  <p:childTnLst>
                                    <p:set>
                                      <p:cBhvr>
                                        <p:cTn id="10" dur="1" fill="hold">
                                          <p:stCondLst>
                                            <p:cond delay="0"/>
                                          </p:stCondLst>
                                        </p:cTn>
                                        <p:tgtEl>
                                          <p:spTgt spid="12"/>
                                        </p:tgtEl>
                                        <p:attrNameLst>
                                          <p:attrName>style.visibility</p:attrName>
                                        </p:attrNameLst>
                                      </p:cBhvr>
                                      <p:to>
                                        <p:strVal val="visible"/>
                                      </p:to>
                                    </p:set>
                                    <p:animEffect transition="in" filter="randombar(horizontal)">
                                      <p:cBhvr>
                                        <p:cTn id="11" dur="500"/>
                                        <p:tgtEl>
                                          <p:spTgt spid="12"/>
                                        </p:tgtEl>
                                      </p:cBhvr>
                                    </p:animEffect>
                                  </p:childTnLst>
                                </p:cTn>
                              </p:par>
                            </p:childTnLst>
                          </p:cTn>
                        </p:par>
                        <p:par>
                          <p:cTn id="12" fill="hold">
                            <p:stCondLst>
                              <p:cond delay="2500"/>
                            </p:stCondLst>
                            <p:childTnLst>
                              <p:par>
                                <p:cTn id="13" presetID="2" presetClass="entr" presetSubtype="8" fill="hold" nodeType="afterEffect">
                                  <p:stCondLst>
                                    <p:cond delay="0"/>
                                  </p:stCondLst>
                                  <p:childTnLst>
                                    <p:set>
                                      <p:cBhvr>
                                        <p:cTn id="14" dur="1" fill="hold">
                                          <p:stCondLst>
                                            <p:cond delay="0"/>
                                          </p:stCondLst>
                                        </p:cTn>
                                        <p:tgtEl>
                                          <p:spTgt spid="26"/>
                                        </p:tgtEl>
                                        <p:attrNameLst>
                                          <p:attrName>style.visibility</p:attrName>
                                        </p:attrNameLst>
                                      </p:cBhvr>
                                      <p:to>
                                        <p:strVal val="visible"/>
                                      </p:to>
                                    </p:set>
                                    <p:anim calcmode="lin" valueType="num">
                                      <p:cBhvr additive="base">
                                        <p:cTn id="15" dur="500" fill="hold"/>
                                        <p:tgtEl>
                                          <p:spTgt spid="26"/>
                                        </p:tgtEl>
                                        <p:attrNameLst>
                                          <p:attrName>ppt_x</p:attrName>
                                        </p:attrNameLst>
                                      </p:cBhvr>
                                      <p:tavLst>
                                        <p:tav tm="0">
                                          <p:val>
                                            <p:strVal val="0-#ppt_w/2"/>
                                          </p:val>
                                        </p:tav>
                                        <p:tav tm="100000">
                                          <p:val>
                                            <p:strVal val="#ppt_x"/>
                                          </p:val>
                                        </p:tav>
                                      </p:tavLst>
                                    </p:anim>
                                    <p:anim calcmode="lin" valueType="num">
                                      <p:cBhvr additive="base">
                                        <p:cTn id="16" dur="500" fill="hold"/>
                                        <p:tgtEl>
                                          <p:spTgt spid="26"/>
                                        </p:tgtEl>
                                        <p:attrNameLst>
                                          <p:attrName>ppt_y</p:attrName>
                                        </p:attrNameLst>
                                      </p:cBhvr>
                                      <p:tavLst>
                                        <p:tav tm="0">
                                          <p:val>
                                            <p:strVal val="#ppt_y"/>
                                          </p:val>
                                        </p:tav>
                                        <p:tav tm="100000">
                                          <p:val>
                                            <p:strVal val="#ppt_y"/>
                                          </p:val>
                                        </p:tav>
                                      </p:tavLst>
                                    </p:anim>
                                  </p:childTnLst>
                                </p:cTn>
                              </p:par>
                            </p:childTnLst>
                          </p:cTn>
                        </p:par>
                        <p:par>
                          <p:cTn id="17" fill="hold">
                            <p:stCondLst>
                              <p:cond delay="3000"/>
                            </p:stCondLst>
                            <p:childTnLst>
                              <p:par>
                                <p:cTn id="18" presetID="42" presetClass="entr" presetSubtype="0" fill="hold" grpId="0" nodeType="afterEffect">
                                  <p:stCondLst>
                                    <p:cond delay="0"/>
                                  </p:stCondLst>
                                  <p:childTnLst>
                                    <p:set>
                                      <p:cBhvr>
                                        <p:cTn id="19" dur="1" fill="hold">
                                          <p:stCondLst>
                                            <p:cond delay="0"/>
                                          </p:stCondLst>
                                        </p:cTn>
                                        <p:tgtEl>
                                          <p:spTgt spid="2"/>
                                        </p:tgtEl>
                                        <p:attrNameLst>
                                          <p:attrName>style.visibility</p:attrName>
                                        </p:attrNameLst>
                                      </p:cBhvr>
                                      <p:to>
                                        <p:strVal val="visible"/>
                                      </p:to>
                                    </p:set>
                                    <p:animEffect transition="in" filter="fade">
                                      <p:cBhvr>
                                        <p:cTn id="20" dur="1000"/>
                                        <p:tgtEl>
                                          <p:spTgt spid="2"/>
                                        </p:tgtEl>
                                      </p:cBhvr>
                                    </p:animEffect>
                                    <p:anim calcmode="lin" valueType="num">
                                      <p:cBhvr>
                                        <p:cTn id="21" dur="1000" fill="hold"/>
                                        <p:tgtEl>
                                          <p:spTgt spid="2"/>
                                        </p:tgtEl>
                                        <p:attrNameLst>
                                          <p:attrName>ppt_x</p:attrName>
                                        </p:attrNameLst>
                                      </p:cBhvr>
                                      <p:tavLst>
                                        <p:tav tm="0">
                                          <p:val>
                                            <p:strVal val="#ppt_x"/>
                                          </p:val>
                                        </p:tav>
                                        <p:tav tm="100000">
                                          <p:val>
                                            <p:strVal val="#ppt_x"/>
                                          </p:val>
                                        </p:tav>
                                      </p:tavLst>
                                    </p:anim>
                                    <p:anim calcmode="lin" valueType="num">
                                      <p:cBhvr>
                                        <p:cTn id="22" dur="1000" fill="hold"/>
                                        <p:tgtEl>
                                          <p:spTgt spid="2"/>
                                        </p:tgtEl>
                                        <p:attrNameLst>
                                          <p:attrName>ppt_y</p:attrName>
                                        </p:attrNameLst>
                                      </p:cBhvr>
                                      <p:tavLst>
                                        <p:tav tm="0">
                                          <p:val>
                                            <p:strVal val="#ppt_y+.1"/>
                                          </p:val>
                                        </p:tav>
                                        <p:tav tm="100000">
                                          <p:val>
                                            <p:strVal val="#ppt_y"/>
                                          </p:val>
                                        </p:tav>
                                      </p:tavLst>
                                    </p:anim>
                                  </p:childTnLst>
                                </p:cTn>
                              </p:par>
                            </p:childTnLst>
                          </p:cTn>
                        </p:par>
                        <p:par>
                          <p:cTn id="23" fill="hold">
                            <p:stCondLst>
                              <p:cond delay="4000"/>
                            </p:stCondLst>
                            <p:childTnLst>
                              <p:par>
                                <p:cTn id="24" presetID="10" presetClass="entr" presetSubtype="0" fill="hold" nodeType="afterEffect">
                                  <p:stCondLst>
                                    <p:cond delay="0"/>
                                  </p:stCondLst>
                                  <p:childTnLst>
                                    <p:set>
                                      <p:cBhvr>
                                        <p:cTn id="25" dur="1" fill="hold">
                                          <p:stCondLst>
                                            <p:cond delay="0"/>
                                          </p:stCondLst>
                                        </p:cTn>
                                        <p:tgtEl>
                                          <p:spTgt spid="4"/>
                                        </p:tgtEl>
                                        <p:attrNameLst>
                                          <p:attrName>style.visibility</p:attrName>
                                        </p:attrNameLst>
                                      </p:cBhvr>
                                      <p:to>
                                        <p:strVal val="visible"/>
                                      </p:to>
                                    </p:set>
                                    <p:animEffect transition="in" filter="fade">
                                      <p:cBhvr>
                                        <p:cTn id="26"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2" grpId="0"/>
      <p:bldP spid="12" grpId="0"/>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图片 42">
            <a:extLst>
              <a:ext uri="{FF2B5EF4-FFF2-40B4-BE49-F238E27FC236}">
                <a16:creationId xmlns:a16="http://schemas.microsoft.com/office/drawing/2014/main" id="{C8D97DA4-6242-4E73-AEFC-457D04FDC65B}"/>
              </a:ext>
            </a:extLst>
          </p:cNvPr>
          <p:cNvPicPr>
            <a:picLocks noChangeAspect="1"/>
          </p:cNvPicPr>
          <p:nvPr/>
        </p:nvPicPr>
        <p:blipFill>
          <a:blip r:embed="rId2"/>
          <a:stretch>
            <a:fillRect/>
          </a:stretch>
        </p:blipFill>
        <p:spPr>
          <a:xfrm rot="16200000">
            <a:off x="145169" y="-145167"/>
            <a:ext cx="1268414" cy="1558750"/>
          </a:xfrm>
          <a:prstGeom prst="rect">
            <a:avLst/>
          </a:prstGeom>
        </p:spPr>
      </p:pic>
      <p:sp>
        <p:nvSpPr>
          <p:cNvPr id="6" name="文字方塊 5">
            <a:extLst>
              <a:ext uri="{FF2B5EF4-FFF2-40B4-BE49-F238E27FC236}">
                <a16:creationId xmlns:a16="http://schemas.microsoft.com/office/drawing/2014/main" id="{8A30B01A-3198-4955-A208-0E3D9EB60397}"/>
              </a:ext>
            </a:extLst>
          </p:cNvPr>
          <p:cNvSpPr txBox="1"/>
          <p:nvPr/>
        </p:nvSpPr>
        <p:spPr>
          <a:xfrm>
            <a:off x="1558751" y="6596390"/>
            <a:ext cx="4217821" cy="261610"/>
          </a:xfrm>
          <a:prstGeom prst="rect">
            <a:avLst/>
          </a:prstGeom>
          <a:noFill/>
        </p:spPr>
        <p:txBody>
          <a:bodyPr wrap="none" rtlCol="0">
            <a:spAutoFit/>
          </a:bodyPr>
          <a:lstStyle/>
          <a:p>
            <a:r>
              <a:rPr lang="zh-TW" altLang="en-US" sz="1100" dirty="0">
                <a:latin typeface="Microsoft JhengHei Light" panose="020B0304030504040204" pitchFamily="34" charset="-120"/>
                <a:ea typeface="Microsoft JhengHei Light" panose="020B0304030504040204" pitchFamily="34" charset="-120"/>
              </a:rPr>
              <a:t>區塊鏈商業應用概論 實例與分析／新陸書局股份有限公司 發行</a:t>
            </a:r>
          </a:p>
        </p:txBody>
      </p:sp>
      <p:sp>
        <p:nvSpPr>
          <p:cNvPr id="9" name="標題 1">
            <a:extLst>
              <a:ext uri="{FF2B5EF4-FFF2-40B4-BE49-F238E27FC236}">
                <a16:creationId xmlns:a16="http://schemas.microsoft.com/office/drawing/2014/main" id="{475DFFF1-7C37-4CBE-ACFC-3F348BCD20CC}"/>
              </a:ext>
            </a:extLst>
          </p:cNvPr>
          <p:cNvSpPr txBox="1">
            <a:spLocks/>
          </p:cNvSpPr>
          <p:nvPr/>
        </p:nvSpPr>
        <p:spPr>
          <a:xfrm>
            <a:off x="1231956" y="393820"/>
            <a:ext cx="3643527" cy="874595"/>
          </a:xfrm>
          <a:prstGeom prst="rect">
            <a:avLst/>
          </a:prstGeom>
        </p:spPr>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altLang="zh-TW" sz="2400" b="1" dirty="0">
                <a:solidFill>
                  <a:srgbClr val="E06741"/>
                </a:solidFill>
              </a:rPr>
              <a:t>2-2 </a:t>
            </a:r>
            <a:r>
              <a:rPr lang="zh-TW" altLang="en-US" sz="2400" b="1" dirty="0">
                <a:solidFill>
                  <a:srgbClr val="E06741"/>
                </a:solidFill>
              </a:rPr>
              <a:t>區塊鏈技術發展</a:t>
            </a:r>
          </a:p>
          <a:p>
            <a:endParaRPr lang="zh-TW" altLang="en-US" sz="2400" dirty="0">
              <a:solidFill>
                <a:srgbClr val="E06741"/>
              </a:solidFill>
              <a:latin typeface="標楷體" panose="03000509000000000000" pitchFamily="65" charset="-120"/>
              <a:ea typeface="標楷體" panose="03000509000000000000" pitchFamily="65" charset="-120"/>
              <a:cs typeface="Times New Roman" panose="02020603050405020304" pitchFamily="18" charset="0"/>
            </a:endParaRPr>
          </a:p>
        </p:txBody>
      </p:sp>
      <p:sp>
        <p:nvSpPr>
          <p:cNvPr id="2" name="文字方塊 1">
            <a:extLst>
              <a:ext uri="{FF2B5EF4-FFF2-40B4-BE49-F238E27FC236}">
                <a16:creationId xmlns:a16="http://schemas.microsoft.com/office/drawing/2014/main" id="{D6D66D7E-58A1-40BE-8070-FA1C3AF22B14}"/>
              </a:ext>
            </a:extLst>
          </p:cNvPr>
          <p:cNvSpPr txBox="1"/>
          <p:nvPr/>
        </p:nvSpPr>
        <p:spPr>
          <a:xfrm>
            <a:off x="1063167" y="1521303"/>
            <a:ext cx="9426809" cy="4087145"/>
          </a:xfrm>
          <a:prstGeom prst="rect">
            <a:avLst/>
          </a:prstGeom>
          <a:noFill/>
        </p:spPr>
        <p:txBody>
          <a:bodyPr wrap="square" rtlCol="0">
            <a:spAutoFit/>
          </a:bodyPr>
          <a:lstStyle/>
          <a:p>
            <a:pPr marL="800100" lvl="1" indent="-342900">
              <a:lnSpc>
                <a:spcPct val="150000"/>
              </a:lnSpc>
              <a:buSzPct val="100000"/>
              <a:buBlip>
                <a:blip r:embed="rId3"/>
              </a:buBlip>
            </a:pPr>
            <a:r>
              <a:rPr lang="zh-TW" altLang="en-US" sz="2400" b="1" dirty="0">
                <a:solidFill>
                  <a:schemeClr val="tx1">
                    <a:lumMod val="75000"/>
                    <a:lumOff val="25000"/>
                  </a:schemeClr>
                </a:solidFill>
                <a:latin typeface="微軟正黑體" panose="020B0604030504040204" pitchFamily="34" charset="-120"/>
                <a:ea typeface="微軟正黑體" panose="020B0604030504040204" pitchFamily="34" charset="-120"/>
              </a:rPr>
              <a:t>驗證的功能就是對交易資訊進行驗證的動作，透過密碼學的演算法將交易資訊經由公開金鑰、私密金鑰、地址等編碼，以降低資訊編碼的重複性情事發生，再藉由驗證的代碼作為交易資訊的確認動作，主要目的在於重複驗證身分是否屬於當事人</a:t>
            </a:r>
            <a:endParaRPr lang="en-US" altLang="zh-TW" sz="2400" b="1" dirty="0">
              <a:solidFill>
                <a:schemeClr val="tx1">
                  <a:lumMod val="75000"/>
                  <a:lumOff val="25000"/>
                </a:schemeClr>
              </a:solidFill>
              <a:latin typeface="微軟正黑體" panose="020B0604030504040204" pitchFamily="34" charset="-120"/>
              <a:ea typeface="微軟正黑體" panose="020B0604030504040204" pitchFamily="34" charset="-120"/>
            </a:endParaRPr>
          </a:p>
          <a:p>
            <a:pPr marL="800100" lvl="1" indent="-342900">
              <a:lnSpc>
                <a:spcPct val="150000"/>
              </a:lnSpc>
              <a:buSzPct val="100000"/>
              <a:buBlip>
                <a:blip r:embed="rId3"/>
              </a:buBlip>
            </a:pPr>
            <a:endParaRPr lang="en-US" altLang="zh-TW" sz="800" b="1" dirty="0">
              <a:solidFill>
                <a:schemeClr val="tx1">
                  <a:lumMod val="75000"/>
                  <a:lumOff val="25000"/>
                </a:schemeClr>
              </a:solidFill>
              <a:latin typeface="微軟正黑體" panose="020B0604030504040204" pitchFamily="34" charset="-120"/>
              <a:ea typeface="微軟正黑體" panose="020B0604030504040204" pitchFamily="34" charset="-120"/>
            </a:endParaRPr>
          </a:p>
          <a:p>
            <a:pPr marL="800100" lvl="1" indent="-342900">
              <a:lnSpc>
                <a:spcPct val="150000"/>
              </a:lnSpc>
              <a:buSzPct val="100000"/>
              <a:buBlip>
                <a:blip r:embed="rId3"/>
              </a:buBlip>
            </a:pPr>
            <a:r>
              <a:rPr lang="zh-TW" altLang="en-US" sz="2400" b="1" dirty="0">
                <a:solidFill>
                  <a:schemeClr val="tx1">
                    <a:lumMod val="75000"/>
                    <a:lumOff val="25000"/>
                  </a:schemeClr>
                </a:solidFill>
                <a:latin typeface="微軟正黑體" panose="020B0604030504040204" pitchFamily="34" charset="-120"/>
                <a:ea typeface="微軟正黑體" panose="020B0604030504040204" pitchFamily="34" charset="-120"/>
              </a:rPr>
              <a:t>區塊鏈技術所設定的驗證亦是如此，為能再一次的確保交易資訊的正確性與安全性，設計一個重複辨識的功能，據以提高區塊鏈之交易系統的安全性</a:t>
            </a:r>
          </a:p>
        </p:txBody>
      </p:sp>
      <p:cxnSp>
        <p:nvCxnSpPr>
          <p:cNvPr id="26" name="直接连接符 33">
            <a:extLst>
              <a:ext uri="{FF2B5EF4-FFF2-40B4-BE49-F238E27FC236}">
                <a16:creationId xmlns:a16="http://schemas.microsoft.com/office/drawing/2014/main" id="{C3725E45-5458-4931-9D9A-B8C15AE6AC41}"/>
              </a:ext>
            </a:extLst>
          </p:cNvPr>
          <p:cNvCxnSpPr>
            <a:cxnSpLocks/>
          </p:cNvCxnSpPr>
          <p:nvPr/>
        </p:nvCxnSpPr>
        <p:spPr>
          <a:xfrm>
            <a:off x="1334185" y="1102164"/>
            <a:ext cx="10081960" cy="0"/>
          </a:xfrm>
          <a:prstGeom prst="line">
            <a:avLst/>
          </a:prstGeom>
          <a:ln w="190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12" name="文字方塊 11">
            <a:extLst>
              <a:ext uri="{FF2B5EF4-FFF2-40B4-BE49-F238E27FC236}">
                <a16:creationId xmlns:a16="http://schemas.microsoft.com/office/drawing/2014/main" id="{9FE02F65-A32E-4124-B1E6-8E45750976E4}"/>
              </a:ext>
            </a:extLst>
          </p:cNvPr>
          <p:cNvSpPr txBox="1"/>
          <p:nvPr/>
        </p:nvSpPr>
        <p:spPr>
          <a:xfrm>
            <a:off x="4487241" y="449166"/>
            <a:ext cx="3076483" cy="400110"/>
          </a:xfrm>
          <a:prstGeom prst="rect">
            <a:avLst/>
          </a:prstGeom>
          <a:noFill/>
        </p:spPr>
        <p:txBody>
          <a:bodyPr wrap="none" rtlCol="0">
            <a:spAutoFit/>
          </a:bodyPr>
          <a:lstStyle/>
          <a:p>
            <a:r>
              <a:rPr lang="en-US" altLang="zh-TW" sz="2000" b="1" dirty="0">
                <a:solidFill>
                  <a:schemeClr val="tx1">
                    <a:lumMod val="65000"/>
                    <a:lumOff val="35000"/>
                  </a:schemeClr>
                </a:solidFill>
                <a:latin typeface="微軟正黑體" panose="020B0604030504040204" pitchFamily="34" charset="-120"/>
                <a:ea typeface="微軟正黑體" panose="020B0604030504040204" pitchFamily="34" charset="-120"/>
                <a:cs typeface="Times New Roman" panose="02020603050405020304" pitchFamily="18" charset="0"/>
              </a:rPr>
              <a:t>-2</a:t>
            </a:r>
            <a:r>
              <a:rPr lang="zh-TW" altLang="en-US" sz="2000" b="1" dirty="0">
                <a:solidFill>
                  <a:schemeClr val="tx1">
                    <a:lumMod val="65000"/>
                    <a:lumOff val="35000"/>
                  </a:schemeClr>
                </a:solidFill>
                <a:latin typeface="微軟正黑體" panose="020B0604030504040204" pitchFamily="34" charset="-120"/>
                <a:ea typeface="微軟正黑體" panose="020B0604030504040204" pitchFamily="34" charset="-120"/>
                <a:cs typeface="Times New Roman" panose="02020603050405020304" pitchFamily="18" charset="0"/>
              </a:rPr>
              <a:t> 區塊鏈技術之基本要素</a:t>
            </a:r>
          </a:p>
        </p:txBody>
      </p:sp>
      <p:pic>
        <p:nvPicPr>
          <p:cNvPr id="27" name="圖片 26" descr="一張含有 向量圖形, 文字 的圖片&#10;&#10;描述是以高可信度產生">
            <a:extLst>
              <a:ext uri="{FF2B5EF4-FFF2-40B4-BE49-F238E27FC236}">
                <a16:creationId xmlns:a16="http://schemas.microsoft.com/office/drawing/2014/main" id="{59907F8D-D845-4DB3-A876-A8CA13341C62}"/>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933710" y="4599710"/>
            <a:ext cx="2258290" cy="2258290"/>
          </a:xfrm>
          <a:prstGeom prst="rect">
            <a:avLst/>
          </a:prstGeom>
        </p:spPr>
      </p:pic>
    </p:spTree>
    <p:extLst>
      <p:ext uri="{BB962C8B-B14F-4D97-AF65-F5344CB8AC3E}">
        <p14:creationId xmlns:p14="http://schemas.microsoft.com/office/powerpoint/2010/main" val="3366702543"/>
      </p:ext>
    </p:extLst>
  </p:cSld>
  <p:clrMapOvr>
    <a:masterClrMapping/>
  </p:clrMapOvr>
  <mc:AlternateContent xmlns:mc="http://schemas.openxmlformats.org/markup-compatibility/2006">
    <mc:Choice xmlns:p14="http://schemas.microsoft.com/office/powerpoint/2010/main" Requires="p14">
      <p:transition spd="slow" p14:dur="2000">
        <p14:ferris dir="l"/>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6" presetClass="entr" presetSubtype="16" fill="hold" grpId="0" nodeType="after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circle(in)">
                                      <p:cBhvr>
                                        <p:cTn id="7" dur="2000"/>
                                        <p:tgtEl>
                                          <p:spTgt spid="9"/>
                                        </p:tgtEl>
                                      </p:cBhvr>
                                    </p:animEffect>
                                  </p:childTnLst>
                                </p:cTn>
                              </p:par>
                            </p:childTnLst>
                          </p:cTn>
                        </p:par>
                        <p:par>
                          <p:cTn id="8" fill="hold">
                            <p:stCondLst>
                              <p:cond delay="2000"/>
                            </p:stCondLst>
                            <p:childTnLst>
                              <p:par>
                                <p:cTn id="9" presetID="14" presetClass="entr" presetSubtype="10" fill="hold" grpId="0" nodeType="afterEffect">
                                  <p:stCondLst>
                                    <p:cond delay="0"/>
                                  </p:stCondLst>
                                  <p:childTnLst>
                                    <p:set>
                                      <p:cBhvr>
                                        <p:cTn id="10" dur="1" fill="hold">
                                          <p:stCondLst>
                                            <p:cond delay="0"/>
                                          </p:stCondLst>
                                        </p:cTn>
                                        <p:tgtEl>
                                          <p:spTgt spid="12"/>
                                        </p:tgtEl>
                                        <p:attrNameLst>
                                          <p:attrName>style.visibility</p:attrName>
                                        </p:attrNameLst>
                                      </p:cBhvr>
                                      <p:to>
                                        <p:strVal val="visible"/>
                                      </p:to>
                                    </p:set>
                                    <p:animEffect transition="in" filter="randombar(horizontal)">
                                      <p:cBhvr>
                                        <p:cTn id="11" dur="500"/>
                                        <p:tgtEl>
                                          <p:spTgt spid="12"/>
                                        </p:tgtEl>
                                      </p:cBhvr>
                                    </p:animEffect>
                                  </p:childTnLst>
                                </p:cTn>
                              </p:par>
                            </p:childTnLst>
                          </p:cTn>
                        </p:par>
                        <p:par>
                          <p:cTn id="12" fill="hold">
                            <p:stCondLst>
                              <p:cond delay="2500"/>
                            </p:stCondLst>
                            <p:childTnLst>
                              <p:par>
                                <p:cTn id="13" presetID="2" presetClass="entr" presetSubtype="8" fill="hold" nodeType="afterEffect">
                                  <p:stCondLst>
                                    <p:cond delay="0"/>
                                  </p:stCondLst>
                                  <p:childTnLst>
                                    <p:set>
                                      <p:cBhvr>
                                        <p:cTn id="14" dur="1" fill="hold">
                                          <p:stCondLst>
                                            <p:cond delay="0"/>
                                          </p:stCondLst>
                                        </p:cTn>
                                        <p:tgtEl>
                                          <p:spTgt spid="26"/>
                                        </p:tgtEl>
                                        <p:attrNameLst>
                                          <p:attrName>style.visibility</p:attrName>
                                        </p:attrNameLst>
                                      </p:cBhvr>
                                      <p:to>
                                        <p:strVal val="visible"/>
                                      </p:to>
                                    </p:set>
                                    <p:anim calcmode="lin" valueType="num">
                                      <p:cBhvr additive="base">
                                        <p:cTn id="15" dur="500" fill="hold"/>
                                        <p:tgtEl>
                                          <p:spTgt spid="26"/>
                                        </p:tgtEl>
                                        <p:attrNameLst>
                                          <p:attrName>ppt_x</p:attrName>
                                        </p:attrNameLst>
                                      </p:cBhvr>
                                      <p:tavLst>
                                        <p:tav tm="0">
                                          <p:val>
                                            <p:strVal val="0-#ppt_w/2"/>
                                          </p:val>
                                        </p:tav>
                                        <p:tav tm="100000">
                                          <p:val>
                                            <p:strVal val="#ppt_x"/>
                                          </p:val>
                                        </p:tav>
                                      </p:tavLst>
                                    </p:anim>
                                    <p:anim calcmode="lin" valueType="num">
                                      <p:cBhvr additive="base">
                                        <p:cTn id="16" dur="500" fill="hold"/>
                                        <p:tgtEl>
                                          <p:spTgt spid="26"/>
                                        </p:tgtEl>
                                        <p:attrNameLst>
                                          <p:attrName>ppt_y</p:attrName>
                                        </p:attrNameLst>
                                      </p:cBhvr>
                                      <p:tavLst>
                                        <p:tav tm="0">
                                          <p:val>
                                            <p:strVal val="#ppt_y"/>
                                          </p:val>
                                        </p:tav>
                                        <p:tav tm="100000">
                                          <p:val>
                                            <p:strVal val="#ppt_y"/>
                                          </p:val>
                                        </p:tav>
                                      </p:tavLst>
                                    </p:anim>
                                  </p:childTnLst>
                                </p:cTn>
                              </p:par>
                            </p:childTnLst>
                          </p:cTn>
                        </p:par>
                        <p:par>
                          <p:cTn id="17" fill="hold">
                            <p:stCondLst>
                              <p:cond delay="3000"/>
                            </p:stCondLst>
                            <p:childTnLst>
                              <p:par>
                                <p:cTn id="18" presetID="53" presetClass="entr" presetSubtype="16" fill="hold" grpId="0" nodeType="afterEffect">
                                  <p:stCondLst>
                                    <p:cond delay="0"/>
                                  </p:stCondLst>
                                  <p:childTnLst>
                                    <p:set>
                                      <p:cBhvr>
                                        <p:cTn id="19" dur="1" fill="hold">
                                          <p:stCondLst>
                                            <p:cond delay="0"/>
                                          </p:stCondLst>
                                        </p:cTn>
                                        <p:tgtEl>
                                          <p:spTgt spid="2"/>
                                        </p:tgtEl>
                                        <p:attrNameLst>
                                          <p:attrName>style.visibility</p:attrName>
                                        </p:attrNameLst>
                                      </p:cBhvr>
                                      <p:to>
                                        <p:strVal val="visible"/>
                                      </p:to>
                                    </p:set>
                                    <p:anim calcmode="lin" valueType="num">
                                      <p:cBhvr>
                                        <p:cTn id="20" dur="500" fill="hold"/>
                                        <p:tgtEl>
                                          <p:spTgt spid="2"/>
                                        </p:tgtEl>
                                        <p:attrNameLst>
                                          <p:attrName>ppt_w</p:attrName>
                                        </p:attrNameLst>
                                      </p:cBhvr>
                                      <p:tavLst>
                                        <p:tav tm="0">
                                          <p:val>
                                            <p:fltVal val="0"/>
                                          </p:val>
                                        </p:tav>
                                        <p:tav tm="100000">
                                          <p:val>
                                            <p:strVal val="#ppt_w"/>
                                          </p:val>
                                        </p:tav>
                                      </p:tavLst>
                                    </p:anim>
                                    <p:anim calcmode="lin" valueType="num">
                                      <p:cBhvr>
                                        <p:cTn id="21" dur="500" fill="hold"/>
                                        <p:tgtEl>
                                          <p:spTgt spid="2"/>
                                        </p:tgtEl>
                                        <p:attrNameLst>
                                          <p:attrName>ppt_h</p:attrName>
                                        </p:attrNameLst>
                                      </p:cBhvr>
                                      <p:tavLst>
                                        <p:tav tm="0">
                                          <p:val>
                                            <p:fltVal val="0"/>
                                          </p:val>
                                        </p:tav>
                                        <p:tav tm="100000">
                                          <p:val>
                                            <p:strVal val="#ppt_h"/>
                                          </p:val>
                                        </p:tav>
                                      </p:tavLst>
                                    </p:anim>
                                    <p:animEffect transition="in" filter="fade">
                                      <p:cBhvr>
                                        <p:cTn id="22" dur="500"/>
                                        <p:tgtEl>
                                          <p:spTgt spid="2"/>
                                        </p:tgtEl>
                                      </p:cBhvr>
                                    </p:animEffect>
                                  </p:childTnLst>
                                </p:cTn>
                              </p:par>
                            </p:childTnLst>
                          </p:cTn>
                        </p:par>
                        <p:par>
                          <p:cTn id="23" fill="hold">
                            <p:stCondLst>
                              <p:cond delay="3500"/>
                            </p:stCondLst>
                            <p:childTnLst>
                              <p:par>
                                <p:cTn id="24" presetID="42" presetClass="entr" presetSubtype="0" fill="hold" nodeType="afterEffect">
                                  <p:stCondLst>
                                    <p:cond delay="0"/>
                                  </p:stCondLst>
                                  <p:childTnLst>
                                    <p:set>
                                      <p:cBhvr>
                                        <p:cTn id="25" dur="1" fill="hold">
                                          <p:stCondLst>
                                            <p:cond delay="0"/>
                                          </p:stCondLst>
                                        </p:cTn>
                                        <p:tgtEl>
                                          <p:spTgt spid="27"/>
                                        </p:tgtEl>
                                        <p:attrNameLst>
                                          <p:attrName>style.visibility</p:attrName>
                                        </p:attrNameLst>
                                      </p:cBhvr>
                                      <p:to>
                                        <p:strVal val="visible"/>
                                      </p:to>
                                    </p:set>
                                    <p:animEffect transition="in" filter="fade">
                                      <p:cBhvr>
                                        <p:cTn id="26" dur="1000"/>
                                        <p:tgtEl>
                                          <p:spTgt spid="27"/>
                                        </p:tgtEl>
                                      </p:cBhvr>
                                    </p:animEffect>
                                    <p:anim calcmode="lin" valueType="num">
                                      <p:cBhvr>
                                        <p:cTn id="27" dur="1000" fill="hold"/>
                                        <p:tgtEl>
                                          <p:spTgt spid="27"/>
                                        </p:tgtEl>
                                        <p:attrNameLst>
                                          <p:attrName>ppt_x</p:attrName>
                                        </p:attrNameLst>
                                      </p:cBhvr>
                                      <p:tavLst>
                                        <p:tav tm="0">
                                          <p:val>
                                            <p:strVal val="#ppt_x"/>
                                          </p:val>
                                        </p:tav>
                                        <p:tav tm="100000">
                                          <p:val>
                                            <p:strVal val="#ppt_x"/>
                                          </p:val>
                                        </p:tav>
                                      </p:tavLst>
                                    </p:anim>
                                    <p:anim calcmode="lin" valueType="num">
                                      <p:cBhvr>
                                        <p:cTn id="28" dur="1000" fill="hold"/>
                                        <p:tgtEl>
                                          <p:spTgt spid="2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2" grpId="0"/>
      <p:bldP spid="12" grpId="0"/>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图片 42">
            <a:extLst>
              <a:ext uri="{FF2B5EF4-FFF2-40B4-BE49-F238E27FC236}">
                <a16:creationId xmlns:a16="http://schemas.microsoft.com/office/drawing/2014/main" id="{C8D97DA4-6242-4E73-AEFC-457D04FDC65B}"/>
              </a:ext>
            </a:extLst>
          </p:cNvPr>
          <p:cNvPicPr>
            <a:picLocks noChangeAspect="1"/>
          </p:cNvPicPr>
          <p:nvPr/>
        </p:nvPicPr>
        <p:blipFill>
          <a:blip r:embed="rId2"/>
          <a:stretch>
            <a:fillRect/>
          </a:stretch>
        </p:blipFill>
        <p:spPr>
          <a:xfrm rot="16200000">
            <a:off x="145169" y="-145167"/>
            <a:ext cx="1268414" cy="1558750"/>
          </a:xfrm>
          <a:prstGeom prst="rect">
            <a:avLst/>
          </a:prstGeom>
        </p:spPr>
      </p:pic>
      <p:sp>
        <p:nvSpPr>
          <p:cNvPr id="6" name="文字方塊 5">
            <a:extLst>
              <a:ext uri="{FF2B5EF4-FFF2-40B4-BE49-F238E27FC236}">
                <a16:creationId xmlns:a16="http://schemas.microsoft.com/office/drawing/2014/main" id="{8A30B01A-3198-4955-A208-0E3D9EB60397}"/>
              </a:ext>
            </a:extLst>
          </p:cNvPr>
          <p:cNvSpPr txBox="1"/>
          <p:nvPr/>
        </p:nvSpPr>
        <p:spPr>
          <a:xfrm>
            <a:off x="1558751" y="6596390"/>
            <a:ext cx="4217821" cy="261610"/>
          </a:xfrm>
          <a:prstGeom prst="rect">
            <a:avLst/>
          </a:prstGeom>
          <a:noFill/>
        </p:spPr>
        <p:txBody>
          <a:bodyPr wrap="none" rtlCol="0">
            <a:spAutoFit/>
          </a:bodyPr>
          <a:lstStyle/>
          <a:p>
            <a:r>
              <a:rPr lang="zh-TW" altLang="en-US" sz="1100" dirty="0">
                <a:latin typeface="Microsoft JhengHei Light" panose="020B0304030504040204" pitchFamily="34" charset="-120"/>
                <a:ea typeface="Microsoft JhengHei Light" panose="020B0304030504040204" pitchFamily="34" charset="-120"/>
              </a:rPr>
              <a:t>區塊鏈商業應用概論 實例與分析／新陸書局股份有限公司 發行</a:t>
            </a:r>
          </a:p>
        </p:txBody>
      </p:sp>
      <p:sp>
        <p:nvSpPr>
          <p:cNvPr id="9" name="標題 1">
            <a:extLst>
              <a:ext uri="{FF2B5EF4-FFF2-40B4-BE49-F238E27FC236}">
                <a16:creationId xmlns:a16="http://schemas.microsoft.com/office/drawing/2014/main" id="{475DFFF1-7C37-4CBE-ACFC-3F348BCD20CC}"/>
              </a:ext>
            </a:extLst>
          </p:cNvPr>
          <p:cNvSpPr txBox="1">
            <a:spLocks/>
          </p:cNvSpPr>
          <p:nvPr/>
        </p:nvSpPr>
        <p:spPr>
          <a:xfrm>
            <a:off x="1231956" y="393820"/>
            <a:ext cx="3643527" cy="874595"/>
          </a:xfrm>
          <a:prstGeom prst="rect">
            <a:avLst/>
          </a:prstGeom>
        </p:spPr>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altLang="zh-TW" sz="2400" b="1" dirty="0">
                <a:solidFill>
                  <a:srgbClr val="E06741"/>
                </a:solidFill>
              </a:rPr>
              <a:t>2-2 </a:t>
            </a:r>
            <a:r>
              <a:rPr lang="zh-TW" altLang="en-US" sz="2400" b="1" dirty="0">
                <a:solidFill>
                  <a:srgbClr val="E06741"/>
                </a:solidFill>
              </a:rPr>
              <a:t>區塊鏈技術發展</a:t>
            </a:r>
          </a:p>
          <a:p>
            <a:endParaRPr lang="zh-TW" altLang="en-US" sz="2400" dirty="0">
              <a:solidFill>
                <a:srgbClr val="E06741"/>
              </a:solidFill>
              <a:latin typeface="標楷體" panose="03000509000000000000" pitchFamily="65" charset="-120"/>
              <a:ea typeface="標楷體" panose="03000509000000000000" pitchFamily="65" charset="-120"/>
              <a:cs typeface="Times New Roman" panose="02020603050405020304" pitchFamily="18" charset="0"/>
            </a:endParaRPr>
          </a:p>
        </p:txBody>
      </p:sp>
      <p:sp>
        <p:nvSpPr>
          <p:cNvPr id="2" name="文字方塊 1">
            <a:extLst>
              <a:ext uri="{FF2B5EF4-FFF2-40B4-BE49-F238E27FC236}">
                <a16:creationId xmlns:a16="http://schemas.microsoft.com/office/drawing/2014/main" id="{D6D66D7E-58A1-40BE-8070-FA1C3AF22B14}"/>
              </a:ext>
            </a:extLst>
          </p:cNvPr>
          <p:cNvSpPr txBox="1"/>
          <p:nvPr/>
        </p:nvSpPr>
        <p:spPr>
          <a:xfrm>
            <a:off x="1334185" y="1355053"/>
            <a:ext cx="9703270" cy="4618059"/>
          </a:xfrm>
          <a:prstGeom prst="rect">
            <a:avLst/>
          </a:prstGeom>
          <a:noFill/>
        </p:spPr>
        <p:txBody>
          <a:bodyPr wrap="square" rtlCol="0">
            <a:spAutoFit/>
          </a:bodyPr>
          <a:lstStyle/>
          <a:p>
            <a:pPr>
              <a:lnSpc>
                <a:spcPct val="150000"/>
              </a:lnSpc>
              <a:buSzPct val="100000"/>
            </a:pPr>
            <a:r>
              <a:rPr lang="zh-TW" altLang="en-US" sz="2400" b="1" dirty="0">
                <a:solidFill>
                  <a:schemeClr val="tx1">
                    <a:lumMod val="75000"/>
                    <a:lumOff val="25000"/>
                  </a:schemeClr>
                </a:solidFill>
                <a:latin typeface="微軟正黑體" panose="020B0604030504040204" pitchFamily="34" charset="-120"/>
                <a:ea typeface="微軟正黑體" panose="020B0604030504040204" pitchFamily="34" charset="-120"/>
              </a:rPr>
              <a:t>（三）數位簽章（</a:t>
            </a:r>
            <a:r>
              <a:rPr lang="en-US" altLang="zh-TW" sz="2400" b="1" dirty="0">
                <a:solidFill>
                  <a:schemeClr val="tx1">
                    <a:lumMod val="75000"/>
                    <a:lumOff val="25000"/>
                  </a:schemeClr>
                </a:solidFill>
                <a:latin typeface="微軟正黑體" panose="020B0604030504040204" pitchFamily="34" charset="-120"/>
                <a:ea typeface="微軟正黑體" panose="020B0604030504040204" pitchFamily="34" charset="-120"/>
              </a:rPr>
              <a:t>Digital signature</a:t>
            </a:r>
            <a:r>
              <a:rPr lang="zh-TW" altLang="en-US" sz="2400" b="1" dirty="0">
                <a:solidFill>
                  <a:schemeClr val="tx1">
                    <a:lumMod val="75000"/>
                    <a:lumOff val="25000"/>
                  </a:schemeClr>
                </a:solidFill>
                <a:latin typeface="微軟正黑體" panose="020B0604030504040204" pitchFamily="34" charset="-120"/>
                <a:ea typeface="微軟正黑體" panose="020B0604030504040204" pitchFamily="34" charset="-120"/>
              </a:rPr>
              <a:t>）</a:t>
            </a:r>
            <a:endParaRPr lang="en-US" altLang="zh-TW" sz="2400" b="1" dirty="0">
              <a:solidFill>
                <a:schemeClr val="tx1">
                  <a:lumMod val="75000"/>
                  <a:lumOff val="25000"/>
                </a:schemeClr>
              </a:solidFill>
              <a:latin typeface="微軟正黑體" panose="020B0604030504040204" pitchFamily="34" charset="-120"/>
              <a:ea typeface="微軟正黑體" panose="020B0604030504040204" pitchFamily="34" charset="-120"/>
            </a:endParaRPr>
          </a:p>
          <a:p>
            <a:pPr>
              <a:lnSpc>
                <a:spcPct val="150000"/>
              </a:lnSpc>
              <a:buSzPct val="100000"/>
            </a:pPr>
            <a:endParaRPr lang="zh-TW" altLang="en-US" sz="700" b="1" dirty="0">
              <a:solidFill>
                <a:schemeClr val="tx1">
                  <a:lumMod val="75000"/>
                  <a:lumOff val="25000"/>
                </a:schemeClr>
              </a:solidFill>
              <a:latin typeface="微軟正黑體" panose="020B0604030504040204" pitchFamily="34" charset="-120"/>
              <a:ea typeface="微軟正黑體" panose="020B0604030504040204" pitchFamily="34" charset="-120"/>
            </a:endParaRPr>
          </a:p>
          <a:p>
            <a:pPr marL="800100" lvl="1" indent="-342900">
              <a:lnSpc>
                <a:spcPct val="150000"/>
              </a:lnSpc>
              <a:buSzPct val="100000"/>
              <a:buBlip>
                <a:blip r:embed="rId3"/>
              </a:buBlip>
            </a:pPr>
            <a:r>
              <a:rPr lang="zh-TW" altLang="en-US" sz="2400" b="1" dirty="0">
                <a:solidFill>
                  <a:schemeClr val="tx1">
                    <a:lumMod val="75000"/>
                    <a:lumOff val="25000"/>
                  </a:schemeClr>
                </a:solidFill>
                <a:latin typeface="微軟正黑體" panose="020B0604030504040204" pitchFamily="34" charset="-120"/>
                <a:ea typeface="微軟正黑體" panose="020B0604030504040204" pitchFamily="34" charset="-120"/>
              </a:rPr>
              <a:t>區塊鏈技術採用橢圓曲線數位簽章演算法（</a:t>
            </a:r>
            <a:r>
              <a:rPr lang="en-US" altLang="zh-TW" sz="2400" b="1" dirty="0">
                <a:solidFill>
                  <a:schemeClr val="tx1">
                    <a:lumMod val="75000"/>
                    <a:lumOff val="25000"/>
                  </a:schemeClr>
                </a:solidFill>
                <a:latin typeface="微軟正黑體" panose="020B0604030504040204" pitchFamily="34" charset="-120"/>
                <a:ea typeface="微軟正黑體" panose="020B0604030504040204" pitchFamily="34" charset="-120"/>
              </a:rPr>
              <a:t>ECDSA</a:t>
            </a:r>
            <a:r>
              <a:rPr lang="zh-TW" altLang="en-US" sz="2400" b="1" dirty="0">
                <a:solidFill>
                  <a:schemeClr val="tx1">
                    <a:lumMod val="75000"/>
                    <a:lumOff val="25000"/>
                  </a:schemeClr>
                </a:solidFill>
                <a:latin typeface="微軟正黑體" panose="020B0604030504040204" pitchFamily="34" charset="-120"/>
                <a:ea typeface="微軟正黑體" panose="020B0604030504040204" pitchFamily="34" charset="-120"/>
              </a:rPr>
              <a:t>）與公開金鑰加密演算法（</a:t>
            </a:r>
            <a:r>
              <a:rPr lang="en-US" altLang="zh-TW" sz="2400" b="1" dirty="0">
                <a:solidFill>
                  <a:schemeClr val="tx1">
                    <a:lumMod val="75000"/>
                    <a:lumOff val="25000"/>
                  </a:schemeClr>
                </a:solidFill>
                <a:latin typeface="微軟正黑體" panose="020B0604030504040204" pitchFamily="34" charset="-120"/>
                <a:ea typeface="微軟正黑體" panose="020B0604030504040204" pitchFamily="34" charset="-120"/>
              </a:rPr>
              <a:t>Public Key Cryptography</a:t>
            </a:r>
            <a:r>
              <a:rPr lang="zh-TW" altLang="en-US" sz="2400" b="1" dirty="0">
                <a:solidFill>
                  <a:schemeClr val="tx1">
                    <a:lumMod val="75000"/>
                    <a:lumOff val="25000"/>
                  </a:schemeClr>
                </a:solidFill>
                <a:latin typeface="微軟正黑體" panose="020B0604030504040204" pitchFamily="34" charset="-120"/>
                <a:ea typeface="微軟正黑體" panose="020B0604030504040204" pitchFamily="34" charset="-120"/>
              </a:rPr>
              <a:t>）</a:t>
            </a:r>
            <a:endParaRPr lang="en-US" altLang="zh-TW" sz="2400" b="1" dirty="0">
              <a:solidFill>
                <a:schemeClr val="tx1">
                  <a:lumMod val="75000"/>
                  <a:lumOff val="25000"/>
                </a:schemeClr>
              </a:solidFill>
              <a:latin typeface="微軟正黑體" panose="020B0604030504040204" pitchFamily="34" charset="-120"/>
              <a:ea typeface="微軟正黑體" panose="020B0604030504040204" pitchFamily="34" charset="-120"/>
            </a:endParaRPr>
          </a:p>
          <a:p>
            <a:pPr marL="800100" lvl="1" indent="-342900">
              <a:lnSpc>
                <a:spcPct val="150000"/>
              </a:lnSpc>
              <a:buSzPct val="100000"/>
              <a:buBlip>
                <a:blip r:embed="rId3"/>
              </a:buBlip>
            </a:pPr>
            <a:r>
              <a:rPr lang="zh-TW" altLang="en-US" sz="2400" b="1" dirty="0">
                <a:solidFill>
                  <a:schemeClr val="tx1">
                    <a:lumMod val="75000"/>
                    <a:lumOff val="25000"/>
                  </a:schemeClr>
                </a:solidFill>
                <a:latin typeface="微軟正黑體" panose="020B0604030504040204" pitchFamily="34" charset="-120"/>
                <a:ea typeface="微軟正黑體" panose="020B0604030504040204" pitchFamily="34" charset="-120"/>
              </a:rPr>
              <a:t>公開金鑰加密技術（或稱雙金鑰密碼安全系統）是指每位使用者都會擁有兩把金鑰匙</a:t>
            </a:r>
            <a:endParaRPr lang="en-US" altLang="zh-TW" sz="2400" b="1" dirty="0">
              <a:solidFill>
                <a:schemeClr val="tx1">
                  <a:lumMod val="75000"/>
                  <a:lumOff val="25000"/>
                </a:schemeClr>
              </a:solidFill>
              <a:latin typeface="微軟正黑體" panose="020B0604030504040204" pitchFamily="34" charset="-120"/>
              <a:ea typeface="微軟正黑體" panose="020B0604030504040204" pitchFamily="34" charset="-120"/>
            </a:endParaRPr>
          </a:p>
          <a:p>
            <a:pPr marL="1257300" lvl="2" indent="-342900">
              <a:lnSpc>
                <a:spcPct val="150000"/>
              </a:lnSpc>
              <a:buSzPct val="100000"/>
              <a:buBlip>
                <a:blip r:embed="rId3"/>
              </a:buBlip>
            </a:pPr>
            <a:r>
              <a:rPr lang="zh-TW" altLang="en-US" sz="2400" b="1" dirty="0">
                <a:solidFill>
                  <a:schemeClr val="tx1">
                    <a:lumMod val="75000"/>
                    <a:lumOff val="25000"/>
                  </a:schemeClr>
                </a:solidFill>
                <a:latin typeface="微軟正黑體" panose="020B0604030504040204" pitchFamily="34" charset="-120"/>
                <a:ea typeface="微軟正黑體" panose="020B0604030504040204" pitchFamily="34" charset="-120"/>
              </a:rPr>
              <a:t>公開金鑰（</a:t>
            </a:r>
            <a:r>
              <a:rPr lang="en-US" altLang="zh-TW" sz="2400" b="1" dirty="0">
                <a:solidFill>
                  <a:schemeClr val="tx1">
                    <a:lumMod val="75000"/>
                    <a:lumOff val="25000"/>
                  </a:schemeClr>
                </a:solidFill>
                <a:latin typeface="微軟正黑體" panose="020B0604030504040204" pitchFamily="34" charset="-120"/>
                <a:ea typeface="微軟正黑體" panose="020B0604030504040204" pitchFamily="34" charset="-120"/>
              </a:rPr>
              <a:t>Public Key</a:t>
            </a:r>
            <a:r>
              <a:rPr lang="zh-TW" altLang="en-US" sz="2400" b="1" dirty="0">
                <a:solidFill>
                  <a:schemeClr val="tx1">
                    <a:lumMod val="75000"/>
                    <a:lumOff val="25000"/>
                  </a:schemeClr>
                </a:solidFill>
                <a:latin typeface="微軟正黑體" panose="020B0604030504040204" pitchFamily="34" charset="-120"/>
                <a:ea typeface="微軟正黑體" panose="020B0604030504040204" pitchFamily="34" charset="-120"/>
              </a:rPr>
              <a:t>）：使用於網路節點互通時，屬於公開式鑰匙，在網路進行交易時，所有節點都會知道交易資訊</a:t>
            </a:r>
            <a:endParaRPr lang="en-US" altLang="zh-TW" sz="2400" b="1" dirty="0">
              <a:solidFill>
                <a:schemeClr val="tx1">
                  <a:lumMod val="75000"/>
                  <a:lumOff val="25000"/>
                </a:schemeClr>
              </a:solidFill>
              <a:latin typeface="微軟正黑體" panose="020B0604030504040204" pitchFamily="34" charset="-120"/>
              <a:ea typeface="微軟正黑體" panose="020B0604030504040204" pitchFamily="34" charset="-120"/>
            </a:endParaRPr>
          </a:p>
          <a:p>
            <a:pPr marL="1257300" lvl="2" indent="-342900">
              <a:lnSpc>
                <a:spcPct val="150000"/>
              </a:lnSpc>
              <a:buSzPct val="100000"/>
              <a:buBlip>
                <a:blip r:embed="rId3"/>
              </a:buBlip>
            </a:pPr>
            <a:r>
              <a:rPr lang="zh-TW" altLang="en-US" sz="2400" b="1" dirty="0">
                <a:solidFill>
                  <a:schemeClr val="tx1">
                    <a:lumMod val="75000"/>
                    <a:lumOff val="25000"/>
                  </a:schemeClr>
                </a:solidFill>
                <a:latin typeface="微軟正黑體" panose="020B0604030504040204" pitchFamily="34" charset="-120"/>
                <a:ea typeface="微軟正黑體" panose="020B0604030504040204" pitchFamily="34" charset="-120"/>
              </a:rPr>
              <a:t>私密金鑰（</a:t>
            </a:r>
            <a:r>
              <a:rPr lang="en-US" altLang="zh-TW" sz="2400" b="1" dirty="0">
                <a:solidFill>
                  <a:schemeClr val="tx1">
                    <a:lumMod val="75000"/>
                    <a:lumOff val="25000"/>
                  </a:schemeClr>
                </a:solidFill>
                <a:latin typeface="微軟正黑體" panose="020B0604030504040204" pitchFamily="34" charset="-120"/>
                <a:ea typeface="微軟正黑體" panose="020B0604030504040204" pitchFamily="34" charset="-120"/>
              </a:rPr>
              <a:t>Private Key</a:t>
            </a:r>
            <a:r>
              <a:rPr lang="zh-TW" altLang="en-US" sz="2400" b="1" dirty="0">
                <a:solidFill>
                  <a:schemeClr val="tx1">
                    <a:lumMod val="75000"/>
                    <a:lumOff val="25000"/>
                  </a:schemeClr>
                </a:solidFill>
                <a:latin typeface="微軟正黑體" panose="020B0604030504040204" pitchFamily="34" charset="-120"/>
                <a:ea typeface="微軟正黑體" panose="020B0604030504040204" pitchFamily="34" charset="-120"/>
              </a:rPr>
              <a:t> ）：只有本人才會知道的密碼</a:t>
            </a:r>
            <a:endParaRPr lang="en-US" altLang="zh-TW" sz="2400" b="1" dirty="0">
              <a:solidFill>
                <a:schemeClr val="tx1">
                  <a:lumMod val="75000"/>
                  <a:lumOff val="25000"/>
                </a:schemeClr>
              </a:solidFill>
              <a:latin typeface="微軟正黑體" panose="020B0604030504040204" pitchFamily="34" charset="-120"/>
              <a:ea typeface="微軟正黑體" panose="020B0604030504040204" pitchFamily="34" charset="-120"/>
            </a:endParaRPr>
          </a:p>
        </p:txBody>
      </p:sp>
      <p:cxnSp>
        <p:nvCxnSpPr>
          <p:cNvPr id="26" name="直接连接符 33">
            <a:extLst>
              <a:ext uri="{FF2B5EF4-FFF2-40B4-BE49-F238E27FC236}">
                <a16:creationId xmlns:a16="http://schemas.microsoft.com/office/drawing/2014/main" id="{C3725E45-5458-4931-9D9A-B8C15AE6AC41}"/>
              </a:ext>
            </a:extLst>
          </p:cNvPr>
          <p:cNvCxnSpPr>
            <a:cxnSpLocks/>
          </p:cNvCxnSpPr>
          <p:nvPr/>
        </p:nvCxnSpPr>
        <p:spPr>
          <a:xfrm>
            <a:off x="1334185" y="1102164"/>
            <a:ext cx="8105379" cy="0"/>
          </a:xfrm>
          <a:prstGeom prst="line">
            <a:avLst/>
          </a:prstGeom>
          <a:ln w="190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12" name="文字方塊 11">
            <a:extLst>
              <a:ext uri="{FF2B5EF4-FFF2-40B4-BE49-F238E27FC236}">
                <a16:creationId xmlns:a16="http://schemas.microsoft.com/office/drawing/2014/main" id="{9FE02F65-A32E-4124-B1E6-8E45750976E4}"/>
              </a:ext>
            </a:extLst>
          </p:cNvPr>
          <p:cNvSpPr txBox="1"/>
          <p:nvPr/>
        </p:nvSpPr>
        <p:spPr>
          <a:xfrm>
            <a:off x="4487241" y="449166"/>
            <a:ext cx="3076483" cy="400110"/>
          </a:xfrm>
          <a:prstGeom prst="rect">
            <a:avLst/>
          </a:prstGeom>
          <a:noFill/>
        </p:spPr>
        <p:txBody>
          <a:bodyPr wrap="none" rtlCol="0">
            <a:spAutoFit/>
          </a:bodyPr>
          <a:lstStyle/>
          <a:p>
            <a:r>
              <a:rPr lang="en-US" altLang="zh-TW" sz="2000" b="1" dirty="0">
                <a:solidFill>
                  <a:schemeClr val="tx1">
                    <a:lumMod val="65000"/>
                    <a:lumOff val="35000"/>
                  </a:schemeClr>
                </a:solidFill>
                <a:latin typeface="微軟正黑體" panose="020B0604030504040204" pitchFamily="34" charset="-120"/>
                <a:ea typeface="微軟正黑體" panose="020B0604030504040204" pitchFamily="34" charset="-120"/>
                <a:cs typeface="Times New Roman" panose="02020603050405020304" pitchFamily="18" charset="0"/>
              </a:rPr>
              <a:t>-2</a:t>
            </a:r>
            <a:r>
              <a:rPr lang="zh-TW" altLang="en-US" sz="2000" b="1" dirty="0">
                <a:solidFill>
                  <a:schemeClr val="tx1">
                    <a:lumMod val="65000"/>
                    <a:lumOff val="35000"/>
                  </a:schemeClr>
                </a:solidFill>
                <a:latin typeface="微軟正黑體" panose="020B0604030504040204" pitchFamily="34" charset="-120"/>
                <a:ea typeface="微軟正黑體" panose="020B0604030504040204" pitchFamily="34" charset="-120"/>
                <a:cs typeface="Times New Roman" panose="02020603050405020304" pitchFamily="18" charset="0"/>
              </a:rPr>
              <a:t> 區塊鏈技術之基本要素</a:t>
            </a:r>
          </a:p>
        </p:txBody>
      </p:sp>
      <p:pic>
        <p:nvPicPr>
          <p:cNvPr id="7" name="圖片 6">
            <a:extLst>
              <a:ext uri="{FF2B5EF4-FFF2-40B4-BE49-F238E27FC236}">
                <a16:creationId xmlns:a16="http://schemas.microsoft.com/office/drawing/2014/main" id="{99B7A571-96F2-4CFF-A655-56C6FD7726A0}"/>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826768" y="196277"/>
            <a:ext cx="1811774" cy="1811774"/>
          </a:xfrm>
          <a:prstGeom prst="rect">
            <a:avLst/>
          </a:prstGeom>
        </p:spPr>
      </p:pic>
    </p:spTree>
    <p:extLst>
      <p:ext uri="{BB962C8B-B14F-4D97-AF65-F5344CB8AC3E}">
        <p14:creationId xmlns:p14="http://schemas.microsoft.com/office/powerpoint/2010/main" val="115409566"/>
      </p:ext>
    </p:extLst>
  </p:cSld>
  <p:clrMapOvr>
    <a:masterClrMapping/>
  </p:clrMapOvr>
  <mc:AlternateContent xmlns:mc="http://schemas.openxmlformats.org/markup-compatibility/2006">
    <mc:Choice xmlns:p14="http://schemas.microsoft.com/office/powerpoint/2010/main" Requires="p14">
      <p:transition spd="slow" p14:dur="1200">
        <p14:prism/>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6" presetClass="entr" presetSubtype="16" fill="hold" grpId="0" nodeType="after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circle(in)">
                                      <p:cBhvr>
                                        <p:cTn id="7" dur="2000"/>
                                        <p:tgtEl>
                                          <p:spTgt spid="9"/>
                                        </p:tgtEl>
                                      </p:cBhvr>
                                    </p:animEffect>
                                  </p:childTnLst>
                                </p:cTn>
                              </p:par>
                            </p:childTnLst>
                          </p:cTn>
                        </p:par>
                        <p:par>
                          <p:cTn id="8" fill="hold">
                            <p:stCondLst>
                              <p:cond delay="2000"/>
                            </p:stCondLst>
                            <p:childTnLst>
                              <p:par>
                                <p:cTn id="9" presetID="14" presetClass="entr" presetSubtype="10" fill="hold" grpId="0" nodeType="afterEffect">
                                  <p:stCondLst>
                                    <p:cond delay="0"/>
                                  </p:stCondLst>
                                  <p:childTnLst>
                                    <p:set>
                                      <p:cBhvr>
                                        <p:cTn id="10" dur="1" fill="hold">
                                          <p:stCondLst>
                                            <p:cond delay="0"/>
                                          </p:stCondLst>
                                        </p:cTn>
                                        <p:tgtEl>
                                          <p:spTgt spid="12"/>
                                        </p:tgtEl>
                                        <p:attrNameLst>
                                          <p:attrName>style.visibility</p:attrName>
                                        </p:attrNameLst>
                                      </p:cBhvr>
                                      <p:to>
                                        <p:strVal val="visible"/>
                                      </p:to>
                                    </p:set>
                                    <p:animEffect transition="in" filter="randombar(horizontal)">
                                      <p:cBhvr>
                                        <p:cTn id="11" dur="500"/>
                                        <p:tgtEl>
                                          <p:spTgt spid="12"/>
                                        </p:tgtEl>
                                      </p:cBhvr>
                                    </p:animEffect>
                                  </p:childTnLst>
                                </p:cTn>
                              </p:par>
                            </p:childTnLst>
                          </p:cTn>
                        </p:par>
                        <p:par>
                          <p:cTn id="12" fill="hold">
                            <p:stCondLst>
                              <p:cond delay="2500"/>
                            </p:stCondLst>
                            <p:childTnLst>
                              <p:par>
                                <p:cTn id="13" presetID="2" presetClass="entr" presetSubtype="8" fill="hold" nodeType="afterEffect">
                                  <p:stCondLst>
                                    <p:cond delay="0"/>
                                  </p:stCondLst>
                                  <p:childTnLst>
                                    <p:set>
                                      <p:cBhvr>
                                        <p:cTn id="14" dur="1" fill="hold">
                                          <p:stCondLst>
                                            <p:cond delay="0"/>
                                          </p:stCondLst>
                                        </p:cTn>
                                        <p:tgtEl>
                                          <p:spTgt spid="26"/>
                                        </p:tgtEl>
                                        <p:attrNameLst>
                                          <p:attrName>style.visibility</p:attrName>
                                        </p:attrNameLst>
                                      </p:cBhvr>
                                      <p:to>
                                        <p:strVal val="visible"/>
                                      </p:to>
                                    </p:set>
                                    <p:anim calcmode="lin" valueType="num">
                                      <p:cBhvr additive="base">
                                        <p:cTn id="15" dur="500" fill="hold"/>
                                        <p:tgtEl>
                                          <p:spTgt spid="26"/>
                                        </p:tgtEl>
                                        <p:attrNameLst>
                                          <p:attrName>ppt_x</p:attrName>
                                        </p:attrNameLst>
                                      </p:cBhvr>
                                      <p:tavLst>
                                        <p:tav tm="0">
                                          <p:val>
                                            <p:strVal val="0-#ppt_w/2"/>
                                          </p:val>
                                        </p:tav>
                                        <p:tav tm="100000">
                                          <p:val>
                                            <p:strVal val="#ppt_x"/>
                                          </p:val>
                                        </p:tav>
                                      </p:tavLst>
                                    </p:anim>
                                    <p:anim calcmode="lin" valueType="num">
                                      <p:cBhvr additive="base">
                                        <p:cTn id="16" dur="500" fill="hold"/>
                                        <p:tgtEl>
                                          <p:spTgt spid="26"/>
                                        </p:tgtEl>
                                        <p:attrNameLst>
                                          <p:attrName>ppt_y</p:attrName>
                                        </p:attrNameLst>
                                      </p:cBhvr>
                                      <p:tavLst>
                                        <p:tav tm="0">
                                          <p:val>
                                            <p:strVal val="#ppt_y"/>
                                          </p:val>
                                        </p:tav>
                                        <p:tav tm="100000">
                                          <p:val>
                                            <p:strVal val="#ppt_y"/>
                                          </p:val>
                                        </p:tav>
                                      </p:tavLst>
                                    </p:anim>
                                  </p:childTnLst>
                                </p:cTn>
                              </p:par>
                            </p:childTnLst>
                          </p:cTn>
                        </p:par>
                        <p:par>
                          <p:cTn id="17" fill="hold">
                            <p:stCondLst>
                              <p:cond delay="3000"/>
                            </p:stCondLst>
                            <p:childTnLst>
                              <p:par>
                                <p:cTn id="18" presetID="42" presetClass="entr" presetSubtype="0" fill="hold" grpId="0" nodeType="afterEffect">
                                  <p:stCondLst>
                                    <p:cond delay="0"/>
                                  </p:stCondLst>
                                  <p:childTnLst>
                                    <p:set>
                                      <p:cBhvr>
                                        <p:cTn id="19" dur="1" fill="hold">
                                          <p:stCondLst>
                                            <p:cond delay="0"/>
                                          </p:stCondLst>
                                        </p:cTn>
                                        <p:tgtEl>
                                          <p:spTgt spid="2"/>
                                        </p:tgtEl>
                                        <p:attrNameLst>
                                          <p:attrName>style.visibility</p:attrName>
                                        </p:attrNameLst>
                                      </p:cBhvr>
                                      <p:to>
                                        <p:strVal val="visible"/>
                                      </p:to>
                                    </p:set>
                                    <p:animEffect transition="in" filter="fade">
                                      <p:cBhvr>
                                        <p:cTn id="20" dur="1000"/>
                                        <p:tgtEl>
                                          <p:spTgt spid="2"/>
                                        </p:tgtEl>
                                      </p:cBhvr>
                                    </p:animEffect>
                                    <p:anim calcmode="lin" valueType="num">
                                      <p:cBhvr>
                                        <p:cTn id="21" dur="1000" fill="hold"/>
                                        <p:tgtEl>
                                          <p:spTgt spid="2"/>
                                        </p:tgtEl>
                                        <p:attrNameLst>
                                          <p:attrName>ppt_x</p:attrName>
                                        </p:attrNameLst>
                                      </p:cBhvr>
                                      <p:tavLst>
                                        <p:tav tm="0">
                                          <p:val>
                                            <p:strVal val="#ppt_x"/>
                                          </p:val>
                                        </p:tav>
                                        <p:tav tm="100000">
                                          <p:val>
                                            <p:strVal val="#ppt_x"/>
                                          </p:val>
                                        </p:tav>
                                      </p:tavLst>
                                    </p:anim>
                                    <p:anim calcmode="lin" valueType="num">
                                      <p:cBhvr>
                                        <p:cTn id="22" dur="1000" fill="hold"/>
                                        <p:tgtEl>
                                          <p:spTgt spid="2"/>
                                        </p:tgtEl>
                                        <p:attrNameLst>
                                          <p:attrName>ppt_y</p:attrName>
                                        </p:attrNameLst>
                                      </p:cBhvr>
                                      <p:tavLst>
                                        <p:tav tm="0">
                                          <p:val>
                                            <p:strVal val="#ppt_y+.1"/>
                                          </p:val>
                                        </p:tav>
                                        <p:tav tm="100000">
                                          <p:val>
                                            <p:strVal val="#ppt_y"/>
                                          </p:val>
                                        </p:tav>
                                      </p:tavLst>
                                    </p:anim>
                                  </p:childTnLst>
                                </p:cTn>
                              </p:par>
                            </p:childTnLst>
                          </p:cTn>
                        </p:par>
                        <p:par>
                          <p:cTn id="23" fill="hold">
                            <p:stCondLst>
                              <p:cond delay="4000"/>
                            </p:stCondLst>
                            <p:childTnLst>
                              <p:par>
                                <p:cTn id="24" presetID="45" presetClass="entr" presetSubtype="0" fill="hold" nodeType="afterEffect">
                                  <p:stCondLst>
                                    <p:cond delay="0"/>
                                  </p:stCondLst>
                                  <p:childTnLst>
                                    <p:set>
                                      <p:cBhvr>
                                        <p:cTn id="25" dur="1" fill="hold">
                                          <p:stCondLst>
                                            <p:cond delay="0"/>
                                          </p:stCondLst>
                                        </p:cTn>
                                        <p:tgtEl>
                                          <p:spTgt spid="7"/>
                                        </p:tgtEl>
                                        <p:attrNameLst>
                                          <p:attrName>style.visibility</p:attrName>
                                        </p:attrNameLst>
                                      </p:cBhvr>
                                      <p:to>
                                        <p:strVal val="visible"/>
                                      </p:to>
                                    </p:set>
                                    <p:animEffect transition="in" filter="fade">
                                      <p:cBhvr>
                                        <p:cTn id="26" dur="1000"/>
                                        <p:tgtEl>
                                          <p:spTgt spid="7"/>
                                        </p:tgtEl>
                                      </p:cBhvr>
                                    </p:animEffect>
                                    <p:anim calcmode="lin" valueType="num">
                                      <p:cBhvr>
                                        <p:cTn id="27" dur="1000" fill="hold"/>
                                        <p:tgtEl>
                                          <p:spTgt spid="7"/>
                                        </p:tgtEl>
                                        <p:attrNameLst>
                                          <p:attrName>ppt_w</p:attrName>
                                        </p:attrNameLst>
                                      </p:cBhvr>
                                      <p:tavLst>
                                        <p:tav tm="0" fmla="#ppt_w*sin(2.5*pi*$)">
                                          <p:val>
                                            <p:fltVal val="0"/>
                                          </p:val>
                                        </p:tav>
                                        <p:tav tm="100000">
                                          <p:val>
                                            <p:fltVal val="1"/>
                                          </p:val>
                                        </p:tav>
                                      </p:tavLst>
                                    </p:anim>
                                    <p:anim calcmode="lin" valueType="num">
                                      <p:cBhvr>
                                        <p:cTn id="28" dur="1000" fill="hold"/>
                                        <p:tgtEl>
                                          <p:spTgt spid="7"/>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2" grpId="0"/>
      <p:bldP spid="12" grpId="0"/>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图片 42">
            <a:extLst>
              <a:ext uri="{FF2B5EF4-FFF2-40B4-BE49-F238E27FC236}">
                <a16:creationId xmlns:a16="http://schemas.microsoft.com/office/drawing/2014/main" id="{C8D97DA4-6242-4E73-AEFC-457D04FDC65B}"/>
              </a:ext>
            </a:extLst>
          </p:cNvPr>
          <p:cNvPicPr>
            <a:picLocks noChangeAspect="1"/>
          </p:cNvPicPr>
          <p:nvPr/>
        </p:nvPicPr>
        <p:blipFill>
          <a:blip r:embed="rId2"/>
          <a:stretch>
            <a:fillRect/>
          </a:stretch>
        </p:blipFill>
        <p:spPr>
          <a:xfrm rot="16200000">
            <a:off x="145169" y="-145167"/>
            <a:ext cx="1268414" cy="1558750"/>
          </a:xfrm>
          <a:prstGeom prst="rect">
            <a:avLst/>
          </a:prstGeom>
        </p:spPr>
      </p:pic>
      <p:sp>
        <p:nvSpPr>
          <p:cNvPr id="6" name="文字方塊 5">
            <a:extLst>
              <a:ext uri="{FF2B5EF4-FFF2-40B4-BE49-F238E27FC236}">
                <a16:creationId xmlns:a16="http://schemas.microsoft.com/office/drawing/2014/main" id="{8A30B01A-3198-4955-A208-0E3D9EB60397}"/>
              </a:ext>
            </a:extLst>
          </p:cNvPr>
          <p:cNvSpPr txBox="1"/>
          <p:nvPr/>
        </p:nvSpPr>
        <p:spPr>
          <a:xfrm>
            <a:off x="1558751" y="6596390"/>
            <a:ext cx="4217821" cy="261610"/>
          </a:xfrm>
          <a:prstGeom prst="rect">
            <a:avLst/>
          </a:prstGeom>
          <a:noFill/>
        </p:spPr>
        <p:txBody>
          <a:bodyPr wrap="none" rtlCol="0">
            <a:spAutoFit/>
          </a:bodyPr>
          <a:lstStyle/>
          <a:p>
            <a:r>
              <a:rPr lang="zh-TW" altLang="en-US" sz="1100" dirty="0">
                <a:latin typeface="Microsoft JhengHei Light" panose="020B0304030504040204" pitchFamily="34" charset="-120"/>
                <a:ea typeface="Microsoft JhengHei Light" panose="020B0304030504040204" pitchFamily="34" charset="-120"/>
              </a:rPr>
              <a:t>區塊鏈商業應用概論 實例與分析／新陸書局股份有限公司 發行</a:t>
            </a:r>
          </a:p>
        </p:txBody>
      </p:sp>
      <p:sp>
        <p:nvSpPr>
          <p:cNvPr id="9" name="標題 1">
            <a:extLst>
              <a:ext uri="{FF2B5EF4-FFF2-40B4-BE49-F238E27FC236}">
                <a16:creationId xmlns:a16="http://schemas.microsoft.com/office/drawing/2014/main" id="{475DFFF1-7C37-4CBE-ACFC-3F348BCD20CC}"/>
              </a:ext>
            </a:extLst>
          </p:cNvPr>
          <p:cNvSpPr txBox="1">
            <a:spLocks/>
          </p:cNvSpPr>
          <p:nvPr/>
        </p:nvSpPr>
        <p:spPr>
          <a:xfrm>
            <a:off x="1231956" y="393820"/>
            <a:ext cx="3643527" cy="874595"/>
          </a:xfrm>
          <a:prstGeom prst="rect">
            <a:avLst/>
          </a:prstGeom>
        </p:spPr>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altLang="zh-TW" sz="2400" b="1" dirty="0">
                <a:solidFill>
                  <a:srgbClr val="E06741"/>
                </a:solidFill>
              </a:rPr>
              <a:t>2-2 </a:t>
            </a:r>
            <a:r>
              <a:rPr lang="zh-TW" altLang="en-US" sz="2400" b="1" dirty="0">
                <a:solidFill>
                  <a:srgbClr val="E06741"/>
                </a:solidFill>
              </a:rPr>
              <a:t>區塊鏈技術發展</a:t>
            </a:r>
          </a:p>
          <a:p>
            <a:endParaRPr lang="zh-TW" altLang="en-US" sz="2400" dirty="0">
              <a:solidFill>
                <a:srgbClr val="E06741"/>
              </a:solidFill>
              <a:latin typeface="標楷體" panose="03000509000000000000" pitchFamily="65" charset="-120"/>
              <a:ea typeface="標楷體" panose="03000509000000000000" pitchFamily="65" charset="-120"/>
              <a:cs typeface="Times New Roman" panose="02020603050405020304" pitchFamily="18" charset="0"/>
            </a:endParaRPr>
          </a:p>
        </p:txBody>
      </p:sp>
      <p:sp>
        <p:nvSpPr>
          <p:cNvPr id="2" name="文字方塊 1">
            <a:extLst>
              <a:ext uri="{FF2B5EF4-FFF2-40B4-BE49-F238E27FC236}">
                <a16:creationId xmlns:a16="http://schemas.microsoft.com/office/drawing/2014/main" id="{D6D66D7E-58A1-40BE-8070-FA1C3AF22B14}"/>
              </a:ext>
            </a:extLst>
          </p:cNvPr>
          <p:cNvSpPr txBox="1"/>
          <p:nvPr/>
        </p:nvSpPr>
        <p:spPr>
          <a:xfrm>
            <a:off x="1103275" y="1368150"/>
            <a:ext cx="10229743" cy="4456476"/>
          </a:xfrm>
          <a:prstGeom prst="rect">
            <a:avLst/>
          </a:prstGeom>
          <a:noFill/>
        </p:spPr>
        <p:txBody>
          <a:bodyPr wrap="square" rtlCol="0">
            <a:spAutoFit/>
          </a:bodyPr>
          <a:lstStyle/>
          <a:p>
            <a:pPr lvl="1">
              <a:lnSpc>
                <a:spcPct val="150000"/>
              </a:lnSpc>
              <a:buSzPct val="100000"/>
            </a:pPr>
            <a:r>
              <a:rPr lang="en-US" altLang="zh-TW" sz="2400" b="1" dirty="0">
                <a:solidFill>
                  <a:schemeClr val="tx1">
                    <a:lumMod val="75000"/>
                    <a:lumOff val="25000"/>
                  </a:schemeClr>
                </a:solidFill>
                <a:latin typeface="微軟正黑體" panose="020B0604030504040204" pitchFamily="34" charset="-120"/>
                <a:ea typeface="微軟正黑體" panose="020B0604030504040204" pitchFamily="34" charset="-120"/>
              </a:rPr>
              <a:t>1. </a:t>
            </a:r>
            <a:r>
              <a:rPr lang="zh-TW" altLang="en-US" sz="2400" b="1" dirty="0">
                <a:solidFill>
                  <a:schemeClr val="tx1">
                    <a:lumMod val="75000"/>
                    <a:lumOff val="25000"/>
                  </a:schemeClr>
                </a:solidFill>
                <a:latin typeface="微軟正黑體" panose="020B0604030504040204" pitchFamily="34" charset="-120"/>
                <a:ea typeface="微軟正黑體" panose="020B0604030504040204" pitchFamily="34" charset="-120"/>
              </a:rPr>
              <a:t>公開金鑰（</a:t>
            </a:r>
            <a:r>
              <a:rPr lang="en-US" altLang="zh-TW" sz="2400" b="1" dirty="0">
                <a:solidFill>
                  <a:schemeClr val="tx1">
                    <a:lumMod val="75000"/>
                    <a:lumOff val="25000"/>
                  </a:schemeClr>
                </a:solidFill>
                <a:latin typeface="微軟正黑體" panose="020B0604030504040204" pitchFamily="34" charset="-120"/>
                <a:ea typeface="微軟正黑體" panose="020B0604030504040204" pitchFamily="34" charset="-120"/>
              </a:rPr>
              <a:t>Public Key</a:t>
            </a:r>
            <a:r>
              <a:rPr lang="zh-TW" altLang="en-US" sz="2400" b="1" dirty="0">
                <a:solidFill>
                  <a:schemeClr val="tx1">
                    <a:lumMod val="75000"/>
                    <a:lumOff val="25000"/>
                  </a:schemeClr>
                </a:solidFill>
                <a:latin typeface="微軟正黑體" panose="020B0604030504040204" pitchFamily="34" charset="-120"/>
                <a:ea typeface="微軟正黑體" panose="020B0604030504040204" pitchFamily="34" charset="-120"/>
              </a:rPr>
              <a:t>）</a:t>
            </a:r>
          </a:p>
          <a:p>
            <a:pPr marL="1257300" lvl="2" indent="-342900">
              <a:lnSpc>
                <a:spcPct val="150000"/>
              </a:lnSpc>
              <a:buSzPct val="100000"/>
              <a:buBlip>
                <a:blip r:embed="rId3"/>
              </a:buBlip>
            </a:pPr>
            <a:r>
              <a:rPr lang="zh-TW" altLang="en-US" sz="2400" b="1" dirty="0">
                <a:solidFill>
                  <a:schemeClr val="tx1">
                    <a:lumMod val="75000"/>
                    <a:lumOff val="25000"/>
                  </a:schemeClr>
                </a:solidFill>
                <a:latin typeface="微軟正黑體" panose="020B0604030504040204" pitchFamily="34" charset="-120"/>
                <a:ea typeface="微軟正黑體" panose="020B0604030504040204" pitchFamily="34" charset="-120"/>
              </a:rPr>
              <a:t>主要功能在於驗證使用者的財產擁有權</a:t>
            </a:r>
            <a:endParaRPr lang="en-US" altLang="zh-TW" sz="2400" b="1" dirty="0">
              <a:solidFill>
                <a:schemeClr val="tx1">
                  <a:lumMod val="75000"/>
                  <a:lumOff val="25000"/>
                </a:schemeClr>
              </a:solidFill>
              <a:latin typeface="微軟正黑體" panose="020B0604030504040204" pitchFamily="34" charset="-120"/>
              <a:ea typeface="微軟正黑體" panose="020B0604030504040204" pitchFamily="34" charset="-120"/>
            </a:endParaRPr>
          </a:p>
          <a:p>
            <a:pPr marL="1257300" lvl="2" indent="-342900">
              <a:lnSpc>
                <a:spcPct val="150000"/>
              </a:lnSpc>
              <a:buSzPct val="100000"/>
              <a:buBlip>
                <a:blip r:embed="rId3"/>
              </a:buBlip>
            </a:pPr>
            <a:r>
              <a:rPr lang="zh-TW" altLang="en-US" sz="2400" b="1" dirty="0">
                <a:solidFill>
                  <a:schemeClr val="tx1">
                    <a:lumMod val="75000"/>
                    <a:lumOff val="25000"/>
                  </a:schemeClr>
                </a:solidFill>
                <a:latin typeface="微軟正黑體" panose="020B0604030504040204" pitchFamily="34" charset="-120"/>
                <a:ea typeface="微軟正黑體" panose="020B0604030504040204" pitchFamily="34" charset="-120"/>
              </a:rPr>
              <a:t>任何獲得使用者公開金鑰的使用者即可使用「使用者的公開金鑰」</a:t>
            </a:r>
            <a:endParaRPr lang="en-US" altLang="zh-TW" sz="2400" b="1" dirty="0">
              <a:solidFill>
                <a:schemeClr val="tx1">
                  <a:lumMod val="75000"/>
                  <a:lumOff val="25000"/>
                </a:schemeClr>
              </a:solidFill>
              <a:latin typeface="微軟正黑體" panose="020B0604030504040204" pitchFamily="34" charset="-120"/>
              <a:ea typeface="微軟正黑體" panose="020B0604030504040204" pitchFamily="34" charset="-120"/>
            </a:endParaRPr>
          </a:p>
          <a:p>
            <a:pPr marL="1257300" lvl="2" indent="-342900">
              <a:lnSpc>
                <a:spcPct val="150000"/>
              </a:lnSpc>
              <a:buSzPct val="100000"/>
              <a:buBlip>
                <a:blip r:embed="rId3"/>
              </a:buBlip>
            </a:pPr>
            <a:r>
              <a:rPr lang="zh-TW" altLang="en-US" sz="2400" b="1" dirty="0">
                <a:solidFill>
                  <a:schemeClr val="tx1">
                    <a:lumMod val="75000"/>
                    <a:lumOff val="25000"/>
                  </a:schemeClr>
                </a:solidFill>
                <a:latin typeface="微軟正黑體" panose="020B0604030504040204" pitchFamily="34" charset="-120"/>
                <a:ea typeface="微軟正黑體" panose="020B0604030504040204" pitchFamily="34" charset="-120"/>
              </a:rPr>
              <a:t>私密金鑰可以單向轉換成公開金鑰</a:t>
            </a:r>
            <a:endParaRPr lang="en-US" altLang="zh-TW" sz="2400" b="1" dirty="0">
              <a:solidFill>
                <a:schemeClr val="tx1">
                  <a:lumMod val="75000"/>
                  <a:lumOff val="25000"/>
                </a:schemeClr>
              </a:solidFill>
              <a:latin typeface="微軟正黑體" panose="020B0604030504040204" pitchFamily="34" charset="-120"/>
              <a:ea typeface="微軟正黑體" panose="020B0604030504040204" pitchFamily="34" charset="-120"/>
            </a:endParaRPr>
          </a:p>
          <a:p>
            <a:pPr marL="1257300" lvl="2" indent="-342900">
              <a:lnSpc>
                <a:spcPct val="150000"/>
              </a:lnSpc>
              <a:buSzPct val="100000"/>
              <a:buBlip>
                <a:blip r:embed="rId3"/>
              </a:buBlip>
            </a:pPr>
            <a:r>
              <a:rPr lang="zh-TW" altLang="en-US" sz="2400" b="1" dirty="0">
                <a:solidFill>
                  <a:schemeClr val="tx1">
                    <a:lumMod val="75000"/>
                    <a:lumOff val="25000"/>
                  </a:schemeClr>
                </a:solidFill>
                <a:latin typeface="微軟正黑體" panose="020B0604030504040204" pitchFamily="34" charset="-120"/>
                <a:ea typeface="微軟正黑體" panose="020B0604030504040204" pitchFamily="34" charset="-120"/>
              </a:rPr>
              <a:t>是公鑰密碼學技術延伸，隨意篡改區塊的資料，會導致交易無效</a:t>
            </a:r>
            <a:endParaRPr lang="en-US" altLang="zh-TW" sz="2400" b="1" dirty="0">
              <a:solidFill>
                <a:schemeClr val="tx1">
                  <a:lumMod val="75000"/>
                  <a:lumOff val="25000"/>
                </a:schemeClr>
              </a:solidFill>
              <a:latin typeface="微軟正黑體" panose="020B0604030504040204" pitchFamily="34" charset="-120"/>
              <a:ea typeface="微軟正黑體" panose="020B0604030504040204" pitchFamily="34" charset="-120"/>
            </a:endParaRPr>
          </a:p>
          <a:p>
            <a:pPr marL="1257300" lvl="2" indent="-342900">
              <a:lnSpc>
                <a:spcPct val="150000"/>
              </a:lnSpc>
              <a:buSzPct val="100000"/>
              <a:buBlip>
                <a:blip r:embed="rId3"/>
              </a:buBlip>
            </a:pPr>
            <a:r>
              <a:rPr lang="zh-TW" altLang="en-US" sz="2400" b="1" dirty="0">
                <a:solidFill>
                  <a:schemeClr val="tx1">
                    <a:lumMod val="75000"/>
                    <a:lumOff val="25000"/>
                  </a:schemeClr>
                </a:solidFill>
                <a:latin typeface="微軟正黑體" panose="020B0604030504040204" pitchFamily="34" charset="-120"/>
                <a:ea typeface="微軟正黑體" panose="020B0604030504040204" pitchFamily="34" charset="-120"/>
              </a:rPr>
              <a:t>系統內的交易訊息透過公開金鑰認證後發出，每個節點都會接收到交易訊息，但只有擁有私密金鑰的人才能解密看到交易訊息內容，也就是區塊鏈上儲存的交易訊息都是加密的</a:t>
            </a:r>
          </a:p>
        </p:txBody>
      </p:sp>
      <p:cxnSp>
        <p:nvCxnSpPr>
          <p:cNvPr id="26" name="直接连接符 33">
            <a:extLst>
              <a:ext uri="{FF2B5EF4-FFF2-40B4-BE49-F238E27FC236}">
                <a16:creationId xmlns:a16="http://schemas.microsoft.com/office/drawing/2014/main" id="{C3725E45-5458-4931-9D9A-B8C15AE6AC41}"/>
              </a:ext>
            </a:extLst>
          </p:cNvPr>
          <p:cNvCxnSpPr>
            <a:cxnSpLocks/>
          </p:cNvCxnSpPr>
          <p:nvPr/>
        </p:nvCxnSpPr>
        <p:spPr>
          <a:xfrm>
            <a:off x="1334185" y="1102164"/>
            <a:ext cx="8068433" cy="0"/>
          </a:xfrm>
          <a:prstGeom prst="line">
            <a:avLst/>
          </a:prstGeom>
          <a:ln w="190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12" name="文字方塊 11">
            <a:extLst>
              <a:ext uri="{FF2B5EF4-FFF2-40B4-BE49-F238E27FC236}">
                <a16:creationId xmlns:a16="http://schemas.microsoft.com/office/drawing/2014/main" id="{9FE02F65-A32E-4124-B1E6-8E45750976E4}"/>
              </a:ext>
            </a:extLst>
          </p:cNvPr>
          <p:cNvSpPr txBox="1"/>
          <p:nvPr/>
        </p:nvSpPr>
        <p:spPr>
          <a:xfrm>
            <a:off x="4487241" y="449166"/>
            <a:ext cx="3076483" cy="400110"/>
          </a:xfrm>
          <a:prstGeom prst="rect">
            <a:avLst/>
          </a:prstGeom>
          <a:noFill/>
        </p:spPr>
        <p:txBody>
          <a:bodyPr wrap="none" rtlCol="0">
            <a:spAutoFit/>
          </a:bodyPr>
          <a:lstStyle/>
          <a:p>
            <a:r>
              <a:rPr lang="en-US" altLang="zh-TW" sz="2000" b="1" dirty="0">
                <a:solidFill>
                  <a:schemeClr val="tx1">
                    <a:lumMod val="65000"/>
                    <a:lumOff val="35000"/>
                  </a:schemeClr>
                </a:solidFill>
                <a:latin typeface="微軟正黑體" panose="020B0604030504040204" pitchFamily="34" charset="-120"/>
                <a:ea typeface="微軟正黑體" panose="020B0604030504040204" pitchFamily="34" charset="-120"/>
                <a:cs typeface="Times New Roman" panose="02020603050405020304" pitchFamily="18" charset="0"/>
              </a:rPr>
              <a:t>-2</a:t>
            </a:r>
            <a:r>
              <a:rPr lang="zh-TW" altLang="en-US" sz="2000" b="1" dirty="0">
                <a:solidFill>
                  <a:schemeClr val="tx1">
                    <a:lumMod val="65000"/>
                    <a:lumOff val="35000"/>
                  </a:schemeClr>
                </a:solidFill>
                <a:latin typeface="微軟正黑體" panose="020B0604030504040204" pitchFamily="34" charset="-120"/>
                <a:ea typeface="微軟正黑體" panose="020B0604030504040204" pitchFamily="34" charset="-120"/>
                <a:cs typeface="Times New Roman" panose="02020603050405020304" pitchFamily="18" charset="0"/>
              </a:rPr>
              <a:t> 區塊鏈技術之基本要素</a:t>
            </a:r>
          </a:p>
        </p:txBody>
      </p:sp>
      <p:pic>
        <p:nvPicPr>
          <p:cNvPr id="10" name="圖片 9">
            <a:extLst>
              <a:ext uri="{FF2B5EF4-FFF2-40B4-BE49-F238E27FC236}">
                <a16:creationId xmlns:a16="http://schemas.microsoft.com/office/drawing/2014/main" id="{8B07F0A7-FBA0-40A7-9D65-342525C03287}"/>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950600" y="357055"/>
            <a:ext cx="1490218" cy="1490218"/>
          </a:xfrm>
          <a:prstGeom prst="rect">
            <a:avLst/>
          </a:prstGeom>
        </p:spPr>
      </p:pic>
    </p:spTree>
    <p:extLst>
      <p:ext uri="{BB962C8B-B14F-4D97-AF65-F5344CB8AC3E}">
        <p14:creationId xmlns:p14="http://schemas.microsoft.com/office/powerpoint/2010/main" val="1322713286"/>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6" presetClass="entr" presetSubtype="16" fill="hold" grpId="0" nodeType="after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circle(in)">
                                      <p:cBhvr>
                                        <p:cTn id="7" dur="2000"/>
                                        <p:tgtEl>
                                          <p:spTgt spid="9"/>
                                        </p:tgtEl>
                                      </p:cBhvr>
                                    </p:animEffect>
                                  </p:childTnLst>
                                </p:cTn>
                              </p:par>
                            </p:childTnLst>
                          </p:cTn>
                        </p:par>
                        <p:par>
                          <p:cTn id="8" fill="hold">
                            <p:stCondLst>
                              <p:cond delay="2000"/>
                            </p:stCondLst>
                            <p:childTnLst>
                              <p:par>
                                <p:cTn id="9" presetID="14" presetClass="entr" presetSubtype="10" fill="hold" grpId="0" nodeType="afterEffect">
                                  <p:stCondLst>
                                    <p:cond delay="0"/>
                                  </p:stCondLst>
                                  <p:childTnLst>
                                    <p:set>
                                      <p:cBhvr>
                                        <p:cTn id="10" dur="1" fill="hold">
                                          <p:stCondLst>
                                            <p:cond delay="0"/>
                                          </p:stCondLst>
                                        </p:cTn>
                                        <p:tgtEl>
                                          <p:spTgt spid="12"/>
                                        </p:tgtEl>
                                        <p:attrNameLst>
                                          <p:attrName>style.visibility</p:attrName>
                                        </p:attrNameLst>
                                      </p:cBhvr>
                                      <p:to>
                                        <p:strVal val="visible"/>
                                      </p:to>
                                    </p:set>
                                    <p:animEffect transition="in" filter="randombar(horizontal)">
                                      <p:cBhvr>
                                        <p:cTn id="11" dur="500"/>
                                        <p:tgtEl>
                                          <p:spTgt spid="12"/>
                                        </p:tgtEl>
                                      </p:cBhvr>
                                    </p:animEffect>
                                  </p:childTnLst>
                                </p:cTn>
                              </p:par>
                            </p:childTnLst>
                          </p:cTn>
                        </p:par>
                        <p:par>
                          <p:cTn id="12" fill="hold">
                            <p:stCondLst>
                              <p:cond delay="2500"/>
                            </p:stCondLst>
                            <p:childTnLst>
                              <p:par>
                                <p:cTn id="13" presetID="2" presetClass="entr" presetSubtype="8" fill="hold" nodeType="afterEffect">
                                  <p:stCondLst>
                                    <p:cond delay="0"/>
                                  </p:stCondLst>
                                  <p:childTnLst>
                                    <p:set>
                                      <p:cBhvr>
                                        <p:cTn id="14" dur="1" fill="hold">
                                          <p:stCondLst>
                                            <p:cond delay="0"/>
                                          </p:stCondLst>
                                        </p:cTn>
                                        <p:tgtEl>
                                          <p:spTgt spid="26"/>
                                        </p:tgtEl>
                                        <p:attrNameLst>
                                          <p:attrName>style.visibility</p:attrName>
                                        </p:attrNameLst>
                                      </p:cBhvr>
                                      <p:to>
                                        <p:strVal val="visible"/>
                                      </p:to>
                                    </p:set>
                                    <p:anim calcmode="lin" valueType="num">
                                      <p:cBhvr additive="base">
                                        <p:cTn id="15" dur="500" fill="hold"/>
                                        <p:tgtEl>
                                          <p:spTgt spid="26"/>
                                        </p:tgtEl>
                                        <p:attrNameLst>
                                          <p:attrName>ppt_x</p:attrName>
                                        </p:attrNameLst>
                                      </p:cBhvr>
                                      <p:tavLst>
                                        <p:tav tm="0">
                                          <p:val>
                                            <p:strVal val="0-#ppt_w/2"/>
                                          </p:val>
                                        </p:tav>
                                        <p:tav tm="100000">
                                          <p:val>
                                            <p:strVal val="#ppt_x"/>
                                          </p:val>
                                        </p:tav>
                                      </p:tavLst>
                                    </p:anim>
                                    <p:anim calcmode="lin" valueType="num">
                                      <p:cBhvr additive="base">
                                        <p:cTn id="16" dur="500" fill="hold"/>
                                        <p:tgtEl>
                                          <p:spTgt spid="26"/>
                                        </p:tgtEl>
                                        <p:attrNameLst>
                                          <p:attrName>ppt_y</p:attrName>
                                        </p:attrNameLst>
                                      </p:cBhvr>
                                      <p:tavLst>
                                        <p:tav tm="0">
                                          <p:val>
                                            <p:strVal val="#ppt_y"/>
                                          </p:val>
                                        </p:tav>
                                        <p:tav tm="100000">
                                          <p:val>
                                            <p:strVal val="#ppt_y"/>
                                          </p:val>
                                        </p:tav>
                                      </p:tavLst>
                                    </p:anim>
                                  </p:childTnLst>
                                </p:cTn>
                              </p:par>
                            </p:childTnLst>
                          </p:cTn>
                        </p:par>
                        <p:par>
                          <p:cTn id="17" fill="hold">
                            <p:stCondLst>
                              <p:cond delay="3000"/>
                            </p:stCondLst>
                            <p:childTnLst>
                              <p:par>
                                <p:cTn id="18" presetID="3" presetClass="entr" presetSubtype="10" fill="hold" grpId="0" nodeType="afterEffect">
                                  <p:stCondLst>
                                    <p:cond delay="0"/>
                                  </p:stCondLst>
                                  <p:childTnLst>
                                    <p:set>
                                      <p:cBhvr>
                                        <p:cTn id="19" dur="1" fill="hold">
                                          <p:stCondLst>
                                            <p:cond delay="0"/>
                                          </p:stCondLst>
                                        </p:cTn>
                                        <p:tgtEl>
                                          <p:spTgt spid="2"/>
                                        </p:tgtEl>
                                        <p:attrNameLst>
                                          <p:attrName>style.visibility</p:attrName>
                                        </p:attrNameLst>
                                      </p:cBhvr>
                                      <p:to>
                                        <p:strVal val="visible"/>
                                      </p:to>
                                    </p:set>
                                    <p:animEffect transition="in" filter="blinds(horizontal)">
                                      <p:cBhvr>
                                        <p:cTn id="20" dur="500"/>
                                        <p:tgtEl>
                                          <p:spTgt spid="2"/>
                                        </p:tgtEl>
                                      </p:cBhvr>
                                    </p:animEffect>
                                  </p:childTnLst>
                                </p:cTn>
                              </p:par>
                            </p:childTnLst>
                          </p:cTn>
                        </p:par>
                        <p:par>
                          <p:cTn id="21" fill="hold">
                            <p:stCondLst>
                              <p:cond delay="3500"/>
                            </p:stCondLst>
                            <p:childTnLst>
                              <p:par>
                                <p:cTn id="22" presetID="31" presetClass="entr" presetSubtype="0" fill="hold" nodeType="afterEffect">
                                  <p:stCondLst>
                                    <p:cond delay="0"/>
                                  </p:stCondLst>
                                  <p:childTnLst>
                                    <p:set>
                                      <p:cBhvr>
                                        <p:cTn id="23" dur="1" fill="hold">
                                          <p:stCondLst>
                                            <p:cond delay="0"/>
                                          </p:stCondLst>
                                        </p:cTn>
                                        <p:tgtEl>
                                          <p:spTgt spid="10"/>
                                        </p:tgtEl>
                                        <p:attrNameLst>
                                          <p:attrName>style.visibility</p:attrName>
                                        </p:attrNameLst>
                                      </p:cBhvr>
                                      <p:to>
                                        <p:strVal val="visible"/>
                                      </p:to>
                                    </p:set>
                                    <p:anim calcmode="lin" valueType="num">
                                      <p:cBhvr>
                                        <p:cTn id="24" dur="1000" fill="hold"/>
                                        <p:tgtEl>
                                          <p:spTgt spid="10"/>
                                        </p:tgtEl>
                                        <p:attrNameLst>
                                          <p:attrName>ppt_w</p:attrName>
                                        </p:attrNameLst>
                                      </p:cBhvr>
                                      <p:tavLst>
                                        <p:tav tm="0">
                                          <p:val>
                                            <p:fltVal val="0"/>
                                          </p:val>
                                        </p:tav>
                                        <p:tav tm="100000">
                                          <p:val>
                                            <p:strVal val="#ppt_w"/>
                                          </p:val>
                                        </p:tav>
                                      </p:tavLst>
                                    </p:anim>
                                    <p:anim calcmode="lin" valueType="num">
                                      <p:cBhvr>
                                        <p:cTn id="25" dur="1000" fill="hold"/>
                                        <p:tgtEl>
                                          <p:spTgt spid="10"/>
                                        </p:tgtEl>
                                        <p:attrNameLst>
                                          <p:attrName>ppt_h</p:attrName>
                                        </p:attrNameLst>
                                      </p:cBhvr>
                                      <p:tavLst>
                                        <p:tav tm="0">
                                          <p:val>
                                            <p:fltVal val="0"/>
                                          </p:val>
                                        </p:tav>
                                        <p:tav tm="100000">
                                          <p:val>
                                            <p:strVal val="#ppt_h"/>
                                          </p:val>
                                        </p:tav>
                                      </p:tavLst>
                                    </p:anim>
                                    <p:anim calcmode="lin" valueType="num">
                                      <p:cBhvr>
                                        <p:cTn id="26" dur="1000" fill="hold"/>
                                        <p:tgtEl>
                                          <p:spTgt spid="10"/>
                                        </p:tgtEl>
                                        <p:attrNameLst>
                                          <p:attrName>style.rotation</p:attrName>
                                        </p:attrNameLst>
                                      </p:cBhvr>
                                      <p:tavLst>
                                        <p:tav tm="0">
                                          <p:val>
                                            <p:fltVal val="90"/>
                                          </p:val>
                                        </p:tav>
                                        <p:tav tm="100000">
                                          <p:val>
                                            <p:fltVal val="0"/>
                                          </p:val>
                                        </p:tav>
                                      </p:tavLst>
                                    </p:anim>
                                    <p:animEffect transition="in" filter="fade">
                                      <p:cBhvr>
                                        <p:cTn id="27" dur="10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2" grpId="0"/>
      <p:bldP spid="12" grpId="0"/>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图片 42">
            <a:extLst>
              <a:ext uri="{FF2B5EF4-FFF2-40B4-BE49-F238E27FC236}">
                <a16:creationId xmlns:a16="http://schemas.microsoft.com/office/drawing/2014/main" id="{C8D97DA4-6242-4E73-AEFC-457D04FDC65B}"/>
              </a:ext>
            </a:extLst>
          </p:cNvPr>
          <p:cNvPicPr>
            <a:picLocks noChangeAspect="1"/>
          </p:cNvPicPr>
          <p:nvPr/>
        </p:nvPicPr>
        <p:blipFill>
          <a:blip r:embed="rId2"/>
          <a:stretch>
            <a:fillRect/>
          </a:stretch>
        </p:blipFill>
        <p:spPr>
          <a:xfrm rot="16200000">
            <a:off x="145169" y="-145167"/>
            <a:ext cx="1268414" cy="1558750"/>
          </a:xfrm>
          <a:prstGeom prst="rect">
            <a:avLst/>
          </a:prstGeom>
        </p:spPr>
      </p:pic>
      <p:sp>
        <p:nvSpPr>
          <p:cNvPr id="6" name="文字方塊 5">
            <a:extLst>
              <a:ext uri="{FF2B5EF4-FFF2-40B4-BE49-F238E27FC236}">
                <a16:creationId xmlns:a16="http://schemas.microsoft.com/office/drawing/2014/main" id="{8A30B01A-3198-4955-A208-0E3D9EB60397}"/>
              </a:ext>
            </a:extLst>
          </p:cNvPr>
          <p:cNvSpPr txBox="1"/>
          <p:nvPr/>
        </p:nvSpPr>
        <p:spPr>
          <a:xfrm>
            <a:off x="1558751" y="6596390"/>
            <a:ext cx="4217821" cy="261610"/>
          </a:xfrm>
          <a:prstGeom prst="rect">
            <a:avLst/>
          </a:prstGeom>
          <a:noFill/>
        </p:spPr>
        <p:txBody>
          <a:bodyPr wrap="none" rtlCol="0">
            <a:spAutoFit/>
          </a:bodyPr>
          <a:lstStyle/>
          <a:p>
            <a:r>
              <a:rPr lang="zh-TW" altLang="en-US" sz="1100" dirty="0">
                <a:latin typeface="Microsoft JhengHei Light" panose="020B0304030504040204" pitchFamily="34" charset="-120"/>
                <a:ea typeface="Microsoft JhengHei Light" panose="020B0304030504040204" pitchFamily="34" charset="-120"/>
              </a:rPr>
              <a:t>區塊鏈商業應用概論 實例與分析／新陸書局股份有限公司 發行</a:t>
            </a:r>
          </a:p>
        </p:txBody>
      </p:sp>
      <p:sp>
        <p:nvSpPr>
          <p:cNvPr id="9" name="標題 1">
            <a:extLst>
              <a:ext uri="{FF2B5EF4-FFF2-40B4-BE49-F238E27FC236}">
                <a16:creationId xmlns:a16="http://schemas.microsoft.com/office/drawing/2014/main" id="{475DFFF1-7C37-4CBE-ACFC-3F348BCD20CC}"/>
              </a:ext>
            </a:extLst>
          </p:cNvPr>
          <p:cNvSpPr txBox="1">
            <a:spLocks/>
          </p:cNvSpPr>
          <p:nvPr/>
        </p:nvSpPr>
        <p:spPr>
          <a:xfrm>
            <a:off x="1231956" y="393820"/>
            <a:ext cx="3643527" cy="874595"/>
          </a:xfrm>
          <a:prstGeom prst="rect">
            <a:avLst/>
          </a:prstGeom>
        </p:spPr>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altLang="zh-TW" sz="2400" b="1" dirty="0">
                <a:solidFill>
                  <a:srgbClr val="E06741"/>
                </a:solidFill>
              </a:rPr>
              <a:t>2-2 </a:t>
            </a:r>
            <a:r>
              <a:rPr lang="zh-TW" altLang="en-US" sz="2400" b="1" dirty="0">
                <a:solidFill>
                  <a:srgbClr val="E06741"/>
                </a:solidFill>
              </a:rPr>
              <a:t>區塊鏈技術發展</a:t>
            </a:r>
          </a:p>
          <a:p>
            <a:endParaRPr lang="zh-TW" altLang="en-US" sz="2400" dirty="0">
              <a:solidFill>
                <a:srgbClr val="E06741"/>
              </a:solidFill>
              <a:latin typeface="標楷體" panose="03000509000000000000" pitchFamily="65" charset="-120"/>
              <a:ea typeface="標楷體" panose="03000509000000000000" pitchFamily="65" charset="-120"/>
              <a:cs typeface="Times New Roman" panose="02020603050405020304" pitchFamily="18" charset="0"/>
            </a:endParaRPr>
          </a:p>
        </p:txBody>
      </p:sp>
      <p:sp>
        <p:nvSpPr>
          <p:cNvPr id="2" name="文字方塊 1">
            <a:extLst>
              <a:ext uri="{FF2B5EF4-FFF2-40B4-BE49-F238E27FC236}">
                <a16:creationId xmlns:a16="http://schemas.microsoft.com/office/drawing/2014/main" id="{D6D66D7E-58A1-40BE-8070-FA1C3AF22B14}"/>
              </a:ext>
            </a:extLst>
          </p:cNvPr>
          <p:cNvSpPr txBox="1"/>
          <p:nvPr/>
        </p:nvSpPr>
        <p:spPr>
          <a:xfrm>
            <a:off x="1231956" y="1355053"/>
            <a:ext cx="10221135" cy="4456476"/>
          </a:xfrm>
          <a:prstGeom prst="rect">
            <a:avLst/>
          </a:prstGeom>
          <a:noFill/>
        </p:spPr>
        <p:txBody>
          <a:bodyPr wrap="square" rtlCol="0">
            <a:spAutoFit/>
          </a:bodyPr>
          <a:lstStyle/>
          <a:p>
            <a:pPr lvl="1">
              <a:lnSpc>
                <a:spcPct val="150000"/>
              </a:lnSpc>
              <a:buSzPct val="100000"/>
            </a:pPr>
            <a:r>
              <a:rPr lang="en-US" altLang="zh-TW" sz="2400" b="1" dirty="0">
                <a:solidFill>
                  <a:schemeClr val="tx1">
                    <a:lumMod val="75000"/>
                    <a:lumOff val="25000"/>
                  </a:schemeClr>
                </a:solidFill>
                <a:latin typeface="微軟正黑體" panose="020B0604030504040204" pitchFamily="34" charset="-120"/>
                <a:ea typeface="微軟正黑體" panose="020B0604030504040204" pitchFamily="34" charset="-120"/>
              </a:rPr>
              <a:t>2. </a:t>
            </a:r>
            <a:r>
              <a:rPr lang="zh-TW" altLang="en-US" sz="2400" b="1" dirty="0">
                <a:solidFill>
                  <a:schemeClr val="tx1">
                    <a:lumMod val="75000"/>
                    <a:lumOff val="25000"/>
                  </a:schemeClr>
                </a:solidFill>
                <a:latin typeface="微軟正黑體" panose="020B0604030504040204" pitchFamily="34" charset="-120"/>
                <a:ea typeface="微軟正黑體" panose="020B0604030504040204" pitchFamily="34" charset="-120"/>
              </a:rPr>
              <a:t>私密金鑰（</a:t>
            </a:r>
            <a:r>
              <a:rPr lang="en-US" altLang="zh-TW" sz="2400" b="1" dirty="0">
                <a:solidFill>
                  <a:schemeClr val="tx1">
                    <a:lumMod val="75000"/>
                    <a:lumOff val="25000"/>
                  </a:schemeClr>
                </a:solidFill>
                <a:latin typeface="微軟正黑體" panose="020B0604030504040204" pitchFamily="34" charset="-120"/>
                <a:ea typeface="微軟正黑體" panose="020B0604030504040204" pitchFamily="34" charset="-120"/>
              </a:rPr>
              <a:t>Private Key</a:t>
            </a:r>
            <a:r>
              <a:rPr lang="zh-TW" altLang="en-US" sz="2400" b="1" dirty="0">
                <a:solidFill>
                  <a:schemeClr val="tx1">
                    <a:lumMod val="75000"/>
                    <a:lumOff val="25000"/>
                  </a:schemeClr>
                </a:solidFill>
                <a:latin typeface="微軟正黑體" panose="020B0604030504040204" pitchFamily="34" charset="-120"/>
                <a:ea typeface="微軟正黑體" panose="020B0604030504040204" pitchFamily="34" charset="-120"/>
              </a:rPr>
              <a:t>）</a:t>
            </a:r>
          </a:p>
          <a:p>
            <a:pPr marL="1257300" lvl="2" indent="-342900">
              <a:lnSpc>
                <a:spcPct val="150000"/>
              </a:lnSpc>
              <a:buSzPct val="100000"/>
              <a:buBlip>
                <a:blip r:embed="rId3"/>
              </a:buBlip>
            </a:pPr>
            <a:r>
              <a:rPr lang="zh-TW" altLang="en-US" sz="2400" b="1" dirty="0">
                <a:solidFill>
                  <a:schemeClr val="tx1">
                    <a:lumMod val="75000"/>
                    <a:lumOff val="25000"/>
                  </a:schemeClr>
                </a:solidFill>
                <a:latin typeface="微軟正黑體" panose="020B0604030504040204" pitchFamily="34" charset="-120"/>
                <a:ea typeface="微軟正黑體" panose="020B0604030504040204" pitchFamily="34" charset="-120"/>
              </a:rPr>
              <a:t>區塊鏈技術中的私密金鑰是一種「副署」的概念，對於交易行為進行再確認的驗證 </a:t>
            </a:r>
            <a:endParaRPr lang="en-US" altLang="zh-TW" sz="2400" b="1" dirty="0">
              <a:solidFill>
                <a:schemeClr val="tx1">
                  <a:lumMod val="75000"/>
                  <a:lumOff val="25000"/>
                </a:schemeClr>
              </a:solidFill>
              <a:latin typeface="微軟正黑體" panose="020B0604030504040204" pitchFamily="34" charset="-120"/>
              <a:ea typeface="微軟正黑體" panose="020B0604030504040204" pitchFamily="34" charset="-120"/>
            </a:endParaRPr>
          </a:p>
          <a:p>
            <a:pPr marL="1828800" lvl="3" indent="-457200">
              <a:lnSpc>
                <a:spcPct val="150000"/>
              </a:lnSpc>
              <a:buSzPct val="100000"/>
              <a:buFont typeface="+mj-lt"/>
              <a:buAutoNum type="arabicParenR"/>
            </a:pPr>
            <a:r>
              <a:rPr lang="zh-TW" altLang="en-US" sz="2400" b="1" dirty="0">
                <a:solidFill>
                  <a:schemeClr val="tx1">
                    <a:lumMod val="75000"/>
                    <a:lumOff val="25000"/>
                  </a:schemeClr>
                </a:solidFill>
                <a:latin typeface="微軟正黑體" panose="020B0604030504040204" pitchFamily="34" charset="-120"/>
                <a:ea typeface="微軟正黑體" panose="020B0604030504040204" pitchFamily="34" charset="-120"/>
              </a:rPr>
              <a:t>私密金鑰也用來將相對應公開金鑰所加密的訊息解密</a:t>
            </a:r>
          </a:p>
          <a:p>
            <a:pPr marL="1828800" lvl="3" indent="-457200">
              <a:lnSpc>
                <a:spcPct val="150000"/>
              </a:lnSpc>
              <a:buSzPct val="100000"/>
              <a:buFont typeface="+mj-lt"/>
              <a:buAutoNum type="arabicParenR"/>
            </a:pPr>
            <a:r>
              <a:rPr lang="zh-TW" altLang="en-US" sz="2400" b="1" dirty="0">
                <a:solidFill>
                  <a:schemeClr val="tx1">
                    <a:lumMod val="75000"/>
                    <a:lumOff val="25000"/>
                  </a:schemeClr>
                </a:solidFill>
                <a:latin typeface="微軟正黑體" panose="020B0604030504040204" pitchFamily="34" charset="-120"/>
                <a:ea typeface="微軟正黑體" panose="020B0604030504040204" pitchFamily="34" charset="-120"/>
              </a:rPr>
              <a:t>私密金鑰保存在使用者系統上，受到密碼保護</a:t>
            </a:r>
          </a:p>
          <a:p>
            <a:pPr marL="1828800" lvl="3" indent="-457200">
              <a:lnSpc>
                <a:spcPct val="150000"/>
              </a:lnSpc>
              <a:buSzPct val="100000"/>
              <a:buFont typeface="+mj-lt"/>
              <a:buAutoNum type="arabicParenR"/>
            </a:pPr>
            <a:r>
              <a:rPr lang="zh-TW" altLang="en-US" sz="2400" b="1" dirty="0">
                <a:solidFill>
                  <a:schemeClr val="tx1">
                    <a:lumMod val="75000"/>
                    <a:lumOff val="25000"/>
                  </a:schemeClr>
                </a:solidFill>
                <a:latin typeface="微軟正黑體" panose="020B0604030504040204" pitchFamily="34" charset="-120"/>
                <a:ea typeface="微軟正黑體" panose="020B0604030504040204" pitchFamily="34" charset="-120"/>
              </a:rPr>
              <a:t>私密金鑰是一串證明你有從一個特定的錢包使用區塊鏈權力的秘密數據，私密金鑰讓您可以通過加密的數位簽章來使用區塊鏈</a:t>
            </a:r>
          </a:p>
        </p:txBody>
      </p:sp>
      <p:cxnSp>
        <p:nvCxnSpPr>
          <p:cNvPr id="26" name="直接连接符 33">
            <a:extLst>
              <a:ext uri="{FF2B5EF4-FFF2-40B4-BE49-F238E27FC236}">
                <a16:creationId xmlns:a16="http://schemas.microsoft.com/office/drawing/2014/main" id="{C3725E45-5458-4931-9D9A-B8C15AE6AC41}"/>
              </a:ext>
            </a:extLst>
          </p:cNvPr>
          <p:cNvCxnSpPr>
            <a:cxnSpLocks/>
          </p:cNvCxnSpPr>
          <p:nvPr/>
        </p:nvCxnSpPr>
        <p:spPr>
          <a:xfrm>
            <a:off x="1334185" y="1102164"/>
            <a:ext cx="9878760" cy="0"/>
          </a:xfrm>
          <a:prstGeom prst="line">
            <a:avLst/>
          </a:prstGeom>
          <a:ln w="190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12" name="文字方塊 11">
            <a:extLst>
              <a:ext uri="{FF2B5EF4-FFF2-40B4-BE49-F238E27FC236}">
                <a16:creationId xmlns:a16="http://schemas.microsoft.com/office/drawing/2014/main" id="{9FE02F65-A32E-4124-B1E6-8E45750976E4}"/>
              </a:ext>
            </a:extLst>
          </p:cNvPr>
          <p:cNvSpPr txBox="1"/>
          <p:nvPr/>
        </p:nvSpPr>
        <p:spPr>
          <a:xfrm>
            <a:off x="4487241" y="449166"/>
            <a:ext cx="3076483" cy="400110"/>
          </a:xfrm>
          <a:prstGeom prst="rect">
            <a:avLst/>
          </a:prstGeom>
          <a:noFill/>
        </p:spPr>
        <p:txBody>
          <a:bodyPr wrap="none" rtlCol="0">
            <a:spAutoFit/>
          </a:bodyPr>
          <a:lstStyle/>
          <a:p>
            <a:r>
              <a:rPr lang="en-US" altLang="zh-TW" sz="2000" b="1" dirty="0">
                <a:solidFill>
                  <a:schemeClr val="tx1">
                    <a:lumMod val="65000"/>
                    <a:lumOff val="35000"/>
                  </a:schemeClr>
                </a:solidFill>
                <a:latin typeface="微軟正黑體" panose="020B0604030504040204" pitchFamily="34" charset="-120"/>
                <a:ea typeface="微軟正黑體" panose="020B0604030504040204" pitchFamily="34" charset="-120"/>
                <a:cs typeface="Times New Roman" panose="02020603050405020304" pitchFamily="18" charset="0"/>
              </a:rPr>
              <a:t>-2</a:t>
            </a:r>
            <a:r>
              <a:rPr lang="zh-TW" altLang="en-US" sz="2000" b="1" dirty="0">
                <a:solidFill>
                  <a:schemeClr val="tx1">
                    <a:lumMod val="65000"/>
                    <a:lumOff val="35000"/>
                  </a:schemeClr>
                </a:solidFill>
                <a:latin typeface="微軟正黑體" panose="020B0604030504040204" pitchFamily="34" charset="-120"/>
                <a:ea typeface="微軟正黑體" panose="020B0604030504040204" pitchFamily="34" charset="-120"/>
                <a:cs typeface="Times New Roman" panose="02020603050405020304" pitchFamily="18" charset="0"/>
              </a:rPr>
              <a:t> 區塊鏈技術之基本要素</a:t>
            </a:r>
          </a:p>
        </p:txBody>
      </p:sp>
      <p:pic>
        <p:nvPicPr>
          <p:cNvPr id="11" name="圖片 10" descr="一張含有 文字, 向量圖形 的圖片&#10;&#10;描述是以非常高的可信度產生">
            <a:extLst>
              <a:ext uri="{FF2B5EF4-FFF2-40B4-BE49-F238E27FC236}">
                <a16:creationId xmlns:a16="http://schemas.microsoft.com/office/drawing/2014/main" id="{DC46BF68-2E76-4E73-8AE2-F401884AF4EC}"/>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0" y="4740283"/>
            <a:ext cx="2142492" cy="2142492"/>
          </a:xfrm>
          <a:prstGeom prst="rect">
            <a:avLst/>
          </a:prstGeom>
        </p:spPr>
      </p:pic>
    </p:spTree>
    <p:extLst>
      <p:ext uri="{BB962C8B-B14F-4D97-AF65-F5344CB8AC3E}">
        <p14:creationId xmlns:p14="http://schemas.microsoft.com/office/powerpoint/2010/main" val="2463655942"/>
      </p:ext>
    </p:extLst>
  </p:cSld>
  <p:clrMapOvr>
    <a:masterClrMapping/>
  </p:clrMapOvr>
  <p:transition spd="slow">
    <p:randomBar dir="vert"/>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6" presetClass="entr" presetSubtype="16" fill="hold" grpId="0" nodeType="after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circle(in)">
                                      <p:cBhvr>
                                        <p:cTn id="7" dur="2000"/>
                                        <p:tgtEl>
                                          <p:spTgt spid="9"/>
                                        </p:tgtEl>
                                      </p:cBhvr>
                                    </p:animEffect>
                                  </p:childTnLst>
                                </p:cTn>
                              </p:par>
                            </p:childTnLst>
                          </p:cTn>
                        </p:par>
                        <p:par>
                          <p:cTn id="8" fill="hold">
                            <p:stCondLst>
                              <p:cond delay="2000"/>
                            </p:stCondLst>
                            <p:childTnLst>
                              <p:par>
                                <p:cTn id="9" presetID="14" presetClass="entr" presetSubtype="10" fill="hold" grpId="0" nodeType="afterEffect">
                                  <p:stCondLst>
                                    <p:cond delay="0"/>
                                  </p:stCondLst>
                                  <p:childTnLst>
                                    <p:set>
                                      <p:cBhvr>
                                        <p:cTn id="10" dur="1" fill="hold">
                                          <p:stCondLst>
                                            <p:cond delay="0"/>
                                          </p:stCondLst>
                                        </p:cTn>
                                        <p:tgtEl>
                                          <p:spTgt spid="12"/>
                                        </p:tgtEl>
                                        <p:attrNameLst>
                                          <p:attrName>style.visibility</p:attrName>
                                        </p:attrNameLst>
                                      </p:cBhvr>
                                      <p:to>
                                        <p:strVal val="visible"/>
                                      </p:to>
                                    </p:set>
                                    <p:animEffect transition="in" filter="randombar(horizontal)">
                                      <p:cBhvr>
                                        <p:cTn id="11" dur="500"/>
                                        <p:tgtEl>
                                          <p:spTgt spid="12"/>
                                        </p:tgtEl>
                                      </p:cBhvr>
                                    </p:animEffect>
                                  </p:childTnLst>
                                </p:cTn>
                              </p:par>
                            </p:childTnLst>
                          </p:cTn>
                        </p:par>
                        <p:par>
                          <p:cTn id="12" fill="hold">
                            <p:stCondLst>
                              <p:cond delay="2500"/>
                            </p:stCondLst>
                            <p:childTnLst>
                              <p:par>
                                <p:cTn id="13" presetID="2" presetClass="entr" presetSubtype="8" fill="hold" nodeType="afterEffect">
                                  <p:stCondLst>
                                    <p:cond delay="0"/>
                                  </p:stCondLst>
                                  <p:childTnLst>
                                    <p:set>
                                      <p:cBhvr>
                                        <p:cTn id="14" dur="1" fill="hold">
                                          <p:stCondLst>
                                            <p:cond delay="0"/>
                                          </p:stCondLst>
                                        </p:cTn>
                                        <p:tgtEl>
                                          <p:spTgt spid="26"/>
                                        </p:tgtEl>
                                        <p:attrNameLst>
                                          <p:attrName>style.visibility</p:attrName>
                                        </p:attrNameLst>
                                      </p:cBhvr>
                                      <p:to>
                                        <p:strVal val="visible"/>
                                      </p:to>
                                    </p:set>
                                    <p:anim calcmode="lin" valueType="num">
                                      <p:cBhvr additive="base">
                                        <p:cTn id="15" dur="500" fill="hold"/>
                                        <p:tgtEl>
                                          <p:spTgt spid="26"/>
                                        </p:tgtEl>
                                        <p:attrNameLst>
                                          <p:attrName>ppt_x</p:attrName>
                                        </p:attrNameLst>
                                      </p:cBhvr>
                                      <p:tavLst>
                                        <p:tav tm="0">
                                          <p:val>
                                            <p:strVal val="0-#ppt_w/2"/>
                                          </p:val>
                                        </p:tav>
                                        <p:tav tm="100000">
                                          <p:val>
                                            <p:strVal val="#ppt_x"/>
                                          </p:val>
                                        </p:tav>
                                      </p:tavLst>
                                    </p:anim>
                                    <p:anim calcmode="lin" valueType="num">
                                      <p:cBhvr additive="base">
                                        <p:cTn id="16" dur="500" fill="hold"/>
                                        <p:tgtEl>
                                          <p:spTgt spid="26"/>
                                        </p:tgtEl>
                                        <p:attrNameLst>
                                          <p:attrName>ppt_y</p:attrName>
                                        </p:attrNameLst>
                                      </p:cBhvr>
                                      <p:tavLst>
                                        <p:tav tm="0">
                                          <p:val>
                                            <p:strVal val="#ppt_y"/>
                                          </p:val>
                                        </p:tav>
                                        <p:tav tm="100000">
                                          <p:val>
                                            <p:strVal val="#ppt_y"/>
                                          </p:val>
                                        </p:tav>
                                      </p:tavLst>
                                    </p:anim>
                                  </p:childTnLst>
                                </p:cTn>
                              </p:par>
                            </p:childTnLst>
                          </p:cTn>
                        </p:par>
                        <p:par>
                          <p:cTn id="17" fill="hold">
                            <p:stCondLst>
                              <p:cond delay="3000"/>
                            </p:stCondLst>
                            <p:childTnLst>
                              <p:par>
                                <p:cTn id="18" presetID="14" presetClass="entr" presetSubtype="10" fill="hold" grpId="0" nodeType="afterEffect">
                                  <p:stCondLst>
                                    <p:cond delay="0"/>
                                  </p:stCondLst>
                                  <p:childTnLst>
                                    <p:set>
                                      <p:cBhvr>
                                        <p:cTn id="19" dur="1" fill="hold">
                                          <p:stCondLst>
                                            <p:cond delay="0"/>
                                          </p:stCondLst>
                                        </p:cTn>
                                        <p:tgtEl>
                                          <p:spTgt spid="2"/>
                                        </p:tgtEl>
                                        <p:attrNameLst>
                                          <p:attrName>style.visibility</p:attrName>
                                        </p:attrNameLst>
                                      </p:cBhvr>
                                      <p:to>
                                        <p:strVal val="visible"/>
                                      </p:to>
                                    </p:set>
                                    <p:animEffect transition="in" filter="randombar(horizontal)">
                                      <p:cBhvr>
                                        <p:cTn id="20" dur="500"/>
                                        <p:tgtEl>
                                          <p:spTgt spid="2"/>
                                        </p:tgtEl>
                                      </p:cBhvr>
                                    </p:animEffect>
                                  </p:childTnLst>
                                </p:cTn>
                              </p:par>
                            </p:childTnLst>
                          </p:cTn>
                        </p:par>
                        <p:par>
                          <p:cTn id="21" fill="hold">
                            <p:stCondLst>
                              <p:cond delay="3500"/>
                            </p:stCondLst>
                            <p:childTnLst>
                              <p:par>
                                <p:cTn id="22" presetID="53" presetClass="entr" presetSubtype="16" fill="hold" nodeType="afterEffect">
                                  <p:stCondLst>
                                    <p:cond delay="0"/>
                                  </p:stCondLst>
                                  <p:childTnLst>
                                    <p:set>
                                      <p:cBhvr>
                                        <p:cTn id="23" dur="1" fill="hold">
                                          <p:stCondLst>
                                            <p:cond delay="0"/>
                                          </p:stCondLst>
                                        </p:cTn>
                                        <p:tgtEl>
                                          <p:spTgt spid="11"/>
                                        </p:tgtEl>
                                        <p:attrNameLst>
                                          <p:attrName>style.visibility</p:attrName>
                                        </p:attrNameLst>
                                      </p:cBhvr>
                                      <p:to>
                                        <p:strVal val="visible"/>
                                      </p:to>
                                    </p:set>
                                    <p:anim calcmode="lin" valueType="num">
                                      <p:cBhvr>
                                        <p:cTn id="24" dur="500" fill="hold"/>
                                        <p:tgtEl>
                                          <p:spTgt spid="11"/>
                                        </p:tgtEl>
                                        <p:attrNameLst>
                                          <p:attrName>ppt_w</p:attrName>
                                        </p:attrNameLst>
                                      </p:cBhvr>
                                      <p:tavLst>
                                        <p:tav tm="0">
                                          <p:val>
                                            <p:fltVal val="0"/>
                                          </p:val>
                                        </p:tav>
                                        <p:tav tm="100000">
                                          <p:val>
                                            <p:strVal val="#ppt_w"/>
                                          </p:val>
                                        </p:tav>
                                      </p:tavLst>
                                    </p:anim>
                                    <p:anim calcmode="lin" valueType="num">
                                      <p:cBhvr>
                                        <p:cTn id="25" dur="500" fill="hold"/>
                                        <p:tgtEl>
                                          <p:spTgt spid="11"/>
                                        </p:tgtEl>
                                        <p:attrNameLst>
                                          <p:attrName>ppt_h</p:attrName>
                                        </p:attrNameLst>
                                      </p:cBhvr>
                                      <p:tavLst>
                                        <p:tav tm="0">
                                          <p:val>
                                            <p:fltVal val="0"/>
                                          </p:val>
                                        </p:tav>
                                        <p:tav tm="100000">
                                          <p:val>
                                            <p:strVal val="#ppt_h"/>
                                          </p:val>
                                        </p:tav>
                                      </p:tavLst>
                                    </p:anim>
                                    <p:animEffect transition="in" filter="fade">
                                      <p:cBhvr>
                                        <p:cTn id="26"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2" grpId="0"/>
      <p:bldP spid="12" grpId="0"/>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图片 42">
            <a:extLst>
              <a:ext uri="{FF2B5EF4-FFF2-40B4-BE49-F238E27FC236}">
                <a16:creationId xmlns:a16="http://schemas.microsoft.com/office/drawing/2014/main" id="{C8D97DA4-6242-4E73-AEFC-457D04FDC65B}"/>
              </a:ext>
            </a:extLst>
          </p:cNvPr>
          <p:cNvPicPr>
            <a:picLocks noChangeAspect="1"/>
          </p:cNvPicPr>
          <p:nvPr/>
        </p:nvPicPr>
        <p:blipFill>
          <a:blip r:embed="rId2"/>
          <a:stretch>
            <a:fillRect/>
          </a:stretch>
        </p:blipFill>
        <p:spPr>
          <a:xfrm rot="16200000">
            <a:off x="145169" y="-145167"/>
            <a:ext cx="1268414" cy="1558750"/>
          </a:xfrm>
          <a:prstGeom prst="rect">
            <a:avLst/>
          </a:prstGeom>
        </p:spPr>
      </p:pic>
      <p:sp>
        <p:nvSpPr>
          <p:cNvPr id="6" name="文字方塊 5">
            <a:extLst>
              <a:ext uri="{FF2B5EF4-FFF2-40B4-BE49-F238E27FC236}">
                <a16:creationId xmlns:a16="http://schemas.microsoft.com/office/drawing/2014/main" id="{8A30B01A-3198-4955-A208-0E3D9EB60397}"/>
              </a:ext>
            </a:extLst>
          </p:cNvPr>
          <p:cNvSpPr txBox="1"/>
          <p:nvPr/>
        </p:nvSpPr>
        <p:spPr>
          <a:xfrm>
            <a:off x="1558751" y="6596390"/>
            <a:ext cx="4217821" cy="261610"/>
          </a:xfrm>
          <a:prstGeom prst="rect">
            <a:avLst/>
          </a:prstGeom>
          <a:noFill/>
        </p:spPr>
        <p:txBody>
          <a:bodyPr wrap="none" rtlCol="0">
            <a:spAutoFit/>
          </a:bodyPr>
          <a:lstStyle/>
          <a:p>
            <a:r>
              <a:rPr lang="zh-TW" altLang="en-US" sz="1100" dirty="0">
                <a:latin typeface="Microsoft JhengHei Light" panose="020B0304030504040204" pitchFamily="34" charset="-120"/>
                <a:ea typeface="Microsoft JhengHei Light" panose="020B0304030504040204" pitchFamily="34" charset="-120"/>
              </a:rPr>
              <a:t>區塊鏈商業應用概論 實例與分析／新陸書局股份有限公司 發行</a:t>
            </a:r>
          </a:p>
        </p:txBody>
      </p:sp>
      <p:sp>
        <p:nvSpPr>
          <p:cNvPr id="9" name="標題 1">
            <a:extLst>
              <a:ext uri="{FF2B5EF4-FFF2-40B4-BE49-F238E27FC236}">
                <a16:creationId xmlns:a16="http://schemas.microsoft.com/office/drawing/2014/main" id="{475DFFF1-7C37-4CBE-ACFC-3F348BCD20CC}"/>
              </a:ext>
            </a:extLst>
          </p:cNvPr>
          <p:cNvSpPr txBox="1">
            <a:spLocks/>
          </p:cNvSpPr>
          <p:nvPr/>
        </p:nvSpPr>
        <p:spPr>
          <a:xfrm>
            <a:off x="1231956" y="393820"/>
            <a:ext cx="3643527" cy="874595"/>
          </a:xfrm>
          <a:prstGeom prst="rect">
            <a:avLst/>
          </a:prstGeom>
        </p:spPr>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altLang="zh-TW" sz="2400" b="1" dirty="0">
                <a:solidFill>
                  <a:srgbClr val="E06741"/>
                </a:solidFill>
              </a:rPr>
              <a:t>2-2 </a:t>
            </a:r>
            <a:r>
              <a:rPr lang="zh-TW" altLang="en-US" sz="2400" b="1" dirty="0">
                <a:solidFill>
                  <a:srgbClr val="E06741"/>
                </a:solidFill>
              </a:rPr>
              <a:t>區塊鏈技術發展</a:t>
            </a:r>
          </a:p>
          <a:p>
            <a:endParaRPr lang="zh-TW" altLang="en-US" sz="2400" dirty="0">
              <a:solidFill>
                <a:srgbClr val="E06741"/>
              </a:solidFill>
              <a:latin typeface="標楷體" panose="03000509000000000000" pitchFamily="65" charset="-120"/>
              <a:ea typeface="標楷體" panose="03000509000000000000" pitchFamily="65" charset="-120"/>
              <a:cs typeface="Times New Roman" panose="02020603050405020304" pitchFamily="18" charset="0"/>
            </a:endParaRPr>
          </a:p>
        </p:txBody>
      </p:sp>
      <p:sp>
        <p:nvSpPr>
          <p:cNvPr id="10" name="文字方塊 9">
            <a:extLst>
              <a:ext uri="{FF2B5EF4-FFF2-40B4-BE49-F238E27FC236}">
                <a16:creationId xmlns:a16="http://schemas.microsoft.com/office/drawing/2014/main" id="{198702E0-29BF-45ED-BB34-E70A3CAA9F43}"/>
              </a:ext>
            </a:extLst>
          </p:cNvPr>
          <p:cNvSpPr txBox="1"/>
          <p:nvPr/>
        </p:nvSpPr>
        <p:spPr>
          <a:xfrm>
            <a:off x="4487241" y="449166"/>
            <a:ext cx="3076483" cy="400110"/>
          </a:xfrm>
          <a:prstGeom prst="rect">
            <a:avLst/>
          </a:prstGeom>
          <a:noFill/>
        </p:spPr>
        <p:txBody>
          <a:bodyPr wrap="none" rtlCol="0">
            <a:spAutoFit/>
          </a:bodyPr>
          <a:lstStyle/>
          <a:p>
            <a:r>
              <a:rPr lang="en-US" altLang="zh-TW" sz="2000" b="1" dirty="0">
                <a:solidFill>
                  <a:schemeClr val="tx1">
                    <a:lumMod val="65000"/>
                    <a:lumOff val="35000"/>
                  </a:schemeClr>
                </a:solidFill>
                <a:latin typeface="微軟正黑體" panose="020B0604030504040204" pitchFamily="34" charset="-120"/>
                <a:ea typeface="微軟正黑體" panose="020B0604030504040204" pitchFamily="34" charset="-120"/>
                <a:cs typeface="Times New Roman" panose="02020603050405020304" pitchFamily="18" charset="0"/>
              </a:rPr>
              <a:t>-2</a:t>
            </a:r>
            <a:r>
              <a:rPr lang="zh-TW" altLang="en-US" sz="2000" b="1" dirty="0">
                <a:solidFill>
                  <a:schemeClr val="tx1">
                    <a:lumMod val="65000"/>
                    <a:lumOff val="35000"/>
                  </a:schemeClr>
                </a:solidFill>
                <a:latin typeface="微軟正黑體" panose="020B0604030504040204" pitchFamily="34" charset="-120"/>
                <a:ea typeface="微軟正黑體" panose="020B0604030504040204" pitchFamily="34" charset="-120"/>
                <a:cs typeface="Times New Roman" panose="02020603050405020304" pitchFamily="18" charset="0"/>
              </a:rPr>
              <a:t> 區塊鏈技術之基本要素</a:t>
            </a:r>
          </a:p>
        </p:txBody>
      </p:sp>
      <p:cxnSp>
        <p:nvCxnSpPr>
          <p:cNvPr id="26" name="直接连接符 33">
            <a:extLst>
              <a:ext uri="{FF2B5EF4-FFF2-40B4-BE49-F238E27FC236}">
                <a16:creationId xmlns:a16="http://schemas.microsoft.com/office/drawing/2014/main" id="{C3725E45-5458-4931-9D9A-B8C15AE6AC41}"/>
              </a:ext>
            </a:extLst>
          </p:cNvPr>
          <p:cNvCxnSpPr>
            <a:cxnSpLocks/>
          </p:cNvCxnSpPr>
          <p:nvPr/>
        </p:nvCxnSpPr>
        <p:spPr>
          <a:xfrm>
            <a:off x="1177167" y="1046746"/>
            <a:ext cx="10091197" cy="0"/>
          </a:xfrm>
          <a:prstGeom prst="line">
            <a:avLst/>
          </a:prstGeom>
          <a:ln w="190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grpSp>
        <p:nvGrpSpPr>
          <p:cNvPr id="12" name="群組 11">
            <a:extLst>
              <a:ext uri="{FF2B5EF4-FFF2-40B4-BE49-F238E27FC236}">
                <a16:creationId xmlns:a16="http://schemas.microsoft.com/office/drawing/2014/main" id="{9FAE2B98-3CA0-4AAF-820C-D3CA876EA53E}"/>
              </a:ext>
            </a:extLst>
          </p:cNvPr>
          <p:cNvGrpSpPr/>
          <p:nvPr/>
        </p:nvGrpSpPr>
        <p:grpSpPr>
          <a:xfrm>
            <a:off x="1904704" y="1525964"/>
            <a:ext cx="9021452" cy="5070426"/>
            <a:chOff x="769129" y="2023027"/>
            <a:chExt cx="6971226" cy="3890680"/>
          </a:xfrm>
        </p:grpSpPr>
        <p:sp>
          <p:nvSpPr>
            <p:cNvPr id="13" name="圓角矩形 10">
              <a:extLst>
                <a:ext uri="{FF2B5EF4-FFF2-40B4-BE49-F238E27FC236}">
                  <a16:creationId xmlns:a16="http://schemas.microsoft.com/office/drawing/2014/main" id="{5AA2E5B9-1C8C-4608-963E-A7F3EE28C8C4}"/>
                </a:ext>
              </a:extLst>
            </p:cNvPr>
            <p:cNvSpPr/>
            <p:nvPr/>
          </p:nvSpPr>
          <p:spPr>
            <a:xfrm>
              <a:off x="1706400" y="4041499"/>
              <a:ext cx="6033955" cy="1872208"/>
            </a:xfrm>
            <a:prstGeom prst="roundRect">
              <a:avLst/>
            </a:prstGeom>
            <a:solidFill>
              <a:srgbClr val="70AD47">
                <a:lumMod val="20000"/>
                <a:lumOff val="80000"/>
              </a:srgbClr>
            </a:solidFill>
            <a:ln w="12700" cap="flat" cmpd="sng" algn="ctr">
              <a:solidFill>
                <a:srgbClr val="A5A5A5">
                  <a:lumMod val="20000"/>
                  <a:lumOff val="80000"/>
                </a:srgbClr>
              </a:solidFill>
              <a:prstDash val="sysDot"/>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TW" altLang="en-US" sz="2400" b="1" i="0" u="none" strike="noStrike" kern="0" cap="none" spc="0" normalizeH="0" baseline="0" noProof="0">
                <a:ln>
                  <a:noFill/>
                </a:ln>
                <a:solidFill>
                  <a:prstClr val="white"/>
                </a:solidFill>
                <a:effectLst/>
                <a:uLnTx/>
                <a:uFillTx/>
                <a:latin typeface="微軟正黑體" panose="020B0604030504040204" pitchFamily="34" charset="-120"/>
                <a:ea typeface="微軟正黑體" panose="020B0604030504040204" pitchFamily="34" charset="-120"/>
              </a:endParaRPr>
            </a:p>
          </p:txBody>
        </p:sp>
        <p:sp>
          <p:nvSpPr>
            <p:cNvPr id="16" name="圓角矩形 12">
              <a:extLst>
                <a:ext uri="{FF2B5EF4-FFF2-40B4-BE49-F238E27FC236}">
                  <a16:creationId xmlns:a16="http://schemas.microsoft.com/office/drawing/2014/main" id="{2E56EDF3-9D00-4746-8E08-FE19F516349C}"/>
                </a:ext>
              </a:extLst>
            </p:cNvPr>
            <p:cNvSpPr/>
            <p:nvPr/>
          </p:nvSpPr>
          <p:spPr>
            <a:xfrm>
              <a:off x="1718788" y="2023027"/>
              <a:ext cx="6021564" cy="1864523"/>
            </a:xfrm>
            <a:prstGeom prst="roundRect">
              <a:avLst/>
            </a:prstGeom>
            <a:solidFill>
              <a:srgbClr val="A5A5A5">
                <a:lumMod val="20000"/>
                <a:lumOff val="80000"/>
              </a:srgbClr>
            </a:solidFill>
            <a:ln w="12700" cap="flat" cmpd="sng" algn="ctr">
              <a:solidFill>
                <a:srgbClr val="A5A5A5">
                  <a:lumMod val="40000"/>
                  <a:lumOff val="60000"/>
                </a:srgbClr>
              </a:solidFill>
              <a:prstDash val="sysDot"/>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TW" altLang="en-US" sz="2400" b="1" i="0" u="none" strike="noStrike" kern="0" cap="none" spc="0" normalizeH="0" baseline="0" noProof="0" dirty="0">
                <a:ln>
                  <a:noFill/>
                </a:ln>
                <a:solidFill>
                  <a:prstClr val="white"/>
                </a:solidFill>
                <a:effectLst/>
                <a:uLnTx/>
                <a:uFillTx/>
                <a:latin typeface="微軟正黑體" panose="020B0604030504040204" pitchFamily="34" charset="-120"/>
                <a:ea typeface="微軟正黑體" panose="020B0604030504040204" pitchFamily="34" charset="-120"/>
              </a:endParaRPr>
            </a:p>
          </p:txBody>
        </p:sp>
        <p:sp>
          <p:nvSpPr>
            <p:cNvPr id="19" name="矩形 18">
              <a:extLst>
                <a:ext uri="{FF2B5EF4-FFF2-40B4-BE49-F238E27FC236}">
                  <a16:creationId xmlns:a16="http://schemas.microsoft.com/office/drawing/2014/main" id="{5E308669-CCDF-4585-AD00-DCDEE42AE98F}"/>
                </a:ext>
              </a:extLst>
            </p:cNvPr>
            <p:cNvSpPr/>
            <p:nvPr/>
          </p:nvSpPr>
          <p:spPr>
            <a:xfrm>
              <a:off x="769129" y="2810850"/>
              <a:ext cx="768289" cy="277159"/>
            </a:xfrm>
            <a:prstGeom prst="rect">
              <a:avLst/>
            </a:prstGeom>
            <a:solidFill>
              <a:srgbClr val="C6DBB7"/>
            </a:solidFill>
            <a:ln w="6350" cap="flat" cmpd="sng" algn="ctr">
              <a:noFill/>
              <a:prstDash val="solid"/>
              <a:miter lim="800000"/>
            </a:ln>
            <a:effectLst/>
          </p:spPr>
          <p:txBody>
            <a:bodyPr wrap="none"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zh-TW" sz="1800" b="1" i="0" u="none" strike="noStrike" kern="0" cap="none" spc="0" normalizeH="0" baseline="0" noProof="0" dirty="0">
                  <a:ln>
                    <a:noFill/>
                  </a:ln>
                  <a:solidFill>
                    <a:prstClr val="black"/>
                  </a:solidFill>
                  <a:effectLst/>
                  <a:uLnTx/>
                  <a:uFillTx/>
                  <a:latin typeface="微軟正黑體" panose="020B0604030504040204" pitchFamily="34" charset="-120"/>
                  <a:ea typeface="微軟正黑體" panose="020B0604030504040204" pitchFamily="34" charset="-120"/>
                </a:rPr>
                <a:t>Alice</a:t>
              </a:r>
              <a:r>
                <a:rPr kumimoji="0" lang="zh-TW" altLang="en-US" sz="1800" b="1" i="0" u="none" strike="noStrike" kern="0" cap="none" spc="0" normalizeH="0" baseline="0" noProof="0" dirty="0">
                  <a:ln>
                    <a:noFill/>
                  </a:ln>
                  <a:solidFill>
                    <a:prstClr val="black"/>
                  </a:solidFill>
                  <a:effectLst/>
                  <a:uLnTx/>
                  <a:uFillTx/>
                  <a:latin typeface="微軟正黑體" panose="020B0604030504040204" pitchFamily="34" charset="-120"/>
                  <a:ea typeface="微軟正黑體" panose="020B0604030504040204" pitchFamily="34" charset="-120"/>
                </a:rPr>
                <a:t> 端</a:t>
              </a:r>
            </a:p>
          </p:txBody>
        </p:sp>
        <p:sp>
          <p:nvSpPr>
            <p:cNvPr id="20" name="圓角矩形 14">
              <a:extLst>
                <a:ext uri="{FF2B5EF4-FFF2-40B4-BE49-F238E27FC236}">
                  <a16:creationId xmlns:a16="http://schemas.microsoft.com/office/drawing/2014/main" id="{31653EEC-2E5E-40D8-B4E5-867CCDB74DB0}"/>
                </a:ext>
              </a:extLst>
            </p:cNvPr>
            <p:cNvSpPr/>
            <p:nvPr/>
          </p:nvSpPr>
          <p:spPr>
            <a:xfrm>
              <a:off x="1851962" y="2655789"/>
              <a:ext cx="991849" cy="598986"/>
            </a:xfrm>
            <a:prstGeom prst="roundRect">
              <a:avLst/>
            </a:prstGeom>
            <a:solidFill>
              <a:srgbClr val="E7E6E6"/>
            </a:solidFill>
            <a:ln w="6350" cap="flat" cmpd="sng" algn="ctr">
              <a:solidFill>
                <a:sysClr val="windowText" lastClr="000000"/>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TW" sz="1400" b="1" i="0" u="none" strike="noStrike" kern="0" cap="none" spc="0" normalizeH="0" baseline="0" noProof="0" dirty="0">
                  <a:ln>
                    <a:noFill/>
                  </a:ln>
                  <a:solidFill>
                    <a:prstClr val="black"/>
                  </a:solidFill>
                  <a:effectLst/>
                  <a:uLnTx/>
                  <a:uFillTx/>
                  <a:latin typeface="微軟正黑體" panose="020B0604030504040204" pitchFamily="34" charset="-120"/>
                  <a:ea typeface="微軟正黑體" panose="020B0604030504040204" pitchFamily="34" charset="-120"/>
                </a:rPr>
                <a:t>I pay $100</a:t>
              </a:r>
              <a:endParaRPr kumimoji="0" lang="zh-TW" altLang="en-US" sz="1400" b="1" i="0" u="none" strike="noStrike" kern="0" cap="none" spc="0" normalizeH="0" baseline="0" noProof="0" dirty="0">
                <a:ln>
                  <a:noFill/>
                </a:ln>
                <a:solidFill>
                  <a:prstClr val="black"/>
                </a:solidFill>
                <a:effectLst/>
                <a:uLnTx/>
                <a:uFillTx/>
                <a:latin typeface="微軟正黑體" panose="020B0604030504040204" pitchFamily="34" charset="-120"/>
                <a:ea typeface="微軟正黑體" panose="020B0604030504040204" pitchFamily="34" charset="-120"/>
              </a:endParaRPr>
            </a:p>
          </p:txBody>
        </p:sp>
        <p:sp>
          <p:nvSpPr>
            <p:cNvPr id="21" name="矩形 20">
              <a:extLst>
                <a:ext uri="{FF2B5EF4-FFF2-40B4-BE49-F238E27FC236}">
                  <a16:creationId xmlns:a16="http://schemas.microsoft.com/office/drawing/2014/main" id="{92B0BA99-7AF0-4438-A280-E26AA4FCEA57}"/>
                </a:ext>
              </a:extLst>
            </p:cNvPr>
            <p:cNvSpPr/>
            <p:nvPr/>
          </p:nvSpPr>
          <p:spPr>
            <a:xfrm>
              <a:off x="3923010" y="2108914"/>
              <a:ext cx="964540" cy="230966"/>
            </a:xfrm>
            <a:prstGeom prst="rect">
              <a:avLst/>
            </a:prstGeom>
            <a:solidFill>
              <a:srgbClr val="C6DBB7"/>
            </a:solidFill>
            <a:ln w="6350" cap="flat" cmpd="sng" algn="ctr">
              <a:solidFill>
                <a:schemeClr val="bg1">
                  <a:lumMod val="95000"/>
                </a:schemeClr>
              </a:solidFill>
              <a:prstDash val="solid"/>
              <a:miter lim="800000"/>
            </a:ln>
            <a:effectLst/>
          </p:spPr>
          <p:txBody>
            <a:bodyPr wrap="none">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TW" sz="1400" b="1" i="0" u="none" strike="noStrike" kern="0" cap="none" spc="0" normalizeH="0" baseline="0" noProof="0" dirty="0">
                  <a:ln>
                    <a:noFill/>
                  </a:ln>
                  <a:solidFill>
                    <a:prstClr val="black"/>
                  </a:solidFill>
                  <a:effectLst/>
                  <a:uLnTx/>
                  <a:uFillTx/>
                  <a:latin typeface="微軟正黑體" panose="020B0604030504040204" pitchFamily="34" charset="-120"/>
                  <a:ea typeface="微軟正黑體" panose="020B0604030504040204" pitchFamily="34" charset="-120"/>
                </a:rPr>
                <a:t>Alice’s </a:t>
              </a:r>
              <a:r>
                <a:rPr kumimoji="0" lang="zh-TW" altLang="en-US" sz="1400" b="1" i="0" u="none" strike="noStrike" kern="0" cap="none" spc="0" normalizeH="0" baseline="0" noProof="0" dirty="0">
                  <a:ln>
                    <a:noFill/>
                  </a:ln>
                  <a:solidFill>
                    <a:prstClr val="black"/>
                  </a:solidFill>
                  <a:effectLst/>
                  <a:uLnTx/>
                  <a:uFillTx/>
                  <a:latin typeface="微軟正黑體" panose="020B0604030504040204" pitchFamily="34" charset="-120"/>
                  <a:ea typeface="微軟正黑體" panose="020B0604030504040204" pitchFamily="34" charset="-120"/>
                </a:rPr>
                <a:t>私鑰</a:t>
              </a:r>
            </a:p>
          </p:txBody>
        </p:sp>
        <p:sp>
          <p:nvSpPr>
            <p:cNvPr id="22" name="矩形 21">
              <a:extLst>
                <a:ext uri="{FF2B5EF4-FFF2-40B4-BE49-F238E27FC236}">
                  <a16:creationId xmlns:a16="http://schemas.microsoft.com/office/drawing/2014/main" id="{750388C7-76A7-4DCB-A0F9-15F56D1691FF}"/>
                </a:ext>
              </a:extLst>
            </p:cNvPr>
            <p:cNvSpPr/>
            <p:nvPr/>
          </p:nvSpPr>
          <p:spPr>
            <a:xfrm>
              <a:off x="3933765" y="3528500"/>
              <a:ext cx="920701" cy="230966"/>
            </a:xfrm>
            <a:prstGeom prst="rect">
              <a:avLst/>
            </a:prstGeom>
            <a:solidFill>
              <a:srgbClr val="E7E6E6">
                <a:lumMod val="90000"/>
              </a:srgbClr>
            </a:solidFill>
            <a:ln w="6350" cap="flat" cmpd="sng" algn="ctr">
              <a:solidFill>
                <a:schemeClr val="bg1">
                  <a:lumMod val="95000"/>
                </a:schemeClr>
              </a:solidFill>
              <a:prstDash val="solid"/>
              <a:miter lim="800000"/>
            </a:ln>
            <a:effectLst/>
          </p:spPr>
          <p:txBody>
            <a:bodyPr wrap="square">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TW" sz="1400" b="1" i="0" u="none" strike="noStrike" kern="0" cap="none" spc="0" normalizeH="0" baseline="0" noProof="0" dirty="0">
                  <a:ln>
                    <a:noFill/>
                  </a:ln>
                  <a:solidFill>
                    <a:prstClr val="black"/>
                  </a:solidFill>
                  <a:effectLst/>
                  <a:uLnTx/>
                  <a:uFillTx/>
                  <a:latin typeface="微軟正黑體" panose="020B0604030504040204" pitchFamily="34" charset="-120"/>
                  <a:ea typeface="微軟正黑體" panose="020B0604030504040204" pitchFamily="34" charset="-120"/>
                </a:rPr>
                <a:t>Bob’s </a:t>
              </a:r>
              <a:r>
                <a:rPr kumimoji="0" lang="zh-TW" altLang="en-US" sz="1400" b="1" i="0" u="none" strike="noStrike" kern="0" cap="none" spc="0" normalizeH="0" baseline="0" noProof="0" dirty="0">
                  <a:ln>
                    <a:noFill/>
                  </a:ln>
                  <a:solidFill>
                    <a:prstClr val="black"/>
                  </a:solidFill>
                  <a:effectLst/>
                  <a:uLnTx/>
                  <a:uFillTx/>
                  <a:latin typeface="微軟正黑體" panose="020B0604030504040204" pitchFamily="34" charset="-120"/>
                  <a:ea typeface="微軟正黑體" panose="020B0604030504040204" pitchFamily="34" charset="-120"/>
                </a:rPr>
                <a:t>公鑰</a:t>
              </a:r>
            </a:p>
          </p:txBody>
        </p:sp>
        <p:sp>
          <p:nvSpPr>
            <p:cNvPr id="23" name="矩形 22">
              <a:extLst>
                <a:ext uri="{FF2B5EF4-FFF2-40B4-BE49-F238E27FC236}">
                  <a16:creationId xmlns:a16="http://schemas.microsoft.com/office/drawing/2014/main" id="{7BBBDC6A-EDC5-42FE-A088-528959734886}"/>
                </a:ext>
              </a:extLst>
            </p:cNvPr>
            <p:cNvSpPr/>
            <p:nvPr/>
          </p:nvSpPr>
          <p:spPr>
            <a:xfrm>
              <a:off x="2056542" y="3292176"/>
              <a:ext cx="449683" cy="254062"/>
            </a:xfrm>
            <a:prstGeom prst="rect">
              <a:avLst/>
            </a:prstGeom>
          </p:spPr>
          <p:txBody>
            <a:bodyPr wrap="none">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zh-TW" altLang="en-US" sz="1600" b="1" i="0" u="none" strike="noStrike" kern="0" cap="none" spc="0" normalizeH="0" baseline="0" noProof="0" dirty="0">
                  <a:ln>
                    <a:noFill/>
                  </a:ln>
                  <a:solidFill>
                    <a:prstClr val="black"/>
                  </a:solidFill>
                  <a:effectLst/>
                  <a:uLnTx/>
                  <a:uFillTx/>
                  <a:latin typeface="微軟正黑體" panose="020B0604030504040204" pitchFamily="34" charset="-120"/>
                  <a:ea typeface="微軟正黑體" panose="020B0604030504040204" pitchFamily="34" charset="-120"/>
                </a:rPr>
                <a:t>明文</a:t>
              </a:r>
            </a:p>
          </p:txBody>
        </p:sp>
        <p:sp>
          <p:nvSpPr>
            <p:cNvPr id="24" name="矩形 23">
              <a:extLst>
                <a:ext uri="{FF2B5EF4-FFF2-40B4-BE49-F238E27FC236}">
                  <a16:creationId xmlns:a16="http://schemas.microsoft.com/office/drawing/2014/main" id="{29B78CAC-0510-4FD3-80BE-D2DA2DAB86A0}"/>
                </a:ext>
              </a:extLst>
            </p:cNvPr>
            <p:cNvSpPr/>
            <p:nvPr/>
          </p:nvSpPr>
          <p:spPr>
            <a:xfrm>
              <a:off x="6348142" y="3302763"/>
              <a:ext cx="449683" cy="254062"/>
            </a:xfrm>
            <a:prstGeom prst="rect">
              <a:avLst/>
            </a:prstGeom>
          </p:spPr>
          <p:txBody>
            <a:bodyPr wrap="none">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zh-TW" altLang="en-US" sz="1600" b="1" i="0" u="none" strike="noStrike" kern="0" cap="none" spc="0" normalizeH="0" baseline="0" noProof="0" dirty="0">
                  <a:ln>
                    <a:noFill/>
                  </a:ln>
                  <a:solidFill>
                    <a:prstClr val="black"/>
                  </a:solidFill>
                  <a:effectLst/>
                  <a:uLnTx/>
                  <a:uFillTx/>
                  <a:latin typeface="微軟正黑體" panose="020B0604030504040204" pitchFamily="34" charset="-120"/>
                  <a:ea typeface="微軟正黑體" panose="020B0604030504040204" pitchFamily="34" charset="-120"/>
                </a:rPr>
                <a:t>密文</a:t>
              </a:r>
            </a:p>
          </p:txBody>
        </p:sp>
        <p:sp>
          <p:nvSpPr>
            <p:cNvPr id="25" name="圓角矩形 19">
              <a:extLst>
                <a:ext uri="{FF2B5EF4-FFF2-40B4-BE49-F238E27FC236}">
                  <a16:creationId xmlns:a16="http://schemas.microsoft.com/office/drawing/2014/main" id="{2BDECFB6-0F21-415A-9DD4-85E823F66232}"/>
                </a:ext>
              </a:extLst>
            </p:cNvPr>
            <p:cNvSpPr/>
            <p:nvPr/>
          </p:nvSpPr>
          <p:spPr>
            <a:xfrm>
              <a:off x="6045990" y="2646242"/>
              <a:ext cx="1096745" cy="608539"/>
            </a:xfrm>
            <a:prstGeom prst="roundRect">
              <a:avLst/>
            </a:prstGeom>
            <a:solidFill>
              <a:srgbClr val="E7E6E6"/>
            </a:solidFill>
            <a:ln w="6350" cap="flat" cmpd="sng" algn="ctr">
              <a:solidFill>
                <a:sysClr val="windowText" lastClr="000000"/>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TW" sz="1400" b="1" i="0" u="none" strike="noStrike" kern="0" cap="none" spc="0" normalizeH="0" baseline="0" noProof="0" dirty="0">
                  <a:ln>
                    <a:noFill/>
                  </a:ln>
                  <a:solidFill>
                    <a:prstClr val="black"/>
                  </a:solidFill>
                  <a:effectLst/>
                  <a:uLnTx/>
                  <a:uFillTx/>
                  <a:latin typeface="微軟正黑體" panose="020B0604030504040204" pitchFamily="34" charset="-120"/>
                  <a:ea typeface="微軟正黑體" panose="020B0604030504040204" pitchFamily="34" charset="-120"/>
                </a:rPr>
                <a:t>DFCD3D54</a:t>
              </a:r>
            </a:p>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TW" sz="1400" b="1" i="0" u="none" strike="noStrike" kern="0" cap="none" spc="0" normalizeH="0" baseline="0" noProof="0" dirty="0">
                  <a:ln>
                    <a:noFill/>
                  </a:ln>
                  <a:solidFill>
                    <a:prstClr val="black"/>
                  </a:solidFill>
                  <a:effectLst/>
                  <a:uLnTx/>
                  <a:uFillTx/>
                  <a:latin typeface="微軟正黑體" panose="020B0604030504040204" pitchFamily="34" charset="-120"/>
                  <a:ea typeface="微軟正黑體" panose="020B0604030504040204" pitchFamily="34" charset="-120"/>
                </a:rPr>
                <a:t>BBEA788A</a:t>
              </a:r>
              <a:endParaRPr kumimoji="0" lang="zh-TW" altLang="en-US" sz="1400" b="1" i="0" u="none" strike="noStrike" kern="0" cap="none" spc="0" normalizeH="0" baseline="0" noProof="0" dirty="0">
                <a:ln>
                  <a:noFill/>
                </a:ln>
                <a:solidFill>
                  <a:prstClr val="black"/>
                </a:solidFill>
                <a:effectLst/>
                <a:uLnTx/>
                <a:uFillTx/>
                <a:latin typeface="微軟正黑體" panose="020B0604030504040204" pitchFamily="34" charset="-120"/>
                <a:ea typeface="微軟正黑體" panose="020B0604030504040204" pitchFamily="34" charset="-120"/>
              </a:endParaRPr>
            </a:p>
          </p:txBody>
        </p:sp>
        <p:sp>
          <p:nvSpPr>
            <p:cNvPr id="27" name="向右箭號 21">
              <a:extLst>
                <a:ext uri="{FF2B5EF4-FFF2-40B4-BE49-F238E27FC236}">
                  <a16:creationId xmlns:a16="http://schemas.microsoft.com/office/drawing/2014/main" id="{3164C12E-E1B4-4D50-9E10-E22A835111CD}"/>
                </a:ext>
              </a:extLst>
            </p:cNvPr>
            <p:cNvSpPr/>
            <p:nvPr/>
          </p:nvSpPr>
          <p:spPr>
            <a:xfrm>
              <a:off x="5292796" y="2915412"/>
              <a:ext cx="413630" cy="170764"/>
            </a:xfrm>
            <a:prstGeom prst="rightArrow">
              <a:avLst/>
            </a:prstGeom>
            <a:solidFill>
              <a:srgbClr val="A5A5A5">
                <a:lumMod val="20000"/>
                <a:lumOff val="80000"/>
              </a:srgbClr>
            </a:solidFill>
            <a:ln w="12700" cap="flat" cmpd="sng" algn="ctr">
              <a:solidFill>
                <a:srgbClr val="5B9BD5">
                  <a:shade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TW" altLang="en-US" sz="1800" b="1" i="0" u="none" strike="noStrike" kern="0" cap="none" spc="0" normalizeH="0" baseline="0" noProof="0">
                <a:ln>
                  <a:noFill/>
                </a:ln>
                <a:solidFill>
                  <a:prstClr val="white"/>
                </a:solidFill>
                <a:effectLst/>
                <a:uLnTx/>
                <a:uFillTx/>
                <a:latin typeface="微軟正黑體" panose="020B0604030504040204" pitchFamily="34" charset="-120"/>
                <a:ea typeface="微軟正黑體" panose="020B0604030504040204" pitchFamily="34" charset="-120"/>
              </a:endParaRPr>
            </a:p>
          </p:txBody>
        </p:sp>
        <p:sp>
          <p:nvSpPr>
            <p:cNvPr id="28" name="向下箭號 22">
              <a:extLst>
                <a:ext uri="{FF2B5EF4-FFF2-40B4-BE49-F238E27FC236}">
                  <a16:creationId xmlns:a16="http://schemas.microsoft.com/office/drawing/2014/main" id="{BADCAE86-E01E-44D3-801D-5FB9F242A220}"/>
                </a:ext>
              </a:extLst>
            </p:cNvPr>
            <p:cNvSpPr/>
            <p:nvPr/>
          </p:nvSpPr>
          <p:spPr>
            <a:xfrm>
              <a:off x="6379485" y="3667005"/>
              <a:ext cx="312661" cy="729893"/>
            </a:xfrm>
            <a:prstGeom prst="downArrow">
              <a:avLst>
                <a:gd name="adj1" fmla="val 42773"/>
                <a:gd name="adj2" fmla="val 50000"/>
              </a:avLst>
            </a:prstGeom>
            <a:solidFill>
              <a:srgbClr val="A5A5A5">
                <a:lumMod val="20000"/>
                <a:lumOff val="80000"/>
              </a:srgbClr>
            </a:solidFill>
            <a:ln w="12700" cap="flat" cmpd="sng" algn="ctr">
              <a:solidFill>
                <a:srgbClr val="5B9BD5">
                  <a:shade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TW" altLang="en-US" sz="1800" b="1" i="0" u="none" strike="noStrike" kern="0" cap="none" spc="0" normalizeH="0" baseline="0" noProof="0">
                <a:ln>
                  <a:noFill/>
                </a:ln>
                <a:solidFill>
                  <a:prstClr val="white"/>
                </a:solidFill>
                <a:effectLst/>
                <a:uLnTx/>
                <a:uFillTx/>
                <a:latin typeface="微軟正黑體" panose="020B0604030504040204" pitchFamily="34" charset="-120"/>
                <a:ea typeface="微軟正黑體" panose="020B0604030504040204" pitchFamily="34" charset="-120"/>
              </a:endParaRPr>
            </a:p>
          </p:txBody>
        </p:sp>
        <p:sp>
          <p:nvSpPr>
            <p:cNvPr id="29" name="圓角矩形 23">
              <a:extLst>
                <a:ext uri="{FF2B5EF4-FFF2-40B4-BE49-F238E27FC236}">
                  <a16:creationId xmlns:a16="http://schemas.microsoft.com/office/drawing/2014/main" id="{5F72452D-5FBD-4393-85BE-9338305C3EB6}"/>
                </a:ext>
              </a:extLst>
            </p:cNvPr>
            <p:cNvSpPr/>
            <p:nvPr/>
          </p:nvSpPr>
          <p:spPr>
            <a:xfrm>
              <a:off x="1873708" y="4668902"/>
              <a:ext cx="970100" cy="587730"/>
            </a:xfrm>
            <a:prstGeom prst="roundRect">
              <a:avLst/>
            </a:prstGeom>
            <a:solidFill>
              <a:srgbClr val="E7E6E6"/>
            </a:solidFill>
            <a:ln w="6350" cap="flat" cmpd="sng" algn="ctr">
              <a:solidFill>
                <a:sysClr val="windowText" lastClr="000000"/>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TW" sz="1400" b="1" i="0" u="none" strike="noStrike" kern="0" cap="none" spc="0" normalizeH="0" baseline="0" noProof="0" dirty="0">
                  <a:ln>
                    <a:noFill/>
                  </a:ln>
                  <a:solidFill>
                    <a:prstClr val="black"/>
                  </a:solidFill>
                  <a:effectLst/>
                  <a:uLnTx/>
                  <a:uFillTx/>
                  <a:latin typeface="微軟正黑體" panose="020B0604030504040204" pitchFamily="34" charset="-120"/>
                  <a:ea typeface="微軟正黑體" panose="020B0604030504040204" pitchFamily="34" charset="-120"/>
                </a:rPr>
                <a:t>I pay $100</a:t>
              </a:r>
              <a:endParaRPr kumimoji="0" lang="zh-TW" altLang="en-US" sz="1400" b="1" i="0" u="none" strike="noStrike" kern="0" cap="none" spc="0" normalizeH="0" baseline="0" noProof="0" dirty="0">
                <a:ln>
                  <a:noFill/>
                </a:ln>
                <a:solidFill>
                  <a:prstClr val="black"/>
                </a:solidFill>
                <a:effectLst/>
                <a:uLnTx/>
                <a:uFillTx/>
                <a:latin typeface="微軟正黑體" panose="020B0604030504040204" pitchFamily="34" charset="-120"/>
                <a:ea typeface="微軟正黑體" panose="020B0604030504040204" pitchFamily="34" charset="-120"/>
              </a:endParaRPr>
            </a:p>
          </p:txBody>
        </p:sp>
        <p:sp>
          <p:nvSpPr>
            <p:cNvPr id="30" name="矩形 29">
              <a:extLst>
                <a:ext uri="{FF2B5EF4-FFF2-40B4-BE49-F238E27FC236}">
                  <a16:creationId xmlns:a16="http://schemas.microsoft.com/office/drawing/2014/main" id="{9A584BEA-F149-450B-92F0-D985E46DD3DF}"/>
                </a:ext>
              </a:extLst>
            </p:cNvPr>
            <p:cNvSpPr/>
            <p:nvPr/>
          </p:nvSpPr>
          <p:spPr>
            <a:xfrm>
              <a:off x="3948252" y="4119899"/>
              <a:ext cx="964540" cy="230966"/>
            </a:xfrm>
            <a:prstGeom prst="rect">
              <a:avLst/>
            </a:prstGeom>
            <a:solidFill>
              <a:srgbClr val="C6DBB7"/>
            </a:solidFill>
            <a:ln w="6350" cap="flat" cmpd="sng" algn="ctr">
              <a:solidFill>
                <a:schemeClr val="bg1">
                  <a:lumMod val="95000"/>
                </a:schemeClr>
              </a:solidFill>
              <a:prstDash val="solid"/>
              <a:miter lim="800000"/>
            </a:ln>
            <a:effectLst/>
          </p:spPr>
          <p:txBody>
            <a:bodyPr wrap="none">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TW" sz="1400" b="1" i="0" u="none" strike="noStrike" kern="0" cap="none" spc="0" normalizeH="0" baseline="0" noProof="0" dirty="0">
                  <a:ln>
                    <a:noFill/>
                  </a:ln>
                  <a:solidFill>
                    <a:prstClr val="black"/>
                  </a:solidFill>
                  <a:effectLst/>
                  <a:uLnTx/>
                  <a:uFillTx/>
                  <a:latin typeface="微軟正黑體" panose="020B0604030504040204" pitchFamily="34" charset="-120"/>
                  <a:ea typeface="微軟正黑體" panose="020B0604030504040204" pitchFamily="34" charset="-120"/>
                </a:rPr>
                <a:t>Alice’s </a:t>
              </a:r>
              <a:r>
                <a:rPr kumimoji="0" lang="zh-TW" altLang="en-US" sz="1400" b="1" i="0" u="none" strike="noStrike" kern="0" cap="none" spc="0" normalizeH="0" baseline="0" noProof="0" dirty="0">
                  <a:ln>
                    <a:noFill/>
                  </a:ln>
                  <a:solidFill>
                    <a:prstClr val="black"/>
                  </a:solidFill>
                  <a:effectLst/>
                  <a:uLnTx/>
                  <a:uFillTx/>
                  <a:latin typeface="微軟正黑體" panose="020B0604030504040204" pitchFamily="34" charset="-120"/>
                  <a:ea typeface="微軟正黑體" panose="020B0604030504040204" pitchFamily="34" charset="-120"/>
                </a:rPr>
                <a:t>公鑰</a:t>
              </a:r>
            </a:p>
          </p:txBody>
        </p:sp>
        <p:sp>
          <p:nvSpPr>
            <p:cNvPr id="31" name="矩形 30">
              <a:extLst>
                <a:ext uri="{FF2B5EF4-FFF2-40B4-BE49-F238E27FC236}">
                  <a16:creationId xmlns:a16="http://schemas.microsoft.com/office/drawing/2014/main" id="{B6E8ADF9-216F-4A80-8128-4125D74BE0CF}"/>
                </a:ext>
              </a:extLst>
            </p:cNvPr>
            <p:cNvSpPr/>
            <p:nvPr/>
          </p:nvSpPr>
          <p:spPr>
            <a:xfrm>
              <a:off x="3965013" y="5546980"/>
              <a:ext cx="920701" cy="230966"/>
            </a:xfrm>
            <a:prstGeom prst="rect">
              <a:avLst/>
            </a:prstGeom>
            <a:solidFill>
              <a:srgbClr val="E7E6E6">
                <a:lumMod val="90000"/>
              </a:srgbClr>
            </a:solidFill>
            <a:ln w="6350" cap="flat" cmpd="sng" algn="ctr">
              <a:solidFill>
                <a:srgbClr val="A5A5A5">
                  <a:lumMod val="20000"/>
                  <a:lumOff val="80000"/>
                </a:srgbClr>
              </a:solidFill>
              <a:prstDash val="solid"/>
              <a:miter lim="800000"/>
            </a:ln>
            <a:effectLst/>
          </p:spPr>
          <p:txBody>
            <a:bodyPr wrap="square">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TW" sz="1400" b="1" i="0" u="none" strike="noStrike" kern="0" cap="none" spc="0" normalizeH="0" baseline="0" noProof="0" dirty="0">
                  <a:ln>
                    <a:noFill/>
                  </a:ln>
                  <a:solidFill>
                    <a:prstClr val="black"/>
                  </a:solidFill>
                  <a:effectLst/>
                  <a:uLnTx/>
                  <a:uFillTx/>
                  <a:latin typeface="微軟正黑體" panose="020B0604030504040204" pitchFamily="34" charset="-120"/>
                  <a:ea typeface="微軟正黑體" panose="020B0604030504040204" pitchFamily="34" charset="-120"/>
                </a:rPr>
                <a:t>Bob’s </a:t>
              </a:r>
              <a:r>
                <a:rPr kumimoji="0" lang="zh-TW" altLang="en-US" sz="1400" b="1" i="0" u="none" strike="noStrike" kern="0" cap="none" spc="0" normalizeH="0" baseline="0" noProof="0" dirty="0">
                  <a:ln>
                    <a:noFill/>
                  </a:ln>
                  <a:solidFill>
                    <a:prstClr val="black"/>
                  </a:solidFill>
                  <a:effectLst/>
                  <a:uLnTx/>
                  <a:uFillTx/>
                  <a:latin typeface="微軟正黑體" panose="020B0604030504040204" pitchFamily="34" charset="-120"/>
                  <a:ea typeface="微軟正黑體" panose="020B0604030504040204" pitchFamily="34" charset="-120"/>
                </a:rPr>
                <a:t>私鑰</a:t>
              </a:r>
            </a:p>
          </p:txBody>
        </p:sp>
        <p:sp>
          <p:nvSpPr>
            <p:cNvPr id="32" name="矩形 31">
              <a:extLst>
                <a:ext uri="{FF2B5EF4-FFF2-40B4-BE49-F238E27FC236}">
                  <a16:creationId xmlns:a16="http://schemas.microsoft.com/office/drawing/2014/main" id="{C59A45DC-EFA9-4C33-910C-AA082E7C002F}"/>
                </a:ext>
              </a:extLst>
            </p:cNvPr>
            <p:cNvSpPr/>
            <p:nvPr/>
          </p:nvSpPr>
          <p:spPr>
            <a:xfrm>
              <a:off x="2098183" y="5334569"/>
              <a:ext cx="449683" cy="254062"/>
            </a:xfrm>
            <a:prstGeom prst="rect">
              <a:avLst/>
            </a:prstGeom>
          </p:spPr>
          <p:txBody>
            <a:bodyPr wrap="none">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zh-TW" altLang="en-US" sz="1600" b="1" i="0" u="none" strike="noStrike" kern="0" cap="none" spc="0" normalizeH="0" baseline="0" noProof="0" dirty="0">
                  <a:ln>
                    <a:noFill/>
                  </a:ln>
                  <a:solidFill>
                    <a:prstClr val="black"/>
                  </a:solidFill>
                  <a:effectLst/>
                  <a:uLnTx/>
                  <a:uFillTx/>
                  <a:latin typeface="微軟正黑體" panose="020B0604030504040204" pitchFamily="34" charset="-120"/>
                  <a:ea typeface="微軟正黑體" panose="020B0604030504040204" pitchFamily="34" charset="-120"/>
                </a:rPr>
                <a:t>明文</a:t>
              </a:r>
            </a:p>
          </p:txBody>
        </p:sp>
        <p:sp>
          <p:nvSpPr>
            <p:cNvPr id="33" name="矩形 32">
              <a:extLst>
                <a:ext uri="{FF2B5EF4-FFF2-40B4-BE49-F238E27FC236}">
                  <a16:creationId xmlns:a16="http://schemas.microsoft.com/office/drawing/2014/main" id="{CD694595-D164-426C-842A-45284F53D7DC}"/>
                </a:ext>
              </a:extLst>
            </p:cNvPr>
            <p:cNvSpPr/>
            <p:nvPr/>
          </p:nvSpPr>
          <p:spPr>
            <a:xfrm>
              <a:off x="6379484" y="5316260"/>
              <a:ext cx="449683" cy="254062"/>
            </a:xfrm>
            <a:prstGeom prst="rect">
              <a:avLst/>
            </a:prstGeom>
          </p:spPr>
          <p:txBody>
            <a:bodyPr wrap="none">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zh-TW" altLang="en-US" sz="1600" b="1" i="0" u="none" strike="noStrike" kern="0" cap="none" spc="0" normalizeH="0" baseline="0" noProof="0" dirty="0">
                  <a:ln>
                    <a:noFill/>
                  </a:ln>
                  <a:solidFill>
                    <a:prstClr val="black"/>
                  </a:solidFill>
                  <a:effectLst/>
                  <a:uLnTx/>
                  <a:uFillTx/>
                  <a:latin typeface="微軟正黑體" panose="020B0604030504040204" pitchFamily="34" charset="-120"/>
                  <a:ea typeface="微軟正黑體" panose="020B0604030504040204" pitchFamily="34" charset="-120"/>
                </a:rPr>
                <a:t>密文</a:t>
              </a:r>
            </a:p>
          </p:txBody>
        </p:sp>
        <p:sp>
          <p:nvSpPr>
            <p:cNvPr id="34" name="圓角矩形 28">
              <a:extLst>
                <a:ext uri="{FF2B5EF4-FFF2-40B4-BE49-F238E27FC236}">
                  <a16:creationId xmlns:a16="http://schemas.microsoft.com/office/drawing/2014/main" id="{1FACD913-7633-4199-BB9D-86F60C97CC99}"/>
                </a:ext>
              </a:extLst>
            </p:cNvPr>
            <p:cNvSpPr/>
            <p:nvPr/>
          </p:nvSpPr>
          <p:spPr>
            <a:xfrm>
              <a:off x="6052740" y="4629574"/>
              <a:ext cx="1097602" cy="646522"/>
            </a:xfrm>
            <a:prstGeom prst="roundRect">
              <a:avLst/>
            </a:prstGeom>
            <a:solidFill>
              <a:srgbClr val="E7E6E6"/>
            </a:solidFill>
            <a:ln w="6350" cap="flat" cmpd="sng" algn="ctr">
              <a:solidFill>
                <a:sysClr val="windowText" lastClr="000000"/>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TW" sz="1400" b="1" i="0" u="none" strike="noStrike" kern="0" cap="none" spc="0" normalizeH="0" baseline="0" noProof="0" dirty="0">
                  <a:ln>
                    <a:noFill/>
                  </a:ln>
                  <a:solidFill>
                    <a:prstClr val="black"/>
                  </a:solidFill>
                  <a:effectLst/>
                  <a:uLnTx/>
                  <a:uFillTx/>
                  <a:latin typeface="微軟正黑體" panose="020B0604030504040204" pitchFamily="34" charset="-120"/>
                  <a:ea typeface="微軟正黑體" panose="020B0604030504040204" pitchFamily="34" charset="-120"/>
                </a:rPr>
                <a:t>DFCD3D54</a:t>
              </a:r>
            </a:p>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TW" sz="1400" b="1" i="0" u="none" strike="noStrike" kern="0" cap="none" spc="0" normalizeH="0" baseline="0" noProof="0" dirty="0">
                  <a:ln>
                    <a:noFill/>
                  </a:ln>
                  <a:solidFill>
                    <a:prstClr val="black"/>
                  </a:solidFill>
                  <a:effectLst/>
                  <a:uLnTx/>
                  <a:uFillTx/>
                  <a:latin typeface="微軟正黑體" panose="020B0604030504040204" pitchFamily="34" charset="-120"/>
                  <a:ea typeface="微軟正黑體" panose="020B0604030504040204" pitchFamily="34" charset="-120"/>
                </a:rPr>
                <a:t>BBEA788A</a:t>
              </a:r>
              <a:endParaRPr kumimoji="0" lang="zh-TW" altLang="en-US" sz="1400" b="1" i="0" u="none" strike="noStrike" kern="0" cap="none" spc="0" normalizeH="0" baseline="0" noProof="0" dirty="0">
                <a:ln>
                  <a:noFill/>
                </a:ln>
                <a:solidFill>
                  <a:prstClr val="black"/>
                </a:solidFill>
                <a:effectLst/>
                <a:uLnTx/>
                <a:uFillTx/>
                <a:latin typeface="微軟正黑體" panose="020B0604030504040204" pitchFamily="34" charset="-120"/>
                <a:ea typeface="微軟正黑體" panose="020B0604030504040204" pitchFamily="34" charset="-120"/>
              </a:endParaRPr>
            </a:p>
          </p:txBody>
        </p:sp>
        <p:sp>
          <p:nvSpPr>
            <p:cNvPr id="35" name="矩形 34">
              <a:extLst>
                <a:ext uri="{FF2B5EF4-FFF2-40B4-BE49-F238E27FC236}">
                  <a16:creationId xmlns:a16="http://schemas.microsoft.com/office/drawing/2014/main" id="{8F03DF1A-0BCF-4BAE-817A-2DB175694DF9}"/>
                </a:ext>
              </a:extLst>
            </p:cNvPr>
            <p:cNvSpPr/>
            <p:nvPr/>
          </p:nvSpPr>
          <p:spPr>
            <a:xfrm>
              <a:off x="772876" y="4792937"/>
              <a:ext cx="695603" cy="277159"/>
            </a:xfrm>
            <a:prstGeom prst="rect">
              <a:avLst/>
            </a:prstGeom>
            <a:solidFill>
              <a:srgbClr val="E7E6E6">
                <a:lumMod val="90000"/>
              </a:srgbClr>
            </a:solidFill>
            <a:ln w="6350" cap="flat" cmpd="sng" algn="ctr">
              <a:noFill/>
              <a:prstDash val="solid"/>
              <a:miter lim="800000"/>
            </a:ln>
            <a:effectLst/>
          </p:spPr>
          <p:txBody>
            <a:bodyPr wrap="none" anchor="ctr">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TW" sz="1800" b="1" i="0" u="none" strike="noStrike" kern="0" cap="none" spc="0" normalizeH="0" baseline="0" noProof="0" dirty="0">
                  <a:ln>
                    <a:noFill/>
                  </a:ln>
                  <a:solidFill>
                    <a:prstClr val="black"/>
                  </a:solidFill>
                  <a:effectLst/>
                  <a:uLnTx/>
                  <a:uFillTx/>
                  <a:latin typeface="微軟正黑體" panose="020B0604030504040204" pitchFamily="34" charset="-120"/>
                  <a:ea typeface="微軟正黑體" panose="020B0604030504040204" pitchFamily="34" charset="-120"/>
                </a:rPr>
                <a:t>Bob</a:t>
              </a:r>
              <a:r>
                <a:rPr kumimoji="0" lang="zh-TW" altLang="en-US" sz="1800" b="1" i="0" u="none" strike="noStrike" kern="0" cap="none" spc="0" normalizeH="0" baseline="0" noProof="0" dirty="0">
                  <a:ln>
                    <a:noFill/>
                  </a:ln>
                  <a:solidFill>
                    <a:prstClr val="black"/>
                  </a:solidFill>
                  <a:effectLst/>
                  <a:uLnTx/>
                  <a:uFillTx/>
                  <a:latin typeface="微軟正黑體" panose="020B0604030504040204" pitchFamily="34" charset="-120"/>
                  <a:ea typeface="微軟正黑體" panose="020B0604030504040204" pitchFamily="34" charset="-120"/>
                </a:rPr>
                <a:t> 端</a:t>
              </a:r>
            </a:p>
          </p:txBody>
        </p:sp>
        <p:sp>
          <p:nvSpPr>
            <p:cNvPr id="36" name="向下箭號 30">
              <a:extLst>
                <a:ext uri="{FF2B5EF4-FFF2-40B4-BE49-F238E27FC236}">
                  <a16:creationId xmlns:a16="http://schemas.microsoft.com/office/drawing/2014/main" id="{C6CBA3F8-ABBA-481B-8005-F95D598CD140}"/>
                </a:ext>
              </a:extLst>
            </p:cNvPr>
            <p:cNvSpPr/>
            <p:nvPr/>
          </p:nvSpPr>
          <p:spPr>
            <a:xfrm>
              <a:off x="4355820" y="4574545"/>
              <a:ext cx="106300" cy="188727"/>
            </a:xfrm>
            <a:prstGeom prst="downArrow">
              <a:avLst/>
            </a:prstGeom>
            <a:solidFill>
              <a:srgbClr val="A5A5A5">
                <a:lumMod val="20000"/>
                <a:lumOff val="80000"/>
              </a:srgbClr>
            </a:solidFill>
            <a:ln w="12700" cap="flat" cmpd="sng" algn="ctr">
              <a:solidFill>
                <a:srgbClr val="5B9BD5">
                  <a:shade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TW" altLang="en-US" sz="1800" b="1" i="0" u="none" strike="noStrike" kern="0" cap="none" spc="0" normalizeH="0" baseline="0" noProof="0">
                <a:ln>
                  <a:noFill/>
                </a:ln>
                <a:solidFill>
                  <a:prstClr val="white"/>
                </a:solidFill>
                <a:effectLst/>
                <a:uLnTx/>
                <a:uFillTx/>
                <a:latin typeface="微軟正黑體" panose="020B0604030504040204" pitchFamily="34" charset="-120"/>
                <a:ea typeface="微軟正黑體" panose="020B0604030504040204" pitchFamily="34" charset="-120"/>
              </a:endParaRPr>
            </a:p>
          </p:txBody>
        </p:sp>
        <p:sp>
          <p:nvSpPr>
            <p:cNvPr id="37" name="向上箭號 31">
              <a:extLst>
                <a:ext uri="{FF2B5EF4-FFF2-40B4-BE49-F238E27FC236}">
                  <a16:creationId xmlns:a16="http://schemas.microsoft.com/office/drawing/2014/main" id="{0733F84D-125F-4417-B445-176CE1AF272E}"/>
                </a:ext>
              </a:extLst>
            </p:cNvPr>
            <p:cNvSpPr/>
            <p:nvPr/>
          </p:nvSpPr>
          <p:spPr>
            <a:xfrm>
              <a:off x="4339544" y="5312274"/>
              <a:ext cx="121157" cy="192402"/>
            </a:xfrm>
            <a:prstGeom prst="upArrow">
              <a:avLst/>
            </a:prstGeom>
            <a:solidFill>
              <a:srgbClr val="A5A5A5">
                <a:lumMod val="20000"/>
                <a:lumOff val="80000"/>
              </a:srgbClr>
            </a:solidFill>
            <a:ln w="12700" cap="flat" cmpd="sng" algn="ctr">
              <a:solidFill>
                <a:srgbClr val="5B9BD5">
                  <a:shade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TW" altLang="en-US" sz="1800" b="1" i="0" u="none" strike="noStrike" kern="0" cap="none" spc="0" normalizeH="0" baseline="0" noProof="0">
                <a:ln>
                  <a:noFill/>
                </a:ln>
                <a:solidFill>
                  <a:prstClr val="white"/>
                </a:solidFill>
                <a:effectLst/>
                <a:uLnTx/>
                <a:uFillTx/>
                <a:latin typeface="微軟正黑體" panose="020B0604030504040204" pitchFamily="34" charset="-120"/>
                <a:ea typeface="微軟正黑體" panose="020B0604030504040204" pitchFamily="34" charset="-120"/>
              </a:endParaRPr>
            </a:p>
          </p:txBody>
        </p:sp>
        <p:sp>
          <p:nvSpPr>
            <p:cNvPr id="38" name="向左箭號 32">
              <a:extLst>
                <a:ext uri="{FF2B5EF4-FFF2-40B4-BE49-F238E27FC236}">
                  <a16:creationId xmlns:a16="http://schemas.microsoft.com/office/drawing/2014/main" id="{C243B8A2-90DA-47FC-9313-7DF903D5CE28}"/>
                </a:ext>
              </a:extLst>
            </p:cNvPr>
            <p:cNvSpPr/>
            <p:nvPr/>
          </p:nvSpPr>
          <p:spPr>
            <a:xfrm>
              <a:off x="5300994" y="4956687"/>
              <a:ext cx="426856" cy="159416"/>
            </a:xfrm>
            <a:prstGeom prst="leftArrow">
              <a:avLst/>
            </a:prstGeom>
            <a:solidFill>
              <a:srgbClr val="A5A5A5">
                <a:lumMod val="20000"/>
                <a:lumOff val="80000"/>
              </a:srgbClr>
            </a:solidFill>
            <a:ln w="12700" cap="flat" cmpd="sng" algn="ctr">
              <a:solidFill>
                <a:srgbClr val="5B9BD5">
                  <a:shade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TW" altLang="en-US" sz="1800" b="1" i="0" u="none" strike="noStrike" kern="0" cap="none" spc="0" normalizeH="0" baseline="0" noProof="0">
                <a:ln>
                  <a:noFill/>
                </a:ln>
                <a:solidFill>
                  <a:prstClr val="white"/>
                </a:solidFill>
                <a:effectLst/>
                <a:uLnTx/>
                <a:uFillTx/>
                <a:latin typeface="微軟正黑體" panose="020B0604030504040204" pitchFamily="34" charset="-120"/>
                <a:ea typeface="微軟正黑體" panose="020B0604030504040204" pitchFamily="34" charset="-120"/>
              </a:endParaRPr>
            </a:p>
          </p:txBody>
        </p:sp>
        <p:sp>
          <p:nvSpPr>
            <p:cNvPr id="39" name="向上箭號 33">
              <a:extLst>
                <a:ext uri="{FF2B5EF4-FFF2-40B4-BE49-F238E27FC236}">
                  <a16:creationId xmlns:a16="http://schemas.microsoft.com/office/drawing/2014/main" id="{6B41C32B-323C-419A-A441-9776B16FB4ED}"/>
                </a:ext>
              </a:extLst>
            </p:cNvPr>
            <p:cNvSpPr/>
            <p:nvPr/>
          </p:nvSpPr>
          <p:spPr>
            <a:xfrm>
              <a:off x="4350017" y="3230442"/>
              <a:ext cx="121157" cy="192402"/>
            </a:xfrm>
            <a:prstGeom prst="upArrow">
              <a:avLst/>
            </a:prstGeom>
            <a:solidFill>
              <a:srgbClr val="A5A5A5">
                <a:lumMod val="20000"/>
                <a:lumOff val="80000"/>
              </a:srgbClr>
            </a:solidFill>
            <a:ln w="12700" cap="flat" cmpd="sng" algn="ctr">
              <a:solidFill>
                <a:srgbClr val="5B9BD5">
                  <a:shade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TW" altLang="en-US" sz="1800" b="1" i="0" u="none" strike="noStrike" kern="0" cap="none" spc="0" normalizeH="0" baseline="0" noProof="0">
                <a:ln>
                  <a:noFill/>
                </a:ln>
                <a:solidFill>
                  <a:prstClr val="white"/>
                </a:solidFill>
                <a:effectLst/>
                <a:uLnTx/>
                <a:uFillTx/>
                <a:latin typeface="微軟正黑體" panose="020B0604030504040204" pitchFamily="34" charset="-120"/>
                <a:ea typeface="微軟正黑體" panose="020B0604030504040204" pitchFamily="34" charset="-120"/>
              </a:endParaRPr>
            </a:p>
          </p:txBody>
        </p:sp>
        <p:sp>
          <p:nvSpPr>
            <p:cNvPr id="40" name="向下箭號 34">
              <a:extLst>
                <a:ext uri="{FF2B5EF4-FFF2-40B4-BE49-F238E27FC236}">
                  <a16:creationId xmlns:a16="http://schemas.microsoft.com/office/drawing/2014/main" id="{C34F5877-EC73-4267-9AE1-3D808D614270}"/>
                </a:ext>
              </a:extLst>
            </p:cNvPr>
            <p:cNvSpPr/>
            <p:nvPr/>
          </p:nvSpPr>
          <p:spPr>
            <a:xfrm>
              <a:off x="4340964" y="2543577"/>
              <a:ext cx="106300" cy="188727"/>
            </a:xfrm>
            <a:prstGeom prst="downArrow">
              <a:avLst/>
            </a:prstGeom>
            <a:solidFill>
              <a:srgbClr val="A5A5A5">
                <a:lumMod val="20000"/>
                <a:lumOff val="80000"/>
              </a:srgbClr>
            </a:solidFill>
            <a:ln w="12700" cap="flat" cmpd="sng" algn="ctr">
              <a:solidFill>
                <a:srgbClr val="5B9BD5">
                  <a:shade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TW" altLang="en-US" sz="1800" b="1" i="0" u="none" strike="noStrike" kern="0" cap="none" spc="0" normalizeH="0" baseline="0" noProof="0">
                <a:ln>
                  <a:noFill/>
                </a:ln>
                <a:solidFill>
                  <a:prstClr val="white"/>
                </a:solidFill>
                <a:effectLst/>
                <a:uLnTx/>
                <a:uFillTx/>
                <a:latin typeface="微軟正黑體" panose="020B0604030504040204" pitchFamily="34" charset="-120"/>
                <a:ea typeface="微軟正黑體" panose="020B0604030504040204" pitchFamily="34" charset="-120"/>
              </a:endParaRPr>
            </a:p>
          </p:txBody>
        </p:sp>
        <p:sp>
          <p:nvSpPr>
            <p:cNvPr id="41" name="橢圓 40">
              <a:extLst>
                <a:ext uri="{FF2B5EF4-FFF2-40B4-BE49-F238E27FC236}">
                  <a16:creationId xmlns:a16="http://schemas.microsoft.com/office/drawing/2014/main" id="{575537AC-2DCA-4988-855F-75E611C2ADD4}"/>
                </a:ext>
              </a:extLst>
            </p:cNvPr>
            <p:cNvSpPr/>
            <p:nvPr/>
          </p:nvSpPr>
          <p:spPr>
            <a:xfrm>
              <a:off x="3779915" y="2794494"/>
              <a:ext cx="1228403" cy="369332"/>
            </a:xfrm>
            <a:prstGeom prst="ellipse">
              <a:avLst/>
            </a:prstGeom>
            <a:solidFill>
              <a:srgbClr val="FFF2C9"/>
            </a:solidFill>
            <a:ln w="6350" cap="flat" cmpd="sng" algn="ctr">
              <a:solidFill>
                <a:srgbClr val="FFC000"/>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zh-TW" altLang="en-US" sz="1600" b="1" i="0" u="none" strike="noStrike" kern="0" cap="none" spc="0" normalizeH="0" baseline="0" noProof="0" dirty="0">
                  <a:ln>
                    <a:noFill/>
                  </a:ln>
                  <a:solidFill>
                    <a:prstClr val="black"/>
                  </a:solidFill>
                  <a:effectLst/>
                  <a:uLnTx/>
                  <a:uFillTx/>
                  <a:latin typeface="微軟正黑體" panose="020B0604030504040204" pitchFamily="34" charset="-120"/>
                  <a:ea typeface="微軟正黑體" panose="020B0604030504040204" pitchFamily="34" charset="-120"/>
                </a:rPr>
                <a:t>加密</a:t>
              </a:r>
            </a:p>
          </p:txBody>
        </p:sp>
        <p:sp>
          <p:nvSpPr>
            <p:cNvPr id="42" name="向右箭號 36">
              <a:extLst>
                <a:ext uri="{FF2B5EF4-FFF2-40B4-BE49-F238E27FC236}">
                  <a16:creationId xmlns:a16="http://schemas.microsoft.com/office/drawing/2014/main" id="{1AC6C4FE-C066-4D1B-BC1E-849B26AB22E5}"/>
                </a:ext>
              </a:extLst>
            </p:cNvPr>
            <p:cNvSpPr/>
            <p:nvPr/>
          </p:nvSpPr>
          <p:spPr>
            <a:xfrm>
              <a:off x="3194116" y="2932097"/>
              <a:ext cx="413630" cy="170764"/>
            </a:xfrm>
            <a:prstGeom prst="rightArrow">
              <a:avLst/>
            </a:prstGeom>
            <a:solidFill>
              <a:srgbClr val="A5A5A5">
                <a:lumMod val="20000"/>
                <a:lumOff val="80000"/>
              </a:srgbClr>
            </a:solidFill>
            <a:ln w="12700" cap="flat" cmpd="sng" algn="ctr">
              <a:solidFill>
                <a:srgbClr val="5B9BD5">
                  <a:shade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TW" altLang="en-US" sz="1800" b="1" i="0" u="none" strike="noStrike" kern="0" cap="none" spc="0" normalizeH="0" baseline="0" noProof="0">
                <a:ln>
                  <a:noFill/>
                </a:ln>
                <a:solidFill>
                  <a:prstClr val="white"/>
                </a:solidFill>
                <a:effectLst/>
                <a:uLnTx/>
                <a:uFillTx/>
                <a:latin typeface="微軟正黑體" panose="020B0604030504040204" pitchFamily="34" charset="-120"/>
                <a:ea typeface="微軟正黑體" panose="020B0604030504040204" pitchFamily="34" charset="-120"/>
              </a:endParaRPr>
            </a:p>
          </p:txBody>
        </p:sp>
        <p:sp>
          <p:nvSpPr>
            <p:cNvPr id="43" name="橢圓 42">
              <a:extLst>
                <a:ext uri="{FF2B5EF4-FFF2-40B4-BE49-F238E27FC236}">
                  <a16:creationId xmlns:a16="http://schemas.microsoft.com/office/drawing/2014/main" id="{1D855FEB-F570-4BF3-AA82-772D721266F5}"/>
                </a:ext>
              </a:extLst>
            </p:cNvPr>
            <p:cNvSpPr/>
            <p:nvPr/>
          </p:nvSpPr>
          <p:spPr>
            <a:xfrm>
              <a:off x="3811160" y="4868811"/>
              <a:ext cx="1228403" cy="369332"/>
            </a:xfrm>
            <a:prstGeom prst="ellipse">
              <a:avLst/>
            </a:prstGeom>
            <a:solidFill>
              <a:srgbClr val="FFF2C9"/>
            </a:solidFill>
            <a:ln w="6350" cap="flat" cmpd="sng" algn="ctr">
              <a:solidFill>
                <a:srgbClr val="FFC000"/>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zh-TW" altLang="en-US" sz="1600" b="1" i="0" u="none" strike="noStrike" kern="0" cap="none" spc="0" normalizeH="0" baseline="0" noProof="0" dirty="0">
                  <a:ln>
                    <a:noFill/>
                  </a:ln>
                  <a:solidFill>
                    <a:prstClr val="black"/>
                  </a:solidFill>
                  <a:effectLst/>
                  <a:uLnTx/>
                  <a:uFillTx/>
                  <a:latin typeface="微軟正黑體" panose="020B0604030504040204" pitchFamily="34" charset="-120"/>
                  <a:ea typeface="微軟正黑體" panose="020B0604030504040204" pitchFamily="34" charset="-120"/>
                </a:rPr>
                <a:t>解密</a:t>
              </a:r>
            </a:p>
          </p:txBody>
        </p:sp>
        <p:sp>
          <p:nvSpPr>
            <p:cNvPr id="44" name="向左箭號 38">
              <a:extLst>
                <a:ext uri="{FF2B5EF4-FFF2-40B4-BE49-F238E27FC236}">
                  <a16:creationId xmlns:a16="http://schemas.microsoft.com/office/drawing/2014/main" id="{2C8E2B74-010F-4C61-9102-F70E536A7E83}"/>
                </a:ext>
              </a:extLst>
            </p:cNvPr>
            <p:cNvSpPr/>
            <p:nvPr/>
          </p:nvSpPr>
          <p:spPr>
            <a:xfrm>
              <a:off x="3201663" y="4949025"/>
              <a:ext cx="426856" cy="159416"/>
            </a:xfrm>
            <a:prstGeom prst="leftArrow">
              <a:avLst/>
            </a:prstGeom>
            <a:solidFill>
              <a:srgbClr val="A5A5A5">
                <a:lumMod val="20000"/>
                <a:lumOff val="80000"/>
              </a:srgbClr>
            </a:solidFill>
            <a:ln w="12700" cap="flat" cmpd="sng" algn="ctr">
              <a:solidFill>
                <a:srgbClr val="5B9BD5">
                  <a:shade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TW" altLang="en-US" sz="1800" b="1" i="0" u="none" strike="noStrike" kern="0" cap="none" spc="0" normalizeH="0" baseline="0" noProof="0">
                <a:ln>
                  <a:noFill/>
                </a:ln>
                <a:solidFill>
                  <a:prstClr val="white"/>
                </a:solidFill>
                <a:effectLst/>
                <a:uLnTx/>
                <a:uFillTx/>
                <a:latin typeface="微軟正黑體" panose="020B0604030504040204" pitchFamily="34" charset="-120"/>
                <a:ea typeface="微軟正黑體" panose="020B0604030504040204" pitchFamily="34" charset="-120"/>
              </a:endParaRPr>
            </a:p>
          </p:txBody>
        </p:sp>
      </p:grpSp>
      <p:sp>
        <p:nvSpPr>
          <p:cNvPr id="45" name="矩形 44">
            <a:extLst>
              <a:ext uri="{FF2B5EF4-FFF2-40B4-BE49-F238E27FC236}">
                <a16:creationId xmlns:a16="http://schemas.microsoft.com/office/drawing/2014/main" id="{80970810-A0C2-4FE4-8A70-01D7DAB015C1}"/>
              </a:ext>
            </a:extLst>
          </p:cNvPr>
          <p:cNvSpPr/>
          <p:nvPr/>
        </p:nvSpPr>
        <p:spPr>
          <a:xfrm>
            <a:off x="1773300" y="1101483"/>
            <a:ext cx="3065391" cy="400110"/>
          </a:xfrm>
          <a:prstGeom prst="rect">
            <a:avLst/>
          </a:prstGeom>
        </p:spPr>
        <p:txBody>
          <a:bodyPr wrap="square">
            <a:spAutoFit/>
          </a:bodyPr>
          <a:lstStyle/>
          <a:p>
            <a:r>
              <a:rPr lang="en-US" altLang="zh-TW" sz="2000" b="1" dirty="0">
                <a:solidFill>
                  <a:schemeClr val="tx1">
                    <a:lumMod val="75000"/>
                    <a:lumOff val="25000"/>
                  </a:schemeClr>
                </a:solidFill>
                <a:latin typeface="微軟正黑體" panose="020B0604030504040204" pitchFamily="34" charset="-120"/>
                <a:ea typeface="微軟正黑體" panose="020B0604030504040204" pitchFamily="34" charset="-120"/>
              </a:rPr>
              <a:t>Ex: Alice</a:t>
            </a:r>
            <a:r>
              <a:rPr lang="zh-TW" altLang="en-US" sz="2000" b="1" dirty="0">
                <a:solidFill>
                  <a:schemeClr val="tx1">
                    <a:lumMod val="75000"/>
                    <a:lumOff val="25000"/>
                  </a:schemeClr>
                </a:solidFill>
                <a:latin typeface="微軟正黑體" panose="020B0604030504040204" pitchFamily="34" charset="-120"/>
                <a:ea typeface="微軟正黑體" panose="020B0604030504040204" pitchFamily="34" charset="-120"/>
              </a:rPr>
              <a:t> 傳資料給 </a:t>
            </a:r>
            <a:r>
              <a:rPr lang="en-US" altLang="zh-TW" sz="2000" b="1" dirty="0">
                <a:solidFill>
                  <a:schemeClr val="tx1">
                    <a:lumMod val="75000"/>
                    <a:lumOff val="25000"/>
                  </a:schemeClr>
                </a:solidFill>
                <a:latin typeface="微軟正黑體" panose="020B0604030504040204" pitchFamily="34" charset="-120"/>
                <a:ea typeface="微軟正黑體" panose="020B0604030504040204" pitchFamily="34" charset="-120"/>
              </a:rPr>
              <a:t>Bob </a:t>
            </a:r>
            <a:endParaRPr lang="zh-TW" altLang="en-US" sz="2000" b="1" dirty="0">
              <a:solidFill>
                <a:schemeClr val="tx1">
                  <a:lumMod val="75000"/>
                  <a:lumOff val="25000"/>
                </a:schemeClr>
              </a:solidFill>
              <a:latin typeface="微軟正黑體" panose="020B0604030504040204" pitchFamily="34" charset="-120"/>
              <a:ea typeface="微軟正黑體" panose="020B0604030504040204" pitchFamily="34" charset="-120"/>
            </a:endParaRPr>
          </a:p>
        </p:txBody>
      </p:sp>
    </p:spTree>
    <p:extLst>
      <p:ext uri="{BB962C8B-B14F-4D97-AF65-F5344CB8AC3E}">
        <p14:creationId xmlns:p14="http://schemas.microsoft.com/office/powerpoint/2010/main" val="4040878332"/>
      </p:ext>
    </p:extLst>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2000">
        <p15:prstTrans prst="fallOver"/>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6" presetClass="entr" presetSubtype="16" fill="hold" grpId="0" nodeType="after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circle(in)">
                                      <p:cBhvr>
                                        <p:cTn id="7" dur="2000"/>
                                        <p:tgtEl>
                                          <p:spTgt spid="9"/>
                                        </p:tgtEl>
                                      </p:cBhvr>
                                    </p:animEffect>
                                  </p:childTnLst>
                                </p:cTn>
                              </p:par>
                            </p:childTnLst>
                          </p:cTn>
                        </p:par>
                        <p:par>
                          <p:cTn id="8" fill="hold">
                            <p:stCondLst>
                              <p:cond delay="2000"/>
                            </p:stCondLst>
                            <p:childTnLst>
                              <p:par>
                                <p:cTn id="9" presetID="14" presetClass="entr" presetSubtype="10" fill="hold" grpId="0" nodeType="afterEffect">
                                  <p:stCondLst>
                                    <p:cond delay="0"/>
                                  </p:stCondLst>
                                  <p:childTnLst>
                                    <p:set>
                                      <p:cBhvr>
                                        <p:cTn id="10" dur="1" fill="hold">
                                          <p:stCondLst>
                                            <p:cond delay="0"/>
                                          </p:stCondLst>
                                        </p:cTn>
                                        <p:tgtEl>
                                          <p:spTgt spid="10"/>
                                        </p:tgtEl>
                                        <p:attrNameLst>
                                          <p:attrName>style.visibility</p:attrName>
                                        </p:attrNameLst>
                                      </p:cBhvr>
                                      <p:to>
                                        <p:strVal val="visible"/>
                                      </p:to>
                                    </p:set>
                                    <p:animEffect transition="in" filter="randombar(horizontal)">
                                      <p:cBhvr>
                                        <p:cTn id="11" dur="500"/>
                                        <p:tgtEl>
                                          <p:spTgt spid="10"/>
                                        </p:tgtEl>
                                      </p:cBhvr>
                                    </p:animEffect>
                                  </p:childTnLst>
                                </p:cTn>
                              </p:par>
                            </p:childTnLst>
                          </p:cTn>
                        </p:par>
                        <p:par>
                          <p:cTn id="12" fill="hold">
                            <p:stCondLst>
                              <p:cond delay="2500"/>
                            </p:stCondLst>
                            <p:childTnLst>
                              <p:par>
                                <p:cTn id="13" presetID="2" presetClass="entr" presetSubtype="8" fill="hold" nodeType="afterEffect">
                                  <p:stCondLst>
                                    <p:cond delay="0"/>
                                  </p:stCondLst>
                                  <p:childTnLst>
                                    <p:set>
                                      <p:cBhvr>
                                        <p:cTn id="14" dur="1" fill="hold">
                                          <p:stCondLst>
                                            <p:cond delay="0"/>
                                          </p:stCondLst>
                                        </p:cTn>
                                        <p:tgtEl>
                                          <p:spTgt spid="26"/>
                                        </p:tgtEl>
                                        <p:attrNameLst>
                                          <p:attrName>style.visibility</p:attrName>
                                        </p:attrNameLst>
                                      </p:cBhvr>
                                      <p:to>
                                        <p:strVal val="visible"/>
                                      </p:to>
                                    </p:set>
                                    <p:anim calcmode="lin" valueType="num">
                                      <p:cBhvr additive="base">
                                        <p:cTn id="15" dur="500" fill="hold"/>
                                        <p:tgtEl>
                                          <p:spTgt spid="26"/>
                                        </p:tgtEl>
                                        <p:attrNameLst>
                                          <p:attrName>ppt_x</p:attrName>
                                        </p:attrNameLst>
                                      </p:cBhvr>
                                      <p:tavLst>
                                        <p:tav tm="0">
                                          <p:val>
                                            <p:strVal val="0-#ppt_w/2"/>
                                          </p:val>
                                        </p:tav>
                                        <p:tav tm="100000">
                                          <p:val>
                                            <p:strVal val="#ppt_x"/>
                                          </p:val>
                                        </p:tav>
                                      </p:tavLst>
                                    </p:anim>
                                    <p:anim calcmode="lin" valueType="num">
                                      <p:cBhvr additive="base">
                                        <p:cTn id="16" dur="500" fill="hold"/>
                                        <p:tgtEl>
                                          <p:spTgt spid="26"/>
                                        </p:tgtEl>
                                        <p:attrNameLst>
                                          <p:attrName>ppt_y</p:attrName>
                                        </p:attrNameLst>
                                      </p:cBhvr>
                                      <p:tavLst>
                                        <p:tav tm="0">
                                          <p:val>
                                            <p:strVal val="#ppt_y"/>
                                          </p:val>
                                        </p:tav>
                                        <p:tav tm="100000">
                                          <p:val>
                                            <p:strVal val="#ppt_y"/>
                                          </p:val>
                                        </p:tav>
                                      </p:tavLst>
                                    </p:anim>
                                  </p:childTnLst>
                                </p:cTn>
                              </p:par>
                            </p:childTnLst>
                          </p:cTn>
                        </p:par>
                        <p:par>
                          <p:cTn id="17" fill="hold">
                            <p:stCondLst>
                              <p:cond delay="3000"/>
                            </p:stCondLst>
                            <p:childTnLst>
                              <p:par>
                                <p:cTn id="18" presetID="16" presetClass="entr" presetSubtype="21" fill="hold" grpId="0" nodeType="afterEffect">
                                  <p:stCondLst>
                                    <p:cond delay="0"/>
                                  </p:stCondLst>
                                  <p:childTnLst>
                                    <p:set>
                                      <p:cBhvr>
                                        <p:cTn id="19" dur="1" fill="hold">
                                          <p:stCondLst>
                                            <p:cond delay="0"/>
                                          </p:stCondLst>
                                        </p:cTn>
                                        <p:tgtEl>
                                          <p:spTgt spid="45"/>
                                        </p:tgtEl>
                                        <p:attrNameLst>
                                          <p:attrName>style.visibility</p:attrName>
                                        </p:attrNameLst>
                                      </p:cBhvr>
                                      <p:to>
                                        <p:strVal val="visible"/>
                                      </p:to>
                                    </p:set>
                                    <p:animEffect transition="in" filter="barn(inVertical)">
                                      <p:cBhvr>
                                        <p:cTn id="20" dur="500"/>
                                        <p:tgtEl>
                                          <p:spTgt spid="45"/>
                                        </p:tgtEl>
                                      </p:cBhvr>
                                    </p:animEffect>
                                  </p:childTnLst>
                                </p:cTn>
                              </p:par>
                            </p:childTnLst>
                          </p:cTn>
                        </p:par>
                        <p:par>
                          <p:cTn id="21" fill="hold">
                            <p:stCondLst>
                              <p:cond delay="3500"/>
                            </p:stCondLst>
                            <p:childTnLst>
                              <p:par>
                                <p:cTn id="22" presetID="42" presetClass="entr" presetSubtype="0" fill="hold" nodeType="afterEffect">
                                  <p:stCondLst>
                                    <p:cond delay="0"/>
                                  </p:stCondLst>
                                  <p:childTnLst>
                                    <p:set>
                                      <p:cBhvr>
                                        <p:cTn id="23" dur="1" fill="hold">
                                          <p:stCondLst>
                                            <p:cond delay="0"/>
                                          </p:stCondLst>
                                        </p:cTn>
                                        <p:tgtEl>
                                          <p:spTgt spid="12"/>
                                        </p:tgtEl>
                                        <p:attrNameLst>
                                          <p:attrName>style.visibility</p:attrName>
                                        </p:attrNameLst>
                                      </p:cBhvr>
                                      <p:to>
                                        <p:strVal val="visible"/>
                                      </p:to>
                                    </p:set>
                                    <p:animEffect transition="in" filter="fade">
                                      <p:cBhvr>
                                        <p:cTn id="24" dur="1000"/>
                                        <p:tgtEl>
                                          <p:spTgt spid="12"/>
                                        </p:tgtEl>
                                      </p:cBhvr>
                                    </p:animEffect>
                                    <p:anim calcmode="lin" valueType="num">
                                      <p:cBhvr>
                                        <p:cTn id="25" dur="1000" fill="hold"/>
                                        <p:tgtEl>
                                          <p:spTgt spid="12"/>
                                        </p:tgtEl>
                                        <p:attrNameLst>
                                          <p:attrName>ppt_x</p:attrName>
                                        </p:attrNameLst>
                                      </p:cBhvr>
                                      <p:tavLst>
                                        <p:tav tm="0">
                                          <p:val>
                                            <p:strVal val="#ppt_x"/>
                                          </p:val>
                                        </p:tav>
                                        <p:tav tm="100000">
                                          <p:val>
                                            <p:strVal val="#ppt_x"/>
                                          </p:val>
                                        </p:tav>
                                      </p:tavLst>
                                    </p:anim>
                                    <p:anim calcmode="lin" valueType="num">
                                      <p:cBhvr>
                                        <p:cTn id="26" dur="1000" fill="hold"/>
                                        <p:tgtEl>
                                          <p:spTgt spid="1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0" grpId="0"/>
      <p:bldP spid="45" grpId="0"/>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图片 42">
            <a:extLst>
              <a:ext uri="{FF2B5EF4-FFF2-40B4-BE49-F238E27FC236}">
                <a16:creationId xmlns:a16="http://schemas.microsoft.com/office/drawing/2014/main" id="{C8D97DA4-6242-4E73-AEFC-457D04FDC65B}"/>
              </a:ext>
            </a:extLst>
          </p:cNvPr>
          <p:cNvPicPr>
            <a:picLocks noChangeAspect="1"/>
          </p:cNvPicPr>
          <p:nvPr/>
        </p:nvPicPr>
        <p:blipFill>
          <a:blip r:embed="rId2"/>
          <a:stretch>
            <a:fillRect/>
          </a:stretch>
        </p:blipFill>
        <p:spPr>
          <a:xfrm rot="16200000">
            <a:off x="145169" y="-145167"/>
            <a:ext cx="1268414" cy="1558750"/>
          </a:xfrm>
          <a:prstGeom prst="rect">
            <a:avLst/>
          </a:prstGeom>
        </p:spPr>
      </p:pic>
      <p:sp>
        <p:nvSpPr>
          <p:cNvPr id="6" name="文字方塊 5">
            <a:extLst>
              <a:ext uri="{FF2B5EF4-FFF2-40B4-BE49-F238E27FC236}">
                <a16:creationId xmlns:a16="http://schemas.microsoft.com/office/drawing/2014/main" id="{8A30B01A-3198-4955-A208-0E3D9EB60397}"/>
              </a:ext>
            </a:extLst>
          </p:cNvPr>
          <p:cNvSpPr txBox="1"/>
          <p:nvPr/>
        </p:nvSpPr>
        <p:spPr>
          <a:xfrm>
            <a:off x="1558751" y="6596390"/>
            <a:ext cx="4217821" cy="261610"/>
          </a:xfrm>
          <a:prstGeom prst="rect">
            <a:avLst/>
          </a:prstGeom>
          <a:noFill/>
        </p:spPr>
        <p:txBody>
          <a:bodyPr wrap="none" rtlCol="0">
            <a:spAutoFit/>
          </a:bodyPr>
          <a:lstStyle/>
          <a:p>
            <a:r>
              <a:rPr lang="zh-TW" altLang="en-US" sz="1100" dirty="0">
                <a:latin typeface="Microsoft JhengHei Light" panose="020B0304030504040204" pitchFamily="34" charset="-120"/>
                <a:ea typeface="Microsoft JhengHei Light" panose="020B0304030504040204" pitchFamily="34" charset="-120"/>
              </a:rPr>
              <a:t>區塊鏈商業應用概論 實例與分析／新陸書局股份有限公司 發行</a:t>
            </a:r>
          </a:p>
        </p:txBody>
      </p:sp>
      <p:sp>
        <p:nvSpPr>
          <p:cNvPr id="9" name="標題 1">
            <a:extLst>
              <a:ext uri="{FF2B5EF4-FFF2-40B4-BE49-F238E27FC236}">
                <a16:creationId xmlns:a16="http://schemas.microsoft.com/office/drawing/2014/main" id="{475DFFF1-7C37-4CBE-ACFC-3F348BCD20CC}"/>
              </a:ext>
            </a:extLst>
          </p:cNvPr>
          <p:cNvSpPr txBox="1">
            <a:spLocks/>
          </p:cNvSpPr>
          <p:nvPr/>
        </p:nvSpPr>
        <p:spPr>
          <a:xfrm>
            <a:off x="1231956" y="393820"/>
            <a:ext cx="3643527" cy="874595"/>
          </a:xfrm>
          <a:prstGeom prst="rect">
            <a:avLst/>
          </a:prstGeom>
        </p:spPr>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altLang="zh-TW" sz="2400" b="1" dirty="0">
                <a:solidFill>
                  <a:srgbClr val="E06741"/>
                </a:solidFill>
              </a:rPr>
              <a:t>2-2 </a:t>
            </a:r>
            <a:r>
              <a:rPr lang="zh-TW" altLang="en-US" sz="2400" b="1" dirty="0">
                <a:solidFill>
                  <a:srgbClr val="E06741"/>
                </a:solidFill>
              </a:rPr>
              <a:t>區塊鏈技術發展</a:t>
            </a:r>
          </a:p>
          <a:p>
            <a:endParaRPr lang="zh-TW" altLang="en-US" sz="2400" dirty="0">
              <a:solidFill>
                <a:srgbClr val="E06741"/>
              </a:solidFill>
              <a:latin typeface="標楷體" panose="03000509000000000000" pitchFamily="65" charset="-120"/>
              <a:ea typeface="標楷體" panose="03000509000000000000" pitchFamily="65" charset="-120"/>
              <a:cs typeface="Times New Roman" panose="02020603050405020304" pitchFamily="18" charset="0"/>
            </a:endParaRPr>
          </a:p>
        </p:txBody>
      </p:sp>
      <p:sp>
        <p:nvSpPr>
          <p:cNvPr id="2" name="文字方塊 1">
            <a:extLst>
              <a:ext uri="{FF2B5EF4-FFF2-40B4-BE49-F238E27FC236}">
                <a16:creationId xmlns:a16="http://schemas.microsoft.com/office/drawing/2014/main" id="{D6D66D7E-58A1-40BE-8070-FA1C3AF22B14}"/>
              </a:ext>
            </a:extLst>
          </p:cNvPr>
          <p:cNvSpPr txBox="1"/>
          <p:nvPr/>
        </p:nvSpPr>
        <p:spPr>
          <a:xfrm>
            <a:off x="1558751" y="1268415"/>
            <a:ext cx="10081959" cy="5010474"/>
          </a:xfrm>
          <a:prstGeom prst="rect">
            <a:avLst/>
          </a:prstGeom>
          <a:noFill/>
        </p:spPr>
        <p:txBody>
          <a:bodyPr wrap="square" rtlCol="0">
            <a:spAutoFit/>
          </a:bodyPr>
          <a:lstStyle/>
          <a:p>
            <a:pPr>
              <a:lnSpc>
                <a:spcPct val="150000"/>
              </a:lnSpc>
              <a:buSzPct val="100000"/>
            </a:pPr>
            <a:r>
              <a:rPr lang="en-US" altLang="zh-TW" sz="2400" b="1" dirty="0">
                <a:solidFill>
                  <a:schemeClr val="tx1">
                    <a:lumMod val="75000"/>
                    <a:lumOff val="25000"/>
                  </a:schemeClr>
                </a:solidFill>
                <a:latin typeface="微軟正黑體" panose="020B0604030504040204" pitchFamily="34" charset="-120"/>
                <a:ea typeface="微軟正黑體" panose="020B0604030504040204" pitchFamily="34" charset="-120"/>
              </a:rPr>
              <a:t>3. </a:t>
            </a:r>
            <a:r>
              <a:rPr lang="zh-TW" altLang="en-US" sz="2400" b="1" dirty="0">
                <a:solidFill>
                  <a:schemeClr val="tx1">
                    <a:lumMod val="75000"/>
                    <a:lumOff val="25000"/>
                  </a:schemeClr>
                </a:solidFill>
                <a:latin typeface="微軟正黑體" panose="020B0604030504040204" pitchFamily="34" charset="-120"/>
                <a:ea typeface="微軟正黑體" panose="020B0604030504040204" pitchFamily="34" charset="-120"/>
              </a:rPr>
              <a:t>地址（</a:t>
            </a:r>
            <a:r>
              <a:rPr lang="en-US" altLang="zh-TW" sz="2400" b="1" dirty="0">
                <a:solidFill>
                  <a:schemeClr val="tx1">
                    <a:lumMod val="75000"/>
                    <a:lumOff val="25000"/>
                  </a:schemeClr>
                </a:solidFill>
                <a:latin typeface="微軟正黑體" panose="020B0604030504040204" pitchFamily="34" charset="-120"/>
                <a:ea typeface="微軟正黑體" panose="020B0604030504040204" pitchFamily="34" charset="-120"/>
              </a:rPr>
              <a:t>Address</a:t>
            </a:r>
            <a:r>
              <a:rPr lang="zh-TW" altLang="en-US" sz="2400" b="1" dirty="0">
                <a:solidFill>
                  <a:schemeClr val="tx1">
                    <a:lumMod val="75000"/>
                    <a:lumOff val="25000"/>
                  </a:schemeClr>
                </a:solidFill>
                <a:latin typeface="微軟正黑體" panose="020B0604030504040204" pitchFamily="34" charset="-120"/>
                <a:ea typeface="微軟正黑體" panose="020B0604030504040204" pitchFamily="34" charset="-120"/>
              </a:rPr>
              <a:t>）</a:t>
            </a:r>
          </a:p>
          <a:p>
            <a:pPr marL="800100" lvl="1" indent="-342900">
              <a:lnSpc>
                <a:spcPct val="150000"/>
              </a:lnSpc>
              <a:buSzPct val="100000"/>
              <a:buBlip>
                <a:blip r:embed="rId3"/>
              </a:buBlip>
            </a:pPr>
            <a:r>
              <a:rPr lang="zh-TW" altLang="en-US" sz="2400" b="1" dirty="0">
                <a:solidFill>
                  <a:schemeClr val="tx1">
                    <a:lumMod val="75000"/>
                    <a:lumOff val="25000"/>
                  </a:schemeClr>
                </a:solidFill>
                <a:latin typeface="微軟正黑體" panose="020B0604030504040204" pitchFamily="34" charset="-120"/>
                <a:ea typeface="微軟正黑體" panose="020B0604030504040204" pitchFamily="34" charset="-120"/>
              </a:rPr>
              <a:t>付款使用者可透過地址將交易內容傳送給收款使用者</a:t>
            </a:r>
            <a:endParaRPr lang="en-US" altLang="zh-TW" sz="2400" b="1" dirty="0">
              <a:solidFill>
                <a:schemeClr val="tx1">
                  <a:lumMod val="75000"/>
                  <a:lumOff val="25000"/>
                </a:schemeClr>
              </a:solidFill>
              <a:latin typeface="微軟正黑體" panose="020B0604030504040204" pitchFamily="34" charset="-120"/>
              <a:ea typeface="微軟正黑體" panose="020B0604030504040204" pitchFamily="34" charset="-120"/>
            </a:endParaRPr>
          </a:p>
          <a:p>
            <a:pPr marL="800100" lvl="1" indent="-342900">
              <a:lnSpc>
                <a:spcPct val="150000"/>
              </a:lnSpc>
              <a:buSzPct val="100000"/>
              <a:buBlip>
                <a:blip r:embed="rId3"/>
              </a:buBlip>
            </a:pPr>
            <a:r>
              <a:rPr lang="zh-TW" altLang="en-US" sz="2400" b="1" dirty="0">
                <a:solidFill>
                  <a:schemeClr val="tx1">
                    <a:lumMod val="75000"/>
                    <a:lumOff val="25000"/>
                  </a:schemeClr>
                </a:solidFill>
                <a:latin typeface="微軟正黑體" panose="020B0604030504040204" pitchFamily="34" charset="-120"/>
                <a:ea typeface="微軟正黑體" panose="020B0604030504040204" pitchFamily="34" charset="-120"/>
              </a:rPr>
              <a:t>收款使用者可以擁有多個地址，達成基本匿名原則</a:t>
            </a:r>
          </a:p>
          <a:p>
            <a:pPr marL="800100" lvl="1" indent="-342900">
              <a:lnSpc>
                <a:spcPct val="150000"/>
              </a:lnSpc>
              <a:buSzPct val="100000"/>
              <a:buBlip>
                <a:blip r:embed="rId3"/>
              </a:buBlip>
            </a:pPr>
            <a:r>
              <a:rPr lang="zh-TW" altLang="en-US" sz="2400" b="1" dirty="0">
                <a:solidFill>
                  <a:schemeClr val="tx1">
                    <a:lumMod val="75000"/>
                    <a:lumOff val="25000"/>
                  </a:schemeClr>
                </a:solidFill>
                <a:latin typeface="微軟正黑體" panose="020B0604030504040204" pitchFamily="34" charset="-120"/>
                <a:ea typeface="微軟正黑體" panose="020B0604030504040204" pitchFamily="34" charset="-120"/>
              </a:rPr>
              <a:t>地址是透過由</a:t>
            </a:r>
            <a:r>
              <a:rPr lang="en-US" altLang="zh-TW" sz="2400" b="1" dirty="0">
                <a:solidFill>
                  <a:schemeClr val="tx1">
                    <a:lumMod val="75000"/>
                    <a:lumOff val="25000"/>
                  </a:schemeClr>
                </a:solidFill>
                <a:latin typeface="微軟正黑體" panose="020B0604030504040204" pitchFamily="34" charset="-120"/>
                <a:ea typeface="微軟正黑體" panose="020B0604030504040204" pitchFamily="34" charset="-120"/>
              </a:rPr>
              <a:t>SHA256 </a:t>
            </a:r>
            <a:r>
              <a:rPr lang="zh-TW" altLang="en-US" sz="2400" b="1" dirty="0">
                <a:solidFill>
                  <a:schemeClr val="tx1">
                    <a:lumMod val="75000"/>
                    <a:lumOff val="25000"/>
                  </a:schemeClr>
                </a:solidFill>
                <a:latin typeface="微軟正黑體" panose="020B0604030504040204" pitchFamily="34" charset="-120"/>
                <a:ea typeface="微軟正黑體" panose="020B0604030504040204" pitchFamily="34" charset="-120"/>
              </a:rPr>
              <a:t>與 </a:t>
            </a:r>
            <a:r>
              <a:rPr lang="en-US" altLang="zh-TW" sz="2400" b="1" dirty="0">
                <a:solidFill>
                  <a:schemeClr val="tx1">
                    <a:lumMod val="75000"/>
                    <a:lumOff val="25000"/>
                  </a:schemeClr>
                </a:solidFill>
                <a:latin typeface="微軟正黑體" panose="020B0604030504040204" pitchFamily="34" charset="-120"/>
                <a:ea typeface="微軟正黑體" panose="020B0604030504040204" pitchFamily="34" charset="-120"/>
              </a:rPr>
              <a:t>RIPEMD160 </a:t>
            </a:r>
            <a:r>
              <a:rPr lang="zh-TW" altLang="en-US" sz="2400" b="1" dirty="0">
                <a:solidFill>
                  <a:schemeClr val="tx1">
                    <a:lumMod val="75000"/>
                    <a:lumOff val="25000"/>
                  </a:schemeClr>
                </a:solidFill>
                <a:latin typeface="微軟正黑體" panose="020B0604030504040204" pitchFamily="34" charset="-120"/>
                <a:ea typeface="微軟正黑體" panose="020B0604030504040204" pitchFamily="34" charset="-120"/>
              </a:rPr>
              <a:t>所組成的雜湊函數，一個是由</a:t>
            </a:r>
            <a:r>
              <a:rPr lang="en-US" altLang="zh-TW" sz="2400" b="1" dirty="0">
                <a:solidFill>
                  <a:schemeClr val="tx1">
                    <a:lumMod val="75000"/>
                    <a:lumOff val="25000"/>
                  </a:schemeClr>
                </a:solidFill>
                <a:latin typeface="微軟正黑體" panose="020B0604030504040204" pitchFamily="34" charset="-120"/>
                <a:ea typeface="微軟正黑體" panose="020B0604030504040204" pitchFamily="34" charset="-120"/>
              </a:rPr>
              <a:t>512 </a:t>
            </a:r>
            <a:r>
              <a:rPr lang="zh-TW" altLang="en-US" sz="2400" b="1" dirty="0">
                <a:solidFill>
                  <a:schemeClr val="tx1">
                    <a:lumMod val="75000"/>
                    <a:lumOff val="25000"/>
                  </a:schemeClr>
                </a:solidFill>
                <a:latin typeface="微軟正黑體" panose="020B0604030504040204" pitchFamily="34" charset="-120"/>
                <a:ea typeface="微軟正黑體" panose="020B0604030504040204" pitchFamily="34" charset="-120"/>
              </a:rPr>
              <a:t>位元的公開金鑰，一個是由</a:t>
            </a:r>
            <a:r>
              <a:rPr lang="en-US" altLang="zh-TW" sz="2400" b="1" dirty="0">
                <a:solidFill>
                  <a:schemeClr val="tx1">
                    <a:lumMod val="75000"/>
                    <a:lumOff val="25000"/>
                  </a:schemeClr>
                </a:solidFill>
                <a:latin typeface="微軟正黑體" panose="020B0604030504040204" pitchFamily="34" charset="-120"/>
                <a:ea typeface="微軟正黑體" panose="020B0604030504040204" pitchFamily="34" charset="-120"/>
              </a:rPr>
              <a:t>256</a:t>
            </a:r>
            <a:r>
              <a:rPr lang="zh-TW" altLang="en-US" sz="2400" b="1" dirty="0">
                <a:solidFill>
                  <a:schemeClr val="tx1">
                    <a:lumMod val="75000"/>
                    <a:lumOff val="25000"/>
                  </a:schemeClr>
                </a:solidFill>
                <a:latin typeface="微軟正黑體" panose="020B0604030504040204" pitchFamily="34" charset="-120"/>
                <a:ea typeface="微軟正黑體" panose="020B0604030504040204" pitchFamily="34" charset="-120"/>
              </a:rPr>
              <a:t>位元的私密金鑰，透過雜湊函數轉換為</a:t>
            </a:r>
            <a:r>
              <a:rPr lang="en-US" altLang="zh-TW" sz="2400" b="1" dirty="0">
                <a:solidFill>
                  <a:schemeClr val="tx1">
                    <a:lumMod val="75000"/>
                    <a:lumOff val="25000"/>
                  </a:schemeClr>
                </a:solidFill>
                <a:latin typeface="微軟正黑體" panose="020B0604030504040204" pitchFamily="34" charset="-120"/>
                <a:ea typeface="微軟正黑體" panose="020B0604030504040204" pitchFamily="34" charset="-120"/>
              </a:rPr>
              <a:t>160 </a:t>
            </a:r>
            <a:r>
              <a:rPr lang="zh-TW" altLang="en-US" sz="2400" b="1" dirty="0">
                <a:solidFill>
                  <a:schemeClr val="tx1">
                    <a:lumMod val="75000"/>
                    <a:lumOff val="25000"/>
                  </a:schemeClr>
                </a:solidFill>
                <a:latin typeface="微軟正黑體" panose="020B0604030504040204" pitchFamily="34" charset="-120"/>
                <a:ea typeface="微軟正黑體" panose="020B0604030504040204" pitchFamily="34" charset="-120"/>
              </a:rPr>
              <a:t>位元後，再編碼為地址。</a:t>
            </a:r>
            <a:endParaRPr lang="en-US" altLang="zh-TW" sz="2400" b="1" dirty="0">
              <a:solidFill>
                <a:schemeClr val="tx1">
                  <a:lumMod val="75000"/>
                  <a:lumOff val="25000"/>
                </a:schemeClr>
              </a:solidFill>
              <a:latin typeface="微軟正黑體" panose="020B0604030504040204" pitchFamily="34" charset="-120"/>
              <a:ea typeface="微軟正黑體" panose="020B0604030504040204" pitchFamily="34" charset="-120"/>
            </a:endParaRPr>
          </a:p>
          <a:p>
            <a:pPr marL="800100" lvl="1" indent="-342900">
              <a:lnSpc>
                <a:spcPct val="150000"/>
              </a:lnSpc>
              <a:buSzPct val="100000"/>
              <a:buBlip>
                <a:blip r:embed="rId3"/>
              </a:buBlip>
            </a:pPr>
            <a:r>
              <a:rPr lang="zh-TW" altLang="en-US" sz="2400" b="1" dirty="0">
                <a:solidFill>
                  <a:schemeClr val="tx1">
                    <a:lumMod val="75000"/>
                    <a:lumOff val="25000"/>
                  </a:schemeClr>
                </a:solidFill>
                <a:latin typeface="微軟正黑體" panose="020B0604030504040204" pitchFamily="34" charset="-120"/>
                <a:ea typeface="微軟正黑體" panose="020B0604030504040204" pitchFamily="34" charset="-120"/>
              </a:rPr>
              <a:t>因此，轉換途徑依序為私密金鑰、公開金鑰及地址，若經由地址的編碼來回推私密金鑰或公開金鑰的使用者，其困難度是相對很高，故能達到安全的目標。</a:t>
            </a:r>
          </a:p>
        </p:txBody>
      </p:sp>
      <p:cxnSp>
        <p:nvCxnSpPr>
          <p:cNvPr id="26" name="直接连接符 33">
            <a:extLst>
              <a:ext uri="{FF2B5EF4-FFF2-40B4-BE49-F238E27FC236}">
                <a16:creationId xmlns:a16="http://schemas.microsoft.com/office/drawing/2014/main" id="{C3725E45-5458-4931-9D9A-B8C15AE6AC41}"/>
              </a:ext>
            </a:extLst>
          </p:cNvPr>
          <p:cNvCxnSpPr>
            <a:cxnSpLocks/>
          </p:cNvCxnSpPr>
          <p:nvPr/>
        </p:nvCxnSpPr>
        <p:spPr>
          <a:xfrm>
            <a:off x="1334185" y="1102164"/>
            <a:ext cx="10081960" cy="0"/>
          </a:xfrm>
          <a:prstGeom prst="line">
            <a:avLst/>
          </a:prstGeom>
          <a:ln w="190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12" name="文字方塊 11">
            <a:extLst>
              <a:ext uri="{FF2B5EF4-FFF2-40B4-BE49-F238E27FC236}">
                <a16:creationId xmlns:a16="http://schemas.microsoft.com/office/drawing/2014/main" id="{9FE02F65-A32E-4124-B1E6-8E45750976E4}"/>
              </a:ext>
            </a:extLst>
          </p:cNvPr>
          <p:cNvSpPr txBox="1"/>
          <p:nvPr/>
        </p:nvSpPr>
        <p:spPr>
          <a:xfrm>
            <a:off x="4487241" y="449166"/>
            <a:ext cx="3076483" cy="400110"/>
          </a:xfrm>
          <a:prstGeom prst="rect">
            <a:avLst/>
          </a:prstGeom>
          <a:noFill/>
        </p:spPr>
        <p:txBody>
          <a:bodyPr wrap="none" rtlCol="0">
            <a:spAutoFit/>
          </a:bodyPr>
          <a:lstStyle/>
          <a:p>
            <a:r>
              <a:rPr lang="en-US" altLang="zh-TW" sz="2000" b="1" dirty="0">
                <a:solidFill>
                  <a:schemeClr val="tx1">
                    <a:lumMod val="65000"/>
                    <a:lumOff val="35000"/>
                  </a:schemeClr>
                </a:solidFill>
                <a:latin typeface="微軟正黑體" panose="020B0604030504040204" pitchFamily="34" charset="-120"/>
                <a:ea typeface="微軟正黑體" panose="020B0604030504040204" pitchFamily="34" charset="-120"/>
                <a:cs typeface="Times New Roman" panose="02020603050405020304" pitchFamily="18" charset="0"/>
              </a:rPr>
              <a:t>-2</a:t>
            </a:r>
            <a:r>
              <a:rPr lang="zh-TW" altLang="en-US" sz="2000" b="1" dirty="0">
                <a:solidFill>
                  <a:schemeClr val="tx1">
                    <a:lumMod val="65000"/>
                    <a:lumOff val="35000"/>
                  </a:schemeClr>
                </a:solidFill>
                <a:latin typeface="微軟正黑體" panose="020B0604030504040204" pitchFamily="34" charset="-120"/>
                <a:ea typeface="微軟正黑體" panose="020B0604030504040204" pitchFamily="34" charset="-120"/>
                <a:cs typeface="Times New Roman" panose="02020603050405020304" pitchFamily="18" charset="0"/>
              </a:rPr>
              <a:t> 區塊鏈技術之基本要素</a:t>
            </a:r>
          </a:p>
        </p:txBody>
      </p:sp>
    </p:spTree>
    <p:extLst>
      <p:ext uri="{BB962C8B-B14F-4D97-AF65-F5344CB8AC3E}">
        <p14:creationId xmlns:p14="http://schemas.microsoft.com/office/powerpoint/2010/main" val="735240086"/>
      </p:ext>
    </p:extLst>
  </p:cSld>
  <p:clrMapOvr>
    <a:masterClrMapping/>
  </p:clrMapOvr>
  <mc:AlternateContent xmlns:mc="http://schemas.openxmlformats.org/markup-compatibility/2006">
    <mc:Choice xmlns:p14="http://schemas.microsoft.com/office/powerpoint/2010/main" Requires="p14">
      <p:transition spd="slow" p14:dur="800">
        <p14:flythrough/>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6" presetClass="entr" presetSubtype="16" fill="hold" grpId="0" nodeType="after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circle(in)">
                                      <p:cBhvr>
                                        <p:cTn id="7" dur="2000"/>
                                        <p:tgtEl>
                                          <p:spTgt spid="9"/>
                                        </p:tgtEl>
                                      </p:cBhvr>
                                    </p:animEffect>
                                  </p:childTnLst>
                                </p:cTn>
                              </p:par>
                            </p:childTnLst>
                          </p:cTn>
                        </p:par>
                        <p:par>
                          <p:cTn id="8" fill="hold">
                            <p:stCondLst>
                              <p:cond delay="2000"/>
                            </p:stCondLst>
                            <p:childTnLst>
                              <p:par>
                                <p:cTn id="9" presetID="14" presetClass="entr" presetSubtype="10" fill="hold" grpId="0" nodeType="afterEffect">
                                  <p:stCondLst>
                                    <p:cond delay="0"/>
                                  </p:stCondLst>
                                  <p:childTnLst>
                                    <p:set>
                                      <p:cBhvr>
                                        <p:cTn id="10" dur="1" fill="hold">
                                          <p:stCondLst>
                                            <p:cond delay="0"/>
                                          </p:stCondLst>
                                        </p:cTn>
                                        <p:tgtEl>
                                          <p:spTgt spid="12"/>
                                        </p:tgtEl>
                                        <p:attrNameLst>
                                          <p:attrName>style.visibility</p:attrName>
                                        </p:attrNameLst>
                                      </p:cBhvr>
                                      <p:to>
                                        <p:strVal val="visible"/>
                                      </p:to>
                                    </p:set>
                                    <p:animEffect transition="in" filter="randombar(horizontal)">
                                      <p:cBhvr>
                                        <p:cTn id="11" dur="500"/>
                                        <p:tgtEl>
                                          <p:spTgt spid="12"/>
                                        </p:tgtEl>
                                      </p:cBhvr>
                                    </p:animEffect>
                                  </p:childTnLst>
                                </p:cTn>
                              </p:par>
                            </p:childTnLst>
                          </p:cTn>
                        </p:par>
                        <p:par>
                          <p:cTn id="12" fill="hold">
                            <p:stCondLst>
                              <p:cond delay="2500"/>
                            </p:stCondLst>
                            <p:childTnLst>
                              <p:par>
                                <p:cTn id="13" presetID="2" presetClass="entr" presetSubtype="8" fill="hold" nodeType="afterEffect">
                                  <p:stCondLst>
                                    <p:cond delay="0"/>
                                  </p:stCondLst>
                                  <p:childTnLst>
                                    <p:set>
                                      <p:cBhvr>
                                        <p:cTn id="14" dur="1" fill="hold">
                                          <p:stCondLst>
                                            <p:cond delay="0"/>
                                          </p:stCondLst>
                                        </p:cTn>
                                        <p:tgtEl>
                                          <p:spTgt spid="26"/>
                                        </p:tgtEl>
                                        <p:attrNameLst>
                                          <p:attrName>style.visibility</p:attrName>
                                        </p:attrNameLst>
                                      </p:cBhvr>
                                      <p:to>
                                        <p:strVal val="visible"/>
                                      </p:to>
                                    </p:set>
                                    <p:anim calcmode="lin" valueType="num">
                                      <p:cBhvr additive="base">
                                        <p:cTn id="15" dur="500" fill="hold"/>
                                        <p:tgtEl>
                                          <p:spTgt spid="26"/>
                                        </p:tgtEl>
                                        <p:attrNameLst>
                                          <p:attrName>ppt_x</p:attrName>
                                        </p:attrNameLst>
                                      </p:cBhvr>
                                      <p:tavLst>
                                        <p:tav tm="0">
                                          <p:val>
                                            <p:strVal val="0-#ppt_w/2"/>
                                          </p:val>
                                        </p:tav>
                                        <p:tav tm="100000">
                                          <p:val>
                                            <p:strVal val="#ppt_x"/>
                                          </p:val>
                                        </p:tav>
                                      </p:tavLst>
                                    </p:anim>
                                    <p:anim calcmode="lin" valueType="num">
                                      <p:cBhvr additive="base">
                                        <p:cTn id="16" dur="500" fill="hold"/>
                                        <p:tgtEl>
                                          <p:spTgt spid="26"/>
                                        </p:tgtEl>
                                        <p:attrNameLst>
                                          <p:attrName>ppt_y</p:attrName>
                                        </p:attrNameLst>
                                      </p:cBhvr>
                                      <p:tavLst>
                                        <p:tav tm="0">
                                          <p:val>
                                            <p:strVal val="#ppt_y"/>
                                          </p:val>
                                        </p:tav>
                                        <p:tav tm="100000">
                                          <p:val>
                                            <p:strVal val="#ppt_y"/>
                                          </p:val>
                                        </p:tav>
                                      </p:tavLst>
                                    </p:anim>
                                  </p:childTnLst>
                                </p:cTn>
                              </p:par>
                            </p:childTnLst>
                          </p:cTn>
                        </p:par>
                        <p:par>
                          <p:cTn id="17" fill="hold">
                            <p:stCondLst>
                              <p:cond delay="3000"/>
                            </p:stCondLst>
                            <p:childTnLst>
                              <p:par>
                                <p:cTn id="18" presetID="16" presetClass="entr" presetSubtype="21" fill="hold" grpId="0" nodeType="afterEffect">
                                  <p:stCondLst>
                                    <p:cond delay="0"/>
                                  </p:stCondLst>
                                  <p:childTnLst>
                                    <p:set>
                                      <p:cBhvr>
                                        <p:cTn id="19" dur="1" fill="hold">
                                          <p:stCondLst>
                                            <p:cond delay="0"/>
                                          </p:stCondLst>
                                        </p:cTn>
                                        <p:tgtEl>
                                          <p:spTgt spid="2"/>
                                        </p:tgtEl>
                                        <p:attrNameLst>
                                          <p:attrName>style.visibility</p:attrName>
                                        </p:attrNameLst>
                                      </p:cBhvr>
                                      <p:to>
                                        <p:strVal val="visible"/>
                                      </p:to>
                                    </p:set>
                                    <p:animEffect transition="in" filter="barn(inVertical)">
                                      <p:cBhvr>
                                        <p:cTn id="20"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2" grpId="0"/>
      <p:bldP spid="12" grpId="0"/>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图片 42">
            <a:extLst>
              <a:ext uri="{FF2B5EF4-FFF2-40B4-BE49-F238E27FC236}">
                <a16:creationId xmlns:a16="http://schemas.microsoft.com/office/drawing/2014/main" id="{C8D97DA4-6242-4E73-AEFC-457D04FDC65B}"/>
              </a:ext>
            </a:extLst>
          </p:cNvPr>
          <p:cNvPicPr>
            <a:picLocks noChangeAspect="1"/>
          </p:cNvPicPr>
          <p:nvPr/>
        </p:nvPicPr>
        <p:blipFill>
          <a:blip r:embed="rId2"/>
          <a:stretch>
            <a:fillRect/>
          </a:stretch>
        </p:blipFill>
        <p:spPr>
          <a:xfrm rot="16200000">
            <a:off x="145169" y="-145167"/>
            <a:ext cx="1268414" cy="1558750"/>
          </a:xfrm>
          <a:prstGeom prst="rect">
            <a:avLst/>
          </a:prstGeom>
        </p:spPr>
      </p:pic>
      <p:sp>
        <p:nvSpPr>
          <p:cNvPr id="6" name="文字方塊 5">
            <a:extLst>
              <a:ext uri="{FF2B5EF4-FFF2-40B4-BE49-F238E27FC236}">
                <a16:creationId xmlns:a16="http://schemas.microsoft.com/office/drawing/2014/main" id="{8A30B01A-3198-4955-A208-0E3D9EB60397}"/>
              </a:ext>
            </a:extLst>
          </p:cNvPr>
          <p:cNvSpPr txBox="1"/>
          <p:nvPr/>
        </p:nvSpPr>
        <p:spPr>
          <a:xfrm>
            <a:off x="1558751" y="6596390"/>
            <a:ext cx="4217821" cy="261610"/>
          </a:xfrm>
          <a:prstGeom prst="rect">
            <a:avLst/>
          </a:prstGeom>
          <a:noFill/>
        </p:spPr>
        <p:txBody>
          <a:bodyPr wrap="none" rtlCol="0">
            <a:spAutoFit/>
          </a:bodyPr>
          <a:lstStyle/>
          <a:p>
            <a:r>
              <a:rPr lang="zh-TW" altLang="en-US" sz="1100" dirty="0">
                <a:latin typeface="Microsoft JhengHei Light" panose="020B0304030504040204" pitchFamily="34" charset="-120"/>
                <a:ea typeface="Microsoft JhengHei Light" panose="020B0304030504040204" pitchFamily="34" charset="-120"/>
              </a:rPr>
              <a:t>區塊鏈商業應用概論 實例與分析／新陸書局股份有限公司 發行</a:t>
            </a:r>
          </a:p>
        </p:txBody>
      </p:sp>
      <p:sp>
        <p:nvSpPr>
          <p:cNvPr id="9" name="標題 1">
            <a:extLst>
              <a:ext uri="{FF2B5EF4-FFF2-40B4-BE49-F238E27FC236}">
                <a16:creationId xmlns:a16="http://schemas.microsoft.com/office/drawing/2014/main" id="{475DFFF1-7C37-4CBE-ACFC-3F348BCD20CC}"/>
              </a:ext>
            </a:extLst>
          </p:cNvPr>
          <p:cNvSpPr txBox="1">
            <a:spLocks/>
          </p:cNvSpPr>
          <p:nvPr/>
        </p:nvSpPr>
        <p:spPr>
          <a:xfrm>
            <a:off x="1231956" y="393820"/>
            <a:ext cx="3643527" cy="874595"/>
          </a:xfrm>
          <a:prstGeom prst="rect">
            <a:avLst/>
          </a:prstGeom>
        </p:spPr>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altLang="zh-TW" sz="2400" b="1" dirty="0">
                <a:solidFill>
                  <a:srgbClr val="E06741"/>
                </a:solidFill>
              </a:rPr>
              <a:t>2-2 </a:t>
            </a:r>
            <a:r>
              <a:rPr lang="zh-TW" altLang="en-US" sz="2400" b="1" dirty="0">
                <a:solidFill>
                  <a:srgbClr val="E06741"/>
                </a:solidFill>
              </a:rPr>
              <a:t>區塊鏈技術發展</a:t>
            </a:r>
          </a:p>
          <a:p>
            <a:endParaRPr lang="zh-TW" altLang="en-US" sz="2400" dirty="0">
              <a:solidFill>
                <a:srgbClr val="E06741"/>
              </a:solidFill>
              <a:latin typeface="標楷體" panose="03000509000000000000" pitchFamily="65" charset="-120"/>
              <a:ea typeface="標楷體" panose="03000509000000000000" pitchFamily="65" charset="-120"/>
              <a:cs typeface="Times New Roman" panose="02020603050405020304" pitchFamily="18" charset="0"/>
            </a:endParaRPr>
          </a:p>
        </p:txBody>
      </p:sp>
      <p:sp>
        <p:nvSpPr>
          <p:cNvPr id="2" name="文字方塊 1">
            <a:extLst>
              <a:ext uri="{FF2B5EF4-FFF2-40B4-BE49-F238E27FC236}">
                <a16:creationId xmlns:a16="http://schemas.microsoft.com/office/drawing/2014/main" id="{D6D66D7E-58A1-40BE-8070-FA1C3AF22B14}"/>
              </a:ext>
            </a:extLst>
          </p:cNvPr>
          <p:cNvSpPr txBox="1"/>
          <p:nvPr/>
        </p:nvSpPr>
        <p:spPr>
          <a:xfrm>
            <a:off x="1851228" y="1099505"/>
            <a:ext cx="10081959" cy="578492"/>
          </a:xfrm>
          <a:prstGeom prst="rect">
            <a:avLst/>
          </a:prstGeom>
          <a:noFill/>
        </p:spPr>
        <p:txBody>
          <a:bodyPr wrap="square" rtlCol="0">
            <a:spAutoFit/>
          </a:bodyPr>
          <a:lstStyle/>
          <a:p>
            <a:pPr marL="800100" lvl="1" indent="-342900">
              <a:lnSpc>
                <a:spcPct val="150000"/>
              </a:lnSpc>
              <a:buSzPct val="100000"/>
              <a:buBlip>
                <a:blip r:embed="rId3"/>
              </a:buBlip>
            </a:pPr>
            <a:r>
              <a:rPr lang="zh-TW" altLang="en-US" sz="2400" b="1" dirty="0">
                <a:solidFill>
                  <a:schemeClr val="tx1">
                    <a:lumMod val="75000"/>
                    <a:lumOff val="25000"/>
                  </a:schemeClr>
                </a:solidFill>
                <a:latin typeface="微軟正黑體" panose="020B0604030504040204" pitchFamily="34" charset="-120"/>
                <a:ea typeface="微軟正黑體" panose="020B0604030504040204" pitchFamily="34" charset="-120"/>
              </a:rPr>
              <a:t>以比特幣的地址設計為例</a:t>
            </a:r>
          </a:p>
        </p:txBody>
      </p:sp>
      <p:cxnSp>
        <p:nvCxnSpPr>
          <p:cNvPr id="26" name="直接连接符 33">
            <a:extLst>
              <a:ext uri="{FF2B5EF4-FFF2-40B4-BE49-F238E27FC236}">
                <a16:creationId xmlns:a16="http://schemas.microsoft.com/office/drawing/2014/main" id="{C3725E45-5458-4931-9D9A-B8C15AE6AC41}"/>
              </a:ext>
            </a:extLst>
          </p:cNvPr>
          <p:cNvCxnSpPr>
            <a:cxnSpLocks/>
          </p:cNvCxnSpPr>
          <p:nvPr/>
        </p:nvCxnSpPr>
        <p:spPr>
          <a:xfrm>
            <a:off x="1334185" y="1102164"/>
            <a:ext cx="10081960" cy="0"/>
          </a:xfrm>
          <a:prstGeom prst="line">
            <a:avLst/>
          </a:prstGeom>
          <a:ln w="190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12" name="文字方塊 11">
            <a:extLst>
              <a:ext uri="{FF2B5EF4-FFF2-40B4-BE49-F238E27FC236}">
                <a16:creationId xmlns:a16="http://schemas.microsoft.com/office/drawing/2014/main" id="{9FE02F65-A32E-4124-B1E6-8E45750976E4}"/>
              </a:ext>
            </a:extLst>
          </p:cNvPr>
          <p:cNvSpPr txBox="1"/>
          <p:nvPr/>
        </p:nvSpPr>
        <p:spPr>
          <a:xfrm>
            <a:off x="4487241" y="449166"/>
            <a:ext cx="3076483" cy="400110"/>
          </a:xfrm>
          <a:prstGeom prst="rect">
            <a:avLst/>
          </a:prstGeom>
          <a:noFill/>
        </p:spPr>
        <p:txBody>
          <a:bodyPr wrap="none" rtlCol="0">
            <a:spAutoFit/>
          </a:bodyPr>
          <a:lstStyle/>
          <a:p>
            <a:r>
              <a:rPr lang="en-US" altLang="zh-TW" sz="2000" b="1" dirty="0">
                <a:solidFill>
                  <a:schemeClr val="tx1">
                    <a:lumMod val="65000"/>
                    <a:lumOff val="35000"/>
                  </a:schemeClr>
                </a:solidFill>
                <a:latin typeface="微軟正黑體" panose="020B0604030504040204" pitchFamily="34" charset="-120"/>
                <a:ea typeface="微軟正黑體" panose="020B0604030504040204" pitchFamily="34" charset="-120"/>
                <a:cs typeface="Times New Roman" panose="02020603050405020304" pitchFamily="18" charset="0"/>
              </a:rPr>
              <a:t>-2</a:t>
            </a:r>
            <a:r>
              <a:rPr lang="zh-TW" altLang="en-US" sz="2000" b="1" dirty="0">
                <a:solidFill>
                  <a:schemeClr val="tx1">
                    <a:lumMod val="65000"/>
                    <a:lumOff val="35000"/>
                  </a:schemeClr>
                </a:solidFill>
                <a:latin typeface="微軟正黑體" panose="020B0604030504040204" pitchFamily="34" charset="-120"/>
                <a:ea typeface="微軟正黑體" panose="020B0604030504040204" pitchFamily="34" charset="-120"/>
                <a:cs typeface="Times New Roman" panose="02020603050405020304" pitchFamily="18" charset="0"/>
              </a:rPr>
              <a:t> 區塊鏈技術之基本要素</a:t>
            </a:r>
          </a:p>
        </p:txBody>
      </p:sp>
      <p:grpSp>
        <p:nvGrpSpPr>
          <p:cNvPr id="10" name="群組 9">
            <a:extLst>
              <a:ext uri="{FF2B5EF4-FFF2-40B4-BE49-F238E27FC236}">
                <a16:creationId xmlns:a16="http://schemas.microsoft.com/office/drawing/2014/main" id="{AABCE2CF-8744-4090-B89B-EF952C0FCDE8}"/>
              </a:ext>
            </a:extLst>
          </p:cNvPr>
          <p:cNvGrpSpPr/>
          <p:nvPr/>
        </p:nvGrpSpPr>
        <p:grpSpPr>
          <a:xfrm>
            <a:off x="3053719" y="1810509"/>
            <a:ext cx="6588898" cy="4489780"/>
            <a:chOff x="1487488" y="764704"/>
            <a:chExt cx="8136904" cy="5544616"/>
          </a:xfrm>
        </p:grpSpPr>
        <p:grpSp>
          <p:nvGrpSpPr>
            <p:cNvPr id="11" name="群組 10">
              <a:extLst>
                <a:ext uri="{FF2B5EF4-FFF2-40B4-BE49-F238E27FC236}">
                  <a16:creationId xmlns:a16="http://schemas.microsoft.com/office/drawing/2014/main" id="{821EE5E9-90BB-4206-9D14-E842D81BDB26}"/>
                </a:ext>
              </a:extLst>
            </p:cNvPr>
            <p:cNvGrpSpPr/>
            <p:nvPr/>
          </p:nvGrpSpPr>
          <p:grpSpPr>
            <a:xfrm>
              <a:off x="1487488" y="764704"/>
              <a:ext cx="8136904" cy="5544616"/>
              <a:chOff x="4295800" y="63366"/>
              <a:chExt cx="6984776" cy="3888432"/>
            </a:xfrm>
          </p:grpSpPr>
          <p:sp>
            <p:nvSpPr>
              <p:cNvPr id="14" name="矩形 13">
                <a:extLst>
                  <a:ext uri="{FF2B5EF4-FFF2-40B4-BE49-F238E27FC236}">
                    <a16:creationId xmlns:a16="http://schemas.microsoft.com/office/drawing/2014/main" id="{746329A1-705D-458A-8877-BA4C1214B741}"/>
                  </a:ext>
                </a:extLst>
              </p:cNvPr>
              <p:cNvSpPr/>
              <p:nvPr/>
            </p:nvSpPr>
            <p:spPr>
              <a:xfrm>
                <a:off x="4295800" y="63366"/>
                <a:ext cx="6984776" cy="3888432"/>
              </a:xfrm>
              <a:prstGeom prst="rect">
                <a:avLst/>
              </a:prstGeom>
              <a:solidFill>
                <a:schemeClr val="bg2"/>
              </a:solidFill>
              <a:ln>
                <a:solidFill>
                  <a:schemeClr val="bg2">
                    <a:lumMod val="90000"/>
                  </a:schemeClr>
                </a:solidFill>
              </a:ln>
            </p:spPr>
            <p:style>
              <a:lnRef idx="2">
                <a:schemeClr val="accent1"/>
              </a:lnRef>
              <a:fillRef idx="1">
                <a:schemeClr val="lt1"/>
              </a:fillRef>
              <a:effectRef idx="0">
                <a:schemeClr val="accent1"/>
              </a:effectRef>
              <a:fontRef idx="minor">
                <a:schemeClr val="dk1"/>
              </a:fontRef>
            </p:style>
            <p:txBody>
              <a:bodyPr rtlCol="0" anchor="ctr"/>
              <a:lstStyle/>
              <a:p>
                <a:pPr algn="ctr"/>
                <a:endParaRPr lang="zh-TW" altLang="en-US" sz="1600"/>
              </a:p>
            </p:txBody>
          </p:sp>
          <p:grpSp>
            <p:nvGrpSpPr>
              <p:cNvPr id="15" name="群組 14">
                <a:extLst>
                  <a:ext uri="{FF2B5EF4-FFF2-40B4-BE49-F238E27FC236}">
                    <a16:creationId xmlns:a16="http://schemas.microsoft.com/office/drawing/2014/main" id="{C7EAFD84-69CD-45AE-B0EE-FAD0B23BDB7C}"/>
                  </a:ext>
                </a:extLst>
              </p:cNvPr>
              <p:cNvGrpSpPr/>
              <p:nvPr/>
            </p:nvGrpSpPr>
            <p:grpSpPr>
              <a:xfrm>
                <a:off x="8597022" y="201678"/>
                <a:ext cx="2539538" cy="3443346"/>
                <a:chOff x="6157103" y="2196593"/>
                <a:chExt cx="2232248" cy="2664296"/>
              </a:xfrm>
            </p:grpSpPr>
            <p:sp>
              <p:nvSpPr>
                <p:cNvPr id="22" name="圓角矩形 1">
                  <a:extLst>
                    <a:ext uri="{FF2B5EF4-FFF2-40B4-BE49-F238E27FC236}">
                      <a16:creationId xmlns:a16="http://schemas.microsoft.com/office/drawing/2014/main" id="{764DBA6A-56F7-43BC-9FF9-C6A4BE21246B}"/>
                    </a:ext>
                  </a:extLst>
                </p:cNvPr>
                <p:cNvSpPr/>
                <p:nvPr/>
              </p:nvSpPr>
              <p:spPr>
                <a:xfrm>
                  <a:off x="6157103" y="2196593"/>
                  <a:ext cx="2232248" cy="2664296"/>
                </a:xfrm>
                <a:prstGeom prst="roundRect">
                  <a:avLst/>
                </a:prstGeom>
              </p:spPr>
              <p:style>
                <a:lnRef idx="2">
                  <a:schemeClr val="accent5"/>
                </a:lnRef>
                <a:fillRef idx="1">
                  <a:schemeClr val="lt1"/>
                </a:fillRef>
                <a:effectRef idx="0">
                  <a:schemeClr val="accent5"/>
                </a:effectRef>
                <a:fontRef idx="minor">
                  <a:schemeClr val="dk1"/>
                </a:fontRef>
              </p:style>
              <p:txBody>
                <a:bodyPr rtlCol="0" anchor="t"/>
                <a:lstStyle/>
                <a:p>
                  <a:pPr algn="ctr"/>
                  <a:r>
                    <a:rPr lang="en-US" altLang="zh-TW" sz="1100" dirty="0"/>
                    <a:t>Public Key to Bitcoin Address</a:t>
                  </a:r>
                  <a:endParaRPr lang="zh-TW" altLang="en-US" sz="1100" dirty="0"/>
                </a:p>
              </p:txBody>
            </p:sp>
            <p:sp>
              <p:nvSpPr>
                <p:cNvPr id="23" name="矩形 22">
                  <a:extLst>
                    <a:ext uri="{FF2B5EF4-FFF2-40B4-BE49-F238E27FC236}">
                      <a16:creationId xmlns:a16="http://schemas.microsoft.com/office/drawing/2014/main" id="{7DC6BA59-0E17-4A2F-8D20-1D8BEE632093}"/>
                    </a:ext>
                  </a:extLst>
                </p:cNvPr>
                <p:cNvSpPr/>
                <p:nvPr/>
              </p:nvSpPr>
              <p:spPr>
                <a:xfrm>
                  <a:off x="6456040" y="2636912"/>
                  <a:ext cx="1656184" cy="216024"/>
                </a:xfrm>
                <a:prstGeom prst="rect">
                  <a:avLst/>
                </a:prstGeom>
                <a:solidFill>
                  <a:schemeClr val="accent1">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1050" dirty="0"/>
                    <a:t>Public Key</a:t>
                  </a:r>
                  <a:endParaRPr lang="zh-TW" altLang="en-US" sz="1050" dirty="0"/>
                </a:p>
              </p:txBody>
            </p:sp>
            <p:sp>
              <p:nvSpPr>
                <p:cNvPr id="24" name="向下箭號 10">
                  <a:extLst>
                    <a:ext uri="{FF2B5EF4-FFF2-40B4-BE49-F238E27FC236}">
                      <a16:creationId xmlns:a16="http://schemas.microsoft.com/office/drawing/2014/main" id="{64E512B7-A8C2-46AA-BEE2-4998B9018DA7}"/>
                    </a:ext>
                  </a:extLst>
                </p:cNvPr>
                <p:cNvSpPr/>
                <p:nvPr/>
              </p:nvSpPr>
              <p:spPr>
                <a:xfrm>
                  <a:off x="7248128" y="2852936"/>
                  <a:ext cx="71820" cy="144016"/>
                </a:xfrm>
                <a:prstGeom prst="downArrow">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zh-TW" altLang="en-US" sz="1600"/>
                </a:p>
              </p:txBody>
            </p:sp>
            <p:sp>
              <p:nvSpPr>
                <p:cNvPr id="25" name="矩形 24">
                  <a:extLst>
                    <a:ext uri="{FF2B5EF4-FFF2-40B4-BE49-F238E27FC236}">
                      <a16:creationId xmlns:a16="http://schemas.microsoft.com/office/drawing/2014/main" id="{2A404D69-3796-44A6-971F-EB4875B6C31F}"/>
                    </a:ext>
                  </a:extLst>
                </p:cNvPr>
                <p:cNvSpPr/>
                <p:nvPr/>
              </p:nvSpPr>
              <p:spPr>
                <a:xfrm>
                  <a:off x="6812388" y="3014214"/>
                  <a:ext cx="936104" cy="161816"/>
                </a:xfrm>
                <a:prstGeom prst="rect">
                  <a:avLst/>
                </a:prstGeom>
              </p:spPr>
              <p:style>
                <a:lnRef idx="1">
                  <a:schemeClr val="accent6"/>
                </a:lnRef>
                <a:fillRef idx="2">
                  <a:schemeClr val="accent6"/>
                </a:fillRef>
                <a:effectRef idx="1">
                  <a:schemeClr val="accent6"/>
                </a:effectRef>
                <a:fontRef idx="minor">
                  <a:schemeClr val="dk1"/>
                </a:fontRef>
              </p:style>
              <p:txBody>
                <a:bodyPr rtlCol="0" anchor="ctr"/>
                <a:lstStyle/>
                <a:p>
                  <a:pPr algn="ctr"/>
                  <a:r>
                    <a:rPr lang="en-US" altLang="zh-TW" sz="1050" dirty="0" err="1"/>
                    <a:t>SHA256</a:t>
                  </a:r>
                  <a:endParaRPr lang="zh-TW" altLang="en-US" sz="1050" dirty="0"/>
                </a:p>
              </p:txBody>
            </p:sp>
            <p:sp>
              <p:nvSpPr>
                <p:cNvPr id="27" name="向下箭號 14">
                  <a:extLst>
                    <a:ext uri="{FF2B5EF4-FFF2-40B4-BE49-F238E27FC236}">
                      <a16:creationId xmlns:a16="http://schemas.microsoft.com/office/drawing/2014/main" id="{FC23CBD3-02A6-4132-9DF0-BCDD63F093DA}"/>
                    </a:ext>
                  </a:extLst>
                </p:cNvPr>
                <p:cNvSpPr/>
                <p:nvPr/>
              </p:nvSpPr>
              <p:spPr>
                <a:xfrm>
                  <a:off x="7248128" y="3184934"/>
                  <a:ext cx="71820" cy="144016"/>
                </a:xfrm>
                <a:prstGeom prst="downArrow">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zh-TW" altLang="en-US" sz="1600"/>
                </a:p>
              </p:txBody>
            </p:sp>
            <p:sp>
              <p:nvSpPr>
                <p:cNvPr id="28" name="矩形 27">
                  <a:extLst>
                    <a:ext uri="{FF2B5EF4-FFF2-40B4-BE49-F238E27FC236}">
                      <a16:creationId xmlns:a16="http://schemas.microsoft.com/office/drawing/2014/main" id="{5BCA1D7A-DDB3-4CAE-9EA7-7479291B5BE3}"/>
                    </a:ext>
                  </a:extLst>
                </p:cNvPr>
                <p:cNvSpPr/>
                <p:nvPr/>
              </p:nvSpPr>
              <p:spPr>
                <a:xfrm>
                  <a:off x="6812388" y="3334233"/>
                  <a:ext cx="936104" cy="161816"/>
                </a:xfrm>
                <a:prstGeom prst="rect">
                  <a:avLst/>
                </a:prstGeom>
              </p:spPr>
              <p:style>
                <a:lnRef idx="1">
                  <a:schemeClr val="accent6"/>
                </a:lnRef>
                <a:fillRef idx="2">
                  <a:schemeClr val="accent6"/>
                </a:fillRef>
                <a:effectRef idx="1">
                  <a:schemeClr val="accent6"/>
                </a:effectRef>
                <a:fontRef idx="minor">
                  <a:schemeClr val="dk1"/>
                </a:fontRef>
              </p:style>
              <p:txBody>
                <a:bodyPr rtlCol="0" anchor="ctr"/>
                <a:lstStyle/>
                <a:p>
                  <a:pPr algn="ctr"/>
                  <a:r>
                    <a:rPr lang="en-US" altLang="zh-TW" sz="1050" dirty="0" err="1"/>
                    <a:t>RIPEMD160</a:t>
                  </a:r>
                  <a:endParaRPr lang="zh-TW" altLang="en-US" sz="1050" dirty="0"/>
                </a:p>
              </p:txBody>
            </p:sp>
            <p:sp>
              <p:nvSpPr>
                <p:cNvPr id="29" name="向下箭號 16">
                  <a:extLst>
                    <a:ext uri="{FF2B5EF4-FFF2-40B4-BE49-F238E27FC236}">
                      <a16:creationId xmlns:a16="http://schemas.microsoft.com/office/drawing/2014/main" id="{8BD8F295-059F-4683-B2B1-5967CAD4523B}"/>
                    </a:ext>
                  </a:extLst>
                </p:cNvPr>
                <p:cNvSpPr/>
                <p:nvPr/>
              </p:nvSpPr>
              <p:spPr>
                <a:xfrm>
                  <a:off x="7248798" y="3504563"/>
                  <a:ext cx="63284" cy="160178"/>
                </a:xfrm>
                <a:prstGeom prst="downArrow">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zh-TW" altLang="en-US" sz="1600"/>
                </a:p>
              </p:txBody>
            </p:sp>
            <p:sp>
              <p:nvSpPr>
                <p:cNvPr id="30" name="矩形 29">
                  <a:extLst>
                    <a:ext uri="{FF2B5EF4-FFF2-40B4-BE49-F238E27FC236}">
                      <a16:creationId xmlns:a16="http://schemas.microsoft.com/office/drawing/2014/main" id="{653D7575-6694-46EF-9559-AEF2CDF4950B}"/>
                    </a:ext>
                  </a:extLst>
                </p:cNvPr>
                <p:cNvSpPr/>
                <p:nvPr/>
              </p:nvSpPr>
              <p:spPr>
                <a:xfrm>
                  <a:off x="6452348" y="3681336"/>
                  <a:ext cx="1656184" cy="288032"/>
                </a:xfrm>
                <a:prstGeom prst="rect">
                  <a:avLst/>
                </a:prstGeom>
                <a:solidFill>
                  <a:schemeClr val="accent1">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ts val="1000"/>
                    </a:lnSpc>
                  </a:pPr>
                  <a:r>
                    <a:rPr lang="en-US" altLang="zh-TW" sz="1050" dirty="0"/>
                    <a:t>Public Key</a:t>
                  </a:r>
                </a:p>
                <a:p>
                  <a:pPr algn="ctr">
                    <a:lnSpc>
                      <a:spcPts val="1000"/>
                    </a:lnSpc>
                  </a:pPr>
                  <a:r>
                    <a:rPr lang="en-US" altLang="zh-TW" sz="1050" dirty="0"/>
                    <a:t>(20 bytes 160 bits)</a:t>
                  </a:r>
                  <a:endParaRPr lang="zh-TW" altLang="en-US" sz="1050" dirty="0"/>
                </a:p>
              </p:txBody>
            </p:sp>
            <p:sp>
              <p:nvSpPr>
                <p:cNvPr id="31" name="向下箭號 18">
                  <a:extLst>
                    <a:ext uri="{FF2B5EF4-FFF2-40B4-BE49-F238E27FC236}">
                      <a16:creationId xmlns:a16="http://schemas.microsoft.com/office/drawing/2014/main" id="{B29804FB-216B-47CC-AAA8-B216B1E1F432}"/>
                    </a:ext>
                  </a:extLst>
                </p:cNvPr>
                <p:cNvSpPr/>
                <p:nvPr/>
              </p:nvSpPr>
              <p:spPr>
                <a:xfrm>
                  <a:off x="7244436" y="3980388"/>
                  <a:ext cx="75512" cy="372458"/>
                </a:xfrm>
                <a:prstGeom prst="downArrow">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zh-TW" altLang="en-US" sz="1600"/>
                </a:p>
              </p:txBody>
            </p:sp>
            <p:sp>
              <p:nvSpPr>
                <p:cNvPr id="32" name="矩形 31">
                  <a:extLst>
                    <a:ext uri="{FF2B5EF4-FFF2-40B4-BE49-F238E27FC236}">
                      <a16:creationId xmlns:a16="http://schemas.microsoft.com/office/drawing/2014/main" id="{8821EB91-352B-4D00-A835-6D1B745D9938}"/>
                    </a:ext>
                  </a:extLst>
                </p:cNvPr>
                <p:cNvSpPr/>
                <p:nvPr/>
              </p:nvSpPr>
              <p:spPr>
                <a:xfrm>
                  <a:off x="6560360" y="4025572"/>
                  <a:ext cx="1440160" cy="263555"/>
                </a:xfrm>
                <a:prstGeom prst="rect">
                  <a:avLst/>
                </a:prstGeom>
              </p:spPr>
              <p:style>
                <a:lnRef idx="1">
                  <a:schemeClr val="accent6"/>
                </a:lnRef>
                <a:fillRef idx="2">
                  <a:schemeClr val="accent6"/>
                </a:fillRef>
                <a:effectRef idx="1">
                  <a:schemeClr val="accent6"/>
                </a:effectRef>
                <a:fontRef idx="minor">
                  <a:schemeClr val="dk1"/>
                </a:fontRef>
              </p:style>
              <p:txBody>
                <a:bodyPr rtlCol="0" anchor="ctr"/>
                <a:lstStyle/>
                <a:p>
                  <a:pPr algn="ctr">
                    <a:lnSpc>
                      <a:spcPts val="1000"/>
                    </a:lnSpc>
                  </a:pPr>
                  <a:r>
                    <a:rPr lang="en-US" altLang="zh-TW" sz="1050" dirty="0" err="1"/>
                    <a:t>Base58Check</a:t>
                  </a:r>
                  <a:r>
                    <a:rPr lang="en-US" altLang="zh-TW" sz="1050" dirty="0"/>
                    <a:t> Encode with version prefix</a:t>
                  </a:r>
                  <a:endParaRPr lang="zh-TW" altLang="en-US" sz="1050" dirty="0"/>
                </a:p>
              </p:txBody>
            </p:sp>
            <p:sp>
              <p:nvSpPr>
                <p:cNvPr id="33" name="矩形 32">
                  <a:extLst>
                    <a:ext uri="{FF2B5EF4-FFF2-40B4-BE49-F238E27FC236}">
                      <a16:creationId xmlns:a16="http://schemas.microsoft.com/office/drawing/2014/main" id="{107A0826-59DB-4598-BFAE-29EA6C864766}"/>
                    </a:ext>
                  </a:extLst>
                </p:cNvPr>
                <p:cNvSpPr/>
                <p:nvPr/>
              </p:nvSpPr>
              <p:spPr>
                <a:xfrm>
                  <a:off x="6359569" y="4370342"/>
                  <a:ext cx="1841742" cy="288032"/>
                </a:xfrm>
                <a:prstGeom prst="rect">
                  <a:avLst/>
                </a:prstGeom>
                <a:solidFill>
                  <a:schemeClr val="accent1">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ts val="1000"/>
                    </a:lnSpc>
                  </a:pPr>
                  <a:r>
                    <a:rPr lang="en-US" altLang="zh-TW" sz="900" dirty="0"/>
                    <a:t>Bitcoin Address</a:t>
                  </a:r>
                </a:p>
                <a:p>
                  <a:pPr algn="ctr">
                    <a:lnSpc>
                      <a:spcPts val="1000"/>
                    </a:lnSpc>
                  </a:pPr>
                  <a:r>
                    <a:rPr lang="en-US" altLang="zh-TW" sz="900" dirty="0"/>
                    <a:t>Check Encoded Public Key Hash</a:t>
                  </a:r>
                  <a:endParaRPr lang="zh-TW" altLang="en-US" sz="900" dirty="0"/>
                </a:p>
              </p:txBody>
            </p:sp>
            <p:sp>
              <p:nvSpPr>
                <p:cNvPr id="34" name="左大括弧 33">
                  <a:extLst>
                    <a:ext uri="{FF2B5EF4-FFF2-40B4-BE49-F238E27FC236}">
                      <a16:creationId xmlns:a16="http://schemas.microsoft.com/office/drawing/2014/main" id="{12816EAD-05E0-4A39-9602-3333F66B3D8A}"/>
                    </a:ext>
                  </a:extLst>
                </p:cNvPr>
                <p:cNvSpPr/>
                <p:nvPr/>
              </p:nvSpPr>
              <p:spPr>
                <a:xfrm>
                  <a:off x="6744072" y="2996952"/>
                  <a:ext cx="68316" cy="534793"/>
                </a:xfrm>
                <a:prstGeom prst="leftBrace">
                  <a:avLst/>
                </a:prstGeom>
                <a:noFill/>
                <a:ln>
                  <a:solidFill>
                    <a:schemeClr val="bg1">
                      <a:lumMod val="50000"/>
                    </a:schemeClr>
                  </a:solidFill>
                </a:ln>
              </p:spPr>
              <p:style>
                <a:lnRef idx="1">
                  <a:schemeClr val="dk1"/>
                </a:lnRef>
                <a:fillRef idx="0">
                  <a:schemeClr val="dk1"/>
                </a:fillRef>
                <a:effectRef idx="0">
                  <a:schemeClr val="dk1"/>
                </a:effectRef>
                <a:fontRef idx="minor">
                  <a:schemeClr val="tx1"/>
                </a:fontRef>
              </p:style>
              <p:txBody>
                <a:bodyPr rtlCol="0" anchor="ctr"/>
                <a:lstStyle/>
                <a:p>
                  <a:pPr algn="ctr"/>
                  <a:endParaRPr lang="zh-TW" altLang="en-US" sz="1600"/>
                </a:p>
              </p:txBody>
            </p:sp>
            <p:sp>
              <p:nvSpPr>
                <p:cNvPr id="35" name="左大括弧 34">
                  <a:extLst>
                    <a:ext uri="{FF2B5EF4-FFF2-40B4-BE49-F238E27FC236}">
                      <a16:creationId xmlns:a16="http://schemas.microsoft.com/office/drawing/2014/main" id="{6B7F2E69-09C0-4E44-8CA0-3FA8ADAEDD9A}"/>
                    </a:ext>
                  </a:extLst>
                </p:cNvPr>
                <p:cNvSpPr/>
                <p:nvPr/>
              </p:nvSpPr>
              <p:spPr>
                <a:xfrm flipH="1">
                  <a:off x="7755876" y="2993948"/>
                  <a:ext cx="68316" cy="534793"/>
                </a:xfrm>
                <a:prstGeom prst="leftBrace">
                  <a:avLst/>
                </a:prstGeom>
                <a:noFill/>
                <a:ln>
                  <a:solidFill>
                    <a:schemeClr val="bg1">
                      <a:lumMod val="50000"/>
                    </a:schemeClr>
                  </a:solidFill>
                </a:ln>
              </p:spPr>
              <p:style>
                <a:lnRef idx="1">
                  <a:schemeClr val="dk1"/>
                </a:lnRef>
                <a:fillRef idx="0">
                  <a:schemeClr val="dk1"/>
                </a:fillRef>
                <a:effectRef idx="0">
                  <a:schemeClr val="dk1"/>
                </a:effectRef>
                <a:fontRef idx="minor">
                  <a:schemeClr val="tx1"/>
                </a:fontRef>
              </p:style>
              <p:txBody>
                <a:bodyPr rtlCol="0" anchor="ctr"/>
                <a:lstStyle/>
                <a:p>
                  <a:pPr algn="ctr"/>
                  <a:endParaRPr lang="zh-TW" altLang="en-US" sz="1600"/>
                </a:p>
              </p:txBody>
            </p:sp>
            <p:sp>
              <p:nvSpPr>
                <p:cNvPr id="36" name="文字方塊 35">
                  <a:extLst>
                    <a:ext uri="{FF2B5EF4-FFF2-40B4-BE49-F238E27FC236}">
                      <a16:creationId xmlns:a16="http://schemas.microsoft.com/office/drawing/2014/main" id="{F1C5EA68-FB9C-4F8D-86C0-33FF13150BC3}"/>
                    </a:ext>
                  </a:extLst>
                </p:cNvPr>
                <p:cNvSpPr txBox="1"/>
                <p:nvPr/>
              </p:nvSpPr>
              <p:spPr>
                <a:xfrm>
                  <a:off x="7805266" y="3002527"/>
                  <a:ext cx="572559" cy="278433"/>
                </a:xfrm>
                <a:prstGeom prst="rect">
                  <a:avLst/>
                </a:prstGeom>
                <a:noFill/>
              </p:spPr>
              <p:txBody>
                <a:bodyPr wrap="square" rtlCol="0">
                  <a:spAutoFit/>
                </a:bodyPr>
                <a:lstStyle/>
                <a:p>
                  <a:r>
                    <a:rPr lang="en-US" altLang="zh-TW" sz="700" i="1" dirty="0"/>
                    <a:t>Double Hash or </a:t>
                  </a:r>
                </a:p>
                <a:p>
                  <a:r>
                    <a:rPr lang="en-US" altLang="zh-TW" sz="700" i="1" dirty="0" err="1"/>
                    <a:t>HASH160</a:t>
                  </a:r>
                  <a:endParaRPr lang="zh-TW" altLang="en-US" sz="700" i="1" dirty="0"/>
                </a:p>
              </p:txBody>
            </p:sp>
          </p:grpSp>
          <p:sp>
            <p:nvSpPr>
              <p:cNvPr id="16" name="向右箭號 29">
                <a:extLst>
                  <a:ext uri="{FF2B5EF4-FFF2-40B4-BE49-F238E27FC236}">
                    <a16:creationId xmlns:a16="http://schemas.microsoft.com/office/drawing/2014/main" id="{755944D2-FCE7-479F-AA6D-05C52D6EE450}"/>
                  </a:ext>
                </a:extLst>
              </p:cNvPr>
              <p:cNvSpPr/>
              <p:nvPr/>
            </p:nvSpPr>
            <p:spPr>
              <a:xfrm flipH="1">
                <a:off x="8148892" y="763287"/>
                <a:ext cx="432048" cy="144016"/>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1600"/>
              </a:p>
            </p:txBody>
          </p:sp>
          <p:pic>
            <p:nvPicPr>
              <p:cNvPr id="17" name="圖片 16">
                <a:extLst>
                  <a:ext uri="{FF2B5EF4-FFF2-40B4-BE49-F238E27FC236}">
                    <a16:creationId xmlns:a16="http://schemas.microsoft.com/office/drawing/2014/main" id="{7E35F9D6-94E6-46B3-9EF6-AF9CC430849F}"/>
                  </a:ext>
                </a:extLst>
              </p:cNvPr>
              <p:cNvPicPr>
                <a:picLocks noChangeAspect="1"/>
              </p:cNvPicPr>
              <p:nvPr/>
            </p:nvPicPr>
            <p:blipFill>
              <a:blip r:embed="rId4"/>
              <a:stretch>
                <a:fillRect/>
              </a:stretch>
            </p:blipFill>
            <p:spPr>
              <a:xfrm>
                <a:off x="4584708" y="314897"/>
                <a:ext cx="3467100" cy="923925"/>
              </a:xfrm>
              <a:prstGeom prst="rect">
                <a:avLst/>
              </a:prstGeom>
            </p:spPr>
          </p:pic>
          <p:pic>
            <p:nvPicPr>
              <p:cNvPr id="18" name="圖片 17">
                <a:extLst>
                  <a:ext uri="{FF2B5EF4-FFF2-40B4-BE49-F238E27FC236}">
                    <a16:creationId xmlns:a16="http://schemas.microsoft.com/office/drawing/2014/main" id="{69B37627-F6F2-4BFD-B2B7-485C47D71FFE}"/>
                  </a:ext>
                </a:extLst>
              </p:cNvPr>
              <p:cNvPicPr>
                <a:picLocks noChangeAspect="1"/>
              </p:cNvPicPr>
              <p:nvPr/>
            </p:nvPicPr>
            <p:blipFill>
              <a:blip r:embed="rId5"/>
              <a:stretch>
                <a:fillRect/>
              </a:stretch>
            </p:blipFill>
            <p:spPr>
              <a:xfrm>
                <a:off x="5631488" y="1383592"/>
                <a:ext cx="1588998" cy="623990"/>
              </a:xfrm>
              <a:prstGeom prst="rect">
                <a:avLst/>
              </a:prstGeom>
            </p:spPr>
          </p:pic>
          <p:pic>
            <p:nvPicPr>
              <p:cNvPr id="19" name="圖片 18">
                <a:extLst>
                  <a:ext uri="{FF2B5EF4-FFF2-40B4-BE49-F238E27FC236}">
                    <a16:creationId xmlns:a16="http://schemas.microsoft.com/office/drawing/2014/main" id="{160A7953-0C4F-4D7D-8199-102FF2240271}"/>
                  </a:ext>
                </a:extLst>
              </p:cNvPr>
              <p:cNvPicPr>
                <a:picLocks noChangeAspect="1"/>
              </p:cNvPicPr>
              <p:nvPr/>
            </p:nvPicPr>
            <p:blipFill>
              <a:blip r:embed="rId6"/>
              <a:stretch>
                <a:fillRect/>
              </a:stretch>
            </p:blipFill>
            <p:spPr>
              <a:xfrm>
                <a:off x="4490618" y="2206722"/>
                <a:ext cx="3667125" cy="161925"/>
              </a:xfrm>
              <a:prstGeom prst="rect">
                <a:avLst/>
              </a:prstGeom>
            </p:spPr>
          </p:pic>
          <p:sp>
            <p:nvSpPr>
              <p:cNvPr id="20" name="向右箭號 35">
                <a:extLst>
                  <a:ext uri="{FF2B5EF4-FFF2-40B4-BE49-F238E27FC236}">
                    <a16:creationId xmlns:a16="http://schemas.microsoft.com/office/drawing/2014/main" id="{F68746DF-6E06-40AC-89EE-4ECB0B2E3914}"/>
                  </a:ext>
                </a:extLst>
              </p:cNvPr>
              <p:cNvSpPr/>
              <p:nvPr/>
            </p:nvSpPr>
            <p:spPr>
              <a:xfrm flipH="1">
                <a:off x="8152068" y="2206722"/>
                <a:ext cx="432048" cy="144016"/>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1600"/>
              </a:p>
            </p:txBody>
          </p:sp>
          <p:sp>
            <p:nvSpPr>
              <p:cNvPr id="21" name="向右箭號 36">
                <a:extLst>
                  <a:ext uri="{FF2B5EF4-FFF2-40B4-BE49-F238E27FC236}">
                    <a16:creationId xmlns:a16="http://schemas.microsoft.com/office/drawing/2014/main" id="{D05D01A2-8EAE-4968-8CF6-2FB8746B4C54}"/>
                  </a:ext>
                </a:extLst>
              </p:cNvPr>
              <p:cNvSpPr/>
              <p:nvPr/>
            </p:nvSpPr>
            <p:spPr>
              <a:xfrm flipH="1">
                <a:off x="8152068" y="3100794"/>
                <a:ext cx="432048" cy="144016"/>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1600"/>
              </a:p>
            </p:txBody>
          </p:sp>
        </p:grpSp>
        <p:sp>
          <p:nvSpPr>
            <p:cNvPr id="13" name="矩形 12">
              <a:extLst>
                <a:ext uri="{FF2B5EF4-FFF2-40B4-BE49-F238E27FC236}">
                  <a16:creationId xmlns:a16="http://schemas.microsoft.com/office/drawing/2014/main" id="{4F1672CF-7644-41D5-809E-BE95B26FEB58}"/>
                </a:ext>
              </a:extLst>
            </p:cNvPr>
            <p:cNvSpPr/>
            <p:nvPr/>
          </p:nvSpPr>
          <p:spPr>
            <a:xfrm>
              <a:off x="1752043" y="5003884"/>
              <a:ext cx="4104455" cy="722163"/>
            </a:xfrm>
            <a:prstGeom prst="rect">
              <a:avLst/>
            </a:prstGeom>
            <a:solidFill>
              <a:schemeClr val="bg1"/>
            </a:solidFill>
          </p:spPr>
          <p:txBody>
            <a:bodyPr wrap="square">
              <a:spAutoFit/>
            </a:bodyPr>
            <a:lstStyle/>
            <a:p>
              <a:pPr algn="ctr"/>
              <a:r>
                <a:rPr lang="zh-TW" altLang="en-US" sz="1600" dirty="0"/>
                <a:t>1LHEHNcaEJSnVZz5sVoaCBUGQPziBjiLAr</a:t>
              </a:r>
            </a:p>
          </p:txBody>
        </p:sp>
      </p:grpSp>
      <p:sp>
        <p:nvSpPr>
          <p:cNvPr id="37" name="文字方塊 36">
            <a:extLst>
              <a:ext uri="{FF2B5EF4-FFF2-40B4-BE49-F238E27FC236}">
                <a16:creationId xmlns:a16="http://schemas.microsoft.com/office/drawing/2014/main" id="{96320F94-B4D5-4B17-BABB-B923CE6D756E}"/>
              </a:ext>
            </a:extLst>
          </p:cNvPr>
          <p:cNvSpPr txBox="1"/>
          <p:nvPr/>
        </p:nvSpPr>
        <p:spPr>
          <a:xfrm>
            <a:off x="7741083" y="6408396"/>
            <a:ext cx="2089033" cy="369332"/>
          </a:xfrm>
          <a:prstGeom prst="rect">
            <a:avLst/>
          </a:prstGeom>
          <a:noFill/>
        </p:spPr>
        <p:txBody>
          <a:bodyPr wrap="none" rtlCol="0">
            <a:spAutoFit/>
          </a:bodyPr>
          <a:lstStyle/>
          <a:p>
            <a:pPr marL="285750" indent="-285750">
              <a:buFont typeface="Arial" panose="020B0604020202020204" pitchFamily="34" charset="0"/>
              <a:buChar char="▲"/>
            </a:pPr>
            <a:r>
              <a:rPr lang="zh-TW" altLang="en-US" b="1" dirty="0">
                <a:latin typeface="微軟正黑體" panose="020B0604030504040204" pitchFamily="34" charset="-120"/>
                <a:ea typeface="微軟正黑體" panose="020B0604030504040204" pitchFamily="34" charset="-120"/>
              </a:rPr>
              <a:t>比特幣地址設計</a:t>
            </a:r>
          </a:p>
        </p:txBody>
      </p:sp>
    </p:spTree>
    <p:extLst>
      <p:ext uri="{BB962C8B-B14F-4D97-AF65-F5344CB8AC3E}">
        <p14:creationId xmlns:p14="http://schemas.microsoft.com/office/powerpoint/2010/main" val="936723586"/>
      </p:ext>
    </p:extLst>
  </p:cSld>
  <p:clrMapOvr>
    <a:masterClrMapping/>
  </p:clrMapOvr>
  <mc:AlternateContent xmlns:mc="http://schemas.openxmlformats.org/markup-compatibility/2006">
    <mc:Choice xmlns:p14="http://schemas.microsoft.com/office/powerpoint/2010/main" Requires="p14">
      <p:transition spd="slow" p14:dur="1400">
        <p14:doors dir="ver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6" presetClass="entr" presetSubtype="16" fill="hold" grpId="0" nodeType="after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circle(in)">
                                      <p:cBhvr>
                                        <p:cTn id="7" dur="2000"/>
                                        <p:tgtEl>
                                          <p:spTgt spid="9"/>
                                        </p:tgtEl>
                                      </p:cBhvr>
                                    </p:animEffect>
                                  </p:childTnLst>
                                </p:cTn>
                              </p:par>
                            </p:childTnLst>
                          </p:cTn>
                        </p:par>
                        <p:par>
                          <p:cTn id="8" fill="hold">
                            <p:stCondLst>
                              <p:cond delay="2000"/>
                            </p:stCondLst>
                            <p:childTnLst>
                              <p:par>
                                <p:cTn id="9" presetID="14" presetClass="entr" presetSubtype="10" fill="hold" grpId="0" nodeType="afterEffect">
                                  <p:stCondLst>
                                    <p:cond delay="0"/>
                                  </p:stCondLst>
                                  <p:childTnLst>
                                    <p:set>
                                      <p:cBhvr>
                                        <p:cTn id="10" dur="1" fill="hold">
                                          <p:stCondLst>
                                            <p:cond delay="0"/>
                                          </p:stCondLst>
                                        </p:cTn>
                                        <p:tgtEl>
                                          <p:spTgt spid="12"/>
                                        </p:tgtEl>
                                        <p:attrNameLst>
                                          <p:attrName>style.visibility</p:attrName>
                                        </p:attrNameLst>
                                      </p:cBhvr>
                                      <p:to>
                                        <p:strVal val="visible"/>
                                      </p:to>
                                    </p:set>
                                    <p:animEffect transition="in" filter="randombar(horizontal)">
                                      <p:cBhvr>
                                        <p:cTn id="11" dur="500"/>
                                        <p:tgtEl>
                                          <p:spTgt spid="12"/>
                                        </p:tgtEl>
                                      </p:cBhvr>
                                    </p:animEffect>
                                  </p:childTnLst>
                                </p:cTn>
                              </p:par>
                            </p:childTnLst>
                          </p:cTn>
                        </p:par>
                        <p:par>
                          <p:cTn id="12" fill="hold">
                            <p:stCondLst>
                              <p:cond delay="2500"/>
                            </p:stCondLst>
                            <p:childTnLst>
                              <p:par>
                                <p:cTn id="13" presetID="2" presetClass="entr" presetSubtype="8" fill="hold" nodeType="afterEffect">
                                  <p:stCondLst>
                                    <p:cond delay="0"/>
                                  </p:stCondLst>
                                  <p:childTnLst>
                                    <p:set>
                                      <p:cBhvr>
                                        <p:cTn id="14" dur="1" fill="hold">
                                          <p:stCondLst>
                                            <p:cond delay="0"/>
                                          </p:stCondLst>
                                        </p:cTn>
                                        <p:tgtEl>
                                          <p:spTgt spid="26"/>
                                        </p:tgtEl>
                                        <p:attrNameLst>
                                          <p:attrName>style.visibility</p:attrName>
                                        </p:attrNameLst>
                                      </p:cBhvr>
                                      <p:to>
                                        <p:strVal val="visible"/>
                                      </p:to>
                                    </p:set>
                                    <p:anim calcmode="lin" valueType="num">
                                      <p:cBhvr additive="base">
                                        <p:cTn id="15" dur="500" fill="hold"/>
                                        <p:tgtEl>
                                          <p:spTgt spid="26"/>
                                        </p:tgtEl>
                                        <p:attrNameLst>
                                          <p:attrName>ppt_x</p:attrName>
                                        </p:attrNameLst>
                                      </p:cBhvr>
                                      <p:tavLst>
                                        <p:tav tm="0">
                                          <p:val>
                                            <p:strVal val="0-#ppt_w/2"/>
                                          </p:val>
                                        </p:tav>
                                        <p:tav tm="100000">
                                          <p:val>
                                            <p:strVal val="#ppt_x"/>
                                          </p:val>
                                        </p:tav>
                                      </p:tavLst>
                                    </p:anim>
                                    <p:anim calcmode="lin" valueType="num">
                                      <p:cBhvr additive="base">
                                        <p:cTn id="16" dur="500" fill="hold"/>
                                        <p:tgtEl>
                                          <p:spTgt spid="26"/>
                                        </p:tgtEl>
                                        <p:attrNameLst>
                                          <p:attrName>ppt_y</p:attrName>
                                        </p:attrNameLst>
                                      </p:cBhvr>
                                      <p:tavLst>
                                        <p:tav tm="0">
                                          <p:val>
                                            <p:strVal val="#ppt_y"/>
                                          </p:val>
                                        </p:tav>
                                        <p:tav tm="100000">
                                          <p:val>
                                            <p:strVal val="#ppt_y"/>
                                          </p:val>
                                        </p:tav>
                                      </p:tavLst>
                                    </p:anim>
                                  </p:childTnLst>
                                </p:cTn>
                              </p:par>
                            </p:childTnLst>
                          </p:cTn>
                        </p:par>
                        <p:par>
                          <p:cTn id="17" fill="hold">
                            <p:stCondLst>
                              <p:cond delay="3000"/>
                            </p:stCondLst>
                            <p:childTnLst>
                              <p:par>
                                <p:cTn id="18" presetID="16" presetClass="entr" presetSubtype="21" fill="hold" grpId="0" nodeType="afterEffect">
                                  <p:stCondLst>
                                    <p:cond delay="0"/>
                                  </p:stCondLst>
                                  <p:childTnLst>
                                    <p:set>
                                      <p:cBhvr>
                                        <p:cTn id="19" dur="1" fill="hold">
                                          <p:stCondLst>
                                            <p:cond delay="0"/>
                                          </p:stCondLst>
                                        </p:cTn>
                                        <p:tgtEl>
                                          <p:spTgt spid="2"/>
                                        </p:tgtEl>
                                        <p:attrNameLst>
                                          <p:attrName>style.visibility</p:attrName>
                                        </p:attrNameLst>
                                      </p:cBhvr>
                                      <p:to>
                                        <p:strVal val="visible"/>
                                      </p:to>
                                    </p:set>
                                    <p:animEffect transition="in" filter="barn(inVertical)">
                                      <p:cBhvr>
                                        <p:cTn id="20" dur="500"/>
                                        <p:tgtEl>
                                          <p:spTgt spid="2"/>
                                        </p:tgtEl>
                                      </p:cBhvr>
                                    </p:animEffect>
                                  </p:childTnLst>
                                </p:cTn>
                              </p:par>
                            </p:childTnLst>
                          </p:cTn>
                        </p:par>
                        <p:par>
                          <p:cTn id="21" fill="hold">
                            <p:stCondLst>
                              <p:cond delay="3500"/>
                            </p:stCondLst>
                            <p:childTnLst>
                              <p:par>
                                <p:cTn id="22" presetID="42" presetClass="entr" presetSubtype="0" fill="hold" nodeType="afterEffect">
                                  <p:stCondLst>
                                    <p:cond delay="0"/>
                                  </p:stCondLst>
                                  <p:childTnLst>
                                    <p:set>
                                      <p:cBhvr>
                                        <p:cTn id="23" dur="1" fill="hold">
                                          <p:stCondLst>
                                            <p:cond delay="0"/>
                                          </p:stCondLst>
                                        </p:cTn>
                                        <p:tgtEl>
                                          <p:spTgt spid="10"/>
                                        </p:tgtEl>
                                        <p:attrNameLst>
                                          <p:attrName>style.visibility</p:attrName>
                                        </p:attrNameLst>
                                      </p:cBhvr>
                                      <p:to>
                                        <p:strVal val="visible"/>
                                      </p:to>
                                    </p:set>
                                    <p:animEffect transition="in" filter="fade">
                                      <p:cBhvr>
                                        <p:cTn id="24" dur="1000"/>
                                        <p:tgtEl>
                                          <p:spTgt spid="10"/>
                                        </p:tgtEl>
                                      </p:cBhvr>
                                    </p:animEffect>
                                    <p:anim calcmode="lin" valueType="num">
                                      <p:cBhvr>
                                        <p:cTn id="25" dur="1000" fill="hold"/>
                                        <p:tgtEl>
                                          <p:spTgt spid="10"/>
                                        </p:tgtEl>
                                        <p:attrNameLst>
                                          <p:attrName>ppt_x</p:attrName>
                                        </p:attrNameLst>
                                      </p:cBhvr>
                                      <p:tavLst>
                                        <p:tav tm="0">
                                          <p:val>
                                            <p:strVal val="#ppt_x"/>
                                          </p:val>
                                        </p:tav>
                                        <p:tav tm="100000">
                                          <p:val>
                                            <p:strVal val="#ppt_x"/>
                                          </p:val>
                                        </p:tav>
                                      </p:tavLst>
                                    </p:anim>
                                    <p:anim calcmode="lin" valueType="num">
                                      <p:cBhvr>
                                        <p:cTn id="26" dur="1000" fill="hold"/>
                                        <p:tgtEl>
                                          <p:spTgt spid="10"/>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2" grpId="0"/>
      <p:bldP spid="12" grpId="0"/>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图片 42">
            <a:extLst>
              <a:ext uri="{FF2B5EF4-FFF2-40B4-BE49-F238E27FC236}">
                <a16:creationId xmlns:a16="http://schemas.microsoft.com/office/drawing/2014/main" id="{C8D97DA4-6242-4E73-AEFC-457D04FDC65B}"/>
              </a:ext>
            </a:extLst>
          </p:cNvPr>
          <p:cNvPicPr>
            <a:picLocks noChangeAspect="1"/>
          </p:cNvPicPr>
          <p:nvPr/>
        </p:nvPicPr>
        <p:blipFill>
          <a:blip r:embed="rId2"/>
          <a:stretch>
            <a:fillRect/>
          </a:stretch>
        </p:blipFill>
        <p:spPr>
          <a:xfrm rot="16200000">
            <a:off x="145169" y="-145167"/>
            <a:ext cx="1268414" cy="1558750"/>
          </a:xfrm>
          <a:prstGeom prst="rect">
            <a:avLst/>
          </a:prstGeom>
        </p:spPr>
      </p:pic>
      <p:sp>
        <p:nvSpPr>
          <p:cNvPr id="6" name="文字方塊 5">
            <a:extLst>
              <a:ext uri="{FF2B5EF4-FFF2-40B4-BE49-F238E27FC236}">
                <a16:creationId xmlns:a16="http://schemas.microsoft.com/office/drawing/2014/main" id="{8A30B01A-3198-4955-A208-0E3D9EB60397}"/>
              </a:ext>
            </a:extLst>
          </p:cNvPr>
          <p:cNvSpPr txBox="1"/>
          <p:nvPr/>
        </p:nvSpPr>
        <p:spPr>
          <a:xfrm>
            <a:off x="1558751" y="6596390"/>
            <a:ext cx="4217821" cy="261610"/>
          </a:xfrm>
          <a:prstGeom prst="rect">
            <a:avLst/>
          </a:prstGeom>
          <a:noFill/>
        </p:spPr>
        <p:txBody>
          <a:bodyPr wrap="none" rtlCol="0">
            <a:spAutoFit/>
          </a:bodyPr>
          <a:lstStyle/>
          <a:p>
            <a:r>
              <a:rPr lang="zh-TW" altLang="en-US" sz="1100" dirty="0">
                <a:latin typeface="Microsoft JhengHei Light" panose="020B0304030504040204" pitchFamily="34" charset="-120"/>
                <a:ea typeface="Microsoft JhengHei Light" panose="020B0304030504040204" pitchFamily="34" charset="-120"/>
              </a:rPr>
              <a:t>區塊鏈商業應用概論 實例與分析／新陸書局股份有限公司 發行</a:t>
            </a:r>
          </a:p>
        </p:txBody>
      </p:sp>
      <p:sp>
        <p:nvSpPr>
          <p:cNvPr id="9" name="標題 1">
            <a:extLst>
              <a:ext uri="{FF2B5EF4-FFF2-40B4-BE49-F238E27FC236}">
                <a16:creationId xmlns:a16="http://schemas.microsoft.com/office/drawing/2014/main" id="{475DFFF1-7C37-4CBE-ACFC-3F348BCD20CC}"/>
              </a:ext>
            </a:extLst>
          </p:cNvPr>
          <p:cNvSpPr txBox="1">
            <a:spLocks/>
          </p:cNvSpPr>
          <p:nvPr/>
        </p:nvSpPr>
        <p:spPr>
          <a:xfrm>
            <a:off x="1231956" y="393820"/>
            <a:ext cx="3643527" cy="874595"/>
          </a:xfrm>
          <a:prstGeom prst="rect">
            <a:avLst/>
          </a:prstGeom>
        </p:spPr>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altLang="zh-TW" sz="2400" b="1" dirty="0">
                <a:solidFill>
                  <a:srgbClr val="E06741"/>
                </a:solidFill>
              </a:rPr>
              <a:t>2-2 </a:t>
            </a:r>
            <a:r>
              <a:rPr lang="zh-TW" altLang="en-US" sz="2400" b="1" dirty="0">
                <a:solidFill>
                  <a:srgbClr val="E06741"/>
                </a:solidFill>
              </a:rPr>
              <a:t>區塊鏈技術發展</a:t>
            </a:r>
          </a:p>
          <a:p>
            <a:endParaRPr lang="zh-TW" altLang="en-US" sz="2400" dirty="0">
              <a:solidFill>
                <a:srgbClr val="E06741"/>
              </a:solidFill>
              <a:latin typeface="標楷體" panose="03000509000000000000" pitchFamily="65" charset="-120"/>
              <a:ea typeface="標楷體" panose="03000509000000000000" pitchFamily="65" charset="-120"/>
              <a:cs typeface="Times New Roman" panose="02020603050405020304" pitchFamily="18" charset="0"/>
            </a:endParaRPr>
          </a:p>
        </p:txBody>
      </p:sp>
      <p:sp>
        <p:nvSpPr>
          <p:cNvPr id="2" name="文字方塊 1">
            <a:extLst>
              <a:ext uri="{FF2B5EF4-FFF2-40B4-BE49-F238E27FC236}">
                <a16:creationId xmlns:a16="http://schemas.microsoft.com/office/drawing/2014/main" id="{D6D66D7E-58A1-40BE-8070-FA1C3AF22B14}"/>
              </a:ext>
            </a:extLst>
          </p:cNvPr>
          <p:cNvSpPr txBox="1"/>
          <p:nvPr/>
        </p:nvSpPr>
        <p:spPr>
          <a:xfrm>
            <a:off x="1121750" y="1355053"/>
            <a:ext cx="6138032" cy="5010474"/>
          </a:xfrm>
          <a:prstGeom prst="rect">
            <a:avLst/>
          </a:prstGeom>
          <a:noFill/>
        </p:spPr>
        <p:txBody>
          <a:bodyPr wrap="square" rtlCol="0">
            <a:spAutoFit/>
          </a:bodyPr>
          <a:lstStyle/>
          <a:p>
            <a:pPr marL="800100" lvl="1" indent="-342900">
              <a:lnSpc>
                <a:spcPct val="150000"/>
              </a:lnSpc>
              <a:buSzPct val="100000"/>
              <a:buBlip>
                <a:blip r:embed="rId3"/>
              </a:buBlip>
            </a:pPr>
            <a:r>
              <a:rPr lang="zh-TW" altLang="en-US" sz="2400" b="1" dirty="0">
                <a:solidFill>
                  <a:schemeClr val="tx1">
                    <a:lumMod val="75000"/>
                    <a:lumOff val="25000"/>
                  </a:schemeClr>
                </a:solidFill>
                <a:latin typeface="微軟正黑體" panose="020B0604030504040204" pitchFamily="34" charset="-120"/>
                <a:ea typeface="微軟正黑體" panose="020B0604030504040204" pitchFamily="34" charset="-120"/>
              </a:rPr>
              <a:t>使用者可以在離線狀態生成比特幣址，僅能依使用者的接收、簽章或發送等需求實施一次性使用權，使用後的地址則會被註銷</a:t>
            </a:r>
            <a:endParaRPr lang="en-US" altLang="zh-TW" sz="2400" b="1" dirty="0">
              <a:solidFill>
                <a:schemeClr val="tx1">
                  <a:lumMod val="75000"/>
                  <a:lumOff val="25000"/>
                </a:schemeClr>
              </a:solidFill>
              <a:latin typeface="微軟正黑體" panose="020B0604030504040204" pitchFamily="34" charset="-120"/>
              <a:ea typeface="微軟正黑體" panose="020B0604030504040204" pitchFamily="34" charset="-120"/>
            </a:endParaRPr>
          </a:p>
          <a:p>
            <a:pPr marL="800100" lvl="1" indent="-342900">
              <a:lnSpc>
                <a:spcPct val="150000"/>
              </a:lnSpc>
              <a:buSzPct val="100000"/>
              <a:buBlip>
                <a:blip r:embed="rId3"/>
              </a:buBlip>
            </a:pPr>
            <a:r>
              <a:rPr lang="zh-TW" altLang="en-US" sz="2400" b="1" dirty="0">
                <a:solidFill>
                  <a:schemeClr val="tx1">
                    <a:lumMod val="75000"/>
                    <a:lumOff val="25000"/>
                  </a:schemeClr>
                </a:solidFill>
                <a:latin typeface="微軟正黑體" panose="020B0604030504040204" pitchFamily="34" charset="-120"/>
                <a:ea typeface="微軟正黑體" panose="020B0604030504040204" pitchFamily="34" charset="-120"/>
              </a:rPr>
              <a:t>比特幣地址可以重複性的取得</a:t>
            </a:r>
            <a:endParaRPr lang="en-US" altLang="zh-TW" sz="2400" b="1" dirty="0">
              <a:solidFill>
                <a:schemeClr val="tx1">
                  <a:lumMod val="75000"/>
                  <a:lumOff val="25000"/>
                </a:schemeClr>
              </a:solidFill>
              <a:latin typeface="微軟正黑體" panose="020B0604030504040204" pitchFamily="34" charset="-120"/>
              <a:ea typeface="微軟正黑體" panose="020B0604030504040204" pitchFamily="34" charset="-120"/>
            </a:endParaRPr>
          </a:p>
          <a:p>
            <a:pPr marL="800100" lvl="1" indent="-342900">
              <a:lnSpc>
                <a:spcPct val="150000"/>
              </a:lnSpc>
              <a:buSzPct val="100000"/>
              <a:buBlip>
                <a:blip r:embed="rId3"/>
              </a:buBlip>
            </a:pPr>
            <a:r>
              <a:rPr lang="zh-TW" altLang="en-US" sz="2400" b="1" dirty="0">
                <a:solidFill>
                  <a:schemeClr val="tx1">
                    <a:lumMod val="75000"/>
                    <a:lumOff val="25000"/>
                  </a:schemeClr>
                </a:solidFill>
                <a:latin typeface="微軟正黑體" panose="020B0604030504040204" pitchFamily="34" charset="-120"/>
                <a:ea typeface="微軟正黑體" panose="020B0604030504040204" pitchFamily="34" charset="-120"/>
              </a:rPr>
              <a:t>比特幣的地址是採用雜湊運算法演算，相同地址的可能性微乎其微</a:t>
            </a:r>
            <a:endParaRPr lang="en-US" altLang="zh-TW" sz="2400" b="1" dirty="0">
              <a:solidFill>
                <a:schemeClr val="tx1">
                  <a:lumMod val="75000"/>
                  <a:lumOff val="25000"/>
                </a:schemeClr>
              </a:solidFill>
              <a:latin typeface="微軟正黑體" panose="020B0604030504040204" pitchFamily="34" charset="-120"/>
              <a:ea typeface="微軟正黑體" panose="020B0604030504040204" pitchFamily="34" charset="-120"/>
            </a:endParaRPr>
          </a:p>
          <a:p>
            <a:pPr marL="800100" lvl="1" indent="-342900">
              <a:lnSpc>
                <a:spcPct val="150000"/>
              </a:lnSpc>
              <a:buSzPct val="100000"/>
              <a:buBlip>
                <a:blip r:embed="rId3"/>
              </a:buBlip>
            </a:pPr>
            <a:r>
              <a:rPr lang="zh-TW" altLang="en-US" sz="2400" b="1" dirty="0">
                <a:solidFill>
                  <a:schemeClr val="tx1">
                    <a:lumMod val="75000"/>
                    <a:lumOff val="25000"/>
                  </a:schemeClr>
                </a:solidFill>
                <a:latin typeface="微軟正黑體" panose="020B0604030504040204" pitchFamily="34" charset="-120"/>
                <a:ea typeface="微軟正黑體" panose="020B0604030504040204" pitchFamily="34" charset="-120"/>
              </a:rPr>
              <a:t>比特幣位址和私密金鑰組成了比特幣錢包，私密金鑰決定比特幣歸屬</a:t>
            </a:r>
          </a:p>
        </p:txBody>
      </p:sp>
      <p:cxnSp>
        <p:nvCxnSpPr>
          <p:cNvPr id="26" name="直接连接符 33">
            <a:extLst>
              <a:ext uri="{FF2B5EF4-FFF2-40B4-BE49-F238E27FC236}">
                <a16:creationId xmlns:a16="http://schemas.microsoft.com/office/drawing/2014/main" id="{C3725E45-5458-4931-9D9A-B8C15AE6AC41}"/>
              </a:ext>
            </a:extLst>
          </p:cNvPr>
          <p:cNvCxnSpPr>
            <a:cxnSpLocks/>
          </p:cNvCxnSpPr>
          <p:nvPr/>
        </p:nvCxnSpPr>
        <p:spPr>
          <a:xfrm>
            <a:off x="1334185" y="1102164"/>
            <a:ext cx="10081960" cy="0"/>
          </a:xfrm>
          <a:prstGeom prst="line">
            <a:avLst/>
          </a:prstGeom>
          <a:ln w="190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12" name="文字方塊 11">
            <a:extLst>
              <a:ext uri="{FF2B5EF4-FFF2-40B4-BE49-F238E27FC236}">
                <a16:creationId xmlns:a16="http://schemas.microsoft.com/office/drawing/2014/main" id="{9FE02F65-A32E-4124-B1E6-8E45750976E4}"/>
              </a:ext>
            </a:extLst>
          </p:cNvPr>
          <p:cNvSpPr txBox="1"/>
          <p:nvPr/>
        </p:nvSpPr>
        <p:spPr>
          <a:xfrm>
            <a:off x="4487241" y="449166"/>
            <a:ext cx="3076483" cy="400110"/>
          </a:xfrm>
          <a:prstGeom prst="rect">
            <a:avLst/>
          </a:prstGeom>
          <a:noFill/>
        </p:spPr>
        <p:txBody>
          <a:bodyPr wrap="none" rtlCol="0">
            <a:spAutoFit/>
          </a:bodyPr>
          <a:lstStyle/>
          <a:p>
            <a:r>
              <a:rPr lang="en-US" altLang="zh-TW" sz="2000" b="1" dirty="0">
                <a:solidFill>
                  <a:schemeClr val="tx1">
                    <a:lumMod val="65000"/>
                    <a:lumOff val="35000"/>
                  </a:schemeClr>
                </a:solidFill>
                <a:latin typeface="微軟正黑體" panose="020B0604030504040204" pitchFamily="34" charset="-120"/>
                <a:ea typeface="微軟正黑體" panose="020B0604030504040204" pitchFamily="34" charset="-120"/>
                <a:cs typeface="Times New Roman" panose="02020603050405020304" pitchFamily="18" charset="0"/>
              </a:rPr>
              <a:t>-2</a:t>
            </a:r>
            <a:r>
              <a:rPr lang="zh-TW" altLang="en-US" sz="2000" b="1" dirty="0">
                <a:solidFill>
                  <a:schemeClr val="tx1">
                    <a:lumMod val="65000"/>
                    <a:lumOff val="35000"/>
                  </a:schemeClr>
                </a:solidFill>
                <a:latin typeface="微軟正黑體" panose="020B0604030504040204" pitchFamily="34" charset="-120"/>
                <a:ea typeface="微軟正黑體" panose="020B0604030504040204" pitchFamily="34" charset="-120"/>
                <a:cs typeface="Times New Roman" panose="02020603050405020304" pitchFamily="18" charset="0"/>
              </a:rPr>
              <a:t> 區塊鏈技術之基本要素</a:t>
            </a:r>
          </a:p>
        </p:txBody>
      </p:sp>
      <p:sp>
        <p:nvSpPr>
          <p:cNvPr id="38" name="文字方塊 37">
            <a:extLst>
              <a:ext uri="{FF2B5EF4-FFF2-40B4-BE49-F238E27FC236}">
                <a16:creationId xmlns:a16="http://schemas.microsoft.com/office/drawing/2014/main" id="{C511D7E1-8819-4583-AD2A-2B74355E944E}"/>
              </a:ext>
            </a:extLst>
          </p:cNvPr>
          <p:cNvSpPr txBox="1"/>
          <p:nvPr/>
        </p:nvSpPr>
        <p:spPr>
          <a:xfrm>
            <a:off x="8646188" y="5996195"/>
            <a:ext cx="2424062" cy="369332"/>
          </a:xfrm>
          <a:prstGeom prst="rect">
            <a:avLst/>
          </a:prstGeom>
          <a:noFill/>
        </p:spPr>
        <p:txBody>
          <a:bodyPr wrap="none" rtlCol="0">
            <a:spAutoFit/>
          </a:bodyPr>
          <a:lstStyle/>
          <a:p>
            <a:pPr marL="285750" indent="-285750">
              <a:buFont typeface="Arial" panose="020B0604020202020204" pitchFamily="34" charset="0"/>
              <a:buChar char="▲"/>
            </a:pPr>
            <a:r>
              <a:rPr lang="zh-TW" altLang="en-US" b="1" dirty="0">
                <a:latin typeface="微軟正黑體" panose="020B0604030504040204" pitchFamily="34" charset="-120"/>
                <a:ea typeface="微軟正黑體" panose="020B0604030504040204" pitchFamily="34" charset="-120"/>
              </a:rPr>
              <a:t>錢包地址</a:t>
            </a:r>
            <a:r>
              <a:rPr lang="en-US" altLang="zh-TW" b="1" dirty="0">
                <a:latin typeface="微軟正黑體" panose="020B0604030504040204" pitchFamily="34" charset="-120"/>
                <a:ea typeface="微軟正黑體" panose="020B0604030504040204" pitchFamily="34" charset="-120"/>
              </a:rPr>
              <a:t>QR-Code</a:t>
            </a:r>
            <a:endParaRPr lang="zh-TW" altLang="en-US" b="1" dirty="0">
              <a:latin typeface="微軟正黑體" panose="020B0604030504040204" pitchFamily="34" charset="-120"/>
              <a:ea typeface="微軟正黑體" panose="020B0604030504040204" pitchFamily="34" charset="-120"/>
            </a:endParaRPr>
          </a:p>
        </p:txBody>
      </p:sp>
      <p:pic>
        <p:nvPicPr>
          <p:cNvPr id="39" name="圖片 38">
            <a:extLst>
              <a:ext uri="{FF2B5EF4-FFF2-40B4-BE49-F238E27FC236}">
                <a16:creationId xmlns:a16="http://schemas.microsoft.com/office/drawing/2014/main" id="{51148BFB-DB1D-441B-B806-BCE707CC3CA1}"/>
              </a:ext>
            </a:extLst>
          </p:cNvPr>
          <p:cNvPicPr/>
          <p:nvPr/>
        </p:nvPicPr>
        <p:blipFill>
          <a:blip r:embed="rId4">
            <a:extLst>
              <a:ext uri="{BEBA8EAE-BF5A-486C-A8C5-ECC9F3942E4B}">
                <a14:imgProps xmlns:a14="http://schemas.microsoft.com/office/drawing/2010/main">
                  <a14:imgLayer r:embed="rId5">
                    <a14:imgEffect>
                      <a14:brightnessContrast contrast="-40000"/>
                    </a14:imgEffect>
                  </a14:imgLayer>
                </a14:imgProps>
              </a:ext>
              <a:ext uri="{28A0092B-C50C-407E-A947-70E740481C1C}">
                <a14:useLocalDpi xmlns:a14="http://schemas.microsoft.com/office/drawing/2010/main" val="0"/>
              </a:ext>
            </a:extLst>
          </a:blip>
          <a:srcRect/>
          <a:stretch>
            <a:fillRect/>
          </a:stretch>
        </p:blipFill>
        <p:spPr bwMode="auto">
          <a:xfrm>
            <a:off x="7871613" y="1810509"/>
            <a:ext cx="3339098" cy="3896362"/>
          </a:xfrm>
          <a:prstGeom prst="rect">
            <a:avLst/>
          </a:prstGeom>
          <a:noFill/>
          <a:ln>
            <a:noFill/>
          </a:ln>
        </p:spPr>
      </p:pic>
    </p:spTree>
    <p:extLst>
      <p:ext uri="{BB962C8B-B14F-4D97-AF65-F5344CB8AC3E}">
        <p14:creationId xmlns:p14="http://schemas.microsoft.com/office/powerpoint/2010/main" val="1730915351"/>
      </p:ext>
    </p:extLst>
  </p:cSld>
  <p:clrMapOvr>
    <a:masterClrMapping/>
  </p:clrMapOvr>
  <mc:AlternateContent xmlns:mc="http://schemas.openxmlformats.org/markup-compatibility/2006">
    <mc:Choice xmlns:p14="http://schemas.microsoft.com/office/powerpoint/2010/main" Requires="p14">
      <p:transition spd="slow" p14:dur="1250">
        <p14:switch dir="r"/>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6" presetClass="entr" presetSubtype="16" fill="hold" grpId="0" nodeType="after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circle(in)">
                                      <p:cBhvr>
                                        <p:cTn id="7" dur="2000"/>
                                        <p:tgtEl>
                                          <p:spTgt spid="9"/>
                                        </p:tgtEl>
                                      </p:cBhvr>
                                    </p:animEffect>
                                  </p:childTnLst>
                                </p:cTn>
                              </p:par>
                            </p:childTnLst>
                          </p:cTn>
                        </p:par>
                        <p:par>
                          <p:cTn id="8" fill="hold">
                            <p:stCondLst>
                              <p:cond delay="2000"/>
                            </p:stCondLst>
                            <p:childTnLst>
                              <p:par>
                                <p:cTn id="9" presetID="14" presetClass="entr" presetSubtype="10" fill="hold" grpId="0" nodeType="afterEffect">
                                  <p:stCondLst>
                                    <p:cond delay="0"/>
                                  </p:stCondLst>
                                  <p:childTnLst>
                                    <p:set>
                                      <p:cBhvr>
                                        <p:cTn id="10" dur="1" fill="hold">
                                          <p:stCondLst>
                                            <p:cond delay="0"/>
                                          </p:stCondLst>
                                        </p:cTn>
                                        <p:tgtEl>
                                          <p:spTgt spid="12"/>
                                        </p:tgtEl>
                                        <p:attrNameLst>
                                          <p:attrName>style.visibility</p:attrName>
                                        </p:attrNameLst>
                                      </p:cBhvr>
                                      <p:to>
                                        <p:strVal val="visible"/>
                                      </p:to>
                                    </p:set>
                                    <p:animEffect transition="in" filter="randombar(horizontal)">
                                      <p:cBhvr>
                                        <p:cTn id="11" dur="500"/>
                                        <p:tgtEl>
                                          <p:spTgt spid="12"/>
                                        </p:tgtEl>
                                      </p:cBhvr>
                                    </p:animEffect>
                                  </p:childTnLst>
                                </p:cTn>
                              </p:par>
                            </p:childTnLst>
                          </p:cTn>
                        </p:par>
                        <p:par>
                          <p:cTn id="12" fill="hold">
                            <p:stCondLst>
                              <p:cond delay="2500"/>
                            </p:stCondLst>
                            <p:childTnLst>
                              <p:par>
                                <p:cTn id="13" presetID="2" presetClass="entr" presetSubtype="8" fill="hold" nodeType="afterEffect">
                                  <p:stCondLst>
                                    <p:cond delay="0"/>
                                  </p:stCondLst>
                                  <p:childTnLst>
                                    <p:set>
                                      <p:cBhvr>
                                        <p:cTn id="14" dur="1" fill="hold">
                                          <p:stCondLst>
                                            <p:cond delay="0"/>
                                          </p:stCondLst>
                                        </p:cTn>
                                        <p:tgtEl>
                                          <p:spTgt spid="26"/>
                                        </p:tgtEl>
                                        <p:attrNameLst>
                                          <p:attrName>style.visibility</p:attrName>
                                        </p:attrNameLst>
                                      </p:cBhvr>
                                      <p:to>
                                        <p:strVal val="visible"/>
                                      </p:to>
                                    </p:set>
                                    <p:anim calcmode="lin" valueType="num">
                                      <p:cBhvr additive="base">
                                        <p:cTn id="15" dur="500" fill="hold"/>
                                        <p:tgtEl>
                                          <p:spTgt spid="26"/>
                                        </p:tgtEl>
                                        <p:attrNameLst>
                                          <p:attrName>ppt_x</p:attrName>
                                        </p:attrNameLst>
                                      </p:cBhvr>
                                      <p:tavLst>
                                        <p:tav tm="0">
                                          <p:val>
                                            <p:strVal val="0-#ppt_w/2"/>
                                          </p:val>
                                        </p:tav>
                                        <p:tav tm="100000">
                                          <p:val>
                                            <p:strVal val="#ppt_x"/>
                                          </p:val>
                                        </p:tav>
                                      </p:tavLst>
                                    </p:anim>
                                    <p:anim calcmode="lin" valueType="num">
                                      <p:cBhvr additive="base">
                                        <p:cTn id="16" dur="500" fill="hold"/>
                                        <p:tgtEl>
                                          <p:spTgt spid="26"/>
                                        </p:tgtEl>
                                        <p:attrNameLst>
                                          <p:attrName>ppt_y</p:attrName>
                                        </p:attrNameLst>
                                      </p:cBhvr>
                                      <p:tavLst>
                                        <p:tav tm="0">
                                          <p:val>
                                            <p:strVal val="#ppt_y"/>
                                          </p:val>
                                        </p:tav>
                                        <p:tav tm="100000">
                                          <p:val>
                                            <p:strVal val="#ppt_y"/>
                                          </p:val>
                                        </p:tav>
                                      </p:tavLst>
                                    </p:anim>
                                  </p:childTnLst>
                                </p:cTn>
                              </p:par>
                            </p:childTnLst>
                          </p:cTn>
                        </p:par>
                        <p:par>
                          <p:cTn id="17" fill="hold">
                            <p:stCondLst>
                              <p:cond delay="3000"/>
                            </p:stCondLst>
                            <p:childTnLst>
                              <p:par>
                                <p:cTn id="18" presetID="16" presetClass="entr" presetSubtype="21" fill="hold" grpId="0" nodeType="afterEffect">
                                  <p:stCondLst>
                                    <p:cond delay="0"/>
                                  </p:stCondLst>
                                  <p:childTnLst>
                                    <p:set>
                                      <p:cBhvr>
                                        <p:cTn id="19" dur="1" fill="hold">
                                          <p:stCondLst>
                                            <p:cond delay="0"/>
                                          </p:stCondLst>
                                        </p:cTn>
                                        <p:tgtEl>
                                          <p:spTgt spid="2"/>
                                        </p:tgtEl>
                                        <p:attrNameLst>
                                          <p:attrName>style.visibility</p:attrName>
                                        </p:attrNameLst>
                                      </p:cBhvr>
                                      <p:to>
                                        <p:strVal val="visible"/>
                                      </p:to>
                                    </p:set>
                                    <p:animEffect transition="in" filter="barn(inVertical)">
                                      <p:cBhvr>
                                        <p:cTn id="20" dur="500"/>
                                        <p:tgtEl>
                                          <p:spTgt spid="2"/>
                                        </p:tgtEl>
                                      </p:cBhvr>
                                    </p:animEffect>
                                  </p:childTnLst>
                                </p:cTn>
                              </p:par>
                            </p:childTnLst>
                          </p:cTn>
                        </p:par>
                        <p:par>
                          <p:cTn id="21" fill="hold">
                            <p:stCondLst>
                              <p:cond delay="3500"/>
                            </p:stCondLst>
                            <p:childTnLst>
                              <p:par>
                                <p:cTn id="22" presetID="42" presetClass="entr" presetSubtype="0" fill="hold" nodeType="afterEffect">
                                  <p:stCondLst>
                                    <p:cond delay="0"/>
                                  </p:stCondLst>
                                  <p:childTnLst>
                                    <p:set>
                                      <p:cBhvr>
                                        <p:cTn id="23" dur="1" fill="hold">
                                          <p:stCondLst>
                                            <p:cond delay="0"/>
                                          </p:stCondLst>
                                        </p:cTn>
                                        <p:tgtEl>
                                          <p:spTgt spid="39"/>
                                        </p:tgtEl>
                                        <p:attrNameLst>
                                          <p:attrName>style.visibility</p:attrName>
                                        </p:attrNameLst>
                                      </p:cBhvr>
                                      <p:to>
                                        <p:strVal val="visible"/>
                                      </p:to>
                                    </p:set>
                                    <p:animEffect transition="in" filter="fade">
                                      <p:cBhvr>
                                        <p:cTn id="24" dur="1000"/>
                                        <p:tgtEl>
                                          <p:spTgt spid="39"/>
                                        </p:tgtEl>
                                      </p:cBhvr>
                                    </p:animEffect>
                                    <p:anim calcmode="lin" valueType="num">
                                      <p:cBhvr>
                                        <p:cTn id="25" dur="1000" fill="hold"/>
                                        <p:tgtEl>
                                          <p:spTgt spid="39"/>
                                        </p:tgtEl>
                                        <p:attrNameLst>
                                          <p:attrName>ppt_x</p:attrName>
                                        </p:attrNameLst>
                                      </p:cBhvr>
                                      <p:tavLst>
                                        <p:tav tm="0">
                                          <p:val>
                                            <p:strVal val="#ppt_x"/>
                                          </p:val>
                                        </p:tav>
                                        <p:tav tm="100000">
                                          <p:val>
                                            <p:strVal val="#ppt_x"/>
                                          </p:val>
                                        </p:tav>
                                      </p:tavLst>
                                    </p:anim>
                                    <p:anim calcmode="lin" valueType="num">
                                      <p:cBhvr>
                                        <p:cTn id="26" dur="1000" fill="hold"/>
                                        <p:tgtEl>
                                          <p:spTgt spid="39"/>
                                        </p:tgtEl>
                                        <p:attrNameLst>
                                          <p:attrName>ppt_y</p:attrName>
                                        </p:attrNameLst>
                                      </p:cBhvr>
                                      <p:tavLst>
                                        <p:tav tm="0">
                                          <p:val>
                                            <p:strVal val="#ppt_y+.1"/>
                                          </p:val>
                                        </p:tav>
                                        <p:tav tm="100000">
                                          <p:val>
                                            <p:strVal val="#ppt_y"/>
                                          </p:val>
                                        </p:tav>
                                      </p:tavLst>
                                    </p:anim>
                                  </p:childTnLst>
                                </p:cTn>
                              </p:par>
                            </p:childTnLst>
                          </p:cTn>
                        </p:par>
                        <p:par>
                          <p:cTn id="27" fill="hold">
                            <p:stCondLst>
                              <p:cond delay="4500"/>
                            </p:stCondLst>
                            <p:childTnLst>
                              <p:par>
                                <p:cTn id="28" presetID="10" presetClass="entr" presetSubtype="0" fill="hold" grpId="0" nodeType="afterEffect">
                                  <p:stCondLst>
                                    <p:cond delay="0"/>
                                  </p:stCondLst>
                                  <p:childTnLst>
                                    <p:set>
                                      <p:cBhvr>
                                        <p:cTn id="29" dur="1" fill="hold">
                                          <p:stCondLst>
                                            <p:cond delay="0"/>
                                          </p:stCondLst>
                                        </p:cTn>
                                        <p:tgtEl>
                                          <p:spTgt spid="38"/>
                                        </p:tgtEl>
                                        <p:attrNameLst>
                                          <p:attrName>style.visibility</p:attrName>
                                        </p:attrNameLst>
                                      </p:cBhvr>
                                      <p:to>
                                        <p:strVal val="visible"/>
                                      </p:to>
                                    </p:set>
                                    <p:animEffect transition="in" filter="fade">
                                      <p:cBhvr>
                                        <p:cTn id="30" dur="500"/>
                                        <p:tgtEl>
                                          <p:spTgt spid="3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2" grpId="0"/>
      <p:bldP spid="12" grpId="0"/>
      <p:bldP spid="38" grpId="0"/>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图片 42">
            <a:extLst>
              <a:ext uri="{FF2B5EF4-FFF2-40B4-BE49-F238E27FC236}">
                <a16:creationId xmlns:a16="http://schemas.microsoft.com/office/drawing/2014/main" id="{C8D97DA4-6242-4E73-AEFC-457D04FDC65B}"/>
              </a:ext>
            </a:extLst>
          </p:cNvPr>
          <p:cNvPicPr>
            <a:picLocks noChangeAspect="1"/>
          </p:cNvPicPr>
          <p:nvPr/>
        </p:nvPicPr>
        <p:blipFill>
          <a:blip r:embed="rId2"/>
          <a:stretch>
            <a:fillRect/>
          </a:stretch>
        </p:blipFill>
        <p:spPr>
          <a:xfrm rot="16200000">
            <a:off x="145169" y="-145167"/>
            <a:ext cx="1268414" cy="1558750"/>
          </a:xfrm>
          <a:prstGeom prst="rect">
            <a:avLst/>
          </a:prstGeom>
        </p:spPr>
      </p:pic>
      <p:sp>
        <p:nvSpPr>
          <p:cNvPr id="6" name="文字方塊 5">
            <a:extLst>
              <a:ext uri="{FF2B5EF4-FFF2-40B4-BE49-F238E27FC236}">
                <a16:creationId xmlns:a16="http://schemas.microsoft.com/office/drawing/2014/main" id="{8A30B01A-3198-4955-A208-0E3D9EB60397}"/>
              </a:ext>
            </a:extLst>
          </p:cNvPr>
          <p:cNvSpPr txBox="1"/>
          <p:nvPr/>
        </p:nvSpPr>
        <p:spPr>
          <a:xfrm>
            <a:off x="1558751" y="6596390"/>
            <a:ext cx="4217821" cy="261610"/>
          </a:xfrm>
          <a:prstGeom prst="rect">
            <a:avLst/>
          </a:prstGeom>
          <a:noFill/>
        </p:spPr>
        <p:txBody>
          <a:bodyPr wrap="none" rtlCol="0">
            <a:spAutoFit/>
          </a:bodyPr>
          <a:lstStyle/>
          <a:p>
            <a:r>
              <a:rPr lang="zh-TW" altLang="en-US" sz="1100" dirty="0">
                <a:latin typeface="Microsoft JhengHei Light" panose="020B0304030504040204" pitchFamily="34" charset="-120"/>
                <a:ea typeface="Microsoft JhengHei Light" panose="020B0304030504040204" pitchFamily="34" charset="-120"/>
              </a:rPr>
              <a:t>區塊鏈商業應用概論 實例與分析／新陸書局股份有限公司 發行</a:t>
            </a:r>
          </a:p>
        </p:txBody>
      </p:sp>
      <p:sp>
        <p:nvSpPr>
          <p:cNvPr id="9" name="標題 1">
            <a:extLst>
              <a:ext uri="{FF2B5EF4-FFF2-40B4-BE49-F238E27FC236}">
                <a16:creationId xmlns:a16="http://schemas.microsoft.com/office/drawing/2014/main" id="{475DFFF1-7C37-4CBE-ACFC-3F348BCD20CC}"/>
              </a:ext>
            </a:extLst>
          </p:cNvPr>
          <p:cNvSpPr txBox="1">
            <a:spLocks/>
          </p:cNvSpPr>
          <p:nvPr/>
        </p:nvSpPr>
        <p:spPr>
          <a:xfrm>
            <a:off x="1231956" y="393820"/>
            <a:ext cx="3643527" cy="874595"/>
          </a:xfrm>
          <a:prstGeom prst="rect">
            <a:avLst/>
          </a:prstGeom>
        </p:spPr>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altLang="zh-TW" sz="2400" b="1" dirty="0">
                <a:solidFill>
                  <a:srgbClr val="E06741"/>
                </a:solidFill>
              </a:rPr>
              <a:t>2-2 </a:t>
            </a:r>
            <a:r>
              <a:rPr lang="zh-TW" altLang="en-US" sz="2400" b="1" dirty="0">
                <a:solidFill>
                  <a:srgbClr val="E06741"/>
                </a:solidFill>
              </a:rPr>
              <a:t>區塊鏈技術發展</a:t>
            </a:r>
          </a:p>
          <a:p>
            <a:endParaRPr lang="zh-TW" altLang="en-US" sz="2400" dirty="0">
              <a:solidFill>
                <a:srgbClr val="E06741"/>
              </a:solidFill>
              <a:latin typeface="標楷體" panose="03000509000000000000" pitchFamily="65" charset="-120"/>
              <a:ea typeface="標楷體" panose="03000509000000000000" pitchFamily="65" charset="-120"/>
              <a:cs typeface="Times New Roman" panose="02020603050405020304" pitchFamily="18" charset="0"/>
            </a:endParaRPr>
          </a:p>
        </p:txBody>
      </p:sp>
      <p:sp>
        <p:nvSpPr>
          <p:cNvPr id="2" name="文字方塊 1">
            <a:extLst>
              <a:ext uri="{FF2B5EF4-FFF2-40B4-BE49-F238E27FC236}">
                <a16:creationId xmlns:a16="http://schemas.microsoft.com/office/drawing/2014/main" id="{D6D66D7E-58A1-40BE-8070-FA1C3AF22B14}"/>
              </a:ext>
            </a:extLst>
          </p:cNvPr>
          <p:cNvSpPr txBox="1"/>
          <p:nvPr/>
        </p:nvSpPr>
        <p:spPr>
          <a:xfrm>
            <a:off x="865675" y="1521303"/>
            <a:ext cx="10014762" cy="4641142"/>
          </a:xfrm>
          <a:prstGeom prst="rect">
            <a:avLst/>
          </a:prstGeom>
          <a:noFill/>
        </p:spPr>
        <p:txBody>
          <a:bodyPr wrap="square" rtlCol="0">
            <a:spAutoFit/>
          </a:bodyPr>
          <a:lstStyle/>
          <a:p>
            <a:pPr lvl="1">
              <a:lnSpc>
                <a:spcPct val="150000"/>
              </a:lnSpc>
              <a:buSzPct val="100000"/>
            </a:pPr>
            <a:r>
              <a:rPr lang="zh-TW" altLang="en-US" sz="2400" b="1" dirty="0">
                <a:solidFill>
                  <a:schemeClr val="tx1">
                    <a:lumMod val="75000"/>
                    <a:lumOff val="25000"/>
                  </a:schemeClr>
                </a:solidFill>
                <a:latin typeface="微軟正黑體" panose="020B0604030504040204" pitchFamily="34" charset="-120"/>
                <a:ea typeface="微軟正黑體" panose="020B0604030504040204" pitchFamily="34" charset="-120"/>
              </a:rPr>
              <a:t>三、智慧合約（</a:t>
            </a:r>
            <a:r>
              <a:rPr lang="en-US" altLang="zh-TW" sz="2400" b="1" dirty="0">
                <a:solidFill>
                  <a:schemeClr val="tx1">
                    <a:lumMod val="75000"/>
                    <a:lumOff val="25000"/>
                  </a:schemeClr>
                </a:solidFill>
                <a:latin typeface="微軟正黑體" panose="020B0604030504040204" pitchFamily="34" charset="-120"/>
                <a:ea typeface="微軟正黑體" panose="020B0604030504040204" pitchFamily="34" charset="-120"/>
              </a:rPr>
              <a:t>Smart Contracts</a:t>
            </a:r>
            <a:r>
              <a:rPr lang="zh-TW" altLang="en-US" sz="2400" b="1" dirty="0">
                <a:solidFill>
                  <a:schemeClr val="tx1">
                    <a:lumMod val="75000"/>
                    <a:lumOff val="25000"/>
                  </a:schemeClr>
                </a:solidFill>
                <a:latin typeface="微軟正黑體" panose="020B0604030504040204" pitchFamily="34" charset="-120"/>
                <a:ea typeface="微軟正黑體" panose="020B0604030504040204" pitchFamily="34" charset="-120"/>
              </a:rPr>
              <a:t>）</a:t>
            </a:r>
            <a:endParaRPr lang="en-US" altLang="zh-TW" sz="2400" b="1" dirty="0">
              <a:solidFill>
                <a:schemeClr val="tx1">
                  <a:lumMod val="75000"/>
                  <a:lumOff val="25000"/>
                </a:schemeClr>
              </a:solidFill>
              <a:latin typeface="微軟正黑體" panose="020B0604030504040204" pitchFamily="34" charset="-120"/>
              <a:ea typeface="微軟正黑體" panose="020B0604030504040204" pitchFamily="34" charset="-120"/>
            </a:endParaRPr>
          </a:p>
          <a:p>
            <a:pPr lvl="1">
              <a:lnSpc>
                <a:spcPct val="150000"/>
              </a:lnSpc>
              <a:buSzPct val="100000"/>
            </a:pPr>
            <a:endParaRPr lang="zh-TW" altLang="en-US" sz="700" b="1" dirty="0">
              <a:solidFill>
                <a:schemeClr val="tx1">
                  <a:lumMod val="75000"/>
                  <a:lumOff val="25000"/>
                </a:schemeClr>
              </a:solidFill>
              <a:latin typeface="微軟正黑體" panose="020B0604030504040204" pitchFamily="34" charset="-120"/>
              <a:ea typeface="微軟正黑體" panose="020B0604030504040204" pitchFamily="34" charset="-120"/>
            </a:endParaRPr>
          </a:p>
          <a:p>
            <a:pPr marL="1257300" lvl="2" indent="-342900">
              <a:lnSpc>
                <a:spcPct val="150000"/>
              </a:lnSpc>
              <a:buSzPct val="100000"/>
              <a:buBlip>
                <a:blip r:embed="rId3"/>
              </a:buBlip>
            </a:pPr>
            <a:r>
              <a:rPr lang="zh-TW" altLang="en-US" sz="2400" b="1" dirty="0">
                <a:solidFill>
                  <a:schemeClr val="tx1">
                    <a:lumMod val="75000"/>
                    <a:lumOff val="25000"/>
                  </a:schemeClr>
                </a:solidFill>
                <a:latin typeface="微軟正黑體" panose="020B0604030504040204" pitchFamily="34" charset="-120"/>
                <a:ea typeface="微軟正黑體" panose="020B0604030504040204" pitchFamily="34" charset="-120"/>
              </a:rPr>
              <a:t>是由參與數位網路平台交易的使用者，將交易行為和方式等商業條約，編碼寫入區塊鏈的核心的交易系統之內</a:t>
            </a:r>
            <a:endParaRPr lang="en-US" altLang="zh-TW" sz="2400" b="1" dirty="0">
              <a:solidFill>
                <a:schemeClr val="tx1">
                  <a:lumMod val="75000"/>
                  <a:lumOff val="25000"/>
                </a:schemeClr>
              </a:solidFill>
              <a:latin typeface="微軟正黑體" panose="020B0604030504040204" pitchFamily="34" charset="-120"/>
              <a:ea typeface="微軟正黑體" panose="020B0604030504040204" pitchFamily="34" charset="-120"/>
            </a:endParaRPr>
          </a:p>
          <a:p>
            <a:pPr marL="1257300" lvl="2" indent="-342900">
              <a:lnSpc>
                <a:spcPct val="150000"/>
              </a:lnSpc>
              <a:buSzPct val="100000"/>
              <a:buBlip>
                <a:blip r:embed="rId3"/>
              </a:buBlip>
            </a:pPr>
            <a:r>
              <a:rPr lang="zh-TW" altLang="en-US" sz="2400" b="1" dirty="0">
                <a:solidFill>
                  <a:schemeClr val="tx1">
                    <a:lumMod val="75000"/>
                    <a:lumOff val="25000"/>
                  </a:schemeClr>
                </a:solidFill>
                <a:latin typeface="微軟正黑體" panose="020B0604030504040204" pitchFamily="34" charset="-120"/>
                <a:ea typeface="微軟正黑體" panose="020B0604030504040204" pitchFamily="34" charset="-120"/>
              </a:rPr>
              <a:t>數位網路交易平台的資料庫會依據智慧合約的規範，利用</a:t>
            </a:r>
            <a:r>
              <a:rPr lang="en-US" altLang="zh-TW" sz="2400" b="1" dirty="0">
                <a:solidFill>
                  <a:schemeClr val="tx1">
                    <a:lumMod val="75000"/>
                    <a:lumOff val="25000"/>
                  </a:schemeClr>
                </a:solidFill>
                <a:latin typeface="微軟正黑體" panose="020B0604030504040204" pitchFamily="34" charset="-120"/>
                <a:ea typeface="微軟正黑體" panose="020B0604030504040204" pitchFamily="34" charset="-120"/>
              </a:rPr>
              <a:t>P2P </a:t>
            </a:r>
            <a:r>
              <a:rPr lang="zh-TW" altLang="en-US" sz="2400" b="1" dirty="0">
                <a:solidFill>
                  <a:schemeClr val="tx1">
                    <a:lumMod val="75000"/>
                    <a:lumOff val="25000"/>
                  </a:schemeClr>
                </a:solidFill>
                <a:latin typeface="微軟正黑體" panose="020B0604030504040204" pitchFamily="34" charset="-120"/>
                <a:ea typeface="微軟正黑體" panose="020B0604030504040204" pitchFamily="34" charset="-120"/>
              </a:rPr>
              <a:t>技術執行使用者的交易且紀錄相關交易資訊，以確保交易的完整性</a:t>
            </a:r>
          </a:p>
          <a:p>
            <a:pPr marL="1257300" lvl="2" indent="-342900">
              <a:lnSpc>
                <a:spcPct val="150000"/>
              </a:lnSpc>
              <a:buSzPct val="100000"/>
              <a:buBlip>
                <a:blip r:embed="rId3"/>
              </a:buBlip>
            </a:pPr>
            <a:r>
              <a:rPr lang="zh-TW" altLang="en-US" sz="2400" b="1" dirty="0">
                <a:solidFill>
                  <a:schemeClr val="tx1">
                    <a:lumMod val="75000"/>
                    <a:lumOff val="25000"/>
                  </a:schemeClr>
                </a:solidFill>
                <a:latin typeface="微軟正黑體" panose="020B0604030504040204" pitchFamily="34" charset="-120"/>
                <a:ea typeface="微軟正黑體" panose="020B0604030504040204" pitchFamily="34" charset="-120"/>
              </a:rPr>
              <a:t>智慧合約可視為一項部署於區塊鏈上自動運行的規範限制程式，其涵蓋的範圍包括程式設計語言、編譯器、虛擬機器、事件、狀態機、容錯機制等</a:t>
            </a:r>
            <a:endParaRPr lang="en-US" altLang="zh-TW" sz="2400" b="1" dirty="0">
              <a:solidFill>
                <a:schemeClr val="tx1">
                  <a:lumMod val="75000"/>
                  <a:lumOff val="25000"/>
                </a:schemeClr>
              </a:solidFill>
              <a:latin typeface="微軟正黑體" panose="020B0604030504040204" pitchFamily="34" charset="-120"/>
              <a:ea typeface="微軟正黑體" panose="020B0604030504040204" pitchFamily="34" charset="-120"/>
            </a:endParaRPr>
          </a:p>
        </p:txBody>
      </p:sp>
      <p:cxnSp>
        <p:nvCxnSpPr>
          <p:cNvPr id="26" name="直接连接符 33">
            <a:extLst>
              <a:ext uri="{FF2B5EF4-FFF2-40B4-BE49-F238E27FC236}">
                <a16:creationId xmlns:a16="http://schemas.microsoft.com/office/drawing/2014/main" id="{C3725E45-5458-4931-9D9A-B8C15AE6AC41}"/>
              </a:ext>
            </a:extLst>
          </p:cNvPr>
          <p:cNvCxnSpPr>
            <a:cxnSpLocks/>
          </p:cNvCxnSpPr>
          <p:nvPr/>
        </p:nvCxnSpPr>
        <p:spPr>
          <a:xfrm>
            <a:off x="1334185" y="1102164"/>
            <a:ext cx="7976070" cy="0"/>
          </a:xfrm>
          <a:prstGeom prst="line">
            <a:avLst/>
          </a:prstGeom>
          <a:ln w="190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12" name="文字方塊 11">
            <a:extLst>
              <a:ext uri="{FF2B5EF4-FFF2-40B4-BE49-F238E27FC236}">
                <a16:creationId xmlns:a16="http://schemas.microsoft.com/office/drawing/2014/main" id="{9FE02F65-A32E-4124-B1E6-8E45750976E4}"/>
              </a:ext>
            </a:extLst>
          </p:cNvPr>
          <p:cNvSpPr txBox="1"/>
          <p:nvPr/>
        </p:nvSpPr>
        <p:spPr>
          <a:xfrm>
            <a:off x="4487241" y="449166"/>
            <a:ext cx="3076483" cy="400110"/>
          </a:xfrm>
          <a:prstGeom prst="rect">
            <a:avLst/>
          </a:prstGeom>
          <a:noFill/>
        </p:spPr>
        <p:txBody>
          <a:bodyPr wrap="none" rtlCol="0">
            <a:spAutoFit/>
          </a:bodyPr>
          <a:lstStyle/>
          <a:p>
            <a:r>
              <a:rPr lang="en-US" altLang="zh-TW" sz="2000" b="1" dirty="0">
                <a:solidFill>
                  <a:schemeClr val="tx1">
                    <a:lumMod val="65000"/>
                    <a:lumOff val="35000"/>
                  </a:schemeClr>
                </a:solidFill>
                <a:latin typeface="微軟正黑體" panose="020B0604030504040204" pitchFamily="34" charset="-120"/>
                <a:ea typeface="微軟正黑體" panose="020B0604030504040204" pitchFamily="34" charset="-120"/>
                <a:cs typeface="Times New Roman" panose="02020603050405020304" pitchFamily="18" charset="0"/>
              </a:rPr>
              <a:t>-2</a:t>
            </a:r>
            <a:r>
              <a:rPr lang="zh-TW" altLang="en-US" sz="2000" b="1" dirty="0">
                <a:solidFill>
                  <a:schemeClr val="tx1">
                    <a:lumMod val="65000"/>
                    <a:lumOff val="35000"/>
                  </a:schemeClr>
                </a:solidFill>
                <a:latin typeface="微軟正黑體" panose="020B0604030504040204" pitchFamily="34" charset="-120"/>
                <a:ea typeface="微軟正黑體" panose="020B0604030504040204" pitchFamily="34" charset="-120"/>
                <a:cs typeface="Times New Roman" panose="02020603050405020304" pitchFamily="18" charset="0"/>
              </a:rPr>
              <a:t> 區塊鏈技術之基本要素</a:t>
            </a:r>
          </a:p>
        </p:txBody>
      </p:sp>
      <p:pic>
        <p:nvPicPr>
          <p:cNvPr id="10" name="圖片 9">
            <a:extLst>
              <a:ext uri="{FF2B5EF4-FFF2-40B4-BE49-F238E27FC236}">
                <a16:creationId xmlns:a16="http://schemas.microsoft.com/office/drawing/2014/main" id="{7571E199-1B37-40C8-8A4D-8FF9B2F9E0D5}"/>
              </a:ext>
            </a:extLst>
          </p:cNvPr>
          <p:cNvPicPr>
            <a:picLocks noChangeAspect="1"/>
          </p:cNvPicPr>
          <p:nvPr/>
        </p:nvPicPr>
        <p:blipFill>
          <a:blip r:embed="rId4">
            <a:clrChange>
              <a:clrFrom>
                <a:srgbClr val="F2F2F2"/>
              </a:clrFrom>
              <a:clrTo>
                <a:srgbClr val="F2F2F2">
                  <a:alpha val="0"/>
                </a:srgbClr>
              </a:clrTo>
            </a:clrChange>
            <a:extLst>
              <a:ext uri="{28A0092B-C50C-407E-A947-70E740481C1C}">
                <a14:useLocalDpi xmlns:a14="http://schemas.microsoft.com/office/drawing/2010/main" val="0"/>
              </a:ext>
            </a:extLst>
          </a:blip>
          <a:stretch>
            <a:fillRect/>
          </a:stretch>
        </p:blipFill>
        <p:spPr>
          <a:xfrm>
            <a:off x="8663710" y="11546"/>
            <a:ext cx="3417454" cy="3417454"/>
          </a:xfrm>
          <a:prstGeom prst="rect">
            <a:avLst/>
          </a:prstGeom>
        </p:spPr>
      </p:pic>
    </p:spTree>
    <p:extLst>
      <p:ext uri="{BB962C8B-B14F-4D97-AF65-F5344CB8AC3E}">
        <p14:creationId xmlns:p14="http://schemas.microsoft.com/office/powerpoint/2010/main" val="2499500186"/>
      </p:ext>
    </p:extLst>
  </p:cSld>
  <p:clrMapOvr>
    <a:masterClrMapping/>
  </p:clrMapOvr>
  <p:transition spd="slow">
    <p:cove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6" presetClass="entr" presetSubtype="16" fill="hold" grpId="0" nodeType="after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circle(in)">
                                      <p:cBhvr>
                                        <p:cTn id="7" dur="2000"/>
                                        <p:tgtEl>
                                          <p:spTgt spid="9"/>
                                        </p:tgtEl>
                                      </p:cBhvr>
                                    </p:animEffect>
                                  </p:childTnLst>
                                </p:cTn>
                              </p:par>
                            </p:childTnLst>
                          </p:cTn>
                        </p:par>
                        <p:par>
                          <p:cTn id="8" fill="hold">
                            <p:stCondLst>
                              <p:cond delay="2000"/>
                            </p:stCondLst>
                            <p:childTnLst>
                              <p:par>
                                <p:cTn id="9" presetID="14" presetClass="entr" presetSubtype="10" fill="hold" grpId="0" nodeType="afterEffect">
                                  <p:stCondLst>
                                    <p:cond delay="0"/>
                                  </p:stCondLst>
                                  <p:childTnLst>
                                    <p:set>
                                      <p:cBhvr>
                                        <p:cTn id="10" dur="1" fill="hold">
                                          <p:stCondLst>
                                            <p:cond delay="0"/>
                                          </p:stCondLst>
                                        </p:cTn>
                                        <p:tgtEl>
                                          <p:spTgt spid="12"/>
                                        </p:tgtEl>
                                        <p:attrNameLst>
                                          <p:attrName>style.visibility</p:attrName>
                                        </p:attrNameLst>
                                      </p:cBhvr>
                                      <p:to>
                                        <p:strVal val="visible"/>
                                      </p:to>
                                    </p:set>
                                    <p:animEffect transition="in" filter="randombar(horizontal)">
                                      <p:cBhvr>
                                        <p:cTn id="11" dur="500"/>
                                        <p:tgtEl>
                                          <p:spTgt spid="12"/>
                                        </p:tgtEl>
                                      </p:cBhvr>
                                    </p:animEffect>
                                  </p:childTnLst>
                                </p:cTn>
                              </p:par>
                            </p:childTnLst>
                          </p:cTn>
                        </p:par>
                        <p:par>
                          <p:cTn id="12" fill="hold">
                            <p:stCondLst>
                              <p:cond delay="2500"/>
                            </p:stCondLst>
                            <p:childTnLst>
                              <p:par>
                                <p:cTn id="13" presetID="2" presetClass="entr" presetSubtype="8" fill="hold" nodeType="afterEffect">
                                  <p:stCondLst>
                                    <p:cond delay="0"/>
                                  </p:stCondLst>
                                  <p:childTnLst>
                                    <p:set>
                                      <p:cBhvr>
                                        <p:cTn id="14" dur="1" fill="hold">
                                          <p:stCondLst>
                                            <p:cond delay="0"/>
                                          </p:stCondLst>
                                        </p:cTn>
                                        <p:tgtEl>
                                          <p:spTgt spid="26"/>
                                        </p:tgtEl>
                                        <p:attrNameLst>
                                          <p:attrName>style.visibility</p:attrName>
                                        </p:attrNameLst>
                                      </p:cBhvr>
                                      <p:to>
                                        <p:strVal val="visible"/>
                                      </p:to>
                                    </p:set>
                                    <p:anim calcmode="lin" valueType="num">
                                      <p:cBhvr additive="base">
                                        <p:cTn id="15" dur="500" fill="hold"/>
                                        <p:tgtEl>
                                          <p:spTgt spid="26"/>
                                        </p:tgtEl>
                                        <p:attrNameLst>
                                          <p:attrName>ppt_x</p:attrName>
                                        </p:attrNameLst>
                                      </p:cBhvr>
                                      <p:tavLst>
                                        <p:tav tm="0">
                                          <p:val>
                                            <p:strVal val="0-#ppt_w/2"/>
                                          </p:val>
                                        </p:tav>
                                        <p:tav tm="100000">
                                          <p:val>
                                            <p:strVal val="#ppt_x"/>
                                          </p:val>
                                        </p:tav>
                                      </p:tavLst>
                                    </p:anim>
                                    <p:anim calcmode="lin" valueType="num">
                                      <p:cBhvr additive="base">
                                        <p:cTn id="16" dur="500" fill="hold"/>
                                        <p:tgtEl>
                                          <p:spTgt spid="26"/>
                                        </p:tgtEl>
                                        <p:attrNameLst>
                                          <p:attrName>ppt_y</p:attrName>
                                        </p:attrNameLst>
                                      </p:cBhvr>
                                      <p:tavLst>
                                        <p:tav tm="0">
                                          <p:val>
                                            <p:strVal val="#ppt_y"/>
                                          </p:val>
                                        </p:tav>
                                        <p:tav tm="100000">
                                          <p:val>
                                            <p:strVal val="#ppt_y"/>
                                          </p:val>
                                        </p:tav>
                                      </p:tavLst>
                                    </p:anim>
                                  </p:childTnLst>
                                </p:cTn>
                              </p:par>
                            </p:childTnLst>
                          </p:cTn>
                        </p:par>
                        <p:par>
                          <p:cTn id="17" fill="hold">
                            <p:stCondLst>
                              <p:cond delay="3000"/>
                            </p:stCondLst>
                            <p:childTnLst>
                              <p:par>
                                <p:cTn id="18" presetID="42" presetClass="entr" presetSubtype="0" fill="hold" grpId="0" nodeType="afterEffect">
                                  <p:stCondLst>
                                    <p:cond delay="0"/>
                                  </p:stCondLst>
                                  <p:childTnLst>
                                    <p:set>
                                      <p:cBhvr>
                                        <p:cTn id="19" dur="1" fill="hold">
                                          <p:stCondLst>
                                            <p:cond delay="0"/>
                                          </p:stCondLst>
                                        </p:cTn>
                                        <p:tgtEl>
                                          <p:spTgt spid="2"/>
                                        </p:tgtEl>
                                        <p:attrNameLst>
                                          <p:attrName>style.visibility</p:attrName>
                                        </p:attrNameLst>
                                      </p:cBhvr>
                                      <p:to>
                                        <p:strVal val="visible"/>
                                      </p:to>
                                    </p:set>
                                    <p:animEffect transition="in" filter="fade">
                                      <p:cBhvr>
                                        <p:cTn id="20" dur="1000"/>
                                        <p:tgtEl>
                                          <p:spTgt spid="2"/>
                                        </p:tgtEl>
                                      </p:cBhvr>
                                    </p:animEffect>
                                    <p:anim calcmode="lin" valueType="num">
                                      <p:cBhvr>
                                        <p:cTn id="21" dur="1000" fill="hold"/>
                                        <p:tgtEl>
                                          <p:spTgt spid="2"/>
                                        </p:tgtEl>
                                        <p:attrNameLst>
                                          <p:attrName>ppt_x</p:attrName>
                                        </p:attrNameLst>
                                      </p:cBhvr>
                                      <p:tavLst>
                                        <p:tav tm="0">
                                          <p:val>
                                            <p:strVal val="#ppt_x"/>
                                          </p:val>
                                        </p:tav>
                                        <p:tav tm="100000">
                                          <p:val>
                                            <p:strVal val="#ppt_x"/>
                                          </p:val>
                                        </p:tav>
                                      </p:tavLst>
                                    </p:anim>
                                    <p:anim calcmode="lin" valueType="num">
                                      <p:cBhvr>
                                        <p:cTn id="22" dur="1000" fill="hold"/>
                                        <p:tgtEl>
                                          <p:spTgt spid="2"/>
                                        </p:tgtEl>
                                        <p:attrNameLst>
                                          <p:attrName>ppt_y</p:attrName>
                                        </p:attrNameLst>
                                      </p:cBhvr>
                                      <p:tavLst>
                                        <p:tav tm="0">
                                          <p:val>
                                            <p:strVal val="#ppt_y+.1"/>
                                          </p:val>
                                        </p:tav>
                                        <p:tav tm="100000">
                                          <p:val>
                                            <p:strVal val="#ppt_y"/>
                                          </p:val>
                                        </p:tav>
                                      </p:tavLst>
                                    </p:anim>
                                  </p:childTnLst>
                                </p:cTn>
                              </p:par>
                            </p:childTnLst>
                          </p:cTn>
                        </p:par>
                        <p:par>
                          <p:cTn id="23" fill="hold">
                            <p:stCondLst>
                              <p:cond delay="4000"/>
                            </p:stCondLst>
                            <p:childTnLst>
                              <p:par>
                                <p:cTn id="24" presetID="31" presetClass="entr" presetSubtype="0" fill="hold" nodeType="afterEffect">
                                  <p:stCondLst>
                                    <p:cond delay="0"/>
                                  </p:stCondLst>
                                  <p:childTnLst>
                                    <p:set>
                                      <p:cBhvr>
                                        <p:cTn id="25" dur="1" fill="hold">
                                          <p:stCondLst>
                                            <p:cond delay="0"/>
                                          </p:stCondLst>
                                        </p:cTn>
                                        <p:tgtEl>
                                          <p:spTgt spid="10"/>
                                        </p:tgtEl>
                                        <p:attrNameLst>
                                          <p:attrName>style.visibility</p:attrName>
                                        </p:attrNameLst>
                                      </p:cBhvr>
                                      <p:to>
                                        <p:strVal val="visible"/>
                                      </p:to>
                                    </p:set>
                                    <p:anim calcmode="lin" valueType="num">
                                      <p:cBhvr>
                                        <p:cTn id="26" dur="1000" fill="hold"/>
                                        <p:tgtEl>
                                          <p:spTgt spid="10"/>
                                        </p:tgtEl>
                                        <p:attrNameLst>
                                          <p:attrName>ppt_w</p:attrName>
                                        </p:attrNameLst>
                                      </p:cBhvr>
                                      <p:tavLst>
                                        <p:tav tm="0">
                                          <p:val>
                                            <p:fltVal val="0"/>
                                          </p:val>
                                        </p:tav>
                                        <p:tav tm="100000">
                                          <p:val>
                                            <p:strVal val="#ppt_w"/>
                                          </p:val>
                                        </p:tav>
                                      </p:tavLst>
                                    </p:anim>
                                    <p:anim calcmode="lin" valueType="num">
                                      <p:cBhvr>
                                        <p:cTn id="27" dur="1000" fill="hold"/>
                                        <p:tgtEl>
                                          <p:spTgt spid="10"/>
                                        </p:tgtEl>
                                        <p:attrNameLst>
                                          <p:attrName>ppt_h</p:attrName>
                                        </p:attrNameLst>
                                      </p:cBhvr>
                                      <p:tavLst>
                                        <p:tav tm="0">
                                          <p:val>
                                            <p:fltVal val="0"/>
                                          </p:val>
                                        </p:tav>
                                        <p:tav tm="100000">
                                          <p:val>
                                            <p:strVal val="#ppt_h"/>
                                          </p:val>
                                        </p:tav>
                                      </p:tavLst>
                                    </p:anim>
                                    <p:anim calcmode="lin" valueType="num">
                                      <p:cBhvr>
                                        <p:cTn id="28" dur="1000" fill="hold"/>
                                        <p:tgtEl>
                                          <p:spTgt spid="10"/>
                                        </p:tgtEl>
                                        <p:attrNameLst>
                                          <p:attrName>style.rotation</p:attrName>
                                        </p:attrNameLst>
                                      </p:cBhvr>
                                      <p:tavLst>
                                        <p:tav tm="0">
                                          <p:val>
                                            <p:fltVal val="90"/>
                                          </p:val>
                                        </p:tav>
                                        <p:tav tm="100000">
                                          <p:val>
                                            <p:fltVal val="0"/>
                                          </p:val>
                                        </p:tav>
                                      </p:tavLst>
                                    </p:anim>
                                    <p:animEffect transition="in" filter="fade">
                                      <p:cBhvr>
                                        <p:cTn id="29" dur="10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2" grpId="0"/>
      <p:bldP spid="12" grpId="0"/>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图片 42">
            <a:extLst>
              <a:ext uri="{FF2B5EF4-FFF2-40B4-BE49-F238E27FC236}">
                <a16:creationId xmlns:a16="http://schemas.microsoft.com/office/drawing/2014/main" id="{C8D97DA4-6242-4E73-AEFC-457D04FDC65B}"/>
              </a:ext>
            </a:extLst>
          </p:cNvPr>
          <p:cNvPicPr>
            <a:picLocks noChangeAspect="1"/>
          </p:cNvPicPr>
          <p:nvPr/>
        </p:nvPicPr>
        <p:blipFill>
          <a:blip r:embed="rId2"/>
          <a:stretch>
            <a:fillRect/>
          </a:stretch>
        </p:blipFill>
        <p:spPr>
          <a:xfrm rot="16200000">
            <a:off x="145169" y="-145167"/>
            <a:ext cx="1268414" cy="1558750"/>
          </a:xfrm>
          <a:prstGeom prst="rect">
            <a:avLst/>
          </a:prstGeom>
        </p:spPr>
      </p:pic>
      <p:sp>
        <p:nvSpPr>
          <p:cNvPr id="6" name="文字方塊 5">
            <a:extLst>
              <a:ext uri="{FF2B5EF4-FFF2-40B4-BE49-F238E27FC236}">
                <a16:creationId xmlns:a16="http://schemas.microsoft.com/office/drawing/2014/main" id="{8A30B01A-3198-4955-A208-0E3D9EB60397}"/>
              </a:ext>
            </a:extLst>
          </p:cNvPr>
          <p:cNvSpPr txBox="1"/>
          <p:nvPr/>
        </p:nvSpPr>
        <p:spPr>
          <a:xfrm>
            <a:off x="1558751" y="6596390"/>
            <a:ext cx="4217821" cy="261610"/>
          </a:xfrm>
          <a:prstGeom prst="rect">
            <a:avLst/>
          </a:prstGeom>
          <a:noFill/>
        </p:spPr>
        <p:txBody>
          <a:bodyPr wrap="none" rtlCol="0">
            <a:spAutoFit/>
          </a:bodyPr>
          <a:lstStyle/>
          <a:p>
            <a:r>
              <a:rPr lang="zh-TW" altLang="en-US" sz="1100" dirty="0">
                <a:latin typeface="Microsoft JhengHei Light" panose="020B0304030504040204" pitchFamily="34" charset="-120"/>
                <a:ea typeface="Microsoft JhengHei Light" panose="020B0304030504040204" pitchFamily="34" charset="-120"/>
              </a:rPr>
              <a:t>區塊鏈商業應用概論 實例與分析／新陸書局股份有限公司 發行</a:t>
            </a:r>
          </a:p>
        </p:txBody>
      </p:sp>
      <p:sp>
        <p:nvSpPr>
          <p:cNvPr id="9" name="標題 1">
            <a:extLst>
              <a:ext uri="{FF2B5EF4-FFF2-40B4-BE49-F238E27FC236}">
                <a16:creationId xmlns:a16="http://schemas.microsoft.com/office/drawing/2014/main" id="{475DFFF1-7C37-4CBE-ACFC-3F348BCD20CC}"/>
              </a:ext>
            </a:extLst>
          </p:cNvPr>
          <p:cNvSpPr txBox="1">
            <a:spLocks/>
          </p:cNvSpPr>
          <p:nvPr/>
        </p:nvSpPr>
        <p:spPr>
          <a:xfrm>
            <a:off x="1231956" y="393820"/>
            <a:ext cx="3643527" cy="874595"/>
          </a:xfrm>
          <a:prstGeom prst="rect">
            <a:avLst/>
          </a:prstGeom>
        </p:spPr>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altLang="zh-TW" sz="2400" b="1" dirty="0">
                <a:solidFill>
                  <a:srgbClr val="E06741"/>
                </a:solidFill>
              </a:rPr>
              <a:t>2-2 </a:t>
            </a:r>
            <a:r>
              <a:rPr lang="zh-TW" altLang="en-US" sz="2400" b="1" dirty="0">
                <a:solidFill>
                  <a:srgbClr val="E06741"/>
                </a:solidFill>
              </a:rPr>
              <a:t>區塊鏈技術發展</a:t>
            </a:r>
          </a:p>
          <a:p>
            <a:endParaRPr lang="zh-TW" altLang="en-US" sz="2400" dirty="0">
              <a:solidFill>
                <a:srgbClr val="E06741"/>
              </a:solidFill>
              <a:latin typeface="標楷體" panose="03000509000000000000" pitchFamily="65" charset="-120"/>
              <a:ea typeface="標楷體" panose="03000509000000000000" pitchFamily="65" charset="-120"/>
              <a:cs typeface="Times New Roman" panose="02020603050405020304" pitchFamily="18" charset="0"/>
            </a:endParaRPr>
          </a:p>
        </p:txBody>
      </p:sp>
      <p:sp>
        <p:nvSpPr>
          <p:cNvPr id="2" name="文字方塊 1">
            <a:extLst>
              <a:ext uri="{FF2B5EF4-FFF2-40B4-BE49-F238E27FC236}">
                <a16:creationId xmlns:a16="http://schemas.microsoft.com/office/drawing/2014/main" id="{D6D66D7E-58A1-40BE-8070-FA1C3AF22B14}"/>
              </a:ext>
            </a:extLst>
          </p:cNvPr>
          <p:cNvSpPr txBox="1"/>
          <p:nvPr/>
        </p:nvSpPr>
        <p:spPr>
          <a:xfrm>
            <a:off x="1231956" y="1383926"/>
            <a:ext cx="10081960" cy="4456476"/>
          </a:xfrm>
          <a:prstGeom prst="rect">
            <a:avLst/>
          </a:prstGeom>
          <a:noFill/>
        </p:spPr>
        <p:txBody>
          <a:bodyPr wrap="square" rtlCol="0">
            <a:spAutoFit/>
          </a:bodyPr>
          <a:lstStyle/>
          <a:p>
            <a:pPr marL="800100" lvl="1" indent="-342900">
              <a:lnSpc>
                <a:spcPct val="150000"/>
              </a:lnSpc>
              <a:buSzPct val="100000"/>
              <a:buBlip>
                <a:blip r:embed="rId3"/>
              </a:buBlip>
            </a:pPr>
            <a:r>
              <a:rPr lang="zh-TW" altLang="en-US" sz="2400" b="1" dirty="0">
                <a:solidFill>
                  <a:schemeClr val="tx1">
                    <a:lumMod val="75000"/>
                    <a:lumOff val="25000"/>
                  </a:schemeClr>
                </a:solidFill>
                <a:latin typeface="微軟正黑體" panose="020B0604030504040204" pitchFamily="34" charset="-120"/>
                <a:ea typeface="微軟正黑體" panose="020B0604030504040204" pitchFamily="34" charset="-120"/>
              </a:rPr>
              <a:t>智慧合約本質上是在預防交易過程中出錯的可能性</a:t>
            </a:r>
            <a:endParaRPr lang="en-US" altLang="zh-TW" sz="2400" b="1" dirty="0">
              <a:solidFill>
                <a:schemeClr val="tx1">
                  <a:lumMod val="75000"/>
                  <a:lumOff val="25000"/>
                </a:schemeClr>
              </a:solidFill>
              <a:latin typeface="微軟正黑體" panose="020B0604030504040204" pitchFamily="34" charset="-120"/>
              <a:ea typeface="微軟正黑體" panose="020B0604030504040204" pitchFamily="34" charset="-120"/>
            </a:endParaRPr>
          </a:p>
          <a:p>
            <a:pPr marL="800100" lvl="1" indent="-342900">
              <a:lnSpc>
                <a:spcPct val="150000"/>
              </a:lnSpc>
              <a:buSzPct val="100000"/>
              <a:buBlip>
                <a:blip r:embed="rId3"/>
              </a:buBlip>
            </a:pPr>
            <a:r>
              <a:rPr lang="zh-TW" altLang="en-US" sz="2400" b="1" dirty="0">
                <a:solidFill>
                  <a:schemeClr val="tx1">
                    <a:lumMod val="75000"/>
                    <a:lumOff val="25000"/>
                  </a:schemeClr>
                </a:solidFill>
                <a:latin typeface="微軟正黑體" panose="020B0604030504040204" pitchFamily="34" charset="-120"/>
                <a:ea typeface="微軟正黑體" panose="020B0604030504040204" pitchFamily="34" charset="-120"/>
              </a:rPr>
              <a:t>通過系統化的方式，結合運行環境隔離，確保合約在有效時間內，預期執行交易</a:t>
            </a:r>
          </a:p>
          <a:p>
            <a:pPr marL="800100" lvl="1" indent="-342900">
              <a:lnSpc>
                <a:spcPct val="150000"/>
              </a:lnSpc>
              <a:buSzPct val="100000"/>
              <a:buBlip>
                <a:blip r:embed="rId3"/>
              </a:buBlip>
            </a:pPr>
            <a:r>
              <a:rPr lang="zh-TW" altLang="en-US" sz="2400" b="1" dirty="0">
                <a:solidFill>
                  <a:schemeClr val="tx1">
                    <a:lumMod val="75000"/>
                    <a:lumOff val="25000"/>
                  </a:schemeClr>
                </a:solidFill>
                <a:latin typeface="微軟正黑體" panose="020B0604030504040204" pitchFamily="34" charset="-120"/>
                <a:ea typeface="微軟正黑體" panose="020B0604030504040204" pitchFamily="34" charset="-120"/>
              </a:rPr>
              <a:t>智慧合約也是一項具備網路使用者共識的交易協議</a:t>
            </a:r>
            <a:endParaRPr lang="en-US" altLang="zh-TW" sz="2400" b="1" dirty="0">
              <a:solidFill>
                <a:schemeClr val="tx1">
                  <a:lumMod val="75000"/>
                  <a:lumOff val="25000"/>
                </a:schemeClr>
              </a:solidFill>
              <a:latin typeface="微軟正黑體" panose="020B0604030504040204" pitchFamily="34" charset="-120"/>
              <a:ea typeface="微軟正黑體" panose="020B0604030504040204" pitchFamily="34" charset="-120"/>
            </a:endParaRPr>
          </a:p>
          <a:p>
            <a:pPr marL="1257300" lvl="2" indent="-342900">
              <a:lnSpc>
                <a:spcPct val="150000"/>
              </a:lnSpc>
              <a:buSzPct val="100000"/>
              <a:buBlip>
                <a:blip r:embed="rId3"/>
              </a:buBlip>
            </a:pPr>
            <a:r>
              <a:rPr lang="zh-TW" altLang="en-US" sz="2400" b="1" dirty="0">
                <a:solidFill>
                  <a:schemeClr val="tx1">
                    <a:lumMod val="75000"/>
                    <a:lumOff val="25000"/>
                  </a:schemeClr>
                </a:solidFill>
                <a:latin typeface="微軟正黑體" panose="020B0604030504040204" pitchFamily="34" charset="-120"/>
                <a:ea typeface="微軟正黑體" panose="020B0604030504040204" pitchFamily="34" charset="-120"/>
              </a:rPr>
              <a:t>由計算機器處理來執行交易協議，</a:t>
            </a:r>
            <a:endParaRPr lang="en-US" altLang="zh-TW" sz="2400" b="1" dirty="0">
              <a:solidFill>
                <a:schemeClr val="tx1">
                  <a:lumMod val="75000"/>
                  <a:lumOff val="25000"/>
                </a:schemeClr>
              </a:solidFill>
              <a:latin typeface="微軟正黑體" panose="020B0604030504040204" pitchFamily="34" charset="-120"/>
              <a:ea typeface="微軟正黑體" panose="020B0604030504040204" pitchFamily="34" charset="-120"/>
            </a:endParaRPr>
          </a:p>
          <a:p>
            <a:pPr marL="1257300" lvl="2" indent="-342900">
              <a:lnSpc>
                <a:spcPct val="150000"/>
              </a:lnSpc>
              <a:buSzPct val="100000"/>
              <a:buBlip>
                <a:blip r:embed="rId3"/>
              </a:buBlip>
            </a:pPr>
            <a:r>
              <a:rPr lang="zh-TW" altLang="en-US" sz="2400" b="1" dirty="0">
                <a:solidFill>
                  <a:schemeClr val="tx1">
                    <a:lumMod val="75000"/>
                    <a:lumOff val="25000"/>
                  </a:schemeClr>
                </a:solidFill>
                <a:latin typeface="微軟正黑體" panose="020B0604030504040204" pitchFamily="34" charset="-120"/>
                <a:ea typeface="微軟正黑體" panose="020B0604030504040204" pitchFamily="34" charset="-120"/>
              </a:rPr>
              <a:t>滿足使用者共識合約條件下，降低合約詐欺所造成的損失及降低仲裁和強制執行所產生的交易成本，保障數位網路交易平台的使用者的權益，及維護交易的品質</a:t>
            </a:r>
          </a:p>
        </p:txBody>
      </p:sp>
      <p:cxnSp>
        <p:nvCxnSpPr>
          <p:cNvPr id="26" name="直接连接符 33">
            <a:extLst>
              <a:ext uri="{FF2B5EF4-FFF2-40B4-BE49-F238E27FC236}">
                <a16:creationId xmlns:a16="http://schemas.microsoft.com/office/drawing/2014/main" id="{C3725E45-5458-4931-9D9A-B8C15AE6AC41}"/>
              </a:ext>
            </a:extLst>
          </p:cNvPr>
          <p:cNvCxnSpPr>
            <a:cxnSpLocks/>
          </p:cNvCxnSpPr>
          <p:nvPr/>
        </p:nvCxnSpPr>
        <p:spPr>
          <a:xfrm>
            <a:off x="1334185" y="1102164"/>
            <a:ext cx="10081960" cy="0"/>
          </a:xfrm>
          <a:prstGeom prst="line">
            <a:avLst/>
          </a:prstGeom>
          <a:ln w="190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12" name="文字方塊 11">
            <a:extLst>
              <a:ext uri="{FF2B5EF4-FFF2-40B4-BE49-F238E27FC236}">
                <a16:creationId xmlns:a16="http://schemas.microsoft.com/office/drawing/2014/main" id="{9FE02F65-A32E-4124-B1E6-8E45750976E4}"/>
              </a:ext>
            </a:extLst>
          </p:cNvPr>
          <p:cNvSpPr txBox="1"/>
          <p:nvPr/>
        </p:nvSpPr>
        <p:spPr>
          <a:xfrm>
            <a:off x="4487241" y="449166"/>
            <a:ext cx="3076483" cy="400110"/>
          </a:xfrm>
          <a:prstGeom prst="rect">
            <a:avLst/>
          </a:prstGeom>
          <a:noFill/>
        </p:spPr>
        <p:txBody>
          <a:bodyPr wrap="none" rtlCol="0">
            <a:spAutoFit/>
          </a:bodyPr>
          <a:lstStyle/>
          <a:p>
            <a:r>
              <a:rPr lang="en-US" altLang="zh-TW" sz="2000" b="1" dirty="0">
                <a:solidFill>
                  <a:schemeClr val="tx1">
                    <a:lumMod val="65000"/>
                    <a:lumOff val="35000"/>
                  </a:schemeClr>
                </a:solidFill>
                <a:latin typeface="微軟正黑體" panose="020B0604030504040204" pitchFamily="34" charset="-120"/>
                <a:ea typeface="微軟正黑體" panose="020B0604030504040204" pitchFamily="34" charset="-120"/>
                <a:cs typeface="Times New Roman" panose="02020603050405020304" pitchFamily="18" charset="0"/>
              </a:rPr>
              <a:t>-2</a:t>
            </a:r>
            <a:r>
              <a:rPr lang="zh-TW" altLang="en-US" sz="2000" b="1" dirty="0">
                <a:solidFill>
                  <a:schemeClr val="tx1">
                    <a:lumMod val="65000"/>
                    <a:lumOff val="35000"/>
                  </a:schemeClr>
                </a:solidFill>
                <a:latin typeface="微軟正黑體" panose="020B0604030504040204" pitchFamily="34" charset="-120"/>
                <a:ea typeface="微軟正黑體" panose="020B0604030504040204" pitchFamily="34" charset="-120"/>
                <a:cs typeface="Times New Roman" panose="02020603050405020304" pitchFamily="18" charset="0"/>
              </a:rPr>
              <a:t> 區塊鏈技術之基本要素</a:t>
            </a:r>
          </a:p>
        </p:txBody>
      </p:sp>
      <p:pic>
        <p:nvPicPr>
          <p:cNvPr id="10" name="圖片 9">
            <a:extLst>
              <a:ext uri="{FF2B5EF4-FFF2-40B4-BE49-F238E27FC236}">
                <a16:creationId xmlns:a16="http://schemas.microsoft.com/office/drawing/2014/main" id="{53D5CC43-17CB-4CA5-82EB-0FC9D21A422A}"/>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0" y="4505151"/>
            <a:ext cx="2420522" cy="2420522"/>
          </a:xfrm>
          <a:prstGeom prst="rect">
            <a:avLst/>
          </a:prstGeom>
        </p:spPr>
      </p:pic>
    </p:spTree>
    <p:extLst>
      <p:ext uri="{BB962C8B-B14F-4D97-AF65-F5344CB8AC3E}">
        <p14:creationId xmlns:p14="http://schemas.microsoft.com/office/powerpoint/2010/main" val="59042479"/>
      </p:ext>
    </p:extLst>
  </p:cSld>
  <p:clrMapOvr>
    <a:masterClrMapping/>
  </p:clrMapOvr>
  <mc:AlternateContent xmlns:mc="http://schemas.openxmlformats.org/markup-compatibility/2006">
    <mc:Choice xmlns:p14="http://schemas.microsoft.com/office/powerpoint/2010/main" Requires="p14">
      <p:transition spd="slow" p14:dur="1600">
        <p14:conveyor dir="l"/>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6" presetClass="entr" presetSubtype="16" fill="hold" grpId="0" nodeType="after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circle(in)">
                                      <p:cBhvr>
                                        <p:cTn id="7" dur="2000"/>
                                        <p:tgtEl>
                                          <p:spTgt spid="9"/>
                                        </p:tgtEl>
                                      </p:cBhvr>
                                    </p:animEffect>
                                  </p:childTnLst>
                                </p:cTn>
                              </p:par>
                            </p:childTnLst>
                          </p:cTn>
                        </p:par>
                        <p:par>
                          <p:cTn id="8" fill="hold">
                            <p:stCondLst>
                              <p:cond delay="2000"/>
                            </p:stCondLst>
                            <p:childTnLst>
                              <p:par>
                                <p:cTn id="9" presetID="14" presetClass="entr" presetSubtype="10" fill="hold" grpId="0" nodeType="afterEffect">
                                  <p:stCondLst>
                                    <p:cond delay="0"/>
                                  </p:stCondLst>
                                  <p:childTnLst>
                                    <p:set>
                                      <p:cBhvr>
                                        <p:cTn id="10" dur="1" fill="hold">
                                          <p:stCondLst>
                                            <p:cond delay="0"/>
                                          </p:stCondLst>
                                        </p:cTn>
                                        <p:tgtEl>
                                          <p:spTgt spid="12"/>
                                        </p:tgtEl>
                                        <p:attrNameLst>
                                          <p:attrName>style.visibility</p:attrName>
                                        </p:attrNameLst>
                                      </p:cBhvr>
                                      <p:to>
                                        <p:strVal val="visible"/>
                                      </p:to>
                                    </p:set>
                                    <p:animEffect transition="in" filter="randombar(horizontal)">
                                      <p:cBhvr>
                                        <p:cTn id="11" dur="500"/>
                                        <p:tgtEl>
                                          <p:spTgt spid="12"/>
                                        </p:tgtEl>
                                      </p:cBhvr>
                                    </p:animEffect>
                                  </p:childTnLst>
                                </p:cTn>
                              </p:par>
                            </p:childTnLst>
                          </p:cTn>
                        </p:par>
                        <p:par>
                          <p:cTn id="12" fill="hold">
                            <p:stCondLst>
                              <p:cond delay="2500"/>
                            </p:stCondLst>
                            <p:childTnLst>
                              <p:par>
                                <p:cTn id="13" presetID="2" presetClass="entr" presetSubtype="8" fill="hold" nodeType="afterEffect">
                                  <p:stCondLst>
                                    <p:cond delay="0"/>
                                  </p:stCondLst>
                                  <p:childTnLst>
                                    <p:set>
                                      <p:cBhvr>
                                        <p:cTn id="14" dur="1" fill="hold">
                                          <p:stCondLst>
                                            <p:cond delay="0"/>
                                          </p:stCondLst>
                                        </p:cTn>
                                        <p:tgtEl>
                                          <p:spTgt spid="26"/>
                                        </p:tgtEl>
                                        <p:attrNameLst>
                                          <p:attrName>style.visibility</p:attrName>
                                        </p:attrNameLst>
                                      </p:cBhvr>
                                      <p:to>
                                        <p:strVal val="visible"/>
                                      </p:to>
                                    </p:set>
                                    <p:anim calcmode="lin" valueType="num">
                                      <p:cBhvr additive="base">
                                        <p:cTn id="15" dur="500" fill="hold"/>
                                        <p:tgtEl>
                                          <p:spTgt spid="26"/>
                                        </p:tgtEl>
                                        <p:attrNameLst>
                                          <p:attrName>ppt_x</p:attrName>
                                        </p:attrNameLst>
                                      </p:cBhvr>
                                      <p:tavLst>
                                        <p:tav tm="0">
                                          <p:val>
                                            <p:strVal val="0-#ppt_w/2"/>
                                          </p:val>
                                        </p:tav>
                                        <p:tav tm="100000">
                                          <p:val>
                                            <p:strVal val="#ppt_x"/>
                                          </p:val>
                                        </p:tav>
                                      </p:tavLst>
                                    </p:anim>
                                    <p:anim calcmode="lin" valueType="num">
                                      <p:cBhvr additive="base">
                                        <p:cTn id="16" dur="500" fill="hold"/>
                                        <p:tgtEl>
                                          <p:spTgt spid="26"/>
                                        </p:tgtEl>
                                        <p:attrNameLst>
                                          <p:attrName>ppt_y</p:attrName>
                                        </p:attrNameLst>
                                      </p:cBhvr>
                                      <p:tavLst>
                                        <p:tav tm="0">
                                          <p:val>
                                            <p:strVal val="#ppt_y"/>
                                          </p:val>
                                        </p:tav>
                                        <p:tav tm="100000">
                                          <p:val>
                                            <p:strVal val="#ppt_y"/>
                                          </p:val>
                                        </p:tav>
                                      </p:tavLst>
                                    </p:anim>
                                  </p:childTnLst>
                                </p:cTn>
                              </p:par>
                            </p:childTnLst>
                          </p:cTn>
                        </p:par>
                        <p:par>
                          <p:cTn id="17" fill="hold">
                            <p:stCondLst>
                              <p:cond delay="3000"/>
                            </p:stCondLst>
                            <p:childTnLst>
                              <p:par>
                                <p:cTn id="18" presetID="16" presetClass="entr" presetSubtype="21" fill="hold" grpId="0" nodeType="afterEffect">
                                  <p:stCondLst>
                                    <p:cond delay="0"/>
                                  </p:stCondLst>
                                  <p:childTnLst>
                                    <p:set>
                                      <p:cBhvr>
                                        <p:cTn id="19" dur="1" fill="hold">
                                          <p:stCondLst>
                                            <p:cond delay="0"/>
                                          </p:stCondLst>
                                        </p:cTn>
                                        <p:tgtEl>
                                          <p:spTgt spid="2"/>
                                        </p:tgtEl>
                                        <p:attrNameLst>
                                          <p:attrName>style.visibility</p:attrName>
                                        </p:attrNameLst>
                                      </p:cBhvr>
                                      <p:to>
                                        <p:strVal val="visible"/>
                                      </p:to>
                                    </p:set>
                                    <p:animEffect transition="in" filter="barn(inVertical)">
                                      <p:cBhvr>
                                        <p:cTn id="20" dur="500"/>
                                        <p:tgtEl>
                                          <p:spTgt spid="2"/>
                                        </p:tgtEl>
                                      </p:cBhvr>
                                    </p:animEffect>
                                  </p:childTnLst>
                                </p:cTn>
                              </p:par>
                            </p:childTnLst>
                          </p:cTn>
                        </p:par>
                        <p:par>
                          <p:cTn id="21" fill="hold">
                            <p:stCondLst>
                              <p:cond delay="3500"/>
                            </p:stCondLst>
                            <p:childTnLst>
                              <p:par>
                                <p:cTn id="22" presetID="2" presetClass="entr" presetSubtype="4" fill="hold" nodeType="afterEffect">
                                  <p:stCondLst>
                                    <p:cond delay="0"/>
                                  </p:stCondLst>
                                  <p:childTnLst>
                                    <p:set>
                                      <p:cBhvr>
                                        <p:cTn id="23" dur="1" fill="hold">
                                          <p:stCondLst>
                                            <p:cond delay="0"/>
                                          </p:stCondLst>
                                        </p:cTn>
                                        <p:tgtEl>
                                          <p:spTgt spid="10"/>
                                        </p:tgtEl>
                                        <p:attrNameLst>
                                          <p:attrName>style.visibility</p:attrName>
                                        </p:attrNameLst>
                                      </p:cBhvr>
                                      <p:to>
                                        <p:strVal val="visible"/>
                                      </p:to>
                                    </p:set>
                                    <p:anim calcmode="lin" valueType="num">
                                      <p:cBhvr additive="base">
                                        <p:cTn id="24" dur="500" fill="hold"/>
                                        <p:tgtEl>
                                          <p:spTgt spid="10"/>
                                        </p:tgtEl>
                                        <p:attrNameLst>
                                          <p:attrName>ppt_x</p:attrName>
                                        </p:attrNameLst>
                                      </p:cBhvr>
                                      <p:tavLst>
                                        <p:tav tm="0">
                                          <p:val>
                                            <p:strVal val="#ppt_x"/>
                                          </p:val>
                                        </p:tav>
                                        <p:tav tm="100000">
                                          <p:val>
                                            <p:strVal val="#ppt_x"/>
                                          </p:val>
                                        </p:tav>
                                      </p:tavLst>
                                    </p:anim>
                                    <p:anim calcmode="lin" valueType="num">
                                      <p:cBhvr additive="base">
                                        <p:cTn id="25" dur="500" fill="hold"/>
                                        <p:tgtEl>
                                          <p:spTgt spid="1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2" grpId="0"/>
      <p:bldP spid="12" grpId="0"/>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图片 42">
            <a:extLst>
              <a:ext uri="{FF2B5EF4-FFF2-40B4-BE49-F238E27FC236}">
                <a16:creationId xmlns:a16="http://schemas.microsoft.com/office/drawing/2014/main" id="{C8D97DA4-6242-4E73-AEFC-457D04FDC65B}"/>
              </a:ext>
            </a:extLst>
          </p:cNvPr>
          <p:cNvPicPr>
            <a:picLocks noChangeAspect="1"/>
          </p:cNvPicPr>
          <p:nvPr/>
        </p:nvPicPr>
        <p:blipFill>
          <a:blip r:embed="rId2"/>
          <a:stretch>
            <a:fillRect/>
          </a:stretch>
        </p:blipFill>
        <p:spPr>
          <a:xfrm rot="16200000">
            <a:off x="145169" y="-145167"/>
            <a:ext cx="1268414" cy="1558750"/>
          </a:xfrm>
          <a:prstGeom prst="rect">
            <a:avLst/>
          </a:prstGeom>
        </p:spPr>
      </p:pic>
      <p:sp>
        <p:nvSpPr>
          <p:cNvPr id="6" name="文字方塊 5">
            <a:extLst>
              <a:ext uri="{FF2B5EF4-FFF2-40B4-BE49-F238E27FC236}">
                <a16:creationId xmlns:a16="http://schemas.microsoft.com/office/drawing/2014/main" id="{8A30B01A-3198-4955-A208-0E3D9EB60397}"/>
              </a:ext>
            </a:extLst>
          </p:cNvPr>
          <p:cNvSpPr txBox="1"/>
          <p:nvPr/>
        </p:nvSpPr>
        <p:spPr>
          <a:xfrm>
            <a:off x="1558751" y="6596390"/>
            <a:ext cx="4217821" cy="261610"/>
          </a:xfrm>
          <a:prstGeom prst="rect">
            <a:avLst/>
          </a:prstGeom>
          <a:noFill/>
        </p:spPr>
        <p:txBody>
          <a:bodyPr wrap="none" rtlCol="0">
            <a:spAutoFit/>
          </a:bodyPr>
          <a:lstStyle/>
          <a:p>
            <a:r>
              <a:rPr lang="zh-TW" altLang="en-US" sz="1100" dirty="0">
                <a:latin typeface="Microsoft JhengHei Light" panose="020B0304030504040204" pitchFamily="34" charset="-120"/>
                <a:ea typeface="Microsoft JhengHei Light" panose="020B0304030504040204" pitchFamily="34" charset="-120"/>
              </a:rPr>
              <a:t>區塊鏈商業應用概論 實例與分析／新陸書局股份有限公司 發行</a:t>
            </a:r>
          </a:p>
        </p:txBody>
      </p:sp>
      <p:sp>
        <p:nvSpPr>
          <p:cNvPr id="9" name="標題 1">
            <a:extLst>
              <a:ext uri="{FF2B5EF4-FFF2-40B4-BE49-F238E27FC236}">
                <a16:creationId xmlns:a16="http://schemas.microsoft.com/office/drawing/2014/main" id="{475DFFF1-7C37-4CBE-ACFC-3F348BCD20CC}"/>
              </a:ext>
            </a:extLst>
          </p:cNvPr>
          <p:cNvSpPr txBox="1">
            <a:spLocks/>
          </p:cNvSpPr>
          <p:nvPr/>
        </p:nvSpPr>
        <p:spPr>
          <a:xfrm>
            <a:off x="1231956" y="393820"/>
            <a:ext cx="3643527" cy="874595"/>
          </a:xfrm>
          <a:prstGeom prst="rect">
            <a:avLst/>
          </a:prstGeom>
        </p:spPr>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altLang="zh-TW" sz="2400" b="1" dirty="0">
                <a:solidFill>
                  <a:srgbClr val="E06741"/>
                </a:solidFill>
              </a:rPr>
              <a:t>2-2 </a:t>
            </a:r>
            <a:r>
              <a:rPr lang="zh-TW" altLang="en-US" sz="2400" b="1" dirty="0">
                <a:solidFill>
                  <a:srgbClr val="E06741"/>
                </a:solidFill>
              </a:rPr>
              <a:t>區塊鏈技術發展</a:t>
            </a:r>
          </a:p>
          <a:p>
            <a:endParaRPr lang="zh-TW" altLang="en-US" sz="2400" dirty="0">
              <a:solidFill>
                <a:srgbClr val="E06741"/>
              </a:solidFill>
              <a:latin typeface="標楷體" panose="03000509000000000000" pitchFamily="65" charset="-120"/>
              <a:ea typeface="標楷體" panose="03000509000000000000" pitchFamily="65" charset="-120"/>
              <a:cs typeface="Times New Roman" panose="02020603050405020304" pitchFamily="18" charset="0"/>
            </a:endParaRPr>
          </a:p>
        </p:txBody>
      </p:sp>
      <p:sp>
        <p:nvSpPr>
          <p:cNvPr id="2" name="文字方塊 1">
            <a:extLst>
              <a:ext uri="{FF2B5EF4-FFF2-40B4-BE49-F238E27FC236}">
                <a16:creationId xmlns:a16="http://schemas.microsoft.com/office/drawing/2014/main" id="{D6D66D7E-58A1-40BE-8070-FA1C3AF22B14}"/>
              </a:ext>
            </a:extLst>
          </p:cNvPr>
          <p:cNvSpPr txBox="1"/>
          <p:nvPr/>
        </p:nvSpPr>
        <p:spPr>
          <a:xfrm>
            <a:off x="779375" y="1251141"/>
            <a:ext cx="9472989" cy="4641142"/>
          </a:xfrm>
          <a:prstGeom prst="rect">
            <a:avLst/>
          </a:prstGeom>
          <a:noFill/>
        </p:spPr>
        <p:txBody>
          <a:bodyPr wrap="square" rtlCol="0">
            <a:spAutoFit/>
          </a:bodyPr>
          <a:lstStyle/>
          <a:p>
            <a:pPr lvl="1">
              <a:lnSpc>
                <a:spcPct val="150000"/>
              </a:lnSpc>
              <a:buSzPct val="100000"/>
            </a:pPr>
            <a:r>
              <a:rPr lang="zh-TW" altLang="en-US" sz="2400" b="1" dirty="0">
                <a:solidFill>
                  <a:schemeClr val="tx1">
                    <a:lumMod val="75000"/>
                    <a:lumOff val="25000"/>
                  </a:schemeClr>
                </a:solidFill>
                <a:latin typeface="微軟正黑體" panose="020B0604030504040204" pitchFamily="34" charset="-120"/>
                <a:ea typeface="微軟正黑體" panose="020B0604030504040204" pitchFamily="34" charset="-120"/>
              </a:rPr>
              <a:t>四、多數決機制（</a:t>
            </a:r>
            <a:r>
              <a:rPr lang="en-US" altLang="zh-TW" sz="2400" b="1" dirty="0">
                <a:solidFill>
                  <a:schemeClr val="tx1">
                    <a:lumMod val="75000"/>
                    <a:lumOff val="25000"/>
                  </a:schemeClr>
                </a:solidFill>
                <a:latin typeface="微軟正黑體" panose="020B0604030504040204" pitchFamily="34" charset="-120"/>
                <a:ea typeface="微軟正黑體" panose="020B0604030504040204" pitchFamily="34" charset="-120"/>
              </a:rPr>
              <a:t>Majority Decisions</a:t>
            </a:r>
            <a:r>
              <a:rPr lang="zh-TW" altLang="en-US" sz="2400" b="1" dirty="0">
                <a:solidFill>
                  <a:schemeClr val="tx1">
                    <a:lumMod val="75000"/>
                    <a:lumOff val="25000"/>
                  </a:schemeClr>
                </a:solidFill>
                <a:latin typeface="微軟正黑體" panose="020B0604030504040204" pitchFamily="34" charset="-120"/>
                <a:ea typeface="微軟正黑體" panose="020B0604030504040204" pitchFamily="34" charset="-120"/>
              </a:rPr>
              <a:t>）</a:t>
            </a:r>
            <a:endParaRPr lang="en-US" altLang="zh-TW" sz="2400" b="1" dirty="0">
              <a:solidFill>
                <a:schemeClr val="tx1">
                  <a:lumMod val="75000"/>
                  <a:lumOff val="25000"/>
                </a:schemeClr>
              </a:solidFill>
              <a:latin typeface="微軟正黑體" panose="020B0604030504040204" pitchFamily="34" charset="-120"/>
              <a:ea typeface="微軟正黑體" panose="020B0604030504040204" pitchFamily="34" charset="-120"/>
            </a:endParaRPr>
          </a:p>
          <a:p>
            <a:pPr lvl="1">
              <a:lnSpc>
                <a:spcPct val="150000"/>
              </a:lnSpc>
              <a:buSzPct val="100000"/>
            </a:pPr>
            <a:endParaRPr lang="zh-TW" altLang="en-US" sz="800" b="1" dirty="0">
              <a:solidFill>
                <a:schemeClr val="tx1">
                  <a:lumMod val="75000"/>
                  <a:lumOff val="25000"/>
                </a:schemeClr>
              </a:solidFill>
              <a:latin typeface="微軟正黑體" panose="020B0604030504040204" pitchFamily="34" charset="-120"/>
              <a:ea typeface="微軟正黑體" panose="020B0604030504040204" pitchFamily="34" charset="-120"/>
            </a:endParaRPr>
          </a:p>
          <a:p>
            <a:pPr marL="1257300" lvl="2" indent="-342900">
              <a:lnSpc>
                <a:spcPct val="150000"/>
              </a:lnSpc>
              <a:buSzPct val="100000"/>
              <a:buBlip>
                <a:blip r:embed="rId3"/>
              </a:buBlip>
            </a:pPr>
            <a:r>
              <a:rPr lang="zh-TW" altLang="en-US" sz="2400" b="1" dirty="0">
                <a:solidFill>
                  <a:schemeClr val="tx1">
                    <a:lumMod val="75000"/>
                    <a:lumOff val="25000"/>
                  </a:schemeClr>
                </a:solidFill>
                <a:latin typeface="微軟正黑體" panose="020B0604030504040204" pitchFamily="34" charset="-120"/>
                <a:ea typeface="微軟正黑體" panose="020B0604030504040204" pitchFamily="34" charset="-120"/>
              </a:rPr>
              <a:t>多數決機制是指所有數位網路交易平台內的使用者互相信任，並且達到多數人的信任即可確保交易的正確性</a:t>
            </a:r>
            <a:endParaRPr lang="en-US" altLang="zh-TW" sz="2400" b="1" dirty="0">
              <a:solidFill>
                <a:schemeClr val="tx1">
                  <a:lumMod val="75000"/>
                  <a:lumOff val="25000"/>
                </a:schemeClr>
              </a:solidFill>
              <a:latin typeface="微軟正黑體" panose="020B0604030504040204" pitchFamily="34" charset="-120"/>
              <a:ea typeface="微軟正黑體" panose="020B0604030504040204" pitchFamily="34" charset="-120"/>
            </a:endParaRPr>
          </a:p>
          <a:p>
            <a:pPr marL="1257300" lvl="2" indent="-342900">
              <a:lnSpc>
                <a:spcPct val="150000"/>
              </a:lnSpc>
              <a:buSzPct val="100000"/>
              <a:buBlip>
                <a:blip r:embed="rId3"/>
              </a:buBlip>
            </a:pPr>
            <a:r>
              <a:rPr lang="zh-TW" altLang="en-US" sz="2400" b="1" dirty="0">
                <a:solidFill>
                  <a:schemeClr val="tx1">
                    <a:lumMod val="75000"/>
                    <a:lumOff val="25000"/>
                  </a:schemeClr>
                </a:solidFill>
                <a:latin typeface="微軟正黑體" panose="020B0604030504040204" pitchFamily="34" charset="-120"/>
                <a:ea typeface="微軟正黑體" panose="020B0604030504040204" pitchFamily="34" charset="-120"/>
              </a:rPr>
              <a:t>每位使用者將會都是一個中心，彼此之間可以互聯、互通、收付、買賣等雙向的交易行為，無須依賴消費市場、政府或第三方機構</a:t>
            </a:r>
            <a:endParaRPr lang="en-US" altLang="zh-TW" sz="2400" b="1" dirty="0">
              <a:solidFill>
                <a:schemeClr val="tx1">
                  <a:lumMod val="75000"/>
                  <a:lumOff val="25000"/>
                </a:schemeClr>
              </a:solidFill>
              <a:latin typeface="微軟正黑體" panose="020B0604030504040204" pitchFamily="34" charset="-120"/>
              <a:ea typeface="微軟正黑體" panose="020B0604030504040204" pitchFamily="34" charset="-120"/>
            </a:endParaRPr>
          </a:p>
          <a:p>
            <a:pPr marL="1257300" lvl="2" indent="-342900">
              <a:lnSpc>
                <a:spcPct val="150000"/>
              </a:lnSpc>
              <a:buSzPct val="100000"/>
              <a:buBlip>
                <a:blip r:embed="rId3"/>
              </a:buBlip>
            </a:pPr>
            <a:r>
              <a:rPr lang="zh-TW" altLang="en-US" sz="2400" b="1" dirty="0">
                <a:solidFill>
                  <a:schemeClr val="tx1">
                    <a:lumMod val="75000"/>
                    <a:lumOff val="25000"/>
                  </a:schemeClr>
                </a:solidFill>
                <a:latin typeface="微軟正黑體" panose="020B0604030504040204" pitchFamily="34" charset="-120"/>
                <a:ea typeface="微軟正黑體" panose="020B0604030504040204" pitchFamily="34" charset="-120"/>
              </a:rPr>
              <a:t>只要透過使用者與使用者、使用者與物或物與物之間在      達到多數決，即是所謂的無集中式管理的多數決機制</a:t>
            </a:r>
          </a:p>
        </p:txBody>
      </p:sp>
      <p:cxnSp>
        <p:nvCxnSpPr>
          <p:cNvPr id="26" name="直接连接符 33">
            <a:extLst>
              <a:ext uri="{FF2B5EF4-FFF2-40B4-BE49-F238E27FC236}">
                <a16:creationId xmlns:a16="http://schemas.microsoft.com/office/drawing/2014/main" id="{C3725E45-5458-4931-9D9A-B8C15AE6AC41}"/>
              </a:ext>
            </a:extLst>
          </p:cNvPr>
          <p:cNvCxnSpPr>
            <a:cxnSpLocks/>
          </p:cNvCxnSpPr>
          <p:nvPr/>
        </p:nvCxnSpPr>
        <p:spPr>
          <a:xfrm>
            <a:off x="1334185" y="1102164"/>
            <a:ext cx="10081960" cy="0"/>
          </a:xfrm>
          <a:prstGeom prst="line">
            <a:avLst/>
          </a:prstGeom>
          <a:ln w="190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12" name="文字方塊 11">
            <a:extLst>
              <a:ext uri="{FF2B5EF4-FFF2-40B4-BE49-F238E27FC236}">
                <a16:creationId xmlns:a16="http://schemas.microsoft.com/office/drawing/2014/main" id="{9FE02F65-A32E-4124-B1E6-8E45750976E4}"/>
              </a:ext>
            </a:extLst>
          </p:cNvPr>
          <p:cNvSpPr txBox="1"/>
          <p:nvPr/>
        </p:nvSpPr>
        <p:spPr>
          <a:xfrm>
            <a:off x="4487241" y="449166"/>
            <a:ext cx="3076483" cy="400110"/>
          </a:xfrm>
          <a:prstGeom prst="rect">
            <a:avLst/>
          </a:prstGeom>
          <a:noFill/>
        </p:spPr>
        <p:txBody>
          <a:bodyPr wrap="none" rtlCol="0">
            <a:spAutoFit/>
          </a:bodyPr>
          <a:lstStyle/>
          <a:p>
            <a:r>
              <a:rPr lang="en-US" altLang="zh-TW" sz="2000" b="1" dirty="0">
                <a:solidFill>
                  <a:schemeClr val="tx1">
                    <a:lumMod val="65000"/>
                    <a:lumOff val="35000"/>
                  </a:schemeClr>
                </a:solidFill>
                <a:latin typeface="微軟正黑體" panose="020B0604030504040204" pitchFamily="34" charset="-120"/>
                <a:ea typeface="微軟正黑體" panose="020B0604030504040204" pitchFamily="34" charset="-120"/>
                <a:cs typeface="Times New Roman" panose="02020603050405020304" pitchFamily="18" charset="0"/>
              </a:rPr>
              <a:t>-2</a:t>
            </a:r>
            <a:r>
              <a:rPr lang="zh-TW" altLang="en-US" sz="2000" b="1" dirty="0">
                <a:solidFill>
                  <a:schemeClr val="tx1">
                    <a:lumMod val="65000"/>
                    <a:lumOff val="35000"/>
                  </a:schemeClr>
                </a:solidFill>
                <a:latin typeface="微軟正黑體" panose="020B0604030504040204" pitchFamily="34" charset="-120"/>
                <a:ea typeface="微軟正黑體" panose="020B0604030504040204" pitchFamily="34" charset="-120"/>
                <a:cs typeface="Times New Roman" panose="02020603050405020304" pitchFamily="18" charset="0"/>
              </a:rPr>
              <a:t> 區塊鏈技術之基本要素</a:t>
            </a:r>
          </a:p>
        </p:txBody>
      </p:sp>
      <p:pic>
        <p:nvPicPr>
          <p:cNvPr id="4" name="圖片 3">
            <a:extLst>
              <a:ext uri="{FF2B5EF4-FFF2-40B4-BE49-F238E27FC236}">
                <a16:creationId xmlns:a16="http://schemas.microsoft.com/office/drawing/2014/main" id="{12A9E2CF-C0CE-45C1-8889-F9B4235ACCBA}"/>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705436" y="4388498"/>
            <a:ext cx="2218710" cy="2218710"/>
          </a:xfrm>
          <a:prstGeom prst="rect">
            <a:avLst/>
          </a:prstGeom>
        </p:spPr>
      </p:pic>
    </p:spTree>
    <p:extLst>
      <p:ext uri="{BB962C8B-B14F-4D97-AF65-F5344CB8AC3E}">
        <p14:creationId xmlns:p14="http://schemas.microsoft.com/office/powerpoint/2010/main" val="1909757893"/>
      </p:ext>
    </p:extLst>
  </p:cSld>
  <p:clrMapOvr>
    <a:masterClrMapping/>
  </p:clrMapOvr>
  <mc:AlternateContent xmlns:mc="http://schemas.openxmlformats.org/markup-compatibility/2006">
    <mc:Choice xmlns:p14="http://schemas.microsoft.com/office/powerpoint/2010/main" Requires="p14">
      <p:transition spd="slow" p14:dur="800">
        <p14:flythrough/>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6" presetClass="entr" presetSubtype="16" fill="hold" grpId="0" nodeType="after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circle(in)">
                                      <p:cBhvr>
                                        <p:cTn id="7" dur="2000"/>
                                        <p:tgtEl>
                                          <p:spTgt spid="9"/>
                                        </p:tgtEl>
                                      </p:cBhvr>
                                    </p:animEffect>
                                  </p:childTnLst>
                                </p:cTn>
                              </p:par>
                            </p:childTnLst>
                          </p:cTn>
                        </p:par>
                        <p:par>
                          <p:cTn id="8" fill="hold">
                            <p:stCondLst>
                              <p:cond delay="2000"/>
                            </p:stCondLst>
                            <p:childTnLst>
                              <p:par>
                                <p:cTn id="9" presetID="14" presetClass="entr" presetSubtype="10" fill="hold" grpId="0" nodeType="afterEffect">
                                  <p:stCondLst>
                                    <p:cond delay="0"/>
                                  </p:stCondLst>
                                  <p:childTnLst>
                                    <p:set>
                                      <p:cBhvr>
                                        <p:cTn id="10" dur="1" fill="hold">
                                          <p:stCondLst>
                                            <p:cond delay="0"/>
                                          </p:stCondLst>
                                        </p:cTn>
                                        <p:tgtEl>
                                          <p:spTgt spid="12"/>
                                        </p:tgtEl>
                                        <p:attrNameLst>
                                          <p:attrName>style.visibility</p:attrName>
                                        </p:attrNameLst>
                                      </p:cBhvr>
                                      <p:to>
                                        <p:strVal val="visible"/>
                                      </p:to>
                                    </p:set>
                                    <p:animEffect transition="in" filter="randombar(horizontal)">
                                      <p:cBhvr>
                                        <p:cTn id="11" dur="500"/>
                                        <p:tgtEl>
                                          <p:spTgt spid="12"/>
                                        </p:tgtEl>
                                      </p:cBhvr>
                                    </p:animEffect>
                                  </p:childTnLst>
                                </p:cTn>
                              </p:par>
                            </p:childTnLst>
                          </p:cTn>
                        </p:par>
                        <p:par>
                          <p:cTn id="12" fill="hold">
                            <p:stCondLst>
                              <p:cond delay="2500"/>
                            </p:stCondLst>
                            <p:childTnLst>
                              <p:par>
                                <p:cTn id="13" presetID="2" presetClass="entr" presetSubtype="8" fill="hold" nodeType="afterEffect">
                                  <p:stCondLst>
                                    <p:cond delay="0"/>
                                  </p:stCondLst>
                                  <p:childTnLst>
                                    <p:set>
                                      <p:cBhvr>
                                        <p:cTn id="14" dur="1" fill="hold">
                                          <p:stCondLst>
                                            <p:cond delay="0"/>
                                          </p:stCondLst>
                                        </p:cTn>
                                        <p:tgtEl>
                                          <p:spTgt spid="26"/>
                                        </p:tgtEl>
                                        <p:attrNameLst>
                                          <p:attrName>style.visibility</p:attrName>
                                        </p:attrNameLst>
                                      </p:cBhvr>
                                      <p:to>
                                        <p:strVal val="visible"/>
                                      </p:to>
                                    </p:set>
                                    <p:anim calcmode="lin" valueType="num">
                                      <p:cBhvr additive="base">
                                        <p:cTn id="15" dur="500" fill="hold"/>
                                        <p:tgtEl>
                                          <p:spTgt spid="26"/>
                                        </p:tgtEl>
                                        <p:attrNameLst>
                                          <p:attrName>ppt_x</p:attrName>
                                        </p:attrNameLst>
                                      </p:cBhvr>
                                      <p:tavLst>
                                        <p:tav tm="0">
                                          <p:val>
                                            <p:strVal val="0-#ppt_w/2"/>
                                          </p:val>
                                        </p:tav>
                                        <p:tav tm="100000">
                                          <p:val>
                                            <p:strVal val="#ppt_x"/>
                                          </p:val>
                                        </p:tav>
                                      </p:tavLst>
                                    </p:anim>
                                    <p:anim calcmode="lin" valueType="num">
                                      <p:cBhvr additive="base">
                                        <p:cTn id="16" dur="500" fill="hold"/>
                                        <p:tgtEl>
                                          <p:spTgt spid="26"/>
                                        </p:tgtEl>
                                        <p:attrNameLst>
                                          <p:attrName>ppt_y</p:attrName>
                                        </p:attrNameLst>
                                      </p:cBhvr>
                                      <p:tavLst>
                                        <p:tav tm="0">
                                          <p:val>
                                            <p:strVal val="#ppt_y"/>
                                          </p:val>
                                        </p:tav>
                                        <p:tav tm="100000">
                                          <p:val>
                                            <p:strVal val="#ppt_y"/>
                                          </p:val>
                                        </p:tav>
                                      </p:tavLst>
                                    </p:anim>
                                  </p:childTnLst>
                                </p:cTn>
                              </p:par>
                            </p:childTnLst>
                          </p:cTn>
                        </p:par>
                        <p:par>
                          <p:cTn id="17" fill="hold">
                            <p:stCondLst>
                              <p:cond delay="3000"/>
                            </p:stCondLst>
                            <p:childTnLst>
                              <p:par>
                                <p:cTn id="18" presetID="42" presetClass="entr" presetSubtype="0" fill="hold" grpId="0" nodeType="afterEffect">
                                  <p:stCondLst>
                                    <p:cond delay="0"/>
                                  </p:stCondLst>
                                  <p:childTnLst>
                                    <p:set>
                                      <p:cBhvr>
                                        <p:cTn id="19" dur="1" fill="hold">
                                          <p:stCondLst>
                                            <p:cond delay="0"/>
                                          </p:stCondLst>
                                        </p:cTn>
                                        <p:tgtEl>
                                          <p:spTgt spid="2"/>
                                        </p:tgtEl>
                                        <p:attrNameLst>
                                          <p:attrName>style.visibility</p:attrName>
                                        </p:attrNameLst>
                                      </p:cBhvr>
                                      <p:to>
                                        <p:strVal val="visible"/>
                                      </p:to>
                                    </p:set>
                                    <p:animEffect transition="in" filter="fade">
                                      <p:cBhvr>
                                        <p:cTn id="20" dur="1000"/>
                                        <p:tgtEl>
                                          <p:spTgt spid="2"/>
                                        </p:tgtEl>
                                      </p:cBhvr>
                                    </p:animEffect>
                                    <p:anim calcmode="lin" valueType="num">
                                      <p:cBhvr>
                                        <p:cTn id="21" dur="1000" fill="hold"/>
                                        <p:tgtEl>
                                          <p:spTgt spid="2"/>
                                        </p:tgtEl>
                                        <p:attrNameLst>
                                          <p:attrName>ppt_x</p:attrName>
                                        </p:attrNameLst>
                                      </p:cBhvr>
                                      <p:tavLst>
                                        <p:tav tm="0">
                                          <p:val>
                                            <p:strVal val="#ppt_x"/>
                                          </p:val>
                                        </p:tav>
                                        <p:tav tm="100000">
                                          <p:val>
                                            <p:strVal val="#ppt_x"/>
                                          </p:val>
                                        </p:tav>
                                      </p:tavLst>
                                    </p:anim>
                                    <p:anim calcmode="lin" valueType="num">
                                      <p:cBhvr>
                                        <p:cTn id="22" dur="1000" fill="hold"/>
                                        <p:tgtEl>
                                          <p:spTgt spid="2"/>
                                        </p:tgtEl>
                                        <p:attrNameLst>
                                          <p:attrName>ppt_y</p:attrName>
                                        </p:attrNameLst>
                                      </p:cBhvr>
                                      <p:tavLst>
                                        <p:tav tm="0">
                                          <p:val>
                                            <p:strVal val="#ppt_y+.1"/>
                                          </p:val>
                                        </p:tav>
                                        <p:tav tm="100000">
                                          <p:val>
                                            <p:strVal val="#ppt_y"/>
                                          </p:val>
                                        </p:tav>
                                      </p:tavLst>
                                    </p:anim>
                                  </p:childTnLst>
                                </p:cTn>
                              </p:par>
                            </p:childTnLst>
                          </p:cTn>
                        </p:par>
                        <p:par>
                          <p:cTn id="23" fill="hold">
                            <p:stCondLst>
                              <p:cond delay="4000"/>
                            </p:stCondLst>
                            <p:childTnLst>
                              <p:par>
                                <p:cTn id="24" presetID="10" presetClass="entr" presetSubtype="0" fill="hold" nodeType="afterEffect">
                                  <p:stCondLst>
                                    <p:cond delay="0"/>
                                  </p:stCondLst>
                                  <p:childTnLst>
                                    <p:set>
                                      <p:cBhvr>
                                        <p:cTn id="25" dur="1" fill="hold">
                                          <p:stCondLst>
                                            <p:cond delay="0"/>
                                          </p:stCondLst>
                                        </p:cTn>
                                        <p:tgtEl>
                                          <p:spTgt spid="4"/>
                                        </p:tgtEl>
                                        <p:attrNameLst>
                                          <p:attrName>style.visibility</p:attrName>
                                        </p:attrNameLst>
                                      </p:cBhvr>
                                      <p:to>
                                        <p:strVal val="visible"/>
                                      </p:to>
                                    </p:set>
                                    <p:animEffect transition="in" filter="fade">
                                      <p:cBhvr>
                                        <p:cTn id="26"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2" grpId="0"/>
      <p:bldP spid="12" grpId="0"/>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图片 42">
            <a:extLst>
              <a:ext uri="{FF2B5EF4-FFF2-40B4-BE49-F238E27FC236}">
                <a16:creationId xmlns:a16="http://schemas.microsoft.com/office/drawing/2014/main" id="{C8D97DA4-6242-4E73-AEFC-457D04FDC65B}"/>
              </a:ext>
            </a:extLst>
          </p:cNvPr>
          <p:cNvPicPr>
            <a:picLocks noChangeAspect="1"/>
          </p:cNvPicPr>
          <p:nvPr/>
        </p:nvPicPr>
        <p:blipFill>
          <a:blip r:embed="rId3"/>
          <a:stretch>
            <a:fillRect/>
          </a:stretch>
        </p:blipFill>
        <p:spPr>
          <a:xfrm rot="16200000">
            <a:off x="145169" y="-145167"/>
            <a:ext cx="1268414" cy="1558750"/>
          </a:xfrm>
          <a:prstGeom prst="rect">
            <a:avLst/>
          </a:prstGeom>
        </p:spPr>
      </p:pic>
      <p:sp>
        <p:nvSpPr>
          <p:cNvPr id="6" name="文字方塊 5">
            <a:extLst>
              <a:ext uri="{FF2B5EF4-FFF2-40B4-BE49-F238E27FC236}">
                <a16:creationId xmlns:a16="http://schemas.microsoft.com/office/drawing/2014/main" id="{8A30B01A-3198-4955-A208-0E3D9EB60397}"/>
              </a:ext>
            </a:extLst>
          </p:cNvPr>
          <p:cNvSpPr txBox="1"/>
          <p:nvPr/>
        </p:nvSpPr>
        <p:spPr>
          <a:xfrm>
            <a:off x="1558751" y="6596390"/>
            <a:ext cx="4217821" cy="261610"/>
          </a:xfrm>
          <a:prstGeom prst="rect">
            <a:avLst/>
          </a:prstGeom>
          <a:noFill/>
        </p:spPr>
        <p:txBody>
          <a:bodyPr wrap="none" rtlCol="0">
            <a:spAutoFit/>
          </a:bodyPr>
          <a:lstStyle/>
          <a:p>
            <a:r>
              <a:rPr lang="zh-TW" altLang="en-US" sz="1100" dirty="0">
                <a:latin typeface="Microsoft JhengHei Light" panose="020B0304030504040204" pitchFamily="34" charset="-120"/>
                <a:ea typeface="Microsoft JhengHei Light" panose="020B0304030504040204" pitchFamily="34" charset="-120"/>
              </a:rPr>
              <a:t>區塊鏈商業應用概論 實例與分析／新陸書局股份有限公司 發行</a:t>
            </a:r>
          </a:p>
        </p:txBody>
      </p:sp>
      <p:sp>
        <p:nvSpPr>
          <p:cNvPr id="9" name="標題 1">
            <a:extLst>
              <a:ext uri="{FF2B5EF4-FFF2-40B4-BE49-F238E27FC236}">
                <a16:creationId xmlns:a16="http://schemas.microsoft.com/office/drawing/2014/main" id="{475DFFF1-7C37-4CBE-ACFC-3F348BCD20CC}"/>
              </a:ext>
            </a:extLst>
          </p:cNvPr>
          <p:cNvSpPr txBox="1">
            <a:spLocks/>
          </p:cNvSpPr>
          <p:nvPr/>
        </p:nvSpPr>
        <p:spPr>
          <a:xfrm>
            <a:off x="1231956" y="393820"/>
            <a:ext cx="3643527" cy="874595"/>
          </a:xfrm>
          <a:prstGeom prst="rect">
            <a:avLst/>
          </a:prstGeom>
        </p:spPr>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altLang="zh-TW" sz="2400" b="1" dirty="0">
                <a:solidFill>
                  <a:srgbClr val="E06741"/>
                </a:solidFill>
              </a:rPr>
              <a:t>2-2 </a:t>
            </a:r>
            <a:r>
              <a:rPr lang="zh-TW" altLang="en-US" sz="2400" b="1" dirty="0">
                <a:solidFill>
                  <a:srgbClr val="E06741"/>
                </a:solidFill>
              </a:rPr>
              <a:t>區塊鏈技術發展</a:t>
            </a:r>
          </a:p>
          <a:p>
            <a:endParaRPr lang="zh-TW" altLang="en-US" sz="2400" dirty="0">
              <a:solidFill>
                <a:srgbClr val="E06741"/>
              </a:solidFill>
              <a:latin typeface="標楷體" panose="03000509000000000000" pitchFamily="65" charset="-120"/>
              <a:ea typeface="標楷體" panose="03000509000000000000" pitchFamily="65" charset="-120"/>
              <a:cs typeface="Times New Roman" panose="02020603050405020304" pitchFamily="18" charset="0"/>
            </a:endParaRPr>
          </a:p>
        </p:txBody>
      </p:sp>
      <p:sp>
        <p:nvSpPr>
          <p:cNvPr id="2" name="文字方塊 1">
            <a:extLst>
              <a:ext uri="{FF2B5EF4-FFF2-40B4-BE49-F238E27FC236}">
                <a16:creationId xmlns:a16="http://schemas.microsoft.com/office/drawing/2014/main" id="{D6D66D7E-58A1-40BE-8070-FA1C3AF22B14}"/>
              </a:ext>
            </a:extLst>
          </p:cNvPr>
          <p:cNvSpPr txBox="1"/>
          <p:nvPr/>
        </p:nvSpPr>
        <p:spPr>
          <a:xfrm>
            <a:off x="1163089" y="1111480"/>
            <a:ext cx="10460650" cy="578492"/>
          </a:xfrm>
          <a:prstGeom prst="rect">
            <a:avLst/>
          </a:prstGeom>
          <a:noFill/>
        </p:spPr>
        <p:txBody>
          <a:bodyPr wrap="square" rtlCol="0">
            <a:spAutoFit/>
          </a:bodyPr>
          <a:lstStyle/>
          <a:p>
            <a:pPr lvl="1">
              <a:lnSpc>
                <a:spcPct val="150000"/>
              </a:lnSpc>
              <a:buSzPct val="100000"/>
            </a:pPr>
            <a:r>
              <a:rPr lang="zh-TW" altLang="en-US" sz="2400" b="1" dirty="0">
                <a:solidFill>
                  <a:schemeClr val="tx1">
                    <a:lumMod val="75000"/>
                    <a:lumOff val="25000"/>
                  </a:schemeClr>
                </a:solidFill>
                <a:latin typeface="微軟正黑體" panose="020B0604030504040204" pitchFamily="34" charset="-120"/>
                <a:ea typeface="微軟正黑體" panose="020B0604030504040204" pitchFamily="34" charset="-120"/>
              </a:rPr>
              <a:t>多數決機制的概念來自於「拜占庭將軍問題」</a:t>
            </a:r>
            <a:endParaRPr lang="en-US" altLang="zh-TW" sz="2400" b="1" dirty="0">
              <a:solidFill>
                <a:schemeClr val="tx1">
                  <a:lumMod val="75000"/>
                  <a:lumOff val="25000"/>
                </a:schemeClr>
              </a:solidFill>
              <a:latin typeface="微軟正黑體" panose="020B0604030504040204" pitchFamily="34" charset="-120"/>
              <a:ea typeface="微軟正黑體" panose="020B0604030504040204" pitchFamily="34" charset="-120"/>
            </a:endParaRPr>
          </a:p>
        </p:txBody>
      </p:sp>
      <p:cxnSp>
        <p:nvCxnSpPr>
          <p:cNvPr id="26" name="直接连接符 33">
            <a:extLst>
              <a:ext uri="{FF2B5EF4-FFF2-40B4-BE49-F238E27FC236}">
                <a16:creationId xmlns:a16="http://schemas.microsoft.com/office/drawing/2014/main" id="{C3725E45-5458-4931-9D9A-B8C15AE6AC41}"/>
              </a:ext>
            </a:extLst>
          </p:cNvPr>
          <p:cNvCxnSpPr>
            <a:cxnSpLocks/>
          </p:cNvCxnSpPr>
          <p:nvPr/>
        </p:nvCxnSpPr>
        <p:spPr>
          <a:xfrm>
            <a:off x="1334185" y="1102164"/>
            <a:ext cx="10081960" cy="0"/>
          </a:xfrm>
          <a:prstGeom prst="line">
            <a:avLst/>
          </a:prstGeom>
          <a:ln w="190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12" name="文字方塊 11">
            <a:extLst>
              <a:ext uri="{FF2B5EF4-FFF2-40B4-BE49-F238E27FC236}">
                <a16:creationId xmlns:a16="http://schemas.microsoft.com/office/drawing/2014/main" id="{9FE02F65-A32E-4124-B1E6-8E45750976E4}"/>
              </a:ext>
            </a:extLst>
          </p:cNvPr>
          <p:cNvSpPr txBox="1"/>
          <p:nvPr/>
        </p:nvSpPr>
        <p:spPr>
          <a:xfrm>
            <a:off x="4487241" y="449166"/>
            <a:ext cx="3076483" cy="400110"/>
          </a:xfrm>
          <a:prstGeom prst="rect">
            <a:avLst/>
          </a:prstGeom>
          <a:noFill/>
        </p:spPr>
        <p:txBody>
          <a:bodyPr wrap="none" rtlCol="0">
            <a:spAutoFit/>
          </a:bodyPr>
          <a:lstStyle/>
          <a:p>
            <a:r>
              <a:rPr lang="en-US" altLang="zh-TW" sz="2000" b="1" dirty="0">
                <a:solidFill>
                  <a:schemeClr val="tx1">
                    <a:lumMod val="65000"/>
                    <a:lumOff val="35000"/>
                  </a:schemeClr>
                </a:solidFill>
                <a:latin typeface="微軟正黑體" panose="020B0604030504040204" pitchFamily="34" charset="-120"/>
                <a:ea typeface="微軟正黑體" panose="020B0604030504040204" pitchFamily="34" charset="-120"/>
                <a:cs typeface="Times New Roman" panose="02020603050405020304" pitchFamily="18" charset="0"/>
              </a:rPr>
              <a:t>-2</a:t>
            </a:r>
            <a:r>
              <a:rPr lang="zh-TW" altLang="en-US" sz="2000" b="1" dirty="0">
                <a:solidFill>
                  <a:schemeClr val="tx1">
                    <a:lumMod val="65000"/>
                    <a:lumOff val="35000"/>
                  </a:schemeClr>
                </a:solidFill>
                <a:latin typeface="微軟正黑體" panose="020B0604030504040204" pitchFamily="34" charset="-120"/>
                <a:ea typeface="微軟正黑體" panose="020B0604030504040204" pitchFamily="34" charset="-120"/>
                <a:cs typeface="Times New Roman" panose="02020603050405020304" pitchFamily="18" charset="0"/>
              </a:rPr>
              <a:t> 區塊鏈技術之基本要素</a:t>
            </a:r>
          </a:p>
        </p:txBody>
      </p:sp>
      <p:grpSp>
        <p:nvGrpSpPr>
          <p:cNvPr id="10" name="群組 9">
            <a:extLst>
              <a:ext uri="{FF2B5EF4-FFF2-40B4-BE49-F238E27FC236}">
                <a16:creationId xmlns:a16="http://schemas.microsoft.com/office/drawing/2014/main" id="{749665EC-BD08-4A77-9AFF-50F85396122B}"/>
              </a:ext>
            </a:extLst>
          </p:cNvPr>
          <p:cNvGrpSpPr/>
          <p:nvPr/>
        </p:nvGrpSpPr>
        <p:grpSpPr>
          <a:xfrm>
            <a:off x="2676850" y="1847772"/>
            <a:ext cx="7396630" cy="4632602"/>
            <a:chOff x="827527" y="563642"/>
            <a:chExt cx="9750158" cy="6106649"/>
          </a:xfrm>
        </p:grpSpPr>
        <p:pic>
          <p:nvPicPr>
            <p:cNvPr id="11" name="圖片 10">
              <a:extLst>
                <a:ext uri="{FF2B5EF4-FFF2-40B4-BE49-F238E27FC236}">
                  <a16:creationId xmlns:a16="http://schemas.microsoft.com/office/drawing/2014/main" id="{481E4091-6240-4800-AA47-AAAFAF3F4D14}"/>
                </a:ext>
              </a:extLst>
            </p:cNvPr>
            <p:cNvPicPr>
              <a:picLocks noChangeAspect="1"/>
            </p:cNvPicPr>
            <p:nvPr/>
          </p:nvPicPr>
          <p:blipFill>
            <a:blip r:embed="rId4">
              <a:clrChange>
                <a:clrFrom>
                  <a:srgbClr val="FFFFFF"/>
                </a:clrFrom>
                <a:clrTo>
                  <a:srgbClr val="FFFFFF">
                    <a:alpha val="0"/>
                  </a:srgbClr>
                </a:clrTo>
              </a:clrChange>
            </a:blip>
            <a:stretch>
              <a:fillRect/>
            </a:stretch>
          </p:blipFill>
          <p:spPr>
            <a:xfrm>
              <a:off x="3773863" y="1359649"/>
              <a:ext cx="3905597" cy="3120454"/>
            </a:xfrm>
            <a:prstGeom prst="rect">
              <a:avLst/>
            </a:prstGeom>
          </p:spPr>
        </p:pic>
        <p:grpSp>
          <p:nvGrpSpPr>
            <p:cNvPr id="13" name="群組 12">
              <a:extLst>
                <a:ext uri="{FF2B5EF4-FFF2-40B4-BE49-F238E27FC236}">
                  <a16:creationId xmlns:a16="http://schemas.microsoft.com/office/drawing/2014/main" id="{A719BB6C-731A-4BB8-919D-718DF9779ECD}"/>
                </a:ext>
              </a:extLst>
            </p:cNvPr>
            <p:cNvGrpSpPr/>
            <p:nvPr/>
          </p:nvGrpSpPr>
          <p:grpSpPr>
            <a:xfrm>
              <a:off x="854954" y="563642"/>
              <a:ext cx="2300791" cy="2649149"/>
              <a:chOff x="8748407" y="741654"/>
              <a:chExt cx="2300791" cy="2649149"/>
            </a:xfrm>
          </p:grpSpPr>
          <p:pic>
            <p:nvPicPr>
              <p:cNvPr id="34" name="圖片 33">
                <a:extLst>
                  <a:ext uri="{FF2B5EF4-FFF2-40B4-BE49-F238E27FC236}">
                    <a16:creationId xmlns:a16="http://schemas.microsoft.com/office/drawing/2014/main" id="{48C2209F-7D33-48DC-91FD-091CD945C8D0}"/>
                  </a:ext>
                </a:extLst>
              </p:cNvPr>
              <p:cNvPicPr>
                <a:picLocks noChangeAspect="1"/>
              </p:cNvPicPr>
              <p:nvPr/>
            </p:nvPicPr>
            <p:blipFill>
              <a:blip r:embed="rId5" cstate="print">
                <a:clrChange>
                  <a:clrFrom>
                    <a:srgbClr val="000000">
                      <a:alpha val="0"/>
                    </a:srgbClr>
                  </a:clrFrom>
                  <a:clrTo>
                    <a:srgbClr val="000000">
                      <a:alpha val="0"/>
                    </a:srgbClr>
                  </a:clrTo>
                </a:clrChange>
                <a:extLst>
                  <a:ext uri="{28A0092B-C50C-407E-A947-70E740481C1C}">
                    <a14:useLocalDpi xmlns:a14="http://schemas.microsoft.com/office/drawing/2010/main" val="0"/>
                  </a:ext>
                </a:extLst>
              </a:blip>
              <a:stretch>
                <a:fillRect/>
              </a:stretch>
            </p:blipFill>
            <p:spPr>
              <a:xfrm>
                <a:off x="8748407" y="1181699"/>
                <a:ext cx="1646746" cy="1929781"/>
              </a:xfrm>
              <a:prstGeom prst="rect">
                <a:avLst/>
              </a:prstGeom>
            </p:spPr>
          </p:pic>
          <p:sp>
            <p:nvSpPr>
              <p:cNvPr id="35" name="文字方塊 34">
                <a:extLst>
                  <a:ext uri="{FF2B5EF4-FFF2-40B4-BE49-F238E27FC236}">
                    <a16:creationId xmlns:a16="http://schemas.microsoft.com/office/drawing/2014/main" id="{A3B50720-3A98-4175-8433-6397A01EF320}"/>
                  </a:ext>
                </a:extLst>
              </p:cNvPr>
              <p:cNvSpPr txBox="1"/>
              <p:nvPr/>
            </p:nvSpPr>
            <p:spPr>
              <a:xfrm>
                <a:off x="8876886" y="741654"/>
                <a:ext cx="2016224" cy="486850"/>
              </a:xfrm>
              <a:prstGeom prst="rect">
                <a:avLst/>
              </a:prstGeom>
              <a:noFill/>
            </p:spPr>
            <p:txBody>
              <a:bodyPr wrap="square" rtlCol="0">
                <a:spAutoFit/>
              </a:bodyPr>
              <a:lstStyle/>
              <a:p>
                <a:r>
                  <a:rPr lang="zh-TW" altLang="en-US" b="1" dirty="0">
                    <a:latin typeface="微軟正黑體" panose="020B0604030504040204" pitchFamily="34" charset="-120"/>
                    <a:ea typeface="微軟正黑體" panose="020B0604030504040204" pitchFamily="34" charset="-120"/>
                  </a:rPr>
                  <a:t>拜占庭軍隊 </a:t>
                </a:r>
                <a:r>
                  <a:rPr lang="en-US" altLang="zh-TW" b="1" dirty="0">
                    <a:latin typeface="微軟正黑體" panose="020B0604030504040204" pitchFamily="34" charset="-120"/>
                    <a:ea typeface="微軟正黑體" panose="020B0604030504040204" pitchFamily="34" charset="-120"/>
                  </a:rPr>
                  <a:t>1</a:t>
                </a:r>
                <a:r>
                  <a:rPr lang="zh-TW" altLang="en-US" b="1" dirty="0">
                    <a:latin typeface="微軟正黑體" panose="020B0604030504040204" pitchFamily="34" charset="-120"/>
                    <a:ea typeface="微軟正黑體" panose="020B0604030504040204" pitchFamily="34" charset="-120"/>
                  </a:rPr>
                  <a:t> </a:t>
                </a:r>
                <a:endParaRPr lang="zh-TW" altLang="en-US" sz="1400" dirty="0">
                  <a:latin typeface="微軟正黑體" panose="020B0604030504040204" pitchFamily="34" charset="-120"/>
                  <a:ea typeface="微軟正黑體" panose="020B0604030504040204" pitchFamily="34" charset="-120"/>
                </a:endParaRPr>
              </a:p>
            </p:txBody>
          </p:sp>
          <p:pic>
            <p:nvPicPr>
              <p:cNvPr id="36" name="圖片 35">
                <a:extLst>
                  <a:ext uri="{FF2B5EF4-FFF2-40B4-BE49-F238E27FC236}">
                    <a16:creationId xmlns:a16="http://schemas.microsoft.com/office/drawing/2014/main" id="{BCEEA19B-1621-4F13-A3D9-1233A72861C6}"/>
                  </a:ext>
                </a:extLst>
              </p:cNvPr>
              <p:cNvPicPr>
                <a:picLocks noChangeAspect="1"/>
              </p:cNvPicPr>
              <p:nvPr/>
            </p:nvPicPr>
            <p:blipFill>
              <a:blip r:embed="rId6" cstate="print">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9261266" y="2146589"/>
                <a:ext cx="1787932" cy="1244214"/>
              </a:xfrm>
              <a:prstGeom prst="rect">
                <a:avLst/>
              </a:prstGeom>
            </p:spPr>
          </p:pic>
        </p:grpSp>
        <p:grpSp>
          <p:nvGrpSpPr>
            <p:cNvPr id="14" name="群組 13">
              <a:extLst>
                <a:ext uri="{FF2B5EF4-FFF2-40B4-BE49-F238E27FC236}">
                  <a16:creationId xmlns:a16="http://schemas.microsoft.com/office/drawing/2014/main" id="{D42BC742-0679-4705-BC41-2F64CE81CDA0}"/>
                </a:ext>
              </a:extLst>
            </p:cNvPr>
            <p:cNvGrpSpPr/>
            <p:nvPr/>
          </p:nvGrpSpPr>
          <p:grpSpPr>
            <a:xfrm>
              <a:off x="827527" y="3946848"/>
              <a:ext cx="2318705" cy="2723443"/>
              <a:chOff x="8748407" y="772644"/>
              <a:chExt cx="2318705" cy="2723443"/>
            </a:xfrm>
          </p:grpSpPr>
          <p:pic>
            <p:nvPicPr>
              <p:cNvPr id="31" name="圖片 30">
                <a:extLst>
                  <a:ext uri="{FF2B5EF4-FFF2-40B4-BE49-F238E27FC236}">
                    <a16:creationId xmlns:a16="http://schemas.microsoft.com/office/drawing/2014/main" id="{AD5B32AE-5F83-463D-8E5F-A2E31C897A7B}"/>
                  </a:ext>
                </a:extLst>
              </p:cNvPr>
              <p:cNvPicPr>
                <a:picLocks noChangeAspect="1"/>
              </p:cNvPicPr>
              <p:nvPr/>
            </p:nvPicPr>
            <p:blipFill>
              <a:blip r:embed="rId5" cstate="print">
                <a:clrChange>
                  <a:clrFrom>
                    <a:srgbClr val="000000">
                      <a:alpha val="0"/>
                    </a:srgbClr>
                  </a:clrFrom>
                  <a:clrTo>
                    <a:srgbClr val="000000">
                      <a:alpha val="0"/>
                    </a:srgbClr>
                  </a:clrTo>
                </a:clrChange>
                <a:extLst>
                  <a:ext uri="{28A0092B-C50C-407E-A947-70E740481C1C}">
                    <a14:useLocalDpi xmlns:a14="http://schemas.microsoft.com/office/drawing/2010/main" val="0"/>
                  </a:ext>
                </a:extLst>
              </a:blip>
              <a:stretch>
                <a:fillRect/>
              </a:stretch>
            </p:blipFill>
            <p:spPr>
              <a:xfrm>
                <a:off x="8748407" y="1181699"/>
                <a:ext cx="1646746" cy="1929781"/>
              </a:xfrm>
              <a:prstGeom prst="rect">
                <a:avLst/>
              </a:prstGeom>
            </p:spPr>
          </p:pic>
          <p:sp>
            <p:nvSpPr>
              <p:cNvPr id="32" name="文字方塊 31">
                <a:extLst>
                  <a:ext uri="{FF2B5EF4-FFF2-40B4-BE49-F238E27FC236}">
                    <a16:creationId xmlns:a16="http://schemas.microsoft.com/office/drawing/2014/main" id="{2BF1E795-3F1F-43DA-A3EF-01F84C65FCF0}"/>
                  </a:ext>
                </a:extLst>
              </p:cNvPr>
              <p:cNvSpPr txBox="1"/>
              <p:nvPr/>
            </p:nvSpPr>
            <p:spPr>
              <a:xfrm>
                <a:off x="8844154" y="772644"/>
                <a:ext cx="2016224" cy="486850"/>
              </a:xfrm>
              <a:prstGeom prst="rect">
                <a:avLst/>
              </a:prstGeom>
              <a:noFill/>
            </p:spPr>
            <p:txBody>
              <a:bodyPr wrap="square" rtlCol="0">
                <a:spAutoFit/>
              </a:bodyPr>
              <a:lstStyle/>
              <a:p>
                <a:r>
                  <a:rPr lang="zh-TW" altLang="en-US" b="1" dirty="0">
                    <a:latin typeface="微軟正黑體" panose="020B0604030504040204" pitchFamily="34" charset="-120"/>
                    <a:ea typeface="微軟正黑體" panose="020B0604030504040204" pitchFamily="34" charset="-120"/>
                  </a:rPr>
                  <a:t>拜占庭軍隊 </a:t>
                </a:r>
                <a:r>
                  <a:rPr lang="en-US" altLang="zh-TW" b="1" dirty="0">
                    <a:latin typeface="微軟正黑體" panose="020B0604030504040204" pitchFamily="34" charset="-120"/>
                    <a:ea typeface="微軟正黑體" panose="020B0604030504040204" pitchFamily="34" charset="-120"/>
                  </a:rPr>
                  <a:t>3</a:t>
                </a:r>
                <a:r>
                  <a:rPr lang="zh-TW" altLang="en-US" b="1" dirty="0">
                    <a:latin typeface="微軟正黑體" panose="020B0604030504040204" pitchFamily="34" charset="-120"/>
                    <a:ea typeface="微軟正黑體" panose="020B0604030504040204" pitchFamily="34" charset="-120"/>
                  </a:rPr>
                  <a:t> </a:t>
                </a:r>
                <a:endParaRPr lang="zh-TW" altLang="en-US" sz="1400" dirty="0">
                  <a:latin typeface="微軟正黑體" panose="020B0604030504040204" pitchFamily="34" charset="-120"/>
                  <a:ea typeface="微軟正黑體" panose="020B0604030504040204" pitchFamily="34" charset="-120"/>
                </a:endParaRPr>
              </a:p>
            </p:txBody>
          </p:sp>
          <p:pic>
            <p:nvPicPr>
              <p:cNvPr id="33" name="圖片 32">
                <a:extLst>
                  <a:ext uri="{FF2B5EF4-FFF2-40B4-BE49-F238E27FC236}">
                    <a16:creationId xmlns:a16="http://schemas.microsoft.com/office/drawing/2014/main" id="{5C03D9A5-90F0-4E9C-B89D-882EC1E271FA}"/>
                  </a:ext>
                </a:extLst>
              </p:cNvPr>
              <p:cNvPicPr>
                <a:picLocks noChangeAspect="1"/>
              </p:cNvPicPr>
              <p:nvPr/>
            </p:nvPicPr>
            <p:blipFill>
              <a:blip r:embed="rId6" cstate="print">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rot="21088938">
                <a:off x="9279180" y="2251873"/>
                <a:ext cx="1787932" cy="1244214"/>
              </a:xfrm>
              <a:prstGeom prst="rect">
                <a:avLst/>
              </a:prstGeom>
            </p:spPr>
          </p:pic>
        </p:grpSp>
        <p:grpSp>
          <p:nvGrpSpPr>
            <p:cNvPr id="15" name="群組 14">
              <a:extLst>
                <a:ext uri="{FF2B5EF4-FFF2-40B4-BE49-F238E27FC236}">
                  <a16:creationId xmlns:a16="http://schemas.microsoft.com/office/drawing/2014/main" id="{349249A9-AF9B-4AC3-B00F-468821C8B849}"/>
                </a:ext>
              </a:extLst>
            </p:cNvPr>
            <p:cNvGrpSpPr/>
            <p:nvPr/>
          </p:nvGrpSpPr>
          <p:grpSpPr>
            <a:xfrm>
              <a:off x="7636537" y="4137299"/>
              <a:ext cx="2354864" cy="2470585"/>
              <a:chOff x="8403415" y="720034"/>
              <a:chExt cx="2354864" cy="2470585"/>
            </a:xfrm>
          </p:grpSpPr>
          <p:pic>
            <p:nvPicPr>
              <p:cNvPr id="28" name="圖片 27">
                <a:extLst>
                  <a:ext uri="{FF2B5EF4-FFF2-40B4-BE49-F238E27FC236}">
                    <a16:creationId xmlns:a16="http://schemas.microsoft.com/office/drawing/2014/main" id="{44FCC5ED-0357-4856-9510-B4896ADC47E5}"/>
                  </a:ext>
                </a:extLst>
              </p:cNvPr>
              <p:cNvPicPr>
                <a:picLocks noChangeAspect="1"/>
              </p:cNvPicPr>
              <p:nvPr/>
            </p:nvPicPr>
            <p:blipFill>
              <a:blip r:embed="rId5" cstate="print">
                <a:clrChange>
                  <a:clrFrom>
                    <a:srgbClr val="000000">
                      <a:alpha val="0"/>
                    </a:srgbClr>
                  </a:clrFrom>
                  <a:clrTo>
                    <a:srgbClr val="000000">
                      <a:alpha val="0"/>
                    </a:srgbClr>
                  </a:clrTo>
                </a:clrChange>
                <a:extLst>
                  <a:ext uri="{28A0092B-C50C-407E-A947-70E740481C1C}">
                    <a14:useLocalDpi xmlns:a14="http://schemas.microsoft.com/office/drawing/2010/main" val="0"/>
                  </a:ext>
                </a:extLst>
              </a:blip>
              <a:stretch>
                <a:fillRect/>
              </a:stretch>
            </p:blipFill>
            <p:spPr>
              <a:xfrm>
                <a:off x="8748407" y="1181699"/>
                <a:ext cx="1646746" cy="1929781"/>
              </a:xfrm>
              <a:prstGeom prst="rect">
                <a:avLst/>
              </a:prstGeom>
            </p:spPr>
          </p:pic>
          <p:sp>
            <p:nvSpPr>
              <p:cNvPr id="29" name="文字方塊 28">
                <a:extLst>
                  <a:ext uri="{FF2B5EF4-FFF2-40B4-BE49-F238E27FC236}">
                    <a16:creationId xmlns:a16="http://schemas.microsoft.com/office/drawing/2014/main" id="{8E855E03-145F-45D8-A381-A20BE4F1D31B}"/>
                  </a:ext>
                </a:extLst>
              </p:cNvPr>
              <p:cNvSpPr txBox="1"/>
              <p:nvPr/>
            </p:nvSpPr>
            <p:spPr>
              <a:xfrm>
                <a:off x="8742055" y="720034"/>
                <a:ext cx="2016224" cy="486850"/>
              </a:xfrm>
              <a:prstGeom prst="rect">
                <a:avLst/>
              </a:prstGeom>
              <a:noFill/>
            </p:spPr>
            <p:txBody>
              <a:bodyPr wrap="square" rtlCol="0">
                <a:spAutoFit/>
              </a:bodyPr>
              <a:lstStyle/>
              <a:p>
                <a:r>
                  <a:rPr lang="zh-TW" altLang="en-US" b="1" dirty="0">
                    <a:latin typeface="微軟正黑體" panose="020B0604030504040204" pitchFamily="34" charset="-120"/>
                    <a:ea typeface="微軟正黑體" panose="020B0604030504040204" pitchFamily="34" charset="-120"/>
                  </a:rPr>
                  <a:t>拜占庭軍隊 </a:t>
                </a:r>
                <a:r>
                  <a:rPr lang="en-US" altLang="zh-TW" b="1" dirty="0">
                    <a:latin typeface="微軟正黑體" panose="020B0604030504040204" pitchFamily="34" charset="-120"/>
                    <a:ea typeface="微軟正黑體" panose="020B0604030504040204" pitchFamily="34" charset="-120"/>
                  </a:rPr>
                  <a:t>4</a:t>
                </a:r>
                <a:r>
                  <a:rPr lang="zh-TW" altLang="en-US" b="1" dirty="0">
                    <a:latin typeface="微軟正黑體" panose="020B0604030504040204" pitchFamily="34" charset="-120"/>
                    <a:ea typeface="微軟正黑體" panose="020B0604030504040204" pitchFamily="34" charset="-120"/>
                  </a:rPr>
                  <a:t> </a:t>
                </a:r>
                <a:endParaRPr lang="zh-TW" altLang="en-US" sz="1400" dirty="0">
                  <a:latin typeface="微軟正黑體" panose="020B0604030504040204" pitchFamily="34" charset="-120"/>
                  <a:ea typeface="微軟正黑體" panose="020B0604030504040204" pitchFamily="34" charset="-120"/>
                </a:endParaRPr>
              </a:p>
            </p:txBody>
          </p:sp>
          <p:pic>
            <p:nvPicPr>
              <p:cNvPr id="30" name="圖片 29">
                <a:extLst>
                  <a:ext uri="{FF2B5EF4-FFF2-40B4-BE49-F238E27FC236}">
                    <a16:creationId xmlns:a16="http://schemas.microsoft.com/office/drawing/2014/main" id="{341E084F-4546-4270-9FEF-36BDD2EA95F4}"/>
                  </a:ext>
                </a:extLst>
              </p:cNvPr>
              <p:cNvPicPr>
                <a:picLocks noChangeAspect="1"/>
              </p:cNvPicPr>
              <p:nvPr/>
            </p:nvPicPr>
            <p:blipFill>
              <a:blip r:embed="rId6" cstate="print">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8403415" y="1946405"/>
                <a:ext cx="1787932" cy="1244214"/>
              </a:xfrm>
              <a:prstGeom prst="rect">
                <a:avLst/>
              </a:prstGeom>
              <a:scene3d>
                <a:camera prst="orthographicFront">
                  <a:rot lat="0" lon="10799978" rev="0"/>
                </a:camera>
                <a:lightRig rig="threePt" dir="t"/>
              </a:scene3d>
            </p:spPr>
          </p:pic>
        </p:grpSp>
        <p:grpSp>
          <p:nvGrpSpPr>
            <p:cNvPr id="16" name="群組 15">
              <a:extLst>
                <a:ext uri="{FF2B5EF4-FFF2-40B4-BE49-F238E27FC236}">
                  <a16:creationId xmlns:a16="http://schemas.microsoft.com/office/drawing/2014/main" id="{031B5807-3217-4A1B-8775-5372D855DBD3}"/>
                </a:ext>
              </a:extLst>
            </p:cNvPr>
            <p:cNvGrpSpPr/>
            <p:nvPr/>
          </p:nvGrpSpPr>
          <p:grpSpPr>
            <a:xfrm>
              <a:off x="8513826" y="824498"/>
              <a:ext cx="2063859" cy="2342300"/>
              <a:chOff x="8748407" y="769180"/>
              <a:chExt cx="2063859" cy="2342300"/>
            </a:xfrm>
          </p:grpSpPr>
          <p:pic>
            <p:nvPicPr>
              <p:cNvPr id="25" name="圖片 24">
                <a:extLst>
                  <a:ext uri="{FF2B5EF4-FFF2-40B4-BE49-F238E27FC236}">
                    <a16:creationId xmlns:a16="http://schemas.microsoft.com/office/drawing/2014/main" id="{278C6ADB-B54B-47D8-AFFA-9C1F5FEB5C2E}"/>
                  </a:ext>
                </a:extLst>
              </p:cNvPr>
              <p:cNvPicPr>
                <a:picLocks noChangeAspect="1"/>
              </p:cNvPicPr>
              <p:nvPr/>
            </p:nvPicPr>
            <p:blipFill>
              <a:blip r:embed="rId5" cstate="print">
                <a:clrChange>
                  <a:clrFrom>
                    <a:srgbClr val="000000">
                      <a:alpha val="0"/>
                    </a:srgbClr>
                  </a:clrFrom>
                  <a:clrTo>
                    <a:srgbClr val="000000">
                      <a:alpha val="0"/>
                    </a:srgbClr>
                  </a:clrTo>
                </a:clrChange>
                <a:extLst>
                  <a:ext uri="{28A0092B-C50C-407E-A947-70E740481C1C}">
                    <a14:useLocalDpi xmlns:a14="http://schemas.microsoft.com/office/drawing/2010/main" val="0"/>
                  </a:ext>
                </a:extLst>
              </a:blip>
              <a:stretch>
                <a:fillRect/>
              </a:stretch>
            </p:blipFill>
            <p:spPr>
              <a:xfrm>
                <a:off x="8748407" y="1181699"/>
                <a:ext cx="1646746" cy="1929781"/>
              </a:xfrm>
              <a:prstGeom prst="rect">
                <a:avLst/>
              </a:prstGeom>
            </p:spPr>
          </p:pic>
          <p:sp>
            <p:nvSpPr>
              <p:cNvPr id="27" name="文字方塊 26">
                <a:extLst>
                  <a:ext uri="{FF2B5EF4-FFF2-40B4-BE49-F238E27FC236}">
                    <a16:creationId xmlns:a16="http://schemas.microsoft.com/office/drawing/2014/main" id="{54569C7F-22BC-45E8-8B33-4137938CA900}"/>
                  </a:ext>
                </a:extLst>
              </p:cNvPr>
              <p:cNvSpPr txBox="1"/>
              <p:nvPr/>
            </p:nvSpPr>
            <p:spPr>
              <a:xfrm>
                <a:off x="8796042" y="769180"/>
                <a:ext cx="2016224" cy="486850"/>
              </a:xfrm>
              <a:prstGeom prst="rect">
                <a:avLst/>
              </a:prstGeom>
              <a:noFill/>
            </p:spPr>
            <p:txBody>
              <a:bodyPr wrap="square" rtlCol="0">
                <a:spAutoFit/>
              </a:bodyPr>
              <a:lstStyle/>
              <a:p>
                <a:r>
                  <a:rPr lang="zh-TW" altLang="en-US" b="1" dirty="0">
                    <a:latin typeface="微軟正黑體" panose="020B0604030504040204" pitchFamily="34" charset="-120"/>
                    <a:ea typeface="微軟正黑體" panose="020B0604030504040204" pitchFamily="34" charset="-120"/>
                  </a:rPr>
                  <a:t>拜占庭軍隊 </a:t>
                </a:r>
                <a:r>
                  <a:rPr lang="en-US" altLang="zh-TW" b="1" dirty="0">
                    <a:latin typeface="微軟正黑體" panose="020B0604030504040204" pitchFamily="34" charset="-120"/>
                    <a:ea typeface="微軟正黑體" panose="020B0604030504040204" pitchFamily="34" charset="-120"/>
                  </a:rPr>
                  <a:t>2</a:t>
                </a:r>
                <a:r>
                  <a:rPr lang="zh-TW" altLang="en-US" b="1" dirty="0">
                    <a:latin typeface="微軟正黑體" panose="020B0604030504040204" pitchFamily="34" charset="-120"/>
                    <a:ea typeface="微軟正黑體" panose="020B0604030504040204" pitchFamily="34" charset="-120"/>
                  </a:rPr>
                  <a:t> </a:t>
                </a:r>
                <a:endParaRPr lang="zh-TW" altLang="en-US" sz="1400" dirty="0">
                  <a:latin typeface="微軟正黑體" panose="020B0604030504040204" pitchFamily="34" charset="-120"/>
                  <a:ea typeface="微軟正黑體" panose="020B0604030504040204" pitchFamily="34" charset="-120"/>
                </a:endParaRPr>
              </a:p>
            </p:txBody>
          </p:sp>
        </p:grpSp>
        <p:pic>
          <p:nvPicPr>
            <p:cNvPr id="17" name="圖片 16">
              <a:extLst>
                <a:ext uri="{FF2B5EF4-FFF2-40B4-BE49-F238E27FC236}">
                  <a16:creationId xmlns:a16="http://schemas.microsoft.com/office/drawing/2014/main" id="{888B8730-7135-46B4-954E-CC3CA155B5FF}"/>
                </a:ext>
              </a:extLst>
            </p:cNvPr>
            <p:cNvPicPr>
              <a:picLocks noChangeAspect="1"/>
            </p:cNvPicPr>
            <p:nvPr/>
          </p:nvPicPr>
          <p:blipFill>
            <a:blip r:embed="rId7">
              <a:clrChange>
                <a:clrFrom>
                  <a:srgbClr val="FFFFFF"/>
                </a:clrFrom>
                <a:clrTo>
                  <a:srgbClr val="FFFFFF">
                    <a:alpha val="0"/>
                  </a:srgbClr>
                </a:clrTo>
              </a:clrChange>
            </a:blip>
            <a:stretch>
              <a:fillRect/>
            </a:stretch>
          </p:blipFill>
          <p:spPr>
            <a:xfrm rot="1335810" flipH="1">
              <a:off x="3207986" y="1546965"/>
              <a:ext cx="362440" cy="625365"/>
            </a:xfrm>
            <a:prstGeom prst="rect">
              <a:avLst/>
            </a:prstGeom>
          </p:spPr>
        </p:pic>
        <p:pic>
          <p:nvPicPr>
            <p:cNvPr id="18" name="圖片 17">
              <a:extLst>
                <a:ext uri="{FF2B5EF4-FFF2-40B4-BE49-F238E27FC236}">
                  <a16:creationId xmlns:a16="http://schemas.microsoft.com/office/drawing/2014/main" id="{7FEB49EF-6870-426A-8F59-4B992F865784}"/>
                </a:ext>
              </a:extLst>
            </p:cNvPr>
            <p:cNvPicPr>
              <a:picLocks noChangeAspect="1"/>
            </p:cNvPicPr>
            <p:nvPr/>
          </p:nvPicPr>
          <p:blipFill>
            <a:blip r:embed="rId7">
              <a:clrChange>
                <a:clrFrom>
                  <a:srgbClr val="FFFFFF"/>
                </a:clrFrom>
                <a:clrTo>
                  <a:srgbClr val="FFFFFF">
                    <a:alpha val="0"/>
                  </a:srgbClr>
                </a:clrTo>
              </a:clrChange>
            </a:blip>
            <a:stretch>
              <a:fillRect/>
            </a:stretch>
          </p:blipFill>
          <p:spPr>
            <a:xfrm rot="21403922" flipH="1">
              <a:off x="6979283" y="3657636"/>
              <a:ext cx="428453" cy="739266"/>
            </a:xfrm>
            <a:prstGeom prst="rect">
              <a:avLst/>
            </a:prstGeom>
          </p:spPr>
        </p:pic>
        <p:pic>
          <p:nvPicPr>
            <p:cNvPr id="19" name="圖片 18">
              <a:extLst>
                <a:ext uri="{FF2B5EF4-FFF2-40B4-BE49-F238E27FC236}">
                  <a16:creationId xmlns:a16="http://schemas.microsoft.com/office/drawing/2014/main" id="{F8A39949-2C46-428F-8CDF-BAA555DAA58B}"/>
                </a:ext>
              </a:extLst>
            </p:cNvPr>
            <p:cNvPicPr>
              <a:picLocks noChangeAspect="1"/>
            </p:cNvPicPr>
            <p:nvPr/>
          </p:nvPicPr>
          <p:blipFill>
            <a:blip r:embed="rId8">
              <a:clrChange>
                <a:clrFrom>
                  <a:srgbClr val="FFFFFF"/>
                </a:clrFrom>
                <a:clrTo>
                  <a:srgbClr val="FFFFFF">
                    <a:alpha val="0"/>
                  </a:srgbClr>
                </a:clrTo>
              </a:clrChange>
            </a:blip>
            <a:stretch>
              <a:fillRect/>
            </a:stretch>
          </p:blipFill>
          <p:spPr>
            <a:xfrm rot="159040">
              <a:off x="5895115" y="3752878"/>
              <a:ext cx="523704" cy="768843"/>
            </a:xfrm>
            <a:prstGeom prst="rect">
              <a:avLst/>
            </a:prstGeom>
          </p:spPr>
        </p:pic>
        <p:pic>
          <p:nvPicPr>
            <p:cNvPr id="20" name="圖片 19">
              <a:extLst>
                <a:ext uri="{FF2B5EF4-FFF2-40B4-BE49-F238E27FC236}">
                  <a16:creationId xmlns:a16="http://schemas.microsoft.com/office/drawing/2014/main" id="{1B9F4825-B182-4B7A-A73D-D16BD7E3C45A}"/>
                </a:ext>
              </a:extLst>
            </p:cNvPr>
            <p:cNvPicPr>
              <a:picLocks noChangeAspect="1"/>
            </p:cNvPicPr>
            <p:nvPr/>
          </p:nvPicPr>
          <p:blipFill>
            <a:blip r:embed="rId7">
              <a:clrChange>
                <a:clrFrom>
                  <a:srgbClr val="FFFFFF"/>
                </a:clrFrom>
                <a:clrTo>
                  <a:srgbClr val="FFFFFF">
                    <a:alpha val="0"/>
                  </a:srgbClr>
                </a:clrTo>
              </a:clrChange>
            </a:blip>
            <a:stretch>
              <a:fillRect/>
            </a:stretch>
          </p:blipFill>
          <p:spPr>
            <a:xfrm rot="21403922" flipH="1">
              <a:off x="6310531" y="3088227"/>
              <a:ext cx="855054" cy="1475337"/>
            </a:xfrm>
            <a:prstGeom prst="rect">
              <a:avLst/>
            </a:prstGeom>
          </p:spPr>
        </p:pic>
        <p:pic>
          <p:nvPicPr>
            <p:cNvPr id="21" name="圖片 20">
              <a:extLst>
                <a:ext uri="{FF2B5EF4-FFF2-40B4-BE49-F238E27FC236}">
                  <a16:creationId xmlns:a16="http://schemas.microsoft.com/office/drawing/2014/main" id="{543C0EF5-CD96-4821-BB58-DDCD1C3D2908}"/>
                </a:ext>
              </a:extLst>
            </p:cNvPr>
            <p:cNvPicPr>
              <a:picLocks noChangeAspect="1"/>
            </p:cNvPicPr>
            <p:nvPr/>
          </p:nvPicPr>
          <p:blipFill>
            <a:blip r:embed="rId9">
              <a:clrChange>
                <a:clrFrom>
                  <a:srgbClr val="FFFFFF"/>
                </a:clrFrom>
                <a:clrTo>
                  <a:srgbClr val="FFFFFF">
                    <a:alpha val="0"/>
                  </a:srgbClr>
                </a:clrTo>
              </a:clrChange>
            </a:blip>
            <a:stretch>
              <a:fillRect/>
            </a:stretch>
          </p:blipFill>
          <p:spPr>
            <a:xfrm rot="2086442">
              <a:off x="7375018" y="4938453"/>
              <a:ext cx="409001" cy="682795"/>
            </a:xfrm>
            <a:prstGeom prst="rect">
              <a:avLst/>
            </a:prstGeom>
            <a:scene3d>
              <a:camera prst="orthographicFront">
                <a:rot lat="900000" lon="11699976" rev="3900000"/>
              </a:camera>
              <a:lightRig rig="threePt" dir="t"/>
            </a:scene3d>
          </p:spPr>
        </p:pic>
        <p:pic>
          <p:nvPicPr>
            <p:cNvPr id="22" name="圖片 21">
              <a:extLst>
                <a:ext uri="{FF2B5EF4-FFF2-40B4-BE49-F238E27FC236}">
                  <a16:creationId xmlns:a16="http://schemas.microsoft.com/office/drawing/2014/main" id="{9C3C9BF7-79E6-4963-BC2D-4D836021D149}"/>
                </a:ext>
              </a:extLst>
            </p:cNvPr>
            <p:cNvPicPr>
              <a:picLocks noChangeAspect="1"/>
            </p:cNvPicPr>
            <p:nvPr/>
          </p:nvPicPr>
          <p:blipFill>
            <a:blip r:embed="rId9">
              <a:clrChange>
                <a:clrFrom>
                  <a:srgbClr val="FFFFFF"/>
                </a:clrFrom>
                <a:clrTo>
                  <a:srgbClr val="FFFFFF">
                    <a:alpha val="0"/>
                  </a:srgbClr>
                </a:clrTo>
              </a:clrChange>
            </a:blip>
            <a:stretch>
              <a:fillRect/>
            </a:stretch>
          </p:blipFill>
          <p:spPr>
            <a:xfrm rot="2086442">
              <a:off x="3238401" y="4624117"/>
              <a:ext cx="409001" cy="911346"/>
            </a:xfrm>
            <a:prstGeom prst="rect">
              <a:avLst/>
            </a:prstGeom>
          </p:spPr>
        </p:pic>
        <p:pic>
          <p:nvPicPr>
            <p:cNvPr id="23" name="圖片 22">
              <a:extLst>
                <a:ext uri="{FF2B5EF4-FFF2-40B4-BE49-F238E27FC236}">
                  <a16:creationId xmlns:a16="http://schemas.microsoft.com/office/drawing/2014/main" id="{C021C1B8-EF96-4C96-8614-32B448F4096B}"/>
                </a:ext>
              </a:extLst>
            </p:cNvPr>
            <p:cNvPicPr>
              <a:picLocks noChangeAspect="1"/>
            </p:cNvPicPr>
            <p:nvPr/>
          </p:nvPicPr>
          <p:blipFill>
            <a:blip r:embed="rId6" cstate="print">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8262825" y="2401810"/>
              <a:ext cx="1787932" cy="1244214"/>
            </a:xfrm>
            <a:prstGeom prst="rect">
              <a:avLst/>
            </a:prstGeom>
            <a:scene3d>
              <a:camera prst="orthographicFront">
                <a:rot lat="0" lon="10799978" rev="0"/>
              </a:camera>
              <a:lightRig rig="threePt" dir="t"/>
            </a:scene3d>
          </p:spPr>
        </p:pic>
        <p:pic>
          <p:nvPicPr>
            <p:cNvPr id="24" name="圖片 23">
              <a:extLst>
                <a:ext uri="{FF2B5EF4-FFF2-40B4-BE49-F238E27FC236}">
                  <a16:creationId xmlns:a16="http://schemas.microsoft.com/office/drawing/2014/main" id="{DF803BFB-BD26-4898-80E4-B6FA9D32EBA1}"/>
                </a:ext>
              </a:extLst>
            </p:cNvPr>
            <p:cNvPicPr>
              <a:picLocks noChangeAspect="1"/>
            </p:cNvPicPr>
            <p:nvPr/>
          </p:nvPicPr>
          <p:blipFill>
            <a:blip r:embed="rId9">
              <a:clrChange>
                <a:clrFrom>
                  <a:srgbClr val="FFFFFF"/>
                </a:clrFrom>
                <a:clrTo>
                  <a:srgbClr val="FFFFFF">
                    <a:alpha val="0"/>
                  </a:srgbClr>
                </a:clrTo>
              </a:clrChange>
            </a:blip>
            <a:stretch>
              <a:fillRect/>
            </a:stretch>
          </p:blipFill>
          <p:spPr>
            <a:xfrm rot="2086442">
              <a:off x="7936132" y="1936524"/>
              <a:ext cx="409001" cy="682795"/>
            </a:xfrm>
            <a:prstGeom prst="rect">
              <a:avLst/>
            </a:prstGeom>
            <a:scene3d>
              <a:camera prst="orthographicFront">
                <a:rot lat="900000" lon="11699976" rev="3900000"/>
              </a:camera>
              <a:lightRig rig="threePt" dir="t"/>
            </a:scene3d>
          </p:spPr>
        </p:pic>
      </p:grpSp>
    </p:spTree>
    <p:extLst>
      <p:ext uri="{BB962C8B-B14F-4D97-AF65-F5344CB8AC3E}">
        <p14:creationId xmlns:p14="http://schemas.microsoft.com/office/powerpoint/2010/main" val="3521776735"/>
      </p:ext>
    </p:extLst>
  </p:cSld>
  <p:clrMapOvr>
    <a:masterClrMapping/>
  </p:clrMapOvr>
  <mc:AlternateContent xmlns:mc="http://schemas.openxmlformats.org/markup-compatibility/2006">
    <mc:Choice xmlns:p14="http://schemas.microsoft.com/office/powerpoint/2010/main" Requires="p14">
      <p:transition spd="slow" p14:dur="2000">
        <p14:ferris dir="l"/>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6" presetClass="entr" presetSubtype="16" fill="hold" grpId="0" nodeType="after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circle(in)">
                                      <p:cBhvr>
                                        <p:cTn id="7" dur="2000"/>
                                        <p:tgtEl>
                                          <p:spTgt spid="9"/>
                                        </p:tgtEl>
                                      </p:cBhvr>
                                    </p:animEffect>
                                  </p:childTnLst>
                                </p:cTn>
                              </p:par>
                            </p:childTnLst>
                          </p:cTn>
                        </p:par>
                        <p:par>
                          <p:cTn id="8" fill="hold">
                            <p:stCondLst>
                              <p:cond delay="2000"/>
                            </p:stCondLst>
                            <p:childTnLst>
                              <p:par>
                                <p:cTn id="9" presetID="14" presetClass="entr" presetSubtype="10" fill="hold" grpId="0" nodeType="afterEffect">
                                  <p:stCondLst>
                                    <p:cond delay="0"/>
                                  </p:stCondLst>
                                  <p:childTnLst>
                                    <p:set>
                                      <p:cBhvr>
                                        <p:cTn id="10" dur="1" fill="hold">
                                          <p:stCondLst>
                                            <p:cond delay="0"/>
                                          </p:stCondLst>
                                        </p:cTn>
                                        <p:tgtEl>
                                          <p:spTgt spid="12"/>
                                        </p:tgtEl>
                                        <p:attrNameLst>
                                          <p:attrName>style.visibility</p:attrName>
                                        </p:attrNameLst>
                                      </p:cBhvr>
                                      <p:to>
                                        <p:strVal val="visible"/>
                                      </p:to>
                                    </p:set>
                                    <p:animEffect transition="in" filter="randombar(horizontal)">
                                      <p:cBhvr>
                                        <p:cTn id="11" dur="500"/>
                                        <p:tgtEl>
                                          <p:spTgt spid="12"/>
                                        </p:tgtEl>
                                      </p:cBhvr>
                                    </p:animEffect>
                                  </p:childTnLst>
                                </p:cTn>
                              </p:par>
                            </p:childTnLst>
                          </p:cTn>
                        </p:par>
                        <p:par>
                          <p:cTn id="12" fill="hold">
                            <p:stCondLst>
                              <p:cond delay="2500"/>
                            </p:stCondLst>
                            <p:childTnLst>
                              <p:par>
                                <p:cTn id="13" presetID="2" presetClass="entr" presetSubtype="8" fill="hold" nodeType="afterEffect">
                                  <p:stCondLst>
                                    <p:cond delay="0"/>
                                  </p:stCondLst>
                                  <p:childTnLst>
                                    <p:set>
                                      <p:cBhvr>
                                        <p:cTn id="14" dur="1" fill="hold">
                                          <p:stCondLst>
                                            <p:cond delay="0"/>
                                          </p:stCondLst>
                                        </p:cTn>
                                        <p:tgtEl>
                                          <p:spTgt spid="26"/>
                                        </p:tgtEl>
                                        <p:attrNameLst>
                                          <p:attrName>style.visibility</p:attrName>
                                        </p:attrNameLst>
                                      </p:cBhvr>
                                      <p:to>
                                        <p:strVal val="visible"/>
                                      </p:to>
                                    </p:set>
                                    <p:anim calcmode="lin" valueType="num">
                                      <p:cBhvr additive="base">
                                        <p:cTn id="15" dur="500" fill="hold"/>
                                        <p:tgtEl>
                                          <p:spTgt spid="26"/>
                                        </p:tgtEl>
                                        <p:attrNameLst>
                                          <p:attrName>ppt_x</p:attrName>
                                        </p:attrNameLst>
                                      </p:cBhvr>
                                      <p:tavLst>
                                        <p:tav tm="0">
                                          <p:val>
                                            <p:strVal val="0-#ppt_w/2"/>
                                          </p:val>
                                        </p:tav>
                                        <p:tav tm="100000">
                                          <p:val>
                                            <p:strVal val="#ppt_x"/>
                                          </p:val>
                                        </p:tav>
                                      </p:tavLst>
                                    </p:anim>
                                    <p:anim calcmode="lin" valueType="num">
                                      <p:cBhvr additive="base">
                                        <p:cTn id="16" dur="500" fill="hold"/>
                                        <p:tgtEl>
                                          <p:spTgt spid="26"/>
                                        </p:tgtEl>
                                        <p:attrNameLst>
                                          <p:attrName>ppt_y</p:attrName>
                                        </p:attrNameLst>
                                      </p:cBhvr>
                                      <p:tavLst>
                                        <p:tav tm="0">
                                          <p:val>
                                            <p:strVal val="#ppt_y"/>
                                          </p:val>
                                        </p:tav>
                                        <p:tav tm="100000">
                                          <p:val>
                                            <p:strVal val="#ppt_y"/>
                                          </p:val>
                                        </p:tav>
                                      </p:tavLst>
                                    </p:anim>
                                  </p:childTnLst>
                                </p:cTn>
                              </p:par>
                            </p:childTnLst>
                          </p:cTn>
                        </p:par>
                        <p:par>
                          <p:cTn id="17" fill="hold">
                            <p:stCondLst>
                              <p:cond delay="3000"/>
                            </p:stCondLst>
                            <p:childTnLst>
                              <p:par>
                                <p:cTn id="18" presetID="16" presetClass="entr" presetSubtype="21" fill="hold" grpId="0" nodeType="afterEffect">
                                  <p:stCondLst>
                                    <p:cond delay="0"/>
                                  </p:stCondLst>
                                  <p:childTnLst>
                                    <p:set>
                                      <p:cBhvr>
                                        <p:cTn id="19" dur="1" fill="hold">
                                          <p:stCondLst>
                                            <p:cond delay="0"/>
                                          </p:stCondLst>
                                        </p:cTn>
                                        <p:tgtEl>
                                          <p:spTgt spid="2"/>
                                        </p:tgtEl>
                                        <p:attrNameLst>
                                          <p:attrName>style.visibility</p:attrName>
                                        </p:attrNameLst>
                                      </p:cBhvr>
                                      <p:to>
                                        <p:strVal val="visible"/>
                                      </p:to>
                                    </p:set>
                                    <p:animEffect transition="in" filter="barn(inVertical)">
                                      <p:cBhvr>
                                        <p:cTn id="20" dur="500"/>
                                        <p:tgtEl>
                                          <p:spTgt spid="2"/>
                                        </p:tgtEl>
                                      </p:cBhvr>
                                    </p:animEffect>
                                  </p:childTnLst>
                                </p:cTn>
                              </p:par>
                            </p:childTnLst>
                          </p:cTn>
                        </p:par>
                        <p:par>
                          <p:cTn id="21" fill="hold">
                            <p:stCondLst>
                              <p:cond delay="3500"/>
                            </p:stCondLst>
                            <p:childTnLst>
                              <p:par>
                                <p:cTn id="22" presetID="42" presetClass="entr" presetSubtype="0" fill="hold" nodeType="afterEffect">
                                  <p:stCondLst>
                                    <p:cond delay="0"/>
                                  </p:stCondLst>
                                  <p:childTnLst>
                                    <p:set>
                                      <p:cBhvr>
                                        <p:cTn id="23" dur="1" fill="hold">
                                          <p:stCondLst>
                                            <p:cond delay="0"/>
                                          </p:stCondLst>
                                        </p:cTn>
                                        <p:tgtEl>
                                          <p:spTgt spid="10"/>
                                        </p:tgtEl>
                                        <p:attrNameLst>
                                          <p:attrName>style.visibility</p:attrName>
                                        </p:attrNameLst>
                                      </p:cBhvr>
                                      <p:to>
                                        <p:strVal val="visible"/>
                                      </p:to>
                                    </p:set>
                                    <p:animEffect transition="in" filter="fade">
                                      <p:cBhvr>
                                        <p:cTn id="24" dur="1000"/>
                                        <p:tgtEl>
                                          <p:spTgt spid="10"/>
                                        </p:tgtEl>
                                      </p:cBhvr>
                                    </p:animEffect>
                                    <p:anim calcmode="lin" valueType="num">
                                      <p:cBhvr>
                                        <p:cTn id="25" dur="1000" fill="hold"/>
                                        <p:tgtEl>
                                          <p:spTgt spid="10"/>
                                        </p:tgtEl>
                                        <p:attrNameLst>
                                          <p:attrName>ppt_x</p:attrName>
                                        </p:attrNameLst>
                                      </p:cBhvr>
                                      <p:tavLst>
                                        <p:tav tm="0">
                                          <p:val>
                                            <p:strVal val="#ppt_x"/>
                                          </p:val>
                                        </p:tav>
                                        <p:tav tm="100000">
                                          <p:val>
                                            <p:strVal val="#ppt_x"/>
                                          </p:val>
                                        </p:tav>
                                      </p:tavLst>
                                    </p:anim>
                                    <p:anim calcmode="lin" valueType="num">
                                      <p:cBhvr>
                                        <p:cTn id="26" dur="1000" fill="hold"/>
                                        <p:tgtEl>
                                          <p:spTgt spid="10"/>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2" grpId="0"/>
      <p:bldP spid="12" grpId="0"/>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图片 42">
            <a:extLst>
              <a:ext uri="{FF2B5EF4-FFF2-40B4-BE49-F238E27FC236}">
                <a16:creationId xmlns:a16="http://schemas.microsoft.com/office/drawing/2014/main" id="{C8D97DA4-6242-4E73-AEFC-457D04FDC65B}"/>
              </a:ext>
            </a:extLst>
          </p:cNvPr>
          <p:cNvPicPr>
            <a:picLocks noChangeAspect="1"/>
          </p:cNvPicPr>
          <p:nvPr/>
        </p:nvPicPr>
        <p:blipFill>
          <a:blip r:embed="rId3"/>
          <a:stretch>
            <a:fillRect/>
          </a:stretch>
        </p:blipFill>
        <p:spPr>
          <a:xfrm rot="16200000">
            <a:off x="145169" y="-145167"/>
            <a:ext cx="1268414" cy="1558750"/>
          </a:xfrm>
          <a:prstGeom prst="rect">
            <a:avLst/>
          </a:prstGeom>
        </p:spPr>
      </p:pic>
      <p:sp>
        <p:nvSpPr>
          <p:cNvPr id="6" name="文字方塊 5">
            <a:extLst>
              <a:ext uri="{FF2B5EF4-FFF2-40B4-BE49-F238E27FC236}">
                <a16:creationId xmlns:a16="http://schemas.microsoft.com/office/drawing/2014/main" id="{8A30B01A-3198-4955-A208-0E3D9EB60397}"/>
              </a:ext>
            </a:extLst>
          </p:cNvPr>
          <p:cNvSpPr txBox="1"/>
          <p:nvPr/>
        </p:nvSpPr>
        <p:spPr>
          <a:xfrm>
            <a:off x="1558751" y="6596390"/>
            <a:ext cx="4217821" cy="261610"/>
          </a:xfrm>
          <a:prstGeom prst="rect">
            <a:avLst/>
          </a:prstGeom>
          <a:noFill/>
        </p:spPr>
        <p:txBody>
          <a:bodyPr wrap="none" rtlCol="0">
            <a:spAutoFit/>
          </a:bodyPr>
          <a:lstStyle/>
          <a:p>
            <a:r>
              <a:rPr lang="zh-TW" altLang="en-US" sz="1100" dirty="0">
                <a:latin typeface="Microsoft JhengHei Light" panose="020B0304030504040204" pitchFamily="34" charset="-120"/>
                <a:ea typeface="Microsoft JhengHei Light" panose="020B0304030504040204" pitchFamily="34" charset="-120"/>
              </a:rPr>
              <a:t>區塊鏈商業應用概論 實例與分析／新陸書局股份有限公司 發行</a:t>
            </a:r>
          </a:p>
        </p:txBody>
      </p:sp>
      <p:sp>
        <p:nvSpPr>
          <p:cNvPr id="9" name="標題 1">
            <a:extLst>
              <a:ext uri="{FF2B5EF4-FFF2-40B4-BE49-F238E27FC236}">
                <a16:creationId xmlns:a16="http://schemas.microsoft.com/office/drawing/2014/main" id="{475DFFF1-7C37-4CBE-ACFC-3F348BCD20CC}"/>
              </a:ext>
            </a:extLst>
          </p:cNvPr>
          <p:cNvSpPr txBox="1">
            <a:spLocks/>
          </p:cNvSpPr>
          <p:nvPr/>
        </p:nvSpPr>
        <p:spPr>
          <a:xfrm>
            <a:off x="1231956" y="393820"/>
            <a:ext cx="3643527" cy="874595"/>
          </a:xfrm>
          <a:prstGeom prst="rect">
            <a:avLst/>
          </a:prstGeom>
        </p:spPr>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altLang="zh-TW" sz="2400" b="1" dirty="0">
                <a:solidFill>
                  <a:srgbClr val="E06741"/>
                </a:solidFill>
              </a:rPr>
              <a:t>2-2 </a:t>
            </a:r>
            <a:r>
              <a:rPr lang="zh-TW" altLang="en-US" sz="2400" b="1" dirty="0">
                <a:solidFill>
                  <a:srgbClr val="E06741"/>
                </a:solidFill>
              </a:rPr>
              <a:t>區塊鏈技術發展</a:t>
            </a:r>
          </a:p>
          <a:p>
            <a:endParaRPr lang="zh-TW" altLang="en-US" sz="2400" dirty="0">
              <a:solidFill>
                <a:srgbClr val="E06741"/>
              </a:solidFill>
              <a:latin typeface="標楷體" panose="03000509000000000000" pitchFamily="65" charset="-120"/>
              <a:ea typeface="標楷體" panose="03000509000000000000" pitchFamily="65" charset="-120"/>
              <a:cs typeface="Times New Roman" panose="02020603050405020304" pitchFamily="18" charset="0"/>
            </a:endParaRPr>
          </a:p>
        </p:txBody>
      </p:sp>
      <p:sp>
        <p:nvSpPr>
          <p:cNvPr id="2" name="文字方塊 1">
            <a:extLst>
              <a:ext uri="{FF2B5EF4-FFF2-40B4-BE49-F238E27FC236}">
                <a16:creationId xmlns:a16="http://schemas.microsoft.com/office/drawing/2014/main" id="{D6D66D7E-58A1-40BE-8070-FA1C3AF22B14}"/>
              </a:ext>
            </a:extLst>
          </p:cNvPr>
          <p:cNvSpPr txBox="1"/>
          <p:nvPr/>
        </p:nvSpPr>
        <p:spPr>
          <a:xfrm>
            <a:off x="1231955" y="1323761"/>
            <a:ext cx="9269789" cy="5010474"/>
          </a:xfrm>
          <a:prstGeom prst="rect">
            <a:avLst/>
          </a:prstGeom>
          <a:noFill/>
        </p:spPr>
        <p:txBody>
          <a:bodyPr wrap="square" rtlCol="0">
            <a:spAutoFit/>
          </a:bodyPr>
          <a:lstStyle/>
          <a:p>
            <a:pPr marL="342900" indent="-342900">
              <a:lnSpc>
                <a:spcPct val="150000"/>
              </a:lnSpc>
              <a:buSzPct val="100000"/>
              <a:buBlip>
                <a:blip r:embed="rId4"/>
              </a:buBlip>
            </a:pPr>
            <a:r>
              <a:rPr lang="zh-TW" altLang="en-US" sz="2400" b="1" dirty="0">
                <a:solidFill>
                  <a:schemeClr val="tx1">
                    <a:lumMod val="75000"/>
                    <a:lumOff val="25000"/>
                  </a:schemeClr>
                </a:solidFill>
                <a:latin typeface="微軟正黑體" panose="020B0604030504040204" pitchFamily="34" charset="-120"/>
                <a:ea typeface="微軟正黑體" panose="020B0604030504040204" pitchFamily="34" charset="-120"/>
              </a:rPr>
              <a:t>以區塊鏈系統交易平台的交易為例</a:t>
            </a:r>
            <a:endParaRPr lang="en-US" altLang="zh-TW" sz="2400" b="1" dirty="0">
              <a:solidFill>
                <a:schemeClr val="tx1">
                  <a:lumMod val="75000"/>
                  <a:lumOff val="25000"/>
                </a:schemeClr>
              </a:solidFill>
              <a:latin typeface="微軟正黑體" panose="020B0604030504040204" pitchFamily="34" charset="-120"/>
              <a:ea typeface="微軟正黑體" panose="020B0604030504040204" pitchFamily="34" charset="-120"/>
            </a:endParaRPr>
          </a:p>
          <a:p>
            <a:pPr marL="800100" lvl="1" indent="-342900">
              <a:lnSpc>
                <a:spcPct val="150000"/>
              </a:lnSpc>
              <a:buSzPct val="100000"/>
              <a:buBlip>
                <a:blip r:embed="rId4"/>
              </a:buBlip>
            </a:pPr>
            <a:r>
              <a:rPr lang="zh-TW" altLang="en-US" sz="2400" b="1" dirty="0">
                <a:solidFill>
                  <a:schemeClr val="tx1">
                    <a:lumMod val="75000"/>
                    <a:lumOff val="25000"/>
                  </a:schemeClr>
                </a:solidFill>
                <a:latin typeface="微軟正黑體" panose="020B0604030504040204" pitchFamily="34" charset="-120"/>
                <a:ea typeface="微軟正黑體" panose="020B0604030504040204" pitchFamily="34" charset="-120"/>
              </a:rPr>
              <a:t>當使用者在進行一筆交易時，可以決定由哪些使用者（即節點）來驗證此筆交易的信任，也就是達到多數使用者的信任</a:t>
            </a:r>
            <a:endParaRPr lang="en-US" altLang="zh-TW" sz="2400" b="1" dirty="0">
              <a:solidFill>
                <a:schemeClr val="tx1">
                  <a:lumMod val="75000"/>
                  <a:lumOff val="25000"/>
                </a:schemeClr>
              </a:solidFill>
              <a:latin typeface="微軟正黑體" panose="020B0604030504040204" pitchFamily="34" charset="-120"/>
              <a:ea typeface="微軟正黑體" panose="020B0604030504040204" pitchFamily="34" charset="-120"/>
            </a:endParaRPr>
          </a:p>
          <a:p>
            <a:pPr marL="800100" lvl="1" indent="-342900">
              <a:lnSpc>
                <a:spcPct val="150000"/>
              </a:lnSpc>
              <a:buSzPct val="100000"/>
              <a:buBlip>
                <a:blip r:embed="rId4"/>
              </a:buBlip>
            </a:pPr>
            <a:r>
              <a:rPr lang="zh-TW" altLang="en-US" sz="2400" b="1" dirty="0">
                <a:solidFill>
                  <a:schemeClr val="tx1">
                    <a:lumMod val="75000"/>
                    <a:lumOff val="25000"/>
                  </a:schemeClr>
                </a:solidFill>
                <a:latin typeface="微軟正黑體" panose="020B0604030504040204" pitchFamily="34" charset="-120"/>
                <a:ea typeface="微軟正黑體" panose="020B0604030504040204" pitchFamily="34" charset="-120"/>
              </a:rPr>
              <a:t>避免交易被重複花費或違約狀況產生，進而確保數位網路平台的交易的安全與正確性，甚至可以有效地追蹤每一筆交易紀錄的存放節點。</a:t>
            </a:r>
            <a:endParaRPr lang="en-US" altLang="zh-TW" sz="2400" b="1" dirty="0">
              <a:solidFill>
                <a:schemeClr val="tx1">
                  <a:lumMod val="75000"/>
                  <a:lumOff val="25000"/>
                </a:schemeClr>
              </a:solidFill>
              <a:latin typeface="微軟正黑體" panose="020B0604030504040204" pitchFamily="34" charset="-120"/>
              <a:ea typeface="微軟正黑體" panose="020B0604030504040204" pitchFamily="34" charset="-120"/>
            </a:endParaRPr>
          </a:p>
          <a:p>
            <a:pPr marL="800100" lvl="1" indent="-342900">
              <a:lnSpc>
                <a:spcPct val="150000"/>
              </a:lnSpc>
              <a:buSzPct val="100000"/>
              <a:buBlip>
                <a:blip r:embed="rId4"/>
              </a:buBlip>
            </a:pPr>
            <a:r>
              <a:rPr lang="zh-TW" altLang="en-US" sz="2400" b="1" dirty="0">
                <a:solidFill>
                  <a:schemeClr val="tx1">
                    <a:lumMod val="75000"/>
                    <a:lumOff val="25000"/>
                  </a:schemeClr>
                </a:solidFill>
                <a:latin typeface="微軟正黑體" panose="020B0604030504040204" pitchFamily="34" charset="-120"/>
                <a:ea typeface="微軟正黑體" panose="020B0604030504040204" pitchFamily="34" charset="-120"/>
              </a:rPr>
              <a:t>區塊鏈技術的交易運作機制是少數服從多數，因區塊鏈技術採用無集中式管理，當某些節點受到毀損，整體的平台交易還能正常運行</a:t>
            </a:r>
            <a:endParaRPr lang="en-US" altLang="zh-TW" sz="2400" b="1" dirty="0">
              <a:solidFill>
                <a:schemeClr val="tx1">
                  <a:lumMod val="75000"/>
                  <a:lumOff val="25000"/>
                </a:schemeClr>
              </a:solidFill>
              <a:latin typeface="微軟正黑體" panose="020B0604030504040204" pitchFamily="34" charset="-120"/>
              <a:ea typeface="微軟正黑體" panose="020B0604030504040204" pitchFamily="34" charset="-120"/>
            </a:endParaRPr>
          </a:p>
        </p:txBody>
      </p:sp>
      <p:cxnSp>
        <p:nvCxnSpPr>
          <p:cNvPr id="26" name="直接连接符 33">
            <a:extLst>
              <a:ext uri="{FF2B5EF4-FFF2-40B4-BE49-F238E27FC236}">
                <a16:creationId xmlns:a16="http://schemas.microsoft.com/office/drawing/2014/main" id="{C3725E45-5458-4931-9D9A-B8C15AE6AC41}"/>
              </a:ext>
            </a:extLst>
          </p:cNvPr>
          <p:cNvCxnSpPr>
            <a:cxnSpLocks/>
          </p:cNvCxnSpPr>
          <p:nvPr/>
        </p:nvCxnSpPr>
        <p:spPr>
          <a:xfrm>
            <a:off x="1334185" y="1102164"/>
            <a:ext cx="8068433" cy="0"/>
          </a:xfrm>
          <a:prstGeom prst="line">
            <a:avLst/>
          </a:prstGeom>
          <a:ln w="190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12" name="文字方塊 11">
            <a:extLst>
              <a:ext uri="{FF2B5EF4-FFF2-40B4-BE49-F238E27FC236}">
                <a16:creationId xmlns:a16="http://schemas.microsoft.com/office/drawing/2014/main" id="{9FE02F65-A32E-4124-B1E6-8E45750976E4}"/>
              </a:ext>
            </a:extLst>
          </p:cNvPr>
          <p:cNvSpPr txBox="1"/>
          <p:nvPr/>
        </p:nvSpPr>
        <p:spPr>
          <a:xfrm>
            <a:off x="4487241" y="449166"/>
            <a:ext cx="3076483" cy="400110"/>
          </a:xfrm>
          <a:prstGeom prst="rect">
            <a:avLst/>
          </a:prstGeom>
          <a:noFill/>
        </p:spPr>
        <p:txBody>
          <a:bodyPr wrap="none" rtlCol="0">
            <a:spAutoFit/>
          </a:bodyPr>
          <a:lstStyle/>
          <a:p>
            <a:r>
              <a:rPr lang="en-US" altLang="zh-TW" sz="2000" b="1" dirty="0">
                <a:solidFill>
                  <a:schemeClr val="tx1">
                    <a:lumMod val="65000"/>
                    <a:lumOff val="35000"/>
                  </a:schemeClr>
                </a:solidFill>
                <a:latin typeface="微軟正黑體" panose="020B0604030504040204" pitchFamily="34" charset="-120"/>
                <a:ea typeface="微軟正黑體" panose="020B0604030504040204" pitchFamily="34" charset="-120"/>
                <a:cs typeface="Times New Roman" panose="02020603050405020304" pitchFamily="18" charset="0"/>
              </a:rPr>
              <a:t>-2</a:t>
            </a:r>
            <a:r>
              <a:rPr lang="zh-TW" altLang="en-US" sz="2000" b="1" dirty="0">
                <a:solidFill>
                  <a:schemeClr val="tx1">
                    <a:lumMod val="65000"/>
                    <a:lumOff val="35000"/>
                  </a:schemeClr>
                </a:solidFill>
                <a:latin typeface="微軟正黑體" panose="020B0604030504040204" pitchFamily="34" charset="-120"/>
                <a:ea typeface="微軟正黑體" panose="020B0604030504040204" pitchFamily="34" charset="-120"/>
                <a:cs typeface="Times New Roman" panose="02020603050405020304" pitchFamily="18" charset="0"/>
              </a:rPr>
              <a:t> 區塊鏈技術之基本要素</a:t>
            </a:r>
          </a:p>
        </p:txBody>
      </p:sp>
      <p:pic>
        <p:nvPicPr>
          <p:cNvPr id="4" name="圖片 3" descr="一張含有 向量圖形 的圖片&#10;&#10;描述是以高可信度產生">
            <a:extLst>
              <a:ext uri="{FF2B5EF4-FFF2-40B4-BE49-F238E27FC236}">
                <a16:creationId xmlns:a16="http://schemas.microsoft.com/office/drawing/2014/main" id="{FADDF257-6049-408F-BE64-D0E448F35CB7}"/>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0141882" y="0"/>
            <a:ext cx="2050118" cy="2050118"/>
          </a:xfrm>
          <a:prstGeom prst="rect">
            <a:avLst/>
          </a:prstGeom>
        </p:spPr>
      </p:pic>
    </p:spTree>
    <p:extLst>
      <p:ext uri="{BB962C8B-B14F-4D97-AF65-F5344CB8AC3E}">
        <p14:creationId xmlns:p14="http://schemas.microsoft.com/office/powerpoint/2010/main" val="2084415235"/>
      </p:ext>
    </p:extLst>
  </p:cSld>
  <p:clrMapOvr>
    <a:masterClrMapping/>
  </p:clrMapOvr>
  <p:transition spd="med">
    <p:pul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6" presetClass="entr" presetSubtype="16" fill="hold" grpId="0" nodeType="after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circle(in)">
                                      <p:cBhvr>
                                        <p:cTn id="7" dur="2000"/>
                                        <p:tgtEl>
                                          <p:spTgt spid="9"/>
                                        </p:tgtEl>
                                      </p:cBhvr>
                                    </p:animEffect>
                                  </p:childTnLst>
                                </p:cTn>
                              </p:par>
                            </p:childTnLst>
                          </p:cTn>
                        </p:par>
                        <p:par>
                          <p:cTn id="8" fill="hold">
                            <p:stCondLst>
                              <p:cond delay="2000"/>
                            </p:stCondLst>
                            <p:childTnLst>
                              <p:par>
                                <p:cTn id="9" presetID="14" presetClass="entr" presetSubtype="10" fill="hold" grpId="0" nodeType="afterEffect">
                                  <p:stCondLst>
                                    <p:cond delay="0"/>
                                  </p:stCondLst>
                                  <p:childTnLst>
                                    <p:set>
                                      <p:cBhvr>
                                        <p:cTn id="10" dur="1" fill="hold">
                                          <p:stCondLst>
                                            <p:cond delay="0"/>
                                          </p:stCondLst>
                                        </p:cTn>
                                        <p:tgtEl>
                                          <p:spTgt spid="12"/>
                                        </p:tgtEl>
                                        <p:attrNameLst>
                                          <p:attrName>style.visibility</p:attrName>
                                        </p:attrNameLst>
                                      </p:cBhvr>
                                      <p:to>
                                        <p:strVal val="visible"/>
                                      </p:to>
                                    </p:set>
                                    <p:animEffect transition="in" filter="randombar(horizontal)">
                                      <p:cBhvr>
                                        <p:cTn id="11" dur="500"/>
                                        <p:tgtEl>
                                          <p:spTgt spid="12"/>
                                        </p:tgtEl>
                                      </p:cBhvr>
                                    </p:animEffect>
                                  </p:childTnLst>
                                </p:cTn>
                              </p:par>
                            </p:childTnLst>
                          </p:cTn>
                        </p:par>
                        <p:par>
                          <p:cTn id="12" fill="hold">
                            <p:stCondLst>
                              <p:cond delay="2500"/>
                            </p:stCondLst>
                            <p:childTnLst>
                              <p:par>
                                <p:cTn id="13" presetID="2" presetClass="entr" presetSubtype="8" fill="hold" nodeType="afterEffect">
                                  <p:stCondLst>
                                    <p:cond delay="0"/>
                                  </p:stCondLst>
                                  <p:childTnLst>
                                    <p:set>
                                      <p:cBhvr>
                                        <p:cTn id="14" dur="1" fill="hold">
                                          <p:stCondLst>
                                            <p:cond delay="0"/>
                                          </p:stCondLst>
                                        </p:cTn>
                                        <p:tgtEl>
                                          <p:spTgt spid="26"/>
                                        </p:tgtEl>
                                        <p:attrNameLst>
                                          <p:attrName>style.visibility</p:attrName>
                                        </p:attrNameLst>
                                      </p:cBhvr>
                                      <p:to>
                                        <p:strVal val="visible"/>
                                      </p:to>
                                    </p:set>
                                    <p:anim calcmode="lin" valueType="num">
                                      <p:cBhvr additive="base">
                                        <p:cTn id="15" dur="500" fill="hold"/>
                                        <p:tgtEl>
                                          <p:spTgt spid="26"/>
                                        </p:tgtEl>
                                        <p:attrNameLst>
                                          <p:attrName>ppt_x</p:attrName>
                                        </p:attrNameLst>
                                      </p:cBhvr>
                                      <p:tavLst>
                                        <p:tav tm="0">
                                          <p:val>
                                            <p:strVal val="0-#ppt_w/2"/>
                                          </p:val>
                                        </p:tav>
                                        <p:tav tm="100000">
                                          <p:val>
                                            <p:strVal val="#ppt_x"/>
                                          </p:val>
                                        </p:tav>
                                      </p:tavLst>
                                    </p:anim>
                                    <p:anim calcmode="lin" valueType="num">
                                      <p:cBhvr additive="base">
                                        <p:cTn id="16" dur="500" fill="hold"/>
                                        <p:tgtEl>
                                          <p:spTgt spid="26"/>
                                        </p:tgtEl>
                                        <p:attrNameLst>
                                          <p:attrName>ppt_y</p:attrName>
                                        </p:attrNameLst>
                                      </p:cBhvr>
                                      <p:tavLst>
                                        <p:tav tm="0">
                                          <p:val>
                                            <p:strVal val="#ppt_y"/>
                                          </p:val>
                                        </p:tav>
                                        <p:tav tm="100000">
                                          <p:val>
                                            <p:strVal val="#ppt_y"/>
                                          </p:val>
                                        </p:tav>
                                      </p:tavLst>
                                    </p:anim>
                                  </p:childTnLst>
                                </p:cTn>
                              </p:par>
                            </p:childTnLst>
                          </p:cTn>
                        </p:par>
                        <p:par>
                          <p:cTn id="17" fill="hold">
                            <p:stCondLst>
                              <p:cond delay="3000"/>
                            </p:stCondLst>
                            <p:childTnLst>
                              <p:par>
                                <p:cTn id="18" presetID="16" presetClass="entr" presetSubtype="21" fill="hold" grpId="0" nodeType="afterEffect">
                                  <p:stCondLst>
                                    <p:cond delay="0"/>
                                  </p:stCondLst>
                                  <p:childTnLst>
                                    <p:set>
                                      <p:cBhvr>
                                        <p:cTn id="19" dur="1" fill="hold">
                                          <p:stCondLst>
                                            <p:cond delay="0"/>
                                          </p:stCondLst>
                                        </p:cTn>
                                        <p:tgtEl>
                                          <p:spTgt spid="2"/>
                                        </p:tgtEl>
                                        <p:attrNameLst>
                                          <p:attrName>style.visibility</p:attrName>
                                        </p:attrNameLst>
                                      </p:cBhvr>
                                      <p:to>
                                        <p:strVal val="visible"/>
                                      </p:to>
                                    </p:set>
                                    <p:animEffect transition="in" filter="barn(inVertical)">
                                      <p:cBhvr>
                                        <p:cTn id="20" dur="500"/>
                                        <p:tgtEl>
                                          <p:spTgt spid="2"/>
                                        </p:tgtEl>
                                      </p:cBhvr>
                                    </p:animEffect>
                                  </p:childTnLst>
                                </p:cTn>
                              </p:par>
                            </p:childTnLst>
                          </p:cTn>
                        </p:par>
                        <p:par>
                          <p:cTn id="21" fill="hold">
                            <p:stCondLst>
                              <p:cond delay="3500"/>
                            </p:stCondLst>
                            <p:childTnLst>
                              <p:par>
                                <p:cTn id="22" presetID="10" presetClass="entr" presetSubtype="0" fill="hold" nodeType="afterEffect">
                                  <p:stCondLst>
                                    <p:cond delay="0"/>
                                  </p:stCondLst>
                                  <p:childTnLst>
                                    <p:set>
                                      <p:cBhvr>
                                        <p:cTn id="23" dur="1" fill="hold">
                                          <p:stCondLst>
                                            <p:cond delay="0"/>
                                          </p:stCondLst>
                                        </p:cTn>
                                        <p:tgtEl>
                                          <p:spTgt spid="4"/>
                                        </p:tgtEl>
                                        <p:attrNameLst>
                                          <p:attrName>style.visibility</p:attrName>
                                        </p:attrNameLst>
                                      </p:cBhvr>
                                      <p:to>
                                        <p:strVal val="visible"/>
                                      </p:to>
                                    </p:set>
                                    <p:animEffect transition="in" filter="fade">
                                      <p:cBhvr>
                                        <p:cTn id="24"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2" grpId="0"/>
      <p:bldP spid="12" grpId="0"/>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图片 42">
            <a:extLst>
              <a:ext uri="{FF2B5EF4-FFF2-40B4-BE49-F238E27FC236}">
                <a16:creationId xmlns:a16="http://schemas.microsoft.com/office/drawing/2014/main" id="{C8D97DA4-6242-4E73-AEFC-457D04FDC65B}"/>
              </a:ext>
            </a:extLst>
          </p:cNvPr>
          <p:cNvPicPr>
            <a:picLocks noChangeAspect="1"/>
          </p:cNvPicPr>
          <p:nvPr/>
        </p:nvPicPr>
        <p:blipFill>
          <a:blip r:embed="rId3"/>
          <a:stretch>
            <a:fillRect/>
          </a:stretch>
        </p:blipFill>
        <p:spPr>
          <a:xfrm rot="16200000">
            <a:off x="145169" y="-145167"/>
            <a:ext cx="1268414" cy="1558750"/>
          </a:xfrm>
          <a:prstGeom prst="rect">
            <a:avLst/>
          </a:prstGeom>
        </p:spPr>
      </p:pic>
      <p:sp>
        <p:nvSpPr>
          <p:cNvPr id="6" name="文字方塊 5">
            <a:extLst>
              <a:ext uri="{FF2B5EF4-FFF2-40B4-BE49-F238E27FC236}">
                <a16:creationId xmlns:a16="http://schemas.microsoft.com/office/drawing/2014/main" id="{8A30B01A-3198-4955-A208-0E3D9EB60397}"/>
              </a:ext>
            </a:extLst>
          </p:cNvPr>
          <p:cNvSpPr txBox="1"/>
          <p:nvPr/>
        </p:nvSpPr>
        <p:spPr>
          <a:xfrm>
            <a:off x="1558751" y="6596390"/>
            <a:ext cx="4217821" cy="261610"/>
          </a:xfrm>
          <a:prstGeom prst="rect">
            <a:avLst/>
          </a:prstGeom>
          <a:noFill/>
        </p:spPr>
        <p:txBody>
          <a:bodyPr wrap="none" rtlCol="0">
            <a:spAutoFit/>
          </a:bodyPr>
          <a:lstStyle/>
          <a:p>
            <a:r>
              <a:rPr lang="zh-TW" altLang="en-US" sz="1100" dirty="0">
                <a:latin typeface="Microsoft JhengHei Light" panose="020B0304030504040204" pitchFamily="34" charset="-120"/>
                <a:ea typeface="Microsoft JhengHei Light" panose="020B0304030504040204" pitchFamily="34" charset="-120"/>
              </a:rPr>
              <a:t>區塊鏈商業應用概論 實例與分析／新陸書局股份有限公司 發行</a:t>
            </a:r>
          </a:p>
        </p:txBody>
      </p:sp>
      <p:sp>
        <p:nvSpPr>
          <p:cNvPr id="9" name="標題 1">
            <a:extLst>
              <a:ext uri="{FF2B5EF4-FFF2-40B4-BE49-F238E27FC236}">
                <a16:creationId xmlns:a16="http://schemas.microsoft.com/office/drawing/2014/main" id="{475DFFF1-7C37-4CBE-ACFC-3F348BCD20CC}"/>
              </a:ext>
            </a:extLst>
          </p:cNvPr>
          <p:cNvSpPr txBox="1">
            <a:spLocks/>
          </p:cNvSpPr>
          <p:nvPr/>
        </p:nvSpPr>
        <p:spPr>
          <a:xfrm>
            <a:off x="1231956" y="393820"/>
            <a:ext cx="3643527" cy="874595"/>
          </a:xfrm>
          <a:prstGeom prst="rect">
            <a:avLst/>
          </a:prstGeom>
        </p:spPr>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altLang="zh-TW" sz="2400" b="1" dirty="0">
                <a:solidFill>
                  <a:srgbClr val="E06741"/>
                </a:solidFill>
              </a:rPr>
              <a:t>2-2 </a:t>
            </a:r>
            <a:r>
              <a:rPr lang="zh-TW" altLang="en-US" sz="2400" b="1" dirty="0">
                <a:solidFill>
                  <a:srgbClr val="E06741"/>
                </a:solidFill>
              </a:rPr>
              <a:t>區塊鏈技術發展</a:t>
            </a:r>
          </a:p>
          <a:p>
            <a:endParaRPr lang="zh-TW" altLang="en-US" sz="2400" dirty="0">
              <a:solidFill>
                <a:srgbClr val="E06741"/>
              </a:solidFill>
              <a:latin typeface="標楷體" panose="03000509000000000000" pitchFamily="65" charset="-120"/>
              <a:ea typeface="標楷體" panose="03000509000000000000" pitchFamily="65" charset="-120"/>
              <a:cs typeface="Times New Roman" panose="02020603050405020304" pitchFamily="18" charset="0"/>
            </a:endParaRPr>
          </a:p>
        </p:txBody>
      </p:sp>
      <p:sp>
        <p:nvSpPr>
          <p:cNvPr id="2" name="文字方塊 1">
            <a:extLst>
              <a:ext uri="{FF2B5EF4-FFF2-40B4-BE49-F238E27FC236}">
                <a16:creationId xmlns:a16="http://schemas.microsoft.com/office/drawing/2014/main" id="{D6D66D7E-58A1-40BE-8070-FA1C3AF22B14}"/>
              </a:ext>
            </a:extLst>
          </p:cNvPr>
          <p:cNvSpPr txBox="1"/>
          <p:nvPr/>
        </p:nvSpPr>
        <p:spPr>
          <a:xfrm>
            <a:off x="1548068" y="1137919"/>
            <a:ext cx="9654194" cy="2061462"/>
          </a:xfrm>
          <a:prstGeom prst="rect">
            <a:avLst/>
          </a:prstGeom>
          <a:noFill/>
        </p:spPr>
        <p:txBody>
          <a:bodyPr wrap="square" rtlCol="0">
            <a:spAutoFit/>
          </a:bodyPr>
          <a:lstStyle/>
          <a:p>
            <a:pPr marL="342900" indent="-342900">
              <a:lnSpc>
                <a:spcPct val="150000"/>
              </a:lnSpc>
              <a:buSzPct val="100000"/>
              <a:buBlip>
                <a:blip r:embed="rId4"/>
              </a:buBlip>
            </a:pPr>
            <a:r>
              <a:rPr lang="zh-TW" altLang="en-US" sz="2200" b="1" dirty="0">
                <a:solidFill>
                  <a:schemeClr val="tx1">
                    <a:lumMod val="75000"/>
                    <a:lumOff val="25000"/>
                  </a:schemeClr>
                </a:solidFill>
                <a:latin typeface="微軟正黑體" panose="020B0604030504040204" pitchFamily="34" charset="-120"/>
                <a:ea typeface="微軟正黑體" panose="020B0604030504040204" pitchFamily="34" charset="-120"/>
              </a:rPr>
              <a:t>假設在平台正確輸入金鑰，其交易資訊會依順號編號，而且網頁的區塊平台的顏色會出現綠色的反白區，表示此筆交易資訊是正確的交易</a:t>
            </a:r>
            <a:endParaRPr lang="en-US" altLang="zh-TW" sz="2200" b="1" dirty="0">
              <a:solidFill>
                <a:schemeClr val="tx1">
                  <a:lumMod val="75000"/>
                  <a:lumOff val="25000"/>
                </a:schemeClr>
              </a:solidFill>
              <a:latin typeface="微軟正黑體" panose="020B0604030504040204" pitchFamily="34" charset="-120"/>
              <a:ea typeface="微軟正黑體" panose="020B0604030504040204" pitchFamily="34" charset="-120"/>
            </a:endParaRPr>
          </a:p>
          <a:p>
            <a:pPr marL="342900" indent="-342900">
              <a:lnSpc>
                <a:spcPct val="150000"/>
              </a:lnSpc>
              <a:buSzPct val="100000"/>
              <a:buBlip>
                <a:blip r:embed="rId4"/>
              </a:buBlip>
            </a:pPr>
            <a:r>
              <a:rPr lang="zh-TW" altLang="en-US" sz="2200" b="1" dirty="0">
                <a:solidFill>
                  <a:schemeClr val="tx1">
                    <a:lumMod val="75000"/>
                    <a:lumOff val="25000"/>
                  </a:schemeClr>
                </a:solidFill>
                <a:latin typeface="微軟正黑體" panose="020B0604030504040204" pitchFamily="34" charset="-120"/>
                <a:ea typeface="微軟正黑體" panose="020B0604030504040204" pitchFamily="34" charset="-120"/>
              </a:rPr>
              <a:t>區塊上記錄了前一個區塊的運算結果，以作為排列先後順序的重要依據，並形成一條區塊「鏈」</a:t>
            </a:r>
            <a:endParaRPr lang="en-US" altLang="zh-TW" sz="2200" b="1" dirty="0">
              <a:solidFill>
                <a:schemeClr val="tx1">
                  <a:lumMod val="75000"/>
                  <a:lumOff val="25000"/>
                </a:schemeClr>
              </a:solidFill>
              <a:latin typeface="微軟正黑體" panose="020B0604030504040204" pitchFamily="34" charset="-120"/>
              <a:ea typeface="微軟正黑體" panose="020B0604030504040204" pitchFamily="34" charset="-120"/>
            </a:endParaRPr>
          </a:p>
        </p:txBody>
      </p:sp>
      <p:cxnSp>
        <p:nvCxnSpPr>
          <p:cNvPr id="26" name="直接连接符 33">
            <a:extLst>
              <a:ext uri="{FF2B5EF4-FFF2-40B4-BE49-F238E27FC236}">
                <a16:creationId xmlns:a16="http://schemas.microsoft.com/office/drawing/2014/main" id="{C3725E45-5458-4931-9D9A-B8C15AE6AC41}"/>
              </a:ext>
            </a:extLst>
          </p:cNvPr>
          <p:cNvCxnSpPr>
            <a:cxnSpLocks/>
          </p:cNvCxnSpPr>
          <p:nvPr/>
        </p:nvCxnSpPr>
        <p:spPr>
          <a:xfrm>
            <a:off x="1334185" y="1102164"/>
            <a:ext cx="10081960" cy="0"/>
          </a:xfrm>
          <a:prstGeom prst="line">
            <a:avLst/>
          </a:prstGeom>
          <a:ln w="190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12" name="文字方塊 11">
            <a:extLst>
              <a:ext uri="{FF2B5EF4-FFF2-40B4-BE49-F238E27FC236}">
                <a16:creationId xmlns:a16="http://schemas.microsoft.com/office/drawing/2014/main" id="{9FE02F65-A32E-4124-B1E6-8E45750976E4}"/>
              </a:ext>
            </a:extLst>
          </p:cNvPr>
          <p:cNvSpPr txBox="1"/>
          <p:nvPr/>
        </p:nvSpPr>
        <p:spPr>
          <a:xfrm>
            <a:off x="4487241" y="449166"/>
            <a:ext cx="3076483" cy="400110"/>
          </a:xfrm>
          <a:prstGeom prst="rect">
            <a:avLst/>
          </a:prstGeom>
          <a:noFill/>
        </p:spPr>
        <p:txBody>
          <a:bodyPr wrap="none" rtlCol="0">
            <a:spAutoFit/>
          </a:bodyPr>
          <a:lstStyle/>
          <a:p>
            <a:r>
              <a:rPr lang="en-US" altLang="zh-TW" sz="2000" b="1" dirty="0">
                <a:solidFill>
                  <a:schemeClr val="tx1">
                    <a:lumMod val="65000"/>
                    <a:lumOff val="35000"/>
                  </a:schemeClr>
                </a:solidFill>
                <a:latin typeface="微軟正黑體" panose="020B0604030504040204" pitchFamily="34" charset="-120"/>
                <a:ea typeface="微軟正黑體" panose="020B0604030504040204" pitchFamily="34" charset="-120"/>
                <a:cs typeface="Times New Roman" panose="02020603050405020304" pitchFamily="18" charset="0"/>
              </a:rPr>
              <a:t>-2</a:t>
            </a:r>
            <a:r>
              <a:rPr lang="zh-TW" altLang="en-US" sz="2000" b="1" dirty="0">
                <a:solidFill>
                  <a:schemeClr val="tx1">
                    <a:lumMod val="65000"/>
                    <a:lumOff val="35000"/>
                  </a:schemeClr>
                </a:solidFill>
                <a:latin typeface="微軟正黑體" panose="020B0604030504040204" pitchFamily="34" charset="-120"/>
                <a:ea typeface="微軟正黑體" panose="020B0604030504040204" pitchFamily="34" charset="-120"/>
                <a:cs typeface="Times New Roman" panose="02020603050405020304" pitchFamily="18" charset="0"/>
              </a:rPr>
              <a:t> 區塊鏈技術之基本要素</a:t>
            </a:r>
          </a:p>
        </p:txBody>
      </p:sp>
      <p:pic>
        <p:nvPicPr>
          <p:cNvPr id="10" name="圖片 9">
            <a:extLst>
              <a:ext uri="{FF2B5EF4-FFF2-40B4-BE49-F238E27FC236}">
                <a16:creationId xmlns:a16="http://schemas.microsoft.com/office/drawing/2014/main" id="{32E40C00-E4F2-4522-83C0-816B816ACF60}"/>
              </a:ext>
            </a:extLst>
          </p:cNvPr>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2276698" y="3195454"/>
            <a:ext cx="8367234" cy="3400936"/>
          </a:xfrm>
          <a:prstGeom prst="rect">
            <a:avLst/>
          </a:prstGeom>
          <a:noFill/>
          <a:ln>
            <a:noFill/>
          </a:ln>
        </p:spPr>
      </p:pic>
      <p:pic>
        <p:nvPicPr>
          <p:cNvPr id="11" name="圖片 10">
            <a:extLst>
              <a:ext uri="{FF2B5EF4-FFF2-40B4-BE49-F238E27FC236}">
                <a16:creationId xmlns:a16="http://schemas.microsoft.com/office/drawing/2014/main" id="{6BC9EEB8-EEB9-4A90-8BD0-ED6C18D6FD4F}"/>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0" y="4073705"/>
            <a:ext cx="1990974" cy="1990974"/>
          </a:xfrm>
          <a:prstGeom prst="rect">
            <a:avLst/>
          </a:prstGeom>
        </p:spPr>
      </p:pic>
    </p:spTree>
    <p:extLst>
      <p:ext uri="{BB962C8B-B14F-4D97-AF65-F5344CB8AC3E}">
        <p14:creationId xmlns:p14="http://schemas.microsoft.com/office/powerpoint/2010/main" val="2056641170"/>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6" presetClass="entr" presetSubtype="16" fill="hold" grpId="0" nodeType="after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circle(in)">
                                      <p:cBhvr>
                                        <p:cTn id="7" dur="2000"/>
                                        <p:tgtEl>
                                          <p:spTgt spid="9"/>
                                        </p:tgtEl>
                                      </p:cBhvr>
                                    </p:animEffect>
                                  </p:childTnLst>
                                </p:cTn>
                              </p:par>
                            </p:childTnLst>
                          </p:cTn>
                        </p:par>
                        <p:par>
                          <p:cTn id="8" fill="hold">
                            <p:stCondLst>
                              <p:cond delay="2000"/>
                            </p:stCondLst>
                            <p:childTnLst>
                              <p:par>
                                <p:cTn id="9" presetID="14" presetClass="entr" presetSubtype="10" fill="hold" grpId="0" nodeType="afterEffect">
                                  <p:stCondLst>
                                    <p:cond delay="0"/>
                                  </p:stCondLst>
                                  <p:childTnLst>
                                    <p:set>
                                      <p:cBhvr>
                                        <p:cTn id="10" dur="1" fill="hold">
                                          <p:stCondLst>
                                            <p:cond delay="0"/>
                                          </p:stCondLst>
                                        </p:cTn>
                                        <p:tgtEl>
                                          <p:spTgt spid="12"/>
                                        </p:tgtEl>
                                        <p:attrNameLst>
                                          <p:attrName>style.visibility</p:attrName>
                                        </p:attrNameLst>
                                      </p:cBhvr>
                                      <p:to>
                                        <p:strVal val="visible"/>
                                      </p:to>
                                    </p:set>
                                    <p:animEffect transition="in" filter="randombar(horizontal)">
                                      <p:cBhvr>
                                        <p:cTn id="11" dur="500"/>
                                        <p:tgtEl>
                                          <p:spTgt spid="12"/>
                                        </p:tgtEl>
                                      </p:cBhvr>
                                    </p:animEffect>
                                  </p:childTnLst>
                                </p:cTn>
                              </p:par>
                            </p:childTnLst>
                          </p:cTn>
                        </p:par>
                        <p:par>
                          <p:cTn id="12" fill="hold">
                            <p:stCondLst>
                              <p:cond delay="2500"/>
                            </p:stCondLst>
                            <p:childTnLst>
                              <p:par>
                                <p:cTn id="13" presetID="2" presetClass="entr" presetSubtype="8" fill="hold" nodeType="afterEffect">
                                  <p:stCondLst>
                                    <p:cond delay="0"/>
                                  </p:stCondLst>
                                  <p:childTnLst>
                                    <p:set>
                                      <p:cBhvr>
                                        <p:cTn id="14" dur="1" fill="hold">
                                          <p:stCondLst>
                                            <p:cond delay="0"/>
                                          </p:stCondLst>
                                        </p:cTn>
                                        <p:tgtEl>
                                          <p:spTgt spid="26"/>
                                        </p:tgtEl>
                                        <p:attrNameLst>
                                          <p:attrName>style.visibility</p:attrName>
                                        </p:attrNameLst>
                                      </p:cBhvr>
                                      <p:to>
                                        <p:strVal val="visible"/>
                                      </p:to>
                                    </p:set>
                                    <p:anim calcmode="lin" valueType="num">
                                      <p:cBhvr additive="base">
                                        <p:cTn id="15" dur="500" fill="hold"/>
                                        <p:tgtEl>
                                          <p:spTgt spid="26"/>
                                        </p:tgtEl>
                                        <p:attrNameLst>
                                          <p:attrName>ppt_x</p:attrName>
                                        </p:attrNameLst>
                                      </p:cBhvr>
                                      <p:tavLst>
                                        <p:tav tm="0">
                                          <p:val>
                                            <p:strVal val="0-#ppt_w/2"/>
                                          </p:val>
                                        </p:tav>
                                        <p:tav tm="100000">
                                          <p:val>
                                            <p:strVal val="#ppt_x"/>
                                          </p:val>
                                        </p:tav>
                                      </p:tavLst>
                                    </p:anim>
                                    <p:anim calcmode="lin" valueType="num">
                                      <p:cBhvr additive="base">
                                        <p:cTn id="16" dur="500" fill="hold"/>
                                        <p:tgtEl>
                                          <p:spTgt spid="26"/>
                                        </p:tgtEl>
                                        <p:attrNameLst>
                                          <p:attrName>ppt_y</p:attrName>
                                        </p:attrNameLst>
                                      </p:cBhvr>
                                      <p:tavLst>
                                        <p:tav tm="0">
                                          <p:val>
                                            <p:strVal val="#ppt_y"/>
                                          </p:val>
                                        </p:tav>
                                        <p:tav tm="100000">
                                          <p:val>
                                            <p:strVal val="#ppt_y"/>
                                          </p:val>
                                        </p:tav>
                                      </p:tavLst>
                                    </p:anim>
                                  </p:childTnLst>
                                </p:cTn>
                              </p:par>
                            </p:childTnLst>
                          </p:cTn>
                        </p:par>
                        <p:par>
                          <p:cTn id="17" fill="hold">
                            <p:stCondLst>
                              <p:cond delay="3000"/>
                            </p:stCondLst>
                            <p:childTnLst>
                              <p:par>
                                <p:cTn id="18" presetID="16" presetClass="entr" presetSubtype="21" fill="hold" grpId="0" nodeType="afterEffect">
                                  <p:stCondLst>
                                    <p:cond delay="0"/>
                                  </p:stCondLst>
                                  <p:childTnLst>
                                    <p:set>
                                      <p:cBhvr>
                                        <p:cTn id="19" dur="1" fill="hold">
                                          <p:stCondLst>
                                            <p:cond delay="0"/>
                                          </p:stCondLst>
                                        </p:cTn>
                                        <p:tgtEl>
                                          <p:spTgt spid="2"/>
                                        </p:tgtEl>
                                        <p:attrNameLst>
                                          <p:attrName>style.visibility</p:attrName>
                                        </p:attrNameLst>
                                      </p:cBhvr>
                                      <p:to>
                                        <p:strVal val="visible"/>
                                      </p:to>
                                    </p:set>
                                    <p:animEffect transition="in" filter="barn(inVertical)">
                                      <p:cBhvr>
                                        <p:cTn id="20" dur="500"/>
                                        <p:tgtEl>
                                          <p:spTgt spid="2"/>
                                        </p:tgtEl>
                                      </p:cBhvr>
                                    </p:animEffect>
                                  </p:childTnLst>
                                </p:cTn>
                              </p:par>
                            </p:childTnLst>
                          </p:cTn>
                        </p:par>
                        <p:par>
                          <p:cTn id="21" fill="hold">
                            <p:stCondLst>
                              <p:cond delay="3500"/>
                            </p:stCondLst>
                            <p:childTnLst>
                              <p:par>
                                <p:cTn id="22" presetID="42" presetClass="entr" presetSubtype="0" fill="hold" nodeType="afterEffect">
                                  <p:stCondLst>
                                    <p:cond delay="0"/>
                                  </p:stCondLst>
                                  <p:childTnLst>
                                    <p:set>
                                      <p:cBhvr>
                                        <p:cTn id="23" dur="1" fill="hold">
                                          <p:stCondLst>
                                            <p:cond delay="0"/>
                                          </p:stCondLst>
                                        </p:cTn>
                                        <p:tgtEl>
                                          <p:spTgt spid="10"/>
                                        </p:tgtEl>
                                        <p:attrNameLst>
                                          <p:attrName>style.visibility</p:attrName>
                                        </p:attrNameLst>
                                      </p:cBhvr>
                                      <p:to>
                                        <p:strVal val="visible"/>
                                      </p:to>
                                    </p:set>
                                    <p:animEffect transition="in" filter="fade">
                                      <p:cBhvr>
                                        <p:cTn id="24" dur="1000"/>
                                        <p:tgtEl>
                                          <p:spTgt spid="10"/>
                                        </p:tgtEl>
                                      </p:cBhvr>
                                    </p:animEffect>
                                    <p:anim calcmode="lin" valueType="num">
                                      <p:cBhvr>
                                        <p:cTn id="25" dur="1000" fill="hold"/>
                                        <p:tgtEl>
                                          <p:spTgt spid="10"/>
                                        </p:tgtEl>
                                        <p:attrNameLst>
                                          <p:attrName>ppt_x</p:attrName>
                                        </p:attrNameLst>
                                      </p:cBhvr>
                                      <p:tavLst>
                                        <p:tav tm="0">
                                          <p:val>
                                            <p:strVal val="#ppt_x"/>
                                          </p:val>
                                        </p:tav>
                                        <p:tav tm="100000">
                                          <p:val>
                                            <p:strVal val="#ppt_x"/>
                                          </p:val>
                                        </p:tav>
                                      </p:tavLst>
                                    </p:anim>
                                    <p:anim calcmode="lin" valueType="num">
                                      <p:cBhvr>
                                        <p:cTn id="26" dur="1000" fill="hold"/>
                                        <p:tgtEl>
                                          <p:spTgt spid="10"/>
                                        </p:tgtEl>
                                        <p:attrNameLst>
                                          <p:attrName>ppt_y</p:attrName>
                                        </p:attrNameLst>
                                      </p:cBhvr>
                                      <p:tavLst>
                                        <p:tav tm="0">
                                          <p:val>
                                            <p:strVal val="#ppt_y+.1"/>
                                          </p:val>
                                        </p:tav>
                                        <p:tav tm="100000">
                                          <p:val>
                                            <p:strVal val="#ppt_y"/>
                                          </p:val>
                                        </p:tav>
                                      </p:tavLst>
                                    </p:anim>
                                  </p:childTnLst>
                                </p:cTn>
                              </p:par>
                            </p:childTnLst>
                          </p:cTn>
                        </p:par>
                        <p:par>
                          <p:cTn id="27" fill="hold">
                            <p:stCondLst>
                              <p:cond delay="4500"/>
                            </p:stCondLst>
                            <p:childTnLst>
                              <p:par>
                                <p:cTn id="28" presetID="10" presetClass="entr" presetSubtype="0" fill="hold" nodeType="afterEffect">
                                  <p:stCondLst>
                                    <p:cond delay="0"/>
                                  </p:stCondLst>
                                  <p:childTnLst>
                                    <p:set>
                                      <p:cBhvr>
                                        <p:cTn id="29" dur="1" fill="hold">
                                          <p:stCondLst>
                                            <p:cond delay="0"/>
                                          </p:stCondLst>
                                        </p:cTn>
                                        <p:tgtEl>
                                          <p:spTgt spid="11"/>
                                        </p:tgtEl>
                                        <p:attrNameLst>
                                          <p:attrName>style.visibility</p:attrName>
                                        </p:attrNameLst>
                                      </p:cBhvr>
                                      <p:to>
                                        <p:strVal val="visible"/>
                                      </p:to>
                                    </p:set>
                                    <p:animEffect transition="in" filter="fade">
                                      <p:cBhvr>
                                        <p:cTn id="30"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2" grpId="0"/>
      <p:bldP spid="12" grpId="0"/>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图片 42">
            <a:extLst>
              <a:ext uri="{FF2B5EF4-FFF2-40B4-BE49-F238E27FC236}">
                <a16:creationId xmlns:a16="http://schemas.microsoft.com/office/drawing/2014/main" id="{C8D97DA4-6242-4E73-AEFC-457D04FDC65B}"/>
              </a:ext>
            </a:extLst>
          </p:cNvPr>
          <p:cNvPicPr>
            <a:picLocks noChangeAspect="1"/>
          </p:cNvPicPr>
          <p:nvPr/>
        </p:nvPicPr>
        <p:blipFill>
          <a:blip r:embed="rId3"/>
          <a:stretch>
            <a:fillRect/>
          </a:stretch>
        </p:blipFill>
        <p:spPr>
          <a:xfrm rot="16200000">
            <a:off x="145169" y="-145167"/>
            <a:ext cx="1268414" cy="1558750"/>
          </a:xfrm>
          <a:prstGeom prst="rect">
            <a:avLst/>
          </a:prstGeom>
        </p:spPr>
      </p:pic>
      <p:sp>
        <p:nvSpPr>
          <p:cNvPr id="6" name="文字方塊 5">
            <a:extLst>
              <a:ext uri="{FF2B5EF4-FFF2-40B4-BE49-F238E27FC236}">
                <a16:creationId xmlns:a16="http://schemas.microsoft.com/office/drawing/2014/main" id="{8A30B01A-3198-4955-A208-0E3D9EB60397}"/>
              </a:ext>
            </a:extLst>
          </p:cNvPr>
          <p:cNvSpPr txBox="1"/>
          <p:nvPr/>
        </p:nvSpPr>
        <p:spPr>
          <a:xfrm>
            <a:off x="1558751" y="6596390"/>
            <a:ext cx="4217821" cy="261610"/>
          </a:xfrm>
          <a:prstGeom prst="rect">
            <a:avLst/>
          </a:prstGeom>
          <a:noFill/>
        </p:spPr>
        <p:txBody>
          <a:bodyPr wrap="none" rtlCol="0">
            <a:spAutoFit/>
          </a:bodyPr>
          <a:lstStyle/>
          <a:p>
            <a:r>
              <a:rPr lang="zh-TW" altLang="en-US" sz="1100" dirty="0">
                <a:latin typeface="Microsoft JhengHei Light" panose="020B0304030504040204" pitchFamily="34" charset="-120"/>
                <a:ea typeface="Microsoft JhengHei Light" panose="020B0304030504040204" pitchFamily="34" charset="-120"/>
              </a:rPr>
              <a:t>區塊鏈商業應用概論 實例與分析／新陸書局股份有限公司 發行</a:t>
            </a:r>
          </a:p>
        </p:txBody>
      </p:sp>
      <p:sp>
        <p:nvSpPr>
          <p:cNvPr id="9" name="標題 1">
            <a:extLst>
              <a:ext uri="{FF2B5EF4-FFF2-40B4-BE49-F238E27FC236}">
                <a16:creationId xmlns:a16="http://schemas.microsoft.com/office/drawing/2014/main" id="{475DFFF1-7C37-4CBE-ACFC-3F348BCD20CC}"/>
              </a:ext>
            </a:extLst>
          </p:cNvPr>
          <p:cNvSpPr txBox="1">
            <a:spLocks/>
          </p:cNvSpPr>
          <p:nvPr/>
        </p:nvSpPr>
        <p:spPr>
          <a:xfrm>
            <a:off x="1231956" y="393820"/>
            <a:ext cx="3643527" cy="874595"/>
          </a:xfrm>
          <a:prstGeom prst="rect">
            <a:avLst/>
          </a:prstGeom>
        </p:spPr>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altLang="zh-TW" sz="2400" b="1" dirty="0">
                <a:solidFill>
                  <a:srgbClr val="E06741"/>
                </a:solidFill>
              </a:rPr>
              <a:t>2-2 </a:t>
            </a:r>
            <a:r>
              <a:rPr lang="zh-TW" altLang="en-US" sz="2400" b="1" dirty="0">
                <a:solidFill>
                  <a:srgbClr val="E06741"/>
                </a:solidFill>
              </a:rPr>
              <a:t>區塊鏈技術發展</a:t>
            </a:r>
          </a:p>
          <a:p>
            <a:endParaRPr lang="zh-TW" altLang="en-US" sz="2400" dirty="0">
              <a:solidFill>
                <a:srgbClr val="E06741"/>
              </a:solidFill>
              <a:latin typeface="標楷體" panose="03000509000000000000" pitchFamily="65" charset="-120"/>
              <a:ea typeface="標楷體" panose="03000509000000000000" pitchFamily="65" charset="-120"/>
              <a:cs typeface="Times New Roman" panose="02020603050405020304" pitchFamily="18" charset="0"/>
            </a:endParaRPr>
          </a:p>
        </p:txBody>
      </p:sp>
      <p:sp>
        <p:nvSpPr>
          <p:cNvPr id="2" name="文字方塊 1">
            <a:extLst>
              <a:ext uri="{FF2B5EF4-FFF2-40B4-BE49-F238E27FC236}">
                <a16:creationId xmlns:a16="http://schemas.microsoft.com/office/drawing/2014/main" id="{D6D66D7E-58A1-40BE-8070-FA1C3AF22B14}"/>
              </a:ext>
            </a:extLst>
          </p:cNvPr>
          <p:cNvSpPr txBox="1"/>
          <p:nvPr/>
        </p:nvSpPr>
        <p:spPr>
          <a:xfrm>
            <a:off x="1616588" y="1155065"/>
            <a:ext cx="9799557" cy="1553630"/>
          </a:xfrm>
          <a:prstGeom prst="rect">
            <a:avLst/>
          </a:prstGeom>
          <a:noFill/>
        </p:spPr>
        <p:txBody>
          <a:bodyPr wrap="square" rtlCol="0">
            <a:spAutoFit/>
          </a:bodyPr>
          <a:lstStyle/>
          <a:p>
            <a:pPr marL="342900" indent="-342900">
              <a:lnSpc>
                <a:spcPct val="150000"/>
              </a:lnSpc>
              <a:buSzPct val="100000"/>
              <a:buBlip>
                <a:blip r:embed="rId4"/>
              </a:buBlip>
            </a:pPr>
            <a:r>
              <a:rPr lang="zh-TW" altLang="en-US" sz="2200" b="1" dirty="0">
                <a:solidFill>
                  <a:schemeClr val="tx1">
                    <a:lumMod val="75000"/>
                    <a:lumOff val="25000"/>
                  </a:schemeClr>
                </a:solidFill>
                <a:latin typeface="微軟正黑體" panose="020B0604030504040204" pitchFamily="34" charset="-120"/>
                <a:ea typeface="微軟正黑體" panose="020B0604030504040204" pitchFamily="34" charset="-120"/>
              </a:rPr>
              <a:t>凡是更改任何一個區塊內容，都會導致後面所有區塊因為亂數（</a:t>
            </a:r>
            <a:r>
              <a:rPr lang="en-US" altLang="zh-TW" sz="2200" b="1" dirty="0">
                <a:solidFill>
                  <a:schemeClr val="tx1">
                    <a:lumMod val="75000"/>
                    <a:lumOff val="25000"/>
                  </a:schemeClr>
                </a:solidFill>
                <a:latin typeface="微軟正黑體" panose="020B0604030504040204" pitchFamily="34" charset="-120"/>
                <a:ea typeface="微軟正黑體" panose="020B0604030504040204" pitchFamily="34" charset="-120"/>
              </a:rPr>
              <a:t>Hash</a:t>
            </a:r>
            <a:r>
              <a:rPr lang="zh-TW" altLang="en-US" sz="2200" b="1" dirty="0">
                <a:solidFill>
                  <a:schemeClr val="tx1">
                    <a:lumMod val="75000"/>
                    <a:lumOff val="25000"/>
                  </a:schemeClr>
                </a:solidFill>
                <a:latin typeface="微軟正黑體" panose="020B0604030504040204" pitchFamily="34" charset="-120"/>
                <a:ea typeface="微軟正黑體" panose="020B0604030504040204" pitchFamily="34" charset="-120"/>
              </a:rPr>
              <a:t>）規則不符而變紅失效</a:t>
            </a:r>
            <a:endParaRPr lang="en-US" altLang="zh-TW" sz="2200" b="1" dirty="0">
              <a:solidFill>
                <a:schemeClr val="tx1">
                  <a:lumMod val="75000"/>
                  <a:lumOff val="25000"/>
                </a:schemeClr>
              </a:solidFill>
              <a:latin typeface="微軟正黑體" panose="020B0604030504040204" pitchFamily="34" charset="-120"/>
              <a:ea typeface="微軟正黑體" panose="020B0604030504040204" pitchFamily="34" charset="-120"/>
            </a:endParaRPr>
          </a:p>
          <a:p>
            <a:pPr marL="342900" indent="-342900">
              <a:lnSpc>
                <a:spcPct val="150000"/>
              </a:lnSpc>
              <a:buSzPct val="100000"/>
              <a:buBlip>
                <a:blip r:embed="rId4"/>
              </a:buBlip>
            </a:pPr>
            <a:r>
              <a:rPr lang="zh-TW" altLang="en-US" sz="2200" b="1" dirty="0">
                <a:solidFill>
                  <a:schemeClr val="tx1">
                    <a:lumMod val="75000"/>
                    <a:lumOff val="25000"/>
                  </a:schemeClr>
                </a:solidFill>
                <a:latin typeface="微軟正黑體" panose="020B0604030504040204" pitchFamily="34" charset="-120"/>
                <a:ea typeface="微軟正黑體" panose="020B0604030504040204" pitchFamily="34" charset="-120"/>
              </a:rPr>
              <a:t>這時候，你得從第一個紅色區塊開始重新</a:t>
            </a:r>
            <a:r>
              <a:rPr lang="en-US" altLang="zh-TW" sz="2200" b="1" dirty="0">
                <a:solidFill>
                  <a:schemeClr val="tx1">
                    <a:lumMod val="75000"/>
                    <a:lumOff val="25000"/>
                  </a:schemeClr>
                </a:solidFill>
                <a:latin typeface="微軟正黑體" panose="020B0604030504040204" pitchFamily="34" charset="-120"/>
                <a:ea typeface="微軟正黑體" panose="020B0604030504040204" pitchFamily="34" charset="-120"/>
              </a:rPr>
              <a:t>Mine</a:t>
            </a:r>
            <a:r>
              <a:rPr lang="zh-TW" altLang="en-US" sz="2200" b="1" dirty="0">
                <a:solidFill>
                  <a:schemeClr val="tx1">
                    <a:lumMod val="75000"/>
                    <a:lumOff val="25000"/>
                  </a:schemeClr>
                </a:solidFill>
                <a:latin typeface="微軟正黑體" panose="020B0604030504040204" pitchFamily="34" charset="-120"/>
                <a:ea typeface="微軟正黑體" panose="020B0604030504040204" pitchFamily="34" charset="-120"/>
              </a:rPr>
              <a:t>，逐個修改完一整條區塊鏈</a:t>
            </a:r>
            <a:endParaRPr lang="en-US" altLang="zh-TW" sz="2200" b="1" dirty="0">
              <a:solidFill>
                <a:schemeClr val="tx1">
                  <a:lumMod val="75000"/>
                  <a:lumOff val="25000"/>
                </a:schemeClr>
              </a:solidFill>
              <a:latin typeface="微軟正黑體" panose="020B0604030504040204" pitchFamily="34" charset="-120"/>
              <a:ea typeface="微軟正黑體" panose="020B0604030504040204" pitchFamily="34" charset="-120"/>
            </a:endParaRPr>
          </a:p>
        </p:txBody>
      </p:sp>
      <p:cxnSp>
        <p:nvCxnSpPr>
          <p:cNvPr id="26" name="直接连接符 33">
            <a:extLst>
              <a:ext uri="{FF2B5EF4-FFF2-40B4-BE49-F238E27FC236}">
                <a16:creationId xmlns:a16="http://schemas.microsoft.com/office/drawing/2014/main" id="{C3725E45-5458-4931-9D9A-B8C15AE6AC41}"/>
              </a:ext>
            </a:extLst>
          </p:cNvPr>
          <p:cNvCxnSpPr>
            <a:cxnSpLocks/>
          </p:cNvCxnSpPr>
          <p:nvPr/>
        </p:nvCxnSpPr>
        <p:spPr>
          <a:xfrm>
            <a:off x="1334185" y="1102164"/>
            <a:ext cx="10081960" cy="0"/>
          </a:xfrm>
          <a:prstGeom prst="line">
            <a:avLst/>
          </a:prstGeom>
          <a:ln w="190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12" name="文字方塊 11">
            <a:extLst>
              <a:ext uri="{FF2B5EF4-FFF2-40B4-BE49-F238E27FC236}">
                <a16:creationId xmlns:a16="http://schemas.microsoft.com/office/drawing/2014/main" id="{9FE02F65-A32E-4124-B1E6-8E45750976E4}"/>
              </a:ext>
            </a:extLst>
          </p:cNvPr>
          <p:cNvSpPr txBox="1"/>
          <p:nvPr/>
        </p:nvSpPr>
        <p:spPr>
          <a:xfrm>
            <a:off x="4487241" y="449166"/>
            <a:ext cx="3076483" cy="400110"/>
          </a:xfrm>
          <a:prstGeom prst="rect">
            <a:avLst/>
          </a:prstGeom>
          <a:noFill/>
        </p:spPr>
        <p:txBody>
          <a:bodyPr wrap="none" rtlCol="0">
            <a:spAutoFit/>
          </a:bodyPr>
          <a:lstStyle/>
          <a:p>
            <a:r>
              <a:rPr lang="en-US" altLang="zh-TW" sz="2000" b="1" dirty="0">
                <a:solidFill>
                  <a:schemeClr val="tx1">
                    <a:lumMod val="65000"/>
                    <a:lumOff val="35000"/>
                  </a:schemeClr>
                </a:solidFill>
                <a:latin typeface="微軟正黑體" panose="020B0604030504040204" pitchFamily="34" charset="-120"/>
                <a:ea typeface="微軟正黑體" panose="020B0604030504040204" pitchFamily="34" charset="-120"/>
                <a:cs typeface="Times New Roman" panose="02020603050405020304" pitchFamily="18" charset="0"/>
              </a:rPr>
              <a:t>-2</a:t>
            </a:r>
            <a:r>
              <a:rPr lang="zh-TW" altLang="en-US" sz="2000" b="1" dirty="0">
                <a:solidFill>
                  <a:schemeClr val="tx1">
                    <a:lumMod val="65000"/>
                    <a:lumOff val="35000"/>
                  </a:schemeClr>
                </a:solidFill>
                <a:latin typeface="微軟正黑體" panose="020B0604030504040204" pitchFamily="34" charset="-120"/>
                <a:ea typeface="微軟正黑體" panose="020B0604030504040204" pitchFamily="34" charset="-120"/>
                <a:cs typeface="Times New Roman" panose="02020603050405020304" pitchFamily="18" charset="0"/>
              </a:rPr>
              <a:t> 區塊鏈技術之基本要素</a:t>
            </a:r>
          </a:p>
        </p:txBody>
      </p:sp>
      <p:pic>
        <p:nvPicPr>
          <p:cNvPr id="11" name="圖片 10">
            <a:extLst>
              <a:ext uri="{FF2B5EF4-FFF2-40B4-BE49-F238E27FC236}">
                <a16:creationId xmlns:a16="http://schemas.microsoft.com/office/drawing/2014/main" id="{5216BEE3-47D6-4475-9E5F-E95B9891EB11}"/>
              </a:ext>
            </a:extLst>
          </p:cNvPr>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2247733" y="2897634"/>
            <a:ext cx="8691762" cy="3509816"/>
          </a:xfrm>
          <a:prstGeom prst="rect">
            <a:avLst/>
          </a:prstGeom>
          <a:noFill/>
          <a:ln>
            <a:noFill/>
          </a:ln>
        </p:spPr>
      </p:pic>
    </p:spTree>
    <p:extLst>
      <p:ext uri="{BB962C8B-B14F-4D97-AF65-F5344CB8AC3E}">
        <p14:creationId xmlns:p14="http://schemas.microsoft.com/office/powerpoint/2010/main" val="484346065"/>
      </p:ext>
    </p:extLst>
  </p:cSld>
  <p:clrMapOvr>
    <a:masterClrMapping/>
  </p:clrMapOvr>
  <mc:AlternateContent xmlns:mc="http://schemas.openxmlformats.org/markup-compatibility/2006">
    <mc:Choice xmlns:p14="http://schemas.microsoft.com/office/powerpoint/2010/main" Requires="p14">
      <p:transition spd="slow" p14:dur="1250">
        <p14:switch dir="r"/>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6" presetClass="entr" presetSubtype="16" fill="hold" grpId="0" nodeType="after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circle(in)">
                                      <p:cBhvr>
                                        <p:cTn id="7" dur="2000"/>
                                        <p:tgtEl>
                                          <p:spTgt spid="9"/>
                                        </p:tgtEl>
                                      </p:cBhvr>
                                    </p:animEffect>
                                  </p:childTnLst>
                                </p:cTn>
                              </p:par>
                            </p:childTnLst>
                          </p:cTn>
                        </p:par>
                        <p:par>
                          <p:cTn id="8" fill="hold">
                            <p:stCondLst>
                              <p:cond delay="2000"/>
                            </p:stCondLst>
                            <p:childTnLst>
                              <p:par>
                                <p:cTn id="9" presetID="14" presetClass="entr" presetSubtype="10" fill="hold" grpId="0" nodeType="afterEffect">
                                  <p:stCondLst>
                                    <p:cond delay="0"/>
                                  </p:stCondLst>
                                  <p:childTnLst>
                                    <p:set>
                                      <p:cBhvr>
                                        <p:cTn id="10" dur="1" fill="hold">
                                          <p:stCondLst>
                                            <p:cond delay="0"/>
                                          </p:stCondLst>
                                        </p:cTn>
                                        <p:tgtEl>
                                          <p:spTgt spid="12"/>
                                        </p:tgtEl>
                                        <p:attrNameLst>
                                          <p:attrName>style.visibility</p:attrName>
                                        </p:attrNameLst>
                                      </p:cBhvr>
                                      <p:to>
                                        <p:strVal val="visible"/>
                                      </p:to>
                                    </p:set>
                                    <p:animEffect transition="in" filter="randombar(horizontal)">
                                      <p:cBhvr>
                                        <p:cTn id="11" dur="500"/>
                                        <p:tgtEl>
                                          <p:spTgt spid="12"/>
                                        </p:tgtEl>
                                      </p:cBhvr>
                                    </p:animEffect>
                                  </p:childTnLst>
                                </p:cTn>
                              </p:par>
                            </p:childTnLst>
                          </p:cTn>
                        </p:par>
                        <p:par>
                          <p:cTn id="12" fill="hold">
                            <p:stCondLst>
                              <p:cond delay="2500"/>
                            </p:stCondLst>
                            <p:childTnLst>
                              <p:par>
                                <p:cTn id="13" presetID="2" presetClass="entr" presetSubtype="8" fill="hold" nodeType="afterEffect">
                                  <p:stCondLst>
                                    <p:cond delay="0"/>
                                  </p:stCondLst>
                                  <p:childTnLst>
                                    <p:set>
                                      <p:cBhvr>
                                        <p:cTn id="14" dur="1" fill="hold">
                                          <p:stCondLst>
                                            <p:cond delay="0"/>
                                          </p:stCondLst>
                                        </p:cTn>
                                        <p:tgtEl>
                                          <p:spTgt spid="26"/>
                                        </p:tgtEl>
                                        <p:attrNameLst>
                                          <p:attrName>style.visibility</p:attrName>
                                        </p:attrNameLst>
                                      </p:cBhvr>
                                      <p:to>
                                        <p:strVal val="visible"/>
                                      </p:to>
                                    </p:set>
                                    <p:anim calcmode="lin" valueType="num">
                                      <p:cBhvr additive="base">
                                        <p:cTn id="15" dur="500" fill="hold"/>
                                        <p:tgtEl>
                                          <p:spTgt spid="26"/>
                                        </p:tgtEl>
                                        <p:attrNameLst>
                                          <p:attrName>ppt_x</p:attrName>
                                        </p:attrNameLst>
                                      </p:cBhvr>
                                      <p:tavLst>
                                        <p:tav tm="0">
                                          <p:val>
                                            <p:strVal val="0-#ppt_w/2"/>
                                          </p:val>
                                        </p:tav>
                                        <p:tav tm="100000">
                                          <p:val>
                                            <p:strVal val="#ppt_x"/>
                                          </p:val>
                                        </p:tav>
                                      </p:tavLst>
                                    </p:anim>
                                    <p:anim calcmode="lin" valueType="num">
                                      <p:cBhvr additive="base">
                                        <p:cTn id="16" dur="500" fill="hold"/>
                                        <p:tgtEl>
                                          <p:spTgt spid="26"/>
                                        </p:tgtEl>
                                        <p:attrNameLst>
                                          <p:attrName>ppt_y</p:attrName>
                                        </p:attrNameLst>
                                      </p:cBhvr>
                                      <p:tavLst>
                                        <p:tav tm="0">
                                          <p:val>
                                            <p:strVal val="#ppt_y"/>
                                          </p:val>
                                        </p:tav>
                                        <p:tav tm="100000">
                                          <p:val>
                                            <p:strVal val="#ppt_y"/>
                                          </p:val>
                                        </p:tav>
                                      </p:tavLst>
                                    </p:anim>
                                  </p:childTnLst>
                                </p:cTn>
                              </p:par>
                            </p:childTnLst>
                          </p:cTn>
                        </p:par>
                        <p:par>
                          <p:cTn id="17" fill="hold">
                            <p:stCondLst>
                              <p:cond delay="3000"/>
                            </p:stCondLst>
                            <p:childTnLst>
                              <p:par>
                                <p:cTn id="18" presetID="16" presetClass="entr" presetSubtype="21" fill="hold" grpId="0" nodeType="afterEffect">
                                  <p:stCondLst>
                                    <p:cond delay="0"/>
                                  </p:stCondLst>
                                  <p:childTnLst>
                                    <p:set>
                                      <p:cBhvr>
                                        <p:cTn id="19" dur="1" fill="hold">
                                          <p:stCondLst>
                                            <p:cond delay="0"/>
                                          </p:stCondLst>
                                        </p:cTn>
                                        <p:tgtEl>
                                          <p:spTgt spid="2"/>
                                        </p:tgtEl>
                                        <p:attrNameLst>
                                          <p:attrName>style.visibility</p:attrName>
                                        </p:attrNameLst>
                                      </p:cBhvr>
                                      <p:to>
                                        <p:strVal val="visible"/>
                                      </p:to>
                                    </p:set>
                                    <p:animEffect transition="in" filter="barn(inVertical)">
                                      <p:cBhvr>
                                        <p:cTn id="20" dur="500"/>
                                        <p:tgtEl>
                                          <p:spTgt spid="2"/>
                                        </p:tgtEl>
                                      </p:cBhvr>
                                    </p:animEffect>
                                  </p:childTnLst>
                                </p:cTn>
                              </p:par>
                            </p:childTnLst>
                          </p:cTn>
                        </p:par>
                        <p:par>
                          <p:cTn id="21" fill="hold">
                            <p:stCondLst>
                              <p:cond delay="3500"/>
                            </p:stCondLst>
                            <p:childTnLst>
                              <p:par>
                                <p:cTn id="22" presetID="42" presetClass="entr" presetSubtype="0" fill="hold" nodeType="afterEffect">
                                  <p:stCondLst>
                                    <p:cond delay="0"/>
                                  </p:stCondLst>
                                  <p:childTnLst>
                                    <p:set>
                                      <p:cBhvr>
                                        <p:cTn id="23" dur="1" fill="hold">
                                          <p:stCondLst>
                                            <p:cond delay="0"/>
                                          </p:stCondLst>
                                        </p:cTn>
                                        <p:tgtEl>
                                          <p:spTgt spid="11"/>
                                        </p:tgtEl>
                                        <p:attrNameLst>
                                          <p:attrName>style.visibility</p:attrName>
                                        </p:attrNameLst>
                                      </p:cBhvr>
                                      <p:to>
                                        <p:strVal val="visible"/>
                                      </p:to>
                                    </p:set>
                                    <p:animEffect transition="in" filter="fade">
                                      <p:cBhvr>
                                        <p:cTn id="24" dur="1000"/>
                                        <p:tgtEl>
                                          <p:spTgt spid="11"/>
                                        </p:tgtEl>
                                      </p:cBhvr>
                                    </p:animEffect>
                                    <p:anim calcmode="lin" valueType="num">
                                      <p:cBhvr>
                                        <p:cTn id="25" dur="1000" fill="hold"/>
                                        <p:tgtEl>
                                          <p:spTgt spid="11"/>
                                        </p:tgtEl>
                                        <p:attrNameLst>
                                          <p:attrName>ppt_x</p:attrName>
                                        </p:attrNameLst>
                                      </p:cBhvr>
                                      <p:tavLst>
                                        <p:tav tm="0">
                                          <p:val>
                                            <p:strVal val="#ppt_x"/>
                                          </p:val>
                                        </p:tav>
                                        <p:tav tm="100000">
                                          <p:val>
                                            <p:strVal val="#ppt_x"/>
                                          </p:val>
                                        </p:tav>
                                      </p:tavLst>
                                    </p:anim>
                                    <p:anim calcmode="lin" valueType="num">
                                      <p:cBhvr>
                                        <p:cTn id="26" dur="1000" fill="hold"/>
                                        <p:tgtEl>
                                          <p:spTgt spid="11"/>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2" grpId="0"/>
      <p:bldP spid="12" grpId="0"/>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图片 42">
            <a:extLst>
              <a:ext uri="{FF2B5EF4-FFF2-40B4-BE49-F238E27FC236}">
                <a16:creationId xmlns:a16="http://schemas.microsoft.com/office/drawing/2014/main" id="{C8D97DA4-6242-4E73-AEFC-457D04FDC65B}"/>
              </a:ext>
            </a:extLst>
          </p:cNvPr>
          <p:cNvPicPr>
            <a:picLocks noChangeAspect="1"/>
          </p:cNvPicPr>
          <p:nvPr/>
        </p:nvPicPr>
        <p:blipFill>
          <a:blip r:embed="rId3"/>
          <a:stretch>
            <a:fillRect/>
          </a:stretch>
        </p:blipFill>
        <p:spPr>
          <a:xfrm rot="16200000">
            <a:off x="145169" y="-145167"/>
            <a:ext cx="1268414" cy="1558750"/>
          </a:xfrm>
          <a:prstGeom prst="rect">
            <a:avLst/>
          </a:prstGeom>
        </p:spPr>
      </p:pic>
      <p:sp>
        <p:nvSpPr>
          <p:cNvPr id="6" name="文字方塊 5">
            <a:extLst>
              <a:ext uri="{FF2B5EF4-FFF2-40B4-BE49-F238E27FC236}">
                <a16:creationId xmlns:a16="http://schemas.microsoft.com/office/drawing/2014/main" id="{8A30B01A-3198-4955-A208-0E3D9EB60397}"/>
              </a:ext>
            </a:extLst>
          </p:cNvPr>
          <p:cNvSpPr txBox="1"/>
          <p:nvPr/>
        </p:nvSpPr>
        <p:spPr>
          <a:xfrm>
            <a:off x="1558751" y="6596390"/>
            <a:ext cx="4217821" cy="261610"/>
          </a:xfrm>
          <a:prstGeom prst="rect">
            <a:avLst/>
          </a:prstGeom>
          <a:noFill/>
        </p:spPr>
        <p:txBody>
          <a:bodyPr wrap="none" rtlCol="0">
            <a:spAutoFit/>
          </a:bodyPr>
          <a:lstStyle/>
          <a:p>
            <a:r>
              <a:rPr lang="zh-TW" altLang="en-US" sz="1100" dirty="0">
                <a:latin typeface="Microsoft JhengHei Light" panose="020B0304030504040204" pitchFamily="34" charset="-120"/>
                <a:ea typeface="Microsoft JhengHei Light" panose="020B0304030504040204" pitchFamily="34" charset="-120"/>
              </a:rPr>
              <a:t>區塊鏈商業應用概論 實例與分析／新陸書局股份有限公司 發行</a:t>
            </a:r>
          </a:p>
        </p:txBody>
      </p:sp>
      <p:sp>
        <p:nvSpPr>
          <p:cNvPr id="9" name="標題 1">
            <a:extLst>
              <a:ext uri="{FF2B5EF4-FFF2-40B4-BE49-F238E27FC236}">
                <a16:creationId xmlns:a16="http://schemas.microsoft.com/office/drawing/2014/main" id="{475DFFF1-7C37-4CBE-ACFC-3F348BCD20CC}"/>
              </a:ext>
            </a:extLst>
          </p:cNvPr>
          <p:cNvSpPr txBox="1">
            <a:spLocks/>
          </p:cNvSpPr>
          <p:nvPr/>
        </p:nvSpPr>
        <p:spPr>
          <a:xfrm>
            <a:off x="1231956" y="393820"/>
            <a:ext cx="3643527" cy="874595"/>
          </a:xfrm>
          <a:prstGeom prst="rect">
            <a:avLst/>
          </a:prstGeom>
        </p:spPr>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altLang="zh-TW" sz="2400" b="1" dirty="0">
                <a:solidFill>
                  <a:srgbClr val="E06741"/>
                </a:solidFill>
              </a:rPr>
              <a:t>2-2 </a:t>
            </a:r>
            <a:r>
              <a:rPr lang="zh-TW" altLang="en-US" sz="2400" b="1" dirty="0">
                <a:solidFill>
                  <a:srgbClr val="E06741"/>
                </a:solidFill>
              </a:rPr>
              <a:t>區塊鏈技術發展</a:t>
            </a:r>
          </a:p>
          <a:p>
            <a:endParaRPr lang="zh-TW" altLang="en-US" sz="2400" dirty="0">
              <a:solidFill>
                <a:srgbClr val="E06741"/>
              </a:solidFill>
              <a:latin typeface="標楷體" panose="03000509000000000000" pitchFamily="65" charset="-120"/>
              <a:ea typeface="標楷體" panose="03000509000000000000" pitchFamily="65" charset="-120"/>
              <a:cs typeface="Times New Roman" panose="02020603050405020304" pitchFamily="18" charset="0"/>
            </a:endParaRPr>
          </a:p>
        </p:txBody>
      </p:sp>
      <p:sp>
        <p:nvSpPr>
          <p:cNvPr id="2" name="文字方塊 1">
            <a:extLst>
              <a:ext uri="{FF2B5EF4-FFF2-40B4-BE49-F238E27FC236}">
                <a16:creationId xmlns:a16="http://schemas.microsoft.com/office/drawing/2014/main" id="{D6D66D7E-58A1-40BE-8070-FA1C3AF22B14}"/>
              </a:ext>
            </a:extLst>
          </p:cNvPr>
          <p:cNvSpPr txBox="1"/>
          <p:nvPr/>
        </p:nvSpPr>
        <p:spPr>
          <a:xfrm>
            <a:off x="1558751" y="1363053"/>
            <a:ext cx="9608251" cy="2979149"/>
          </a:xfrm>
          <a:prstGeom prst="rect">
            <a:avLst/>
          </a:prstGeom>
          <a:noFill/>
        </p:spPr>
        <p:txBody>
          <a:bodyPr wrap="square" rtlCol="0">
            <a:spAutoFit/>
          </a:bodyPr>
          <a:lstStyle/>
          <a:p>
            <a:pPr marL="342900" indent="-342900">
              <a:lnSpc>
                <a:spcPct val="150000"/>
              </a:lnSpc>
              <a:buSzPct val="100000"/>
              <a:buBlip>
                <a:blip r:embed="rId4"/>
              </a:buBlip>
            </a:pPr>
            <a:r>
              <a:rPr lang="zh-TW" altLang="en-US" sz="2400" b="1" dirty="0">
                <a:solidFill>
                  <a:schemeClr val="tx1">
                    <a:lumMod val="75000"/>
                    <a:lumOff val="25000"/>
                  </a:schemeClr>
                </a:solidFill>
                <a:latin typeface="微軟正黑體" panose="020B0604030504040204" pitchFamily="34" charset="-120"/>
                <a:ea typeface="微軟正黑體" panose="020B0604030504040204" pitchFamily="34" charset="-120"/>
              </a:rPr>
              <a:t>多中心化的管理模式起源於藉助多個組織或個體共同管理公共事物及提供公共服務，避免單一權力中心或組織的專權或專制</a:t>
            </a:r>
          </a:p>
          <a:p>
            <a:pPr marL="800100" lvl="1" indent="-342900">
              <a:lnSpc>
                <a:spcPct val="150000"/>
              </a:lnSpc>
              <a:buSzPct val="100000"/>
              <a:buBlip>
                <a:blip r:embed="rId4"/>
              </a:buBlip>
            </a:pPr>
            <a:r>
              <a:rPr lang="zh-TW" altLang="en-US" sz="2400" b="1" dirty="0">
                <a:solidFill>
                  <a:schemeClr val="tx1">
                    <a:lumMod val="75000"/>
                    <a:lumOff val="25000"/>
                  </a:schemeClr>
                </a:solidFill>
                <a:latin typeface="微軟正黑體" panose="020B0604030504040204" pitchFamily="34" charset="-120"/>
                <a:ea typeface="微軟正黑體" panose="020B0604030504040204" pitchFamily="34" charset="-120"/>
              </a:rPr>
              <a:t>這樣的概念被移轉至區塊鏈技術之內，建立多數節點的管理機制模式，交易紀錄也會採區塊式的方式進行儲存的動作</a:t>
            </a:r>
            <a:endParaRPr lang="en-US" altLang="zh-TW" sz="2400" b="1" dirty="0">
              <a:solidFill>
                <a:schemeClr val="tx1">
                  <a:lumMod val="75000"/>
                  <a:lumOff val="25000"/>
                </a:schemeClr>
              </a:solidFill>
              <a:latin typeface="微軟正黑體" panose="020B0604030504040204" pitchFamily="34" charset="-120"/>
              <a:ea typeface="微軟正黑體" panose="020B0604030504040204" pitchFamily="34" charset="-120"/>
            </a:endParaRPr>
          </a:p>
          <a:p>
            <a:pPr marL="800100" lvl="1" indent="-342900">
              <a:lnSpc>
                <a:spcPct val="150000"/>
              </a:lnSpc>
              <a:buSzPct val="100000"/>
              <a:buBlip>
                <a:blip r:embed="rId4"/>
              </a:buBlip>
            </a:pPr>
            <a:endParaRPr lang="en-US" altLang="zh-TW" sz="800" b="1" dirty="0">
              <a:solidFill>
                <a:schemeClr val="tx1">
                  <a:lumMod val="75000"/>
                  <a:lumOff val="25000"/>
                </a:schemeClr>
              </a:solidFill>
              <a:latin typeface="微軟正黑體" panose="020B0604030504040204" pitchFamily="34" charset="-120"/>
              <a:ea typeface="微軟正黑體" panose="020B0604030504040204" pitchFamily="34" charset="-120"/>
            </a:endParaRPr>
          </a:p>
          <a:p>
            <a:pPr marL="342900" indent="-342900">
              <a:lnSpc>
                <a:spcPct val="150000"/>
              </a:lnSpc>
              <a:buSzPct val="100000"/>
              <a:buBlip>
                <a:blip r:embed="rId4"/>
              </a:buBlip>
            </a:pPr>
            <a:r>
              <a:rPr lang="zh-TW" altLang="en-US" sz="2400" b="1" dirty="0">
                <a:solidFill>
                  <a:schemeClr val="tx1">
                    <a:lumMod val="75000"/>
                    <a:lumOff val="25000"/>
                  </a:schemeClr>
                </a:solidFill>
                <a:latin typeface="微軟正黑體" panose="020B0604030504040204" pitchFamily="34" charset="-120"/>
                <a:ea typeface="微軟正黑體" panose="020B0604030504040204" pitchFamily="34" charset="-120"/>
              </a:rPr>
              <a:t>加注多數決機制，提高交易的準確性，提升交易資料的可信度</a:t>
            </a:r>
            <a:endParaRPr lang="en-US" altLang="zh-TW" sz="2400" b="1" dirty="0">
              <a:solidFill>
                <a:srgbClr val="495B73"/>
              </a:solidFill>
              <a:latin typeface="微軟正黑體" panose="020B0604030504040204" pitchFamily="34" charset="-120"/>
              <a:ea typeface="微軟正黑體" panose="020B0604030504040204" pitchFamily="34" charset="-120"/>
            </a:endParaRPr>
          </a:p>
        </p:txBody>
      </p:sp>
      <p:cxnSp>
        <p:nvCxnSpPr>
          <p:cNvPr id="26" name="直接连接符 33">
            <a:extLst>
              <a:ext uri="{FF2B5EF4-FFF2-40B4-BE49-F238E27FC236}">
                <a16:creationId xmlns:a16="http://schemas.microsoft.com/office/drawing/2014/main" id="{C3725E45-5458-4931-9D9A-B8C15AE6AC41}"/>
              </a:ext>
            </a:extLst>
          </p:cNvPr>
          <p:cNvCxnSpPr>
            <a:cxnSpLocks/>
          </p:cNvCxnSpPr>
          <p:nvPr/>
        </p:nvCxnSpPr>
        <p:spPr>
          <a:xfrm>
            <a:off x="1334185" y="1102164"/>
            <a:ext cx="10081960" cy="0"/>
          </a:xfrm>
          <a:prstGeom prst="line">
            <a:avLst/>
          </a:prstGeom>
          <a:ln w="190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12" name="文字方塊 11">
            <a:extLst>
              <a:ext uri="{FF2B5EF4-FFF2-40B4-BE49-F238E27FC236}">
                <a16:creationId xmlns:a16="http://schemas.microsoft.com/office/drawing/2014/main" id="{9FE02F65-A32E-4124-B1E6-8E45750976E4}"/>
              </a:ext>
            </a:extLst>
          </p:cNvPr>
          <p:cNvSpPr txBox="1"/>
          <p:nvPr/>
        </p:nvSpPr>
        <p:spPr>
          <a:xfrm>
            <a:off x="4487241" y="449166"/>
            <a:ext cx="3076483" cy="400110"/>
          </a:xfrm>
          <a:prstGeom prst="rect">
            <a:avLst/>
          </a:prstGeom>
          <a:noFill/>
        </p:spPr>
        <p:txBody>
          <a:bodyPr wrap="none" rtlCol="0">
            <a:spAutoFit/>
          </a:bodyPr>
          <a:lstStyle/>
          <a:p>
            <a:r>
              <a:rPr lang="en-US" altLang="zh-TW" sz="2000" b="1" dirty="0">
                <a:solidFill>
                  <a:schemeClr val="tx1">
                    <a:lumMod val="65000"/>
                    <a:lumOff val="35000"/>
                  </a:schemeClr>
                </a:solidFill>
                <a:latin typeface="微軟正黑體" panose="020B0604030504040204" pitchFamily="34" charset="-120"/>
                <a:ea typeface="微軟正黑體" panose="020B0604030504040204" pitchFamily="34" charset="-120"/>
                <a:cs typeface="Times New Roman" panose="02020603050405020304" pitchFamily="18" charset="0"/>
              </a:rPr>
              <a:t>-2</a:t>
            </a:r>
            <a:r>
              <a:rPr lang="zh-TW" altLang="en-US" sz="2000" b="1" dirty="0">
                <a:solidFill>
                  <a:schemeClr val="tx1">
                    <a:lumMod val="65000"/>
                    <a:lumOff val="35000"/>
                  </a:schemeClr>
                </a:solidFill>
                <a:latin typeface="微軟正黑體" panose="020B0604030504040204" pitchFamily="34" charset="-120"/>
                <a:ea typeface="微軟正黑體" panose="020B0604030504040204" pitchFamily="34" charset="-120"/>
                <a:cs typeface="Times New Roman" panose="02020603050405020304" pitchFamily="18" charset="0"/>
              </a:rPr>
              <a:t> 區塊鏈技術之基本要素</a:t>
            </a:r>
          </a:p>
        </p:txBody>
      </p:sp>
      <p:pic>
        <p:nvPicPr>
          <p:cNvPr id="4" name="圖片 3" descr="一張含有 文字, 向量圖形 的圖片&#10;&#10;描述是以非常高的可信度產生">
            <a:extLst>
              <a:ext uri="{FF2B5EF4-FFF2-40B4-BE49-F238E27FC236}">
                <a16:creationId xmlns:a16="http://schemas.microsoft.com/office/drawing/2014/main" id="{4AFFF054-74BF-447D-B52B-FBF22F929168}"/>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9143999" y="4702890"/>
            <a:ext cx="2105892" cy="2105892"/>
          </a:xfrm>
          <a:prstGeom prst="rect">
            <a:avLst/>
          </a:prstGeom>
        </p:spPr>
      </p:pic>
    </p:spTree>
    <p:extLst>
      <p:ext uri="{BB962C8B-B14F-4D97-AF65-F5344CB8AC3E}">
        <p14:creationId xmlns:p14="http://schemas.microsoft.com/office/powerpoint/2010/main" val="1082470558"/>
      </p:ext>
    </p:extLst>
  </p:cSld>
  <p:clrMapOvr>
    <a:masterClrMapping/>
  </p:clrMapOvr>
  <mc:AlternateContent xmlns:mc="http://schemas.openxmlformats.org/markup-compatibility/2006">
    <mc:Choice xmlns:p14="http://schemas.microsoft.com/office/powerpoint/2010/main" Requires="p14">
      <p:transition spd="slow" p14:dur="1500">
        <p14:window dir="ver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6" presetClass="entr" presetSubtype="16" fill="hold" grpId="0" nodeType="after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circle(in)">
                                      <p:cBhvr>
                                        <p:cTn id="7" dur="2000"/>
                                        <p:tgtEl>
                                          <p:spTgt spid="9"/>
                                        </p:tgtEl>
                                      </p:cBhvr>
                                    </p:animEffect>
                                  </p:childTnLst>
                                </p:cTn>
                              </p:par>
                            </p:childTnLst>
                          </p:cTn>
                        </p:par>
                        <p:par>
                          <p:cTn id="8" fill="hold">
                            <p:stCondLst>
                              <p:cond delay="2000"/>
                            </p:stCondLst>
                            <p:childTnLst>
                              <p:par>
                                <p:cTn id="9" presetID="14" presetClass="entr" presetSubtype="10" fill="hold" grpId="0" nodeType="afterEffect">
                                  <p:stCondLst>
                                    <p:cond delay="0"/>
                                  </p:stCondLst>
                                  <p:childTnLst>
                                    <p:set>
                                      <p:cBhvr>
                                        <p:cTn id="10" dur="1" fill="hold">
                                          <p:stCondLst>
                                            <p:cond delay="0"/>
                                          </p:stCondLst>
                                        </p:cTn>
                                        <p:tgtEl>
                                          <p:spTgt spid="12"/>
                                        </p:tgtEl>
                                        <p:attrNameLst>
                                          <p:attrName>style.visibility</p:attrName>
                                        </p:attrNameLst>
                                      </p:cBhvr>
                                      <p:to>
                                        <p:strVal val="visible"/>
                                      </p:to>
                                    </p:set>
                                    <p:animEffect transition="in" filter="randombar(horizontal)">
                                      <p:cBhvr>
                                        <p:cTn id="11" dur="500"/>
                                        <p:tgtEl>
                                          <p:spTgt spid="12"/>
                                        </p:tgtEl>
                                      </p:cBhvr>
                                    </p:animEffect>
                                  </p:childTnLst>
                                </p:cTn>
                              </p:par>
                            </p:childTnLst>
                          </p:cTn>
                        </p:par>
                        <p:par>
                          <p:cTn id="12" fill="hold">
                            <p:stCondLst>
                              <p:cond delay="2500"/>
                            </p:stCondLst>
                            <p:childTnLst>
                              <p:par>
                                <p:cTn id="13" presetID="2" presetClass="entr" presetSubtype="8" fill="hold" nodeType="afterEffect">
                                  <p:stCondLst>
                                    <p:cond delay="0"/>
                                  </p:stCondLst>
                                  <p:childTnLst>
                                    <p:set>
                                      <p:cBhvr>
                                        <p:cTn id="14" dur="1" fill="hold">
                                          <p:stCondLst>
                                            <p:cond delay="0"/>
                                          </p:stCondLst>
                                        </p:cTn>
                                        <p:tgtEl>
                                          <p:spTgt spid="26"/>
                                        </p:tgtEl>
                                        <p:attrNameLst>
                                          <p:attrName>style.visibility</p:attrName>
                                        </p:attrNameLst>
                                      </p:cBhvr>
                                      <p:to>
                                        <p:strVal val="visible"/>
                                      </p:to>
                                    </p:set>
                                    <p:anim calcmode="lin" valueType="num">
                                      <p:cBhvr additive="base">
                                        <p:cTn id="15" dur="500" fill="hold"/>
                                        <p:tgtEl>
                                          <p:spTgt spid="26"/>
                                        </p:tgtEl>
                                        <p:attrNameLst>
                                          <p:attrName>ppt_x</p:attrName>
                                        </p:attrNameLst>
                                      </p:cBhvr>
                                      <p:tavLst>
                                        <p:tav tm="0">
                                          <p:val>
                                            <p:strVal val="0-#ppt_w/2"/>
                                          </p:val>
                                        </p:tav>
                                        <p:tav tm="100000">
                                          <p:val>
                                            <p:strVal val="#ppt_x"/>
                                          </p:val>
                                        </p:tav>
                                      </p:tavLst>
                                    </p:anim>
                                    <p:anim calcmode="lin" valueType="num">
                                      <p:cBhvr additive="base">
                                        <p:cTn id="16" dur="500" fill="hold"/>
                                        <p:tgtEl>
                                          <p:spTgt spid="26"/>
                                        </p:tgtEl>
                                        <p:attrNameLst>
                                          <p:attrName>ppt_y</p:attrName>
                                        </p:attrNameLst>
                                      </p:cBhvr>
                                      <p:tavLst>
                                        <p:tav tm="0">
                                          <p:val>
                                            <p:strVal val="#ppt_y"/>
                                          </p:val>
                                        </p:tav>
                                        <p:tav tm="100000">
                                          <p:val>
                                            <p:strVal val="#ppt_y"/>
                                          </p:val>
                                        </p:tav>
                                      </p:tavLst>
                                    </p:anim>
                                  </p:childTnLst>
                                </p:cTn>
                              </p:par>
                            </p:childTnLst>
                          </p:cTn>
                        </p:par>
                        <p:par>
                          <p:cTn id="17" fill="hold">
                            <p:stCondLst>
                              <p:cond delay="3000"/>
                            </p:stCondLst>
                            <p:childTnLst>
                              <p:par>
                                <p:cTn id="18" presetID="16" presetClass="entr" presetSubtype="21" fill="hold" grpId="0" nodeType="afterEffect">
                                  <p:stCondLst>
                                    <p:cond delay="0"/>
                                  </p:stCondLst>
                                  <p:childTnLst>
                                    <p:set>
                                      <p:cBhvr>
                                        <p:cTn id="19" dur="1" fill="hold">
                                          <p:stCondLst>
                                            <p:cond delay="0"/>
                                          </p:stCondLst>
                                        </p:cTn>
                                        <p:tgtEl>
                                          <p:spTgt spid="2"/>
                                        </p:tgtEl>
                                        <p:attrNameLst>
                                          <p:attrName>style.visibility</p:attrName>
                                        </p:attrNameLst>
                                      </p:cBhvr>
                                      <p:to>
                                        <p:strVal val="visible"/>
                                      </p:to>
                                    </p:set>
                                    <p:animEffect transition="in" filter="barn(inVertical)">
                                      <p:cBhvr>
                                        <p:cTn id="20"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2" grpId="0"/>
      <p:bldP spid="12" grpId="0"/>
    </p:bld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图片 42">
            <a:extLst>
              <a:ext uri="{FF2B5EF4-FFF2-40B4-BE49-F238E27FC236}">
                <a16:creationId xmlns:a16="http://schemas.microsoft.com/office/drawing/2014/main" id="{C8D97DA4-6242-4E73-AEFC-457D04FDC65B}"/>
              </a:ext>
            </a:extLst>
          </p:cNvPr>
          <p:cNvPicPr>
            <a:picLocks noChangeAspect="1"/>
          </p:cNvPicPr>
          <p:nvPr/>
        </p:nvPicPr>
        <p:blipFill>
          <a:blip r:embed="rId3"/>
          <a:stretch>
            <a:fillRect/>
          </a:stretch>
        </p:blipFill>
        <p:spPr>
          <a:xfrm rot="16200000">
            <a:off x="145169" y="-145167"/>
            <a:ext cx="1268414" cy="1558750"/>
          </a:xfrm>
          <a:prstGeom prst="rect">
            <a:avLst/>
          </a:prstGeom>
        </p:spPr>
      </p:pic>
      <p:sp>
        <p:nvSpPr>
          <p:cNvPr id="6" name="文字方塊 5">
            <a:extLst>
              <a:ext uri="{FF2B5EF4-FFF2-40B4-BE49-F238E27FC236}">
                <a16:creationId xmlns:a16="http://schemas.microsoft.com/office/drawing/2014/main" id="{8A30B01A-3198-4955-A208-0E3D9EB60397}"/>
              </a:ext>
            </a:extLst>
          </p:cNvPr>
          <p:cNvSpPr txBox="1"/>
          <p:nvPr/>
        </p:nvSpPr>
        <p:spPr>
          <a:xfrm>
            <a:off x="1558751" y="6596390"/>
            <a:ext cx="4217821" cy="261610"/>
          </a:xfrm>
          <a:prstGeom prst="rect">
            <a:avLst/>
          </a:prstGeom>
          <a:noFill/>
        </p:spPr>
        <p:txBody>
          <a:bodyPr wrap="none" rtlCol="0">
            <a:spAutoFit/>
          </a:bodyPr>
          <a:lstStyle/>
          <a:p>
            <a:r>
              <a:rPr lang="zh-TW" altLang="en-US" sz="1100" dirty="0">
                <a:latin typeface="Microsoft JhengHei Light" panose="020B0304030504040204" pitchFamily="34" charset="-120"/>
                <a:ea typeface="Microsoft JhengHei Light" panose="020B0304030504040204" pitchFamily="34" charset="-120"/>
              </a:rPr>
              <a:t>區塊鏈商業應用概論 實例與分析／新陸書局股份有限公司 發行</a:t>
            </a:r>
          </a:p>
        </p:txBody>
      </p:sp>
      <p:sp>
        <p:nvSpPr>
          <p:cNvPr id="9" name="標題 1">
            <a:extLst>
              <a:ext uri="{FF2B5EF4-FFF2-40B4-BE49-F238E27FC236}">
                <a16:creationId xmlns:a16="http://schemas.microsoft.com/office/drawing/2014/main" id="{475DFFF1-7C37-4CBE-ACFC-3F348BCD20CC}"/>
              </a:ext>
            </a:extLst>
          </p:cNvPr>
          <p:cNvSpPr txBox="1">
            <a:spLocks/>
          </p:cNvSpPr>
          <p:nvPr/>
        </p:nvSpPr>
        <p:spPr>
          <a:xfrm>
            <a:off x="1231956" y="393820"/>
            <a:ext cx="3643527" cy="874595"/>
          </a:xfrm>
          <a:prstGeom prst="rect">
            <a:avLst/>
          </a:prstGeom>
        </p:spPr>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altLang="zh-TW" sz="2400" b="1" dirty="0">
                <a:solidFill>
                  <a:srgbClr val="E06741"/>
                </a:solidFill>
              </a:rPr>
              <a:t>2-2 </a:t>
            </a:r>
            <a:r>
              <a:rPr lang="zh-TW" altLang="en-US" sz="2400" b="1" dirty="0">
                <a:solidFill>
                  <a:srgbClr val="E06741"/>
                </a:solidFill>
              </a:rPr>
              <a:t>區塊鏈技術發展</a:t>
            </a:r>
          </a:p>
          <a:p>
            <a:endParaRPr lang="zh-TW" altLang="en-US" sz="2400" dirty="0">
              <a:solidFill>
                <a:srgbClr val="E06741"/>
              </a:solidFill>
              <a:latin typeface="標楷體" panose="03000509000000000000" pitchFamily="65" charset="-120"/>
              <a:ea typeface="標楷體" panose="03000509000000000000" pitchFamily="65" charset="-120"/>
              <a:cs typeface="Times New Roman" panose="02020603050405020304" pitchFamily="18" charset="0"/>
            </a:endParaRPr>
          </a:p>
        </p:txBody>
      </p:sp>
      <p:sp>
        <p:nvSpPr>
          <p:cNvPr id="2" name="文字方塊 1">
            <a:extLst>
              <a:ext uri="{FF2B5EF4-FFF2-40B4-BE49-F238E27FC236}">
                <a16:creationId xmlns:a16="http://schemas.microsoft.com/office/drawing/2014/main" id="{D6D66D7E-58A1-40BE-8070-FA1C3AF22B14}"/>
              </a:ext>
            </a:extLst>
          </p:cNvPr>
          <p:cNvSpPr txBox="1"/>
          <p:nvPr/>
        </p:nvSpPr>
        <p:spPr>
          <a:xfrm>
            <a:off x="1881786" y="1118772"/>
            <a:ext cx="9799557" cy="578492"/>
          </a:xfrm>
          <a:prstGeom prst="rect">
            <a:avLst/>
          </a:prstGeom>
          <a:noFill/>
        </p:spPr>
        <p:txBody>
          <a:bodyPr wrap="square" rtlCol="0">
            <a:spAutoFit/>
          </a:bodyPr>
          <a:lstStyle/>
          <a:p>
            <a:pPr marL="342900" indent="-342900">
              <a:lnSpc>
                <a:spcPct val="150000"/>
              </a:lnSpc>
              <a:buSzPct val="100000"/>
              <a:buBlip>
                <a:blip r:embed="rId4"/>
              </a:buBlip>
            </a:pPr>
            <a:r>
              <a:rPr lang="zh-TW" altLang="en-US" sz="2400" b="1" dirty="0">
                <a:solidFill>
                  <a:schemeClr val="tx1">
                    <a:lumMod val="75000"/>
                    <a:lumOff val="25000"/>
                  </a:schemeClr>
                </a:solidFill>
                <a:latin typeface="微軟正黑體" panose="020B0604030504040204" pitchFamily="34" charset="-120"/>
                <a:ea typeface="微軟正黑體" panose="020B0604030504040204" pitchFamily="34" charset="-120"/>
              </a:rPr>
              <a:t>多數決機制的特性</a:t>
            </a:r>
            <a:endParaRPr lang="en-US" altLang="zh-TW" sz="2400" b="1" dirty="0">
              <a:solidFill>
                <a:schemeClr val="tx1">
                  <a:lumMod val="75000"/>
                  <a:lumOff val="25000"/>
                </a:schemeClr>
              </a:solidFill>
              <a:latin typeface="微軟正黑體" panose="020B0604030504040204" pitchFamily="34" charset="-120"/>
              <a:ea typeface="微軟正黑體" panose="020B0604030504040204" pitchFamily="34" charset="-120"/>
            </a:endParaRPr>
          </a:p>
        </p:txBody>
      </p:sp>
      <p:cxnSp>
        <p:nvCxnSpPr>
          <p:cNvPr id="26" name="直接连接符 33">
            <a:extLst>
              <a:ext uri="{FF2B5EF4-FFF2-40B4-BE49-F238E27FC236}">
                <a16:creationId xmlns:a16="http://schemas.microsoft.com/office/drawing/2014/main" id="{C3725E45-5458-4931-9D9A-B8C15AE6AC41}"/>
              </a:ext>
            </a:extLst>
          </p:cNvPr>
          <p:cNvCxnSpPr>
            <a:cxnSpLocks/>
          </p:cNvCxnSpPr>
          <p:nvPr/>
        </p:nvCxnSpPr>
        <p:spPr>
          <a:xfrm>
            <a:off x="1334185" y="1102164"/>
            <a:ext cx="10081960" cy="0"/>
          </a:xfrm>
          <a:prstGeom prst="line">
            <a:avLst/>
          </a:prstGeom>
          <a:ln w="190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12" name="文字方塊 11">
            <a:extLst>
              <a:ext uri="{FF2B5EF4-FFF2-40B4-BE49-F238E27FC236}">
                <a16:creationId xmlns:a16="http://schemas.microsoft.com/office/drawing/2014/main" id="{9FE02F65-A32E-4124-B1E6-8E45750976E4}"/>
              </a:ext>
            </a:extLst>
          </p:cNvPr>
          <p:cNvSpPr txBox="1"/>
          <p:nvPr/>
        </p:nvSpPr>
        <p:spPr>
          <a:xfrm>
            <a:off x="4487241" y="449166"/>
            <a:ext cx="3076483" cy="400110"/>
          </a:xfrm>
          <a:prstGeom prst="rect">
            <a:avLst/>
          </a:prstGeom>
          <a:noFill/>
        </p:spPr>
        <p:txBody>
          <a:bodyPr wrap="none" rtlCol="0">
            <a:spAutoFit/>
          </a:bodyPr>
          <a:lstStyle/>
          <a:p>
            <a:r>
              <a:rPr lang="en-US" altLang="zh-TW" sz="2000" b="1" dirty="0">
                <a:solidFill>
                  <a:schemeClr val="tx1">
                    <a:lumMod val="65000"/>
                    <a:lumOff val="35000"/>
                  </a:schemeClr>
                </a:solidFill>
                <a:latin typeface="微軟正黑體" panose="020B0604030504040204" pitchFamily="34" charset="-120"/>
                <a:ea typeface="微軟正黑體" panose="020B0604030504040204" pitchFamily="34" charset="-120"/>
                <a:cs typeface="Times New Roman" panose="02020603050405020304" pitchFamily="18" charset="0"/>
              </a:rPr>
              <a:t>-2</a:t>
            </a:r>
            <a:r>
              <a:rPr lang="zh-TW" altLang="en-US" sz="2000" b="1" dirty="0">
                <a:solidFill>
                  <a:schemeClr val="tx1">
                    <a:lumMod val="65000"/>
                    <a:lumOff val="35000"/>
                  </a:schemeClr>
                </a:solidFill>
                <a:latin typeface="微軟正黑體" panose="020B0604030504040204" pitchFamily="34" charset="-120"/>
                <a:ea typeface="微軟正黑體" panose="020B0604030504040204" pitchFamily="34" charset="-120"/>
                <a:cs typeface="Times New Roman" panose="02020603050405020304" pitchFamily="18" charset="0"/>
              </a:rPr>
              <a:t> 區塊鏈技術之基本要素</a:t>
            </a:r>
          </a:p>
        </p:txBody>
      </p:sp>
      <p:graphicFrame>
        <p:nvGraphicFramePr>
          <p:cNvPr id="10" name="資料庫圖表 9">
            <a:extLst>
              <a:ext uri="{FF2B5EF4-FFF2-40B4-BE49-F238E27FC236}">
                <a16:creationId xmlns:a16="http://schemas.microsoft.com/office/drawing/2014/main" id="{B2F649E3-C410-4A81-9E5B-44026253E6A3}"/>
              </a:ext>
            </a:extLst>
          </p:cNvPr>
          <p:cNvGraphicFramePr/>
          <p:nvPr>
            <p:extLst>
              <p:ext uri="{D42A27DB-BD31-4B8C-83A1-F6EECF244321}">
                <p14:modId xmlns:p14="http://schemas.microsoft.com/office/powerpoint/2010/main" val="495402204"/>
              </p:ext>
            </p:extLst>
          </p:nvPr>
        </p:nvGraphicFramePr>
        <p:xfrm>
          <a:off x="2890456" y="1784044"/>
          <a:ext cx="6969418" cy="4646278"/>
        </p:xfrm>
        <a:graphic>
          <a:graphicData uri="http://schemas.openxmlformats.org/drawingml/2006/diagram">
            <dgm:relIds xmlns:dgm="http://schemas.openxmlformats.org/drawingml/2006/diagram" xmlns:r="http://schemas.openxmlformats.org/officeDocument/2006/relationships" r:dm="rId5" r:lo="rId6" r:qs="rId7" r:cs="rId8"/>
          </a:graphicData>
        </a:graphic>
      </p:graphicFrame>
    </p:spTree>
    <p:extLst>
      <p:ext uri="{BB962C8B-B14F-4D97-AF65-F5344CB8AC3E}">
        <p14:creationId xmlns:p14="http://schemas.microsoft.com/office/powerpoint/2010/main" val="4104908746"/>
      </p:ext>
    </p:extLst>
  </p:cSld>
  <p:clrMapOvr>
    <a:masterClrMapping/>
  </p:clrMapOvr>
  <mc:AlternateContent xmlns:mc="http://schemas.openxmlformats.org/markup-compatibility/2006">
    <mc:Choice xmlns:p14="http://schemas.microsoft.com/office/powerpoint/2010/main" Requires="p14">
      <p:transition spd="slow" p14:dur="1200">
        <p14:prism/>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6" presetClass="entr" presetSubtype="16" fill="hold" grpId="0" nodeType="after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circle(in)">
                                      <p:cBhvr>
                                        <p:cTn id="7" dur="2000"/>
                                        <p:tgtEl>
                                          <p:spTgt spid="9"/>
                                        </p:tgtEl>
                                      </p:cBhvr>
                                    </p:animEffect>
                                  </p:childTnLst>
                                </p:cTn>
                              </p:par>
                            </p:childTnLst>
                          </p:cTn>
                        </p:par>
                        <p:par>
                          <p:cTn id="8" fill="hold">
                            <p:stCondLst>
                              <p:cond delay="2000"/>
                            </p:stCondLst>
                            <p:childTnLst>
                              <p:par>
                                <p:cTn id="9" presetID="14" presetClass="entr" presetSubtype="10" fill="hold" grpId="0" nodeType="afterEffect">
                                  <p:stCondLst>
                                    <p:cond delay="0"/>
                                  </p:stCondLst>
                                  <p:childTnLst>
                                    <p:set>
                                      <p:cBhvr>
                                        <p:cTn id="10" dur="1" fill="hold">
                                          <p:stCondLst>
                                            <p:cond delay="0"/>
                                          </p:stCondLst>
                                        </p:cTn>
                                        <p:tgtEl>
                                          <p:spTgt spid="12"/>
                                        </p:tgtEl>
                                        <p:attrNameLst>
                                          <p:attrName>style.visibility</p:attrName>
                                        </p:attrNameLst>
                                      </p:cBhvr>
                                      <p:to>
                                        <p:strVal val="visible"/>
                                      </p:to>
                                    </p:set>
                                    <p:animEffect transition="in" filter="randombar(horizontal)">
                                      <p:cBhvr>
                                        <p:cTn id="11" dur="500"/>
                                        <p:tgtEl>
                                          <p:spTgt spid="12"/>
                                        </p:tgtEl>
                                      </p:cBhvr>
                                    </p:animEffect>
                                  </p:childTnLst>
                                </p:cTn>
                              </p:par>
                            </p:childTnLst>
                          </p:cTn>
                        </p:par>
                        <p:par>
                          <p:cTn id="12" fill="hold">
                            <p:stCondLst>
                              <p:cond delay="2500"/>
                            </p:stCondLst>
                            <p:childTnLst>
                              <p:par>
                                <p:cTn id="13" presetID="2" presetClass="entr" presetSubtype="8" fill="hold" nodeType="afterEffect">
                                  <p:stCondLst>
                                    <p:cond delay="0"/>
                                  </p:stCondLst>
                                  <p:childTnLst>
                                    <p:set>
                                      <p:cBhvr>
                                        <p:cTn id="14" dur="1" fill="hold">
                                          <p:stCondLst>
                                            <p:cond delay="0"/>
                                          </p:stCondLst>
                                        </p:cTn>
                                        <p:tgtEl>
                                          <p:spTgt spid="26"/>
                                        </p:tgtEl>
                                        <p:attrNameLst>
                                          <p:attrName>style.visibility</p:attrName>
                                        </p:attrNameLst>
                                      </p:cBhvr>
                                      <p:to>
                                        <p:strVal val="visible"/>
                                      </p:to>
                                    </p:set>
                                    <p:anim calcmode="lin" valueType="num">
                                      <p:cBhvr additive="base">
                                        <p:cTn id="15" dur="500" fill="hold"/>
                                        <p:tgtEl>
                                          <p:spTgt spid="26"/>
                                        </p:tgtEl>
                                        <p:attrNameLst>
                                          <p:attrName>ppt_x</p:attrName>
                                        </p:attrNameLst>
                                      </p:cBhvr>
                                      <p:tavLst>
                                        <p:tav tm="0">
                                          <p:val>
                                            <p:strVal val="0-#ppt_w/2"/>
                                          </p:val>
                                        </p:tav>
                                        <p:tav tm="100000">
                                          <p:val>
                                            <p:strVal val="#ppt_x"/>
                                          </p:val>
                                        </p:tav>
                                      </p:tavLst>
                                    </p:anim>
                                    <p:anim calcmode="lin" valueType="num">
                                      <p:cBhvr additive="base">
                                        <p:cTn id="16" dur="500" fill="hold"/>
                                        <p:tgtEl>
                                          <p:spTgt spid="26"/>
                                        </p:tgtEl>
                                        <p:attrNameLst>
                                          <p:attrName>ppt_y</p:attrName>
                                        </p:attrNameLst>
                                      </p:cBhvr>
                                      <p:tavLst>
                                        <p:tav tm="0">
                                          <p:val>
                                            <p:strVal val="#ppt_y"/>
                                          </p:val>
                                        </p:tav>
                                        <p:tav tm="100000">
                                          <p:val>
                                            <p:strVal val="#ppt_y"/>
                                          </p:val>
                                        </p:tav>
                                      </p:tavLst>
                                    </p:anim>
                                  </p:childTnLst>
                                </p:cTn>
                              </p:par>
                            </p:childTnLst>
                          </p:cTn>
                        </p:par>
                        <p:par>
                          <p:cTn id="17" fill="hold">
                            <p:stCondLst>
                              <p:cond delay="3000"/>
                            </p:stCondLst>
                            <p:childTnLst>
                              <p:par>
                                <p:cTn id="18" presetID="16" presetClass="entr" presetSubtype="21" fill="hold" grpId="0" nodeType="afterEffect">
                                  <p:stCondLst>
                                    <p:cond delay="0"/>
                                  </p:stCondLst>
                                  <p:childTnLst>
                                    <p:set>
                                      <p:cBhvr>
                                        <p:cTn id="19" dur="1" fill="hold">
                                          <p:stCondLst>
                                            <p:cond delay="0"/>
                                          </p:stCondLst>
                                        </p:cTn>
                                        <p:tgtEl>
                                          <p:spTgt spid="2"/>
                                        </p:tgtEl>
                                        <p:attrNameLst>
                                          <p:attrName>style.visibility</p:attrName>
                                        </p:attrNameLst>
                                      </p:cBhvr>
                                      <p:to>
                                        <p:strVal val="visible"/>
                                      </p:to>
                                    </p:set>
                                    <p:animEffect transition="in" filter="barn(inVertical)">
                                      <p:cBhvr>
                                        <p:cTn id="20" dur="500"/>
                                        <p:tgtEl>
                                          <p:spTgt spid="2"/>
                                        </p:tgtEl>
                                      </p:cBhvr>
                                    </p:animEffect>
                                  </p:childTnLst>
                                </p:cTn>
                              </p:par>
                            </p:childTnLst>
                          </p:cTn>
                        </p:par>
                        <p:par>
                          <p:cTn id="21" fill="hold">
                            <p:stCondLst>
                              <p:cond delay="3500"/>
                            </p:stCondLst>
                            <p:childTnLst>
                              <p:par>
                                <p:cTn id="22" presetID="53" presetClass="entr" presetSubtype="16" fill="hold" grpId="0" nodeType="afterEffect">
                                  <p:stCondLst>
                                    <p:cond delay="0"/>
                                  </p:stCondLst>
                                  <p:childTnLst>
                                    <p:set>
                                      <p:cBhvr>
                                        <p:cTn id="23" dur="1" fill="hold">
                                          <p:stCondLst>
                                            <p:cond delay="0"/>
                                          </p:stCondLst>
                                        </p:cTn>
                                        <p:tgtEl>
                                          <p:spTgt spid="10"/>
                                        </p:tgtEl>
                                        <p:attrNameLst>
                                          <p:attrName>style.visibility</p:attrName>
                                        </p:attrNameLst>
                                      </p:cBhvr>
                                      <p:to>
                                        <p:strVal val="visible"/>
                                      </p:to>
                                    </p:set>
                                    <p:anim calcmode="lin" valueType="num">
                                      <p:cBhvr>
                                        <p:cTn id="24" dur="500" fill="hold"/>
                                        <p:tgtEl>
                                          <p:spTgt spid="10"/>
                                        </p:tgtEl>
                                        <p:attrNameLst>
                                          <p:attrName>ppt_w</p:attrName>
                                        </p:attrNameLst>
                                      </p:cBhvr>
                                      <p:tavLst>
                                        <p:tav tm="0">
                                          <p:val>
                                            <p:fltVal val="0"/>
                                          </p:val>
                                        </p:tav>
                                        <p:tav tm="100000">
                                          <p:val>
                                            <p:strVal val="#ppt_w"/>
                                          </p:val>
                                        </p:tav>
                                      </p:tavLst>
                                    </p:anim>
                                    <p:anim calcmode="lin" valueType="num">
                                      <p:cBhvr>
                                        <p:cTn id="25" dur="500" fill="hold"/>
                                        <p:tgtEl>
                                          <p:spTgt spid="10"/>
                                        </p:tgtEl>
                                        <p:attrNameLst>
                                          <p:attrName>ppt_h</p:attrName>
                                        </p:attrNameLst>
                                      </p:cBhvr>
                                      <p:tavLst>
                                        <p:tav tm="0">
                                          <p:val>
                                            <p:fltVal val="0"/>
                                          </p:val>
                                        </p:tav>
                                        <p:tav tm="100000">
                                          <p:val>
                                            <p:strVal val="#ppt_h"/>
                                          </p:val>
                                        </p:tav>
                                      </p:tavLst>
                                    </p:anim>
                                    <p:animEffect transition="in" filter="fade">
                                      <p:cBhvr>
                                        <p:cTn id="26"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2" grpId="0"/>
      <p:bldP spid="12" grpId="0"/>
      <p:bldGraphic spid="10" grpId="0">
        <p:bldAsOne/>
      </p:bldGraphic>
    </p:bld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图片 42">
            <a:extLst>
              <a:ext uri="{FF2B5EF4-FFF2-40B4-BE49-F238E27FC236}">
                <a16:creationId xmlns:a16="http://schemas.microsoft.com/office/drawing/2014/main" id="{C8D97DA4-6242-4E73-AEFC-457D04FDC65B}"/>
              </a:ext>
            </a:extLst>
          </p:cNvPr>
          <p:cNvPicPr>
            <a:picLocks noChangeAspect="1"/>
          </p:cNvPicPr>
          <p:nvPr/>
        </p:nvPicPr>
        <p:blipFill>
          <a:blip r:embed="rId3"/>
          <a:stretch>
            <a:fillRect/>
          </a:stretch>
        </p:blipFill>
        <p:spPr>
          <a:xfrm rot="16200000">
            <a:off x="145169" y="-145167"/>
            <a:ext cx="1268414" cy="1558750"/>
          </a:xfrm>
          <a:prstGeom prst="rect">
            <a:avLst/>
          </a:prstGeom>
        </p:spPr>
      </p:pic>
      <p:sp>
        <p:nvSpPr>
          <p:cNvPr id="6" name="文字方塊 5">
            <a:extLst>
              <a:ext uri="{FF2B5EF4-FFF2-40B4-BE49-F238E27FC236}">
                <a16:creationId xmlns:a16="http://schemas.microsoft.com/office/drawing/2014/main" id="{8A30B01A-3198-4955-A208-0E3D9EB60397}"/>
              </a:ext>
            </a:extLst>
          </p:cNvPr>
          <p:cNvSpPr txBox="1"/>
          <p:nvPr/>
        </p:nvSpPr>
        <p:spPr>
          <a:xfrm>
            <a:off x="1558751" y="6596390"/>
            <a:ext cx="4217821" cy="261610"/>
          </a:xfrm>
          <a:prstGeom prst="rect">
            <a:avLst/>
          </a:prstGeom>
          <a:noFill/>
        </p:spPr>
        <p:txBody>
          <a:bodyPr wrap="none" rtlCol="0">
            <a:spAutoFit/>
          </a:bodyPr>
          <a:lstStyle/>
          <a:p>
            <a:r>
              <a:rPr lang="zh-TW" altLang="en-US" sz="1100" dirty="0">
                <a:latin typeface="Microsoft JhengHei Light" panose="020B0304030504040204" pitchFamily="34" charset="-120"/>
                <a:ea typeface="Microsoft JhengHei Light" panose="020B0304030504040204" pitchFamily="34" charset="-120"/>
              </a:rPr>
              <a:t>區塊鏈商業應用概論 實例與分析／新陸書局股份有限公司 發行</a:t>
            </a:r>
          </a:p>
        </p:txBody>
      </p:sp>
      <p:sp>
        <p:nvSpPr>
          <p:cNvPr id="9" name="標題 1">
            <a:extLst>
              <a:ext uri="{FF2B5EF4-FFF2-40B4-BE49-F238E27FC236}">
                <a16:creationId xmlns:a16="http://schemas.microsoft.com/office/drawing/2014/main" id="{475DFFF1-7C37-4CBE-ACFC-3F348BCD20CC}"/>
              </a:ext>
            </a:extLst>
          </p:cNvPr>
          <p:cNvSpPr txBox="1">
            <a:spLocks/>
          </p:cNvSpPr>
          <p:nvPr/>
        </p:nvSpPr>
        <p:spPr>
          <a:xfrm>
            <a:off x="1231956" y="393820"/>
            <a:ext cx="3643527" cy="874595"/>
          </a:xfrm>
          <a:prstGeom prst="rect">
            <a:avLst/>
          </a:prstGeom>
        </p:spPr>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altLang="zh-TW" sz="2400" b="1" dirty="0">
                <a:solidFill>
                  <a:srgbClr val="E06741"/>
                </a:solidFill>
              </a:rPr>
              <a:t>2-2 </a:t>
            </a:r>
            <a:r>
              <a:rPr lang="zh-TW" altLang="en-US" sz="2400" b="1" dirty="0">
                <a:solidFill>
                  <a:srgbClr val="E06741"/>
                </a:solidFill>
              </a:rPr>
              <a:t>區塊鏈技術發展</a:t>
            </a:r>
          </a:p>
          <a:p>
            <a:endParaRPr lang="zh-TW" altLang="en-US" sz="2400" dirty="0">
              <a:solidFill>
                <a:srgbClr val="E06741"/>
              </a:solidFill>
              <a:latin typeface="標楷體" panose="03000509000000000000" pitchFamily="65" charset="-120"/>
              <a:ea typeface="標楷體" panose="03000509000000000000" pitchFamily="65" charset="-120"/>
              <a:cs typeface="Times New Roman" panose="02020603050405020304" pitchFamily="18" charset="0"/>
            </a:endParaRPr>
          </a:p>
        </p:txBody>
      </p:sp>
      <p:sp>
        <p:nvSpPr>
          <p:cNvPr id="2" name="文字方塊 1">
            <a:extLst>
              <a:ext uri="{FF2B5EF4-FFF2-40B4-BE49-F238E27FC236}">
                <a16:creationId xmlns:a16="http://schemas.microsoft.com/office/drawing/2014/main" id="{D6D66D7E-58A1-40BE-8070-FA1C3AF22B14}"/>
              </a:ext>
            </a:extLst>
          </p:cNvPr>
          <p:cNvSpPr txBox="1"/>
          <p:nvPr/>
        </p:nvSpPr>
        <p:spPr>
          <a:xfrm>
            <a:off x="1817131" y="1251912"/>
            <a:ext cx="9799557" cy="578492"/>
          </a:xfrm>
          <a:prstGeom prst="rect">
            <a:avLst/>
          </a:prstGeom>
          <a:noFill/>
        </p:spPr>
        <p:txBody>
          <a:bodyPr wrap="square" rtlCol="0">
            <a:spAutoFit/>
          </a:bodyPr>
          <a:lstStyle/>
          <a:p>
            <a:pPr marL="342900" indent="-342900">
              <a:lnSpc>
                <a:spcPct val="150000"/>
              </a:lnSpc>
              <a:buSzPct val="100000"/>
              <a:buBlip>
                <a:blip r:embed="rId4"/>
              </a:buBlip>
            </a:pPr>
            <a:r>
              <a:rPr lang="zh-TW" altLang="en-US" sz="2400" b="1" dirty="0">
                <a:solidFill>
                  <a:schemeClr val="tx1">
                    <a:lumMod val="75000"/>
                    <a:lumOff val="25000"/>
                  </a:schemeClr>
                </a:solidFill>
                <a:latin typeface="微軟正黑體" panose="020B0604030504040204" pitchFamily="34" charset="-120"/>
                <a:ea typeface="微軟正黑體" panose="020B0604030504040204" pitchFamily="34" charset="-120"/>
              </a:rPr>
              <a:t>一、挖礦技術</a:t>
            </a:r>
          </a:p>
        </p:txBody>
      </p:sp>
      <p:cxnSp>
        <p:nvCxnSpPr>
          <p:cNvPr id="26" name="直接连接符 33">
            <a:extLst>
              <a:ext uri="{FF2B5EF4-FFF2-40B4-BE49-F238E27FC236}">
                <a16:creationId xmlns:a16="http://schemas.microsoft.com/office/drawing/2014/main" id="{C3725E45-5458-4931-9D9A-B8C15AE6AC41}"/>
              </a:ext>
            </a:extLst>
          </p:cNvPr>
          <p:cNvCxnSpPr>
            <a:cxnSpLocks/>
          </p:cNvCxnSpPr>
          <p:nvPr/>
        </p:nvCxnSpPr>
        <p:spPr>
          <a:xfrm>
            <a:off x="1334185" y="1102164"/>
            <a:ext cx="7873935" cy="0"/>
          </a:xfrm>
          <a:prstGeom prst="line">
            <a:avLst/>
          </a:prstGeom>
          <a:ln w="190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12" name="文字方塊 11">
            <a:extLst>
              <a:ext uri="{FF2B5EF4-FFF2-40B4-BE49-F238E27FC236}">
                <a16:creationId xmlns:a16="http://schemas.microsoft.com/office/drawing/2014/main" id="{9FE02F65-A32E-4124-B1E6-8E45750976E4}"/>
              </a:ext>
            </a:extLst>
          </p:cNvPr>
          <p:cNvSpPr txBox="1"/>
          <p:nvPr/>
        </p:nvSpPr>
        <p:spPr>
          <a:xfrm>
            <a:off x="4487241" y="449166"/>
            <a:ext cx="2307042" cy="400110"/>
          </a:xfrm>
          <a:prstGeom prst="rect">
            <a:avLst/>
          </a:prstGeom>
          <a:noFill/>
        </p:spPr>
        <p:txBody>
          <a:bodyPr wrap="none" rtlCol="0">
            <a:spAutoFit/>
          </a:bodyPr>
          <a:lstStyle/>
          <a:p>
            <a:r>
              <a:rPr lang="en-US" altLang="zh-TW" sz="2000" b="1" dirty="0">
                <a:solidFill>
                  <a:schemeClr val="tx1">
                    <a:lumMod val="65000"/>
                    <a:lumOff val="35000"/>
                  </a:schemeClr>
                </a:solidFill>
                <a:latin typeface="微軟正黑體" panose="020B0604030504040204" pitchFamily="34" charset="-120"/>
                <a:ea typeface="微軟正黑體" panose="020B0604030504040204" pitchFamily="34" charset="-120"/>
                <a:cs typeface="Times New Roman" panose="02020603050405020304" pitchFamily="18" charset="0"/>
              </a:rPr>
              <a:t>-3 </a:t>
            </a:r>
            <a:r>
              <a:rPr lang="zh-TW" altLang="en-US" sz="2000" b="1" dirty="0">
                <a:solidFill>
                  <a:schemeClr val="tx1">
                    <a:lumMod val="65000"/>
                    <a:lumOff val="35000"/>
                  </a:schemeClr>
                </a:solidFill>
                <a:latin typeface="微軟正黑體" panose="020B0604030504040204" pitchFamily="34" charset="-120"/>
                <a:ea typeface="微軟正黑體" panose="020B0604030504040204" pitchFamily="34" charset="-120"/>
                <a:cs typeface="Times New Roman" panose="02020603050405020304" pitchFamily="18" charset="0"/>
              </a:rPr>
              <a:t>區塊鏈相關技術</a:t>
            </a:r>
          </a:p>
        </p:txBody>
      </p:sp>
      <p:graphicFrame>
        <p:nvGraphicFramePr>
          <p:cNvPr id="11" name="資料庫圖表 10">
            <a:extLst>
              <a:ext uri="{FF2B5EF4-FFF2-40B4-BE49-F238E27FC236}">
                <a16:creationId xmlns:a16="http://schemas.microsoft.com/office/drawing/2014/main" id="{0518AE46-AA18-44A8-A851-92A7978E1DF5}"/>
              </a:ext>
            </a:extLst>
          </p:cNvPr>
          <p:cNvGraphicFramePr/>
          <p:nvPr>
            <p:extLst>
              <p:ext uri="{D42A27DB-BD31-4B8C-83A1-F6EECF244321}">
                <p14:modId xmlns:p14="http://schemas.microsoft.com/office/powerpoint/2010/main" val="3212613294"/>
              </p:ext>
            </p:extLst>
          </p:nvPr>
        </p:nvGraphicFramePr>
        <p:xfrm>
          <a:off x="2635446" y="1730376"/>
          <a:ext cx="6224240" cy="4464496"/>
        </p:xfrm>
        <a:graphic>
          <a:graphicData uri="http://schemas.openxmlformats.org/drawingml/2006/diagram">
            <dgm:relIds xmlns:dgm="http://schemas.openxmlformats.org/drawingml/2006/diagram" xmlns:r="http://schemas.openxmlformats.org/officeDocument/2006/relationships" r:dm="rId5" r:lo="rId6" r:qs="rId7" r:cs="rId8"/>
          </a:graphicData>
        </a:graphic>
      </p:graphicFrame>
      <p:sp>
        <p:nvSpPr>
          <p:cNvPr id="13" name="文字方塊 12">
            <a:extLst>
              <a:ext uri="{FF2B5EF4-FFF2-40B4-BE49-F238E27FC236}">
                <a16:creationId xmlns:a16="http://schemas.microsoft.com/office/drawing/2014/main" id="{116884AE-6D35-4A4B-AE14-D0D169460F29}"/>
              </a:ext>
            </a:extLst>
          </p:cNvPr>
          <p:cNvSpPr txBox="1"/>
          <p:nvPr/>
        </p:nvSpPr>
        <p:spPr>
          <a:xfrm>
            <a:off x="7371569" y="6026299"/>
            <a:ext cx="2089033" cy="369332"/>
          </a:xfrm>
          <a:prstGeom prst="rect">
            <a:avLst/>
          </a:prstGeom>
          <a:noFill/>
        </p:spPr>
        <p:txBody>
          <a:bodyPr wrap="none" rtlCol="0">
            <a:spAutoFit/>
          </a:bodyPr>
          <a:lstStyle/>
          <a:p>
            <a:pPr marL="285750" indent="-285750">
              <a:buFont typeface="Arial" panose="020B0604020202020204" pitchFamily="34" charset="0"/>
              <a:buChar char="▲"/>
            </a:pPr>
            <a:r>
              <a:rPr lang="zh-TW" altLang="en-US" b="1" dirty="0">
                <a:latin typeface="微軟正黑體" panose="020B0604030504040204" pitchFamily="34" charset="-120"/>
                <a:ea typeface="微軟正黑體" panose="020B0604030504040204" pitchFamily="34" charset="-120"/>
              </a:rPr>
              <a:t>挖礦技術的類別</a:t>
            </a:r>
          </a:p>
        </p:txBody>
      </p:sp>
      <p:pic>
        <p:nvPicPr>
          <p:cNvPr id="4" name="圖片 3">
            <a:extLst>
              <a:ext uri="{FF2B5EF4-FFF2-40B4-BE49-F238E27FC236}">
                <a16:creationId xmlns:a16="http://schemas.microsoft.com/office/drawing/2014/main" id="{D7B576E9-5857-4610-90BB-97AADFB94FBF}"/>
              </a:ext>
            </a:extLst>
          </p:cNvPr>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9152273" y="356150"/>
            <a:ext cx="2550220" cy="2550220"/>
          </a:xfrm>
          <a:prstGeom prst="rect">
            <a:avLst/>
          </a:prstGeom>
        </p:spPr>
      </p:pic>
    </p:spTree>
    <p:extLst>
      <p:ext uri="{BB962C8B-B14F-4D97-AF65-F5344CB8AC3E}">
        <p14:creationId xmlns:p14="http://schemas.microsoft.com/office/powerpoint/2010/main" val="855337140"/>
      </p:ext>
    </p:extLst>
  </p:cSld>
  <p:clrMapOvr>
    <a:masterClrMapping/>
  </p:clrMapOvr>
  <mc:AlternateContent xmlns:mc="http://schemas.openxmlformats.org/markup-compatibility/2006">
    <mc:Choice xmlns:p14="http://schemas.microsoft.com/office/powerpoint/2010/main" Requires="p14">
      <p:transition spd="slow" p14:dur="1600">
        <p14:gallery dir="l"/>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6" presetClass="entr" presetSubtype="16" fill="hold" grpId="0" nodeType="after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circle(in)">
                                      <p:cBhvr>
                                        <p:cTn id="7" dur="2000"/>
                                        <p:tgtEl>
                                          <p:spTgt spid="9"/>
                                        </p:tgtEl>
                                      </p:cBhvr>
                                    </p:animEffect>
                                  </p:childTnLst>
                                </p:cTn>
                              </p:par>
                            </p:childTnLst>
                          </p:cTn>
                        </p:par>
                        <p:par>
                          <p:cTn id="8" fill="hold">
                            <p:stCondLst>
                              <p:cond delay="2000"/>
                            </p:stCondLst>
                            <p:childTnLst>
                              <p:par>
                                <p:cTn id="9" presetID="14" presetClass="entr" presetSubtype="10" fill="hold" grpId="0" nodeType="afterEffect">
                                  <p:stCondLst>
                                    <p:cond delay="0"/>
                                  </p:stCondLst>
                                  <p:childTnLst>
                                    <p:set>
                                      <p:cBhvr>
                                        <p:cTn id="10" dur="1" fill="hold">
                                          <p:stCondLst>
                                            <p:cond delay="0"/>
                                          </p:stCondLst>
                                        </p:cTn>
                                        <p:tgtEl>
                                          <p:spTgt spid="12"/>
                                        </p:tgtEl>
                                        <p:attrNameLst>
                                          <p:attrName>style.visibility</p:attrName>
                                        </p:attrNameLst>
                                      </p:cBhvr>
                                      <p:to>
                                        <p:strVal val="visible"/>
                                      </p:to>
                                    </p:set>
                                    <p:animEffect transition="in" filter="randombar(horizontal)">
                                      <p:cBhvr>
                                        <p:cTn id="11" dur="500"/>
                                        <p:tgtEl>
                                          <p:spTgt spid="12"/>
                                        </p:tgtEl>
                                      </p:cBhvr>
                                    </p:animEffect>
                                  </p:childTnLst>
                                </p:cTn>
                              </p:par>
                            </p:childTnLst>
                          </p:cTn>
                        </p:par>
                        <p:par>
                          <p:cTn id="12" fill="hold">
                            <p:stCondLst>
                              <p:cond delay="2500"/>
                            </p:stCondLst>
                            <p:childTnLst>
                              <p:par>
                                <p:cTn id="13" presetID="2" presetClass="entr" presetSubtype="8" fill="hold" nodeType="afterEffect">
                                  <p:stCondLst>
                                    <p:cond delay="0"/>
                                  </p:stCondLst>
                                  <p:childTnLst>
                                    <p:set>
                                      <p:cBhvr>
                                        <p:cTn id="14" dur="1" fill="hold">
                                          <p:stCondLst>
                                            <p:cond delay="0"/>
                                          </p:stCondLst>
                                        </p:cTn>
                                        <p:tgtEl>
                                          <p:spTgt spid="26"/>
                                        </p:tgtEl>
                                        <p:attrNameLst>
                                          <p:attrName>style.visibility</p:attrName>
                                        </p:attrNameLst>
                                      </p:cBhvr>
                                      <p:to>
                                        <p:strVal val="visible"/>
                                      </p:to>
                                    </p:set>
                                    <p:anim calcmode="lin" valueType="num">
                                      <p:cBhvr additive="base">
                                        <p:cTn id="15" dur="500" fill="hold"/>
                                        <p:tgtEl>
                                          <p:spTgt spid="26"/>
                                        </p:tgtEl>
                                        <p:attrNameLst>
                                          <p:attrName>ppt_x</p:attrName>
                                        </p:attrNameLst>
                                      </p:cBhvr>
                                      <p:tavLst>
                                        <p:tav tm="0">
                                          <p:val>
                                            <p:strVal val="0-#ppt_w/2"/>
                                          </p:val>
                                        </p:tav>
                                        <p:tav tm="100000">
                                          <p:val>
                                            <p:strVal val="#ppt_x"/>
                                          </p:val>
                                        </p:tav>
                                      </p:tavLst>
                                    </p:anim>
                                    <p:anim calcmode="lin" valueType="num">
                                      <p:cBhvr additive="base">
                                        <p:cTn id="16" dur="500" fill="hold"/>
                                        <p:tgtEl>
                                          <p:spTgt spid="26"/>
                                        </p:tgtEl>
                                        <p:attrNameLst>
                                          <p:attrName>ppt_y</p:attrName>
                                        </p:attrNameLst>
                                      </p:cBhvr>
                                      <p:tavLst>
                                        <p:tav tm="0">
                                          <p:val>
                                            <p:strVal val="#ppt_y"/>
                                          </p:val>
                                        </p:tav>
                                        <p:tav tm="100000">
                                          <p:val>
                                            <p:strVal val="#ppt_y"/>
                                          </p:val>
                                        </p:tav>
                                      </p:tavLst>
                                    </p:anim>
                                  </p:childTnLst>
                                </p:cTn>
                              </p:par>
                            </p:childTnLst>
                          </p:cTn>
                        </p:par>
                        <p:par>
                          <p:cTn id="17" fill="hold">
                            <p:stCondLst>
                              <p:cond delay="3000"/>
                            </p:stCondLst>
                            <p:childTnLst>
                              <p:par>
                                <p:cTn id="18" presetID="22" presetClass="entr" presetSubtype="4" fill="hold" grpId="0" nodeType="afterEffect">
                                  <p:stCondLst>
                                    <p:cond delay="0"/>
                                  </p:stCondLst>
                                  <p:childTnLst>
                                    <p:set>
                                      <p:cBhvr>
                                        <p:cTn id="19" dur="1" fill="hold">
                                          <p:stCondLst>
                                            <p:cond delay="0"/>
                                          </p:stCondLst>
                                        </p:cTn>
                                        <p:tgtEl>
                                          <p:spTgt spid="2"/>
                                        </p:tgtEl>
                                        <p:attrNameLst>
                                          <p:attrName>style.visibility</p:attrName>
                                        </p:attrNameLst>
                                      </p:cBhvr>
                                      <p:to>
                                        <p:strVal val="visible"/>
                                      </p:to>
                                    </p:set>
                                    <p:animEffect transition="in" filter="wipe(down)">
                                      <p:cBhvr>
                                        <p:cTn id="20" dur="500"/>
                                        <p:tgtEl>
                                          <p:spTgt spid="2"/>
                                        </p:tgtEl>
                                      </p:cBhvr>
                                    </p:animEffect>
                                  </p:childTnLst>
                                </p:cTn>
                              </p:par>
                            </p:childTnLst>
                          </p:cTn>
                        </p:par>
                        <p:par>
                          <p:cTn id="21" fill="hold">
                            <p:stCondLst>
                              <p:cond delay="3500"/>
                            </p:stCondLst>
                            <p:childTnLst>
                              <p:par>
                                <p:cTn id="22" presetID="42" presetClass="entr" presetSubtype="0" fill="hold" grpId="0" nodeType="afterEffect">
                                  <p:stCondLst>
                                    <p:cond delay="0"/>
                                  </p:stCondLst>
                                  <p:childTnLst>
                                    <p:set>
                                      <p:cBhvr>
                                        <p:cTn id="23" dur="1" fill="hold">
                                          <p:stCondLst>
                                            <p:cond delay="0"/>
                                          </p:stCondLst>
                                        </p:cTn>
                                        <p:tgtEl>
                                          <p:spTgt spid="11"/>
                                        </p:tgtEl>
                                        <p:attrNameLst>
                                          <p:attrName>style.visibility</p:attrName>
                                        </p:attrNameLst>
                                      </p:cBhvr>
                                      <p:to>
                                        <p:strVal val="visible"/>
                                      </p:to>
                                    </p:set>
                                    <p:animEffect transition="in" filter="fade">
                                      <p:cBhvr>
                                        <p:cTn id="24" dur="1000"/>
                                        <p:tgtEl>
                                          <p:spTgt spid="11"/>
                                        </p:tgtEl>
                                      </p:cBhvr>
                                    </p:animEffect>
                                    <p:anim calcmode="lin" valueType="num">
                                      <p:cBhvr>
                                        <p:cTn id="25" dur="1000" fill="hold"/>
                                        <p:tgtEl>
                                          <p:spTgt spid="11"/>
                                        </p:tgtEl>
                                        <p:attrNameLst>
                                          <p:attrName>ppt_x</p:attrName>
                                        </p:attrNameLst>
                                      </p:cBhvr>
                                      <p:tavLst>
                                        <p:tav tm="0">
                                          <p:val>
                                            <p:strVal val="#ppt_x"/>
                                          </p:val>
                                        </p:tav>
                                        <p:tav tm="100000">
                                          <p:val>
                                            <p:strVal val="#ppt_x"/>
                                          </p:val>
                                        </p:tav>
                                      </p:tavLst>
                                    </p:anim>
                                    <p:anim calcmode="lin" valueType="num">
                                      <p:cBhvr>
                                        <p:cTn id="26" dur="1000" fill="hold"/>
                                        <p:tgtEl>
                                          <p:spTgt spid="11"/>
                                        </p:tgtEl>
                                        <p:attrNameLst>
                                          <p:attrName>ppt_y</p:attrName>
                                        </p:attrNameLst>
                                      </p:cBhvr>
                                      <p:tavLst>
                                        <p:tav tm="0">
                                          <p:val>
                                            <p:strVal val="#ppt_y+.1"/>
                                          </p:val>
                                        </p:tav>
                                        <p:tav tm="100000">
                                          <p:val>
                                            <p:strVal val="#ppt_y"/>
                                          </p:val>
                                        </p:tav>
                                      </p:tavLst>
                                    </p:anim>
                                  </p:childTnLst>
                                </p:cTn>
                              </p:par>
                            </p:childTnLst>
                          </p:cTn>
                        </p:par>
                        <p:par>
                          <p:cTn id="27" fill="hold">
                            <p:stCondLst>
                              <p:cond delay="4500"/>
                            </p:stCondLst>
                            <p:childTnLst>
                              <p:par>
                                <p:cTn id="28" presetID="16" presetClass="entr" presetSubtype="21" fill="hold" grpId="0" nodeType="afterEffect">
                                  <p:stCondLst>
                                    <p:cond delay="0"/>
                                  </p:stCondLst>
                                  <p:childTnLst>
                                    <p:set>
                                      <p:cBhvr>
                                        <p:cTn id="29" dur="1" fill="hold">
                                          <p:stCondLst>
                                            <p:cond delay="0"/>
                                          </p:stCondLst>
                                        </p:cTn>
                                        <p:tgtEl>
                                          <p:spTgt spid="13"/>
                                        </p:tgtEl>
                                        <p:attrNameLst>
                                          <p:attrName>style.visibility</p:attrName>
                                        </p:attrNameLst>
                                      </p:cBhvr>
                                      <p:to>
                                        <p:strVal val="visible"/>
                                      </p:to>
                                    </p:set>
                                    <p:animEffect transition="in" filter="barn(inVertical)">
                                      <p:cBhvr>
                                        <p:cTn id="30" dur="500"/>
                                        <p:tgtEl>
                                          <p:spTgt spid="13"/>
                                        </p:tgtEl>
                                      </p:cBhvr>
                                    </p:animEffect>
                                  </p:childTnLst>
                                </p:cTn>
                              </p:par>
                            </p:childTnLst>
                          </p:cTn>
                        </p:par>
                        <p:par>
                          <p:cTn id="31" fill="hold">
                            <p:stCondLst>
                              <p:cond delay="5000"/>
                            </p:stCondLst>
                            <p:childTnLst>
                              <p:par>
                                <p:cTn id="32" presetID="10" presetClass="entr" presetSubtype="0" fill="hold" nodeType="afterEffect">
                                  <p:stCondLst>
                                    <p:cond delay="0"/>
                                  </p:stCondLst>
                                  <p:childTnLst>
                                    <p:set>
                                      <p:cBhvr>
                                        <p:cTn id="33" dur="1" fill="hold">
                                          <p:stCondLst>
                                            <p:cond delay="0"/>
                                          </p:stCondLst>
                                        </p:cTn>
                                        <p:tgtEl>
                                          <p:spTgt spid="4"/>
                                        </p:tgtEl>
                                        <p:attrNameLst>
                                          <p:attrName>style.visibility</p:attrName>
                                        </p:attrNameLst>
                                      </p:cBhvr>
                                      <p:to>
                                        <p:strVal val="visible"/>
                                      </p:to>
                                    </p:set>
                                    <p:animEffect transition="in" filter="fade">
                                      <p:cBhvr>
                                        <p:cTn id="34"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2" grpId="0"/>
      <p:bldP spid="12" grpId="0"/>
      <p:bldGraphic spid="11" grpId="0">
        <p:bldAsOne/>
      </p:bldGraphic>
      <p:bldP spid="13" grpId="0"/>
    </p:bld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图片 42">
            <a:extLst>
              <a:ext uri="{FF2B5EF4-FFF2-40B4-BE49-F238E27FC236}">
                <a16:creationId xmlns:a16="http://schemas.microsoft.com/office/drawing/2014/main" id="{C8D97DA4-6242-4E73-AEFC-457D04FDC65B}"/>
              </a:ext>
            </a:extLst>
          </p:cNvPr>
          <p:cNvPicPr>
            <a:picLocks noChangeAspect="1"/>
          </p:cNvPicPr>
          <p:nvPr/>
        </p:nvPicPr>
        <p:blipFill>
          <a:blip r:embed="rId3"/>
          <a:stretch>
            <a:fillRect/>
          </a:stretch>
        </p:blipFill>
        <p:spPr>
          <a:xfrm rot="16200000">
            <a:off x="145169" y="-145167"/>
            <a:ext cx="1268414" cy="1558750"/>
          </a:xfrm>
          <a:prstGeom prst="rect">
            <a:avLst/>
          </a:prstGeom>
        </p:spPr>
      </p:pic>
      <p:sp>
        <p:nvSpPr>
          <p:cNvPr id="6" name="文字方塊 5">
            <a:extLst>
              <a:ext uri="{FF2B5EF4-FFF2-40B4-BE49-F238E27FC236}">
                <a16:creationId xmlns:a16="http://schemas.microsoft.com/office/drawing/2014/main" id="{8A30B01A-3198-4955-A208-0E3D9EB60397}"/>
              </a:ext>
            </a:extLst>
          </p:cNvPr>
          <p:cNvSpPr txBox="1"/>
          <p:nvPr/>
        </p:nvSpPr>
        <p:spPr>
          <a:xfrm>
            <a:off x="1558751" y="6596390"/>
            <a:ext cx="4217821" cy="261610"/>
          </a:xfrm>
          <a:prstGeom prst="rect">
            <a:avLst/>
          </a:prstGeom>
          <a:noFill/>
        </p:spPr>
        <p:txBody>
          <a:bodyPr wrap="none" rtlCol="0">
            <a:spAutoFit/>
          </a:bodyPr>
          <a:lstStyle/>
          <a:p>
            <a:r>
              <a:rPr lang="zh-TW" altLang="en-US" sz="1100" dirty="0">
                <a:latin typeface="Microsoft JhengHei Light" panose="020B0304030504040204" pitchFamily="34" charset="-120"/>
                <a:ea typeface="Microsoft JhengHei Light" panose="020B0304030504040204" pitchFamily="34" charset="-120"/>
              </a:rPr>
              <a:t>區塊鏈商業應用概論 實例與分析／新陸書局股份有限公司 發行</a:t>
            </a:r>
          </a:p>
        </p:txBody>
      </p:sp>
      <p:sp>
        <p:nvSpPr>
          <p:cNvPr id="9" name="標題 1">
            <a:extLst>
              <a:ext uri="{FF2B5EF4-FFF2-40B4-BE49-F238E27FC236}">
                <a16:creationId xmlns:a16="http://schemas.microsoft.com/office/drawing/2014/main" id="{475DFFF1-7C37-4CBE-ACFC-3F348BCD20CC}"/>
              </a:ext>
            </a:extLst>
          </p:cNvPr>
          <p:cNvSpPr txBox="1">
            <a:spLocks/>
          </p:cNvSpPr>
          <p:nvPr/>
        </p:nvSpPr>
        <p:spPr>
          <a:xfrm>
            <a:off x="1231956" y="393820"/>
            <a:ext cx="3643527" cy="874595"/>
          </a:xfrm>
          <a:prstGeom prst="rect">
            <a:avLst/>
          </a:prstGeom>
        </p:spPr>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altLang="zh-TW" sz="2400" b="1" dirty="0">
                <a:solidFill>
                  <a:srgbClr val="E06741"/>
                </a:solidFill>
              </a:rPr>
              <a:t>2-2 </a:t>
            </a:r>
            <a:r>
              <a:rPr lang="zh-TW" altLang="en-US" sz="2400" b="1" dirty="0">
                <a:solidFill>
                  <a:srgbClr val="E06741"/>
                </a:solidFill>
              </a:rPr>
              <a:t>區塊鏈技術發展</a:t>
            </a:r>
          </a:p>
          <a:p>
            <a:endParaRPr lang="zh-TW" altLang="en-US" sz="2400" dirty="0">
              <a:solidFill>
                <a:srgbClr val="E06741"/>
              </a:solidFill>
              <a:latin typeface="標楷體" panose="03000509000000000000" pitchFamily="65" charset="-120"/>
              <a:ea typeface="標楷體" panose="03000509000000000000" pitchFamily="65" charset="-120"/>
              <a:cs typeface="Times New Roman" panose="02020603050405020304" pitchFamily="18" charset="0"/>
            </a:endParaRPr>
          </a:p>
        </p:txBody>
      </p:sp>
      <p:sp>
        <p:nvSpPr>
          <p:cNvPr id="2" name="文字方塊 1">
            <a:extLst>
              <a:ext uri="{FF2B5EF4-FFF2-40B4-BE49-F238E27FC236}">
                <a16:creationId xmlns:a16="http://schemas.microsoft.com/office/drawing/2014/main" id="{D6D66D7E-58A1-40BE-8070-FA1C3AF22B14}"/>
              </a:ext>
            </a:extLst>
          </p:cNvPr>
          <p:cNvSpPr txBox="1"/>
          <p:nvPr/>
        </p:nvSpPr>
        <p:spPr>
          <a:xfrm>
            <a:off x="1881786" y="1118772"/>
            <a:ext cx="9799557" cy="578492"/>
          </a:xfrm>
          <a:prstGeom prst="rect">
            <a:avLst/>
          </a:prstGeom>
          <a:noFill/>
        </p:spPr>
        <p:txBody>
          <a:bodyPr wrap="square" rtlCol="0">
            <a:spAutoFit/>
          </a:bodyPr>
          <a:lstStyle/>
          <a:p>
            <a:pPr marL="342900" indent="-342900">
              <a:lnSpc>
                <a:spcPct val="150000"/>
              </a:lnSpc>
              <a:buSzPct val="100000"/>
              <a:buBlip>
                <a:blip r:embed="rId4"/>
              </a:buBlip>
            </a:pPr>
            <a:r>
              <a:rPr lang="zh-TW" altLang="en-US" sz="2400" b="1" dirty="0">
                <a:solidFill>
                  <a:schemeClr val="tx1">
                    <a:lumMod val="75000"/>
                    <a:lumOff val="25000"/>
                  </a:schemeClr>
                </a:solidFill>
                <a:latin typeface="微軟正黑體" panose="020B0604030504040204" pitchFamily="34" charset="-120"/>
                <a:ea typeface="微軟正黑體" panose="020B0604030504040204" pitchFamily="34" charset="-120"/>
              </a:rPr>
              <a:t>一、挖礦技術</a:t>
            </a:r>
          </a:p>
        </p:txBody>
      </p:sp>
      <p:cxnSp>
        <p:nvCxnSpPr>
          <p:cNvPr id="26" name="直接连接符 33">
            <a:extLst>
              <a:ext uri="{FF2B5EF4-FFF2-40B4-BE49-F238E27FC236}">
                <a16:creationId xmlns:a16="http://schemas.microsoft.com/office/drawing/2014/main" id="{C3725E45-5458-4931-9D9A-B8C15AE6AC41}"/>
              </a:ext>
            </a:extLst>
          </p:cNvPr>
          <p:cNvCxnSpPr>
            <a:cxnSpLocks/>
          </p:cNvCxnSpPr>
          <p:nvPr/>
        </p:nvCxnSpPr>
        <p:spPr>
          <a:xfrm>
            <a:off x="1334185" y="1102164"/>
            <a:ext cx="10081960" cy="0"/>
          </a:xfrm>
          <a:prstGeom prst="line">
            <a:avLst/>
          </a:prstGeom>
          <a:ln w="190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12" name="文字方塊 11">
            <a:extLst>
              <a:ext uri="{FF2B5EF4-FFF2-40B4-BE49-F238E27FC236}">
                <a16:creationId xmlns:a16="http://schemas.microsoft.com/office/drawing/2014/main" id="{9FE02F65-A32E-4124-B1E6-8E45750976E4}"/>
              </a:ext>
            </a:extLst>
          </p:cNvPr>
          <p:cNvSpPr txBox="1"/>
          <p:nvPr/>
        </p:nvSpPr>
        <p:spPr>
          <a:xfrm>
            <a:off x="4487241" y="449166"/>
            <a:ext cx="2307042" cy="400110"/>
          </a:xfrm>
          <a:prstGeom prst="rect">
            <a:avLst/>
          </a:prstGeom>
          <a:noFill/>
        </p:spPr>
        <p:txBody>
          <a:bodyPr wrap="none" rtlCol="0">
            <a:spAutoFit/>
          </a:bodyPr>
          <a:lstStyle/>
          <a:p>
            <a:r>
              <a:rPr lang="en-US" altLang="zh-TW" sz="2000" b="1" dirty="0">
                <a:solidFill>
                  <a:schemeClr val="tx1">
                    <a:lumMod val="65000"/>
                    <a:lumOff val="35000"/>
                  </a:schemeClr>
                </a:solidFill>
                <a:latin typeface="微軟正黑體" panose="020B0604030504040204" pitchFamily="34" charset="-120"/>
                <a:ea typeface="微軟正黑體" panose="020B0604030504040204" pitchFamily="34" charset="-120"/>
                <a:cs typeface="Times New Roman" panose="02020603050405020304" pitchFamily="18" charset="0"/>
              </a:rPr>
              <a:t>-3 </a:t>
            </a:r>
            <a:r>
              <a:rPr lang="zh-TW" altLang="en-US" sz="2000" b="1" dirty="0">
                <a:solidFill>
                  <a:schemeClr val="tx1">
                    <a:lumMod val="65000"/>
                    <a:lumOff val="35000"/>
                  </a:schemeClr>
                </a:solidFill>
                <a:latin typeface="微軟正黑體" panose="020B0604030504040204" pitchFamily="34" charset="-120"/>
                <a:ea typeface="微軟正黑體" panose="020B0604030504040204" pitchFamily="34" charset="-120"/>
                <a:cs typeface="Times New Roman" panose="02020603050405020304" pitchFamily="18" charset="0"/>
              </a:rPr>
              <a:t>區塊鏈相關技術</a:t>
            </a:r>
          </a:p>
        </p:txBody>
      </p:sp>
      <p:sp>
        <p:nvSpPr>
          <p:cNvPr id="13" name="文字方塊 12">
            <a:extLst>
              <a:ext uri="{FF2B5EF4-FFF2-40B4-BE49-F238E27FC236}">
                <a16:creationId xmlns:a16="http://schemas.microsoft.com/office/drawing/2014/main" id="{116884AE-6D35-4A4B-AE14-D0D169460F29}"/>
              </a:ext>
            </a:extLst>
          </p:cNvPr>
          <p:cNvSpPr txBox="1"/>
          <p:nvPr/>
        </p:nvSpPr>
        <p:spPr>
          <a:xfrm>
            <a:off x="8887431" y="6308967"/>
            <a:ext cx="2089033" cy="369332"/>
          </a:xfrm>
          <a:prstGeom prst="rect">
            <a:avLst/>
          </a:prstGeom>
          <a:noFill/>
        </p:spPr>
        <p:txBody>
          <a:bodyPr wrap="none" rtlCol="0">
            <a:spAutoFit/>
          </a:bodyPr>
          <a:lstStyle/>
          <a:p>
            <a:pPr marL="285750" indent="-285750">
              <a:buFont typeface="Arial" panose="020B0604020202020204" pitchFamily="34" charset="0"/>
              <a:buChar char="▲"/>
            </a:pPr>
            <a:r>
              <a:rPr lang="zh-TW" altLang="en-US" b="1" dirty="0">
                <a:latin typeface="微軟正黑體" panose="020B0604030504040204" pitchFamily="34" charset="-120"/>
                <a:ea typeface="微軟正黑體" panose="020B0604030504040204" pitchFamily="34" charset="-120"/>
              </a:rPr>
              <a:t>比特幣挖礦流程</a:t>
            </a:r>
          </a:p>
        </p:txBody>
      </p:sp>
      <p:grpSp>
        <p:nvGrpSpPr>
          <p:cNvPr id="10" name="群組 9">
            <a:extLst>
              <a:ext uri="{FF2B5EF4-FFF2-40B4-BE49-F238E27FC236}">
                <a16:creationId xmlns:a16="http://schemas.microsoft.com/office/drawing/2014/main" id="{E086208D-A7DC-494B-84C3-4EE3A0E6741D}"/>
              </a:ext>
            </a:extLst>
          </p:cNvPr>
          <p:cNvGrpSpPr/>
          <p:nvPr/>
        </p:nvGrpSpPr>
        <p:grpSpPr>
          <a:xfrm>
            <a:off x="3667661" y="1355053"/>
            <a:ext cx="5785688" cy="5122448"/>
            <a:chOff x="3174970" y="262753"/>
            <a:chExt cx="6788348" cy="6010168"/>
          </a:xfrm>
        </p:grpSpPr>
        <p:sp>
          <p:nvSpPr>
            <p:cNvPr id="14" name="圓角矩形 3">
              <a:extLst>
                <a:ext uri="{FF2B5EF4-FFF2-40B4-BE49-F238E27FC236}">
                  <a16:creationId xmlns:a16="http://schemas.microsoft.com/office/drawing/2014/main" id="{646E0117-514D-4244-843B-300BD836EA90}"/>
                </a:ext>
              </a:extLst>
            </p:cNvPr>
            <p:cNvSpPr/>
            <p:nvPr/>
          </p:nvSpPr>
          <p:spPr>
            <a:xfrm>
              <a:off x="4079776" y="5157192"/>
              <a:ext cx="4464496" cy="1115729"/>
            </a:xfrm>
            <a:prstGeom prst="roundRect">
              <a:avLst/>
            </a:prstGeom>
            <a:solidFill>
              <a:srgbClr val="FF9999"/>
            </a:solidFill>
            <a:scene3d>
              <a:camera prst="perspectiveRelaxedModerately"/>
              <a:lightRig rig="threePt" dir="t"/>
            </a:scene3d>
            <a:sp3d>
              <a:bevelT prst="convex"/>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latin typeface="微軟正黑體" panose="020B0604030504040204" pitchFamily="34" charset="-120"/>
                <a:ea typeface="微軟正黑體" panose="020B0604030504040204" pitchFamily="34" charset="-120"/>
              </a:endParaRPr>
            </a:p>
          </p:txBody>
        </p:sp>
        <p:sp>
          <p:nvSpPr>
            <p:cNvPr id="15" name="圓角矩形 12">
              <a:extLst>
                <a:ext uri="{FF2B5EF4-FFF2-40B4-BE49-F238E27FC236}">
                  <a16:creationId xmlns:a16="http://schemas.microsoft.com/office/drawing/2014/main" id="{C11DB5E2-10C5-45EF-B0C7-B860C60C93CB}"/>
                </a:ext>
              </a:extLst>
            </p:cNvPr>
            <p:cNvSpPr/>
            <p:nvPr/>
          </p:nvSpPr>
          <p:spPr>
            <a:xfrm>
              <a:off x="4223792" y="1844824"/>
              <a:ext cx="4104456" cy="1080120"/>
            </a:xfrm>
            <a:prstGeom prst="roundRect">
              <a:avLst/>
            </a:prstGeom>
            <a:solidFill>
              <a:schemeClr val="accent1">
                <a:lumMod val="60000"/>
                <a:lumOff val="40000"/>
              </a:schemeClr>
            </a:solidFill>
            <a:scene3d>
              <a:camera prst="perspectiveRelaxedModerately"/>
              <a:lightRig rig="threePt" dir="t"/>
            </a:scene3d>
            <a:sp3d>
              <a:bevelT prst="convex"/>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latin typeface="微軟正黑體" panose="020B0604030504040204" pitchFamily="34" charset="-120"/>
                <a:ea typeface="微軟正黑體" panose="020B0604030504040204" pitchFamily="34" charset="-120"/>
              </a:endParaRPr>
            </a:p>
          </p:txBody>
        </p:sp>
        <p:sp>
          <p:nvSpPr>
            <p:cNvPr id="16" name="圓角矩形 2">
              <a:extLst>
                <a:ext uri="{FF2B5EF4-FFF2-40B4-BE49-F238E27FC236}">
                  <a16:creationId xmlns:a16="http://schemas.microsoft.com/office/drawing/2014/main" id="{EE5289D9-D3CE-48E2-B8C3-13503836E7B0}"/>
                </a:ext>
              </a:extLst>
            </p:cNvPr>
            <p:cNvSpPr/>
            <p:nvPr/>
          </p:nvSpPr>
          <p:spPr>
            <a:xfrm>
              <a:off x="4223792" y="262753"/>
              <a:ext cx="4141146" cy="1056818"/>
            </a:xfrm>
            <a:prstGeom prst="roundRect">
              <a:avLst/>
            </a:prstGeom>
            <a:solidFill>
              <a:schemeClr val="accent1">
                <a:lumMod val="60000"/>
                <a:lumOff val="40000"/>
              </a:schemeClr>
            </a:solidFill>
            <a:scene3d>
              <a:camera prst="perspectiveRelaxedModerately"/>
              <a:lightRig rig="threePt" dir="t"/>
            </a:scene3d>
            <a:sp3d>
              <a:bevelT prst="convex"/>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latin typeface="微軟正黑體" panose="020B0604030504040204" pitchFamily="34" charset="-120"/>
                <a:ea typeface="微軟正黑體" panose="020B0604030504040204" pitchFamily="34" charset="-120"/>
              </a:endParaRPr>
            </a:p>
          </p:txBody>
        </p:sp>
        <p:sp>
          <p:nvSpPr>
            <p:cNvPr id="17" name="流程圖: 決策 16">
              <a:extLst>
                <a:ext uri="{FF2B5EF4-FFF2-40B4-BE49-F238E27FC236}">
                  <a16:creationId xmlns:a16="http://schemas.microsoft.com/office/drawing/2014/main" id="{20079764-D2C7-421A-9CE3-3D952E2984EB}"/>
                </a:ext>
              </a:extLst>
            </p:cNvPr>
            <p:cNvSpPr/>
            <p:nvPr/>
          </p:nvSpPr>
          <p:spPr>
            <a:xfrm>
              <a:off x="3872697" y="3301040"/>
              <a:ext cx="4806645" cy="1352096"/>
            </a:xfrm>
            <a:prstGeom prst="flowChartDecision">
              <a:avLst/>
            </a:prstGeom>
            <a:solidFill>
              <a:schemeClr val="accent4">
                <a:lumMod val="40000"/>
                <a:lumOff val="60000"/>
              </a:schemeClr>
            </a:solidFill>
            <a:ln>
              <a:solidFill>
                <a:srgbClr val="C6FEE9"/>
              </a:solidFill>
            </a:ln>
            <a:scene3d>
              <a:camera prst="perspectiveRelaxedModerately"/>
              <a:lightRig rig="threePt" dir="t"/>
            </a:scene3d>
            <a:sp3d>
              <a:bevelT prst="angl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latin typeface="微軟正黑體" panose="020B0604030504040204" pitchFamily="34" charset="-120"/>
                <a:ea typeface="微軟正黑體" panose="020B0604030504040204" pitchFamily="34" charset="-120"/>
              </a:endParaRPr>
            </a:p>
          </p:txBody>
        </p:sp>
        <p:sp>
          <p:nvSpPr>
            <p:cNvPr id="18" name="文字方塊 17">
              <a:extLst>
                <a:ext uri="{FF2B5EF4-FFF2-40B4-BE49-F238E27FC236}">
                  <a16:creationId xmlns:a16="http://schemas.microsoft.com/office/drawing/2014/main" id="{47990970-F0E1-472C-92DB-45033345F027}"/>
                </a:ext>
              </a:extLst>
            </p:cNvPr>
            <p:cNvSpPr txBox="1"/>
            <p:nvPr/>
          </p:nvSpPr>
          <p:spPr>
            <a:xfrm>
              <a:off x="4763852" y="600659"/>
              <a:ext cx="3286812" cy="433337"/>
            </a:xfrm>
            <a:prstGeom prst="rect">
              <a:avLst/>
            </a:prstGeom>
            <a:noFill/>
          </p:spPr>
          <p:txBody>
            <a:bodyPr wrap="square" rtlCol="0">
              <a:spAutoFit/>
            </a:bodyPr>
            <a:lstStyle/>
            <a:p>
              <a:pPr algn="ctr"/>
              <a:r>
                <a:rPr lang="zh-TW" altLang="en-US" b="1" dirty="0">
                  <a:solidFill>
                    <a:schemeClr val="accent1">
                      <a:lumMod val="50000"/>
                    </a:schemeClr>
                  </a:solidFill>
                  <a:latin typeface="微軟正黑體" panose="020B0604030504040204" pitchFamily="34" charset="-120"/>
                  <a:ea typeface="微軟正黑體" panose="020B0604030504040204" pitchFamily="34" charset="-120"/>
                </a:rPr>
                <a:t>選擇一個區塊頭作為輸入</a:t>
              </a:r>
            </a:p>
          </p:txBody>
        </p:sp>
        <p:sp>
          <p:nvSpPr>
            <p:cNvPr id="19" name="文字方塊 18">
              <a:extLst>
                <a:ext uri="{FF2B5EF4-FFF2-40B4-BE49-F238E27FC236}">
                  <a16:creationId xmlns:a16="http://schemas.microsoft.com/office/drawing/2014/main" id="{21C38B66-D3D5-43BC-B13E-F0D08DB0BB83}"/>
                </a:ext>
              </a:extLst>
            </p:cNvPr>
            <p:cNvSpPr txBox="1"/>
            <p:nvPr/>
          </p:nvSpPr>
          <p:spPr>
            <a:xfrm>
              <a:off x="4785579" y="2278975"/>
              <a:ext cx="3052888" cy="433337"/>
            </a:xfrm>
            <a:prstGeom prst="rect">
              <a:avLst/>
            </a:prstGeom>
            <a:noFill/>
          </p:spPr>
          <p:txBody>
            <a:bodyPr wrap="square" rtlCol="0">
              <a:spAutoFit/>
            </a:bodyPr>
            <a:lstStyle/>
            <a:p>
              <a:pPr algn="ctr"/>
              <a:r>
                <a:rPr lang="zh-TW" altLang="en-US" b="1" dirty="0">
                  <a:solidFill>
                    <a:schemeClr val="accent1">
                      <a:lumMod val="50000"/>
                    </a:schemeClr>
                  </a:solidFill>
                  <a:latin typeface="微軟正黑體" panose="020B0604030504040204" pitchFamily="34" charset="-120"/>
                  <a:ea typeface="微軟正黑體" panose="020B0604030504040204" pitchFamily="34" charset="-120"/>
                </a:rPr>
                <a:t>改變</a:t>
              </a:r>
              <a:r>
                <a:rPr lang="en-US" altLang="zh-TW" b="1" dirty="0">
                  <a:solidFill>
                    <a:schemeClr val="accent1">
                      <a:lumMod val="50000"/>
                    </a:schemeClr>
                  </a:solidFill>
                  <a:latin typeface="微軟正黑體" panose="020B0604030504040204" pitchFamily="34" charset="-120"/>
                  <a:ea typeface="微軟正黑體" panose="020B0604030504040204" pitchFamily="34" charset="-120"/>
                </a:rPr>
                <a:t>Nonce</a:t>
              </a:r>
              <a:r>
                <a:rPr lang="zh-TW" altLang="en-US" b="1" dirty="0">
                  <a:solidFill>
                    <a:schemeClr val="accent1">
                      <a:lumMod val="50000"/>
                    </a:schemeClr>
                  </a:solidFill>
                  <a:latin typeface="微軟正黑體" panose="020B0604030504040204" pitchFamily="34" charset="-120"/>
                  <a:ea typeface="微軟正黑體" panose="020B0604030504040204" pitchFamily="34" charset="-120"/>
                </a:rPr>
                <a:t>加密通信值</a:t>
              </a:r>
            </a:p>
          </p:txBody>
        </p:sp>
        <p:sp>
          <p:nvSpPr>
            <p:cNvPr id="20" name="文字方塊 19">
              <a:extLst>
                <a:ext uri="{FF2B5EF4-FFF2-40B4-BE49-F238E27FC236}">
                  <a16:creationId xmlns:a16="http://schemas.microsoft.com/office/drawing/2014/main" id="{8371FC21-44C3-41DA-8F84-8C851FAF28D6}"/>
                </a:ext>
              </a:extLst>
            </p:cNvPr>
            <p:cNvSpPr txBox="1"/>
            <p:nvPr/>
          </p:nvSpPr>
          <p:spPr>
            <a:xfrm>
              <a:off x="4943872" y="3763198"/>
              <a:ext cx="2894593" cy="433337"/>
            </a:xfrm>
            <a:prstGeom prst="rect">
              <a:avLst/>
            </a:prstGeom>
            <a:noFill/>
          </p:spPr>
          <p:txBody>
            <a:bodyPr wrap="square" rtlCol="0">
              <a:spAutoFit/>
            </a:bodyPr>
            <a:lstStyle/>
            <a:p>
              <a:r>
                <a:rPr lang="zh-TW" altLang="en-US" b="1" dirty="0">
                  <a:solidFill>
                    <a:schemeClr val="accent1">
                      <a:lumMod val="50000"/>
                    </a:schemeClr>
                  </a:solidFill>
                  <a:latin typeface="微軟正黑體" panose="020B0604030504040204" pitchFamily="34" charset="-120"/>
                  <a:ea typeface="微軟正黑體" panose="020B0604030504040204" pitchFamily="34" charset="-120"/>
                </a:rPr>
                <a:t>區塊頭雜湊數值</a:t>
              </a:r>
              <a:r>
                <a:rPr lang="en-US" altLang="zh-TW" b="1" dirty="0">
                  <a:solidFill>
                    <a:schemeClr val="accent1">
                      <a:lumMod val="50000"/>
                    </a:schemeClr>
                  </a:solidFill>
                  <a:latin typeface="微軟正黑體" panose="020B0604030504040204" pitchFamily="34" charset="-120"/>
                  <a:ea typeface="微軟正黑體" panose="020B0604030504040204" pitchFamily="34" charset="-120"/>
                </a:rPr>
                <a:t>&lt;</a:t>
              </a:r>
              <a:r>
                <a:rPr lang="zh-TW" altLang="en-US" b="1" dirty="0">
                  <a:solidFill>
                    <a:schemeClr val="accent1">
                      <a:lumMod val="50000"/>
                    </a:schemeClr>
                  </a:solidFill>
                  <a:latin typeface="微軟正黑體" panose="020B0604030504040204" pitchFamily="34" charset="-120"/>
                  <a:ea typeface="微軟正黑體" panose="020B0604030504040204" pitchFamily="34" charset="-120"/>
                </a:rPr>
                <a:t>目標 </a:t>
              </a:r>
            </a:p>
          </p:txBody>
        </p:sp>
        <p:cxnSp>
          <p:nvCxnSpPr>
            <p:cNvPr id="21" name="直線單箭頭接點 20">
              <a:extLst>
                <a:ext uri="{FF2B5EF4-FFF2-40B4-BE49-F238E27FC236}">
                  <a16:creationId xmlns:a16="http://schemas.microsoft.com/office/drawing/2014/main" id="{0E51B284-2594-4177-ACF1-D2831EF80705}"/>
                </a:ext>
              </a:extLst>
            </p:cNvPr>
            <p:cNvCxnSpPr/>
            <p:nvPr/>
          </p:nvCxnSpPr>
          <p:spPr>
            <a:xfrm>
              <a:off x="6240016" y="1366174"/>
              <a:ext cx="0" cy="576064"/>
            </a:xfrm>
            <a:prstGeom prst="straightConnector1">
              <a:avLst/>
            </a:prstGeom>
            <a:ln w="60325">
              <a:solidFill>
                <a:schemeClr val="tx1">
                  <a:lumMod val="50000"/>
                  <a:lumOff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22" name="直線單箭頭接點 21">
              <a:extLst>
                <a:ext uri="{FF2B5EF4-FFF2-40B4-BE49-F238E27FC236}">
                  <a16:creationId xmlns:a16="http://schemas.microsoft.com/office/drawing/2014/main" id="{B868C923-97CD-4106-A685-8118FA748A8D}"/>
                </a:ext>
              </a:extLst>
            </p:cNvPr>
            <p:cNvCxnSpPr/>
            <p:nvPr/>
          </p:nvCxnSpPr>
          <p:spPr>
            <a:xfrm>
              <a:off x="6257908" y="2924944"/>
              <a:ext cx="0" cy="576064"/>
            </a:xfrm>
            <a:prstGeom prst="straightConnector1">
              <a:avLst/>
            </a:prstGeom>
            <a:ln w="60325">
              <a:solidFill>
                <a:schemeClr val="tx1">
                  <a:lumMod val="50000"/>
                  <a:lumOff val="5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23" name="文字方塊 22">
              <a:extLst>
                <a:ext uri="{FF2B5EF4-FFF2-40B4-BE49-F238E27FC236}">
                  <a16:creationId xmlns:a16="http://schemas.microsoft.com/office/drawing/2014/main" id="{364657F2-010B-4400-B0C8-7645F29638F4}"/>
                </a:ext>
              </a:extLst>
            </p:cNvPr>
            <p:cNvSpPr txBox="1"/>
            <p:nvPr/>
          </p:nvSpPr>
          <p:spPr>
            <a:xfrm>
              <a:off x="4889756" y="5577665"/>
              <a:ext cx="2948707" cy="433337"/>
            </a:xfrm>
            <a:prstGeom prst="rect">
              <a:avLst/>
            </a:prstGeom>
            <a:noFill/>
          </p:spPr>
          <p:txBody>
            <a:bodyPr wrap="square" rtlCol="0">
              <a:spAutoFit/>
            </a:bodyPr>
            <a:lstStyle/>
            <a:p>
              <a:pPr algn="ctr"/>
              <a:r>
                <a:rPr lang="zh-TW" altLang="en-US" b="1" dirty="0">
                  <a:solidFill>
                    <a:schemeClr val="accent1">
                      <a:lumMod val="50000"/>
                    </a:schemeClr>
                  </a:solidFill>
                  <a:latin typeface="微軟正黑體" panose="020B0604030504040204" pitchFamily="34" charset="-120"/>
                  <a:ea typeface="微軟正黑體" panose="020B0604030504040204" pitchFamily="34" charset="-120"/>
                </a:rPr>
                <a:t>改變</a:t>
              </a:r>
              <a:r>
                <a:rPr lang="en-US" altLang="zh-TW" b="1" dirty="0">
                  <a:solidFill>
                    <a:schemeClr val="accent1">
                      <a:lumMod val="50000"/>
                    </a:schemeClr>
                  </a:solidFill>
                  <a:latin typeface="微軟正黑體" panose="020B0604030504040204" pitchFamily="34" charset="-120"/>
                  <a:ea typeface="微軟正黑體" panose="020B0604030504040204" pitchFamily="34" charset="-120"/>
                </a:rPr>
                <a:t>Nonce</a:t>
              </a:r>
              <a:r>
                <a:rPr lang="zh-TW" altLang="en-US" b="1" dirty="0">
                  <a:solidFill>
                    <a:schemeClr val="accent1">
                      <a:lumMod val="50000"/>
                    </a:schemeClr>
                  </a:solidFill>
                  <a:latin typeface="微軟正黑體" panose="020B0604030504040204" pitchFamily="34" charset="-120"/>
                  <a:ea typeface="微軟正黑體" panose="020B0604030504040204" pitchFamily="34" charset="-120"/>
                </a:rPr>
                <a:t>加密通信值</a:t>
              </a:r>
            </a:p>
          </p:txBody>
        </p:sp>
        <p:cxnSp>
          <p:nvCxnSpPr>
            <p:cNvPr id="24" name="直線單箭頭接點 23">
              <a:extLst>
                <a:ext uri="{FF2B5EF4-FFF2-40B4-BE49-F238E27FC236}">
                  <a16:creationId xmlns:a16="http://schemas.microsoft.com/office/drawing/2014/main" id="{2148D347-9234-4E42-8611-41DDB0926768}"/>
                </a:ext>
              </a:extLst>
            </p:cNvPr>
            <p:cNvCxnSpPr/>
            <p:nvPr/>
          </p:nvCxnSpPr>
          <p:spPr>
            <a:xfrm>
              <a:off x="6257908" y="4653136"/>
              <a:ext cx="0" cy="576064"/>
            </a:xfrm>
            <a:prstGeom prst="straightConnector1">
              <a:avLst/>
            </a:prstGeom>
            <a:ln w="60325">
              <a:solidFill>
                <a:schemeClr val="tx1">
                  <a:lumMod val="50000"/>
                  <a:lumOff val="5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25" name="文字方塊 24">
              <a:extLst>
                <a:ext uri="{FF2B5EF4-FFF2-40B4-BE49-F238E27FC236}">
                  <a16:creationId xmlns:a16="http://schemas.microsoft.com/office/drawing/2014/main" id="{FB9433FA-0C23-4D29-92C4-B71DAA1A7B42}"/>
                </a:ext>
              </a:extLst>
            </p:cNvPr>
            <p:cNvSpPr txBox="1"/>
            <p:nvPr/>
          </p:nvSpPr>
          <p:spPr>
            <a:xfrm>
              <a:off x="5461333" y="4704276"/>
              <a:ext cx="796575" cy="400110"/>
            </a:xfrm>
            <a:prstGeom prst="rect">
              <a:avLst/>
            </a:prstGeom>
            <a:noFill/>
          </p:spPr>
          <p:txBody>
            <a:bodyPr wrap="square" rtlCol="0">
              <a:spAutoFit/>
            </a:bodyPr>
            <a:lstStyle/>
            <a:p>
              <a:r>
                <a:rPr lang="en-US" altLang="zh-TW" sz="2000" dirty="0">
                  <a:latin typeface="微軟正黑體" panose="020B0604030504040204" pitchFamily="34" charset="-120"/>
                  <a:ea typeface="微軟正黑體" panose="020B0604030504040204" pitchFamily="34" charset="-120"/>
                  <a:cs typeface="Times New Roman" panose="02020603050405020304" pitchFamily="18" charset="0"/>
                </a:rPr>
                <a:t>YES</a:t>
              </a:r>
              <a:endParaRPr lang="zh-TW" altLang="en-US" sz="2000" dirty="0">
                <a:latin typeface="微軟正黑體" panose="020B0604030504040204" pitchFamily="34" charset="-120"/>
                <a:ea typeface="微軟正黑體" panose="020B0604030504040204" pitchFamily="34" charset="-120"/>
                <a:cs typeface="Times New Roman" panose="02020603050405020304" pitchFamily="18" charset="0"/>
              </a:endParaRPr>
            </a:p>
          </p:txBody>
        </p:sp>
        <p:grpSp>
          <p:nvGrpSpPr>
            <p:cNvPr id="27" name="群組 26">
              <a:extLst>
                <a:ext uri="{FF2B5EF4-FFF2-40B4-BE49-F238E27FC236}">
                  <a16:creationId xmlns:a16="http://schemas.microsoft.com/office/drawing/2014/main" id="{54DBD17B-B6DB-4DFF-9341-471757EB5226}"/>
                </a:ext>
              </a:extLst>
            </p:cNvPr>
            <p:cNvGrpSpPr/>
            <p:nvPr/>
          </p:nvGrpSpPr>
          <p:grpSpPr>
            <a:xfrm>
              <a:off x="3174970" y="2420888"/>
              <a:ext cx="963557" cy="3339060"/>
              <a:chOff x="2406187" y="2636912"/>
              <a:chExt cx="1575825" cy="3470938"/>
            </a:xfrm>
          </p:grpSpPr>
          <p:cxnSp>
            <p:nvCxnSpPr>
              <p:cNvPr id="32" name="肘形接點 26">
                <a:extLst>
                  <a:ext uri="{FF2B5EF4-FFF2-40B4-BE49-F238E27FC236}">
                    <a16:creationId xmlns:a16="http://schemas.microsoft.com/office/drawing/2014/main" id="{E199C739-D8B1-49B0-86F8-FFFAE50AB742}"/>
                  </a:ext>
                </a:extLst>
              </p:cNvPr>
              <p:cNvCxnSpPr/>
              <p:nvPr/>
            </p:nvCxnSpPr>
            <p:spPr>
              <a:xfrm rot="5400000" flipH="1" flipV="1">
                <a:off x="1380583" y="3688272"/>
                <a:ext cx="3470938" cy="1368218"/>
              </a:xfrm>
              <a:prstGeom prst="bentConnector3">
                <a:avLst>
                  <a:gd name="adj1" fmla="val 100266"/>
                </a:avLst>
              </a:prstGeom>
              <a:ln w="60325">
                <a:solidFill>
                  <a:schemeClr val="tx1">
                    <a:lumMod val="50000"/>
                    <a:lumOff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33" name="直線接點 32">
                <a:extLst>
                  <a:ext uri="{FF2B5EF4-FFF2-40B4-BE49-F238E27FC236}">
                    <a16:creationId xmlns:a16="http://schemas.microsoft.com/office/drawing/2014/main" id="{9D10E9E7-94B4-4029-8B29-1E4983A8EDD9}"/>
                  </a:ext>
                </a:extLst>
              </p:cNvPr>
              <p:cNvCxnSpPr/>
              <p:nvPr/>
            </p:nvCxnSpPr>
            <p:spPr>
              <a:xfrm>
                <a:off x="2406187" y="6107850"/>
                <a:ext cx="1575825" cy="0"/>
              </a:xfrm>
              <a:prstGeom prst="line">
                <a:avLst/>
              </a:prstGeom>
              <a:ln w="60325">
                <a:solidFill>
                  <a:schemeClr val="tx1">
                    <a:lumMod val="50000"/>
                    <a:lumOff val="50000"/>
                    <a:alpha val="99000"/>
                  </a:schemeClr>
                </a:solidFill>
              </a:ln>
            </p:spPr>
            <p:style>
              <a:lnRef idx="1">
                <a:schemeClr val="accent1"/>
              </a:lnRef>
              <a:fillRef idx="0">
                <a:schemeClr val="accent1"/>
              </a:fillRef>
              <a:effectRef idx="0">
                <a:schemeClr val="accent1"/>
              </a:effectRef>
              <a:fontRef idx="minor">
                <a:schemeClr val="tx1"/>
              </a:fontRef>
            </p:style>
          </p:cxnSp>
        </p:grpSp>
        <p:grpSp>
          <p:nvGrpSpPr>
            <p:cNvPr id="28" name="群組 27">
              <a:extLst>
                <a:ext uri="{FF2B5EF4-FFF2-40B4-BE49-F238E27FC236}">
                  <a16:creationId xmlns:a16="http://schemas.microsoft.com/office/drawing/2014/main" id="{437C1957-6E5E-49F8-8AA0-4F41D54E10E3}"/>
                </a:ext>
              </a:extLst>
            </p:cNvPr>
            <p:cNvGrpSpPr/>
            <p:nvPr/>
          </p:nvGrpSpPr>
          <p:grpSpPr>
            <a:xfrm flipH="1">
              <a:off x="8687034" y="764704"/>
              <a:ext cx="1203024" cy="3212384"/>
              <a:chOff x="2406187" y="2636912"/>
              <a:chExt cx="1575825" cy="3470938"/>
            </a:xfrm>
          </p:grpSpPr>
          <p:cxnSp>
            <p:nvCxnSpPr>
              <p:cNvPr id="30" name="肘形接點 59">
                <a:extLst>
                  <a:ext uri="{FF2B5EF4-FFF2-40B4-BE49-F238E27FC236}">
                    <a16:creationId xmlns:a16="http://schemas.microsoft.com/office/drawing/2014/main" id="{29738C6F-BA81-4235-A83A-DBEA195C2F4F}"/>
                  </a:ext>
                </a:extLst>
              </p:cNvPr>
              <p:cNvCxnSpPr/>
              <p:nvPr/>
            </p:nvCxnSpPr>
            <p:spPr>
              <a:xfrm rot="5400000" flipH="1" flipV="1">
                <a:off x="1380583" y="3688272"/>
                <a:ext cx="3470938" cy="1368218"/>
              </a:xfrm>
              <a:prstGeom prst="bentConnector3">
                <a:avLst>
                  <a:gd name="adj1" fmla="val 100266"/>
                </a:avLst>
              </a:prstGeom>
              <a:ln w="60325">
                <a:solidFill>
                  <a:schemeClr val="tx1">
                    <a:lumMod val="50000"/>
                    <a:lumOff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31" name="直線接點 30">
                <a:extLst>
                  <a:ext uri="{FF2B5EF4-FFF2-40B4-BE49-F238E27FC236}">
                    <a16:creationId xmlns:a16="http://schemas.microsoft.com/office/drawing/2014/main" id="{DF5DA56F-05B5-4CF9-92D6-0EE05D70AE8F}"/>
                  </a:ext>
                </a:extLst>
              </p:cNvPr>
              <p:cNvCxnSpPr/>
              <p:nvPr/>
            </p:nvCxnSpPr>
            <p:spPr>
              <a:xfrm>
                <a:off x="2406187" y="6107850"/>
                <a:ext cx="1575825" cy="0"/>
              </a:xfrm>
              <a:prstGeom prst="line">
                <a:avLst/>
              </a:prstGeom>
              <a:ln w="60325">
                <a:solidFill>
                  <a:schemeClr val="tx1">
                    <a:lumMod val="50000"/>
                    <a:lumOff val="50000"/>
                    <a:alpha val="99000"/>
                  </a:schemeClr>
                </a:solidFill>
              </a:ln>
            </p:spPr>
            <p:style>
              <a:lnRef idx="1">
                <a:schemeClr val="accent1"/>
              </a:lnRef>
              <a:fillRef idx="0">
                <a:schemeClr val="accent1"/>
              </a:fillRef>
              <a:effectRef idx="0">
                <a:schemeClr val="accent1"/>
              </a:effectRef>
              <a:fontRef idx="minor">
                <a:schemeClr val="tx1"/>
              </a:fontRef>
            </p:style>
          </p:cxnSp>
        </p:grpSp>
        <p:sp>
          <p:nvSpPr>
            <p:cNvPr id="29" name="文字方塊 28">
              <a:extLst>
                <a:ext uri="{FF2B5EF4-FFF2-40B4-BE49-F238E27FC236}">
                  <a16:creationId xmlns:a16="http://schemas.microsoft.com/office/drawing/2014/main" id="{1C616312-A4D3-4FEB-99EC-1EA9DA994C39}"/>
                </a:ext>
              </a:extLst>
            </p:cNvPr>
            <p:cNvSpPr txBox="1"/>
            <p:nvPr/>
          </p:nvSpPr>
          <p:spPr>
            <a:xfrm>
              <a:off x="8994307" y="3486199"/>
              <a:ext cx="969011" cy="400110"/>
            </a:xfrm>
            <a:prstGeom prst="rect">
              <a:avLst/>
            </a:prstGeom>
            <a:noFill/>
            <a:ln>
              <a:noFill/>
            </a:ln>
          </p:spPr>
          <p:txBody>
            <a:bodyPr wrap="square" rtlCol="0">
              <a:spAutoFit/>
            </a:bodyPr>
            <a:lstStyle/>
            <a:p>
              <a:r>
                <a:rPr lang="en-US" altLang="zh-TW" sz="2000" dirty="0">
                  <a:latin typeface="微軟正黑體" panose="020B0604030504040204" pitchFamily="34" charset="-120"/>
                  <a:ea typeface="微軟正黑體" panose="020B0604030504040204" pitchFamily="34" charset="-120"/>
                  <a:cs typeface="Times New Roman" panose="02020603050405020304" pitchFamily="18" charset="0"/>
                </a:rPr>
                <a:t>NO</a:t>
              </a:r>
              <a:endParaRPr lang="zh-TW" altLang="en-US" sz="2000" dirty="0">
                <a:latin typeface="微軟正黑體" panose="020B0604030504040204" pitchFamily="34" charset="-120"/>
                <a:ea typeface="微軟正黑體" panose="020B0604030504040204" pitchFamily="34" charset="-120"/>
                <a:cs typeface="Times New Roman" panose="02020603050405020304" pitchFamily="18" charset="0"/>
              </a:endParaRPr>
            </a:p>
          </p:txBody>
        </p:sp>
      </p:grpSp>
      <p:pic>
        <p:nvPicPr>
          <p:cNvPr id="34" name="圖片 33" descr="一張含有 樂高, 玩具 的圖片&#10;&#10;描述是以高可信度產生">
            <a:extLst>
              <a:ext uri="{FF2B5EF4-FFF2-40B4-BE49-F238E27FC236}">
                <a16:creationId xmlns:a16="http://schemas.microsoft.com/office/drawing/2014/main" id="{3E5B3FB7-A7B7-4F95-94B4-4D6F8F3E8EA9}"/>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53452" y="4443399"/>
            <a:ext cx="2304776" cy="2304774"/>
          </a:xfrm>
          <a:prstGeom prst="rect">
            <a:avLst/>
          </a:prstGeom>
        </p:spPr>
      </p:pic>
    </p:spTree>
    <p:extLst>
      <p:ext uri="{BB962C8B-B14F-4D97-AF65-F5344CB8AC3E}">
        <p14:creationId xmlns:p14="http://schemas.microsoft.com/office/powerpoint/2010/main" val="3243492493"/>
      </p:ext>
    </p:extLst>
  </p:cSld>
  <p:clrMapOvr>
    <a:masterClrMapping/>
  </p:clrMapOvr>
  <mc:AlternateContent xmlns:mc="http://schemas.openxmlformats.org/markup-compatibility/2006">
    <mc:Choice xmlns:p14="http://schemas.microsoft.com/office/powerpoint/2010/main" Requires="p14">
      <p:transition spd="slow" p14:dur="2500">
        <p:checker/>
      </p:transition>
    </mc:Choice>
    <mc:Fallback>
      <p:transition spd="slow">
        <p:checker/>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6" presetClass="entr" presetSubtype="16" fill="hold" grpId="0" nodeType="after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circle(in)">
                                      <p:cBhvr>
                                        <p:cTn id="7" dur="2000"/>
                                        <p:tgtEl>
                                          <p:spTgt spid="9"/>
                                        </p:tgtEl>
                                      </p:cBhvr>
                                    </p:animEffect>
                                  </p:childTnLst>
                                </p:cTn>
                              </p:par>
                            </p:childTnLst>
                          </p:cTn>
                        </p:par>
                        <p:par>
                          <p:cTn id="8" fill="hold">
                            <p:stCondLst>
                              <p:cond delay="2000"/>
                            </p:stCondLst>
                            <p:childTnLst>
                              <p:par>
                                <p:cTn id="9" presetID="14" presetClass="entr" presetSubtype="10" fill="hold" grpId="0" nodeType="afterEffect">
                                  <p:stCondLst>
                                    <p:cond delay="0"/>
                                  </p:stCondLst>
                                  <p:childTnLst>
                                    <p:set>
                                      <p:cBhvr>
                                        <p:cTn id="10" dur="1" fill="hold">
                                          <p:stCondLst>
                                            <p:cond delay="0"/>
                                          </p:stCondLst>
                                        </p:cTn>
                                        <p:tgtEl>
                                          <p:spTgt spid="12"/>
                                        </p:tgtEl>
                                        <p:attrNameLst>
                                          <p:attrName>style.visibility</p:attrName>
                                        </p:attrNameLst>
                                      </p:cBhvr>
                                      <p:to>
                                        <p:strVal val="visible"/>
                                      </p:to>
                                    </p:set>
                                    <p:animEffect transition="in" filter="randombar(horizontal)">
                                      <p:cBhvr>
                                        <p:cTn id="11" dur="500"/>
                                        <p:tgtEl>
                                          <p:spTgt spid="12"/>
                                        </p:tgtEl>
                                      </p:cBhvr>
                                    </p:animEffect>
                                  </p:childTnLst>
                                </p:cTn>
                              </p:par>
                            </p:childTnLst>
                          </p:cTn>
                        </p:par>
                        <p:par>
                          <p:cTn id="12" fill="hold">
                            <p:stCondLst>
                              <p:cond delay="2500"/>
                            </p:stCondLst>
                            <p:childTnLst>
                              <p:par>
                                <p:cTn id="13" presetID="2" presetClass="entr" presetSubtype="8" fill="hold" nodeType="afterEffect">
                                  <p:stCondLst>
                                    <p:cond delay="0"/>
                                  </p:stCondLst>
                                  <p:childTnLst>
                                    <p:set>
                                      <p:cBhvr>
                                        <p:cTn id="14" dur="1" fill="hold">
                                          <p:stCondLst>
                                            <p:cond delay="0"/>
                                          </p:stCondLst>
                                        </p:cTn>
                                        <p:tgtEl>
                                          <p:spTgt spid="26"/>
                                        </p:tgtEl>
                                        <p:attrNameLst>
                                          <p:attrName>style.visibility</p:attrName>
                                        </p:attrNameLst>
                                      </p:cBhvr>
                                      <p:to>
                                        <p:strVal val="visible"/>
                                      </p:to>
                                    </p:set>
                                    <p:anim calcmode="lin" valueType="num">
                                      <p:cBhvr additive="base">
                                        <p:cTn id="15" dur="500" fill="hold"/>
                                        <p:tgtEl>
                                          <p:spTgt spid="26"/>
                                        </p:tgtEl>
                                        <p:attrNameLst>
                                          <p:attrName>ppt_x</p:attrName>
                                        </p:attrNameLst>
                                      </p:cBhvr>
                                      <p:tavLst>
                                        <p:tav tm="0">
                                          <p:val>
                                            <p:strVal val="0-#ppt_w/2"/>
                                          </p:val>
                                        </p:tav>
                                        <p:tav tm="100000">
                                          <p:val>
                                            <p:strVal val="#ppt_x"/>
                                          </p:val>
                                        </p:tav>
                                      </p:tavLst>
                                    </p:anim>
                                    <p:anim calcmode="lin" valueType="num">
                                      <p:cBhvr additive="base">
                                        <p:cTn id="16" dur="500" fill="hold"/>
                                        <p:tgtEl>
                                          <p:spTgt spid="26"/>
                                        </p:tgtEl>
                                        <p:attrNameLst>
                                          <p:attrName>ppt_y</p:attrName>
                                        </p:attrNameLst>
                                      </p:cBhvr>
                                      <p:tavLst>
                                        <p:tav tm="0">
                                          <p:val>
                                            <p:strVal val="#ppt_y"/>
                                          </p:val>
                                        </p:tav>
                                        <p:tav tm="100000">
                                          <p:val>
                                            <p:strVal val="#ppt_y"/>
                                          </p:val>
                                        </p:tav>
                                      </p:tavLst>
                                    </p:anim>
                                  </p:childTnLst>
                                </p:cTn>
                              </p:par>
                            </p:childTnLst>
                          </p:cTn>
                        </p:par>
                        <p:par>
                          <p:cTn id="17" fill="hold">
                            <p:stCondLst>
                              <p:cond delay="3000"/>
                            </p:stCondLst>
                            <p:childTnLst>
                              <p:par>
                                <p:cTn id="18" presetID="22" presetClass="entr" presetSubtype="4" fill="hold" grpId="0" nodeType="afterEffect">
                                  <p:stCondLst>
                                    <p:cond delay="0"/>
                                  </p:stCondLst>
                                  <p:childTnLst>
                                    <p:set>
                                      <p:cBhvr>
                                        <p:cTn id="19" dur="1" fill="hold">
                                          <p:stCondLst>
                                            <p:cond delay="0"/>
                                          </p:stCondLst>
                                        </p:cTn>
                                        <p:tgtEl>
                                          <p:spTgt spid="2"/>
                                        </p:tgtEl>
                                        <p:attrNameLst>
                                          <p:attrName>style.visibility</p:attrName>
                                        </p:attrNameLst>
                                      </p:cBhvr>
                                      <p:to>
                                        <p:strVal val="visible"/>
                                      </p:to>
                                    </p:set>
                                    <p:animEffect transition="in" filter="wipe(down)">
                                      <p:cBhvr>
                                        <p:cTn id="20" dur="500"/>
                                        <p:tgtEl>
                                          <p:spTgt spid="2"/>
                                        </p:tgtEl>
                                      </p:cBhvr>
                                    </p:animEffect>
                                  </p:childTnLst>
                                </p:cTn>
                              </p:par>
                            </p:childTnLst>
                          </p:cTn>
                        </p:par>
                        <p:par>
                          <p:cTn id="21" fill="hold">
                            <p:stCondLst>
                              <p:cond delay="3500"/>
                            </p:stCondLst>
                            <p:childTnLst>
                              <p:par>
                                <p:cTn id="22" presetID="42" presetClass="entr" presetSubtype="0" fill="hold" nodeType="afterEffect">
                                  <p:stCondLst>
                                    <p:cond delay="0"/>
                                  </p:stCondLst>
                                  <p:childTnLst>
                                    <p:set>
                                      <p:cBhvr>
                                        <p:cTn id="23" dur="1" fill="hold">
                                          <p:stCondLst>
                                            <p:cond delay="0"/>
                                          </p:stCondLst>
                                        </p:cTn>
                                        <p:tgtEl>
                                          <p:spTgt spid="10"/>
                                        </p:tgtEl>
                                        <p:attrNameLst>
                                          <p:attrName>style.visibility</p:attrName>
                                        </p:attrNameLst>
                                      </p:cBhvr>
                                      <p:to>
                                        <p:strVal val="visible"/>
                                      </p:to>
                                    </p:set>
                                    <p:animEffect transition="in" filter="fade">
                                      <p:cBhvr>
                                        <p:cTn id="24" dur="1000"/>
                                        <p:tgtEl>
                                          <p:spTgt spid="10"/>
                                        </p:tgtEl>
                                      </p:cBhvr>
                                    </p:animEffect>
                                    <p:anim calcmode="lin" valueType="num">
                                      <p:cBhvr>
                                        <p:cTn id="25" dur="1000" fill="hold"/>
                                        <p:tgtEl>
                                          <p:spTgt spid="10"/>
                                        </p:tgtEl>
                                        <p:attrNameLst>
                                          <p:attrName>ppt_x</p:attrName>
                                        </p:attrNameLst>
                                      </p:cBhvr>
                                      <p:tavLst>
                                        <p:tav tm="0">
                                          <p:val>
                                            <p:strVal val="#ppt_x"/>
                                          </p:val>
                                        </p:tav>
                                        <p:tav tm="100000">
                                          <p:val>
                                            <p:strVal val="#ppt_x"/>
                                          </p:val>
                                        </p:tav>
                                      </p:tavLst>
                                    </p:anim>
                                    <p:anim calcmode="lin" valueType="num">
                                      <p:cBhvr>
                                        <p:cTn id="26" dur="1000" fill="hold"/>
                                        <p:tgtEl>
                                          <p:spTgt spid="10"/>
                                        </p:tgtEl>
                                        <p:attrNameLst>
                                          <p:attrName>ppt_y</p:attrName>
                                        </p:attrNameLst>
                                      </p:cBhvr>
                                      <p:tavLst>
                                        <p:tav tm="0">
                                          <p:val>
                                            <p:strVal val="#ppt_y+.1"/>
                                          </p:val>
                                        </p:tav>
                                        <p:tav tm="100000">
                                          <p:val>
                                            <p:strVal val="#ppt_y"/>
                                          </p:val>
                                        </p:tav>
                                      </p:tavLst>
                                    </p:anim>
                                  </p:childTnLst>
                                </p:cTn>
                              </p:par>
                            </p:childTnLst>
                          </p:cTn>
                        </p:par>
                        <p:par>
                          <p:cTn id="27" fill="hold">
                            <p:stCondLst>
                              <p:cond delay="4500"/>
                            </p:stCondLst>
                            <p:childTnLst>
                              <p:par>
                                <p:cTn id="28" presetID="10" presetClass="entr" presetSubtype="0" fill="hold" grpId="0" nodeType="afterEffect">
                                  <p:stCondLst>
                                    <p:cond delay="0"/>
                                  </p:stCondLst>
                                  <p:childTnLst>
                                    <p:set>
                                      <p:cBhvr>
                                        <p:cTn id="29" dur="1" fill="hold">
                                          <p:stCondLst>
                                            <p:cond delay="0"/>
                                          </p:stCondLst>
                                        </p:cTn>
                                        <p:tgtEl>
                                          <p:spTgt spid="13"/>
                                        </p:tgtEl>
                                        <p:attrNameLst>
                                          <p:attrName>style.visibility</p:attrName>
                                        </p:attrNameLst>
                                      </p:cBhvr>
                                      <p:to>
                                        <p:strVal val="visible"/>
                                      </p:to>
                                    </p:set>
                                    <p:animEffect transition="in" filter="fade">
                                      <p:cBhvr>
                                        <p:cTn id="30" dur="500"/>
                                        <p:tgtEl>
                                          <p:spTgt spid="13"/>
                                        </p:tgtEl>
                                      </p:cBhvr>
                                    </p:animEffect>
                                  </p:childTnLst>
                                </p:cTn>
                              </p:par>
                            </p:childTnLst>
                          </p:cTn>
                        </p:par>
                        <p:par>
                          <p:cTn id="31" fill="hold">
                            <p:stCondLst>
                              <p:cond delay="5000"/>
                            </p:stCondLst>
                            <p:childTnLst>
                              <p:par>
                                <p:cTn id="32" presetID="22" presetClass="entr" presetSubtype="4" fill="hold" nodeType="afterEffect">
                                  <p:stCondLst>
                                    <p:cond delay="0"/>
                                  </p:stCondLst>
                                  <p:childTnLst>
                                    <p:set>
                                      <p:cBhvr>
                                        <p:cTn id="33" dur="1" fill="hold">
                                          <p:stCondLst>
                                            <p:cond delay="0"/>
                                          </p:stCondLst>
                                        </p:cTn>
                                        <p:tgtEl>
                                          <p:spTgt spid="34"/>
                                        </p:tgtEl>
                                        <p:attrNameLst>
                                          <p:attrName>style.visibility</p:attrName>
                                        </p:attrNameLst>
                                      </p:cBhvr>
                                      <p:to>
                                        <p:strVal val="visible"/>
                                      </p:to>
                                    </p:set>
                                    <p:animEffect transition="in" filter="wipe(down)">
                                      <p:cBhvr>
                                        <p:cTn id="34" dur="500"/>
                                        <p:tgtEl>
                                          <p:spTgt spid="3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2" grpId="0"/>
      <p:bldP spid="12" grpId="0"/>
      <p:bldP spid="13" grpId="0"/>
    </p:bld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图片 42">
            <a:extLst>
              <a:ext uri="{FF2B5EF4-FFF2-40B4-BE49-F238E27FC236}">
                <a16:creationId xmlns:a16="http://schemas.microsoft.com/office/drawing/2014/main" id="{C8D97DA4-6242-4E73-AEFC-457D04FDC65B}"/>
              </a:ext>
            </a:extLst>
          </p:cNvPr>
          <p:cNvPicPr>
            <a:picLocks noChangeAspect="1"/>
          </p:cNvPicPr>
          <p:nvPr/>
        </p:nvPicPr>
        <p:blipFill>
          <a:blip r:embed="rId3"/>
          <a:stretch>
            <a:fillRect/>
          </a:stretch>
        </p:blipFill>
        <p:spPr>
          <a:xfrm rot="16200000">
            <a:off x="145169" y="-145167"/>
            <a:ext cx="1268414" cy="1558750"/>
          </a:xfrm>
          <a:prstGeom prst="rect">
            <a:avLst/>
          </a:prstGeom>
        </p:spPr>
      </p:pic>
      <p:sp>
        <p:nvSpPr>
          <p:cNvPr id="6" name="文字方塊 5">
            <a:extLst>
              <a:ext uri="{FF2B5EF4-FFF2-40B4-BE49-F238E27FC236}">
                <a16:creationId xmlns:a16="http://schemas.microsoft.com/office/drawing/2014/main" id="{8A30B01A-3198-4955-A208-0E3D9EB60397}"/>
              </a:ext>
            </a:extLst>
          </p:cNvPr>
          <p:cNvSpPr txBox="1"/>
          <p:nvPr/>
        </p:nvSpPr>
        <p:spPr>
          <a:xfrm>
            <a:off x="1558751" y="6596390"/>
            <a:ext cx="4217821" cy="261610"/>
          </a:xfrm>
          <a:prstGeom prst="rect">
            <a:avLst/>
          </a:prstGeom>
          <a:noFill/>
        </p:spPr>
        <p:txBody>
          <a:bodyPr wrap="none" rtlCol="0">
            <a:spAutoFit/>
          </a:bodyPr>
          <a:lstStyle/>
          <a:p>
            <a:r>
              <a:rPr lang="zh-TW" altLang="en-US" sz="1100" dirty="0">
                <a:latin typeface="Microsoft JhengHei Light" panose="020B0304030504040204" pitchFamily="34" charset="-120"/>
                <a:ea typeface="Microsoft JhengHei Light" panose="020B0304030504040204" pitchFamily="34" charset="-120"/>
              </a:rPr>
              <a:t>區塊鏈商業應用概論 實例與分析／新陸書局股份有限公司 發行</a:t>
            </a:r>
          </a:p>
        </p:txBody>
      </p:sp>
      <p:sp>
        <p:nvSpPr>
          <p:cNvPr id="9" name="標題 1">
            <a:extLst>
              <a:ext uri="{FF2B5EF4-FFF2-40B4-BE49-F238E27FC236}">
                <a16:creationId xmlns:a16="http://schemas.microsoft.com/office/drawing/2014/main" id="{475DFFF1-7C37-4CBE-ACFC-3F348BCD20CC}"/>
              </a:ext>
            </a:extLst>
          </p:cNvPr>
          <p:cNvSpPr txBox="1">
            <a:spLocks/>
          </p:cNvSpPr>
          <p:nvPr/>
        </p:nvSpPr>
        <p:spPr>
          <a:xfrm>
            <a:off x="1231956" y="393820"/>
            <a:ext cx="3643527" cy="874595"/>
          </a:xfrm>
          <a:prstGeom prst="rect">
            <a:avLst/>
          </a:prstGeom>
        </p:spPr>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altLang="zh-TW" sz="2400" b="1" dirty="0">
                <a:solidFill>
                  <a:srgbClr val="E06741"/>
                </a:solidFill>
              </a:rPr>
              <a:t>2-2 </a:t>
            </a:r>
            <a:r>
              <a:rPr lang="zh-TW" altLang="en-US" sz="2400" b="1" dirty="0">
                <a:solidFill>
                  <a:srgbClr val="E06741"/>
                </a:solidFill>
              </a:rPr>
              <a:t>區塊鏈技術發展</a:t>
            </a:r>
          </a:p>
          <a:p>
            <a:endParaRPr lang="zh-TW" altLang="en-US" sz="2400" dirty="0">
              <a:solidFill>
                <a:srgbClr val="E06741"/>
              </a:solidFill>
              <a:latin typeface="標楷體" panose="03000509000000000000" pitchFamily="65" charset="-120"/>
              <a:ea typeface="標楷體" panose="03000509000000000000" pitchFamily="65" charset="-120"/>
              <a:cs typeface="Times New Roman" panose="02020603050405020304" pitchFamily="18" charset="0"/>
            </a:endParaRPr>
          </a:p>
        </p:txBody>
      </p:sp>
      <p:sp>
        <p:nvSpPr>
          <p:cNvPr id="2" name="文字方塊 1">
            <a:extLst>
              <a:ext uri="{FF2B5EF4-FFF2-40B4-BE49-F238E27FC236}">
                <a16:creationId xmlns:a16="http://schemas.microsoft.com/office/drawing/2014/main" id="{D6D66D7E-58A1-40BE-8070-FA1C3AF22B14}"/>
              </a:ext>
            </a:extLst>
          </p:cNvPr>
          <p:cNvSpPr txBox="1"/>
          <p:nvPr/>
        </p:nvSpPr>
        <p:spPr>
          <a:xfrm>
            <a:off x="1317931" y="1067042"/>
            <a:ext cx="10194998" cy="5564472"/>
          </a:xfrm>
          <a:prstGeom prst="rect">
            <a:avLst/>
          </a:prstGeom>
          <a:noFill/>
        </p:spPr>
        <p:txBody>
          <a:bodyPr wrap="square" rtlCol="0">
            <a:spAutoFit/>
          </a:bodyPr>
          <a:lstStyle/>
          <a:p>
            <a:pPr>
              <a:lnSpc>
                <a:spcPct val="150000"/>
              </a:lnSpc>
              <a:buSzPct val="100000"/>
            </a:pPr>
            <a:r>
              <a:rPr lang="zh-TW" altLang="en-US" sz="2400" b="1" dirty="0">
                <a:solidFill>
                  <a:schemeClr val="tx1">
                    <a:lumMod val="75000"/>
                    <a:lumOff val="25000"/>
                  </a:schemeClr>
                </a:solidFill>
                <a:latin typeface="微軟正黑體" panose="020B0604030504040204" pitchFamily="34" charset="-120"/>
                <a:ea typeface="微軟正黑體" panose="020B0604030504040204" pitchFamily="34" charset="-120"/>
              </a:rPr>
              <a:t>二、交易</a:t>
            </a:r>
          </a:p>
          <a:p>
            <a:pPr marL="342900" indent="-342900">
              <a:lnSpc>
                <a:spcPct val="150000"/>
              </a:lnSpc>
              <a:buSzPct val="100000"/>
              <a:buBlip>
                <a:blip r:embed="rId4"/>
              </a:buBlip>
            </a:pPr>
            <a:r>
              <a:rPr lang="zh-TW" altLang="en-US" sz="2400" b="1" dirty="0">
                <a:solidFill>
                  <a:schemeClr val="tx1">
                    <a:lumMod val="75000"/>
                    <a:lumOff val="25000"/>
                  </a:schemeClr>
                </a:solidFill>
                <a:latin typeface="微軟正黑體" panose="020B0604030504040204" pitchFamily="34" charset="-120"/>
                <a:ea typeface="微軟正黑體" panose="020B0604030504040204" pitchFamily="34" charset="-120"/>
              </a:rPr>
              <a:t>以比特幣交易為例</a:t>
            </a:r>
            <a:endParaRPr lang="en-US" altLang="zh-TW" sz="2400" b="1" dirty="0">
              <a:solidFill>
                <a:schemeClr val="tx1">
                  <a:lumMod val="75000"/>
                  <a:lumOff val="25000"/>
                </a:schemeClr>
              </a:solidFill>
              <a:latin typeface="微軟正黑體" panose="020B0604030504040204" pitchFamily="34" charset="-120"/>
              <a:ea typeface="微軟正黑體" panose="020B0604030504040204" pitchFamily="34" charset="-120"/>
            </a:endParaRPr>
          </a:p>
          <a:p>
            <a:pPr marL="800100" lvl="1" indent="-342900">
              <a:lnSpc>
                <a:spcPct val="150000"/>
              </a:lnSpc>
              <a:buSzPct val="100000"/>
              <a:buBlip>
                <a:blip r:embed="rId4"/>
              </a:buBlip>
            </a:pPr>
            <a:r>
              <a:rPr lang="zh-TW" altLang="en-US" sz="2400" b="1" dirty="0">
                <a:solidFill>
                  <a:schemeClr val="tx1">
                    <a:lumMod val="75000"/>
                    <a:lumOff val="25000"/>
                  </a:schemeClr>
                </a:solidFill>
                <a:latin typeface="微軟正黑體" panose="020B0604030504040204" pitchFamily="34" charset="-120"/>
                <a:ea typeface="微軟正黑體" panose="020B0604030504040204" pitchFamily="34" charset="-120"/>
              </a:rPr>
              <a:t>系統會將所有的交易紀錄儲存在區塊鏈中，比特幣交易就是在區塊鏈帳單上「記帳」，通常它由比特幣用戶端協助完成</a:t>
            </a:r>
          </a:p>
          <a:p>
            <a:pPr marL="800100" lvl="1" indent="-342900">
              <a:lnSpc>
                <a:spcPct val="150000"/>
              </a:lnSpc>
              <a:buSzPct val="100000"/>
              <a:buBlip>
                <a:blip r:embed="rId4"/>
              </a:buBlip>
            </a:pPr>
            <a:r>
              <a:rPr lang="zh-TW" altLang="en-US" sz="2400" b="1" dirty="0">
                <a:solidFill>
                  <a:schemeClr val="tx1">
                    <a:lumMod val="75000"/>
                    <a:lumOff val="25000"/>
                  </a:schemeClr>
                </a:solidFill>
                <a:latin typeface="微軟正黑體" panose="020B0604030504040204" pitchFamily="34" charset="-120"/>
                <a:ea typeface="微軟正黑體" panose="020B0604030504040204" pitchFamily="34" charset="-120"/>
              </a:rPr>
              <a:t>付款方需要對交易進行數位簽章，證明其認可該交易，比特幣會被紀錄在收款方的地址上，交易無需收款方參與</a:t>
            </a:r>
            <a:endParaRPr lang="en-US" altLang="zh-TW" sz="2400" b="1" dirty="0">
              <a:solidFill>
                <a:schemeClr val="tx1">
                  <a:lumMod val="75000"/>
                  <a:lumOff val="25000"/>
                </a:schemeClr>
              </a:solidFill>
              <a:latin typeface="微軟正黑體" panose="020B0604030504040204" pitchFamily="34" charset="-120"/>
              <a:ea typeface="微軟正黑體" panose="020B0604030504040204" pitchFamily="34" charset="-120"/>
            </a:endParaRPr>
          </a:p>
          <a:p>
            <a:pPr marL="800100" lvl="1" indent="-342900">
              <a:lnSpc>
                <a:spcPct val="150000"/>
              </a:lnSpc>
              <a:buSzPct val="100000"/>
              <a:buBlip>
                <a:blip r:embed="rId4"/>
              </a:buBlip>
            </a:pPr>
            <a:r>
              <a:rPr lang="zh-TW" altLang="en-US" sz="2400" b="1" dirty="0">
                <a:solidFill>
                  <a:schemeClr val="tx1">
                    <a:lumMod val="75000"/>
                    <a:lumOff val="25000"/>
                  </a:schemeClr>
                </a:solidFill>
                <a:latin typeface="微軟正黑體" panose="020B0604030504040204" pitchFamily="34" charset="-120"/>
                <a:ea typeface="微軟正黑體" panose="020B0604030504040204" pitchFamily="34" charset="-120"/>
              </a:rPr>
              <a:t>資金來源稱為「輸入」，資金去向稱為「輸出」，輸入必須大於或等於輸出的資金，輸入大於輸出的部分即為交易的手續費</a:t>
            </a:r>
            <a:endParaRPr lang="en-US" altLang="zh-TW" sz="2400" b="1" dirty="0">
              <a:solidFill>
                <a:schemeClr val="tx1">
                  <a:lumMod val="75000"/>
                  <a:lumOff val="25000"/>
                </a:schemeClr>
              </a:solidFill>
              <a:latin typeface="微軟正黑體" panose="020B0604030504040204" pitchFamily="34" charset="-120"/>
              <a:ea typeface="微軟正黑體" panose="020B0604030504040204" pitchFamily="34" charset="-120"/>
            </a:endParaRPr>
          </a:p>
          <a:p>
            <a:pPr marL="800100" lvl="1" indent="-342900">
              <a:lnSpc>
                <a:spcPct val="150000"/>
              </a:lnSpc>
              <a:buSzPct val="100000"/>
              <a:buBlip>
                <a:blip r:embed="rId4"/>
              </a:buBlip>
            </a:pPr>
            <a:r>
              <a:rPr lang="zh-TW" altLang="en-US" sz="2400" b="1" dirty="0">
                <a:solidFill>
                  <a:schemeClr val="tx1">
                    <a:lumMod val="75000"/>
                    <a:lumOff val="25000"/>
                  </a:schemeClr>
                </a:solidFill>
                <a:latin typeface="微軟正黑體" panose="020B0604030504040204" pitchFamily="34" charset="-120"/>
                <a:ea typeface="微軟正黑體" panose="020B0604030504040204" pitchFamily="34" charset="-120"/>
              </a:rPr>
              <a:t>只有輸出沒輸入時，則表示這筆交易並未有任何的支出或花費，也就是類似帳戶餘額查詢</a:t>
            </a:r>
            <a:endParaRPr lang="en-US" altLang="zh-TW" sz="2400" b="1" dirty="0">
              <a:solidFill>
                <a:schemeClr val="tx1">
                  <a:lumMod val="75000"/>
                  <a:lumOff val="25000"/>
                </a:schemeClr>
              </a:solidFill>
              <a:latin typeface="微軟正黑體" panose="020B0604030504040204" pitchFamily="34" charset="-120"/>
              <a:ea typeface="微軟正黑體" panose="020B0604030504040204" pitchFamily="34" charset="-120"/>
            </a:endParaRPr>
          </a:p>
        </p:txBody>
      </p:sp>
      <p:cxnSp>
        <p:nvCxnSpPr>
          <p:cNvPr id="26" name="直接连接符 33">
            <a:extLst>
              <a:ext uri="{FF2B5EF4-FFF2-40B4-BE49-F238E27FC236}">
                <a16:creationId xmlns:a16="http://schemas.microsoft.com/office/drawing/2014/main" id="{C3725E45-5458-4931-9D9A-B8C15AE6AC41}"/>
              </a:ext>
            </a:extLst>
          </p:cNvPr>
          <p:cNvCxnSpPr>
            <a:cxnSpLocks/>
          </p:cNvCxnSpPr>
          <p:nvPr/>
        </p:nvCxnSpPr>
        <p:spPr>
          <a:xfrm>
            <a:off x="1334185" y="1102164"/>
            <a:ext cx="7998351" cy="0"/>
          </a:xfrm>
          <a:prstGeom prst="line">
            <a:avLst/>
          </a:prstGeom>
          <a:ln w="190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12" name="文字方塊 11">
            <a:extLst>
              <a:ext uri="{FF2B5EF4-FFF2-40B4-BE49-F238E27FC236}">
                <a16:creationId xmlns:a16="http://schemas.microsoft.com/office/drawing/2014/main" id="{9FE02F65-A32E-4124-B1E6-8E45750976E4}"/>
              </a:ext>
            </a:extLst>
          </p:cNvPr>
          <p:cNvSpPr txBox="1"/>
          <p:nvPr/>
        </p:nvSpPr>
        <p:spPr>
          <a:xfrm>
            <a:off x="4487241" y="449166"/>
            <a:ext cx="2307042" cy="400110"/>
          </a:xfrm>
          <a:prstGeom prst="rect">
            <a:avLst/>
          </a:prstGeom>
          <a:noFill/>
        </p:spPr>
        <p:txBody>
          <a:bodyPr wrap="none" rtlCol="0">
            <a:spAutoFit/>
          </a:bodyPr>
          <a:lstStyle/>
          <a:p>
            <a:r>
              <a:rPr lang="en-US" altLang="zh-TW" sz="2000" b="1" dirty="0">
                <a:solidFill>
                  <a:schemeClr val="tx1">
                    <a:lumMod val="65000"/>
                    <a:lumOff val="35000"/>
                  </a:schemeClr>
                </a:solidFill>
                <a:latin typeface="微軟正黑體" panose="020B0604030504040204" pitchFamily="34" charset="-120"/>
                <a:ea typeface="微軟正黑體" panose="020B0604030504040204" pitchFamily="34" charset="-120"/>
                <a:cs typeface="Times New Roman" panose="02020603050405020304" pitchFamily="18" charset="0"/>
              </a:rPr>
              <a:t>-3 </a:t>
            </a:r>
            <a:r>
              <a:rPr lang="zh-TW" altLang="en-US" sz="2000" b="1" dirty="0">
                <a:solidFill>
                  <a:schemeClr val="tx1">
                    <a:lumMod val="65000"/>
                    <a:lumOff val="35000"/>
                  </a:schemeClr>
                </a:solidFill>
                <a:latin typeface="微軟正黑體" panose="020B0604030504040204" pitchFamily="34" charset="-120"/>
                <a:ea typeface="微軟正黑體" panose="020B0604030504040204" pitchFamily="34" charset="-120"/>
                <a:cs typeface="Times New Roman" panose="02020603050405020304" pitchFamily="18" charset="0"/>
              </a:rPr>
              <a:t>區塊鏈相關技術</a:t>
            </a:r>
          </a:p>
        </p:txBody>
      </p:sp>
      <p:pic>
        <p:nvPicPr>
          <p:cNvPr id="35" name="圖片 34">
            <a:extLst>
              <a:ext uri="{FF2B5EF4-FFF2-40B4-BE49-F238E27FC236}">
                <a16:creationId xmlns:a16="http://schemas.microsoft.com/office/drawing/2014/main" id="{E958FC0D-BCA0-4376-8304-DEC3B5F68517}"/>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9610601" y="0"/>
            <a:ext cx="2344000" cy="2343998"/>
          </a:xfrm>
          <a:prstGeom prst="rect">
            <a:avLst/>
          </a:prstGeom>
        </p:spPr>
      </p:pic>
    </p:spTree>
    <p:extLst>
      <p:ext uri="{BB962C8B-B14F-4D97-AF65-F5344CB8AC3E}">
        <p14:creationId xmlns:p14="http://schemas.microsoft.com/office/powerpoint/2010/main" val="2636994541"/>
      </p:ext>
    </p:extLst>
  </p:cSld>
  <p:clrMapOvr>
    <a:masterClrMapping/>
  </p:clrMapOvr>
  <mc:AlternateContent xmlns:mc="http://schemas.openxmlformats.org/markup-compatibility/2006">
    <mc:Choice xmlns:p14="http://schemas.microsoft.com/office/powerpoint/2010/main" Requires="p14">
      <p:transition p14:dur="100">
        <p:cut/>
      </p:transition>
    </mc:Choice>
    <mc:Fallback>
      <p:transition>
        <p:cut/>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6" presetClass="entr" presetSubtype="16" fill="hold" grpId="0" nodeType="after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circle(in)">
                                      <p:cBhvr>
                                        <p:cTn id="7" dur="2000"/>
                                        <p:tgtEl>
                                          <p:spTgt spid="9"/>
                                        </p:tgtEl>
                                      </p:cBhvr>
                                    </p:animEffect>
                                  </p:childTnLst>
                                </p:cTn>
                              </p:par>
                            </p:childTnLst>
                          </p:cTn>
                        </p:par>
                        <p:par>
                          <p:cTn id="8" fill="hold">
                            <p:stCondLst>
                              <p:cond delay="2000"/>
                            </p:stCondLst>
                            <p:childTnLst>
                              <p:par>
                                <p:cTn id="9" presetID="14" presetClass="entr" presetSubtype="10" fill="hold" grpId="0" nodeType="afterEffect">
                                  <p:stCondLst>
                                    <p:cond delay="0"/>
                                  </p:stCondLst>
                                  <p:childTnLst>
                                    <p:set>
                                      <p:cBhvr>
                                        <p:cTn id="10" dur="1" fill="hold">
                                          <p:stCondLst>
                                            <p:cond delay="0"/>
                                          </p:stCondLst>
                                        </p:cTn>
                                        <p:tgtEl>
                                          <p:spTgt spid="12"/>
                                        </p:tgtEl>
                                        <p:attrNameLst>
                                          <p:attrName>style.visibility</p:attrName>
                                        </p:attrNameLst>
                                      </p:cBhvr>
                                      <p:to>
                                        <p:strVal val="visible"/>
                                      </p:to>
                                    </p:set>
                                    <p:animEffect transition="in" filter="randombar(horizontal)">
                                      <p:cBhvr>
                                        <p:cTn id="11" dur="500"/>
                                        <p:tgtEl>
                                          <p:spTgt spid="12"/>
                                        </p:tgtEl>
                                      </p:cBhvr>
                                    </p:animEffect>
                                  </p:childTnLst>
                                </p:cTn>
                              </p:par>
                            </p:childTnLst>
                          </p:cTn>
                        </p:par>
                        <p:par>
                          <p:cTn id="12" fill="hold">
                            <p:stCondLst>
                              <p:cond delay="2500"/>
                            </p:stCondLst>
                            <p:childTnLst>
                              <p:par>
                                <p:cTn id="13" presetID="2" presetClass="entr" presetSubtype="8" fill="hold" nodeType="afterEffect">
                                  <p:stCondLst>
                                    <p:cond delay="0"/>
                                  </p:stCondLst>
                                  <p:childTnLst>
                                    <p:set>
                                      <p:cBhvr>
                                        <p:cTn id="14" dur="1" fill="hold">
                                          <p:stCondLst>
                                            <p:cond delay="0"/>
                                          </p:stCondLst>
                                        </p:cTn>
                                        <p:tgtEl>
                                          <p:spTgt spid="26"/>
                                        </p:tgtEl>
                                        <p:attrNameLst>
                                          <p:attrName>style.visibility</p:attrName>
                                        </p:attrNameLst>
                                      </p:cBhvr>
                                      <p:to>
                                        <p:strVal val="visible"/>
                                      </p:to>
                                    </p:set>
                                    <p:anim calcmode="lin" valueType="num">
                                      <p:cBhvr additive="base">
                                        <p:cTn id="15" dur="500" fill="hold"/>
                                        <p:tgtEl>
                                          <p:spTgt spid="26"/>
                                        </p:tgtEl>
                                        <p:attrNameLst>
                                          <p:attrName>ppt_x</p:attrName>
                                        </p:attrNameLst>
                                      </p:cBhvr>
                                      <p:tavLst>
                                        <p:tav tm="0">
                                          <p:val>
                                            <p:strVal val="0-#ppt_w/2"/>
                                          </p:val>
                                        </p:tav>
                                        <p:tav tm="100000">
                                          <p:val>
                                            <p:strVal val="#ppt_x"/>
                                          </p:val>
                                        </p:tav>
                                      </p:tavLst>
                                    </p:anim>
                                    <p:anim calcmode="lin" valueType="num">
                                      <p:cBhvr additive="base">
                                        <p:cTn id="16" dur="500" fill="hold"/>
                                        <p:tgtEl>
                                          <p:spTgt spid="26"/>
                                        </p:tgtEl>
                                        <p:attrNameLst>
                                          <p:attrName>ppt_y</p:attrName>
                                        </p:attrNameLst>
                                      </p:cBhvr>
                                      <p:tavLst>
                                        <p:tav tm="0">
                                          <p:val>
                                            <p:strVal val="#ppt_y"/>
                                          </p:val>
                                        </p:tav>
                                        <p:tav tm="100000">
                                          <p:val>
                                            <p:strVal val="#ppt_y"/>
                                          </p:val>
                                        </p:tav>
                                      </p:tavLst>
                                    </p:anim>
                                  </p:childTnLst>
                                </p:cTn>
                              </p:par>
                            </p:childTnLst>
                          </p:cTn>
                        </p:par>
                        <p:par>
                          <p:cTn id="17" fill="hold">
                            <p:stCondLst>
                              <p:cond delay="3000"/>
                            </p:stCondLst>
                            <p:childTnLst>
                              <p:par>
                                <p:cTn id="18" presetID="3" presetClass="entr" presetSubtype="10" fill="hold" grpId="0" nodeType="afterEffect">
                                  <p:stCondLst>
                                    <p:cond delay="0"/>
                                  </p:stCondLst>
                                  <p:childTnLst>
                                    <p:set>
                                      <p:cBhvr>
                                        <p:cTn id="19" dur="1" fill="hold">
                                          <p:stCondLst>
                                            <p:cond delay="0"/>
                                          </p:stCondLst>
                                        </p:cTn>
                                        <p:tgtEl>
                                          <p:spTgt spid="2"/>
                                        </p:tgtEl>
                                        <p:attrNameLst>
                                          <p:attrName>style.visibility</p:attrName>
                                        </p:attrNameLst>
                                      </p:cBhvr>
                                      <p:to>
                                        <p:strVal val="visible"/>
                                      </p:to>
                                    </p:set>
                                    <p:animEffect transition="in" filter="blinds(horizontal)">
                                      <p:cBhvr>
                                        <p:cTn id="20" dur="500"/>
                                        <p:tgtEl>
                                          <p:spTgt spid="2"/>
                                        </p:tgtEl>
                                      </p:cBhvr>
                                    </p:animEffect>
                                  </p:childTnLst>
                                </p:cTn>
                              </p:par>
                            </p:childTnLst>
                          </p:cTn>
                        </p:par>
                        <p:par>
                          <p:cTn id="21" fill="hold">
                            <p:stCondLst>
                              <p:cond delay="3500"/>
                            </p:stCondLst>
                            <p:childTnLst>
                              <p:par>
                                <p:cTn id="22" presetID="53" presetClass="entr" presetSubtype="16" fill="hold" nodeType="afterEffect">
                                  <p:stCondLst>
                                    <p:cond delay="0"/>
                                  </p:stCondLst>
                                  <p:childTnLst>
                                    <p:set>
                                      <p:cBhvr>
                                        <p:cTn id="23" dur="1" fill="hold">
                                          <p:stCondLst>
                                            <p:cond delay="0"/>
                                          </p:stCondLst>
                                        </p:cTn>
                                        <p:tgtEl>
                                          <p:spTgt spid="35"/>
                                        </p:tgtEl>
                                        <p:attrNameLst>
                                          <p:attrName>style.visibility</p:attrName>
                                        </p:attrNameLst>
                                      </p:cBhvr>
                                      <p:to>
                                        <p:strVal val="visible"/>
                                      </p:to>
                                    </p:set>
                                    <p:anim calcmode="lin" valueType="num">
                                      <p:cBhvr>
                                        <p:cTn id="24" dur="500" fill="hold"/>
                                        <p:tgtEl>
                                          <p:spTgt spid="35"/>
                                        </p:tgtEl>
                                        <p:attrNameLst>
                                          <p:attrName>ppt_w</p:attrName>
                                        </p:attrNameLst>
                                      </p:cBhvr>
                                      <p:tavLst>
                                        <p:tav tm="0">
                                          <p:val>
                                            <p:fltVal val="0"/>
                                          </p:val>
                                        </p:tav>
                                        <p:tav tm="100000">
                                          <p:val>
                                            <p:strVal val="#ppt_w"/>
                                          </p:val>
                                        </p:tav>
                                      </p:tavLst>
                                    </p:anim>
                                    <p:anim calcmode="lin" valueType="num">
                                      <p:cBhvr>
                                        <p:cTn id="25" dur="500" fill="hold"/>
                                        <p:tgtEl>
                                          <p:spTgt spid="35"/>
                                        </p:tgtEl>
                                        <p:attrNameLst>
                                          <p:attrName>ppt_h</p:attrName>
                                        </p:attrNameLst>
                                      </p:cBhvr>
                                      <p:tavLst>
                                        <p:tav tm="0">
                                          <p:val>
                                            <p:fltVal val="0"/>
                                          </p:val>
                                        </p:tav>
                                        <p:tav tm="100000">
                                          <p:val>
                                            <p:strVal val="#ppt_h"/>
                                          </p:val>
                                        </p:tav>
                                      </p:tavLst>
                                    </p:anim>
                                    <p:animEffect transition="in" filter="fade">
                                      <p:cBhvr>
                                        <p:cTn id="26" dur="5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2" grpId="0"/>
      <p:bldP spid="12" grpId="0"/>
    </p:bld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图片 42">
            <a:extLst>
              <a:ext uri="{FF2B5EF4-FFF2-40B4-BE49-F238E27FC236}">
                <a16:creationId xmlns:a16="http://schemas.microsoft.com/office/drawing/2014/main" id="{C8D97DA4-6242-4E73-AEFC-457D04FDC65B}"/>
              </a:ext>
            </a:extLst>
          </p:cNvPr>
          <p:cNvPicPr>
            <a:picLocks noChangeAspect="1"/>
          </p:cNvPicPr>
          <p:nvPr/>
        </p:nvPicPr>
        <p:blipFill>
          <a:blip r:embed="rId3"/>
          <a:stretch>
            <a:fillRect/>
          </a:stretch>
        </p:blipFill>
        <p:spPr>
          <a:xfrm rot="16200000">
            <a:off x="145169" y="-145167"/>
            <a:ext cx="1268414" cy="1558750"/>
          </a:xfrm>
          <a:prstGeom prst="rect">
            <a:avLst/>
          </a:prstGeom>
        </p:spPr>
      </p:pic>
      <p:sp>
        <p:nvSpPr>
          <p:cNvPr id="6" name="文字方塊 5">
            <a:extLst>
              <a:ext uri="{FF2B5EF4-FFF2-40B4-BE49-F238E27FC236}">
                <a16:creationId xmlns:a16="http://schemas.microsoft.com/office/drawing/2014/main" id="{8A30B01A-3198-4955-A208-0E3D9EB60397}"/>
              </a:ext>
            </a:extLst>
          </p:cNvPr>
          <p:cNvSpPr txBox="1"/>
          <p:nvPr/>
        </p:nvSpPr>
        <p:spPr>
          <a:xfrm>
            <a:off x="1558751" y="6596390"/>
            <a:ext cx="4217821" cy="261610"/>
          </a:xfrm>
          <a:prstGeom prst="rect">
            <a:avLst/>
          </a:prstGeom>
          <a:noFill/>
        </p:spPr>
        <p:txBody>
          <a:bodyPr wrap="none" rtlCol="0">
            <a:spAutoFit/>
          </a:bodyPr>
          <a:lstStyle/>
          <a:p>
            <a:r>
              <a:rPr lang="zh-TW" altLang="en-US" sz="1100" dirty="0">
                <a:latin typeface="Microsoft JhengHei Light" panose="020B0304030504040204" pitchFamily="34" charset="-120"/>
                <a:ea typeface="Microsoft JhengHei Light" panose="020B0304030504040204" pitchFamily="34" charset="-120"/>
              </a:rPr>
              <a:t>區塊鏈商業應用概論 實例與分析／新陸書局股份有限公司 發行</a:t>
            </a:r>
          </a:p>
        </p:txBody>
      </p:sp>
      <p:sp>
        <p:nvSpPr>
          <p:cNvPr id="9" name="標題 1">
            <a:extLst>
              <a:ext uri="{FF2B5EF4-FFF2-40B4-BE49-F238E27FC236}">
                <a16:creationId xmlns:a16="http://schemas.microsoft.com/office/drawing/2014/main" id="{475DFFF1-7C37-4CBE-ACFC-3F348BCD20CC}"/>
              </a:ext>
            </a:extLst>
          </p:cNvPr>
          <p:cNvSpPr txBox="1">
            <a:spLocks/>
          </p:cNvSpPr>
          <p:nvPr/>
        </p:nvSpPr>
        <p:spPr>
          <a:xfrm>
            <a:off x="1231956" y="393820"/>
            <a:ext cx="3643527" cy="874595"/>
          </a:xfrm>
          <a:prstGeom prst="rect">
            <a:avLst/>
          </a:prstGeom>
        </p:spPr>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altLang="zh-TW" sz="2400" b="1" dirty="0">
                <a:solidFill>
                  <a:srgbClr val="E06741"/>
                </a:solidFill>
              </a:rPr>
              <a:t>2-2 </a:t>
            </a:r>
            <a:r>
              <a:rPr lang="zh-TW" altLang="en-US" sz="2400" b="1" dirty="0">
                <a:solidFill>
                  <a:srgbClr val="E06741"/>
                </a:solidFill>
              </a:rPr>
              <a:t>區塊鏈技術發展</a:t>
            </a:r>
          </a:p>
          <a:p>
            <a:endParaRPr lang="zh-TW" altLang="en-US" sz="2400" dirty="0">
              <a:solidFill>
                <a:srgbClr val="E06741"/>
              </a:solidFill>
              <a:latin typeface="標楷體" panose="03000509000000000000" pitchFamily="65" charset="-120"/>
              <a:ea typeface="標楷體" panose="03000509000000000000" pitchFamily="65" charset="-120"/>
              <a:cs typeface="Times New Roman" panose="02020603050405020304" pitchFamily="18" charset="0"/>
            </a:endParaRPr>
          </a:p>
        </p:txBody>
      </p:sp>
      <p:sp>
        <p:nvSpPr>
          <p:cNvPr id="2" name="文字方塊 1">
            <a:extLst>
              <a:ext uri="{FF2B5EF4-FFF2-40B4-BE49-F238E27FC236}">
                <a16:creationId xmlns:a16="http://schemas.microsoft.com/office/drawing/2014/main" id="{D6D66D7E-58A1-40BE-8070-FA1C3AF22B14}"/>
              </a:ext>
            </a:extLst>
          </p:cNvPr>
          <p:cNvSpPr txBox="1"/>
          <p:nvPr/>
        </p:nvSpPr>
        <p:spPr>
          <a:xfrm>
            <a:off x="2482415" y="1462325"/>
            <a:ext cx="8723369" cy="4087145"/>
          </a:xfrm>
          <a:prstGeom prst="rect">
            <a:avLst/>
          </a:prstGeom>
          <a:noFill/>
        </p:spPr>
        <p:txBody>
          <a:bodyPr wrap="square" rtlCol="0">
            <a:spAutoFit/>
          </a:bodyPr>
          <a:lstStyle/>
          <a:p>
            <a:pPr marL="342900" indent="-342900">
              <a:lnSpc>
                <a:spcPct val="150000"/>
              </a:lnSpc>
              <a:buSzPct val="100000"/>
              <a:buBlip>
                <a:blip r:embed="rId4"/>
              </a:buBlip>
            </a:pPr>
            <a:r>
              <a:rPr lang="zh-TW" altLang="en-US" sz="2400" b="1" dirty="0">
                <a:solidFill>
                  <a:schemeClr val="tx1">
                    <a:lumMod val="75000"/>
                    <a:lumOff val="25000"/>
                  </a:schemeClr>
                </a:solidFill>
                <a:latin typeface="微軟正黑體" panose="020B0604030504040204" pitchFamily="34" charset="-120"/>
                <a:ea typeface="微軟正黑體" panose="020B0604030504040204" pitchFamily="34" charset="-120"/>
              </a:rPr>
              <a:t>無論交易是否有實際的輸入或僅有輸出，當此筆交易被廣播（即傳輸）至區塊時，此交易即會有了「</a:t>
            </a:r>
            <a:r>
              <a:rPr lang="en-US" altLang="zh-TW" sz="2400" b="1" dirty="0">
                <a:solidFill>
                  <a:schemeClr val="tx1">
                    <a:lumMod val="75000"/>
                    <a:lumOff val="25000"/>
                  </a:schemeClr>
                </a:solidFill>
                <a:latin typeface="微軟正黑體" panose="020B0604030504040204" pitchFamily="34" charset="-120"/>
                <a:ea typeface="微軟正黑體" panose="020B0604030504040204" pitchFamily="34" charset="-120"/>
              </a:rPr>
              <a:t>1 </a:t>
            </a:r>
            <a:r>
              <a:rPr lang="zh-TW" altLang="en-US" sz="2400" b="1" dirty="0">
                <a:solidFill>
                  <a:schemeClr val="tx1">
                    <a:lumMod val="75000"/>
                    <a:lumOff val="25000"/>
                  </a:schemeClr>
                </a:solidFill>
                <a:latin typeface="微軟正黑體" panose="020B0604030504040204" pitchFamily="34" charset="-120"/>
                <a:ea typeface="微軟正黑體" panose="020B0604030504040204" pitchFamily="34" charset="-120"/>
              </a:rPr>
              <a:t>個確認」</a:t>
            </a:r>
            <a:endParaRPr lang="en-US" altLang="zh-TW" sz="2400" b="1" dirty="0">
              <a:solidFill>
                <a:schemeClr val="tx1">
                  <a:lumMod val="75000"/>
                  <a:lumOff val="25000"/>
                </a:schemeClr>
              </a:solidFill>
              <a:latin typeface="微軟正黑體" panose="020B0604030504040204" pitchFamily="34" charset="-120"/>
              <a:ea typeface="微軟正黑體" panose="020B0604030504040204" pitchFamily="34" charset="-120"/>
            </a:endParaRPr>
          </a:p>
          <a:p>
            <a:pPr marL="342900" indent="-342900">
              <a:lnSpc>
                <a:spcPct val="150000"/>
              </a:lnSpc>
              <a:buSzPct val="100000"/>
              <a:buBlip>
                <a:blip r:embed="rId4"/>
              </a:buBlip>
            </a:pPr>
            <a:endParaRPr lang="en-US" altLang="zh-TW" sz="800" b="1" dirty="0">
              <a:solidFill>
                <a:schemeClr val="tx1">
                  <a:lumMod val="75000"/>
                  <a:lumOff val="25000"/>
                </a:schemeClr>
              </a:solidFill>
              <a:latin typeface="微軟正黑體" panose="020B0604030504040204" pitchFamily="34" charset="-120"/>
              <a:ea typeface="微軟正黑體" panose="020B0604030504040204" pitchFamily="34" charset="-120"/>
            </a:endParaRPr>
          </a:p>
          <a:p>
            <a:pPr marL="342900" indent="-342900">
              <a:lnSpc>
                <a:spcPct val="150000"/>
              </a:lnSpc>
              <a:buSzPct val="100000"/>
              <a:buBlip>
                <a:blip r:embed="rId4"/>
              </a:buBlip>
            </a:pPr>
            <a:r>
              <a:rPr lang="zh-TW" altLang="en-US" sz="2400" b="1" dirty="0">
                <a:solidFill>
                  <a:schemeClr val="tx1">
                    <a:lumMod val="75000"/>
                    <a:lumOff val="25000"/>
                  </a:schemeClr>
                </a:solidFill>
                <a:latin typeface="微軟正黑體" panose="020B0604030504040204" pitchFamily="34" charset="-120"/>
                <a:ea typeface="微軟正黑體" panose="020B0604030504040204" pitchFamily="34" charset="-120"/>
              </a:rPr>
              <a:t>交易在被包含在一個區塊，當交易訊息廣播後，使用者在網路平台上就會接收到一個交易訊息，一經確認，該筆交易訊息則不易修改，而且不斷地收到交易廣播之後的區塊確認時，意謂著達成共識的使用者愈多，相對變更交易的可能性即是愈低，以及交易被詐騙也會愈低</a:t>
            </a:r>
          </a:p>
        </p:txBody>
      </p:sp>
      <p:cxnSp>
        <p:nvCxnSpPr>
          <p:cNvPr id="26" name="直接连接符 33">
            <a:extLst>
              <a:ext uri="{FF2B5EF4-FFF2-40B4-BE49-F238E27FC236}">
                <a16:creationId xmlns:a16="http://schemas.microsoft.com/office/drawing/2014/main" id="{C3725E45-5458-4931-9D9A-B8C15AE6AC41}"/>
              </a:ext>
            </a:extLst>
          </p:cNvPr>
          <p:cNvCxnSpPr>
            <a:cxnSpLocks/>
          </p:cNvCxnSpPr>
          <p:nvPr/>
        </p:nvCxnSpPr>
        <p:spPr>
          <a:xfrm>
            <a:off x="1334185" y="1102164"/>
            <a:ext cx="10081960" cy="0"/>
          </a:xfrm>
          <a:prstGeom prst="line">
            <a:avLst/>
          </a:prstGeom>
          <a:ln w="190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12" name="文字方塊 11">
            <a:extLst>
              <a:ext uri="{FF2B5EF4-FFF2-40B4-BE49-F238E27FC236}">
                <a16:creationId xmlns:a16="http://schemas.microsoft.com/office/drawing/2014/main" id="{9FE02F65-A32E-4124-B1E6-8E45750976E4}"/>
              </a:ext>
            </a:extLst>
          </p:cNvPr>
          <p:cNvSpPr txBox="1"/>
          <p:nvPr/>
        </p:nvSpPr>
        <p:spPr>
          <a:xfrm>
            <a:off x="4487241" y="449166"/>
            <a:ext cx="2307042" cy="400110"/>
          </a:xfrm>
          <a:prstGeom prst="rect">
            <a:avLst/>
          </a:prstGeom>
          <a:noFill/>
        </p:spPr>
        <p:txBody>
          <a:bodyPr wrap="none" rtlCol="0">
            <a:spAutoFit/>
          </a:bodyPr>
          <a:lstStyle/>
          <a:p>
            <a:r>
              <a:rPr lang="en-US" altLang="zh-TW" sz="2000" b="1" dirty="0">
                <a:solidFill>
                  <a:schemeClr val="tx1">
                    <a:lumMod val="65000"/>
                    <a:lumOff val="35000"/>
                  </a:schemeClr>
                </a:solidFill>
                <a:latin typeface="微軟正黑體" panose="020B0604030504040204" pitchFamily="34" charset="-120"/>
                <a:ea typeface="微軟正黑體" panose="020B0604030504040204" pitchFamily="34" charset="-120"/>
                <a:cs typeface="Times New Roman" panose="02020603050405020304" pitchFamily="18" charset="0"/>
              </a:rPr>
              <a:t>-3 </a:t>
            </a:r>
            <a:r>
              <a:rPr lang="zh-TW" altLang="en-US" sz="2000" b="1" dirty="0">
                <a:solidFill>
                  <a:schemeClr val="tx1">
                    <a:lumMod val="65000"/>
                    <a:lumOff val="35000"/>
                  </a:schemeClr>
                </a:solidFill>
                <a:latin typeface="微軟正黑體" panose="020B0604030504040204" pitchFamily="34" charset="-120"/>
                <a:ea typeface="微軟正黑體" panose="020B0604030504040204" pitchFamily="34" charset="-120"/>
                <a:cs typeface="Times New Roman" panose="02020603050405020304" pitchFamily="18" charset="0"/>
              </a:rPr>
              <a:t>區塊鏈相關技術</a:t>
            </a:r>
          </a:p>
        </p:txBody>
      </p:sp>
      <p:pic>
        <p:nvPicPr>
          <p:cNvPr id="34" name="圖片 33" descr="一張含有 房間 的圖片&#10;&#10;描述是以高可信度產生">
            <a:extLst>
              <a:ext uri="{FF2B5EF4-FFF2-40B4-BE49-F238E27FC236}">
                <a16:creationId xmlns:a16="http://schemas.microsoft.com/office/drawing/2014/main" id="{341A3470-C704-44BD-8A84-DB0215D59F17}"/>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10521" y="3988279"/>
            <a:ext cx="2296460" cy="2296460"/>
          </a:xfrm>
          <a:prstGeom prst="rect">
            <a:avLst/>
          </a:prstGeom>
        </p:spPr>
      </p:pic>
    </p:spTree>
    <p:extLst>
      <p:ext uri="{BB962C8B-B14F-4D97-AF65-F5344CB8AC3E}">
        <p14:creationId xmlns:p14="http://schemas.microsoft.com/office/powerpoint/2010/main" val="3889945234"/>
      </p:ext>
    </p:extLst>
  </p:cSld>
  <p:clrMapOvr>
    <a:masterClrMapping/>
  </p:clrMapOvr>
  <mc:AlternateContent xmlns:mc="http://schemas.openxmlformats.org/markup-compatibility/2006">
    <mc:Choice xmlns:p14="http://schemas.microsoft.com/office/powerpoint/2010/main" Requires="p14">
      <p:transition p14:dur="100">
        <p:cut/>
      </p:transition>
    </mc:Choice>
    <mc:Fallback>
      <p:transition>
        <p:cut/>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6" presetClass="entr" presetSubtype="16" fill="hold" grpId="0" nodeType="after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circle(in)">
                                      <p:cBhvr>
                                        <p:cTn id="7" dur="2000"/>
                                        <p:tgtEl>
                                          <p:spTgt spid="9"/>
                                        </p:tgtEl>
                                      </p:cBhvr>
                                    </p:animEffect>
                                  </p:childTnLst>
                                </p:cTn>
                              </p:par>
                            </p:childTnLst>
                          </p:cTn>
                        </p:par>
                        <p:par>
                          <p:cTn id="8" fill="hold">
                            <p:stCondLst>
                              <p:cond delay="2000"/>
                            </p:stCondLst>
                            <p:childTnLst>
                              <p:par>
                                <p:cTn id="9" presetID="14" presetClass="entr" presetSubtype="10" fill="hold" grpId="0" nodeType="afterEffect">
                                  <p:stCondLst>
                                    <p:cond delay="0"/>
                                  </p:stCondLst>
                                  <p:childTnLst>
                                    <p:set>
                                      <p:cBhvr>
                                        <p:cTn id="10" dur="1" fill="hold">
                                          <p:stCondLst>
                                            <p:cond delay="0"/>
                                          </p:stCondLst>
                                        </p:cTn>
                                        <p:tgtEl>
                                          <p:spTgt spid="12"/>
                                        </p:tgtEl>
                                        <p:attrNameLst>
                                          <p:attrName>style.visibility</p:attrName>
                                        </p:attrNameLst>
                                      </p:cBhvr>
                                      <p:to>
                                        <p:strVal val="visible"/>
                                      </p:to>
                                    </p:set>
                                    <p:animEffect transition="in" filter="randombar(horizontal)">
                                      <p:cBhvr>
                                        <p:cTn id="11" dur="500"/>
                                        <p:tgtEl>
                                          <p:spTgt spid="12"/>
                                        </p:tgtEl>
                                      </p:cBhvr>
                                    </p:animEffect>
                                  </p:childTnLst>
                                </p:cTn>
                              </p:par>
                            </p:childTnLst>
                          </p:cTn>
                        </p:par>
                        <p:par>
                          <p:cTn id="12" fill="hold">
                            <p:stCondLst>
                              <p:cond delay="2500"/>
                            </p:stCondLst>
                            <p:childTnLst>
                              <p:par>
                                <p:cTn id="13" presetID="2" presetClass="entr" presetSubtype="8" fill="hold" nodeType="afterEffect">
                                  <p:stCondLst>
                                    <p:cond delay="0"/>
                                  </p:stCondLst>
                                  <p:childTnLst>
                                    <p:set>
                                      <p:cBhvr>
                                        <p:cTn id="14" dur="1" fill="hold">
                                          <p:stCondLst>
                                            <p:cond delay="0"/>
                                          </p:stCondLst>
                                        </p:cTn>
                                        <p:tgtEl>
                                          <p:spTgt spid="26"/>
                                        </p:tgtEl>
                                        <p:attrNameLst>
                                          <p:attrName>style.visibility</p:attrName>
                                        </p:attrNameLst>
                                      </p:cBhvr>
                                      <p:to>
                                        <p:strVal val="visible"/>
                                      </p:to>
                                    </p:set>
                                    <p:anim calcmode="lin" valueType="num">
                                      <p:cBhvr additive="base">
                                        <p:cTn id="15" dur="500" fill="hold"/>
                                        <p:tgtEl>
                                          <p:spTgt spid="26"/>
                                        </p:tgtEl>
                                        <p:attrNameLst>
                                          <p:attrName>ppt_x</p:attrName>
                                        </p:attrNameLst>
                                      </p:cBhvr>
                                      <p:tavLst>
                                        <p:tav tm="0">
                                          <p:val>
                                            <p:strVal val="0-#ppt_w/2"/>
                                          </p:val>
                                        </p:tav>
                                        <p:tav tm="100000">
                                          <p:val>
                                            <p:strVal val="#ppt_x"/>
                                          </p:val>
                                        </p:tav>
                                      </p:tavLst>
                                    </p:anim>
                                    <p:anim calcmode="lin" valueType="num">
                                      <p:cBhvr additive="base">
                                        <p:cTn id="16" dur="500" fill="hold"/>
                                        <p:tgtEl>
                                          <p:spTgt spid="26"/>
                                        </p:tgtEl>
                                        <p:attrNameLst>
                                          <p:attrName>ppt_y</p:attrName>
                                        </p:attrNameLst>
                                      </p:cBhvr>
                                      <p:tavLst>
                                        <p:tav tm="0">
                                          <p:val>
                                            <p:strVal val="#ppt_y"/>
                                          </p:val>
                                        </p:tav>
                                        <p:tav tm="100000">
                                          <p:val>
                                            <p:strVal val="#ppt_y"/>
                                          </p:val>
                                        </p:tav>
                                      </p:tavLst>
                                    </p:anim>
                                  </p:childTnLst>
                                </p:cTn>
                              </p:par>
                            </p:childTnLst>
                          </p:cTn>
                        </p:par>
                        <p:par>
                          <p:cTn id="17" fill="hold">
                            <p:stCondLst>
                              <p:cond delay="3000"/>
                            </p:stCondLst>
                            <p:childTnLst>
                              <p:par>
                                <p:cTn id="18" presetID="42" presetClass="entr" presetSubtype="0" fill="hold" grpId="0" nodeType="afterEffect">
                                  <p:stCondLst>
                                    <p:cond delay="0"/>
                                  </p:stCondLst>
                                  <p:childTnLst>
                                    <p:set>
                                      <p:cBhvr>
                                        <p:cTn id="19" dur="1" fill="hold">
                                          <p:stCondLst>
                                            <p:cond delay="0"/>
                                          </p:stCondLst>
                                        </p:cTn>
                                        <p:tgtEl>
                                          <p:spTgt spid="2"/>
                                        </p:tgtEl>
                                        <p:attrNameLst>
                                          <p:attrName>style.visibility</p:attrName>
                                        </p:attrNameLst>
                                      </p:cBhvr>
                                      <p:to>
                                        <p:strVal val="visible"/>
                                      </p:to>
                                    </p:set>
                                    <p:animEffect transition="in" filter="fade">
                                      <p:cBhvr>
                                        <p:cTn id="20" dur="1000"/>
                                        <p:tgtEl>
                                          <p:spTgt spid="2"/>
                                        </p:tgtEl>
                                      </p:cBhvr>
                                    </p:animEffect>
                                    <p:anim calcmode="lin" valueType="num">
                                      <p:cBhvr>
                                        <p:cTn id="21" dur="1000" fill="hold"/>
                                        <p:tgtEl>
                                          <p:spTgt spid="2"/>
                                        </p:tgtEl>
                                        <p:attrNameLst>
                                          <p:attrName>ppt_x</p:attrName>
                                        </p:attrNameLst>
                                      </p:cBhvr>
                                      <p:tavLst>
                                        <p:tav tm="0">
                                          <p:val>
                                            <p:strVal val="#ppt_x"/>
                                          </p:val>
                                        </p:tav>
                                        <p:tav tm="100000">
                                          <p:val>
                                            <p:strVal val="#ppt_x"/>
                                          </p:val>
                                        </p:tav>
                                      </p:tavLst>
                                    </p:anim>
                                    <p:anim calcmode="lin" valueType="num">
                                      <p:cBhvr>
                                        <p:cTn id="22" dur="1000" fill="hold"/>
                                        <p:tgtEl>
                                          <p:spTgt spid="2"/>
                                        </p:tgtEl>
                                        <p:attrNameLst>
                                          <p:attrName>ppt_y</p:attrName>
                                        </p:attrNameLst>
                                      </p:cBhvr>
                                      <p:tavLst>
                                        <p:tav tm="0">
                                          <p:val>
                                            <p:strVal val="#ppt_y+.1"/>
                                          </p:val>
                                        </p:tav>
                                        <p:tav tm="100000">
                                          <p:val>
                                            <p:strVal val="#ppt_y"/>
                                          </p:val>
                                        </p:tav>
                                      </p:tavLst>
                                    </p:anim>
                                  </p:childTnLst>
                                </p:cTn>
                              </p:par>
                            </p:childTnLst>
                          </p:cTn>
                        </p:par>
                        <p:par>
                          <p:cTn id="23" fill="hold">
                            <p:stCondLst>
                              <p:cond delay="4000"/>
                            </p:stCondLst>
                            <p:childTnLst>
                              <p:par>
                                <p:cTn id="24" presetID="10" presetClass="entr" presetSubtype="0" fill="hold" nodeType="afterEffect">
                                  <p:stCondLst>
                                    <p:cond delay="0"/>
                                  </p:stCondLst>
                                  <p:childTnLst>
                                    <p:set>
                                      <p:cBhvr>
                                        <p:cTn id="25" dur="1" fill="hold">
                                          <p:stCondLst>
                                            <p:cond delay="0"/>
                                          </p:stCondLst>
                                        </p:cTn>
                                        <p:tgtEl>
                                          <p:spTgt spid="34"/>
                                        </p:tgtEl>
                                        <p:attrNameLst>
                                          <p:attrName>style.visibility</p:attrName>
                                        </p:attrNameLst>
                                      </p:cBhvr>
                                      <p:to>
                                        <p:strVal val="visible"/>
                                      </p:to>
                                    </p:set>
                                    <p:animEffect transition="in" filter="fade">
                                      <p:cBhvr>
                                        <p:cTn id="26" dur="500"/>
                                        <p:tgtEl>
                                          <p:spTgt spid="3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2" grpId="0"/>
      <p:bldP spid="12" grpId="0"/>
    </p:bld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图片 42">
            <a:extLst>
              <a:ext uri="{FF2B5EF4-FFF2-40B4-BE49-F238E27FC236}">
                <a16:creationId xmlns:a16="http://schemas.microsoft.com/office/drawing/2014/main" id="{C8D97DA4-6242-4E73-AEFC-457D04FDC65B}"/>
              </a:ext>
            </a:extLst>
          </p:cNvPr>
          <p:cNvPicPr>
            <a:picLocks noChangeAspect="1"/>
          </p:cNvPicPr>
          <p:nvPr/>
        </p:nvPicPr>
        <p:blipFill>
          <a:blip r:embed="rId3"/>
          <a:stretch>
            <a:fillRect/>
          </a:stretch>
        </p:blipFill>
        <p:spPr>
          <a:xfrm rot="16200000">
            <a:off x="145169" y="-145167"/>
            <a:ext cx="1268414" cy="1558750"/>
          </a:xfrm>
          <a:prstGeom prst="rect">
            <a:avLst/>
          </a:prstGeom>
        </p:spPr>
      </p:pic>
      <p:sp>
        <p:nvSpPr>
          <p:cNvPr id="6" name="文字方塊 5">
            <a:extLst>
              <a:ext uri="{FF2B5EF4-FFF2-40B4-BE49-F238E27FC236}">
                <a16:creationId xmlns:a16="http://schemas.microsoft.com/office/drawing/2014/main" id="{8A30B01A-3198-4955-A208-0E3D9EB60397}"/>
              </a:ext>
            </a:extLst>
          </p:cNvPr>
          <p:cNvSpPr txBox="1"/>
          <p:nvPr/>
        </p:nvSpPr>
        <p:spPr>
          <a:xfrm>
            <a:off x="1558751" y="6596390"/>
            <a:ext cx="4217821" cy="261610"/>
          </a:xfrm>
          <a:prstGeom prst="rect">
            <a:avLst/>
          </a:prstGeom>
          <a:noFill/>
        </p:spPr>
        <p:txBody>
          <a:bodyPr wrap="none" rtlCol="0">
            <a:spAutoFit/>
          </a:bodyPr>
          <a:lstStyle/>
          <a:p>
            <a:r>
              <a:rPr lang="zh-TW" altLang="en-US" sz="1100" dirty="0">
                <a:latin typeface="Microsoft JhengHei Light" panose="020B0304030504040204" pitchFamily="34" charset="-120"/>
                <a:ea typeface="Microsoft JhengHei Light" panose="020B0304030504040204" pitchFamily="34" charset="-120"/>
              </a:rPr>
              <a:t>區塊鏈商業應用概論 實例與分析／新陸書局股份有限公司 發行</a:t>
            </a:r>
          </a:p>
        </p:txBody>
      </p:sp>
      <p:sp>
        <p:nvSpPr>
          <p:cNvPr id="9" name="標題 1">
            <a:extLst>
              <a:ext uri="{FF2B5EF4-FFF2-40B4-BE49-F238E27FC236}">
                <a16:creationId xmlns:a16="http://schemas.microsoft.com/office/drawing/2014/main" id="{475DFFF1-7C37-4CBE-ACFC-3F348BCD20CC}"/>
              </a:ext>
            </a:extLst>
          </p:cNvPr>
          <p:cNvSpPr txBox="1">
            <a:spLocks/>
          </p:cNvSpPr>
          <p:nvPr/>
        </p:nvSpPr>
        <p:spPr>
          <a:xfrm>
            <a:off x="1231956" y="393820"/>
            <a:ext cx="3643527" cy="874595"/>
          </a:xfrm>
          <a:prstGeom prst="rect">
            <a:avLst/>
          </a:prstGeom>
        </p:spPr>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altLang="zh-TW" sz="2400" b="1" dirty="0">
                <a:solidFill>
                  <a:srgbClr val="E06741"/>
                </a:solidFill>
              </a:rPr>
              <a:t>2-2 </a:t>
            </a:r>
            <a:r>
              <a:rPr lang="zh-TW" altLang="en-US" sz="2400" b="1" dirty="0">
                <a:solidFill>
                  <a:srgbClr val="E06741"/>
                </a:solidFill>
              </a:rPr>
              <a:t>區塊鏈技術發展</a:t>
            </a:r>
          </a:p>
          <a:p>
            <a:endParaRPr lang="zh-TW" altLang="en-US" sz="2400" dirty="0">
              <a:solidFill>
                <a:srgbClr val="E06741"/>
              </a:solidFill>
              <a:latin typeface="標楷體" panose="03000509000000000000" pitchFamily="65" charset="-120"/>
              <a:ea typeface="標楷體" panose="03000509000000000000" pitchFamily="65" charset="-120"/>
              <a:cs typeface="Times New Roman" panose="02020603050405020304" pitchFamily="18" charset="0"/>
            </a:endParaRPr>
          </a:p>
        </p:txBody>
      </p:sp>
      <p:sp>
        <p:nvSpPr>
          <p:cNvPr id="2" name="文字方塊 1">
            <a:extLst>
              <a:ext uri="{FF2B5EF4-FFF2-40B4-BE49-F238E27FC236}">
                <a16:creationId xmlns:a16="http://schemas.microsoft.com/office/drawing/2014/main" id="{D6D66D7E-58A1-40BE-8070-FA1C3AF22B14}"/>
              </a:ext>
            </a:extLst>
          </p:cNvPr>
          <p:cNvSpPr txBox="1"/>
          <p:nvPr/>
        </p:nvSpPr>
        <p:spPr>
          <a:xfrm>
            <a:off x="1515651" y="1186883"/>
            <a:ext cx="9799557" cy="5010474"/>
          </a:xfrm>
          <a:prstGeom prst="rect">
            <a:avLst/>
          </a:prstGeom>
          <a:noFill/>
        </p:spPr>
        <p:txBody>
          <a:bodyPr wrap="square" rtlCol="0">
            <a:spAutoFit/>
          </a:bodyPr>
          <a:lstStyle/>
          <a:p>
            <a:pPr>
              <a:lnSpc>
                <a:spcPct val="150000"/>
              </a:lnSpc>
              <a:buSzPct val="100000"/>
            </a:pPr>
            <a:r>
              <a:rPr lang="zh-TW" altLang="en-US" sz="2400" b="1" dirty="0">
                <a:solidFill>
                  <a:schemeClr val="tx1">
                    <a:lumMod val="75000"/>
                    <a:lumOff val="25000"/>
                  </a:schemeClr>
                </a:solidFill>
                <a:latin typeface="微軟正黑體" panose="020B0604030504040204" pitchFamily="34" charset="-120"/>
                <a:ea typeface="微軟正黑體" panose="020B0604030504040204" pitchFamily="34" charset="-120"/>
              </a:rPr>
              <a:t>三、錢包（ </a:t>
            </a:r>
            <a:r>
              <a:rPr lang="en-US" altLang="zh-TW" sz="2400" b="1" dirty="0">
                <a:solidFill>
                  <a:schemeClr val="tx1">
                    <a:lumMod val="75000"/>
                    <a:lumOff val="25000"/>
                  </a:schemeClr>
                </a:solidFill>
                <a:latin typeface="微軟正黑體" panose="020B0604030504040204" pitchFamily="34" charset="-120"/>
                <a:ea typeface="微軟正黑體" panose="020B0604030504040204" pitchFamily="34" charset="-120"/>
              </a:rPr>
              <a:t>Wallet</a:t>
            </a:r>
            <a:r>
              <a:rPr lang="zh-TW" altLang="en-US" sz="2400" b="1" dirty="0">
                <a:solidFill>
                  <a:schemeClr val="tx1">
                    <a:lumMod val="75000"/>
                    <a:lumOff val="25000"/>
                  </a:schemeClr>
                </a:solidFill>
                <a:latin typeface="微軟正黑體" panose="020B0604030504040204" pitchFamily="34" charset="-120"/>
                <a:ea typeface="微軟正黑體" panose="020B0604030504040204" pitchFamily="34" charset="-120"/>
              </a:rPr>
              <a:t>）</a:t>
            </a:r>
          </a:p>
          <a:p>
            <a:pPr marL="800100" lvl="1" indent="-342900">
              <a:lnSpc>
                <a:spcPct val="150000"/>
              </a:lnSpc>
              <a:buSzPct val="100000"/>
              <a:buBlip>
                <a:blip r:embed="rId4"/>
              </a:buBlip>
            </a:pPr>
            <a:r>
              <a:rPr lang="zh-TW" altLang="en-US" sz="2400" b="1" dirty="0">
                <a:solidFill>
                  <a:schemeClr val="tx1">
                    <a:lumMod val="75000"/>
                    <a:lumOff val="25000"/>
                  </a:schemeClr>
                </a:solidFill>
                <a:latin typeface="微軟正黑體" panose="020B0604030504040204" pitchFamily="34" charset="-120"/>
                <a:ea typeface="微軟正黑體" panose="020B0604030504040204" pitchFamily="34" charset="-120"/>
              </a:rPr>
              <a:t>區塊鏈的錢包技術，即是要滿足使用者在使用錢包的過程不能受到詐騙的可能性，故錢包技術則需結合密碼學的方法</a:t>
            </a:r>
            <a:endParaRPr lang="en-US" altLang="zh-TW" sz="2400" b="1" dirty="0">
              <a:solidFill>
                <a:schemeClr val="tx1">
                  <a:lumMod val="75000"/>
                  <a:lumOff val="25000"/>
                </a:schemeClr>
              </a:solidFill>
              <a:latin typeface="微軟正黑體" panose="020B0604030504040204" pitchFamily="34" charset="-120"/>
              <a:ea typeface="微軟正黑體" panose="020B0604030504040204" pitchFamily="34" charset="-120"/>
            </a:endParaRPr>
          </a:p>
          <a:p>
            <a:pPr marL="800100" lvl="1" indent="-342900">
              <a:lnSpc>
                <a:spcPct val="150000"/>
              </a:lnSpc>
              <a:buSzPct val="100000"/>
              <a:buBlip>
                <a:blip r:embed="rId4"/>
              </a:buBlip>
            </a:pPr>
            <a:r>
              <a:rPr lang="zh-TW" altLang="en-US" sz="2400" b="1" dirty="0">
                <a:solidFill>
                  <a:schemeClr val="tx1">
                    <a:lumMod val="75000"/>
                    <a:lumOff val="25000"/>
                  </a:schemeClr>
                </a:solidFill>
                <a:latin typeface="微軟正黑體" panose="020B0604030504040204" pitchFamily="34" charset="-120"/>
                <a:ea typeface="微軟正黑體" panose="020B0604030504040204" pitchFamily="34" charset="-120"/>
              </a:rPr>
              <a:t>錢包技術最開始被使用於比特幣的支付，比特幣的錢包會檢附一把私密金鑰，也就是要支付或花費比特幣時，則需透過私密金鑰的驗證完成支付的行為。</a:t>
            </a:r>
          </a:p>
          <a:p>
            <a:pPr marL="800100" lvl="1" indent="-342900">
              <a:lnSpc>
                <a:spcPct val="150000"/>
              </a:lnSpc>
              <a:buSzPct val="100000"/>
              <a:buBlip>
                <a:blip r:embed="rId4"/>
              </a:buBlip>
            </a:pPr>
            <a:r>
              <a:rPr lang="zh-TW" altLang="en-US" sz="2400" b="1" dirty="0">
                <a:solidFill>
                  <a:schemeClr val="tx1">
                    <a:lumMod val="75000"/>
                    <a:lumOff val="25000"/>
                  </a:schemeClr>
                </a:solidFill>
                <a:latin typeface="微軟正黑體" panose="020B0604030504040204" pitchFamily="34" charset="-120"/>
                <a:ea typeface="微軟正黑體" panose="020B0604030504040204" pitchFamily="34" charset="-120"/>
              </a:rPr>
              <a:t>比特幣錢包使用者可以檢查、儲存、花費其持有的比特幣，其形式多種多樣</a:t>
            </a:r>
            <a:endParaRPr lang="en-US" altLang="zh-TW" sz="2400" b="1" dirty="0">
              <a:solidFill>
                <a:schemeClr val="tx1">
                  <a:lumMod val="75000"/>
                  <a:lumOff val="25000"/>
                </a:schemeClr>
              </a:solidFill>
              <a:latin typeface="微軟正黑體" panose="020B0604030504040204" pitchFamily="34" charset="-120"/>
              <a:ea typeface="微軟正黑體" panose="020B0604030504040204" pitchFamily="34" charset="-120"/>
            </a:endParaRPr>
          </a:p>
          <a:p>
            <a:pPr marL="800100" lvl="1" indent="-342900">
              <a:lnSpc>
                <a:spcPct val="150000"/>
              </a:lnSpc>
              <a:buSzPct val="100000"/>
              <a:buBlip>
                <a:blip r:embed="rId4"/>
              </a:buBlip>
            </a:pPr>
            <a:r>
              <a:rPr lang="zh-TW" altLang="en-US" sz="2400" b="1" dirty="0">
                <a:solidFill>
                  <a:schemeClr val="tx1">
                    <a:lumMod val="75000"/>
                    <a:lumOff val="25000"/>
                  </a:schemeClr>
                </a:solidFill>
                <a:latin typeface="微軟正黑體" panose="020B0604030504040204" pitchFamily="34" charset="-120"/>
                <a:ea typeface="微軟正黑體" panose="020B0604030504040204" pitchFamily="34" charset="-120"/>
              </a:rPr>
              <a:t>只要掌握比特幣的私密金鑰，就可以處置其對應地址中的比特幣</a:t>
            </a:r>
          </a:p>
        </p:txBody>
      </p:sp>
      <p:cxnSp>
        <p:nvCxnSpPr>
          <p:cNvPr id="26" name="直接连接符 33">
            <a:extLst>
              <a:ext uri="{FF2B5EF4-FFF2-40B4-BE49-F238E27FC236}">
                <a16:creationId xmlns:a16="http://schemas.microsoft.com/office/drawing/2014/main" id="{C3725E45-5458-4931-9D9A-B8C15AE6AC41}"/>
              </a:ext>
            </a:extLst>
          </p:cNvPr>
          <p:cNvCxnSpPr>
            <a:cxnSpLocks/>
          </p:cNvCxnSpPr>
          <p:nvPr/>
        </p:nvCxnSpPr>
        <p:spPr>
          <a:xfrm>
            <a:off x="1334185" y="1102164"/>
            <a:ext cx="10081960" cy="0"/>
          </a:xfrm>
          <a:prstGeom prst="line">
            <a:avLst/>
          </a:prstGeom>
          <a:ln w="190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12" name="文字方塊 11">
            <a:extLst>
              <a:ext uri="{FF2B5EF4-FFF2-40B4-BE49-F238E27FC236}">
                <a16:creationId xmlns:a16="http://schemas.microsoft.com/office/drawing/2014/main" id="{9FE02F65-A32E-4124-B1E6-8E45750976E4}"/>
              </a:ext>
            </a:extLst>
          </p:cNvPr>
          <p:cNvSpPr txBox="1"/>
          <p:nvPr/>
        </p:nvSpPr>
        <p:spPr>
          <a:xfrm>
            <a:off x="4487241" y="449166"/>
            <a:ext cx="2307042" cy="400110"/>
          </a:xfrm>
          <a:prstGeom prst="rect">
            <a:avLst/>
          </a:prstGeom>
          <a:noFill/>
        </p:spPr>
        <p:txBody>
          <a:bodyPr wrap="none" rtlCol="0">
            <a:spAutoFit/>
          </a:bodyPr>
          <a:lstStyle/>
          <a:p>
            <a:r>
              <a:rPr lang="en-US" altLang="zh-TW" sz="2000" b="1" dirty="0">
                <a:solidFill>
                  <a:schemeClr val="tx1">
                    <a:lumMod val="65000"/>
                    <a:lumOff val="35000"/>
                  </a:schemeClr>
                </a:solidFill>
                <a:latin typeface="微軟正黑體" panose="020B0604030504040204" pitchFamily="34" charset="-120"/>
                <a:ea typeface="微軟正黑體" panose="020B0604030504040204" pitchFamily="34" charset="-120"/>
                <a:cs typeface="Times New Roman" panose="02020603050405020304" pitchFamily="18" charset="0"/>
              </a:rPr>
              <a:t>-3 </a:t>
            </a:r>
            <a:r>
              <a:rPr lang="zh-TW" altLang="en-US" sz="2000" b="1" dirty="0">
                <a:solidFill>
                  <a:schemeClr val="tx1">
                    <a:lumMod val="65000"/>
                    <a:lumOff val="35000"/>
                  </a:schemeClr>
                </a:solidFill>
                <a:latin typeface="微軟正黑體" panose="020B0604030504040204" pitchFamily="34" charset="-120"/>
                <a:ea typeface="微軟正黑體" panose="020B0604030504040204" pitchFamily="34" charset="-120"/>
                <a:cs typeface="Times New Roman" panose="02020603050405020304" pitchFamily="18" charset="0"/>
              </a:rPr>
              <a:t>區塊鏈相關技術</a:t>
            </a:r>
          </a:p>
        </p:txBody>
      </p:sp>
      <p:pic>
        <p:nvPicPr>
          <p:cNvPr id="10" name="圖片 9">
            <a:extLst>
              <a:ext uri="{FF2B5EF4-FFF2-40B4-BE49-F238E27FC236}">
                <a16:creationId xmlns:a16="http://schemas.microsoft.com/office/drawing/2014/main" id="{96049775-B300-4704-9F66-6DDE8B8718E9}"/>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55416" y="4653854"/>
            <a:ext cx="1810326" cy="1810326"/>
          </a:xfrm>
          <a:prstGeom prst="rect">
            <a:avLst/>
          </a:prstGeom>
        </p:spPr>
      </p:pic>
    </p:spTree>
    <p:extLst>
      <p:ext uri="{BB962C8B-B14F-4D97-AF65-F5344CB8AC3E}">
        <p14:creationId xmlns:p14="http://schemas.microsoft.com/office/powerpoint/2010/main" val="2896918001"/>
      </p:ext>
    </p:extLst>
  </p:cSld>
  <p:clrMapOvr>
    <a:masterClrMapping/>
  </p:clrMapOvr>
  <mc:AlternateContent xmlns:mc="http://schemas.openxmlformats.org/markup-compatibility/2006">
    <mc:Choice xmlns:p14="http://schemas.microsoft.com/office/powerpoint/2010/main" Requires="p14">
      <p:transition spd="slow" p14:dur="1600">
        <p14:prism isContent="1" isInverted="1"/>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6" presetClass="entr" presetSubtype="16" fill="hold" grpId="0" nodeType="after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circle(in)">
                                      <p:cBhvr>
                                        <p:cTn id="7" dur="2000"/>
                                        <p:tgtEl>
                                          <p:spTgt spid="9"/>
                                        </p:tgtEl>
                                      </p:cBhvr>
                                    </p:animEffect>
                                  </p:childTnLst>
                                </p:cTn>
                              </p:par>
                            </p:childTnLst>
                          </p:cTn>
                        </p:par>
                        <p:par>
                          <p:cTn id="8" fill="hold">
                            <p:stCondLst>
                              <p:cond delay="2000"/>
                            </p:stCondLst>
                            <p:childTnLst>
                              <p:par>
                                <p:cTn id="9" presetID="14" presetClass="entr" presetSubtype="10" fill="hold" grpId="0" nodeType="afterEffect">
                                  <p:stCondLst>
                                    <p:cond delay="0"/>
                                  </p:stCondLst>
                                  <p:childTnLst>
                                    <p:set>
                                      <p:cBhvr>
                                        <p:cTn id="10" dur="1" fill="hold">
                                          <p:stCondLst>
                                            <p:cond delay="0"/>
                                          </p:stCondLst>
                                        </p:cTn>
                                        <p:tgtEl>
                                          <p:spTgt spid="12"/>
                                        </p:tgtEl>
                                        <p:attrNameLst>
                                          <p:attrName>style.visibility</p:attrName>
                                        </p:attrNameLst>
                                      </p:cBhvr>
                                      <p:to>
                                        <p:strVal val="visible"/>
                                      </p:to>
                                    </p:set>
                                    <p:animEffect transition="in" filter="randombar(horizontal)">
                                      <p:cBhvr>
                                        <p:cTn id="11" dur="500"/>
                                        <p:tgtEl>
                                          <p:spTgt spid="12"/>
                                        </p:tgtEl>
                                      </p:cBhvr>
                                    </p:animEffect>
                                  </p:childTnLst>
                                </p:cTn>
                              </p:par>
                            </p:childTnLst>
                          </p:cTn>
                        </p:par>
                        <p:par>
                          <p:cTn id="12" fill="hold">
                            <p:stCondLst>
                              <p:cond delay="2500"/>
                            </p:stCondLst>
                            <p:childTnLst>
                              <p:par>
                                <p:cTn id="13" presetID="2" presetClass="entr" presetSubtype="8" fill="hold" nodeType="afterEffect">
                                  <p:stCondLst>
                                    <p:cond delay="0"/>
                                  </p:stCondLst>
                                  <p:childTnLst>
                                    <p:set>
                                      <p:cBhvr>
                                        <p:cTn id="14" dur="1" fill="hold">
                                          <p:stCondLst>
                                            <p:cond delay="0"/>
                                          </p:stCondLst>
                                        </p:cTn>
                                        <p:tgtEl>
                                          <p:spTgt spid="26"/>
                                        </p:tgtEl>
                                        <p:attrNameLst>
                                          <p:attrName>style.visibility</p:attrName>
                                        </p:attrNameLst>
                                      </p:cBhvr>
                                      <p:to>
                                        <p:strVal val="visible"/>
                                      </p:to>
                                    </p:set>
                                    <p:anim calcmode="lin" valueType="num">
                                      <p:cBhvr additive="base">
                                        <p:cTn id="15" dur="500" fill="hold"/>
                                        <p:tgtEl>
                                          <p:spTgt spid="26"/>
                                        </p:tgtEl>
                                        <p:attrNameLst>
                                          <p:attrName>ppt_x</p:attrName>
                                        </p:attrNameLst>
                                      </p:cBhvr>
                                      <p:tavLst>
                                        <p:tav tm="0">
                                          <p:val>
                                            <p:strVal val="0-#ppt_w/2"/>
                                          </p:val>
                                        </p:tav>
                                        <p:tav tm="100000">
                                          <p:val>
                                            <p:strVal val="#ppt_x"/>
                                          </p:val>
                                        </p:tav>
                                      </p:tavLst>
                                    </p:anim>
                                    <p:anim calcmode="lin" valueType="num">
                                      <p:cBhvr additive="base">
                                        <p:cTn id="16" dur="500" fill="hold"/>
                                        <p:tgtEl>
                                          <p:spTgt spid="26"/>
                                        </p:tgtEl>
                                        <p:attrNameLst>
                                          <p:attrName>ppt_y</p:attrName>
                                        </p:attrNameLst>
                                      </p:cBhvr>
                                      <p:tavLst>
                                        <p:tav tm="0">
                                          <p:val>
                                            <p:strVal val="#ppt_y"/>
                                          </p:val>
                                        </p:tav>
                                        <p:tav tm="100000">
                                          <p:val>
                                            <p:strVal val="#ppt_y"/>
                                          </p:val>
                                        </p:tav>
                                      </p:tavLst>
                                    </p:anim>
                                  </p:childTnLst>
                                </p:cTn>
                              </p:par>
                            </p:childTnLst>
                          </p:cTn>
                        </p:par>
                        <p:par>
                          <p:cTn id="17" fill="hold">
                            <p:stCondLst>
                              <p:cond delay="3000"/>
                            </p:stCondLst>
                            <p:childTnLst>
                              <p:par>
                                <p:cTn id="18" presetID="42" presetClass="entr" presetSubtype="0" fill="hold" grpId="0" nodeType="afterEffect">
                                  <p:stCondLst>
                                    <p:cond delay="0"/>
                                  </p:stCondLst>
                                  <p:childTnLst>
                                    <p:set>
                                      <p:cBhvr>
                                        <p:cTn id="19" dur="1" fill="hold">
                                          <p:stCondLst>
                                            <p:cond delay="0"/>
                                          </p:stCondLst>
                                        </p:cTn>
                                        <p:tgtEl>
                                          <p:spTgt spid="2"/>
                                        </p:tgtEl>
                                        <p:attrNameLst>
                                          <p:attrName>style.visibility</p:attrName>
                                        </p:attrNameLst>
                                      </p:cBhvr>
                                      <p:to>
                                        <p:strVal val="visible"/>
                                      </p:to>
                                    </p:set>
                                    <p:animEffect transition="in" filter="fade">
                                      <p:cBhvr>
                                        <p:cTn id="20" dur="1000"/>
                                        <p:tgtEl>
                                          <p:spTgt spid="2"/>
                                        </p:tgtEl>
                                      </p:cBhvr>
                                    </p:animEffect>
                                    <p:anim calcmode="lin" valueType="num">
                                      <p:cBhvr>
                                        <p:cTn id="21" dur="1000" fill="hold"/>
                                        <p:tgtEl>
                                          <p:spTgt spid="2"/>
                                        </p:tgtEl>
                                        <p:attrNameLst>
                                          <p:attrName>ppt_x</p:attrName>
                                        </p:attrNameLst>
                                      </p:cBhvr>
                                      <p:tavLst>
                                        <p:tav tm="0">
                                          <p:val>
                                            <p:strVal val="#ppt_x"/>
                                          </p:val>
                                        </p:tav>
                                        <p:tav tm="100000">
                                          <p:val>
                                            <p:strVal val="#ppt_x"/>
                                          </p:val>
                                        </p:tav>
                                      </p:tavLst>
                                    </p:anim>
                                    <p:anim calcmode="lin" valueType="num">
                                      <p:cBhvr>
                                        <p:cTn id="22" dur="1000" fill="hold"/>
                                        <p:tgtEl>
                                          <p:spTgt spid="2"/>
                                        </p:tgtEl>
                                        <p:attrNameLst>
                                          <p:attrName>ppt_y</p:attrName>
                                        </p:attrNameLst>
                                      </p:cBhvr>
                                      <p:tavLst>
                                        <p:tav tm="0">
                                          <p:val>
                                            <p:strVal val="#ppt_y+.1"/>
                                          </p:val>
                                        </p:tav>
                                        <p:tav tm="100000">
                                          <p:val>
                                            <p:strVal val="#ppt_y"/>
                                          </p:val>
                                        </p:tav>
                                      </p:tavLst>
                                    </p:anim>
                                  </p:childTnLst>
                                </p:cTn>
                              </p:par>
                            </p:childTnLst>
                          </p:cTn>
                        </p:par>
                        <p:par>
                          <p:cTn id="23" fill="hold">
                            <p:stCondLst>
                              <p:cond delay="4000"/>
                            </p:stCondLst>
                            <p:childTnLst>
                              <p:par>
                                <p:cTn id="24" presetID="2" presetClass="entr" presetSubtype="4" fill="hold" nodeType="afterEffect">
                                  <p:stCondLst>
                                    <p:cond delay="0"/>
                                  </p:stCondLst>
                                  <p:childTnLst>
                                    <p:set>
                                      <p:cBhvr>
                                        <p:cTn id="25" dur="1" fill="hold">
                                          <p:stCondLst>
                                            <p:cond delay="0"/>
                                          </p:stCondLst>
                                        </p:cTn>
                                        <p:tgtEl>
                                          <p:spTgt spid="10"/>
                                        </p:tgtEl>
                                        <p:attrNameLst>
                                          <p:attrName>style.visibility</p:attrName>
                                        </p:attrNameLst>
                                      </p:cBhvr>
                                      <p:to>
                                        <p:strVal val="visible"/>
                                      </p:to>
                                    </p:set>
                                    <p:anim calcmode="lin" valueType="num">
                                      <p:cBhvr additive="base">
                                        <p:cTn id="26" dur="500" fill="hold"/>
                                        <p:tgtEl>
                                          <p:spTgt spid="10"/>
                                        </p:tgtEl>
                                        <p:attrNameLst>
                                          <p:attrName>ppt_x</p:attrName>
                                        </p:attrNameLst>
                                      </p:cBhvr>
                                      <p:tavLst>
                                        <p:tav tm="0">
                                          <p:val>
                                            <p:strVal val="#ppt_x"/>
                                          </p:val>
                                        </p:tav>
                                        <p:tav tm="100000">
                                          <p:val>
                                            <p:strVal val="#ppt_x"/>
                                          </p:val>
                                        </p:tav>
                                      </p:tavLst>
                                    </p:anim>
                                    <p:anim calcmode="lin" valueType="num">
                                      <p:cBhvr additive="base">
                                        <p:cTn id="27" dur="500" fill="hold"/>
                                        <p:tgtEl>
                                          <p:spTgt spid="1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2" grpId="0"/>
      <p:bldP spid="12" grpId="0"/>
    </p:bld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图片 42">
            <a:extLst>
              <a:ext uri="{FF2B5EF4-FFF2-40B4-BE49-F238E27FC236}">
                <a16:creationId xmlns:a16="http://schemas.microsoft.com/office/drawing/2014/main" id="{C8D97DA4-6242-4E73-AEFC-457D04FDC65B}"/>
              </a:ext>
            </a:extLst>
          </p:cNvPr>
          <p:cNvPicPr>
            <a:picLocks noChangeAspect="1"/>
          </p:cNvPicPr>
          <p:nvPr/>
        </p:nvPicPr>
        <p:blipFill>
          <a:blip r:embed="rId3"/>
          <a:stretch>
            <a:fillRect/>
          </a:stretch>
        </p:blipFill>
        <p:spPr>
          <a:xfrm rot="16200000">
            <a:off x="145169" y="-145167"/>
            <a:ext cx="1268414" cy="1558750"/>
          </a:xfrm>
          <a:prstGeom prst="rect">
            <a:avLst/>
          </a:prstGeom>
        </p:spPr>
      </p:pic>
      <p:sp>
        <p:nvSpPr>
          <p:cNvPr id="6" name="文字方塊 5">
            <a:extLst>
              <a:ext uri="{FF2B5EF4-FFF2-40B4-BE49-F238E27FC236}">
                <a16:creationId xmlns:a16="http://schemas.microsoft.com/office/drawing/2014/main" id="{8A30B01A-3198-4955-A208-0E3D9EB60397}"/>
              </a:ext>
            </a:extLst>
          </p:cNvPr>
          <p:cNvSpPr txBox="1"/>
          <p:nvPr/>
        </p:nvSpPr>
        <p:spPr>
          <a:xfrm>
            <a:off x="1558751" y="6596390"/>
            <a:ext cx="4217821" cy="261610"/>
          </a:xfrm>
          <a:prstGeom prst="rect">
            <a:avLst/>
          </a:prstGeom>
          <a:noFill/>
        </p:spPr>
        <p:txBody>
          <a:bodyPr wrap="none" rtlCol="0">
            <a:spAutoFit/>
          </a:bodyPr>
          <a:lstStyle/>
          <a:p>
            <a:r>
              <a:rPr lang="zh-TW" altLang="en-US" sz="1100" dirty="0">
                <a:latin typeface="Microsoft JhengHei Light" panose="020B0304030504040204" pitchFamily="34" charset="-120"/>
                <a:ea typeface="Microsoft JhengHei Light" panose="020B0304030504040204" pitchFamily="34" charset="-120"/>
              </a:rPr>
              <a:t>區塊鏈商業應用概論 實例與分析／新陸書局股份有限公司 發行</a:t>
            </a:r>
          </a:p>
        </p:txBody>
      </p:sp>
      <p:sp>
        <p:nvSpPr>
          <p:cNvPr id="9" name="標題 1">
            <a:extLst>
              <a:ext uri="{FF2B5EF4-FFF2-40B4-BE49-F238E27FC236}">
                <a16:creationId xmlns:a16="http://schemas.microsoft.com/office/drawing/2014/main" id="{475DFFF1-7C37-4CBE-ACFC-3F348BCD20CC}"/>
              </a:ext>
            </a:extLst>
          </p:cNvPr>
          <p:cNvSpPr txBox="1">
            <a:spLocks/>
          </p:cNvSpPr>
          <p:nvPr/>
        </p:nvSpPr>
        <p:spPr>
          <a:xfrm>
            <a:off x="1407445" y="393820"/>
            <a:ext cx="3643527" cy="874595"/>
          </a:xfrm>
          <a:prstGeom prst="rect">
            <a:avLst/>
          </a:prstGeom>
        </p:spPr>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altLang="zh-TW" sz="2400" b="1" dirty="0">
                <a:solidFill>
                  <a:srgbClr val="E06741"/>
                </a:solidFill>
              </a:rPr>
              <a:t>2-3 </a:t>
            </a:r>
            <a:r>
              <a:rPr lang="zh-TW" altLang="en-US" sz="2400" b="1" dirty="0">
                <a:solidFill>
                  <a:srgbClr val="E06741"/>
                </a:solidFill>
              </a:rPr>
              <a:t>區塊鏈技術安全特性</a:t>
            </a:r>
          </a:p>
          <a:p>
            <a:endParaRPr lang="zh-TW" altLang="en-US" sz="2400" dirty="0">
              <a:solidFill>
                <a:srgbClr val="E06741"/>
              </a:solidFill>
              <a:latin typeface="標楷體" panose="03000509000000000000" pitchFamily="65" charset="-120"/>
              <a:ea typeface="標楷體" panose="03000509000000000000" pitchFamily="65" charset="-120"/>
              <a:cs typeface="Times New Roman" panose="02020603050405020304" pitchFamily="18" charset="0"/>
            </a:endParaRPr>
          </a:p>
        </p:txBody>
      </p:sp>
      <p:cxnSp>
        <p:nvCxnSpPr>
          <p:cNvPr id="26" name="直接连接符 33">
            <a:extLst>
              <a:ext uri="{FF2B5EF4-FFF2-40B4-BE49-F238E27FC236}">
                <a16:creationId xmlns:a16="http://schemas.microsoft.com/office/drawing/2014/main" id="{C3725E45-5458-4931-9D9A-B8C15AE6AC41}"/>
              </a:ext>
            </a:extLst>
          </p:cNvPr>
          <p:cNvCxnSpPr>
            <a:cxnSpLocks/>
          </p:cNvCxnSpPr>
          <p:nvPr/>
        </p:nvCxnSpPr>
        <p:spPr>
          <a:xfrm>
            <a:off x="1334185" y="1102164"/>
            <a:ext cx="10081960" cy="0"/>
          </a:xfrm>
          <a:prstGeom prst="line">
            <a:avLst/>
          </a:prstGeom>
          <a:ln w="190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12" name="文字方塊 11">
            <a:extLst>
              <a:ext uri="{FF2B5EF4-FFF2-40B4-BE49-F238E27FC236}">
                <a16:creationId xmlns:a16="http://schemas.microsoft.com/office/drawing/2014/main" id="{9FE02F65-A32E-4124-B1E6-8E45750976E4}"/>
              </a:ext>
            </a:extLst>
          </p:cNvPr>
          <p:cNvSpPr txBox="1"/>
          <p:nvPr/>
        </p:nvSpPr>
        <p:spPr>
          <a:xfrm>
            <a:off x="4949058" y="449166"/>
            <a:ext cx="3589444" cy="400110"/>
          </a:xfrm>
          <a:prstGeom prst="rect">
            <a:avLst/>
          </a:prstGeom>
          <a:noFill/>
        </p:spPr>
        <p:txBody>
          <a:bodyPr wrap="none" rtlCol="0">
            <a:spAutoFit/>
          </a:bodyPr>
          <a:lstStyle/>
          <a:p>
            <a:r>
              <a:rPr lang="en-US" altLang="zh-TW" sz="2000" b="1" dirty="0">
                <a:solidFill>
                  <a:schemeClr val="tx1">
                    <a:lumMod val="65000"/>
                    <a:lumOff val="35000"/>
                  </a:schemeClr>
                </a:solidFill>
                <a:latin typeface="微軟正黑體" panose="020B0604030504040204" pitchFamily="34" charset="-120"/>
                <a:ea typeface="微軟正黑體" panose="020B0604030504040204" pitchFamily="34" charset="-120"/>
                <a:cs typeface="Times New Roman" panose="02020603050405020304" pitchFamily="18" charset="0"/>
              </a:rPr>
              <a:t>-1 </a:t>
            </a:r>
            <a:r>
              <a:rPr lang="zh-TW" altLang="en-US" sz="2000" b="1" dirty="0">
                <a:solidFill>
                  <a:schemeClr val="tx1">
                    <a:lumMod val="65000"/>
                    <a:lumOff val="35000"/>
                  </a:schemeClr>
                </a:solidFill>
                <a:latin typeface="微軟正黑體" panose="020B0604030504040204" pitchFamily="34" charset="-120"/>
                <a:ea typeface="微軟正黑體" panose="020B0604030504040204" pitchFamily="34" charset="-120"/>
                <a:cs typeface="Times New Roman" panose="02020603050405020304" pitchFamily="18" charset="0"/>
              </a:rPr>
              <a:t>區塊鏈技術特有的安全特性</a:t>
            </a:r>
          </a:p>
        </p:txBody>
      </p:sp>
      <p:graphicFrame>
        <p:nvGraphicFramePr>
          <p:cNvPr id="3" name="資料庫圖表 2">
            <a:extLst>
              <a:ext uri="{FF2B5EF4-FFF2-40B4-BE49-F238E27FC236}">
                <a16:creationId xmlns:a16="http://schemas.microsoft.com/office/drawing/2014/main" id="{8DE8628A-DF22-4B08-825F-9EE6B43CC8C2}"/>
              </a:ext>
            </a:extLst>
          </p:cNvPr>
          <p:cNvGraphicFramePr/>
          <p:nvPr>
            <p:extLst>
              <p:ext uri="{D42A27DB-BD31-4B8C-83A1-F6EECF244321}">
                <p14:modId xmlns:p14="http://schemas.microsoft.com/office/powerpoint/2010/main" val="3214132619"/>
              </p:ext>
            </p:extLst>
          </p:nvPr>
        </p:nvGraphicFramePr>
        <p:xfrm>
          <a:off x="1806809" y="1274534"/>
          <a:ext cx="8977746" cy="5165411"/>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extLst>
      <p:ext uri="{BB962C8B-B14F-4D97-AF65-F5344CB8AC3E}">
        <p14:creationId xmlns:p14="http://schemas.microsoft.com/office/powerpoint/2010/main" val="1618165932"/>
      </p:ext>
    </p:extLst>
  </p:cSld>
  <p:clrMapOvr>
    <a:masterClrMapping/>
  </p:clrMapOvr>
  <mc:AlternateContent xmlns:mc="http://schemas.openxmlformats.org/markup-compatibility/2006">
    <mc:Choice xmlns:p14="http://schemas.microsoft.com/office/powerpoint/2010/main" Requires="p14">
      <p:transition spd="slow" p14:dur="2000">
        <p14:ferris dir="l"/>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6" presetClass="entr" presetSubtype="16" fill="hold" grpId="0" nodeType="after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circle(in)">
                                      <p:cBhvr>
                                        <p:cTn id="7" dur="2000"/>
                                        <p:tgtEl>
                                          <p:spTgt spid="9"/>
                                        </p:tgtEl>
                                      </p:cBhvr>
                                    </p:animEffect>
                                  </p:childTnLst>
                                </p:cTn>
                              </p:par>
                            </p:childTnLst>
                          </p:cTn>
                        </p:par>
                        <p:par>
                          <p:cTn id="8" fill="hold">
                            <p:stCondLst>
                              <p:cond delay="2000"/>
                            </p:stCondLst>
                            <p:childTnLst>
                              <p:par>
                                <p:cTn id="9" presetID="14" presetClass="entr" presetSubtype="10" fill="hold" grpId="0" nodeType="afterEffect">
                                  <p:stCondLst>
                                    <p:cond delay="0"/>
                                  </p:stCondLst>
                                  <p:childTnLst>
                                    <p:set>
                                      <p:cBhvr>
                                        <p:cTn id="10" dur="1" fill="hold">
                                          <p:stCondLst>
                                            <p:cond delay="0"/>
                                          </p:stCondLst>
                                        </p:cTn>
                                        <p:tgtEl>
                                          <p:spTgt spid="12"/>
                                        </p:tgtEl>
                                        <p:attrNameLst>
                                          <p:attrName>style.visibility</p:attrName>
                                        </p:attrNameLst>
                                      </p:cBhvr>
                                      <p:to>
                                        <p:strVal val="visible"/>
                                      </p:to>
                                    </p:set>
                                    <p:animEffect transition="in" filter="randombar(horizontal)">
                                      <p:cBhvr>
                                        <p:cTn id="11" dur="500"/>
                                        <p:tgtEl>
                                          <p:spTgt spid="12"/>
                                        </p:tgtEl>
                                      </p:cBhvr>
                                    </p:animEffect>
                                  </p:childTnLst>
                                </p:cTn>
                              </p:par>
                            </p:childTnLst>
                          </p:cTn>
                        </p:par>
                        <p:par>
                          <p:cTn id="12" fill="hold">
                            <p:stCondLst>
                              <p:cond delay="2500"/>
                            </p:stCondLst>
                            <p:childTnLst>
                              <p:par>
                                <p:cTn id="13" presetID="2" presetClass="entr" presetSubtype="8" fill="hold" nodeType="afterEffect">
                                  <p:stCondLst>
                                    <p:cond delay="0"/>
                                  </p:stCondLst>
                                  <p:childTnLst>
                                    <p:set>
                                      <p:cBhvr>
                                        <p:cTn id="14" dur="1" fill="hold">
                                          <p:stCondLst>
                                            <p:cond delay="0"/>
                                          </p:stCondLst>
                                        </p:cTn>
                                        <p:tgtEl>
                                          <p:spTgt spid="26"/>
                                        </p:tgtEl>
                                        <p:attrNameLst>
                                          <p:attrName>style.visibility</p:attrName>
                                        </p:attrNameLst>
                                      </p:cBhvr>
                                      <p:to>
                                        <p:strVal val="visible"/>
                                      </p:to>
                                    </p:set>
                                    <p:anim calcmode="lin" valueType="num">
                                      <p:cBhvr additive="base">
                                        <p:cTn id="15" dur="500" fill="hold"/>
                                        <p:tgtEl>
                                          <p:spTgt spid="26"/>
                                        </p:tgtEl>
                                        <p:attrNameLst>
                                          <p:attrName>ppt_x</p:attrName>
                                        </p:attrNameLst>
                                      </p:cBhvr>
                                      <p:tavLst>
                                        <p:tav tm="0">
                                          <p:val>
                                            <p:strVal val="0-#ppt_w/2"/>
                                          </p:val>
                                        </p:tav>
                                        <p:tav tm="100000">
                                          <p:val>
                                            <p:strVal val="#ppt_x"/>
                                          </p:val>
                                        </p:tav>
                                      </p:tavLst>
                                    </p:anim>
                                    <p:anim calcmode="lin" valueType="num">
                                      <p:cBhvr additive="base">
                                        <p:cTn id="16" dur="500" fill="hold"/>
                                        <p:tgtEl>
                                          <p:spTgt spid="26"/>
                                        </p:tgtEl>
                                        <p:attrNameLst>
                                          <p:attrName>ppt_y</p:attrName>
                                        </p:attrNameLst>
                                      </p:cBhvr>
                                      <p:tavLst>
                                        <p:tav tm="0">
                                          <p:val>
                                            <p:strVal val="#ppt_y"/>
                                          </p:val>
                                        </p:tav>
                                        <p:tav tm="100000">
                                          <p:val>
                                            <p:strVal val="#ppt_y"/>
                                          </p:val>
                                        </p:tav>
                                      </p:tavLst>
                                    </p:anim>
                                  </p:childTnLst>
                                </p:cTn>
                              </p:par>
                            </p:childTnLst>
                          </p:cTn>
                        </p:par>
                        <p:par>
                          <p:cTn id="17" fill="hold">
                            <p:stCondLst>
                              <p:cond delay="3000"/>
                            </p:stCondLst>
                            <p:childTnLst>
                              <p:par>
                                <p:cTn id="18" presetID="53" presetClass="entr" presetSubtype="16" fill="hold" grpId="0" nodeType="afterEffect">
                                  <p:stCondLst>
                                    <p:cond delay="0"/>
                                  </p:stCondLst>
                                  <p:childTnLst>
                                    <p:set>
                                      <p:cBhvr>
                                        <p:cTn id="19" dur="1" fill="hold">
                                          <p:stCondLst>
                                            <p:cond delay="0"/>
                                          </p:stCondLst>
                                        </p:cTn>
                                        <p:tgtEl>
                                          <p:spTgt spid="3"/>
                                        </p:tgtEl>
                                        <p:attrNameLst>
                                          <p:attrName>style.visibility</p:attrName>
                                        </p:attrNameLst>
                                      </p:cBhvr>
                                      <p:to>
                                        <p:strVal val="visible"/>
                                      </p:to>
                                    </p:set>
                                    <p:anim calcmode="lin" valueType="num">
                                      <p:cBhvr>
                                        <p:cTn id="20" dur="500" fill="hold"/>
                                        <p:tgtEl>
                                          <p:spTgt spid="3"/>
                                        </p:tgtEl>
                                        <p:attrNameLst>
                                          <p:attrName>ppt_w</p:attrName>
                                        </p:attrNameLst>
                                      </p:cBhvr>
                                      <p:tavLst>
                                        <p:tav tm="0">
                                          <p:val>
                                            <p:fltVal val="0"/>
                                          </p:val>
                                        </p:tav>
                                        <p:tav tm="100000">
                                          <p:val>
                                            <p:strVal val="#ppt_w"/>
                                          </p:val>
                                        </p:tav>
                                      </p:tavLst>
                                    </p:anim>
                                    <p:anim calcmode="lin" valueType="num">
                                      <p:cBhvr>
                                        <p:cTn id="21" dur="500" fill="hold"/>
                                        <p:tgtEl>
                                          <p:spTgt spid="3"/>
                                        </p:tgtEl>
                                        <p:attrNameLst>
                                          <p:attrName>ppt_h</p:attrName>
                                        </p:attrNameLst>
                                      </p:cBhvr>
                                      <p:tavLst>
                                        <p:tav tm="0">
                                          <p:val>
                                            <p:fltVal val="0"/>
                                          </p:val>
                                        </p:tav>
                                        <p:tav tm="100000">
                                          <p:val>
                                            <p:strVal val="#ppt_h"/>
                                          </p:val>
                                        </p:tav>
                                      </p:tavLst>
                                    </p:anim>
                                    <p:animEffect transition="in" filter="fade">
                                      <p:cBhvr>
                                        <p:cTn id="22"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2" grpId="0"/>
      <p:bldGraphic spid="3" grpId="0">
        <p:bldAsOne/>
      </p:bldGraphic>
    </p:bld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图片 42">
            <a:extLst>
              <a:ext uri="{FF2B5EF4-FFF2-40B4-BE49-F238E27FC236}">
                <a16:creationId xmlns:a16="http://schemas.microsoft.com/office/drawing/2014/main" id="{C8D97DA4-6242-4E73-AEFC-457D04FDC65B}"/>
              </a:ext>
            </a:extLst>
          </p:cNvPr>
          <p:cNvPicPr>
            <a:picLocks noChangeAspect="1"/>
          </p:cNvPicPr>
          <p:nvPr/>
        </p:nvPicPr>
        <p:blipFill>
          <a:blip r:embed="rId3"/>
          <a:stretch>
            <a:fillRect/>
          </a:stretch>
        </p:blipFill>
        <p:spPr>
          <a:xfrm rot="16200000">
            <a:off x="145169" y="-145167"/>
            <a:ext cx="1268414" cy="1558750"/>
          </a:xfrm>
          <a:prstGeom prst="rect">
            <a:avLst/>
          </a:prstGeom>
        </p:spPr>
      </p:pic>
      <p:sp>
        <p:nvSpPr>
          <p:cNvPr id="6" name="文字方塊 5">
            <a:extLst>
              <a:ext uri="{FF2B5EF4-FFF2-40B4-BE49-F238E27FC236}">
                <a16:creationId xmlns:a16="http://schemas.microsoft.com/office/drawing/2014/main" id="{8A30B01A-3198-4955-A208-0E3D9EB60397}"/>
              </a:ext>
            </a:extLst>
          </p:cNvPr>
          <p:cNvSpPr txBox="1"/>
          <p:nvPr/>
        </p:nvSpPr>
        <p:spPr>
          <a:xfrm>
            <a:off x="1558751" y="6596390"/>
            <a:ext cx="4217821" cy="261610"/>
          </a:xfrm>
          <a:prstGeom prst="rect">
            <a:avLst/>
          </a:prstGeom>
          <a:noFill/>
        </p:spPr>
        <p:txBody>
          <a:bodyPr wrap="none" rtlCol="0">
            <a:spAutoFit/>
          </a:bodyPr>
          <a:lstStyle/>
          <a:p>
            <a:r>
              <a:rPr lang="zh-TW" altLang="en-US" sz="1100" dirty="0">
                <a:latin typeface="Microsoft JhengHei Light" panose="020B0304030504040204" pitchFamily="34" charset="-120"/>
                <a:ea typeface="Microsoft JhengHei Light" panose="020B0304030504040204" pitchFamily="34" charset="-120"/>
              </a:rPr>
              <a:t>區塊鏈商業應用概論 實例與分析／新陸書局股份有限公司 發行</a:t>
            </a:r>
          </a:p>
        </p:txBody>
      </p:sp>
      <p:sp>
        <p:nvSpPr>
          <p:cNvPr id="9" name="標題 1">
            <a:extLst>
              <a:ext uri="{FF2B5EF4-FFF2-40B4-BE49-F238E27FC236}">
                <a16:creationId xmlns:a16="http://schemas.microsoft.com/office/drawing/2014/main" id="{475DFFF1-7C37-4CBE-ACFC-3F348BCD20CC}"/>
              </a:ext>
            </a:extLst>
          </p:cNvPr>
          <p:cNvSpPr txBox="1">
            <a:spLocks/>
          </p:cNvSpPr>
          <p:nvPr/>
        </p:nvSpPr>
        <p:spPr>
          <a:xfrm>
            <a:off x="1407445" y="393820"/>
            <a:ext cx="3643527" cy="874595"/>
          </a:xfrm>
          <a:prstGeom prst="rect">
            <a:avLst/>
          </a:prstGeom>
        </p:spPr>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altLang="zh-TW" sz="2400" b="1" dirty="0">
                <a:solidFill>
                  <a:srgbClr val="E06741"/>
                </a:solidFill>
              </a:rPr>
              <a:t>2-3 </a:t>
            </a:r>
            <a:r>
              <a:rPr lang="zh-TW" altLang="en-US" sz="2400" b="1" dirty="0">
                <a:solidFill>
                  <a:srgbClr val="E06741"/>
                </a:solidFill>
              </a:rPr>
              <a:t>區塊鏈技術安全特性</a:t>
            </a:r>
          </a:p>
          <a:p>
            <a:endParaRPr lang="zh-TW" altLang="en-US" sz="2400" dirty="0">
              <a:solidFill>
                <a:srgbClr val="E06741"/>
              </a:solidFill>
              <a:latin typeface="標楷體" panose="03000509000000000000" pitchFamily="65" charset="-120"/>
              <a:ea typeface="標楷體" panose="03000509000000000000" pitchFamily="65" charset="-120"/>
              <a:cs typeface="Times New Roman" panose="02020603050405020304" pitchFamily="18" charset="0"/>
            </a:endParaRPr>
          </a:p>
        </p:txBody>
      </p:sp>
      <p:cxnSp>
        <p:nvCxnSpPr>
          <p:cNvPr id="26" name="直接连接符 33">
            <a:extLst>
              <a:ext uri="{FF2B5EF4-FFF2-40B4-BE49-F238E27FC236}">
                <a16:creationId xmlns:a16="http://schemas.microsoft.com/office/drawing/2014/main" id="{C3725E45-5458-4931-9D9A-B8C15AE6AC41}"/>
              </a:ext>
            </a:extLst>
          </p:cNvPr>
          <p:cNvCxnSpPr>
            <a:cxnSpLocks/>
          </p:cNvCxnSpPr>
          <p:nvPr/>
        </p:nvCxnSpPr>
        <p:spPr>
          <a:xfrm>
            <a:off x="1334185" y="1102164"/>
            <a:ext cx="10081960" cy="0"/>
          </a:xfrm>
          <a:prstGeom prst="line">
            <a:avLst/>
          </a:prstGeom>
          <a:ln w="190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12" name="文字方塊 11">
            <a:extLst>
              <a:ext uri="{FF2B5EF4-FFF2-40B4-BE49-F238E27FC236}">
                <a16:creationId xmlns:a16="http://schemas.microsoft.com/office/drawing/2014/main" id="{9FE02F65-A32E-4124-B1E6-8E45750976E4}"/>
              </a:ext>
            </a:extLst>
          </p:cNvPr>
          <p:cNvSpPr txBox="1"/>
          <p:nvPr/>
        </p:nvSpPr>
        <p:spPr>
          <a:xfrm>
            <a:off x="4949058" y="449166"/>
            <a:ext cx="3332964" cy="400110"/>
          </a:xfrm>
          <a:prstGeom prst="rect">
            <a:avLst/>
          </a:prstGeom>
          <a:noFill/>
        </p:spPr>
        <p:txBody>
          <a:bodyPr wrap="none" rtlCol="0">
            <a:spAutoFit/>
          </a:bodyPr>
          <a:lstStyle/>
          <a:p>
            <a:r>
              <a:rPr lang="en-US" altLang="zh-TW" sz="2000" b="1" dirty="0">
                <a:solidFill>
                  <a:schemeClr val="tx1">
                    <a:lumMod val="65000"/>
                    <a:lumOff val="35000"/>
                  </a:schemeClr>
                </a:solidFill>
                <a:latin typeface="微軟正黑體" panose="020B0604030504040204" pitchFamily="34" charset="-120"/>
                <a:ea typeface="微軟正黑體" panose="020B0604030504040204" pitchFamily="34" charset="-120"/>
                <a:cs typeface="Times New Roman" panose="02020603050405020304" pitchFamily="18" charset="0"/>
              </a:rPr>
              <a:t>-2 </a:t>
            </a:r>
            <a:r>
              <a:rPr lang="zh-TW" altLang="en-US" sz="2000" b="1" dirty="0">
                <a:solidFill>
                  <a:schemeClr val="tx1">
                    <a:lumMod val="65000"/>
                    <a:lumOff val="35000"/>
                  </a:schemeClr>
                </a:solidFill>
                <a:latin typeface="微軟正黑體" panose="020B0604030504040204" pitchFamily="34" charset="-120"/>
                <a:ea typeface="微軟正黑體" panose="020B0604030504040204" pitchFamily="34" charset="-120"/>
                <a:cs typeface="Times New Roman" panose="02020603050405020304" pitchFamily="18" charset="0"/>
              </a:rPr>
              <a:t>區塊鏈技術安全因應策略</a:t>
            </a:r>
          </a:p>
        </p:txBody>
      </p:sp>
      <p:graphicFrame>
        <p:nvGraphicFramePr>
          <p:cNvPr id="3" name="資料庫圖表 2">
            <a:extLst>
              <a:ext uri="{FF2B5EF4-FFF2-40B4-BE49-F238E27FC236}">
                <a16:creationId xmlns:a16="http://schemas.microsoft.com/office/drawing/2014/main" id="{8DE8628A-DF22-4B08-825F-9EE6B43CC8C2}"/>
              </a:ext>
            </a:extLst>
          </p:cNvPr>
          <p:cNvGraphicFramePr/>
          <p:nvPr>
            <p:extLst>
              <p:ext uri="{D42A27DB-BD31-4B8C-83A1-F6EECF244321}">
                <p14:modId xmlns:p14="http://schemas.microsoft.com/office/powerpoint/2010/main" val="683220119"/>
              </p:ext>
            </p:extLst>
          </p:nvPr>
        </p:nvGraphicFramePr>
        <p:xfrm>
          <a:off x="1788336" y="1349697"/>
          <a:ext cx="8977746" cy="5165411"/>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cxnSp>
        <p:nvCxnSpPr>
          <p:cNvPr id="4" name="直線接點 3">
            <a:extLst>
              <a:ext uri="{FF2B5EF4-FFF2-40B4-BE49-F238E27FC236}">
                <a16:creationId xmlns:a16="http://schemas.microsoft.com/office/drawing/2014/main" id="{71C47DCB-464C-4F2E-A41F-BDDC265E0E35}"/>
              </a:ext>
            </a:extLst>
          </p:cNvPr>
          <p:cNvCxnSpPr>
            <a:cxnSpLocks/>
            <a:endCxn id="3" idx="3"/>
          </p:cNvCxnSpPr>
          <p:nvPr/>
        </p:nvCxnSpPr>
        <p:spPr>
          <a:xfrm>
            <a:off x="10766082" y="1349697"/>
            <a:ext cx="0" cy="2582705"/>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11" name="直線接點 10">
            <a:extLst>
              <a:ext uri="{FF2B5EF4-FFF2-40B4-BE49-F238E27FC236}">
                <a16:creationId xmlns:a16="http://schemas.microsoft.com/office/drawing/2014/main" id="{CE19D88B-8A79-49EA-B5C4-1A7E1BFFD00A}"/>
              </a:ext>
            </a:extLst>
          </p:cNvPr>
          <p:cNvCxnSpPr>
            <a:cxnSpLocks/>
          </p:cNvCxnSpPr>
          <p:nvPr/>
        </p:nvCxnSpPr>
        <p:spPr>
          <a:xfrm>
            <a:off x="10767182" y="3932403"/>
            <a:ext cx="0" cy="2477633"/>
          </a:xfrm>
          <a:prstGeom prst="line">
            <a:avLst/>
          </a:prstGeom>
          <a:ln>
            <a:solidFill>
              <a:srgbClr val="05AF99"/>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054711211"/>
      </p:ext>
    </p:extLst>
  </p:cSld>
  <p:clrMapOvr>
    <a:masterClrMapping/>
  </p:clrMapOvr>
  <mc:AlternateContent xmlns:mc="http://schemas.openxmlformats.org/markup-compatibility/2006">
    <mc:Choice xmlns:p14="http://schemas.microsoft.com/office/powerpoint/2010/main" Requires="p14">
      <p:transition spd="slow" p14:dur="1600">
        <p14:conveyor dir="l"/>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6" presetClass="entr" presetSubtype="16" fill="hold" grpId="0" nodeType="after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circle(in)">
                                      <p:cBhvr>
                                        <p:cTn id="7" dur="2000"/>
                                        <p:tgtEl>
                                          <p:spTgt spid="9"/>
                                        </p:tgtEl>
                                      </p:cBhvr>
                                    </p:animEffect>
                                  </p:childTnLst>
                                </p:cTn>
                              </p:par>
                            </p:childTnLst>
                          </p:cTn>
                        </p:par>
                        <p:par>
                          <p:cTn id="8" fill="hold">
                            <p:stCondLst>
                              <p:cond delay="2000"/>
                            </p:stCondLst>
                            <p:childTnLst>
                              <p:par>
                                <p:cTn id="9" presetID="14" presetClass="entr" presetSubtype="10" fill="hold" grpId="0" nodeType="afterEffect">
                                  <p:stCondLst>
                                    <p:cond delay="0"/>
                                  </p:stCondLst>
                                  <p:childTnLst>
                                    <p:set>
                                      <p:cBhvr>
                                        <p:cTn id="10" dur="1" fill="hold">
                                          <p:stCondLst>
                                            <p:cond delay="0"/>
                                          </p:stCondLst>
                                        </p:cTn>
                                        <p:tgtEl>
                                          <p:spTgt spid="12"/>
                                        </p:tgtEl>
                                        <p:attrNameLst>
                                          <p:attrName>style.visibility</p:attrName>
                                        </p:attrNameLst>
                                      </p:cBhvr>
                                      <p:to>
                                        <p:strVal val="visible"/>
                                      </p:to>
                                    </p:set>
                                    <p:animEffect transition="in" filter="randombar(horizontal)">
                                      <p:cBhvr>
                                        <p:cTn id="11" dur="500"/>
                                        <p:tgtEl>
                                          <p:spTgt spid="12"/>
                                        </p:tgtEl>
                                      </p:cBhvr>
                                    </p:animEffect>
                                  </p:childTnLst>
                                </p:cTn>
                              </p:par>
                            </p:childTnLst>
                          </p:cTn>
                        </p:par>
                        <p:par>
                          <p:cTn id="12" fill="hold">
                            <p:stCondLst>
                              <p:cond delay="2500"/>
                            </p:stCondLst>
                            <p:childTnLst>
                              <p:par>
                                <p:cTn id="13" presetID="2" presetClass="entr" presetSubtype="8" fill="hold" nodeType="afterEffect">
                                  <p:stCondLst>
                                    <p:cond delay="0"/>
                                  </p:stCondLst>
                                  <p:childTnLst>
                                    <p:set>
                                      <p:cBhvr>
                                        <p:cTn id="14" dur="1" fill="hold">
                                          <p:stCondLst>
                                            <p:cond delay="0"/>
                                          </p:stCondLst>
                                        </p:cTn>
                                        <p:tgtEl>
                                          <p:spTgt spid="26"/>
                                        </p:tgtEl>
                                        <p:attrNameLst>
                                          <p:attrName>style.visibility</p:attrName>
                                        </p:attrNameLst>
                                      </p:cBhvr>
                                      <p:to>
                                        <p:strVal val="visible"/>
                                      </p:to>
                                    </p:set>
                                    <p:anim calcmode="lin" valueType="num">
                                      <p:cBhvr additive="base">
                                        <p:cTn id="15" dur="500" fill="hold"/>
                                        <p:tgtEl>
                                          <p:spTgt spid="26"/>
                                        </p:tgtEl>
                                        <p:attrNameLst>
                                          <p:attrName>ppt_x</p:attrName>
                                        </p:attrNameLst>
                                      </p:cBhvr>
                                      <p:tavLst>
                                        <p:tav tm="0">
                                          <p:val>
                                            <p:strVal val="0-#ppt_w/2"/>
                                          </p:val>
                                        </p:tav>
                                        <p:tav tm="100000">
                                          <p:val>
                                            <p:strVal val="#ppt_x"/>
                                          </p:val>
                                        </p:tav>
                                      </p:tavLst>
                                    </p:anim>
                                    <p:anim calcmode="lin" valueType="num">
                                      <p:cBhvr additive="base">
                                        <p:cTn id="16" dur="500" fill="hold"/>
                                        <p:tgtEl>
                                          <p:spTgt spid="26"/>
                                        </p:tgtEl>
                                        <p:attrNameLst>
                                          <p:attrName>ppt_y</p:attrName>
                                        </p:attrNameLst>
                                      </p:cBhvr>
                                      <p:tavLst>
                                        <p:tav tm="0">
                                          <p:val>
                                            <p:strVal val="#ppt_y"/>
                                          </p:val>
                                        </p:tav>
                                        <p:tav tm="100000">
                                          <p:val>
                                            <p:strVal val="#ppt_y"/>
                                          </p:val>
                                        </p:tav>
                                      </p:tavLst>
                                    </p:anim>
                                  </p:childTnLst>
                                </p:cTn>
                              </p:par>
                            </p:childTnLst>
                          </p:cTn>
                        </p:par>
                        <p:par>
                          <p:cTn id="17" fill="hold">
                            <p:stCondLst>
                              <p:cond delay="3000"/>
                            </p:stCondLst>
                            <p:childTnLst>
                              <p:par>
                                <p:cTn id="18" presetID="16" presetClass="entr" presetSubtype="21" fill="hold" grpId="0" nodeType="afterEffect">
                                  <p:stCondLst>
                                    <p:cond delay="0"/>
                                  </p:stCondLst>
                                  <p:childTnLst>
                                    <p:set>
                                      <p:cBhvr>
                                        <p:cTn id="19" dur="1" fill="hold">
                                          <p:stCondLst>
                                            <p:cond delay="0"/>
                                          </p:stCondLst>
                                        </p:cTn>
                                        <p:tgtEl>
                                          <p:spTgt spid="3"/>
                                        </p:tgtEl>
                                        <p:attrNameLst>
                                          <p:attrName>style.visibility</p:attrName>
                                        </p:attrNameLst>
                                      </p:cBhvr>
                                      <p:to>
                                        <p:strVal val="visible"/>
                                      </p:to>
                                    </p:set>
                                    <p:animEffect transition="in" filter="barn(inVertical)">
                                      <p:cBhvr>
                                        <p:cTn id="20"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2" grpId="0"/>
      <p:bldGraphic spid="3" grpId="0">
        <p:bldAsOne/>
      </p:bldGraphic>
    </p:bld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图片 42">
            <a:extLst>
              <a:ext uri="{FF2B5EF4-FFF2-40B4-BE49-F238E27FC236}">
                <a16:creationId xmlns:a16="http://schemas.microsoft.com/office/drawing/2014/main" id="{C8D97DA4-6242-4E73-AEFC-457D04FDC65B}"/>
              </a:ext>
            </a:extLst>
          </p:cNvPr>
          <p:cNvPicPr>
            <a:picLocks noChangeAspect="1"/>
          </p:cNvPicPr>
          <p:nvPr/>
        </p:nvPicPr>
        <p:blipFill>
          <a:blip r:embed="rId3"/>
          <a:stretch>
            <a:fillRect/>
          </a:stretch>
        </p:blipFill>
        <p:spPr>
          <a:xfrm rot="16200000">
            <a:off x="145169" y="-145167"/>
            <a:ext cx="1268414" cy="1558750"/>
          </a:xfrm>
          <a:prstGeom prst="rect">
            <a:avLst/>
          </a:prstGeom>
        </p:spPr>
      </p:pic>
      <p:sp>
        <p:nvSpPr>
          <p:cNvPr id="6" name="文字方塊 5">
            <a:extLst>
              <a:ext uri="{FF2B5EF4-FFF2-40B4-BE49-F238E27FC236}">
                <a16:creationId xmlns:a16="http://schemas.microsoft.com/office/drawing/2014/main" id="{8A30B01A-3198-4955-A208-0E3D9EB60397}"/>
              </a:ext>
            </a:extLst>
          </p:cNvPr>
          <p:cNvSpPr txBox="1"/>
          <p:nvPr/>
        </p:nvSpPr>
        <p:spPr>
          <a:xfrm>
            <a:off x="1558751" y="6596390"/>
            <a:ext cx="4217821" cy="261610"/>
          </a:xfrm>
          <a:prstGeom prst="rect">
            <a:avLst/>
          </a:prstGeom>
          <a:noFill/>
        </p:spPr>
        <p:txBody>
          <a:bodyPr wrap="none" rtlCol="0">
            <a:spAutoFit/>
          </a:bodyPr>
          <a:lstStyle/>
          <a:p>
            <a:r>
              <a:rPr lang="zh-TW" altLang="en-US" sz="1100" dirty="0">
                <a:latin typeface="Microsoft JhengHei Light" panose="020B0304030504040204" pitchFamily="34" charset="-120"/>
                <a:ea typeface="Microsoft JhengHei Light" panose="020B0304030504040204" pitchFamily="34" charset="-120"/>
              </a:rPr>
              <a:t>區塊鏈商業應用概論 實例與分析／新陸書局股份有限公司 發行</a:t>
            </a:r>
          </a:p>
        </p:txBody>
      </p:sp>
      <p:sp>
        <p:nvSpPr>
          <p:cNvPr id="9" name="標題 1">
            <a:extLst>
              <a:ext uri="{FF2B5EF4-FFF2-40B4-BE49-F238E27FC236}">
                <a16:creationId xmlns:a16="http://schemas.microsoft.com/office/drawing/2014/main" id="{475DFFF1-7C37-4CBE-ACFC-3F348BCD20CC}"/>
              </a:ext>
            </a:extLst>
          </p:cNvPr>
          <p:cNvSpPr txBox="1">
            <a:spLocks/>
          </p:cNvSpPr>
          <p:nvPr/>
        </p:nvSpPr>
        <p:spPr>
          <a:xfrm>
            <a:off x="1407445" y="393820"/>
            <a:ext cx="3643527" cy="874595"/>
          </a:xfrm>
          <a:prstGeom prst="rect">
            <a:avLst/>
          </a:prstGeom>
        </p:spPr>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altLang="zh-TW" sz="2400" b="1" dirty="0">
                <a:solidFill>
                  <a:srgbClr val="E06741"/>
                </a:solidFill>
              </a:rPr>
              <a:t>2-3 </a:t>
            </a:r>
            <a:r>
              <a:rPr lang="zh-TW" altLang="en-US" sz="2400" b="1" dirty="0">
                <a:solidFill>
                  <a:srgbClr val="E06741"/>
                </a:solidFill>
              </a:rPr>
              <a:t>區塊鏈技術安全特性</a:t>
            </a:r>
          </a:p>
          <a:p>
            <a:endParaRPr lang="zh-TW" altLang="en-US" sz="2400" dirty="0">
              <a:solidFill>
                <a:srgbClr val="E06741"/>
              </a:solidFill>
              <a:latin typeface="標楷體" panose="03000509000000000000" pitchFamily="65" charset="-120"/>
              <a:ea typeface="標楷體" panose="03000509000000000000" pitchFamily="65" charset="-120"/>
              <a:cs typeface="Times New Roman" panose="02020603050405020304" pitchFamily="18" charset="0"/>
            </a:endParaRPr>
          </a:p>
        </p:txBody>
      </p:sp>
      <p:cxnSp>
        <p:nvCxnSpPr>
          <p:cNvPr id="26" name="直接连接符 33">
            <a:extLst>
              <a:ext uri="{FF2B5EF4-FFF2-40B4-BE49-F238E27FC236}">
                <a16:creationId xmlns:a16="http://schemas.microsoft.com/office/drawing/2014/main" id="{C3725E45-5458-4931-9D9A-B8C15AE6AC41}"/>
              </a:ext>
            </a:extLst>
          </p:cNvPr>
          <p:cNvCxnSpPr>
            <a:cxnSpLocks/>
          </p:cNvCxnSpPr>
          <p:nvPr/>
        </p:nvCxnSpPr>
        <p:spPr>
          <a:xfrm>
            <a:off x="1334185" y="1102164"/>
            <a:ext cx="10081960" cy="0"/>
          </a:xfrm>
          <a:prstGeom prst="line">
            <a:avLst/>
          </a:prstGeom>
          <a:ln w="190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12" name="文字方塊 11">
            <a:extLst>
              <a:ext uri="{FF2B5EF4-FFF2-40B4-BE49-F238E27FC236}">
                <a16:creationId xmlns:a16="http://schemas.microsoft.com/office/drawing/2014/main" id="{9FE02F65-A32E-4124-B1E6-8E45750976E4}"/>
              </a:ext>
            </a:extLst>
          </p:cNvPr>
          <p:cNvSpPr txBox="1"/>
          <p:nvPr/>
        </p:nvSpPr>
        <p:spPr>
          <a:xfrm>
            <a:off x="4949058" y="449166"/>
            <a:ext cx="3332964" cy="400110"/>
          </a:xfrm>
          <a:prstGeom prst="rect">
            <a:avLst/>
          </a:prstGeom>
          <a:noFill/>
        </p:spPr>
        <p:txBody>
          <a:bodyPr wrap="none" rtlCol="0">
            <a:spAutoFit/>
          </a:bodyPr>
          <a:lstStyle/>
          <a:p>
            <a:r>
              <a:rPr lang="en-US" altLang="zh-TW" sz="2000" b="1" dirty="0">
                <a:solidFill>
                  <a:schemeClr val="tx1">
                    <a:lumMod val="65000"/>
                    <a:lumOff val="35000"/>
                  </a:schemeClr>
                </a:solidFill>
                <a:latin typeface="微軟正黑體" panose="020B0604030504040204" pitchFamily="34" charset="-120"/>
                <a:ea typeface="微軟正黑體" panose="020B0604030504040204" pitchFamily="34" charset="-120"/>
                <a:cs typeface="Times New Roman" panose="02020603050405020304" pitchFamily="18" charset="0"/>
              </a:rPr>
              <a:t>-2 </a:t>
            </a:r>
            <a:r>
              <a:rPr lang="zh-TW" altLang="en-US" sz="2000" b="1" dirty="0">
                <a:solidFill>
                  <a:schemeClr val="tx1">
                    <a:lumMod val="65000"/>
                    <a:lumOff val="35000"/>
                  </a:schemeClr>
                </a:solidFill>
                <a:latin typeface="微軟正黑體" panose="020B0604030504040204" pitchFamily="34" charset="-120"/>
                <a:ea typeface="微軟正黑體" panose="020B0604030504040204" pitchFamily="34" charset="-120"/>
                <a:cs typeface="Times New Roman" panose="02020603050405020304" pitchFamily="18" charset="0"/>
              </a:rPr>
              <a:t>區塊鏈技術安全因應策略</a:t>
            </a:r>
          </a:p>
        </p:txBody>
      </p:sp>
      <p:graphicFrame>
        <p:nvGraphicFramePr>
          <p:cNvPr id="3" name="資料庫圖表 2">
            <a:extLst>
              <a:ext uri="{FF2B5EF4-FFF2-40B4-BE49-F238E27FC236}">
                <a16:creationId xmlns:a16="http://schemas.microsoft.com/office/drawing/2014/main" id="{8DE8628A-DF22-4B08-825F-9EE6B43CC8C2}"/>
              </a:ext>
            </a:extLst>
          </p:cNvPr>
          <p:cNvGraphicFramePr/>
          <p:nvPr>
            <p:extLst>
              <p:ext uri="{D42A27DB-BD31-4B8C-83A1-F6EECF244321}">
                <p14:modId xmlns:p14="http://schemas.microsoft.com/office/powerpoint/2010/main" val="4287245426"/>
              </p:ext>
            </p:extLst>
          </p:nvPr>
        </p:nvGraphicFramePr>
        <p:xfrm>
          <a:off x="1797573" y="1662235"/>
          <a:ext cx="8962791" cy="4093600"/>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extLst>
      <p:ext uri="{BB962C8B-B14F-4D97-AF65-F5344CB8AC3E}">
        <p14:creationId xmlns:p14="http://schemas.microsoft.com/office/powerpoint/2010/main" val="2704180360"/>
      </p:ext>
    </p:extLst>
  </p:cSld>
  <p:clrMapOvr>
    <a:masterClrMapping/>
  </p:clrMapOvr>
  <mc:AlternateContent xmlns:mc="http://schemas.openxmlformats.org/markup-compatibility/2006">
    <mc:Choice xmlns:p14="http://schemas.microsoft.com/office/powerpoint/2010/main" Requires="p14">
      <p:transition spd="slow" p14:dur="1500">
        <p:split orient="vert"/>
      </p:transition>
    </mc:Choice>
    <mc:Fallback>
      <p:transition spd="slow">
        <p:split orient="vert"/>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6" presetClass="entr" presetSubtype="16" fill="hold" grpId="0" nodeType="after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circle(in)">
                                      <p:cBhvr>
                                        <p:cTn id="7" dur="2000"/>
                                        <p:tgtEl>
                                          <p:spTgt spid="9"/>
                                        </p:tgtEl>
                                      </p:cBhvr>
                                    </p:animEffect>
                                  </p:childTnLst>
                                </p:cTn>
                              </p:par>
                            </p:childTnLst>
                          </p:cTn>
                        </p:par>
                        <p:par>
                          <p:cTn id="8" fill="hold">
                            <p:stCondLst>
                              <p:cond delay="2000"/>
                            </p:stCondLst>
                            <p:childTnLst>
                              <p:par>
                                <p:cTn id="9" presetID="14" presetClass="entr" presetSubtype="10" fill="hold" grpId="0" nodeType="afterEffect">
                                  <p:stCondLst>
                                    <p:cond delay="0"/>
                                  </p:stCondLst>
                                  <p:childTnLst>
                                    <p:set>
                                      <p:cBhvr>
                                        <p:cTn id="10" dur="1" fill="hold">
                                          <p:stCondLst>
                                            <p:cond delay="0"/>
                                          </p:stCondLst>
                                        </p:cTn>
                                        <p:tgtEl>
                                          <p:spTgt spid="12"/>
                                        </p:tgtEl>
                                        <p:attrNameLst>
                                          <p:attrName>style.visibility</p:attrName>
                                        </p:attrNameLst>
                                      </p:cBhvr>
                                      <p:to>
                                        <p:strVal val="visible"/>
                                      </p:to>
                                    </p:set>
                                    <p:animEffect transition="in" filter="randombar(horizontal)">
                                      <p:cBhvr>
                                        <p:cTn id="11" dur="500"/>
                                        <p:tgtEl>
                                          <p:spTgt spid="12"/>
                                        </p:tgtEl>
                                      </p:cBhvr>
                                    </p:animEffect>
                                  </p:childTnLst>
                                </p:cTn>
                              </p:par>
                            </p:childTnLst>
                          </p:cTn>
                        </p:par>
                        <p:par>
                          <p:cTn id="12" fill="hold">
                            <p:stCondLst>
                              <p:cond delay="2500"/>
                            </p:stCondLst>
                            <p:childTnLst>
                              <p:par>
                                <p:cTn id="13" presetID="2" presetClass="entr" presetSubtype="8" fill="hold" nodeType="afterEffect">
                                  <p:stCondLst>
                                    <p:cond delay="0"/>
                                  </p:stCondLst>
                                  <p:childTnLst>
                                    <p:set>
                                      <p:cBhvr>
                                        <p:cTn id="14" dur="1" fill="hold">
                                          <p:stCondLst>
                                            <p:cond delay="0"/>
                                          </p:stCondLst>
                                        </p:cTn>
                                        <p:tgtEl>
                                          <p:spTgt spid="26"/>
                                        </p:tgtEl>
                                        <p:attrNameLst>
                                          <p:attrName>style.visibility</p:attrName>
                                        </p:attrNameLst>
                                      </p:cBhvr>
                                      <p:to>
                                        <p:strVal val="visible"/>
                                      </p:to>
                                    </p:set>
                                    <p:anim calcmode="lin" valueType="num">
                                      <p:cBhvr additive="base">
                                        <p:cTn id="15" dur="500" fill="hold"/>
                                        <p:tgtEl>
                                          <p:spTgt spid="26"/>
                                        </p:tgtEl>
                                        <p:attrNameLst>
                                          <p:attrName>ppt_x</p:attrName>
                                        </p:attrNameLst>
                                      </p:cBhvr>
                                      <p:tavLst>
                                        <p:tav tm="0">
                                          <p:val>
                                            <p:strVal val="0-#ppt_w/2"/>
                                          </p:val>
                                        </p:tav>
                                        <p:tav tm="100000">
                                          <p:val>
                                            <p:strVal val="#ppt_x"/>
                                          </p:val>
                                        </p:tav>
                                      </p:tavLst>
                                    </p:anim>
                                    <p:anim calcmode="lin" valueType="num">
                                      <p:cBhvr additive="base">
                                        <p:cTn id="16" dur="500" fill="hold"/>
                                        <p:tgtEl>
                                          <p:spTgt spid="26"/>
                                        </p:tgtEl>
                                        <p:attrNameLst>
                                          <p:attrName>ppt_y</p:attrName>
                                        </p:attrNameLst>
                                      </p:cBhvr>
                                      <p:tavLst>
                                        <p:tav tm="0">
                                          <p:val>
                                            <p:strVal val="#ppt_y"/>
                                          </p:val>
                                        </p:tav>
                                        <p:tav tm="100000">
                                          <p:val>
                                            <p:strVal val="#ppt_y"/>
                                          </p:val>
                                        </p:tav>
                                      </p:tavLst>
                                    </p:anim>
                                  </p:childTnLst>
                                </p:cTn>
                              </p:par>
                            </p:childTnLst>
                          </p:cTn>
                        </p:par>
                        <p:par>
                          <p:cTn id="17" fill="hold">
                            <p:stCondLst>
                              <p:cond delay="3000"/>
                            </p:stCondLst>
                            <p:childTnLst>
                              <p:par>
                                <p:cTn id="18" presetID="22" presetClass="entr" presetSubtype="4" fill="hold" grpId="0" nodeType="afterEffect">
                                  <p:stCondLst>
                                    <p:cond delay="0"/>
                                  </p:stCondLst>
                                  <p:childTnLst>
                                    <p:set>
                                      <p:cBhvr>
                                        <p:cTn id="19" dur="1" fill="hold">
                                          <p:stCondLst>
                                            <p:cond delay="0"/>
                                          </p:stCondLst>
                                        </p:cTn>
                                        <p:tgtEl>
                                          <p:spTgt spid="3"/>
                                        </p:tgtEl>
                                        <p:attrNameLst>
                                          <p:attrName>style.visibility</p:attrName>
                                        </p:attrNameLst>
                                      </p:cBhvr>
                                      <p:to>
                                        <p:strVal val="visible"/>
                                      </p:to>
                                    </p:set>
                                    <p:animEffect transition="in" filter="wipe(down)">
                                      <p:cBhvr>
                                        <p:cTn id="20"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2" grpId="0"/>
      <p:bldGraphic spid="3" grpId="0">
        <p:bldAsOne/>
      </p:bldGraphic>
    </p:bld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图片 42">
            <a:extLst>
              <a:ext uri="{FF2B5EF4-FFF2-40B4-BE49-F238E27FC236}">
                <a16:creationId xmlns:a16="http://schemas.microsoft.com/office/drawing/2014/main" id="{C8D97DA4-6242-4E73-AEFC-457D04FDC65B}"/>
              </a:ext>
            </a:extLst>
          </p:cNvPr>
          <p:cNvPicPr>
            <a:picLocks noChangeAspect="1"/>
          </p:cNvPicPr>
          <p:nvPr/>
        </p:nvPicPr>
        <p:blipFill>
          <a:blip r:embed="rId3"/>
          <a:stretch>
            <a:fillRect/>
          </a:stretch>
        </p:blipFill>
        <p:spPr>
          <a:xfrm rot="16200000">
            <a:off x="145169" y="-145167"/>
            <a:ext cx="1268414" cy="1558750"/>
          </a:xfrm>
          <a:prstGeom prst="rect">
            <a:avLst/>
          </a:prstGeom>
        </p:spPr>
      </p:pic>
      <p:sp>
        <p:nvSpPr>
          <p:cNvPr id="6" name="文字方塊 5">
            <a:extLst>
              <a:ext uri="{FF2B5EF4-FFF2-40B4-BE49-F238E27FC236}">
                <a16:creationId xmlns:a16="http://schemas.microsoft.com/office/drawing/2014/main" id="{8A30B01A-3198-4955-A208-0E3D9EB60397}"/>
              </a:ext>
            </a:extLst>
          </p:cNvPr>
          <p:cNvSpPr txBox="1"/>
          <p:nvPr/>
        </p:nvSpPr>
        <p:spPr>
          <a:xfrm>
            <a:off x="1558751" y="6596390"/>
            <a:ext cx="4217821" cy="261610"/>
          </a:xfrm>
          <a:prstGeom prst="rect">
            <a:avLst/>
          </a:prstGeom>
          <a:noFill/>
        </p:spPr>
        <p:txBody>
          <a:bodyPr wrap="none" rtlCol="0">
            <a:spAutoFit/>
          </a:bodyPr>
          <a:lstStyle/>
          <a:p>
            <a:r>
              <a:rPr lang="zh-TW" altLang="en-US" sz="1100" dirty="0">
                <a:latin typeface="Microsoft JhengHei Light" panose="020B0304030504040204" pitchFamily="34" charset="-120"/>
                <a:ea typeface="Microsoft JhengHei Light" panose="020B0304030504040204" pitchFamily="34" charset="-120"/>
              </a:rPr>
              <a:t>區塊鏈商業應用概論 實例與分析／新陸書局股份有限公司 發行</a:t>
            </a:r>
          </a:p>
        </p:txBody>
      </p:sp>
      <p:sp>
        <p:nvSpPr>
          <p:cNvPr id="9" name="標題 1">
            <a:extLst>
              <a:ext uri="{FF2B5EF4-FFF2-40B4-BE49-F238E27FC236}">
                <a16:creationId xmlns:a16="http://schemas.microsoft.com/office/drawing/2014/main" id="{475DFFF1-7C37-4CBE-ACFC-3F348BCD20CC}"/>
              </a:ext>
            </a:extLst>
          </p:cNvPr>
          <p:cNvSpPr txBox="1">
            <a:spLocks/>
          </p:cNvSpPr>
          <p:nvPr/>
        </p:nvSpPr>
        <p:spPr>
          <a:xfrm>
            <a:off x="1407445" y="393820"/>
            <a:ext cx="3643527" cy="874595"/>
          </a:xfrm>
          <a:prstGeom prst="rect">
            <a:avLst/>
          </a:prstGeom>
        </p:spPr>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altLang="zh-TW" sz="2400" b="1" dirty="0">
                <a:solidFill>
                  <a:srgbClr val="E06741"/>
                </a:solidFill>
              </a:rPr>
              <a:t>2-3 </a:t>
            </a:r>
            <a:r>
              <a:rPr lang="zh-TW" altLang="en-US" sz="2400" b="1" dirty="0">
                <a:solidFill>
                  <a:srgbClr val="E06741"/>
                </a:solidFill>
              </a:rPr>
              <a:t>區塊鏈技術安全特性</a:t>
            </a:r>
          </a:p>
          <a:p>
            <a:endParaRPr lang="zh-TW" altLang="en-US" sz="2400" dirty="0">
              <a:solidFill>
                <a:srgbClr val="E06741"/>
              </a:solidFill>
              <a:latin typeface="標楷體" panose="03000509000000000000" pitchFamily="65" charset="-120"/>
              <a:ea typeface="標楷體" panose="03000509000000000000" pitchFamily="65" charset="-120"/>
              <a:cs typeface="Times New Roman" panose="02020603050405020304" pitchFamily="18" charset="0"/>
            </a:endParaRPr>
          </a:p>
        </p:txBody>
      </p:sp>
      <p:cxnSp>
        <p:nvCxnSpPr>
          <p:cNvPr id="26" name="直接连接符 33">
            <a:extLst>
              <a:ext uri="{FF2B5EF4-FFF2-40B4-BE49-F238E27FC236}">
                <a16:creationId xmlns:a16="http://schemas.microsoft.com/office/drawing/2014/main" id="{C3725E45-5458-4931-9D9A-B8C15AE6AC41}"/>
              </a:ext>
            </a:extLst>
          </p:cNvPr>
          <p:cNvCxnSpPr>
            <a:cxnSpLocks/>
          </p:cNvCxnSpPr>
          <p:nvPr/>
        </p:nvCxnSpPr>
        <p:spPr>
          <a:xfrm>
            <a:off x="1334185" y="1102164"/>
            <a:ext cx="10081960" cy="0"/>
          </a:xfrm>
          <a:prstGeom prst="line">
            <a:avLst/>
          </a:prstGeom>
          <a:ln w="190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12" name="文字方塊 11">
            <a:extLst>
              <a:ext uri="{FF2B5EF4-FFF2-40B4-BE49-F238E27FC236}">
                <a16:creationId xmlns:a16="http://schemas.microsoft.com/office/drawing/2014/main" id="{9FE02F65-A32E-4124-B1E6-8E45750976E4}"/>
              </a:ext>
            </a:extLst>
          </p:cNvPr>
          <p:cNvSpPr txBox="1"/>
          <p:nvPr/>
        </p:nvSpPr>
        <p:spPr>
          <a:xfrm>
            <a:off x="4949058" y="449166"/>
            <a:ext cx="3332964" cy="400110"/>
          </a:xfrm>
          <a:prstGeom prst="rect">
            <a:avLst/>
          </a:prstGeom>
          <a:noFill/>
        </p:spPr>
        <p:txBody>
          <a:bodyPr wrap="none" rtlCol="0">
            <a:spAutoFit/>
          </a:bodyPr>
          <a:lstStyle/>
          <a:p>
            <a:r>
              <a:rPr lang="en-US" altLang="zh-TW" sz="2000" b="1" dirty="0">
                <a:solidFill>
                  <a:schemeClr val="tx1">
                    <a:lumMod val="65000"/>
                    <a:lumOff val="35000"/>
                  </a:schemeClr>
                </a:solidFill>
                <a:latin typeface="微軟正黑體" panose="020B0604030504040204" pitchFamily="34" charset="-120"/>
                <a:ea typeface="微軟正黑體" panose="020B0604030504040204" pitchFamily="34" charset="-120"/>
                <a:cs typeface="Times New Roman" panose="02020603050405020304" pitchFamily="18" charset="0"/>
              </a:rPr>
              <a:t>-3 </a:t>
            </a:r>
            <a:r>
              <a:rPr lang="zh-TW" altLang="en-US" sz="2000" b="1" dirty="0">
                <a:solidFill>
                  <a:schemeClr val="tx1">
                    <a:lumMod val="65000"/>
                    <a:lumOff val="35000"/>
                  </a:schemeClr>
                </a:solidFill>
                <a:latin typeface="微軟正黑體" panose="020B0604030504040204" pitchFamily="34" charset="-120"/>
                <a:ea typeface="微軟正黑體" panose="020B0604030504040204" pitchFamily="34" charset="-120"/>
                <a:cs typeface="Times New Roman" panose="02020603050405020304" pitchFamily="18" charset="0"/>
              </a:rPr>
              <a:t>區塊鏈技術安全體系設計</a:t>
            </a:r>
          </a:p>
        </p:txBody>
      </p:sp>
      <p:grpSp>
        <p:nvGrpSpPr>
          <p:cNvPr id="2" name="群組 1">
            <a:extLst>
              <a:ext uri="{FF2B5EF4-FFF2-40B4-BE49-F238E27FC236}">
                <a16:creationId xmlns:a16="http://schemas.microsoft.com/office/drawing/2014/main" id="{8EA3895A-213A-4495-ACCB-07AFB6EC4799}"/>
              </a:ext>
            </a:extLst>
          </p:cNvPr>
          <p:cNvGrpSpPr/>
          <p:nvPr/>
        </p:nvGrpSpPr>
        <p:grpSpPr>
          <a:xfrm>
            <a:off x="2874203" y="1100215"/>
            <a:ext cx="6057346" cy="5485738"/>
            <a:chOff x="2338479" y="615044"/>
            <a:chExt cx="7128794" cy="6456079"/>
          </a:xfrm>
        </p:grpSpPr>
        <p:pic>
          <p:nvPicPr>
            <p:cNvPr id="11" name="圖片 10">
              <a:extLst>
                <a:ext uri="{FF2B5EF4-FFF2-40B4-BE49-F238E27FC236}">
                  <a16:creationId xmlns:a16="http://schemas.microsoft.com/office/drawing/2014/main" id="{79F141B6-4D6D-4482-895C-4ADB8743B664}"/>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338479" y="615044"/>
              <a:ext cx="7128794" cy="6449459"/>
            </a:xfrm>
            <a:prstGeom prst="rect">
              <a:avLst/>
            </a:prstGeom>
          </p:spPr>
        </p:pic>
        <p:grpSp>
          <p:nvGrpSpPr>
            <p:cNvPr id="13" name="群組 12">
              <a:extLst>
                <a:ext uri="{FF2B5EF4-FFF2-40B4-BE49-F238E27FC236}">
                  <a16:creationId xmlns:a16="http://schemas.microsoft.com/office/drawing/2014/main" id="{F97275B7-9869-44FB-8FCC-2B1FABA55617}"/>
                </a:ext>
              </a:extLst>
            </p:cNvPr>
            <p:cNvGrpSpPr/>
            <p:nvPr/>
          </p:nvGrpSpPr>
          <p:grpSpPr>
            <a:xfrm>
              <a:off x="4364234" y="2393535"/>
              <a:ext cx="3088517" cy="2921950"/>
              <a:chOff x="2423590" y="2852936"/>
              <a:chExt cx="2143125" cy="2143125"/>
            </a:xfrm>
          </p:grpSpPr>
          <p:pic>
            <p:nvPicPr>
              <p:cNvPr id="14" name="圖片 13">
                <a:extLst>
                  <a:ext uri="{FF2B5EF4-FFF2-40B4-BE49-F238E27FC236}">
                    <a16:creationId xmlns:a16="http://schemas.microsoft.com/office/drawing/2014/main" id="{14A81BEC-3207-4C4D-9FB9-3070442A9D42}"/>
                  </a:ext>
                </a:extLst>
              </p:cNvPr>
              <p:cNvPicPr>
                <a:picLocks noChangeAspect="1"/>
              </p:cNvPicPr>
              <p:nvPr/>
            </p:nvPicPr>
            <p:blipFill>
              <a:blip r:embed="rId5">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2423590" y="2852936"/>
                <a:ext cx="2143125" cy="2143125"/>
              </a:xfrm>
              <a:prstGeom prst="rect">
                <a:avLst/>
              </a:prstGeom>
            </p:spPr>
          </p:pic>
          <p:pic>
            <p:nvPicPr>
              <p:cNvPr id="15" name="圖片 14">
                <a:extLst>
                  <a:ext uri="{FF2B5EF4-FFF2-40B4-BE49-F238E27FC236}">
                    <a16:creationId xmlns:a16="http://schemas.microsoft.com/office/drawing/2014/main" id="{D032EA36-A347-4BA9-9A22-D90854E13A68}"/>
                  </a:ext>
                </a:extLst>
              </p:cNvPr>
              <p:cNvPicPr>
                <a:picLocks noChangeAspect="1"/>
              </p:cNvPicPr>
              <p:nvPr/>
            </p:nvPicPr>
            <p:blipFill>
              <a:blip r:embed="rId6"/>
              <a:stretch>
                <a:fillRect/>
              </a:stretch>
            </p:blipFill>
            <p:spPr>
              <a:xfrm>
                <a:off x="3176821" y="3905280"/>
                <a:ext cx="636661" cy="477217"/>
              </a:xfrm>
              <a:prstGeom prst="rect">
                <a:avLst/>
              </a:prstGeom>
            </p:spPr>
          </p:pic>
        </p:grpSp>
        <p:sp>
          <p:nvSpPr>
            <p:cNvPr id="16" name="拱形 15">
              <a:extLst>
                <a:ext uri="{FF2B5EF4-FFF2-40B4-BE49-F238E27FC236}">
                  <a16:creationId xmlns:a16="http://schemas.microsoft.com/office/drawing/2014/main" id="{5C2A8783-5D5B-4DBB-8C7C-6983599E0913}"/>
                </a:ext>
              </a:extLst>
            </p:cNvPr>
            <p:cNvSpPr/>
            <p:nvPr/>
          </p:nvSpPr>
          <p:spPr>
            <a:xfrm rot="19910279">
              <a:off x="3352666" y="1633847"/>
              <a:ext cx="1956656" cy="725046"/>
            </a:xfrm>
            <a:prstGeom prst="blockArc">
              <a:avLst>
                <a:gd name="adj1" fmla="val 10800000"/>
                <a:gd name="adj2" fmla="val 137996"/>
                <a:gd name="adj3" fmla="val 23755"/>
              </a:avLst>
            </a:prstGeom>
            <a:noFill/>
            <a:ln>
              <a:noFill/>
            </a:ln>
          </p:spPr>
          <p:style>
            <a:lnRef idx="2">
              <a:schemeClr val="accent6"/>
            </a:lnRef>
            <a:fillRef idx="1">
              <a:schemeClr val="lt1"/>
            </a:fillRef>
            <a:effectRef idx="0">
              <a:schemeClr val="accent6"/>
            </a:effectRef>
            <a:fontRef idx="minor">
              <a:schemeClr val="dk1"/>
            </a:fontRef>
          </p:style>
          <p:txBody>
            <a:bodyPr rtlCol="0" anchor="t"/>
            <a:lstStyle/>
            <a:p>
              <a:pPr algn="ctr"/>
              <a:r>
                <a:rPr lang="zh-TW" altLang="en-US" b="1" dirty="0">
                  <a:latin typeface="微軟正黑體" panose="020B0604030504040204" pitchFamily="34" charset="-120"/>
                  <a:ea typeface="微軟正黑體" panose="020B0604030504040204" pitchFamily="34" charset="-120"/>
                </a:rPr>
                <a:t>物理安全</a:t>
              </a:r>
              <a:endParaRPr lang="zh-TW" altLang="en-US" dirty="0">
                <a:solidFill>
                  <a:schemeClr val="tx1"/>
                </a:solidFill>
                <a:latin typeface="微軟正黑體" panose="020B0604030504040204" pitchFamily="34" charset="-120"/>
                <a:ea typeface="微軟正黑體" panose="020B0604030504040204" pitchFamily="34" charset="-120"/>
              </a:endParaRPr>
            </a:p>
          </p:txBody>
        </p:sp>
        <p:sp>
          <p:nvSpPr>
            <p:cNvPr id="17" name="拱形 16">
              <a:extLst>
                <a:ext uri="{FF2B5EF4-FFF2-40B4-BE49-F238E27FC236}">
                  <a16:creationId xmlns:a16="http://schemas.microsoft.com/office/drawing/2014/main" id="{F73252F7-A8B4-42F3-BD58-A7BADF3F4E36}"/>
                </a:ext>
              </a:extLst>
            </p:cNvPr>
            <p:cNvSpPr/>
            <p:nvPr/>
          </p:nvSpPr>
          <p:spPr>
            <a:xfrm rot="1400744">
              <a:off x="6077805" y="1387760"/>
              <a:ext cx="2153522" cy="725046"/>
            </a:xfrm>
            <a:prstGeom prst="blockArc">
              <a:avLst>
                <a:gd name="adj1" fmla="val 10800000"/>
                <a:gd name="adj2" fmla="val 137996"/>
                <a:gd name="adj3" fmla="val 23755"/>
              </a:avLst>
            </a:prstGeom>
            <a:noFill/>
            <a:ln>
              <a:noFill/>
            </a:ln>
          </p:spPr>
          <p:style>
            <a:lnRef idx="2">
              <a:schemeClr val="accent6"/>
            </a:lnRef>
            <a:fillRef idx="1">
              <a:schemeClr val="lt1"/>
            </a:fillRef>
            <a:effectRef idx="0">
              <a:schemeClr val="accent6"/>
            </a:effectRef>
            <a:fontRef idx="minor">
              <a:schemeClr val="dk1"/>
            </a:fontRef>
          </p:style>
          <p:txBody>
            <a:bodyPr rtlCol="0" anchor="t"/>
            <a:lstStyle/>
            <a:p>
              <a:pPr algn="ctr"/>
              <a:r>
                <a:rPr lang="zh-TW" altLang="en-US" b="1" dirty="0">
                  <a:latin typeface="微軟正黑體" panose="020B0604030504040204" pitchFamily="34" charset="-120"/>
                  <a:ea typeface="微軟正黑體" panose="020B0604030504040204" pitchFamily="34" charset="-120"/>
                </a:rPr>
                <a:t>應用系統安全</a:t>
              </a:r>
              <a:endParaRPr lang="zh-TW" altLang="en-US" dirty="0">
                <a:solidFill>
                  <a:schemeClr val="tx1"/>
                </a:solidFill>
                <a:latin typeface="微軟正黑體" panose="020B0604030504040204" pitchFamily="34" charset="-120"/>
                <a:ea typeface="微軟正黑體" panose="020B0604030504040204" pitchFamily="34" charset="-120"/>
              </a:endParaRPr>
            </a:p>
          </p:txBody>
        </p:sp>
        <p:sp>
          <p:nvSpPr>
            <p:cNvPr id="18" name="拱形 17">
              <a:extLst>
                <a:ext uri="{FF2B5EF4-FFF2-40B4-BE49-F238E27FC236}">
                  <a16:creationId xmlns:a16="http://schemas.microsoft.com/office/drawing/2014/main" id="{1140E9EF-31F3-4488-9C13-616F30F8D2F3}"/>
                </a:ext>
              </a:extLst>
            </p:cNvPr>
            <p:cNvSpPr/>
            <p:nvPr/>
          </p:nvSpPr>
          <p:spPr>
            <a:xfrm rot="3296993">
              <a:off x="2366311" y="4652885"/>
              <a:ext cx="1797896" cy="911751"/>
            </a:xfrm>
            <a:prstGeom prst="blockArc">
              <a:avLst>
                <a:gd name="adj1" fmla="val 10800000"/>
                <a:gd name="adj2" fmla="val 137996"/>
                <a:gd name="adj3" fmla="val 23755"/>
              </a:avLst>
            </a:prstGeom>
            <a:noFill/>
            <a:ln>
              <a:noFill/>
            </a:ln>
          </p:spPr>
          <p:style>
            <a:lnRef idx="2">
              <a:schemeClr val="accent6"/>
            </a:lnRef>
            <a:fillRef idx="1">
              <a:schemeClr val="lt1"/>
            </a:fillRef>
            <a:effectRef idx="0">
              <a:schemeClr val="accent6"/>
            </a:effectRef>
            <a:fontRef idx="minor">
              <a:schemeClr val="dk1"/>
            </a:fontRef>
          </p:style>
          <p:txBody>
            <a:bodyPr rtlCol="0" anchor="t"/>
            <a:lstStyle/>
            <a:p>
              <a:pPr algn="ctr"/>
              <a:r>
                <a:rPr lang="zh-TW" altLang="en-US" b="1" dirty="0">
                  <a:solidFill>
                    <a:schemeClr val="bg1"/>
                  </a:solidFill>
                  <a:latin typeface="微軟正黑體" panose="020B0604030504040204" pitchFamily="34" charset="-120"/>
                  <a:ea typeface="微軟正黑體" panose="020B0604030504040204" pitchFamily="34" charset="-120"/>
                </a:rPr>
                <a:t>資料安全</a:t>
              </a:r>
              <a:endParaRPr lang="zh-TW" altLang="en-US" dirty="0">
                <a:solidFill>
                  <a:schemeClr val="bg1"/>
                </a:solidFill>
                <a:latin typeface="微軟正黑體" panose="020B0604030504040204" pitchFamily="34" charset="-120"/>
                <a:ea typeface="微軟正黑體" panose="020B0604030504040204" pitchFamily="34" charset="-120"/>
              </a:endParaRPr>
            </a:p>
          </p:txBody>
        </p:sp>
        <p:sp>
          <p:nvSpPr>
            <p:cNvPr id="19" name="拱形 18">
              <a:extLst>
                <a:ext uri="{FF2B5EF4-FFF2-40B4-BE49-F238E27FC236}">
                  <a16:creationId xmlns:a16="http://schemas.microsoft.com/office/drawing/2014/main" id="{44921DB1-B1DB-44CB-87A6-FD3AB0883E61}"/>
                </a:ext>
              </a:extLst>
            </p:cNvPr>
            <p:cNvSpPr/>
            <p:nvPr/>
          </p:nvSpPr>
          <p:spPr>
            <a:xfrm rot="17976683">
              <a:off x="7641263" y="4512554"/>
              <a:ext cx="2120999" cy="489685"/>
            </a:xfrm>
            <a:prstGeom prst="blockArc">
              <a:avLst>
                <a:gd name="adj1" fmla="val 10800000"/>
                <a:gd name="adj2" fmla="val 137996"/>
                <a:gd name="adj3" fmla="val 23755"/>
              </a:avLst>
            </a:prstGeom>
            <a:noFill/>
            <a:ln>
              <a:noFill/>
            </a:ln>
          </p:spPr>
          <p:style>
            <a:lnRef idx="2">
              <a:schemeClr val="accent6"/>
            </a:lnRef>
            <a:fillRef idx="1">
              <a:schemeClr val="lt1"/>
            </a:fillRef>
            <a:effectRef idx="0">
              <a:schemeClr val="accent6"/>
            </a:effectRef>
            <a:fontRef idx="minor">
              <a:schemeClr val="dk1"/>
            </a:fontRef>
          </p:style>
          <p:txBody>
            <a:bodyPr rtlCol="0" anchor="t"/>
            <a:lstStyle/>
            <a:p>
              <a:pPr algn="ctr"/>
              <a:r>
                <a:rPr lang="zh-TW" altLang="en-US" b="1" dirty="0">
                  <a:solidFill>
                    <a:schemeClr val="bg1"/>
                  </a:solidFill>
                  <a:latin typeface="微軟正黑體" panose="020B0604030504040204" pitchFamily="34" charset="-120"/>
                  <a:ea typeface="微軟正黑體" panose="020B0604030504040204" pitchFamily="34" charset="-120"/>
                </a:rPr>
                <a:t>加密安全</a:t>
              </a:r>
              <a:endParaRPr lang="zh-TW" altLang="en-US" dirty="0">
                <a:solidFill>
                  <a:schemeClr val="bg1"/>
                </a:solidFill>
                <a:latin typeface="微軟正黑體" panose="020B0604030504040204" pitchFamily="34" charset="-120"/>
                <a:ea typeface="微軟正黑體" panose="020B0604030504040204" pitchFamily="34" charset="-120"/>
              </a:endParaRPr>
            </a:p>
          </p:txBody>
        </p:sp>
        <p:sp>
          <p:nvSpPr>
            <p:cNvPr id="20" name="拱形 19">
              <a:extLst>
                <a:ext uri="{FF2B5EF4-FFF2-40B4-BE49-F238E27FC236}">
                  <a16:creationId xmlns:a16="http://schemas.microsoft.com/office/drawing/2014/main" id="{C7E4A227-5CF9-40FB-857E-4A670F4B1C55}"/>
                </a:ext>
              </a:extLst>
            </p:cNvPr>
            <p:cNvSpPr/>
            <p:nvPr/>
          </p:nvSpPr>
          <p:spPr>
            <a:xfrm>
              <a:off x="5012306" y="6346077"/>
              <a:ext cx="1956656" cy="725046"/>
            </a:xfrm>
            <a:prstGeom prst="blockArc">
              <a:avLst>
                <a:gd name="adj1" fmla="val 10800000"/>
                <a:gd name="adj2" fmla="val 137996"/>
                <a:gd name="adj3" fmla="val 23755"/>
              </a:avLst>
            </a:prstGeom>
            <a:noFill/>
            <a:ln>
              <a:noFill/>
            </a:ln>
          </p:spPr>
          <p:style>
            <a:lnRef idx="2">
              <a:schemeClr val="accent6"/>
            </a:lnRef>
            <a:fillRef idx="1">
              <a:schemeClr val="lt1"/>
            </a:fillRef>
            <a:effectRef idx="0">
              <a:schemeClr val="accent6"/>
            </a:effectRef>
            <a:fontRef idx="minor">
              <a:schemeClr val="dk1"/>
            </a:fontRef>
          </p:style>
          <p:txBody>
            <a:bodyPr rtlCol="0" anchor="t"/>
            <a:lstStyle/>
            <a:p>
              <a:pPr algn="ctr"/>
              <a:r>
                <a:rPr lang="zh-TW" altLang="en-US" b="1" dirty="0">
                  <a:solidFill>
                    <a:schemeClr val="bg1"/>
                  </a:solidFill>
                  <a:latin typeface="微軟正黑體" panose="020B0604030504040204" pitchFamily="34" charset="-120"/>
                  <a:ea typeface="微軟正黑體" panose="020B0604030504040204" pitchFamily="34" charset="-120"/>
                </a:rPr>
                <a:t>風控安全</a:t>
              </a:r>
              <a:endParaRPr lang="zh-TW" altLang="en-US" dirty="0">
                <a:solidFill>
                  <a:schemeClr val="bg1"/>
                </a:solidFill>
                <a:latin typeface="微軟正黑體" panose="020B0604030504040204" pitchFamily="34" charset="-120"/>
                <a:ea typeface="微軟正黑體" panose="020B0604030504040204" pitchFamily="34" charset="-120"/>
              </a:endParaRPr>
            </a:p>
          </p:txBody>
        </p:sp>
      </p:grpSp>
    </p:spTree>
    <p:extLst>
      <p:ext uri="{BB962C8B-B14F-4D97-AF65-F5344CB8AC3E}">
        <p14:creationId xmlns:p14="http://schemas.microsoft.com/office/powerpoint/2010/main" val="814966233"/>
      </p:ext>
    </p:extLst>
  </p:cSld>
  <p:clrMapOvr>
    <a:masterClrMapping/>
  </p:clrMapOvr>
  <p:transition spd="med">
    <p:pul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6" presetClass="entr" presetSubtype="16" fill="hold" grpId="0" nodeType="after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circle(in)">
                                      <p:cBhvr>
                                        <p:cTn id="7" dur="2000"/>
                                        <p:tgtEl>
                                          <p:spTgt spid="9"/>
                                        </p:tgtEl>
                                      </p:cBhvr>
                                    </p:animEffect>
                                  </p:childTnLst>
                                </p:cTn>
                              </p:par>
                            </p:childTnLst>
                          </p:cTn>
                        </p:par>
                        <p:par>
                          <p:cTn id="8" fill="hold">
                            <p:stCondLst>
                              <p:cond delay="2000"/>
                            </p:stCondLst>
                            <p:childTnLst>
                              <p:par>
                                <p:cTn id="9" presetID="14" presetClass="entr" presetSubtype="10" fill="hold" grpId="0" nodeType="afterEffect">
                                  <p:stCondLst>
                                    <p:cond delay="0"/>
                                  </p:stCondLst>
                                  <p:childTnLst>
                                    <p:set>
                                      <p:cBhvr>
                                        <p:cTn id="10" dur="1" fill="hold">
                                          <p:stCondLst>
                                            <p:cond delay="0"/>
                                          </p:stCondLst>
                                        </p:cTn>
                                        <p:tgtEl>
                                          <p:spTgt spid="12"/>
                                        </p:tgtEl>
                                        <p:attrNameLst>
                                          <p:attrName>style.visibility</p:attrName>
                                        </p:attrNameLst>
                                      </p:cBhvr>
                                      <p:to>
                                        <p:strVal val="visible"/>
                                      </p:to>
                                    </p:set>
                                    <p:animEffect transition="in" filter="randombar(horizontal)">
                                      <p:cBhvr>
                                        <p:cTn id="11" dur="500"/>
                                        <p:tgtEl>
                                          <p:spTgt spid="12"/>
                                        </p:tgtEl>
                                      </p:cBhvr>
                                    </p:animEffect>
                                  </p:childTnLst>
                                </p:cTn>
                              </p:par>
                            </p:childTnLst>
                          </p:cTn>
                        </p:par>
                        <p:par>
                          <p:cTn id="12" fill="hold">
                            <p:stCondLst>
                              <p:cond delay="2500"/>
                            </p:stCondLst>
                            <p:childTnLst>
                              <p:par>
                                <p:cTn id="13" presetID="2" presetClass="entr" presetSubtype="8" fill="hold" nodeType="afterEffect">
                                  <p:stCondLst>
                                    <p:cond delay="0"/>
                                  </p:stCondLst>
                                  <p:childTnLst>
                                    <p:set>
                                      <p:cBhvr>
                                        <p:cTn id="14" dur="1" fill="hold">
                                          <p:stCondLst>
                                            <p:cond delay="0"/>
                                          </p:stCondLst>
                                        </p:cTn>
                                        <p:tgtEl>
                                          <p:spTgt spid="26"/>
                                        </p:tgtEl>
                                        <p:attrNameLst>
                                          <p:attrName>style.visibility</p:attrName>
                                        </p:attrNameLst>
                                      </p:cBhvr>
                                      <p:to>
                                        <p:strVal val="visible"/>
                                      </p:to>
                                    </p:set>
                                    <p:anim calcmode="lin" valueType="num">
                                      <p:cBhvr additive="base">
                                        <p:cTn id="15" dur="500" fill="hold"/>
                                        <p:tgtEl>
                                          <p:spTgt spid="26"/>
                                        </p:tgtEl>
                                        <p:attrNameLst>
                                          <p:attrName>ppt_x</p:attrName>
                                        </p:attrNameLst>
                                      </p:cBhvr>
                                      <p:tavLst>
                                        <p:tav tm="0">
                                          <p:val>
                                            <p:strVal val="0-#ppt_w/2"/>
                                          </p:val>
                                        </p:tav>
                                        <p:tav tm="100000">
                                          <p:val>
                                            <p:strVal val="#ppt_x"/>
                                          </p:val>
                                        </p:tav>
                                      </p:tavLst>
                                    </p:anim>
                                    <p:anim calcmode="lin" valueType="num">
                                      <p:cBhvr additive="base">
                                        <p:cTn id="16" dur="500" fill="hold"/>
                                        <p:tgtEl>
                                          <p:spTgt spid="26"/>
                                        </p:tgtEl>
                                        <p:attrNameLst>
                                          <p:attrName>ppt_y</p:attrName>
                                        </p:attrNameLst>
                                      </p:cBhvr>
                                      <p:tavLst>
                                        <p:tav tm="0">
                                          <p:val>
                                            <p:strVal val="#ppt_y"/>
                                          </p:val>
                                        </p:tav>
                                        <p:tav tm="100000">
                                          <p:val>
                                            <p:strVal val="#ppt_y"/>
                                          </p:val>
                                        </p:tav>
                                      </p:tavLst>
                                    </p:anim>
                                  </p:childTnLst>
                                </p:cTn>
                              </p:par>
                            </p:childTnLst>
                          </p:cTn>
                        </p:par>
                        <p:par>
                          <p:cTn id="17" fill="hold">
                            <p:stCondLst>
                              <p:cond delay="3000"/>
                            </p:stCondLst>
                            <p:childTnLst>
                              <p:par>
                                <p:cTn id="18" presetID="42" presetClass="entr" presetSubtype="0" fill="hold" nodeType="afterEffect">
                                  <p:stCondLst>
                                    <p:cond delay="0"/>
                                  </p:stCondLst>
                                  <p:childTnLst>
                                    <p:set>
                                      <p:cBhvr>
                                        <p:cTn id="19" dur="1" fill="hold">
                                          <p:stCondLst>
                                            <p:cond delay="0"/>
                                          </p:stCondLst>
                                        </p:cTn>
                                        <p:tgtEl>
                                          <p:spTgt spid="2"/>
                                        </p:tgtEl>
                                        <p:attrNameLst>
                                          <p:attrName>style.visibility</p:attrName>
                                        </p:attrNameLst>
                                      </p:cBhvr>
                                      <p:to>
                                        <p:strVal val="visible"/>
                                      </p:to>
                                    </p:set>
                                    <p:animEffect transition="in" filter="fade">
                                      <p:cBhvr>
                                        <p:cTn id="20" dur="1000"/>
                                        <p:tgtEl>
                                          <p:spTgt spid="2"/>
                                        </p:tgtEl>
                                      </p:cBhvr>
                                    </p:animEffect>
                                    <p:anim calcmode="lin" valueType="num">
                                      <p:cBhvr>
                                        <p:cTn id="21" dur="1000" fill="hold"/>
                                        <p:tgtEl>
                                          <p:spTgt spid="2"/>
                                        </p:tgtEl>
                                        <p:attrNameLst>
                                          <p:attrName>ppt_x</p:attrName>
                                        </p:attrNameLst>
                                      </p:cBhvr>
                                      <p:tavLst>
                                        <p:tav tm="0">
                                          <p:val>
                                            <p:strVal val="#ppt_x"/>
                                          </p:val>
                                        </p:tav>
                                        <p:tav tm="100000">
                                          <p:val>
                                            <p:strVal val="#ppt_x"/>
                                          </p:val>
                                        </p:tav>
                                      </p:tavLst>
                                    </p:anim>
                                    <p:anim calcmode="lin" valueType="num">
                                      <p:cBhvr>
                                        <p:cTn id="22" dur="1000" fill="hold"/>
                                        <p:tgtEl>
                                          <p:spTgt spid="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2" grpId="0"/>
    </p:bld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標題 1"/>
          <p:cNvSpPr txBox="1">
            <a:spLocks/>
          </p:cNvSpPr>
          <p:nvPr/>
        </p:nvSpPr>
        <p:spPr>
          <a:xfrm>
            <a:off x="1526333" y="510244"/>
            <a:ext cx="3643527" cy="874595"/>
          </a:xfrm>
          <a:prstGeom prst="rect">
            <a:avLst/>
          </a:prstGeom>
        </p:spPr>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zh-TW" altLang="en-US" sz="2400" b="1" dirty="0">
                <a:solidFill>
                  <a:srgbClr val="E06741"/>
                </a:solidFill>
              </a:rPr>
              <a:t>補充</a:t>
            </a:r>
            <a:r>
              <a:rPr lang="en-US" altLang="zh-TW" sz="2400" b="1" dirty="0">
                <a:solidFill>
                  <a:srgbClr val="E06741"/>
                </a:solidFill>
              </a:rPr>
              <a:t>---</a:t>
            </a:r>
            <a:r>
              <a:rPr lang="zh-TW" altLang="en-US" sz="2400" b="1" dirty="0">
                <a:solidFill>
                  <a:srgbClr val="E06741"/>
                </a:solidFill>
              </a:rPr>
              <a:t>區塊鏈技術的變革</a:t>
            </a:r>
          </a:p>
          <a:p>
            <a:endParaRPr lang="zh-TW" altLang="en-US" sz="2400" dirty="0">
              <a:solidFill>
                <a:srgbClr val="E06741"/>
              </a:solidFill>
              <a:latin typeface="標楷體" panose="03000509000000000000" pitchFamily="65" charset="-120"/>
              <a:ea typeface="標楷體" panose="03000509000000000000" pitchFamily="65" charset="-120"/>
              <a:cs typeface="Times New Roman" panose="02020603050405020304" pitchFamily="18" charset="0"/>
            </a:endParaRPr>
          </a:p>
        </p:txBody>
      </p:sp>
      <p:sp>
        <p:nvSpPr>
          <p:cNvPr id="2" name="矩形 1"/>
          <p:cNvSpPr/>
          <p:nvPr/>
        </p:nvSpPr>
        <p:spPr>
          <a:xfrm>
            <a:off x="1653340" y="1079707"/>
            <a:ext cx="9729358" cy="2794483"/>
          </a:xfrm>
          <a:prstGeom prst="rect">
            <a:avLst/>
          </a:prstGeom>
        </p:spPr>
        <p:txBody>
          <a:bodyPr wrap="square">
            <a:spAutoFit/>
          </a:bodyPr>
          <a:lstStyle/>
          <a:p>
            <a:pPr>
              <a:lnSpc>
                <a:spcPct val="150000"/>
              </a:lnSpc>
            </a:pPr>
            <a:r>
              <a:rPr lang="zh-TW" altLang="en-US" sz="2400" b="1" dirty="0">
                <a:solidFill>
                  <a:schemeClr val="tx1">
                    <a:lumMod val="75000"/>
                    <a:lumOff val="25000"/>
                  </a:schemeClr>
                </a:solidFill>
                <a:latin typeface="微軟正黑體" panose="020B0604030504040204" pitchFamily="34" charset="-120"/>
                <a:ea typeface="微軟正黑體" panose="020B0604030504040204" pitchFamily="34" charset="-120"/>
              </a:rPr>
              <a:t>        區塊鏈技術源起於</a:t>
            </a:r>
            <a:r>
              <a:rPr lang="en-US" altLang="zh-TW" sz="2400" b="1" dirty="0">
                <a:solidFill>
                  <a:schemeClr val="tx1">
                    <a:lumMod val="75000"/>
                    <a:lumOff val="25000"/>
                  </a:schemeClr>
                </a:solidFill>
                <a:latin typeface="微軟正黑體" panose="020B0604030504040204" pitchFamily="34" charset="-120"/>
                <a:ea typeface="微軟正黑體" panose="020B0604030504040204" pitchFamily="34" charset="-120"/>
              </a:rPr>
              <a:t>2009</a:t>
            </a:r>
            <a:r>
              <a:rPr lang="zh-TW" altLang="en-US" sz="2400" b="1" dirty="0">
                <a:solidFill>
                  <a:schemeClr val="tx1">
                    <a:lumMod val="75000"/>
                    <a:lumOff val="25000"/>
                  </a:schemeClr>
                </a:solidFill>
                <a:latin typeface="微軟正黑體" panose="020B0604030504040204" pitchFamily="34" charset="-120"/>
                <a:ea typeface="微軟正黑體" panose="020B0604030504040204" pitchFamily="34" charset="-120"/>
              </a:rPr>
              <a:t>年比特幣的問市及啟用，技術也因而被金融科技產業所重視，隨即於</a:t>
            </a:r>
            <a:r>
              <a:rPr lang="en-US" altLang="zh-TW" sz="2400" b="1" dirty="0">
                <a:solidFill>
                  <a:schemeClr val="tx1">
                    <a:lumMod val="75000"/>
                    <a:lumOff val="25000"/>
                  </a:schemeClr>
                </a:solidFill>
                <a:latin typeface="微軟正黑體" panose="020B0604030504040204" pitchFamily="34" charset="-120"/>
                <a:ea typeface="微軟正黑體" panose="020B0604030504040204" pitchFamily="34" charset="-120"/>
              </a:rPr>
              <a:t>2014</a:t>
            </a:r>
            <a:r>
              <a:rPr lang="zh-TW" altLang="en-US" sz="2400" b="1" dirty="0">
                <a:solidFill>
                  <a:schemeClr val="tx1">
                    <a:lumMod val="75000"/>
                    <a:lumOff val="25000"/>
                  </a:schemeClr>
                </a:solidFill>
                <a:latin typeface="微軟正黑體" panose="020B0604030504040204" pitchFamily="34" charset="-120"/>
                <a:ea typeface="微軟正黑體" panose="020B0604030504040204" pitchFamily="34" charset="-120"/>
              </a:rPr>
              <a:t>年之後，區塊鏈技術已開始引領全球各產業改變現行運作或經營模式，從打破傳統規範或思維開始，導入藉由數位網路管道進行營銷管理或運作的模式，至此開始了區塊鏈技術變革的時代。</a:t>
            </a:r>
          </a:p>
        </p:txBody>
      </p:sp>
      <p:pic>
        <p:nvPicPr>
          <p:cNvPr id="8" name="图片 42">
            <a:extLst>
              <a:ext uri="{FF2B5EF4-FFF2-40B4-BE49-F238E27FC236}">
                <a16:creationId xmlns:a16="http://schemas.microsoft.com/office/drawing/2014/main" id="{C8D97DA4-6242-4E73-AEFC-457D04FDC65B}"/>
              </a:ext>
            </a:extLst>
          </p:cNvPr>
          <p:cNvPicPr>
            <a:picLocks noChangeAspect="1"/>
          </p:cNvPicPr>
          <p:nvPr/>
        </p:nvPicPr>
        <p:blipFill>
          <a:blip r:embed="rId2"/>
          <a:stretch>
            <a:fillRect/>
          </a:stretch>
        </p:blipFill>
        <p:spPr>
          <a:xfrm rot="16200000">
            <a:off x="145169" y="-145167"/>
            <a:ext cx="1268414" cy="1558750"/>
          </a:xfrm>
          <a:prstGeom prst="rect">
            <a:avLst/>
          </a:prstGeom>
        </p:spPr>
      </p:pic>
      <p:sp>
        <p:nvSpPr>
          <p:cNvPr id="6" name="文字方塊 5">
            <a:extLst>
              <a:ext uri="{FF2B5EF4-FFF2-40B4-BE49-F238E27FC236}">
                <a16:creationId xmlns:a16="http://schemas.microsoft.com/office/drawing/2014/main" id="{8A30B01A-3198-4955-A208-0E3D9EB60397}"/>
              </a:ext>
            </a:extLst>
          </p:cNvPr>
          <p:cNvSpPr txBox="1"/>
          <p:nvPr/>
        </p:nvSpPr>
        <p:spPr>
          <a:xfrm>
            <a:off x="1558751" y="6596390"/>
            <a:ext cx="4217821" cy="261610"/>
          </a:xfrm>
          <a:prstGeom prst="rect">
            <a:avLst/>
          </a:prstGeom>
          <a:noFill/>
        </p:spPr>
        <p:txBody>
          <a:bodyPr wrap="none" rtlCol="0">
            <a:spAutoFit/>
          </a:bodyPr>
          <a:lstStyle/>
          <a:p>
            <a:r>
              <a:rPr lang="zh-TW" altLang="en-US" sz="1100" dirty="0">
                <a:latin typeface="Microsoft JhengHei Light" panose="020B0304030504040204" pitchFamily="34" charset="-120"/>
                <a:ea typeface="Microsoft JhengHei Light" panose="020B0304030504040204" pitchFamily="34" charset="-120"/>
              </a:rPr>
              <a:t>區塊鏈商業應用概論 實例與分析／新陸書局股份有限公司 發行</a:t>
            </a:r>
          </a:p>
        </p:txBody>
      </p:sp>
      <p:grpSp>
        <p:nvGrpSpPr>
          <p:cNvPr id="10" name="组合 11">
            <a:extLst>
              <a:ext uri="{FF2B5EF4-FFF2-40B4-BE49-F238E27FC236}">
                <a16:creationId xmlns:a16="http://schemas.microsoft.com/office/drawing/2014/main" id="{996C4406-0384-459B-B353-B48908CCC885}"/>
              </a:ext>
            </a:extLst>
          </p:cNvPr>
          <p:cNvGrpSpPr/>
          <p:nvPr/>
        </p:nvGrpSpPr>
        <p:grpSpPr>
          <a:xfrm>
            <a:off x="3344606" y="4282655"/>
            <a:ext cx="6301058" cy="1931409"/>
            <a:chOff x="1314439" y="2591051"/>
            <a:chExt cx="7315007" cy="2242206"/>
          </a:xfrm>
        </p:grpSpPr>
        <p:grpSp>
          <p:nvGrpSpPr>
            <p:cNvPr id="11" name="组合 8">
              <a:extLst>
                <a:ext uri="{FF2B5EF4-FFF2-40B4-BE49-F238E27FC236}">
                  <a16:creationId xmlns:a16="http://schemas.microsoft.com/office/drawing/2014/main" id="{AB83B1EF-074C-4F17-8BFA-D07953CBE535}"/>
                </a:ext>
              </a:extLst>
            </p:cNvPr>
            <p:cNvGrpSpPr/>
            <p:nvPr/>
          </p:nvGrpSpPr>
          <p:grpSpPr>
            <a:xfrm>
              <a:off x="1314439" y="4140778"/>
              <a:ext cx="2390675" cy="692479"/>
              <a:chOff x="1378857" y="3771092"/>
              <a:chExt cx="2105062" cy="568679"/>
            </a:xfrm>
          </p:grpSpPr>
          <p:cxnSp>
            <p:nvCxnSpPr>
              <p:cNvPr id="30" name="直接连接符 2">
                <a:extLst>
                  <a:ext uri="{FF2B5EF4-FFF2-40B4-BE49-F238E27FC236}">
                    <a16:creationId xmlns:a16="http://schemas.microsoft.com/office/drawing/2014/main" id="{C0A46A5B-DCB9-4C63-8843-1A2C3F9D0374}"/>
                  </a:ext>
                </a:extLst>
              </p:cNvPr>
              <p:cNvCxnSpPr>
                <a:cxnSpLocks/>
              </p:cNvCxnSpPr>
              <p:nvPr/>
            </p:nvCxnSpPr>
            <p:spPr>
              <a:xfrm flipV="1">
                <a:off x="1378857" y="3771092"/>
                <a:ext cx="957943" cy="568679"/>
              </a:xfrm>
              <a:prstGeom prst="line">
                <a:avLst/>
              </a:prstGeom>
              <a:ln w="57150" cap="rnd">
                <a:solidFill>
                  <a:schemeClr val="accent6"/>
                </a:solidFill>
                <a:round/>
              </a:ln>
            </p:spPr>
            <p:style>
              <a:lnRef idx="1">
                <a:schemeClr val="accent1"/>
              </a:lnRef>
              <a:fillRef idx="0">
                <a:schemeClr val="accent1"/>
              </a:fillRef>
              <a:effectRef idx="0">
                <a:schemeClr val="accent1"/>
              </a:effectRef>
              <a:fontRef idx="minor">
                <a:schemeClr val="tx1"/>
              </a:fontRef>
            </p:style>
          </p:cxnSp>
          <p:cxnSp>
            <p:nvCxnSpPr>
              <p:cNvPr id="31" name="直接连接符 7">
                <a:extLst>
                  <a:ext uri="{FF2B5EF4-FFF2-40B4-BE49-F238E27FC236}">
                    <a16:creationId xmlns:a16="http://schemas.microsoft.com/office/drawing/2014/main" id="{1B9429E6-5EA3-4B47-9201-8F62059BA244}"/>
                  </a:ext>
                </a:extLst>
              </p:cNvPr>
              <p:cNvCxnSpPr>
                <a:cxnSpLocks/>
              </p:cNvCxnSpPr>
              <p:nvPr/>
            </p:nvCxnSpPr>
            <p:spPr>
              <a:xfrm flipV="1">
                <a:off x="2336800" y="3771092"/>
                <a:ext cx="1147119" cy="1"/>
              </a:xfrm>
              <a:prstGeom prst="line">
                <a:avLst/>
              </a:prstGeom>
              <a:ln w="57150" cap="rnd">
                <a:solidFill>
                  <a:schemeClr val="accent6"/>
                </a:solidFill>
                <a:round/>
              </a:ln>
            </p:spPr>
            <p:style>
              <a:lnRef idx="1">
                <a:schemeClr val="accent1"/>
              </a:lnRef>
              <a:fillRef idx="0">
                <a:schemeClr val="accent1"/>
              </a:fillRef>
              <a:effectRef idx="0">
                <a:schemeClr val="accent1"/>
              </a:effectRef>
              <a:fontRef idx="minor">
                <a:schemeClr val="tx1"/>
              </a:fontRef>
            </p:style>
          </p:cxnSp>
        </p:grpSp>
        <p:grpSp>
          <p:nvGrpSpPr>
            <p:cNvPr id="12" name="组合 12">
              <a:extLst>
                <a:ext uri="{FF2B5EF4-FFF2-40B4-BE49-F238E27FC236}">
                  <a16:creationId xmlns:a16="http://schemas.microsoft.com/office/drawing/2014/main" id="{4088BD13-3054-44FB-95D8-56103D9E793C}"/>
                </a:ext>
              </a:extLst>
            </p:cNvPr>
            <p:cNvGrpSpPr/>
            <p:nvPr/>
          </p:nvGrpSpPr>
          <p:grpSpPr>
            <a:xfrm>
              <a:off x="3705114" y="3451493"/>
              <a:ext cx="2390675" cy="692479"/>
              <a:chOff x="1378857" y="3771092"/>
              <a:chExt cx="2105062" cy="568679"/>
            </a:xfrm>
          </p:grpSpPr>
          <p:cxnSp>
            <p:nvCxnSpPr>
              <p:cNvPr id="28" name="直接连接符 13">
                <a:extLst>
                  <a:ext uri="{FF2B5EF4-FFF2-40B4-BE49-F238E27FC236}">
                    <a16:creationId xmlns:a16="http://schemas.microsoft.com/office/drawing/2014/main" id="{1B9ACBDB-A9F5-4148-B9A6-476882013E23}"/>
                  </a:ext>
                </a:extLst>
              </p:cNvPr>
              <p:cNvCxnSpPr>
                <a:cxnSpLocks/>
              </p:cNvCxnSpPr>
              <p:nvPr/>
            </p:nvCxnSpPr>
            <p:spPr>
              <a:xfrm flipV="1">
                <a:off x="1378857" y="3771092"/>
                <a:ext cx="957943" cy="568679"/>
              </a:xfrm>
              <a:prstGeom prst="line">
                <a:avLst/>
              </a:prstGeom>
              <a:ln w="57150" cap="rnd">
                <a:solidFill>
                  <a:schemeClr val="accent6"/>
                </a:solidFill>
                <a:round/>
              </a:ln>
            </p:spPr>
            <p:style>
              <a:lnRef idx="1">
                <a:schemeClr val="accent1"/>
              </a:lnRef>
              <a:fillRef idx="0">
                <a:schemeClr val="accent1"/>
              </a:fillRef>
              <a:effectRef idx="0">
                <a:schemeClr val="accent1"/>
              </a:effectRef>
              <a:fontRef idx="minor">
                <a:schemeClr val="tx1"/>
              </a:fontRef>
            </p:style>
          </p:cxnSp>
          <p:cxnSp>
            <p:nvCxnSpPr>
              <p:cNvPr id="29" name="直接连接符 16">
                <a:extLst>
                  <a:ext uri="{FF2B5EF4-FFF2-40B4-BE49-F238E27FC236}">
                    <a16:creationId xmlns:a16="http://schemas.microsoft.com/office/drawing/2014/main" id="{57D737AF-ABBC-430C-A10B-0502449A723E}"/>
                  </a:ext>
                </a:extLst>
              </p:cNvPr>
              <p:cNvCxnSpPr>
                <a:cxnSpLocks/>
              </p:cNvCxnSpPr>
              <p:nvPr/>
            </p:nvCxnSpPr>
            <p:spPr>
              <a:xfrm flipV="1">
                <a:off x="2336800" y="3771092"/>
                <a:ext cx="1147119" cy="1"/>
              </a:xfrm>
              <a:prstGeom prst="line">
                <a:avLst/>
              </a:prstGeom>
              <a:ln w="57150" cap="rnd">
                <a:solidFill>
                  <a:schemeClr val="accent6"/>
                </a:solidFill>
                <a:round/>
              </a:ln>
            </p:spPr>
            <p:style>
              <a:lnRef idx="1">
                <a:schemeClr val="accent1"/>
              </a:lnRef>
              <a:fillRef idx="0">
                <a:schemeClr val="accent1"/>
              </a:fillRef>
              <a:effectRef idx="0">
                <a:schemeClr val="accent1"/>
              </a:effectRef>
              <a:fontRef idx="minor">
                <a:schemeClr val="tx1"/>
              </a:fontRef>
            </p:style>
          </p:cxnSp>
        </p:grpSp>
        <p:grpSp>
          <p:nvGrpSpPr>
            <p:cNvPr id="13" name="组合 18">
              <a:extLst>
                <a:ext uri="{FF2B5EF4-FFF2-40B4-BE49-F238E27FC236}">
                  <a16:creationId xmlns:a16="http://schemas.microsoft.com/office/drawing/2014/main" id="{A116C3FA-9508-43BD-B677-1A80E6A7F85C}"/>
                </a:ext>
              </a:extLst>
            </p:cNvPr>
            <p:cNvGrpSpPr/>
            <p:nvPr/>
          </p:nvGrpSpPr>
          <p:grpSpPr>
            <a:xfrm>
              <a:off x="6095232" y="2762207"/>
              <a:ext cx="2390675" cy="692479"/>
              <a:chOff x="1378857" y="3771092"/>
              <a:chExt cx="2105062" cy="568679"/>
            </a:xfrm>
          </p:grpSpPr>
          <p:cxnSp>
            <p:nvCxnSpPr>
              <p:cNvPr id="26" name="直接连接符 19">
                <a:extLst>
                  <a:ext uri="{FF2B5EF4-FFF2-40B4-BE49-F238E27FC236}">
                    <a16:creationId xmlns:a16="http://schemas.microsoft.com/office/drawing/2014/main" id="{D44070FF-04B5-4F5F-9C7D-48A0AAF7018A}"/>
                  </a:ext>
                </a:extLst>
              </p:cNvPr>
              <p:cNvCxnSpPr>
                <a:cxnSpLocks/>
              </p:cNvCxnSpPr>
              <p:nvPr/>
            </p:nvCxnSpPr>
            <p:spPr>
              <a:xfrm flipV="1">
                <a:off x="1378857" y="3771092"/>
                <a:ext cx="957943" cy="568679"/>
              </a:xfrm>
              <a:prstGeom prst="line">
                <a:avLst/>
              </a:prstGeom>
              <a:ln w="57150" cap="rnd">
                <a:solidFill>
                  <a:schemeClr val="accent6"/>
                </a:solidFill>
                <a:round/>
              </a:ln>
            </p:spPr>
            <p:style>
              <a:lnRef idx="1">
                <a:schemeClr val="accent1"/>
              </a:lnRef>
              <a:fillRef idx="0">
                <a:schemeClr val="accent1"/>
              </a:fillRef>
              <a:effectRef idx="0">
                <a:schemeClr val="accent1"/>
              </a:effectRef>
              <a:fontRef idx="minor">
                <a:schemeClr val="tx1"/>
              </a:fontRef>
            </p:style>
          </p:cxnSp>
          <p:cxnSp>
            <p:nvCxnSpPr>
              <p:cNvPr id="27" name="直接连接符 20">
                <a:extLst>
                  <a:ext uri="{FF2B5EF4-FFF2-40B4-BE49-F238E27FC236}">
                    <a16:creationId xmlns:a16="http://schemas.microsoft.com/office/drawing/2014/main" id="{3C15ADDD-3E1D-49AC-BB25-2361211A0E78}"/>
                  </a:ext>
                </a:extLst>
              </p:cNvPr>
              <p:cNvCxnSpPr>
                <a:cxnSpLocks/>
              </p:cNvCxnSpPr>
              <p:nvPr/>
            </p:nvCxnSpPr>
            <p:spPr>
              <a:xfrm flipV="1">
                <a:off x="2336800" y="3771092"/>
                <a:ext cx="1147119" cy="1"/>
              </a:xfrm>
              <a:prstGeom prst="line">
                <a:avLst/>
              </a:prstGeom>
              <a:ln w="57150" cap="rnd">
                <a:solidFill>
                  <a:schemeClr val="accent6"/>
                </a:solidFill>
                <a:round/>
              </a:ln>
            </p:spPr>
            <p:style>
              <a:lnRef idx="1">
                <a:schemeClr val="accent1"/>
              </a:lnRef>
              <a:fillRef idx="0">
                <a:schemeClr val="accent1"/>
              </a:fillRef>
              <a:effectRef idx="0">
                <a:schemeClr val="accent1"/>
              </a:effectRef>
              <a:fontRef idx="minor">
                <a:schemeClr val="tx1"/>
              </a:fontRef>
            </p:style>
          </p:cxnSp>
        </p:grpSp>
        <p:grpSp>
          <p:nvGrpSpPr>
            <p:cNvPr id="15" name="组合 24">
              <a:extLst>
                <a:ext uri="{FF2B5EF4-FFF2-40B4-BE49-F238E27FC236}">
                  <a16:creationId xmlns:a16="http://schemas.microsoft.com/office/drawing/2014/main" id="{9A527731-FE34-4951-8B72-FD9C8758CDD2}"/>
                </a:ext>
              </a:extLst>
            </p:cNvPr>
            <p:cNvGrpSpPr/>
            <p:nvPr/>
          </p:nvGrpSpPr>
          <p:grpSpPr>
            <a:xfrm>
              <a:off x="3588539" y="3933308"/>
              <a:ext cx="421330" cy="421330"/>
              <a:chOff x="3283590" y="2455656"/>
              <a:chExt cx="421330" cy="421330"/>
            </a:xfrm>
          </p:grpSpPr>
          <p:sp>
            <p:nvSpPr>
              <p:cNvPr id="22" name="椭圆 25">
                <a:extLst>
                  <a:ext uri="{FF2B5EF4-FFF2-40B4-BE49-F238E27FC236}">
                    <a16:creationId xmlns:a16="http://schemas.microsoft.com/office/drawing/2014/main" id="{729D80C3-598E-460D-8411-94D8B668A54F}"/>
                  </a:ext>
                </a:extLst>
              </p:cNvPr>
              <p:cNvSpPr/>
              <p:nvPr/>
            </p:nvSpPr>
            <p:spPr>
              <a:xfrm>
                <a:off x="3283590" y="2455656"/>
                <a:ext cx="421330" cy="421330"/>
              </a:xfrm>
              <a:prstGeom prst="ellipse">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3" name="加号 26">
                <a:extLst>
                  <a:ext uri="{FF2B5EF4-FFF2-40B4-BE49-F238E27FC236}">
                    <a16:creationId xmlns:a16="http://schemas.microsoft.com/office/drawing/2014/main" id="{D98FE348-8518-4FC2-A004-29D1180A83BA}"/>
                  </a:ext>
                </a:extLst>
              </p:cNvPr>
              <p:cNvSpPr/>
              <p:nvPr/>
            </p:nvSpPr>
            <p:spPr>
              <a:xfrm>
                <a:off x="3366641" y="2538707"/>
                <a:ext cx="255228" cy="255228"/>
              </a:xfrm>
              <a:prstGeom prst="mathPlus">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16" name="组合 27">
              <a:extLst>
                <a:ext uri="{FF2B5EF4-FFF2-40B4-BE49-F238E27FC236}">
                  <a16:creationId xmlns:a16="http://schemas.microsoft.com/office/drawing/2014/main" id="{01F3DE29-5C83-42AC-AC65-E8E98EA60990}"/>
                </a:ext>
              </a:extLst>
            </p:cNvPr>
            <p:cNvGrpSpPr/>
            <p:nvPr/>
          </p:nvGrpSpPr>
          <p:grpSpPr>
            <a:xfrm>
              <a:off x="5880946" y="3240828"/>
              <a:ext cx="421330" cy="421330"/>
              <a:chOff x="3283590" y="2455656"/>
              <a:chExt cx="421330" cy="421330"/>
            </a:xfrm>
          </p:grpSpPr>
          <p:sp>
            <p:nvSpPr>
              <p:cNvPr id="20" name="椭圆 28">
                <a:extLst>
                  <a:ext uri="{FF2B5EF4-FFF2-40B4-BE49-F238E27FC236}">
                    <a16:creationId xmlns:a16="http://schemas.microsoft.com/office/drawing/2014/main" id="{8CC1C633-641F-4782-8FEA-80C06516905C}"/>
                  </a:ext>
                </a:extLst>
              </p:cNvPr>
              <p:cNvSpPr/>
              <p:nvPr/>
            </p:nvSpPr>
            <p:spPr>
              <a:xfrm>
                <a:off x="3283590" y="2455656"/>
                <a:ext cx="421330" cy="421330"/>
              </a:xfrm>
              <a:prstGeom prst="ellipse">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加号 29">
                <a:extLst>
                  <a:ext uri="{FF2B5EF4-FFF2-40B4-BE49-F238E27FC236}">
                    <a16:creationId xmlns:a16="http://schemas.microsoft.com/office/drawing/2014/main" id="{80D9A444-7778-413C-9F9D-F80FB4B7C3E9}"/>
                  </a:ext>
                </a:extLst>
              </p:cNvPr>
              <p:cNvSpPr/>
              <p:nvPr/>
            </p:nvSpPr>
            <p:spPr>
              <a:xfrm>
                <a:off x="3366641" y="2538707"/>
                <a:ext cx="255228" cy="255228"/>
              </a:xfrm>
              <a:prstGeom prst="mathPlus">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9" name="加号 32">
              <a:extLst>
                <a:ext uri="{FF2B5EF4-FFF2-40B4-BE49-F238E27FC236}">
                  <a16:creationId xmlns:a16="http://schemas.microsoft.com/office/drawing/2014/main" id="{630BF291-958D-4E3C-94D3-53FC714A40D2}"/>
                </a:ext>
              </a:extLst>
            </p:cNvPr>
            <p:cNvSpPr/>
            <p:nvPr/>
          </p:nvSpPr>
          <p:spPr>
            <a:xfrm>
              <a:off x="8374217" y="2591051"/>
              <a:ext cx="255229" cy="255229"/>
            </a:xfrm>
            <a:prstGeom prst="mathPlus">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3" name="文字方塊 2">
            <a:extLst>
              <a:ext uri="{FF2B5EF4-FFF2-40B4-BE49-F238E27FC236}">
                <a16:creationId xmlns:a16="http://schemas.microsoft.com/office/drawing/2014/main" id="{5D31F0C4-EADC-458E-8F88-0DEE430057C8}"/>
              </a:ext>
            </a:extLst>
          </p:cNvPr>
          <p:cNvSpPr txBox="1"/>
          <p:nvPr/>
        </p:nvSpPr>
        <p:spPr>
          <a:xfrm>
            <a:off x="4163283" y="5865979"/>
            <a:ext cx="1107996" cy="646331"/>
          </a:xfrm>
          <a:prstGeom prst="rect">
            <a:avLst/>
          </a:prstGeom>
          <a:noFill/>
        </p:spPr>
        <p:txBody>
          <a:bodyPr wrap="none" rtlCol="0">
            <a:spAutoFit/>
          </a:bodyPr>
          <a:lstStyle/>
          <a:p>
            <a:pPr algn="ctr"/>
            <a:r>
              <a:rPr lang="zh-TW" altLang="en-US" b="1" dirty="0">
                <a:solidFill>
                  <a:schemeClr val="tx1">
                    <a:lumMod val="75000"/>
                    <a:lumOff val="25000"/>
                  </a:schemeClr>
                </a:solidFill>
              </a:rPr>
              <a:t>前期</a:t>
            </a:r>
            <a:endParaRPr lang="en-US" altLang="zh-TW" b="1" dirty="0">
              <a:solidFill>
                <a:schemeClr val="tx1">
                  <a:lumMod val="75000"/>
                  <a:lumOff val="25000"/>
                </a:schemeClr>
              </a:solidFill>
            </a:endParaRPr>
          </a:p>
          <a:p>
            <a:pPr algn="ctr"/>
            <a:r>
              <a:rPr lang="zh-TW" altLang="en-US" dirty="0">
                <a:solidFill>
                  <a:schemeClr val="tx1">
                    <a:lumMod val="75000"/>
                    <a:lumOff val="25000"/>
                  </a:schemeClr>
                </a:solidFill>
              </a:rPr>
              <a:t>數位貨幣</a:t>
            </a:r>
          </a:p>
        </p:txBody>
      </p:sp>
      <p:sp>
        <p:nvSpPr>
          <p:cNvPr id="35" name="文字方塊 34">
            <a:extLst>
              <a:ext uri="{FF2B5EF4-FFF2-40B4-BE49-F238E27FC236}">
                <a16:creationId xmlns:a16="http://schemas.microsoft.com/office/drawing/2014/main" id="{63ABEBB8-B45A-4716-A142-6DABAFB00209}"/>
              </a:ext>
            </a:extLst>
          </p:cNvPr>
          <p:cNvSpPr txBox="1"/>
          <p:nvPr/>
        </p:nvSpPr>
        <p:spPr>
          <a:xfrm>
            <a:off x="6505549" y="5269486"/>
            <a:ext cx="646331" cy="646331"/>
          </a:xfrm>
          <a:prstGeom prst="rect">
            <a:avLst/>
          </a:prstGeom>
          <a:noFill/>
        </p:spPr>
        <p:txBody>
          <a:bodyPr wrap="none" rtlCol="0">
            <a:spAutoFit/>
          </a:bodyPr>
          <a:lstStyle/>
          <a:p>
            <a:pPr algn="ctr"/>
            <a:r>
              <a:rPr lang="zh-TW" altLang="en-US" b="1" dirty="0">
                <a:solidFill>
                  <a:schemeClr val="tx1">
                    <a:lumMod val="75000"/>
                    <a:lumOff val="25000"/>
                  </a:schemeClr>
                </a:solidFill>
              </a:rPr>
              <a:t>中期</a:t>
            </a:r>
          </a:p>
          <a:p>
            <a:pPr algn="ctr"/>
            <a:r>
              <a:rPr lang="zh-TW" altLang="en-US" dirty="0">
                <a:solidFill>
                  <a:schemeClr val="tx1">
                    <a:lumMod val="75000"/>
                    <a:lumOff val="25000"/>
                  </a:schemeClr>
                </a:solidFill>
              </a:rPr>
              <a:t>共識</a:t>
            </a:r>
          </a:p>
        </p:txBody>
      </p:sp>
      <p:sp>
        <p:nvSpPr>
          <p:cNvPr id="36" name="文字方塊 35">
            <a:extLst>
              <a:ext uri="{FF2B5EF4-FFF2-40B4-BE49-F238E27FC236}">
                <a16:creationId xmlns:a16="http://schemas.microsoft.com/office/drawing/2014/main" id="{B8E1FE03-92E1-41B3-969C-002B90AA82A4}"/>
              </a:ext>
            </a:extLst>
          </p:cNvPr>
          <p:cNvSpPr txBox="1"/>
          <p:nvPr/>
        </p:nvSpPr>
        <p:spPr>
          <a:xfrm>
            <a:off x="8358829" y="4703415"/>
            <a:ext cx="1107996" cy="646331"/>
          </a:xfrm>
          <a:prstGeom prst="rect">
            <a:avLst/>
          </a:prstGeom>
          <a:noFill/>
        </p:spPr>
        <p:txBody>
          <a:bodyPr wrap="none" rtlCol="0">
            <a:spAutoFit/>
          </a:bodyPr>
          <a:lstStyle/>
          <a:p>
            <a:pPr algn="ctr"/>
            <a:r>
              <a:rPr lang="zh-TW" altLang="en-US" b="1" dirty="0">
                <a:solidFill>
                  <a:schemeClr val="tx1">
                    <a:lumMod val="75000"/>
                    <a:lumOff val="25000"/>
                  </a:schemeClr>
                </a:solidFill>
              </a:rPr>
              <a:t>未來</a:t>
            </a:r>
            <a:endParaRPr lang="en-US" altLang="zh-TW" b="1" dirty="0">
              <a:solidFill>
                <a:schemeClr val="tx1">
                  <a:lumMod val="75000"/>
                  <a:lumOff val="25000"/>
                </a:schemeClr>
              </a:solidFill>
            </a:endParaRPr>
          </a:p>
          <a:p>
            <a:pPr algn="ctr"/>
            <a:r>
              <a:rPr lang="zh-TW" altLang="en-US" dirty="0">
                <a:solidFill>
                  <a:schemeClr val="tx1">
                    <a:lumMod val="75000"/>
                    <a:lumOff val="25000"/>
                  </a:schemeClr>
                </a:solidFill>
              </a:rPr>
              <a:t>共同協作</a:t>
            </a:r>
          </a:p>
        </p:txBody>
      </p:sp>
      <p:pic>
        <p:nvPicPr>
          <p:cNvPr id="5" name="圖片 4">
            <a:extLst>
              <a:ext uri="{FF2B5EF4-FFF2-40B4-BE49-F238E27FC236}">
                <a16:creationId xmlns:a16="http://schemas.microsoft.com/office/drawing/2014/main" id="{96F60720-B9AA-479C-8597-E54BB886F194}"/>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8526550" y="3413895"/>
            <a:ext cx="868760" cy="868760"/>
          </a:xfrm>
          <a:prstGeom prst="rect">
            <a:avLst/>
          </a:prstGeom>
        </p:spPr>
      </p:pic>
      <p:pic>
        <p:nvPicPr>
          <p:cNvPr id="38" name="圖片 37" descr="一張含有 運輸 的圖片&#10;&#10;描述是以高可信度產生">
            <a:extLst>
              <a:ext uri="{FF2B5EF4-FFF2-40B4-BE49-F238E27FC236}">
                <a16:creationId xmlns:a16="http://schemas.microsoft.com/office/drawing/2014/main" id="{05DD095E-051A-4027-B886-61D52C7ADA8E}"/>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4347124" y="4578351"/>
            <a:ext cx="823357" cy="823357"/>
          </a:xfrm>
          <a:prstGeom prst="rect">
            <a:avLst/>
          </a:prstGeom>
        </p:spPr>
      </p:pic>
      <p:pic>
        <p:nvPicPr>
          <p:cNvPr id="40" name="圖片 39" descr="一張含有 文字 的圖片&#10;&#10;描述是以高可信度產生">
            <a:extLst>
              <a:ext uri="{FF2B5EF4-FFF2-40B4-BE49-F238E27FC236}">
                <a16:creationId xmlns:a16="http://schemas.microsoft.com/office/drawing/2014/main" id="{3A61C2CA-70BA-4BB9-A013-B8D9C9A44147}"/>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6421927" y="4055461"/>
            <a:ext cx="813577" cy="813577"/>
          </a:xfrm>
          <a:prstGeom prst="rect">
            <a:avLst/>
          </a:prstGeom>
        </p:spPr>
      </p:pic>
    </p:spTree>
    <p:extLst>
      <p:ext uri="{BB962C8B-B14F-4D97-AF65-F5344CB8AC3E}">
        <p14:creationId xmlns:p14="http://schemas.microsoft.com/office/powerpoint/2010/main" val="4274482915"/>
      </p:ext>
    </p:extLst>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2000">
        <p15:prstTrans prst="fallOver"/>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1" presetClass="entr" presetSubtype="0" fill="hold" nodeType="afterEffect">
                                  <p:stCondLst>
                                    <p:cond delay="0"/>
                                  </p:stCondLst>
                                  <p:childTnLst>
                                    <p:set>
                                      <p:cBhvr>
                                        <p:cTn id="6" dur="1" fill="hold">
                                          <p:stCondLst>
                                            <p:cond delay="0"/>
                                          </p:stCondLst>
                                        </p:cTn>
                                        <p:tgtEl>
                                          <p:spTgt spid="10"/>
                                        </p:tgtEl>
                                        <p:attrNameLst>
                                          <p:attrName>style.visibility</p:attrName>
                                        </p:attrNameLst>
                                      </p:cBhvr>
                                      <p:to>
                                        <p:strVal val="visible"/>
                                      </p:to>
                                    </p:set>
                                    <p:anim calcmode="lin" valueType="num">
                                      <p:cBhvr>
                                        <p:cTn id="7" dur="1000" fill="hold"/>
                                        <p:tgtEl>
                                          <p:spTgt spid="10"/>
                                        </p:tgtEl>
                                        <p:attrNameLst>
                                          <p:attrName>ppt_w</p:attrName>
                                        </p:attrNameLst>
                                      </p:cBhvr>
                                      <p:tavLst>
                                        <p:tav tm="0">
                                          <p:val>
                                            <p:fltVal val="0"/>
                                          </p:val>
                                        </p:tav>
                                        <p:tav tm="100000">
                                          <p:val>
                                            <p:strVal val="#ppt_w"/>
                                          </p:val>
                                        </p:tav>
                                      </p:tavLst>
                                    </p:anim>
                                    <p:anim calcmode="lin" valueType="num">
                                      <p:cBhvr>
                                        <p:cTn id="8" dur="1000" fill="hold"/>
                                        <p:tgtEl>
                                          <p:spTgt spid="10"/>
                                        </p:tgtEl>
                                        <p:attrNameLst>
                                          <p:attrName>ppt_h</p:attrName>
                                        </p:attrNameLst>
                                      </p:cBhvr>
                                      <p:tavLst>
                                        <p:tav tm="0">
                                          <p:val>
                                            <p:fltVal val="0"/>
                                          </p:val>
                                        </p:tav>
                                        <p:tav tm="100000">
                                          <p:val>
                                            <p:strVal val="#ppt_h"/>
                                          </p:val>
                                        </p:tav>
                                      </p:tavLst>
                                    </p:anim>
                                    <p:anim calcmode="lin" valueType="num">
                                      <p:cBhvr>
                                        <p:cTn id="9" dur="1000" fill="hold"/>
                                        <p:tgtEl>
                                          <p:spTgt spid="10"/>
                                        </p:tgtEl>
                                        <p:attrNameLst>
                                          <p:attrName>style.rotation</p:attrName>
                                        </p:attrNameLst>
                                      </p:cBhvr>
                                      <p:tavLst>
                                        <p:tav tm="0">
                                          <p:val>
                                            <p:fltVal val="90"/>
                                          </p:val>
                                        </p:tav>
                                        <p:tav tm="100000">
                                          <p:val>
                                            <p:fltVal val="0"/>
                                          </p:val>
                                        </p:tav>
                                      </p:tavLst>
                                    </p:anim>
                                    <p:animEffect transition="in" filter="fade">
                                      <p:cBhvr>
                                        <p:cTn id="10" dur="1000"/>
                                        <p:tgtEl>
                                          <p:spTgt spid="10"/>
                                        </p:tgtEl>
                                      </p:cBhvr>
                                    </p:animEffect>
                                  </p:childTnLst>
                                </p:cTn>
                              </p:par>
                            </p:childTnLst>
                          </p:cTn>
                        </p:par>
                        <p:par>
                          <p:cTn id="11" fill="hold">
                            <p:stCondLst>
                              <p:cond delay="1000"/>
                            </p:stCondLst>
                            <p:childTnLst>
                              <p:par>
                                <p:cTn id="12" presetID="6" presetClass="entr" presetSubtype="16" fill="hold" grpId="0" nodeType="after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circle(in)">
                                      <p:cBhvr>
                                        <p:cTn id="14" dur="2000"/>
                                        <p:tgtEl>
                                          <p:spTgt spid="7"/>
                                        </p:tgtEl>
                                      </p:cBhvr>
                                    </p:animEffect>
                                  </p:childTnLst>
                                </p:cTn>
                              </p:par>
                            </p:childTnLst>
                          </p:cTn>
                        </p:par>
                        <p:par>
                          <p:cTn id="15" fill="hold">
                            <p:stCondLst>
                              <p:cond delay="3000"/>
                            </p:stCondLst>
                            <p:childTnLst>
                              <p:par>
                                <p:cTn id="16" presetID="14" presetClass="entr" presetSubtype="10" fill="hold" grpId="0" nodeType="afterEffect">
                                  <p:stCondLst>
                                    <p:cond delay="0"/>
                                  </p:stCondLst>
                                  <p:childTnLst>
                                    <p:set>
                                      <p:cBhvr>
                                        <p:cTn id="17" dur="1" fill="hold">
                                          <p:stCondLst>
                                            <p:cond delay="0"/>
                                          </p:stCondLst>
                                        </p:cTn>
                                        <p:tgtEl>
                                          <p:spTgt spid="2"/>
                                        </p:tgtEl>
                                        <p:attrNameLst>
                                          <p:attrName>style.visibility</p:attrName>
                                        </p:attrNameLst>
                                      </p:cBhvr>
                                      <p:to>
                                        <p:strVal val="visible"/>
                                      </p:to>
                                    </p:set>
                                    <p:animEffect transition="in" filter="randombar(horizontal)">
                                      <p:cBhvr>
                                        <p:cTn id="18" dur="500"/>
                                        <p:tgtEl>
                                          <p:spTgt spid="2"/>
                                        </p:tgtEl>
                                      </p:cBhvr>
                                    </p:animEffect>
                                  </p:childTnLst>
                                </p:cTn>
                              </p:par>
                            </p:childTnLst>
                          </p:cTn>
                        </p:par>
                        <p:par>
                          <p:cTn id="19" fill="hold">
                            <p:stCondLst>
                              <p:cond delay="3500"/>
                            </p:stCondLst>
                            <p:childTnLst>
                              <p:par>
                                <p:cTn id="20" presetID="31" presetClass="entr" presetSubtype="0" fill="hold" grpId="0" nodeType="afterEffect">
                                  <p:stCondLst>
                                    <p:cond delay="0"/>
                                  </p:stCondLst>
                                  <p:childTnLst>
                                    <p:set>
                                      <p:cBhvr>
                                        <p:cTn id="21" dur="1" fill="hold">
                                          <p:stCondLst>
                                            <p:cond delay="0"/>
                                          </p:stCondLst>
                                        </p:cTn>
                                        <p:tgtEl>
                                          <p:spTgt spid="3"/>
                                        </p:tgtEl>
                                        <p:attrNameLst>
                                          <p:attrName>style.visibility</p:attrName>
                                        </p:attrNameLst>
                                      </p:cBhvr>
                                      <p:to>
                                        <p:strVal val="visible"/>
                                      </p:to>
                                    </p:set>
                                    <p:anim calcmode="lin" valueType="num">
                                      <p:cBhvr>
                                        <p:cTn id="22" dur="1000" fill="hold"/>
                                        <p:tgtEl>
                                          <p:spTgt spid="3"/>
                                        </p:tgtEl>
                                        <p:attrNameLst>
                                          <p:attrName>ppt_w</p:attrName>
                                        </p:attrNameLst>
                                      </p:cBhvr>
                                      <p:tavLst>
                                        <p:tav tm="0">
                                          <p:val>
                                            <p:fltVal val="0"/>
                                          </p:val>
                                        </p:tav>
                                        <p:tav tm="100000">
                                          <p:val>
                                            <p:strVal val="#ppt_w"/>
                                          </p:val>
                                        </p:tav>
                                      </p:tavLst>
                                    </p:anim>
                                    <p:anim calcmode="lin" valueType="num">
                                      <p:cBhvr>
                                        <p:cTn id="23" dur="1000" fill="hold"/>
                                        <p:tgtEl>
                                          <p:spTgt spid="3"/>
                                        </p:tgtEl>
                                        <p:attrNameLst>
                                          <p:attrName>ppt_h</p:attrName>
                                        </p:attrNameLst>
                                      </p:cBhvr>
                                      <p:tavLst>
                                        <p:tav tm="0">
                                          <p:val>
                                            <p:fltVal val="0"/>
                                          </p:val>
                                        </p:tav>
                                        <p:tav tm="100000">
                                          <p:val>
                                            <p:strVal val="#ppt_h"/>
                                          </p:val>
                                        </p:tav>
                                      </p:tavLst>
                                    </p:anim>
                                    <p:anim calcmode="lin" valueType="num">
                                      <p:cBhvr>
                                        <p:cTn id="24" dur="1000" fill="hold"/>
                                        <p:tgtEl>
                                          <p:spTgt spid="3"/>
                                        </p:tgtEl>
                                        <p:attrNameLst>
                                          <p:attrName>style.rotation</p:attrName>
                                        </p:attrNameLst>
                                      </p:cBhvr>
                                      <p:tavLst>
                                        <p:tav tm="0">
                                          <p:val>
                                            <p:fltVal val="90"/>
                                          </p:val>
                                        </p:tav>
                                        <p:tav tm="100000">
                                          <p:val>
                                            <p:fltVal val="0"/>
                                          </p:val>
                                        </p:tav>
                                      </p:tavLst>
                                    </p:anim>
                                    <p:animEffect transition="in" filter="fade">
                                      <p:cBhvr>
                                        <p:cTn id="25" dur="1000"/>
                                        <p:tgtEl>
                                          <p:spTgt spid="3"/>
                                        </p:tgtEl>
                                      </p:cBhvr>
                                    </p:animEffect>
                                  </p:childTnLst>
                                </p:cTn>
                              </p:par>
                              <p:par>
                                <p:cTn id="26" presetID="31" presetClass="entr" presetSubtype="0" fill="hold" grpId="0" nodeType="withEffect">
                                  <p:stCondLst>
                                    <p:cond delay="0"/>
                                  </p:stCondLst>
                                  <p:childTnLst>
                                    <p:set>
                                      <p:cBhvr>
                                        <p:cTn id="27" dur="1" fill="hold">
                                          <p:stCondLst>
                                            <p:cond delay="0"/>
                                          </p:stCondLst>
                                        </p:cTn>
                                        <p:tgtEl>
                                          <p:spTgt spid="35"/>
                                        </p:tgtEl>
                                        <p:attrNameLst>
                                          <p:attrName>style.visibility</p:attrName>
                                        </p:attrNameLst>
                                      </p:cBhvr>
                                      <p:to>
                                        <p:strVal val="visible"/>
                                      </p:to>
                                    </p:set>
                                    <p:anim calcmode="lin" valueType="num">
                                      <p:cBhvr>
                                        <p:cTn id="28" dur="1000" fill="hold"/>
                                        <p:tgtEl>
                                          <p:spTgt spid="35"/>
                                        </p:tgtEl>
                                        <p:attrNameLst>
                                          <p:attrName>ppt_w</p:attrName>
                                        </p:attrNameLst>
                                      </p:cBhvr>
                                      <p:tavLst>
                                        <p:tav tm="0">
                                          <p:val>
                                            <p:fltVal val="0"/>
                                          </p:val>
                                        </p:tav>
                                        <p:tav tm="100000">
                                          <p:val>
                                            <p:strVal val="#ppt_w"/>
                                          </p:val>
                                        </p:tav>
                                      </p:tavLst>
                                    </p:anim>
                                    <p:anim calcmode="lin" valueType="num">
                                      <p:cBhvr>
                                        <p:cTn id="29" dur="1000" fill="hold"/>
                                        <p:tgtEl>
                                          <p:spTgt spid="35"/>
                                        </p:tgtEl>
                                        <p:attrNameLst>
                                          <p:attrName>ppt_h</p:attrName>
                                        </p:attrNameLst>
                                      </p:cBhvr>
                                      <p:tavLst>
                                        <p:tav tm="0">
                                          <p:val>
                                            <p:fltVal val="0"/>
                                          </p:val>
                                        </p:tav>
                                        <p:tav tm="100000">
                                          <p:val>
                                            <p:strVal val="#ppt_h"/>
                                          </p:val>
                                        </p:tav>
                                      </p:tavLst>
                                    </p:anim>
                                    <p:anim calcmode="lin" valueType="num">
                                      <p:cBhvr>
                                        <p:cTn id="30" dur="1000" fill="hold"/>
                                        <p:tgtEl>
                                          <p:spTgt spid="35"/>
                                        </p:tgtEl>
                                        <p:attrNameLst>
                                          <p:attrName>style.rotation</p:attrName>
                                        </p:attrNameLst>
                                      </p:cBhvr>
                                      <p:tavLst>
                                        <p:tav tm="0">
                                          <p:val>
                                            <p:fltVal val="90"/>
                                          </p:val>
                                        </p:tav>
                                        <p:tav tm="100000">
                                          <p:val>
                                            <p:fltVal val="0"/>
                                          </p:val>
                                        </p:tav>
                                      </p:tavLst>
                                    </p:anim>
                                    <p:animEffect transition="in" filter="fade">
                                      <p:cBhvr>
                                        <p:cTn id="31" dur="1000"/>
                                        <p:tgtEl>
                                          <p:spTgt spid="35"/>
                                        </p:tgtEl>
                                      </p:cBhvr>
                                    </p:animEffect>
                                  </p:childTnLst>
                                </p:cTn>
                              </p:par>
                              <p:par>
                                <p:cTn id="32" presetID="31" presetClass="entr" presetSubtype="0" fill="hold" grpId="0" nodeType="withEffect">
                                  <p:stCondLst>
                                    <p:cond delay="0"/>
                                  </p:stCondLst>
                                  <p:childTnLst>
                                    <p:set>
                                      <p:cBhvr>
                                        <p:cTn id="33" dur="1" fill="hold">
                                          <p:stCondLst>
                                            <p:cond delay="0"/>
                                          </p:stCondLst>
                                        </p:cTn>
                                        <p:tgtEl>
                                          <p:spTgt spid="36"/>
                                        </p:tgtEl>
                                        <p:attrNameLst>
                                          <p:attrName>style.visibility</p:attrName>
                                        </p:attrNameLst>
                                      </p:cBhvr>
                                      <p:to>
                                        <p:strVal val="visible"/>
                                      </p:to>
                                    </p:set>
                                    <p:anim calcmode="lin" valueType="num">
                                      <p:cBhvr>
                                        <p:cTn id="34" dur="1000" fill="hold"/>
                                        <p:tgtEl>
                                          <p:spTgt spid="36"/>
                                        </p:tgtEl>
                                        <p:attrNameLst>
                                          <p:attrName>ppt_w</p:attrName>
                                        </p:attrNameLst>
                                      </p:cBhvr>
                                      <p:tavLst>
                                        <p:tav tm="0">
                                          <p:val>
                                            <p:fltVal val="0"/>
                                          </p:val>
                                        </p:tav>
                                        <p:tav tm="100000">
                                          <p:val>
                                            <p:strVal val="#ppt_w"/>
                                          </p:val>
                                        </p:tav>
                                      </p:tavLst>
                                    </p:anim>
                                    <p:anim calcmode="lin" valueType="num">
                                      <p:cBhvr>
                                        <p:cTn id="35" dur="1000" fill="hold"/>
                                        <p:tgtEl>
                                          <p:spTgt spid="36"/>
                                        </p:tgtEl>
                                        <p:attrNameLst>
                                          <p:attrName>ppt_h</p:attrName>
                                        </p:attrNameLst>
                                      </p:cBhvr>
                                      <p:tavLst>
                                        <p:tav tm="0">
                                          <p:val>
                                            <p:fltVal val="0"/>
                                          </p:val>
                                        </p:tav>
                                        <p:tav tm="100000">
                                          <p:val>
                                            <p:strVal val="#ppt_h"/>
                                          </p:val>
                                        </p:tav>
                                      </p:tavLst>
                                    </p:anim>
                                    <p:anim calcmode="lin" valueType="num">
                                      <p:cBhvr>
                                        <p:cTn id="36" dur="1000" fill="hold"/>
                                        <p:tgtEl>
                                          <p:spTgt spid="36"/>
                                        </p:tgtEl>
                                        <p:attrNameLst>
                                          <p:attrName>style.rotation</p:attrName>
                                        </p:attrNameLst>
                                      </p:cBhvr>
                                      <p:tavLst>
                                        <p:tav tm="0">
                                          <p:val>
                                            <p:fltVal val="90"/>
                                          </p:val>
                                        </p:tav>
                                        <p:tav tm="100000">
                                          <p:val>
                                            <p:fltVal val="0"/>
                                          </p:val>
                                        </p:tav>
                                      </p:tavLst>
                                    </p:anim>
                                    <p:animEffect transition="in" filter="fade">
                                      <p:cBhvr>
                                        <p:cTn id="37" dur="1000"/>
                                        <p:tgtEl>
                                          <p:spTgt spid="36"/>
                                        </p:tgtEl>
                                      </p:cBhvr>
                                    </p:animEffect>
                                  </p:childTnLst>
                                </p:cTn>
                              </p:par>
                              <p:par>
                                <p:cTn id="38" presetID="31" presetClass="entr" presetSubtype="0" fill="hold" nodeType="withEffect">
                                  <p:stCondLst>
                                    <p:cond delay="0"/>
                                  </p:stCondLst>
                                  <p:childTnLst>
                                    <p:set>
                                      <p:cBhvr>
                                        <p:cTn id="39" dur="1" fill="hold">
                                          <p:stCondLst>
                                            <p:cond delay="0"/>
                                          </p:stCondLst>
                                        </p:cTn>
                                        <p:tgtEl>
                                          <p:spTgt spid="5"/>
                                        </p:tgtEl>
                                        <p:attrNameLst>
                                          <p:attrName>style.visibility</p:attrName>
                                        </p:attrNameLst>
                                      </p:cBhvr>
                                      <p:to>
                                        <p:strVal val="visible"/>
                                      </p:to>
                                    </p:set>
                                    <p:anim calcmode="lin" valueType="num">
                                      <p:cBhvr>
                                        <p:cTn id="40" dur="1000" fill="hold"/>
                                        <p:tgtEl>
                                          <p:spTgt spid="5"/>
                                        </p:tgtEl>
                                        <p:attrNameLst>
                                          <p:attrName>ppt_w</p:attrName>
                                        </p:attrNameLst>
                                      </p:cBhvr>
                                      <p:tavLst>
                                        <p:tav tm="0">
                                          <p:val>
                                            <p:fltVal val="0"/>
                                          </p:val>
                                        </p:tav>
                                        <p:tav tm="100000">
                                          <p:val>
                                            <p:strVal val="#ppt_w"/>
                                          </p:val>
                                        </p:tav>
                                      </p:tavLst>
                                    </p:anim>
                                    <p:anim calcmode="lin" valueType="num">
                                      <p:cBhvr>
                                        <p:cTn id="41" dur="1000" fill="hold"/>
                                        <p:tgtEl>
                                          <p:spTgt spid="5"/>
                                        </p:tgtEl>
                                        <p:attrNameLst>
                                          <p:attrName>ppt_h</p:attrName>
                                        </p:attrNameLst>
                                      </p:cBhvr>
                                      <p:tavLst>
                                        <p:tav tm="0">
                                          <p:val>
                                            <p:fltVal val="0"/>
                                          </p:val>
                                        </p:tav>
                                        <p:tav tm="100000">
                                          <p:val>
                                            <p:strVal val="#ppt_h"/>
                                          </p:val>
                                        </p:tav>
                                      </p:tavLst>
                                    </p:anim>
                                    <p:anim calcmode="lin" valueType="num">
                                      <p:cBhvr>
                                        <p:cTn id="42" dur="1000" fill="hold"/>
                                        <p:tgtEl>
                                          <p:spTgt spid="5"/>
                                        </p:tgtEl>
                                        <p:attrNameLst>
                                          <p:attrName>style.rotation</p:attrName>
                                        </p:attrNameLst>
                                      </p:cBhvr>
                                      <p:tavLst>
                                        <p:tav tm="0">
                                          <p:val>
                                            <p:fltVal val="90"/>
                                          </p:val>
                                        </p:tav>
                                        <p:tav tm="100000">
                                          <p:val>
                                            <p:fltVal val="0"/>
                                          </p:val>
                                        </p:tav>
                                      </p:tavLst>
                                    </p:anim>
                                    <p:animEffect transition="in" filter="fade">
                                      <p:cBhvr>
                                        <p:cTn id="43" dur="1000"/>
                                        <p:tgtEl>
                                          <p:spTgt spid="5"/>
                                        </p:tgtEl>
                                      </p:cBhvr>
                                    </p:animEffect>
                                  </p:childTnLst>
                                </p:cTn>
                              </p:par>
                              <p:par>
                                <p:cTn id="44" presetID="31" presetClass="entr" presetSubtype="0" fill="hold" nodeType="withEffect">
                                  <p:stCondLst>
                                    <p:cond delay="0"/>
                                  </p:stCondLst>
                                  <p:childTnLst>
                                    <p:set>
                                      <p:cBhvr>
                                        <p:cTn id="45" dur="1" fill="hold">
                                          <p:stCondLst>
                                            <p:cond delay="0"/>
                                          </p:stCondLst>
                                        </p:cTn>
                                        <p:tgtEl>
                                          <p:spTgt spid="38"/>
                                        </p:tgtEl>
                                        <p:attrNameLst>
                                          <p:attrName>style.visibility</p:attrName>
                                        </p:attrNameLst>
                                      </p:cBhvr>
                                      <p:to>
                                        <p:strVal val="visible"/>
                                      </p:to>
                                    </p:set>
                                    <p:anim calcmode="lin" valueType="num">
                                      <p:cBhvr>
                                        <p:cTn id="46" dur="1000" fill="hold"/>
                                        <p:tgtEl>
                                          <p:spTgt spid="38"/>
                                        </p:tgtEl>
                                        <p:attrNameLst>
                                          <p:attrName>ppt_w</p:attrName>
                                        </p:attrNameLst>
                                      </p:cBhvr>
                                      <p:tavLst>
                                        <p:tav tm="0">
                                          <p:val>
                                            <p:fltVal val="0"/>
                                          </p:val>
                                        </p:tav>
                                        <p:tav tm="100000">
                                          <p:val>
                                            <p:strVal val="#ppt_w"/>
                                          </p:val>
                                        </p:tav>
                                      </p:tavLst>
                                    </p:anim>
                                    <p:anim calcmode="lin" valueType="num">
                                      <p:cBhvr>
                                        <p:cTn id="47" dur="1000" fill="hold"/>
                                        <p:tgtEl>
                                          <p:spTgt spid="38"/>
                                        </p:tgtEl>
                                        <p:attrNameLst>
                                          <p:attrName>ppt_h</p:attrName>
                                        </p:attrNameLst>
                                      </p:cBhvr>
                                      <p:tavLst>
                                        <p:tav tm="0">
                                          <p:val>
                                            <p:fltVal val="0"/>
                                          </p:val>
                                        </p:tav>
                                        <p:tav tm="100000">
                                          <p:val>
                                            <p:strVal val="#ppt_h"/>
                                          </p:val>
                                        </p:tav>
                                      </p:tavLst>
                                    </p:anim>
                                    <p:anim calcmode="lin" valueType="num">
                                      <p:cBhvr>
                                        <p:cTn id="48" dur="1000" fill="hold"/>
                                        <p:tgtEl>
                                          <p:spTgt spid="38"/>
                                        </p:tgtEl>
                                        <p:attrNameLst>
                                          <p:attrName>style.rotation</p:attrName>
                                        </p:attrNameLst>
                                      </p:cBhvr>
                                      <p:tavLst>
                                        <p:tav tm="0">
                                          <p:val>
                                            <p:fltVal val="90"/>
                                          </p:val>
                                        </p:tav>
                                        <p:tav tm="100000">
                                          <p:val>
                                            <p:fltVal val="0"/>
                                          </p:val>
                                        </p:tav>
                                      </p:tavLst>
                                    </p:anim>
                                    <p:animEffect transition="in" filter="fade">
                                      <p:cBhvr>
                                        <p:cTn id="49" dur="1000"/>
                                        <p:tgtEl>
                                          <p:spTgt spid="38"/>
                                        </p:tgtEl>
                                      </p:cBhvr>
                                    </p:animEffect>
                                  </p:childTnLst>
                                </p:cTn>
                              </p:par>
                              <p:par>
                                <p:cTn id="50" presetID="31" presetClass="entr" presetSubtype="0" fill="hold" nodeType="withEffect">
                                  <p:stCondLst>
                                    <p:cond delay="0"/>
                                  </p:stCondLst>
                                  <p:childTnLst>
                                    <p:set>
                                      <p:cBhvr>
                                        <p:cTn id="51" dur="1" fill="hold">
                                          <p:stCondLst>
                                            <p:cond delay="0"/>
                                          </p:stCondLst>
                                        </p:cTn>
                                        <p:tgtEl>
                                          <p:spTgt spid="40"/>
                                        </p:tgtEl>
                                        <p:attrNameLst>
                                          <p:attrName>style.visibility</p:attrName>
                                        </p:attrNameLst>
                                      </p:cBhvr>
                                      <p:to>
                                        <p:strVal val="visible"/>
                                      </p:to>
                                    </p:set>
                                    <p:anim calcmode="lin" valueType="num">
                                      <p:cBhvr>
                                        <p:cTn id="52" dur="1000" fill="hold"/>
                                        <p:tgtEl>
                                          <p:spTgt spid="40"/>
                                        </p:tgtEl>
                                        <p:attrNameLst>
                                          <p:attrName>ppt_w</p:attrName>
                                        </p:attrNameLst>
                                      </p:cBhvr>
                                      <p:tavLst>
                                        <p:tav tm="0">
                                          <p:val>
                                            <p:fltVal val="0"/>
                                          </p:val>
                                        </p:tav>
                                        <p:tav tm="100000">
                                          <p:val>
                                            <p:strVal val="#ppt_w"/>
                                          </p:val>
                                        </p:tav>
                                      </p:tavLst>
                                    </p:anim>
                                    <p:anim calcmode="lin" valueType="num">
                                      <p:cBhvr>
                                        <p:cTn id="53" dur="1000" fill="hold"/>
                                        <p:tgtEl>
                                          <p:spTgt spid="40"/>
                                        </p:tgtEl>
                                        <p:attrNameLst>
                                          <p:attrName>ppt_h</p:attrName>
                                        </p:attrNameLst>
                                      </p:cBhvr>
                                      <p:tavLst>
                                        <p:tav tm="0">
                                          <p:val>
                                            <p:fltVal val="0"/>
                                          </p:val>
                                        </p:tav>
                                        <p:tav tm="100000">
                                          <p:val>
                                            <p:strVal val="#ppt_h"/>
                                          </p:val>
                                        </p:tav>
                                      </p:tavLst>
                                    </p:anim>
                                    <p:anim calcmode="lin" valueType="num">
                                      <p:cBhvr>
                                        <p:cTn id="54" dur="1000" fill="hold"/>
                                        <p:tgtEl>
                                          <p:spTgt spid="40"/>
                                        </p:tgtEl>
                                        <p:attrNameLst>
                                          <p:attrName>style.rotation</p:attrName>
                                        </p:attrNameLst>
                                      </p:cBhvr>
                                      <p:tavLst>
                                        <p:tav tm="0">
                                          <p:val>
                                            <p:fltVal val="90"/>
                                          </p:val>
                                        </p:tav>
                                        <p:tav tm="100000">
                                          <p:val>
                                            <p:fltVal val="0"/>
                                          </p:val>
                                        </p:tav>
                                      </p:tavLst>
                                    </p:anim>
                                    <p:animEffect transition="in" filter="fade">
                                      <p:cBhvr>
                                        <p:cTn id="55" dur="1000"/>
                                        <p:tgtEl>
                                          <p:spTgt spid="4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2" grpId="0"/>
      <p:bldP spid="3" grpId="0"/>
      <p:bldP spid="35" grpId="0"/>
      <p:bldP spid="36" grpId="0"/>
    </p:bld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標題 1"/>
          <p:cNvSpPr txBox="1">
            <a:spLocks/>
          </p:cNvSpPr>
          <p:nvPr/>
        </p:nvSpPr>
        <p:spPr>
          <a:xfrm>
            <a:off x="1073754" y="510244"/>
            <a:ext cx="3643527" cy="874595"/>
          </a:xfrm>
          <a:prstGeom prst="rect">
            <a:avLst/>
          </a:prstGeom>
        </p:spPr>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zh-TW" altLang="en-US" sz="2400" b="1" dirty="0">
                <a:solidFill>
                  <a:srgbClr val="E06741"/>
                </a:solidFill>
              </a:rPr>
              <a:t>區塊鏈技術的變革</a:t>
            </a:r>
          </a:p>
          <a:p>
            <a:endParaRPr lang="zh-TW" altLang="en-US" sz="2400" dirty="0">
              <a:solidFill>
                <a:srgbClr val="E06741"/>
              </a:solidFill>
              <a:latin typeface="標楷體" panose="03000509000000000000" pitchFamily="65" charset="-120"/>
              <a:ea typeface="標楷體" panose="03000509000000000000" pitchFamily="65" charset="-120"/>
              <a:cs typeface="Times New Roman" panose="02020603050405020304" pitchFamily="18" charset="0"/>
            </a:endParaRPr>
          </a:p>
        </p:txBody>
      </p:sp>
      <p:sp>
        <p:nvSpPr>
          <p:cNvPr id="2" name="矩形 1"/>
          <p:cNvSpPr/>
          <p:nvPr/>
        </p:nvSpPr>
        <p:spPr>
          <a:xfrm>
            <a:off x="1797523" y="1486792"/>
            <a:ext cx="9781910" cy="5010474"/>
          </a:xfrm>
          <a:prstGeom prst="rect">
            <a:avLst/>
          </a:prstGeom>
        </p:spPr>
        <p:txBody>
          <a:bodyPr wrap="square">
            <a:spAutoFit/>
          </a:bodyPr>
          <a:lstStyle/>
          <a:p>
            <a:pPr>
              <a:lnSpc>
                <a:spcPct val="150000"/>
              </a:lnSpc>
            </a:pPr>
            <a:r>
              <a:rPr lang="zh-TW" altLang="en-US" sz="2400" b="1" dirty="0">
                <a:solidFill>
                  <a:schemeClr val="tx2"/>
                </a:solidFill>
                <a:latin typeface="微軟正黑體" panose="020B0604030504040204" pitchFamily="34" charset="-120"/>
                <a:ea typeface="微軟正黑體" panose="020B0604030504040204" pitchFamily="34" charset="-120"/>
              </a:rPr>
              <a:t>前期</a:t>
            </a:r>
            <a:r>
              <a:rPr lang="en-US" altLang="zh-TW" sz="2400" b="1" dirty="0">
                <a:solidFill>
                  <a:schemeClr val="tx2"/>
                </a:solidFill>
                <a:latin typeface="微軟正黑體" panose="020B0604030504040204" pitchFamily="34" charset="-120"/>
                <a:ea typeface="微軟正黑體" panose="020B0604030504040204" pitchFamily="34" charset="-120"/>
              </a:rPr>
              <a:t>-</a:t>
            </a:r>
            <a:r>
              <a:rPr lang="zh-TW" altLang="en-US" sz="2400" b="1" dirty="0">
                <a:solidFill>
                  <a:schemeClr val="tx2"/>
                </a:solidFill>
                <a:latin typeface="微軟正黑體" panose="020B0604030504040204" pitchFamily="34" charset="-120"/>
                <a:ea typeface="微軟正黑體" panose="020B0604030504040204" pitchFamily="34" charset="-120"/>
              </a:rPr>
              <a:t>數位貨幣 </a:t>
            </a:r>
            <a:r>
              <a:rPr lang="en-US" altLang="zh-TW" sz="2400" b="1" dirty="0">
                <a:solidFill>
                  <a:schemeClr val="tx2"/>
                </a:solidFill>
                <a:latin typeface="微軟正黑體" panose="020B0604030504040204" pitchFamily="34" charset="-120"/>
                <a:ea typeface="微軟正黑體" panose="020B0604030504040204" pitchFamily="34" charset="-120"/>
              </a:rPr>
              <a:t>(Digital Currency)</a:t>
            </a:r>
          </a:p>
          <a:p>
            <a:pPr>
              <a:lnSpc>
                <a:spcPct val="150000"/>
              </a:lnSpc>
            </a:pPr>
            <a:r>
              <a:rPr lang="zh-TW" altLang="en-US" sz="2400" b="1" dirty="0">
                <a:solidFill>
                  <a:schemeClr val="tx1">
                    <a:lumMod val="75000"/>
                    <a:lumOff val="25000"/>
                  </a:schemeClr>
                </a:solidFill>
                <a:latin typeface="微軟正黑體" panose="020B0604030504040204" pitchFamily="34" charset="-120"/>
                <a:ea typeface="微軟正黑體" panose="020B0604030504040204" pitchFamily="34" charset="-120"/>
              </a:rPr>
              <a:t>        區塊鏈技術最早應用於</a:t>
            </a:r>
            <a:r>
              <a:rPr lang="en-US" altLang="zh-TW" sz="2400" b="1" dirty="0">
                <a:solidFill>
                  <a:schemeClr val="tx1">
                    <a:lumMod val="75000"/>
                    <a:lumOff val="25000"/>
                  </a:schemeClr>
                </a:solidFill>
                <a:latin typeface="微軟正黑體" panose="020B0604030504040204" pitchFamily="34" charset="-120"/>
                <a:ea typeface="微軟正黑體" panose="020B0604030504040204" pitchFamily="34" charset="-120"/>
              </a:rPr>
              <a:t>2009</a:t>
            </a:r>
            <a:r>
              <a:rPr lang="zh-TW" altLang="en-US" sz="2400" b="1" dirty="0">
                <a:solidFill>
                  <a:schemeClr val="tx1">
                    <a:lumMod val="75000"/>
                    <a:lumOff val="25000"/>
                  </a:schemeClr>
                </a:solidFill>
                <a:latin typeface="微軟正黑體" panose="020B0604030504040204" pitchFamily="34" charset="-120"/>
                <a:ea typeface="微軟正黑體" panose="020B0604030504040204" pitchFamily="34" charset="-120"/>
              </a:rPr>
              <a:t>年的比特幣</a:t>
            </a:r>
            <a:r>
              <a:rPr lang="en-US" altLang="zh-TW" sz="2400" b="1" dirty="0">
                <a:solidFill>
                  <a:schemeClr val="tx1">
                    <a:lumMod val="75000"/>
                    <a:lumOff val="25000"/>
                  </a:schemeClr>
                </a:solidFill>
                <a:latin typeface="微軟正黑體" panose="020B0604030504040204" pitchFamily="34" charset="-120"/>
                <a:ea typeface="微軟正黑體" panose="020B0604030504040204" pitchFamily="34" charset="-120"/>
              </a:rPr>
              <a:t>(Bit Coin)</a:t>
            </a:r>
            <a:r>
              <a:rPr lang="zh-TW" altLang="en-US" sz="2400" b="1" dirty="0">
                <a:solidFill>
                  <a:schemeClr val="tx1">
                    <a:lumMod val="75000"/>
                    <a:lumOff val="25000"/>
                  </a:schemeClr>
                </a:solidFill>
                <a:latin typeface="微軟正黑體" panose="020B0604030504040204" pitchFamily="34" charset="-120"/>
                <a:ea typeface="微軟正黑體" panose="020B0604030504040204" pitchFamily="34" charset="-120"/>
              </a:rPr>
              <a:t>支付系統，同時也建立起了數位貨幣的時代，甚至將數位貨幣帶入實質化交易的時代。</a:t>
            </a:r>
          </a:p>
          <a:p>
            <a:pPr>
              <a:lnSpc>
                <a:spcPct val="150000"/>
              </a:lnSpc>
            </a:pPr>
            <a:r>
              <a:rPr lang="zh-TW" altLang="en-US" sz="2400" b="1" dirty="0">
                <a:solidFill>
                  <a:schemeClr val="tx1">
                    <a:lumMod val="75000"/>
                    <a:lumOff val="25000"/>
                  </a:schemeClr>
                </a:solidFill>
                <a:latin typeface="微軟正黑體" panose="020B0604030504040204" pitchFamily="34" charset="-120"/>
                <a:ea typeface="微軟正黑體" panose="020B0604030504040204" pitchFamily="34" charset="-120"/>
              </a:rPr>
              <a:t>        區塊鏈系統提供一個信任機制的平台，當使用者</a:t>
            </a:r>
            <a:r>
              <a:rPr lang="en-US" altLang="zh-TW" sz="2400" b="1" dirty="0">
                <a:solidFill>
                  <a:schemeClr val="tx1">
                    <a:lumMod val="75000"/>
                    <a:lumOff val="25000"/>
                  </a:schemeClr>
                </a:solidFill>
                <a:latin typeface="微軟正黑體" panose="020B0604030504040204" pitchFamily="34" charset="-120"/>
                <a:ea typeface="微軟正黑體" panose="020B0604030504040204" pitchFamily="34" charset="-120"/>
              </a:rPr>
              <a:t>(</a:t>
            </a:r>
            <a:r>
              <a:rPr lang="zh-TW" altLang="en-US" sz="2400" b="1" dirty="0">
                <a:solidFill>
                  <a:schemeClr val="tx1">
                    <a:lumMod val="75000"/>
                    <a:lumOff val="25000"/>
                  </a:schemeClr>
                </a:solidFill>
                <a:latin typeface="微軟正黑體" panose="020B0604030504040204" pitchFamily="34" charset="-120"/>
                <a:ea typeface="微軟正黑體" panose="020B0604030504040204" pitchFamily="34" charset="-120"/>
              </a:rPr>
              <a:t>即節點</a:t>
            </a:r>
            <a:r>
              <a:rPr lang="en-US" altLang="zh-TW" sz="2400" b="1" dirty="0">
                <a:solidFill>
                  <a:schemeClr val="tx1">
                    <a:lumMod val="75000"/>
                    <a:lumOff val="25000"/>
                  </a:schemeClr>
                </a:solidFill>
                <a:latin typeface="微軟正黑體" panose="020B0604030504040204" pitchFamily="34" charset="-120"/>
                <a:ea typeface="微軟正黑體" panose="020B0604030504040204" pitchFamily="34" charset="-120"/>
              </a:rPr>
              <a:t>)</a:t>
            </a:r>
            <a:r>
              <a:rPr lang="zh-TW" altLang="en-US" sz="2400" b="1" dirty="0">
                <a:solidFill>
                  <a:schemeClr val="tx1">
                    <a:lumMod val="75000"/>
                    <a:lumOff val="25000"/>
                  </a:schemeClr>
                </a:solidFill>
                <a:latin typeface="微軟正黑體" panose="020B0604030504040204" pitchFamily="34" charset="-120"/>
                <a:ea typeface="微軟正黑體" panose="020B0604030504040204" pitchFamily="34" charset="-120"/>
              </a:rPr>
              <a:t>在彼此不信任的情況下，若欲進行彼此間的交易行為時，即可透過區塊鏈技術的協助，在信任機制的平台上，經由使用者的公鑰</a:t>
            </a:r>
            <a:r>
              <a:rPr lang="en-US" altLang="zh-TW" sz="2400" b="1" dirty="0">
                <a:solidFill>
                  <a:schemeClr val="tx1">
                    <a:lumMod val="75000"/>
                    <a:lumOff val="25000"/>
                  </a:schemeClr>
                </a:solidFill>
                <a:latin typeface="微軟正黑體" panose="020B0604030504040204" pitchFamily="34" charset="-120"/>
                <a:ea typeface="微軟正黑體" panose="020B0604030504040204" pitchFamily="34" charset="-120"/>
              </a:rPr>
              <a:t>IP</a:t>
            </a:r>
            <a:r>
              <a:rPr lang="zh-TW" altLang="en-US" sz="2400" b="1" dirty="0">
                <a:solidFill>
                  <a:schemeClr val="tx1">
                    <a:lumMod val="75000"/>
                    <a:lumOff val="25000"/>
                  </a:schemeClr>
                </a:solidFill>
                <a:latin typeface="微軟正黑體" panose="020B0604030504040204" pitchFamily="34" charset="-120"/>
                <a:ea typeface="微軟正黑體" panose="020B0604030504040204" pitchFamily="34" charset="-120"/>
              </a:rPr>
              <a:t>位址建立起彼此的信任，以及實施交易，交易過程是完全透明、公開，這樣的作法是區塊鏈技術前期的作法。</a:t>
            </a:r>
            <a:br>
              <a:rPr lang="zh-TW" altLang="en-US" sz="2400" b="1" dirty="0">
                <a:solidFill>
                  <a:schemeClr val="tx1">
                    <a:lumMod val="75000"/>
                    <a:lumOff val="25000"/>
                  </a:schemeClr>
                </a:solidFill>
                <a:latin typeface="微軟正黑體" panose="020B0604030504040204" pitchFamily="34" charset="-120"/>
                <a:ea typeface="微軟正黑體" panose="020B0604030504040204" pitchFamily="34" charset="-120"/>
              </a:rPr>
            </a:br>
            <a:endParaRPr lang="zh-TW" altLang="en-US" sz="2400" b="1" dirty="0">
              <a:solidFill>
                <a:schemeClr val="tx1">
                  <a:lumMod val="75000"/>
                  <a:lumOff val="25000"/>
                </a:schemeClr>
              </a:solidFill>
              <a:latin typeface="微軟正黑體" panose="020B0604030504040204" pitchFamily="34" charset="-120"/>
              <a:ea typeface="微軟正黑體" panose="020B0604030504040204" pitchFamily="34" charset="-120"/>
            </a:endParaRPr>
          </a:p>
        </p:txBody>
      </p:sp>
      <p:pic>
        <p:nvPicPr>
          <p:cNvPr id="8" name="图片 42">
            <a:extLst>
              <a:ext uri="{FF2B5EF4-FFF2-40B4-BE49-F238E27FC236}">
                <a16:creationId xmlns:a16="http://schemas.microsoft.com/office/drawing/2014/main" id="{C8D97DA4-6242-4E73-AEFC-457D04FDC65B}"/>
              </a:ext>
            </a:extLst>
          </p:cNvPr>
          <p:cNvPicPr>
            <a:picLocks noChangeAspect="1"/>
          </p:cNvPicPr>
          <p:nvPr/>
        </p:nvPicPr>
        <p:blipFill>
          <a:blip r:embed="rId2"/>
          <a:stretch>
            <a:fillRect/>
          </a:stretch>
        </p:blipFill>
        <p:spPr>
          <a:xfrm rot="16200000">
            <a:off x="145169" y="-145167"/>
            <a:ext cx="1268414" cy="1558750"/>
          </a:xfrm>
          <a:prstGeom prst="rect">
            <a:avLst/>
          </a:prstGeom>
        </p:spPr>
      </p:pic>
      <p:sp>
        <p:nvSpPr>
          <p:cNvPr id="6" name="文字方塊 5">
            <a:extLst>
              <a:ext uri="{FF2B5EF4-FFF2-40B4-BE49-F238E27FC236}">
                <a16:creationId xmlns:a16="http://schemas.microsoft.com/office/drawing/2014/main" id="{8A30B01A-3198-4955-A208-0E3D9EB60397}"/>
              </a:ext>
            </a:extLst>
          </p:cNvPr>
          <p:cNvSpPr txBox="1"/>
          <p:nvPr/>
        </p:nvSpPr>
        <p:spPr>
          <a:xfrm>
            <a:off x="1558751" y="6596390"/>
            <a:ext cx="4217821" cy="261610"/>
          </a:xfrm>
          <a:prstGeom prst="rect">
            <a:avLst/>
          </a:prstGeom>
          <a:noFill/>
        </p:spPr>
        <p:txBody>
          <a:bodyPr wrap="none" rtlCol="0">
            <a:spAutoFit/>
          </a:bodyPr>
          <a:lstStyle/>
          <a:p>
            <a:r>
              <a:rPr lang="zh-TW" altLang="en-US" sz="1100" dirty="0">
                <a:latin typeface="Microsoft JhengHei Light" panose="020B0304030504040204" pitchFamily="34" charset="-120"/>
                <a:ea typeface="Microsoft JhengHei Light" panose="020B0304030504040204" pitchFamily="34" charset="-120"/>
              </a:rPr>
              <a:t>區塊鏈商業應用概論 實例與分析／新陸書局股份有限公司 發行</a:t>
            </a:r>
          </a:p>
        </p:txBody>
      </p:sp>
      <p:pic>
        <p:nvPicPr>
          <p:cNvPr id="10" name="圖片 9" descr="一張含有 運輸 的圖片&#10;&#10;描述是以高可信度產生">
            <a:extLst>
              <a:ext uri="{FF2B5EF4-FFF2-40B4-BE49-F238E27FC236}">
                <a16:creationId xmlns:a16="http://schemas.microsoft.com/office/drawing/2014/main" id="{7FD8AAF2-90D2-457C-83F6-FEF3EF96AA35}"/>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105285" y="5720501"/>
            <a:ext cx="627255" cy="627255"/>
          </a:xfrm>
          <a:prstGeom prst="rect">
            <a:avLst/>
          </a:prstGeom>
        </p:spPr>
      </p:pic>
      <p:pic>
        <p:nvPicPr>
          <p:cNvPr id="12" name="圖片 11" descr="一張含有 文字, 向量圖形 的圖片&#10;&#10;描述是以高可信度產生">
            <a:extLst>
              <a:ext uri="{FF2B5EF4-FFF2-40B4-BE49-F238E27FC236}">
                <a16:creationId xmlns:a16="http://schemas.microsoft.com/office/drawing/2014/main" id="{AEEA82A1-4249-4D8D-9C3D-0287FE112F48}"/>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429595" y="77967"/>
            <a:ext cx="1929763" cy="1929763"/>
          </a:xfrm>
          <a:prstGeom prst="rect">
            <a:avLst/>
          </a:prstGeom>
        </p:spPr>
      </p:pic>
      <p:pic>
        <p:nvPicPr>
          <p:cNvPr id="13" name="圖片 12" descr="一張含有 運輸 的圖片&#10;&#10;描述是以高可信度產生">
            <a:extLst>
              <a:ext uri="{FF2B5EF4-FFF2-40B4-BE49-F238E27FC236}">
                <a16:creationId xmlns:a16="http://schemas.microsoft.com/office/drawing/2014/main" id="{03837F9D-83DE-41A2-95A9-4A09F2EDBCE3}"/>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11282" y="4300982"/>
            <a:ext cx="627255" cy="627255"/>
          </a:xfrm>
          <a:prstGeom prst="rect">
            <a:avLst/>
          </a:prstGeom>
        </p:spPr>
      </p:pic>
      <p:pic>
        <p:nvPicPr>
          <p:cNvPr id="14" name="圖片 13" descr="一張含有 運輸 的圖片&#10;&#10;描述是以高可信度產生">
            <a:extLst>
              <a:ext uri="{FF2B5EF4-FFF2-40B4-BE49-F238E27FC236}">
                <a16:creationId xmlns:a16="http://schemas.microsoft.com/office/drawing/2014/main" id="{5FF3D160-F8F3-423E-99C7-72EC55E9E40D}"/>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40259" y="5386909"/>
            <a:ext cx="506209" cy="506209"/>
          </a:xfrm>
          <a:prstGeom prst="rect">
            <a:avLst/>
          </a:prstGeom>
        </p:spPr>
      </p:pic>
      <p:pic>
        <p:nvPicPr>
          <p:cNvPr id="15" name="圖片 14" descr="一張含有 運輸 的圖片&#10;&#10;描述是以高可信度產生">
            <a:extLst>
              <a:ext uri="{FF2B5EF4-FFF2-40B4-BE49-F238E27FC236}">
                <a16:creationId xmlns:a16="http://schemas.microsoft.com/office/drawing/2014/main" id="{58044943-3362-4D43-80AE-BC386A18ED85}"/>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140259" y="3584944"/>
            <a:ext cx="394870" cy="394870"/>
          </a:xfrm>
          <a:prstGeom prst="rect">
            <a:avLst/>
          </a:prstGeom>
        </p:spPr>
      </p:pic>
    </p:spTree>
    <p:extLst>
      <p:ext uri="{BB962C8B-B14F-4D97-AF65-F5344CB8AC3E}">
        <p14:creationId xmlns:p14="http://schemas.microsoft.com/office/powerpoint/2010/main" val="2170545492"/>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6" presetClass="entr" presetSubtype="16" fill="hold" grpId="0" nodeType="after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circle(in)">
                                      <p:cBhvr>
                                        <p:cTn id="7" dur="2000"/>
                                        <p:tgtEl>
                                          <p:spTgt spid="7"/>
                                        </p:tgtEl>
                                      </p:cBhvr>
                                    </p:animEffect>
                                  </p:childTnLst>
                                </p:cTn>
                              </p:par>
                            </p:childTnLst>
                          </p:cTn>
                        </p:par>
                        <p:par>
                          <p:cTn id="8" fill="hold">
                            <p:stCondLst>
                              <p:cond delay="2000"/>
                            </p:stCondLst>
                            <p:childTnLst>
                              <p:par>
                                <p:cTn id="9" presetID="14" presetClass="entr" presetSubtype="10" fill="hold" grpId="0" nodeType="afterEffect">
                                  <p:stCondLst>
                                    <p:cond delay="0"/>
                                  </p:stCondLst>
                                  <p:childTnLst>
                                    <p:set>
                                      <p:cBhvr>
                                        <p:cTn id="10" dur="1" fill="hold">
                                          <p:stCondLst>
                                            <p:cond delay="0"/>
                                          </p:stCondLst>
                                        </p:cTn>
                                        <p:tgtEl>
                                          <p:spTgt spid="2"/>
                                        </p:tgtEl>
                                        <p:attrNameLst>
                                          <p:attrName>style.visibility</p:attrName>
                                        </p:attrNameLst>
                                      </p:cBhvr>
                                      <p:to>
                                        <p:strVal val="visible"/>
                                      </p:to>
                                    </p:set>
                                    <p:animEffect transition="in" filter="randombar(horizontal)">
                                      <p:cBhvr>
                                        <p:cTn id="11" dur="500"/>
                                        <p:tgtEl>
                                          <p:spTgt spid="2"/>
                                        </p:tgtEl>
                                      </p:cBhvr>
                                    </p:animEffect>
                                  </p:childTnLst>
                                </p:cTn>
                              </p:par>
                            </p:childTnLst>
                          </p:cTn>
                        </p:par>
                        <p:par>
                          <p:cTn id="12" fill="hold">
                            <p:stCondLst>
                              <p:cond delay="2500"/>
                            </p:stCondLst>
                            <p:childTnLst>
                              <p:par>
                                <p:cTn id="13" presetID="16" presetClass="entr" presetSubtype="21" fill="hold" nodeType="afterEffect">
                                  <p:stCondLst>
                                    <p:cond delay="0"/>
                                  </p:stCondLst>
                                  <p:childTnLst>
                                    <p:set>
                                      <p:cBhvr>
                                        <p:cTn id="14" dur="1" fill="hold">
                                          <p:stCondLst>
                                            <p:cond delay="0"/>
                                          </p:stCondLst>
                                        </p:cTn>
                                        <p:tgtEl>
                                          <p:spTgt spid="10"/>
                                        </p:tgtEl>
                                        <p:attrNameLst>
                                          <p:attrName>style.visibility</p:attrName>
                                        </p:attrNameLst>
                                      </p:cBhvr>
                                      <p:to>
                                        <p:strVal val="visible"/>
                                      </p:to>
                                    </p:set>
                                    <p:animEffect transition="in" filter="barn(inVertical)">
                                      <p:cBhvr>
                                        <p:cTn id="15" dur="500"/>
                                        <p:tgtEl>
                                          <p:spTgt spid="10"/>
                                        </p:tgtEl>
                                      </p:cBhvr>
                                    </p:animEffect>
                                  </p:childTnLst>
                                </p:cTn>
                              </p:par>
                              <p:par>
                                <p:cTn id="16" presetID="16" presetClass="entr" presetSubtype="21" fill="hold" nodeType="with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barn(inVertical)">
                                      <p:cBhvr>
                                        <p:cTn id="18" dur="500"/>
                                        <p:tgtEl>
                                          <p:spTgt spid="13"/>
                                        </p:tgtEl>
                                      </p:cBhvr>
                                    </p:animEffect>
                                  </p:childTnLst>
                                </p:cTn>
                              </p:par>
                              <p:par>
                                <p:cTn id="19" presetID="16" presetClass="entr" presetSubtype="21" fill="hold" nodeType="withEffect">
                                  <p:stCondLst>
                                    <p:cond delay="0"/>
                                  </p:stCondLst>
                                  <p:childTnLst>
                                    <p:set>
                                      <p:cBhvr>
                                        <p:cTn id="20" dur="1" fill="hold">
                                          <p:stCondLst>
                                            <p:cond delay="0"/>
                                          </p:stCondLst>
                                        </p:cTn>
                                        <p:tgtEl>
                                          <p:spTgt spid="15"/>
                                        </p:tgtEl>
                                        <p:attrNameLst>
                                          <p:attrName>style.visibility</p:attrName>
                                        </p:attrNameLst>
                                      </p:cBhvr>
                                      <p:to>
                                        <p:strVal val="visible"/>
                                      </p:to>
                                    </p:set>
                                    <p:animEffect transition="in" filter="barn(inVertical)">
                                      <p:cBhvr>
                                        <p:cTn id="21" dur="500"/>
                                        <p:tgtEl>
                                          <p:spTgt spid="15"/>
                                        </p:tgtEl>
                                      </p:cBhvr>
                                    </p:animEffect>
                                  </p:childTnLst>
                                </p:cTn>
                              </p:par>
                              <p:par>
                                <p:cTn id="22" presetID="16" presetClass="entr" presetSubtype="21" fill="hold" nodeType="withEffect">
                                  <p:stCondLst>
                                    <p:cond delay="0"/>
                                  </p:stCondLst>
                                  <p:childTnLst>
                                    <p:set>
                                      <p:cBhvr>
                                        <p:cTn id="23" dur="1" fill="hold">
                                          <p:stCondLst>
                                            <p:cond delay="0"/>
                                          </p:stCondLst>
                                        </p:cTn>
                                        <p:tgtEl>
                                          <p:spTgt spid="14"/>
                                        </p:tgtEl>
                                        <p:attrNameLst>
                                          <p:attrName>style.visibility</p:attrName>
                                        </p:attrNameLst>
                                      </p:cBhvr>
                                      <p:to>
                                        <p:strVal val="visible"/>
                                      </p:to>
                                    </p:set>
                                    <p:animEffect transition="in" filter="barn(inVertical)">
                                      <p:cBhvr>
                                        <p:cTn id="24" dur="500"/>
                                        <p:tgtEl>
                                          <p:spTgt spid="14"/>
                                        </p:tgtEl>
                                      </p:cBhvr>
                                    </p:animEffect>
                                  </p:childTnLst>
                                </p:cTn>
                              </p:par>
                              <p:par>
                                <p:cTn id="25" presetID="22" presetClass="entr" presetSubtype="4" fill="hold" nodeType="withEffect">
                                  <p:stCondLst>
                                    <p:cond delay="0"/>
                                  </p:stCondLst>
                                  <p:childTnLst>
                                    <p:set>
                                      <p:cBhvr>
                                        <p:cTn id="26" dur="1" fill="hold">
                                          <p:stCondLst>
                                            <p:cond delay="0"/>
                                          </p:stCondLst>
                                        </p:cTn>
                                        <p:tgtEl>
                                          <p:spTgt spid="12"/>
                                        </p:tgtEl>
                                        <p:attrNameLst>
                                          <p:attrName>style.visibility</p:attrName>
                                        </p:attrNameLst>
                                      </p:cBhvr>
                                      <p:to>
                                        <p:strVal val="visible"/>
                                      </p:to>
                                    </p:set>
                                    <p:animEffect transition="in" filter="wipe(down)">
                                      <p:cBhvr>
                                        <p:cTn id="27"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2" grpId="0"/>
    </p:bld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標題 1"/>
          <p:cNvSpPr txBox="1">
            <a:spLocks/>
          </p:cNvSpPr>
          <p:nvPr/>
        </p:nvSpPr>
        <p:spPr>
          <a:xfrm>
            <a:off x="1073754" y="510244"/>
            <a:ext cx="3643527" cy="874595"/>
          </a:xfrm>
          <a:prstGeom prst="rect">
            <a:avLst/>
          </a:prstGeom>
        </p:spPr>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zh-TW" altLang="en-US" sz="2400" b="1" dirty="0">
                <a:solidFill>
                  <a:srgbClr val="E06741"/>
                </a:solidFill>
              </a:rPr>
              <a:t>區塊鏈技術的變革</a:t>
            </a:r>
          </a:p>
          <a:p>
            <a:endParaRPr lang="zh-TW" altLang="en-US" sz="2400" dirty="0">
              <a:solidFill>
                <a:srgbClr val="E06741"/>
              </a:solidFill>
              <a:latin typeface="標楷體" panose="03000509000000000000" pitchFamily="65" charset="-120"/>
              <a:ea typeface="標楷體" panose="03000509000000000000" pitchFamily="65" charset="-120"/>
              <a:cs typeface="Times New Roman" panose="02020603050405020304" pitchFamily="18" charset="0"/>
            </a:endParaRPr>
          </a:p>
        </p:txBody>
      </p:sp>
      <p:sp>
        <p:nvSpPr>
          <p:cNvPr id="2" name="矩形 1"/>
          <p:cNvSpPr/>
          <p:nvPr/>
        </p:nvSpPr>
        <p:spPr>
          <a:xfrm>
            <a:off x="1798808" y="1129440"/>
            <a:ext cx="9489302" cy="3348481"/>
          </a:xfrm>
          <a:prstGeom prst="rect">
            <a:avLst/>
          </a:prstGeom>
        </p:spPr>
        <p:txBody>
          <a:bodyPr wrap="square">
            <a:spAutoFit/>
          </a:bodyPr>
          <a:lstStyle/>
          <a:p>
            <a:pPr>
              <a:lnSpc>
                <a:spcPct val="150000"/>
              </a:lnSpc>
            </a:pPr>
            <a:r>
              <a:rPr lang="zh-TW" altLang="en-US" sz="2400" b="1" dirty="0">
                <a:solidFill>
                  <a:schemeClr val="tx2"/>
                </a:solidFill>
                <a:latin typeface="微軟正黑體" panose="020B0604030504040204" pitchFamily="34" charset="-120"/>
                <a:ea typeface="微軟正黑體" panose="020B0604030504040204" pitchFamily="34" charset="-120"/>
              </a:rPr>
              <a:t>中期</a:t>
            </a:r>
            <a:r>
              <a:rPr lang="en-US" altLang="zh-TW" sz="2400" b="1" dirty="0">
                <a:solidFill>
                  <a:schemeClr val="tx2"/>
                </a:solidFill>
                <a:latin typeface="微軟正黑體" panose="020B0604030504040204" pitchFamily="34" charset="-120"/>
                <a:ea typeface="微軟正黑體" panose="020B0604030504040204" pitchFamily="34" charset="-120"/>
              </a:rPr>
              <a:t>-</a:t>
            </a:r>
            <a:r>
              <a:rPr lang="zh-TW" altLang="en-US" sz="2400" b="1" dirty="0">
                <a:solidFill>
                  <a:schemeClr val="tx2"/>
                </a:solidFill>
                <a:latin typeface="微軟正黑體" panose="020B0604030504040204" pitchFamily="34" charset="-120"/>
                <a:ea typeface="微軟正黑體" panose="020B0604030504040204" pitchFamily="34" charset="-120"/>
              </a:rPr>
              <a:t>共識 </a:t>
            </a:r>
            <a:r>
              <a:rPr lang="en-US" altLang="zh-TW" sz="2400" b="1" dirty="0">
                <a:solidFill>
                  <a:schemeClr val="tx2"/>
                </a:solidFill>
                <a:latin typeface="微軟正黑體" panose="020B0604030504040204" pitchFamily="34" charset="-120"/>
                <a:ea typeface="微軟正黑體" panose="020B0604030504040204" pitchFamily="34" charset="-120"/>
              </a:rPr>
              <a:t>(Consensus)</a:t>
            </a:r>
          </a:p>
          <a:p>
            <a:pPr>
              <a:lnSpc>
                <a:spcPct val="150000"/>
              </a:lnSpc>
            </a:pPr>
            <a:r>
              <a:rPr lang="zh-TW" altLang="en-US" sz="2400" b="1" dirty="0">
                <a:solidFill>
                  <a:schemeClr val="tx1">
                    <a:lumMod val="75000"/>
                    <a:lumOff val="25000"/>
                  </a:schemeClr>
                </a:solidFill>
                <a:latin typeface="微軟正黑體" panose="020B0604030504040204" pitchFamily="34" charset="-120"/>
                <a:ea typeface="微軟正黑體" panose="020B0604030504040204" pitchFamily="34" charset="-120"/>
              </a:rPr>
              <a:t>        早期比特幣的區塊鏈技術雖然可以提高金融支付的便利性，甚至還可以透過密碼技術，處理支付平台的交易安全性問題，然而在早期推出的數位網位支付的作法，仍與傳統金融服務的作法有相衝擊的地方，而且民眾對於網路的接受程度尚未普及，故早期區塊鏈技術的推展在時代封閉思維的環境下，受到限制。</a:t>
            </a:r>
          </a:p>
        </p:txBody>
      </p:sp>
      <p:pic>
        <p:nvPicPr>
          <p:cNvPr id="8" name="图片 42">
            <a:extLst>
              <a:ext uri="{FF2B5EF4-FFF2-40B4-BE49-F238E27FC236}">
                <a16:creationId xmlns:a16="http://schemas.microsoft.com/office/drawing/2014/main" id="{C8D97DA4-6242-4E73-AEFC-457D04FDC65B}"/>
              </a:ext>
            </a:extLst>
          </p:cNvPr>
          <p:cNvPicPr>
            <a:picLocks noChangeAspect="1"/>
          </p:cNvPicPr>
          <p:nvPr/>
        </p:nvPicPr>
        <p:blipFill>
          <a:blip r:embed="rId2"/>
          <a:stretch>
            <a:fillRect/>
          </a:stretch>
        </p:blipFill>
        <p:spPr>
          <a:xfrm rot="16200000">
            <a:off x="145169" y="-145167"/>
            <a:ext cx="1268414" cy="1558750"/>
          </a:xfrm>
          <a:prstGeom prst="rect">
            <a:avLst/>
          </a:prstGeom>
        </p:spPr>
      </p:pic>
      <p:sp>
        <p:nvSpPr>
          <p:cNvPr id="6" name="文字方塊 5">
            <a:extLst>
              <a:ext uri="{FF2B5EF4-FFF2-40B4-BE49-F238E27FC236}">
                <a16:creationId xmlns:a16="http://schemas.microsoft.com/office/drawing/2014/main" id="{8A30B01A-3198-4955-A208-0E3D9EB60397}"/>
              </a:ext>
            </a:extLst>
          </p:cNvPr>
          <p:cNvSpPr txBox="1"/>
          <p:nvPr/>
        </p:nvSpPr>
        <p:spPr>
          <a:xfrm>
            <a:off x="1558751" y="6596390"/>
            <a:ext cx="4217821" cy="261610"/>
          </a:xfrm>
          <a:prstGeom prst="rect">
            <a:avLst/>
          </a:prstGeom>
          <a:noFill/>
        </p:spPr>
        <p:txBody>
          <a:bodyPr wrap="none" rtlCol="0">
            <a:spAutoFit/>
          </a:bodyPr>
          <a:lstStyle/>
          <a:p>
            <a:r>
              <a:rPr lang="zh-TW" altLang="en-US" sz="1100" dirty="0">
                <a:latin typeface="Microsoft JhengHei Light" panose="020B0304030504040204" pitchFamily="34" charset="-120"/>
                <a:ea typeface="Microsoft JhengHei Light" panose="020B0304030504040204" pitchFamily="34" charset="-120"/>
              </a:rPr>
              <a:t>區塊鏈商業應用概論 實例與分析／新陸書局股份有限公司 發行</a:t>
            </a:r>
          </a:p>
        </p:txBody>
      </p:sp>
      <p:pic>
        <p:nvPicPr>
          <p:cNvPr id="10" name="圖片 9" descr="一張含有 運輸 的圖片&#10;&#10;描述是以高可信度產生">
            <a:extLst>
              <a:ext uri="{FF2B5EF4-FFF2-40B4-BE49-F238E27FC236}">
                <a16:creationId xmlns:a16="http://schemas.microsoft.com/office/drawing/2014/main" id="{7FD8AAF2-90D2-457C-83F6-FEF3EF96AA35}"/>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105285" y="5720501"/>
            <a:ext cx="627255" cy="627255"/>
          </a:xfrm>
          <a:prstGeom prst="rect">
            <a:avLst/>
          </a:prstGeom>
        </p:spPr>
      </p:pic>
      <p:pic>
        <p:nvPicPr>
          <p:cNvPr id="13" name="圖片 12" descr="一張含有 運輸 的圖片&#10;&#10;描述是以高可信度產生">
            <a:extLst>
              <a:ext uri="{FF2B5EF4-FFF2-40B4-BE49-F238E27FC236}">
                <a16:creationId xmlns:a16="http://schemas.microsoft.com/office/drawing/2014/main" id="{03837F9D-83DE-41A2-95A9-4A09F2EDBCE3}"/>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11282" y="4300982"/>
            <a:ext cx="627255" cy="627255"/>
          </a:xfrm>
          <a:prstGeom prst="rect">
            <a:avLst/>
          </a:prstGeom>
        </p:spPr>
      </p:pic>
      <p:pic>
        <p:nvPicPr>
          <p:cNvPr id="14" name="圖片 13" descr="一張含有 運輸 的圖片&#10;&#10;描述是以高可信度產生">
            <a:extLst>
              <a:ext uri="{FF2B5EF4-FFF2-40B4-BE49-F238E27FC236}">
                <a16:creationId xmlns:a16="http://schemas.microsoft.com/office/drawing/2014/main" id="{5FF3D160-F8F3-423E-99C7-72EC55E9E40D}"/>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40259" y="5386909"/>
            <a:ext cx="506209" cy="506209"/>
          </a:xfrm>
          <a:prstGeom prst="rect">
            <a:avLst/>
          </a:prstGeom>
        </p:spPr>
      </p:pic>
      <p:pic>
        <p:nvPicPr>
          <p:cNvPr id="15" name="圖片 14" descr="一張含有 運輸 的圖片&#10;&#10;描述是以高可信度產生">
            <a:extLst>
              <a:ext uri="{FF2B5EF4-FFF2-40B4-BE49-F238E27FC236}">
                <a16:creationId xmlns:a16="http://schemas.microsoft.com/office/drawing/2014/main" id="{58044943-3362-4D43-80AE-BC386A18ED85}"/>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40259" y="3584944"/>
            <a:ext cx="394870" cy="394870"/>
          </a:xfrm>
          <a:prstGeom prst="rect">
            <a:avLst/>
          </a:prstGeom>
        </p:spPr>
      </p:pic>
      <p:pic>
        <p:nvPicPr>
          <p:cNvPr id="4" name="圖片 3">
            <a:extLst>
              <a:ext uri="{FF2B5EF4-FFF2-40B4-BE49-F238E27FC236}">
                <a16:creationId xmlns:a16="http://schemas.microsoft.com/office/drawing/2014/main" id="{720B204C-5FA5-4CEC-BED9-8020395565AA}"/>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8200759" y="4126010"/>
            <a:ext cx="2601185" cy="2601185"/>
          </a:xfrm>
          <a:prstGeom prst="rect">
            <a:avLst/>
          </a:prstGeom>
        </p:spPr>
      </p:pic>
    </p:spTree>
    <p:extLst>
      <p:ext uri="{BB962C8B-B14F-4D97-AF65-F5344CB8AC3E}">
        <p14:creationId xmlns:p14="http://schemas.microsoft.com/office/powerpoint/2010/main" val="3291499430"/>
      </p:ext>
    </p:extLst>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6" presetClass="entr" presetSubtype="16" fill="hold" grpId="0" nodeType="after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circle(in)">
                                      <p:cBhvr>
                                        <p:cTn id="7" dur="2000"/>
                                        <p:tgtEl>
                                          <p:spTgt spid="7"/>
                                        </p:tgtEl>
                                      </p:cBhvr>
                                    </p:animEffect>
                                  </p:childTnLst>
                                </p:cTn>
                              </p:par>
                            </p:childTnLst>
                          </p:cTn>
                        </p:par>
                        <p:par>
                          <p:cTn id="8" fill="hold">
                            <p:stCondLst>
                              <p:cond delay="2000"/>
                            </p:stCondLst>
                            <p:childTnLst>
                              <p:par>
                                <p:cTn id="9" presetID="14" presetClass="entr" presetSubtype="10" fill="hold" grpId="0" nodeType="afterEffect">
                                  <p:stCondLst>
                                    <p:cond delay="0"/>
                                  </p:stCondLst>
                                  <p:childTnLst>
                                    <p:set>
                                      <p:cBhvr>
                                        <p:cTn id="10" dur="1" fill="hold">
                                          <p:stCondLst>
                                            <p:cond delay="0"/>
                                          </p:stCondLst>
                                        </p:cTn>
                                        <p:tgtEl>
                                          <p:spTgt spid="2"/>
                                        </p:tgtEl>
                                        <p:attrNameLst>
                                          <p:attrName>style.visibility</p:attrName>
                                        </p:attrNameLst>
                                      </p:cBhvr>
                                      <p:to>
                                        <p:strVal val="visible"/>
                                      </p:to>
                                    </p:set>
                                    <p:animEffect transition="in" filter="randombar(horizontal)">
                                      <p:cBhvr>
                                        <p:cTn id="11" dur="500"/>
                                        <p:tgtEl>
                                          <p:spTgt spid="2"/>
                                        </p:tgtEl>
                                      </p:cBhvr>
                                    </p:animEffect>
                                  </p:childTnLst>
                                </p:cTn>
                              </p:par>
                            </p:childTnLst>
                          </p:cTn>
                        </p:par>
                        <p:par>
                          <p:cTn id="12" fill="hold">
                            <p:stCondLst>
                              <p:cond delay="2500"/>
                            </p:stCondLst>
                            <p:childTnLst>
                              <p:par>
                                <p:cTn id="13" presetID="42" presetClass="entr" presetSubtype="0" fill="hold" nodeType="afterEffect">
                                  <p:stCondLst>
                                    <p:cond delay="0"/>
                                  </p:stCondLst>
                                  <p:childTnLst>
                                    <p:set>
                                      <p:cBhvr>
                                        <p:cTn id="14" dur="1" fill="hold">
                                          <p:stCondLst>
                                            <p:cond delay="0"/>
                                          </p:stCondLst>
                                        </p:cTn>
                                        <p:tgtEl>
                                          <p:spTgt spid="10"/>
                                        </p:tgtEl>
                                        <p:attrNameLst>
                                          <p:attrName>style.visibility</p:attrName>
                                        </p:attrNameLst>
                                      </p:cBhvr>
                                      <p:to>
                                        <p:strVal val="visible"/>
                                      </p:to>
                                    </p:set>
                                    <p:animEffect transition="in" filter="fade">
                                      <p:cBhvr>
                                        <p:cTn id="15" dur="1000"/>
                                        <p:tgtEl>
                                          <p:spTgt spid="10"/>
                                        </p:tgtEl>
                                      </p:cBhvr>
                                    </p:animEffect>
                                    <p:anim calcmode="lin" valueType="num">
                                      <p:cBhvr>
                                        <p:cTn id="16" dur="1000" fill="hold"/>
                                        <p:tgtEl>
                                          <p:spTgt spid="10"/>
                                        </p:tgtEl>
                                        <p:attrNameLst>
                                          <p:attrName>ppt_x</p:attrName>
                                        </p:attrNameLst>
                                      </p:cBhvr>
                                      <p:tavLst>
                                        <p:tav tm="0">
                                          <p:val>
                                            <p:strVal val="#ppt_x"/>
                                          </p:val>
                                        </p:tav>
                                        <p:tav tm="100000">
                                          <p:val>
                                            <p:strVal val="#ppt_x"/>
                                          </p:val>
                                        </p:tav>
                                      </p:tavLst>
                                    </p:anim>
                                    <p:anim calcmode="lin" valueType="num">
                                      <p:cBhvr>
                                        <p:cTn id="17" dur="1000" fill="hold"/>
                                        <p:tgtEl>
                                          <p:spTgt spid="10"/>
                                        </p:tgtEl>
                                        <p:attrNameLst>
                                          <p:attrName>ppt_y</p:attrName>
                                        </p:attrNameLst>
                                      </p:cBhvr>
                                      <p:tavLst>
                                        <p:tav tm="0">
                                          <p:val>
                                            <p:strVal val="#ppt_y+.1"/>
                                          </p:val>
                                        </p:tav>
                                        <p:tav tm="100000">
                                          <p:val>
                                            <p:strVal val="#ppt_y"/>
                                          </p:val>
                                        </p:tav>
                                      </p:tavLst>
                                    </p:anim>
                                  </p:childTnLst>
                                </p:cTn>
                              </p:par>
                              <p:par>
                                <p:cTn id="18" presetID="42" presetClass="entr" presetSubtype="0" fill="hold" nodeType="withEffect">
                                  <p:stCondLst>
                                    <p:cond delay="0"/>
                                  </p:stCondLst>
                                  <p:childTnLst>
                                    <p:set>
                                      <p:cBhvr>
                                        <p:cTn id="19" dur="1" fill="hold">
                                          <p:stCondLst>
                                            <p:cond delay="0"/>
                                          </p:stCondLst>
                                        </p:cTn>
                                        <p:tgtEl>
                                          <p:spTgt spid="13"/>
                                        </p:tgtEl>
                                        <p:attrNameLst>
                                          <p:attrName>style.visibility</p:attrName>
                                        </p:attrNameLst>
                                      </p:cBhvr>
                                      <p:to>
                                        <p:strVal val="visible"/>
                                      </p:to>
                                    </p:set>
                                    <p:animEffect transition="in" filter="fade">
                                      <p:cBhvr>
                                        <p:cTn id="20" dur="1000"/>
                                        <p:tgtEl>
                                          <p:spTgt spid="13"/>
                                        </p:tgtEl>
                                      </p:cBhvr>
                                    </p:animEffect>
                                    <p:anim calcmode="lin" valueType="num">
                                      <p:cBhvr>
                                        <p:cTn id="21" dur="1000" fill="hold"/>
                                        <p:tgtEl>
                                          <p:spTgt spid="13"/>
                                        </p:tgtEl>
                                        <p:attrNameLst>
                                          <p:attrName>ppt_x</p:attrName>
                                        </p:attrNameLst>
                                      </p:cBhvr>
                                      <p:tavLst>
                                        <p:tav tm="0">
                                          <p:val>
                                            <p:strVal val="#ppt_x"/>
                                          </p:val>
                                        </p:tav>
                                        <p:tav tm="100000">
                                          <p:val>
                                            <p:strVal val="#ppt_x"/>
                                          </p:val>
                                        </p:tav>
                                      </p:tavLst>
                                    </p:anim>
                                    <p:anim calcmode="lin" valueType="num">
                                      <p:cBhvr>
                                        <p:cTn id="22" dur="1000" fill="hold"/>
                                        <p:tgtEl>
                                          <p:spTgt spid="13"/>
                                        </p:tgtEl>
                                        <p:attrNameLst>
                                          <p:attrName>ppt_y</p:attrName>
                                        </p:attrNameLst>
                                      </p:cBhvr>
                                      <p:tavLst>
                                        <p:tav tm="0">
                                          <p:val>
                                            <p:strVal val="#ppt_y+.1"/>
                                          </p:val>
                                        </p:tav>
                                        <p:tav tm="100000">
                                          <p:val>
                                            <p:strVal val="#ppt_y"/>
                                          </p:val>
                                        </p:tav>
                                      </p:tavLst>
                                    </p:anim>
                                  </p:childTnLst>
                                </p:cTn>
                              </p:par>
                              <p:par>
                                <p:cTn id="23" presetID="42" presetClass="entr" presetSubtype="0" fill="hold" nodeType="withEffect">
                                  <p:stCondLst>
                                    <p:cond delay="0"/>
                                  </p:stCondLst>
                                  <p:childTnLst>
                                    <p:set>
                                      <p:cBhvr>
                                        <p:cTn id="24" dur="1" fill="hold">
                                          <p:stCondLst>
                                            <p:cond delay="0"/>
                                          </p:stCondLst>
                                        </p:cTn>
                                        <p:tgtEl>
                                          <p:spTgt spid="14"/>
                                        </p:tgtEl>
                                        <p:attrNameLst>
                                          <p:attrName>style.visibility</p:attrName>
                                        </p:attrNameLst>
                                      </p:cBhvr>
                                      <p:to>
                                        <p:strVal val="visible"/>
                                      </p:to>
                                    </p:set>
                                    <p:animEffect transition="in" filter="fade">
                                      <p:cBhvr>
                                        <p:cTn id="25" dur="1000"/>
                                        <p:tgtEl>
                                          <p:spTgt spid="14"/>
                                        </p:tgtEl>
                                      </p:cBhvr>
                                    </p:animEffect>
                                    <p:anim calcmode="lin" valueType="num">
                                      <p:cBhvr>
                                        <p:cTn id="26" dur="1000" fill="hold"/>
                                        <p:tgtEl>
                                          <p:spTgt spid="14"/>
                                        </p:tgtEl>
                                        <p:attrNameLst>
                                          <p:attrName>ppt_x</p:attrName>
                                        </p:attrNameLst>
                                      </p:cBhvr>
                                      <p:tavLst>
                                        <p:tav tm="0">
                                          <p:val>
                                            <p:strVal val="#ppt_x"/>
                                          </p:val>
                                        </p:tav>
                                        <p:tav tm="100000">
                                          <p:val>
                                            <p:strVal val="#ppt_x"/>
                                          </p:val>
                                        </p:tav>
                                      </p:tavLst>
                                    </p:anim>
                                    <p:anim calcmode="lin" valueType="num">
                                      <p:cBhvr>
                                        <p:cTn id="27" dur="1000" fill="hold"/>
                                        <p:tgtEl>
                                          <p:spTgt spid="14"/>
                                        </p:tgtEl>
                                        <p:attrNameLst>
                                          <p:attrName>ppt_y</p:attrName>
                                        </p:attrNameLst>
                                      </p:cBhvr>
                                      <p:tavLst>
                                        <p:tav tm="0">
                                          <p:val>
                                            <p:strVal val="#ppt_y+.1"/>
                                          </p:val>
                                        </p:tav>
                                        <p:tav tm="100000">
                                          <p:val>
                                            <p:strVal val="#ppt_y"/>
                                          </p:val>
                                        </p:tav>
                                      </p:tavLst>
                                    </p:anim>
                                  </p:childTnLst>
                                </p:cTn>
                              </p:par>
                              <p:par>
                                <p:cTn id="28" presetID="42" presetClass="entr" presetSubtype="0" fill="hold" nodeType="withEffect">
                                  <p:stCondLst>
                                    <p:cond delay="0"/>
                                  </p:stCondLst>
                                  <p:childTnLst>
                                    <p:set>
                                      <p:cBhvr>
                                        <p:cTn id="29" dur="1" fill="hold">
                                          <p:stCondLst>
                                            <p:cond delay="0"/>
                                          </p:stCondLst>
                                        </p:cTn>
                                        <p:tgtEl>
                                          <p:spTgt spid="15"/>
                                        </p:tgtEl>
                                        <p:attrNameLst>
                                          <p:attrName>style.visibility</p:attrName>
                                        </p:attrNameLst>
                                      </p:cBhvr>
                                      <p:to>
                                        <p:strVal val="visible"/>
                                      </p:to>
                                    </p:set>
                                    <p:animEffect transition="in" filter="fade">
                                      <p:cBhvr>
                                        <p:cTn id="30" dur="1000"/>
                                        <p:tgtEl>
                                          <p:spTgt spid="15"/>
                                        </p:tgtEl>
                                      </p:cBhvr>
                                    </p:animEffect>
                                    <p:anim calcmode="lin" valueType="num">
                                      <p:cBhvr>
                                        <p:cTn id="31" dur="1000" fill="hold"/>
                                        <p:tgtEl>
                                          <p:spTgt spid="15"/>
                                        </p:tgtEl>
                                        <p:attrNameLst>
                                          <p:attrName>ppt_x</p:attrName>
                                        </p:attrNameLst>
                                      </p:cBhvr>
                                      <p:tavLst>
                                        <p:tav tm="0">
                                          <p:val>
                                            <p:strVal val="#ppt_x"/>
                                          </p:val>
                                        </p:tav>
                                        <p:tav tm="100000">
                                          <p:val>
                                            <p:strVal val="#ppt_x"/>
                                          </p:val>
                                        </p:tav>
                                      </p:tavLst>
                                    </p:anim>
                                    <p:anim calcmode="lin" valueType="num">
                                      <p:cBhvr>
                                        <p:cTn id="32" dur="1000" fill="hold"/>
                                        <p:tgtEl>
                                          <p:spTgt spid="15"/>
                                        </p:tgtEl>
                                        <p:attrNameLst>
                                          <p:attrName>ppt_y</p:attrName>
                                        </p:attrNameLst>
                                      </p:cBhvr>
                                      <p:tavLst>
                                        <p:tav tm="0">
                                          <p:val>
                                            <p:strVal val="#ppt_y+.1"/>
                                          </p:val>
                                        </p:tav>
                                        <p:tav tm="100000">
                                          <p:val>
                                            <p:strVal val="#ppt_y"/>
                                          </p:val>
                                        </p:tav>
                                      </p:tavLst>
                                    </p:anim>
                                  </p:childTnLst>
                                </p:cTn>
                              </p:par>
                              <p:par>
                                <p:cTn id="33" presetID="14" presetClass="entr" presetSubtype="10" fill="hold" nodeType="withEffect">
                                  <p:stCondLst>
                                    <p:cond delay="0"/>
                                  </p:stCondLst>
                                  <p:childTnLst>
                                    <p:set>
                                      <p:cBhvr>
                                        <p:cTn id="34" dur="1" fill="hold">
                                          <p:stCondLst>
                                            <p:cond delay="0"/>
                                          </p:stCondLst>
                                        </p:cTn>
                                        <p:tgtEl>
                                          <p:spTgt spid="4"/>
                                        </p:tgtEl>
                                        <p:attrNameLst>
                                          <p:attrName>style.visibility</p:attrName>
                                        </p:attrNameLst>
                                      </p:cBhvr>
                                      <p:to>
                                        <p:strVal val="visible"/>
                                      </p:to>
                                    </p:set>
                                    <p:animEffect transition="in" filter="randombar(horizontal)">
                                      <p:cBhvr>
                                        <p:cTn id="35"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2" grpId="0"/>
    </p:bld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標題 1"/>
          <p:cNvSpPr txBox="1">
            <a:spLocks/>
          </p:cNvSpPr>
          <p:nvPr/>
        </p:nvSpPr>
        <p:spPr>
          <a:xfrm>
            <a:off x="1073754" y="510244"/>
            <a:ext cx="3643527" cy="874595"/>
          </a:xfrm>
          <a:prstGeom prst="rect">
            <a:avLst/>
          </a:prstGeom>
        </p:spPr>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zh-TW" altLang="en-US" sz="2400" b="1" dirty="0">
                <a:solidFill>
                  <a:srgbClr val="E06741"/>
                </a:solidFill>
              </a:rPr>
              <a:t>區塊鏈技術的變革</a:t>
            </a:r>
          </a:p>
          <a:p>
            <a:endParaRPr lang="zh-TW" altLang="en-US" sz="2400" dirty="0">
              <a:solidFill>
                <a:srgbClr val="E06741"/>
              </a:solidFill>
              <a:latin typeface="標楷體" panose="03000509000000000000" pitchFamily="65" charset="-120"/>
              <a:ea typeface="標楷體" panose="03000509000000000000" pitchFamily="65" charset="-120"/>
              <a:cs typeface="Times New Roman" panose="02020603050405020304" pitchFamily="18" charset="0"/>
            </a:endParaRPr>
          </a:p>
        </p:txBody>
      </p:sp>
      <p:sp>
        <p:nvSpPr>
          <p:cNvPr id="2" name="矩形 1"/>
          <p:cNvSpPr/>
          <p:nvPr/>
        </p:nvSpPr>
        <p:spPr>
          <a:xfrm>
            <a:off x="1798808" y="1129440"/>
            <a:ext cx="9562875" cy="5010474"/>
          </a:xfrm>
          <a:prstGeom prst="rect">
            <a:avLst/>
          </a:prstGeom>
        </p:spPr>
        <p:txBody>
          <a:bodyPr wrap="square">
            <a:spAutoFit/>
          </a:bodyPr>
          <a:lstStyle/>
          <a:p>
            <a:pPr>
              <a:lnSpc>
                <a:spcPct val="150000"/>
              </a:lnSpc>
            </a:pPr>
            <a:r>
              <a:rPr lang="zh-TW" altLang="en-US" sz="2400" b="1" dirty="0">
                <a:solidFill>
                  <a:schemeClr val="tx2"/>
                </a:solidFill>
                <a:latin typeface="微軟正黑體" panose="020B0604030504040204" pitchFamily="34" charset="-120"/>
                <a:ea typeface="微軟正黑體" panose="020B0604030504040204" pitchFamily="34" charset="-120"/>
              </a:rPr>
              <a:t>中期</a:t>
            </a:r>
            <a:r>
              <a:rPr lang="en-US" altLang="zh-TW" sz="2400" b="1" dirty="0">
                <a:solidFill>
                  <a:schemeClr val="tx2"/>
                </a:solidFill>
                <a:latin typeface="微軟正黑體" panose="020B0604030504040204" pitchFamily="34" charset="-120"/>
                <a:ea typeface="微軟正黑體" panose="020B0604030504040204" pitchFamily="34" charset="-120"/>
              </a:rPr>
              <a:t>-</a:t>
            </a:r>
            <a:r>
              <a:rPr lang="zh-TW" altLang="en-US" sz="2400" b="1" dirty="0">
                <a:solidFill>
                  <a:schemeClr val="tx2"/>
                </a:solidFill>
                <a:latin typeface="微軟正黑體" panose="020B0604030504040204" pitchFamily="34" charset="-120"/>
                <a:ea typeface="微軟正黑體" panose="020B0604030504040204" pitchFamily="34" charset="-120"/>
              </a:rPr>
              <a:t>共識 </a:t>
            </a:r>
            <a:r>
              <a:rPr lang="en-US" altLang="zh-TW" sz="2400" b="1" dirty="0">
                <a:solidFill>
                  <a:schemeClr val="tx2"/>
                </a:solidFill>
                <a:latin typeface="微軟正黑體" panose="020B0604030504040204" pitchFamily="34" charset="-120"/>
                <a:ea typeface="微軟正黑體" panose="020B0604030504040204" pitchFamily="34" charset="-120"/>
              </a:rPr>
              <a:t>(Consensus)</a:t>
            </a:r>
          </a:p>
          <a:p>
            <a:pPr>
              <a:lnSpc>
                <a:spcPct val="150000"/>
              </a:lnSpc>
            </a:pPr>
            <a:r>
              <a:rPr lang="zh-TW" altLang="en-US" sz="2400" b="1" dirty="0">
                <a:solidFill>
                  <a:schemeClr val="tx1">
                    <a:lumMod val="75000"/>
                    <a:lumOff val="25000"/>
                  </a:schemeClr>
                </a:solidFill>
                <a:latin typeface="微軟正黑體" panose="020B0604030504040204" pitchFamily="34" charset="-120"/>
                <a:ea typeface="微軟正黑體" panose="020B0604030504040204" pitchFamily="34" charset="-120"/>
              </a:rPr>
              <a:t>        直至</a:t>
            </a:r>
            <a:r>
              <a:rPr lang="en-US" altLang="zh-TW" sz="2400" b="1" dirty="0">
                <a:solidFill>
                  <a:schemeClr val="tx1">
                    <a:lumMod val="75000"/>
                    <a:lumOff val="25000"/>
                  </a:schemeClr>
                </a:solidFill>
                <a:latin typeface="微軟正黑體" panose="020B0604030504040204" pitchFamily="34" charset="-120"/>
                <a:ea typeface="微軟正黑體" panose="020B0604030504040204" pitchFamily="34" charset="-120"/>
              </a:rPr>
              <a:t>2014</a:t>
            </a:r>
            <a:r>
              <a:rPr lang="zh-TW" altLang="en-US" sz="2400" b="1" dirty="0">
                <a:solidFill>
                  <a:schemeClr val="tx1">
                    <a:lumMod val="75000"/>
                    <a:lumOff val="25000"/>
                  </a:schemeClr>
                </a:solidFill>
                <a:latin typeface="微軟正黑體" panose="020B0604030504040204" pitchFamily="34" charset="-120"/>
                <a:ea typeface="微軟正黑體" panose="020B0604030504040204" pitchFamily="34" charset="-120"/>
              </a:rPr>
              <a:t>年，區塊鏈技術的</a:t>
            </a:r>
            <a:r>
              <a:rPr lang="en-US" altLang="zh-TW" sz="2400" b="1" dirty="0">
                <a:solidFill>
                  <a:schemeClr val="tx1">
                    <a:lumMod val="75000"/>
                    <a:lumOff val="25000"/>
                  </a:schemeClr>
                </a:solidFill>
                <a:latin typeface="微軟正黑體" panose="020B0604030504040204" pitchFamily="34" charset="-120"/>
                <a:ea typeface="微軟正黑體" panose="020B0604030504040204" pitchFamily="34" charset="-120"/>
              </a:rPr>
              <a:t>P2P(Peer to Peer)</a:t>
            </a:r>
            <a:r>
              <a:rPr lang="zh-TW" altLang="en-US" sz="2400" b="1" dirty="0">
                <a:solidFill>
                  <a:schemeClr val="tx1">
                    <a:lumMod val="75000"/>
                    <a:lumOff val="25000"/>
                  </a:schemeClr>
                </a:solidFill>
                <a:latin typeface="微軟正黑體" panose="020B0604030504040204" pitchFamily="34" charset="-120"/>
                <a:ea typeface="微軟正黑體" panose="020B0604030504040204" pitchFamily="34" charset="-120"/>
              </a:rPr>
              <a:t>特性，被應用於虛擬貨幣之上，導致許多玩家或使用者開始對於區塊鏈技術有所問津及關注。同時在區塊鏈技術的中期變革中，加入了共識的機制，讓數位網路交易平台的使用者在達成共識的條件進行交易，如此可以提高交易信任度，這也是區塊鏈技術第二階段的進化，也是開啟了區塊鏈技術變革的第二階段。當區塊鏈技術提升時，相對讓股票、證券、不動產等金融相關產業開始接受區塊鏈技術的應用，以及將技術導入於產業的運作與經營，期能在區塊鏈技術的引領之下帶動產業的持續發展。</a:t>
            </a:r>
          </a:p>
        </p:txBody>
      </p:sp>
      <p:pic>
        <p:nvPicPr>
          <p:cNvPr id="8" name="图片 42">
            <a:extLst>
              <a:ext uri="{FF2B5EF4-FFF2-40B4-BE49-F238E27FC236}">
                <a16:creationId xmlns:a16="http://schemas.microsoft.com/office/drawing/2014/main" id="{C8D97DA4-6242-4E73-AEFC-457D04FDC65B}"/>
              </a:ext>
            </a:extLst>
          </p:cNvPr>
          <p:cNvPicPr>
            <a:picLocks noChangeAspect="1"/>
          </p:cNvPicPr>
          <p:nvPr/>
        </p:nvPicPr>
        <p:blipFill>
          <a:blip r:embed="rId2"/>
          <a:stretch>
            <a:fillRect/>
          </a:stretch>
        </p:blipFill>
        <p:spPr>
          <a:xfrm rot="16200000">
            <a:off x="145169" y="-145167"/>
            <a:ext cx="1268414" cy="1558750"/>
          </a:xfrm>
          <a:prstGeom prst="rect">
            <a:avLst/>
          </a:prstGeom>
        </p:spPr>
      </p:pic>
      <p:sp>
        <p:nvSpPr>
          <p:cNvPr id="6" name="文字方塊 5">
            <a:extLst>
              <a:ext uri="{FF2B5EF4-FFF2-40B4-BE49-F238E27FC236}">
                <a16:creationId xmlns:a16="http://schemas.microsoft.com/office/drawing/2014/main" id="{8A30B01A-3198-4955-A208-0E3D9EB60397}"/>
              </a:ext>
            </a:extLst>
          </p:cNvPr>
          <p:cNvSpPr txBox="1"/>
          <p:nvPr/>
        </p:nvSpPr>
        <p:spPr>
          <a:xfrm>
            <a:off x="1558751" y="6596390"/>
            <a:ext cx="4217821" cy="261610"/>
          </a:xfrm>
          <a:prstGeom prst="rect">
            <a:avLst/>
          </a:prstGeom>
          <a:noFill/>
        </p:spPr>
        <p:txBody>
          <a:bodyPr wrap="none" rtlCol="0">
            <a:spAutoFit/>
          </a:bodyPr>
          <a:lstStyle/>
          <a:p>
            <a:r>
              <a:rPr lang="zh-TW" altLang="en-US" sz="1100" dirty="0">
                <a:latin typeface="Microsoft JhengHei Light" panose="020B0304030504040204" pitchFamily="34" charset="-120"/>
                <a:ea typeface="Microsoft JhengHei Light" panose="020B0304030504040204" pitchFamily="34" charset="-120"/>
              </a:rPr>
              <a:t>區塊鏈商業應用概論 實例與分析／新陸書局股份有限公司 發行</a:t>
            </a:r>
          </a:p>
        </p:txBody>
      </p:sp>
      <p:pic>
        <p:nvPicPr>
          <p:cNvPr id="10" name="圖片 9" descr="一張含有 運輸 的圖片&#10;&#10;描述是以高可信度產生">
            <a:extLst>
              <a:ext uri="{FF2B5EF4-FFF2-40B4-BE49-F238E27FC236}">
                <a16:creationId xmlns:a16="http://schemas.microsoft.com/office/drawing/2014/main" id="{7FD8AAF2-90D2-457C-83F6-FEF3EF96AA35}"/>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105285" y="5720501"/>
            <a:ext cx="627255" cy="627255"/>
          </a:xfrm>
          <a:prstGeom prst="rect">
            <a:avLst/>
          </a:prstGeom>
        </p:spPr>
      </p:pic>
      <p:pic>
        <p:nvPicPr>
          <p:cNvPr id="13" name="圖片 12" descr="一張含有 運輸 的圖片&#10;&#10;描述是以高可信度產生">
            <a:extLst>
              <a:ext uri="{FF2B5EF4-FFF2-40B4-BE49-F238E27FC236}">
                <a16:creationId xmlns:a16="http://schemas.microsoft.com/office/drawing/2014/main" id="{03837F9D-83DE-41A2-95A9-4A09F2EDBCE3}"/>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11282" y="4300982"/>
            <a:ext cx="627255" cy="627255"/>
          </a:xfrm>
          <a:prstGeom prst="rect">
            <a:avLst/>
          </a:prstGeom>
        </p:spPr>
      </p:pic>
      <p:pic>
        <p:nvPicPr>
          <p:cNvPr id="14" name="圖片 13" descr="一張含有 運輸 的圖片&#10;&#10;描述是以高可信度產生">
            <a:extLst>
              <a:ext uri="{FF2B5EF4-FFF2-40B4-BE49-F238E27FC236}">
                <a16:creationId xmlns:a16="http://schemas.microsoft.com/office/drawing/2014/main" id="{5FF3D160-F8F3-423E-99C7-72EC55E9E40D}"/>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40259" y="5386909"/>
            <a:ext cx="506209" cy="506209"/>
          </a:xfrm>
          <a:prstGeom prst="rect">
            <a:avLst/>
          </a:prstGeom>
        </p:spPr>
      </p:pic>
      <p:pic>
        <p:nvPicPr>
          <p:cNvPr id="15" name="圖片 14" descr="一張含有 運輸 的圖片&#10;&#10;描述是以高可信度產生">
            <a:extLst>
              <a:ext uri="{FF2B5EF4-FFF2-40B4-BE49-F238E27FC236}">
                <a16:creationId xmlns:a16="http://schemas.microsoft.com/office/drawing/2014/main" id="{58044943-3362-4D43-80AE-BC386A18ED85}"/>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40259" y="3584944"/>
            <a:ext cx="394870" cy="394870"/>
          </a:xfrm>
          <a:prstGeom prst="rect">
            <a:avLst/>
          </a:prstGeom>
        </p:spPr>
      </p:pic>
    </p:spTree>
    <p:extLst>
      <p:ext uri="{BB962C8B-B14F-4D97-AF65-F5344CB8AC3E}">
        <p14:creationId xmlns:p14="http://schemas.microsoft.com/office/powerpoint/2010/main" val="2245730749"/>
      </p:ext>
    </p:extLst>
  </p:cSld>
  <p:clrMapOvr>
    <a:masterClrMapping/>
  </p:clrMapOvr>
  <p:transition spd="med">
    <p:pul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6" presetClass="entr" presetSubtype="16" fill="hold" grpId="0" nodeType="after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circle(in)">
                                      <p:cBhvr>
                                        <p:cTn id="7" dur="2000"/>
                                        <p:tgtEl>
                                          <p:spTgt spid="7"/>
                                        </p:tgtEl>
                                      </p:cBhvr>
                                    </p:animEffect>
                                  </p:childTnLst>
                                </p:cTn>
                              </p:par>
                            </p:childTnLst>
                          </p:cTn>
                        </p:par>
                        <p:par>
                          <p:cTn id="8" fill="hold">
                            <p:stCondLst>
                              <p:cond delay="2000"/>
                            </p:stCondLst>
                            <p:childTnLst>
                              <p:par>
                                <p:cTn id="9" presetID="14" presetClass="entr" presetSubtype="10" fill="hold" grpId="0" nodeType="afterEffect">
                                  <p:stCondLst>
                                    <p:cond delay="0"/>
                                  </p:stCondLst>
                                  <p:childTnLst>
                                    <p:set>
                                      <p:cBhvr>
                                        <p:cTn id="10" dur="1" fill="hold">
                                          <p:stCondLst>
                                            <p:cond delay="0"/>
                                          </p:stCondLst>
                                        </p:cTn>
                                        <p:tgtEl>
                                          <p:spTgt spid="2"/>
                                        </p:tgtEl>
                                        <p:attrNameLst>
                                          <p:attrName>style.visibility</p:attrName>
                                        </p:attrNameLst>
                                      </p:cBhvr>
                                      <p:to>
                                        <p:strVal val="visible"/>
                                      </p:to>
                                    </p:set>
                                    <p:animEffect transition="in" filter="randombar(horizontal)">
                                      <p:cBhvr>
                                        <p:cTn id="11" dur="500"/>
                                        <p:tgtEl>
                                          <p:spTgt spid="2"/>
                                        </p:tgtEl>
                                      </p:cBhvr>
                                    </p:animEffect>
                                  </p:childTnLst>
                                </p:cTn>
                              </p:par>
                            </p:childTnLst>
                          </p:cTn>
                        </p:par>
                        <p:par>
                          <p:cTn id="12" fill="hold">
                            <p:stCondLst>
                              <p:cond delay="2500"/>
                            </p:stCondLst>
                            <p:childTnLst>
                              <p:par>
                                <p:cTn id="13" presetID="22" presetClass="entr" presetSubtype="4" fill="hold" nodeType="afterEffect">
                                  <p:stCondLst>
                                    <p:cond delay="0"/>
                                  </p:stCondLst>
                                  <p:childTnLst>
                                    <p:set>
                                      <p:cBhvr>
                                        <p:cTn id="14" dur="1" fill="hold">
                                          <p:stCondLst>
                                            <p:cond delay="0"/>
                                          </p:stCondLst>
                                        </p:cTn>
                                        <p:tgtEl>
                                          <p:spTgt spid="10"/>
                                        </p:tgtEl>
                                        <p:attrNameLst>
                                          <p:attrName>style.visibility</p:attrName>
                                        </p:attrNameLst>
                                      </p:cBhvr>
                                      <p:to>
                                        <p:strVal val="visible"/>
                                      </p:to>
                                    </p:set>
                                    <p:animEffect transition="in" filter="wipe(down)">
                                      <p:cBhvr>
                                        <p:cTn id="15" dur="500"/>
                                        <p:tgtEl>
                                          <p:spTgt spid="10"/>
                                        </p:tgtEl>
                                      </p:cBhvr>
                                    </p:animEffect>
                                  </p:childTnLst>
                                </p:cTn>
                              </p:par>
                              <p:par>
                                <p:cTn id="16" presetID="22" presetClass="entr" presetSubtype="4" fill="hold" nodeType="with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wipe(down)">
                                      <p:cBhvr>
                                        <p:cTn id="18" dur="500"/>
                                        <p:tgtEl>
                                          <p:spTgt spid="13"/>
                                        </p:tgtEl>
                                      </p:cBhvr>
                                    </p:animEffect>
                                  </p:childTnLst>
                                </p:cTn>
                              </p:par>
                              <p:par>
                                <p:cTn id="19" presetID="22" presetClass="entr" presetSubtype="4" fill="hold" nodeType="withEffect">
                                  <p:stCondLst>
                                    <p:cond delay="0"/>
                                  </p:stCondLst>
                                  <p:childTnLst>
                                    <p:set>
                                      <p:cBhvr>
                                        <p:cTn id="20" dur="1" fill="hold">
                                          <p:stCondLst>
                                            <p:cond delay="0"/>
                                          </p:stCondLst>
                                        </p:cTn>
                                        <p:tgtEl>
                                          <p:spTgt spid="14"/>
                                        </p:tgtEl>
                                        <p:attrNameLst>
                                          <p:attrName>style.visibility</p:attrName>
                                        </p:attrNameLst>
                                      </p:cBhvr>
                                      <p:to>
                                        <p:strVal val="visible"/>
                                      </p:to>
                                    </p:set>
                                    <p:animEffect transition="in" filter="wipe(down)">
                                      <p:cBhvr>
                                        <p:cTn id="21" dur="500"/>
                                        <p:tgtEl>
                                          <p:spTgt spid="14"/>
                                        </p:tgtEl>
                                      </p:cBhvr>
                                    </p:animEffect>
                                  </p:childTnLst>
                                </p:cTn>
                              </p:par>
                              <p:par>
                                <p:cTn id="22" presetID="22" presetClass="entr" presetSubtype="4" fill="hold" nodeType="withEffect">
                                  <p:stCondLst>
                                    <p:cond delay="0"/>
                                  </p:stCondLst>
                                  <p:childTnLst>
                                    <p:set>
                                      <p:cBhvr>
                                        <p:cTn id="23" dur="1" fill="hold">
                                          <p:stCondLst>
                                            <p:cond delay="0"/>
                                          </p:stCondLst>
                                        </p:cTn>
                                        <p:tgtEl>
                                          <p:spTgt spid="15"/>
                                        </p:tgtEl>
                                        <p:attrNameLst>
                                          <p:attrName>style.visibility</p:attrName>
                                        </p:attrNameLst>
                                      </p:cBhvr>
                                      <p:to>
                                        <p:strVal val="visible"/>
                                      </p:to>
                                    </p:set>
                                    <p:animEffect transition="in" filter="wipe(down)">
                                      <p:cBhvr>
                                        <p:cTn id="24"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2" grpId="0"/>
    </p:bld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標題 1"/>
          <p:cNvSpPr txBox="1">
            <a:spLocks/>
          </p:cNvSpPr>
          <p:nvPr/>
        </p:nvSpPr>
        <p:spPr>
          <a:xfrm>
            <a:off x="1073754" y="510244"/>
            <a:ext cx="3643527" cy="874595"/>
          </a:xfrm>
          <a:prstGeom prst="rect">
            <a:avLst/>
          </a:prstGeom>
        </p:spPr>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zh-TW" altLang="en-US" sz="2400" b="1" dirty="0">
                <a:solidFill>
                  <a:srgbClr val="E06741"/>
                </a:solidFill>
              </a:rPr>
              <a:t>區塊鏈技術的變革</a:t>
            </a:r>
          </a:p>
          <a:p>
            <a:endParaRPr lang="zh-TW" altLang="en-US" sz="2400" dirty="0">
              <a:solidFill>
                <a:srgbClr val="E06741"/>
              </a:solidFill>
              <a:latin typeface="標楷體" panose="03000509000000000000" pitchFamily="65" charset="-120"/>
              <a:ea typeface="標楷體" panose="03000509000000000000" pitchFamily="65" charset="-120"/>
              <a:cs typeface="Times New Roman" panose="02020603050405020304" pitchFamily="18" charset="0"/>
            </a:endParaRPr>
          </a:p>
        </p:txBody>
      </p:sp>
      <p:sp>
        <p:nvSpPr>
          <p:cNvPr id="2" name="矩形 1"/>
          <p:cNvSpPr/>
          <p:nvPr/>
        </p:nvSpPr>
        <p:spPr>
          <a:xfrm>
            <a:off x="1798808" y="1129440"/>
            <a:ext cx="9562875" cy="5010474"/>
          </a:xfrm>
          <a:prstGeom prst="rect">
            <a:avLst/>
          </a:prstGeom>
        </p:spPr>
        <p:txBody>
          <a:bodyPr wrap="square">
            <a:spAutoFit/>
          </a:bodyPr>
          <a:lstStyle/>
          <a:p>
            <a:pPr>
              <a:lnSpc>
                <a:spcPct val="150000"/>
              </a:lnSpc>
            </a:pPr>
            <a:r>
              <a:rPr lang="zh-TW" altLang="en-US" sz="2400" b="1" dirty="0">
                <a:solidFill>
                  <a:schemeClr val="tx2"/>
                </a:solidFill>
                <a:latin typeface="微軟正黑體" panose="020B0604030504040204" pitchFamily="34" charset="-120"/>
                <a:ea typeface="微軟正黑體" panose="020B0604030504040204" pitchFamily="34" charset="-120"/>
              </a:rPr>
              <a:t>未來</a:t>
            </a:r>
            <a:r>
              <a:rPr lang="en-US" altLang="zh-TW" sz="2400" b="1" dirty="0">
                <a:solidFill>
                  <a:schemeClr val="tx2"/>
                </a:solidFill>
                <a:latin typeface="微軟正黑體" panose="020B0604030504040204" pitchFamily="34" charset="-120"/>
                <a:ea typeface="微軟正黑體" panose="020B0604030504040204" pitchFamily="34" charset="-120"/>
              </a:rPr>
              <a:t>-</a:t>
            </a:r>
            <a:r>
              <a:rPr lang="zh-TW" altLang="en-US" sz="2400" b="1" dirty="0">
                <a:solidFill>
                  <a:schemeClr val="tx2"/>
                </a:solidFill>
                <a:latin typeface="微軟正黑體" panose="020B0604030504040204" pitchFamily="34" charset="-120"/>
                <a:ea typeface="微軟正黑體" panose="020B0604030504040204" pitchFamily="34" charset="-120"/>
              </a:rPr>
              <a:t>共同協作</a:t>
            </a:r>
          </a:p>
          <a:p>
            <a:pPr>
              <a:lnSpc>
                <a:spcPct val="150000"/>
              </a:lnSpc>
            </a:pPr>
            <a:r>
              <a:rPr lang="zh-TW" altLang="en-US" sz="2400" b="1" dirty="0">
                <a:solidFill>
                  <a:schemeClr val="tx1">
                    <a:lumMod val="75000"/>
                    <a:lumOff val="25000"/>
                  </a:schemeClr>
                </a:solidFill>
                <a:latin typeface="微軟正黑體" panose="020B0604030504040204" pitchFamily="34" charset="-120"/>
                <a:ea typeface="微軟正黑體" panose="020B0604030504040204" pitchFamily="34" charset="-120"/>
              </a:rPr>
              <a:t>        區塊鏈技術持續升級的時代是未來發展趨勢，預期在未來資訊、科技持續演進的環境下，區塊鏈技術會更加人性化。</a:t>
            </a:r>
          </a:p>
          <a:p>
            <a:pPr>
              <a:lnSpc>
                <a:spcPct val="150000"/>
              </a:lnSpc>
            </a:pPr>
            <a:r>
              <a:rPr lang="zh-TW" altLang="en-US" sz="2400" b="1" dirty="0">
                <a:solidFill>
                  <a:schemeClr val="tx1">
                    <a:lumMod val="75000"/>
                    <a:lumOff val="25000"/>
                  </a:schemeClr>
                </a:solidFill>
                <a:latin typeface="微軟正黑體" panose="020B0604030504040204" pitchFamily="34" charset="-120"/>
                <a:ea typeface="微軟正黑體" panose="020B0604030504040204" pitchFamily="34" charset="-120"/>
              </a:rPr>
              <a:t>        區塊鏈技術未來會將應用程式界面</a:t>
            </a:r>
            <a:r>
              <a:rPr lang="en-US" altLang="zh-TW" sz="2400" b="1" dirty="0">
                <a:solidFill>
                  <a:schemeClr val="tx1">
                    <a:lumMod val="75000"/>
                    <a:lumOff val="25000"/>
                  </a:schemeClr>
                </a:solidFill>
                <a:latin typeface="微軟正黑體" panose="020B0604030504040204" pitchFamily="34" charset="-120"/>
                <a:ea typeface="微軟正黑體" panose="020B0604030504040204" pitchFamily="34" charset="-120"/>
              </a:rPr>
              <a:t>(Application Programming Interface</a:t>
            </a:r>
            <a:r>
              <a:rPr lang="zh-TW" altLang="en-US" sz="2400" b="1" dirty="0">
                <a:solidFill>
                  <a:schemeClr val="tx1">
                    <a:lumMod val="75000"/>
                    <a:lumOff val="25000"/>
                  </a:schemeClr>
                </a:solidFill>
                <a:latin typeface="微軟正黑體" panose="020B0604030504040204" pitchFamily="34" charset="-120"/>
                <a:ea typeface="微軟正黑體" panose="020B0604030504040204" pitchFamily="34" charset="-120"/>
              </a:rPr>
              <a:t>；簡稱</a:t>
            </a:r>
            <a:r>
              <a:rPr lang="en-US" altLang="zh-TW" sz="2400" b="1" dirty="0">
                <a:solidFill>
                  <a:schemeClr val="tx1">
                    <a:lumMod val="75000"/>
                    <a:lumOff val="25000"/>
                  </a:schemeClr>
                </a:solidFill>
                <a:latin typeface="微軟正黑體" panose="020B0604030504040204" pitchFamily="34" charset="-120"/>
                <a:ea typeface="微軟正黑體" panose="020B0604030504040204" pitchFamily="34" charset="-120"/>
              </a:rPr>
              <a:t>API)</a:t>
            </a:r>
            <a:r>
              <a:rPr lang="zh-TW" altLang="en-US" sz="2400" b="1" dirty="0">
                <a:solidFill>
                  <a:schemeClr val="tx1">
                    <a:lumMod val="75000"/>
                    <a:lumOff val="25000"/>
                  </a:schemeClr>
                </a:solidFill>
                <a:latin typeface="微軟正黑體" panose="020B0604030504040204" pitchFamily="34" charset="-120"/>
                <a:ea typeface="微軟正黑體" panose="020B0604030504040204" pitchFamily="34" charset="-120"/>
              </a:rPr>
              <a:t>植入於數位網路交易平台之內，讓現行金融產業的應用更加便利、安全、即時的進行金融交易操作，另外也可以將此技術導入於會計、物流、房產、保險等各個領域之內，利用區塊鏈技術進行產業發展的革新，甚至針對現行各產業領域的管理體制不足的部分進行改善，據以促發新機會的誕生。</a:t>
            </a:r>
          </a:p>
        </p:txBody>
      </p:sp>
      <p:pic>
        <p:nvPicPr>
          <p:cNvPr id="8" name="图片 42">
            <a:extLst>
              <a:ext uri="{FF2B5EF4-FFF2-40B4-BE49-F238E27FC236}">
                <a16:creationId xmlns:a16="http://schemas.microsoft.com/office/drawing/2014/main" id="{C8D97DA4-6242-4E73-AEFC-457D04FDC65B}"/>
              </a:ext>
            </a:extLst>
          </p:cNvPr>
          <p:cNvPicPr>
            <a:picLocks noChangeAspect="1"/>
          </p:cNvPicPr>
          <p:nvPr/>
        </p:nvPicPr>
        <p:blipFill>
          <a:blip r:embed="rId2"/>
          <a:stretch>
            <a:fillRect/>
          </a:stretch>
        </p:blipFill>
        <p:spPr>
          <a:xfrm rot="16200000">
            <a:off x="145169" y="-145167"/>
            <a:ext cx="1268414" cy="1558750"/>
          </a:xfrm>
          <a:prstGeom prst="rect">
            <a:avLst/>
          </a:prstGeom>
        </p:spPr>
      </p:pic>
      <p:sp>
        <p:nvSpPr>
          <p:cNvPr id="6" name="文字方塊 5">
            <a:extLst>
              <a:ext uri="{FF2B5EF4-FFF2-40B4-BE49-F238E27FC236}">
                <a16:creationId xmlns:a16="http://schemas.microsoft.com/office/drawing/2014/main" id="{8A30B01A-3198-4955-A208-0E3D9EB60397}"/>
              </a:ext>
            </a:extLst>
          </p:cNvPr>
          <p:cNvSpPr txBox="1"/>
          <p:nvPr/>
        </p:nvSpPr>
        <p:spPr>
          <a:xfrm>
            <a:off x="1558751" y="6596390"/>
            <a:ext cx="4217821" cy="261610"/>
          </a:xfrm>
          <a:prstGeom prst="rect">
            <a:avLst/>
          </a:prstGeom>
          <a:noFill/>
        </p:spPr>
        <p:txBody>
          <a:bodyPr wrap="none" rtlCol="0">
            <a:spAutoFit/>
          </a:bodyPr>
          <a:lstStyle/>
          <a:p>
            <a:r>
              <a:rPr lang="zh-TW" altLang="en-US" sz="1100" dirty="0">
                <a:latin typeface="Microsoft JhengHei Light" panose="020B0304030504040204" pitchFamily="34" charset="-120"/>
                <a:ea typeface="Microsoft JhengHei Light" panose="020B0304030504040204" pitchFamily="34" charset="-120"/>
              </a:rPr>
              <a:t>區塊鏈商業應用概論 實例與分析／新陸書局股份有限公司 發行</a:t>
            </a:r>
          </a:p>
        </p:txBody>
      </p:sp>
      <p:pic>
        <p:nvPicPr>
          <p:cNvPr id="10" name="圖片 9" descr="一張含有 運輸 的圖片&#10;&#10;描述是以高可信度產生">
            <a:extLst>
              <a:ext uri="{FF2B5EF4-FFF2-40B4-BE49-F238E27FC236}">
                <a16:creationId xmlns:a16="http://schemas.microsoft.com/office/drawing/2014/main" id="{7FD8AAF2-90D2-457C-83F6-FEF3EF96AA35}"/>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105285" y="5720501"/>
            <a:ext cx="627255" cy="627255"/>
          </a:xfrm>
          <a:prstGeom prst="rect">
            <a:avLst/>
          </a:prstGeom>
        </p:spPr>
      </p:pic>
      <p:pic>
        <p:nvPicPr>
          <p:cNvPr id="13" name="圖片 12" descr="一張含有 運輸 的圖片&#10;&#10;描述是以高可信度產生">
            <a:extLst>
              <a:ext uri="{FF2B5EF4-FFF2-40B4-BE49-F238E27FC236}">
                <a16:creationId xmlns:a16="http://schemas.microsoft.com/office/drawing/2014/main" id="{03837F9D-83DE-41A2-95A9-4A09F2EDBCE3}"/>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11282" y="4300982"/>
            <a:ext cx="627255" cy="627255"/>
          </a:xfrm>
          <a:prstGeom prst="rect">
            <a:avLst/>
          </a:prstGeom>
        </p:spPr>
      </p:pic>
      <p:pic>
        <p:nvPicPr>
          <p:cNvPr id="14" name="圖片 13" descr="一張含有 運輸 的圖片&#10;&#10;描述是以高可信度產生">
            <a:extLst>
              <a:ext uri="{FF2B5EF4-FFF2-40B4-BE49-F238E27FC236}">
                <a16:creationId xmlns:a16="http://schemas.microsoft.com/office/drawing/2014/main" id="{5FF3D160-F8F3-423E-99C7-72EC55E9E40D}"/>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40259" y="5386909"/>
            <a:ext cx="506209" cy="506209"/>
          </a:xfrm>
          <a:prstGeom prst="rect">
            <a:avLst/>
          </a:prstGeom>
        </p:spPr>
      </p:pic>
      <p:pic>
        <p:nvPicPr>
          <p:cNvPr id="15" name="圖片 14" descr="一張含有 運輸 的圖片&#10;&#10;描述是以高可信度產生">
            <a:extLst>
              <a:ext uri="{FF2B5EF4-FFF2-40B4-BE49-F238E27FC236}">
                <a16:creationId xmlns:a16="http://schemas.microsoft.com/office/drawing/2014/main" id="{58044943-3362-4D43-80AE-BC386A18ED85}"/>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40259" y="3584944"/>
            <a:ext cx="394870" cy="394870"/>
          </a:xfrm>
          <a:prstGeom prst="rect">
            <a:avLst/>
          </a:prstGeom>
        </p:spPr>
      </p:pic>
      <p:pic>
        <p:nvPicPr>
          <p:cNvPr id="5" name="圖片 4" descr="一張含有 文字, 向量圖形 的圖片&#10;&#10;描述是以非常高的可信度產生">
            <a:extLst>
              <a:ext uri="{FF2B5EF4-FFF2-40B4-BE49-F238E27FC236}">
                <a16:creationId xmlns:a16="http://schemas.microsoft.com/office/drawing/2014/main" id="{43097CA4-E3EE-459F-812B-B8CBE85D1DBC}"/>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9776486" y="12249"/>
            <a:ext cx="2042484" cy="2042484"/>
          </a:xfrm>
          <a:prstGeom prst="rect">
            <a:avLst/>
          </a:prstGeom>
        </p:spPr>
      </p:pic>
    </p:spTree>
    <p:extLst>
      <p:ext uri="{BB962C8B-B14F-4D97-AF65-F5344CB8AC3E}">
        <p14:creationId xmlns:p14="http://schemas.microsoft.com/office/powerpoint/2010/main" val="1470009589"/>
      </p:ext>
    </p:extLst>
  </p:cSld>
  <p:clrMapOvr>
    <a:masterClrMapping/>
  </p:clrMapOvr>
  <p:transition spd="slow">
    <p:cove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6" presetClass="entr" presetSubtype="16" fill="hold" grpId="0" nodeType="after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circle(in)">
                                      <p:cBhvr>
                                        <p:cTn id="7" dur="2000"/>
                                        <p:tgtEl>
                                          <p:spTgt spid="7"/>
                                        </p:tgtEl>
                                      </p:cBhvr>
                                    </p:animEffect>
                                  </p:childTnLst>
                                </p:cTn>
                              </p:par>
                            </p:childTnLst>
                          </p:cTn>
                        </p:par>
                        <p:par>
                          <p:cTn id="8" fill="hold">
                            <p:stCondLst>
                              <p:cond delay="2000"/>
                            </p:stCondLst>
                            <p:childTnLst>
                              <p:par>
                                <p:cTn id="9" presetID="14" presetClass="entr" presetSubtype="10" fill="hold" grpId="0" nodeType="afterEffect">
                                  <p:stCondLst>
                                    <p:cond delay="0"/>
                                  </p:stCondLst>
                                  <p:childTnLst>
                                    <p:set>
                                      <p:cBhvr>
                                        <p:cTn id="10" dur="1" fill="hold">
                                          <p:stCondLst>
                                            <p:cond delay="0"/>
                                          </p:stCondLst>
                                        </p:cTn>
                                        <p:tgtEl>
                                          <p:spTgt spid="2"/>
                                        </p:tgtEl>
                                        <p:attrNameLst>
                                          <p:attrName>style.visibility</p:attrName>
                                        </p:attrNameLst>
                                      </p:cBhvr>
                                      <p:to>
                                        <p:strVal val="visible"/>
                                      </p:to>
                                    </p:set>
                                    <p:animEffect transition="in" filter="randombar(horizontal)">
                                      <p:cBhvr>
                                        <p:cTn id="11" dur="500"/>
                                        <p:tgtEl>
                                          <p:spTgt spid="2"/>
                                        </p:tgtEl>
                                      </p:cBhvr>
                                    </p:animEffect>
                                  </p:childTnLst>
                                </p:cTn>
                              </p:par>
                            </p:childTnLst>
                          </p:cTn>
                        </p:par>
                        <p:par>
                          <p:cTn id="12" fill="hold">
                            <p:stCondLst>
                              <p:cond delay="2500"/>
                            </p:stCondLst>
                            <p:childTnLst>
                              <p:par>
                                <p:cTn id="13" presetID="16" presetClass="entr" presetSubtype="21" fill="hold" nodeType="afterEffect">
                                  <p:stCondLst>
                                    <p:cond delay="0"/>
                                  </p:stCondLst>
                                  <p:childTnLst>
                                    <p:set>
                                      <p:cBhvr>
                                        <p:cTn id="14" dur="1" fill="hold">
                                          <p:stCondLst>
                                            <p:cond delay="0"/>
                                          </p:stCondLst>
                                        </p:cTn>
                                        <p:tgtEl>
                                          <p:spTgt spid="10"/>
                                        </p:tgtEl>
                                        <p:attrNameLst>
                                          <p:attrName>style.visibility</p:attrName>
                                        </p:attrNameLst>
                                      </p:cBhvr>
                                      <p:to>
                                        <p:strVal val="visible"/>
                                      </p:to>
                                    </p:set>
                                    <p:animEffect transition="in" filter="barn(inVertical)">
                                      <p:cBhvr>
                                        <p:cTn id="15" dur="500"/>
                                        <p:tgtEl>
                                          <p:spTgt spid="10"/>
                                        </p:tgtEl>
                                      </p:cBhvr>
                                    </p:animEffect>
                                  </p:childTnLst>
                                </p:cTn>
                              </p:par>
                              <p:par>
                                <p:cTn id="16" presetID="16" presetClass="entr" presetSubtype="21" fill="hold" nodeType="with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barn(inVertical)">
                                      <p:cBhvr>
                                        <p:cTn id="18" dur="500"/>
                                        <p:tgtEl>
                                          <p:spTgt spid="13"/>
                                        </p:tgtEl>
                                      </p:cBhvr>
                                    </p:animEffect>
                                  </p:childTnLst>
                                </p:cTn>
                              </p:par>
                              <p:par>
                                <p:cTn id="19" presetID="16" presetClass="entr" presetSubtype="21" fill="hold" nodeType="withEffect">
                                  <p:stCondLst>
                                    <p:cond delay="0"/>
                                  </p:stCondLst>
                                  <p:childTnLst>
                                    <p:set>
                                      <p:cBhvr>
                                        <p:cTn id="20" dur="1" fill="hold">
                                          <p:stCondLst>
                                            <p:cond delay="0"/>
                                          </p:stCondLst>
                                        </p:cTn>
                                        <p:tgtEl>
                                          <p:spTgt spid="14"/>
                                        </p:tgtEl>
                                        <p:attrNameLst>
                                          <p:attrName>style.visibility</p:attrName>
                                        </p:attrNameLst>
                                      </p:cBhvr>
                                      <p:to>
                                        <p:strVal val="visible"/>
                                      </p:to>
                                    </p:set>
                                    <p:animEffect transition="in" filter="barn(inVertical)">
                                      <p:cBhvr>
                                        <p:cTn id="21" dur="500"/>
                                        <p:tgtEl>
                                          <p:spTgt spid="14"/>
                                        </p:tgtEl>
                                      </p:cBhvr>
                                    </p:animEffect>
                                  </p:childTnLst>
                                </p:cTn>
                              </p:par>
                              <p:par>
                                <p:cTn id="22" presetID="16" presetClass="entr" presetSubtype="21" fill="hold" nodeType="withEffect">
                                  <p:stCondLst>
                                    <p:cond delay="0"/>
                                  </p:stCondLst>
                                  <p:childTnLst>
                                    <p:set>
                                      <p:cBhvr>
                                        <p:cTn id="23" dur="1" fill="hold">
                                          <p:stCondLst>
                                            <p:cond delay="0"/>
                                          </p:stCondLst>
                                        </p:cTn>
                                        <p:tgtEl>
                                          <p:spTgt spid="15"/>
                                        </p:tgtEl>
                                        <p:attrNameLst>
                                          <p:attrName>style.visibility</p:attrName>
                                        </p:attrNameLst>
                                      </p:cBhvr>
                                      <p:to>
                                        <p:strVal val="visible"/>
                                      </p:to>
                                    </p:set>
                                    <p:animEffect transition="in" filter="barn(inVertical)">
                                      <p:cBhvr>
                                        <p:cTn id="24" dur="500"/>
                                        <p:tgtEl>
                                          <p:spTgt spid="15"/>
                                        </p:tgtEl>
                                      </p:cBhvr>
                                    </p:animEffect>
                                  </p:childTnLst>
                                </p:cTn>
                              </p:par>
                              <p:par>
                                <p:cTn id="25" presetID="45" presetClass="entr" presetSubtype="0" fill="hold" nodeType="withEffect">
                                  <p:stCondLst>
                                    <p:cond delay="0"/>
                                  </p:stCondLst>
                                  <p:childTnLst>
                                    <p:set>
                                      <p:cBhvr>
                                        <p:cTn id="26" dur="1" fill="hold">
                                          <p:stCondLst>
                                            <p:cond delay="0"/>
                                          </p:stCondLst>
                                        </p:cTn>
                                        <p:tgtEl>
                                          <p:spTgt spid="5"/>
                                        </p:tgtEl>
                                        <p:attrNameLst>
                                          <p:attrName>style.visibility</p:attrName>
                                        </p:attrNameLst>
                                      </p:cBhvr>
                                      <p:to>
                                        <p:strVal val="visible"/>
                                      </p:to>
                                    </p:set>
                                    <p:animEffect transition="in" filter="fade">
                                      <p:cBhvr>
                                        <p:cTn id="27" dur="1000"/>
                                        <p:tgtEl>
                                          <p:spTgt spid="5"/>
                                        </p:tgtEl>
                                      </p:cBhvr>
                                    </p:animEffect>
                                    <p:anim calcmode="lin" valueType="num">
                                      <p:cBhvr>
                                        <p:cTn id="28" dur="1000" fill="hold"/>
                                        <p:tgtEl>
                                          <p:spTgt spid="5"/>
                                        </p:tgtEl>
                                        <p:attrNameLst>
                                          <p:attrName>ppt_w</p:attrName>
                                        </p:attrNameLst>
                                      </p:cBhvr>
                                      <p:tavLst>
                                        <p:tav tm="0" fmla="#ppt_w*sin(2.5*pi*$)">
                                          <p:val>
                                            <p:fltVal val="0"/>
                                          </p:val>
                                        </p:tav>
                                        <p:tav tm="100000">
                                          <p:val>
                                            <p:fltVal val="1"/>
                                          </p:val>
                                        </p:tav>
                                      </p:tavLst>
                                    </p:anim>
                                    <p:anim calcmode="lin" valueType="num">
                                      <p:cBhvr>
                                        <p:cTn id="29" dur="1000" fill="hold"/>
                                        <p:tgtEl>
                                          <p:spTgt spid="5"/>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2" grpId="0"/>
    </p:bldLst>
  </p:timing>
</p:sld>
</file>

<file path=ppt/tags/tag1.xml><?xml version="1.0" encoding="utf-8"?>
<p:tagLst xmlns:a="http://schemas.openxmlformats.org/drawingml/2006/main" xmlns:r="http://schemas.openxmlformats.org/officeDocument/2006/relationships" xmlns:p="http://schemas.openxmlformats.org/presentationml/2006/main">
  <p:tag name="ISPRING_PRESENTATION_TITLE" val="PowerPoint 演示文稿"/>
</p:tagLst>
</file>

<file path=ppt/theme/theme1.xml><?xml version="1.0" encoding="utf-8"?>
<a:theme xmlns:a="http://schemas.openxmlformats.org/drawingml/2006/main" name="包图主题2">
  <a:themeElements>
    <a:clrScheme name="自定义 154">
      <a:dk1>
        <a:sysClr val="windowText" lastClr="000000"/>
      </a:dk1>
      <a:lt1>
        <a:sysClr val="window" lastClr="FFFFFF"/>
      </a:lt1>
      <a:dk2>
        <a:srgbClr val="44546A"/>
      </a:dk2>
      <a:lt2>
        <a:srgbClr val="E7E6E6"/>
      </a:lt2>
      <a:accent1>
        <a:srgbClr val="4A5A6F"/>
      </a:accent1>
      <a:accent2>
        <a:srgbClr val="E06741"/>
      </a:accent2>
      <a:accent3>
        <a:srgbClr val="4A5A6F"/>
      </a:accent3>
      <a:accent4>
        <a:srgbClr val="E06741"/>
      </a:accent4>
      <a:accent5>
        <a:srgbClr val="4A5A6F"/>
      </a:accent5>
      <a:accent6>
        <a:srgbClr val="E06741"/>
      </a:accent6>
      <a:hlink>
        <a:srgbClr val="0563C1"/>
      </a:hlink>
      <a:folHlink>
        <a:srgbClr val="954F72"/>
      </a:folHlink>
    </a:clrScheme>
    <a:fontScheme name="自定义 1">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包图主题2" id="{50CFA792-C506-47E4-B272-6A6183483AB3}" vid="{CC1AE437-2F7F-4319-9F22-408F5F8C346F}"/>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包图主题2</Template>
  <TotalTime>1770</TotalTime>
  <Words>7305</Words>
  <Application>Microsoft Office PowerPoint</Application>
  <PresentationFormat>寬螢幕</PresentationFormat>
  <Paragraphs>591</Paragraphs>
  <Slides>64</Slides>
  <Notes>20</Notes>
  <HiddenSlides>0</HiddenSlides>
  <MMClips>0</MMClips>
  <ScaleCrop>false</ScaleCrop>
  <HeadingPairs>
    <vt:vector size="6" baseType="variant">
      <vt:variant>
        <vt:lpstr>使用字型</vt:lpstr>
      </vt:variant>
      <vt:variant>
        <vt:i4>8</vt:i4>
      </vt:variant>
      <vt:variant>
        <vt:lpstr>佈景主題</vt:lpstr>
      </vt:variant>
      <vt:variant>
        <vt:i4>1</vt:i4>
      </vt:variant>
      <vt:variant>
        <vt:lpstr>投影片標題</vt:lpstr>
      </vt:variant>
      <vt:variant>
        <vt:i4>64</vt:i4>
      </vt:variant>
    </vt:vector>
  </HeadingPairs>
  <TitlesOfParts>
    <vt:vector size="73" baseType="lpstr">
      <vt:lpstr>等线</vt:lpstr>
      <vt:lpstr>Microsoft JhengHei Light</vt:lpstr>
      <vt:lpstr>微软雅黑</vt:lpstr>
      <vt:lpstr>微軟正黑體</vt:lpstr>
      <vt:lpstr>新細明體</vt:lpstr>
      <vt:lpstr>標楷體</vt:lpstr>
      <vt:lpstr>Arial</vt:lpstr>
      <vt:lpstr>Times New Roman</vt:lpstr>
      <vt:lpstr>包图主题2</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vector>
  </TitlesOfParts>
  <Company>http://www.ypppt.com/</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优品PPT</dc:creator>
  <cp:keywords>http:/www.ypppt.com</cp:keywords>
  <dc:description>http://www.ypppt.com/</dc:description>
  <cp:lastModifiedBy>張景涵</cp:lastModifiedBy>
  <cp:revision>155</cp:revision>
  <dcterms:created xsi:type="dcterms:W3CDTF">2017-09-04T07:53:30Z</dcterms:created>
  <dcterms:modified xsi:type="dcterms:W3CDTF">2018-07-30T09:03:20Z</dcterms:modified>
</cp:coreProperties>
</file>